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notesMasterIdLst>
    <p:notesMasterId r:id="rId8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dcf54dce-99c7-9319-606f-1eb42a17805a}">
          <p14:sldIdLst>
            <p14:sldId id="256"/>
            <p14:sldId id="257"/>
            <p14:sldId id="258"/>
          </p14:sldIdLst>
        </p14:section>
        <p14:section name="سورة الفرقان" id="{647a30d0-f2df-910a-90e0-6677787c481b}">
          <p14:sldIdLst>
            <p14:sldId id="259"/>
            <p14:sldId id="260"/>
            <p14:sldId id="261"/>
            <p14:sldId id="262"/>
            <p14:sldId id="263"/>
            <p14:sldId id="264"/>
            <p14:sldId id="265"/>
            <p14:sldId id="266"/>
            <p14:sldId id="267"/>
          </p14:sldIdLst>
        </p14:section>
        <p14:section name="سورة النور" id="{0c00d3c9-e083-e468-b788-5edbab135a9d}">
          <p14:sldIdLst>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Lst>
        </p14:section>
        <p14:section name="سورة المؤمنون" id="{99fd4a10-54df-6676-e9ca-b967834b768d}">
          <p14:sldIdLst>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Lst>
        </p14:section>
        <p14:section name="الخاتمة" id="{815a4c36-2cbe-80bc-3128-d9e9c309d1a9}">
          <p14:sldIdLst>
            <p14:sldId id="3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الفرقان ثم نصعد سورةً سورة حتى نصل إلى سورة المؤمنون،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ردّ الله على من استغرب أن الرسول يأكل ويمشي في الأسواق (الآية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كان ينبغي على المؤمنين أن يقولوا حين سمعوا الكذب (الآيتان 12 و16)؟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عدّد صفات المؤمنين المفلحين في الآيات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8/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8/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8/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4.xml"/><Relationship Id="rId4"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8/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قد أفلح</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18/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الفرقان إلى سورة المؤمنون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الأخضر الزيتوني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قد أفلح</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الفرقان صعودًا إلى سورة المؤمنون</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الفرقان</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النور</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المؤمنون</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الفرقان</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١ – ٢٠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٢٥</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المشركين عيّروا النبي صلى الله عليه وسلم بالفقر وقالوا: ﴿ما لهذا الرسول يأكل الطعام ويمشي في الأسواق﴾، فحزن النبي صلى الله عليه وسلم، فأنزل الله تسليةً له: ﴿وما أرسلنا قبلك من المرسلين إلا إنهم ليأكلون الطعام ويمشون في الأسواق﴾.</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ينتهي هذا الجزء عند الآية ٢٠: تعظيم الله الذي أنزل الفرقان، والرد على اعتراضات المشركين على القرآن وعلى بشرية الرسول صلى الله عليه وسلم، ومشهد النار والجنة.</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5166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تَبَارَكَ الَّذِي نَزَّلَ الْفُرْقَانَ عَلَىٰ عَبْدِهِ لِيَكُونَ لِلْعَٰلَمِينَ نَذِيرًا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تعاظمت بركة الله الذي نزّل القرآن الفارق بين الحق والباطل على عبده محمد صلى الله عليه وسلم، ليكون نذيرًا للإنس والجن.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6164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لَهُ مُلْكُ السَّمَٰوَٰتِ وَالْأَرْضِ وَلَمْ يَتَّخِذْ وَلَدًا وَلَمْ يَكُن لَّهُ شَرِيكٌ فِي الْمُلْكِ وَخَلَقَ كُلَّ شَيْءٍ فَقَدَّرَهُ تَقْدِيرًا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له ملك السماوات والأرض، ولم يتّخذ ولدًا، ولم يكن له شريك في الملك، وخلق كل شيء فقدّره تقديرًا دقيقًا.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وَاتَّخَذُواْ مِن دُونِهِ ءَالِهَةً لَّا يَخْلُقُونَ شَيْـًٔا وَهُمْ يُخْلَقُونَ وَلَا يَمْلِكُونَ لِأَنفُسِهِمْ ضَرًّا وَلَا نَفْعًا وَلَا يَمْلِكُونَ مَوْتًا وَلَا حَيَوٰةً وَلَا نُشُورًا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واتّخذ المشركون من دونه آلهة لا يخلقون شيئًا وهم مخلوقون، ولا يملكون لأنفسهم ضرًّا ولا نفعًا، ولا يملكون موتًا ولا حياة ولا بعثًا.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كَفَرُواْ إِنْ هَٰذَآ إِلَّآ إِفْكٌ افْتَرَىٰهُ وَأَعَانَهُ عَلَيْهِ قَوْمٌ ءَاخَرُونَ فَقَدْ جَآءُو ظُلْمًا وَزُورًا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ما هذا القرآن إلا كذب اختلقه محمد، وأعانه عليه قوم آخرون من أهل الكتاب، فقد جاؤوا بظلم وكذب 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أَسَٰطِيرُ الْأَوَّلِينَ اكْتَتَبَهَا فَهِيَ تُمْلَىٰ عَلَيْهِ بُكْرَةً وَأَصِيلًا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هو أكاذيب الأولين استكتبها، فهي تُقرأ عليه صباحًا ومساءً ليحفظها.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أَنزَلَهُ الَّذِي يَعْلَمُ السِّرَّ فِي السَّمَٰوَٰتِ وَالْأَرْضِ إِنَّهُ كَانَ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أنزله الله الذي يعلم السرّ في السماوات والأرض، إنه كان غفورًا رحيمًا.</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مَالِ هَٰذَا الرَّسُولِ يَأْكُلُ الطَّعَامَ وَيَمْشِي فِي الْأَسْوَاقِ لَوْلَآ أُنزِلَ إِلَيْهِ مَلَكٌ فَيَكُونَ مَعَهُ نَذِيرًا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ما لهذا الرسول يأكل الطعام كما نأكل، ويمشي في الأسواق لطلب الرزق؟ هلّا أُنزل إليه ملك فيكون معه نذيرًا!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يُلْقَىٰ إِلَيْهِ كَنزٌ أَوْ تَكُونُ لَهُ جَنَّةٌ يَأْكُلُ مِنْهَا وَقَالَ الظَّـٰلِمُونَ إِن تَتَّبِعُونَ إِلَّا رَجُلًا مَّسْحُورًا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يُلقى إليه كنز من السماء، أو يكون له بستان يأكل منه! وقال الظالمون: ما تتّبعون إلا رجلًا مسحورًا.</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انظُرْ كَيْفَ ضَرَبُواْ لَكَ الْأَمْثَٰلَ فَضَلُّواْ فَلَا يَسْتَطِيعُونَ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انظر كيف وصفوك بالأوصاف الباطلة، فضلّوا فلا يجدون طريقًا إلى الحق.</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تَبَارَكَ الَّذِي إِن شَآءَ جَعَلَ لَكَ خَيْرًا مِّن ذَٰلِكَ جَنَّـٰتٍ تَجْرِي مِن تَحْتِهَا الْأَنْهَٰرُ وَيَجْعَل لَّكَ قُصُورًا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تعاظمت بركة الله الذي إن شاء جعل لك خيرًا مما قالوا: جنات تجري من تحتها الأنهار، ويجعل لك قصورًا.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كَذَّبُواْ بِالسَّاعَةِ وَأَعْتَدْنَا لِمَن كَذَّبَ بِالسَّاعَةِ سَعِيرًا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كذّبوا بالقيامة، وأعددنا لمن كذّب بالقيامة نارًا مشتعلة.</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رَأَتْهُم مِّن مَّكَانٍ بَعِيدٍ سَمِعُواْ لَهَا تَغَيُّظًا وَزَفِيرًا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رأتهم النار من مكان بعيد سمعوا لها صوت غيظ وزفيرًا.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أُلْقُواْ مِنْهَا مَكَانًا ضَيِّقًا مُّقَرَّنِينَ دَعَوْاْ هُنَالِكَ ثُبُورًا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أُلقوا في مكان ضيّق منها مقيّدين، دعوا هنالك على أنفسهم بالهلاك.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تَدْعُواْ الْيَوْمَ ثُبُورًا وَٰحِدًا وَادْعُواْ ثُبُورًا كَثِيرًا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لا تدعوا اليوم بهلاك واحد، وادعوا بهلاك كثير.</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أَذَٰلِكَ خَيْرٌ أَمْ جَنَّةُ الْخُلْدِ الَّتِي وُعِدَ الْمُتَّقُونَ كَانَتْ لَهُمْ جَزَآءً وَمَصِيرًا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أذلك العذاب خير، أم جنة الخلد التي وُعد المتقون؟ كانت لهم ثوابًا ومصيرًا.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لَّهُمْ فِيهَا مَا يَشَآءُونَ خَٰلِدِينَ كَانَ عَلَىٰ رَبِّكَ وَعْدًا مَّسْـُٔولًا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فيها ما يشاؤون خالدين، كان ذلك وعدًا على ربك يسأله المؤمنون.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يَحْشُرُهُمْ وَمَا يَعْبُدُونَ مِن دُونِ اللَّهِ فَيَقُولُ ءَأَنتُمْ أَضْلَلْتُمْ عِبَادِي هَـٰؤُلَآءِ أَمْ هُمْ ضَلُّواْ السَّبِيلَ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يجمع المشركين وما يعبدون من دون الله، فيقول للمعبودين: أأنتم أضللتم عبادي هؤلاء، أم هم ضلّوا الطريق؟</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سُبْحَٰنَكَ مَا كَانَ يَنبَغِي لَنَآ أَن نَّتَّخِذَ مِن دُونِكَ مِنْ أَوْلِيَآءَ وَلَٰكِن مَّتَّعْتَهُمْ وَءَابَآءَهُمْ حَتَّىٰ نَسُواْ الذِّكْرَ وَكَانُواْ قَوْمًا بُورًا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تنزّهت، ما كان ينبغي لنا أن نتّخذ من دونك أولياء، ولكن متّعتهم وآباءهم بالنعم حتى نسوا ذكرك، وكانوا قومًا هالكين.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فَقَدْ كَذَّبُوكُم بِمَا تَقُولُونَ فَمَا تَسْتَطِيعُونَ صَرْفًا وَلَا نَصْرًا وَمَن يَظْلِم مِّنكُمْ نُذِقْهُ عَذَابًا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فيُقال للمشركين: فقد كذّبكم معبودوكم فيما تقولون، فما تستطيعون صرف العذاب عنكم ولا نصر أنفسكم، ومن يظلم منكم بالشرك نذقه عذابًا كبيرًا.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أَرْسَلْنَا قَبْلَكَ مِنَ الْمُرْسَلِينَ إِلَّآ إِنَّهُمْ لَيَأْكُلُونَ الطَّعَامَ وَيَمْشُونَ فِي الْأَسْوَاقِ وَجَعَلْنَا بَعْضَكُمْ لِبَعْضٍ فِتْنَةً أَتَصْبِرُونَ وَكَانَ رَبُّكَ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 قبلك من المرسلين إلا إنهم ليأكلون الطعام ويمشون في الأسواق، وجعلنا بعضكم لبعض اختبارًا: الغني للفقير والصحيح للمريض، أتصبرون؟ وكان ربك بصيرًا.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النور</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٦٤</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٢٤</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لما رجع النبي صلى الله عليه وسلم من غزوة بني المصطلق، تأخّرت عائشة رضي الله عنها تبحث عن عِقد لها، فجاء بها صفوان بن المعطّل، فتكلّم المنافقون فيها بالكذب، فأنزل الله براءتها من فوق سبع سماوات: ﴿إن الذين جاؤوا بالإفك عصبة منكم...﴾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سورة الآداب والعفّة: حفظ الأعراض، وبراءة أم المؤمنين عائشة، وآداب الاستئذان، وغضّ البصر والحجاب، ومثل نور الله في قلب المؤمن، وطاعة الله ورسوله، ووعد المؤمنين بالتمكين.</a:t>
            </a:r>
            <a:endParaRPr lang="ar-SA"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سُورَةٌ أَنزَلْنَٰهَا وَفَرَضْنَٰهَا وَأَنزَلْنَا فِيهَآ ءَايَٰتٍ بَيِّنَٰتٍ لَّعَلَّكُمْ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هذه سورة أنزلناها، وفرضنا أحكامها، وأنزلنا فيها آيات واضحات لعلكم تتذكرون.</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الزَّانِيَةُ وَالزَّانِي فَاجْلِدُواْ كُلَّ وَٰحِدٍ مِّنْهُمَا مِاْئَةَ جَلْدَةٍ وَلَا تَأْخُذْكُم بِهِمَا رَأْفَةٌ فِي دِينِ اللَّهِ إِن كُنتُمْ تُؤْمِنُونَ بِاللَّهِ وَالْيَوْمِ الْأخِرِ وَلْيَشْهَدْ عَذَابَهُمَا طَآئِفَةٌ مِّنَ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وقع في فاحشة الزنا من غير المتزوجين فعقوبته مئة جلدة، ولا تأخذكم بهما شفقة تمنع إقامة حكم الله إن كنتم مؤمنين، وليحضر عقوبتهما جماعة من المؤمنين للعبرة.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32588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الزَّانِي لَا يَنكِحُ إِلَّا زَانِيَةً أَوْ مُشْرِكَةً وَالزَّانِيَةُ لَا يَنكِحُهَآ إِلَّا زَانٍ أَوْ مُشْرِكٌ وَحُرِّمَ ذَٰلِكَ عَلَى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المعروف بالزنا لا يرضى بالزواج منه إلا مثله أو مشرك، والمعروفة بالزنا لا يرضى بها إلا مثلها أو مشرك، وحُرّم الزواج بهم على المؤمنين حتى يتوبوا.</a:t>
            </a:r>
            <a:endParaRPr lang="ar-SA" sz="3200" dirty="0"/>
          </a:p>
        </p:txBody>
      </p:sp>
      <p:sp>
        <p:nvSpPr>
          <p:cNvPr id="9" name="Shape 7"/>
          <p:cNvSpPr/>
          <p:nvPr/>
        </p:nvSpPr>
        <p:spPr>
          <a:xfrm>
            <a:off x="2103120" y="3235452"/>
            <a:ext cx="8641080" cy="0"/>
          </a:xfrm>
          <a:prstGeom prst="line">
            <a:avLst/>
          </a:prstGeom>
          <a:noFill/>
          <a:ln w="9525">
            <a:solidFill>
              <a:schemeClr val="accent2"/>
            </a:solidFill>
            <a:prstDash val="dash"/>
          </a:ln>
        </p:spPr>
      </p:sp>
      <p:sp>
        <p:nvSpPr>
          <p:cNvPr id="10" name="Shape 8"/>
          <p:cNvSpPr/>
          <p:nvPr/>
        </p:nvSpPr>
        <p:spPr>
          <a:xfrm>
            <a:off x="10927080" y="3297936"/>
            <a:ext cx="548640" cy="548640"/>
          </a:xfrm>
          <a:prstGeom prst="star8">
            <a:avLst/>
          </a:prstGeom>
          <a:solidFill>
            <a:schemeClr val="accent2"/>
          </a:solidFill>
          <a:ln/>
        </p:spPr>
      </p:sp>
      <p:sp>
        <p:nvSpPr>
          <p:cNvPr id="11" name="Shape 9"/>
          <p:cNvSpPr/>
          <p:nvPr/>
        </p:nvSpPr>
        <p:spPr>
          <a:xfrm>
            <a:off x="11036808" y="340766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979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27964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يَرْمُونَ الْمُحْصَنَٰتِ ثُمَّ لَمْ يَأْتُواْ بِأَرْبَعَةِ شُهَدَآءَ فَاجْلِدُوهُمْ ثَمَٰنِينَ جَلْدَةً وَلَا تَقْبَلُواْ لَهُمْ شَهَٰدَةً أَبَدًا وَأُوْلَـٰئِكَ هُمُ الْفَٰسِقُونَ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يتّهمون النساء العفيفات بالفاحشة ثم لم يأتوا بأربعة شهود فاجلدوهم ثمانين جلدة، ولا تقبلوا لهم شهادة أبدًا، وأولئك هم الفاسقون.</a:t>
            </a:r>
            <a:endParaRPr lang="ar-SA" sz="3200" dirty="0"/>
          </a:p>
        </p:txBody>
      </p:sp>
      <p:sp>
        <p:nvSpPr>
          <p:cNvPr id="14" name="Shape 12"/>
          <p:cNvSpPr/>
          <p:nvPr/>
        </p:nvSpPr>
        <p:spPr>
          <a:xfrm>
            <a:off x="2103120" y="5189220"/>
            <a:ext cx="8641080" cy="0"/>
          </a:xfrm>
          <a:prstGeom prst="line">
            <a:avLst/>
          </a:prstGeom>
          <a:noFill/>
          <a:ln w="9525">
            <a:solidFill>
              <a:schemeClr val="accent2"/>
            </a:solidFill>
            <a:prstDash val="dash"/>
          </a:ln>
        </p:spPr>
      </p:sp>
      <p:sp>
        <p:nvSpPr>
          <p:cNvPr id="15" name="Shape 13"/>
          <p:cNvSpPr/>
          <p:nvPr/>
        </p:nvSpPr>
        <p:spPr>
          <a:xfrm>
            <a:off x="10927080" y="5251704"/>
            <a:ext cx="548640" cy="548640"/>
          </a:xfrm>
          <a:prstGeom prst="star8">
            <a:avLst/>
          </a:prstGeom>
          <a:solidFill>
            <a:schemeClr val="accent2"/>
          </a:solidFill>
          <a:ln/>
        </p:spPr>
      </p:sp>
      <p:sp>
        <p:nvSpPr>
          <p:cNvPr id="16" name="Shape 14"/>
          <p:cNvSpPr/>
          <p:nvPr/>
        </p:nvSpPr>
        <p:spPr>
          <a:xfrm>
            <a:off x="11036808" y="536143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2517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8" name="Text 16"/>
          <p:cNvSpPr txBox="1"/>
          <p:nvPr/>
        </p:nvSpPr>
        <p:spPr>
          <a:xfrm>
            <a:off x="731520" y="52334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الَّذِينَ تَابُواْ مِن بَعْدِ ذَٰلِكَ وَأَصْلَحُواْ فَإِنَّ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الذين تابوا من بعد ذلك وأصلحوا، فإن 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258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يَرْمُونَ أَزْوَٰجَهُمْ وَلَمْ يَكُن لَّهُمْ شُهَدَآءُ إِلَّآ أَنفُسُهُمْ فَشَهَٰدَةُ أَحَدِهِمْ أَرْبَعُ شَهَٰدَٰتٍ بِاللَّهِ إِنَّهُ لَمِنَ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والأزواج الذين يتّهمون زوجاتهم وليس لهم شهود إلا أنفسهم، فيشهد أحدهم أربع مرات بالله إنه لصادق.</a:t>
            </a:r>
            <a:endParaRPr lang="ar-SA" sz="3200" dirty="0"/>
          </a:p>
        </p:txBody>
      </p:sp>
      <p:sp>
        <p:nvSpPr>
          <p:cNvPr id="9" name="Shape 7"/>
          <p:cNvSpPr/>
          <p:nvPr/>
        </p:nvSpPr>
        <p:spPr>
          <a:xfrm>
            <a:off x="2103120" y="2926080"/>
            <a:ext cx="8641080" cy="0"/>
          </a:xfrm>
          <a:prstGeom prst="line">
            <a:avLst/>
          </a:prstGeom>
          <a:noFill/>
          <a:ln w="9525">
            <a:solidFill>
              <a:schemeClr val="accent2"/>
            </a:solidFill>
            <a:prstDash val="dash"/>
          </a:ln>
        </p:spPr>
      </p:sp>
      <p:sp>
        <p:nvSpPr>
          <p:cNvPr id="10" name="Shape 8"/>
          <p:cNvSpPr/>
          <p:nvPr/>
        </p:nvSpPr>
        <p:spPr>
          <a:xfrm>
            <a:off x="10927080" y="3017520"/>
            <a:ext cx="548640" cy="548640"/>
          </a:xfrm>
          <a:prstGeom prst="star8">
            <a:avLst/>
          </a:prstGeom>
          <a:solidFill>
            <a:schemeClr val="accent2"/>
          </a:solidFill>
          <a:ln/>
        </p:spPr>
      </p:sp>
      <p:sp>
        <p:nvSpPr>
          <p:cNvPr id="11" name="Shape 9"/>
          <p:cNvSpPr/>
          <p:nvPr/>
        </p:nvSpPr>
        <p:spPr>
          <a:xfrm>
            <a:off x="11036808" y="31272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175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29992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وَالْخَٰمِسَةُ أَنَّ لَعْنَتَ اللَّهِ عَلَيْهِ إِن كَانَ مِنَ الْكَٰذِبِينَ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 في الخامسة: إن لعنة الله عليه إن كان من الكاذبين.</a:t>
            </a:r>
            <a:endParaRPr lang="ar-SA" sz="3200" dirty="0"/>
          </a:p>
        </p:txBody>
      </p:sp>
      <p:sp>
        <p:nvSpPr>
          <p:cNvPr id="14" name="Shape 12"/>
          <p:cNvSpPr/>
          <p:nvPr/>
        </p:nvSpPr>
        <p:spPr>
          <a:xfrm>
            <a:off x="2103120" y="4014216"/>
            <a:ext cx="8641080" cy="0"/>
          </a:xfrm>
          <a:prstGeom prst="line">
            <a:avLst/>
          </a:prstGeom>
          <a:noFill/>
          <a:ln w="9525">
            <a:solidFill>
              <a:schemeClr val="accent2"/>
            </a:solidFill>
            <a:prstDash val="dash"/>
          </a:ln>
        </p:spPr>
      </p:sp>
      <p:sp>
        <p:nvSpPr>
          <p:cNvPr id="15" name="Shape 13"/>
          <p:cNvSpPr/>
          <p:nvPr/>
        </p:nvSpPr>
        <p:spPr>
          <a:xfrm>
            <a:off x="10927080" y="4105656"/>
            <a:ext cx="548640" cy="548640"/>
          </a:xfrm>
          <a:prstGeom prst="star8">
            <a:avLst/>
          </a:prstGeom>
          <a:solidFill>
            <a:schemeClr val="accent2"/>
          </a:solidFill>
          <a:ln/>
        </p:spPr>
      </p:sp>
      <p:sp>
        <p:nvSpPr>
          <p:cNvPr id="16" name="Shape 14"/>
          <p:cNvSpPr/>
          <p:nvPr/>
        </p:nvSpPr>
        <p:spPr>
          <a:xfrm>
            <a:off x="11036808" y="421538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105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8" name="Text 16"/>
          <p:cNvSpPr txBox="1"/>
          <p:nvPr/>
        </p:nvSpPr>
        <p:spPr>
          <a:xfrm>
            <a:off x="731520" y="40873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وَيَدْرَؤُاْ عَنْهَا الْعَذَابَ أَن تَشْهَدَ أَرْبَعَ شَهَٰدَٰتٍ بِاللَّهِ إِنَّهُ لَمِنَ الْكَٰذِبِينَ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ويدفع عنها العقوبة أن تشهد أربع مرات بالله إنه لكاذب.</a:t>
            </a:r>
            <a:endParaRPr lang="ar-SA" sz="3200" dirty="0"/>
          </a:p>
        </p:txBody>
      </p:sp>
      <p:sp>
        <p:nvSpPr>
          <p:cNvPr id="19" name="Shape 17"/>
          <p:cNvSpPr/>
          <p:nvPr/>
        </p:nvSpPr>
        <p:spPr>
          <a:xfrm>
            <a:off x="2103120" y="5102352"/>
            <a:ext cx="8641080" cy="0"/>
          </a:xfrm>
          <a:prstGeom prst="line">
            <a:avLst/>
          </a:prstGeom>
          <a:noFill/>
          <a:ln w="9525">
            <a:solidFill>
              <a:schemeClr val="accent2"/>
            </a:solidFill>
            <a:prstDash val="dash"/>
          </a:ln>
        </p:spPr>
      </p:sp>
      <p:sp>
        <p:nvSpPr>
          <p:cNvPr id="20" name="Shape 18"/>
          <p:cNvSpPr/>
          <p:nvPr/>
        </p:nvSpPr>
        <p:spPr>
          <a:xfrm>
            <a:off x="10927080" y="5193792"/>
            <a:ext cx="548640" cy="548640"/>
          </a:xfrm>
          <a:prstGeom prst="star8">
            <a:avLst/>
          </a:prstGeom>
          <a:solidFill>
            <a:schemeClr val="accent2"/>
          </a:solidFill>
          <a:ln/>
        </p:spPr>
      </p:sp>
      <p:sp>
        <p:nvSpPr>
          <p:cNvPr id="21" name="Shape 19"/>
          <p:cNvSpPr/>
          <p:nvPr/>
        </p:nvSpPr>
        <p:spPr>
          <a:xfrm>
            <a:off x="11036808" y="5303520"/>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1937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23" name="Text 21"/>
          <p:cNvSpPr txBox="1"/>
          <p:nvPr/>
        </p:nvSpPr>
        <p:spPr>
          <a:xfrm>
            <a:off x="731520" y="51755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وَالْخَٰمِسَةَ أَنَّ غَضَبَ اللَّهِ عَلَيْهَآ إِن كَانَ 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وتقول في الخامسة: إن غضب الله عليها إن كان صادقًا. وهذا حكم اللِّعان.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32588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فَضْلُ اللَّهِ عَلَيْكُمْ وَرَحْمَتُهُ وَأَنَّ اللَّهَ تَوَّابٌ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ولولا فضل الله عليكم ورحمته بهذه الأحكام، وأن الله تواب حكيم، لأصابكم الحرج والمشقة.</a:t>
            </a:r>
            <a:endParaRPr lang="ar-SA" sz="3200" dirty="0"/>
          </a:p>
        </p:txBody>
      </p:sp>
      <p:sp>
        <p:nvSpPr>
          <p:cNvPr id="9" name="Shape 7"/>
          <p:cNvSpPr/>
          <p:nvPr/>
        </p:nvSpPr>
        <p:spPr>
          <a:xfrm>
            <a:off x="2103120" y="2311908"/>
            <a:ext cx="8641080" cy="0"/>
          </a:xfrm>
          <a:prstGeom prst="line">
            <a:avLst/>
          </a:prstGeom>
          <a:noFill/>
          <a:ln w="9525">
            <a:solidFill>
              <a:schemeClr val="accent2"/>
            </a:solidFill>
            <a:prstDash val="dash"/>
          </a:ln>
        </p:spPr>
      </p:sp>
      <p:sp>
        <p:nvSpPr>
          <p:cNvPr id="10" name="Shape 8"/>
          <p:cNvSpPr/>
          <p:nvPr/>
        </p:nvSpPr>
        <p:spPr>
          <a:xfrm>
            <a:off x="10927080" y="2374392"/>
            <a:ext cx="548640" cy="548640"/>
          </a:xfrm>
          <a:prstGeom prst="star8">
            <a:avLst/>
          </a:prstGeom>
          <a:solidFill>
            <a:schemeClr val="accent2"/>
          </a:solidFill>
          <a:ln/>
        </p:spPr>
      </p:sp>
      <p:sp>
        <p:nvSpPr>
          <p:cNvPr id="11" name="Shape 9"/>
          <p:cNvSpPr/>
          <p:nvPr/>
        </p:nvSpPr>
        <p:spPr>
          <a:xfrm>
            <a:off x="11036808" y="24841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3743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235610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جَآءُو بِالْإِفْكِ عُصْبَةٌ مِّنكُمْ لَا تَحْسَبُوهُ شَرًّا لَّكُم بَلْ هُوَ خَيْرٌ لَّكُمْ لِكُلِّ امْرِيٍٕ مِّنْهُم مَّا اكْتَسَبَ مِنَ الْإِثْمِ وَالَّذِي تَوَلَّىٰ كِبْرَهُ مِنْهُمْ لَهُ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جاؤوا بالكذب على أم المؤمنين عائشة جماعة منكم، لا تظنوه شرًّا لكم، بل هو خير لكم بظهور براءتها وأجركم، لكل واحد منهم جزاء ما اكتسب من الإثم، والذي تولّى أكبره وهو عبد الله بن أُبيّ له عذاب عظيم.</a:t>
            </a:r>
            <a:endParaRPr lang="ar-SA" sz="3200" dirty="0"/>
          </a:p>
        </p:txBody>
      </p:sp>
      <p:sp>
        <p:nvSpPr>
          <p:cNvPr id="14" name="Shape 12"/>
          <p:cNvSpPr/>
          <p:nvPr/>
        </p:nvSpPr>
        <p:spPr>
          <a:xfrm>
            <a:off x="2103120" y="5189220"/>
            <a:ext cx="8641080" cy="0"/>
          </a:xfrm>
          <a:prstGeom prst="line">
            <a:avLst/>
          </a:prstGeom>
          <a:noFill/>
          <a:ln w="9525">
            <a:solidFill>
              <a:schemeClr val="accent2"/>
            </a:solidFill>
            <a:prstDash val="dash"/>
          </a:ln>
        </p:spPr>
      </p:sp>
      <p:sp>
        <p:nvSpPr>
          <p:cNvPr id="15" name="Shape 13"/>
          <p:cNvSpPr/>
          <p:nvPr/>
        </p:nvSpPr>
        <p:spPr>
          <a:xfrm>
            <a:off x="10927080" y="5251704"/>
            <a:ext cx="548640" cy="548640"/>
          </a:xfrm>
          <a:prstGeom prst="star8">
            <a:avLst/>
          </a:prstGeom>
          <a:solidFill>
            <a:schemeClr val="accent2"/>
          </a:solidFill>
          <a:ln/>
        </p:spPr>
      </p:sp>
      <p:sp>
        <p:nvSpPr>
          <p:cNvPr id="16" name="Shape 14"/>
          <p:cNvSpPr/>
          <p:nvPr/>
        </p:nvSpPr>
        <p:spPr>
          <a:xfrm>
            <a:off x="11036808" y="536143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2517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52334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لَّوْلَآ إِذْ سَمِعْتُمُوهُ ظَنَّ الْمُؤْمِنُونَ وَالْمُؤْمِنَٰتُ بِأَنفُسِهِمْ خَيْرًا وَقَالُواْ هَٰذَآ إِفْكٌ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 حين سمعتم هذا الكذب ظنّ المؤمنون والمؤمنات بإخوانهم خيرًا، وقالوا: هذا كذب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258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لَّوْلَا جَآءُو عَلَيْهِ بِأَرْبَعَةِ شُهَدَآءَ فَإِذْ لَمْ يَأْتُواْ بِالشُّهَدَآءِ فَأُوْلَـٰئِكَ عِندَ اللَّهِ هُمُ الْكَٰذِبُونَ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 جاؤوا على قولهم بأربعة شهداء! فإذ لم يأتوا بالشهداء فأولئك عند الله هم الكاذبون.</a:t>
            </a:r>
            <a:endParaRPr lang="ar-SA" sz="3200" dirty="0"/>
          </a:p>
        </p:txBody>
      </p:sp>
      <p:sp>
        <p:nvSpPr>
          <p:cNvPr id="9" name="Shape 7"/>
          <p:cNvSpPr/>
          <p:nvPr/>
        </p:nvSpPr>
        <p:spPr>
          <a:xfrm>
            <a:off x="2103120" y="2855976"/>
            <a:ext cx="8641080" cy="0"/>
          </a:xfrm>
          <a:prstGeom prst="line">
            <a:avLst/>
          </a:prstGeom>
          <a:noFill/>
          <a:ln w="9525">
            <a:solidFill>
              <a:schemeClr val="accent2"/>
            </a:solidFill>
            <a:prstDash val="dash"/>
          </a:ln>
        </p:spPr>
      </p:sp>
      <p:sp>
        <p:nvSpPr>
          <p:cNvPr id="10" name="Shape 8"/>
          <p:cNvSpPr/>
          <p:nvPr/>
        </p:nvSpPr>
        <p:spPr>
          <a:xfrm>
            <a:off x="10927080" y="2877312"/>
            <a:ext cx="548640" cy="548640"/>
          </a:xfrm>
          <a:prstGeom prst="star8">
            <a:avLst/>
          </a:prstGeom>
          <a:solidFill>
            <a:schemeClr val="accent2"/>
          </a:solidFill>
          <a:ln/>
        </p:spPr>
      </p:sp>
      <p:sp>
        <p:nvSpPr>
          <p:cNvPr id="11" name="Shape 9"/>
          <p:cNvSpPr/>
          <p:nvPr/>
        </p:nvSpPr>
        <p:spPr>
          <a:xfrm>
            <a:off x="11036808" y="29870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8773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8590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فَضْلُ اللَّهِ عَلَيْكُمْ وَرَحْمَتُهُ فِي الدُّنْيَا وَالْأخِرَةِ لَمَسَّكُمْ فِي مَآ أَفَضْتُمْ فِيهِ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ولولا فضل الله عليكم ورحمته في الدنيا والآخرة لأصابكم بسبب ما خضتم فيه عذاب عظيم.</a:t>
            </a:r>
            <a:endParaRPr lang="ar-SA" sz="3200" dirty="0"/>
          </a:p>
        </p:txBody>
      </p:sp>
      <p:sp>
        <p:nvSpPr>
          <p:cNvPr id="14" name="Shape 12"/>
          <p:cNvSpPr/>
          <p:nvPr/>
        </p:nvSpPr>
        <p:spPr>
          <a:xfrm>
            <a:off x="2103120" y="4389120"/>
            <a:ext cx="8641080" cy="0"/>
          </a:xfrm>
          <a:prstGeom prst="line">
            <a:avLst/>
          </a:prstGeom>
          <a:noFill/>
          <a:ln w="9525">
            <a:solidFill>
              <a:schemeClr val="accent2"/>
            </a:solidFill>
            <a:prstDash val="dash"/>
          </a:ln>
        </p:spPr>
      </p:sp>
      <p:sp>
        <p:nvSpPr>
          <p:cNvPr id="15" name="Shape 13"/>
          <p:cNvSpPr/>
          <p:nvPr/>
        </p:nvSpPr>
        <p:spPr>
          <a:xfrm>
            <a:off x="10927080" y="4410456"/>
            <a:ext cx="548640" cy="548640"/>
          </a:xfrm>
          <a:prstGeom prst="star8">
            <a:avLst/>
          </a:prstGeom>
          <a:solidFill>
            <a:schemeClr val="accent2"/>
          </a:solidFill>
          <a:ln/>
        </p:spPr>
      </p:sp>
      <p:sp>
        <p:nvSpPr>
          <p:cNvPr id="16" name="Shape 14"/>
          <p:cNvSpPr/>
          <p:nvPr/>
        </p:nvSpPr>
        <p:spPr>
          <a:xfrm>
            <a:off x="11036808" y="452018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10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39216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تَلَقَّوْنَهُ بِأَلْسِنَتِكُمْ وَتَقُولُونَ بِأَفْوَاهِكُم مَّا لَيْسَ لَكُم بِهِ عِلْمٌ وَتَحْسَبُونَهُ هَيِّنًا وَهُوَ عِندَ اللَّهِ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يأخذه بعضكم عن بعض بألسنتكم، وتقولون بأفواهكم ما ليس لكم به علم، وتظنونه أمرًا سهلًا وهو عند الله 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32588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إِذْ سَمِعْتُمُوهُ قُلْتُم مَّا يَكُونُ لَنَآ أَن نَّتَكَلَّمَ بِهَٰذَا سُبْحَٰنَكَ هَٰذَا بُهْتَٰنٌ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وهلّا حين سمعتموه قلتم: ما ينبغي لنا أن نتكلّم بهذا، سبحانك، هذا كذب عظيم!</a:t>
            </a:r>
            <a:endParaRPr lang="ar-SA" sz="3200" dirty="0"/>
          </a:p>
        </p:txBody>
      </p:sp>
      <p:sp>
        <p:nvSpPr>
          <p:cNvPr id="9" name="Shape 7"/>
          <p:cNvSpPr/>
          <p:nvPr/>
        </p:nvSpPr>
        <p:spPr>
          <a:xfrm>
            <a:off x="2103120" y="2298573"/>
            <a:ext cx="8641080" cy="0"/>
          </a:xfrm>
          <a:prstGeom prst="line">
            <a:avLst/>
          </a:prstGeom>
          <a:noFill/>
          <a:ln w="9525">
            <a:solidFill>
              <a:schemeClr val="accent2"/>
            </a:solidFill>
            <a:prstDash val="dash"/>
          </a:ln>
        </p:spPr>
      </p:sp>
      <p:sp>
        <p:nvSpPr>
          <p:cNvPr id="10" name="Shape 8"/>
          <p:cNvSpPr/>
          <p:nvPr/>
        </p:nvSpPr>
        <p:spPr>
          <a:xfrm>
            <a:off x="10927080" y="2347722"/>
            <a:ext cx="548640" cy="548640"/>
          </a:xfrm>
          <a:prstGeom prst="star8">
            <a:avLst/>
          </a:prstGeom>
          <a:solidFill>
            <a:schemeClr val="accent2"/>
          </a:solidFill>
          <a:ln/>
        </p:spPr>
      </p:sp>
      <p:sp>
        <p:nvSpPr>
          <p:cNvPr id="11" name="Shape 9"/>
          <p:cNvSpPr/>
          <p:nvPr/>
        </p:nvSpPr>
        <p:spPr>
          <a:xfrm>
            <a:off x="11036808" y="245745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34772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232943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يَعِظُكُمُ اللَّهُ أَن تَعُودُواْ لِمِثْلِهِ أَبَدًا إِن كُنتُم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يعظكم الله ألّا تعودوا لمثله أبدًا إن كنتم مؤمنين.</a:t>
            </a:r>
            <a:endParaRPr lang="ar-SA" sz="3200" dirty="0"/>
          </a:p>
        </p:txBody>
      </p:sp>
      <p:sp>
        <p:nvSpPr>
          <p:cNvPr id="14" name="Shape 12"/>
          <p:cNvSpPr/>
          <p:nvPr/>
        </p:nvSpPr>
        <p:spPr>
          <a:xfrm>
            <a:off x="2103120" y="3302127"/>
            <a:ext cx="8641080" cy="0"/>
          </a:xfrm>
          <a:prstGeom prst="line">
            <a:avLst/>
          </a:prstGeom>
          <a:noFill/>
          <a:ln w="9525">
            <a:solidFill>
              <a:schemeClr val="accent2"/>
            </a:solidFill>
            <a:prstDash val="dash"/>
          </a:ln>
        </p:spPr>
      </p:sp>
      <p:sp>
        <p:nvSpPr>
          <p:cNvPr id="15" name="Shape 13"/>
          <p:cNvSpPr/>
          <p:nvPr/>
        </p:nvSpPr>
        <p:spPr>
          <a:xfrm>
            <a:off x="10927080" y="3351276"/>
            <a:ext cx="548640" cy="548640"/>
          </a:xfrm>
          <a:prstGeom prst="star8">
            <a:avLst/>
          </a:prstGeom>
          <a:solidFill>
            <a:schemeClr val="accent2"/>
          </a:solidFill>
          <a:ln/>
        </p:spPr>
      </p:sp>
      <p:sp>
        <p:nvSpPr>
          <p:cNvPr id="16" name="Shape 14"/>
          <p:cNvSpPr/>
          <p:nvPr/>
        </p:nvSpPr>
        <p:spPr>
          <a:xfrm>
            <a:off x="11036808" y="3461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351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3332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وَيُبَيِّنُ اللَّهُ لَكُمُ الْأيَٰتِ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ويبيّن الله لكم الآيات، والله عليم حكيم.</a:t>
            </a:r>
            <a:endParaRPr lang="ar-SA" sz="3200" dirty="0"/>
          </a:p>
        </p:txBody>
      </p:sp>
      <p:sp>
        <p:nvSpPr>
          <p:cNvPr id="19" name="Shape 17"/>
          <p:cNvSpPr/>
          <p:nvPr/>
        </p:nvSpPr>
        <p:spPr>
          <a:xfrm>
            <a:off x="2103120" y="4305681"/>
            <a:ext cx="8641080" cy="0"/>
          </a:xfrm>
          <a:prstGeom prst="line">
            <a:avLst/>
          </a:prstGeom>
          <a:noFill/>
          <a:ln w="9525">
            <a:solidFill>
              <a:schemeClr val="accent2"/>
            </a:solidFill>
            <a:prstDash val="dash"/>
          </a:ln>
        </p:spPr>
      </p:sp>
      <p:sp>
        <p:nvSpPr>
          <p:cNvPr id="20" name="Shape 18"/>
          <p:cNvSpPr/>
          <p:nvPr/>
        </p:nvSpPr>
        <p:spPr>
          <a:xfrm>
            <a:off x="10927080" y="4354830"/>
            <a:ext cx="548640" cy="548640"/>
          </a:xfrm>
          <a:prstGeom prst="star8">
            <a:avLst/>
          </a:prstGeom>
          <a:solidFill>
            <a:schemeClr val="accent2"/>
          </a:solidFill>
          <a:ln/>
        </p:spPr>
      </p:sp>
      <p:sp>
        <p:nvSpPr>
          <p:cNvPr id="21" name="Shape 19"/>
          <p:cNvSpPr/>
          <p:nvPr/>
        </p:nvSpPr>
        <p:spPr>
          <a:xfrm>
            <a:off x="11036808" y="4464558"/>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435483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23" name="Text 21"/>
          <p:cNvSpPr txBox="1"/>
          <p:nvPr/>
        </p:nvSpPr>
        <p:spPr>
          <a:xfrm>
            <a:off x="731520" y="433654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يُحِبُّونَ أَن تَشِيعَ الْفَٰحِشَةُ فِي الَّذِينَ ءَامَنُواْ لَهُمْ عَذَابٌ أَلِيمٌ فِي الدُّنْيَا وَالْأخِرَةِ وَاللَّهُ يَعْلَمُ وَأَنتُمْ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يحبّون أن تنتشر الفاحشة في المؤمنين لهم عذاب موجع في الدنيا والآخرة، والله يعلم وأنتم لا تعلمون.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فَضْلُ اللَّهِ عَلَيْكُمْ وَرَحْمَتُهُ وَأَنَّ اللَّهَ رَءُوفٌ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ولولا فضل الله عليكم ورحمته، وأن الله رؤوف رحيم، لعاجلكم بالعقوبة.</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تَتَّبِعُواْ خُطُوَٰتِ الشَّيْطَٰنِ وَمَن يَتَّبِعْ خُطُوَٰتِ الشَّيْطَٰنِ فَإِنَّهُ يَأْمُرُ بِالْفَحْشَآءِ وَالْمُنكَرِ وَلَوْلَا فَضْلُ اللَّهِ عَلَيْكُمْ وَرَحْمَتُهُ مَا زَكَىٰ مِنكُم مِّنْ أَحَدٍ أَبَدًا وَلَٰكِنَّ اللَّهَ يُزَكِّي مَن يَشَآءُ وَاللَّهُ سَمِيعٌ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تتّبعوا طرق الشيطان، ومن يتّبعها فإنه يأمر بالفحشاء والمنكر، ولولا فضل الله عليكم ورحمته ما طهُر منكم أحد أبدًا، ولكن الله يطهّر من يشاء، والله سميع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يَأْتَلِ أُوْلُواْ الْفَضْلِ مِنكُمْ وَالسَّعَةِ أَن يُؤْتُواْ أُوْلِي الْقُرْبَىٰ وَالْمَسَٰكِينَ وَالْمُهَٰجِرِينَ فِي سَبِيلِ اللَّهِ وَلْيَعْفُواْ وَلْيَصْفَحُواْ أَلَا تُحِبُّونَ أَن يَغْفِرَ اللَّهُ لَكُمْ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يحلف أصحاب الفضل والغنى منكم ألّا يُعطوا أقاربهم والمساكين والمهاجرين، وليعفوا وليصفحوا، ألا تحبّون أن يغفر الله لكم؟ والله غفور رحيم. فقال أبو بكر: بلى والله، وأعاد النفقة على مِسطح.</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يَرْمُونَ الْمُحْصَنَٰتِ الْغَٰفِلَٰتِ الْمُؤْمِنَٰتِ لُعِنُواْ فِي الدُّنْيَا وَالْأخِرَةِ وَلَهُمْ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يتّهمون النساء العفيفات الغافلات المؤمنات بالفاحشة طُردوا من رحمة الله في الدنيا والآخرة، ولهم عذاب 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تَشْهَدُ عَلَيْهِمْ أَلْسِنَتُهُمْ وَأَيْدِيهِمْ وَأَرْجُلُهُم بِمَا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تشهد عليهم ألسنتهم وأيديهم وأرجلهم بما كانوا يعملون.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يَوْمَئِذٍ يُوَفِّيهِمُ اللَّهُ دِينَهُمُ الْحَقَّ وَيَعْلَمُونَ أَنَّ اللَّهَ هُوَ الْحَقُّ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يومئذ يُعطيهم الله جزاءهم العادل كاملًا، ويعلمون أن الله هو الحق الواضح.</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الْخَبِيثَٰتُ لِلْخَبِيثِينَ وَالْخَبِيثُونَ لِلْخَبِيثَٰتِ وَالطَّيِّبَٰتُ لِلطَّيِّبِينَ وَالطَّيِّبُونَ لِلطَّيِّبَٰتِ أُوْلَـٰئِكَ مُبَرَّءُونَ مِمَّا يَقُولُونَ لَهُم مَّغْفِرَةٌ وَرِزْقٌ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الكلمات والأفعال الخبيثة تليق بالخبيثين، والطيبات تليق بالطيبين، أولئك الطيبون كعائشة مبرّؤون مما يقوله الكاذبون، لهم مغفرة ورزق كريم.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تَدْخُلُواْ بُيُوتًا غَيْرَ بُيُوتِكُمْ حَتَّىٰ تَسْتَأْنِسُواْ وَتُسَلِّمُواْ عَلَىٰ أَهْلِهَا ذَٰلِكُمْ خَيْرٌ لَّكُمْ لَعَلَّكُمْ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تدخلوا بيوتًا غير بيوتكم حتى تستأذنوا وتسلّموا على أهلها، ذلكم خير لكم لعلكم تتذكرون.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لَّمْ تَجِدُواْ فِيهَآ أَحَدًا فَلَا تَدْخُلُوهَا حَتَّىٰ يُؤْذَنَ لَكُمْ وَإِن قِيلَ لَكُمُ ارْجِعُواْ فَارْجِعُواْ هُوَ أَزْكَىٰ لَكُمْ وَاللَّهُ بِمَا تَعْمَلُونَ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لم تجدوا فيها أحدًا فلا تدخلوها حتى يُؤذن لكم، وإن قيل لكم: ارجعوا، فارجعوا، هو أطهر لكم، والله بما تعملون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 عَلَيْكُمْ جُنَاحٌ أَن تَدْخُلُواْ بُيُوتًا غَيْرَ مَسْكُونَةٍ فِيهَا مَتَٰعٌ لَّكُمْ وَاللَّهُ يَعْلَمُ مَا تُبْدُونَ وَمَا تَكْتُمُونَ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عليكم إثم أن تدخلوا بيوتًا غير مسكونة فيها منفعة لكم كالفنادق والمحلات، والله يعلم ما تُظهرون وما تكتمون.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لِّلْمُؤْمِنِينَ يَغُضُّواْ مِنْ أَبْصَٰرِهِمْ وَيَحْفَظُواْ فُرُوجَهُمْ ذَٰلِكَ أَزْكَىٰ لَهُمْ إِنَّ اللَّهَ خَبِيرٌ بِمَا يَصْنَعُونَ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للمؤمنين يخفضوا من أبصارهم عن الحرام، ويحفظوا عوراتهم، ذلك أطهر لهم، إن الله خبير بما يصنعون.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325880"/>
            <a:ext cx="10012680" cy="549554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لِّلْمُؤْمِنَٰتِ يَغْضُضْنَ مِنْ أَبْصَٰرِهِنَّ وَيَحْفَظْنَ فُرُوجَهُنَّ وَلَا يُبْدِينَ زِينَتَهُنَّ إِلَّا مَا ظَهَرَ مِنْهَا وَلْيَضْرِبْنَ بِخُمُرِهِنَّ عَلَىٰ جُيُوبِهِنَّ وَلَا يُبْدِينَ زِينَتَهُنَّ إِلَّا لِبُعُولَتِهِنَّ أَوْ ءَابَآئِهِنَّ أَوْ ءَابَآءِ بُعُولَتِهِنَّ أَوْ أَبْنَآئِهِنَّ أَوْ أَبْنَآءِ بُعُولَتِهِنَّ أَوْ إِخْوَٰنِهِنَّ أَوْ بَنِي إِخْوَٰنِهِنَّ أَوْ بَنِي أَخَوَٰتِهِنَّ أَوْ نِسَآئِهِنَّ أَوْ مَا مَلَكَتْ أَيْمَٰنُهُنَّ أَوِ التَّـٰبِعِينَ غَيْرِ أُوْلِي الْإِرْبَةِ مِنَ الرِّجَالِ أَوِ الطِّفْلِ الَّذِينَ لَمْ يَظْهَرُواْ عَلَىٰ عَوْرَٰتِ النِّسَآءِ وَلَا يَضْرِبْنَ بِأَرْجُلِهِنَّ لِيُعْلَمَ مَا يُخْفِينَ مِن زِينَتِهِنَّ وَتُوبُواْ إِلَى اللَّهِ جَمِيعًا أَيُّهَ الْمُؤْمِنُونَ لَعَلَّكُمْ تُفْلِحُونَ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للمؤمنات يخفضن من أبصارهن، ويحفظن عوراتهن، ولا يُظهرن زينتهن إلا ما ظهر منها دون قصد، وليُلقين بخُمُرهن على صدورهن، ولا يُظهرن زينتهن إلا لأزواجهن أو محارمهن المذكورين أو النساء أو الأطفال الصغار، ولا يضربن بأرجلهن ليُعلم ما يخفين من الزينة، وتوبوا إلى الله جميعًا أيها المؤمنون لعلكم تفلحون.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وَأَنكِحُواْ الْأَيَٰمَىٰ مِنكُمْ وَالصَّـٰلِحِينَ مِنْ عِبَادِكُمْ وَإِمَآئِكُمْ إِن يَكُونُواْ فُقَرَآءَ يُغْنِهِمُ اللَّهُ مِن فَضْلِهِ وَاللَّهُ وَٰسِعٌ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وزوّجوا من لا زوج له منكم، والصالحين من عبيدكم وإمائكم، إن يكونوا فقراء يُغنهم الله من فضله، والله واسع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25880"/>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وَلْيَسْتَعْفِفِ الَّذِينَ لَا يَجِدُونَ نِكَاحًا حَتَّىٰ يُغْنِيَهُمُ اللَّهُ مِن فَضْلِهِ وَالَّذِينَ يَبْتَغُونَ الْكِتَٰبَ مِمَّا مَلَكَتْ أَيْمَٰنُكُمْ فَكَاتِبُوهُمْ إِنْ عَلِمْتُمْ فِيهِمْ خَيْرًا وَءَاتُوهُم مِّن مَّالِ اللَّهِ الَّذِي ءَاتَىٰكُمْ وَلَا تُكْرِهُواْ فَتَيَٰتِكُمْ عَلَى الْبِغَآءِ إِنْ أَرَدْنَ تَحَصُّنًا لِّتَبْتَغُواْ عَرَضَ الْحَيَوٰةِ الدُّنْيَا وَمَن يُكْرِههُّنَّ فَإِنَّ اللَّهَ مِن بَعْدِ إِكْرَٰهِهِنَّ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وليحفظ نفسه من الحرام من لا يجد قدرة على الزواج حتى يُغنيه الله من فضله، والعبيد الذين يطلبون أن يشتروا أنفسهم بمال فاتّفقوا معهم إن علمتم فيهم خيرًا، وأعطوهم من مال الله، ولا تُكرهوا إماءكم على الحرام لطلب المال، ومن أُكرهت فإن الله غفور رحيم لها.</a:t>
            </a:r>
            <a:endParaRPr lang="ar-SA" sz="3200" dirty="0"/>
          </a:p>
        </p:txBody>
      </p:sp>
      <p:sp>
        <p:nvSpPr>
          <p:cNvPr id="9" name="Shape 7"/>
          <p:cNvSpPr/>
          <p:nvPr/>
        </p:nvSpPr>
        <p:spPr>
          <a:xfrm>
            <a:off x="2103120" y="4709160"/>
            <a:ext cx="8641080" cy="0"/>
          </a:xfrm>
          <a:prstGeom prst="line">
            <a:avLst/>
          </a:prstGeom>
          <a:noFill/>
          <a:ln w="9525">
            <a:solidFill>
              <a:schemeClr val="accent2"/>
            </a:solidFill>
            <a:prstDash val="dash"/>
          </a:ln>
        </p:spPr>
      </p:sp>
      <p:sp>
        <p:nvSpPr>
          <p:cNvPr id="10" name="Shape 8"/>
          <p:cNvSpPr/>
          <p:nvPr/>
        </p:nvSpPr>
        <p:spPr>
          <a:xfrm>
            <a:off x="10927080" y="4736592"/>
            <a:ext cx="548640" cy="548640"/>
          </a:xfrm>
          <a:prstGeom prst="star8">
            <a:avLst/>
          </a:prstGeom>
          <a:solidFill>
            <a:schemeClr val="accent2"/>
          </a:solidFill>
          <a:ln/>
        </p:spPr>
      </p:sp>
      <p:sp>
        <p:nvSpPr>
          <p:cNvPr id="11" name="Shape 9"/>
          <p:cNvSpPr/>
          <p:nvPr/>
        </p:nvSpPr>
        <p:spPr>
          <a:xfrm>
            <a:off x="11036808"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7365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47183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أَنزَلْنَآ إِلَيْكُمْ ءَايَٰتٍ مُّبَيِّنَٰتٍ وَمَثَلًا مِّنَ الَّذِينَ خَلَوْاْ مِن قَبْلِكُمْ وَمَوْعِظَةً لِّلْمُتَّقِينَ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أنزلنا إليكم آيات واضحات، وأمثالًا من أخبار الأمم قبلكم، وموعظة للمتقين.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325880"/>
            <a:ext cx="10012680" cy="373989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نُورُ السَّمَٰوَٰتِ وَالْأَرْضِ مَثَلُ نُورِهِ كَمِشْكَوٰةٍ فِيهَا مِصْبَاحٌ الْمِصْبَاحُ فِي زُجَاجَةٍ الزُّجَاجَةُ كَأَنَّهَا كَوْكَبٌ دُرِّيٌّ يُوقَدُ مِن شَجَرَةٍ مُّبَٰرَكَةٍ زَيْتُونَةٍ لَّا شَرْقِيَّةٍ وَلَا غَرْبِيَّةٍ يَكَادُ زَيْتُهَا يُضِيءُ وَلَوْ لَمْ تَمْسَسْهُ نَارٌ نُّورٌ عَلَىٰ نُورٍ يَهْدِي اللَّهُ لِنُورِهِ مَن يَشَآءُ وَيَضْرِبُ اللَّهُ الْأَمْثَٰلَ لِلنَّاسِ وَاللَّهُ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منوّر السماوات والأرض، ومثل نوره في قلب المؤمن كمشكاة وهي كُوّة في الجدار فيها مصباح، المصباح في زجاجة صافية، الزجاجة كأنها كوكب مضيء كالدرّ، يُوقد من زيت شجرة مباركة زيتونة، لا شرقية ولا غربية بل تصيبها الشمس طول النهار، يكاد زيتها يضيء من صفائه ولو لم تمسسه نار، نور على نور، يهدي الله لنوره من يشاء، ويضرب الله الأمثال للناس، والله بكل شيء عليم.</a:t>
            </a:r>
            <a:endParaRPr lang="ar-SA" sz="3200" dirty="0"/>
          </a:p>
        </p:txBody>
      </p:sp>
      <p:sp>
        <p:nvSpPr>
          <p:cNvPr id="9" name="Shape 7"/>
          <p:cNvSpPr/>
          <p:nvPr/>
        </p:nvSpPr>
        <p:spPr>
          <a:xfrm>
            <a:off x="2103120" y="5109210"/>
            <a:ext cx="8641080" cy="0"/>
          </a:xfrm>
          <a:prstGeom prst="line">
            <a:avLst/>
          </a:prstGeom>
          <a:noFill/>
          <a:ln w="9525">
            <a:solidFill>
              <a:schemeClr val="accent2"/>
            </a:solidFill>
            <a:prstDash val="dash"/>
          </a:ln>
        </p:spPr>
      </p:sp>
      <p:sp>
        <p:nvSpPr>
          <p:cNvPr id="10" name="Shape 8"/>
          <p:cNvSpPr/>
          <p:nvPr/>
        </p:nvSpPr>
        <p:spPr>
          <a:xfrm>
            <a:off x="10927080" y="5198364"/>
            <a:ext cx="548640" cy="548640"/>
          </a:xfrm>
          <a:prstGeom prst="star8">
            <a:avLst/>
          </a:prstGeom>
          <a:solidFill>
            <a:schemeClr val="accent2"/>
          </a:solidFill>
          <a:ln/>
        </p:spPr>
      </p:sp>
      <p:sp>
        <p:nvSpPr>
          <p:cNvPr id="11" name="Shape 9"/>
          <p:cNvSpPr/>
          <p:nvPr/>
        </p:nvSpPr>
        <p:spPr>
          <a:xfrm>
            <a:off x="11036808" y="530809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51983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518007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بُيُوتٍ أَذِنَ اللَّهُ أَن تُرْفَعَ وَيُذْكَرَ فِيهَا اسْمُهُ يُسَبِّحُ لَهُ فِيهَا بِالْغُدُوِّ وَالْأصَالِ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النور في المساجد التي أمر الله أن تُعظّم وتُبنى، ويُذكر فيها اسمه، يُصلّي له فيها في الصباح والمساء.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رِجَالٌ لَّا تُلْهِيهِمْ تِجَٰرَةٌ وَلَا بَيْعٌ عَن ذِكْرِ اللَّهِ وَإِقَامِ الصَّلَوٰةِ وَإِيتَآءِ الزَّكَوٰةِ يَخَافُونَ يَوْمًا تَتَقَلَّبُ فِيهِ الْقُلُوبُ وَالْأَبْصَٰرُ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رجال لا تشغلهم تجارة ولا بيع عن ذكر الله، وإقامة الصلاة، وإيتاء الزكاة، يخافون يوم القيامة الذي تضطرب فيه القلوب والأبصار.</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لِيَجْزِيَهُمُ اللَّهُ أَحْسَنَ مَا عَمِلُواْ وَيَزِيدَهُم مِّن فَضْلِهِ وَاللَّهُ يَرْزُقُ مَن يَشَآءُ بِغَيْرِ 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ليجزيهم الله بأحسن ما عملوا، ويزيدهم من فضله، والله يرزق من يشاء بغير حساب.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كَفَرُواْ أَعْمَٰلُهُمْ كَسَرَابٍ بِقِيعَةٍ يَحْسَبُهُ الظَّمْـَٔانُ مَآءً حَتَّىٰ إِذَا جَآءَهُ لَمْ يَجِدْهُ شَيْـًٔا وَوَجَدَ اللَّهَ عِندَهُ فَوَفَّىٰهُ حِسَابَهُ وَاللَّهُ سَرِيعُ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والكفار أعمالهم كسراب في أرض مستوية، يظنّه العطشان ماءً، حتى إذا جاءه لم يجده شيئًا، ووجد الله عنده فأعطاه جزاءه كاملًا، والله سريع الحساب.</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كَظُلُمَٰتٍ فِي بَحْرٍ لُّجِّيٍّ يَغْشَىٰهُ مَوْجٌ مِّن فَوْقِهِ مَوْجٌ مِّن فَوْقِهِ سَحَابٌ ظُلُمَٰتٌ بَعْضُهَا فَوْقَ بَعْضٍ إِذَآ أَخْرَجَ يَدَهُ لَمْ يَكَدْ يَرَىٰهَا وَمَن لَّمْ يَجْعَلِ اللَّهُ لَهُ نُورًا فَمَا لَهُ مِن نُّورٍ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أعمالهم كظلمات في بحر عميق، يغطّيه موج، من فوقه موج، من فوقه سحاب، ظلمات بعضها فوق بعض، إذا أخرج يده لم يكد يراها، ومن لم يجعل الله له هداية فما له من هداية.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 اللَّهَ يُسَبِّحُ لَهُ مَن فِي السَّمَٰوَٰتِ وَالْأَرْضِ وَالطَّيْرُ صَـٰفَّـٰتٍ كُلٌّ قَدْ عَلِمَ صَلَاتَهُ وَتَسْبِيحَهُ وَاللَّهُ عَلِيمٌ بِمَا يَفْعَلُونَ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تعلم أن الله يسبّح له من في السماوات والأرض، والطير باسطات أجنحتها، كلٌّ قد علم صلاته وتسبيحه، والله عليم بما يفعلون؟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مُلْكُ السَّمَٰوَٰتِ وَالْأَرْضِ وَإِلَى اللَّهِ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ملك السماوات والأرض، وإلى الله المرجع.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 اللَّهَ يُزْجِي سَحَابًا ثُمَّ يُؤَلِّفُ بَيْنَهُ ثُمَّ يَجْعَلُهُ رُكَامًا فَتَرَى الْوَدْقَ يَخْرُجُ مِنْ خِلَٰلِهِ وَيُنَزِّلُ مِنَ السَّمَآءِ مِن جِبَالٍ فِيهَا مِن بَرَدٍ فَيُصِيبُ بِهِ مَن يَشَآءُ وَيَصْرِفُهُ عَن مَّن يَشَآءُ يَكَادُ سَنَا بَرْقِهِ يَذْهَبُ بِالْأَبْصَٰرِ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أن الله يسوق السحاب، ثم يجمع بين قطعه، ثم يجعله متراكمًا، فترى المطر يخرج من خلاله، ويُنزل من السماء من سحاب كالجبال بَرَدًا، فيصيب به من يشاء، ويصرفه عمن يشاء، يكاد ضوء برقه يذهب بالأبصار.</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يُقَلِّبُ اللَّهُ الَّيْلَ وَالنَّهَارَ إِنَّ فِي ذَٰلِكَ لَعِبْرَةً لِّأُوْلِي الْأَبْصَٰرِ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يقلّب الله الليل والنهار، إن في ذلك لعبرة لأصحاب البصائر.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3258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خَلَقَ كُلَّ دَآبَّةٍ مِّن مَّآءٍ فَمِنْهُم مَّن يَمْشِي عَلَىٰ بَطْنِهِ وَمِنْهُم مَّن يَمْشِي عَلَىٰ رِجْلَيْنِ وَمِنْهُم مَّن يَمْشِي عَلَىٰ أَرْبَعٍ يَخْلُقُ اللَّهُ مَا يَشَآءُ إِنَّ 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خلق كل دابة من ماء، فمنهم من يمشي على بطنه كالحيّات، ومنهم من يمشي على رجلين كالإنسان والطير، ومنهم من يمشي على أربع كالأنعام، يخلق الله ما يشاء، إن الله على كل شيء قدير.</a:t>
            </a:r>
            <a:endParaRPr lang="ar-SA" sz="3200" dirty="0"/>
          </a:p>
        </p:txBody>
      </p:sp>
      <p:sp>
        <p:nvSpPr>
          <p:cNvPr id="9" name="Shape 7"/>
          <p:cNvSpPr/>
          <p:nvPr/>
        </p:nvSpPr>
        <p:spPr>
          <a:xfrm>
            <a:off x="2103120" y="3779520"/>
            <a:ext cx="8641080" cy="0"/>
          </a:xfrm>
          <a:prstGeom prst="line">
            <a:avLst/>
          </a:prstGeom>
          <a:noFill/>
          <a:ln w="9525">
            <a:solidFill>
              <a:schemeClr val="accent2"/>
            </a:solidFill>
            <a:prstDash val="dash"/>
          </a:ln>
        </p:spPr>
      </p:sp>
      <p:sp>
        <p:nvSpPr>
          <p:cNvPr id="10" name="Shape 8"/>
          <p:cNvSpPr/>
          <p:nvPr/>
        </p:nvSpPr>
        <p:spPr>
          <a:xfrm>
            <a:off x="10927080" y="3800856"/>
            <a:ext cx="548640" cy="548640"/>
          </a:xfrm>
          <a:prstGeom prst="star8">
            <a:avLst/>
          </a:prstGeom>
          <a:solidFill>
            <a:schemeClr val="accent2"/>
          </a:solidFill>
          <a:ln/>
        </p:spPr>
      </p:sp>
      <p:sp>
        <p:nvSpPr>
          <p:cNvPr id="11" name="Shape 9"/>
          <p:cNvSpPr/>
          <p:nvPr/>
        </p:nvSpPr>
        <p:spPr>
          <a:xfrm>
            <a:off x="11036808" y="39105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8008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37825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أَنزَلْنَآ ءَايَٰتٍ مُّبَيِّنَٰتٍ وَاللَّهُ يَهْدِي مَن يَشَآءُ إِلَىٰ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أنزلنا آيات واضحات، والله يهدي من يشاء إلى طريق مستقيم.</a:t>
            </a:r>
            <a:endParaRPr lang="ar-SA" sz="3200" dirty="0"/>
          </a:p>
        </p:txBody>
      </p:sp>
      <p:sp>
        <p:nvSpPr>
          <p:cNvPr id="14" name="Shape 12"/>
          <p:cNvSpPr/>
          <p:nvPr/>
        </p:nvSpPr>
        <p:spPr>
          <a:xfrm>
            <a:off x="2103120" y="4727448"/>
            <a:ext cx="8641080" cy="0"/>
          </a:xfrm>
          <a:prstGeom prst="line">
            <a:avLst/>
          </a:prstGeom>
          <a:noFill/>
          <a:ln w="9525">
            <a:solidFill>
              <a:schemeClr val="accent2"/>
            </a:solidFill>
            <a:prstDash val="dash"/>
          </a:ln>
        </p:spPr>
      </p:sp>
      <p:sp>
        <p:nvSpPr>
          <p:cNvPr id="15" name="Shape 13"/>
          <p:cNvSpPr/>
          <p:nvPr/>
        </p:nvSpPr>
        <p:spPr>
          <a:xfrm>
            <a:off x="10927080" y="4748784"/>
            <a:ext cx="548640" cy="548640"/>
          </a:xfrm>
          <a:prstGeom prst="star8">
            <a:avLst/>
          </a:prstGeom>
          <a:solidFill>
            <a:schemeClr val="accent2"/>
          </a:solidFill>
          <a:ln/>
        </p:spPr>
      </p:sp>
      <p:sp>
        <p:nvSpPr>
          <p:cNvPr id="16" name="Shape 14"/>
          <p:cNvSpPr/>
          <p:nvPr/>
        </p:nvSpPr>
        <p:spPr>
          <a:xfrm>
            <a:off x="11036808" y="485851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487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8" name="Text 16"/>
          <p:cNvSpPr txBox="1"/>
          <p:nvPr/>
        </p:nvSpPr>
        <p:spPr>
          <a:xfrm>
            <a:off x="731520" y="473049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ءَامَنَّا بِاللَّهِ وَبِالرَّسُولِ وَأَطَعْنَا ثُمَّ يَتَوَلَّىٰ فَرِيقٌ مِّنْهُم مِّن بَعْدِ ذَٰلِكَ وَمَآ أُوْلَـٰئِكَ بِالْمُؤْمِنِينَ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 المنافقون: آمنّا بالله وبالرسول وأطعنا، ثم يُعرض فريق منهم بعد ذلك، وما أولئك بالمؤمنين.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دُعُواْ إِلَى اللَّهِ وَرَسُولِهِ لِيَحْكُمَ بَيْنَهُمْ إِذَا فَرِيقٌ مِّنْهُم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دُعوا إلى حكم الله ورسوله ليحكم بينهم إذا فريق منهم معرضون.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يَكُن لَّهُمُ الْحَقُّ يَأْتُواْ إِلَيْهِ مُذْعِنِينَ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يكن لهم الحق يأتوا إليه مسرعين منقادين.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أَفِي قُلُوبِهِم مَّرَضٌ أَمِ ارْتَابُواْ أَمْ يَخَافُونَ أَن يَحِيفَ اللَّهُ عَلَيْهِمْ وَرَسُولُهُ بَلْ أُوْلَـٰئِكَ هُمُ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أفي قلوبهم مرض النفاق، أم شكّوا، أم يخافون أن يظلمهم الله ورسوله؟ بل أولئك هم الظالمون.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132588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كَانَ قَوْلَ الْمُؤْمِنِينَ إِذَا دُعُواْ إِلَى اللَّهِ وَرَسُولِهِ لِيَحْكُمَ بَيْنَهُمْ أَن يَقُولُواْ سَمِعْنَا وَأَطَعْنَا وَأُوْلَـٰئِكَ هُمُ الْمُفْلِحُونَ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كان قول المؤمنين إذا دُعوا إلى الله ورسوله ليحكم بينهم أن يقولوا: سمعنا وأطعنا، وأولئك هم المفلحون.</a:t>
            </a:r>
            <a:endParaRPr lang="ar-SA" sz="3200" dirty="0"/>
          </a:p>
        </p:txBody>
      </p:sp>
      <p:sp>
        <p:nvSpPr>
          <p:cNvPr id="9" name="Shape 7"/>
          <p:cNvSpPr/>
          <p:nvPr/>
        </p:nvSpPr>
        <p:spPr>
          <a:xfrm>
            <a:off x="2103120" y="3235452"/>
            <a:ext cx="8641080" cy="0"/>
          </a:xfrm>
          <a:prstGeom prst="line">
            <a:avLst/>
          </a:prstGeom>
          <a:noFill/>
          <a:ln w="9525">
            <a:solidFill>
              <a:schemeClr val="accent2"/>
            </a:solidFill>
            <a:prstDash val="dash"/>
          </a:ln>
        </p:spPr>
      </p:sp>
      <p:sp>
        <p:nvSpPr>
          <p:cNvPr id="10" name="Shape 8"/>
          <p:cNvSpPr/>
          <p:nvPr/>
        </p:nvSpPr>
        <p:spPr>
          <a:xfrm>
            <a:off x="10927080" y="3297936"/>
            <a:ext cx="548640" cy="548640"/>
          </a:xfrm>
          <a:prstGeom prst="star8">
            <a:avLst/>
          </a:prstGeom>
          <a:solidFill>
            <a:schemeClr val="accent2"/>
          </a:solidFill>
          <a:ln/>
        </p:spPr>
      </p:sp>
      <p:sp>
        <p:nvSpPr>
          <p:cNvPr id="11" name="Shape 9"/>
          <p:cNvSpPr/>
          <p:nvPr/>
        </p:nvSpPr>
        <p:spPr>
          <a:xfrm>
            <a:off x="11036808" y="340766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979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32796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يُطِعِ اللَّهَ وَرَسُولَهُ وَيَخْشَ اللَّهَ وَيَتَّقْهِ فَأُوْلَـٰئِكَ هُمُ الْفَآئِزُونَ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يطع الله ورسوله، ويخشَ الله، ويتّقه، فأولئك هم الفائزون.</a:t>
            </a:r>
            <a:endParaRPr lang="ar-SA" sz="3200" dirty="0"/>
          </a:p>
        </p:txBody>
      </p:sp>
      <p:sp>
        <p:nvSpPr>
          <p:cNvPr id="14" name="Shape 12"/>
          <p:cNvSpPr/>
          <p:nvPr/>
        </p:nvSpPr>
        <p:spPr>
          <a:xfrm>
            <a:off x="2103120" y="4265676"/>
            <a:ext cx="8641080" cy="0"/>
          </a:xfrm>
          <a:prstGeom prst="line">
            <a:avLst/>
          </a:prstGeom>
          <a:noFill/>
          <a:ln w="9525">
            <a:solidFill>
              <a:schemeClr val="accent2"/>
            </a:solidFill>
            <a:prstDash val="dash"/>
          </a:ln>
        </p:spPr>
      </p:sp>
      <p:sp>
        <p:nvSpPr>
          <p:cNvPr id="15" name="Shape 13"/>
          <p:cNvSpPr/>
          <p:nvPr/>
        </p:nvSpPr>
        <p:spPr>
          <a:xfrm>
            <a:off x="10927080" y="4328160"/>
            <a:ext cx="548640" cy="548640"/>
          </a:xfrm>
          <a:prstGeom prst="star8">
            <a:avLst/>
          </a:prstGeom>
          <a:solidFill>
            <a:schemeClr val="accent2"/>
          </a:solidFill>
          <a:ln/>
        </p:spPr>
      </p:sp>
      <p:sp>
        <p:nvSpPr>
          <p:cNvPr id="16" name="Shape 14"/>
          <p:cNvSpPr/>
          <p:nvPr/>
        </p:nvSpPr>
        <p:spPr>
          <a:xfrm>
            <a:off x="11036808" y="44378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281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8" name="Text 16"/>
          <p:cNvSpPr txBox="1"/>
          <p:nvPr/>
        </p:nvSpPr>
        <p:spPr>
          <a:xfrm>
            <a:off x="731520" y="430987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وَأَقْسَمُواْ بِاللَّهِ جَهْدَ أَيْمَٰنِهِمْ لَئِنْ أَمَرْتَهُمْ لَيَخْرُجُنَّ قُل لَّا تُقْسِمُواْ طَاعَةٌ مَّعْرُوفَةٌ إِنَّ اللَّهَ خَبِيرٌ بِمَا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وحلف المنافقون بالله أشد أيمانهم: لئن أمرتهم بالخروج للجهاد ليخرجُنّ، قل: لا تحلفوا، المطلوب طاعة معروفة صادقة، إن الله خبير بما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أَطِيعُواْ اللَّهَ وَأَطِيعُواْ الرَّسُولَ فَإِن تَوَلَّوْاْ فَإِنَّمَا عَلَيْهِ مَا حُمِّلَ وَعَلَيْكُم مَّا حُمِّلْتُمْ وَإِن تُطِيعُوهُ تَهْتَدُواْ وَمَا عَلَى الرَّسُولِ إِلَّا الْبَلَٰغُ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أطيعوا الله وأطيعوا الرسول، فإن أعرضتم فإنما عليه ما كُلّف من التبليغ، وعليكم ما كُلّفتم من الطاعة، وإن تطيعوه تهتدوا، وما على الرسول إلا التبليغ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353312"/>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وَعَدَ اللَّهُ الَّذِينَ ءَامَنُواْ مِنكُمْ وَعَمِلُواْ الصَّـٰلِحَٰتِ لَيَسْتَخْلِفَنَّهُمْ فِي الْأَرْضِ كَمَا اسْتَخْلَفَ الَّذِينَ مِن قَبْلِهِمْ وَلَيُمَكِّنَنَّ لَهُمْ دِينَهُمُ الَّذِي ارْتَضَىٰ لَهُمْ وَلَيُبَدِّلَنَّهُم مِّن بَعْدِ خَوْفِهِمْ أَمْنًا يَعْبُدُونَنِي لَا يُشْرِكُونَ بِي شَيْـًٔا وَمَن كَفَرَ بَعْدَ ذَٰلِكَ فَأُوْلَـٰئِكَ هُمُ الْفَٰسِقُونَ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وعد الله المؤمنين الصالحين منكم ليجعلنّهم خلفاء في الأرض كما جعل الذين من قبلهم، وليُمكّننّ لهم دينهم الذي رضيه لهم، وليُبدّلنّهم من بعد خوفهم أمنًا، يعبدونني لا يشركون بي شيئًا، ومن كفر بعد ذلك فأولئك هم الفاسقون.</a:t>
            </a:r>
            <a:endParaRPr lang="ar-SA" sz="3200" dirty="0"/>
          </a:p>
        </p:txBody>
      </p:sp>
      <p:sp>
        <p:nvSpPr>
          <p:cNvPr id="9" name="Shape 7"/>
          <p:cNvSpPr/>
          <p:nvPr/>
        </p:nvSpPr>
        <p:spPr>
          <a:xfrm>
            <a:off x="2103120" y="4882896"/>
            <a:ext cx="8641080" cy="0"/>
          </a:xfrm>
          <a:prstGeom prst="line">
            <a:avLst/>
          </a:prstGeom>
          <a:noFill/>
          <a:ln w="9525">
            <a:solidFill>
              <a:schemeClr val="accent2"/>
            </a:solidFill>
            <a:prstDash val="dash"/>
          </a:ln>
        </p:spPr>
      </p:sp>
      <p:sp>
        <p:nvSpPr>
          <p:cNvPr id="10" name="Shape 8"/>
          <p:cNvSpPr/>
          <p:nvPr/>
        </p:nvSpPr>
        <p:spPr>
          <a:xfrm>
            <a:off x="10927080" y="5056632"/>
            <a:ext cx="548640" cy="548640"/>
          </a:xfrm>
          <a:prstGeom prst="star8">
            <a:avLst/>
          </a:prstGeom>
          <a:solidFill>
            <a:schemeClr val="accent2"/>
          </a:solidFill>
          <a:ln/>
        </p:spPr>
      </p:sp>
      <p:sp>
        <p:nvSpPr>
          <p:cNvPr id="11" name="Shape 9"/>
          <p:cNvSpPr/>
          <p:nvPr/>
        </p:nvSpPr>
        <p:spPr>
          <a:xfrm>
            <a:off x="11036808" y="516636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505663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503834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وَأَقِيمُواْ الصَّلَوٰةَ وَءَاتُواْ الزَّكَوٰةَ وَأَطِيعُواْ الرَّسُولَ لَعَلَّكُمْ تُرْحَمُونَ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وأقيموا الصلاة، وآتوا الزكاة، وأطيعوا الرسول لعلكم تُرحمون.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32588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تَحْسَبَنَّ الَّذِينَ كَفَرُواْ مُعْجِزِينَ فِي الْأَرْضِ وَمَأْوَىٰهُمُ النَّارُ وَلَبِئْسَ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تظننّ الكفار فائتين من عذاب الله في الأرض، ومصيرهم النار، ولبئس المصير.</a:t>
            </a:r>
            <a:endParaRPr lang="ar-SA" sz="3200" dirty="0"/>
          </a:p>
        </p:txBody>
      </p:sp>
      <p:sp>
        <p:nvSpPr>
          <p:cNvPr id="9" name="Shape 7"/>
          <p:cNvSpPr/>
          <p:nvPr/>
        </p:nvSpPr>
        <p:spPr>
          <a:xfrm>
            <a:off x="2103120" y="2276856"/>
            <a:ext cx="8641080" cy="0"/>
          </a:xfrm>
          <a:prstGeom prst="line">
            <a:avLst/>
          </a:prstGeom>
          <a:noFill/>
          <a:ln w="9525">
            <a:solidFill>
              <a:schemeClr val="accent2"/>
            </a:solidFill>
            <a:prstDash val="dash"/>
          </a:ln>
        </p:spPr>
      </p:sp>
      <p:sp>
        <p:nvSpPr>
          <p:cNvPr id="10" name="Shape 8"/>
          <p:cNvSpPr/>
          <p:nvPr/>
        </p:nvSpPr>
        <p:spPr>
          <a:xfrm>
            <a:off x="10927080" y="2304288"/>
            <a:ext cx="548640" cy="548640"/>
          </a:xfrm>
          <a:prstGeom prst="star8">
            <a:avLst/>
          </a:prstGeom>
          <a:solidFill>
            <a:schemeClr val="accent2"/>
          </a:solidFill>
          <a:ln/>
        </p:spPr>
      </p:sp>
      <p:sp>
        <p:nvSpPr>
          <p:cNvPr id="11" name="Shape 9"/>
          <p:cNvSpPr/>
          <p:nvPr/>
        </p:nvSpPr>
        <p:spPr>
          <a:xfrm>
            <a:off x="11036808" y="24140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3042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2286000"/>
            <a:ext cx="10012680" cy="398678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لِيَسْتَـْٔذِنكُمُ الَّذِينَ مَلَكَتْ أَيْمَٰنُكُمْ وَالَّذِينَ لَمْ يَبْلُغُواْ الْحُلُمَ مِنكُمْ ثَلَٰثَ مَرَّـٰتٍ مِّن قَبْلِ صَلَوٰةِ الْفَجْرِ وَحِينَ تَضَعُونَ ثِيَابَكُم مِّنَ الظَّهِيرَةِ وَمِن بَعْدِ صَلَوٰةِ الْعِشَآءِ ثَلَٰثُ عَوْرَٰتٍ لَّكُمْ لَيْسَ عَلَيْكُمْ وَلَا عَلَيْهِمْ جُنَاحٌ بَعْدَهُنَّ طَوَّـٰفُونَ عَلَيْكُم بَعْضُكُمْ عَلَىٰ بَعْضٍ كَذَٰلِكَ يُبَيِّنُ اللَّهُ لَكُمُ الْأيَٰتِ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ليستأذنكم الخدم والأطفال الذين لم يبلغوا ثلاث مرات قبل الدخول عليكم: قبل صلاة الفجر، وحين تخلعون ثيابكم وقت الظهيرة، وبعد صلاة العشاء، فهي ثلاثة أوقات راحة لكم، وليس عليكم ولا عليهم إثم في غيرها، يدخلون ويخرجون عليكم، كذلك يبيّن الله لكم الآيات، والله عليم 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بَلَغَ الْأَطْفَٰلُ مِنكُمُ الْحُلُمَ فَلْيَسْتَـْٔذِنُواْ كَمَا اسْتَـْٔذَنَ الَّذِينَ مِن قَبْلِهِمْ كَذَٰلِكَ يُبَيِّنُ اللَّهُ لَكُمْ ءَايَٰتِهِ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بلغ الأطفال منكم سن البلوغ فليستأذنوا في كل الأوقات كما يستأذن الكبار، كذلك يبيّن الله لكم آياته، والله عليم حكيم.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وَالْقَوَٰعِدُ مِنَ النِّسَآءِ الَّـٰتِي لَا يَرْجُونَ نِكَاحًا فَلَيْسَ عَلَيْهِنَّ جُنَاحٌ أَن يَضَعْنَ ثِيَابَهُنَّ غَيْرَ مُتَبَرِّجَٰتٍ بِزِينَةٍ وَأَن يَسْتَعْفِفْنَ خَيْرٌ لَّهُنَّ وَاللَّهُ سَمِيعٌ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والنساء الكبيرات اللاتي لا يرجون الزواج ليس عليهن إثم أن يخلعن بعض ثيابهن الظاهرة كالرداء، غير مُظهرات للزينة، وأن يتعفّفن خير لهن، والله سميع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325880"/>
            <a:ext cx="10012680" cy="4910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 عَلَى الْأَعْمَىٰ حَرَجٌ وَلَا عَلَى الْأَعْرَجِ حَرَجٌ وَلَا عَلَى الْمَرِيضِ حَرَجٌ وَلَا عَلَىٰ أَنفُسِكُمْ أَن تَأْكُلُواْ مِن بُيُوتِكُمْ أَوْ بُيُوتِ ءَابَآئِكُمْ أَوْ بُيُوتِ أُمَّهَٰتِكُمْ أَوْ بُيُوتِ إِخْوَٰنِكُمْ أَوْ بُيُوتِ أَخَوَٰتِكُمْ أَوْ بُيُوتِ أَعْمَٰمِكُمْ أَوْ بُيُوتِ عَمَّـٰتِكُمْ أَوْ بُيُوتِ أَخْوَٰلِكُمْ أَوْ بُيُوتِ خَٰلَٰتِكُمْ أَوْ مَا مَلَكْتُم مَّفَاتِحَهُ أَوْ صَدِيقِكُمْ لَيْسَ عَلَيْكُمْ جُنَاحٌ أَن تَأْكُلُواْ جَمِيعًا أَوْ أَشْتَاتًا فَإِذَا دَخَلْتُم بُيُوتًا فَسَلِّمُواْ عَلَىٰ أَنفُسِكُمْ تَحِيَّةً مِّنْ عِندِ اللَّهِ مُبَٰرَكَةً طَيِّبَةً كَذَٰلِكَ يُبَيِّنُ اللَّهُ لَكُمُ الْأيَٰتِ لَعَلَّكُمْ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على الأعمى ولا على الأعرج ولا على المريض إثم في ترك ما لا يقدرون عليه، ولا عليكم إثم أن تأكلوا من بيوتكم، أو بيوت آبائكم وأمهاتكم وإخوانكم وأخواتكم وأعمامكم وعمّاتكم وأخوالكم وخالاتكم، أو ما وُكّلتم بحفظه، أو بيت صديقكم، ولا إثم أن تأكلوا مجتمعين أو متفرّقين، فإذا دخلتم بيوتًا فسلّموا على من فيها تحية من عند الله مباركة طيبة، كذلك يبيّن الله لكم الآيات لعلكم تعقلون.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الْمُؤْمِنُونَ الَّذِينَ ءَامَنُواْ بِاللَّهِ وَرَسُولِهِ وَإِذَا كَانُواْ مَعَهُ عَلَىٰ أَمْرٍ جَامِعٍ لَّمْ يَذْهَبُواْ حَتَّىٰ يَسْتَـْٔذِنُوهُ إِنَّ الَّذِينَ يَسْتَـْٔذِنُونَكَ أُوْلَـٰئِكَ الَّذِينَ يُؤْمِنُونَ بِاللَّهِ وَرَسُولِهِ فَإِذَا اسْتَـْٔذَنُوكَ لِبَعْضِ شَأْنِهِمْ فَأْذَن لِّمَن شِئْتَ مِنْهُمْ وَاسْتَغْفِرْ لَهُمُ اللَّهَ 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المؤمنون حقًّا الذين آمنوا بالله ورسوله، وإذا كانوا معه في أمر يجمعهم كاجتماع للمشورة لم ينصرفوا حتى يستأذنوه، إن الذين يستأذنونك أولئك المؤمنون حقًّا، فإذا استأذنوك لبعض حاجاتهم فأذن لمن شئت منهم، واستغفر لهم الله، إن 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٦٣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تَجْعَلُواْ دُعَآءَ الرَّسُولِ بَيْنَكُمْ كَدُعَآءِ بَعْضِكُم بَعْضًا قَدْ يَعْلَمُ اللَّهُ الَّذِينَ يَتَسَلَّلُونَ مِنكُمْ لِوَاذًا فَلْيَحْذَرِ الَّذِينَ يُخَالِفُونَ عَنْ أَمْرِهِ أَن تُصِيبَهُمْ فِتْنَةٌ أَوْ يُصِيبَهُمْ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تنادوا الرسول باسمه كما ينادي بعضكم بعضًا، بل قولوا: يا رسول الله، قد يعلم الله الذين يخرجون من المجلس خفية يستتر بعضهم ببعض، فليحذر الذين يخالفون أمره أن تصيبهم فتنة أو عذاب موجع.</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إِنَّ لِلَّهِ مَا فِي السَّمَٰوَٰتِ وَالْأَرْضِ قَدْ يَعْلَمُ مَآ أَنتُمْ عَلَيْهِ وَيَوْمَ يُرْجَعُونَ إِلَيْهِ فَيُنَبِّئُهُم بِمَا عَمِلُواْ وَاللَّهُ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إن لله ما في السماوات والأرض، قد يعلم ما أنتم عليه، ويوم يُرجعون إليه فيخبرهم بما عملوا، والله بكل شيء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المؤمنون</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١١٨</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٢٣</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عمر رضي الله عنه: كان إذا نزل على النبي صلى الله عليه وسلم الوحي سُمع عند وجهه كدويّ النحل، فأُنزل عليه يومًا فسُرّي عنه فقال: «لقد أُنزل عليّ عشر آيات، من أقامهنّ دخل الجنة»، ثم قرأ: ﴿قد أفلح المؤمنون﴾ حتى ختم عشر آيات (رواه الترمذي وأحمد).</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صفات المؤمنين المفلحين، ومراحل خلق الإنسان، ونعم الله، وقصص الرسل مع أقوامهم، وصفات المسارعين في الخيرات، وأدلة التوحيد، وندم الكفار يوم القيامة.</a:t>
            </a:r>
            <a:endParaRPr lang="ar-SA"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أَفْلَحَ الْمُؤْمِنُونَ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فاز المؤمنون وسعدوا.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هُمْ فِي صَلَاتِهِمْ خَٰشِعُونَ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هم في صلاتهم خاشعون بقلوبهم وجوارحهم.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عَنِ اللَّغْوِ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هم عن الكلام الباطل والفعل الذي لا فائدة فيه معرضون.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لِلزَّكَوٰةِ 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هم للزكاة مؤدّون، ولأنفسهم مزكّون.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لِفُرُوجِهِمْ حَٰفِظُونَ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هم لعوراتهم حافظون من الحرام.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عَلَىٰ أَزْوَٰجِهِمْ أَوْ مَا مَلَكَتْ أَيْمَٰنُهُمْ فَإِنَّهُمْ غَيْرُ مَلُومِينَ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على زوجاتهم أو ما ملكت أيمانهم، فإنهم غير ملومين.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ابْتَغَىٰ وَرَآءَ ذَٰلِكَ فَأُوْلَـٰئِكَ هُمُ الْعَادُونَ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طلب غير ذلك فأولئك هم المعتدون المتجاوزون للحلال.</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لِأَمَٰنَٰتِهِمْ وَعَهْدِهِمْ رَٰعُونَ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هم لأماناتهم وعهودهم حافظون.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عَلَىٰ صَلَوَٰتِهِمْ يُحَافِظُونَ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هم على صلواتهم يحافظون في أوقاتها.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هُمُ الْوَٰرِثُونَ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هم الوارثون.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يَرِثُونَ الْفِرْدَوْسَ هُمْ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يرثون أعلى الجنة الفردوس، هم فيها خالدون.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خَلَقْنَا الْإِنسَٰنَ مِن سُلَٰلَةٍ مِّن 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خلقنا آدم من خلاصة طين.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جَعَلْنَٰهُ نُطْفَةً فِي قَرَارٍ مَّكِينٍ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جعلنا ذريته نطفة في مكان مستقرّ محفوظ وهو الرحم.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خَلَقْنَا النُّطْفَةَ عَلَقَةً فَخَلَقْنَا الْعَلَقَةَ مُضْغَةً فَخَلَقْنَا الْمُضْغَةَ عِظَٰمًا فَكَسَوْنَا الْعِظَٰمَ لَحْمًا ثُمَّ أَنشَأْنَٰهُ خَلْقًا ءَاخَرَ فَتَبَارَكَ اللَّهُ أَحْسَنُ الْخَٰلِقِينَ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خلقنا النطفة دمًا متجمّدًا، فخلقنا الدم قطعة لحم، فخلقنا قطعة اللحم عظامًا، فكسونا العظام لحمًا، ثم أنشأناه خلقًا آخر بنفخ الروح فيه، فتبارك الله أحسن الخالقين.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إِنَّكُم بَعْدَ ذَٰلِكَ لَمَيِّتُونَ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إنكم بعد ذلك لميّتون.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إِنَّكُمْ يَوْمَ الْقِيَٰمَةِ تُبْعَثُونَ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إنكم يوم القيامة تُبعثون للحساب.</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خَلَقْنَا فَوْقَكُمْ سَبْعَ طَرَآئِقَ وَمَا كُنَّا عَنِ الْخَلْقِ غَٰفِلِينَ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خلقنا فوقكم سبع سماوات، وما كنا عن الخلق غافلين.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وَأَنزَلْنَا مِنَ السَّمَآءِ مَآءً بِقَدَرٍ فَأَسْكَنَّـٰهُ فِي الْأَرْضِ وَإِنَّا عَلَىٰ ذَهَابٍ بِهِ لَقَٰدِرُونَ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وأنزلنا من السماء مطرًا بمقدار الحاجة، فأسكنّاه في الأرض، وإنا على إذهابه لقادرون.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فَأَنشَأْنَا لَكُم بِهِ جَنَّـٰتٍ مِّن نَّخِيلٍ وَأَعْنَٰبٍ لَّكُمْ فِيهَا فَوَٰكِهُ كَثِيرَةٌ وَمِنْهَا تَأْكُلُونَ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فأنشأنا لكم به بساتين من نخيل وأعناب، لكم فيها فواكه كثيرة، ومنها تأكلون.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وَشَجَرَةً تَخْرُجُ مِن طُورِ سَيْنَآءَ تَنبُتُ بِالدُّهْنِ وَصِبْغٍ لِّلْأكِلِينَ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وأنشأنا لكم شجرة الزيتون تخرج من جبل طور سيناء، تُنبت الزيت، وإدامًا للآكلين.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لَكُمْ فِي الْأَنْعَٰمِ لَعِبْرَةً نُّسْقِيكُم مِّمَّا فِي بُطُونِهَا وَلَكُمْ فِيهَا مَنَٰفِعُ كَثِيرَةٌ وَمِنْهَا تَأْكُلُونَ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لكم في الأنعام لعبرة، نسقيكم مما في بطونها من اللبن، ولكم فيها منافع كثيرة، ومنها تأكلون.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وَعَلَيْهَا وَعَلَى الْفُلْكِ تُحْمَلُونَ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وعلى الإبل وعلى السفن تُحملون.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نُوحًا إِلَىٰ قَوْمِهِ فَقَالَ يَٰقَوْمِ اعْبُدُواْ اللَّهَ مَا لَكُم مِّنْ إِلَٰهٍ غَيْرُهُ أَفَلَا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نوحًا إلى قومه، فقال: يا قوم اعبدوا الله ما لكم من إله غيره، أفلا تتقون؟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فَقَالَ الْمَلَؤُاْ الَّذِينَ كَفَرُواْ مِن قَوْمِهِ مَا هَٰذَآ إِلَّا بَشَرٌ مِّثْلُكُمْ يُرِيدُ أَن يَتَفَضَّلَ عَلَيْكُمْ وَلَوْ شَآءَ اللَّهُ لَأَنزَلَ مَلَـٰئِكَةً مَّا سَمِعْنَا بِهَٰذَا فِي ءَابَآئِنَا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 الكبراء الكافرون من قومه: ما هذا إلا بشر مثلكم يريد أن يتسلّط عليكم، ولو شاء الله لأنزل ملائكة، ما سمعنا بهذا في آبائنا الأولين.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هُوَ إِلَّا رَجُلٌ بِهِ جِنَّةٌ فَتَرَبَّصُواْ بِهِ حَتَّىٰ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هو إلا رجل به جنون، فانتظروا به إلى حين.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انصُرْنِي بِمَا 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نوح: رب انصرني بسبب تكذيبهم.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فَأَوْحَيْنَآ إِلَيْهِ أَنِ اصْنَعِ الْفُلْكَ بِأَعْيُنِنَا وَوَحْيِنَا فَإِذَا جَآءَ أَمْرُنَا وَفَارَ التَّنُّورُ فَاسْلُكْ فِيهَا مِن كُلٍّ زَوْجَيْنِ اثْنَيْنِ وَأَهْلَكَ إِلَّا مَن سَبَقَ عَلَيْهِ الْقَوْلُ مِنْهُمْ وَلَا تُخَٰطِبْنِي فِي الَّذِينَ ظَلَمُواْ إِنَّهُم مُّغْرَقُونَ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فأوحينا إليه: أن اصنع السفينة برعايتنا وتعليمنا، فإذا جاء أمرنا وفار الماء من التنّور فأدخل فيها من كل نوع ذكرًا وأنثى، وأهلك إلا من سبق عليه الحكم بالهلاك، ولا تطلب مني نجاة الظالمين إنهم مُغرقون.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اسْتَوَيْتَ أَنتَ وَمَن مَّعَكَ عَلَى الْفُلْكِ فَقُلِ الْحَمْدُ لِلَّهِ الَّذِي نَجَّىٰنَا مِنَ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استقررت أنت ومن معك على السفينة فقل: الحمد لله الذي نجّانا من القوم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رَّبِّ أَنزِلْنِي مُنزَلًا مُّبَارَكًا وَأَنتَ خَيْرُ الْمُنزِلِينَ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رب أنزلني منزلًا مباركًا، وأنت خير المُنزلين.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لَأيَٰتٍ وَإِن كُنَّا لَمُبْتَلِينَ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لعبرًا، وإن كنا لمختبرين عبادنا.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أَنشَأْنَا مِن بَعْدِهِمْ قَرْنًا ءَاخَرِينَ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أنشأنا من بعد قوم نوح أمة أخرى، قيل: هم قوم عاد.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فَأَرْسَلْنَا فِيهِمْ رَسُولًا مِّنْهُمْ أَنِ اعْبُدُواْ اللَّهَ مَا لَكُم مِّنْ إِلَٰهٍ غَيْرُهُ أَفَلَا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فأرسلنا فيهم رسولًا منهم: أن اعبدوا الله ما لكم من إله غيره، أفلا تتقون؟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الْمَلَأُ مِن قَوْمِهِ الَّذِينَ كَفَرُواْ وَكَذَّبُواْ بِلِقَآءِ الْأخِرَةِ وَأَتْرَفْنَٰهُمْ فِي الْحَيَوٰةِ الدُّنْيَا مَا هَٰذَآ إِلَّا بَشَرٌ مِّثْلُكُمْ يَأْكُلُ مِمَّا تَأْكُلُونَ مِنْهُ وَيَشْرَبُ مِمَّا تَشْرَبُونَ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الكبراء الكافرون المكذّبون بالآخرة، الذين وسّعنا عليهم في الدنيا: ما هذا إلا بشر مثلكم يأكل مما تأكلون ويشرب مما تشربون.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أَطَعْتُم بَشَرًا مِّثْلَكُمْ إِنَّكُمْ إِذًا 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أطعتم بشرًا مثلكم إنكم إذًا لخاسرون.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أَيَعِدُكُمْ أَنَّكُمْ إِذَا مِتُّمْ وَكُنتُمْ تُرَابًا وَعِظَٰمًا أَنَّكُم مُّخْرَجُونَ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أيعدكم أنكم إذا متّم وصرتم ترابًا وعظامًا أنكم مُخرَجون من قبوركم؟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هَيْهَاتَ هَيْهَاتَ لِمَا تُوعَدُونَ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بعيدٌ بعيدٌ ما توعدون به.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هِيَ إِلَّا حَيَاتُنَا الدُّنْيَا نَمُوتُ وَنَحْيَا وَمَا نَحْنُ بِمَبْعُوثِينَ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هي إلا حياتنا الدنيا، يموت قوم ويحيا آخرون، وما نحن بمبعوثين.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هُوَ إِلَّا رَجُلٌ افْتَرَىٰ عَلَى اللَّهِ كَذِبًا وَمَا نَحْنُ لَهُ بِمُؤْمِنِينَ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هو إلا رجل اختلق على الله كذبًا، وما نحن له بمصدّقين.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انصُرْنِي بِمَا 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رسولهم: رب انصرني بسبب تكذيبهم.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عَمَّا قَلِيلٍ لَّيُصْبِحُنَّ نَٰدِمِينَ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بعد قليل ليُصبحُنّ نادمين.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فَأَخَذَتْهُمُ الصَّيْحَةُ بِالْحَقِّ فَجَعَلْنَٰهُمْ غُثَآءً فَبُعْدًا لِّلْقَوْمِ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فأخذتهم الصيحة بالعدل، فجعلناهم هلكى كالغثاء الذي يحمله السيل، فهلاكًا للقوم الظالمين.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أَنشَأْنَا مِن بَعْدِهِمْ قُرُونًا ءَاخَرِينَ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أنشأنا من بعدهم أممًا آخرين.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تَسْبِقُ مِنْ أُمَّةٍ أَجَلَهَا وَمَا يَسْتَـْٔخِرُونَ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تتقدّم أمة عن أجلها، ولا تتأخّر عنه.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أَرْسَلْنَا رُسُلَنَا تَتْرَا كُلَّ مَا جَآءَ أُمَّةً رَّسُولُهَا كَذَّبُوهُ فَأَتْبَعْنَا بَعْضَهُم بَعْضًا وَجَعَلْنَٰهُمْ أَحَادِيثَ فَبُعْدًا لِّقَوْمٍ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أرسلنا رسلنا متتابعين، كلما جاء أمة رسولها كذّبوه، فأهلكنا بعضهم بعد بعض، وجعلناهم أخبارًا يُتحدّث بها، فهلاكًا لقوم لا يؤمنون.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أَرْسَلْنَا مُوسَىٰ وَأَخَاهُ هَٰرُونَ بِـَٔايَٰتِنَا وَسُلْطَٰنٍ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أرسلنا موسى وأخاه هارون بمعجزاتنا وحجة واضحة.</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إِلَىٰ فِرْعَوْنَ وَمَلَإِيْهِ فَاسْتَكْبَرُواْ وَكَانُواْ قَوْمًا عَالِينَ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إلى فرعون وكبار قومه، فتكبّروا، وكانوا قومًا متعالين.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فَقَالُواْ أَنُؤْمِنُ لِبَشَرَيْنِ مِثْلِنَا وَقَوْمُهُمَا لَنَا 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فقالوا: أنؤمن لبشرين مثلنا، وقومهما بنو إسرائيل لنا خدم مطيعون؟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فَكَذَّبُوهُمَا فَكَانُواْ مِنَ الْمُهْلَكِينَ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فكذّبوهما، فكانوا من المُهلكين بالغرق.</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مُوسَى الْكِتَٰبَ لَعَلَّهُمْ يَهْتَدُونَ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موسى التوراة لعل بني إسرائيل يهتدون.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ابْنَ مَرْيَمَ وَأُمَّهُ ءَايَةً وَءَاوَيْنَٰهُمَآ إِلَىٰ رَبْوَةٍ ذَاتِ قَرَارٍ وَمَعِينٍ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عيسى ابن مريم وأمه آية على قدرتنا، وأويناهما إلى مكان مرتفع مستوٍ فيه ماء جارٍ.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الرُّسُلُ كُلُواْ مِنَ الطَّيِّبَٰتِ وَاعْمَلُواْ صَٰلِحًا إِنِّي بِمَا تَعْمَلُونَ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الرسل، كلوا من الحلال الطيب، واعملوا صالحًا، إني بما تعملون عليم.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هَٰذِهِ أُمَّتُكُمْ أُمَّةً وَٰحِدَةً وَأَنَا رَبُّكُمْ فَاتَّقُونِ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هذه ملّتكم ملّة واحدة وهي التوحيد، وأنا ربكم فاتقون.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فَتَقَطَّعُواْ أَمْرَهُم بَيْنَهُمْ زُبُرًا كُلُّ حِزْبٍ بِمَا لَدَيْهِمْ فَرِحُونَ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فتفرّق الأتباع في الدين فرقًا وكتبًا، كل حزب بما عندهم فرحون.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فَذَرْهُمْ فِي غَمْرَتِهِمْ حَتَّىٰ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فاتركهم في ضلالهم إلى وقت هلاكهم.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أَيَحْسَبُونَ أَنَّمَا نُمِدُّهُم بِهِ مِن مَّالٍ وَبَنِينَ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أيظنون أن ما نعطيهم من مال وبنين.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نُسَارِعُ لَهُمْ فِي الْخَيْرَٰتِ بَل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نسارع لهم به في الخيرات؟ بل هو استدراج، ولكن لا يشعرون.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هُم مِّنْ خَشْيَةِ رَبِّهِم مُّشْفِقُونَ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هم من خشية ربهم خائفون.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بِـَٔايَٰتِ رَبِّهِمْ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هم بآيات ربهم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5420"/>
            <a:ext cx="548640" cy="548640"/>
          </a:xfrm>
          <a:prstGeom prst="star8">
            <a:avLst/>
          </a:prstGeom>
          <a:solidFill>
            <a:schemeClr val="accent2"/>
          </a:solidFill>
          <a:ln/>
        </p:spPr>
      </p:sp>
      <p:sp>
        <p:nvSpPr>
          <p:cNvPr id="6" name="Shape 4"/>
          <p:cNvSpPr/>
          <p:nvPr/>
        </p:nvSpPr>
        <p:spPr>
          <a:xfrm>
            <a:off x="11036808" y="156514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54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4371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بِرَبِّهِمْ لَا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هم بربهم لا يشركون.</a:t>
            </a:r>
            <a:endParaRPr lang="ar-SA" sz="3200" dirty="0"/>
          </a:p>
        </p:txBody>
      </p:sp>
      <p:sp>
        <p:nvSpPr>
          <p:cNvPr id="9" name="Shape 7"/>
          <p:cNvSpPr/>
          <p:nvPr/>
        </p:nvSpPr>
        <p:spPr>
          <a:xfrm>
            <a:off x="2103120" y="2618232"/>
            <a:ext cx="8641080" cy="0"/>
          </a:xfrm>
          <a:prstGeom prst="line">
            <a:avLst/>
          </a:prstGeom>
          <a:noFill/>
          <a:ln w="9525">
            <a:solidFill>
              <a:schemeClr val="accent2"/>
            </a:solidFill>
            <a:prstDash val="dash"/>
          </a:ln>
        </p:spPr>
      </p:sp>
      <p:sp>
        <p:nvSpPr>
          <p:cNvPr id="10" name="Shape 8"/>
          <p:cNvSpPr/>
          <p:nvPr/>
        </p:nvSpPr>
        <p:spPr>
          <a:xfrm>
            <a:off x="10927080" y="2875788"/>
            <a:ext cx="548640" cy="548640"/>
          </a:xfrm>
          <a:prstGeom prst="star8">
            <a:avLst/>
          </a:prstGeom>
          <a:solidFill>
            <a:schemeClr val="accent2"/>
          </a:solidFill>
          <a:ln/>
        </p:spPr>
      </p:sp>
      <p:sp>
        <p:nvSpPr>
          <p:cNvPr id="11" name="Shape 9"/>
          <p:cNvSpPr/>
          <p:nvPr/>
        </p:nvSpPr>
        <p:spPr>
          <a:xfrm>
            <a:off x="11036808" y="29855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8757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2857500"/>
            <a:ext cx="10012680" cy="164592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يُؤْتُونَ مَآ ءَاتَواْ وَّقُلُوبُهُمْ وَجِلَةٌ أَنَّهُمْ إِلَىٰ رَبِّهِمْ 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يُعطون ما أعطوا من الصدقات والطاعات وقلوبهم خائفة ألّا تُقبل منهم، لأنهم إلى ربهم راجعون. فسألت عائشة: أهم الذين يسرقون؟ قال النبي صلى الله عليه وسلم: «لا، ولكنهم الذين يصومون ويصلّون ويتصدّقون ويخافون ألّا يُقبل منهم» (رواه الترمذي).</a:t>
            </a:r>
            <a:endParaRPr lang="ar-SA" sz="3200" dirty="0"/>
          </a:p>
        </p:txBody>
      </p:sp>
      <p:sp>
        <p:nvSpPr>
          <p:cNvPr id="14" name="Shape 12"/>
          <p:cNvSpPr/>
          <p:nvPr/>
        </p:nvSpPr>
        <p:spPr>
          <a:xfrm>
            <a:off x="2103120" y="4715256"/>
            <a:ext cx="8641080" cy="0"/>
          </a:xfrm>
          <a:prstGeom prst="line">
            <a:avLst/>
          </a:prstGeom>
          <a:noFill/>
          <a:ln w="9525">
            <a:solidFill>
              <a:schemeClr val="accent2"/>
            </a:solidFill>
            <a:prstDash val="dash"/>
          </a:ln>
        </p:spPr>
      </p:sp>
      <p:sp>
        <p:nvSpPr>
          <p:cNvPr id="15" name="Shape 13"/>
          <p:cNvSpPr/>
          <p:nvPr/>
        </p:nvSpPr>
        <p:spPr>
          <a:xfrm>
            <a:off x="10927080" y="4972812"/>
            <a:ext cx="548640" cy="548640"/>
          </a:xfrm>
          <a:prstGeom prst="star8">
            <a:avLst/>
          </a:prstGeom>
          <a:solidFill>
            <a:schemeClr val="accent2"/>
          </a:solidFill>
          <a:ln/>
        </p:spPr>
      </p:sp>
      <p:sp>
        <p:nvSpPr>
          <p:cNvPr id="16" name="Shape 14"/>
          <p:cNvSpPr/>
          <p:nvPr/>
        </p:nvSpPr>
        <p:spPr>
          <a:xfrm>
            <a:off x="11036808" y="508254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728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8" name="Text 16"/>
          <p:cNvSpPr txBox="1"/>
          <p:nvPr/>
        </p:nvSpPr>
        <p:spPr>
          <a:xfrm>
            <a:off x="731520" y="49545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يُسَٰرِعُونَ فِي الْخَيْرَٰتِ وَهُمْ لَهَا سَٰبِقُونَ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يسارعون في الخيرات، وهم إليها سابقون.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نُكَلِّفُ نَفْسًا إِلَّا وُسْعَهَا وَلَدَيْنَا كِتَٰبٌ يَنطِقُ بِالْحَقِّ وَهُمْ لَا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نكلّف نفسًا إلا طاقتها، وعندنا كتاب الأعمال ينطق بالحق، وهم لا يُظلمون.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قُلُوبُهُمْ فِي غَمْرَةٍ مِّنْ هَٰذَا وَلَهُمْ أَعْمَٰلٌ مِّن دُونِ ذَٰلِكَ هُمْ لَهَا 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قلوب الكفار في غفلة من هذا القرآن، ولهم أعمال سيئة غير ذلك هم لها عاملون.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أَخَذْنَا مُتْرَفِيهِم بِالْعَذَابِ إِذَا هُمْ يَجْـَٔرُونَ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أخذنا أغنياءهم المترفين بالعذاب إذا هم يصرخون مستغيثين.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تَجْـَٔرُواْ الْيَوْمَ إِنَّكُم مِّنَّا لَا تُنصَرُونَ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تصرخوا اليوم، إنكم منا لا تُنصرون.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٦٦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كَانَتْ ءَايَٰتِي تُتْلَىٰ عَلَيْكُمْ فَكُنتُمْ عَلَىٰ أَعْقَٰبِكُمْ تَنكِصُونَ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كانت آياتي تُقرأ عليكم فكنتم ترجعون إلى الوراء معرضين.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مُسْتَكْبِرِينَ بِهِ سَٰمِرًا تَهْجُرُونَ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متكبّرين بالحرم، تسهرون حوله ليلًا تقولون الكلام القبيح في القرآن والنبي.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أَفَلَمْ يَدَّبَّرُواْ الْقَوْلَ أَمْ جَآءَهُم مَّا لَمْ يَأْتِ ءَابَآءَهُمُ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أفلم يتدبّروا القرآن؟ أم جاءهم ما لم يأت آباءهم الأولين؟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لَمْ يَعْرِفُواْ رَسُولَهُمْ فَهُمْ لَهُ مُنكِرُونَ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لم يعرفوا رسولهم وصدقه وأمانته فهم له منكرون؟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٧٠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يَقُولُونَ بِهِ جِنَّةٌ بَلْ جَآءَهُم بِالْحَقِّ وَأَكْثَرُهُمْ لِلْحَقِّ كَٰرِهُونَ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يقولون: به جنون؟ بل جاءهم بالحق، وأكثرهم للحق كارهون.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اتَّبَعَ الْحَقُّ أَهْوَآءَهُمْ لَفَسَدَتِ السَّمَٰوَٰتُ وَالْأَرْضُ وَمَن فِيهِنَّ بَلْ أَتَيْنَٰهُم بِذِكْرِهِمْ فَهُمْ عَن ذِكْرِهِم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اتّبع الحق أهواءهم لفسدت السماوات والأرض ومن فيهن، بل أتيناهم بالقرآن الذي فيه شرفهم، فهم عن شرفهم معرضون.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تَسْـَٔلُهُمْ خَرْجًا فَخَرَاجُ رَبِّكَ خَيْرٌ وَهُوَ خَيْرُ الرَّـٰزِقِينَ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تطلب منهم أجرًا على الدعوة؟ فرزق ربك خير، وهو خير الرازقين.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وَإِنَّكَ لَتَدْعُوهُمْ إِلَىٰ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وإنك لتدعوهم إلى طريق مستقيم.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الَّذِينَ لَا يُؤْمِنُونَ بِالْأخِرَةِ عَنِ الصِّرَٰطِ لَنَٰكِبُونَ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الذين لا يؤمنون بالآخرة عن الطريق لمائلون.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رَحِمْنَٰهُمْ وَكَشَفْنَا مَا بِهِم مِّن ضُرٍّ لَّلَجُّواْ فِي طُغْيَٰنِهِمْ يَعْمَهُونَ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رحمناهم وكشفنا ما بهم من ضرّ لتمادوا في طغيانهم يتحيّرون.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أَخَذْنَٰهُم بِالْعَذَابِ فَمَا اسْتَكَانُواْ لِرَبِّهِمْ وَمَا يَتَضَرَّعُونَ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أخذناهم بالعذاب كالقحط، فما خضعوا لربهم، وما يتضرّعون إليه.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٧٧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فَتَحْنَا عَلَيْهِم بَابًا ذَا عَذَابٍ شَدِيدٍ إِذَا هُمْ فِيهِ مُبْلِسُونَ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فتحنا عليهم بابًا ذا عذاب شديد إذا هم فيه يائسون من كل خير.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أَنشَأَ لَكُمُ السَّمْعَ وَالْأَبْصَٰرَ وَالْأَفْـِٔدَةَ قَلِيلًا مَّا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أنشأ لكم السمع والأبصار والقلوب، قليلًا ما تشكرون.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ذَرَأَكُمْ فِي الْأَرْضِ وَإِلَيْهِ تُحْشَرُونَ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خلقكم ونشركم في الأرض، وإليه تُجمعون.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يُحْيِ وَيُمِيتُ وَلَهُ اخْتِلَٰفُ الَّيْلِ وَالنَّهَارِ أَفَلَا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يُحيي ويُميت، وله تعاقب الليل والنهار، أفلا تعقلون؟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قَالُواْ مِثْلَ مَا قَالَ الْأَوَّلُونَ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قالوا مثل ما قال الأولون المكذّبون.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أَءِذَا مِتْنَا وَكُنَّا تُرَابًا وَعِظَٰمًا أَءِنَّا لَمَبْعُوثُونَ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أإذا متنا وكنا ترابًا وعظامًا أإنا لمبعوثون؟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وُعِدْنَا نَحْنُ وَءَابَآؤُنَا هَٰذَا مِن قَبْلُ إِنْ هَٰذَآ إِلَّآ أَسَٰطِيرُ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وُعدنا نحن وآباؤنا هذا من قبل، ما هذا إلا أكاذيب الأولين.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لِّمَنِ الْأَرْضُ وَمَن فِيهَآ إِن كُنتُمْ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لمن الأرض ومن فيها إن كنتم تعلمون؟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٨٥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سَيَقُولُونَ لِلَّهِ قُلْ أَفَلَا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سيقولون: لله، قل: أفلا تتذكرون فتعبدوه وحده؟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مَن رَّبُّ السَّمَٰوَٰتِ السَّبْعِ وَرَبُّ الْعَرْشِ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من رب السماوات السبع ورب العرش العظيم؟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سَيَقُولُونَ لِلَّهِ قُلْ أَفَلَا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سيقولون: لله، قل: أفلا تتقون؟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مَن بِيَدِهِ مَلَكُوتُ كُلِّ شَيْءٍ وَهُوَ يُجِيرُ وَلَا يُجَارُ عَلَيْهِ إِن كُنتُمْ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من بيده ملك كل شيء، وهو يحمي من يشاء ولا يحميه أحد منه، إن كنتم تعلمون؟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٨٩ –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سَيَقُولُونَ لِلَّهِ قُلْ فَأَنَّىٰ تُسْحَرُونَ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سيقولون: لله، قل: فكيف تُخدعون عن الحق؟</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أَتَيْنَٰهُم بِالْحَقِّ وَإِنَّهُمْ 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أتيناهم بالحق، وإنهم لكاذبون في شركهم.</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اتَّخَذَ اللَّهُ مِن وَلَدٍ وَمَا كَانَ مَعَهُ مِنْ إِلَٰهٍ إِذًا لَّذَهَبَ كُلُّ إِلَٰهٍ بِمَا خَلَقَ وَلَعَلَا بَعْضُهُمْ عَلَىٰ بَعْضٍ سُبْحَٰنَ اللَّهِ عَمَّا يَصِفُونَ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اتّخذ الله من ولد، وما كان معه من إله، ولو كان لانفرد كل إله بما خلق، ولغلب بعضهم بعضًا، تنزّه الله عما يصفون.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٩٢ – ٩٥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عَٰلِمِ الْغَيْبِ وَالشَّهَٰدَةِ فَتَعَٰلَىٰ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عالم الغيب والشهادة، فتعالى عما يشركون.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رَّبِّ إِمَّا تُرِيَنِّي مَا يُوعَدُونَ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رب إن تُريني ما يوعدون من العذاب.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فَلَا تَجْعَلْنِي فِي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فلا تجعلني مع القوم الظالمين.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وَإِنَّا عَلَىٰ أَن نُّرِيَكَ مَا نَعِدُهُمْ لَقَٰدِرُونَ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وإنا على أن نريك ما نعدهم لقادرون.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٩٦ – ٩٩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ادْفَعْ بِالَّتِي هِيَ أَحْسَنُ السَّيِّئَةَ نَحْنُ أَعْلَمُ بِمَا يَصِفُونَ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ادفع بالخصلة التي هي أحسن الإساءةَ، كالعفو والإحسان، نحن أعلم بما يصفون.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رَّبِّ أَعُوذُ بِكَ مِنْ هَمَزَٰتِ الشَّيَٰطِينِ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رب أعوذ بك من وساوس الشياطين ونزغاتهم.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وَأَعُوذُ بِكَ رَبِّ أَن يَحْضُرُونِ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وأعوذ بك رب أن يحضروني في شيء من أموري.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جَآءَ أَحَدَهُمُ الْمَوْتُ قَالَ رَبِّ ارْجِعُونِ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جاء أحد الكفار الموت قال: رب ارجعوني إلى الدنيا.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١٠٠ – ١٠٢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لَعَلِّي أَعْمَلُ صَٰلِحًا فِيمَا تَرَكْتُ كَلَّآ إِنَّهَا كَلِمَةٌ هُوَ قَآئِلُهَا وَمِن وَرَآئِهِم بَرْزَخٌ إِلَىٰ يَوْمِ يُبْعَثُونَ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لعلّي أعمل صالحًا فيما تركت، كلا، إنها كلمة هو قائلها لا فائدة منها، ومن أمامهم حاجز هو القبر إلى يوم يُبعثون.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نُفِخَ فِي الصُّورِ فَلَآ أَنسَابَ بَيْنَهُمْ يَوْمَئِذٍ وَلَا يَتَسَآءَلُونَ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نُفخ في البوق فلا تنفع الأنساب بينهم يومئذ، ولا يسأل بعضهم بعضًا.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ثَقُلَتْ مَوَٰزِينُهُ فَأُوْلَـٰئِكَ هُمُ الْمُفْلِحُونَ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ثقلت حسناته فأولئك هم المفلحون.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١٠٣ – ١٠٦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خَفَّتْ مَوَٰزِينُهُ فَأُوْلَـٰئِكَ الَّذِينَ خَسِرُواْ أَنفُسَهُمْ فِي جَهَنَّمَ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خفّت حسناته فأولئك الذين خسروا أنفسهم، في جهنم خالدون.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تَلْفَحُ وُجُوهَهُمُ النَّارُ وَهُمْ فِيهَا كَٰلِحُونَ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تحرق النار وجوههم، وهم فيها عابسون قد تقلّصت شفاههم.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تَكُنْ ءَايَٰتِي تُتْلَىٰ عَلَيْكُمْ فَكُنتُم بِهَا تُكَذِّبُونَ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ألم تكن آياتي تُقرأ عليكم فكنتم بها تكذّبون؟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رَبَّنَا غَلَبَتْ عَلَيْنَا شِقْوَتُنَا وَكُنَّا قَوْمًا ضَآلِّينَ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ربنا غلبت علينا شقاوتنا، وكنا قومًا ضالّين.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١٠٧ – ١٠٩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أَخْرِجْنَا مِنْهَا فَإِنْ عُدْنَا فَإِنَّا 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أخرجنا منها، فإن عدنا إلى الكفر فإنا ظالمون.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اخْسَـُٔواْ فِيهَا وَلَا تُكَلِّمُونِ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امكثوا فيها أذلّاء، ولا تكلّمون.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كَانَ فَرِيقٌ مِّنْ عِبَادِي يَقُولُونَ رَبَّنَآ ءَامَنَّا فَاغْفِرْ لَنَا وَارْحَمْنَا وَأَنتَ خَيْرُ الرَّـٰحِمِينَ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كان فريق من عبادي المؤمنين يقولون: ربنا آمنّا فاغفر لنا وارحمنا وأنت خير الراحمين.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١١٠ – ١١٣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فَاتَّخَذْتُمُوهُمْ سِخْرِيًّا حَتَّىٰ أَنسَوْكُمْ ذِكْرِي وَكُنتُم مِّنْهُمْ تَضْحَكُونَ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فاتّخذتموهم سخرية حتى أنساكم الاشتغال بالسخرية منهم ذكري، وكنتم منهم تضحكون.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جَزَيْتُهُمُ الْيَوْمَ بِمَا صَبَرُواْ أَنَّهُمْ هُمُ الْفَآئِزُونَ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جزيتهم اليوم بسبب صبرهم أنهم هم الفائزون.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كَمْ لَبِثْتُمْ فِي الْأَرْضِ عَدَدَ 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كم بقيتم في الأرض عدد سنين؟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لَبِثْنَا يَوْمًا أَوْ بَعْضَ يَوْمٍ فَسْـَٔلِ الْعَآدِّينَ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بقينا يومًا أو بعض يوم، فاسأل الملائكة الذين يعدّون.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١١٤ – ١١٦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لَّبِثْتُمْ إِلَّا قَلِيلًا لَّوْ أَنَّكُمْ كُنتُمْ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ما بقيتم إلا قليلًا لو أنكم كنتم تعلمون.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أَفَحَسِبْتُمْ أَنَّمَا خَلَقْنَٰكُمْ عَبَثًا وَأَنَّكُمْ إِلَيْنَا لَا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أفظننتم أنما خلقناكم عبثًا بلا حكمة، وأنكم إلينا لا ترجعون؟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فَتَعَٰلَى اللَّهُ الْمَلِكُ الْحَقُّ لَآ إِلَٰهَ إِلَّا هُوَ رَبُّ الْعَرْشِ الْكَرِيمِ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فتعالى الله الملك الحق، لا إله إلا هو، رب العرش الكريم.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المؤمنون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١١٧ – ١١٨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يَدْعُ مَعَ اللَّهِ إِلَٰهًا ءَاخَرَ لَا بُرْهَٰنَ لَهُ بِهِ فَإِنَّمَا حِسَابُهُ عِندَ رَبِّهِ إِنَّهُ لَا يُفْلِحُ الْكَٰفِرُونَ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يعبد مع الله إلهًا آخر لا حجة له به، فإنما حسابه عند ربه، إنه لا يفلح الكافرون.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رَّبِّ اغْفِرْ وَارْحَمْ وَأَنتَ خَيْرُ الرَّـٰحِمِينَ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رب اغفر وارحم، وأنت خير الراحمين.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pic>
        <p:nvPicPr>
          <p:cNvPr id="2" name="Image 0" descr="assets18/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18/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18 Tafsir">
  <a:themeElements>
    <a:clrScheme name="Juz 18 Tafsir">
      <a:dk1>
        <a:srgbClr val="282B22"/>
      </a:dk1>
      <a:lt1>
        <a:srgbClr val="FFFFFF"/>
      </a:lt1>
      <a:dk2>
        <a:srgbClr val="55691F"/>
      </a:dk2>
      <a:lt2>
        <a:srgbClr val="FAFBF4"/>
      </a:lt2>
      <a:accent1>
        <a:srgbClr val="55691F"/>
      </a:accent1>
      <a:accent2>
        <a:srgbClr val="C9A04A"/>
      </a:accent2>
      <a:accent3>
        <a:srgbClr val="6D8429"/>
      </a:accent3>
      <a:accent4>
        <a:srgbClr val="656A5C"/>
      </a:accent4>
      <a:accent5>
        <a:srgbClr val="EDF0DF"/>
      </a:accent5>
      <a:accent6>
        <a:srgbClr val="8A2F2A"/>
      </a:accent6>
      <a:hlink>
        <a:srgbClr val="6D8429"/>
      </a:hlink>
      <a:folHlink>
        <a:srgbClr val="656A5C"/>
      </a:folHlink>
    </a:clrScheme>
    <a:fontScheme name="Juz 18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قد أفلح — مبسّط من تفسير ابن كثير</dc:title>
  <dc:subject>PptxGenJS Presentation</dc:subject>
  <dc:creator>معلم القرآن الكريم</dc:creator>
  <cp:lastModifiedBy>معلم القرآن الكريم</cp:lastModifiedBy>
  <cp:revision>1</cp:revision>
  <dcterms:created xsi:type="dcterms:W3CDTF">2026-10-03T22:36:27Z</dcterms:created>
  <dcterms:modified xsi:type="dcterms:W3CDTF">2026-10-03T22:36:27Z</dcterms:modified>
</cp:coreProperties>
</file>