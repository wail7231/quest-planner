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Lst>
  <p:notesMasterIdLst>
    <p:notesMasterId r:id="rId8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المقدمة" id="{4401c873-a438-3991-fab2-c3ec0d12f01b}">
          <p14:sldIdLst>
            <p14:sldId id="256"/>
            <p14:sldId id="257"/>
            <p14:sldId id="258"/>
          </p14:sldIdLst>
        </p14:section>
        <p14:section name="سورة الذاريات" id="{24b3fcbd-ca66-d620-61ef-0d966970738f}">
          <p14:sldIdLst>
            <p14:sldId id="259"/>
            <p14:sldId id="260"/>
            <p14:sldId id="261"/>
            <p14:sldId id="262"/>
            <p14:sldId id="263"/>
            <p14:sldId id="264"/>
            <p14:sldId id="265"/>
            <p14:sldId id="266"/>
            <p14:sldId id="267"/>
          </p14:sldIdLst>
        </p14:section>
        <p14:section name="سورة ق" id="{3319f2a7-897b-da14-0cd0-3eeaa468586b}">
          <p14:sldIdLst>
            <p14:sldId id="268"/>
            <p14:sldId id="269"/>
            <p14:sldId id="270"/>
            <p14:sldId id="271"/>
            <p14:sldId id="272"/>
            <p14:sldId id="273"/>
            <p14:sldId id="274"/>
            <p14:sldId id="275"/>
            <p14:sldId id="276"/>
            <p14:sldId id="277"/>
            <p14:sldId id="278"/>
            <p14:sldId id="279"/>
            <p14:sldId id="280"/>
          </p14:sldIdLst>
        </p14:section>
        <p14:section name="سورة الحجرات" id="{4ff1e46c-b42e-ade0-41dc-26dc222255dc}">
          <p14:sldIdLst>
            <p14:sldId id="281"/>
            <p14:sldId id="282"/>
            <p14:sldId id="283"/>
            <p14:sldId id="284"/>
            <p14:sldId id="285"/>
            <p14:sldId id="286"/>
            <p14:sldId id="287"/>
            <p14:sldId id="288"/>
            <p14:sldId id="289"/>
          </p14:sldIdLst>
        </p14:section>
        <p14:section name="سورة الفتح" id="{b294cb16-e5b1-4d54-3786-a21cb8d26508}">
          <p14:sldIdLst>
            <p14:sldId id="290"/>
            <p14:sldId id="291"/>
            <p14:sldId id="292"/>
            <p14:sldId id="293"/>
            <p14:sldId id="294"/>
            <p14:sldId id="295"/>
            <p14:sldId id="296"/>
            <p14:sldId id="297"/>
            <p14:sldId id="298"/>
            <p14:sldId id="299"/>
            <p14:sldId id="300"/>
            <p14:sldId id="301"/>
            <p14:sldId id="302"/>
            <p14:sldId id="303"/>
            <p14:sldId id="304"/>
            <p14:sldId id="305"/>
          </p14:sldIdLst>
        </p14:section>
        <p14:section name="سورة محمد" id="{ea42040a-2ba3-8bd6-c648-fc309b0e58c1}">
          <p14:sldIdLst>
            <p14:sldId id="306"/>
            <p14:sldId id="307"/>
            <p14:sldId id="308"/>
            <p14:sldId id="309"/>
            <p14:sldId id="310"/>
            <p14:sldId id="311"/>
            <p14:sldId id="312"/>
            <p14:sldId id="313"/>
            <p14:sldId id="314"/>
            <p14:sldId id="315"/>
            <p14:sldId id="316"/>
            <p14:sldId id="317"/>
            <p14:sldId id="318"/>
            <p14:sldId id="319"/>
            <p14:sldId id="320"/>
            <p14:sldId id="321"/>
          </p14:sldIdLst>
        </p14:section>
        <p14:section name="سورة الأحقاف" id="{29c31478-308a-b3a6-bd26-4df0045c28d6}">
          <p14:sldIdLst>
            <p14:sldId id="322"/>
            <p14:sldId id="323"/>
            <p14:sldId id="324"/>
            <p14:sldId id="325"/>
            <p14:sldId id="326"/>
            <p14:sldId id="327"/>
            <p14:sldId id="328"/>
            <p14:sldId id="329"/>
            <p14:sldId id="330"/>
            <p14:sldId id="331"/>
            <p14:sldId id="332"/>
            <p14:sldId id="333"/>
            <p14:sldId id="334"/>
            <p14:sldId id="335"/>
            <p14:sldId id="336"/>
            <p14:sldId id="337"/>
            <p14:sldId id="338"/>
            <p14:sldId id="339"/>
          </p14:sldIdLst>
        </p14:section>
        <p14:section name="الخاتمة" id="{357768c9-d49e-77f4-2021-a10dc908c865}">
          <p14:sldIdLst>
            <p14:sldId id="34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notesMaster" Target="notesMasters/notesMaster1.xml"/><Relationship Id="rId88" Type="http://schemas.openxmlformats.org/officeDocument/2006/relationships/presProps" Target="presProps.xml"/><Relationship Id="rId89" Type="http://schemas.openxmlformats.org/officeDocument/2006/relationships/viewProps" Target="viewProps.xml"/><Relationship Id="rId90" Type="http://schemas.openxmlformats.org/officeDocument/2006/relationships/theme" Target="theme/theme1.xml"/><Relationship Id="rId9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نبدأ بسورة الذاريات ثم نصعد سورةً سورة حتى نصل إلى سورة الأحقاف، أما الآيات داخل كل سورة فبترتيبها في المصحف.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بعد تفسير السورة: ما صفات المتقين التي ذكرتها الآيات 16–19؟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بعد تفسير السورة: من هما الملكان اللذان يكتبان أعمال الإنسان؟ وكيف يؤثر ذلك في كلامنا؟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بعد تفسير السورة: اذكر ثلاثة من الأخلاق التي نهت عنها الآيتان 11 و12.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بعد تفسير السورة: كيف وصفت الآية الأخيرة النبي ﷺ وأصحابه؟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بعد تفسير السورة: ما الأنهار الأربعة التي في الجنة كما في الآية 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بعد تفسير السورة: بماذا أوصت الآية 15 الإنسان نحو والديه؟ وما الدعاء الذي فيها؟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jp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jp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jp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AGE">
    <p:bg>
      <p:bgPr>
        <a:solidFill>
          <a:schemeClr val="bg2"/>
        </a:solidFill>
      </p:bgPr>
    </p:bg>
    <p:spTree>
      <p:nvGrpSpPr>
        <p:cNvPr id="1" name=""/>
        <p:cNvGrpSpPr/>
        <p:nvPr/>
      </p:nvGrpSpPr>
      <p:grpSpPr>
        <a:xfrm>
          <a:off x="0" y="0"/>
          <a:ext cx="0" cy="0"/>
          <a:chOff x="0" y="0"/>
          <a:chExt cx="0" cy="0"/>
        </a:xfrm>
      </p:grpSpPr>
      <p:pic>
        <p:nvPicPr>
          <p:cNvPr id="2" name="Image 0" descr="assets26/bg_page.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ph idx="101" type="title" hasCustomPrompt="1"/>
          </p:nvPr>
        </p:nvSpPr>
        <p:spPr>
          <a:xfrm>
            <a:off x="4084168" y="384048"/>
            <a:ext cx="4023360" cy="713232"/>
          </a:xfrm>
          <a:prstGeom prst="rect">
            <a:avLst/>
          </a:prstGeom>
          <a:noFill/>
          <a:ln/>
        </p:spPr>
        <p:txBody>
          <a:bodyPr wrap="square" rtlCol="0"/>
          <a:lstStyle>
            <a:lvl1pPr rtl="1" algn="ctr" indent="0" marL="0">
              <a:buNone/>
              <a:defRPr lang="en-US" sz="3000" b="1" dirty="0">
                <a:solidFill>
                  <a:schemeClr val="bg1"/>
                </a:solidFill>
                <a:latin typeface="Sakkal Majalla" pitchFamily="34" charset="0"/>
                <a:ea typeface="Sakkal Majalla" pitchFamily="34" charset="-122"/>
                <a:cs typeface="Sakkal Majalla" pitchFamily="34" charset="-120"/>
              </a:defRPr>
            </a:lvl1pPr>
          </a:lstStyle>
          <a:p>
            <a:pPr algn="ctr" indent="0" marL="0">
              <a:buNone/>
            </a:pPr>
            <a:endParaRPr lang="en-US" sz="30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INTRO">
    <p:bg>
      <p:bgPr>
        <a:solidFill>
          <a:schemeClr val="bg2"/>
        </a:solidFill>
      </p:bgPr>
    </p:bg>
    <p:spTree>
      <p:nvGrpSpPr>
        <p:cNvPr id="1" name=""/>
        <p:cNvGrpSpPr/>
        <p:nvPr/>
      </p:nvGrpSpPr>
      <p:grpSpPr>
        <a:xfrm>
          <a:off x="0" y="0"/>
          <a:ext cx="0" cy="0"/>
          <a:chOff x="0" y="0"/>
          <a:chExt cx="0" cy="0"/>
        </a:xfrm>
      </p:grpSpPr>
      <p:pic>
        <p:nvPicPr>
          <p:cNvPr id="2" name="Image 0" descr="assets26/bg_intro.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ph idx="101" type="title" hasCustomPrompt="1"/>
          </p:nvPr>
        </p:nvSpPr>
        <p:spPr>
          <a:xfrm>
            <a:off x="3626968" y="603504"/>
            <a:ext cx="4937760" cy="987552"/>
          </a:xfrm>
          <a:prstGeom prst="rect">
            <a:avLst/>
          </a:prstGeom>
          <a:noFill/>
          <a:ln/>
        </p:spPr>
        <p:txBody>
          <a:bodyPr wrap="square" rtlCol="0"/>
          <a:lstStyle>
            <a:lvl1pPr rtl="1" algn="ctr" indent="0" marL="0">
              <a:buNone/>
              <a:defRPr lang="en-US" sz="4800" b="1" dirty="0">
                <a:solidFill>
                  <a:schemeClr val="accent2"/>
                </a:solidFill>
                <a:latin typeface="Sakkal Majalla" pitchFamily="34" charset="0"/>
                <a:ea typeface="Sakkal Majalla" pitchFamily="34" charset="-122"/>
                <a:cs typeface="Sakkal Majalla" pitchFamily="34" charset="-120"/>
              </a:defRPr>
            </a:lvl1pPr>
          </a:lstStyle>
          <a:p>
            <a:pPr algn="ctr" indent="0" marL="0">
              <a:buNone/>
            </a:pPr>
            <a:endParaRPr lang="en-US" sz="48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bg>
      <p:bgPr>
        <a:solidFill>
          <a:schemeClr val="bg2"/>
        </a:solidFill>
      </p:bgPr>
    </p:bg>
    <p:spTree>
      <p:nvGrpSpPr>
        <p:cNvPr id="1" name=""/>
        <p:cNvGrpSpPr/>
        <p:nvPr/>
      </p:nvGrpSpPr>
      <p:grpSpPr>
        <a:xfrm>
          <a:off x="0" y="0"/>
          <a:ext cx="0" cy="0"/>
          <a:chOff x="0" y="0"/>
          <a:chExt cx="0" cy="0"/>
        </a:xfrm>
      </p:grpSpPr>
      <p:pic>
        <p:nvPicPr>
          <p:cNvPr id="2" name="Image 0" descr="assets26/bg_dark.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ph idx="101" type="title" hasCustomPrompt="1"/>
          </p:nvPr>
        </p:nvSpPr>
        <p:spPr>
          <a:xfrm>
            <a:off x="1097280" y="2514600"/>
            <a:ext cx="9997135" cy="1097280"/>
          </a:xfrm>
          <a:prstGeom prst="rect">
            <a:avLst/>
          </a:prstGeom>
          <a:noFill/>
          <a:ln/>
        </p:spPr>
        <p:txBody>
          <a:bodyPr wrap="square" rtlCol="0"/>
          <a:lstStyle>
            <a:lvl1pPr rtl="1" algn="ctr" indent="0" marL="0">
              <a:buNone/>
              <a:defRPr lang="en-US" sz="6400" b="1" dirty="0">
                <a:solidFill>
                  <a:schemeClr val="bg1"/>
                </a:solidFill>
                <a:latin typeface="Sakkal Majalla" pitchFamily="34" charset="0"/>
                <a:ea typeface="Sakkal Majalla" pitchFamily="34" charset="-122"/>
                <a:cs typeface="Sakkal Majalla" pitchFamily="34" charset="-120"/>
              </a:defRPr>
            </a:lvl1pPr>
          </a:lstStyle>
          <a:p>
            <a:pPr algn="ctr" indent="0" marL="0">
              <a:buNone/>
            </a:pPr>
            <a:endParaRPr lang="en-US" sz="64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4.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image" Target="../media/image-85-1.png"/><Relationship Id="rId2" Type="http://schemas.openxmlformats.org/officeDocument/2006/relationships/image" Target="../media/image-85-2.png"/><Relationship Id="rId3" Type="http://schemas.openxmlformats.org/officeDocument/2006/relationships/slideLayout" Target="../slideLayouts/slideLayout4.xml"/><Relationship Id="rId4" Type="http://schemas.openxmlformats.org/officeDocument/2006/relationships/notesSlide" Target="../notesSlides/notesSlide8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assets26/rosette.png">    </p:cNvPr>
          <p:cNvPicPr>
            <a:picLocks noChangeAspect="1"/>
          </p:cNvPicPr>
          <p:nvPr/>
        </p:nvPicPr>
        <p:blipFill>
          <a:blip r:embed="rId1"/>
          <a:stretch>
            <a:fillRect/>
          </a:stretch>
        </p:blipFill>
        <p:spPr>
          <a:xfrm>
            <a:off x="5364328" y="777240"/>
            <a:ext cx="1463040" cy="1463040"/>
          </a:xfrm>
          <a:prstGeom prst="rect">
            <a:avLst/>
          </a:prstGeom>
        </p:spPr>
      </p:pic>
      <p:sp>
        <p:nvSpPr>
          <p:cNvPr id="3" name="Text 0"/>
          <p:cNvSpPr/>
          <p:nvPr>
            <p:ph idx="101" type="title" hasCustomPrompt="1"/>
          </p:nvPr>
        </p:nvSpPr>
        <p:spPr>
          <a:xfrm>
            <a:off x="1097280" y="2514600"/>
            <a:ext cx="9997135" cy="1097280"/>
          </a:xfrm>
          <a:prstGeom prst="rect">
            <a:avLst/>
          </a:prstGeom>
          <a:noFill/>
          <a:ln/>
        </p:spPr>
        <p:txBody>
          <a:bodyPr wrap="square" lIns="0" tIns="0" rIns="0" bIns="0" rtlCol="0" anchor="ctr"/>
          <a:lstStyle/>
          <a:p>
            <a:pPr rtl="1" algn="ctr" indent="0" marL="0">
              <a:buNone/>
            </a:pPr>
            <a:r>
              <a:rPr lang="en-US" sz="6400" b="1" dirty="0">
                <a:solidFill>
                  <a:schemeClr val="bg1"/>
                </a:solidFill>
                <a:latin typeface="Sakkal Majalla" pitchFamily="34" charset="0"/>
                <a:ea typeface="Sakkal Majalla" pitchFamily="34" charset="-122"/>
                <a:cs typeface="Sakkal Majalla" pitchFamily="34" charset="-120"/>
              </a:rPr>
              <a:t>تفسير جزء الأحقاف</a:t>
            </a:r>
            <a:endParaRPr lang="en-US" sz="6400" dirty="0"/>
          </a:p>
        </p:txBody>
      </p:sp>
      <p:sp>
        <p:nvSpPr>
          <p:cNvPr id="4" name="Text 1"/>
          <p:cNvSpPr txBox="1"/>
          <p:nvPr/>
        </p:nvSpPr>
        <p:spPr>
          <a:xfrm>
            <a:off x="1097280" y="3657600"/>
            <a:ext cx="9997135" cy="502920"/>
          </a:xfrm>
          <a:prstGeom prst="rect">
            <a:avLst/>
          </a:prstGeom>
          <a:noFill/>
          <a:ln/>
        </p:spPr>
        <p:txBody>
          <a:bodyPr wrap="square" lIns="0" tIns="0" rIns="0" bIns="0" rtlCol="0" anchor="t"/>
          <a:lstStyle/>
          <a:p>
            <a:pPr rtl="1" algn="ctr" indent="0" marL="0">
              <a:buNone/>
            </a:pPr>
            <a:r>
              <a:rPr lang="ar-SA" altLang="en-US" sz="2400" b="1" dirty="0">
                <a:solidFill>
                  <a:schemeClr val="accent2"/>
                </a:solidFill>
              </a:rPr>
              <a:t>تفسيرٌ مبسّط لكل آية، مستفاد من تفسير الحافظ ابن كثير رحمه الله</a:t>
            </a:r>
            <a:endParaRPr lang="ar-SA" sz="2400" dirty="0"/>
          </a:p>
        </p:txBody>
      </p:sp>
      <p:pic>
        <p:nvPicPr>
          <p:cNvPr id="5" name="Image 1" descr="assets26/divider.png">    </p:cNvPr>
          <p:cNvPicPr>
            <a:picLocks noChangeAspect="1"/>
          </p:cNvPicPr>
          <p:nvPr/>
        </p:nvPicPr>
        <p:blipFill>
          <a:blip r:embed="rId2"/>
          <a:stretch>
            <a:fillRect/>
          </a:stretch>
        </p:blipFill>
        <p:spPr>
          <a:xfrm>
            <a:off x="3809848" y="4343400"/>
            <a:ext cx="4572000" cy="228600"/>
          </a:xfrm>
          <a:prstGeom prst="rect">
            <a:avLst/>
          </a:prstGeom>
        </p:spPr>
      </p:pic>
      <p:sp>
        <p:nvSpPr>
          <p:cNvPr id="6" name="Text 2"/>
          <p:cNvSpPr txBox="1"/>
          <p:nvPr/>
        </p:nvSpPr>
        <p:spPr>
          <a:xfrm>
            <a:off x="1097280" y="4754880"/>
            <a:ext cx="9997135" cy="457200"/>
          </a:xfrm>
          <a:prstGeom prst="rect">
            <a:avLst/>
          </a:prstGeom>
          <a:noFill/>
          <a:ln/>
        </p:spPr>
        <p:txBody>
          <a:bodyPr wrap="square" lIns="0" tIns="0" rIns="0" bIns="0" rtlCol="0" anchor="t"/>
          <a:lstStyle/>
          <a:p>
            <a:pPr rtl="1" algn="ctr" indent="0" marL="0">
              <a:buNone/>
            </a:pPr>
            <a:r>
              <a:rPr lang="ar-SA" altLang="en-US" sz="1800" dirty="0">
                <a:solidFill>
                  <a:schemeClr val="bg2"/>
                </a:solidFill>
              </a:rPr>
              <a:t>من سورة الذاريات إلى سورة الأحقاف  •  مع أسباب النزول</a:t>
            </a:r>
            <a:endParaRPr lang="ar-SA"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بين يدي الدرس</a:t>
            </a:r>
            <a:endParaRPr lang="en-US" sz="3000" dirty="0"/>
          </a:p>
        </p:txBody>
      </p:sp>
      <p:sp>
        <p:nvSpPr>
          <p:cNvPr id="3" name="Shape 1"/>
          <p:cNvSpPr/>
          <p:nvPr/>
        </p:nvSpPr>
        <p:spPr>
          <a:xfrm>
            <a:off x="6263640" y="1463040"/>
            <a:ext cx="5303520" cy="4617720"/>
          </a:xfrm>
          <a:prstGeom prst="roundRect">
            <a:avLst>
              <a:gd name="adj" fmla="val 2970"/>
            </a:avLst>
          </a:prstGeom>
          <a:solidFill>
            <a:schemeClr val="accent5"/>
          </a:solidFill>
          <a:ln w="15875">
            <a:solidFill>
              <a:schemeClr val="accent2"/>
            </a:solidFill>
            <a:prstDash val="solid"/>
          </a:ln>
        </p:spPr>
      </p:sp>
      <p:sp>
        <p:nvSpPr>
          <p:cNvPr id="4" name="Text 2"/>
          <p:cNvSpPr txBox="1"/>
          <p:nvPr/>
        </p:nvSpPr>
        <p:spPr>
          <a:xfrm>
            <a:off x="6492240" y="1645920"/>
            <a:ext cx="4846320" cy="502920"/>
          </a:xfrm>
          <a:prstGeom prst="rect">
            <a:avLst/>
          </a:prstGeom>
          <a:noFill/>
          <a:ln/>
        </p:spPr>
        <p:txBody>
          <a:bodyPr wrap="square" lIns="0" tIns="0" rIns="0" bIns="0" rtlCol="0" anchor="t"/>
          <a:lstStyle/>
          <a:p>
            <a:pPr rtl="1" algn="r" indent="0" marL="0">
              <a:buNone/>
            </a:pPr>
            <a:r>
              <a:rPr lang="ar-SA" altLang="en-US" sz="2400" b="1" dirty="0">
                <a:solidFill>
                  <a:schemeClr val="tx2"/>
                </a:solidFill>
                <a:latin typeface="Sakkal Majalla" pitchFamily="34" charset="0"/>
                <a:ea typeface="Sakkal Majalla" pitchFamily="34" charset="-122"/>
                <a:cs typeface="Sakkal Majalla" pitchFamily="34" charset="-120"/>
              </a:rPr>
              <a:t>الإمام ابن كثير رحمه الله</a:t>
            </a:r>
            <a:endParaRPr lang="ar-SA" sz="2400" dirty="0"/>
          </a:p>
        </p:txBody>
      </p:sp>
      <p:sp>
        <p:nvSpPr>
          <p:cNvPr id="5" name="Text 3"/>
          <p:cNvSpPr txBox="1"/>
          <p:nvPr/>
        </p:nvSpPr>
        <p:spPr>
          <a:xfrm>
            <a:off x="6492240" y="2286000"/>
            <a:ext cx="4846320" cy="3566160"/>
          </a:xfrm>
          <a:prstGeom prst="rect">
            <a:avLst/>
          </a:prstGeom>
          <a:noFill/>
          <a:ln/>
        </p:spPr>
        <p:txBody>
          <a:bodyPr wrap="square" lIns="0" tIns="0" rIns="0" bIns="0" rtlCol="0" anchor="t"/>
          <a:lstStyle/>
          <a:p>
            <a:pPr rtl="1" algn="r" indent="0" marL="0">
              <a:spcAft>
                <a:spcPts val="1000"/>
              </a:spcAft>
              <a:buNone/>
            </a:pPr>
            <a:r>
              <a:rPr lang="ar-SA" altLang="en-US" sz="1600" b="1" dirty="0">
                <a:solidFill>
                  <a:schemeClr val="tx2"/>
                </a:solidFill>
              </a:rPr>
              <a:t>اسمه: </a:t>
            </a:r>
            <a:pPr rtl="1" algn="r" indent="0" marL="0">
              <a:spcAft>
                <a:spcPts val="1000"/>
              </a:spcAft>
              <a:buNone/>
            </a:pPr>
            <a:r>
              <a:rPr lang="ar-SA" altLang="en-US" sz="1600" dirty="0">
                <a:solidFill>
                  <a:schemeClr val="tx1"/>
                </a:solidFill>
              </a:rPr>
              <a:t>إسماعيل بن عمر بن كثير الدمشقي</a:t>
            </a:r>
            <a:endParaRPr lang="ar-SA" sz="1600" dirty="0"/>
          </a:p>
          <a:p>
            <a:pPr rtl="1" algn="r" indent="0" marL="0">
              <a:spcAft>
                <a:spcPts val="1000"/>
              </a:spcAft>
              <a:buNone/>
            </a:pPr>
            <a:r>
              <a:rPr lang="ar-SA" altLang="en-US" sz="1600" b="1" dirty="0">
                <a:solidFill>
                  <a:schemeClr val="tx2"/>
                </a:solidFill>
              </a:rPr>
              <a:t>عاش: </a:t>
            </a:r>
            <a:pPr rtl="1" algn="r" indent="0" marL="0">
              <a:spcAft>
                <a:spcPts val="1000"/>
              </a:spcAft>
              <a:buNone/>
            </a:pPr>
            <a:r>
              <a:rPr lang="ar-SA" altLang="en-US" sz="1600" dirty="0">
                <a:solidFill>
                  <a:schemeClr val="tx1"/>
                </a:solidFill>
              </a:rPr>
              <a:t>نحو ٧٠١ – ٧٧٤ هـ في بلاد الشام</a:t>
            </a:r>
            <a:endParaRPr lang="ar-SA" sz="1600" dirty="0"/>
          </a:p>
          <a:p>
            <a:pPr rtl="1" algn="r" indent="0" marL="0">
              <a:spcAft>
                <a:spcPts val="1000"/>
              </a:spcAft>
              <a:buNone/>
            </a:pPr>
            <a:r>
              <a:rPr lang="ar-SA" altLang="en-US" sz="1600" b="1" dirty="0">
                <a:solidFill>
                  <a:schemeClr val="tx2"/>
                </a:solidFill>
              </a:rPr>
              <a:t>من شيوخه: </a:t>
            </a:r>
            <a:pPr rtl="1" algn="r" indent="0" marL="0">
              <a:spcAft>
                <a:spcPts val="1000"/>
              </a:spcAft>
              <a:buNone/>
            </a:pPr>
            <a:r>
              <a:rPr lang="ar-SA" altLang="en-US" sz="1600" dirty="0">
                <a:solidFill>
                  <a:schemeClr val="tx1"/>
                </a:solidFill>
              </a:rPr>
              <a:t>ابن تيمية، والمِزّي، والذهبي</a:t>
            </a:r>
            <a:endParaRPr lang="ar-SA" sz="1600" dirty="0"/>
          </a:p>
          <a:p>
            <a:pPr rtl="1" algn="r" indent="0" marL="0">
              <a:spcAft>
                <a:spcPts val="1000"/>
              </a:spcAft>
              <a:buNone/>
            </a:pPr>
            <a:r>
              <a:rPr lang="ar-SA" altLang="en-US" sz="1600" b="1" dirty="0">
                <a:solidFill>
                  <a:schemeClr val="tx2"/>
                </a:solidFill>
              </a:rPr>
              <a:t>كتابه: </a:t>
            </a:r>
            <a:pPr rtl="1" algn="r" indent="0" marL="0">
              <a:spcAft>
                <a:spcPts val="1000"/>
              </a:spcAft>
              <a:buNone/>
            </a:pPr>
            <a:r>
              <a:rPr lang="ar-SA" altLang="en-US" sz="1600" dirty="0">
                <a:solidFill>
                  <a:schemeClr val="tx1"/>
                </a:solidFill>
              </a:rPr>
              <a:t>«تفسير القرآن العظيم» من أشهر كتب التفسير</a:t>
            </a:r>
            <a:endParaRPr lang="ar-SA" sz="1600" dirty="0"/>
          </a:p>
          <a:p>
            <a:pPr rtl="1" algn="r" indent="0" marL="0">
              <a:spcAft>
                <a:spcPts val="1000"/>
              </a:spcAft>
              <a:buNone/>
            </a:pPr>
            <a:r>
              <a:rPr lang="ar-SA" altLang="en-US" sz="1600" b="1" dirty="0">
                <a:solidFill>
                  <a:schemeClr val="tx2"/>
                </a:solidFill>
              </a:rPr>
              <a:t>منهجه: </a:t>
            </a:r>
            <a:pPr rtl="1" algn="r" indent="0" marL="0">
              <a:spcAft>
                <a:spcPts val="1000"/>
              </a:spcAft>
              <a:buNone/>
            </a:pPr>
            <a:r>
              <a:rPr lang="ar-SA" altLang="en-US" sz="1600" dirty="0">
                <a:solidFill>
                  <a:schemeClr val="tx1"/>
                </a:solidFill>
              </a:rPr>
              <a:t>يفسّر القرآن بالقرآن، ثم بالسنة، ثم بأقوال الصحابة والتابعين</a:t>
            </a:r>
            <a:endParaRPr lang="ar-SA" sz="1600" dirty="0"/>
          </a:p>
        </p:txBody>
      </p:sp>
      <p:sp>
        <p:nvSpPr>
          <p:cNvPr id="6" name="Text 4"/>
          <p:cNvSpPr txBox="1"/>
          <p:nvPr/>
        </p:nvSpPr>
        <p:spPr>
          <a:xfrm>
            <a:off x="685800" y="1600200"/>
            <a:ext cx="5303520" cy="502920"/>
          </a:xfrm>
          <a:prstGeom prst="rect">
            <a:avLst/>
          </a:prstGeom>
          <a:noFill/>
          <a:ln/>
        </p:spPr>
        <p:txBody>
          <a:bodyPr wrap="square" lIns="0" tIns="0" rIns="0" bIns="0" rtlCol="0" anchor="t"/>
          <a:lstStyle/>
          <a:p>
            <a:pPr rtl="1" algn="r" indent="0" marL="0">
              <a:buNone/>
            </a:pPr>
            <a:r>
              <a:rPr lang="ar-SA" altLang="en-US" sz="2400" b="1" dirty="0">
                <a:solidFill>
                  <a:schemeClr val="tx2"/>
                </a:solidFill>
                <a:latin typeface="Sakkal Majalla" pitchFamily="34" charset="0"/>
                <a:ea typeface="Sakkal Majalla" pitchFamily="34" charset="-122"/>
                <a:cs typeface="Sakkal Majalla" pitchFamily="34" charset="-120"/>
              </a:rPr>
              <a:t>كيف نقرأ الشرائح؟</a:t>
            </a:r>
            <a:endParaRPr lang="ar-SA" sz="2400" dirty="0"/>
          </a:p>
        </p:txBody>
      </p:sp>
      <p:sp>
        <p:nvSpPr>
          <p:cNvPr id="7" name="Shape 5"/>
          <p:cNvSpPr/>
          <p:nvPr/>
        </p:nvSpPr>
        <p:spPr>
          <a:xfrm>
            <a:off x="5349240" y="2331720"/>
            <a:ext cx="566928" cy="566928"/>
          </a:xfrm>
          <a:prstGeom prst="star8">
            <a:avLst/>
          </a:prstGeom>
          <a:solidFill>
            <a:schemeClr val="accent2"/>
          </a:solidFill>
          <a:ln/>
        </p:spPr>
      </p:sp>
      <p:sp>
        <p:nvSpPr>
          <p:cNvPr id="8" name="Shape 6"/>
          <p:cNvSpPr/>
          <p:nvPr/>
        </p:nvSpPr>
        <p:spPr>
          <a:xfrm>
            <a:off x="5462626" y="2445106"/>
            <a:ext cx="340157" cy="340157"/>
          </a:xfrm>
          <a:prstGeom prst="ellipse">
            <a:avLst/>
          </a:prstGeom>
          <a:solidFill>
            <a:schemeClr val="bg2"/>
          </a:solidFill>
          <a:ln w="19050">
            <a:solidFill>
              <a:schemeClr val="tx2"/>
            </a:solidFill>
            <a:prstDash val="solid"/>
          </a:ln>
        </p:spPr>
      </p:sp>
      <p:sp>
        <p:nvSpPr>
          <p:cNvPr id="9" name="Text 7"/>
          <p:cNvSpPr txBox="1"/>
          <p:nvPr/>
        </p:nvSpPr>
        <p:spPr>
          <a:xfrm>
            <a:off x="5349240" y="2331720"/>
            <a:ext cx="566928" cy="566928"/>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a:t>
            </a:r>
            <a:endParaRPr lang="ar-SA" sz="1600" dirty="0"/>
          </a:p>
        </p:txBody>
      </p:sp>
      <p:sp>
        <p:nvSpPr>
          <p:cNvPr id="10" name="Text 8"/>
          <p:cNvSpPr txBox="1"/>
          <p:nvPr/>
        </p:nvSpPr>
        <p:spPr>
          <a:xfrm>
            <a:off x="685800" y="2386584"/>
            <a:ext cx="4480560" cy="457200"/>
          </a:xfrm>
          <a:prstGeom prst="rect">
            <a:avLst/>
          </a:prstGeom>
          <a:noFill/>
          <a:ln/>
        </p:spPr>
        <p:txBody>
          <a:bodyPr wrap="square" lIns="0" tIns="0" rIns="0" bIns="0" rtlCol="0" anchor="ctr"/>
          <a:lstStyle/>
          <a:p>
            <a:pPr rtl="1" algn="r" indent="0" marL="0">
              <a:buNone/>
            </a:pPr>
            <a:r>
              <a:rPr lang="ar-SA" altLang="en-US" sz="1700" dirty="0">
                <a:solidFill>
                  <a:schemeClr val="tx1"/>
                </a:solidFill>
              </a:rPr>
              <a:t>رقم الآية داخل النجمة الذهبية</a:t>
            </a:r>
            <a:endParaRPr lang="ar-SA" sz="1700" dirty="0"/>
          </a:p>
        </p:txBody>
      </p:sp>
      <p:sp>
        <p:nvSpPr>
          <p:cNvPr id="11" name="Shape 9"/>
          <p:cNvSpPr/>
          <p:nvPr/>
        </p:nvSpPr>
        <p:spPr>
          <a:xfrm>
            <a:off x="5422392" y="3337560"/>
            <a:ext cx="420624" cy="420624"/>
          </a:xfrm>
          <a:prstGeom prst="ellipse">
            <a:avLst/>
          </a:prstGeom>
          <a:solidFill>
            <a:schemeClr val="tx2"/>
          </a:solidFill>
          <a:ln w="19050">
            <a:solidFill>
              <a:schemeClr val="accent2"/>
            </a:solidFill>
            <a:prstDash val="solid"/>
          </a:ln>
        </p:spPr>
      </p:sp>
      <p:sp>
        <p:nvSpPr>
          <p:cNvPr id="12" name="Text 10"/>
          <p:cNvSpPr txBox="1"/>
          <p:nvPr/>
        </p:nvSpPr>
        <p:spPr>
          <a:xfrm>
            <a:off x="685800" y="3319272"/>
            <a:ext cx="4480560" cy="457200"/>
          </a:xfrm>
          <a:prstGeom prst="rect">
            <a:avLst/>
          </a:prstGeom>
          <a:noFill/>
          <a:ln/>
        </p:spPr>
        <p:txBody>
          <a:bodyPr wrap="square" lIns="0" tIns="0" rIns="0" bIns="0" rtlCol="0" anchor="ctr"/>
          <a:lstStyle/>
          <a:p>
            <a:pPr rtl="1" algn="r" indent="0" marL="0">
              <a:buNone/>
            </a:pPr>
            <a:r>
              <a:rPr lang="ar-SA" altLang="en-US" sz="1700" dirty="0">
                <a:solidFill>
                  <a:schemeClr val="tx1"/>
                </a:solidFill>
              </a:rPr>
              <a:t>نص الآية باللون الزيتوني</a:t>
            </a:r>
            <a:endParaRPr lang="ar-SA" sz="1700" dirty="0"/>
          </a:p>
        </p:txBody>
      </p:sp>
      <p:sp>
        <p:nvSpPr>
          <p:cNvPr id="13" name="Shape 11"/>
          <p:cNvSpPr/>
          <p:nvPr/>
        </p:nvSpPr>
        <p:spPr>
          <a:xfrm>
            <a:off x="5422392" y="4270248"/>
            <a:ext cx="420624" cy="420624"/>
          </a:xfrm>
          <a:prstGeom prst="ellipse">
            <a:avLst/>
          </a:prstGeom>
          <a:solidFill>
            <a:schemeClr val="tx1"/>
          </a:solidFill>
          <a:ln w="19050">
            <a:solidFill>
              <a:schemeClr val="accent2"/>
            </a:solidFill>
            <a:prstDash val="solid"/>
          </a:ln>
        </p:spPr>
      </p:sp>
      <p:sp>
        <p:nvSpPr>
          <p:cNvPr id="14" name="Text 12"/>
          <p:cNvSpPr txBox="1"/>
          <p:nvPr/>
        </p:nvSpPr>
        <p:spPr>
          <a:xfrm>
            <a:off x="685800" y="4251960"/>
            <a:ext cx="4480560" cy="457200"/>
          </a:xfrm>
          <a:prstGeom prst="rect">
            <a:avLst/>
          </a:prstGeom>
          <a:noFill/>
          <a:ln/>
        </p:spPr>
        <p:txBody>
          <a:bodyPr wrap="square" lIns="0" tIns="0" rIns="0" bIns="0" rtlCol="0" anchor="ctr"/>
          <a:lstStyle/>
          <a:p>
            <a:pPr rtl="1" algn="r" indent="0" marL="0">
              <a:buNone/>
            </a:pPr>
            <a:r>
              <a:rPr lang="ar-SA" altLang="en-US" sz="1700" dirty="0">
                <a:solidFill>
                  <a:schemeClr val="tx1"/>
                </a:solidFill>
              </a:rPr>
              <a:t>تفسير الآية بلغة سهلة تحتها مباشرة</a:t>
            </a:r>
            <a:endParaRPr lang="ar-SA" sz="1700" dirty="0"/>
          </a:p>
        </p:txBody>
      </p:sp>
      <p:sp>
        <p:nvSpPr>
          <p:cNvPr id="15" name="Shape 13"/>
          <p:cNvSpPr/>
          <p:nvPr/>
        </p:nvSpPr>
        <p:spPr>
          <a:xfrm>
            <a:off x="5422392" y="5202936"/>
            <a:ext cx="420624" cy="420624"/>
          </a:xfrm>
          <a:prstGeom prst="ellipse">
            <a:avLst/>
          </a:prstGeom>
          <a:solidFill>
            <a:schemeClr val="accent6"/>
          </a:solidFill>
          <a:ln w="19050">
            <a:solidFill>
              <a:schemeClr val="accent2"/>
            </a:solidFill>
            <a:prstDash val="solid"/>
          </a:ln>
        </p:spPr>
      </p:sp>
      <p:sp>
        <p:nvSpPr>
          <p:cNvPr id="16" name="Text 14"/>
          <p:cNvSpPr txBox="1"/>
          <p:nvPr/>
        </p:nvSpPr>
        <p:spPr>
          <a:xfrm>
            <a:off x="685800" y="5184648"/>
            <a:ext cx="4480560" cy="457200"/>
          </a:xfrm>
          <a:prstGeom prst="rect">
            <a:avLst/>
          </a:prstGeom>
          <a:noFill/>
          <a:ln/>
        </p:spPr>
        <p:txBody>
          <a:bodyPr wrap="square" lIns="0" tIns="0" rIns="0" bIns="0" rtlCol="0" anchor="ctr"/>
          <a:lstStyle/>
          <a:p>
            <a:pPr rtl="1" algn="r" indent="0" marL="0">
              <a:buNone/>
            </a:pPr>
            <a:r>
              <a:rPr lang="ar-SA" altLang="en-US" sz="1700" dirty="0">
                <a:solidFill>
                  <a:schemeClr val="tx1"/>
                </a:solidFill>
              </a:rPr>
              <a:t>في أول كل سورة: سبب النزول ومقصد السورة</a:t>
            </a:r>
            <a:endParaRPr lang="ar-SA" sz="17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 جزء الأحقاف</a:t>
            </a:r>
            <a:endParaRPr lang="en-US" sz="3000" dirty="0"/>
          </a:p>
        </p:txBody>
      </p:sp>
      <p:sp>
        <p:nvSpPr>
          <p:cNvPr id="3" name="Text 1"/>
          <p:cNvSpPr txBox="1"/>
          <p:nvPr/>
        </p:nvSpPr>
        <p:spPr>
          <a:xfrm>
            <a:off x="685800" y="1325880"/>
            <a:ext cx="10820095" cy="411480"/>
          </a:xfrm>
          <a:prstGeom prst="rect">
            <a:avLst/>
          </a:prstGeom>
          <a:noFill/>
          <a:ln/>
        </p:spPr>
        <p:txBody>
          <a:bodyPr wrap="square" lIns="0" tIns="0" rIns="0" bIns="0" rtlCol="0" anchor="t"/>
          <a:lstStyle/>
          <a:p>
            <a:pPr rtl="1" algn="ctr" indent="0" marL="0">
              <a:buNone/>
            </a:pPr>
            <a:r>
              <a:rPr lang="ar-SA" altLang="en-US" sz="1800" dirty="0">
                <a:solidFill>
                  <a:schemeClr val="accent4"/>
                </a:solidFill>
              </a:rPr>
              <a:t>نبدأ رحلتنا من سورة الذاريات صعودًا إلى سورة الأحقاف</a:t>
            </a:r>
            <a:endParaRPr lang="ar-SA" sz="1800" dirty="0"/>
          </a:p>
        </p:txBody>
      </p:sp>
      <p:sp>
        <p:nvSpPr>
          <p:cNvPr id="4" name="Shape 2"/>
          <p:cNvSpPr/>
          <p:nvPr/>
        </p:nvSpPr>
        <p:spPr>
          <a:xfrm>
            <a:off x="10215220" y="1920240"/>
            <a:ext cx="1298448" cy="530352"/>
          </a:xfrm>
          <a:prstGeom prst="roundRect">
            <a:avLst>
              <a:gd name="adj" fmla="val 50000"/>
            </a:avLst>
          </a:prstGeom>
          <a:solidFill>
            <a:schemeClr val="bg1"/>
          </a:solidFill>
          <a:ln w="12700">
            <a:solidFill>
              <a:schemeClr val="accent2"/>
            </a:solidFill>
            <a:prstDash val="solid"/>
          </a:ln>
        </p:spPr>
      </p:sp>
      <p:sp>
        <p:nvSpPr>
          <p:cNvPr id="5" name="Text 3"/>
          <p:cNvSpPr txBox="1"/>
          <p:nvPr/>
        </p:nvSpPr>
        <p:spPr>
          <a:xfrm>
            <a:off x="10215220" y="1920240"/>
            <a:ext cx="1298448" cy="530352"/>
          </a:xfrm>
          <a:prstGeom prst="rect">
            <a:avLst/>
          </a:prstGeom>
          <a:noFill/>
          <a:ln/>
        </p:spPr>
        <p:txBody>
          <a:bodyPr wrap="square" lIns="0" tIns="0" rIns="0" bIns="0" rtlCol="0" anchor="ctr"/>
          <a:lstStyle/>
          <a:p>
            <a:pPr rtl="1" algn="ctr" indent="0" marL="0">
              <a:buNone/>
            </a:pPr>
            <a:r>
              <a:rPr lang="ar-SA" altLang="en-US" sz="1500" b="1" dirty="0">
                <a:solidFill>
                  <a:schemeClr val="accent2"/>
                </a:solidFill>
              </a:rPr>
              <a:t>١  </a:t>
            </a:r>
            <a:pPr rtl="1" algn="ctr" indent="0" marL="0">
              <a:buNone/>
            </a:pPr>
            <a:r>
              <a:rPr lang="ar-SA" altLang="en-US" sz="1500" b="1" dirty="0">
                <a:solidFill>
                  <a:schemeClr val="tx2"/>
                </a:solidFill>
              </a:rPr>
              <a:t>الذاريات</a:t>
            </a:r>
            <a:endParaRPr lang="ar-SA" sz="1500" dirty="0"/>
          </a:p>
        </p:txBody>
      </p:sp>
      <p:sp>
        <p:nvSpPr>
          <p:cNvPr id="6" name="Shape 4"/>
          <p:cNvSpPr/>
          <p:nvPr/>
        </p:nvSpPr>
        <p:spPr>
          <a:xfrm>
            <a:off x="8852764" y="1920240"/>
            <a:ext cx="1298448" cy="530352"/>
          </a:xfrm>
          <a:prstGeom prst="roundRect">
            <a:avLst>
              <a:gd name="adj" fmla="val 50000"/>
            </a:avLst>
          </a:prstGeom>
          <a:solidFill>
            <a:schemeClr val="accent5"/>
          </a:solidFill>
          <a:ln w="12700">
            <a:solidFill>
              <a:schemeClr val="accent2"/>
            </a:solidFill>
            <a:prstDash val="solid"/>
          </a:ln>
        </p:spPr>
      </p:sp>
      <p:sp>
        <p:nvSpPr>
          <p:cNvPr id="7" name="Text 5"/>
          <p:cNvSpPr txBox="1"/>
          <p:nvPr/>
        </p:nvSpPr>
        <p:spPr>
          <a:xfrm>
            <a:off x="8852764" y="1920240"/>
            <a:ext cx="1298448" cy="530352"/>
          </a:xfrm>
          <a:prstGeom prst="rect">
            <a:avLst/>
          </a:prstGeom>
          <a:noFill/>
          <a:ln/>
        </p:spPr>
        <p:txBody>
          <a:bodyPr wrap="square" lIns="0" tIns="0" rIns="0" bIns="0" rtlCol="0" anchor="ctr"/>
          <a:lstStyle/>
          <a:p>
            <a:pPr rtl="1" algn="ctr" indent="0" marL="0">
              <a:buNone/>
            </a:pPr>
            <a:r>
              <a:rPr lang="ar-SA" altLang="en-US" sz="1500" b="1" dirty="0">
                <a:solidFill>
                  <a:schemeClr val="accent2"/>
                </a:solidFill>
              </a:rPr>
              <a:t>٢  </a:t>
            </a:r>
            <a:pPr rtl="1" algn="ctr" indent="0" marL="0">
              <a:buNone/>
            </a:pPr>
            <a:r>
              <a:rPr lang="ar-SA" altLang="en-US" sz="1500" b="1" dirty="0">
                <a:solidFill>
                  <a:schemeClr val="tx2"/>
                </a:solidFill>
              </a:rPr>
              <a:t>ق</a:t>
            </a:r>
            <a:endParaRPr lang="ar-SA" sz="1500" dirty="0"/>
          </a:p>
        </p:txBody>
      </p:sp>
      <p:sp>
        <p:nvSpPr>
          <p:cNvPr id="8" name="Shape 6"/>
          <p:cNvSpPr/>
          <p:nvPr/>
        </p:nvSpPr>
        <p:spPr>
          <a:xfrm>
            <a:off x="7490308" y="1920240"/>
            <a:ext cx="1298448" cy="530352"/>
          </a:xfrm>
          <a:prstGeom prst="roundRect">
            <a:avLst>
              <a:gd name="adj" fmla="val 50000"/>
            </a:avLst>
          </a:prstGeom>
          <a:solidFill>
            <a:schemeClr val="bg1"/>
          </a:solidFill>
          <a:ln w="12700">
            <a:solidFill>
              <a:schemeClr val="accent2"/>
            </a:solidFill>
            <a:prstDash val="solid"/>
          </a:ln>
        </p:spPr>
      </p:sp>
      <p:sp>
        <p:nvSpPr>
          <p:cNvPr id="9" name="Text 7"/>
          <p:cNvSpPr txBox="1"/>
          <p:nvPr/>
        </p:nvSpPr>
        <p:spPr>
          <a:xfrm>
            <a:off x="7490308" y="1920240"/>
            <a:ext cx="1298448" cy="530352"/>
          </a:xfrm>
          <a:prstGeom prst="rect">
            <a:avLst/>
          </a:prstGeom>
          <a:noFill/>
          <a:ln/>
        </p:spPr>
        <p:txBody>
          <a:bodyPr wrap="square" lIns="0" tIns="0" rIns="0" bIns="0" rtlCol="0" anchor="ctr"/>
          <a:lstStyle/>
          <a:p>
            <a:pPr rtl="1" algn="ctr" indent="0" marL="0">
              <a:buNone/>
            </a:pPr>
            <a:r>
              <a:rPr lang="ar-SA" altLang="en-US" sz="1500" b="1" dirty="0">
                <a:solidFill>
                  <a:schemeClr val="accent2"/>
                </a:solidFill>
              </a:rPr>
              <a:t>٣  </a:t>
            </a:r>
            <a:pPr rtl="1" algn="ctr" indent="0" marL="0">
              <a:buNone/>
            </a:pPr>
            <a:r>
              <a:rPr lang="ar-SA" altLang="en-US" sz="1500" b="1" dirty="0">
                <a:solidFill>
                  <a:schemeClr val="tx2"/>
                </a:solidFill>
              </a:rPr>
              <a:t>الحجرات</a:t>
            </a:r>
            <a:endParaRPr lang="ar-SA" sz="1500" dirty="0"/>
          </a:p>
        </p:txBody>
      </p:sp>
      <p:sp>
        <p:nvSpPr>
          <p:cNvPr id="10" name="Shape 8"/>
          <p:cNvSpPr/>
          <p:nvPr/>
        </p:nvSpPr>
        <p:spPr>
          <a:xfrm>
            <a:off x="6127852" y="1920240"/>
            <a:ext cx="1298448" cy="530352"/>
          </a:xfrm>
          <a:prstGeom prst="roundRect">
            <a:avLst>
              <a:gd name="adj" fmla="val 50000"/>
            </a:avLst>
          </a:prstGeom>
          <a:solidFill>
            <a:schemeClr val="accent5"/>
          </a:solidFill>
          <a:ln w="12700">
            <a:solidFill>
              <a:schemeClr val="accent2"/>
            </a:solidFill>
            <a:prstDash val="solid"/>
          </a:ln>
        </p:spPr>
      </p:sp>
      <p:sp>
        <p:nvSpPr>
          <p:cNvPr id="11" name="Text 9"/>
          <p:cNvSpPr txBox="1"/>
          <p:nvPr/>
        </p:nvSpPr>
        <p:spPr>
          <a:xfrm>
            <a:off x="6127852" y="1920240"/>
            <a:ext cx="1298448" cy="530352"/>
          </a:xfrm>
          <a:prstGeom prst="rect">
            <a:avLst/>
          </a:prstGeom>
          <a:noFill/>
          <a:ln/>
        </p:spPr>
        <p:txBody>
          <a:bodyPr wrap="square" lIns="0" tIns="0" rIns="0" bIns="0" rtlCol="0" anchor="ctr"/>
          <a:lstStyle/>
          <a:p>
            <a:pPr rtl="1" algn="ctr" indent="0" marL="0">
              <a:buNone/>
            </a:pPr>
            <a:r>
              <a:rPr lang="ar-SA" altLang="en-US" sz="1500" b="1" dirty="0">
                <a:solidFill>
                  <a:schemeClr val="accent2"/>
                </a:solidFill>
              </a:rPr>
              <a:t>٤  </a:t>
            </a:r>
            <a:pPr rtl="1" algn="ctr" indent="0" marL="0">
              <a:buNone/>
            </a:pPr>
            <a:r>
              <a:rPr lang="ar-SA" altLang="en-US" sz="1500" b="1" dirty="0">
                <a:solidFill>
                  <a:schemeClr val="tx2"/>
                </a:solidFill>
              </a:rPr>
              <a:t>الفتح</a:t>
            </a:r>
            <a:endParaRPr lang="ar-SA" sz="1500" dirty="0"/>
          </a:p>
        </p:txBody>
      </p:sp>
      <p:sp>
        <p:nvSpPr>
          <p:cNvPr id="12" name="Shape 10"/>
          <p:cNvSpPr/>
          <p:nvPr/>
        </p:nvSpPr>
        <p:spPr>
          <a:xfrm>
            <a:off x="4765396" y="1920240"/>
            <a:ext cx="1298448" cy="530352"/>
          </a:xfrm>
          <a:prstGeom prst="roundRect">
            <a:avLst>
              <a:gd name="adj" fmla="val 50000"/>
            </a:avLst>
          </a:prstGeom>
          <a:solidFill>
            <a:schemeClr val="bg1"/>
          </a:solidFill>
          <a:ln w="12700">
            <a:solidFill>
              <a:schemeClr val="accent2"/>
            </a:solidFill>
            <a:prstDash val="solid"/>
          </a:ln>
        </p:spPr>
      </p:sp>
      <p:sp>
        <p:nvSpPr>
          <p:cNvPr id="13" name="Text 11"/>
          <p:cNvSpPr txBox="1"/>
          <p:nvPr/>
        </p:nvSpPr>
        <p:spPr>
          <a:xfrm>
            <a:off x="4765396" y="1920240"/>
            <a:ext cx="1298448" cy="530352"/>
          </a:xfrm>
          <a:prstGeom prst="rect">
            <a:avLst/>
          </a:prstGeom>
          <a:noFill/>
          <a:ln/>
        </p:spPr>
        <p:txBody>
          <a:bodyPr wrap="square" lIns="0" tIns="0" rIns="0" bIns="0" rtlCol="0" anchor="ctr"/>
          <a:lstStyle/>
          <a:p>
            <a:pPr rtl="1" algn="ctr" indent="0" marL="0">
              <a:buNone/>
            </a:pPr>
            <a:r>
              <a:rPr lang="ar-SA" altLang="en-US" sz="1500" b="1" dirty="0">
                <a:solidFill>
                  <a:schemeClr val="accent2"/>
                </a:solidFill>
              </a:rPr>
              <a:t>٥  </a:t>
            </a:r>
            <a:pPr rtl="1" algn="ctr" indent="0" marL="0">
              <a:buNone/>
            </a:pPr>
            <a:r>
              <a:rPr lang="ar-SA" altLang="en-US" sz="1500" b="1" dirty="0">
                <a:solidFill>
                  <a:schemeClr val="tx2"/>
                </a:solidFill>
              </a:rPr>
              <a:t>محمد</a:t>
            </a:r>
            <a:endParaRPr lang="ar-SA" sz="1500" dirty="0"/>
          </a:p>
        </p:txBody>
      </p:sp>
      <p:sp>
        <p:nvSpPr>
          <p:cNvPr id="14" name="Shape 12"/>
          <p:cNvSpPr/>
          <p:nvPr/>
        </p:nvSpPr>
        <p:spPr>
          <a:xfrm>
            <a:off x="3402940" y="1920240"/>
            <a:ext cx="1298448" cy="530352"/>
          </a:xfrm>
          <a:prstGeom prst="roundRect">
            <a:avLst>
              <a:gd name="adj" fmla="val 50000"/>
            </a:avLst>
          </a:prstGeom>
          <a:solidFill>
            <a:schemeClr val="accent5"/>
          </a:solidFill>
          <a:ln w="12700">
            <a:solidFill>
              <a:schemeClr val="accent2"/>
            </a:solidFill>
            <a:prstDash val="solid"/>
          </a:ln>
        </p:spPr>
      </p:sp>
      <p:sp>
        <p:nvSpPr>
          <p:cNvPr id="15" name="Text 13"/>
          <p:cNvSpPr txBox="1"/>
          <p:nvPr/>
        </p:nvSpPr>
        <p:spPr>
          <a:xfrm>
            <a:off x="3402940" y="1920240"/>
            <a:ext cx="1298448" cy="530352"/>
          </a:xfrm>
          <a:prstGeom prst="rect">
            <a:avLst/>
          </a:prstGeom>
          <a:noFill/>
          <a:ln/>
        </p:spPr>
        <p:txBody>
          <a:bodyPr wrap="square" lIns="0" tIns="0" rIns="0" bIns="0" rtlCol="0" anchor="ctr"/>
          <a:lstStyle/>
          <a:p>
            <a:pPr rtl="1" algn="ctr" indent="0" marL="0">
              <a:buNone/>
            </a:pPr>
            <a:r>
              <a:rPr lang="ar-SA" altLang="en-US" sz="1500" b="1" dirty="0">
                <a:solidFill>
                  <a:schemeClr val="accent2"/>
                </a:solidFill>
              </a:rPr>
              <a:t>٦  </a:t>
            </a:r>
            <a:pPr rtl="1" algn="ctr" indent="0" marL="0">
              <a:buNone/>
            </a:pPr>
            <a:r>
              <a:rPr lang="ar-SA" altLang="en-US" sz="1500" b="1" dirty="0">
                <a:solidFill>
                  <a:schemeClr val="tx2"/>
                </a:solidFill>
              </a:rPr>
              <a:t>الأحقاف</a:t>
            </a:r>
            <a:endParaRPr lang="ar-SA" sz="15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1" type="title" hasCustomPrompt="1"/>
          </p:nvPr>
        </p:nvSpPr>
        <p:spPr>
          <a:xfrm>
            <a:off x="3626968" y="603504"/>
            <a:ext cx="4937760" cy="987552"/>
          </a:xfrm>
          <a:prstGeom prst="rect">
            <a:avLst/>
          </a:prstGeom>
          <a:noFill/>
          <a:ln/>
        </p:spPr>
        <p:txBody>
          <a:bodyPr wrap="square" lIns="0" tIns="0" rIns="0" bIns="0" rtlCol="0" anchor="ctr"/>
          <a:lstStyle/>
          <a:p>
            <a:pPr rtl="1" algn="ctr" indent="0" marL="0">
              <a:buNone/>
            </a:pPr>
            <a:r>
              <a:rPr lang="en-US" sz="4800" b="1" dirty="0">
                <a:solidFill>
                  <a:schemeClr val="accent2"/>
                </a:solidFill>
                <a:latin typeface="Sakkal Majalla" pitchFamily="34" charset="0"/>
                <a:ea typeface="Sakkal Majalla" pitchFamily="34" charset="-122"/>
                <a:cs typeface="Sakkal Majalla" pitchFamily="34" charset="-120"/>
              </a:rPr>
              <a:t>سورة الذاريات</a:t>
            </a:r>
            <a:endParaRPr lang="en-US" sz="4800" dirty="0"/>
          </a:p>
        </p:txBody>
      </p:sp>
      <p:sp>
        <p:nvSpPr>
          <p:cNvPr id="3" name="Shape 1"/>
          <p:cNvSpPr/>
          <p:nvPr/>
        </p:nvSpPr>
        <p:spPr>
          <a:xfrm>
            <a:off x="7833208" y="1828800"/>
            <a:ext cx="310896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783320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في هذا الجزء: الآيات ١ – ٣٠</a:t>
            </a:r>
            <a:endParaRPr lang="ar-SA" sz="1600" dirty="0"/>
          </a:p>
        </p:txBody>
      </p:sp>
      <p:sp>
        <p:nvSpPr>
          <p:cNvPr id="5" name="Shape 3"/>
          <p:cNvSpPr/>
          <p:nvPr/>
        </p:nvSpPr>
        <p:spPr>
          <a:xfrm>
            <a:off x="4541368" y="1828800"/>
            <a:ext cx="310896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مكية</a:t>
            </a:r>
            <a:endParaRPr lang="ar-SA" sz="1600" dirty="0"/>
          </a:p>
        </p:txBody>
      </p:sp>
      <p:sp>
        <p:nvSpPr>
          <p:cNvPr id="7" name="Shape 5"/>
          <p:cNvSpPr/>
          <p:nvPr/>
        </p:nvSpPr>
        <p:spPr>
          <a:xfrm>
            <a:off x="1249528" y="1828800"/>
            <a:ext cx="310896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124952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ترتيبها في المصحف: ٥١</a:t>
            </a:r>
            <a:endParaRPr lang="ar-SA" sz="1600" dirty="0"/>
          </a:p>
        </p:txBody>
      </p:sp>
      <p:sp>
        <p:nvSpPr>
          <p:cNvPr id="9" name="Shape 7"/>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7810348" y="2651760"/>
            <a:ext cx="219456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781034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سبب النزول</a:t>
            </a:r>
            <a:endParaRPr lang="ar-SA" sz="1800" dirty="0"/>
          </a:p>
        </p:txBody>
      </p:sp>
      <p:sp>
        <p:nvSpPr>
          <p:cNvPr id="12" name="Text 10"/>
          <p:cNvSpPr txBox="1"/>
          <p:nvPr/>
        </p:nvSpPr>
        <p:spPr>
          <a:xfrm>
            <a:off x="659876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لم يُروَ لهذه السورة سبب نزول خاص مشهور، وهي من السور التي نزلت لتذكير الناس وهدايتهم.</a:t>
            </a:r>
            <a:endParaRPr lang="ar-SA" sz="1800" dirty="0"/>
          </a:p>
        </p:txBody>
      </p:sp>
      <p:sp>
        <p:nvSpPr>
          <p:cNvPr id="13" name="Shape 11"/>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2186788" y="2651760"/>
            <a:ext cx="219456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218678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مقصد السورة</a:t>
            </a:r>
            <a:endParaRPr lang="ar-SA" sz="1800" dirty="0"/>
          </a:p>
        </p:txBody>
      </p:sp>
      <p:sp>
        <p:nvSpPr>
          <p:cNvPr id="16" name="Text 14"/>
          <p:cNvSpPr txBox="1"/>
          <p:nvPr/>
        </p:nvSpPr>
        <p:spPr>
          <a:xfrm>
            <a:off x="97520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ينتهي هذا الجزء عند الآية ٣٠: إثبات البعث والجزاء، وصفات المتقين في عبادتهم، وقصة ضيف إبراهيم عليه السلام.</a:t>
            </a:r>
            <a:endParaRPr lang="ar-SA"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الذاريات</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 – 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وَالذَّـٰرِيَٰتِ ذَرْوًا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أقسم الله بالرياح التي تذرو التراب.</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فَالْحَٰمِلَٰتِ وِقْرًا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فالسحب التي تحمل الماء الثقيل.</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فَالْجَٰرِيَٰتِ يُسْرًا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فالسفن التي تجري في البحر بسهولة.</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فَالْمُقَسِّمَٰتِ أَمْرًا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فالملائكة التي تقسّم الأمور بأمر الله، كما قال علي رضي الله عنه.</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الذاريات</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٥ – 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إِنَّمَا تُوعَدُونَ لَصَادِقٌ</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 ما توعدون به من البعث لصادق.</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وَإِنَّ الدِّينَ لَوَٰقِعٌ</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وإن الحساب والجزاء لواقع.</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وَالسَّمَآءِ ذَاتِ الْحُبُكِ</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وأقسم بالسماء ذات الطرق والحسن.</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إِنَّكُمْ لَفِي قَوْلٍ مُّخْتَلِفٍ</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إنكم أيها المكذبون لفي قول مضطرب في شأن محمد صلى الله عليه وسلم والقرآن.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الذاريات</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٩ – ١٢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يُؤْفَكُ عَنْهُ مَنْ أُفِكَ</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يُصرف عن الإيمان به من صُرف.</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١٠</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قُتِلَ الْخَرَّـٰصُونَ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لُعن الكذّابون.</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١١</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الَّذِينَ هُمْ فِي غَمْرَةٍ سَاهُونَ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الذين هم في جهل وغفلة.</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١٢</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يَسْـَٔلُونَ أَيَّانَ يَوْمُ الدِّينِ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يسألون استبعادًا: متى يوم الجزاء؟</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الذاريات</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١٣ – ١٦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١٣</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يَوْمَ هُمْ عَلَى النَّارِ يُفْتَنُونَ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يوم هم على النار يُعذَّبون.</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١٤</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ذُوقُواْ فِتْنَتَكُمْ هَٰذَا الَّذِي كُنتُم بِهِ تَسْتَعْجِلُونَ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يُقال لهم: ذوقوا عذابكم، هذا الذي كنتم تستعجلونه.</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١٥</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الْمُتَّقِينَ فِي جَنَّـٰتٍ وَعُيُونٍ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 المتقين في جنات وعيون جارية.</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١٦</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ءَاخِذِينَ مَآ ءَاتَىٰهُمْ رَبُّهُمْ إِنَّهُمْ كَانُواْ قَبْلَ ذَٰلِكَ مُحْسِنِينَ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آخذين ما أعطاهم ربهم، إنهم كانوا في الدنيا محسنين.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الذاريات</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١٧ – ٢٠</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١٧</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كَانُواْ قَلِيلًا مِّنَ الَّيْلِ مَا يَهْجَعُونَ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كانوا ينامون قليلًا من الليل، ويقومونه بالصلاة.</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١٨</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وَبِالْأَسْحَارِ هُمْ يَسْتَغْفِرُونَ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وفي آخر الليل هم يستغفرون.</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١٩</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وَفِي أَمْوَٰلِهِمْ حَقٌّ لِّلسَّآئِلِ وَالْمَحْرُومِ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وفي أموالهم حقّ للفقير الذي يسأل، والفقير المتعفّف.</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٢٠</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وَفِي الْأَرْضِ ءَايَٰتٌ لِّلْمُوقِنِينَ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وفي الأرض دلائل على قدرة الله للموقنين.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الذاريات</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٢١ – ٢٤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٢١</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وَفِي أَنفُسِكُمْ أَفَلَا تُبْصِرُونَ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وفي أنفسكم دلائل، أفلا تبصرون؟</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٢٢</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وَفِي السَّمَآءِ رِزْقُكُمْ وَمَا تُوعَدُونَ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وفي السماء المطر الذي هو سبب رزقكم، وما توعدون من الجنة.</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٢٣</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فَوَرَبِّ السَّمَآءِ وَالْأَرْضِ إِنَّهُ لَحَقٌّ مِّثْلَ مَآ أَنَّكُمْ تَنطِقُونَ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فوربّ السماء والأرض إن ما وُعدتم به لحقّ، كما أنكم تنطقون بلا شك.</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٢٤</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هَلْ أَتَىٰكَ حَدِيثُ ضَيْفِ إِبْرَٰهِيمَ الْمُكْرَمِينَ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هل أتاك خبر ضيوف إبراهيم المكرَمين، وهم الملائكة؟</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الذاريات</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٢٥ – ٢٨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٢٥</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إِذْ دَخَلُواْ عَلَيْهِ فَقَالُواْ سَلَٰمًا قَالَ سَلَٰمٌ قَوْمٌ مُّنكَرُونَ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إذ دخلوا عليه فقالوا: سلامًا، قال: سلام، قومٌ غير معروفين.</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٢٦</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فَرَاغَ إِلَىٰ أَهْلِهِ فَجَآءَ بِعِجْلٍ سَمِينٍ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فذهب إلى أهله خفيةً، فجاء بعجل سمين مشويّ.</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٢٧</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فَقَرَّبَهُ إِلَيْهِمْ قَالَ أَلَا تَأْكُلُونَ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فقرّبه إليهم، قال: ألا تأكلون؟</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٢٨</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فَأَوْجَسَ مِنْهُمْ خِيفَةً قَالُواْ لَا تَخَفْ وَبَشَّرُوهُ بِغُلَٰمٍ عَلِيمٍ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فأحسّ في نفسه خوفًا منهم لما لم يأكلوا، قالوا: لا تخف، وبشّروه بولد عليم، وهو إسحاق.</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الذاريات</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٢٩ – ٣٠</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500884"/>
            <a:ext cx="548640" cy="548640"/>
          </a:xfrm>
          <a:prstGeom prst="star8">
            <a:avLst/>
          </a:prstGeom>
          <a:solidFill>
            <a:schemeClr val="accent2"/>
          </a:solidFill>
          <a:ln/>
        </p:spPr>
      </p:sp>
      <p:sp>
        <p:nvSpPr>
          <p:cNvPr id="6" name="Shape 4"/>
          <p:cNvSpPr/>
          <p:nvPr/>
        </p:nvSpPr>
        <p:spPr>
          <a:xfrm>
            <a:off x="11036808" y="261061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50088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٢٩</a:t>
            </a:r>
            <a:endParaRPr lang="ar-SA" sz="1600" dirty="0"/>
          </a:p>
        </p:txBody>
      </p:sp>
      <p:sp>
        <p:nvSpPr>
          <p:cNvPr id="8" name="Text 6"/>
          <p:cNvSpPr txBox="1"/>
          <p:nvPr/>
        </p:nvSpPr>
        <p:spPr>
          <a:xfrm>
            <a:off x="731520" y="248259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فَأَقْبَلَتِ امْرَأَتُهُ فِي صَرَّةٍ فَصَكَّتْ وَجْهَهَا وَقَالَتْ عَجُوزٌ عَقِيمٌ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فأقبلت امرأته سارة تصيح، فضربت وجهها تعجّبًا، وقالت: أألد وأنا عجوز عقيم؟</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٣٠</a:t>
            </a:r>
            <a:endParaRPr lang="ar-SA" sz="1600" dirty="0"/>
          </a:p>
        </p:txBody>
      </p:sp>
      <p:sp>
        <p:nvSpPr>
          <p:cNvPr id="13" name="Text 11"/>
          <p:cNvSpPr txBox="1"/>
          <p:nvPr/>
        </p:nvSpPr>
        <p:spPr>
          <a:xfrm>
            <a:off x="731520" y="390906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قَالُواْ كَذَٰلِكِ قَالَ رَبُّكِ إِنَّهُ هُوَ الْحَكِيمُ الْعَلِيمُ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قالوا: كذلك قال ربك، إنه هو الحكيم العليم.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1" type="title" hasCustomPrompt="1"/>
          </p:nvPr>
        </p:nvSpPr>
        <p:spPr>
          <a:xfrm>
            <a:off x="3626968" y="603504"/>
            <a:ext cx="4937760" cy="987552"/>
          </a:xfrm>
          <a:prstGeom prst="rect">
            <a:avLst/>
          </a:prstGeom>
          <a:noFill/>
          <a:ln/>
        </p:spPr>
        <p:txBody>
          <a:bodyPr wrap="square" lIns="0" tIns="0" rIns="0" bIns="0" rtlCol="0" anchor="ctr"/>
          <a:lstStyle/>
          <a:p>
            <a:pPr rtl="1" algn="ctr" indent="0" marL="0">
              <a:buNone/>
            </a:pPr>
            <a:r>
              <a:rPr lang="en-US" sz="4800" b="1" dirty="0">
                <a:solidFill>
                  <a:schemeClr val="accent2"/>
                </a:solidFill>
                <a:latin typeface="Sakkal Majalla" pitchFamily="34" charset="0"/>
                <a:ea typeface="Sakkal Majalla" pitchFamily="34" charset="-122"/>
                <a:cs typeface="Sakkal Majalla" pitchFamily="34" charset="-120"/>
              </a:rPr>
              <a:t>سورة ق</a:t>
            </a:r>
            <a:endParaRPr lang="en-US" sz="4800" dirty="0"/>
          </a:p>
        </p:txBody>
      </p:sp>
      <p:sp>
        <p:nvSpPr>
          <p:cNvPr id="3" name="Shape 1"/>
          <p:cNvSpPr/>
          <p:nvPr/>
        </p:nvSpPr>
        <p:spPr>
          <a:xfrm>
            <a:off x="7833208" y="1828800"/>
            <a:ext cx="310896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783320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عدد آياتها: ٤٥</a:t>
            </a:r>
            <a:endParaRPr lang="ar-SA" sz="1600" dirty="0"/>
          </a:p>
        </p:txBody>
      </p:sp>
      <p:sp>
        <p:nvSpPr>
          <p:cNvPr id="5" name="Shape 3"/>
          <p:cNvSpPr/>
          <p:nvPr/>
        </p:nvSpPr>
        <p:spPr>
          <a:xfrm>
            <a:off x="4541368" y="1828800"/>
            <a:ext cx="310896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مكية</a:t>
            </a:r>
            <a:endParaRPr lang="ar-SA" sz="1600" dirty="0"/>
          </a:p>
        </p:txBody>
      </p:sp>
      <p:sp>
        <p:nvSpPr>
          <p:cNvPr id="7" name="Shape 5"/>
          <p:cNvSpPr/>
          <p:nvPr/>
        </p:nvSpPr>
        <p:spPr>
          <a:xfrm>
            <a:off x="1249528" y="1828800"/>
            <a:ext cx="310896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124952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ترتيبها في المصحف: ٥٠</a:t>
            </a:r>
            <a:endParaRPr lang="ar-SA" sz="1600" dirty="0"/>
          </a:p>
        </p:txBody>
      </p:sp>
      <p:sp>
        <p:nvSpPr>
          <p:cNvPr id="9" name="Shape 7"/>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7810348" y="2651760"/>
            <a:ext cx="219456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781034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سبب النزول</a:t>
            </a:r>
            <a:endParaRPr lang="ar-SA" sz="1800" dirty="0"/>
          </a:p>
        </p:txBody>
      </p:sp>
      <p:sp>
        <p:nvSpPr>
          <p:cNvPr id="12" name="Text 10"/>
          <p:cNvSpPr txBox="1"/>
          <p:nvPr/>
        </p:nvSpPr>
        <p:spPr>
          <a:xfrm>
            <a:off x="659876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لم يُروَ لهذه السورة سبب نزول خاص مشهور، وهي من السور التي نزلت لتذكير الناس وهدايتهم.</a:t>
            </a:r>
            <a:endParaRPr lang="ar-SA" sz="1800" dirty="0"/>
          </a:p>
        </p:txBody>
      </p:sp>
      <p:sp>
        <p:nvSpPr>
          <p:cNvPr id="13" name="Shape 11"/>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2186788" y="2651760"/>
            <a:ext cx="219456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218678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مقصد السورة</a:t>
            </a:r>
            <a:endParaRPr lang="ar-SA" sz="1800" dirty="0"/>
          </a:p>
        </p:txBody>
      </p:sp>
      <p:sp>
        <p:nvSpPr>
          <p:cNvPr id="16" name="Text 14"/>
          <p:cNvSpPr txBox="1"/>
          <p:nvPr/>
        </p:nvSpPr>
        <p:spPr>
          <a:xfrm>
            <a:off x="97520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إثبات البعث والرد على المنكرين، ورقابة الله والملائكة على الإنسان، وأهوال الموت والقيامة. وكان النبي صلى الله عليه وسلم يقرؤها في العيد، ويخطب بها على المنبر كل جمعة (رواه مسلم).</a:t>
            </a:r>
            <a:endParaRPr lang="ar-SA"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ق</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 – 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 وَالْقُرْءَانِ الْمَجِيدِ</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 من الحروف المقطّعة، وأقسم الله بالقرآن العظيم الكريم.</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بَلْ عَجِبُواْ أَن جَآءَهُم مُّنذِرٌ مِّنْهُمْ فَقَالَ الْكَٰفِرُونَ هَٰذَا شَيْءٌ عَجِيبٌ</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بل تعجّب الكفار أن جاءهم رسول منهم، فقالوا: هذا شيء عجيب.</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أَءِذَا مِتْنَا وَكُنَّا تُرَابًا ذَٰلِكَ رَجْعٌ بَعِيدٌ</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أإذا متنا وصرنا ترابًا نرجع؟ ذلك رجوع بعيد.</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قَدْ عَلِمْنَا مَا تَنقُصُ الْأَرْضُ مِنْهُمْ وَعِندَنَا كِتَٰبٌ حَفِيظٌ</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قد علمنا ما تأكل الأرض من أجسادهم، وعندنا كتاب حافظ لكل شيء.</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ق</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٥ – 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بَلْ كَذَّبُواْ بِالْحَقِّ لَمَّا جَآءَهُمْ فَهُمْ فِي أَمْرٍ مَّرِيجٍ</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بل كذّبوا بالحق لما جاءهم، فهم في أمر مضطرب.</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أَفَلَمْ يَنظُرُواْ إِلَى السَّمَآءِ فَوْقَهُمْ كَيْفَ بَنَيْنَٰهَا وَزَيَّنَّـٰهَا وَمَا لَهَا مِن فُرُوجٍ</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أفلم ينظروا إلى السماء فوقهم كيف بنيناها وزيّناها بالنجوم، وما فيها من شقوق؟</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وَالْأَرْضَ مَدَدْنَٰهَا وَأَلْقَيْنَا فِيهَا رَوَٰسِيَ وَأَنبَتْنَا فِيهَا مِن كُلِّ زَوْجٍ بَهِيجٍ</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والأرض بسطناها، وجعلنا فيها جبالًا ثابتة، وأنبتنا فيها من كل نوع حسن.</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تَبْصِرَةً وَذِكْرَىٰ لِكُلِّ عَبْدٍ مُّنِيبٍ</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تبصيرًا وتذكيرًا لكل عبد راجع إلى ربه.</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ق</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٩ – ١٢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وَنَزَّلْنَا مِنَ السَّمَآءِ مَآءً مُّبَٰرَكًا فَأَنبَتْنَا بِهِ جَنَّـٰتٍ وَحَبَّ الْحَصِيدِ</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ونزّلنا من السماء مطرًا كثير الخير، فأنبتنا به بساتين وحبّ الزرع الذي يُحصد.</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١٠</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وَالنَّخْلَ بَاسِقَٰتٍ لَّهَا طَلْعٌ نَّضِيدٌ</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والنخل الطويلة لها ثمر متراكب.</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١١</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رِّزْقًا لِّلْعِبَادِ وَأَحْيَيْنَا بِهِ بَلْدَةً مَّيْتًا كَذَٰلِكَ الْخُرُوجُ</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رزقًا للعباد، وأحيينا بالمطر أرضًا ميتة، كذلك يكون خروجكم من القبور.</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١٢</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كَذَّبَتْ قَبْلَهُمْ قَوْمُ نُوحٍ وَأَصْحَٰبُ الرَّسِّ وَثَمُودُ</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كذّبت قبلهم قوم نوح، وأصحاب البئر، وثمود.</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ق</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١٣ – ١٥</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87652"/>
            <a:ext cx="548640" cy="548640"/>
          </a:xfrm>
          <a:prstGeom prst="star8">
            <a:avLst/>
          </a:prstGeom>
          <a:solidFill>
            <a:schemeClr val="accent2"/>
          </a:solidFill>
          <a:ln/>
        </p:spPr>
      </p:sp>
      <p:sp>
        <p:nvSpPr>
          <p:cNvPr id="6" name="Shape 4"/>
          <p:cNvSpPr/>
          <p:nvPr/>
        </p:nvSpPr>
        <p:spPr>
          <a:xfrm>
            <a:off x="11036808" y="189738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8765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١٣</a:t>
            </a:r>
            <a:endParaRPr lang="ar-SA" sz="1600" dirty="0"/>
          </a:p>
        </p:txBody>
      </p:sp>
      <p:sp>
        <p:nvSpPr>
          <p:cNvPr id="8" name="Text 6"/>
          <p:cNvSpPr txBox="1"/>
          <p:nvPr/>
        </p:nvSpPr>
        <p:spPr>
          <a:xfrm>
            <a:off x="731520" y="176936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وَعَادٌ وَفِرْعَوْنُ وَإِخْوَٰنُ لُوطٍ</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وعاد وفرعون وقوم لوط.</a:t>
            </a:r>
            <a:endParaRPr lang="ar-SA" sz="3200" dirty="0"/>
          </a:p>
        </p:txBody>
      </p:sp>
      <p:sp>
        <p:nvSpPr>
          <p:cNvPr id="9" name="Shape 7"/>
          <p:cNvSpPr/>
          <p:nvPr/>
        </p:nvSpPr>
        <p:spPr>
          <a:xfrm>
            <a:off x="2103120" y="2953512"/>
            <a:ext cx="8641080" cy="0"/>
          </a:xfrm>
          <a:prstGeom prst="line">
            <a:avLst/>
          </a:prstGeom>
          <a:noFill/>
          <a:ln w="9525">
            <a:solidFill>
              <a:schemeClr val="accent2"/>
            </a:solidFill>
            <a:prstDash val="dash"/>
          </a:ln>
        </p:spPr>
      </p:sp>
      <p:sp>
        <p:nvSpPr>
          <p:cNvPr id="10" name="Shape 8"/>
          <p:cNvSpPr/>
          <p:nvPr/>
        </p:nvSpPr>
        <p:spPr>
          <a:xfrm>
            <a:off x="10927080" y="3214116"/>
            <a:ext cx="548640" cy="548640"/>
          </a:xfrm>
          <a:prstGeom prst="star8">
            <a:avLst/>
          </a:prstGeom>
          <a:solidFill>
            <a:schemeClr val="accent2"/>
          </a:solidFill>
          <a:ln/>
        </p:spPr>
      </p:sp>
      <p:sp>
        <p:nvSpPr>
          <p:cNvPr id="11" name="Shape 9"/>
          <p:cNvSpPr/>
          <p:nvPr/>
        </p:nvSpPr>
        <p:spPr>
          <a:xfrm>
            <a:off x="11036808" y="332384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2141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١٤</a:t>
            </a:r>
            <a:endParaRPr lang="ar-SA" sz="1600" dirty="0"/>
          </a:p>
        </p:txBody>
      </p:sp>
      <p:sp>
        <p:nvSpPr>
          <p:cNvPr id="13" name="Text 11"/>
          <p:cNvSpPr txBox="1"/>
          <p:nvPr/>
        </p:nvSpPr>
        <p:spPr>
          <a:xfrm>
            <a:off x="731520" y="319582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وَأَصْحَٰبُ الْأَيْكَةِ وَقَوْمُ تُبَّعٍ كُلٌّ كَذَّبَ الرُّسُلَ فَحَقَّ وَعِيدِ</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وأصحاب الأشجار الملتفّة -قوم شعيب- وقوم تُبّع، كلٌّ كذّب الرسل فوجب عليهم العذاب.</a:t>
            </a:r>
            <a:endParaRPr lang="ar-SA" sz="3200" dirty="0"/>
          </a:p>
        </p:txBody>
      </p:sp>
      <p:sp>
        <p:nvSpPr>
          <p:cNvPr id="14" name="Shape 12"/>
          <p:cNvSpPr/>
          <p:nvPr/>
        </p:nvSpPr>
        <p:spPr>
          <a:xfrm>
            <a:off x="2103120" y="4379976"/>
            <a:ext cx="8641080" cy="0"/>
          </a:xfrm>
          <a:prstGeom prst="line">
            <a:avLst/>
          </a:prstGeom>
          <a:noFill/>
          <a:ln w="9525">
            <a:solidFill>
              <a:schemeClr val="accent2"/>
            </a:solidFill>
            <a:prstDash val="dash"/>
          </a:ln>
        </p:spPr>
      </p:sp>
      <p:sp>
        <p:nvSpPr>
          <p:cNvPr id="15" name="Shape 13"/>
          <p:cNvSpPr/>
          <p:nvPr/>
        </p:nvSpPr>
        <p:spPr>
          <a:xfrm>
            <a:off x="10927080" y="4640580"/>
            <a:ext cx="548640" cy="548640"/>
          </a:xfrm>
          <a:prstGeom prst="star8">
            <a:avLst/>
          </a:prstGeom>
          <a:solidFill>
            <a:schemeClr val="accent2"/>
          </a:solidFill>
          <a:ln/>
        </p:spPr>
      </p:sp>
      <p:sp>
        <p:nvSpPr>
          <p:cNvPr id="16" name="Shape 14"/>
          <p:cNvSpPr/>
          <p:nvPr/>
        </p:nvSpPr>
        <p:spPr>
          <a:xfrm>
            <a:off x="11036808" y="4750308"/>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64058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١٥</a:t>
            </a:r>
            <a:endParaRPr lang="ar-SA" sz="1600" dirty="0"/>
          </a:p>
        </p:txBody>
      </p:sp>
      <p:sp>
        <p:nvSpPr>
          <p:cNvPr id="18" name="Text 16"/>
          <p:cNvSpPr txBox="1"/>
          <p:nvPr/>
        </p:nvSpPr>
        <p:spPr>
          <a:xfrm>
            <a:off x="731520" y="462229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أَفَعَيِينَا بِالْخَلْقِ الْأَوَّلِ بَلْ هُمْ فِي لَبْسٍ مِّنْ خَلْقٍ جَدِيدٍ</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أفعجزنا عن الخلق الأول حتى نعجز عن الإعادة؟ بل هم في شك من البعث.</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ق</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١٦ – ١٨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95044"/>
            <a:ext cx="548640" cy="548640"/>
          </a:xfrm>
          <a:prstGeom prst="star8">
            <a:avLst/>
          </a:prstGeom>
          <a:solidFill>
            <a:schemeClr val="accent2"/>
          </a:solidFill>
          <a:ln/>
        </p:spPr>
      </p:sp>
      <p:sp>
        <p:nvSpPr>
          <p:cNvPr id="6" name="Shape 4"/>
          <p:cNvSpPr/>
          <p:nvPr/>
        </p:nvSpPr>
        <p:spPr>
          <a:xfrm>
            <a:off x="11036808" y="16047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950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١٦</a:t>
            </a:r>
            <a:endParaRPr lang="ar-SA" sz="1600" dirty="0"/>
          </a:p>
        </p:txBody>
      </p:sp>
      <p:sp>
        <p:nvSpPr>
          <p:cNvPr id="8" name="Text 6"/>
          <p:cNvSpPr txBox="1"/>
          <p:nvPr/>
        </p:nvSpPr>
        <p:spPr>
          <a:xfrm>
            <a:off x="731520" y="1476756"/>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وَلَقَدْ خَلَقْنَا الْإِنسَٰنَ وَنَعْلَمُ مَا تُوَسْوِسُ بِهِ نَفْسُهُ وَنَحْنُ أَقْرَبُ إِلَيْهِ مِنْ حَبْلِ الْوَرِيدِ</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ولقد خلقنا الإنسان ونعلم ما تحدّثه به نفسه، ونحن أقرب إليه بملائكتنا من عِرق رقبته.</a:t>
            </a:r>
            <a:endParaRPr lang="ar-SA" sz="3200" dirty="0"/>
          </a:p>
        </p:txBody>
      </p:sp>
      <p:sp>
        <p:nvSpPr>
          <p:cNvPr id="9" name="Shape 7"/>
          <p:cNvSpPr/>
          <p:nvPr/>
        </p:nvSpPr>
        <p:spPr>
          <a:xfrm>
            <a:off x="2103120" y="3246120"/>
            <a:ext cx="8641080" cy="0"/>
          </a:xfrm>
          <a:prstGeom prst="line">
            <a:avLst/>
          </a:prstGeom>
          <a:noFill/>
          <a:ln w="9525">
            <a:solidFill>
              <a:schemeClr val="accent2"/>
            </a:solidFill>
            <a:prstDash val="dash"/>
          </a:ln>
        </p:spPr>
      </p:sp>
      <p:sp>
        <p:nvSpPr>
          <p:cNvPr id="10" name="Shape 8"/>
          <p:cNvSpPr/>
          <p:nvPr/>
        </p:nvSpPr>
        <p:spPr>
          <a:xfrm>
            <a:off x="10927080" y="3506724"/>
            <a:ext cx="548640" cy="548640"/>
          </a:xfrm>
          <a:prstGeom prst="star8">
            <a:avLst/>
          </a:prstGeom>
          <a:solidFill>
            <a:schemeClr val="accent2"/>
          </a:solidFill>
          <a:ln/>
        </p:spPr>
      </p:sp>
      <p:sp>
        <p:nvSpPr>
          <p:cNvPr id="11" name="Shape 9"/>
          <p:cNvSpPr/>
          <p:nvPr/>
        </p:nvSpPr>
        <p:spPr>
          <a:xfrm>
            <a:off x="11036808" y="361645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50672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١٧</a:t>
            </a:r>
            <a:endParaRPr lang="ar-SA" sz="1600" dirty="0"/>
          </a:p>
        </p:txBody>
      </p:sp>
      <p:sp>
        <p:nvSpPr>
          <p:cNvPr id="13" name="Text 11"/>
          <p:cNvSpPr txBox="1"/>
          <p:nvPr/>
        </p:nvSpPr>
        <p:spPr>
          <a:xfrm>
            <a:off x="731520" y="348843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إِذْ يَتَلَقَّى الْمُتَلَقِّيَانِ عَنِ الْيَمِينِ وَعَنِ الشِّمَالِ قَعِيدٌ</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حين يتلقّى الملكان أعماله، أحدهما عن يمينه والآخر عن شماله.</a:t>
            </a:r>
            <a:endParaRPr lang="ar-SA" sz="3200" dirty="0"/>
          </a:p>
        </p:txBody>
      </p:sp>
      <p:sp>
        <p:nvSpPr>
          <p:cNvPr id="14" name="Shape 12"/>
          <p:cNvSpPr/>
          <p:nvPr/>
        </p:nvSpPr>
        <p:spPr>
          <a:xfrm>
            <a:off x="2103120" y="4672584"/>
            <a:ext cx="8641080" cy="0"/>
          </a:xfrm>
          <a:prstGeom prst="line">
            <a:avLst/>
          </a:prstGeom>
          <a:noFill/>
          <a:ln w="9525">
            <a:solidFill>
              <a:schemeClr val="accent2"/>
            </a:solidFill>
            <a:prstDash val="dash"/>
          </a:ln>
        </p:spPr>
      </p:sp>
      <p:sp>
        <p:nvSpPr>
          <p:cNvPr id="15" name="Shape 13"/>
          <p:cNvSpPr/>
          <p:nvPr/>
        </p:nvSpPr>
        <p:spPr>
          <a:xfrm>
            <a:off x="10927080" y="4933188"/>
            <a:ext cx="548640" cy="548640"/>
          </a:xfrm>
          <a:prstGeom prst="star8">
            <a:avLst/>
          </a:prstGeom>
          <a:solidFill>
            <a:schemeClr val="accent2"/>
          </a:solidFill>
          <a:ln/>
        </p:spPr>
      </p:sp>
      <p:sp>
        <p:nvSpPr>
          <p:cNvPr id="16" name="Shape 14"/>
          <p:cNvSpPr/>
          <p:nvPr/>
        </p:nvSpPr>
        <p:spPr>
          <a:xfrm>
            <a:off x="11036808" y="5042916"/>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93318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١٨</a:t>
            </a:r>
            <a:endParaRPr lang="ar-SA" sz="1600" dirty="0"/>
          </a:p>
        </p:txBody>
      </p:sp>
      <p:sp>
        <p:nvSpPr>
          <p:cNvPr id="18" name="Text 16"/>
          <p:cNvSpPr txBox="1"/>
          <p:nvPr/>
        </p:nvSpPr>
        <p:spPr>
          <a:xfrm>
            <a:off x="731520" y="491490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مَّا يَلْفِظُ مِن قَوْلٍ إِلَّا لَدَيْهِ رَقِيبٌ عَتِيدٌ</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ما يتكلم بكلمة إلا عنده ملك حاضر يكتبها.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ق</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١٩ – ٢٢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١٩</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وَجَآءَتْ سَكْرَةُ الْمَوْتِ بِالْحَقِّ ذَٰلِكَ مَا كُنتَ مِنْهُ تَحِيدُ</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وجاءت شدّة الموت بالحق، ذلك ما كنت منه تهرب.</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٢٠</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وَنُفِخَ فِي الصُّورِ ذَٰلِكَ يَوْمُ الْوَعِيدِ</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ونُفخ في الصور، ذلك يوم الوعيد بالعذاب.</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٢١</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وَجَآءَتْ كُلُّ نَفْسٍ مَّعَهَا سَآئِقٌ وَشَهِيدٌ</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وجاءت كل نفس معها ملك يسوقها، وملك يشهد عليها.</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٢٢</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لَّقَدْ كُنتَ فِي غَفْلَةٍ مِّنْ هَٰذَا فَكَشَفْنَا عَنكَ غِطَآءَكَ فَبَصَرُكَ الْيَوْمَ حَدِيدٌ</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لقد كنت في غفلة من هذا اليوم، فكشفنا عنك الغطاء، فبصرك اليوم قوي.</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ق</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٢٣ – ٢٦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٢٣</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وَقَالَ قَرِينُهُ هَٰذَا مَا لَدَيَّ عَتِيدٌ</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وقال الملك الموكّل به: هذا ما عندي من عمله حاضر.</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٢٤</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أَلْقِيَا فِي جَهَنَّمَ كُلَّ كَفَّارٍ عَنِيدٍ</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يقول الله للملكين: ألقيا في جهنم كل كفّار معاند.</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٢٥</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مَّنَّاعٍ لِّلْخَيْرِ مُعْتَدٍ مُّرِيبٍ</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كثير المنع للخير، ظالم، شاكّ.</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٢٦</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الَّذِي جَعَلَ مَعَ اللَّهِ إِلَٰهًا ءَاخَرَ فَأَلْقِيَاهُ فِي الْعَذَابِ الشَّدِيدِ</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الذي جعل مع الله إلهًا آخر، فألقياه في العذاب الشديد.</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ق</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٢٧ – ٣٠</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٢٧</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 قَرِينُهُ رَبَّنَا مَآ أَطْغَيْتُهُ وَلَٰكِن كَانَ فِي ضَلَٰلٍ بَعِيدٍ</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 شيطانه: ربنا ما أضللته، ولكن كان في ضلال بعيد بنفسه.</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٢٨</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 لَا تَخْتَصِمُواْ لَدَيَّ وَقَدْ قَدَّمْتُ إِلَيْكُم بِالْوَعِيدِ</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 الله: لا تختصموا عندي، وقد أنذرتكم في الدنيا.</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٢٩</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مَا يُبَدَّلُ الْقَوْلُ لَدَيَّ وَمَآ أَنَا بِظَلَّـٰمٍ لِّلْعَبِيدِ</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لا يُغيَّر القول عندي، وما أنا بظالم للعباد.</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٣٠</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يَوْمَ نَقُولُ لِجَهَنَّمَ هَلِ امْتَلَأْتِ وَتَقُولُ هَلْ مِن مَّزِيدٍ</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يوم نقول لجهنم: هل امتلأت؟ وتقول: هل من زيادة؟</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ق</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٣١ – ٣٤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٣١</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وَأُزْلِفَتِ الْجَنَّةُ لِلْمُتَّقِينَ غَيْرَ بَعِيدٍ</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وقُرّبت الجنة للمتقين غير بعيدة.</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٣٢</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هَٰذَا مَا تُوعَدُونَ لِكُلِّ أَوَّابٍ حَفِيظٍ</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يُقال لهم: هذا ما وُعدتم به، لكل رجّاع إلى الله حافظٍ لحدوده.</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٣٣</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مَّنْ خَشِيَ الرَّحْمَٰنَ بِالْغَيْبِ وَجَآءَ بِقَلْبٍ مُّنِيبٍ</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من خاف الرحمن وهو لا يراه، وجاء بقلب تائب.</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٣٤</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ادْخُلُوهَا بِسَلَٰمٍ ذَٰلِكَ يَوْمُ الْخُلُودِ</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ادخلوا الجنة بسلام، ذلك يوم الخلود.</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ق</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٣٥ – ٣٧</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95044"/>
            <a:ext cx="548640" cy="548640"/>
          </a:xfrm>
          <a:prstGeom prst="star8">
            <a:avLst/>
          </a:prstGeom>
          <a:solidFill>
            <a:schemeClr val="accent2"/>
          </a:solidFill>
          <a:ln/>
        </p:spPr>
      </p:sp>
      <p:sp>
        <p:nvSpPr>
          <p:cNvPr id="6" name="Shape 4"/>
          <p:cNvSpPr/>
          <p:nvPr/>
        </p:nvSpPr>
        <p:spPr>
          <a:xfrm>
            <a:off x="11036808" y="16047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950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٣٥</a:t>
            </a:r>
            <a:endParaRPr lang="ar-SA" sz="1600" dirty="0"/>
          </a:p>
        </p:txBody>
      </p:sp>
      <p:sp>
        <p:nvSpPr>
          <p:cNvPr id="8" name="Text 6"/>
          <p:cNvSpPr txBox="1"/>
          <p:nvPr/>
        </p:nvSpPr>
        <p:spPr>
          <a:xfrm>
            <a:off x="731520" y="147675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لَهُم مَّا يَشَآءُونَ فِيهَا وَلَدَيْنَا مَزِيدٌ</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لهم فيها ما يشاؤون، وعندنا زيادة، وهي النظر إلى وجه الله الكريم.</a:t>
            </a:r>
            <a:endParaRPr lang="ar-SA" sz="3200" dirty="0"/>
          </a:p>
        </p:txBody>
      </p:sp>
      <p:sp>
        <p:nvSpPr>
          <p:cNvPr id="9" name="Shape 7"/>
          <p:cNvSpPr/>
          <p:nvPr/>
        </p:nvSpPr>
        <p:spPr>
          <a:xfrm>
            <a:off x="2103120" y="2660904"/>
            <a:ext cx="8641080" cy="0"/>
          </a:xfrm>
          <a:prstGeom prst="line">
            <a:avLst/>
          </a:prstGeom>
          <a:noFill/>
          <a:ln w="9525">
            <a:solidFill>
              <a:schemeClr val="accent2"/>
            </a:solidFill>
            <a:prstDash val="dash"/>
          </a:ln>
        </p:spPr>
      </p:sp>
      <p:sp>
        <p:nvSpPr>
          <p:cNvPr id="10" name="Shape 8"/>
          <p:cNvSpPr/>
          <p:nvPr/>
        </p:nvSpPr>
        <p:spPr>
          <a:xfrm>
            <a:off x="10927080" y="2921508"/>
            <a:ext cx="548640" cy="548640"/>
          </a:xfrm>
          <a:prstGeom prst="star8">
            <a:avLst/>
          </a:prstGeom>
          <a:solidFill>
            <a:schemeClr val="accent2"/>
          </a:solidFill>
          <a:ln/>
        </p:spPr>
      </p:sp>
      <p:sp>
        <p:nvSpPr>
          <p:cNvPr id="11" name="Shape 9"/>
          <p:cNvSpPr/>
          <p:nvPr/>
        </p:nvSpPr>
        <p:spPr>
          <a:xfrm>
            <a:off x="11036808" y="303123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92150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٣٦</a:t>
            </a:r>
            <a:endParaRPr lang="ar-SA" sz="1600" dirty="0"/>
          </a:p>
        </p:txBody>
      </p:sp>
      <p:sp>
        <p:nvSpPr>
          <p:cNvPr id="13" name="Text 11"/>
          <p:cNvSpPr txBox="1"/>
          <p:nvPr/>
        </p:nvSpPr>
        <p:spPr>
          <a:xfrm>
            <a:off x="731520" y="2903220"/>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وَكَمْ أَهْلَكْنَا قَبْلَهُم مِّن قَرْنٍ هُمْ أَشَدُّ مِنْهُم بَطْشًا فَنَقَّبُواْ فِي الْبِلَٰدِ هَلْ مِن مَّحِيصٍ</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وكثير من الأمم أهلكناهم قبلهم كانوا أشد قوة، فساروا في البلاد يطلبون مهربًا، فهل لهم من مهرب؟</a:t>
            </a:r>
            <a:endParaRPr lang="ar-SA" sz="3200" dirty="0"/>
          </a:p>
        </p:txBody>
      </p:sp>
      <p:sp>
        <p:nvSpPr>
          <p:cNvPr id="14" name="Shape 12"/>
          <p:cNvSpPr/>
          <p:nvPr/>
        </p:nvSpPr>
        <p:spPr>
          <a:xfrm>
            <a:off x="2103120" y="4672584"/>
            <a:ext cx="8641080" cy="0"/>
          </a:xfrm>
          <a:prstGeom prst="line">
            <a:avLst/>
          </a:prstGeom>
          <a:noFill/>
          <a:ln w="9525">
            <a:solidFill>
              <a:schemeClr val="accent2"/>
            </a:solidFill>
            <a:prstDash val="dash"/>
          </a:ln>
        </p:spPr>
      </p:sp>
      <p:sp>
        <p:nvSpPr>
          <p:cNvPr id="15" name="Shape 13"/>
          <p:cNvSpPr/>
          <p:nvPr/>
        </p:nvSpPr>
        <p:spPr>
          <a:xfrm>
            <a:off x="10927080" y="4933188"/>
            <a:ext cx="548640" cy="548640"/>
          </a:xfrm>
          <a:prstGeom prst="star8">
            <a:avLst/>
          </a:prstGeom>
          <a:solidFill>
            <a:schemeClr val="accent2"/>
          </a:solidFill>
          <a:ln/>
        </p:spPr>
      </p:sp>
      <p:sp>
        <p:nvSpPr>
          <p:cNvPr id="16" name="Shape 14"/>
          <p:cNvSpPr/>
          <p:nvPr/>
        </p:nvSpPr>
        <p:spPr>
          <a:xfrm>
            <a:off x="11036808" y="5042916"/>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93318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٣٧</a:t>
            </a:r>
            <a:endParaRPr lang="ar-SA" sz="1600" dirty="0"/>
          </a:p>
        </p:txBody>
      </p:sp>
      <p:sp>
        <p:nvSpPr>
          <p:cNvPr id="18" name="Text 16"/>
          <p:cNvSpPr txBox="1"/>
          <p:nvPr/>
        </p:nvSpPr>
        <p:spPr>
          <a:xfrm>
            <a:off x="731520" y="491490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فِي ذَٰلِكَ لَذِكْرَىٰ لِمَن كَانَ لَهُ قَلْبٌ أَوْ أَلْقَى السَّمْعَ وَهُوَ شَهِيدٌ</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 في ذلك لعبرة لمن له قلب حيّ، أو استمع بانتباه وحضور قلب.</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ق</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٣٨ – ٤١</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٣٨</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وَلَقَدْ خَلَقْنَا السَّمَٰوَٰتِ وَالْأَرْضَ وَمَا بَيْنَهُمَا فِي سِتَّةِ أَيَّامٍ وَمَا مَسَّنَا مِن لُّغُوبٍ</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ولقد خلقنا السماوات والأرض وما بينهما في ستة أيام، وما أصابنا من تعب.</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٣٩</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فَاصْبِرْ عَلَىٰ مَا يَقُولُونَ وَسَبِّحْ بِحَمْدِ رَبِّكَ قَبْلَ طُلُوعِ الشَّمْسِ وَقَبْلَ الْغُرُوبِ</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فاصبر على ما يقولون، وصلِّ لربك قبل طلوع الشمس وقبل الغروب.</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٤٠</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وَمِنَ الَّيْلِ فَسَبِّحْهُ وَأَدْبَٰرَ السُّجُودِ</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ومن الليل فسبّحه، وسبّحه بعد الصلوات.</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٤١</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وَاسْتَمِعْ يَوْمَ يُنَادِ الْمُنَادِ مِن مَّكَانٍ قَرِيبٍ</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واستمع يوم ينادي المنادي للبعث من مكان قريب.</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ق</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٤٢ – ٤٥</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٤٢</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يَوْمَ يَسْمَعُونَ الصَّيْحَةَ بِالْحَقِّ ذَٰلِكَ يَوْمُ الْخُرُوجِ</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يوم يسمعون النفخة بالحق، ذلك يوم الخروج من القبور.</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٤٣</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إِنَّا نَحْنُ نُحْيِ وَنُمِيتُ وَإِلَيْنَا الْمَصِيرُ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إنا نحن نحيي ونميت، وإلينا المرجع.</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٤٤</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يَوْمَ تَشَقَّقُ الْأَرْضُ عَنْهُمْ سِرَاعًا ذَٰلِكَ حَشْرٌ عَلَيْنَا يَسِيرٌ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يوم تتشقّق الأرض عنهم فيخرجون مسرعين، ذلك جمعٌ علينا سهل.</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٤٥</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نَّحْنُ أَعْلَمُ بِمَا يَقُولُونَ وَمَآ أَنتَ عَلَيْهِم بِجَبَّارٍ فَذَكِّرْ بِالْقُرْءَانِ مَن يَخَافُ وَعِيدِ</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نحن أعلم بما يقولون، وما أنت عليهم بمُجبر، فذكّر بالقرآن من يخاف وعيدي.</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1" type="title" hasCustomPrompt="1"/>
          </p:nvPr>
        </p:nvSpPr>
        <p:spPr>
          <a:xfrm>
            <a:off x="3626968" y="603504"/>
            <a:ext cx="4937760" cy="987552"/>
          </a:xfrm>
          <a:prstGeom prst="rect">
            <a:avLst/>
          </a:prstGeom>
          <a:noFill/>
          <a:ln/>
        </p:spPr>
        <p:txBody>
          <a:bodyPr wrap="square" lIns="0" tIns="0" rIns="0" bIns="0" rtlCol="0" anchor="ctr"/>
          <a:lstStyle/>
          <a:p>
            <a:pPr rtl="1" algn="ctr" indent="0" marL="0">
              <a:buNone/>
            </a:pPr>
            <a:r>
              <a:rPr lang="en-US" sz="4800" b="1" dirty="0">
                <a:solidFill>
                  <a:schemeClr val="accent2"/>
                </a:solidFill>
                <a:latin typeface="Sakkal Majalla" pitchFamily="34" charset="0"/>
                <a:ea typeface="Sakkal Majalla" pitchFamily="34" charset="-122"/>
                <a:cs typeface="Sakkal Majalla" pitchFamily="34" charset="-120"/>
              </a:rPr>
              <a:t>سورة الحجرات</a:t>
            </a:r>
            <a:endParaRPr lang="en-US" sz="4800" dirty="0"/>
          </a:p>
        </p:txBody>
      </p:sp>
      <p:sp>
        <p:nvSpPr>
          <p:cNvPr id="3" name="Shape 1"/>
          <p:cNvSpPr/>
          <p:nvPr/>
        </p:nvSpPr>
        <p:spPr>
          <a:xfrm>
            <a:off x="7833208" y="1828800"/>
            <a:ext cx="310896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783320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عدد آياتها: ١٨</a:t>
            </a:r>
            <a:endParaRPr lang="ar-SA" sz="1600" dirty="0"/>
          </a:p>
        </p:txBody>
      </p:sp>
      <p:sp>
        <p:nvSpPr>
          <p:cNvPr id="5" name="Shape 3"/>
          <p:cNvSpPr/>
          <p:nvPr/>
        </p:nvSpPr>
        <p:spPr>
          <a:xfrm>
            <a:off x="4541368" y="1828800"/>
            <a:ext cx="310896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مدنية</a:t>
            </a:r>
            <a:endParaRPr lang="ar-SA" sz="1600" dirty="0"/>
          </a:p>
        </p:txBody>
      </p:sp>
      <p:sp>
        <p:nvSpPr>
          <p:cNvPr id="7" name="Shape 5"/>
          <p:cNvSpPr/>
          <p:nvPr/>
        </p:nvSpPr>
        <p:spPr>
          <a:xfrm>
            <a:off x="1249528" y="1828800"/>
            <a:ext cx="310896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124952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ترتيبها في المصحف: ٤٩</a:t>
            </a:r>
            <a:endParaRPr lang="ar-SA" sz="1600" dirty="0"/>
          </a:p>
        </p:txBody>
      </p:sp>
      <p:sp>
        <p:nvSpPr>
          <p:cNvPr id="9" name="Shape 7"/>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7810348" y="2651760"/>
            <a:ext cx="219456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781034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سبب النزول</a:t>
            </a:r>
            <a:endParaRPr lang="ar-SA" sz="1800" dirty="0"/>
          </a:p>
        </p:txBody>
      </p:sp>
      <p:sp>
        <p:nvSpPr>
          <p:cNvPr id="12" name="Text 10"/>
          <p:cNvSpPr txBox="1"/>
          <p:nvPr/>
        </p:nvSpPr>
        <p:spPr>
          <a:xfrm>
            <a:off x="659876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قدم وفد بني تميم على النبي صلى الله عليه وسلم، فاختلف أبو بكر وعمر رضي الله عنهما فيمن يُؤمَّر عليهم حتى ارتفعت أصواتهما، فنزلت: ﴿يا أيها الذين آمنوا لا ترفعوا أصواتكم فوق صوت النبي﴾ (رواه البخاري).</a:t>
            </a:r>
            <a:endParaRPr lang="ar-SA" sz="1800" dirty="0"/>
          </a:p>
        </p:txBody>
      </p:sp>
      <p:sp>
        <p:nvSpPr>
          <p:cNvPr id="13" name="Shape 11"/>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2186788" y="2651760"/>
            <a:ext cx="219456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218678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مقصد السورة</a:t>
            </a:r>
            <a:endParaRPr lang="ar-SA" sz="1800" dirty="0"/>
          </a:p>
        </p:txBody>
      </p:sp>
      <p:sp>
        <p:nvSpPr>
          <p:cNvPr id="16" name="Text 14"/>
          <p:cNvSpPr txBox="1"/>
          <p:nvPr/>
        </p:nvSpPr>
        <p:spPr>
          <a:xfrm>
            <a:off x="97520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تعليم المؤمنين الأدب مع الله ورسوله صلى الله عليه وسلم، وآداب الأخوّة والمجتمع: التثبّت من الأخبار، والإصلاح، والنهي عن السخرية والغيبة وسوء الظن.</a:t>
            </a:r>
            <a:endParaRPr lang="ar-SA" sz="1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الحجرات</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 – 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46504"/>
            <a:ext cx="548640" cy="548640"/>
          </a:xfrm>
          <a:prstGeom prst="star8">
            <a:avLst/>
          </a:prstGeom>
          <a:solidFill>
            <a:schemeClr val="accent2"/>
          </a:solidFill>
          <a:ln/>
        </p:spPr>
      </p:sp>
      <p:sp>
        <p:nvSpPr>
          <p:cNvPr id="6" name="Shape 4"/>
          <p:cNvSpPr/>
          <p:nvPr/>
        </p:nvSpPr>
        <p:spPr>
          <a:xfrm>
            <a:off x="11036808" y="18562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465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a:t>
            </a:r>
            <a:endParaRPr lang="ar-SA" sz="1600" dirty="0"/>
          </a:p>
        </p:txBody>
      </p:sp>
      <p:sp>
        <p:nvSpPr>
          <p:cNvPr id="8" name="Text 6"/>
          <p:cNvSpPr txBox="1"/>
          <p:nvPr/>
        </p:nvSpPr>
        <p:spPr>
          <a:xfrm>
            <a:off x="731520" y="1728216"/>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يَـٰأَيُّهَا الَّذِينَ ءَامَنُواْ لَا تُقَدِّمُواْ بَيْنَ يَدَيِ اللَّهِ وَرَسُولِهِ وَاتَّقُواْ اللَّهَ إِنَّ اللَّهَ سَمِيعٌ عَلِيمٌ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يا أيها المؤمنون، لا تتقدّموا بقول أو فعل قبل حكم الله ورسوله، واتقوا الله، إن الله سميع عليم.</a:t>
            </a:r>
            <a:endParaRPr lang="ar-SA" sz="3200" dirty="0"/>
          </a:p>
        </p:txBody>
      </p:sp>
      <p:sp>
        <p:nvSpPr>
          <p:cNvPr id="9" name="Shape 7"/>
          <p:cNvSpPr/>
          <p:nvPr/>
        </p:nvSpPr>
        <p:spPr>
          <a:xfrm>
            <a:off x="2103120" y="3497580"/>
            <a:ext cx="8641080" cy="0"/>
          </a:xfrm>
          <a:prstGeom prst="line">
            <a:avLst/>
          </a:prstGeom>
          <a:noFill/>
          <a:ln w="9525">
            <a:solidFill>
              <a:schemeClr val="accent2"/>
            </a:solidFill>
            <a:prstDash val="dash"/>
          </a:ln>
        </p:spPr>
      </p:sp>
      <p:sp>
        <p:nvSpPr>
          <p:cNvPr id="10" name="Shape 8"/>
          <p:cNvSpPr/>
          <p:nvPr/>
        </p:nvSpPr>
        <p:spPr>
          <a:xfrm>
            <a:off x="10927080" y="3758184"/>
            <a:ext cx="548640" cy="548640"/>
          </a:xfrm>
          <a:prstGeom prst="star8">
            <a:avLst/>
          </a:prstGeom>
          <a:solidFill>
            <a:schemeClr val="accent2"/>
          </a:solidFill>
          <a:ln/>
        </p:spPr>
      </p:sp>
      <p:sp>
        <p:nvSpPr>
          <p:cNvPr id="11" name="Shape 9"/>
          <p:cNvSpPr/>
          <p:nvPr/>
        </p:nvSpPr>
        <p:spPr>
          <a:xfrm>
            <a:off x="11036808" y="386791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75818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a:t>
            </a:r>
            <a:endParaRPr lang="ar-SA" sz="1600" dirty="0"/>
          </a:p>
        </p:txBody>
      </p:sp>
      <p:sp>
        <p:nvSpPr>
          <p:cNvPr id="13" name="Text 11"/>
          <p:cNvSpPr txBox="1"/>
          <p:nvPr/>
        </p:nvSpPr>
        <p:spPr>
          <a:xfrm>
            <a:off x="731520" y="373989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يَـٰأَيُّهَا الَّذِينَ ءَامَنُواْ لَا تَرْفَعُواْ أَصْوَٰتَكُمْ فَوْقَ صَوْتِ النَّبِيِّ وَلَا تَجْهَرُواْ لَهُ بِالْقَوْلِ كَجَهْرِ بَعْضِكُمْ لِبَعْضٍ أَن تَحْبَطَ أَعْمَٰلُكُمْ وَأَنتُمْ لَا تَشْعُرُونَ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يا أيها المؤمنون، لا ترفعوا أصواتكم فوق صوت النبي صلى الله عليه وسلم، ولا تنادوه باسمه كما ينادي بعضكم بعضًا، خشية أن تبطل أعمالكم وأنتم لا تشعرون.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الحجرات</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٣ – ٥</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14272"/>
            <a:ext cx="548640" cy="548640"/>
          </a:xfrm>
          <a:prstGeom prst="star8">
            <a:avLst/>
          </a:prstGeom>
          <a:solidFill>
            <a:schemeClr val="accent2"/>
          </a:solidFill>
          <a:ln/>
        </p:spPr>
      </p:sp>
      <p:sp>
        <p:nvSpPr>
          <p:cNvPr id="6" name="Shape 4"/>
          <p:cNvSpPr/>
          <p:nvPr/>
        </p:nvSpPr>
        <p:spPr>
          <a:xfrm>
            <a:off x="11036808" y="152400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142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a:t>
            </a:r>
            <a:endParaRPr lang="ar-SA" sz="1600" dirty="0"/>
          </a:p>
        </p:txBody>
      </p:sp>
      <p:sp>
        <p:nvSpPr>
          <p:cNvPr id="8" name="Text 6"/>
          <p:cNvSpPr txBox="1"/>
          <p:nvPr/>
        </p:nvSpPr>
        <p:spPr>
          <a:xfrm>
            <a:off x="731520" y="1395984"/>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الَّذِينَ يَغُضُّونَ أَصْوَٰتَهُمْ عِندَ رَسُولِ اللَّهِ أُوْلَـٰئِكَ الَّذِينَ امْتَحَنَ اللَّهُ قُلُوبَهُمْ لِلتَّقْوَىٰ لَهُم مَّغْفِرَةٌ وَأَجْرٌ عَظِيمٌ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 الذين يخفضون أصواتهم عند رسول الله، أولئك الذين أخلص الله قلوبهم للتقوى، لهم مغفرة وأجر عظيم.</a:t>
            </a:r>
            <a:endParaRPr lang="ar-SA" sz="3200" dirty="0"/>
          </a:p>
        </p:txBody>
      </p:sp>
      <p:sp>
        <p:nvSpPr>
          <p:cNvPr id="9" name="Shape 7"/>
          <p:cNvSpPr/>
          <p:nvPr/>
        </p:nvSpPr>
        <p:spPr>
          <a:xfrm>
            <a:off x="2103120" y="3459480"/>
            <a:ext cx="8641080" cy="0"/>
          </a:xfrm>
          <a:prstGeom prst="line">
            <a:avLst/>
          </a:prstGeom>
          <a:noFill/>
          <a:ln w="9525">
            <a:solidFill>
              <a:schemeClr val="accent2"/>
            </a:solidFill>
            <a:prstDash val="dash"/>
          </a:ln>
        </p:spPr>
      </p:sp>
      <p:sp>
        <p:nvSpPr>
          <p:cNvPr id="10" name="Shape 8"/>
          <p:cNvSpPr/>
          <p:nvPr/>
        </p:nvSpPr>
        <p:spPr>
          <a:xfrm>
            <a:off x="10927080" y="3675888"/>
            <a:ext cx="548640" cy="548640"/>
          </a:xfrm>
          <a:prstGeom prst="star8">
            <a:avLst/>
          </a:prstGeom>
          <a:solidFill>
            <a:schemeClr val="accent2"/>
          </a:solidFill>
          <a:ln/>
        </p:spPr>
      </p:sp>
      <p:sp>
        <p:nvSpPr>
          <p:cNvPr id="11" name="Shape 9"/>
          <p:cNvSpPr/>
          <p:nvPr/>
        </p:nvSpPr>
        <p:spPr>
          <a:xfrm>
            <a:off x="11036808" y="378561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67588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a:t>
            </a:r>
            <a:endParaRPr lang="ar-SA" sz="1600" dirty="0"/>
          </a:p>
        </p:txBody>
      </p:sp>
      <p:sp>
        <p:nvSpPr>
          <p:cNvPr id="13" name="Text 11"/>
          <p:cNvSpPr txBox="1"/>
          <p:nvPr/>
        </p:nvSpPr>
        <p:spPr>
          <a:xfrm>
            <a:off x="731520" y="365760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الَّذِينَ يُنَادُونَكَ مِن وَرَآءِ الْحُجُرَٰتِ أَكْثَرُهُمْ لَا يَعْقِلُونَ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 الذين ينادونك من وراء بيوتك -كبعض الأعراب- أكثرهم لا يعقلون الأدب.</a:t>
            </a:r>
            <a:endParaRPr lang="ar-SA" sz="3200" dirty="0"/>
          </a:p>
        </p:txBody>
      </p:sp>
      <p:sp>
        <p:nvSpPr>
          <p:cNvPr id="14" name="Shape 12"/>
          <p:cNvSpPr/>
          <p:nvPr/>
        </p:nvSpPr>
        <p:spPr>
          <a:xfrm>
            <a:off x="2103120" y="4797552"/>
            <a:ext cx="8641080" cy="0"/>
          </a:xfrm>
          <a:prstGeom prst="line">
            <a:avLst/>
          </a:prstGeom>
          <a:noFill/>
          <a:ln w="9525">
            <a:solidFill>
              <a:schemeClr val="accent2"/>
            </a:solidFill>
            <a:prstDash val="dash"/>
          </a:ln>
        </p:spPr>
      </p:sp>
      <p:sp>
        <p:nvSpPr>
          <p:cNvPr id="15" name="Shape 13"/>
          <p:cNvSpPr/>
          <p:nvPr/>
        </p:nvSpPr>
        <p:spPr>
          <a:xfrm>
            <a:off x="10927080" y="5013960"/>
            <a:ext cx="548640" cy="548640"/>
          </a:xfrm>
          <a:prstGeom prst="star8">
            <a:avLst/>
          </a:prstGeom>
          <a:solidFill>
            <a:schemeClr val="accent2"/>
          </a:solidFill>
          <a:ln/>
        </p:spPr>
      </p:sp>
      <p:sp>
        <p:nvSpPr>
          <p:cNvPr id="16" name="Shape 14"/>
          <p:cNvSpPr/>
          <p:nvPr/>
        </p:nvSpPr>
        <p:spPr>
          <a:xfrm>
            <a:off x="11036808" y="5123688"/>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501396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a:t>
            </a:r>
            <a:endParaRPr lang="ar-SA" sz="1600" dirty="0"/>
          </a:p>
        </p:txBody>
      </p:sp>
      <p:sp>
        <p:nvSpPr>
          <p:cNvPr id="18" name="Text 16"/>
          <p:cNvSpPr txBox="1"/>
          <p:nvPr/>
        </p:nvSpPr>
        <p:spPr>
          <a:xfrm>
            <a:off x="731520" y="499567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وَلَوْ أَنَّهُمْ صَبَرُواْ حَتَّىٰ تَخْرُجَ إِلَيْهِمْ لَكَانَ خَيْرًا لَّهُمْ وَاللَّهُ غَفُورٌ رَّحِيمٌ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ولو أنهم صبروا حتى تخرج إليهم لكان خيرًا لهم، والله غفور رحيم.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الحجرات</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٦ – ٧</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71600"/>
            <a:ext cx="548640" cy="548640"/>
          </a:xfrm>
          <a:prstGeom prst="star8">
            <a:avLst/>
          </a:prstGeom>
          <a:solidFill>
            <a:schemeClr val="accent2"/>
          </a:solidFill>
          <a:ln/>
        </p:spPr>
      </p:sp>
      <p:sp>
        <p:nvSpPr>
          <p:cNvPr id="6" name="Shape 4"/>
          <p:cNvSpPr/>
          <p:nvPr/>
        </p:nvSpPr>
        <p:spPr>
          <a:xfrm>
            <a:off x="11036808" y="148132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7160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a:t>
            </a:r>
            <a:endParaRPr lang="ar-SA" sz="1600" dirty="0"/>
          </a:p>
        </p:txBody>
      </p:sp>
      <p:sp>
        <p:nvSpPr>
          <p:cNvPr id="8" name="Text 6"/>
          <p:cNvSpPr txBox="1"/>
          <p:nvPr/>
        </p:nvSpPr>
        <p:spPr>
          <a:xfrm>
            <a:off x="731520" y="1353312"/>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يَـٰأَيُّهَا الَّذِينَ ءَامَنُواْ إِن جَآءَكُمْ فَاسِقٌ بِنَبَإٍ فَتَبَيَّنُواْ أَن تُصِيبُواْ قَوْمًا بِجَهَٰلَةٍ فَتُصْبِحُواْ عَلَىٰ مَا فَعَلْتُمْ نَٰدِمِينَ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يا أيها المؤمنون، إن جاءكم فاسق بخبر فتثبّتوا منه، لئلا تصيبوا قومًا بأذى وأنتم جاهلون بحقيقة أمرهم، فتندموا على ما فعلتم.</a:t>
            </a:r>
            <a:endParaRPr lang="ar-SA" sz="3200" dirty="0"/>
          </a:p>
        </p:txBody>
      </p:sp>
      <p:sp>
        <p:nvSpPr>
          <p:cNvPr id="9" name="Shape 7"/>
          <p:cNvSpPr/>
          <p:nvPr/>
        </p:nvSpPr>
        <p:spPr>
          <a:xfrm>
            <a:off x="2103120" y="3374136"/>
            <a:ext cx="8641080" cy="0"/>
          </a:xfrm>
          <a:prstGeom prst="line">
            <a:avLst/>
          </a:prstGeom>
          <a:noFill/>
          <a:ln w="9525">
            <a:solidFill>
              <a:schemeClr val="accent2"/>
            </a:solidFill>
            <a:prstDash val="dash"/>
          </a:ln>
        </p:spPr>
      </p:sp>
      <p:sp>
        <p:nvSpPr>
          <p:cNvPr id="10" name="Shape 8"/>
          <p:cNvSpPr/>
          <p:nvPr/>
        </p:nvSpPr>
        <p:spPr>
          <a:xfrm>
            <a:off x="10927080" y="3547872"/>
            <a:ext cx="548640" cy="548640"/>
          </a:xfrm>
          <a:prstGeom prst="star8">
            <a:avLst/>
          </a:prstGeom>
          <a:solidFill>
            <a:schemeClr val="accent2"/>
          </a:solidFill>
          <a:ln/>
        </p:spPr>
      </p:sp>
      <p:sp>
        <p:nvSpPr>
          <p:cNvPr id="11" name="Shape 9"/>
          <p:cNvSpPr/>
          <p:nvPr/>
        </p:nvSpPr>
        <p:spPr>
          <a:xfrm>
            <a:off x="11036808" y="3657600"/>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5478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a:t>
            </a:r>
            <a:endParaRPr lang="ar-SA" sz="1600" dirty="0"/>
          </a:p>
        </p:txBody>
      </p:sp>
      <p:sp>
        <p:nvSpPr>
          <p:cNvPr id="13" name="Text 11"/>
          <p:cNvSpPr txBox="1"/>
          <p:nvPr/>
        </p:nvSpPr>
        <p:spPr>
          <a:xfrm>
            <a:off x="731520" y="3529584"/>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وَاعْلَمُواْ أَنَّ فِيكُمْ رَسُولَ اللَّهِ لَوْ يُطِيعُكُمْ فِي كَثِيرٍ مِّنَ الْأَمْرِ لَعَنِتُّمْ وَلَٰكِنَّ اللَّهَ حَبَّبَ إِلَيْكُمُ الْإِيمَٰنَ وَزَيَّنَهُ فِي قُلُوبِكُمْ وَكَرَّهَ إِلَيْكُمُ الْكُفْرَ وَالْفُسُوقَ وَالْعِصْيَانَ أُوْلَـٰئِكَ هُمُ الرَّـٰشِدُونَ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واعلموا أن فيكم رسول الله، لو يطيعكم في كثير من آرائكم لوقعتم في المشقة، ولكن الله حبّب إليكم الإيمان وزيّنه في قلوبكم، وكرّه إليكم الكفر والفسوق والعصيان، أولئك هم الراشدون.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الحجرات</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٨ – ٩</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46504"/>
            <a:ext cx="548640" cy="548640"/>
          </a:xfrm>
          <a:prstGeom prst="star8">
            <a:avLst/>
          </a:prstGeom>
          <a:solidFill>
            <a:schemeClr val="accent2"/>
          </a:solidFill>
          <a:ln/>
        </p:spPr>
      </p:sp>
      <p:sp>
        <p:nvSpPr>
          <p:cNvPr id="6" name="Shape 4"/>
          <p:cNvSpPr/>
          <p:nvPr/>
        </p:nvSpPr>
        <p:spPr>
          <a:xfrm>
            <a:off x="11036808" y="18562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465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a:t>
            </a:r>
            <a:endParaRPr lang="ar-SA" sz="1600" dirty="0"/>
          </a:p>
        </p:txBody>
      </p:sp>
      <p:sp>
        <p:nvSpPr>
          <p:cNvPr id="8" name="Text 6"/>
          <p:cNvSpPr txBox="1"/>
          <p:nvPr/>
        </p:nvSpPr>
        <p:spPr>
          <a:xfrm>
            <a:off x="731520" y="172821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فَضْلًا مِّنَ اللَّهِ وَنِعْمَةً وَاللَّهُ عَلِيمٌ حَكِيمٌ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ذلك فضل من الله ونعمة، والله عليم حكيم.</a:t>
            </a:r>
            <a:endParaRPr lang="ar-SA" sz="3200" dirty="0"/>
          </a:p>
        </p:txBody>
      </p:sp>
      <p:sp>
        <p:nvSpPr>
          <p:cNvPr id="9" name="Shape 7"/>
          <p:cNvSpPr/>
          <p:nvPr/>
        </p:nvSpPr>
        <p:spPr>
          <a:xfrm>
            <a:off x="2103120" y="2912364"/>
            <a:ext cx="8641080" cy="0"/>
          </a:xfrm>
          <a:prstGeom prst="line">
            <a:avLst/>
          </a:prstGeom>
          <a:noFill/>
          <a:ln w="9525">
            <a:solidFill>
              <a:schemeClr val="accent2"/>
            </a:solidFill>
            <a:prstDash val="dash"/>
          </a:ln>
        </p:spPr>
      </p:sp>
      <p:sp>
        <p:nvSpPr>
          <p:cNvPr id="10" name="Shape 8"/>
          <p:cNvSpPr/>
          <p:nvPr/>
        </p:nvSpPr>
        <p:spPr>
          <a:xfrm>
            <a:off x="10927080" y="3172968"/>
            <a:ext cx="548640" cy="548640"/>
          </a:xfrm>
          <a:prstGeom prst="star8">
            <a:avLst/>
          </a:prstGeom>
          <a:solidFill>
            <a:schemeClr val="accent2"/>
          </a:solidFill>
          <a:ln/>
        </p:spPr>
      </p:sp>
      <p:sp>
        <p:nvSpPr>
          <p:cNvPr id="11" name="Shape 9"/>
          <p:cNvSpPr/>
          <p:nvPr/>
        </p:nvSpPr>
        <p:spPr>
          <a:xfrm>
            <a:off x="11036808" y="328269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17296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a:t>
            </a:r>
            <a:endParaRPr lang="ar-SA" sz="1600" dirty="0"/>
          </a:p>
        </p:txBody>
      </p:sp>
      <p:sp>
        <p:nvSpPr>
          <p:cNvPr id="13" name="Text 11"/>
          <p:cNvSpPr txBox="1"/>
          <p:nvPr/>
        </p:nvSpPr>
        <p:spPr>
          <a:xfrm>
            <a:off x="731520" y="3154680"/>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وَإِن طَآئِفَتَانِ مِنَ الْمُؤْمِنِينَ اقْتَتَلُواْ فَأَصْلِحُواْ بَيْنَهُمَا فَإِن بَغَتْ إِحْدَىٰهُمَا عَلَى الْأُخْرَىٰ فَقَٰتِلُواْ الَّتِي تَبْغِي حَتَّىٰ تَفِيءَ إِلَىٰ أَمْرِ اللَّهِ فَإِن فَآءَتْ فَأَصْلِحُواْ بَيْنَهُمَا بِالْعَدْلِ وَأَقْسِطُواْ إِنَّ اللَّهَ يُحِبُّ الْمُقْسِطِينَ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وإن تقاتلت جماعتان من المؤمنين فأصلحوا بينهما، فإن اعتدت إحداهما على الأخرى فقاتلوا المعتدية حتى ترجع إلى حكم الله، فإن رجعت فأصلحوا بينهما بالعدل، إن الله يحب العادلين.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الحجرات</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١٠ – ١١</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56182"/>
            <a:ext cx="548640" cy="548640"/>
          </a:xfrm>
          <a:prstGeom prst="star8">
            <a:avLst/>
          </a:prstGeom>
          <a:solidFill>
            <a:schemeClr val="accent2"/>
          </a:solidFill>
          <a:ln/>
        </p:spPr>
      </p:sp>
      <p:sp>
        <p:nvSpPr>
          <p:cNvPr id="6" name="Shape 4"/>
          <p:cNvSpPr/>
          <p:nvPr/>
        </p:nvSpPr>
        <p:spPr>
          <a:xfrm>
            <a:off x="11036808" y="156591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5618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١٠</a:t>
            </a:r>
            <a:endParaRPr lang="ar-SA" sz="1600" dirty="0"/>
          </a:p>
        </p:txBody>
      </p:sp>
      <p:sp>
        <p:nvSpPr>
          <p:cNvPr id="8" name="Text 6"/>
          <p:cNvSpPr txBox="1"/>
          <p:nvPr/>
        </p:nvSpPr>
        <p:spPr>
          <a:xfrm>
            <a:off x="731520" y="143789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إِنَّمَا الْمُؤْمِنُونَ إِخْوَةٌ فَأَصْلِحُواْ بَيْنَ أَخَوَيْكُمْ وَاتَّقُواْ اللَّهَ لَعَلَّكُمْ تُرْحَمُونَ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إنما المؤمنون إخوة في الدين، فأصلحوا بين أخويكم إذا اختلفا، واتقوا الله لعلكم تُرحمون.</a:t>
            </a:r>
            <a:endParaRPr lang="ar-SA" sz="3200" dirty="0"/>
          </a:p>
        </p:txBody>
      </p:sp>
      <p:sp>
        <p:nvSpPr>
          <p:cNvPr id="9" name="Shape 7"/>
          <p:cNvSpPr/>
          <p:nvPr/>
        </p:nvSpPr>
        <p:spPr>
          <a:xfrm>
            <a:off x="2103120" y="2619756"/>
            <a:ext cx="8641080" cy="0"/>
          </a:xfrm>
          <a:prstGeom prst="line">
            <a:avLst/>
          </a:prstGeom>
          <a:noFill/>
          <a:ln w="9525">
            <a:solidFill>
              <a:schemeClr val="accent2"/>
            </a:solidFill>
            <a:prstDash val="dash"/>
          </a:ln>
        </p:spPr>
      </p:sp>
      <p:sp>
        <p:nvSpPr>
          <p:cNvPr id="10" name="Shape 8"/>
          <p:cNvSpPr/>
          <p:nvPr/>
        </p:nvSpPr>
        <p:spPr>
          <a:xfrm>
            <a:off x="10927080" y="2878074"/>
            <a:ext cx="548640" cy="548640"/>
          </a:xfrm>
          <a:prstGeom prst="star8">
            <a:avLst/>
          </a:prstGeom>
          <a:solidFill>
            <a:schemeClr val="accent2"/>
          </a:solidFill>
          <a:ln/>
        </p:spPr>
      </p:sp>
      <p:sp>
        <p:nvSpPr>
          <p:cNvPr id="11" name="Shape 9"/>
          <p:cNvSpPr/>
          <p:nvPr/>
        </p:nvSpPr>
        <p:spPr>
          <a:xfrm>
            <a:off x="11036808" y="298780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87807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١١</a:t>
            </a:r>
            <a:endParaRPr lang="ar-SA" sz="1600" dirty="0"/>
          </a:p>
        </p:txBody>
      </p:sp>
      <p:sp>
        <p:nvSpPr>
          <p:cNvPr id="13" name="Text 11"/>
          <p:cNvSpPr txBox="1"/>
          <p:nvPr/>
        </p:nvSpPr>
        <p:spPr>
          <a:xfrm>
            <a:off x="731520" y="2859786"/>
            <a:ext cx="10012680" cy="306324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يَـٰأَيُّهَا الَّذِينَ ءَامَنُواْ لَا يَسْخَرْ قَوْمٌ مِّن قَوْمٍ عَسَىٰ أَن يَكُونُواْ خَيْرًا مِّنْهُمْ وَلَا نِسَآءٌ مِّن نِّسَآءٍ عَسَىٰ أَن يَكُنَّ خَيْرًا مِّنْهُنَّ وَلَا تَلْمِزُواْ أَنفُسَكُمْ وَلَا تَنَابَزُواْ بِالْأَلْقَٰبِ بِئْسَ الِاسْمُ الْفُسُوقُ بَعْدَ الْإِيمَٰنِ وَمَن لَّمْ يَتُبْ فَأُوْلَـٰئِكَ هُمُ الظَّـٰلِمُونَ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يا أيها المؤمنون، لا يسخر بعضكم من بعض، فعسى أن يكون المسخور منه خيرًا عند الله، ولا يعِب بعضكم بعضًا، ولا تنادوا بالألقاب المكروهة، ومن لم يتب فأولئك هم الظالمون.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الحجرات</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١٢ – ١٣</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71600"/>
            <a:ext cx="548640" cy="548640"/>
          </a:xfrm>
          <a:prstGeom prst="star8">
            <a:avLst/>
          </a:prstGeom>
          <a:solidFill>
            <a:schemeClr val="accent2"/>
          </a:solidFill>
          <a:ln/>
        </p:spPr>
      </p:sp>
      <p:sp>
        <p:nvSpPr>
          <p:cNvPr id="6" name="Shape 4"/>
          <p:cNvSpPr/>
          <p:nvPr/>
        </p:nvSpPr>
        <p:spPr>
          <a:xfrm>
            <a:off x="11036808" y="148132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7160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١٢</a:t>
            </a:r>
            <a:endParaRPr lang="ar-SA" sz="1600" dirty="0"/>
          </a:p>
        </p:txBody>
      </p:sp>
      <p:sp>
        <p:nvSpPr>
          <p:cNvPr id="8" name="Text 6"/>
          <p:cNvSpPr txBox="1"/>
          <p:nvPr/>
        </p:nvSpPr>
        <p:spPr>
          <a:xfrm>
            <a:off x="731520" y="1353312"/>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يَـٰأَيُّهَا الَّذِينَ ءَامَنُواْ اجْتَنِبُواْ كَثِيرًا مِّنَ الظَّنِّ إِنَّ بَعْضَ الظَّنِّ إِثْمٌ وَلَا تَجَسَّسُواْ وَلَا يَغْتَب بَّعْضُكُم بَعْضًا أَيُحِبُّ أَحَدُكُمْ أَن يَأْكُلَ لَحْمَ أَخِيهِ مَيْتًا فَكَرِهْتُمُوهُ وَاتَّقُواْ اللَّهَ إِنَّ اللَّهَ تَوَّابٌ رَّحِيمٌ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يا أيها المؤمنون، ابتعدوا عن كثير من الظن السيئ بالناس، إن بعضه إثم، ولا تتجسّسوا على عورات المسلمين، ولا يغتب بعضكم بعضًا، أيحب أحدكم أن يأكل لحم أخيه ميتًا؟ فكرهتموه، فاكرهوا الغيبة.</a:t>
            </a:r>
            <a:endParaRPr lang="ar-SA" sz="3200" dirty="0"/>
          </a:p>
        </p:txBody>
      </p:sp>
      <p:sp>
        <p:nvSpPr>
          <p:cNvPr id="9" name="Shape 7"/>
          <p:cNvSpPr/>
          <p:nvPr/>
        </p:nvSpPr>
        <p:spPr>
          <a:xfrm>
            <a:off x="2103120" y="3959352"/>
            <a:ext cx="8641080" cy="0"/>
          </a:xfrm>
          <a:prstGeom prst="line">
            <a:avLst/>
          </a:prstGeom>
          <a:noFill/>
          <a:ln w="9525">
            <a:solidFill>
              <a:schemeClr val="accent2"/>
            </a:solidFill>
            <a:prstDash val="dash"/>
          </a:ln>
        </p:spPr>
      </p:sp>
      <p:sp>
        <p:nvSpPr>
          <p:cNvPr id="10" name="Shape 8"/>
          <p:cNvSpPr/>
          <p:nvPr/>
        </p:nvSpPr>
        <p:spPr>
          <a:xfrm>
            <a:off x="10927080" y="4133088"/>
            <a:ext cx="548640" cy="548640"/>
          </a:xfrm>
          <a:prstGeom prst="star8">
            <a:avLst/>
          </a:prstGeom>
          <a:solidFill>
            <a:schemeClr val="accent2"/>
          </a:solidFill>
          <a:ln/>
        </p:spPr>
      </p:sp>
      <p:sp>
        <p:nvSpPr>
          <p:cNvPr id="11" name="Shape 9"/>
          <p:cNvSpPr/>
          <p:nvPr/>
        </p:nvSpPr>
        <p:spPr>
          <a:xfrm>
            <a:off x="11036808" y="424281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13308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١٣</a:t>
            </a:r>
            <a:endParaRPr lang="ar-SA" sz="1600" dirty="0"/>
          </a:p>
        </p:txBody>
      </p:sp>
      <p:sp>
        <p:nvSpPr>
          <p:cNvPr id="13" name="Text 11"/>
          <p:cNvSpPr txBox="1"/>
          <p:nvPr/>
        </p:nvSpPr>
        <p:spPr>
          <a:xfrm>
            <a:off x="731520" y="4114800"/>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يَـٰأَيُّهَا النَّاسُ إِنَّا خَلَقْنَٰكُم مِّن ذَكَرٍ وَأُنثَىٰ وَجَعَلْنَٰكُمْ شُعُوبًا وَقَبَآئِلَ لِتَعَارَفُواْ إِنَّ أَكْرَمَكُمْ عِندَ اللَّهِ أَتْقَىٰكُمْ إِنَّ اللَّهَ عَلِيمٌ خَبِيرٌ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يا أيها الناس، إنا خلقناكم من أب واحد وأم واحدة، وجعلناكم شعوبًا وقبائل ليعرف بعضكم بعضًا، إن أكرمكم عند الله أتقاكم، لا أكثركم مالًا ولا نسبًا.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الحجرات</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١٤ – ١٥</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577340"/>
            <a:ext cx="548640" cy="548640"/>
          </a:xfrm>
          <a:prstGeom prst="star8">
            <a:avLst/>
          </a:prstGeom>
          <a:solidFill>
            <a:schemeClr val="accent2"/>
          </a:solidFill>
          <a:ln/>
        </p:spPr>
      </p:sp>
      <p:sp>
        <p:nvSpPr>
          <p:cNvPr id="6" name="Shape 4"/>
          <p:cNvSpPr/>
          <p:nvPr/>
        </p:nvSpPr>
        <p:spPr>
          <a:xfrm>
            <a:off x="11036808" y="168706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57734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١٤</a:t>
            </a:r>
            <a:endParaRPr lang="ar-SA" sz="1600" dirty="0"/>
          </a:p>
        </p:txBody>
      </p:sp>
      <p:sp>
        <p:nvSpPr>
          <p:cNvPr id="8" name="Text 6"/>
          <p:cNvSpPr txBox="1"/>
          <p:nvPr/>
        </p:nvSpPr>
        <p:spPr>
          <a:xfrm>
            <a:off x="731520" y="1559052"/>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قَالَتِ الْأَعْرَابُ ءَامَنَّا قُل لَّمْ تُؤْمِنُواْ وَلَٰكِن قُولُواْ أَسْلَمْنَا وَلَمَّا يَدْخُلِ الْإِيمَٰنُ فِي قُلُوبِكُمْ وَإِن تُطِيعُواْ اللَّهَ وَرَسُولَهُ لَا يَلِتْكُم مِّنْ أَعْمَٰلِكُمْ شَيْـًٔا إِنَّ اللَّهَ غَفُورٌ رَّحِيمٌ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قالت بعض الأعراب: آمنّا، قل: لم تؤمنوا الإيمان الكامل، ولكن قولوا: أسلمنا، ولمّا يدخل الإيمان في قلوبكم بعد، وإن تطيعوا الله ورسوله لا ينقصكم من أجر أعمالكم شيئًا.</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١٥</a:t>
            </a:r>
            <a:endParaRPr lang="ar-SA" sz="1600" dirty="0"/>
          </a:p>
        </p:txBody>
      </p:sp>
      <p:sp>
        <p:nvSpPr>
          <p:cNvPr id="13" name="Text 11"/>
          <p:cNvSpPr txBox="1"/>
          <p:nvPr/>
        </p:nvSpPr>
        <p:spPr>
          <a:xfrm>
            <a:off x="731520" y="3909060"/>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إِنَّمَا الْمُؤْمِنُونَ الَّذِينَ ءَامَنُواْ بِاللَّهِ وَرَسُولِهِ ثُمَّ لَمْ يَرْتَابُواْ وَجَٰهَدُواْ بِأَمْوَٰلِهِمْ وَأَنفُسِهِمْ فِي سَبِيلِ اللَّهِ أُوْلَـٰئِكَ هُمُ الصَّـٰدِقُونَ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إنما المؤمنون الصادقون الذين آمنوا بالله ورسوله ثم لم يشكّوا، وجاهدوا بأموالهم وأنفسهم في سبيل الله، أولئك هم الصادقون.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الحجرات</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١٦ – ١٨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73124"/>
            <a:ext cx="548640" cy="548640"/>
          </a:xfrm>
          <a:prstGeom prst="star8">
            <a:avLst/>
          </a:prstGeom>
          <a:solidFill>
            <a:schemeClr val="accent2"/>
          </a:solidFill>
          <a:ln/>
        </p:spPr>
      </p:sp>
      <p:sp>
        <p:nvSpPr>
          <p:cNvPr id="6" name="Shape 4"/>
          <p:cNvSpPr/>
          <p:nvPr/>
        </p:nvSpPr>
        <p:spPr>
          <a:xfrm>
            <a:off x="11036808" y="148285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7312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١٦</a:t>
            </a:r>
            <a:endParaRPr lang="ar-SA" sz="1600" dirty="0"/>
          </a:p>
        </p:txBody>
      </p:sp>
      <p:sp>
        <p:nvSpPr>
          <p:cNvPr id="8" name="Text 6"/>
          <p:cNvSpPr txBox="1"/>
          <p:nvPr/>
        </p:nvSpPr>
        <p:spPr>
          <a:xfrm>
            <a:off x="731520" y="1354836"/>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قُلْ أَتُعَلِّمُونَ اللَّهَ بِدِينِكُمْ وَاللَّهُ يَعْلَمُ مَا فِي السَّمَٰوَٰتِ وَمَا فِي الْأَرْضِ وَاللَّهُ بِكُلِّ شَيْءٍ عَلِيمٌ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قل: أتُخبرون الله بدينكم؟ والله يعلم ما في السماوات وما في الأرض، والله بكل شيء عليم.</a:t>
            </a:r>
            <a:endParaRPr lang="ar-SA" sz="3200" dirty="0"/>
          </a:p>
        </p:txBody>
      </p:sp>
      <p:sp>
        <p:nvSpPr>
          <p:cNvPr id="9" name="Shape 7"/>
          <p:cNvSpPr/>
          <p:nvPr/>
        </p:nvSpPr>
        <p:spPr>
          <a:xfrm>
            <a:off x="2103120" y="3038856"/>
            <a:ext cx="8641080" cy="0"/>
          </a:xfrm>
          <a:prstGeom prst="line">
            <a:avLst/>
          </a:prstGeom>
          <a:noFill/>
          <a:ln w="9525">
            <a:solidFill>
              <a:schemeClr val="accent2"/>
            </a:solidFill>
            <a:prstDash val="dash"/>
          </a:ln>
        </p:spPr>
      </p:sp>
      <p:sp>
        <p:nvSpPr>
          <p:cNvPr id="10" name="Shape 8"/>
          <p:cNvSpPr/>
          <p:nvPr/>
        </p:nvSpPr>
        <p:spPr>
          <a:xfrm>
            <a:off x="10927080" y="3214116"/>
            <a:ext cx="548640" cy="548640"/>
          </a:xfrm>
          <a:prstGeom prst="star8">
            <a:avLst/>
          </a:prstGeom>
          <a:solidFill>
            <a:schemeClr val="accent2"/>
          </a:solidFill>
          <a:ln/>
        </p:spPr>
      </p:sp>
      <p:sp>
        <p:nvSpPr>
          <p:cNvPr id="11" name="Shape 9"/>
          <p:cNvSpPr/>
          <p:nvPr/>
        </p:nvSpPr>
        <p:spPr>
          <a:xfrm>
            <a:off x="11036808" y="332384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2141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١٧</a:t>
            </a:r>
            <a:endParaRPr lang="ar-SA" sz="1600" dirty="0"/>
          </a:p>
        </p:txBody>
      </p:sp>
      <p:sp>
        <p:nvSpPr>
          <p:cNvPr id="13" name="Text 11"/>
          <p:cNvSpPr txBox="1"/>
          <p:nvPr/>
        </p:nvSpPr>
        <p:spPr>
          <a:xfrm>
            <a:off x="731520" y="3195828"/>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يَمُنُّونَ عَلَيْكَ أَنْ أَسْلَمُواْ قُل لَّا تَمُنُّواْ عَلَيَّ إِسْلَٰمَكُم بَلِ اللَّهُ يَمُنُّ عَلَيْكُمْ أَنْ هَدَىٰكُمْ لِلْإِيمَٰنِ إِن كُنتُمْ صَٰدِقِينَ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يمنّون عليك أن أسلموا، قل: لا تمنّوا عليّ إسلامكم، بل الله يمنّ عليكم أن هداكم للإيمان إن كنتم صادقين.</a:t>
            </a:r>
            <a:endParaRPr lang="ar-SA" sz="3200" dirty="0"/>
          </a:p>
        </p:txBody>
      </p:sp>
      <p:sp>
        <p:nvSpPr>
          <p:cNvPr id="14" name="Shape 12"/>
          <p:cNvSpPr/>
          <p:nvPr/>
        </p:nvSpPr>
        <p:spPr>
          <a:xfrm>
            <a:off x="2103120" y="4879848"/>
            <a:ext cx="8641080" cy="0"/>
          </a:xfrm>
          <a:prstGeom prst="line">
            <a:avLst/>
          </a:prstGeom>
          <a:noFill/>
          <a:ln w="9525">
            <a:solidFill>
              <a:schemeClr val="accent2"/>
            </a:solidFill>
            <a:prstDash val="dash"/>
          </a:ln>
        </p:spPr>
      </p:sp>
      <p:sp>
        <p:nvSpPr>
          <p:cNvPr id="15" name="Shape 13"/>
          <p:cNvSpPr/>
          <p:nvPr/>
        </p:nvSpPr>
        <p:spPr>
          <a:xfrm>
            <a:off x="10927080" y="5055108"/>
            <a:ext cx="548640" cy="548640"/>
          </a:xfrm>
          <a:prstGeom prst="star8">
            <a:avLst/>
          </a:prstGeom>
          <a:solidFill>
            <a:schemeClr val="accent2"/>
          </a:solidFill>
          <a:ln/>
        </p:spPr>
      </p:sp>
      <p:sp>
        <p:nvSpPr>
          <p:cNvPr id="16" name="Shape 14"/>
          <p:cNvSpPr/>
          <p:nvPr/>
        </p:nvSpPr>
        <p:spPr>
          <a:xfrm>
            <a:off x="11036808" y="5164836"/>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505510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١٨</a:t>
            </a:r>
            <a:endParaRPr lang="ar-SA" sz="1600" dirty="0"/>
          </a:p>
        </p:txBody>
      </p:sp>
      <p:sp>
        <p:nvSpPr>
          <p:cNvPr id="18" name="Text 16"/>
          <p:cNvSpPr txBox="1"/>
          <p:nvPr/>
        </p:nvSpPr>
        <p:spPr>
          <a:xfrm>
            <a:off x="731520" y="503682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اللَّهَ يَعْلَمُ غَيْبَ السَّمَٰوَٰتِ وَالْأَرْضِ وَاللَّهُ بَصِيرٌ بِمَا تَعْمَلُونَ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 الله يعلم ما غاب في السماوات والأرض، والله بصير بأعمالكم.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1" type="title" hasCustomPrompt="1"/>
          </p:nvPr>
        </p:nvSpPr>
        <p:spPr>
          <a:xfrm>
            <a:off x="3626968" y="603504"/>
            <a:ext cx="4937760" cy="987552"/>
          </a:xfrm>
          <a:prstGeom prst="rect">
            <a:avLst/>
          </a:prstGeom>
          <a:noFill/>
          <a:ln/>
        </p:spPr>
        <p:txBody>
          <a:bodyPr wrap="square" lIns="0" tIns="0" rIns="0" bIns="0" rtlCol="0" anchor="ctr"/>
          <a:lstStyle/>
          <a:p>
            <a:pPr rtl="1" algn="ctr" indent="0" marL="0">
              <a:buNone/>
            </a:pPr>
            <a:r>
              <a:rPr lang="en-US" sz="4800" b="1" dirty="0">
                <a:solidFill>
                  <a:schemeClr val="accent2"/>
                </a:solidFill>
                <a:latin typeface="Sakkal Majalla" pitchFamily="34" charset="0"/>
                <a:ea typeface="Sakkal Majalla" pitchFamily="34" charset="-122"/>
                <a:cs typeface="Sakkal Majalla" pitchFamily="34" charset="-120"/>
              </a:rPr>
              <a:t>سورة الفتح</a:t>
            </a:r>
            <a:endParaRPr lang="en-US" sz="4800" dirty="0"/>
          </a:p>
        </p:txBody>
      </p:sp>
      <p:sp>
        <p:nvSpPr>
          <p:cNvPr id="3" name="Shape 1"/>
          <p:cNvSpPr/>
          <p:nvPr/>
        </p:nvSpPr>
        <p:spPr>
          <a:xfrm>
            <a:off x="7833208" y="1828800"/>
            <a:ext cx="310896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783320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عدد آياتها: ٢٩</a:t>
            </a:r>
            <a:endParaRPr lang="ar-SA" sz="1600" dirty="0"/>
          </a:p>
        </p:txBody>
      </p:sp>
      <p:sp>
        <p:nvSpPr>
          <p:cNvPr id="5" name="Shape 3"/>
          <p:cNvSpPr/>
          <p:nvPr/>
        </p:nvSpPr>
        <p:spPr>
          <a:xfrm>
            <a:off x="4541368" y="1828800"/>
            <a:ext cx="310896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مدنية</a:t>
            </a:r>
            <a:endParaRPr lang="ar-SA" sz="1600" dirty="0"/>
          </a:p>
        </p:txBody>
      </p:sp>
      <p:sp>
        <p:nvSpPr>
          <p:cNvPr id="7" name="Shape 5"/>
          <p:cNvSpPr/>
          <p:nvPr/>
        </p:nvSpPr>
        <p:spPr>
          <a:xfrm>
            <a:off x="1249528" y="1828800"/>
            <a:ext cx="310896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124952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ترتيبها في المصحف: ٤٨</a:t>
            </a:r>
            <a:endParaRPr lang="ar-SA" sz="1600" dirty="0"/>
          </a:p>
        </p:txBody>
      </p:sp>
      <p:sp>
        <p:nvSpPr>
          <p:cNvPr id="9" name="Shape 7"/>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7810348" y="2651760"/>
            <a:ext cx="219456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781034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سبب النزول</a:t>
            </a:r>
            <a:endParaRPr lang="ar-SA" sz="1800" dirty="0"/>
          </a:p>
        </p:txBody>
      </p:sp>
      <p:sp>
        <p:nvSpPr>
          <p:cNvPr id="12" name="Text 10"/>
          <p:cNvSpPr txBox="1"/>
          <p:nvPr/>
        </p:nvSpPr>
        <p:spPr>
          <a:xfrm>
            <a:off x="659876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نزلت بعد صلح الحديبية والنبي صلى الله عليه وسلم راجع إلى المدينة، فقال: «لقد أُنزلت عليّ الليلة سورة لهي أحبّ إليّ مما طلعت عليه الشمس»، ثم قرأ: ﴿إنا فتحنا لك فتحًا مبينًا﴾ (رواه البخاري).</a:t>
            </a:r>
            <a:endParaRPr lang="ar-SA" sz="1800" dirty="0"/>
          </a:p>
        </p:txBody>
      </p:sp>
      <p:sp>
        <p:nvSpPr>
          <p:cNvPr id="13" name="Shape 11"/>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2186788" y="2651760"/>
            <a:ext cx="219456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218678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مقصد السورة</a:t>
            </a:r>
            <a:endParaRPr lang="ar-SA" sz="1800" dirty="0"/>
          </a:p>
        </p:txBody>
      </p:sp>
      <p:sp>
        <p:nvSpPr>
          <p:cNvPr id="16" name="Text 14"/>
          <p:cNvSpPr txBox="1"/>
          <p:nvPr/>
        </p:nvSpPr>
        <p:spPr>
          <a:xfrm>
            <a:off x="97520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البشارة بالفتح بعد صلح الحديبية، وفضل بيعة الرضوان، وكشف المنافقين المتخلّفين، ووصف النبي صلى الله عليه وسلم وأصحابه.</a:t>
            </a:r>
            <a:endParaRPr lang="ar-SA" sz="18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الفتح</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 – ٣</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95044"/>
            <a:ext cx="548640" cy="548640"/>
          </a:xfrm>
          <a:prstGeom prst="star8">
            <a:avLst/>
          </a:prstGeom>
          <a:solidFill>
            <a:schemeClr val="accent2"/>
          </a:solidFill>
          <a:ln/>
        </p:spPr>
      </p:sp>
      <p:sp>
        <p:nvSpPr>
          <p:cNvPr id="6" name="Shape 4"/>
          <p:cNvSpPr/>
          <p:nvPr/>
        </p:nvSpPr>
        <p:spPr>
          <a:xfrm>
            <a:off x="11036808" y="16047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950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a:t>
            </a:r>
            <a:endParaRPr lang="ar-SA" sz="1600" dirty="0"/>
          </a:p>
        </p:txBody>
      </p:sp>
      <p:sp>
        <p:nvSpPr>
          <p:cNvPr id="8" name="Text 6"/>
          <p:cNvSpPr txBox="1"/>
          <p:nvPr/>
        </p:nvSpPr>
        <p:spPr>
          <a:xfrm>
            <a:off x="731520" y="147675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إِنَّا فَتَحْنَا لَكَ فَتْحًا مُّبِينًا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إنا فتحنا لك يا محمد فتحًا واضحًا، وهو صلح الحديبية الذي كان سببًا لخير عظيم.</a:t>
            </a:r>
            <a:endParaRPr lang="ar-SA" sz="3200" dirty="0"/>
          </a:p>
        </p:txBody>
      </p:sp>
      <p:sp>
        <p:nvSpPr>
          <p:cNvPr id="9" name="Shape 7"/>
          <p:cNvSpPr/>
          <p:nvPr/>
        </p:nvSpPr>
        <p:spPr>
          <a:xfrm>
            <a:off x="2103120" y="2660904"/>
            <a:ext cx="8641080" cy="0"/>
          </a:xfrm>
          <a:prstGeom prst="line">
            <a:avLst/>
          </a:prstGeom>
          <a:noFill/>
          <a:ln w="9525">
            <a:solidFill>
              <a:schemeClr val="accent2"/>
            </a:solidFill>
            <a:prstDash val="dash"/>
          </a:ln>
        </p:spPr>
      </p:sp>
      <p:sp>
        <p:nvSpPr>
          <p:cNvPr id="10" name="Shape 8"/>
          <p:cNvSpPr/>
          <p:nvPr/>
        </p:nvSpPr>
        <p:spPr>
          <a:xfrm>
            <a:off x="10927080" y="2921508"/>
            <a:ext cx="548640" cy="548640"/>
          </a:xfrm>
          <a:prstGeom prst="star8">
            <a:avLst/>
          </a:prstGeom>
          <a:solidFill>
            <a:schemeClr val="accent2"/>
          </a:solidFill>
          <a:ln/>
        </p:spPr>
      </p:sp>
      <p:sp>
        <p:nvSpPr>
          <p:cNvPr id="11" name="Shape 9"/>
          <p:cNvSpPr/>
          <p:nvPr/>
        </p:nvSpPr>
        <p:spPr>
          <a:xfrm>
            <a:off x="11036808" y="303123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92150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a:t>
            </a:r>
            <a:endParaRPr lang="ar-SA" sz="1600" dirty="0"/>
          </a:p>
        </p:txBody>
      </p:sp>
      <p:sp>
        <p:nvSpPr>
          <p:cNvPr id="13" name="Text 11"/>
          <p:cNvSpPr txBox="1"/>
          <p:nvPr/>
        </p:nvSpPr>
        <p:spPr>
          <a:xfrm>
            <a:off x="731520" y="2903220"/>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لِّيَغْفِرَ لَكَ اللَّهُ مَا تَقَدَّمَ مِن ذَنبِكَ وَمَا تَأَخَّرَ وَيُتِمَّ نِعْمَتَهُ عَلَيْكَ وَيَهْدِيَكَ صِرَٰطًا مُّسْتَقِيمًا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ليغفر لك الله ما تقدّم من ذنبك وما تأخّر، ويتمّ نعمته عليك، ويهديك طريقًا مستقيمًا.</a:t>
            </a:r>
            <a:endParaRPr lang="ar-SA" sz="3200" dirty="0"/>
          </a:p>
        </p:txBody>
      </p:sp>
      <p:sp>
        <p:nvSpPr>
          <p:cNvPr id="14" name="Shape 12"/>
          <p:cNvSpPr/>
          <p:nvPr/>
        </p:nvSpPr>
        <p:spPr>
          <a:xfrm>
            <a:off x="2103120" y="4672584"/>
            <a:ext cx="8641080" cy="0"/>
          </a:xfrm>
          <a:prstGeom prst="line">
            <a:avLst/>
          </a:prstGeom>
          <a:noFill/>
          <a:ln w="9525">
            <a:solidFill>
              <a:schemeClr val="accent2"/>
            </a:solidFill>
            <a:prstDash val="dash"/>
          </a:ln>
        </p:spPr>
      </p:sp>
      <p:sp>
        <p:nvSpPr>
          <p:cNvPr id="15" name="Shape 13"/>
          <p:cNvSpPr/>
          <p:nvPr/>
        </p:nvSpPr>
        <p:spPr>
          <a:xfrm>
            <a:off x="10927080" y="4933188"/>
            <a:ext cx="548640" cy="548640"/>
          </a:xfrm>
          <a:prstGeom prst="star8">
            <a:avLst/>
          </a:prstGeom>
          <a:solidFill>
            <a:schemeClr val="accent2"/>
          </a:solidFill>
          <a:ln/>
        </p:spPr>
      </p:sp>
      <p:sp>
        <p:nvSpPr>
          <p:cNvPr id="16" name="Shape 14"/>
          <p:cNvSpPr/>
          <p:nvPr/>
        </p:nvSpPr>
        <p:spPr>
          <a:xfrm>
            <a:off x="11036808" y="5042916"/>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93318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a:t>
            </a:r>
            <a:endParaRPr lang="ar-SA" sz="1600" dirty="0"/>
          </a:p>
        </p:txBody>
      </p:sp>
      <p:sp>
        <p:nvSpPr>
          <p:cNvPr id="18" name="Text 16"/>
          <p:cNvSpPr txBox="1"/>
          <p:nvPr/>
        </p:nvSpPr>
        <p:spPr>
          <a:xfrm>
            <a:off x="731520" y="491490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وَيَنصُرَكَ اللَّهُ نَصْرًا عَزِيزًا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وينصرك الله نصرًا قويًّا لا ذلّ فيه.</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الفتح</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٤ – ٥</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577340"/>
            <a:ext cx="548640" cy="548640"/>
          </a:xfrm>
          <a:prstGeom prst="star8">
            <a:avLst/>
          </a:prstGeom>
          <a:solidFill>
            <a:schemeClr val="accent2"/>
          </a:solidFill>
          <a:ln/>
        </p:spPr>
      </p:sp>
      <p:sp>
        <p:nvSpPr>
          <p:cNvPr id="6" name="Shape 4"/>
          <p:cNvSpPr/>
          <p:nvPr/>
        </p:nvSpPr>
        <p:spPr>
          <a:xfrm>
            <a:off x="11036808" y="168706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57734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a:t>
            </a:r>
            <a:endParaRPr lang="ar-SA" sz="1600" dirty="0"/>
          </a:p>
        </p:txBody>
      </p:sp>
      <p:sp>
        <p:nvSpPr>
          <p:cNvPr id="8" name="Text 6"/>
          <p:cNvSpPr txBox="1"/>
          <p:nvPr/>
        </p:nvSpPr>
        <p:spPr>
          <a:xfrm>
            <a:off x="731520" y="1559052"/>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هُوَ الَّذِي أَنزَلَ السَّكِينَةَ فِي قُلُوبِ الْمُؤْمِنِينَ لِيَزْدَادُواْ إِيمَٰنًا مَّعَ إِيمَٰنِهِمْ وَلِلَّهِ جُنُودُ السَّمَٰوَٰتِ وَالْأَرْضِ وَكَانَ اللَّهُ عَلِيمًا حَكِيمًا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هو الذي أنزل الطمأنينة في قلوب المؤمنين يوم الحديبية، ليزدادوا إيمانًا مع إيمانهم، ولله جنود السماوات والأرض.</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a:t>
            </a:r>
            <a:endParaRPr lang="ar-SA" sz="1600" dirty="0"/>
          </a:p>
        </p:txBody>
      </p:sp>
      <p:sp>
        <p:nvSpPr>
          <p:cNvPr id="13" name="Text 11"/>
          <p:cNvSpPr txBox="1"/>
          <p:nvPr/>
        </p:nvSpPr>
        <p:spPr>
          <a:xfrm>
            <a:off x="731520" y="3909060"/>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لِّيُدْخِلَ الْمُؤْمِنِينَ وَالْمُؤْمِنَٰتِ جَنَّـٰتٍ تَجْرِي مِن تَحْتِهَا الْأَنْهَٰرُ خَٰلِدِينَ فِيهَا وَيُكَفِّرَ عَنْهُمْ سَيِّـَٔاتِهِمْ وَكَانَ ذَٰلِكَ عِندَ اللَّهِ فَوْزًا عَظِيمًا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ليُدخل المؤمنين والمؤمنات جنات تجري من تحتها الأنهار خالدين فيها، ويمحو عنهم سيئاتهم، وكان ذلك عند الله فوزًا عظيمًا.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الفتح</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٦ – 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14272"/>
            <a:ext cx="548640" cy="548640"/>
          </a:xfrm>
          <a:prstGeom prst="star8">
            <a:avLst/>
          </a:prstGeom>
          <a:solidFill>
            <a:schemeClr val="accent2"/>
          </a:solidFill>
          <a:ln/>
        </p:spPr>
      </p:sp>
      <p:sp>
        <p:nvSpPr>
          <p:cNvPr id="6" name="Shape 4"/>
          <p:cNvSpPr/>
          <p:nvPr/>
        </p:nvSpPr>
        <p:spPr>
          <a:xfrm>
            <a:off x="11036808" y="152400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142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a:t>
            </a:r>
            <a:endParaRPr lang="ar-SA" sz="1600" dirty="0"/>
          </a:p>
        </p:txBody>
      </p:sp>
      <p:sp>
        <p:nvSpPr>
          <p:cNvPr id="8" name="Text 6"/>
          <p:cNvSpPr txBox="1"/>
          <p:nvPr/>
        </p:nvSpPr>
        <p:spPr>
          <a:xfrm>
            <a:off x="731520" y="1395984"/>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وَيُعَذِّبَ الْمُنَٰفِقِينَ وَالْمُنَٰفِقَٰتِ وَالْمُشْرِكِينَ وَالْمُشْرِكَٰتِ الظَّآنِّينَ بِاللَّهِ ظَنَّ السَّوْءِ عَلَيْهِمْ دَآئِرَةُ السَّوْءِ وَغَضِبَ اللَّهُ عَلَيْهِمْ وَلَعَنَهُمْ وَأَعَدَّ لَهُمْ جَهَنَّمَ وَسَآءَتْ مَصِيرًا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ويعذّب المنافقين والمشركين الذين يظنون بالله ظنًا سيئًا: أنه لن ينصر رسوله، عليهم دائرة السوء، وغضب الله عليهم ولعنهم، وأعدّ لهم جهنم.</a:t>
            </a:r>
            <a:endParaRPr lang="ar-SA" sz="3200" dirty="0"/>
          </a:p>
        </p:txBody>
      </p:sp>
      <p:sp>
        <p:nvSpPr>
          <p:cNvPr id="9" name="Shape 7"/>
          <p:cNvSpPr/>
          <p:nvPr/>
        </p:nvSpPr>
        <p:spPr>
          <a:xfrm>
            <a:off x="2103120" y="3459480"/>
            <a:ext cx="8641080" cy="0"/>
          </a:xfrm>
          <a:prstGeom prst="line">
            <a:avLst/>
          </a:prstGeom>
          <a:noFill/>
          <a:ln w="9525">
            <a:solidFill>
              <a:schemeClr val="accent2"/>
            </a:solidFill>
            <a:prstDash val="dash"/>
          </a:ln>
        </p:spPr>
      </p:sp>
      <p:sp>
        <p:nvSpPr>
          <p:cNvPr id="10" name="Shape 8"/>
          <p:cNvSpPr/>
          <p:nvPr/>
        </p:nvSpPr>
        <p:spPr>
          <a:xfrm>
            <a:off x="10927080" y="3675888"/>
            <a:ext cx="548640" cy="548640"/>
          </a:xfrm>
          <a:prstGeom prst="star8">
            <a:avLst/>
          </a:prstGeom>
          <a:solidFill>
            <a:schemeClr val="accent2"/>
          </a:solidFill>
          <a:ln/>
        </p:spPr>
      </p:sp>
      <p:sp>
        <p:nvSpPr>
          <p:cNvPr id="11" name="Shape 9"/>
          <p:cNvSpPr/>
          <p:nvPr/>
        </p:nvSpPr>
        <p:spPr>
          <a:xfrm>
            <a:off x="11036808" y="378561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67588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a:t>
            </a:r>
            <a:endParaRPr lang="ar-SA" sz="1600" dirty="0"/>
          </a:p>
        </p:txBody>
      </p:sp>
      <p:sp>
        <p:nvSpPr>
          <p:cNvPr id="13" name="Text 11"/>
          <p:cNvSpPr txBox="1"/>
          <p:nvPr/>
        </p:nvSpPr>
        <p:spPr>
          <a:xfrm>
            <a:off x="731520" y="365760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وَلِلَّهِ جُنُودُ السَّمَٰوَٰتِ وَالْأَرْضِ وَكَانَ اللَّهُ عَزِيزًا حَكِيمًا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ولله جنود السماوات والأرض، وكان الله عزيزًا حكيمًا.</a:t>
            </a:r>
            <a:endParaRPr lang="ar-SA" sz="3200" dirty="0"/>
          </a:p>
        </p:txBody>
      </p:sp>
      <p:sp>
        <p:nvSpPr>
          <p:cNvPr id="14" name="Shape 12"/>
          <p:cNvSpPr/>
          <p:nvPr/>
        </p:nvSpPr>
        <p:spPr>
          <a:xfrm>
            <a:off x="2103120" y="4797552"/>
            <a:ext cx="8641080" cy="0"/>
          </a:xfrm>
          <a:prstGeom prst="line">
            <a:avLst/>
          </a:prstGeom>
          <a:noFill/>
          <a:ln w="9525">
            <a:solidFill>
              <a:schemeClr val="accent2"/>
            </a:solidFill>
            <a:prstDash val="dash"/>
          </a:ln>
        </p:spPr>
      </p:sp>
      <p:sp>
        <p:nvSpPr>
          <p:cNvPr id="15" name="Shape 13"/>
          <p:cNvSpPr/>
          <p:nvPr/>
        </p:nvSpPr>
        <p:spPr>
          <a:xfrm>
            <a:off x="10927080" y="5013960"/>
            <a:ext cx="548640" cy="548640"/>
          </a:xfrm>
          <a:prstGeom prst="star8">
            <a:avLst/>
          </a:prstGeom>
          <a:solidFill>
            <a:schemeClr val="accent2"/>
          </a:solidFill>
          <a:ln/>
        </p:spPr>
      </p:sp>
      <p:sp>
        <p:nvSpPr>
          <p:cNvPr id="16" name="Shape 14"/>
          <p:cNvSpPr/>
          <p:nvPr/>
        </p:nvSpPr>
        <p:spPr>
          <a:xfrm>
            <a:off x="11036808" y="5123688"/>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501396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a:t>
            </a:r>
            <a:endParaRPr lang="ar-SA" sz="1600" dirty="0"/>
          </a:p>
        </p:txBody>
      </p:sp>
      <p:sp>
        <p:nvSpPr>
          <p:cNvPr id="18" name="Text 16"/>
          <p:cNvSpPr txBox="1"/>
          <p:nvPr/>
        </p:nvSpPr>
        <p:spPr>
          <a:xfrm>
            <a:off x="731520" y="499567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إِنَّآ أَرْسَلْنَٰكَ شَٰهِدًا وَمُبَشِّرًا وَنَذِيرًا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إنا أرسلناك يا محمد شاهدًا على أمتك، ومبشّرًا للمؤمنين، ومنذرًا للكافرين.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الفتح</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٩ – ١٠</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039112"/>
            <a:ext cx="548640" cy="548640"/>
          </a:xfrm>
          <a:prstGeom prst="star8">
            <a:avLst/>
          </a:prstGeom>
          <a:solidFill>
            <a:schemeClr val="accent2"/>
          </a:solidFill>
          <a:ln/>
        </p:spPr>
      </p:sp>
      <p:sp>
        <p:nvSpPr>
          <p:cNvPr id="6" name="Shape 4"/>
          <p:cNvSpPr/>
          <p:nvPr/>
        </p:nvSpPr>
        <p:spPr>
          <a:xfrm>
            <a:off x="11036808" y="214884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03911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a:t>
            </a:r>
            <a:endParaRPr lang="ar-SA" sz="1600" dirty="0"/>
          </a:p>
        </p:txBody>
      </p:sp>
      <p:sp>
        <p:nvSpPr>
          <p:cNvPr id="8" name="Text 6"/>
          <p:cNvSpPr txBox="1"/>
          <p:nvPr/>
        </p:nvSpPr>
        <p:spPr>
          <a:xfrm>
            <a:off x="731520" y="202082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لِّتُؤْمِنُواْ بِاللَّهِ وَرَسُولِهِ وَتُعَزِّرُوهُ وَتُوَقِّرُوهُ وَتُسَبِّحُوهُ بُكْرَةً وَأَصِيلًا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لتؤمنوا بالله ورسوله، وتنصروه، وتعظّموه، وتسبّحوا الله أول النهار وآخره.</a:t>
            </a:r>
            <a:endParaRPr lang="ar-SA" sz="3200" dirty="0"/>
          </a:p>
        </p:txBody>
      </p:sp>
      <p:sp>
        <p:nvSpPr>
          <p:cNvPr id="9" name="Shape 7"/>
          <p:cNvSpPr/>
          <p:nvPr/>
        </p:nvSpPr>
        <p:spPr>
          <a:xfrm>
            <a:off x="2103120" y="3204972"/>
            <a:ext cx="8641080" cy="0"/>
          </a:xfrm>
          <a:prstGeom prst="line">
            <a:avLst/>
          </a:prstGeom>
          <a:noFill/>
          <a:ln w="9525">
            <a:solidFill>
              <a:schemeClr val="accent2"/>
            </a:solidFill>
            <a:prstDash val="dash"/>
          </a:ln>
        </p:spPr>
      </p:sp>
      <p:sp>
        <p:nvSpPr>
          <p:cNvPr id="10" name="Shape 8"/>
          <p:cNvSpPr/>
          <p:nvPr/>
        </p:nvSpPr>
        <p:spPr>
          <a:xfrm>
            <a:off x="10927080" y="3465576"/>
            <a:ext cx="548640" cy="548640"/>
          </a:xfrm>
          <a:prstGeom prst="star8">
            <a:avLst/>
          </a:prstGeom>
          <a:solidFill>
            <a:schemeClr val="accent2"/>
          </a:solidFill>
          <a:ln/>
        </p:spPr>
      </p:sp>
      <p:sp>
        <p:nvSpPr>
          <p:cNvPr id="11" name="Shape 9"/>
          <p:cNvSpPr/>
          <p:nvPr/>
        </p:nvSpPr>
        <p:spPr>
          <a:xfrm>
            <a:off x="11036808" y="357530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4655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١٠</a:t>
            </a:r>
            <a:endParaRPr lang="ar-SA" sz="1600" dirty="0"/>
          </a:p>
        </p:txBody>
      </p:sp>
      <p:sp>
        <p:nvSpPr>
          <p:cNvPr id="13" name="Text 11"/>
          <p:cNvSpPr txBox="1"/>
          <p:nvPr/>
        </p:nvSpPr>
        <p:spPr>
          <a:xfrm>
            <a:off x="731520" y="3447288"/>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الَّذِينَ يُبَايِعُونَكَ إِنَّمَا يُبَايِعُونَ اللَّهَ يَدُ اللَّهِ فَوْقَ أَيْدِيهِمْ فَمَن نَّكَثَ فَإِنَّمَا يَنكُثُ عَلَىٰ نَفْسِهِ وَمَنْ أَوْفَىٰ بِمَا عَٰهَدَ عَلَيْهُ اللَّهَ فَسَيُؤْتِيهِ أَجْرًا عَظِيمًا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 الذين يبايعونك تحت الشجرة -بيعة الرضوان- إنما يبايعون الله، يد الله فوق أيديهم، فمن نقض البيعة فإنما يعود ضرره على نفسه، ومن أوفى بعهده فسيؤتيه الله أجرًا عظيمًا.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الفتح</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١١ – ١٢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56182"/>
            <a:ext cx="548640" cy="548640"/>
          </a:xfrm>
          <a:prstGeom prst="star8">
            <a:avLst/>
          </a:prstGeom>
          <a:solidFill>
            <a:schemeClr val="accent2"/>
          </a:solidFill>
          <a:ln/>
        </p:spPr>
      </p:sp>
      <p:sp>
        <p:nvSpPr>
          <p:cNvPr id="6" name="Shape 4"/>
          <p:cNvSpPr/>
          <p:nvPr/>
        </p:nvSpPr>
        <p:spPr>
          <a:xfrm>
            <a:off x="11036808" y="156591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5618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١١</a:t>
            </a:r>
            <a:endParaRPr lang="ar-SA" sz="1600" dirty="0"/>
          </a:p>
        </p:txBody>
      </p:sp>
      <p:sp>
        <p:nvSpPr>
          <p:cNvPr id="8" name="Text 6"/>
          <p:cNvSpPr txBox="1"/>
          <p:nvPr/>
        </p:nvSpPr>
        <p:spPr>
          <a:xfrm>
            <a:off x="731520" y="1437894"/>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سَيَقُولُ لَكَ الْمُخَلَّفُونَ مِنَ الْأَعْرَابِ شَغَلَتْنَآ أَمْوَٰلُنَا وَأَهْلُونَا فَاسْتَغْفِرْ لَنَا يَقُولُونَ بِأَلْسِنَتِهِم مَّا لَيْسَ فِي قُلُوبِهِمْ قُلْ فَمَن يَمْلِكُ لَكُم مِّنَ اللَّهِ شَيْـًٔا إِنْ أَرَادَ بِكُمْ ضَرًّا أَوْ أَرَادَ بِكُمْ نَفْعًا بَلْ كَانَ اللَّهُ بِمَا تَعْمَلُونَ خَبِيرًا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سيقول لك الأعراب الذين تخلّفوا عن الخروج معك: شغلتنا أموالنا وأهلونا فاستغفر لنا، يقولون بألسنتهم ما ليس في قلوبهم.</a:t>
            </a:r>
            <a:endParaRPr lang="ar-SA" sz="3200" dirty="0"/>
          </a:p>
        </p:txBody>
      </p:sp>
      <p:sp>
        <p:nvSpPr>
          <p:cNvPr id="9" name="Shape 7"/>
          <p:cNvSpPr/>
          <p:nvPr/>
        </p:nvSpPr>
        <p:spPr>
          <a:xfrm>
            <a:off x="2103120" y="4128516"/>
            <a:ext cx="8641080" cy="0"/>
          </a:xfrm>
          <a:prstGeom prst="line">
            <a:avLst/>
          </a:prstGeom>
          <a:noFill/>
          <a:ln w="9525">
            <a:solidFill>
              <a:schemeClr val="accent2"/>
            </a:solidFill>
            <a:prstDash val="dash"/>
          </a:ln>
        </p:spPr>
      </p:sp>
      <p:sp>
        <p:nvSpPr>
          <p:cNvPr id="10" name="Shape 8"/>
          <p:cNvSpPr/>
          <p:nvPr/>
        </p:nvSpPr>
        <p:spPr>
          <a:xfrm>
            <a:off x="10927080" y="4386834"/>
            <a:ext cx="548640" cy="548640"/>
          </a:xfrm>
          <a:prstGeom prst="star8">
            <a:avLst/>
          </a:prstGeom>
          <a:solidFill>
            <a:schemeClr val="accent2"/>
          </a:solidFill>
          <a:ln/>
        </p:spPr>
      </p:sp>
      <p:sp>
        <p:nvSpPr>
          <p:cNvPr id="11" name="Shape 9"/>
          <p:cNvSpPr/>
          <p:nvPr/>
        </p:nvSpPr>
        <p:spPr>
          <a:xfrm>
            <a:off x="11036808" y="449656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38683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١٢</a:t>
            </a:r>
            <a:endParaRPr lang="ar-SA" sz="1600" dirty="0"/>
          </a:p>
        </p:txBody>
      </p:sp>
      <p:sp>
        <p:nvSpPr>
          <p:cNvPr id="13" name="Text 11"/>
          <p:cNvSpPr txBox="1"/>
          <p:nvPr/>
        </p:nvSpPr>
        <p:spPr>
          <a:xfrm>
            <a:off x="731520" y="4368546"/>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بَلْ ظَنَنتُمْ أَن لَّن يَنقَلِبَ الرَّسُولُ وَالْمُؤْمِنُونَ إِلَىٰ أَهْلِيهِمْ أَبَدًا وَزُيِّنَ ذَٰلِكَ فِي قُلُوبِكُمْ وَظَنَنتُمْ ظَنَّ السَّوْءِ وَكُنتُمْ قَوْمًا بُورًا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بل ظننتم أن الرسول والمؤمنين لن يرجعوا إلى أهليهم أبدًا، وزُيّن ذلك في قلوبكم، وكنتم قومًا هالكين.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الفتح</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١٣ – ١٤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208276"/>
            <a:ext cx="548640" cy="548640"/>
          </a:xfrm>
          <a:prstGeom prst="star8">
            <a:avLst/>
          </a:prstGeom>
          <a:solidFill>
            <a:schemeClr val="accent2"/>
          </a:solidFill>
          <a:ln/>
        </p:spPr>
      </p:sp>
      <p:sp>
        <p:nvSpPr>
          <p:cNvPr id="6" name="Shape 4"/>
          <p:cNvSpPr/>
          <p:nvPr/>
        </p:nvSpPr>
        <p:spPr>
          <a:xfrm>
            <a:off x="11036808" y="231800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2082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١٣</a:t>
            </a:r>
            <a:endParaRPr lang="ar-SA" sz="1600" dirty="0"/>
          </a:p>
        </p:txBody>
      </p:sp>
      <p:sp>
        <p:nvSpPr>
          <p:cNvPr id="8" name="Text 6"/>
          <p:cNvSpPr txBox="1"/>
          <p:nvPr/>
        </p:nvSpPr>
        <p:spPr>
          <a:xfrm>
            <a:off x="731520" y="21899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وَمَن لَّمْ يُؤْمِن بِاللَّهِ وَرَسُولِهِ فَإِنَّآ أَعْتَدْنَا لِلْكَٰفِرِينَ سَعِيرًا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ومن لم يؤمن بالله ورسوله فإنا أعددنا للكافرين نارًا مشتعلة.</a:t>
            </a:r>
            <a:endParaRPr lang="ar-SA" sz="3200" dirty="0"/>
          </a:p>
        </p:txBody>
      </p:sp>
      <p:sp>
        <p:nvSpPr>
          <p:cNvPr id="9" name="Shape 7"/>
          <p:cNvSpPr/>
          <p:nvPr/>
        </p:nvSpPr>
        <p:spPr>
          <a:xfrm>
            <a:off x="2103120" y="3374136"/>
            <a:ext cx="8641080" cy="0"/>
          </a:xfrm>
          <a:prstGeom prst="line">
            <a:avLst/>
          </a:prstGeom>
          <a:noFill/>
          <a:ln w="9525">
            <a:solidFill>
              <a:schemeClr val="accent2"/>
            </a:solidFill>
            <a:prstDash val="dash"/>
          </a:ln>
        </p:spPr>
      </p:sp>
      <p:sp>
        <p:nvSpPr>
          <p:cNvPr id="10" name="Shape 8"/>
          <p:cNvSpPr/>
          <p:nvPr/>
        </p:nvSpPr>
        <p:spPr>
          <a:xfrm>
            <a:off x="10927080" y="3634740"/>
            <a:ext cx="548640" cy="548640"/>
          </a:xfrm>
          <a:prstGeom prst="star8">
            <a:avLst/>
          </a:prstGeom>
          <a:solidFill>
            <a:schemeClr val="accent2"/>
          </a:solidFill>
          <a:ln/>
        </p:spPr>
      </p:sp>
      <p:sp>
        <p:nvSpPr>
          <p:cNvPr id="11" name="Shape 9"/>
          <p:cNvSpPr/>
          <p:nvPr/>
        </p:nvSpPr>
        <p:spPr>
          <a:xfrm>
            <a:off x="11036808" y="3744468"/>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63474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١٤</a:t>
            </a:r>
            <a:endParaRPr lang="ar-SA" sz="1600" dirty="0"/>
          </a:p>
        </p:txBody>
      </p:sp>
      <p:sp>
        <p:nvSpPr>
          <p:cNvPr id="13" name="Text 11"/>
          <p:cNvSpPr txBox="1"/>
          <p:nvPr/>
        </p:nvSpPr>
        <p:spPr>
          <a:xfrm>
            <a:off x="731520" y="3616452"/>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وَلِلَّهِ مُلْكُ السَّمَٰوَٰتِ وَالْأَرْضِ يَغْفِرُ لِمَن يَشَآءُ وَيُعَذِّبُ مَن يَشَآءُ وَكَانَ اللَّهُ غَفُورًا رَّحِيمًا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ولله ملك السماوات والأرض، يغفر لمن يشاء ويعذّب من يشاء، وكان الله غفورًا رحيمًا.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الفتح</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الآية ١٥</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459736"/>
            <a:ext cx="548640" cy="548640"/>
          </a:xfrm>
          <a:prstGeom prst="star8">
            <a:avLst/>
          </a:prstGeom>
          <a:solidFill>
            <a:schemeClr val="accent2"/>
          </a:solidFill>
          <a:ln/>
        </p:spPr>
      </p:sp>
      <p:sp>
        <p:nvSpPr>
          <p:cNvPr id="6" name="Shape 4"/>
          <p:cNvSpPr/>
          <p:nvPr/>
        </p:nvSpPr>
        <p:spPr>
          <a:xfrm>
            <a:off x="11036808" y="256946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4597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١٥</a:t>
            </a:r>
            <a:endParaRPr lang="ar-SA" sz="1600" dirty="0"/>
          </a:p>
        </p:txBody>
      </p:sp>
      <p:sp>
        <p:nvSpPr>
          <p:cNvPr id="8" name="Text 6"/>
          <p:cNvSpPr txBox="1"/>
          <p:nvPr/>
        </p:nvSpPr>
        <p:spPr>
          <a:xfrm>
            <a:off x="731520" y="2441448"/>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سَيَقُولُ الْمُخَلَّفُونَ إِذَا انطَلَقْتُمْ إِلَىٰ مَغَانِمَ لِتَأْخُذُوهَا ذَرُونَا نَتَّبِعْكُمْ يُرِيدُونَ أَن يُبَدِّلُواْ كَلَٰمَ اللَّهِ قُل لَّن تَتَّبِعُونَا كَذَٰلِكُمْ قَالَ اللَّهُ مِن قَبْلُ فَسَيَقُولُونَ بَلْ تَحْسُدُونَنَا بَلْ كَانُواْ لَا يَفْقَهُونَ إِلَّا قَلِيلًا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سيقول المتخلّفون إذا ذهبتم إلى غنائم خيبر لتأخذوها: اتركونا نتبعكم، يريدون أن يغيّروا وعد الله بأنها لأهل الحديبية، قل: لن تتبعونا، كذلكم قال الله من قبل.</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الفتح</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الآية ١٦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459736"/>
            <a:ext cx="548640" cy="548640"/>
          </a:xfrm>
          <a:prstGeom prst="star8">
            <a:avLst/>
          </a:prstGeom>
          <a:solidFill>
            <a:schemeClr val="accent2"/>
          </a:solidFill>
          <a:ln/>
        </p:spPr>
      </p:sp>
      <p:sp>
        <p:nvSpPr>
          <p:cNvPr id="6" name="Shape 4"/>
          <p:cNvSpPr/>
          <p:nvPr/>
        </p:nvSpPr>
        <p:spPr>
          <a:xfrm>
            <a:off x="11036808" y="256946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4597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١٦</a:t>
            </a:r>
            <a:endParaRPr lang="ar-SA" sz="1600" dirty="0"/>
          </a:p>
        </p:txBody>
      </p:sp>
      <p:sp>
        <p:nvSpPr>
          <p:cNvPr id="8" name="Text 6"/>
          <p:cNvSpPr txBox="1"/>
          <p:nvPr/>
        </p:nvSpPr>
        <p:spPr>
          <a:xfrm>
            <a:off x="731520" y="2441448"/>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قُل لِّلْمُخَلَّفِينَ مِنَ الْأَعْرَابِ سَتُدْعَوْنَ إِلَىٰ قَوْمٍ أُوْلِي بَأْسٍ شَدِيدٍ تُقَٰتِلُونَهُمْ أَوْ يُسْلِمُونَ فَإِن تُطِيعُواْ يُؤْتِكُمُ اللَّهُ أَجْرًا حَسَنًا وَإِن تَتَوَلَّوْاْ كَمَا تَوَلَّيْتُم مِّن قَبْلُ يُعَذِّبْكُمْ عَذَابًا أَلِيمًا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قل للمتخلّفين من الأعراب: ستُدعون إلى قتال قوم أشدّاء تقاتلونهم أو يُسلمون، فإن تطيعوا يعطكم الله أجرًا حسنًا، وإن تُعرضوا كما أعرضتم من قبل يعذّبكم عذابًا مؤلمًا.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الفتح</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١٧ – ١٨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71600"/>
            <a:ext cx="548640" cy="548640"/>
          </a:xfrm>
          <a:prstGeom prst="star8">
            <a:avLst/>
          </a:prstGeom>
          <a:solidFill>
            <a:schemeClr val="accent2"/>
          </a:solidFill>
          <a:ln/>
        </p:spPr>
      </p:sp>
      <p:sp>
        <p:nvSpPr>
          <p:cNvPr id="6" name="Shape 4"/>
          <p:cNvSpPr/>
          <p:nvPr/>
        </p:nvSpPr>
        <p:spPr>
          <a:xfrm>
            <a:off x="11036808" y="148132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7160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١٧</a:t>
            </a:r>
            <a:endParaRPr lang="ar-SA" sz="1600" dirty="0"/>
          </a:p>
        </p:txBody>
      </p:sp>
      <p:sp>
        <p:nvSpPr>
          <p:cNvPr id="8" name="Text 6"/>
          <p:cNvSpPr txBox="1"/>
          <p:nvPr/>
        </p:nvSpPr>
        <p:spPr>
          <a:xfrm>
            <a:off x="731520" y="1353312"/>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لَّيْسَ عَلَى الْأَعْمَىٰ حَرَجٌ وَلَا عَلَى الْأَعْرَجِ حَرَجٌ وَلَا عَلَى الْمَرِيضِ حَرَجٌ وَمَن يُطِعِ اللَّهَ وَرَسُولَهُ يُدْخِلْهُ جَنَّـٰتٍ تَجْرِي مِن تَحْتِهَا الْأَنْهَٰرُ وَمَن يَتَوَلَّ يُعَذِّبْهُ عَذَابًا أَلِيمًا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ليس على الأعمى ولا الأعرج ولا المريض إثمٌ في ترك الجهاد، ومن يطع الله ورسوله يُدخله جنات، ومن يُعرض يعذّبه عذابًا مؤلمًا.</a:t>
            </a:r>
            <a:endParaRPr lang="ar-SA" sz="3200" dirty="0"/>
          </a:p>
        </p:txBody>
      </p:sp>
      <p:sp>
        <p:nvSpPr>
          <p:cNvPr id="9" name="Shape 7"/>
          <p:cNvSpPr/>
          <p:nvPr/>
        </p:nvSpPr>
        <p:spPr>
          <a:xfrm>
            <a:off x="2103120" y="3959352"/>
            <a:ext cx="8641080" cy="0"/>
          </a:xfrm>
          <a:prstGeom prst="line">
            <a:avLst/>
          </a:prstGeom>
          <a:noFill/>
          <a:ln w="9525">
            <a:solidFill>
              <a:schemeClr val="accent2"/>
            </a:solidFill>
            <a:prstDash val="dash"/>
          </a:ln>
        </p:spPr>
      </p:sp>
      <p:sp>
        <p:nvSpPr>
          <p:cNvPr id="10" name="Shape 8"/>
          <p:cNvSpPr/>
          <p:nvPr/>
        </p:nvSpPr>
        <p:spPr>
          <a:xfrm>
            <a:off x="10927080" y="4133088"/>
            <a:ext cx="548640" cy="548640"/>
          </a:xfrm>
          <a:prstGeom prst="star8">
            <a:avLst/>
          </a:prstGeom>
          <a:solidFill>
            <a:schemeClr val="accent2"/>
          </a:solidFill>
          <a:ln/>
        </p:spPr>
      </p:sp>
      <p:sp>
        <p:nvSpPr>
          <p:cNvPr id="11" name="Shape 9"/>
          <p:cNvSpPr/>
          <p:nvPr/>
        </p:nvSpPr>
        <p:spPr>
          <a:xfrm>
            <a:off x="11036808" y="424281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13308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١٨</a:t>
            </a:r>
            <a:endParaRPr lang="ar-SA" sz="1600" dirty="0"/>
          </a:p>
        </p:txBody>
      </p:sp>
      <p:sp>
        <p:nvSpPr>
          <p:cNvPr id="13" name="Text 11"/>
          <p:cNvSpPr txBox="1"/>
          <p:nvPr/>
        </p:nvSpPr>
        <p:spPr>
          <a:xfrm>
            <a:off x="731520" y="4114800"/>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لَّقَدْ رَضِيَ اللَّهُ عَنِ الْمُؤْمِنِينَ إِذْ يُبَايِعُونَكَ تَحْتَ الشَّجَرَةِ فَعَلِمَ مَا فِي قُلُوبِهِمْ فَأَنزَلَ السَّكِينَةَ عَلَيْهِمْ وَأَثَٰبَهُمْ فَتْحًا قَرِيبًا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لقد رضي الله عن المؤمنين حين بايعوك تحت الشجرة في الحديبية، فعلم ما في قلوبهم من الصدق، فأنزل الطمأنينة عليهم، وجزاهم بفتح قريب، وهو فتح خيبر.</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الفتح</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١٩ – ٢١</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14272"/>
            <a:ext cx="548640" cy="548640"/>
          </a:xfrm>
          <a:prstGeom prst="star8">
            <a:avLst/>
          </a:prstGeom>
          <a:solidFill>
            <a:schemeClr val="accent2"/>
          </a:solidFill>
          <a:ln/>
        </p:spPr>
      </p:sp>
      <p:sp>
        <p:nvSpPr>
          <p:cNvPr id="6" name="Shape 4"/>
          <p:cNvSpPr/>
          <p:nvPr/>
        </p:nvSpPr>
        <p:spPr>
          <a:xfrm>
            <a:off x="11036808" y="152400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142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١٩</a:t>
            </a:r>
            <a:endParaRPr lang="ar-SA" sz="1600" dirty="0"/>
          </a:p>
        </p:txBody>
      </p:sp>
      <p:sp>
        <p:nvSpPr>
          <p:cNvPr id="8" name="Text 6"/>
          <p:cNvSpPr txBox="1"/>
          <p:nvPr/>
        </p:nvSpPr>
        <p:spPr>
          <a:xfrm>
            <a:off x="731520" y="139598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وَمَغَانِمَ كَثِيرَةً يَأْخُذُونَهَا وَكَانَ اللَّهُ عَزِيزًا حَكِيمًا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وغنائم كثيرة يأخذونها، وكان الله عزيزًا حكيمًا.</a:t>
            </a:r>
            <a:endParaRPr lang="ar-SA" sz="3200" dirty="0"/>
          </a:p>
        </p:txBody>
      </p:sp>
      <p:sp>
        <p:nvSpPr>
          <p:cNvPr id="9" name="Shape 7"/>
          <p:cNvSpPr/>
          <p:nvPr/>
        </p:nvSpPr>
        <p:spPr>
          <a:xfrm>
            <a:off x="2103120" y="2535936"/>
            <a:ext cx="8641080" cy="0"/>
          </a:xfrm>
          <a:prstGeom prst="line">
            <a:avLst/>
          </a:prstGeom>
          <a:noFill/>
          <a:ln w="9525">
            <a:solidFill>
              <a:schemeClr val="accent2"/>
            </a:solidFill>
            <a:prstDash val="dash"/>
          </a:ln>
        </p:spPr>
      </p:sp>
      <p:sp>
        <p:nvSpPr>
          <p:cNvPr id="10" name="Shape 8"/>
          <p:cNvSpPr/>
          <p:nvPr/>
        </p:nvSpPr>
        <p:spPr>
          <a:xfrm>
            <a:off x="10927080" y="2752344"/>
            <a:ext cx="548640" cy="548640"/>
          </a:xfrm>
          <a:prstGeom prst="star8">
            <a:avLst/>
          </a:prstGeom>
          <a:solidFill>
            <a:schemeClr val="accent2"/>
          </a:solidFill>
          <a:ln/>
        </p:spPr>
      </p:sp>
      <p:sp>
        <p:nvSpPr>
          <p:cNvPr id="11" name="Shape 9"/>
          <p:cNvSpPr/>
          <p:nvPr/>
        </p:nvSpPr>
        <p:spPr>
          <a:xfrm>
            <a:off x="11036808" y="286207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7523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٢٠</a:t>
            </a:r>
            <a:endParaRPr lang="ar-SA" sz="1600" dirty="0"/>
          </a:p>
        </p:txBody>
      </p:sp>
      <p:sp>
        <p:nvSpPr>
          <p:cNvPr id="13" name="Text 11"/>
          <p:cNvSpPr txBox="1"/>
          <p:nvPr/>
        </p:nvSpPr>
        <p:spPr>
          <a:xfrm>
            <a:off x="731520" y="273405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وَعَدَكُمُ اللَّهُ مَغَانِمَ كَثِيرَةً تَأْخُذُونَهَا فَعَجَّلَ لَكُمْ هَٰذِهِ وَكَفَّ أَيْدِيَ النَّاسِ عَنكُمْ وَلِتَكُونَ ءَايَةً لِّلْمُؤْمِنِينَ وَيَهْدِيَكُمْ صِرَٰطًا مُّسْتَقِيمًا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وعدكم الله غنائم كثيرة تأخذونها، فعجّل لكم غنائم خيبر، ومنع أيدي الناس عنكم، ولتكون آية للمؤمنين، ويهديكم طريقًا مستقيمًا.</a:t>
            </a:r>
            <a:endParaRPr lang="ar-SA" sz="3200" dirty="0"/>
          </a:p>
        </p:txBody>
      </p:sp>
      <p:sp>
        <p:nvSpPr>
          <p:cNvPr id="14" name="Shape 12"/>
          <p:cNvSpPr/>
          <p:nvPr/>
        </p:nvSpPr>
        <p:spPr>
          <a:xfrm>
            <a:off x="2103120" y="4797552"/>
            <a:ext cx="8641080" cy="0"/>
          </a:xfrm>
          <a:prstGeom prst="line">
            <a:avLst/>
          </a:prstGeom>
          <a:noFill/>
          <a:ln w="9525">
            <a:solidFill>
              <a:schemeClr val="accent2"/>
            </a:solidFill>
            <a:prstDash val="dash"/>
          </a:ln>
        </p:spPr>
      </p:sp>
      <p:sp>
        <p:nvSpPr>
          <p:cNvPr id="15" name="Shape 13"/>
          <p:cNvSpPr/>
          <p:nvPr/>
        </p:nvSpPr>
        <p:spPr>
          <a:xfrm>
            <a:off x="10927080" y="5013960"/>
            <a:ext cx="548640" cy="548640"/>
          </a:xfrm>
          <a:prstGeom prst="star8">
            <a:avLst/>
          </a:prstGeom>
          <a:solidFill>
            <a:schemeClr val="accent2"/>
          </a:solidFill>
          <a:ln/>
        </p:spPr>
      </p:sp>
      <p:sp>
        <p:nvSpPr>
          <p:cNvPr id="16" name="Shape 14"/>
          <p:cNvSpPr/>
          <p:nvPr/>
        </p:nvSpPr>
        <p:spPr>
          <a:xfrm>
            <a:off x="11036808" y="5123688"/>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501396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٢١</a:t>
            </a:r>
            <a:endParaRPr lang="ar-SA" sz="1600" dirty="0"/>
          </a:p>
        </p:txBody>
      </p:sp>
      <p:sp>
        <p:nvSpPr>
          <p:cNvPr id="18" name="Text 16"/>
          <p:cNvSpPr txBox="1"/>
          <p:nvPr/>
        </p:nvSpPr>
        <p:spPr>
          <a:xfrm>
            <a:off x="731520" y="499567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وَأُخْرَىٰ لَمْ تَقْدِرُواْ عَلَيْهَا قَدْ أَحَاطَ اللَّهُ بِهَا وَكَانَ اللَّهُ عَلَىٰ كُلِّ شَيْءٍ قَدِيرًا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وغنائم أخرى لم تقدروا عليها بعد، قد أحاط الله بها، كفتح مكة وغيرها، وكان الله على كل شيء قديرًا.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الفتح</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٢٢ – ٢٤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14272"/>
            <a:ext cx="548640" cy="548640"/>
          </a:xfrm>
          <a:prstGeom prst="star8">
            <a:avLst/>
          </a:prstGeom>
          <a:solidFill>
            <a:schemeClr val="accent2"/>
          </a:solidFill>
          <a:ln/>
        </p:spPr>
      </p:sp>
      <p:sp>
        <p:nvSpPr>
          <p:cNvPr id="6" name="Shape 4"/>
          <p:cNvSpPr/>
          <p:nvPr/>
        </p:nvSpPr>
        <p:spPr>
          <a:xfrm>
            <a:off x="11036808" y="152400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142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٢٢</a:t>
            </a:r>
            <a:endParaRPr lang="ar-SA" sz="1600" dirty="0"/>
          </a:p>
        </p:txBody>
      </p:sp>
      <p:sp>
        <p:nvSpPr>
          <p:cNvPr id="8" name="Text 6"/>
          <p:cNvSpPr txBox="1"/>
          <p:nvPr/>
        </p:nvSpPr>
        <p:spPr>
          <a:xfrm>
            <a:off x="731520" y="139598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وَلَوْ قَٰتَلَكُمُ الَّذِينَ كَفَرُواْ لَوَلَّوُاْ الْأَدْبَٰرَ ثُمَّ لَا يَجِدُونَ وَلِيًّا وَلَا نَصِيرًا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ولو قاتلكم الكفار لهربوا منهزمين، ثم لا يجدون من يتولّاهم ولا من ينصرهم.</a:t>
            </a:r>
            <a:endParaRPr lang="ar-SA" sz="3200" dirty="0"/>
          </a:p>
        </p:txBody>
      </p:sp>
      <p:sp>
        <p:nvSpPr>
          <p:cNvPr id="9" name="Shape 7"/>
          <p:cNvSpPr/>
          <p:nvPr/>
        </p:nvSpPr>
        <p:spPr>
          <a:xfrm>
            <a:off x="2103120" y="2535936"/>
            <a:ext cx="8641080" cy="0"/>
          </a:xfrm>
          <a:prstGeom prst="line">
            <a:avLst/>
          </a:prstGeom>
          <a:noFill/>
          <a:ln w="9525">
            <a:solidFill>
              <a:schemeClr val="accent2"/>
            </a:solidFill>
            <a:prstDash val="dash"/>
          </a:ln>
        </p:spPr>
      </p:sp>
      <p:sp>
        <p:nvSpPr>
          <p:cNvPr id="10" name="Shape 8"/>
          <p:cNvSpPr/>
          <p:nvPr/>
        </p:nvSpPr>
        <p:spPr>
          <a:xfrm>
            <a:off x="10927080" y="2752344"/>
            <a:ext cx="548640" cy="548640"/>
          </a:xfrm>
          <a:prstGeom prst="star8">
            <a:avLst/>
          </a:prstGeom>
          <a:solidFill>
            <a:schemeClr val="accent2"/>
          </a:solidFill>
          <a:ln/>
        </p:spPr>
      </p:sp>
      <p:sp>
        <p:nvSpPr>
          <p:cNvPr id="11" name="Shape 9"/>
          <p:cNvSpPr/>
          <p:nvPr/>
        </p:nvSpPr>
        <p:spPr>
          <a:xfrm>
            <a:off x="11036808" y="286207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7523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٢٣</a:t>
            </a:r>
            <a:endParaRPr lang="ar-SA" sz="1600" dirty="0"/>
          </a:p>
        </p:txBody>
      </p:sp>
      <p:sp>
        <p:nvSpPr>
          <p:cNvPr id="13" name="Text 11"/>
          <p:cNvSpPr txBox="1"/>
          <p:nvPr/>
        </p:nvSpPr>
        <p:spPr>
          <a:xfrm>
            <a:off x="731520" y="273405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سُنَّةَ اللَّهِ الَّتِي قَدْ خَلَتْ مِن قَبْلُ وَلَن تَجِدَ لِسُنَّةِ اللَّهِ تَبْدِيلًا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تلك سنّة الله في نصر أوليائه، ولن تجد لسنّة الله تغييرًا.</a:t>
            </a:r>
            <a:endParaRPr lang="ar-SA" sz="3200" dirty="0"/>
          </a:p>
        </p:txBody>
      </p:sp>
      <p:sp>
        <p:nvSpPr>
          <p:cNvPr id="14" name="Shape 12"/>
          <p:cNvSpPr/>
          <p:nvPr/>
        </p:nvSpPr>
        <p:spPr>
          <a:xfrm>
            <a:off x="2103120" y="3874008"/>
            <a:ext cx="8641080" cy="0"/>
          </a:xfrm>
          <a:prstGeom prst="line">
            <a:avLst/>
          </a:prstGeom>
          <a:noFill/>
          <a:ln w="9525">
            <a:solidFill>
              <a:schemeClr val="accent2"/>
            </a:solidFill>
            <a:prstDash val="dash"/>
          </a:ln>
        </p:spPr>
      </p:sp>
      <p:sp>
        <p:nvSpPr>
          <p:cNvPr id="15" name="Shape 13"/>
          <p:cNvSpPr/>
          <p:nvPr/>
        </p:nvSpPr>
        <p:spPr>
          <a:xfrm>
            <a:off x="10927080" y="4090416"/>
            <a:ext cx="548640" cy="548640"/>
          </a:xfrm>
          <a:prstGeom prst="star8">
            <a:avLst/>
          </a:prstGeom>
          <a:solidFill>
            <a:schemeClr val="accent2"/>
          </a:solidFill>
          <a:ln/>
        </p:spPr>
      </p:sp>
      <p:sp>
        <p:nvSpPr>
          <p:cNvPr id="16" name="Shape 14"/>
          <p:cNvSpPr/>
          <p:nvPr/>
        </p:nvSpPr>
        <p:spPr>
          <a:xfrm>
            <a:off x="11036808" y="420014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0904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٢٤</a:t>
            </a:r>
            <a:endParaRPr lang="ar-SA" sz="1600" dirty="0"/>
          </a:p>
        </p:txBody>
      </p:sp>
      <p:sp>
        <p:nvSpPr>
          <p:cNvPr id="18" name="Text 16"/>
          <p:cNvSpPr txBox="1"/>
          <p:nvPr/>
        </p:nvSpPr>
        <p:spPr>
          <a:xfrm>
            <a:off x="731520" y="4072128"/>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وَهُوَ الَّذِي كَفَّ أَيْدِيَهُمْ عَنكُمْ وَأَيْدِيَكُمْ عَنْهُم بِبَطْنِ مَكَّةَ مِن بَعْدِ أَنْ أَظْفَرَكُمْ عَلَيْهِمْ وَكَانَ اللَّهُ بِمَا تَعْمَلُونَ بَصِيرًا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وهو الذي منع أيدي المشركين عنكم وأيديكم عنهم في الحديبية قرب مكة، بعد أن أظفركم عليهم، وكان الله بما تعملون بصيرًا.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الفتح</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الآية ٢٥</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167128"/>
            <a:ext cx="548640" cy="548640"/>
          </a:xfrm>
          <a:prstGeom prst="star8">
            <a:avLst/>
          </a:prstGeom>
          <a:solidFill>
            <a:schemeClr val="accent2"/>
          </a:solidFill>
          <a:ln/>
        </p:spPr>
      </p:sp>
      <p:sp>
        <p:nvSpPr>
          <p:cNvPr id="6" name="Shape 4"/>
          <p:cNvSpPr/>
          <p:nvPr/>
        </p:nvSpPr>
        <p:spPr>
          <a:xfrm>
            <a:off x="11036808" y="2276856"/>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16712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٢٥</a:t>
            </a:r>
            <a:endParaRPr lang="ar-SA" sz="1600" dirty="0"/>
          </a:p>
        </p:txBody>
      </p:sp>
      <p:sp>
        <p:nvSpPr>
          <p:cNvPr id="8" name="Text 6"/>
          <p:cNvSpPr txBox="1"/>
          <p:nvPr/>
        </p:nvSpPr>
        <p:spPr>
          <a:xfrm>
            <a:off x="731520" y="2148840"/>
            <a:ext cx="10012680" cy="306324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هُمُ الَّذِينَ كَفَرُواْ وَصَدُّوكُمْ عَنِ الْمَسْجِدِ الْحَرَامِ وَالْهَدْيَ مَعْكُوفًا أَن يَبْلُغَ مَحِلَّهُ وَلَوْلَا رِجَالٌ مُّؤْمِنُونَ وَنِسَآءٌ مُّؤْمِنَٰتٌ لَّمْ تَعْلَمُوهُمْ أَن تَطَـُٔوهُمْ فَتُصِيبَكُم مِّنْهُم مَّعَرَّةٌ بِغَيْرِ عِلْمٍ لِّيُدْخِلَ اللَّهُ فِي رَحْمَتِهِ مَن يَشَآءُ لَوْ تَزَيَّلُواْ لَعَذَّبْنَا الَّذِينَ كَفَرُواْ مِنْهُمْ عَذَابًا أَلِيمًا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هم الذين كفروا ومنعوكم من دخول المسجد الحرام، ومنعوا الهدي أن يصل إلى مكانه، ولولا وجود مؤمنين مستضعفين بمكة لا تعرفونهم فتقتلونهم دون علم، لأذن الله لكم في دخولها.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الفتح</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الآية ٢٦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459736"/>
            <a:ext cx="548640" cy="548640"/>
          </a:xfrm>
          <a:prstGeom prst="star8">
            <a:avLst/>
          </a:prstGeom>
          <a:solidFill>
            <a:schemeClr val="accent2"/>
          </a:solidFill>
          <a:ln/>
        </p:spPr>
      </p:sp>
      <p:sp>
        <p:nvSpPr>
          <p:cNvPr id="6" name="Shape 4"/>
          <p:cNvSpPr/>
          <p:nvPr/>
        </p:nvSpPr>
        <p:spPr>
          <a:xfrm>
            <a:off x="11036808" y="256946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4597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٢٦</a:t>
            </a:r>
            <a:endParaRPr lang="ar-SA" sz="1600" dirty="0"/>
          </a:p>
        </p:txBody>
      </p:sp>
      <p:sp>
        <p:nvSpPr>
          <p:cNvPr id="8" name="Text 6"/>
          <p:cNvSpPr txBox="1"/>
          <p:nvPr/>
        </p:nvSpPr>
        <p:spPr>
          <a:xfrm>
            <a:off x="731520" y="2441448"/>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إِذْ جَعَلَ الَّذِينَ كَفَرُواْ فِي قُلُوبِهِمُ الْحَمِيَّةَ حَمِيَّةَ الْجَٰهِلِيَّةِ فَأَنزَلَ اللَّهُ سَكِينَتَهُ عَلَىٰ رَسُولِهِ وَعَلَى الْمُؤْمِنِينَ وَأَلْزَمَهُمْ كَلِمَةَ التَّقْوَىٰ وَكَانُواْ أَحَقَّ بِهَا وَأَهْلَهَا وَكَانَ اللَّهُ بِكُلِّ شَيْءٍ عَلِيمًا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حين جعل الكفار في قلوبهم الأنفة والتكبّر -تكبّر الجاهلية- فرفضوا كتابة «بسم الله الرحمن الرحيم» في الصلح، فأنزل الله الطمأنينة على رسوله والمؤمنين، وألزمهم كلمة التوحيد، وكانوا أحقّ بها وأهلها.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الفتح</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٢٧ – ٢٨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56182"/>
            <a:ext cx="548640" cy="548640"/>
          </a:xfrm>
          <a:prstGeom prst="star8">
            <a:avLst/>
          </a:prstGeom>
          <a:solidFill>
            <a:schemeClr val="accent2"/>
          </a:solidFill>
          <a:ln/>
        </p:spPr>
      </p:sp>
      <p:sp>
        <p:nvSpPr>
          <p:cNvPr id="6" name="Shape 4"/>
          <p:cNvSpPr/>
          <p:nvPr/>
        </p:nvSpPr>
        <p:spPr>
          <a:xfrm>
            <a:off x="11036808" y="156591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5618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٢٧</a:t>
            </a:r>
            <a:endParaRPr lang="ar-SA" sz="1600" dirty="0"/>
          </a:p>
        </p:txBody>
      </p:sp>
      <p:sp>
        <p:nvSpPr>
          <p:cNvPr id="8" name="Text 6"/>
          <p:cNvSpPr txBox="1"/>
          <p:nvPr/>
        </p:nvSpPr>
        <p:spPr>
          <a:xfrm>
            <a:off x="731520" y="1437894"/>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لَّقَدْ صَدَقَ اللَّهُ رَسُولَهُ الرُّءْيَا بِالْحَقِّ لَتَدْخُلُنَّ الْمَسْجِدَ الْحَرَامَ إِن شَآءَ اللَّهُ ءَامِنِينَ مُحَلِّقِينَ رُءُوسَكُمْ وَمُقَصِّرِينَ لَا تَخَافُونَ فَعَلِمَ مَا لَمْ تَعْلَمُواْ فَجَعَلَ مِن دُونِ ذَٰلِكَ فَتْحًا قَرِيبًا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لقد صدق الله رسوله الرؤيا التي رآها في المنام: لتدخلُنّ المسجد الحرام إن شاء الله آمنين، محلّقين رؤوسكم ومقصّرين، فتحقّق ذلك في عمرة القضاء في العام التالي.</a:t>
            </a:r>
            <a:endParaRPr lang="ar-SA" sz="3200" dirty="0"/>
          </a:p>
        </p:txBody>
      </p:sp>
      <p:sp>
        <p:nvSpPr>
          <p:cNvPr id="9" name="Shape 7"/>
          <p:cNvSpPr/>
          <p:nvPr/>
        </p:nvSpPr>
        <p:spPr>
          <a:xfrm>
            <a:off x="2103120" y="4128516"/>
            <a:ext cx="8641080" cy="0"/>
          </a:xfrm>
          <a:prstGeom prst="line">
            <a:avLst/>
          </a:prstGeom>
          <a:noFill/>
          <a:ln w="9525">
            <a:solidFill>
              <a:schemeClr val="accent2"/>
            </a:solidFill>
            <a:prstDash val="dash"/>
          </a:ln>
        </p:spPr>
      </p:sp>
      <p:sp>
        <p:nvSpPr>
          <p:cNvPr id="10" name="Shape 8"/>
          <p:cNvSpPr/>
          <p:nvPr/>
        </p:nvSpPr>
        <p:spPr>
          <a:xfrm>
            <a:off x="10927080" y="4386834"/>
            <a:ext cx="548640" cy="548640"/>
          </a:xfrm>
          <a:prstGeom prst="star8">
            <a:avLst/>
          </a:prstGeom>
          <a:solidFill>
            <a:schemeClr val="accent2"/>
          </a:solidFill>
          <a:ln/>
        </p:spPr>
      </p:sp>
      <p:sp>
        <p:nvSpPr>
          <p:cNvPr id="11" name="Shape 9"/>
          <p:cNvSpPr/>
          <p:nvPr/>
        </p:nvSpPr>
        <p:spPr>
          <a:xfrm>
            <a:off x="11036808" y="449656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38683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٢٨</a:t>
            </a:r>
            <a:endParaRPr lang="ar-SA" sz="1600" dirty="0"/>
          </a:p>
        </p:txBody>
      </p:sp>
      <p:sp>
        <p:nvSpPr>
          <p:cNvPr id="13" name="Text 11"/>
          <p:cNvSpPr txBox="1"/>
          <p:nvPr/>
        </p:nvSpPr>
        <p:spPr>
          <a:xfrm>
            <a:off x="731520" y="4368546"/>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هُوَ الَّذِي أَرْسَلَ رَسُولَهُ بِالْهُدَىٰ وَدِينِ الْحَقِّ لِيُظْهِرَهُ عَلَى الدِّينِ كُلِّهِ وَكَفَىٰ بِاللَّهِ شَهِيدًا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هو الذي أرسل رسوله بالهدى ودين الإسلام الحق، ليُعليه على جميع الأديان، وكفى بالله شاهدًا.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الفتح</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الآية ٢٩</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874520"/>
            <a:ext cx="548640" cy="548640"/>
          </a:xfrm>
          <a:prstGeom prst="star8">
            <a:avLst/>
          </a:prstGeom>
          <a:solidFill>
            <a:schemeClr val="accent2"/>
          </a:solidFill>
          <a:ln/>
        </p:spPr>
      </p:sp>
      <p:sp>
        <p:nvSpPr>
          <p:cNvPr id="6" name="Shape 4"/>
          <p:cNvSpPr/>
          <p:nvPr/>
        </p:nvSpPr>
        <p:spPr>
          <a:xfrm>
            <a:off x="11036808" y="198424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87452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٢٩</a:t>
            </a:r>
            <a:endParaRPr lang="ar-SA" sz="1600" dirty="0"/>
          </a:p>
        </p:txBody>
      </p:sp>
      <p:sp>
        <p:nvSpPr>
          <p:cNvPr id="8" name="Text 6"/>
          <p:cNvSpPr txBox="1"/>
          <p:nvPr/>
        </p:nvSpPr>
        <p:spPr>
          <a:xfrm>
            <a:off x="731520" y="1856232"/>
            <a:ext cx="10012680" cy="3648456"/>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مُّحَمَّدٌ رَّسُولُ اللَّهِ وَالَّذِينَ مَعَهُ أَشِدَّآءُ عَلَى الْكُفَّارِ رُحَمَآءُ بَيْنَهُمْ تَرَىٰهُمْ رُكَّعًا سُجَّدًا يَبْتَغُونَ فَضْلًا مِّنَ اللَّهِ وَرِضْوَٰنًا سِيمَاهُمْ فِي وُجُوهِهِم مِّنْ أَثَرِ السُّجُودِ ذَٰلِكَ مَثَلُهُمْ فِي التَّوْرَىٰةِ وَمَثَلُهُمْ فِي الْإِنجِيلِ كَزَرْعٍ أَخْرَجَ شَطْـَٔهُ فَـَٔازَرَهُ فَاسْتَغْلَظَ فَاسْتَوَىٰ عَلَىٰ سُوقِهِ يُعْجِبُ الزُّرَّاعَ لِيَغِيظَ بِهِمُ الْكُفَّارَ وَعَدَ اللَّهُ الَّذِينَ ءَامَنُواْ وَعَمِلُواْ الصَّـٰلِحَٰتِ مِنْهُم مَّغْفِرَةً وَأَجْرًا عَظِيمًا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محمد رسول الله، وأصحابه أشدّاء على الكفار، رحماء فيما بينهم، تراهم راكعين ساجدين يطلبون فضل الله ورضوانه، علامتهم في وجوههم من أثر الصلاة، ومثلهم كزرع أخرج فروعه فقوي واستقام، يُعجب الزرّاع.</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ph idx="101" type="title" hasCustomPrompt="1"/>
          </p:nvPr>
        </p:nvSpPr>
        <p:spPr>
          <a:xfrm>
            <a:off x="3626968" y="603504"/>
            <a:ext cx="4937760" cy="987552"/>
          </a:xfrm>
          <a:prstGeom prst="rect">
            <a:avLst/>
          </a:prstGeom>
          <a:noFill/>
          <a:ln/>
        </p:spPr>
        <p:txBody>
          <a:bodyPr wrap="square" lIns="0" tIns="0" rIns="0" bIns="0" rtlCol="0" anchor="ctr"/>
          <a:lstStyle/>
          <a:p>
            <a:pPr rtl="1" algn="ctr" indent="0" marL="0">
              <a:buNone/>
            </a:pPr>
            <a:r>
              <a:rPr lang="en-US" sz="4800" b="1" dirty="0">
                <a:solidFill>
                  <a:schemeClr val="accent2"/>
                </a:solidFill>
                <a:latin typeface="Sakkal Majalla" pitchFamily="34" charset="0"/>
                <a:ea typeface="Sakkal Majalla" pitchFamily="34" charset="-122"/>
                <a:cs typeface="Sakkal Majalla" pitchFamily="34" charset="-120"/>
              </a:rPr>
              <a:t>سورة محمد</a:t>
            </a:r>
            <a:endParaRPr lang="en-US" sz="4800" dirty="0"/>
          </a:p>
        </p:txBody>
      </p:sp>
      <p:sp>
        <p:nvSpPr>
          <p:cNvPr id="3" name="Shape 1"/>
          <p:cNvSpPr/>
          <p:nvPr/>
        </p:nvSpPr>
        <p:spPr>
          <a:xfrm>
            <a:off x="7833208" y="1828800"/>
            <a:ext cx="310896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783320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عدد آياتها: ٣٨</a:t>
            </a:r>
            <a:endParaRPr lang="ar-SA" sz="1600" dirty="0"/>
          </a:p>
        </p:txBody>
      </p:sp>
      <p:sp>
        <p:nvSpPr>
          <p:cNvPr id="5" name="Shape 3"/>
          <p:cNvSpPr/>
          <p:nvPr/>
        </p:nvSpPr>
        <p:spPr>
          <a:xfrm>
            <a:off x="4541368" y="1828800"/>
            <a:ext cx="310896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مدنية</a:t>
            </a:r>
            <a:endParaRPr lang="ar-SA" sz="1600" dirty="0"/>
          </a:p>
        </p:txBody>
      </p:sp>
      <p:sp>
        <p:nvSpPr>
          <p:cNvPr id="7" name="Shape 5"/>
          <p:cNvSpPr/>
          <p:nvPr/>
        </p:nvSpPr>
        <p:spPr>
          <a:xfrm>
            <a:off x="1249528" y="1828800"/>
            <a:ext cx="310896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124952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ترتيبها في المصحف: ٤٧</a:t>
            </a:r>
            <a:endParaRPr lang="ar-SA" sz="1600" dirty="0"/>
          </a:p>
        </p:txBody>
      </p:sp>
      <p:sp>
        <p:nvSpPr>
          <p:cNvPr id="9" name="Shape 7"/>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7810348" y="2651760"/>
            <a:ext cx="219456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781034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سبب النزول</a:t>
            </a:r>
            <a:endParaRPr lang="ar-SA" sz="1800" dirty="0"/>
          </a:p>
        </p:txBody>
      </p:sp>
      <p:sp>
        <p:nvSpPr>
          <p:cNvPr id="12" name="Text 10"/>
          <p:cNvSpPr txBox="1"/>
          <p:nvPr/>
        </p:nvSpPr>
        <p:spPr>
          <a:xfrm>
            <a:off x="659876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ذكر ابن كثير عن ابن عباس أن النبي صلى الله عليه وسلم لما خرج من مكة مهاجرًا التفت إليها وقال: «أنتِ أحبّ بلاد الله إلى الله، وأنتِ أحبّ بلاد الله إليّ، ولولا أن أهلك أخرجوني لم أخرج منك»، فأنزل الله: ﴿وكأيّن من قرية هي أشدّ قوة من قريتك التي أخرجتك...﴾.</a:t>
            </a:r>
            <a:endParaRPr lang="ar-SA" sz="1800" dirty="0"/>
          </a:p>
        </p:txBody>
      </p:sp>
      <p:sp>
        <p:nvSpPr>
          <p:cNvPr id="13" name="Shape 11"/>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2186788" y="2651760"/>
            <a:ext cx="219456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218678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مقصد السورة</a:t>
            </a:r>
            <a:endParaRPr lang="ar-SA" sz="1800" dirty="0"/>
          </a:p>
        </p:txBody>
      </p:sp>
      <p:sp>
        <p:nvSpPr>
          <p:cNvPr id="16" name="Text 14"/>
          <p:cNvSpPr txBox="1"/>
          <p:nvPr/>
        </p:nvSpPr>
        <p:spPr>
          <a:xfrm>
            <a:off x="97520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المقارنة بين المؤمنين والكافرين في الأعمال والجزاء، وأحكام القتال، وكشف المنافقين، والحثّ على تدبّر القرآن.</a:t>
            </a:r>
            <a:endParaRPr lang="ar-SA" sz="18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محمد</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 – 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039112"/>
            <a:ext cx="548640" cy="548640"/>
          </a:xfrm>
          <a:prstGeom prst="star8">
            <a:avLst/>
          </a:prstGeom>
          <a:solidFill>
            <a:schemeClr val="accent2"/>
          </a:solidFill>
          <a:ln/>
        </p:spPr>
      </p:sp>
      <p:sp>
        <p:nvSpPr>
          <p:cNvPr id="6" name="Shape 4"/>
          <p:cNvSpPr/>
          <p:nvPr/>
        </p:nvSpPr>
        <p:spPr>
          <a:xfrm>
            <a:off x="11036808" y="214884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03911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a:t>
            </a:r>
            <a:endParaRPr lang="ar-SA" sz="1600" dirty="0"/>
          </a:p>
        </p:txBody>
      </p:sp>
      <p:sp>
        <p:nvSpPr>
          <p:cNvPr id="8" name="Text 6"/>
          <p:cNvSpPr txBox="1"/>
          <p:nvPr/>
        </p:nvSpPr>
        <p:spPr>
          <a:xfrm>
            <a:off x="731520" y="202082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الَّذِينَ كَفَرُواْ وَصَدُّواْ عَن سَبِيلِ اللَّهِ أَضَلَّ أَعْمَٰلَهُمْ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الذين كفروا ومنعوا الناس عن الإسلام، أبطل الله أعمالهم.</a:t>
            </a:r>
            <a:endParaRPr lang="ar-SA" sz="3200" dirty="0"/>
          </a:p>
        </p:txBody>
      </p:sp>
      <p:sp>
        <p:nvSpPr>
          <p:cNvPr id="9" name="Shape 7"/>
          <p:cNvSpPr/>
          <p:nvPr/>
        </p:nvSpPr>
        <p:spPr>
          <a:xfrm>
            <a:off x="2103120" y="3204972"/>
            <a:ext cx="8641080" cy="0"/>
          </a:xfrm>
          <a:prstGeom prst="line">
            <a:avLst/>
          </a:prstGeom>
          <a:noFill/>
          <a:ln w="9525">
            <a:solidFill>
              <a:schemeClr val="accent2"/>
            </a:solidFill>
            <a:prstDash val="dash"/>
          </a:ln>
        </p:spPr>
      </p:sp>
      <p:sp>
        <p:nvSpPr>
          <p:cNvPr id="10" name="Shape 8"/>
          <p:cNvSpPr/>
          <p:nvPr/>
        </p:nvSpPr>
        <p:spPr>
          <a:xfrm>
            <a:off x="10927080" y="3465576"/>
            <a:ext cx="548640" cy="548640"/>
          </a:xfrm>
          <a:prstGeom prst="star8">
            <a:avLst/>
          </a:prstGeom>
          <a:solidFill>
            <a:schemeClr val="accent2"/>
          </a:solidFill>
          <a:ln/>
        </p:spPr>
      </p:sp>
      <p:sp>
        <p:nvSpPr>
          <p:cNvPr id="11" name="Shape 9"/>
          <p:cNvSpPr/>
          <p:nvPr/>
        </p:nvSpPr>
        <p:spPr>
          <a:xfrm>
            <a:off x="11036808" y="357530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4655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a:t>
            </a:r>
            <a:endParaRPr lang="ar-SA" sz="1600" dirty="0"/>
          </a:p>
        </p:txBody>
      </p:sp>
      <p:sp>
        <p:nvSpPr>
          <p:cNvPr id="13" name="Text 11"/>
          <p:cNvSpPr txBox="1"/>
          <p:nvPr/>
        </p:nvSpPr>
        <p:spPr>
          <a:xfrm>
            <a:off x="731520" y="3447288"/>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وَالَّذِينَ ءَامَنُواْ وَعَمِلُواْ الصَّـٰلِحَٰتِ وَءَامَنُواْ بِمَا نُزِّلَ عَلَىٰ مُحَمَّدٍ وَهُوَ الْحَقُّ مِن رَّبِّهِمْ كَفَّرَ عَنْهُمْ سَيِّـَٔاتِهِمْ وَأَصْلَحَ بَالَهُمْ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والذين آمنوا وعملوا الصالحات، وآمنوا بما نُزّل على محمد صلى الله عليه وسلم -وهو الحق من ربهم- محا عنهم سيئاتهم، وأصلح شأنهم وحالهم.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محمد</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٣ – 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71600"/>
            <a:ext cx="548640" cy="548640"/>
          </a:xfrm>
          <a:prstGeom prst="star8">
            <a:avLst/>
          </a:prstGeom>
          <a:solidFill>
            <a:schemeClr val="accent2"/>
          </a:solidFill>
          <a:ln/>
        </p:spPr>
      </p:sp>
      <p:sp>
        <p:nvSpPr>
          <p:cNvPr id="6" name="Shape 4"/>
          <p:cNvSpPr/>
          <p:nvPr/>
        </p:nvSpPr>
        <p:spPr>
          <a:xfrm>
            <a:off x="11036808" y="148132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7160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a:t>
            </a:r>
            <a:endParaRPr lang="ar-SA" sz="1600" dirty="0"/>
          </a:p>
        </p:txBody>
      </p:sp>
      <p:sp>
        <p:nvSpPr>
          <p:cNvPr id="8" name="Text 6"/>
          <p:cNvSpPr txBox="1"/>
          <p:nvPr/>
        </p:nvSpPr>
        <p:spPr>
          <a:xfrm>
            <a:off x="731520" y="1353312"/>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ذَٰلِكَ بِأَنَّ الَّذِينَ كَفَرُواْ اتَّبَعُواْ الْبَٰطِلَ وَأَنَّ الَّذِينَ ءَامَنُواْ اتَّبَعُواْ الْحَقَّ مِن رَّبِّهِمْ كَذَٰلِكَ يَضْرِبُ اللَّهُ لِلنَّاسِ أَمْثَٰلَهُمْ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ذلك لأن الكفار اتبعوا الباطل، والمؤمنين اتبعوا الحق من ربهم، كذلك يبيّن الله للناس أمثالهم.</a:t>
            </a:r>
            <a:endParaRPr lang="ar-SA" sz="3200" dirty="0"/>
          </a:p>
        </p:txBody>
      </p:sp>
      <p:sp>
        <p:nvSpPr>
          <p:cNvPr id="9" name="Shape 7"/>
          <p:cNvSpPr/>
          <p:nvPr/>
        </p:nvSpPr>
        <p:spPr>
          <a:xfrm>
            <a:off x="2103120" y="3035808"/>
            <a:ext cx="8641080" cy="0"/>
          </a:xfrm>
          <a:prstGeom prst="line">
            <a:avLst/>
          </a:prstGeom>
          <a:noFill/>
          <a:ln w="9525">
            <a:solidFill>
              <a:schemeClr val="accent2"/>
            </a:solidFill>
            <a:prstDash val="dash"/>
          </a:ln>
        </p:spPr>
      </p:sp>
      <p:sp>
        <p:nvSpPr>
          <p:cNvPr id="10" name="Shape 8"/>
          <p:cNvSpPr/>
          <p:nvPr/>
        </p:nvSpPr>
        <p:spPr>
          <a:xfrm>
            <a:off x="10927080" y="3209544"/>
            <a:ext cx="548640" cy="548640"/>
          </a:xfrm>
          <a:prstGeom prst="star8">
            <a:avLst/>
          </a:prstGeom>
          <a:solidFill>
            <a:schemeClr val="accent2"/>
          </a:solidFill>
          <a:ln/>
        </p:spPr>
      </p:sp>
      <p:sp>
        <p:nvSpPr>
          <p:cNvPr id="11" name="Shape 9"/>
          <p:cNvSpPr/>
          <p:nvPr/>
        </p:nvSpPr>
        <p:spPr>
          <a:xfrm>
            <a:off x="11036808" y="331927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2095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a:t>
            </a:r>
            <a:endParaRPr lang="ar-SA" sz="1600" dirty="0"/>
          </a:p>
        </p:txBody>
      </p:sp>
      <p:sp>
        <p:nvSpPr>
          <p:cNvPr id="13" name="Text 11"/>
          <p:cNvSpPr txBox="1"/>
          <p:nvPr/>
        </p:nvSpPr>
        <p:spPr>
          <a:xfrm>
            <a:off x="731520" y="3191256"/>
            <a:ext cx="10012680" cy="2816352"/>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فَإِذَا لَقِيتُمُ الَّذِينَ كَفَرُواْ فَضَرْبَ الرِّقَابِ حَتَّىٰ إِذَآ أَثْخَنتُمُوهُمْ فَشُدُّواْ الْوَثَاقَ فَإِمَّا مَنًّا بَعْدُ وَإِمَّا فِدَآءً حَتَّىٰ تَضَعَ الْحَرْبُ أَوْزَارَهَا ذَٰلِكَ وَلَوْ يَشَآءُ اللَّهُ لَانتَصَرَ مِنْهُمْ وَلَٰكِن لِّيَبْلُوَاْ بَعْضَكُم بِبَعْضٍ وَالَّذِينَ قُتِلُواْ فِي سَبِيلِ اللَّهِ فَلَن يُضِلَّ أَعْمَٰلَهُمْ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فإذا لقيتم الكفار في المعركة فاضربوا رقابهم، حتى إذا أضعفتموهم فأحكموا أسرهم، ثم إما أن تُطلقوهم بلا مقابل أو تأخذوا فداءهم، حتى تنتهي الحرب، ولو شاء الله لانتصر منهم بلا قتال، ولكن ليختبر بعضكم ببعض.</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محمد</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٥ – 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سَيَهْدِيهِمْ وَيُصْلِحُ بَالَهُمْ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سيهدي الشهداء ويُصلح حالهم.</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وَيُدْخِلُهُمُ الْجَنَّةَ عَرَّفَهَا لَهُمْ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ويُدخلهم الجنة التي عرّفهم منازلهم فيها.</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يَـٰأَيُّهَا الَّذِينَ ءَامَنُواْ إِن تَنصُرُواْ اللَّهَ يَنصُرْكُمْ وَيُثَبِّتْ أَقْدَامَكُمْ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يا أيها المؤمنون، إن تنصروا دين الله ينصركم ويثبّت أقدامكم.</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وَالَّذِينَ كَفَرُواْ فَتَعْسًا لَّهُمْ وَأَضَلَّ أَعْمَٰلَهُمْ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والذين كفروا فهلاكًا لهم، وأبطل أعمالهم.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محمد</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٩ – ١١</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95044"/>
            <a:ext cx="548640" cy="548640"/>
          </a:xfrm>
          <a:prstGeom prst="star8">
            <a:avLst/>
          </a:prstGeom>
          <a:solidFill>
            <a:schemeClr val="accent2"/>
          </a:solidFill>
          <a:ln/>
        </p:spPr>
      </p:sp>
      <p:sp>
        <p:nvSpPr>
          <p:cNvPr id="6" name="Shape 4"/>
          <p:cNvSpPr/>
          <p:nvPr/>
        </p:nvSpPr>
        <p:spPr>
          <a:xfrm>
            <a:off x="11036808" y="16047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950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a:t>
            </a:r>
            <a:endParaRPr lang="ar-SA" sz="1600" dirty="0"/>
          </a:p>
        </p:txBody>
      </p:sp>
      <p:sp>
        <p:nvSpPr>
          <p:cNvPr id="8" name="Text 6"/>
          <p:cNvSpPr txBox="1"/>
          <p:nvPr/>
        </p:nvSpPr>
        <p:spPr>
          <a:xfrm>
            <a:off x="731520" y="147675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ذَٰلِكَ بِأَنَّهُمْ كَرِهُواْ مَآ أَنزَلَ اللَّهُ فَأَحْبَطَ أَعْمَٰلَهُمْ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ذلك لأنهم كرهوا القرآن فأبطل أعمالهم.</a:t>
            </a:r>
            <a:endParaRPr lang="ar-SA" sz="3200" dirty="0"/>
          </a:p>
        </p:txBody>
      </p:sp>
      <p:sp>
        <p:nvSpPr>
          <p:cNvPr id="9" name="Shape 7"/>
          <p:cNvSpPr/>
          <p:nvPr/>
        </p:nvSpPr>
        <p:spPr>
          <a:xfrm>
            <a:off x="2103120" y="2660904"/>
            <a:ext cx="8641080" cy="0"/>
          </a:xfrm>
          <a:prstGeom prst="line">
            <a:avLst/>
          </a:prstGeom>
          <a:noFill/>
          <a:ln w="9525">
            <a:solidFill>
              <a:schemeClr val="accent2"/>
            </a:solidFill>
            <a:prstDash val="dash"/>
          </a:ln>
        </p:spPr>
      </p:sp>
      <p:sp>
        <p:nvSpPr>
          <p:cNvPr id="10" name="Shape 8"/>
          <p:cNvSpPr/>
          <p:nvPr/>
        </p:nvSpPr>
        <p:spPr>
          <a:xfrm>
            <a:off x="10927080" y="2921508"/>
            <a:ext cx="548640" cy="548640"/>
          </a:xfrm>
          <a:prstGeom prst="star8">
            <a:avLst/>
          </a:prstGeom>
          <a:solidFill>
            <a:schemeClr val="accent2"/>
          </a:solidFill>
          <a:ln/>
        </p:spPr>
      </p:sp>
      <p:sp>
        <p:nvSpPr>
          <p:cNvPr id="11" name="Shape 9"/>
          <p:cNvSpPr/>
          <p:nvPr/>
        </p:nvSpPr>
        <p:spPr>
          <a:xfrm>
            <a:off x="11036808" y="303123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92150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١٠</a:t>
            </a:r>
            <a:endParaRPr lang="ar-SA" sz="1600" dirty="0"/>
          </a:p>
        </p:txBody>
      </p:sp>
      <p:sp>
        <p:nvSpPr>
          <p:cNvPr id="13" name="Text 11"/>
          <p:cNvSpPr txBox="1"/>
          <p:nvPr/>
        </p:nvSpPr>
        <p:spPr>
          <a:xfrm>
            <a:off x="731520" y="2903220"/>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أَفَلَمْ يَسِيرُواْ فِي الْأَرْضِ فَيَنظُرُواْ كَيْفَ كَانَ عَٰقِبَةُ الَّذِينَ مِن قَبْلِهِمْ دَمَّرَ اللَّهُ عَلَيْهِمْ وَلِلْكَٰفِرِينَ أَمْثَٰلُهَا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أفلم يسيروا في الأرض فيروا كيف كانت عاقبة الأمم المكذّبة قبلهم؟ أهلكهم الله، وللكافرين أمثالها.</a:t>
            </a:r>
            <a:endParaRPr lang="ar-SA" sz="3200" dirty="0"/>
          </a:p>
        </p:txBody>
      </p:sp>
      <p:sp>
        <p:nvSpPr>
          <p:cNvPr id="14" name="Shape 12"/>
          <p:cNvSpPr/>
          <p:nvPr/>
        </p:nvSpPr>
        <p:spPr>
          <a:xfrm>
            <a:off x="2103120" y="4672584"/>
            <a:ext cx="8641080" cy="0"/>
          </a:xfrm>
          <a:prstGeom prst="line">
            <a:avLst/>
          </a:prstGeom>
          <a:noFill/>
          <a:ln w="9525">
            <a:solidFill>
              <a:schemeClr val="accent2"/>
            </a:solidFill>
            <a:prstDash val="dash"/>
          </a:ln>
        </p:spPr>
      </p:sp>
      <p:sp>
        <p:nvSpPr>
          <p:cNvPr id="15" name="Shape 13"/>
          <p:cNvSpPr/>
          <p:nvPr/>
        </p:nvSpPr>
        <p:spPr>
          <a:xfrm>
            <a:off x="10927080" y="4933188"/>
            <a:ext cx="548640" cy="548640"/>
          </a:xfrm>
          <a:prstGeom prst="star8">
            <a:avLst/>
          </a:prstGeom>
          <a:solidFill>
            <a:schemeClr val="accent2"/>
          </a:solidFill>
          <a:ln/>
        </p:spPr>
      </p:sp>
      <p:sp>
        <p:nvSpPr>
          <p:cNvPr id="16" name="Shape 14"/>
          <p:cNvSpPr/>
          <p:nvPr/>
        </p:nvSpPr>
        <p:spPr>
          <a:xfrm>
            <a:off x="11036808" y="5042916"/>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93318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١١</a:t>
            </a:r>
            <a:endParaRPr lang="ar-SA" sz="1600" dirty="0"/>
          </a:p>
        </p:txBody>
      </p:sp>
      <p:sp>
        <p:nvSpPr>
          <p:cNvPr id="18" name="Text 16"/>
          <p:cNvSpPr txBox="1"/>
          <p:nvPr/>
        </p:nvSpPr>
        <p:spPr>
          <a:xfrm>
            <a:off x="731520" y="491490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ذَٰلِكَ بِأَنَّ اللَّهَ مَوْلَى الَّذِينَ ءَامَنُواْ وَأَنَّ الْكَٰفِرِينَ لَا مَوْلَىٰ لَهُمْ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ذلك لأن الله ناصر المؤمنين، وأن الكافرين لا ناصر لهم.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محمد</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١٢ – ١٣</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46504"/>
            <a:ext cx="548640" cy="548640"/>
          </a:xfrm>
          <a:prstGeom prst="star8">
            <a:avLst/>
          </a:prstGeom>
          <a:solidFill>
            <a:schemeClr val="accent2"/>
          </a:solidFill>
          <a:ln/>
        </p:spPr>
      </p:sp>
      <p:sp>
        <p:nvSpPr>
          <p:cNvPr id="6" name="Shape 4"/>
          <p:cNvSpPr/>
          <p:nvPr/>
        </p:nvSpPr>
        <p:spPr>
          <a:xfrm>
            <a:off x="11036808" y="18562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465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١٢</a:t>
            </a:r>
            <a:endParaRPr lang="ar-SA" sz="1600" dirty="0"/>
          </a:p>
        </p:txBody>
      </p:sp>
      <p:sp>
        <p:nvSpPr>
          <p:cNvPr id="8" name="Text 6"/>
          <p:cNvSpPr txBox="1"/>
          <p:nvPr/>
        </p:nvSpPr>
        <p:spPr>
          <a:xfrm>
            <a:off x="731520" y="172821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اللَّهَ يُدْخِلُ الَّذِينَ ءَامَنُواْ وَعَمِلُواْ الصَّـٰلِحَٰتِ جَنَّـٰتٍ تَجْرِي مِن تَحْتِهَا الْأَنْهَٰرُ وَالَّذِينَ كَفَرُواْ يَتَمَتَّعُونَ وَيَأْكُلُونَ كَمَا تَأْكُلُ الْأَنْعَٰمُ وَالنَّارُ مَثْوًى لَّهُمْ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 الله يُدخل المؤمنين جنات تجري من تحتها الأنهار، والكفار يتمتعون في الدنيا ويأكلون كما تأكل البهائم بلا تفكّر، والنار مسكن لهم.</a:t>
            </a:r>
            <a:endParaRPr lang="ar-SA" sz="3200" dirty="0"/>
          </a:p>
        </p:txBody>
      </p:sp>
      <p:sp>
        <p:nvSpPr>
          <p:cNvPr id="9" name="Shape 7"/>
          <p:cNvSpPr/>
          <p:nvPr/>
        </p:nvSpPr>
        <p:spPr>
          <a:xfrm>
            <a:off x="2103120" y="3835908"/>
            <a:ext cx="8641080" cy="0"/>
          </a:xfrm>
          <a:prstGeom prst="line">
            <a:avLst/>
          </a:prstGeom>
          <a:noFill/>
          <a:ln w="9525">
            <a:solidFill>
              <a:schemeClr val="accent2"/>
            </a:solidFill>
            <a:prstDash val="dash"/>
          </a:ln>
        </p:spPr>
      </p:sp>
      <p:sp>
        <p:nvSpPr>
          <p:cNvPr id="10" name="Shape 8"/>
          <p:cNvSpPr/>
          <p:nvPr/>
        </p:nvSpPr>
        <p:spPr>
          <a:xfrm>
            <a:off x="10927080" y="4096512"/>
            <a:ext cx="548640" cy="548640"/>
          </a:xfrm>
          <a:prstGeom prst="star8">
            <a:avLst/>
          </a:prstGeom>
          <a:solidFill>
            <a:schemeClr val="accent2"/>
          </a:solidFill>
          <a:ln/>
        </p:spPr>
      </p:sp>
      <p:sp>
        <p:nvSpPr>
          <p:cNvPr id="11" name="Shape 9"/>
          <p:cNvSpPr/>
          <p:nvPr/>
        </p:nvSpPr>
        <p:spPr>
          <a:xfrm>
            <a:off x="11036808" y="4206240"/>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09651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١٣</a:t>
            </a:r>
            <a:endParaRPr lang="ar-SA" sz="1600" dirty="0"/>
          </a:p>
        </p:txBody>
      </p:sp>
      <p:sp>
        <p:nvSpPr>
          <p:cNvPr id="13" name="Text 11"/>
          <p:cNvSpPr txBox="1"/>
          <p:nvPr/>
        </p:nvSpPr>
        <p:spPr>
          <a:xfrm>
            <a:off x="731520" y="4078224"/>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وَكَأَيِّن مِّن قَرْيَةٍ هِيَ أَشَدُّ قُوَّةً مِّن قَرْيَتِكَ الَّتِي أَخْرَجَتْكَ أَهْلَكْنَٰهُمْ فَلَا نَاصِرَ لَهُمْ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وكثير من القرى كانت أشدّ قوة من مكة التي أخرجك أهلها، أهلكناهم فلا ناصر لهم.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محمد</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١٤ – ١٥</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71600"/>
            <a:ext cx="548640" cy="548640"/>
          </a:xfrm>
          <a:prstGeom prst="star8">
            <a:avLst/>
          </a:prstGeom>
          <a:solidFill>
            <a:schemeClr val="accent2"/>
          </a:solidFill>
          <a:ln/>
        </p:spPr>
      </p:sp>
      <p:sp>
        <p:nvSpPr>
          <p:cNvPr id="6" name="Shape 4"/>
          <p:cNvSpPr/>
          <p:nvPr/>
        </p:nvSpPr>
        <p:spPr>
          <a:xfrm>
            <a:off x="11036808" y="148132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7160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١٤</a:t>
            </a:r>
            <a:endParaRPr lang="ar-SA" sz="1600" dirty="0"/>
          </a:p>
        </p:txBody>
      </p:sp>
      <p:sp>
        <p:nvSpPr>
          <p:cNvPr id="8" name="Text 6"/>
          <p:cNvSpPr txBox="1"/>
          <p:nvPr/>
        </p:nvSpPr>
        <p:spPr>
          <a:xfrm>
            <a:off x="731520" y="135331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أَفَمَن كَانَ عَلَىٰ بَيِّنَةٍ مِّن رَّبِّهِ كَمَن زُيِّنَ لَهُ سُوءُ عَمَلِهِ وَاتَّبَعُواْ أَهْوَآءَهُم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أفمن كان على حجة واضحة من ربه، كمن زُيّن له عمله السيئ واتّبع هواه؟</a:t>
            </a:r>
            <a:endParaRPr lang="ar-SA" sz="3200" dirty="0"/>
          </a:p>
        </p:txBody>
      </p:sp>
      <p:sp>
        <p:nvSpPr>
          <p:cNvPr id="9" name="Shape 7"/>
          <p:cNvSpPr/>
          <p:nvPr/>
        </p:nvSpPr>
        <p:spPr>
          <a:xfrm>
            <a:off x="2103120" y="2450592"/>
            <a:ext cx="8641080" cy="0"/>
          </a:xfrm>
          <a:prstGeom prst="line">
            <a:avLst/>
          </a:prstGeom>
          <a:noFill/>
          <a:ln w="9525">
            <a:solidFill>
              <a:schemeClr val="accent2"/>
            </a:solidFill>
            <a:prstDash val="dash"/>
          </a:ln>
        </p:spPr>
      </p:sp>
      <p:sp>
        <p:nvSpPr>
          <p:cNvPr id="10" name="Shape 8"/>
          <p:cNvSpPr/>
          <p:nvPr/>
        </p:nvSpPr>
        <p:spPr>
          <a:xfrm>
            <a:off x="10927080" y="2624328"/>
            <a:ext cx="548640" cy="548640"/>
          </a:xfrm>
          <a:prstGeom prst="star8">
            <a:avLst/>
          </a:prstGeom>
          <a:solidFill>
            <a:schemeClr val="accent2"/>
          </a:solidFill>
          <a:ln/>
        </p:spPr>
      </p:sp>
      <p:sp>
        <p:nvSpPr>
          <p:cNvPr id="11" name="Shape 9"/>
          <p:cNvSpPr/>
          <p:nvPr/>
        </p:nvSpPr>
        <p:spPr>
          <a:xfrm>
            <a:off x="11036808" y="273405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62432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١٥</a:t>
            </a:r>
            <a:endParaRPr lang="ar-SA" sz="1600" dirty="0"/>
          </a:p>
        </p:txBody>
      </p:sp>
      <p:sp>
        <p:nvSpPr>
          <p:cNvPr id="13" name="Text 11"/>
          <p:cNvSpPr txBox="1"/>
          <p:nvPr/>
        </p:nvSpPr>
        <p:spPr>
          <a:xfrm>
            <a:off x="731520" y="2606040"/>
            <a:ext cx="10012680" cy="340156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مَّثَلُ الْجَنَّةِ الَّتِي وُعِدَ الْمُتَّقُونَ فِيهَآ أَنْهَٰرٌ مِّن مَّآءٍ غَيْرِ ءَاسِنٍ وَأَنْهَٰرٌ مِّن لَّبَنٍ لَّمْ يَتَغَيَّرْ طَعْمُهُ وَأَنْهَٰرٌ مِّنْ خَمْرٍ لَّذَّةٍ لِّلشَّـٰرِبِينَ وَأَنْهَٰرٌ مِّنْ عَسَلٍ مُّصَفًّى وَلَهُمْ فِيهَا مِن كُلِّ الثَّمَرَٰتِ وَمَغْفِرَةٌ مِّن رَّبِّهِمْ كَمَنْ هُوَ خَٰلِدٌ فِي النَّارِ وَسُقُواْ مَآءً حَمِيمًا فَقَطَّعَ أَمْعَآءَهُمْ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صفة الجنة: فيها أنهار من ماء لا يتغيّر، وأنهار من لبن لم يتغيّر طعمه، وأنهار من خمر لذيذة لا تُسكر، وأنهار من عسل مصفّى، ولهم فيها من كل الثمرات ومغفرة، فهل هؤلاء كمن هو خالد في النار يُسقى ماءً حارًا يقطّع أمعاءهم؟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محمد</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١٦ – ١٧</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039112"/>
            <a:ext cx="548640" cy="548640"/>
          </a:xfrm>
          <a:prstGeom prst="star8">
            <a:avLst/>
          </a:prstGeom>
          <a:solidFill>
            <a:schemeClr val="accent2"/>
          </a:solidFill>
          <a:ln/>
        </p:spPr>
      </p:sp>
      <p:sp>
        <p:nvSpPr>
          <p:cNvPr id="6" name="Shape 4"/>
          <p:cNvSpPr/>
          <p:nvPr/>
        </p:nvSpPr>
        <p:spPr>
          <a:xfrm>
            <a:off x="11036808" y="214884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03911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١٦</a:t>
            </a:r>
            <a:endParaRPr lang="ar-SA" sz="1600" dirty="0"/>
          </a:p>
        </p:txBody>
      </p:sp>
      <p:sp>
        <p:nvSpPr>
          <p:cNvPr id="8" name="Text 6"/>
          <p:cNvSpPr txBox="1"/>
          <p:nvPr/>
        </p:nvSpPr>
        <p:spPr>
          <a:xfrm>
            <a:off x="731520" y="2020824"/>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وَمِنْهُم مَّن يَسْتَمِعُ إِلَيْكَ حَتَّىٰ إِذَا خَرَجُواْ مِنْ عِندِكَ قَالُواْ لِلَّذِينَ أُوتُواْ الْعِلْمَ مَاذَا قَالَ ءَانِفًا أُوْلَـٰئِكَ الَّذِينَ طَبَعَ اللَّهُ عَلَىٰ قُلُوبِهِمْ وَاتَّبَعُواْ أَهْوَآءَهُمْ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ومن المنافقين من يستمع إليك بلا فهم، حتى إذا خرجوا قالوا لأهل العلم من الصحابة استهزاءً: ماذا قال قبل قليل؟ أولئك الذين طبع الله على قلوبهم واتبعوا أهواءهم.</a:t>
            </a:r>
            <a:endParaRPr lang="ar-SA" sz="3200" dirty="0"/>
          </a:p>
        </p:txBody>
      </p:sp>
      <p:sp>
        <p:nvSpPr>
          <p:cNvPr id="9" name="Shape 7"/>
          <p:cNvSpPr/>
          <p:nvPr/>
        </p:nvSpPr>
        <p:spPr>
          <a:xfrm>
            <a:off x="2103120" y="4128516"/>
            <a:ext cx="8641080" cy="0"/>
          </a:xfrm>
          <a:prstGeom prst="line">
            <a:avLst/>
          </a:prstGeom>
          <a:noFill/>
          <a:ln w="9525">
            <a:solidFill>
              <a:schemeClr val="accent2"/>
            </a:solidFill>
            <a:prstDash val="dash"/>
          </a:ln>
        </p:spPr>
      </p:sp>
      <p:sp>
        <p:nvSpPr>
          <p:cNvPr id="10" name="Shape 8"/>
          <p:cNvSpPr/>
          <p:nvPr/>
        </p:nvSpPr>
        <p:spPr>
          <a:xfrm>
            <a:off x="10927080" y="4389120"/>
            <a:ext cx="548640" cy="548640"/>
          </a:xfrm>
          <a:prstGeom prst="star8">
            <a:avLst/>
          </a:prstGeom>
          <a:solidFill>
            <a:schemeClr val="accent2"/>
          </a:solidFill>
          <a:ln/>
        </p:spPr>
      </p:sp>
      <p:sp>
        <p:nvSpPr>
          <p:cNvPr id="11" name="Shape 9"/>
          <p:cNvSpPr/>
          <p:nvPr/>
        </p:nvSpPr>
        <p:spPr>
          <a:xfrm>
            <a:off x="11036808" y="4498848"/>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38912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١٧</a:t>
            </a:r>
            <a:endParaRPr lang="ar-SA" sz="1600" dirty="0"/>
          </a:p>
        </p:txBody>
      </p:sp>
      <p:sp>
        <p:nvSpPr>
          <p:cNvPr id="13" name="Text 11"/>
          <p:cNvSpPr txBox="1"/>
          <p:nvPr/>
        </p:nvSpPr>
        <p:spPr>
          <a:xfrm>
            <a:off x="731520" y="437083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وَالَّذِينَ اهْتَدَوْاْ زَادَهُمْ هُدًى وَءَاتَىٰهُمْ تَقْوَىٰهُمْ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والذين اهتدوا زادهم الله هدى، ووفّقهم للتقوى.</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محمد</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١٨ – ١٩</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577340"/>
            <a:ext cx="548640" cy="548640"/>
          </a:xfrm>
          <a:prstGeom prst="star8">
            <a:avLst/>
          </a:prstGeom>
          <a:solidFill>
            <a:schemeClr val="accent2"/>
          </a:solidFill>
          <a:ln/>
        </p:spPr>
      </p:sp>
      <p:sp>
        <p:nvSpPr>
          <p:cNvPr id="6" name="Shape 4"/>
          <p:cNvSpPr/>
          <p:nvPr/>
        </p:nvSpPr>
        <p:spPr>
          <a:xfrm>
            <a:off x="11036808" y="168706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57734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١٨</a:t>
            </a:r>
            <a:endParaRPr lang="ar-SA" sz="1600" dirty="0"/>
          </a:p>
        </p:txBody>
      </p:sp>
      <p:sp>
        <p:nvSpPr>
          <p:cNvPr id="8" name="Text 6"/>
          <p:cNvSpPr txBox="1"/>
          <p:nvPr/>
        </p:nvSpPr>
        <p:spPr>
          <a:xfrm>
            <a:off x="731520" y="1559052"/>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فَهَلْ يَنظُرُونَ إِلَّا السَّاعَةَ أَن تَأْتِيَهُم بَغْتَةً فَقَدْ جَآءَ أَشْرَاطُهَا فَأَنَّىٰ لَهُمْ إِذَا جَآءَتْهُمْ ذِكْرَىٰهُمْ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فهل ينتظر الكفار إلا أن تأتيهم القيامة فجأة؟ فقد ظهرت علاماتها، ومنها بعثة النبي صلى الله عليه وسلم، فكيف ينفعهم التذكّر إذا جاءتهم؟</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١٩</a:t>
            </a:r>
            <a:endParaRPr lang="ar-SA" sz="1600" dirty="0"/>
          </a:p>
        </p:txBody>
      </p:sp>
      <p:sp>
        <p:nvSpPr>
          <p:cNvPr id="13" name="Text 11"/>
          <p:cNvSpPr txBox="1"/>
          <p:nvPr/>
        </p:nvSpPr>
        <p:spPr>
          <a:xfrm>
            <a:off x="731520" y="3909060"/>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فَاعْلَمْ أَنَّهُ لَآ إِلَٰهَ إِلَّا اللَّهُ وَاسْتَغْفِرْ لِذَنبِكَ وَلِلْمُؤْمِنِينَ وَالْمُؤْمِنَٰتِ وَاللَّهُ يَعْلَمُ مُتَقَلَّبَكُمْ وَمَثْوَىٰكُمْ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فاعلم أنه لا معبود بحق إلا الله، واستغفر لذنبك وللمؤمنين والمؤمنات، والله يعلم تصرّفكم في النهار ومستقرّكم في الليل.</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محمد</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٢٠ – ٢١</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46504"/>
            <a:ext cx="548640" cy="548640"/>
          </a:xfrm>
          <a:prstGeom prst="star8">
            <a:avLst/>
          </a:prstGeom>
          <a:solidFill>
            <a:schemeClr val="accent2"/>
          </a:solidFill>
          <a:ln/>
        </p:spPr>
      </p:sp>
      <p:sp>
        <p:nvSpPr>
          <p:cNvPr id="6" name="Shape 4"/>
          <p:cNvSpPr/>
          <p:nvPr/>
        </p:nvSpPr>
        <p:spPr>
          <a:xfrm>
            <a:off x="11036808" y="18562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465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٢٠</a:t>
            </a:r>
            <a:endParaRPr lang="ar-SA" sz="1600" dirty="0"/>
          </a:p>
        </p:txBody>
      </p:sp>
      <p:sp>
        <p:nvSpPr>
          <p:cNvPr id="8" name="Text 6"/>
          <p:cNvSpPr txBox="1"/>
          <p:nvPr/>
        </p:nvSpPr>
        <p:spPr>
          <a:xfrm>
            <a:off x="731520" y="1728216"/>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وَيَقُولُ الَّذِينَ ءَامَنُواْ لَوْلَا نُزِّلَتْ سُورَةٌ فَإِذَآ أُنزِلَتْ سُورَةٌ مُّحْكَمَةٌ وَذُكِرَ فِيهَا الْقِتَالُ رَأَيْتَ الَّذِينَ فِي قُلُوبِهِم مَّرَضٌ يَنظُرُونَ إِلَيْكَ نَظَرَ الْمَغْشِيِّ عَلَيْهِ مِنَ الْمَوْتِ فَأَوْلَىٰ لَهُمْ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ويقول المؤمنون: هلّا نزلت سورة تأمر بالجهاد، فإذا نزلت وذُكر فيها القتال رأيت المنافقين ينظرون إليك نظر من أصابته غشية الموت من الخوف.</a:t>
            </a:r>
            <a:endParaRPr lang="ar-SA" sz="3200" dirty="0"/>
          </a:p>
        </p:txBody>
      </p:sp>
      <p:sp>
        <p:nvSpPr>
          <p:cNvPr id="9" name="Shape 7"/>
          <p:cNvSpPr/>
          <p:nvPr/>
        </p:nvSpPr>
        <p:spPr>
          <a:xfrm>
            <a:off x="2103120" y="4421124"/>
            <a:ext cx="8641080" cy="0"/>
          </a:xfrm>
          <a:prstGeom prst="line">
            <a:avLst/>
          </a:prstGeom>
          <a:noFill/>
          <a:ln w="9525">
            <a:solidFill>
              <a:schemeClr val="accent2"/>
            </a:solidFill>
            <a:prstDash val="dash"/>
          </a:ln>
        </p:spPr>
      </p:sp>
      <p:sp>
        <p:nvSpPr>
          <p:cNvPr id="10" name="Shape 8"/>
          <p:cNvSpPr/>
          <p:nvPr/>
        </p:nvSpPr>
        <p:spPr>
          <a:xfrm>
            <a:off x="10927080" y="4681728"/>
            <a:ext cx="548640" cy="548640"/>
          </a:xfrm>
          <a:prstGeom prst="star8">
            <a:avLst/>
          </a:prstGeom>
          <a:solidFill>
            <a:schemeClr val="accent2"/>
          </a:solidFill>
          <a:ln/>
        </p:spPr>
      </p:sp>
      <p:sp>
        <p:nvSpPr>
          <p:cNvPr id="11" name="Shape 9"/>
          <p:cNvSpPr/>
          <p:nvPr/>
        </p:nvSpPr>
        <p:spPr>
          <a:xfrm>
            <a:off x="11036808" y="479145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68172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٢١</a:t>
            </a:r>
            <a:endParaRPr lang="ar-SA" sz="1600" dirty="0"/>
          </a:p>
        </p:txBody>
      </p:sp>
      <p:sp>
        <p:nvSpPr>
          <p:cNvPr id="13" name="Text 11"/>
          <p:cNvSpPr txBox="1"/>
          <p:nvPr/>
        </p:nvSpPr>
        <p:spPr>
          <a:xfrm>
            <a:off x="731520" y="466344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طَاعَةٌ وَقَوْلٌ مَّعْرُوفٌ فَإِذَا عَزَمَ الْأَمْرُ فَلَوْ صَدَقُواْ اللَّهَ لَكَانَ خَيْرًا لَّهُمْ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والأفضل لهم طاعةٌ وقولٌ حسن، فإذا جدّ الأمر فلو صدقوا الله لكان خيرًا لهم.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محمد</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٢٢ – ٢٤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87652"/>
            <a:ext cx="548640" cy="548640"/>
          </a:xfrm>
          <a:prstGeom prst="star8">
            <a:avLst/>
          </a:prstGeom>
          <a:solidFill>
            <a:schemeClr val="accent2"/>
          </a:solidFill>
          <a:ln/>
        </p:spPr>
      </p:sp>
      <p:sp>
        <p:nvSpPr>
          <p:cNvPr id="6" name="Shape 4"/>
          <p:cNvSpPr/>
          <p:nvPr/>
        </p:nvSpPr>
        <p:spPr>
          <a:xfrm>
            <a:off x="11036808" y="189738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8765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٢٢</a:t>
            </a:r>
            <a:endParaRPr lang="ar-SA" sz="1600" dirty="0"/>
          </a:p>
        </p:txBody>
      </p:sp>
      <p:sp>
        <p:nvSpPr>
          <p:cNvPr id="8" name="Text 6"/>
          <p:cNvSpPr txBox="1"/>
          <p:nvPr/>
        </p:nvSpPr>
        <p:spPr>
          <a:xfrm>
            <a:off x="731520" y="176936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فَهَلْ عَسَيْتُمْ إِن تَوَلَّيْتُمْ أَن تُفْسِدُواْ فِي الْأَرْضِ وَتُقَطِّعُواْ أَرْحَامَكُمْ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فلعلّكم إن أعرضتم عن الإيمان أن تفسدوا في الأرض وتقطعوا أرحامكم.</a:t>
            </a:r>
            <a:endParaRPr lang="ar-SA" sz="3200" dirty="0"/>
          </a:p>
        </p:txBody>
      </p:sp>
      <p:sp>
        <p:nvSpPr>
          <p:cNvPr id="9" name="Shape 7"/>
          <p:cNvSpPr/>
          <p:nvPr/>
        </p:nvSpPr>
        <p:spPr>
          <a:xfrm>
            <a:off x="2103120" y="2953512"/>
            <a:ext cx="8641080" cy="0"/>
          </a:xfrm>
          <a:prstGeom prst="line">
            <a:avLst/>
          </a:prstGeom>
          <a:noFill/>
          <a:ln w="9525">
            <a:solidFill>
              <a:schemeClr val="accent2"/>
            </a:solidFill>
            <a:prstDash val="dash"/>
          </a:ln>
        </p:spPr>
      </p:sp>
      <p:sp>
        <p:nvSpPr>
          <p:cNvPr id="10" name="Shape 8"/>
          <p:cNvSpPr/>
          <p:nvPr/>
        </p:nvSpPr>
        <p:spPr>
          <a:xfrm>
            <a:off x="10927080" y="3214116"/>
            <a:ext cx="548640" cy="548640"/>
          </a:xfrm>
          <a:prstGeom prst="star8">
            <a:avLst/>
          </a:prstGeom>
          <a:solidFill>
            <a:schemeClr val="accent2"/>
          </a:solidFill>
          <a:ln/>
        </p:spPr>
      </p:sp>
      <p:sp>
        <p:nvSpPr>
          <p:cNvPr id="11" name="Shape 9"/>
          <p:cNvSpPr/>
          <p:nvPr/>
        </p:nvSpPr>
        <p:spPr>
          <a:xfrm>
            <a:off x="11036808" y="332384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2141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٢٣</a:t>
            </a:r>
            <a:endParaRPr lang="ar-SA" sz="1600" dirty="0"/>
          </a:p>
        </p:txBody>
      </p:sp>
      <p:sp>
        <p:nvSpPr>
          <p:cNvPr id="13" name="Text 11"/>
          <p:cNvSpPr txBox="1"/>
          <p:nvPr/>
        </p:nvSpPr>
        <p:spPr>
          <a:xfrm>
            <a:off x="731520" y="319582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أُوْلَـٰئِكَ الَّذِينَ لَعَنَهُمُ اللَّهُ فَأَصَمَّهُمْ وَأَعْمَىٰ أَبْصَٰرَهُمْ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أولئك الذين طردهم الله من رحمته، فأصمّهم عن سماع الحق، وأعمى أبصارهم عن رؤيته.</a:t>
            </a:r>
            <a:endParaRPr lang="ar-SA" sz="3200" dirty="0"/>
          </a:p>
        </p:txBody>
      </p:sp>
      <p:sp>
        <p:nvSpPr>
          <p:cNvPr id="14" name="Shape 12"/>
          <p:cNvSpPr/>
          <p:nvPr/>
        </p:nvSpPr>
        <p:spPr>
          <a:xfrm>
            <a:off x="2103120" y="4379976"/>
            <a:ext cx="8641080" cy="0"/>
          </a:xfrm>
          <a:prstGeom prst="line">
            <a:avLst/>
          </a:prstGeom>
          <a:noFill/>
          <a:ln w="9525">
            <a:solidFill>
              <a:schemeClr val="accent2"/>
            </a:solidFill>
            <a:prstDash val="dash"/>
          </a:ln>
        </p:spPr>
      </p:sp>
      <p:sp>
        <p:nvSpPr>
          <p:cNvPr id="15" name="Shape 13"/>
          <p:cNvSpPr/>
          <p:nvPr/>
        </p:nvSpPr>
        <p:spPr>
          <a:xfrm>
            <a:off x="10927080" y="4640580"/>
            <a:ext cx="548640" cy="548640"/>
          </a:xfrm>
          <a:prstGeom prst="star8">
            <a:avLst/>
          </a:prstGeom>
          <a:solidFill>
            <a:schemeClr val="accent2"/>
          </a:solidFill>
          <a:ln/>
        </p:spPr>
      </p:sp>
      <p:sp>
        <p:nvSpPr>
          <p:cNvPr id="16" name="Shape 14"/>
          <p:cNvSpPr/>
          <p:nvPr/>
        </p:nvSpPr>
        <p:spPr>
          <a:xfrm>
            <a:off x="11036808" y="4750308"/>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64058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٢٤</a:t>
            </a:r>
            <a:endParaRPr lang="ar-SA" sz="1600" dirty="0"/>
          </a:p>
        </p:txBody>
      </p:sp>
      <p:sp>
        <p:nvSpPr>
          <p:cNvPr id="18" name="Text 16"/>
          <p:cNvSpPr txBox="1"/>
          <p:nvPr/>
        </p:nvSpPr>
        <p:spPr>
          <a:xfrm>
            <a:off x="731520" y="462229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أَفَلَا يَتَدَبَّرُونَ الْقُرْءَانَ أَمْ عَلَىٰ قُلُوبٍ أَقْفَالُهَآ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أفلا يتأمّلون القرآن ويتفكّرون فيه؟ أم على قلوبهم أقفال تمنعها من الفهم؟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محمد</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٢٥ – ٢٧</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73124"/>
            <a:ext cx="548640" cy="548640"/>
          </a:xfrm>
          <a:prstGeom prst="star8">
            <a:avLst/>
          </a:prstGeom>
          <a:solidFill>
            <a:schemeClr val="accent2"/>
          </a:solidFill>
          <a:ln/>
        </p:spPr>
      </p:sp>
      <p:sp>
        <p:nvSpPr>
          <p:cNvPr id="6" name="Shape 4"/>
          <p:cNvSpPr/>
          <p:nvPr/>
        </p:nvSpPr>
        <p:spPr>
          <a:xfrm>
            <a:off x="11036808" y="148285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7312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٢٥</a:t>
            </a:r>
            <a:endParaRPr lang="ar-SA" sz="1600" dirty="0"/>
          </a:p>
        </p:txBody>
      </p:sp>
      <p:sp>
        <p:nvSpPr>
          <p:cNvPr id="8" name="Text 6"/>
          <p:cNvSpPr txBox="1"/>
          <p:nvPr/>
        </p:nvSpPr>
        <p:spPr>
          <a:xfrm>
            <a:off x="731520" y="1354836"/>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الَّذِينَ ارْتَدُّواْ عَلَىٰ أَدْبَٰرِهِم مِّن بَعْدِ مَا تَبَيَّنَ لَهُمُ الْهُدَى الشَّيْطَٰنُ سَوَّلَ لَهُمْ وَأَمْلَىٰ لَهُمْ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 الذين رجعوا عن الإيمان بعد ما ظهر لهم الحق، الشيطان زيّن لهم ذلك ومدّ لهم في الأماني.</a:t>
            </a:r>
            <a:endParaRPr lang="ar-SA" sz="3200" dirty="0"/>
          </a:p>
        </p:txBody>
      </p:sp>
      <p:sp>
        <p:nvSpPr>
          <p:cNvPr id="9" name="Shape 7"/>
          <p:cNvSpPr/>
          <p:nvPr/>
        </p:nvSpPr>
        <p:spPr>
          <a:xfrm>
            <a:off x="2103120" y="3038856"/>
            <a:ext cx="8641080" cy="0"/>
          </a:xfrm>
          <a:prstGeom prst="line">
            <a:avLst/>
          </a:prstGeom>
          <a:noFill/>
          <a:ln w="9525">
            <a:solidFill>
              <a:schemeClr val="accent2"/>
            </a:solidFill>
            <a:prstDash val="dash"/>
          </a:ln>
        </p:spPr>
      </p:sp>
      <p:sp>
        <p:nvSpPr>
          <p:cNvPr id="10" name="Shape 8"/>
          <p:cNvSpPr/>
          <p:nvPr/>
        </p:nvSpPr>
        <p:spPr>
          <a:xfrm>
            <a:off x="10927080" y="3214116"/>
            <a:ext cx="548640" cy="548640"/>
          </a:xfrm>
          <a:prstGeom prst="star8">
            <a:avLst/>
          </a:prstGeom>
          <a:solidFill>
            <a:schemeClr val="accent2"/>
          </a:solidFill>
          <a:ln/>
        </p:spPr>
      </p:sp>
      <p:sp>
        <p:nvSpPr>
          <p:cNvPr id="11" name="Shape 9"/>
          <p:cNvSpPr/>
          <p:nvPr/>
        </p:nvSpPr>
        <p:spPr>
          <a:xfrm>
            <a:off x="11036808" y="332384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2141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٢٦</a:t>
            </a:r>
            <a:endParaRPr lang="ar-SA" sz="1600" dirty="0"/>
          </a:p>
        </p:txBody>
      </p:sp>
      <p:sp>
        <p:nvSpPr>
          <p:cNvPr id="13" name="Text 11"/>
          <p:cNvSpPr txBox="1"/>
          <p:nvPr/>
        </p:nvSpPr>
        <p:spPr>
          <a:xfrm>
            <a:off x="731520" y="3195828"/>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ذَٰلِكَ بِأَنَّهُمْ قَالُواْ لِلَّذِينَ كَرِهُواْ مَا نَزَّلَ اللَّهُ سَنُطِيعُكُمْ فِي بَعْضِ الْأَمْرِ وَاللَّهُ يَعْلَمُ إِسْرَارَهُمْ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ذلك لأنهم قالوا لليهود الذين كرهوا القرآن: سنطيعكم في بعض أموركم، والله يعلم ما يُسرّون.</a:t>
            </a:r>
            <a:endParaRPr lang="ar-SA" sz="3200" dirty="0"/>
          </a:p>
        </p:txBody>
      </p:sp>
      <p:sp>
        <p:nvSpPr>
          <p:cNvPr id="14" name="Shape 12"/>
          <p:cNvSpPr/>
          <p:nvPr/>
        </p:nvSpPr>
        <p:spPr>
          <a:xfrm>
            <a:off x="2103120" y="4879848"/>
            <a:ext cx="8641080" cy="0"/>
          </a:xfrm>
          <a:prstGeom prst="line">
            <a:avLst/>
          </a:prstGeom>
          <a:noFill/>
          <a:ln w="9525">
            <a:solidFill>
              <a:schemeClr val="accent2"/>
            </a:solidFill>
            <a:prstDash val="dash"/>
          </a:ln>
        </p:spPr>
      </p:sp>
      <p:sp>
        <p:nvSpPr>
          <p:cNvPr id="15" name="Shape 13"/>
          <p:cNvSpPr/>
          <p:nvPr/>
        </p:nvSpPr>
        <p:spPr>
          <a:xfrm>
            <a:off x="10927080" y="5055108"/>
            <a:ext cx="548640" cy="548640"/>
          </a:xfrm>
          <a:prstGeom prst="star8">
            <a:avLst/>
          </a:prstGeom>
          <a:solidFill>
            <a:schemeClr val="accent2"/>
          </a:solidFill>
          <a:ln/>
        </p:spPr>
      </p:sp>
      <p:sp>
        <p:nvSpPr>
          <p:cNvPr id="16" name="Shape 14"/>
          <p:cNvSpPr/>
          <p:nvPr/>
        </p:nvSpPr>
        <p:spPr>
          <a:xfrm>
            <a:off x="11036808" y="5164836"/>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505510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٢٧</a:t>
            </a:r>
            <a:endParaRPr lang="ar-SA" sz="1600" dirty="0"/>
          </a:p>
        </p:txBody>
      </p:sp>
      <p:sp>
        <p:nvSpPr>
          <p:cNvPr id="18" name="Text 16"/>
          <p:cNvSpPr txBox="1"/>
          <p:nvPr/>
        </p:nvSpPr>
        <p:spPr>
          <a:xfrm>
            <a:off x="731520" y="503682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فَكَيْفَ إِذَا تَوَفَّتْهُمُ الْمَلَـٰئِكَةُ يَضْرِبُونَ وُجُوهَهُمْ وَأَدْبَٰرَهُمْ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فكيف حالهم إذا قبضت الملائكة أرواحهم وهم يضربون وجوههم وظهورهم؟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محمد</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٢٨ – ٣٠</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95044"/>
            <a:ext cx="548640" cy="548640"/>
          </a:xfrm>
          <a:prstGeom prst="star8">
            <a:avLst/>
          </a:prstGeom>
          <a:solidFill>
            <a:schemeClr val="accent2"/>
          </a:solidFill>
          <a:ln/>
        </p:spPr>
      </p:sp>
      <p:sp>
        <p:nvSpPr>
          <p:cNvPr id="6" name="Shape 4"/>
          <p:cNvSpPr/>
          <p:nvPr/>
        </p:nvSpPr>
        <p:spPr>
          <a:xfrm>
            <a:off x="11036808" y="16047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950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٢٨</a:t>
            </a:r>
            <a:endParaRPr lang="ar-SA" sz="1600" dirty="0"/>
          </a:p>
        </p:txBody>
      </p:sp>
      <p:sp>
        <p:nvSpPr>
          <p:cNvPr id="8" name="Text 6"/>
          <p:cNvSpPr txBox="1"/>
          <p:nvPr/>
        </p:nvSpPr>
        <p:spPr>
          <a:xfrm>
            <a:off x="731520" y="147675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ذَٰلِكَ بِأَنَّهُمُ اتَّبَعُواْ مَآ أَسْخَطَ اللَّهَ وَكَرِهُواْ رِضْوَٰنَهُ فَأَحْبَطَ أَعْمَٰلَهُمْ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ذلك لأنهم اتبعوا ما يُغضب الله، وكرهوا ما يرضيه، فأبطل أعمالهم.</a:t>
            </a:r>
            <a:endParaRPr lang="ar-SA" sz="3200" dirty="0"/>
          </a:p>
        </p:txBody>
      </p:sp>
      <p:sp>
        <p:nvSpPr>
          <p:cNvPr id="9" name="Shape 7"/>
          <p:cNvSpPr/>
          <p:nvPr/>
        </p:nvSpPr>
        <p:spPr>
          <a:xfrm>
            <a:off x="2103120" y="2660904"/>
            <a:ext cx="8641080" cy="0"/>
          </a:xfrm>
          <a:prstGeom prst="line">
            <a:avLst/>
          </a:prstGeom>
          <a:noFill/>
          <a:ln w="9525">
            <a:solidFill>
              <a:schemeClr val="accent2"/>
            </a:solidFill>
            <a:prstDash val="dash"/>
          </a:ln>
        </p:spPr>
      </p:sp>
      <p:sp>
        <p:nvSpPr>
          <p:cNvPr id="10" name="Shape 8"/>
          <p:cNvSpPr/>
          <p:nvPr/>
        </p:nvSpPr>
        <p:spPr>
          <a:xfrm>
            <a:off x="10927080" y="2921508"/>
            <a:ext cx="548640" cy="548640"/>
          </a:xfrm>
          <a:prstGeom prst="star8">
            <a:avLst/>
          </a:prstGeom>
          <a:solidFill>
            <a:schemeClr val="accent2"/>
          </a:solidFill>
          <a:ln/>
        </p:spPr>
      </p:sp>
      <p:sp>
        <p:nvSpPr>
          <p:cNvPr id="11" name="Shape 9"/>
          <p:cNvSpPr/>
          <p:nvPr/>
        </p:nvSpPr>
        <p:spPr>
          <a:xfrm>
            <a:off x="11036808" y="303123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92150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٢٩</a:t>
            </a:r>
            <a:endParaRPr lang="ar-SA" sz="1600" dirty="0"/>
          </a:p>
        </p:txBody>
      </p:sp>
      <p:sp>
        <p:nvSpPr>
          <p:cNvPr id="13" name="Text 11"/>
          <p:cNvSpPr txBox="1"/>
          <p:nvPr/>
        </p:nvSpPr>
        <p:spPr>
          <a:xfrm>
            <a:off x="731520" y="290322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أَمْ حَسِبَ الَّذِينَ فِي قُلُوبِهِم مَّرَضٌ أَن لَّن يُخْرِجَ اللَّهُ أَضْغَٰنَهُمْ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أم ظنّ المنافقون أن الله لن يُظهر أحقادهم على المؤمنين؟</a:t>
            </a:r>
            <a:endParaRPr lang="ar-SA" sz="3200" dirty="0"/>
          </a:p>
        </p:txBody>
      </p:sp>
      <p:sp>
        <p:nvSpPr>
          <p:cNvPr id="14" name="Shape 12"/>
          <p:cNvSpPr/>
          <p:nvPr/>
        </p:nvSpPr>
        <p:spPr>
          <a:xfrm>
            <a:off x="2103120" y="4087368"/>
            <a:ext cx="8641080" cy="0"/>
          </a:xfrm>
          <a:prstGeom prst="line">
            <a:avLst/>
          </a:prstGeom>
          <a:noFill/>
          <a:ln w="9525">
            <a:solidFill>
              <a:schemeClr val="accent2"/>
            </a:solidFill>
            <a:prstDash val="dash"/>
          </a:ln>
        </p:spPr>
      </p:sp>
      <p:sp>
        <p:nvSpPr>
          <p:cNvPr id="15" name="Shape 13"/>
          <p:cNvSpPr/>
          <p:nvPr/>
        </p:nvSpPr>
        <p:spPr>
          <a:xfrm>
            <a:off x="10927080" y="4347972"/>
            <a:ext cx="548640" cy="548640"/>
          </a:xfrm>
          <a:prstGeom prst="star8">
            <a:avLst/>
          </a:prstGeom>
          <a:solidFill>
            <a:schemeClr val="accent2"/>
          </a:solidFill>
          <a:ln/>
        </p:spPr>
      </p:sp>
      <p:sp>
        <p:nvSpPr>
          <p:cNvPr id="16" name="Shape 14"/>
          <p:cNvSpPr/>
          <p:nvPr/>
        </p:nvSpPr>
        <p:spPr>
          <a:xfrm>
            <a:off x="11036808" y="4457700"/>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3479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٣٠</a:t>
            </a:r>
            <a:endParaRPr lang="ar-SA" sz="1600" dirty="0"/>
          </a:p>
        </p:txBody>
      </p:sp>
      <p:sp>
        <p:nvSpPr>
          <p:cNvPr id="18" name="Text 16"/>
          <p:cNvSpPr txBox="1"/>
          <p:nvPr/>
        </p:nvSpPr>
        <p:spPr>
          <a:xfrm>
            <a:off x="731520" y="4329684"/>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وَلَوْ نَشَآءُ لَأَرَيْنَٰكَهُمْ فَلَعَرَفْتَهُم بِسِيمَٰهُمْ وَلَتَعْرِفَنَّهُمْ فِي لَحْنِ الْقَوْلِ وَاللَّهُ يَعْلَمُ أَعْمَٰلَكُمْ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ولو نشاء لعرّفناك بهم فعرفتهم بعلاماتهم، ولتعرفنّهم من أسلوب كلامهم، والله يعلم أعمالكم.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محمد</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٣١ – ٣٣</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14272"/>
            <a:ext cx="548640" cy="548640"/>
          </a:xfrm>
          <a:prstGeom prst="star8">
            <a:avLst/>
          </a:prstGeom>
          <a:solidFill>
            <a:schemeClr val="accent2"/>
          </a:solidFill>
          <a:ln/>
        </p:spPr>
      </p:sp>
      <p:sp>
        <p:nvSpPr>
          <p:cNvPr id="6" name="Shape 4"/>
          <p:cNvSpPr/>
          <p:nvPr/>
        </p:nvSpPr>
        <p:spPr>
          <a:xfrm>
            <a:off x="11036808" y="152400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142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٣١</a:t>
            </a:r>
            <a:endParaRPr lang="ar-SA" sz="1600" dirty="0"/>
          </a:p>
        </p:txBody>
      </p:sp>
      <p:sp>
        <p:nvSpPr>
          <p:cNvPr id="8" name="Text 6"/>
          <p:cNvSpPr txBox="1"/>
          <p:nvPr/>
        </p:nvSpPr>
        <p:spPr>
          <a:xfrm>
            <a:off x="731520" y="139598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وَلَنَبْلُوَنَّكُمْ حَتَّىٰ نَعْلَمَ الْمُجَٰهِدِينَ مِنكُمْ وَالصَّـٰبِرِينَ وَنَبْلُوَاْ أَخْبَارَكُمْ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ولنختبرنّكم بالجهاد وغيره، حتى يظهر المجاهدون منكم والصابرون، ونختبر أعمالكم.</a:t>
            </a:r>
            <a:endParaRPr lang="ar-SA" sz="3200" dirty="0"/>
          </a:p>
        </p:txBody>
      </p:sp>
      <p:sp>
        <p:nvSpPr>
          <p:cNvPr id="9" name="Shape 7"/>
          <p:cNvSpPr/>
          <p:nvPr/>
        </p:nvSpPr>
        <p:spPr>
          <a:xfrm>
            <a:off x="2103120" y="2535936"/>
            <a:ext cx="8641080" cy="0"/>
          </a:xfrm>
          <a:prstGeom prst="line">
            <a:avLst/>
          </a:prstGeom>
          <a:noFill/>
          <a:ln w="9525">
            <a:solidFill>
              <a:schemeClr val="accent2"/>
            </a:solidFill>
            <a:prstDash val="dash"/>
          </a:ln>
        </p:spPr>
      </p:sp>
      <p:sp>
        <p:nvSpPr>
          <p:cNvPr id="10" name="Shape 8"/>
          <p:cNvSpPr/>
          <p:nvPr/>
        </p:nvSpPr>
        <p:spPr>
          <a:xfrm>
            <a:off x="10927080" y="2752344"/>
            <a:ext cx="548640" cy="548640"/>
          </a:xfrm>
          <a:prstGeom prst="star8">
            <a:avLst/>
          </a:prstGeom>
          <a:solidFill>
            <a:schemeClr val="accent2"/>
          </a:solidFill>
          <a:ln/>
        </p:spPr>
      </p:sp>
      <p:sp>
        <p:nvSpPr>
          <p:cNvPr id="11" name="Shape 9"/>
          <p:cNvSpPr/>
          <p:nvPr/>
        </p:nvSpPr>
        <p:spPr>
          <a:xfrm>
            <a:off x="11036808" y="286207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7523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٣٢</a:t>
            </a:r>
            <a:endParaRPr lang="ar-SA" sz="1600" dirty="0"/>
          </a:p>
        </p:txBody>
      </p:sp>
      <p:sp>
        <p:nvSpPr>
          <p:cNvPr id="13" name="Text 11"/>
          <p:cNvSpPr txBox="1"/>
          <p:nvPr/>
        </p:nvSpPr>
        <p:spPr>
          <a:xfrm>
            <a:off x="731520" y="273405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الَّذِينَ كَفَرُواْ وَصَدُّواْ عَن سَبِيلِ اللَّهِ وَشَآقُّواْ الرَّسُولَ مِن بَعْدِ مَا تَبَيَّنَ لَهُمُ الْهُدَىٰ لَن يَضُرُّواْ اللَّهَ شَيْـًٔا وَسَيُحْبِطُ أَعْمَٰلَهُمْ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 الذين كفروا ومنعوا الناس عن الإسلام، وعادَوا الرسول بعد ما ظهر لهم الحق، لن يضرّوا الله شيئًا، وسيُبطل أعمالهم.</a:t>
            </a:r>
            <a:endParaRPr lang="ar-SA" sz="3200" dirty="0"/>
          </a:p>
        </p:txBody>
      </p:sp>
      <p:sp>
        <p:nvSpPr>
          <p:cNvPr id="14" name="Shape 12"/>
          <p:cNvSpPr/>
          <p:nvPr/>
        </p:nvSpPr>
        <p:spPr>
          <a:xfrm>
            <a:off x="2103120" y="4797552"/>
            <a:ext cx="8641080" cy="0"/>
          </a:xfrm>
          <a:prstGeom prst="line">
            <a:avLst/>
          </a:prstGeom>
          <a:noFill/>
          <a:ln w="9525">
            <a:solidFill>
              <a:schemeClr val="accent2"/>
            </a:solidFill>
            <a:prstDash val="dash"/>
          </a:ln>
        </p:spPr>
      </p:sp>
      <p:sp>
        <p:nvSpPr>
          <p:cNvPr id="15" name="Shape 13"/>
          <p:cNvSpPr/>
          <p:nvPr/>
        </p:nvSpPr>
        <p:spPr>
          <a:xfrm>
            <a:off x="10927080" y="5013960"/>
            <a:ext cx="548640" cy="548640"/>
          </a:xfrm>
          <a:prstGeom prst="star8">
            <a:avLst/>
          </a:prstGeom>
          <a:solidFill>
            <a:schemeClr val="accent2"/>
          </a:solidFill>
          <a:ln/>
        </p:spPr>
      </p:sp>
      <p:sp>
        <p:nvSpPr>
          <p:cNvPr id="16" name="Shape 14"/>
          <p:cNvSpPr/>
          <p:nvPr/>
        </p:nvSpPr>
        <p:spPr>
          <a:xfrm>
            <a:off x="11036808" y="5123688"/>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501396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٣٣</a:t>
            </a:r>
            <a:endParaRPr lang="ar-SA" sz="1600" dirty="0"/>
          </a:p>
        </p:txBody>
      </p:sp>
      <p:sp>
        <p:nvSpPr>
          <p:cNvPr id="18" name="Text 16"/>
          <p:cNvSpPr txBox="1"/>
          <p:nvPr/>
        </p:nvSpPr>
        <p:spPr>
          <a:xfrm>
            <a:off x="731520" y="499567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يَـٰأَيُّهَا الَّذِينَ ءَامَنُواْ أَطِيعُواْ اللَّهَ وَأَطِيعُواْ الرَّسُولَ وَلَا تُبْطِلُواْ أَعْمَٰلَكُمْ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يا أيها المؤمنون، أطيعوا الله وأطيعوا الرسول، ولا تُبطلوا أعمالكم بالمعاصي والرياء.</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محمد</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٣٤ – ٣٦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95044"/>
            <a:ext cx="548640" cy="548640"/>
          </a:xfrm>
          <a:prstGeom prst="star8">
            <a:avLst/>
          </a:prstGeom>
          <a:solidFill>
            <a:schemeClr val="accent2"/>
          </a:solidFill>
          <a:ln/>
        </p:spPr>
      </p:sp>
      <p:sp>
        <p:nvSpPr>
          <p:cNvPr id="6" name="Shape 4"/>
          <p:cNvSpPr/>
          <p:nvPr/>
        </p:nvSpPr>
        <p:spPr>
          <a:xfrm>
            <a:off x="11036808" y="16047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950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٣٤</a:t>
            </a:r>
            <a:endParaRPr lang="ar-SA" sz="1600" dirty="0"/>
          </a:p>
        </p:txBody>
      </p:sp>
      <p:sp>
        <p:nvSpPr>
          <p:cNvPr id="8" name="Text 6"/>
          <p:cNvSpPr txBox="1"/>
          <p:nvPr/>
        </p:nvSpPr>
        <p:spPr>
          <a:xfrm>
            <a:off x="731520" y="147675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الَّذِينَ كَفَرُواْ وَصَدُّواْ عَن سَبِيلِ اللَّهِ ثُمَّ مَاتُواْ وَهُمْ كُفَّارٌ فَلَن يَغْفِرَ اللَّهُ لَهُمْ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 الذين كفروا ومنعوا الناس عن الإسلام، ثم ماتوا على الكفر، فلن يغفر الله لهم.</a:t>
            </a:r>
            <a:endParaRPr lang="ar-SA" sz="3200" dirty="0"/>
          </a:p>
        </p:txBody>
      </p:sp>
      <p:sp>
        <p:nvSpPr>
          <p:cNvPr id="9" name="Shape 7"/>
          <p:cNvSpPr/>
          <p:nvPr/>
        </p:nvSpPr>
        <p:spPr>
          <a:xfrm>
            <a:off x="2103120" y="2660904"/>
            <a:ext cx="8641080" cy="0"/>
          </a:xfrm>
          <a:prstGeom prst="line">
            <a:avLst/>
          </a:prstGeom>
          <a:noFill/>
          <a:ln w="9525">
            <a:solidFill>
              <a:schemeClr val="accent2"/>
            </a:solidFill>
            <a:prstDash val="dash"/>
          </a:ln>
        </p:spPr>
      </p:sp>
      <p:sp>
        <p:nvSpPr>
          <p:cNvPr id="10" name="Shape 8"/>
          <p:cNvSpPr/>
          <p:nvPr/>
        </p:nvSpPr>
        <p:spPr>
          <a:xfrm>
            <a:off x="10927080" y="2921508"/>
            <a:ext cx="548640" cy="548640"/>
          </a:xfrm>
          <a:prstGeom prst="star8">
            <a:avLst/>
          </a:prstGeom>
          <a:solidFill>
            <a:schemeClr val="accent2"/>
          </a:solidFill>
          <a:ln/>
        </p:spPr>
      </p:sp>
      <p:sp>
        <p:nvSpPr>
          <p:cNvPr id="11" name="Shape 9"/>
          <p:cNvSpPr/>
          <p:nvPr/>
        </p:nvSpPr>
        <p:spPr>
          <a:xfrm>
            <a:off x="11036808" y="303123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92150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٣٥</a:t>
            </a:r>
            <a:endParaRPr lang="ar-SA" sz="1600" dirty="0"/>
          </a:p>
        </p:txBody>
      </p:sp>
      <p:sp>
        <p:nvSpPr>
          <p:cNvPr id="13" name="Text 11"/>
          <p:cNvSpPr txBox="1"/>
          <p:nvPr/>
        </p:nvSpPr>
        <p:spPr>
          <a:xfrm>
            <a:off x="731520" y="290322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فَلَا تَهِنُواْ وَتَدْعُواْ إِلَى السَّلْمِ وَأَنتُمُ الْأَعْلَوْنَ وَاللَّهُ مَعَكُمْ وَلَن يَتِرَكُمْ أَعْمَٰلَكُمْ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فلا تضعفوا أمام العدو وتطلبوا الصلح وأنتم الغالبون، والله معكم، ولن ينقصكم ثواب أعمالكم.</a:t>
            </a:r>
            <a:endParaRPr lang="ar-SA" sz="3200" dirty="0"/>
          </a:p>
        </p:txBody>
      </p:sp>
      <p:sp>
        <p:nvSpPr>
          <p:cNvPr id="14" name="Shape 12"/>
          <p:cNvSpPr/>
          <p:nvPr/>
        </p:nvSpPr>
        <p:spPr>
          <a:xfrm>
            <a:off x="2103120" y="4087368"/>
            <a:ext cx="8641080" cy="0"/>
          </a:xfrm>
          <a:prstGeom prst="line">
            <a:avLst/>
          </a:prstGeom>
          <a:noFill/>
          <a:ln w="9525">
            <a:solidFill>
              <a:schemeClr val="accent2"/>
            </a:solidFill>
            <a:prstDash val="dash"/>
          </a:ln>
        </p:spPr>
      </p:sp>
      <p:sp>
        <p:nvSpPr>
          <p:cNvPr id="15" name="Shape 13"/>
          <p:cNvSpPr/>
          <p:nvPr/>
        </p:nvSpPr>
        <p:spPr>
          <a:xfrm>
            <a:off x="10927080" y="4347972"/>
            <a:ext cx="548640" cy="548640"/>
          </a:xfrm>
          <a:prstGeom prst="star8">
            <a:avLst/>
          </a:prstGeom>
          <a:solidFill>
            <a:schemeClr val="accent2"/>
          </a:solidFill>
          <a:ln/>
        </p:spPr>
      </p:sp>
      <p:sp>
        <p:nvSpPr>
          <p:cNvPr id="16" name="Shape 14"/>
          <p:cNvSpPr/>
          <p:nvPr/>
        </p:nvSpPr>
        <p:spPr>
          <a:xfrm>
            <a:off x="11036808" y="4457700"/>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3479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٣٦</a:t>
            </a:r>
            <a:endParaRPr lang="ar-SA" sz="1600" dirty="0"/>
          </a:p>
        </p:txBody>
      </p:sp>
      <p:sp>
        <p:nvSpPr>
          <p:cNvPr id="18" name="Text 16"/>
          <p:cNvSpPr txBox="1"/>
          <p:nvPr/>
        </p:nvSpPr>
        <p:spPr>
          <a:xfrm>
            <a:off x="731520" y="4329684"/>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إِنَّمَا الْحَيَوٰةُ الدُّنْيَا لَعِبٌ وَلَهْوٌ وَإِن تُؤْمِنُواْ وَتَتَّقُواْ يُؤْتِكُمْ أُجُورَكُمْ وَلَا يَسْـَٔلْكُمْ أَمْوَٰلَكُمْ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إنما الحياة الدنيا لعب ولهو، وإن تؤمنوا وتتقوا يُعطكم أجوركم، ولا يطلب منكم أموالكم كلها.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محمد</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٣٧ – ٣٨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46504"/>
            <a:ext cx="548640" cy="548640"/>
          </a:xfrm>
          <a:prstGeom prst="star8">
            <a:avLst/>
          </a:prstGeom>
          <a:solidFill>
            <a:schemeClr val="accent2"/>
          </a:solidFill>
          <a:ln/>
        </p:spPr>
      </p:sp>
      <p:sp>
        <p:nvSpPr>
          <p:cNvPr id="6" name="Shape 4"/>
          <p:cNvSpPr/>
          <p:nvPr/>
        </p:nvSpPr>
        <p:spPr>
          <a:xfrm>
            <a:off x="11036808" y="18562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465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٣٧</a:t>
            </a:r>
            <a:endParaRPr lang="ar-SA" sz="1600" dirty="0"/>
          </a:p>
        </p:txBody>
      </p:sp>
      <p:sp>
        <p:nvSpPr>
          <p:cNvPr id="8" name="Text 6"/>
          <p:cNvSpPr txBox="1"/>
          <p:nvPr/>
        </p:nvSpPr>
        <p:spPr>
          <a:xfrm>
            <a:off x="731520" y="172821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يَسْـَٔلْكُمُوهَا فَيُحْفِكُمْ تَبْخَلُواْ وَيُخْرِجْ أَضْغَٰنَكُمْ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 يطلبها كلها ويُلحّ عليكم تبخلوا، ويُظهر ما في نفوسكم من كراهية.</a:t>
            </a:r>
            <a:endParaRPr lang="ar-SA" sz="3200" dirty="0"/>
          </a:p>
        </p:txBody>
      </p:sp>
      <p:sp>
        <p:nvSpPr>
          <p:cNvPr id="9" name="Shape 7"/>
          <p:cNvSpPr/>
          <p:nvPr/>
        </p:nvSpPr>
        <p:spPr>
          <a:xfrm>
            <a:off x="2103120" y="2912364"/>
            <a:ext cx="8641080" cy="0"/>
          </a:xfrm>
          <a:prstGeom prst="line">
            <a:avLst/>
          </a:prstGeom>
          <a:noFill/>
          <a:ln w="9525">
            <a:solidFill>
              <a:schemeClr val="accent2"/>
            </a:solidFill>
            <a:prstDash val="dash"/>
          </a:ln>
        </p:spPr>
      </p:sp>
      <p:sp>
        <p:nvSpPr>
          <p:cNvPr id="10" name="Shape 8"/>
          <p:cNvSpPr/>
          <p:nvPr/>
        </p:nvSpPr>
        <p:spPr>
          <a:xfrm>
            <a:off x="10927080" y="3172968"/>
            <a:ext cx="548640" cy="548640"/>
          </a:xfrm>
          <a:prstGeom prst="star8">
            <a:avLst/>
          </a:prstGeom>
          <a:solidFill>
            <a:schemeClr val="accent2"/>
          </a:solidFill>
          <a:ln/>
        </p:spPr>
      </p:sp>
      <p:sp>
        <p:nvSpPr>
          <p:cNvPr id="11" name="Shape 9"/>
          <p:cNvSpPr/>
          <p:nvPr/>
        </p:nvSpPr>
        <p:spPr>
          <a:xfrm>
            <a:off x="11036808" y="328269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17296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٣٨</a:t>
            </a:r>
            <a:endParaRPr lang="ar-SA" sz="1600" dirty="0"/>
          </a:p>
        </p:txBody>
      </p:sp>
      <p:sp>
        <p:nvSpPr>
          <p:cNvPr id="13" name="Text 11"/>
          <p:cNvSpPr txBox="1"/>
          <p:nvPr/>
        </p:nvSpPr>
        <p:spPr>
          <a:xfrm>
            <a:off x="731520" y="3154680"/>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هَـٰأَنتُمْ هَـٰؤُلَآءِ تُدْعَوْنَ لِتُنفِقُواْ فِي سَبِيلِ اللَّهِ فَمِنكُم مَّن يَبْخَلُ وَمَن يَبْخَلْ فَإِنَّمَا يَبْخَلُ عَن نَّفْسِهِ وَاللَّهُ الْغَنِيُّ وَأَنتُمُ الْفُقَرَآءُ وَإِن تَتَوَلَّوْاْ يَسْتَبْدِلْ قَوْمًا غَيْرَكُمْ ثُمَّ لَا يَكُونُواْ أَمْثَٰلَكُم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ها أنتم تُدعون لتنفقوا في سبيل الله فمنكم من يبخل، ومن يبخل فإنما يبخل على نفسه، والله الغني وأنتم الفقراء، وإن تُعرضوا يأتِ الله بقوم غيركم ثم لا يكونوا أمثالكم.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0"/>
          <p:cNvSpPr/>
          <p:nvPr>
            <p:ph idx="101" type="title" hasCustomPrompt="1"/>
          </p:nvPr>
        </p:nvSpPr>
        <p:spPr>
          <a:xfrm>
            <a:off x="3626968" y="603504"/>
            <a:ext cx="4937760" cy="987552"/>
          </a:xfrm>
          <a:prstGeom prst="rect">
            <a:avLst/>
          </a:prstGeom>
          <a:noFill/>
          <a:ln/>
        </p:spPr>
        <p:txBody>
          <a:bodyPr wrap="square" lIns="0" tIns="0" rIns="0" bIns="0" rtlCol="0" anchor="ctr"/>
          <a:lstStyle/>
          <a:p>
            <a:pPr rtl="1" algn="ctr" indent="0" marL="0">
              <a:buNone/>
            </a:pPr>
            <a:r>
              <a:rPr lang="en-US" sz="4800" b="1" dirty="0">
                <a:solidFill>
                  <a:schemeClr val="accent2"/>
                </a:solidFill>
                <a:latin typeface="Sakkal Majalla" pitchFamily="34" charset="0"/>
                <a:ea typeface="Sakkal Majalla" pitchFamily="34" charset="-122"/>
                <a:cs typeface="Sakkal Majalla" pitchFamily="34" charset="-120"/>
              </a:rPr>
              <a:t>سورة الأحقاف</a:t>
            </a:r>
            <a:endParaRPr lang="en-US" sz="4800" dirty="0"/>
          </a:p>
        </p:txBody>
      </p:sp>
      <p:sp>
        <p:nvSpPr>
          <p:cNvPr id="3" name="Shape 1"/>
          <p:cNvSpPr/>
          <p:nvPr/>
        </p:nvSpPr>
        <p:spPr>
          <a:xfrm>
            <a:off x="7833208" y="1828800"/>
            <a:ext cx="310896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783320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عدد آياتها: ٣٥</a:t>
            </a:r>
            <a:endParaRPr lang="ar-SA" sz="1600" dirty="0"/>
          </a:p>
        </p:txBody>
      </p:sp>
      <p:sp>
        <p:nvSpPr>
          <p:cNvPr id="5" name="Shape 3"/>
          <p:cNvSpPr/>
          <p:nvPr/>
        </p:nvSpPr>
        <p:spPr>
          <a:xfrm>
            <a:off x="4541368" y="1828800"/>
            <a:ext cx="310896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مكية</a:t>
            </a:r>
            <a:endParaRPr lang="ar-SA" sz="1600" dirty="0"/>
          </a:p>
        </p:txBody>
      </p:sp>
      <p:sp>
        <p:nvSpPr>
          <p:cNvPr id="7" name="Shape 5"/>
          <p:cNvSpPr/>
          <p:nvPr/>
        </p:nvSpPr>
        <p:spPr>
          <a:xfrm>
            <a:off x="1249528" y="1828800"/>
            <a:ext cx="310896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124952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ترتيبها في المصحف: ٤٦</a:t>
            </a:r>
            <a:endParaRPr lang="ar-SA" sz="1600" dirty="0"/>
          </a:p>
        </p:txBody>
      </p:sp>
      <p:sp>
        <p:nvSpPr>
          <p:cNvPr id="9" name="Shape 7"/>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7810348" y="2651760"/>
            <a:ext cx="219456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781034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سبب النزول</a:t>
            </a:r>
            <a:endParaRPr lang="ar-SA" sz="1800" dirty="0"/>
          </a:p>
        </p:txBody>
      </p:sp>
      <p:sp>
        <p:nvSpPr>
          <p:cNvPr id="12" name="Text 10"/>
          <p:cNvSpPr txBox="1"/>
          <p:nvPr/>
        </p:nvSpPr>
        <p:spPr>
          <a:xfrm>
            <a:off x="659876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قال سعد بن أبي وقاص: ما سمعت النبي صلى الله عليه وسلم يقول لأحد يمشي على الأرض: إنه من أهل الجنة إلا لعبد الله بن سلام، قال: وفيه نزلت هذه الآية: ﴿وشهد شاهد من بني إسرائيل على مثله﴾ (رواه البخاري).</a:t>
            </a:r>
            <a:endParaRPr lang="ar-SA" sz="1800" dirty="0"/>
          </a:p>
        </p:txBody>
      </p:sp>
      <p:sp>
        <p:nvSpPr>
          <p:cNvPr id="13" name="Shape 11"/>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2186788" y="2651760"/>
            <a:ext cx="219456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218678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مقصد السورة</a:t>
            </a:r>
            <a:endParaRPr lang="ar-SA" sz="1800" dirty="0"/>
          </a:p>
        </p:txBody>
      </p:sp>
      <p:sp>
        <p:nvSpPr>
          <p:cNvPr id="16" name="Text 14"/>
          <p:cNvSpPr txBox="1"/>
          <p:nvPr/>
        </p:nvSpPr>
        <p:spPr>
          <a:xfrm>
            <a:off x="97520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إثبات التوحيد وصدق القرآن، والوصية بالوالدين، وقصة هود مع قومه عاد بالأحقاف، وإيمان الجن بالقرآن.</a:t>
            </a:r>
            <a:endParaRPr lang="ar-SA" sz="18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الأحقاف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 – ٣</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95044"/>
            <a:ext cx="548640" cy="548640"/>
          </a:xfrm>
          <a:prstGeom prst="star8">
            <a:avLst/>
          </a:prstGeom>
          <a:solidFill>
            <a:schemeClr val="accent2"/>
          </a:solidFill>
          <a:ln/>
        </p:spPr>
      </p:sp>
      <p:sp>
        <p:nvSpPr>
          <p:cNvPr id="6" name="Shape 4"/>
          <p:cNvSpPr/>
          <p:nvPr/>
        </p:nvSpPr>
        <p:spPr>
          <a:xfrm>
            <a:off x="11036808" y="16047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950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a:t>
            </a:r>
            <a:endParaRPr lang="ar-SA" sz="1600" dirty="0"/>
          </a:p>
        </p:txBody>
      </p:sp>
      <p:sp>
        <p:nvSpPr>
          <p:cNvPr id="8" name="Text 6"/>
          <p:cNvSpPr txBox="1"/>
          <p:nvPr/>
        </p:nvSpPr>
        <p:spPr>
          <a:xfrm>
            <a:off x="731520" y="147675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حم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«حم» من الحروف المقطّعة، والله أعلم بمرادها.</a:t>
            </a:r>
            <a:endParaRPr lang="ar-SA" sz="3200" dirty="0"/>
          </a:p>
        </p:txBody>
      </p:sp>
      <p:sp>
        <p:nvSpPr>
          <p:cNvPr id="9" name="Shape 7"/>
          <p:cNvSpPr/>
          <p:nvPr/>
        </p:nvSpPr>
        <p:spPr>
          <a:xfrm>
            <a:off x="2103120" y="2660904"/>
            <a:ext cx="8641080" cy="0"/>
          </a:xfrm>
          <a:prstGeom prst="line">
            <a:avLst/>
          </a:prstGeom>
          <a:noFill/>
          <a:ln w="9525">
            <a:solidFill>
              <a:schemeClr val="accent2"/>
            </a:solidFill>
            <a:prstDash val="dash"/>
          </a:ln>
        </p:spPr>
      </p:sp>
      <p:sp>
        <p:nvSpPr>
          <p:cNvPr id="10" name="Shape 8"/>
          <p:cNvSpPr/>
          <p:nvPr/>
        </p:nvSpPr>
        <p:spPr>
          <a:xfrm>
            <a:off x="10927080" y="2921508"/>
            <a:ext cx="548640" cy="548640"/>
          </a:xfrm>
          <a:prstGeom prst="star8">
            <a:avLst/>
          </a:prstGeom>
          <a:solidFill>
            <a:schemeClr val="accent2"/>
          </a:solidFill>
          <a:ln/>
        </p:spPr>
      </p:sp>
      <p:sp>
        <p:nvSpPr>
          <p:cNvPr id="11" name="Shape 9"/>
          <p:cNvSpPr/>
          <p:nvPr/>
        </p:nvSpPr>
        <p:spPr>
          <a:xfrm>
            <a:off x="11036808" y="303123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92150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a:t>
            </a:r>
            <a:endParaRPr lang="ar-SA" sz="1600" dirty="0"/>
          </a:p>
        </p:txBody>
      </p:sp>
      <p:sp>
        <p:nvSpPr>
          <p:cNvPr id="13" name="Text 11"/>
          <p:cNvSpPr txBox="1"/>
          <p:nvPr/>
        </p:nvSpPr>
        <p:spPr>
          <a:xfrm>
            <a:off x="731520" y="290322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تَنزِيلُ الْكِتَٰبِ مِنَ اللَّهِ الْعَزِيزِ الْحَكِيمِ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تنزيل القرآن من الله العزيز الحكيم.</a:t>
            </a:r>
            <a:endParaRPr lang="ar-SA" sz="3200" dirty="0"/>
          </a:p>
        </p:txBody>
      </p:sp>
      <p:sp>
        <p:nvSpPr>
          <p:cNvPr id="14" name="Shape 12"/>
          <p:cNvSpPr/>
          <p:nvPr/>
        </p:nvSpPr>
        <p:spPr>
          <a:xfrm>
            <a:off x="2103120" y="4087368"/>
            <a:ext cx="8641080" cy="0"/>
          </a:xfrm>
          <a:prstGeom prst="line">
            <a:avLst/>
          </a:prstGeom>
          <a:noFill/>
          <a:ln w="9525">
            <a:solidFill>
              <a:schemeClr val="accent2"/>
            </a:solidFill>
            <a:prstDash val="dash"/>
          </a:ln>
        </p:spPr>
      </p:sp>
      <p:sp>
        <p:nvSpPr>
          <p:cNvPr id="15" name="Shape 13"/>
          <p:cNvSpPr/>
          <p:nvPr/>
        </p:nvSpPr>
        <p:spPr>
          <a:xfrm>
            <a:off x="10927080" y="4347972"/>
            <a:ext cx="548640" cy="548640"/>
          </a:xfrm>
          <a:prstGeom prst="star8">
            <a:avLst/>
          </a:prstGeom>
          <a:solidFill>
            <a:schemeClr val="accent2"/>
          </a:solidFill>
          <a:ln/>
        </p:spPr>
      </p:sp>
      <p:sp>
        <p:nvSpPr>
          <p:cNvPr id="16" name="Shape 14"/>
          <p:cNvSpPr/>
          <p:nvPr/>
        </p:nvSpPr>
        <p:spPr>
          <a:xfrm>
            <a:off x="11036808" y="4457700"/>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3479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a:t>
            </a:r>
            <a:endParaRPr lang="ar-SA" sz="1600" dirty="0"/>
          </a:p>
        </p:txBody>
      </p:sp>
      <p:sp>
        <p:nvSpPr>
          <p:cNvPr id="18" name="Text 16"/>
          <p:cNvSpPr txBox="1"/>
          <p:nvPr/>
        </p:nvSpPr>
        <p:spPr>
          <a:xfrm>
            <a:off x="731520" y="4329684"/>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مَا خَلَقْنَا السَّمَٰوَٰتِ وَالْأَرْضَ وَمَا بَيْنَهُمَآ إِلَّا بِالْحَقِّ وَأَجَلٍ مُّسَمًّى وَالَّذِينَ كَفَرُواْ عَمَّآ أُنذِرُواْ مُعْرِضُونَ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ما خلقنا السماوات والأرض وما بينهما إلا بالحق، وإلى وقت محدد، والكفار معرضون عما خُوّفوا به.</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68</a:t>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الأحقاف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٤ – ٥</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56182"/>
            <a:ext cx="548640" cy="548640"/>
          </a:xfrm>
          <a:prstGeom prst="star8">
            <a:avLst/>
          </a:prstGeom>
          <a:solidFill>
            <a:schemeClr val="accent2"/>
          </a:solidFill>
          <a:ln/>
        </p:spPr>
      </p:sp>
      <p:sp>
        <p:nvSpPr>
          <p:cNvPr id="6" name="Shape 4"/>
          <p:cNvSpPr/>
          <p:nvPr/>
        </p:nvSpPr>
        <p:spPr>
          <a:xfrm>
            <a:off x="11036808" y="156591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5618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a:t>
            </a:r>
            <a:endParaRPr lang="ar-SA" sz="1600" dirty="0"/>
          </a:p>
        </p:txBody>
      </p:sp>
      <p:sp>
        <p:nvSpPr>
          <p:cNvPr id="8" name="Text 6"/>
          <p:cNvSpPr txBox="1"/>
          <p:nvPr/>
        </p:nvSpPr>
        <p:spPr>
          <a:xfrm>
            <a:off x="731520" y="1437894"/>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قُلْ أَرَءَيْتُم مَّا تَدْعُونَ مِن دُونِ اللَّهِ أَرُونِي مَاذَا خَلَقُواْ مِنَ الْأَرْضِ أَمْ لَهُمْ شِرْكٌ فِي السَّمَٰوَٰتِ ائْتُونِي بِكِتَٰبٍ مِّن قَبْلِ هَٰذَآ أَوْ أَثَٰرَةٍ مِّنْ عِلْمٍ إِن كُنتُمْ صَٰدِقِينَ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قل للمشركين: أخبروني عن آلهتكم: ماذا خلقوا من الأرض؟ أم لهم مشاركة في خلق السماوات؟ ائتوني بكتاب أو بقية من علم إن كنتم صادقين.</a:t>
            </a:r>
            <a:endParaRPr lang="ar-SA" sz="3200" dirty="0"/>
          </a:p>
        </p:txBody>
      </p:sp>
      <p:sp>
        <p:nvSpPr>
          <p:cNvPr id="9" name="Shape 7"/>
          <p:cNvSpPr/>
          <p:nvPr/>
        </p:nvSpPr>
        <p:spPr>
          <a:xfrm>
            <a:off x="2103120" y="4128516"/>
            <a:ext cx="8641080" cy="0"/>
          </a:xfrm>
          <a:prstGeom prst="line">
            <a:avLst/>
          </a:prstGeom>
          <a:noFill/>
          <a:ln w="9525">
            <a:solidFill>
              <a:schemeClr val="accent2"/>
            </a:solidFill>
            <a:prstDash val="dash"/>
          </a:ln>
        </p:spPr>
      </p:sp>
      <p:sp>
        <p:nvSpPr>
          <p:cNvPr id="10" name="Shape 8"/>
          <p:cNvSpPr/>
          <p:nvPr/>
        </p:nvSpPr>
        <p:spPr>
          <a:xfrm>
            <a:off x="10927080" y="4386834"/>
            <a:ext cx="548640" cy="548640"/>
          </a:xfrm>
          <a:prstGeom prst="star8">
            <a:avLst/>
          </a:prstGeom>
          <a:solidFill>
            <a:schemeClr val="accent2"/>
          </a:solidFill>
          <a:ln/>
        </p:spPr>
      </p:sp>
      <p:sp>
        <p:nvSpPr>
          <p:cNvPr id="11" name="Shape 9"/>
          <p:cNvSpPr/>
          <p:nvPr/>
        </p:nvSpPr>
        <p:spPr>
          <a:xfrm>
            <a:off x="11036808" y="449656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38683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a:t>
            </a:r>
            <a:endParaRPr lang="ar-SA" sz="1600" dirty="0"/>
          </a:p>
        </p:txBody>
      </p:sp>
      <p:sp>
        <p:nvSpPr>
          <p:cNvPr id="13" name="Text 11"/>
          <p:cNvSpPr txBox="1"/>
          <p:nvPr/>
        </p:nvSpPr>
        <p:spPr>
          <a:xfrm>
            <a:off x="731520" y="4368546"/>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وَمَنْ أَضَلُّ مِمَّن يَدْعُواْ مِن دُونِ اللَّهِ مَن لَّا يَسْتَجِيبُ لَهُ إِلَىٰ يَوْمِ الْقِيَٰمَةِ وَهُمْ عَن دُعَآئِهِمْ غَٰفِلُونَ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ولا أحد أضلّ ممن يدعو غير الله ممن لا يستجيب له أبدًا، وهم غافلون عن دعائه.</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69</a:t>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الأحقاف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٦ – 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14272"/>
            <a:ext cx="548640" cy="548640"/>
          </a:xfrm>
          <a:prstGeom prst="star8">
            <a:avLst/>
          </a:prstGeom>
          <a:solidFill>
            <a:schemeClr val="accent2"/>
          </a:solidFill>
          <a:ln/>
        </p:spPr>
      </p:sp>
      <p:sp>
        <p:nvSpPr>
          <p:cNvPr id="6" name="Shape 4"/>
          <p:cNvSpPr/>
          <p:nvPr/>
        </p:nvSpPr>
        <p:spPr>
          <a:xfrm>
            <a:off x="11036808" y="152400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142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a:t>
            </a:r>
            <a:endParaRPr lang="ar-SA" sz="1600" dirty="0"/>
          </a:p>
        </p:txBody>
      </p:sp>
      <p:sp>
        <p:nvSpPr>
          <p:cNvPr id="8" name="Text 6"/>
          <p:cNvSpPr txBox="1"/>
          <p:nvPr/>
        </p:nvSpPr>
        <p:spPr>
          <a:xfrm>
            <a:off x="731520" y="139598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وَإِذَا حُشِرَ النَّاسُ كَانُواْ لَهُمْ أَعْدَآءً وَكَانُواْ بِعِبَادَتِهِمْ كَٰفِرِينَ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وإذا جُمع الناس يوم القيامة كانت الآلهة أعداءً لعابديها، وتبرّأت من عبادتهم.</a:t>
            </a:r>
            <a:endParaRPr lang="ar-SA" sz="3200" dirty="0"/>
          </a:p>
        </p:txBody>
      </p:sp>
      <p:sp>
        <p:nvSpPr>
          <p:cNvPr id="9" name="Shape 7"/>
          <p:cNvSpPr/>
          <p:nvPr/>
        </p:nvSpPr>
        <p:spPr>
          <a:xfrm>
            <a:off x="2103120" y="2535936"/>
            <a:ext cx="8641080" cy="0"/>
          </a:xfrm>
          <a:prstGeom prst="line">
            <a:avLst/>
          </a:prstGeom>
          <a:noFill/>
          <a:ln w="9525">
            <a:solidFill>
              <a:schemeClr val="accent2"/>
            </a:solidFill>
            <a:prstDash val="dash"/>
          </a:ln>
        </p:spPr>
      </p:sp>
      <p:sp>
        <p:nvSpPr>
          <p:cNvPr id="10" name="Shape 8"/>
          <p:cNvSpPr/>
          <p:nvPr/>
        </p:nvSpPr>
        <p:spPr>
          <a:xfrm>
            <a:off x="10927080" y="2752344"/>
            <a:ext cx="548640" cy="548640"/>
          </a:xfrm>
          <a:prstGeom prst="star8">
            <a:avLst/>
          </a:prstGeom>
          <a:solidFill>
            <a:schemeClr val="accent2"/>
          </a:solidFill>
          <a:ln/>
        </p:spPr>
      </p:sp>
      <p:sp>
        <p:nvSpPr>
          <p:cNvPr id="11" name="Shape 9"/>
          <p:cNvSpPr/>
          <p:nvPr/>
        </p:nvSpPr>
        <p:spPr>
          <a:xfrm>
            <a:off x="11036808" y="286207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7523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a:t>
            </a:r>
            <a:endParaRPr lang="ar-SA" sz="1600" dirty="0"/>
          </a:p>
        </p:txBody>
      </p:sp>
      <p:sp>
        <p:nvSpPr>
          <p:cNvPr id="13" name="Text 11"/>
          <p:cNvSpPr txBox="1"/>
          <p:nvPr/>
        </p:nvSpPr>
        <p:spPr>
          <a:xfrm>
            <a:off x="731520" y="273405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وَإِذَا تُتْلَىٰ عَلَيْهِمْ ءَايَٰتُنَا بَيِّنَٰتٍ قَالَ الَّذِينَ كَفَرُواْ لِلْحَقِّ لَمَّا جَآءَهُمْ هَٰذَا سِحْرٌ مُّبِينٌ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وإذا تُقرأ عليهم آياتنا الواضحة قال الكفار عن القرآن: هذا سحر واضح.</a:t>
            </a:r>
            <a:endParaRPr lang="ar-SA" sz="3200" dirty="0"/>
          </a:p>
        </p:txBody>
      </p:sp>
      <p:sp>
        <p:nvSpPr>
          <p:cNvPr id="14" name="Shape 12"/>
          <p:cNvSpPr/>
          <p:nvPr/>
        </p:nvSpPr>
        <p:spPr>
          <a:xfrm>
            <a:off x="2103120" y="3874008"/>
            <a:ext cx="8641080" cy="0"/>
          </a:xfrm>
          <a:prstGeom prst="line">
            <a:avLst/>
          </a:prstGeom>
          <a:noFill/>
          <a:ln w="9525">
            <a:solidFill>
              <a:schemeClr val="accent2"/>
            </a:solidFill>
            <a:prstDash val="dash"/>
          </a:ln>
        </p:spPr>
      </p:sp>
      <p:sp>
        <p:nvSpPr>
          <p:cNvPr id="15" name="Shape 13"/>
          <p:cNvSpPr/>
          <p:nvPr/>
        </p:nvSpPr>
        <p:spPr>
          <a:xfrm>
            <a:off x="10927080" y="4090416"/>
            <a:ext cx="548640" cy="548640"/>
          </a:xfrm>
          <a:prstGeom prst="star8">
            <a:avLst/>
          </a:prstGeom>
          <a:solidFill>
            <a:schemeClr val="accent2"/>
          </a:solidFill>
          <a:ln/>
        </p:spPr>
      </p:sp>
      <p:sp>
        <p:nvSpPr>
          <p:cNvPr id="16" name="Shape 14"/>
          <p:cNvSpPr/>
          <p:nvPr/>
        </p:nvSpPr>
        <p:spPr>
          <a:xfrm>
            <a:off x="11036808" y="420014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0904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a:t>
            </a:r>
            <a:endParaRPr lang="ar-SA" sz="1600" dirty="0"/>
          </a:p>
        </p:txBody>
      </p:sp>
      <p:sp>
        <p:nvSpPr>
          <p:cNvPr id="18" name="Text 16"/>
          <p:cNvSpPr txBox="1"/>
          <p:nvPr/>
        </p:nvSpPr>
        <p:spPr>
          <a:xfrm>
            <a:off x="731520" y="4072128"/>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أَمْ يَقُولُونَ افْتَرَىٰهُ قُلْ إِنِ افْتَرَيْتُهُ فَلَا تَمْلِكُونَ لِي مِنَ اللَّهِ شَيْـًٔا هُوَ أَعْلَمُ بِمَا تُفِيضُونَ فِيهِ كَفَىٰ بِهِ شَهِيدًا بَيْنِي وَبَيْنَكُمْ وَهُوَ الْغَفُورُ الرَّحِيمُ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أم يقولون: اختلقه محمد؟ قل: إن اختلقته فلن تستطيعوا أن تدفعوا عني عذاب الله شيئًا، هو أعلم بما تخوضون فيه، كفى به شهيدًا بيني وبينكم.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70</a:t>
            </a:fld>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الأحقاف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٩ – ١٠</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577340"/>
            <a:ext cx="548640" cy="548640"/>
          </a:xfrm>
          <a:prstGeom prst="star8">
            <a:avLst/>
          </a:prstGeom>
          <a:solidFill>
            <a:schemeClr val="accent2"/>
          </a:solidFill>
          <a:ln/>
        </p:spPr>
      </p:sp>
      <p:sp>
        <p:nvSpPr>
          <p:cNvPr id="6" name="Shape 4"/>
          <p:cNvSpPr/>
          <p:nvPr/>
        </p:nvSpPr>
        <p:spPr>
          <a:xfrm>
            <a:off x="11036808" y="168706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57734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a:t>
            </a:r>
            <a:endParaRPr lang="ar-SA" sz="1600" dirty="0"/>
          </a:p>
        </p:txBody>
      </p:sp>
      <p:sp>
        <p:nvSpPr>
          <p:cNvPr id="8" name="Text 6"/>
          <p:cNvSpPr txBox="1"/>
          <p:nvPr/>
        </p:nvSpPr>
        <p:spPr>
          <a:xfrm>
            <a:off x="731520" y="1559052"/>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قُلْ مَا كُنتُ بِدْعًا مِّنَ الرُّسُلِ وَمَآ أَدْرِي مَا يُفْعَلُ بِي وَلَا بِكُمْ إِنْ أَتَّبِعُ إِلَّا مَا يُوحَىٰ إِلَيَّ وَمَآ أَنَا إِلَّا نَذِيرٌ مُّبِينٌ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قل: ما كنت أول رسول، وما أدري ما يفعل الله بي ولا بكم في الدنيا، ما أتّبع إلا ما يُوحى إليّ، وما أنا إلا منذر واضح.</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١٠</a:t>
            </a:r>
            <a:endParaRPr lang="ar-SA" sz="1600" dirty="0"/>
          </a:p>
        </p:txBody>
      </p:sp>
      <p:sp>
        <p:nvSpPr>
          <p:cNvPr id="13" name="Text 11"/>
          <p:cNvSpPr txBox="1"/>
          <p:nvPr/>
        </p:nvSpPr>
        <p:spPr>
          <a:xfrm>
            <a:off x="731520" y="3909060"/>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قُلْ أَرَءَيْتُمْ إِن كَانَ مِنْ عِندِ اللَّهِ وَكَفَرْتُم بِهِ وَشَهِدَ شَاهِدٌ مِّن بَنِي إِسْرَـٰءِيلَ عَلَىٰ مِثْلِهِ فَـَٔامَنَ وَاسْتَكْبَرْتُمْ إِنَّ اللَّهَ لَا يَهْدِي الْقَوْمَ الظَّـٰلِمِينَ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قل: أخبروني إن كان القرآن من عند الله وكفرتم به، وشهد عالمٌ من بني إسرائيل -وهو عبد الله بن سلام- على صدقه فآمن، وتكبّرتم أنتم؟ إن الله لا يهدي القوم الظالمين.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71</a:t>
            </a:fld>
            <a:endParaRPr 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الأحقاف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١١ – ١٢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577340"/>
            <a:ext cx="548640" cy="548640"/>
          </a:xfrm>
          <a:prstGeom prst="star8">
            <a:avLst/>
          </a:prstGeom>
          <a:solidFill>
            <a:schemeClr val="accent2"/>
          </a:solidFill>
          <a:ln/>
        </p:spPr>
      </p:sp>
      <p:sp>
        <p:nvSpPr>
          <p:cNvPr id="6" name="Shape 4"/>
          <p:cNvSpPr/>
          <p:nvPr/>
        </p:nvSpPr>
        <p:spPr>
          <a:xfrm>
            <a:off x="11036808" y="168706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57734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١١</a:t>
            </a:r>
            <a:endParaRPr lang="ar-SA" sz="1600" dirty="0"/>
          </a:p>
        </p:txBody>
      </p:sp>
      <p:sp>
        <p:nvSpPr>
          <p:cNvPr id="8" name="Text 6"/>
          <p:cNvSpPr txBox="1"/>
          <p:nvPr/>
        </p:nvSpPr>
        <p:spPr>
          <a:xfrm>
            <a:off x="731520" y="1559052"/>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وَقَالَ الَّذِينَ كَفَرُواْ لِلَّذِينَ ءَامَنُواْ لَوْ كَانَ خَيْرًا مَّا سَبَقُونَآ إِلَيْهِ وَإِذْ لَمْ يَهْتَدُواْ بِهِ فَسَيَقُولُونَ هَٰذَآ إِفْكٌ قَدِيمٌ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وقال الكفار عن المؤمنين: لو كان الإسلام خيرًا ما سبقنا إليه هؤلاء الضعفاء، وإذ لم يهتدوا به فسيقولون: هذا كذب قديم.</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١٢</a:t>
            </a:r>
            <a:endParaRPr lang="ar-SA" sz="1600" dirty="0"/>
          </a:p>
        </p:txBody>
      </p:sp>
      <p:sp>
        <p:nvSpPr>
          <p:cNvPr id="13" name="Text 11"/>
          <p:cNvSpPr txBox="1"/>
          <p:nvPr/>
        </p:nvSpPr>
        <p:spPr>
          <a:xfrm>
            <a:off x="731520" y="3909060"/>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وَمِن قَبْلِهِ كِتَٰبُ مُوسَىٰ إِمَامًا وَرَحْمَةً وَهَٰذَا كِتَٰبٌ مُّصَدِّقٌ لِّسَانًا عَرَبِيًّا لِّيُنذِرَ الَّذِينَ ظَلَمُواْ وَبُشْرَىٰ لِلْمُحْسِنِينَ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ومن قبل القرآن كتاب موسى قدوة ورحمة، وهذا القرآن مصدّق له، بلسان عربي، لينذر الظالمين، وبشرى للمحسنين.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72</a:t>
            </a:fld>
            <a:endParaRPr 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الأحقاف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١٣ – ١٤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500884"/>
            <a:ext cx="548640" cy="548640"/>
          </a:xfrm>
          <a:prstGeom prst="star8">
            <a:avLst/>
          </a:prstGeom>
          <a:solidFill>
            <a:schemeClr val="accent2"/>
          </a:solidFill>
          <a:ln/>
        </p:spPr>
      </p:sp>
      <p:sp>
        <p:nvSpPr>
          <p:cNvPr id="6" name="Shape 4"/>
          <p:cNvSpPr/>
          <p:nvPr/>
        </p:nvSpPr>
        <p:spPr>
          <a:xfrm>
            <a:off x="11036808" y="261061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50088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١٣</a:t>
            </a:r>
            <a:endParaRPr lang="ar-SA" sz="1600" dirty="0"/>
          </a:p>
        </p:txBody>
      </p:sp>
      <p:sp>
        <p:nvSpPr>
          <p:cNvPr id="8" name="Text 6"/>
          <p:cNvSpPr txBox="1"/>
          <p:nvPr/>
        </p:nvSpPr>
        <p:spPr>
          <a:xfrm>
            <a:off x="731520" y="248259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الَّذِينَ قَالُواْ رَبُّنَا اللَّهُ ثُمَّ اسْتَقَٰمُواْ فَلَا خَوْفٌ عَلَيْهِمْ وَلَا هُمْ يَحْزَنُونَ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 الذين قالوا: ربنا الله، ثم ثبتوا على الطاعة، فلا خوف عليهم ولا هم يحزنون.</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١٤</a:t>
            </a:r>
            <a:endParaRPr lang="ar-SA" sz="1600" dirty="0"/>
          </a:p>
        </p:txBody>
      </p:sp>
      <p:sp>
        <p:nvSpPr>
          <p:cNvPr id="13" name="Text 11"/>
          <p:cNvSpPr txBox="1"/>
          <p:nvPr/>
        </p:nvSpPr>
        <p:spPr>
          <a:xfrm>
            <a:off x="731520" y="390906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أُوْلَـٰئِكَ أَصْحَٰبُ الْجَنَّةِ خَٰلِدِينَ فِيهَا جَزَآءً بِمَا كَانُواْ يَعْمَلُونَ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أولئك أهل الجنة خالدين فيها، جزاءً بأعمالهم.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73</a:t>
            </a:fld>
            <a:endParaRPr 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الأحقاف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الآية ١٥</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997964"/>
            <a:ext cx="548640" cy="548640"/>
          </a:xfrm>
          <a:prstGeom prst="star8">
            <a:avLst/>
          </a:prstGeom>
          <a:solidFill>
            <a:schemeClr val="accent2"/>
          </a:solidFill>
          <a:ln/>
        </p:spPr>
      </p:sp>
      <p:sp>
        <p:nvSpPr>
          <p:cNvPr id="6" name="Shape 4"/>
          <p:cNvSpPr/>
          <p:nvPr/>
        </p:nvSpPr>
        <p:spPr>
          <a:xfrm>
            <a:off x="11036808" y="210769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99796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١٥</a:t>
            </a:r>
            <a:endParaRPr lang="ar-SA" sz="1600" dirty="0"/>
          </a:p>
        </p:txBody>
      </p:sp>
      <p:sp>
        <p:nvSpPr>
          <p:cNvPr id="8" name="Text 6"/>
          <p:cNvSpPr txBox="1"/>
          <p:nvPr/>
        </p:nvSpPr>
        <p:spPr>
          <a:xfrm>
            <a:off x="731520" y="1979676"/>
            <a:ext cx="10012680" cy="340156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وَوَصَّيْنَا الْإِنسَٰنَ بِوَٰلِدَيْهِ إِحْسَٰنًا حَمَلَتْهُ أُمُّهُ كُرْهًا وَوَضَعَتْهُ كُرْهًا وَحَمْلُهُ وَفِصَٰلُهُ ثَلَٰثُونَ شَهْرًا حَتَّىٰ إِذَا بَلَغَ أَشُدَّهُ وَبَلَغَ أَرْبَعِينَ سَنَةً قَالَ رَبِّ أَوْزِعْنِي أَنْ أَشْكُرَ نِعْمَتَكَ الَّتِي أَنْعَمْتَ عَلَيَّ وَعَلَىٰ وَٰلِدَيَّ وَأَنْ أَعْمَلَ صَٰلِحًا تَرْضَىٰهُ وَأَصْلِحْ لِي فِي ذُرِّيَّتِي إِنِّي تُبْتُ إِلَيْكَ وَإِنِّي مِنَ الْمُسْلِمِينَ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ووصّينا الإنسان أن يُحسن إلى والديه، حملته أمه بمشقة ووضعته بمشقة، ومدة حمله وفطامه ثلاثون شهرًا، حتى إذا بلغ أربعين سنة قال: ربِّ ألهمني أن أشكر نعمتك عليّ وعلى والديّ، وأن أعمل صالحًا ترضاه، وأصلح لي في ذريتي.</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74</a:t>
            </a:fld>
            <a:endParaRPr 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الأحقاف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١٦ – ١٧</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56182"/>
            <a:ext cx="548640" cy="548640"/>
          </a:xfrm>
          <a:prstGeom prst="star8">
            <a:avLst/>
          </a:prstGeom>
          <a:solidFill>
            <a:schemeClr val="accent2"/>
          </a:solidFill>
          <a:ln/>
        </p:spPr>
      </p:sp>
      <p:sp>
        <p:nvSpPr>
          <p:cNvPr id="6" name="Shape 4"/>
          <p:cNvSpPr/>
          <p:nvPr/>
        </p:nvSpPr>
        <p:spPr>
          <a:xfrm>
            <a:off x="11036808" y="156591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5618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١٦</a:t>
            </a:r>
            <a:endParaRPr lang="ar-SA" sz="1600" dirty="0"/>
          </a:p>
        </p:txBody>
      </p:sp>
      <p:sp>
        <p:nvSpPr>
          <p:cNvPr id="8" name="Text 6"/>
          <p:cNvSpPr txBox="1"/>
          <p:nvPr/>
        </p:nvSpPr>
        <p:spPr>
          <a:xfrm>
            <a:off x="731520" y="1437894"/>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أُوْلَـٰئِكَ الَّذِينَ نَتَقَبَّلُ عَنْهُمْ أَحْسَنَ مَا عَمِلُواْ وَنَتَجَاوَزُ عَن سَيِّـَٔاتِهِمْ فِي أَصْحَٰبِ الْجَنَّةِ وَعْدَ الصِّدْقِ الَّذِي كَانُواْ يُوعَدُونَ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أولئك الذين نتقبّل منهم أحسن أعمالهم، ونتجاوز عن سيئاتهم، في أصحاب الجنة، وعدًا صادقًا.</a:t>
            </a:r>
            <a:endParaRPr lang="ar-SA" sz="3200" dirty="0"/>
          </a:p>
        </p:txBody>
      </p:sp>
      <p:sp>
        <p:nvSpPr>
          <p:cNvPr id="9" name="Shape 7"/>
          <p:cNvSpPr/>
          <p:nvPr/>
        </p:nvSpPr>
        <p:spPr>
          <a:xfrm>
            <a:off x="2103120" y="3204972"/>
            <a:ext cx="8641080" cy="0"/>
          </a:xfrm>
          <a:prstGeom prst="line">
            <a:avLst/>
          </a:prstGeom>
          <a:noFill/>
          <a:ln w="9525">
            <a:solidFill>
              <a:schemeClr val="accent2"/>
            </a:solidFill>
            <a:prstDash val="dash"/>
          </a:ln>
        </p:spPr>
      </p:sp>
      <p:sp>
        <p:nvSpPr>
          <p:cNvPr id="10" name="Shape 8"/>
          <p:cNvSpPr/>
          <p:nvPr/>
        </p:nvSpPr>
        <p:spPr>
          <a:xfrm>
            <a:off x="10927080" y="3463290"/>
            <a:ext cx="548640" cy="548640"/>
          </a:xfrm>
          <a:prstGeom prst="star8">
            <a:avLst/>
          </a:prstGeom>
          <a:solidFill>
            <a:schemeClr val="accent2"/>
          </a:solidFill>
          <a:ln/>
        </p:spPr>
      </p:sp>
      <p:sp>
        <p:nvSpPr>
          <p:cNvPr id="11" name="Shape 9"/>
          <p:cNvSpPr/>
          <p:nvPr/>
        </p:nvSpPr>
        <p:spPr>
          <a:xfrm>
            <a:off x="11036808" y="3573018"/>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46329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١٧</a:t>
            </a:r>
            <a:endParaRPr lang="ar-SA" sz="1600" dirty="0"/>
          </a:p>
        </p:txBody>
      </p:sp>
      <p:sp>
        <p:nvSpPr>
          <p:cNvPr id="13" name="Text 11"/>
          <p:cNvSpPr txBox="1"/>
          <p:nvPr/>
        </p:nvSpPr>
        <p:spPr>
          <a:xfrm>
            <a:off x="731520" y="3445002"/>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وَالَّذِي قَالَ لِوَٰلِدَيْهِ أُفٍّ لَّكُمَآ أَتَعِدَانِنِي أَنْ أُخْرَجَ وَقَدْ خَلَتِ الْقُرُونُ مِن قَبْلِي وَهُمَا يَسْتَغِيثَانِ اللَّهَ وَيْلَكَ ءَامِنْ إِنَّ وَعْدَ اللَّهِ حَقٌّ فَيَقُولُ مَا هَٰذَآ إِلَّآ أَسَٰطِيرُ الْأَوَّلِينَ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والولد العاقّ الذي قال لوالديه: أفٍّ لكما، أتعدانني أن أُخرج من قبري؟ ووالداه يستغيثان الله ويقولان: ويلك آمن، إن وعد الله حق، فيقول: ما هذا إلا حكايات الأولين.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75</a:t>
            </a:fld>
            <a:endParaRPr 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الأحقاف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١٨ – ١٩</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208276"/>
            <a:ext cx="548640" cy="548640"/>
          </a:xfrm>
          <a:prstGeom prst="star8">
            <a:avLst/>
          </a:prstGeom>
          <a:solidFill>
            <a:schemeClr val="accent2"/>
          </a:solidFill>
          <a:ln/>
        </p:spPr>
      </p:sp>
      <p:sp>
        <p:nvSpPr>
          <p:cNvPr id="6" name="Shape 4"/>
          <p:cNvSpPr/>
          <p:nvPr/>
        </p:nvSpPr>
        <p:spPr>
          <a:xfrm>
            <a:off x="11036808" y="231800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2082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١٨</a:t>
            </a:r>
            <a:endParaRPr lang="ar-SA" sz="1600" dirty="0"/>
          </a:p>
        </p:txBody>
      </p:sp>
      <p:sp>
        <p:nvSpPr>
          <p:cNvPr id="8" name="Text 6"/>
          <p:cNvSpPr txBox="1"/>
          <p:nvPr/>
        </p:nvSpPr>
        <p:spPr>
          <a:xfrm>
            <a:off x="731520" y="2189988"/>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أُوْلَـٰئِكَ الَّذِينَ حَقَّ عَلَيْهِمُ الْقَوْلُ فِي أُمَمٍ قَدْ خَلَتْ مِن قَبْلِهِم مِّنَ الْجِنِّ وَالْإِنسِ إِنَّهُمْ كَانُواْ خَٰسِرِينَ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أولئك الذين وجب عليهم العذاب مع أمم مضت من الجن والإنس، إنهم كانوا خاسرين.</a:t>
            </a:r>
            <a:endParaRPr lang="ar-SA" sz="3200" dirty="0"/>
          </a:p>
        </p:txBody>
      </p:sp>
      <p:sp>
        <p:nvSpPr>
          <p:cNvPr id="9" name="Shape 7"/>
          <p:cNvSpPr/>
          <p:nvPr/>
        </p:nvSpPr>
        <p:spPr>
          <a:xfrm>
            <a:off x="2103120" y="3959352"/>
            <a:ext cx="8641080" cy="0"/>
          </a:xfrm>
          <a:prstGeom prst="line">
            <a:avLst/>
          </a:prstGeom>
          <a:noFill/>
          <a:ln w="9525">
            <a:solidFill>
              <a:schemeClr val="accent2"/>
            </a:solidFill>
            <a:prstDash val="dash"/>
          </a:ln>
        </p:spPr>
      </p:sp>
      <p:sp>
        <p:nvSpPr>
          <p:cNvPr id="10" name="Shape 8"/>
          <p:cNvSpPr/>
          <p:nvPr/>
        </p:nvSpPr>
        <p:spPr>
          <a:xfrm>
            <a:off x="10927080" y="4219956"/>
            <a:ext cx="548640" cy="548640"/>
          </a:xfrm>
          <a:prstGeom prst="star8">
            <a:avLst/>
          </a:prstGeom>
          <a:solidFill>
            <a:schemeClr val="accent2"/>
          </a:solidFill>
          <a:ln/>
        </p:spPr>
      </p:sp>
      <p:sp>
        <p:nvSpPr>
          <p:cNvPr id="11" name="Shape 9"/>
          <p:cNvSpPr/>
          <p:nvPr/>
        </p:nvSpPr>
        <p:spPr>
          <a:xfrm>
            <a:off x="11036808" y="432968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2199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١٩</a:t>
            </a:r>
            <a:endParaRPr lang="ar-SA" sz="1600" dirty="0"/>
          </a:p>
        </p:txBody>
      </p:sp>
      <p:sp>
        <p:nvSpPr>
          <p:cNvPr id="13" name="Text 11"/>
          <p:cNvSpPr txBox="1"/>
          <p:nvPr/>
        </p:nvSpPr>
        <p:spPr>
          <a:xfrm>
            <a:off x="731520" y="42016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وَلِكُلٍّ دَرَجَٰتٌ مِّمَّا عَمِلُواْ وَلِيُوَفِّيَهُمْ أَعْمَٰلَهُمْ وَهُمْ لَا يُظْلَمُونَ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ولكلٍّ من المؤمنين والكفار منازل بحسب أعمالهم، وليُوفّيهم جزاء أعمالهم وهم لا يُظلمون.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76</a:t>
            </a:fld>
            <a:endParaRPr lang="en-US"/>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الأحقاف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الآية ٢٠</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459736"/>
            <a:ext cx="548640" cy="548640"/>
          </a:xfrm>
          <a:prstGeom prst="star8">
            <a:avLst/>
          </a:prstGeom>
          <a:solidFill>
            <a:schemeClr val="accent2"/>
          </a:solidFill>
          <a:ln/>
        </p:spPr>
      </p:sp>
      <p:sp>
        <p:nvSpPr>
          <p:cNvPr id="6" name="Shape 4"/>
          <p:cNvSpPr/>
          <p:nvPr/>
        </p:nvSpPr>
        <p:spPr>
          <a:xfrm>
            <a:off x="11036808" y="256946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4597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٢٠</a:t>
            </a:r>
            <a:endParaRPr lang="ar-SA" sz="1600" dirty="0"/>
          </a:p>
        </p:txBody>
      </p:sp>
      <p:sp>
        <p:nvSpPr>
          <p:cNvPr id="8" name="Text 6"/>
          <p:cNvSpPr txBox="1"/>
          <p:nvPr/>
        </p:nvSpPr>
        <p:spPr>
          <a:xfrm>
            <a:off x="731520" y="2441448"/>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وَيَوْمَ يُعْرَضُ الَّذِينَ كَفَرُواْ عَلَى النَّارِ أَذْهَبْتُمْ طَيِّبَٰتِكُمْ فِي حَيَاتِكُمُ الدُّنْيَا وَاسْتَمْتَعْتُم بِهَا فَالْيَوْمَ تُجْزَوْنَ عَذَابَ الْهُونِ بِمَا كُنتُمْ تَسْتَكْبِرُونَ فِي الْأَرْضِ بِغَيْرِ الْحَقِّ وَبِمَا كُنتُمْ تَفْسُقُونَ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ويوم يُعرض الكفار على النار يُقال لهم: استمتعتم بطيباتكم في الدنيا، فاليوم تُجزون عذاب الذل بسبب تكبّركم وفسقكم.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77</a:t>
            </a:fld>
            <a:endParaRPr lang="en-US"/>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الأحقاف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٢١ – ٢٣</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14272"/>
            <a:ext cx="548640" cy="548640"/>
          </a:xfrm>
          <a:prstGeom prst="star8">
            <a:avLst/>
          </a:prstGeom>
          <a:solidFill>
            <a:schemeClr val="accent2"/>
          </a:solidFill>
          <a:ln/>
        </p:spPr>
      </p:sp>
      <p:sp>
        <p:nvSpPr>
          <p:cNvPr id="6" name="Shape 4"/>
          <p:cNvSpPr/>
          <p:nvPr/>
        </p:nvSpPr>
        <p:spPr>
          <a:xfrm>
            <a:off x="11036808" y="152400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142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٢١</a:t>
            </a:r>
            <a:endParaRPr lang="ar-SA" sz="1600" dirty="0"/>
          </a:p>
        </p:txBody>
      </p:sp>
      <p:sp>
        <p:nvSpPr>
          <p:cNvPr id="8" name="Text 6"/>
          <p:cNvSpPr txBox="1"/>
          <p:nvPr/>
        </p:nvSpPr>
        <p:spPr>
          <a:xfrm>
            <a:off x="731520" y="1395984"/>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وَاذْكُرْ أَخَا عَادٍ إِذْ أَنذَرَ قَوْمَهُ بِالْأَحْقَافِ وَقَدْ خَلَتِ النُّذُرُ مِن بَيْنِ يَدَيْهِ وَمِنْ خَلْفِهِ أَلَّا تَعْبُدُواْ إِلَّا اللَّهَ إِنِّي أَخَافُ عَلَيْكُمْ عَذَابَ يَوْمٍ عَظِيمٍ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واذكر هودًا أخا عاد حين أنذر قومه بالأحقاف -وهي جبال الرمل في جنوب الجزيرة-: ألّا تعبدوا إلا الله، إني أخاف عليكم عذاب يوم عظيم.</a:t>
            </a:r>
            <a:endParaRPr lang="ar-SA" sz="3200" dirty="0"/>
          </a:p>
        </p:txBody>
      </p:sp>
      <p:sp>
        <p:nvSpPr>
          <p:cNvPr id="9" name="Shape 7"/>
          <p:cNvSpPr/>
          <p:nvPr/>
        </p:nvSpPr>
        <p:spPr>
          <a:xfrm>
            <a:off x="2103120" y="3459480"/>
            <a:ext cx="8641080" cy="0"/>
          </a:xfrm>
          <a:prstGeom prst="line">
            <a:avLst/>
          </a:prstGeom>
          <a:noFill/>
          <a:ln w="9525">
            <a:solidFill>
              <a:schemeClr val="accent2"/>
            </a:solidFill>
            <a:prstDash val="dash"/>
          </a:ln>
        </p:spPr>
      </p:sp>
      <p:sp>
        <p:nvSpPr>
          <p:cNvPr id="10" name="Shape 8"/>
          <p:cNvSpPr/>
          <p:nvPr/>
        </p:nvSpPr>
        <p:spPr>
          <a:xfrm>
            <a:off x="10927080" y="3675888"/>
            <a:ext cx="548640" cy="548640"/>
          </a:xfrm>
          <a:prstGeom prst="star8">
            <a:avLst/>
          </a:prstGeom>
          <a:solidFill>
            <a:schemeClr val="accent2"/>
          </a:solidFill>
          <a:ln/>
        </p:spPr>
      </p:sp>
      <p:sp>
        <p:nvSpPr>
          <p:cNvPr id="11" name="Shape 9"/>
          <p:cNvSpPr/>
          <p:nvPr/>
        </p:nvSpPr>
        <p:spPr>
          <a:xfrm>
            <a:off x="11036808" y="378561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67588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٢٢</a:t>
            </a:r>
            <a:endParaRPr lang="ar-SA" sz="1600" dirty="0"/>
          </a:p>
        </p:txBody>
      </p:sp>
      <p:sp>
        <p:nvSpPr>
          <p:cNvPr id="13" name="Text 11"/>
          <p:cNvSpPr txBox="1"/>
          <p:nvPr/>
        </p:nvSpPr>
        <p:spPr>
          <a:xfrm>
            <a:off x="731520" y="365760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قَالُواْ أَجِئْتَنَا لِتَأْفِكَنَا عَنْ ءَالِهَتِنَا فَأْتِنَا بِمَا تَعِدُنَآ إِن كُنتَ مِنَ الصَّـٰدِقِينَ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قالوا: أجئتنا لتصرفنا عن آلهتنا؟ فأتنا بالعذاب إن كنت من الصادقين.</a:t>
            </a:r>
            <a:endParaRPr lang="ar-SA" sz="3200" dirty="0"/>
          </a:p>
        </p:txBody>
      </p:sp>
      <p:sp>
        <p:nvSpPr>
          <p:cNvPr id="14" name="Shape 12"/>
          <p:cNvSpPr/>
          <p:nvPr/>
        </p:nvSpPr>
        <p:spPr>
          <a:xfrm>
            <a:off x="2103120" y="4797552"/>
            <a:ext cx="8641080" cy="0"/>
          </a:xfrm>
          <a:prstGeom prst="line">
            <a:avLst/>
          </a:prstGeom>
          <a:noFill/>
          <a:ln w="9525">
            <a:solidFill>
              <a:schemeClr val="accent2"/>
            </a:solidFill>
            <a:prstDash val="dash"/>
          </a:ln>
        </p:spPr>
      </p:sp>
      <p:sp>
        <p:nvSpPr>
          <p:cNvPr id="15" name="Shape 13"/>
          <p:cNvSpPr/>
          <p:nvPr/>
        </p:nvSpPr>
        <p:spPr>
          <a:xfrm>
            <a:off x="10927080" y="5013960"/>
            <a:ext cx="548640" cy="548640"/>
          </a:xfrm>
          <a:prstGeom prst="star8">
            <a:avLst/>
          </a:prstGeom>
          <a:solidFill>
            <a:schemeClr val="accent2"/>
          </a:solidFill>
          <a:ln/>
        </p:spPr>
      </p:sp>
      <p:sp>
        <p:nvSpPr>
          <p:cNvPr id="16" name="Shape 14"/>
          <p:cNvSpPr/>
          <p:nvPr/>
        </p:nvSpPr>
        <p:spPr>
          <a:xfrm>
            <a:off x="11036808" y="5123688"/>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501396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٢٣</a:t>
            </a:r>
            <a:endParaRPr lang="ar-SA" sz="1600" dirty="0"/>
          </a:p>
        </p:txBody>
      </p:sp>
      <p:sp>
        <p:nvSpPr>
          <p:cNvPr id="18" name="Text 16"/>
          <p:cNvSpPr txBox="1"/>
          <p:nvPr/>
        </p:nvSpPr>
        <p:spPr>
          <a:xfrm>
            <a:off x="731520" y="499567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 إِنَّمَا الْعِلْمُ عِندَ اللَّهِ وَأُبَلِّغُكُم مَّآ أُرْسِلْتُ بِهِ وَلَٰكِنِّي أَرَىٰكُمْ قَوْمًا تَجْهَلُونَ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 علم وقت العذاب عند الله، وإنما أبلّغكم ما أُرسلت به، ولكني أراكم قومًا تجهلون.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78</a:t>
            </a:fld>
            <a:endParaRPr lang="en-US"/>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الأحقاف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٢٤ – ٢٥</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46504"/>
            <a:ext cx="548640" cy="548640"/>
          </a:xfrm>
          <a:prstGeom prst="star8">
            <a:avLst/>
          </a:prstGeom>
          <a:solidFill>
            <a:schemeClr val="accent2"/>
          </a:solidFill>
          <a:ln/>
        </p:spPr>
      </p:sp>
      <p:sp>
        <p:nvSpPr>
          <p:cNvPr id="6" name="Shape 4"/>
          <p:cNvSpPr/>
          <p:nvPr/>
        </p:nvSpPr>
        <p:spPr>
          <a:xfrm>
            <a:off x="11036808" y="18562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465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٢٤</a:t>
            </a:r>
            <a:endParaRPr lang="ar-SA" sz="1600" dirty="0"/>
          </a:p>
        </p:txBody>
      </p:sp>
      <p:sp>
        <p:nvSpPr>
          <p:cNvPr id="8" name="Text 6"/>
          <p:cNvSpPr txBox="1"/>
          <p:nvPr/>
        </p:nvSpPr>
        <p:spPr>
          <a:xfrm>
            <a:off x="731520" y="172821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فَلَمَّا رَأَوْهُ عَارِضًا مُّسْتَقْبِلَ أَوْدِيَتِهِمْ قَالُواْ هَٰذَا عَارِضٌ مُّمْطِرُنَا بَلْ هُوَ مَا اسْتَعْجَلْتُم بِهِ رِيحٌ فِيهَا عَذَابٌ أَلِيمٌ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فلما رأوا العذاب سحابًا مقبلًا نحو أوديتهم قالوا: هذا سحاب سيمطرنا، بل هو ما استعجلتم به: ريح فيها عذاب مؤلم.</a:t>
            </a:r>
            <a:endParaRPr lang="ar-SA" sz="3200" dirty="0"/>
          </a:p>
        </p:txBody>
      </p:sp>
      <p:sp>
        <p:nvSpPr>
          <p:cNvPr id="9" name="Shape 7"/>
          <p:cNvSpPr/>
          <p:nvPr/>
        </p:nvSpPr>
        <p:spPr>
          <a:xfrm>
            <a:off x="2103120" y="3835908"/>
            <a:ext cx="8641080" cy="0"/>
          </a:xfrm>
          <a:prstGeom prst="line">
            <a:avLst/>
          </a:prstGeom>
          <a:noFill/>
          <a:ln w="9525">
            <a:solidFill>
              <a:schemeClr val="accent2"/>
            </a:solidFill>
            <a:prstDash val="dash"/>
          </a:ln>
        </p:spPr>
      </p:sp>
      <p:sp>
        <p:nvSpPr>
          <p:cNvPr id="10" name="Shape 8"/>
          <p:cNvSpPr/>
          <p:nvPr/>
        </p:nvSpPr>
        <p:spPr>
          <a:xfrm>
            <a:off x="10927080" y="4096512"/>
            <a:ext cx="548640" cy="548640"/>
          </a:xfrm>
          <a:prstGeom prst="star8">
            <a:avLst/>
          </a:prstGeom>
          <a:solidFill>
            <a:schemeClr val="accent2"/>
          </a:solidFill>
          <a:ln/>
        </p:spPr>
      </p:sp>
      <p:sp>
        <p:nvSpPr>
          <p:cNvPr id="11" name="Shape 9"/>
          <p:cNvSpPr/>
          <p:nvPr/>
        </p:nvSpPr>
        <p:spPr>
          <a:xfrm>
            <a:off x="11036808" y="4206240"/>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09651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٢٥</a:t>
            </a:r>
            <a:endParaRPr lang="ar-SA" sz="1600" dirty="0"/>
          </a:p>
        </p:txBody>
      </p:sp>
      <p:sp>
        <p:nvSpPr>
          <p:cNvPr id="13" name="Text 11"/>
          <p:cNvSpPr txBox="1"/>
          <p:nvPr/>
        </p:nvSpPr>
        <p:spPr>
          <a:xfrm>
            <a:off x="731520" y="4078224"/>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تُدَمِّرُ كُلَّ شَيْءٍ بِأَمْرِ رَبِّهَا فَأَصْبَحُواْ لَا يُرَىٰ إِلَّا مَسَٰكِنُهُمْ كَذَٰلِكَ نَجْزِي الْقَوْمَ الْمُجْرِمِينَ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تُهلك كل شيء بأمر ربها، فأصبحوا لا يُرى إلا مساكنهم، كذلك نجزي المجرمين.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79</a:t>
            </a:fld>
            <a:endParaRPr lang="en-US"/>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الأحقاف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٢٦ – ٢٧</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46504"/>
            <a:ext cx="548640" cy="548640"/>
          </a:xfrm>
          <a:prstGeom prst="star8">
            <a:avLst/>
          </a:prstGeom>
          <a:solidFill>
            <a:schemeClr val="accent2"/>
          </a:solidFill>
          <a:ln/>
        </p:spPr>
      </p:sp>
      <p:sp>
        <p:nvSpPr>
          <p:cNvPr id="6" name="Shape 4"/>
          <p:cNvSpPr/>
          <p:nvPr/>
        </p:nvSpPr>
        <p:spPr>
          <a:xfrm>
            <a:off x="11036808" y="18562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465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٢٦</a:t>
            </a:r>
            <a:endParaRPr lang="ar-SA" sz="1600" dirty="0"/>
          </a:p>
        </p:txBody>
      </p:sp>
      <p:sp>
        <p:nvSpPr>
          <p:cNvPr id="8" name="Text 6"/>
          <p:cNvSpPr txBox="1"/>
          <p:nvPr/>
        </p:nvSpPr>
        <p:spPr>
          <a:xfrm>
            <a:off x="731520" y="1728216"/>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وَلَقَدْ مَكَّنَّـٰهُمْ فِيمَآ إِن مَّكَّنَّـٰكُمْ فِيهِ وَجَعَلْنَا لَهُمْ سَمْعًا وَأَبْصَٰرًا وَأَفْـِٔدَةً فَمَآ أَغْنَىٰ عَنْهُمْ سَمْعُهُمْ وَلَآ أَبْصَٰرُهُمْ وَلَآ أَفْـِٔدَتُهُم مِّن شَيْءٍ إِذْ كَانُواْ يَجْحَدُونَ بِـَٔايَٰتِ اللَّهِ وَحَاقَ بِهِم مَّا كَانُواْ بِهِ يَسْتَهْزِءُونَ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ولقد مكّنّاهم في الأرض بما لم نمكّنكم فيه، وجعلنا لهم سمعًا وأبصارًا وقلوبًا، فما نفعهم ذلك شيئًا لأنهم كانوا يجحدون آيات الله.</a:t>
            </a:r>
            <a:endParaRPr lang="ar-SA" sz="3200" dirty="0"/>
          </a:p>
        </p:txBody>
      </p:sp>
      <p:sp>
        <p:nvSpPr>
          <p:cNvPr id="9" name="Shape 7"/>
          <p:cNvSpPr/>
          <p:nvPr/>
        </p:nvSpPr>
        <p:spPr>
          <a:xfrm>
            <a:off x="2103120" y="4421124"/>
            <a:ext cx="8641080" cy="0"/>
          </a:xfrm>
          <a:prstGeom prst="line">
            <a:avLst/>
          </a:prstGeom>
          <a:noFill/>
          <a:ln w="9525">
            <a:solidFill>
              <a:schemeClr val="accent2"/>
            </a:solidFill>
            <a:prstDash val="dash"/>
          </a:ln>
        </p:spPr>
      </p:sp>
      <p:sp>
        <p:nvSpPr>
          <p:cNvPr id="10" name="Shape 8"/>
          <p:cNvSpPr/>
          <p:nvPr/>
        </p:nvSpPr>
        <p:spPr>
          <a:xfrm>
            <a:off x="10927080" y="4681728"/>
            <a:ext cx="548640" cy="548640"/>
          </a:xfrm>
          <a:prstGeom prst="star8">
            <a:avLst/>
          </a:prstGeom>
          <a:solidFill>
            <a:schemeClr val="accent2"/>
          </a:solidFill>
          <a:ln/>
        </p:spPr>
      </p:sp>
      <p:sp>
        <p:nvSpPr>
          <p:cNvPr id="11" name="Shape 9"/>
          <p:cNvSpPr/>
          <p:nvPr/>
        </p:nvSpPr>
        <p:spPr>
          <a:xfrm>
            <a:off x="11036808" y="479145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68172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٢٧</a:t>
            </a:r>
            <a:endParaRPr lang="ar-SA" sz="1600" dirty="0"/>
          </a:p>
        </p:txBody>
      </p:sp>
      <p:sp>
        <p:nvSpPr>
          <p:cNvPr id="13" name="Text 11"/>
          <p:cNvSpPr txBox="1"/>
          <p:nvPr/>
        </p:nvSpPr>
        <p:spPr>
          <a:xfrm>
            <a:off x="731520" y="466344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وَلَقَدْ أَهْلَكْنَا مَا حَوْلَكُم مِّنَ الْقُرَىٰ وَصَرَّفْنَا الْأيَٰتِ لَعَلَّهُمْ يَرْجِعُونَ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ولقد أهلكنا ما حولكم من القرى، وبيّنا لهم الآيات لعلهم يرجعون.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80</a:t>
            </a:fld>
            <a:endParaRPr lang="en-US"/>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الأحقاف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٢٨ – ٢٩</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46504"/>
            <a:ext cx="548640" cy="548640"/>
          </a:xfrm>
          <a:prstGeom prst="star8">
            <a:avLst/>
          </a:prstGeom>
          <a:solidFill>
            <a:schemeClr val="accent2"/>
          </a:solidFill>
          <a:ln/>
        </p:spPr>
      </p:sp>
      <p:sp>
        <p:nvSpPr>
          <p:cNvPr id="6" name="Shape 4"/>
          <p:cNvSpPr/>
          <p:nvPr/>
        </p:nvSpPr>
        <p:spPr>
          <a:xfrm>
            <a:off x="11036808" y="18562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465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٢٨</a:t>
            </a:r>
            <a:endParaRPr lang="ar-SA" sz="1600" dirty="0"/>
          </a:p>
        </p:txBody>
      </p:sp>
      <p:sp>
        <p:nvSpPr>
          <p:cNvPr id="8" name="Text 6"/>
          <p:cNvSpPr txBox="1"/>
          <p:nvPr/>
        </p:nvSpPr>
        <p:spPr>
          <a:xfrm>
            <a:off x="731520" y="1728216"/>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فَلَوْلَا نَصَرَهُمُ الَّذِينَ اتَّخَذُواْ مِن دُونِ اللَّهِ قُرْبَانًا ءَالِهَةً بَلْ ضَلُّواْ عَنْهُمْ وَذَٰلِكَ إِفْكُهُمْ وَمَا كَانُواْ يَفْتَرُونَ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فهلّا نصرتهم الآلهة التي عبدوها ليتقرّبوا بها إلى الله؟ بل غابت عنهم، وذلك كذبهم وافتراؤهم.</a:t>
            </a:r>
            <a:endParaRPr lang="ar-SA" sz="3200" dirty="0"/>
          </a:p>
        </p:txBody>
      </p:sp>
      <p:sp>
        <p:nvSpPr>
          <p:cNvPr id="9" name="Shape 7"/>
          <p:cNvSpPr/>
          <p:nvPr/>
        </p:nvSpPr>
        <p:spPr>
          <a:xfrm>
            <a:off x="2103120" y="3497580"/>
            <a:ext cx="8641080" cy="0"/>
          </a:xfrm>
          <a:prstGeom prst="line">
            <a:avLst/>
          </a:prstGeom>
          <a:noFill/>
          <a:ln w="9525">
            <a:solidFill>
              <a:schemeClr val="accent2"/>
            </a:solidFill>
            <a:prstDash val="dash"/>
          </a:ln>
        </p:spPr>
      </p:sp>
      <p:sp>
        <p:nvSpPr>
          <p:cNvPr id="10" name="Shape 8"/>
          <p:cNvSpPr/>
          <p:nvPr/>
        </p:nvSpPr>
        <p:spPr>
          <a:xfrm>
            <a:off x="10927080" y="3758184"/>
            <a:ext cx="548640" cy="548640"/>
          </a:xfrm>
          <a:prstGeom prst="star8">
            <a:avLst/>
          </a:prstGeom>
          <a:solidFill>
            <a:schemeClr val="accent2"/>
          </a:solidFill>
          <a:ln/>
        </p:spPr>
      </p:sp>
      <p:sp>
        <p:nvSpPr>
          <p:cNvPr id="11" name="Shape 9"/>
          <p:cNvSpPr/>
          <p:nvPr/>
        </p:nvSpPr>
        <p:spPr>
          <a:xfrm>
            <a:off x="11036808" y="386791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75818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٢٩</a:t>
            </a:r>
            <a:endParaRPr lang="ar-SA" sz="1600" dirty="0"/>
          </a:p>
        </p:txBody>
      </p:sp>
      <p:sp>
        <p:nvSpPr>
          <p:cNvPr id="13" name="Text 11"/>
          <p:cNvSpPr txBox="1"/>
          <p:nvPr/>
        </p:nvSpPr>
        <p:spPr>
          <a:xfrm>
            <a:off x="731520" y="373989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وَإِذْ صَرَفْنَآ إِلَيْكَ نَفَرًا مِّنَ الْجِنِّ يَسْتَمِعُونَ الْقُرْءَانَ فَلَمَّا حَضَرُوهُ قَالُواْ أَنصِتُواْ فَلَمَّا قُضِيَ وَلَّوْاْ إِلَىٰ قَوْمِهِم مُّنذِرِينَ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واذكر حين وجّهنا إليك جماعة من الجن يستمعون القرآن، فلما حضروه قالوا: أنصتوا، فلما انتهت القراءة رجعوا إلى قومهم منذرين.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81</a:t>
            </a:fld>
            <a:endParaRPr lang="en-US"/>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الأحقاف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٣٠ – ٣١</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915668"/>
            <a:ext cx="548640" cy="548640"/>
          </a:xfrm>
          <a:prstGeom prst="star8">
            <a:avLst/>
          </a:prstGeom>
          <a:solidFill>
            <a:schemeClr val="accent2"/>
          </a:solidFill>
          <a:ln/>
        </p:spPr>
      </p:sp>
      <p:sp>
        <p:nvSpPr>
          <p:cNvPr id="6" name="Shape 4"/>
          <p:cNvSpPr/>
          <p:nvPr/>
        </p:nvSpPr>
        <p:spPr>
          <a:xfrm>
            <a:off x="11036808" y="2025396"/>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91566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٣٠</a:t>
            </a:r>
            <a:endParaRPr lang="ar-SA" sz="1600" dirty="0"/>
          </a:p>
        </p:txBody>
      </p:sp>
      <p:sp>
        <p:nvSpPr>
          <p:cNvPr id="8" name="Text 6"/>
          <p:cNvSpPr txBox="1"/>
          <p:nvPr/>
        </p:nvSpPr>
        <p:spPr>
          <a:xfrm>
            <a:off x="731520" y="1897380"/>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قَالُواْ يَٰقَوْمَنَآ إِنَّا سَمِعْنَا كِتَٰبًا أُنزِلَ مِن بَعْدِ مُوسَىٰ مُصَدِّقًا لِّمَا بَيْنَ يَدَيْهِ يَهْدِي إِلَى الْحَقِّ وَإِلَىٰ طَرِيقٍ مُّسْتَقِيمٍ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قالوا: يا قومنا، إنا سمعنا كتابًا أُنزل من بعد موسى، مصدّقًا لما قبله، يهدي إلى الحق وإلى طريق مستقيم.</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٣١</a:t>
            </a:r>
            <a:endParaRPr lang="ar-SA" sz="1600" dirty="0"/>
          </a:p>
        </p:txBody>
      </p:sp>
      <p:sp>
        <p:nvSpPr>
          <p:cNvPr id="13" name="Text 11"/>
          <p:cNvSpPr txBox="1"/>
          <p:nvPr/>
        </p:nvSpPr>
        <p:spPr>
          <a:xfrm>
            <a:off x="731520" y="3909060"/>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يَٰقَوْمَنَآ أَجِيبُواْ دَاعِيَ اللَّهِ وَءَامِنُواْ بِهِ يَغْفِرْ لَكُم مِّن ذُنُوبِكُمْ وَيُجِرْكُم مِّنْ عَذَابٍ أَلِيمٍ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يا قومنا، أجيبوا محمدًا الداعي إلى الله وآمنوا به، يغفر الله لكم ذنوبكم، وينقذكم من عذاب مؤلم.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82</a:t>
            </a:fld>
            <a:endParaRPr lang="en-US"/>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الأحقاف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٣٢ – ٣٣</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46504"/>
            <a:ext cx="548640" cy="548640"/>
          </a:xfrm>
          <a:prstGeom prst="star8">
            <a:avLst/>
          </a:prstGeom>
          <a:solidFill>
            <a:schemeClr val="accent2"/>
          </a:solidFill>
          <a:ln/>
        </p:spPr>
      </p:sp>
      <p:sp>
        <p:nvSpPr>
          <p:cNvPr id="6" name="Shape 4"/>
          <p:cNvSpPr/>
          <p:nvPr/>
        </p:nvSpPr>
        <p:spPr>
          <a:xfrm>
            <a:off x="11036808" y="18562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465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٣٢</a:t>
            </a:r>
            <a:endParaRPr lang="ar-SA" sz="1600" dirty="0"/>
          </a:p>
        </p:txBody>
      </p:sp>
      <p:sp>
        <p:nvSpPr>
          <p:cNvPr id="8" name="Text 6"/>
          <p:cNvSpPr txBox="1"/>
          <p:nvPr/>
        </p:nvSpPr>
        <p:spPr>
          <a:xfrm>
            <a:off x="731520" y="1728216"/>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وَمَن لَّا يُجِبْ دَاعِيَ اللَّهِ فَلَيْسَ بِمُعْجِزٍ فِي الْأَرْضِ وَلَيْسَ لَهُ مِن دُونِهِ أَوْلِيَآءُ أُوْلَـٰئِكَ فِي ضَلَٰلٍ مُّبِينٍ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ومن لا يُجب داعي الله فلن يُفلت من الله في الأرض، وليس له من دونه أنصار، أولئك في ضلال واضح.</a:t>
            </a:r>
            <a:endParaRPr lang="ar-SA" sz="3200" dirty="0"/>
          </a:p>
        </p:txBody>
      </p:sp>
      <p:sp>
        <p:nvSpPr>
          <p:cNvPr id="9" name="Shape 7"/>
          <p:cNvSpPr/>
          <p:nvPr/>
        </p:nvSpPr>
        <p:spPr>
          <a:xfrm>
            <a:off x="2103120" y="3497580"/>
            <a:ext cx="8641080" cy="0"/>
          </a:xfrm>
          <a:prstGeom prst="line">
            <a:avLst/>
          </a:prstGeom>
          <a:noFill/>
          <a:ln w="9525">
            <a:solidFill>
              <a:schemeClr val="accent2"/>
            </a:solidFill>
            <a:prstDash val="dash"/>
          </a:ln>
        </p:spPr>
      </p:sp>
      <p:sp>
        <p:nvSpPr>
          <p:cNvPr id="10" name="Shape 8"/>
          <p:cNvSpPr/>
          <p:nvPr/>
        </p:nvSpPr>
        <p:spPr>
          <a:xfrm>
            <a:off x="10927080" y="3758184"/>
            <a:ext cx="548640" cy="548640"/>
          </a:xfrm>
          <a:prstGeom prst="star8">
            <a:avLst/>
          </a:prstGeom>
          <a:solidFill>
            <a:schemeClr val="accent2"/>
          </a:solidFill>
          <a:ln/>
        </p:spPr>
      </p:sp>
      <p:sp>
        <p:nvSpPr>
          <p:cNvPr id="11" name="Shape 9"/>
          <p:cNvSpPr/>
          <p:nvPr/>
        </p:nvSpPr>
        <p:spPr>
          <a:xfrm>
            <a:off x="11036808" y="386791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75818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٣٣</a:t>
            </a:r>
            <a:endParaRPr lang="ar-SA" sz="1600" dirty="0"/>
          </a:p>
        </p:txBody>
      </p:sp>
      <p:sp>
        <p:nvSpPr>
          <p:cNvPr id="13" name="Text 11"/>
          <p:cNvSpPr txBox="1"/>
          <p:nvPr/>
        </p:nvSpPr>
        <p:spPr>
          <a:xfrm>
            <a:off x="731520" y="373989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أَوَلَمْ يَرَوْاْ أَنَّ اللَّهَ الَّذِي خَلَقَ السَّمَٰوَٰتِ وَالْأَرْضَ وَلَمْ يَعْيَ بِخَلْقِهِنَّ بِقَٰدِرٍ عَلَىٰ أَن يُحْـِيَ الْمَوْتَىٰ بَلَىٰ إِنَّهُ عَلَىٰ كُلِّ شَيْءٍ قَدِيرٌ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أولم يعلموا أن الله الذي خلق السماوات والأرض ولم يعجز عن خلقهن قادر على أن يحيي الموتى؟ بلى، إنه على كل شيء قدير.</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83</a:t>
            </a:fld>
            <a:endParaRPr lang="en-US"/>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الأحقاف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٣٤ – ٣٥</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46504"/>
            <a:ext cx="548640" cy="548640"/>
          </a:xfrm>
          <a:prstGeom prst="star8">
            <a:avLst/>
          </a:prstGeom>
          <a:solidFill>
            <a:schemeClr val="accent2"/>
          </a:solidFill>
          <a:ln/>
        </p:spPr>
      </p:sp>
      <p:sp>
        <p:nvSpPr>
          <p:cNvPr id="6" name="Shape 4"/>
          <p:cNvSpPr/>
          <p:nvPr/>
        </p:nvSpPr>
        <p:spPr>
          <a:xfrm>
            <a:off x="11036808" y="18562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465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٣٤</a:t>
            </a:r>
            <a:endParaRPr lang="ar-SA" sz="1600" dirty="0"/>
          </a:p>
        </p:txBody>
      </p:sp>
      <p:sp>
        <p:nvSpPr>
          <p:cNvPr id="8" name="Text 6"/>
          <p:cNvSpPr txBox="1"/>
          <p:nvPr/>
        </p:nvSpPr>
        <p:spPr>
          <a:xfrm>
            <a:off x="731520" y="1728216"/>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وَيَوْمَ يُعْرَضُ الَّذِينَ كَفَرُواْ عَلَى النَّارِ أَلَيْسَ هَٰذَا بِالْحَقِّ قَالُواْ بَلَىٰ وَرَبِّنَا قَالَ فَذُوقُواْ الْعَذَابَ بِمَا كُنتُمْ تَكْفُرُونَ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ويوم يُعرض الكفار على النار يُقال لهم: أليس هذا بالحق؟ قالوا: بلى وربنا، قال: فذوقوا العذاب بكفركم.</a:t>
            </a:r>
            <a:endParaRPr lang="ar-SA" sz="3200" dirty="0"/>
          </a:p>
        </p:txBody>
      </p:sp>
      <p:sp>
        <p:nvSpPr>
          <p:cNvPr id="9" name="Shape 7"/>
          <p:cNvSpPr/>
          <p:nvPr/>
        </p:nvSpPr>
        <p:spPr>
          <a:xfrm>
            <a:off x="2103120" y="3497580"/>
            <a:ext cx="8641080" cy="0"/>
          </a:xfrm>
          <a:prstGeom prst="line">
            <a:avLst/>
          </a:prstGeom>
          <a:noFill/>
          <a:ln w="9525">
            <a:solidFill>
              <a:schemeClr val="accent2"/>
            </a:solidFill>
            <a:prstDash val="dash"/>
          </a:ln>
        </p:spPr>
      </p:sp>
      <p:sp>
        <p:nvSpPr>
          <p:cNvPr id="10" name="Shape 8"/>
          <p:cNvSpPr/>
          <p:nvPr/>
        </p:nvSpPr>
        <p:spPr>
          <a:xfrm>
            <a:off x="10927080" y="3758184"/>
            <a:ext cx="548640" cy="548640"/>
          </a:xfrm>
          <a:prstGeom prst="star8">
            <a:avLst/>
          </a:prstGeom>
          <a:solidFill>
            <a:schemeClr val="accent2"/>
          </a:solidFill>
          <a:ln/>
        </p:spPr>
      </p:sp>
      <p:sp>
        <p:nvSpPr>
          <p:cNvPr id="11" name="Shape 9"/>
          <p:cNvSpPr/>
          <p:nvPr/>
        </p:nvSpPr>
        <p:spPr>
          <a:xfrm>
            <a:off x="11036808" y="386791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75818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٣٥</a:t>
            </a:r>
            <a:endParaRPr lang="ar-SA" sz="1600" dirty="0"/>
          </a:p>
        </p:txBody>
      </p:sp>
      <p:sp>
        <p:nvSpPr>
          <p:cNvPr id="13" name="Text 11"/>
          <p:cNvSpPr txBox="1"/>
          <p:nvPr/>
        </p:nvSpPr>
        <p:spPr>
          <a:xfrm>
            <a:off x="731520" y="373989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فَاصْبِرْ كَمَا صَبَرَ أُوْلُواْ الْعَزْمِ مِنَ الرُّسُلِ وَلَا تَسْتَعْجِل لَّهُمْ كَأَنَّهُمْ يَوْمَ يَرَوْنَ مَا يُوعَدُونَ لَمْ يَلْبَثُواْ إِلَّا سَاعَةً مِّن نَّهَارٍ بَلَٰغٌ فَهَلْ يُهْلَكُ إِلَّا الْقَوْمُ الْفَٰسِقُونَ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فاصبر يا محمد كما صبر أولو العزم من الرسل، ولا تستعجل عذابهم، كأنهم يوم يرون العذاب لم يلبثوا في الدنيا إلا ساعة من نهار، هذا بلاغ، فهل يهلك إلا الخارجون عن طاعة الله؟</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84</a:t>
            </a:fld>
            <a:endParaRPr lang="en-US"/>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spTree>
      <p:nvGrpSpPr>
        <p:cNvPr id="1" name=""/>
        <p:cNvGrpSpPr/>
        <p:nvPr/>
      </p:nvGrpSpPr>
      <p:grpSpPr>
        <a:xfrm>
          <a:off x="0" y="0"/>
          <a:ext cx="0" cy="0"/>
          <a:chOff x="0" y="0"/>
          <a:chExt cx="0" cy="0"/>
        </a:xfrm>
      </p:grpSpPr>
      <p:pic>
        <p:nvPicPr>
          <p:cNvPr id="2" name="Image 0" descr="assets26/rosette.png">    </p:cNvPr>
          <p:cNvPicPr>
            <a:picLocks noChangeAspect="1"/>
          </p:cNvPicPr>
          <p:nvPr/>
        </p:nvPicPr>
        <p:blipFill>
          <a:blip r:embed="rId1"/>
          <a:stretch>
            <a:fillRect/>
          </a:stretch>
        </p:blipFill>
        <p:spPr>
          <a:xfrm>
            <a:off x="5455768" y="822960"/>
            <a:ext cx="1280160" cy="1280160"/>
          </a:xfrm>
          <a:prstGeom prst="rect">
            <a:avLst/>
          </a:prstGeom>
        </p:spPr>
      </p:pic>
      <p:sp>
        <p:nvSpPr>
          <p:cNvPr id="3" name="Text 0"/>
          <p:cNvSpPr/>
          <p:nvPr>
            <p:ph idx="101" type="title" hasCustomPrompt="1"/>
          </p:nvPr>
        </p:nvSpPr>
        <p:spPr>
          <a:xfrm>
            <a:off x="1097280" y="2514600"/>
            <a:ext cx="9997135" cy="1097280"/>
          </a:xfrm>
          <a:prstGeom prst="rect">
            <a:avLst/>
          </a:prstGeom>
          <a:noFill/>
          <a:ln/>
        </p:spPr>
        <p:txBody>
          <a:bodyPr wrap="square" lIns="0" tIns="0" rIns="0" bIns="0" rtlCol="0" anchor="ctr"/>
          <a:lstStyle/>
          <a:p>
            <a:pPr rtl="1" algn="ctr" indent="0" marL="0">
              <a:buNone/>
            </a:pPr>
            <a:r>
              <a:rPr lang="en-US" sz="6400" b="1" dirty="0">
                <a:solidFill>
                  <a:schemeClr val="bg1"/>
                </a:solidFill>
                <a:latin typeface="Sakkal Majalla" pitchFamily="34" charset="0"/>
                <a:ea typeface="Sakkal Majalla" pitchFamily="34" charset="-122"/>
                <a:cs typeface="Sakkal Majalla" pitchFamily="34" charset="-120"/>
              </a:rPr>
              <a:t>جزاكم الله خيرًا</a:t>
            </a:r>
            <a:endParaRPr lang="en-US" sz="6400" dirty="0"/>
          </a:p>
        </p:txBody>
      </p:sp>
      <p:sp>
        <p:nvSpPr>
          <p:cNvPr id="4" name="Text 1"/>
          <p:cNvSpPr txBox="1"/>
          <p:nvPr/>
        </p:nvSpPr>
        <p:spPr>
          <a:xfrm>
            <a:off x="1371600" y="3794760"/>
            <a:ext cx="9448495" cy="914400"/>
          </a:xfrm>
          <a:prstGeom prst="rect">
            <a:avLst/>
          </a:prstGeom>
          <a:noFill/>
          <a:ln/>
        </p:spPr>
        <p:txBody>
          <a:bodyPr wrap="square" lIns="0" tIns="0" rIns="0" bIns="0" rtlCol="0" anchor="t"/>
          <a:lstStyle/>
          <a:p>
            <a:pPr rtl="1" algn="ctr" indent="0" marL="0">
              <a:buNone/>
            </a:pPr>
            <a:r>
              <a:rPr lang="ar-SA" altLang="en-US" sz="2600" b="1" dirty="0">
                <a:solidFill>
                  <a:schemeClr val="accent2"/>
                </a:solidFill>
                <a:latin typeface="Traditional Arabic" pitchFamily="34" charset="0"/>
                <a:ea typeface="Traditional Arabic" pitchFamily="34" charset="-122"/>
                <a:cs typeface="Traditional Arabic" pitchFamily="34" charset="-120"/>
              </a:rPr>
              <a:t>«اللهم اجعل القرآن العظيم ربيع قلوبنا، ونور صدورنا، وجلاء أحزاننا، وذهاب همومنا»</a:t>
            </a:r>
            <a:endParaRPr lang="ar-SA" sz="2600" dirty="0"/>
          </a:p>
        </p:txBody>
      </p:sp>
      <p:pic>
        <p:nvPicPr>
          <p:cNvPr id="5" name="Image 1" descr="assets26/divider.png">    </p:cNvPr>
          <p:cNvPicPr>
            <a:picLocks noChangeAspect="1"/>
          </p:cNvPicPr>
          <p:nvPr/>
        </p:nvPicPr>
        <p:blipFill>
          <a:blip r:embed="rId2"/>
          <a:stretch>
            <a:fillRect/>
          </a:stretch>
        </p:blipFill>
        <p:spPr>
          <a:xfrm>
            <a:off x="3809848" y="4846320"/>
            <a:ext cx="4572000" cy="228600"/>
          </a:xfrm>
          <a:prstGeom prst="rect">
            <a:avLst/>
          </a:prstGeom>
        </p:spPr>
      </p:pic>
      <p:sp>
        <p:nvSpPr>
          <p:cNvPr id="6" name="Text 2"/>
          <p:cNvSpPr txBox="1"/>
          <p:nvPr/>
        </p:nvSpPr>
        <p:spPr>
          <a:xfrm>
            <a:off x="1371600" y="5257800"/>
            <a:ext cx="9448495" cy="365760"/>
          </a:xfrm>
          <a:prstGeom prst="rect">
            <a:avLst/>
          </a:prstGeom>
          <a:noFill/>
          <a:ln/>
        </p:spPr>
        <p:txBody>
          <a:bodyPr wrap="square" lIns="0" tIns="0" rIns="0" bIns="0" rtlCol="0" anchor="t"/>
          <a:lstStyle/>
          <a:p>
            <a:pPr rtl="1" algn="ctr" indent="0" marL="0">
              <a:buNone/>
            </a:pPr>
            <a:r>
              <a:rPr lang="ar-SA" altLang="en-US" sz="1500" dirty="0">
                <a:solidFill>
                  <a:schemeClr val="bg2"/>
                </a:solidFill>
              </a:rPr>
              <a:t>المرجع: تفسير القرآن العظيم، للحافظ ابن كثير رحمه الله</a:t>
            </a:r>
            <a:endParaRPr lang="ar-SA" sz="1500" dirty="0"/>
          </a:p>
        </p:txBody>
      </p:sp>
    </p:spTree>
  </p:cSld>
  <p:clrMapOvr>
    <a:masterClrMapping/>
  </p:clrMapOvr>
</p:sld>
</file>

<file path=ppt/theme/theme1.xml><?xml version="1.0" encoding="utf-8"?>
<a:theme xmlns:a="http://schemas.openxmlformats.org/drawingml/2006/main" name="Juz Al-Ahqaf Tafsir">
  <a:themeElements>
    <a:clrScheme name="Juz Al-Ahqaf Tafsir">
      <a:dk1>
        <a:srgbClr val="2A2B22"/>
      </a:dk1>
      <a:lt1>
        <a:srgbClr val="FFFFFF"/>
      </a:lt1>
      <a:dk2>
        <a:srgbClr val="4A5A1F"/>
      </a:dk2>
      <a:lt2>
        <a:srgbClr val="FAF9F2"/>
      </a:lt2>
      <a:accent1>
        <a:srgbClr val="4A5A1F"/>
      </a:accent1>
      <a:accent2>
        <a:srgbClr val="C9A04A"/>
      </a:accent2>
      <a:accent3>
        <a:srgbClr val="64792B"/>
      </a:accent3>
      <a:accent4>
        <a:srgbClr val="6A6B5C"/>
      </a:accent4>
      <a:accent5>
        <a:srgbClr val="EEF0E1"/>
      </a:accent5>
      <a:accent6>
        <a:srgbClr val="7B2D26"/>
      </a:accent6>
      <a:hlink>
        <a:srgbClr val="64792B"/>
      </a:hlink>
      <a:folHlink>
        <a:srgbClr val="6A6B5C"/>
      </a:folHlink>
    </a:clrScheme>
    <a:fontScheme name="Juz Al-Ahqaf Tafsir">
      <a:majorFont>
        <a:latin typeface="Sakkal Majall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85</Slides>
  <Notes>85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85</vt:i4>
      </vt:variant>
    </vt:vector>
  </HeadingPairs>
  <TitlesOfParts>
    <vt:vector size="8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تفسير جزء الأحقاف — مبسّط من تفسير ابن كثير</dc:title>
  <dc:subject>PptxGenJS Presentation</dc:subject>
  <dc:creator>معلم القرآن الكريم</dc:creator>
  <cp:lastModifiedBy>معلم القرآن الكريم</cp:lastModifiedBy>
  <cp:revision>1</cp:revision>
  <dcterms:created xsi:type="dcterms:W3CDTF">2026-10-03T20:48:28Z</dcterms:created>
  <dcterms:modified xsi:type="dcterms:W3CDTF">2026-10-03T20:48:28Z</dcterms:modified>
</cp:coreProperties>
</file>