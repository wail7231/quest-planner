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Lst>
  <p:notesMasterIdLst>
    <p:notesMasterId r:id="rId1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9d967ddd-4450-0873-0358-a0b134dd2271}">
          <p14:sldIdLst>
            <p14:sldId id="256"/>
            <p14:sldId id="257"/>
            <p14:sldId id="258"/>
            <p14:sldId id="259"/>
          </p14:sldIdLst>
        </p14:section>
        <p14:section name="1. صفات المؤمنين وغزوة بدر" id="{3cd1c30c-4c8a-8aa9-2686-32f73c519ae7}">
          <p14:sldIdLst>
            <p14:sldId id="260"/>
            <p14:sldId id="261"/>
            <p14:sldId id="262"/>
            <p14:sldId id="263"/>
            <p14:sldId id="264"/>
            <p14:sldId id="265"/>
            <p14:sldId id="266"/>
          </p14:sldIdLst>
        </p14:section>
        <p14:section name="2. الثبات والاستجابة لله" id="{aaa9275f-9eca-512e-b623-c89d7be1e012}">
          <p14:sldIdLst>
            <p14:sldId id="267"/>
            <p14:sldId id="268"/>
            <p14:sldId id="269"/>
            <p14:sldId id="270"/>
            <p14:sldId id="271"/>
            <p14:sldId id="272"/>
            <p14:sldId id="273"/>
          </p14:sldIdLst>
        </p14:section>
        <p14:section name="3. مكر المشركين" id="{2a045162-61e2-928b-20f4-b3c672667e82}">
          <p14:sldIdLst>
            <p14:sldId id="274"/>
            <p14:sldId id="275"/>
            <p14:sldId id="276"/>
            <p14:sldId id="277"/>
            <p14:sldId id="278"/>
            <p14:sldId id="279"/>
            <p14:sldId id="280"/>
          </p14:sldIdLst>
        </p14:section>
        <p14:section name="4. الغنائم وآداب القتال" id="{3459defd-fa65-5c0f-0606-1460027be5ee}">
          <p14:sldIdLst>
            <p14:sldId id="281"/>
            <p14:sldId id="282"/>
            <p14:sldId id="283"/>
            <p14:sldId id="284"/>
            <p14:sldId id="285"/>
            <p14:sldId id="286"/>
            <p14:sldId id="287"/>
            <p14:sldId id="288"/>
            <p14:sldId id="289"/>
          </p14:sldIdLst>
        </p14:section>
        <p14:section name="5. العهود والإعداد والأسرى" id="{9df01acb-3be9-f09f-ebcb-1ca704c88e88}">
          <p14:sldIdLst>
            <p14:sldId id="290"/>
            <p14:sldId id="291"/>
            <p14:sldId id="292"/>
            <p14:sldId id="293"/>
            <p14:sldId id="294"/>
            <p14:sldId id="295"/>
            <p14:sldId id="296"/>
            <p14:sldId id="297"/>
            <p14:sldId id="298"/>
            <p14:sldId id="299"/>
            <p14:sldId id="300"/>
          </p14:sldIdLst>
        </p14:section>
        <p14:section name="6. البراءة من المشركين" id="{c609f8c9-1482-2cbb-a6ca-7cf2c25372b9}">
          <p14:sldIdLst>
            <p14:sldId id="301"/>
            <p14:sldId id="302"/>
            <p14:sldId id="303"/>
            <p14:sldId id="304"/>
            <p14:sldId id="305"/>
            <p14:sldId id="306"/>
            <p14:sldId id="307"/>
            <p14:sldId id="308"/>
            <p14:sldId id="309"/>
          </p14:sldIdLst>
        </p14:section>
        <p14:section name="7. عمارة المساجد ويوم حنين" id="{d0c11a91-380b-5f07-9c2e-504b1fec351a}">
          <p14:sldIdLst>
            <p14:sldId id="310"/>
            <p14:sldId id="311"/>
            <p14:sldId id="312"/>
            <p14:sldId id="313"/>
            <p14:sldId id="314"/>
            <p14:sldId id="315"/>
            <p14:sldId id="316"/>
            <p14:sldId id="317"/>
            <p14:sldId id="318"/>
            <p14:sldId id="319"/>
            <p14:sldId id="320"/>
            <p14:sldId id="321"/>
            <p14:sldId id="322"/>
          </p14:sldIdLst>
        </p14:section>
        <p14:section name="8. غزوة تبوك والمتخلّفون" id="{606e9b8b-565d-94ec-d4b5-aee08b0077c1}">
          <p14:sldIdLst>
            <p14:sldId id="323"/>
            <p14:sldId id="324"/>
            <p14:sldId id="325"/>
            <p14:sldId id="326"/>
            <p14:sldId id="327"/>
            <p14:sldId id="328"/>
            <p14:sldId id="329"/>
            <p14:sldId id="330"/>
            <p14:sldId id="331"/>
            <p14:sldId id="332"/>
            <p14:sldId id="333"/>
            <p14:sldId id="334"/>
          </p14:sldIdLst>
        </p14:section>
        <p14:section name="9. الزكاة وفضح المنافقين" id="{48a8e6ff-31df-b530-ad01-a11cf2bbbc61}">
          <p14:sldIdLst>
            <p14:sldId id="335"/>
            <p14:sldId id="336"/>
            <p14:sldId id="337"/>
            <p14:sldId id="338"/>
            <p14:sldId id="339"/>
            <p14:sldId id="340"/>
            <p14:sldId id="341"/>
            <p14:sldId id="342"/>
            <p14:sldId id="343"/>
            <p14:sldId id="344"/>
            <p14:sldId id="345"/>
            <p14:sldId id="346"/>
          </p14:sldIdLst>
        </p14:section>
        <p14:section name="10. المتخلّفون والمعذورون" id="{4b185f0f-1858-1e35-544c-71ce3d660e45}">
          <p14:sldIdLst>
            <p14:sldId id="347"/>
            <p14:sldId id="348"/>
            <p14:sldId id="349"/>
            <p14:sldId id="350"/>
            <p14:sldId id="351"/>
            <p14:sldId id="352"/>
            <p14:sldId id="353"/>
            <p14:sldId id="354"/>
            <p14:sldId id="355"/>
            <p14:sldId id="356"/>
          </p14:sldIdLst>
        </p14:section>
        <p14:section name="11. السابقون ومسجد الضرار" id="{e72df2fd-474f-1d09-a4b2-561b971669e4}">
          <p14:sldIdLst>
            <p14:sldId id="357"/>
            <p14:sldId id="358"/>
            <p14:sldId id="359"/>
            <p14:sldId id="360"/>
            <p14:sldId id="361"/>
            <p14:sldId id="362"/>
            <p14:sldId id="363"/>
          </p14:sldIdLst>
        </p14:section>
        <p14:section name="12. البيعة الرابحة وتوبة الثلاثة" id="{f5825e1e-b582-a467-721a-012f830386aa}">
          <p14:sldIdLst>
            <p14:sldId id="364"/>
            <p14:sldId id="365"/>
            <p14:sldId id="366"/>
            <p14:sldId id="367"/>
            <p14:sldId id="368"/>
            <p14:sldId id="369"/>
            <p14:sldId id="370"/>
            <p14:sldId id="371"/>
            <p14:sldId id="372"/>
            <p14:sldId id="373"/>
            <p14:sldId id="374"/>
            <p14:sldId id="375"/>
          </p14:sldIdLst>
        </p14:section>
        <p14:section name="الخاتمة" id="{7979e98f-8c1d-41ec-9cd9-de64d8846d96}">
          <p14:sldIdLst>
            <p14:sldId id="3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notesMaster" Target="notesMasters/notesMaster1.xml"/><Relationship Id="rId124" Type="http://schemas.openxmlformats.org/officeDocument/2006/relationships/presProps" Target="presProps.xml"/><Relationship Id="rId125" Type="http://schemas.openxmlformats.org/officeDocument/2006/relationships/viewProps" Target="viewProps.xml"/><Relationship Id="rId126" Type="http://schemas.openxmlformats.org/officeDocument/2006/relationships/theme" Target="theme/theme1.xml"/><Relationship Id="rId1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قسّمنا السورتين إلى اثني عشر مقطعًا موضوعيًّا: خمسة للأنفال وسبعة للتوبة، في أول كل مقطع سبب النزول ومقصد المقطع.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ثلاثًا من صفات المؤمنين حقًّا في الآيات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يجعل الله لمن يتقيه كما في الآية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الأماناتان من العذاب المذكورتان في الآية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الذي يُذهب قوة المسلمين كما في الآية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من الذي ألّف بين قلوب المؤمنين (الآية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نفعل بالمشرك الذي يطلب الأمان ليسمع كلام الله (الآية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حدث للمسلمين يوم حنين حين أعجبتهم كثرتهم (الآية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قال النبي ﷺ لأبي بكر في الغار (الآية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عدّد مصارف الزكاة الثمانية في الآية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من هم الذين ليس عليهم حرج في التخلّف (الآيتان 91–92)؟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على أي شيء أُسّس مسجد قباء (الآية 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الذي نجّى كعب بن مالك وصاحبيه؟ وبماذا أمرت الآية 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89/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89/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89/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image" Target="../media/image-121-2.png"/><Relationship Id="rId3" Type="http://schemas.openxmlformats.org/officeDocument/2006/relationships/slideLayout" Target="../slideLayouts/slideLayout4.xml"/><Relationship Id="rId4" Type="http://schemas.openxmlformats.org/officeDocument/2006/relationships/notesSlide" Target="../notesSlides/notesSlide1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89/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سورتي الأنفال والتوبة</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89/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الأنفال ٧٥ آية + التوبة ١٢٩ آية  •  مدنيتان  •  ١٢ مقطعًا</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الأحمر القرمزي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السورتين</a:t>
            </a:r>
            <a:endParaRPr lang="en-US" sz="3000" dirty="0"/>
          </a:p>
        </p:txBody>
      </p:sp>
      <p:sp>
        <p:nvSpPr>
          <p:cNvPr id="3" name="Shape 1"/>
          <p:cNvSpPr/>
          <p:nvPr/>
        </p:nvSpPr>
        <p:spPr>
          <a:xfrm>
            <a:off x="8031175" y="1463040"/>
            <a:ext cx="3474720" cy="4572000"/>
          </a:xfrm>
          <a:prstGeom prst="roundRect">
            <a:avLst>
              <a:gd name="adj" fmla="val 3947"/>
            </a:avLst>
          </a:prstGeom>
          <a:solidFill>
            <a:schemeClr val="accent5"/>
          </a:solidFill>
          <a:ln w="15875">
            <a:solidFill>
              <a:schemeClr val="accent2"/>
            </a:solidFill>
            <a:prstDash val="solid"/>
          </a:ln>
        </p:spPr>
      </p:sp>
      <p:sp>
        <p:nvSpPr>
          <p:cNvPr id="4" name="Shape 2"/>
          <p:cNvSpPr/>
          <p:nvPr/>
        </p:nvSpPr>
        <p:spPr>
          <a:xfrm>
            <a:off x="9402775" y="1737360"/>
            <a:ext cx="731520" cy="731520"/>
          </a:xfrm>
          <a:prstGeom prst="star8">
            <a:avLst/>
          </a:prstGeom>
          <a:solidFill>
            <a:schemeClr val="accent2"/>
          </a:solidFill>
          <a:ln/>
        </p:spPr>
      </p:sp>
      <p:sp>
        <p:nvSpPr>
          <p:cNvPr id="5" name="Shape 3"/>
          <p:cNvSpPr/>
          <p:nvPr/>
        </p:nvSpPr>
        <p:spPr>
          <a:xfrm>
            <a:off x="9549079"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940277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١</a:t>
            </a:r>
            <a:endParaRPr lang="ar-SA" sz="1800" dirty="0"/>
          </a:p>
        </p:txBody>
      </p:sp>
      <p:sp>
        <p:nvSpPr>
          <p:cNvPr id="7" name="Text 5"/>
          <p:cNvSpPr txBox="1"/>
          <p:nvPr/>
        </p:nvSpPr>
        <p:spPr>
          <a:xfrm>
            <a:off x="825977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الأنفال سورة بدر</a:t>
            </a:r>
            <a:endParaRPr lang="ar-SA" sz="2400" dirty="0"/>
          </a:p>
        </p:txBody>
      </p:sp>
      <p:sp>
        <p:nvSpPr>
          <p:cNvPr id="8" name="Text 6"/>
          <p:cNvSpPr txBox="1"/>
          <p:nvPr/>
        </p:nvSpPr>
        <p:spPr>
          <a:xfrm>
            <a:off x="830549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قال سعيد بن جبير: قلت لابن عباس: سورة الأنفال؟ قال: نزلت في بدر (رواه البخاري). وفيها أحكام الجهاد والغنائم والثبات.</a:t>
            </a:r>
            <a:endParaRPr lang="ar-SA" sz="1600" dirty="0"/>
          </a:p>
        </p:txBody>
      </p:sp>
      <p:sp>
        <p:nvSpPr>
          <p:cNvPr id="9" name="Shape 7"/>
          <p:cNvSpPr/>
          <p:nvPr/>
        </p:nvSpPr>
        <p:spPr>
          <a:xfrm>
            <a:off x="4282135" y="1463040"/>
            <a:ext cx="3474720" cy="4572000"/>
          </a:xfrm>
          <a:prstGeom prst="roundRect">
            <a:avLst>
              <a:gd name="adj" fmla="val 3947"/>
            </a:avLst>
          </a:prstGeom>
          <a:solidFill>
            <a:schemeClr val="accent5"/>
          </a:solidFill>
          <a:ln w="15875">
            <a:solidFill>
              <a:schemeClr val="accent2"/>
            </a:solidFill>
            <a:prstDash val="solid"/>
          </a:ln>
        </p:spPr>
      </p:sp>
      <p:sp>
        <p:nvSpPr>
          <p:cNvPr id="10" name="Shape 8"/>
          <p:cNvSpPr/>
          <p:nvPr/>
        </p:nvSpPr>
        <p:spPr>
          <a:xfrm>
            <a:off x="5653735" y="1737360"/>
            <a:ext cx="731520" cy="731520"/>
          </a:xfrm>
          <a:prstGeom prst="star8">
            <a:avLst/>
          </a:prstGeom>
          <a:solidFill>
            <a:schemeClr val="accent2"/>
          </a:solidFill>
          <a:ln/>
        </p:spPr>
      </p:sp>
      <p:sp>
        <p:nvSpPr>
          <p:cNvPr id="11" name="Shape 9"/>
          <p:cNvSpPr/>
          <p:nvPr/>
        </p:nvSpPr>
        <p:spPr>
          <a:xfrm>
            <a:off x="5800039"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65373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٢</a:t>
            </a:r>
            <a:endParaRPr lang="ar-SA" sz="1800" dirty="0"/>
          </a:p>
        </p:txBody>
      </p:sp>
      <p:sp>
        <p:nvSpPr>
          <p:cNvPr id="13" name="Text 11"/>
          <p:cNvSpPr txBox="1"/>
          <p:nvPr/>
        </p:nvSpPr>
        <p:spPr>
          <a:xfrm>
            <a:off x="451073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التوبة بلا بسملة</a:t>
            </a:r>
            <a:endParaRPr lang="ar-SA" sz="2400" dirty="0"/>
          </a:p>
        </p:txBody>
      </p:sp>
      <p:sp>
        <p:nvSpPr>
          <p:cNvPr id="14" name="Text 12"/>
          <p:cNvSpPr txBox="1"/>
          <p:nvPr/>
        </p:nvSpPr>
        <p:spPr>
          <a:xfrm>
            <a:off x="455645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سورة التوبة هي السورة الوحيدة التي لا تبدأ بـ«بسم الله الرحمن الرحيم»؛ لأنها نزلت بالبراءة من المشركين، وقيل: لأنها كالمتمّمة للأنفال.</a:t>
            </a:r>
            <a:endParaRPr lang="ar-SA" sz="1600" dirty="0"/>
          </a:p>
        </p:txBody>
      </p:sp>
      <p:sp>
        <p:nvSpPr>
          <p:cNvPr id="15" name="Shape 13"/>
          <p:cNvSpPr/>
          <p:nvPr/>
        </p:nvSpPr>
        <p:spPr>
          <a:xfrm>
            <a:off x="533095" y="1463040"/>
            <a:ext cx="3474720" cy="4572000"/>
          </a:xfrm>
          <a:prstGeom prst="roundRect">
            <a:avLst>
              <a:gd name="adj" fmla="val 3947"/>
            </a:avLst>
          </a:prstGeom>
          <a:solidFill>
            <a:schemeClr val="accent5"/>
          </a:solidFill>
          <a:ln w="15875">
            <a:solidFill>
              <a:schemeClr val="accent2"/>
            </a:solidFill>
            <a:prstDash val="solid"/>
          </a:ln>
        </p:spPr>
      </p:sp>
      <p:sp>
        <p:nvSpPr>
          <p:cNvPr id="16" name="Shape 14"/>
          <p:cNvSpPr/>
          <p:nvPr/>
        </p:nvSpPr>
        <p:spPr>
          <a:xfrm>
            <a:off x="1904695" y="1737360"/>
            <a:ext cx="731520" cy="731520"/>
          </a:xfrm>
          <a:prstGeom prst="star8">
            <a:avLst/>
          </a:prstGeom>
          <a:solidFill>
            <a:schemeClr val="accent2"/>
          </a:solidFill>
          <a:ln/>
        </p:spPr>
      </p:sp>
      <p:sp>
        <p:nvSpPr>
          <p:cNvPr id="17" name="Shape 15"/>
          <p:cNvSpPr/>
          <p:nvPr/>
        </p:nvSpPr>
        <p:spPr>
          <a:xfrm>
            <a:off x="2050999"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190469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٣</a:t>
            </a:r>
            <a:endParaRPr lang="ar-SA" sz="1800" dirty="0"/>
          </a:p>
        </p:txBody>
      </p:sp>
      <p:sp>
        <p:nvSpPr>
          <p:cNvPr id="19" name="Text 17"/>
          <p:cNvSpPr txBox="1"/>
          <p:nvPr/>
        </p:nvSpPr>
        <p:spPr>
          <a:xfrm>
            <a:off x="76169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السورتان في سطور</a:t>
            </a:r>
            <a:endParaRPr lang="ar-SA" sz="2400" dirty="0"/>
          </a:p>
        </p:txBody>
      </p:sp>
      <p:sp>
        <p:nvSpPr>
          <p:cNvPr id="20" name="Text 18"/>
          <p:cNvSpPr txBox="1"/>
          <p:nvPr/>
        </p:nvSpPr>
        <p:spPr>
          <a:xfrm>
            <a:off x="80741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الأنفال: ٧٥ آية، والتوبة: ١٢٩ آية، وكلتاهما مدنية. وتُسمّى التوبة «براءة» و«الفاضحة» لأنها فضحت المنافقين.</a:t>
            </a:r>
            <a:endParaRPr lang="ar-SA" sz="16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مقاطع السورتين</a:t>
            </a:r>
            <a:endParaRPr lang="en-US" sz="30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rtl="1" algn="ctr" indent="0" marL="0">
              <a:buNone/>
            </a:pPr>
            <a:r>
              <a:rPr lang="ar-SA" altLang="en-US" sz="1700" dirty="0">
                <a:solidFill>
                  <a:schemeClr val="accent4"/>
                </a:solidFill>
              </a:rPr>
              <a:t>خمسة مقاطع لسورة الأنفال، ثم سبعة مقاطع لسورة التوبة</a:t>
            </a:r>
            <a:endParaRPr lang="ar-SA" sz="1700" dirty="0"/>
          </a:p>
        </p:txBody>
      </p:sp>
      <p:sp>
        <p:nvSpPr>
          <p:cNvPr id="4" name="Shape 2"/>
          <p:cNvSpPr/>
          <p:nvPr/>
        </p:nvSpPr>
        <p:spPr>
          <a:xfrm>
            <a:off x="8038948" y="1828800"/>
            <a:ext cx="3520440" cy="749808"/>
          </a:xfrm>
          <a:prstGeom prst="roundRect">
            <a:avLst>
              <a:gd name="adj" fmla="val 14634"/>
            </a:avLst>
          </a:prstGeom>
          <a:solidFill>
            <a:schemeClr val="bg1"/>
          </a:solidFill>
          <a:ln w="12700">
            <a:solidFill>
              <a:schemeClr val="accent2"/>
            </a:solidFill>
            <a:prstDash val="solid"/>
          </a:ln>
        </p:spPr>
      </p:sp>
      <p:sp>
        <p:nvSpPr>
          <p:cNvPr id="5" name="Shape 3"/>
          <p:cNvSpPr/>
          <p:nvPr/>
        </p:nvSpPr>
        <p:spPr>
          <a:xfrm>
            <a:off x="10873588" y="1938528"/>
            <a:ext cx="530352" cy="530352"/>
          </a:xfrm>
          <a:prstGeom prst="star8">
            <a:avLst/>
          </a:prstGeom>
          <a:solidFill>
            <a:schemeClr val="accent2"/>
          </a:solidFill>
          <a:ln/>
        </p:spPr>
      </p:sp>
      <p:sp>
        <p:nvSpPr>
          <p:cNvPr id="6" name="Shape 4"/>
          <p:cNvSpPr/>
          <p:nvPr/>
        </p:nvSpPr>
        <p:spPr>
          <a:xfrm>
            <a:off x="1097965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10873588" y="1938528"/>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a:t>
            </a:r>
            <a:endParaRPr lang="ar-SA" sz="1200" dirty="0"/>
          </a:p>
        </p:txBody>
      </p:sp>
      <p:sp>
        <p:nvSpPr>
          <p:cNvPr id="8" name="Text 6"/>
          <p:cNvSpPr txBox="1"/>
          <p:nvPr/>
        </p:nvSpPr>
        <p:spPr>
          <a:xfrm>
            <a:off x="8176108" y="1865376"/>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صفات المؤمنين وغزوة بدر</a:t>
            </a:r>
            <a:endParaRPr lang="ar-SA" sz="1400" dirty="0"/>
          </a:p>
        </p:txBody>
      </p:sp>
      <p:sp>
        <p:nvSpPr>
          <p:cNvPr id="9" name="Text 7"/>
          <p:cNvSpPr txBox="1"/>
          <p:nvPr/>
        </p:nvSpPr>
        <p:spPr>
          <a:xfrm>
            <a:off x="8176108" y="2248692"/>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الأنفال • الآيات ١ – ١٤</a:t>
            </a:r>
            <a:endParaRPr lang="ar-SA" sz="1100" dirty="0"/>
          </a:p>
        </p:txBody>
      </p:sp>
      <p:sp>
        <p:nvSpPr>
          <p:cNvPr id="10" name="Shape 8"/>
          <p:cNvSpPr/>
          <p:nvPr/>
        </p:nvSpPr>
        <p:spPr>
          <a:xfrm>
            <a:off x="4335628" y="1828800"/>
            <a:ext cx="3520440" cy="749808"/>
          </a:xfrm>
          <a:prstGeom prst="roundRect">
            <a:avLst>
              <a:gd name="adj" fmla="val 14634"/>
            </a:avLst>
          </a:prstGeom>
          <a:solidFill>
            <a:schemeClr val="accent5"/>
          </a:solidFill>
          <a:ln w="12700">
            <a:solidFill>
              <a:schemeClr val="accent2"/>
            </a:solidFill>
            <a:prstDash val="solid"/>
          </a:ln>
        </p:spPr>
      </p:sp>
      <p:sp>
        <p:nvSpPr>
          <p:cNvPr id="11" name="Shape 9"/>
          <p:cNvSpPr/>
          <p:nvPr/>
        </p:nvSpPr>
        <p:spPr>
          <a:xfrm>
            <a:off x="7170268" y="1938528"/>
            <a:ext cx="530352" cy="530352"/>
          </a:xfrm>
          <a:prstGeom prst="star8">
            <a:avLst/>
          </a:prstGeom>
          <a:solidFill>
            <a:schemeClr val="accent2"/>
          </a:solidFill>
          <a:ln/>
        </p:spPr>
      </p:sp>
      <p:sp>
        <p:nvSpPr>
          <p:cNvPr id="12" name="Shape 10"/>
          <p:cNvSpPr/>
          <p:nvPr/>
        </p:nvSpPr>
        <p:spPr>
          <a:xfrm>
            <a:off x="727633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7170268" y="1938528"/>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٢</a:t>
            </a:r>
            <a:endParaRPr lang="ar-SA" sz="1200" dirty="0"/>
          </a:p>
        </p:txBody>
      </p:sp>
      <p:sp>
        <p:nvSpPr>
          <p:cNvPr id="14" name="Text 12"/>
          <p:cNvSpPr txBox="1"/>
          <p:nvPr/>
        </p:nvSpPr>
        <p:spPr>
          <a:xfrm>
            <a:off x="4472788" y="1865376"/>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الثبات والاستجابة لله</a:t>
            </a:r>
            <a:endParaRPr lang="ar-SA" sz="1400" dirty="0"/>
          </a:p>
        </p:txBody>
      </p:sp>
      <p:sp>
        <p:nvSpPr>
          <p:cNvPr id="15" name="Text 13"/>
          <p:cNvSpPr txBox="1"/>
          <p:nvPr/>
        </p:nvSpPr>
        <p:spPr>
          <a:xfrm>
            <a:off x="4472788" y="2248692"/>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الأنفال • الآيات ١٥ – ٢٩</a:t>
            </a:r>
            <a:endParaRPr lang="ar-SA" sz="1100" dirty="0"/>
          </a:p>
        </p:txBody>
      </p:sp>
      <p:sp>
        <p:nvSpPr>
          <p:cNvPr id="16" name="Shape 14"/>
          <p:cNvSpPr/>
          <p:nvPr/>
        </p:nvSpPr>
        <p:spPr>
          <a:xfrm>
            <a:off x="632308" y="1828800"/>
            <a:ext cx="3520440" cy="749808"/>
          </a:xfrm>
          <a:prstGeom prst="roundRect">
            <a:avLst>
              <a:gd name="adj" fmla="val 14634"/>
            </a:avLst>
          </a:prstGeom>
          <a:solidFill>
            <a:schemeClr val="bg1"/>
          </a:solidFill>
          <a:ln w="12700">
            <a:solidFill>
              <a:schemeClr val="accent2"/>
            </a:solidFill>
            <a:prstDash val="solid"/>
          </a:ln>
        </p:spPr>
      </p:sp>
      <p:sp>
        <p:nvSpPr>
          <p:cNvPr id="17" name="Shape 15"/>
          <p:cNvSpPr/>
          <p:nvPr/>
        </p:nvSpPr>
        <p:spPr>
          <a:xfrm>
            <a:off x="3466948" y="1938528"/>
            <a:ext cx="530352" cy="530352"/>
          </a:xfrm>
          <a:prstGeom prst="star8">
            <a:avLst/>
          </a:prstGeom>
          <a:solidFill>
            <a:schemeClr val="accent2"/>
          </a:solidFill>
          <a:ln/>
        </p:spPr>
      </p:sp>
      <p:sp>
        <p:nvSpPr>
          <p:cNvPr id="18" name="Shape 16"/>
          <p:cNvSpPr/>
          <p:nvPr/>
        </p:nvSpPr>
        <p:spPr>
          <a:xfrm>
            <a:off x="3573018" y="2044598"/>
            <a:ext cx="318211" cy="318211"/>
          </a:xfrm>
          <a:prstGeom prst="ellipse">
            <a:avLst/>
          </a:prstGeom>
          <a:solidFill>
            <a:schemeClr val="bg2"/>
          </a:solidFill>
          <a:ln w="19050">
            <a:solidFill>
              <a:schemeClr val="tx2"/>
            </a:solidFill>
            <a:prstDash val="solid"/>
          </a:ln>
        </p:spPr>
      </p:sp>
      <p:sp>
        <p:nvSpPr>
          <p:cNvPr id="19" name="Text 17"/>
          <p:cNvSpPr txBox="1"/>
          <p:nvPr/>
        </p:nvSpPr>
        <p:spPr>
          <a:xfrm>
            <a:off x="3466948" y="1938528"/>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٣</a:t>
            </a:r>
            <a:endParaRPr lang="ar-SA" sz="1200" dirty="0"/>
          </a:p>
        </p:txBody>
      </p:sp>
      <p:sp>
        <p:nvSpPr>
          <p:cNvPr id="20" name="Text 18"/>
          <p:cNvSpPr txBox="1"/>
          <p:nvPr/>
        </p:nvSpPr>
        <p:spPr>
          <a:xfrm>
            <a:off x="769468" y="1865376"/>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مكر المشركين</a:t>
            </a:r>
            <a:endParaRPr lang="ar-SA" sz="1400" dirty="0"/>
          </a:p>
        </p:txBody>
      </p:sp>
      <p:sp>
        <p:nvSpPr>
          <p:cNvPr id="21" name="Text 19"/>
          <p:cNvSpPr txBox="1"/>
          <p:nvPr/>
        </p:nvSpPr>
        <p:spPr>
          <a:xfrm>
            <a:off x="769468" y="2248692"/>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الأنفال • الآيات ٣٠ – ٤٠</a:t>
            </a:r>
            <a:endParaRPr lang="ar-SA" sz="1100" dirty="0"/>
          </a:p>
        </p:txBody>
      </p:sp>
      <p:sp>
        <p:nvSpPr>
          <p:cNvPr id="22" name="Shape 20"/>
          <p:cNvSpPr/>
          <p:nvPr/>
        </p:nvSpPr>
        <p:spPr>
          <a:xfrm>
            <a:off x="8038948" y="2670048"/>
            <a:ext cx="3520440" cy="749808"/>
          </a:xfrm>
          <a:prstGeom prst="roundRect">
            <a:avLst>
              <a:gd name="adj" fmla="val 14634"/>
            </a:avLst>
          </a:prstGeom>
          <a:solidFill>
            <a:schemeClr val="accent5"/>
          </a:solidFill>
          <a:ln w="12700">
            <a:solidFill>
              <a:schemeClr val="accent2"/>
            </a:solidFill>
            <a:prstDash val="solid"/>
          </a:ln>
        </p:spPr>
      </p:sp>
      <p:sp>
        <p:nvSpPr>
          <p:cNvPr id="23" name="Shape 21"/>
          <p:cNvSpPr/>
          <p:nvPr/>
        </p:nvSpPr>
        <p:spPr>
          <a:xfrm>
            <a:off x="10873588" y="2779776"/>
            <a:ext cx="530352" cy="530352"/>
          </a:xfrm>
          <a:prstGeom prst="star8">
            <a:avLst/>
          </a:prstGeom>
          <a:solidFill>
            <a:schemeClr val="accent2"/>
          </a:solidFill>
          <a:ln/>
        </p:spPr>
      </p:sp>
      <p:sp>
        <p:nvSpPr>
          <p:cNvPr id="24" name="Shape 22"/>
          <p:cNvSpPr/>
          <p:nvPr/>
        </p:nvSpPr>
        <p:spPr>
          <a:xfrm>
            <a:off x="10979658" y="2885846"/>
            <a:ext cx="318211" cy="318211"/>
          </a:xfrm>
          <a:prstGeom prst="ellipse">
            <a:avLst/>
          </a:prstGeom>
          <a:solidFill>
            <a:schemeClr val="bg2"/>
          </a:solidFill>
          <a:ln w="19050">
            <a:solidFill>
              <a:schemeClr val="tx2"/>
            </a:solidFill>
            <a:prstDash val="solid"/>
          </a:ln>
        </p:spPr>
      </p:sp>
      <p:sp>
        <p:nvSpPr>
          <p:cNvPr id="25" name="Text 23"/>
          <p:cNvSpPr txBox="1"/>
          <p:nvPr/>
        </p:nvSpPr>
        <p:spPr>
          <a:xfrm>
            <a:off x="10873588" y="2779776"/>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٤</a:t>
            </a:r>
            <a:endParaRPr lang="ar-SA" sz="1200" dirty="0"/>
          </a:p>
        </p:txBody>
      </p:sp>
      <p:sp>
        <p:nvSpPr>
          <p:cNvPr id="26" name="Text 24"/>
          <p:cNvSpPr txBox="1"/>
          <p:nvPr/>
        </p:nvSpPr>
        <p:spPr>
          <a:xfrm>
            <a:off x="8176108" y="2706624"/>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الغنائم وآداب القتال</a:t>
            </a:r>
            <a:endParaRPr lang="ar-SA" sz="1400" dirty="0"/>
          </a:p>
        </p:txBody>
      </p:sp>
      <p:sp>
        <p:nvSpPr>
          <p:cNvPr id="27" name="Text 25"/>
          <p:cNvSpPr txBox="1"/>
          <p:nvPr/>
        </p:nvSpPr>
        <p:spPr>
          <a:xfrm>
            <a:off x="8176108" y="3089940"/>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الأنفال • الآيات ٤١ – ٥٤</a:t>
            </a:r>
            <a:endParaRPr lang="ar-SA" sz="1100" dirty="0"/>
          </a:p>
        </p:txBody>
      </p:sp>
      <p:sp>
        <p:nvSpPr>
          <p:cNvPr id="28" name="Shape 26"/>
          <p:cNvSpPr/>
          <p:nvPr/>
        </p:nvSpPr>
        <p:spPr>
          <a:xfrm>
            <a:off x="4335628" y="2670048"/>
            <a:ext cx="3520440" cy="749808"/>
          </a:xfrm>
          <a:prstGeom prst="roundRect">
            <a:avLst>
              <a:gd name="adj" fmla="val 14634"/>
            </a:avLst>
          </a:prstGeom>
          <a:solidFill>
            <a:schemeClr val="bg1"/>
          </a:solidFill>
          <a:ln w="12700">
            <a:solidFill>
              <a:schemeClr val="accent2"/>
            </a:solidFill>
            <a:prstDash val="solid"/>
          </a:ln>
        </p:spPr>
      </p:sp>
      <p:sp>
        <p:nvSpPr>
          <p:cNvPr id="29" name="Shape 27"/>
          <p:cNvSpPr/>
          <p:nvPr/>
        </p:nvSpPr>
        <p:spPr>
          <a:xfrm>
            <a:off x="7170268" y="2779776"/>
            <a:ext cx="530352" cy="530352"/>
          </a:xfrm>
          <a:prstGeom prst="star8">
            <a:avLst/>
          </a:prstGeom>
          <a:solidFill>
            <a:schemeClr val="accent2"/>
          </a:solidFill>
          <a:ln/>
        </p:spPr>
      </p:sp>
      <p:sp>
        <p:nvSpPr>
          <p:cNvPr id="30" name="Shape 28"/>
          <p:cNvSpPr/>
          <p:nvPr/>
        </p:nvSpPr>
        <p:spPr>
          <a:xfrm>
            <a:off x="7276338" y="2885846"/>
            <a:ext cx="318211" cy="318211"/>
          </a:xfrm>
          <a:prstGeom prst="ellipse">
            <a:avLst/>
          </a:prstGeom>
          <a:solidFill>
            <a:schemeClr val="bg2"/>
          </a:solidFill>
          <a:ln w="19050">
            <a:solidFill>
              <a:schemeClr val="tx2"/>
            </a:solidFill>
            <a:prstDash val="solid"/>
          </a:ln>
        </p:spPr>
      </p:sp>
      <p:sp>
        <p:nvSpPr>
          <p:cNvPr id="31" name="Text 29"/>
          <p:cNvSpPr txBox="1"/>
          <p:nvPr/>
        </p:nvSpPr>
        <p:spPr>
          <a:xfrm>
            <a:off x="7170268" y="2779776"/>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٥</a:t>
            </a:r>
            <a:endParaRPr lang="ar-SA" sz="1200" dirty="0"/>
          </a:p>
        </p:txBody>
      </p:sp>
      <p:sp>
        <p:nvSpPr>
          <p:cNvPr id="32" name="Text 30"/>
          <p:cNvSpPr txBox="1"/>
          <p:nvPr/>
        </p:nvSpPr>
        <p:spPr>
          <a:xfrm>
            <a:off x="4472788" y="2706624"/>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العهود والإعداد والأسرى</a:t>
            </a:r>
            <a:endParaRPr lang="ar-SA" sz="1400" dirty="0"/>
          </a:p>
        </p:txBody>
      </p:sp>
      <p:sp>
        <p:nvSpPr>
          <p:cNvPr id="33" name="Text 31"/>
          <p:cNvSpPr txBox="1"/>
          <p:nvPr/>
        </p:nvSpPr>
        <p:spPr>
          <a:xfrm>
            <a:off x="4472788" y="3089940"/>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الأنفال • الآيات ٥٥ – ٧٥</a:t>
            </a:r>
            <a:endParaRPr lang="ar-SA" sz="1100" dirty="0"/>
          </a:p>
        </p:txBody>
      </p:sp>
      <p:sp>
        <p:nvSpPr>
          <p:cNvPr id="34" name="Shape 32"/>
          <p:cNvSpPr/>
          <p:nvPr/>
        </p:nvSpPr>
        <p:spPr>
          <a:xfrm>
            <a:off x="632308" y="2670048"/>
            <a:ext cx="3520440" cy="749808"/>
          </a:xfrm>
          <a:prstGeom prst="roundRect">
            <a:avLst>
              <a:gd name="adj" fmla="val 14634"/>
            </a:avLst>
          </a:prstGeom>
          <a:solidFill>
            <a:schemeClr val="accent5"/>
          </a:solidFill>
          <a:ln w="12700">
            <a:solidFill>
              <a:schemeClr val="accent2"/>
            </a:solidFill>
            <a:prstDash val="solid"/>
          </a:ln>
        </p:spPr>
      </p:sp>
      <p:sp>
        <p:nvSpPr>
          <p:cNvPr id="35" name="Shape 33"/>
          <p:cNvSpPr/>
          <p:nvPr/>
        </p:nvSpPr>
        <p:spPr>
          <a:xfrm>
            <a:off x="3466948" y="2779776"/>
            <a:ext cx="530352" cy="530352"/>
          </a:xfrm>
          <a:prstGeom prst="star8">
            <a:avLst/>
          </a:prstGeom>
          <a:solidFill>
            <a:schemeClr val="accent2"/>
          </a:solidFill>
          <a:ln/>
        </p:spPr>
      </p:sp>
      <p:sp>
        <p:nvSpPr>
          <p:cNvPr id="36" name="Shape 34"/>
          <p:cNvSpPr/>
          <p:nvPr/>
        </p:nvSpPr>
        <p:spPr>
          <a:xfrm>
            <a:off x="3573018" y="2885846"/>
            <a:ext cx="318211" cy="318211"/>
          </a:xfrm>
          <a:prstGeom prst="ellipse">
            <a:avLst/>
          </a:prstGeom>
          <a:solidFill>
            <a:schemeClr val="bg2"/>
          </a:solidFill>
          <a:ln w="19050">
            <a:solidFill>
              <a:schemeClr val="tx2"/>
            </a:solidFill>
            <a:prstDash val="solid"/>
          </a:ln>
        </p:spPr>
      </p:sp>
      <p:sp>
        <p:nvSpPr>
          <p:cNvPr id="37" name="Text 35"/>
          <p:cNvSpPr txBox="1"/>
          <p:nvPr/>
        </p:nvSpPr>
        <p:spPr>
          <a:xfrm>
            <a:off x="3466948" y="2779776"/>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٦</a:t>
            </a:r>
            <a:endParaRPr lang="ar-SA" sz="1200" dirty="0"/>
          </a:p>
        </p:txBody>
      </p:sp>
      <p:sp>
        <p:nvSpPr>
          <p:cNvPr id="38" name="Text 36"/>
          <p:cNvSpPr txBox="1"/>
          <p:nvPr/>
        </p:nvSpPr>
        <p:spPr>
          <a:xfrm>
            <a:off x="769468" y="2706624"/>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البراءة من المشركين</a:t>
            </a:r>
            <a:endParaRPr lang="ar-SA" sz="1400" dirty="0"/>
          </a:p>
        </p:txBody>
      </p:sp>
      <p:sp>
        <p:nvSpPr>
          <p:cNvPr id="39" name="Text 37"/>
          <p:cNvSpPr txBox="1"/>
          <p:nvPr/>
        </p:nvSpPr>
        <p:spPr>
          <a:xfrm>
            <a:off x="769468" y="3089940"/>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التوبة • الآيات ١ – ١٦</a:t>
            </a:r>
            <a:endParaRPr lang="ar-SA" sz="1100" dirty="0"/>
          </a:p>
        </p:txBody>
      </p:sp>
      <p:sp>
        <p:nvSpPr>
          <p:cNvPr id="40" name="Shape 38"/>
          <p:cNvSpPr/>
          <p:nvPr/>
        </p:nvSpPr>
        <p:spPr>
          <a:xfrm>
            <a:off x="8038948" y="3511296"/>
            <a:ext cx="3520440" cy="749808"/>
          </a:xfrm>
          <a:prstGeom prst="roundRect">
            <a:avLst>
              <a:gd name="adj" fmla="val 14634"/>
            </a:avLst>
          </a:prstGeom>
          <a:solidFill>
            <a:schemeClr val="bg1"/>
          </a:solidFill>
          <a:ln w="12700">
            <a:solidFill>
              <a:schemeClr val="accent2"/>
            </a:solidFill>
            <a:prstDash val="solid"/>
          </a:ln>
        </p:spPr>
      </p:sp>
      <p:sp>
        <p:nvSpPr>
          <p:cNvPr id="41" name="Shape 39"/>
          <p:cNvSpPr/>
          <p:nvPr/>
        </p:nvSpPr>
        <p:spPr>
          <a:xfrm>
            <a:off x="10873588" y="3621024"/>
            <a:ext cx="530352" cy="530352"/>
          </a:xfrm>
          <a:prstGeom prst="star8">
            <a:avLst/>
          </a:prstGeom>
          <a:solidFill>
            <a:schemeClr val="accent2"/>
          </a:solidFill>
          <a:ln/>
        </p:spPr>
      </p:sp>
      <p:sp>
        <p:nvSpPr>
          <p:cNvPr id="42" name="Shape 40"/>
          <p:cNvSpPr/>
          <p:nvPr/>
        </p:nvSpPr>
        <p:spPr>
          <a:xfrm>
            <a:off x="10979658" y="3727094"/>
            <a:ext cx="318211" cy="318211"/>
          </a:xfrm>
          <a:prstGeom prst="ellipse">
            <a:avLst/>
          </a:prstGeom>
          <a:solidFill>
            <a:schemeClr val="bg2"/>
          </a:solidFill>
          <a:ln w="19050">
            <a:solidFill>
              <a:schemeClr val="tx2"/>
            </a:solidFill>
            <a:prstDash val="solid"/>
          </a:ln>
        </p:spPr>
      </p:sp>
      <p:sp>
        <p:nvSpPr>
          <p:cNvPr id="43" name="Text 41"/>
          <p:cNvSpPr txBox="1"/>
          <p:nvPr/>
        </p:nvSpPr>
        <p:spPr>
          <a:xfrm>
            <a:off x="10873588" y="3621024"/>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٧</a:t>
            </a:r>
            <a:endParaRPr lang="ar-SA" sz="1200" dirty="0"/>
          </a:p>
        </p:txBody>
      </p:sp>
      <p:sp>
        <p:nvSpPr>
          <p:cNvPr id="44" name="Text 42"/>
          <p:cNvSpPr txBox="1"/>
          <p:nvPr/>
        </p:nvSpPr>
        <p:spPr>
          <a:xfrm>
            <a:off x="8176108" y="3547872"/>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عمارة المساجد ويوم حنين</a:t>
            </a:r>
            <a:endParaRPr lang="ar-SA" sz="1400" dirty="0"/>
          </a:p>
        </p:txBody>
      </p:sp>
      <p:sp>
        <p:nvSpPr>
          <p:cNvPr id="45" name="Text 43"/>
          <p:cNvSpPr txBox="1"/>
          <p:nvPr/>
        </p:nvSpPr>
        <p:spPr>
          <a:xfrm>
            <a:off x="8176108" y="3931188"/>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التوبة • الآيات ١٧ – ٣٧</a:t>
            </a:r>
            <a:endParaRPr lang="ar-SA" sz="1100" dirty="0"/>
          </a:p>
        </p:txBody>
      </p:sp>
      <p:sp>
        <p:nvSpPr>
          <p:cNvPr id="46" name="Shape 44"/>
          <p:cNvSpPr/>
          <p:nvPr/>
        </p:nvSpPr>
        <p:spPr>
          <a:xfrm>
            <a:off x="4335628" y="3511296"/>
            <a:ext cx="3520440" cy="749808"/>
          </a:xfrm>
          <a:prstGeom prst="roundRect">
            <a:avLst>
              <a:gd name="adj" fmla="val 14634"/>
            </a:avLst>
          </a:prstGeom>
          <a:solidFill>
            <a:schemeClr val="accent5"/>
          </a:solidFill>
          <a:ln w="12700">
            <a:solidFill>
              <a:schemeClr val="accent2"/>
            </a:solidFill>
            <a:prstDash val="solid"/>
          </a:ln>
        </p:spPr>
      </p:sp>
      <p:sp>
        <p:nvSpPr>
          <p:cNvPr id="47" name="Shape 45"/>
          <p:cNvSpPr/>
          <p:nvPr/>
        </p:nvSpPr>
        <p:spPr>
          <a:xfrm>
            <a:off x="7170268" y="3621024"/>
            <a:ext cx="530352" cy="530352"/>
          </a:xfrm>
          <a:prstGeom prst="star8">
            <a:avLst/>
          </a:prstGeom>
          <a:solidFill>
            <a:schemeClr val="accent2"/>
          </a:solidFill>
          <a:ln/>
        </p:spPr>
      </p:sp>
      <p:sp>
        <p:nvSpPr>
          <p:cNvPr id="48" name="Shape 46"/>
          <p:cNvSpPr/>
          <p:nvPr/>
        </p:nvSpPr>
        <p:spPr>
          <a:xfrm>
            <a:off x="7276338" y="3727094"/>
            <a:ext cx="318211" cy="318211"/>
          </a:xfrm>
          <a:prstGeom prst="ellipse">
            <a:avLst/>
          </a:prstGeom>
          <a:solidFill>
            <a:schemeClr val="bg2"/>
          </a:solidFill>
          <a:ln w="19050">
            <a:solidFill>
              <a:schemeClr val="tx2"/>
            </a:solidFill>
            <a:prstDash val="solid"/>
          </a:ln>
        </p:spPr>
      </p:sp>
      <p:sp>
        <p:nvSpPr>
          <p:cNvPr id="49" name="Text 47"/>
          <p:cNvSpPr txBox="1"/>
          <p:nvPr/>
        </p:nvSpPr>
        <p:spPr>
          <a:xfrm>
            <a:off x="7170268" y="3621024"/>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٨</a:t>
            </a:r>
            <a:endParaRPr lang="ar-SA" sz="1200" dirty="0"/>
          </a:p>
        </p:txBody>
      </p:sp>
      <p:sp>
        <p:nvSpPr>
          <p:cNvPr id="50" name="Text 48"/>
          <p:cNvSpPr txBox="1"/>
          <p:nvPr/>
        </p:nvSpPr>
        <p:spPr>
          <a:xfrm>
            <a:off x="4472788" y="3547872"/>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غزوة تبوك والمتخلّفون</a:t>
            </a:r>
            <a:endParaRPr lang="ar-SA" sz="1400" dirty="0"/>
          </a:p>
        </p:txBody>
      </p:sp>
      <p:sp>
        <p:nvSpPr>
          <p:cNvPr id="51" name="Text 49"/>
          <p:cNvSpPr txBox="1"/>
          <p:nvPr/>
        </p:nvSpPr>
        <p:spPr>
          <a:xfrm>
            <a:off x="4472788" y="3931188"/>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التوبة • الآيات ٣٨ – ٥٩</a:t>
            </a:r>
            <a:endParaRPr lang="ar-SA" sz="1100" dirty="0"/>
          </a:p>
        </p:txBody>
      </p:sp>
      <p:sp>
        <p:nvSpPr>
          <p:cNvPr id="52" name="Shape 50"/>
          <p:cNvSpPr/>
          <p:nvPr/>
        </p:nvSpPr>
        <p:spPr>
          <a:xfrm>
            <a:off x="632308" y="3511296"/>
            <a:ext cx="3520440" cy="749808"/>
          </a:xfrm>
          <a:prstGeom prst="roundRect">
            <a:avLst>
              <a:gd name="adj" fmla="val 14634"/>
            </a:avLst>
          </a:prstGeom>
          <a:solidFill>
            <a:schemeClr val="bg1"/>
          </a:solidFill>
          <a:ln w="12700">
            <a:solidFill>
              <a:schemeClr val="accent2"/>
            </a:solidFill>
            <a:prstDash val="solid"/>
          </a:ln>
        </p:spPr>
      </p:sp>
      <p:sp>
        <p:nvSpPr>
          <p:cNvPr id="53" name="Shape 51"/>
          <p:cNvSpPr/>
          <p:nvPr/>
        </p:nvSpPr>
        <p:spPr>
          <a:xfrm>
            <a:off x="3466948" y="3621024"/>
            <a:ext cx="530352" cy="530352"/>
          </a:xfrm>
          <a:prstGeom prst="star8">
            <a:avLst/>
          </a:prstGeom>
          <a:solidFill>
            <a:schemeClr val="accent2"/>
          </a:solidFill>
          <a:ln/>
        </p:spPr>
      </p:sp>
      <p:sp>
        <p:nvSpPr>
          <p:cNvPr id="54" name="Shape 52"/>
          <p:cNvSpPr/>
          <p:nvPr/>
        </p:nvSpPr>
        <p:spPr>
          <a:xfrm>
            <a:off x="3573018" y="3727094"/>
            <a:ext cx="318211" cy="318211"/>
          </a:xfrm>
          <a:prstGeom prst="ellipse">
            <a:avLst/>
          </a:prstGeom>
          <a:solidFill>
            <a:schemeClr val="bg2"/>
          </a:solidFill>
          <a:ln w="19050">
            <a:solidFill>
              <a:schemeClr val="tx2"/>
            </a:solidFill>
            <a:prstDash val="solid"/>
          </a:ln>
        </p:spPr>
      </p:sp>
      <p:sp>
        <p:nvSpPr>
          <p:cNvPr id="55" name="Text 53"/>
          <p:cNvSpPr txBox="1"/>
          <p:nvPr/>
        </p:nvSpPr>
        <p:spPr>
          <a:xfrm>
            <a:off x="3466948" y="3621024"/>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٩</a:t>
            </a:r>
            <a:endParaRPr lang="ar-SA" sz="1200" dirty="0"/>
          </a:p>
        </p:txBody>
      </p:sp>
      <p:sp>
        <p:nvSpPr>
          <p:cNvPr id="56" name="Text 54"/>
          <p:cNvSpPr txBox="1"/>
          <p:nvPr/>
        </p:nvSpPr>
        <p:spPr>
          <a:xfrm>
            <a:off x="769468" y="3547872"/>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الزكاة وفضح المنافقين</a:t>
            </a:r>
            <a:endParaRPr lang="ar-SA" sz="1400" dirty="0"/>
          </a:p>
        </p:txBody>
      </p:sp>
      <p:sp>
        <p:nvSpPr>
          <p:cNvPr id="57" name="Text 55"/>
          <p:cNvSpPr txBox="1"/>
          <p:nvPr/>
        </p:nvSpPr>
        <p:spPr>
          <a:xfrm>
            <a:off x="769468" y="3931188"/>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التوبة • الآيات ٦٠ – ٨٠</a:t>
            </a:r>
            <a:endParaRPr lang="ar-SA" sz="1100" dirty="0"/>
          </a:p>
        </p:txBody>
      </p:sp>
      <p:sp>
        <p:nvSpPr>
          <p:cNvPr id="58" name="Shape 56"/>
          <p:cNvSpPr/>
          <p:nvPr/>
        </p:nvSpPr>
        <p:spPr>
          <a:xfrm>
            <a:off x="8038948" y="4352544"/>
            <a:ext cx="3520440" cy="749808"/>
          </a:xfrm>
          <a:prstGeom prst="roundRect">
            <a:avLst>
              <a:gd name="adj" fmla="val 14634"/>
            </a:avLst>
          </a:prstGeom>
          <a:solidFill>
            <a:schemeClr val="accent5"/>
          </a:solidFill>
          <a:ln w="12700">
            <a:solidFill>
              <a:schemeClr val="accent2"/>
            </a:solidFill>
            <a:prstDash val="solid"/>
          </a:ln>
        </p:spPr>
      </p:sp>
      <p:sp>
        <p:nvSpPr>
          <p:cNvPr id="59" name="Shape 57"/>
          <p:cNvSpPr/>
          <p:nvPr/>
        </p:nvSpPr>
        <p:spPr>
          <a:xfrm>
            <a:off x="10873588" y="4462272"/>
            <a:ext cx="530352" cy="530352"/>
          </a:xfrm>
          <a:prstGeom prst="star8">
            <a:avLst/>
          </a:prstGeom>
          <a:solidFill>
            <a:schemeClr val="accent2"/>
          </a:solidFill>
          <a:ln/>
        </p:spPr>
      </p:sp>
      <p:sp>
        <p:nvSpPr>
          <p:cNvPr id="60" name="Shape 58"/>
          <p:cNvSpPr/>
          <p:nvPr/>
        </p:nvSpPr>
        <p:spPr>
          <a:xfrm>
            <a:off x="10979658" y="4568342"/>
            <a:ext cx="318211" cy="318211"/>
          </a:xfrm>
          <a:prstGeom prst="ellipse">
            <a:avLst/>
          </a:prstGeom>
          <a:solidFill>
            <a:schemeClr val="bg2"/>
          </a:solidFill>
          <a:ln w="19050">
            <a:solidFill>
              <a:schemeClr val="tx2"/>
            </a:solidFill>
            <a:prstDash val="solid"/>
          </a:ln>
        </p:spPr>
      </p:sp>
      <p:sp>
        <p:nvSpPr>
          <p:cNvPr id="61" name="Text 59"/>
          <p:cNvSpPr txBox="1"/>
          <p:nvPr/>
        </p:nvSpPr>
        <p:spPr>
          <a:xfrm>
            <a:off x="10873588" y="4462272"/>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١٠</a:t>
            </a:r>
            <a:endParaRPr lang="ar-SA" sz="1200" dirty="0"/>
          </a:p>
        </p:txBody>
      </p:sp>
      <p:sp>
        <p:nvSpPr>
          <p:cNvPr id="62" name="Text 60"/>
          <p:cNvSpPr txBox="1"/>
          <p:nvPr/>
        </p:nvSpPr>
        <p:spPr>
          <a:xfrm>
            <a:off x="8176108" y="4389120"/>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المتخلّفون والمعذورون</a:t>
            </a:r>
            <a:endParaRPr lang="ar-SA" sz="1400" dirty="0"/>
          </a:p>
        </p:txBody>
      </p:sp>
      <p:sp>
        <p:nvSpPr>
          <p:cNvPr id="63" name="Text 61"/>
          <p:cNvSpPr txBox="1"/>
          <p:nvPr/>
        </p:nvSpPr>
        <p:spPr>
          <a:xfrm>
            <a:off x="8176108" y="4772436"/>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التوبة • الآيات ٨١ – ٩٩</a:t>
            </a:r>
            <a:endParaRPr lang="ar-SA" sz="1100" dirty="0"/>
          </a:p>
        </p:txBody>
      </p:sp>
      <p:sp>
        <p:nvSpPr>
          <p:cNvPr id="64" name="Shape 62"/>
          <p:cNvSpPr/>
          <p:nvPr/>
        </p:nvSpPr>
        <p:spPr>
          <a:xfrm>
            <a:off x="4335628" y="4352544"/>
            <a:ext cx="3520440" cy="749808"/>
          </a:xfrm>
          <a:prstGeom prst="roundRect">
            <a:avLst>
              <a:gd name="adj" fmla="val 14634"/>
            </a:avLst>
          </a:prstGeom>
          <a:solidFill>
            <a:schemeClr val="bg1"/>
          </a:solidFill>
          <a:ln w="12700">
            <a:solidFill>
              <a:schemeClr val="accent2"/>
            </a:solidFill>
            <a:prstDash val="solid"/>
          </a:ln>
        </p:spPr>
      </p:sp>
      <p:sp>
        <p:nvSpPr>
          <p:cNvPr id="65" name="Shape 63"/>
          <p:cNvSpPr/>
          <p:nvPr/>
        </p:nvSpPr>
        <p:spPr>
          <a:xfrm>
            <a:off x="7170268" y="4462272"/>
            <a:ext cx="530352" cy="530352"/>
          </a:xfrm>
          <a:prstGeom prst="star8">
            <a:avLst/>
          </a:prstGeom>
          <a:solidFill>
            <a:schemeClr val="accent2"/>
          </a:solidFill>
          <a:ln/>
        </p:spPr>
      </p:sp>
      <p:sp>
        <p:nvSpPr>
          <p:cNvPr id="66" name="Shape 64"/>
          <p:cNvSpPr/>
          <p:nvPr/>
        </p:nvSpPr>
        <p:spPr>
          <a:xfrm>
            <a:off x="7276338" y="4568342"/>
            <a:ext cx="318211" cy="318211"/>
          </a:xfrm>
          <a:prstGeom prst="ellipse">
            <a:avLst/>
          </a:prstGeom>
          <a:solidFill>
            <a:schemeClr val="bg2"/>
          </a:solidFill>
          <a:ln w="19050">
            <a:solidFill>
              <a:schemeClr val="tx2"/>
            </a:solidFill>
            <a:prstDash val="solid"/>
          </a:ln>
        </p:spPr>
      </p:sp>
      <p:sp>
        <p:nvSpPr>
          <p:cNvPr id="67" name="Text 65"/>
          <p:cNvSpPr txBox="1"/>
          <p:nvPr/>
        </p:nvSpPr>
        <p:spPr>
          <a:xfrm>
            <a:off x="7170268" y="4462272"/>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١١</a:t>
            </a:r>
            <a:endParaRPr lang="ar-SA" sz="1200" dirty="0"/>
          </a:p>
        </p:txBody>
      </p:sp>
      <p:sp>
        <p:nvSpPr>
          <p:cNvPr id="68" name="Text 66"/>
          <p:cNvSpPr txBox="1"/>
          <p:nvPr/>
        </p:nvSpPr>
        <p:spPr>
          <a:xfrm>
            <a:off x="4472788" y="4389120"/>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السابقون ومسجد الضرار</a:t>
            </a:r>
            <a:endParaRPr lang="ar-SA" sz="1400" dirty="0"/>
          </a:p>
        </p:txBody>
      </p:sp>
      <p:sp>
        <p:nvSpPr>
          <p:cNvPr id="69" name="Text 67"/>
          <p:cNvSpPr txBox="1"/>
          <p:nvPr/>
        </p:nvSpPr>
        <p:spPr>
          <a:xfrm>
            <a:off x="4472788" y="4772436"/>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التوبة • الآيات ١٠٠ – ١١٠</a:t>
            </a:r>
            <a:endParaRPr lang="ar-SA" sz="1100" dirty="0"/>
          </a:p>
        </p:txBody>
      </p:sp>
      <p:sp>
        <p:nvSpPr>
          <p:cNvPr id="70" name="Shape 68"/>
          <p:cNvSpPr/>
          <p:nvPr/>
        </p:nvSpPr>
        <p:spPr>
          <a:xfrm>
            <a:off x="632308" y="4352544"/>
            <a:ext cx="3520440" cy="749808"/>
          </a:xfrm>
          <a:prstGeom prst="roundRect">
            <a:avLst>
              <a:gd name="adj" fmla="val 14634"/>
            </a:avLst>
          </a:prstGeom>
          <a:solidFill>
            <a:schemeClr val="accent5"/>
          </a:solidFill>
          <a:ln w="12700">
            <a:solidFill>
              <a:schemeClr val="accent2"/>
            </a:solidFill>
            <a:prstDash val="solid"/>
          </a:ln>
        </p:spPr>
      </p:sp>
      <p:sp>
        <p:nvSpPr>
          <p:cNvPr id="71" name="Shape 69"/>
          <p:cNvSpPr/>
          <p:nvPr/>
        </p:nvSpPr>
        <p:spPr>
          <a:xfrm>
            <a:off x="3466948" y="4462272"/>
            <a:ext cx="530352" cy="530352"/>
          </a:xfrm>
          <a:prstGeom prst="star8">
            <a:avLst/>
          </a:prstGeom>
          <a:solidFill>
            <a:schemeClr val="accent2"/>
          </a:solidFill>
          <a:ln/>
        </p:spPr>
      </p:sp>
      <p:sp>
        <p:nvSpPr>
          <p:cNvPr id="72" name="Shape 70"/>
          <p:cNvSpPr/>
          <p:nvPr/>
        </p:nvSpPr>
        <p:spPr>
          <a:xfrm>
            <a:off x="3573018" y="4568342"/>
            <a:ext cx="318211" cy="318211"/>
          </a:xfrm>
          <a:prstGeom prst="ellipse">
            <a:avLst/>
          </a:prstGeom>
          <a:solidFill>
            <a:schemeClr val="bg2"/>
          </a:solidFill>
          <a:ln w="19050">
            <a:solidFill>
              <a:schemeClr val="tx2"/>
            </a:solidFill>
            <a:prstDash val="solid"/>
          </a:ln>
        </p:spPr>
      </p:sp>
      <p:sp>
        <p:nvSpPr>
          <p:cNvPr id="73" name="Text 71"/>
          <p:cNvSpPr txBox="1"/>
          <p:nvPr/>
        </p:nvSpPr>
        <p:spPr>
          <a:xfrm>
            <a:off x="3466948" y="4462272"/>
            <a:ext cx="530352" cy="530352"/>
          </a:xfrm>
          <a:prstGeom prst="rect">
            <a:avLst/>
          </a:prstGeom>
          <a:noFill/>
          <a:ln/>
        </p:spPr>
        <p:txBody>
          <a:bodyPr wrap="square" lIns="0" tIns="0" rIns="0" bIns="0" rtlCol="0" anchor="ctr"/>
          <a:lstStyle/>
          <a:p>
            <a:pPr rtl="1" algn="ctr" indent="0" marL="0">
              <a:buNone/>
            </a:pPr>
            <a:r>
              <a:rPr lang="ar-SA" altLang="en-US" sz="1200" b="1" dirty="0">
                <a:solidFill>
                  <a:schemeClr val="tx2"/>
                </a:solidFill>
                <a:latin typeface="Arial" pitchFamily="34" charset="0"/>
                <a:ea typeface="Arial" pitchFamily="34" charset="-122"/>
                <a:cs typeface="Arial" pitchFamily="34" charset="-120"/>
              </a:rPr>
              <a:t>١٢</a:t>
            </a:r>
            <a:endParaRPr lang="ar-SA" sz="1200" dirty="0"/>
          </a:p>
        </p:txBody>
      </p:sp>
      <p:sp>
        <p:nvSpPr>
          <p:cNvPr id="74" name="Text 72"/>
          <p:cNvSpPr txBox="1"/>
          <p:nvPr/>
        </p:nvSpPr>
        <p:spPr>
          <a:xfrm>
            <a:off x="769468" y="4389120"/>
            <a:ext cx="2532888" cy="412394"/>
          </a:xfrm>
          <a:prstGeom prst="rect">
            <a:avLst/>
          </a:prstGeom>
          <a:noFill/>
          <a:ln/>
        </p:spPr>
        <p:txBody>
          <a:bodyPr wrap="square" lIns="0" tIns="0" rIns="0" bIns="0" rtlCol="0" anchor="ctr">
            <a:normAutofit/>
          </a:bodyPr>
          <a:lstStyle/>
          <a:p>
            <a:pPr rtl="1" algn="r" indent="0" marL="0">
              <a:buNone/>
            </a:pPr>
            <a:r>
              <a:rPr lang="ar-SA" altLang="en-US" sz="1400" b="1" dirty="0">
                <a:solidFill>
                  <a:schemeClr val="tx2"/>
                </a:solidFill>
              </a:rPr>
              <a:t>البيعة الرابحة وتوبة الثلاثة</a:t>
            </a:r>
            <a:endParaRPr lang="ar-SA" sz="1400" dirty="0"/>
          </a:p>
        </p:txBody>
      </p:sp>
      <p:sp>
        <p:nvSpPr>
          <p:cNvPr id="75" name="Text 73"/>
          <p:cNvSpPr txBox="1"/>
          <p:nvPr/>
        </p:nvSpPr>
        <p:spPr>
          <a:xfrm>
            <a:off x="769468" y="4772436"/>
            <a:ext cx="2532888" cy="284927"/>
          </a:xfrm>
          <a:prstGeom prst="rect">
            <a:avLst/>
          </a:prstGeom>
          <a:noFill/>
          <a:ln/>
        </p:spPr>
        <p:txBody>
          <a:bodyPr wrap="square" lIns="0" tIns="0" rIns="0" bIns="0" rtlCol="0" anchor="t"/>
          <a:lstStyle/>
          <a:p>
            <a:pPr rtl="1" algn="r" indent="0" marL="0">
              <a:buNone/>
            </a:pPr>
            <a:r>
              <a:rPr lang="ar-SA" altLang="en-US" sz="1100" b="1" dirty="0">
                <a:solidFill>
                  <a:schemeClr val="accent2"/>
                </a:solidFill>
              </a:rPr>
              <a:t>التوبة • الآيات ١١١ – ١٢٩</a:t>
            </a:r>
            <a:endParaRPr lang="ar-SA" sz="11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صفات المؤمنين وغزوة بدر</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١٤</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الأنفال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عبادة بن الصامت رضي الله عنه: فينا أصحاب بدر نزلت حين اختلفنا في الغنيمة وساءت فيها أخلاقنا، فنزعها الله من أيدينا وجعلها إلى رسوله، فقسمها بيننا بالسواء (رواه أحمد).</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صفات المؤمنين حقًّا، وخروج النبي صلى الله عليه وسلم إلى بدر، وكيف نصر الله المؤمنين بالملائكة والمطر والنعاس والرعب في قلوب الكفار.</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يَسْـَٔلُونَكَ عَنِ الْأَنفَالِ قُلِ الْأَنفَالُ لِلَّهِ وَالرَّسُولِ فَاتَّقُواْ اللَّهَ وَأَصْلِحُواْ ذَاتَ بَيْنِكُمْ وَأَطِيعُواْ اللَّهَ وَرَسُولَهُ إِن كُنتُم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يسألك أصحابك يا محمد عن غنائم بدر كيف تُقسم؟ قل: الغنائم لله والرسول يحكمان فيها، فاتقوا الله، وأصلحوا ما بينكم، وأطيعوا الله ورسوله إن كنتم مؤمنين.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الْمُؤْمِنُونَ الَّذِينَ إِذَا ذُكِرَ اللَّهُ وَجِلَتْ قُلُوبُهُمْ وَإِذَا تُلِيَتْ عَلَيْهِمْ ءَايَٰتُهُ زَادَتْهُمْ إِيمَٰنًا وَعَلَىٰ رَبِّهِمْ يَتَوَكَّلُونَ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المؤمنون حقًّا الذين إذا ذُكر الله خافت قلوبهم، وإذا قُرئت عليهم آياته زادتهم إيمانًا، وعلى ربهم يتوكّلون.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يُقِيمُونَ الصَّلَوٰةَ وَمِمَّا رَزَقْنَٰهُمْ يُنفِقُونَ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يقيمون الصلاة، ومما رزقناهم ينفقون.</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0266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هُمُ الْمُؤْمِنُونَ حَقًّا لَّهُمْ دَرَجَٰتٌ عِندَ رَبِّهِمْ وَمَغْفِرَةٌ وَرِزْقٌ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هم المؤمنون حقًّا، لهم منازل عالية عند ربهم، ومغفرة، ورزق كريم في الجنة.</a:t>
            </a:r>
            <a:endParaRPr lang="ar-SA" sz="3200" dirty="0"/>
          </a:p>
        </p:txBody>
      </p:sp>
      <p:sp>
        <p:nvSpPr>
          <p:cNvPr id="14" name="Shape 12"/>
          <p:cNvSpPr/>
          <p:nvPr/>
        </p:nvSpPr>
        <p:spPr>
          <a:xfrm>
            <a:off x="2103120" y="4210812"/>
            <a:ext cx="8641080" cy="0"/>
          </a:xfrm>
          <a:prstGeom prst="line">
            <a:avLst/>
          </a:prstGeom>
          <a:noFill/>
          <a:ln w="9525">
            <a:solidFill>
              <a:schemeClr val="accent2"/>
            </a:solidFill>
            <a:prstDash val="dash"/>
          </a:ln>
        </p:spPr>
      </p:sp>
      <p:sp>
        <p:nvSpPr>
          <p:cNvPr id="15" name="Shape 13"/>
          <p:cNvSpPr/>
          <p:nvPr/>
        </p:nvSpPr>
        <p:spPr>
          <a:xfrm>
            <a:off x="10927080" y="4471416"/>
            <a:ext cx="548640" cy="548640"/>
          </a:xfrm>
          <a:prstGeom prst="star8">
            <a:avLst/>
          </a:prstGeom>
          <a:solidFill>
            <a:schemeClr val="accent2"/>
          </a:solidFill>
          <a:ln/>
        </p:spPr>
      </p:sp>
      <p:sp>
        <p:nvSpPr>
          <p:cNvPr id="16" name="Shape 14"/>
          <p:cNvSpPr/>
          <p:nvPr/>
        </p:nvSpPr>
        <p:spPr>
          <a:xfrm>
            <a:off x="11036808" y="4581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71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8" name="Text 16"/>
          <p:cNvSpPr txBox="1"/>
          <p:nvPr/>
        </p:nvSpPr>
        <p:spPr>
          <a:xfrm>
            <a:off x="731520" y="445312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كَمَآ أَخْرَجَكَ رَبُّكَ مِن بَيْتِكَ بِالْحَقِّ وَإِنَّ فَرِيقًا مِّنَ الْمُؤْمِنِينَ لَكَٰرِهُونَ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كما أخرجك ربك من بيتك بالمدينة إلى بدر بالحق، وإن فريقًا من المؤمنين لكارهون للقتال، فكان الخير فيما أراد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يُجَٰدِلُونَكَ فِي الْحَقِّ بَعْدَ مَا تَبَيَّنَ كَأَنَّمَا يُسَاقُونَ إِلَى الْمَوْتِ وَهُمْ يَنظُرُونَ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يجادلونك في القتال بعد ما تبيّن لهم أنه واقع، كأنما يُساقون إلى الموت وهم ينظرون إليه.</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يَعِدُكُمُ اللَّهُ إِحْدَى الطَّآئِفَتَيْنِ أَنَّهَا لَكُمْ وَتَوَدُّونَ أَنَّ غَيْرَ ذَاتِ الشَّوْكَةِ تَكُونُ لَكُمْ وَيُرِيدُ اللَّهُ أَن يُحِقَّ الْحَقَّ بِكَلِمَٰتِهِ وَيَقْطَعَ دَابِرَ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واذكروا إذ يعدكم الله إحدى الطائفتين: القافلة أو جيش قريش، أنها لكم، وتحبّون أن تكون لكم القافلة التي لا سلاح معها، ويريد الله أن يُظهر الحق بكلماته، ويُهلك الكافرين عن آخرهم.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لِيُحِقَّ الْحَقَّ وَيُبْطِلَ الْبَٰطِلَ وَلَوْ كَرِهَ الْمُجْرِمُونَ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ليُظهر الحق، ويُبطل الباطل، ولو كره المجرمون.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تَسْتَغِيثُونَ رَبَّكُمْ فَاسْتَجَابَ لَكُمْ أَنِّي مُمِدُّكُم بِأَلْفٍ مِّنَ الْمَلَـٰئِكَةِ مُرْدِفِينَ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تستغيثون ربكم يوم بدر، فاستجاب لكم: أني ممدّكم بألف من الملائكة يتبع بعضهم بعضًا.</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جَعَلَهُ اللَّهُ إِلَّا بُشْرَىٰ وَلِتَطْمَئِنَّ بِهِ قُلُوبُكُمْ وَمَا النَّصْرُ إِلَّا مِنْ عِندِ اللَّهِ إِنَّ اللَّهَ عَزِيزٌ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جعل الله إمداد الملائكة إلا بشرى لكم، ولتطمئن به قلوبكم، وما النصر إلا من عند الله، إن الله عزيز 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يُغَشِّيكُمُ النُّعَاسَ أَمَنَةً مِّنْهُ وَيُنَزِّلُ عَلَيْكُم مِّنَ السَّمَآءِ مَآءً لِّيُطَهِّرَكُم بِهِ وَيُذْهِبَ عَنكُمْ رِجْزَ الشَّيْطَٰنِ وَلِيَرْبِطَ عَلَىٰ قُلُوبِكُمْ وَيُثَبِّتَ بِهِ الْأَقْدَامَ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يُلقي الله عليكم النعاس أمانًا منه، ويُنزل عليكم من السماء مطرًا ليطهّركم به، ويُذهب عنكم وسوسة الشيطان، ويُقوّي قلوبكم، ويثبّت به أقدامكم على الرمل.</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يُوحِي رَبُّكَ إِلَى الْمَلَـٰئِكَةِ أَنِّي مَعَكُمْ فَثَبِّتُواْ الَّذِينَ ءَامَنُواْ سَأُلْقِي فِي قُلُوبِ الَّذِينَ كَفَرُواْ الرُّعْبَ فَاضْرِبُواْ فَوْقَ الْأَعْنَاقِ وَاضْرِبُواْ مِنْهُمْ كُلَّ بَنَانٍ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يوحي ربك إلى الملائكة: أني معكم فثبّتوا المؤمنين، سأُلقي في قلوب الكافرين الخوف، فاضربوا الأعناق، واضربوا منهم كل طرف.</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بِأَنَّهُمْ شَآقُّواْ اللَّهَ وَرَسُولَهُ وَمَن يُشَاقِقِ اللَّهَ وَرَسُولَهُ فَإِنَّ اللَّهَ شَدِيدُ الْعِقَابِ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بأنهم خالفوا الله ورسوله وعادوهما، ومن يخالف الله ورسوله فإن الله شديد العقاب.</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ذَٰلِكُمْ فَذُوقُوهُ وَأَنَّ لِلْكَٰفِرِينَ عَذَابَ النَّارِ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ذلكم العذاب فذوقوه في الدنيا، وللكافرين عذاب النار في الآخرة.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الثبات والاستجابة لله</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٢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١٥ – ٢٩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الأنفال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النبي صلى الله عليه وسلم أخذ يوم بدر قبضة من التراب فرمى بها وجوه المشركين وقال: «شاهت الوجوه»، فلم يبقَ منهم أحد إلا أصاب عينيه منها، فنزلت: ﴿وما رميتَ إذ رميتَ ولكن الله رمى﴾.</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الأمر بالثبات أمام العدو، وأن النصر من الله وحده، والأمر بطاعة الله ورسوله والاستجابة لهما، والتحذير من الخيانة، وثمرة التقوى.</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إِذَا لَقِيتُمُ الَّذِينَ كَفَرُواْ زَحْفًا فَلَا تُوَلُّوهُمُ الْأَدْبَارَ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إذا لقيتم الكفار في القتال متقاربين فلا تولّوهم ظهوركم هاربين.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يُوَلِّهِمْ يَوْمَئِذٍ دُبُرَهُ إِلَّا مُتَحَرِّفًا لِّقِتَالٍ أَوْ مُتَحَيِّزًا إِلَىٰ فِئَةٍ فَقَدْ بَآءَ بِغَضَبٍ مِّنَ اللَّهِ وَمَأْوَىٰهُ جَهَنَّمُ وَبِئْسَ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يولّهم ظهره يومئذ إلا من ينتقل لخطة قتال، أو ينضمّ إلى جماعة المسلمين، فقد رجع بغضب من الله، ومصيره جهنم، وبئس المصير.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 تَقْتُلُوهُمْ وَلَٰكِنَّ اللَّهَ قَتَلَهُمْ وَمَا رَمَيْتَ إِذْ رَمَيْتَ وَلَٰكِنَّ اللَّهَ رَمَىٰ وَلِيُبْلِيَ الْمُؤْمِنِينَ مِنْهُ بَلَآءً حَسَنًا إِنَّ اللَّهَ سَمِيعٌ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 تقتلوهم بقوّتكم ولكن الله قتلهم، وما رميت يا محمد التراب في وجوههم حين رميت ولكن الله رمى فأوصله إلى عيونهم، وليُنعم على المؤمنين بالنصر، إن الله سميع عليم.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ذَٰلِكُمْ وَأَنَّ اللَّهَ مُوهِنُ كَيْدِ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ذلكم النصر من الله، وأن الله مُضعف كيد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تَسْتَفْتِحُواْ فَقَدْ جَآءَكُمُ الْفَتْحُ وَإِن تَنتَهُواْ فَهُوَ خَيْرٌ لَّكُمْ وَإِن تَعُودُواْ نَعُدْ وَلَن تُغْنِيَ عَنكُمْ فِئَتُكُمْ شَيْـًٔا وَلَوْ كَثُرَتْ وَأَنَّ اللَّهَ مَعَ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تطلبوا أيها المشركون أن يحكم الله بينكم وبين المؤمنين فقد جاءكم الحكم بالنصر للمؤمنين، وإن تتوقّفوا عن الكفر فهو خير لكم، وإن تعودوا نعد، ولن تنفعكم جماعتكم ولو كثرت، وإن الله مع المؤمنين.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أَطِيعُواْ اللَّهَ وَرَسُولَهُ وَلَا تَوَلَّوْاْ عَنْهُ وَأَنتُمْ تَسْمَعُونَ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أطيعوا الله ورسوله، ولا تُعرضوا عنه وأنتم تسمعون القرآن.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تَكُونُواْ كَالَّذِينَ قَالُواْ سَمِعْنَا وَهُمْ لَا يَسْمَعُونَ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تكونوا كالمنافقين الذين قالوا: سمعنا، وهم لا يسمعون سماع قبول.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شَرَّ الدَّوَآبِّ عِندَ اللَّهِ الصُّمُّ الْبُكْمُ الَّذِينَ لَا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شرّ ما يدبّ على الأرض عند الله الصمّ عن الحق، البكم عن قوله، الذين لا يعقلون.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عَلِمَ اللَّهُ فِيهِمْ خَيْرًا لَّأَسْمَعَهُمْ وَلَوْ أَسْمَعَهُمْ لَتَوَلَّواْ وَّهُم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علم الله فيهم خيرًا لأسمعهم سماع انتفاع، ولو أسمعهم لأعرضوا عنادًا.</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اسْتَجِيبُواْ لِلَّهِ وَلِلرَّسُولِ إِذَا دَعَاكُمْ لِمَا يُحْيِيكُمْ وَاعْلَمُواْ أَنَّ اللَّهَ يَحُولُ بَيْنَ الْمَرْءِ وَقَلْبِهِ وَأَنَّهُ إِلَيْهِ تُحْشَرُونَ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أجيبوا الله والرسول إذا دعاكم لما فيه حياة قلوبكم من الإيمان، واعلموا أن الله يحول بين المرء وقلبه، وأنكم إليه تُجمعون.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85166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وَاتَّقُواْ فِتْنَةً لَّا تُصِيبَنَّ الَّذِينَ ظَلَمُواْ مِنكُمْ خَآصَّةً وَاعْلَمُواْ أَنَّ اللَّهَ شَدِيدُ الْعِقَابِ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واحذروا عقوبة لا تصيب الظالمين وحدهم بل تعمّ الجميع إذا سكتوا عن المنكر، واعلموا أن الله شديد العقاب.</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6164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وَاذْكُرُواْ إِذْ أَنتُمْ قَلِيلٌ مُّسْتَضْعَفُونَ فِي الْأَرْضِ تَخَافُونَ أَن يَتَخَطَّفَكُمُ النَّاسُ فَـَٔاوَىٰكُمْ وَأَيَّدَكُم بِنَصْرِهِ وَرَزَقَكُم مِّنَ الطَّيِّبَٰتِ لَعَلَّكُمْ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واذكروا إذ كنتم في مكة قليلًا مستضعفين، تخافون أن يأخذكم الناس، فآواكم إلى المدينة، وقوّاكم بنصره يوم بدر، ورزقكم من الطيبات لعلكم تشكرون.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تَخُونُواْ اللَّهَ وَالرَّسُولَ وَتَخُونُواْ أَمَٰنَٰتِكُمْ وَأَنتُمْ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تخونوا الله والرسول بترك الطاعة، ولا تخونوا ما ائتُمنتم عليه وأنتم تعلمون.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وَاعْلَمُواْ أَنَّمَآ أَمْوَٰلُكُمْ وَأَوْلَٰدُكُمْ فِتْنَةٌ وَأَنَّ اللَّهَ عِندَهُ أَجْرٌ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واعلموا أن أموالكم وأولادكم اختبار لكم، وأن الله عنده أجر عظيم لمن أطاعه.</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إِن تَتَّقُواْ اللَّهَ يَجْعَل لَّكُمْ فُرْقَانًا وَيُكَفِّرْ عَنكُمْ سَيِّـَٔاتِكُمْ وَيَغْفِرْ لَكُمْ وَاللَّهُ ذُو الْفَضْلِ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إن تتقوا الله يجعل لكم نورًا تفرّقون به بين الحق والباطل، ويمحُ عنكم سيئاتكم، ويغفر لكم، والله ذو الفضل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4400" b="1" dirty="0">
                <a:solidFill>
                  <a:schemeClr val="accent2"/>
                </a:solidFill>
                <a:latin typeface="Sakkal Majalla" pitchFamily="34" charset="0"/>
                <a:ea typeface="Sakkal Majalla" pitchFamily="34" charset="-122"/>
                <a:cs typeface="Sakkal Majalla" pitchFamily="34" charset="-120"/>
              </a:rPr>
              <a:t>مكر المشركين</a:t>
            </a:r>
            <a:endParaRPr lang="ar-SA" sz="4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٣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٣٠ – ٤٠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الأنفال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أنس بن مالك رضي الله عنه: قال أبو جهل: ﴿اللهم إن كان هذا هو الحق من عندك فأمطر علينا حجارة من السماء أو ائتنا بعذاب أليم﴾، فنزلت: ﴿وما كان الله ليعذّبهم وأنت فيهم وما كان الله معذّبهم وهم يستغفرون﴾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تذكير بمكر قريش بالنبي صلى الله عليه وسلم قبل الهجرة، وعنادهم، وإنفاقهم أموالهم للصدّ عن سبيل الله، وأن باب التوبة مفتوح لهم.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يَمْكُرُ بِكَ الَّذِينَ كَفَرُواْ لِيُثْبِتُوكَ أَوْ يَقْتُلُوكَ أَوْ يُخْرِجُوكَ وَيَمْكُرُونَ وَيَمْكُرُ اللَّهُ وَاللَّهُ خَيْرُ الْمَٰكِرِينَ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إذ يمكر بك الكفار في مكة ليحبسوك، أو يقتلوك، أو يُخرجوك، ويمكرون ويمكر الله بهم، والله خير الماكرين.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تُتْلَىٰ عَلَيْهِمْ ءَايَٰتُنَا قَالُواْ قَدْ سَمِعْنَا لَوْ نَشَآءُ لَقُلْنَا مِثْلَ هَٰذَآ إِنْ هَٰذَآ إِلَّآ أَسَٰطِيرُ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قُرئت عليهم آياتنا قالوا: قد سمعنا، لو نشاء لقلنا مثل هذا، ما هذا إلا أكاذيب الأولين.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قَالُواْ اللَّهُمَّ إِن كَانَ هَٰذَا هُوَ الْحَقَّ مِنْ عِندِكَ فَأَمْطِرْ عَلَيْنَا حِجَارَةً مِّنَ السَّمَآءِ أَوِ ائْتِنَا بِعَذَابٍ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 قالوا: اللهم إن كان هذا هو الحق من عندك فأمطر علينا حجارة من السماء أو ائتنا بعذاب موجع.</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اللَّهُ لِيُعَذِّبَهُمْ وَأَنتَ فِيهِمْ وَمَا كَانَ اللَّهُ مُعَذِّبَهُمْ وَهُمْ يَسْتَغْفِرُونَ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الله ليعذّبهم وأنت فيهم، وما كان الله معذّبهم وهم يستغفرون.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لَهُمْ أَلَّا يُعَذِّبَهُمُ اللَّهُ وَهُمْ يَصُدُّونَ عَنِ الْمَسْجِدِ الْحَرَامِ وَمَا كَانُواْ أَوْلِيَآءَهُ إِنْ أَوْلِيَآؤُهُ إِلَّا الْمُتَّقُونَ وَلَٰكِنَّ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وكيف لا يعذّبهم الله وهم يمنعون المؤمنين عن المسجد الحرام، وما كانوا أولياءه؟ ما أولياؤه إلا المتقون، ولكن أكثرهم لا يعلمون.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صَلَاتُهُمْ عِندَ الْبَيْتِ إِلَّا مُكَآءً وَتَصْدِيَةً فَذُوقُواْ الْعَذَابَ بِمَا كُنتُمْ تَكْفُرُونَ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كانت عبادتهم عند البيت إلا صفيرًا وتصفيقًا، فذوقوا العذاب يوم بدر بكفركم.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يُنفِقُونَ أَمْوَٰلَهُمْ لِيَصُدُّواْ عَن سَبِيلِ اللَّهِ فَسَيُنفِقُونَهَا ثُمَّ تَكُونُ عَلَيْهِمْ حَسْرَةً ثُمَّ يُغْلَبُونَ وَالَّذِينَ كَفَرُواْ إِلَىٰ جَهَنَّمَ يُحْشَرُونَ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الكفار ينفقون أموالهم ليصدّوا عن دين الله، فسينفقونها ثم تكون عليهم ندامة، ثم يُغلبون، والكفار إلى جهنم يُجمعون.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لِيَمِيزَ اللَّهُ الْخَبِيثَ مِنَ الطَّيِّبِ وَيَجْعَلَ الْخَبِيثَ بَعْضَهُ عَلَىٰ بَعْضٍ فَيَرْكُمَهُ جَمِيعًا فَيَجْعَلَهُ فِي جَهَنَّمَ أُوْلَـٰئِكَ هُمُ الْخَٰسِرُونَ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ليميّز الله الكافر الخبيث من المؤمن الطيب، ويجعل الخبيث بعضه فوق بعض فيجمعه جميعًا فيجعله في جهنم، أولئك هم الخاسرون.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لِّلَّذِينَ كَفَرُواْ إِن يَنتَهُواْ يُغْفَرْ لَهُم مَّا قَدْ سَلَفَ وَإِن يَعُودُواْ فَقَدْ مَضَتْ سُنَّتُ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للكفار: إن يتوقّفوا عن الكفر يُغفر لهم ما مضى، وإن يعودوا فقد مضت سنة الله في إهلاك الأولين.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وَقَٰتِلُوهُمْ حَتَّىٰ لَا تَكُونَ فِتْنَةٌ وَيَكُونَ الدِّينُ كُلُّهُ لِلَّهِ فَإِنِ انتَهَوْاْ فَإِنَّ اللَّهَ بِمَا يَعْمَلُونَ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وقاتلوهم حتى لا يكون شرك ولا صدّ عن دين الله، ويكون الدين كله لله، فإن توقّفوا فإن الله بما يعملون بصير.</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تَوَلَّوْاْ فَاعْلَمُواْ أَنَّ اللَّهَ مَوْلَىٰكُمْ نِعْمَ الْمَوْلَىٰ وَنِعْمَ النَّصِيرُ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أعرضوا فاعلموا أن الله ناصركم، نِعم المولى ونِعم النصير.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الغنائم وآداب القتال</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٤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٤١ – ٥٤</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الأنفال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قسمة الغنائم، وتدبير الله لمعركة بدر حتى التقى الجمعان، وآداب اللقاء: الثبات والذكر والطاعة وعدم التنازع، وخذلان الشيطان لأوليائه.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وَاعْلَمُواْ أَنَّمَا غَنِمْتُم مِّن شَيْءٍ فَأَنَّ لِلَّهِ خُمُسَهُ وَلِلرَّسُولِ وَلِذِي الْقُرْبَىٰ وَالْيَتَٰمَىٰ وَالْمَسَٰكِينِ وَابْنِ السَّبِيلِ إِن كُنتُمْ ءَامَنتُم بِاللَّهِ وَمَآ أَنزَلْنَا عَلَىٰ عَبْدِنَا يَوْمَ الْفُرْقَانِ يَوْمَ الْتَقَى الْجَمْعَانِ وَاللَّهُ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واعلموا أن ما غنمتم من الكفار من شيء فخُمُسه لله والرسول ولأقارب النبي واليتامى والمساكين والمسافر المحتاج، إن كنتم آمنتم بالله وبما أنزلنا على عبدنا يوم بدر، يوم فرّق الله بين الحق والباطل، والله على كل شيء قدير.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أَنتُم بِالْعُدْوَةِ الدُّنْيَا وَهُم بِالْعُدْوَةِ الْقُصْوَىٰ وَالرَّكْبُ أَسْفَلَ مِنكُمْ وَلَوْ تَوَاعَدتُّمْ لَاخْتَلَفْتُمْ فِي الْمِيعَٰدِ وَلَٰكِن لِّيَقْضِيَ اللَّهُ أَمْرًا كَانَ مَفْعُولًا لِّيَهْلِكَ مَنْ هَلَكَ عَن بَيِّنَةٍ وَيَحْيَىٰ مَنْ حَيَّ عَن بَيِّنَةٍ وَإِنَّ اللَّهَ لَسَمِيعٌ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أنتم بجانب الوادي القريب من المدينة، وهم بجانبه البعيد، والقافلة أسفل منكم عند الساحل، ولو تواعدتم للقتال لاختلفتم، ولكن جمعكم الله ليقضي أمرًا مقدّرًا، ليهلك من هلك عن حجة، ويحيا من حيي عن حجة، وإن الله لسميع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يُرِيكَهُمُ اللَّهُ فِي مَنَامِكَ قَلِيلًا وَلَوْ أَرَىٰكَهُمْ كَثِيرًا لَّفَشِلْتُمْ وَلَتَنَٰزَعْتُمْ فِي الْأَمْرِ وَلَٰكِنَّ اللَّهَ سَلَّمَ إِنَّهُ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يُريك الله الكفار في منامك قليلًا، ولو أراكهم كثيرًا لجبنتم ولاختلفتم في أمر القتال، ولكن الله سلّم، إنه عليم بما في الصدور.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يُرِيكُمُوهُمْ إِذِ الْتَقَيْتُمْ فِي أَعْيُنِكُمْ قَلِيلًا وَيُقَلِّلُكُمْ فِي أَعْيُنِهِمْ لِيَقْضِيَ اللَّهُ أَمْرًا كَانَ مَفْعُولًا وَإِلَى اللَّهِ تُرْجَعُ الْأُمُورُ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 يُريكم الكفار عند اللقاء قليلًا في أعينكم، ويقلّلكم في أعينهم، ليقضي الله أمرًا مقدّرًا، وإلى الله ترجع الأمور.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إِذَا لَقِيتُمْ فِئَةً فَاثْبُتُواْ وَاذْكُرُواْ اللَّهَ كَثِيرًا لَّعَلَّكُمْ تُفْلِحُونَ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إذا لقيتم جماعة من الكفار فاثبتوا، واذكروا الله كثيرًا لعلكم تفلحون.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وَأَطِيعُواْ اللَّهَ وَرَسُولَهُ وَلَا تَنَٰزَعُواْ فَتَفْشَلُواْ وَتَذْهَبَ رِيحُكُمْ وَاصْبِرُواْ إِنَّ اللَّهَ مَعَ الصَّـٰبِرِينَ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وأطيعوا الله ورسوله، ولا تختلفوا فتضعفوا وتذهب قوتكم، واصبروا إن الله مع الصابرين.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تَكُونُواْ كَالَّذِينَ خَرَجُواْ مِن دِيَٰرِهِم بَطَرًا وَرِئَآءَ النَّاسِ وَيَصُدُّونَ عَن سَبِيلِ اللَّهِ وَاللَّهُ بِمَا يَعْمَلُونَ مُحِيطٌ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تكونوا كالمشركين الذين خرجوا من ديارهم إلى بدر تكبّرًا ومراءاة للناس، ويصدّون عن دين الله، والله بما يعملون محيط.</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زَيَّنَ لَهُمُ الشَّيْطَٰنُ أَعْمَٰلَهُمْ وَقَالَ لَا غَالِبَ لَكُمُ الْيَوْمَ مِنَ النَّاسِ وَإِنِّي جَارٌ لَّكُمْ فَلَمَّا تَرَآءَتِ الْفِئَتَانِ نَكَصَ عَلَىٰ عَقِبَيْهِ وَقَالَ إِنِّي بَرِيءٌ مِّنكُمْ إِنِّي أَرَىٰ مَا لَا تَرَوْنَ إِنِّي أَخَافُ اللَّهَ وَاللَّهُ شَدِيدُ الْعِقَابِ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واذكروا إذ زيّن لهم الشيطان أعمالهم وقال: لا غالب لكم اليوم من الناس، وإني ناصركم، فلما تقابل الجيشان رجع هاربًا وقال: إني بريء منكم، إني أرى الملائكة، إني أخاف الله، والله شديد العقاب.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يَقُولُ الْمُنَٰفِقُونَ وَالَّذِينَ فِي قُلُوبِهِم مَّرَضٌ غَرَّ هَـٰؤُلَآءِ دِينُهُمْ وَمَن يَتَوَكَّلْ عَلَى اللَّهِ فَإِنَّ اللَّهَ عَزِيزٌ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يقول المنافقون والذين في قلوبهم شك: خدع هؤلاء المسلمين دينُهم حين خرجوا بقلة إلى كثرة، ومن يتوكل على الله فإن الله عزيز حكيم.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تَرَىٰ إِذْ يَتَوَفَّى الَّذِينَ كَفَرُواْ الْمَلَـٰئِكَةُ يَضْرِبُونَ وُجُوهَهُمْ وَأَدْبَٰرَهُمْ وَذُوقُواْ عَذَابَ الْحَرِيقِ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ترى إذ تقبض الملائكة أرواح الكفار، يضربون وجوههم وظهورهم، ويقولون: ذوقوا عذاب النار المحرقة.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بِمَا قَدَّمَتْ أَيْدِيكُمْ وَأَنَّ اللَّهَ لَيْسَ بِظَلَّـٰمٍ لِّلْعَبِيدِ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العذاب بما قدّمتم من الكفر والمعاصي، وأن الله ليس بظالم للعبيد.</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كَدَأْبِ ءَالِ فِرْعَوْنَ وَالَّذِينَ مِن قَبْلِهِمْ كَفَرُواْ بِـَٔايَٰتِ اللَّهِ فَأَخَذَهُمُ اللَّهُ بِذُنُوبِهِمْ إِنَّ اللَّهَ قَوِيٌّ شَدِيدُ الْعِقَابِ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حال هؤلاء كحال آل فرعون والذين من قبلهم، كفروا بآيات الله فأهلكهم الله بذنوبهم، إن الله قوي شديد العقاب.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بِأَنَّ اللَّهَ لَمْ يَكُ مُغَيِّرًا نِّعْمَةً أَنْعَمَهَا عَلَىٰ قَوْمٍ حَتَّىٰ يُغَيِّرُواْ مَا بِأَنفُسِهِمْ وَأَنَّ اللَّهَ سَمِيعٌ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بأن الله لا يغيّر نعمة أنعمها على قوم حتى يغيّروا ما بأنفسهم من الطاعة إلى المعصية، وأن الله سميع عليم.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كَدَأْبِ ءَالِ فِرْعَوْنَ وَالَّذِينَ مِن قَبْلِهِمْ كَذَّبُواْ بِـَٔايَٰتِ رَبِّهِمْ فَأَهْلَكْنَٰهُم بِذُنُوبِهِمْ وَأَغْرَقْنَآ ءَالَ فِرْعَوْنَ وَكُلٌّ كَانُواْ ظَٰلِمِينَ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كحال آل فرعون والذين من قبلهم كذّبوا بآيات ربهم فأهلكناهم بذنوبهم، وأغرقنا آل فرعون، وكلٌّ كانوا 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العهود والإعداد والأسرى</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٥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٥٥ – ٧٥</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الأنفال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رضي الله عنهما: لما أُسر الأسرى يوم بدر استشار النبي صلى الله عليه وسلم أبا بكر وعمر، فأشار أبو بكر بالفداء وعمر بالقتل، فأخذ النبي صلى الله عليه وسلم برأي أبي بكر، فنزلت: ﴿ما كان لنبي أن يكون له أسرى حتى يُثخن في الأرض﴾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التعامل مع ناقضي العهد، والأمر بإعداد القوة، وقبول الصلح، وتأليف الله بين قلوب المؤمنين، وحكم أسرى بدر، وولاية المهاجرين والأنصار.</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شَرَّ الدَّوَآبِّ عِندَ اللَّهِ الَّذِينَ كَفَرُواْ فَهُمْ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شرّ ما يدبّ على الأرض عند الله الذين كفروا، فهم لا يؤمنون.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عَٰهَدتَّ مِنْهُمْ ثُمَّ يَنقُضُونَ عَهْدَهُمْ فِي كُلِّ مَرَّةٍ وَهُمْ لَا يَتَّقُونَ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عاهدتهم ثم ينقضون عهدهم في كل مرة، وهم لا يخافون الله.</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فَإِمَّا تَثْقَفَنَّهُمْ فِي الْحَرْبِ فَشَرِّدْ بِهِم مَّنْ خَلْفَهُمْ لَعَلَّهُمْ يَذَّكَّرُونَ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لقيتهم في الحرب فاضربهم ضربًا يُفرّق من خلفهم من الأعداء، لعلهم يتّعظون.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٥٨ – 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331720"/>
            <a:ext cx="548640" cy="548640"/>
          </a:xfrm>
          <a:prstGeom prst="star8">
            <a:avLst/>
          </a:prstGeom>
          <a:solidFill>
            <a:schemeClr val="accent2"/>
          </a:solidFill>
          <a:ln/>
        </p:spPr>
      </p:sp>
      <p:sp>
        <p:nvSpPr>
          <p:cNvPr id="6" name="Shape 4"/>
          <p:cNvSpPr/>
          <p:nvPr/>
        </p:nvSpPr>
        <p:spPr>
          <a:xfrm>
            <a:off x="11036808" y="244144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3317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231343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وَإِمَّا تَخَافَنَّ مِن قَوْمٍ خِيَانَةً فَانبِذْ إِلَيْهِمْ عَلَىٰ سَوَآءٍ إِنَّ اللَّهَ لَا يُحِبُّ الْخَآئِنِينَ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خفت من قوم بينك وبينهم عهد خيانةً فأعلمهم بإنهاء العهد قبل قتالهم ليكونوا مثلك في العلم، إن الله لا يحب الخائنين.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3" name="Text 11"/>
          <p:cNvSpPr txBox="1"/>
          <p:nvPr/>
        </p:nvSpPr>
        <p:spPr>
          <a:xfrm>
            <a:off x="731520" y="40782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يَحْسَبَنَّ الَّذِينَ كَفَرُواْ سَبَقُواْ إِنَّهُمْ لَا يُعْجِزُونَ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يظننّ الكفار أنهم فاتونا ونجوا، إنهم لا يُعجزون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٦٠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وَأَعِدُّواْ لَهُم مَّا اسْتَطَعْتُم مِّن قُوَّةٍ وَمِن رِّبَاطِ الْخَيْلِ تُرْهِبُونَ بِهِ عَدُوَّ اللَّهِ وَعَدُوَّكُمْ وَءَاخَرِينَ مِن دُونِهِمْ لَا تَعْلَمُونَهُمُ اللَّهُ يَعْلَمُهُمْ وَمَا تُنفِقُواْ مِن شَيْءٍ فِي سَبِيلِ اللَّهِ يُوَفَّ إِلَيْكُمْ وَأَنتُمْ لَا تُظْلَمُونَ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وأعدّوا لهم ما استطعتم من قوة، ومن الخيل المربوطة للجهاد، تُخيفون به عدو الله وعدوكم، وآخرين من دونهم لا تعلمونهم الله يعلمهم، وما تنفقوا من شيء في سبيل الله يُعوَّض لكم كاملًا وأنتم لا تُظلمون. وقال النبي صلى الله عليه وسلم: «ألا إن القوة الرمي» (مسلم).</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جَنَحُواْ لِلسَّلْمِ فَاجْنَحْ لَهَا وَتَوَكَّلْ عَلَى اللَّهِ إِنَّهُ 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مالوا إلى الصلح فمِل إليه، وتوكّل على الله، إنه هو السميع العليم.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يُرِيدُواْ أَن يَخْدَعُوكَ فَإِنَّ حَسْبَكَ اللَّهُ هُوَ الَّذِي أَيَّدَكَ بِنَصْرِهِ وَبِالْمُؤْمِنِينَ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يريدوا بالصلح خداعك فإن الله كافيك، هو الذي قوّاك بنصره وبالمؤمنين.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وَأَلَّفَ بَيْنَ قُلُوبِهِمْ لَوْ أَنفَقْتَ مَا فِي الْأَرْضِ جَمِيعًا مَّآ أَلَّفْتَ بَيْنَ قُلُوبِهِمْ وَلَٰكِنَّ اللَّهَ أَلَّفَ بَيْنَهُمْ إِنَّهُ عَزِيزٌ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وجمع بين قلوب المؤمنين بعد العداوة، لو أنفقت ما في الأرض جميعًا ما جمعت بين قلوبهم، ولكن الله جمع بينهم، إنه عزيز حكيم.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حَسْبُكَ اللَّهُ وَمَنِ اتَّبَعَكَ مِنَ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الله كافيك، وكافي من اتّبعك من 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حَرِّضِ الْمُؤْمِنِينَ عَلَى الْقِتَالِ إِن يَكُن مِّنكُمْ عِشْرُونَ صَٰبِرُونَ يَغْلِبُواْ مِاْئَتَيْنِ وَإِن يَكُن مِّنكُم مِّاْئَةٌ يَغْلِبُواْ أَلْفًا مِّنَ الَّذِينَ كَفَرُواْ بِأَنَّهُمْ قَوْمٌ لَّا يَفْقَهُونَ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حُثّ المؤمنين على القتال، إن يكن منكم عشرون صابرون يغلبوا مئتين، وإن يكن منكم مئة يغلبوا ألفًا من الكفار، لأنهم قوم لا يفهمون حكمة القتال.</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الْـَٰٔنَ خَفَّفَ اللَّهُ عَنكُمْ وَعَلِمَ أَنَّ فِيكُمْ ضَعْفًا فَإِن يَكُن مِّنكُم مِّاْئَةٌ صَابِرَةٌ يَغْلِبُواْ مِاْئَتَيْنِ وَإِن يَكُن مِّنكُمْ أَلْفٌ يَغْلِبُواْ أَلْفَيْنِ بِإِذْنِ اللَّهِ وَاللَّهُ مَعَ الصَّـٰبِرِينَ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الآن خفّف الله عنكم وعلم أن فيكم ضعفًا، فإن يكن منكم مئة صابرة يغلبوا مئتين، وإن يكن منكم ألف يغلبوا ألفين بإذن الله، والله مع الصابرين.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٦٧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كَانَ لِنَبِيٍّ أَن يَكُونَ لَهُ أَسْرَىٰ حَتَّىٰ يُثْخِنَ فِي الْأَرْضِ تُرِيدُونَ عَرَضَ الدُّنْيَا وَاللَّهُ يُرِيدُ الْأخِرَةَ وَاللَّهُ عَزِيزٌ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ينبغي لنبي أن يأخذ أسرى ويقبل الفداء حتى يُضعف قوة الكفار بالقتل، تريدون بالفداء متاع الدنيا، والله يريد لكم الآخرة، والله عزيز حكيم.</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لَّوْلَا كِتَٰبٌ مِّنَ اللَّهِ سَبَقَ لَمَسَّكُمْ فِيمَآ أَخَذْتُمْ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لولا حكم من الله سبق بإحلال الغنائم لكم، لأصابكم فيما أخذتم من الفداء عذاب عظيم.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فَكُلُواْ مِمَّا غَنِمْتُمْ حَلَٰلًا طَيِّبًا وَاتَّقُواْ اللَّهَ 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فكلوا مما غنمتم حلالًا طيبًا، واتقوا الله، إن 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٧٠ – ٧١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قُل لِّمَن فِي أَيْدِيكُم مِّنَ الْأَسْرَىٰ إِن يَعْلَمِ اللَّهُ فِي قُلُوبِكُمْ خَيْرًا يُؤْتِكُمْ خَيْرًا مِّمَّآ أُخِذَ مِنكُمْ وَيَغْفِرْ لَكُمْ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قل للأسرى الذين في أيديكم: إن يعلم الله في قلوبكم إيمانًا يُعطكم خيرًا مما أُخذ منكم من الفداء، ويغفر لكم، والله غفور رحيم.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يُرِيدُواْ خِيَانَتَكَ فَقَدْ خَانُواْ اللَّهَ مِن قَبْلُ فَأَمْكَنَ مِنْهُمْ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يريدوا خيانتك فقد خانوا الله من قبل بالكفر، فمكّنك منهم يوم بدر، والله عليم 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وَهَاجَرُواْ وَجَٰهَدُواْ بِأَمْوَٰلِهِمْ وَأَنفُسِهِمْ فِي سَبِيلِ اللَّهِ وَالَّذِينَ ءَاوَواْ وَّنَصَرُواْ أُوْلَـٰئِكَ بَعْضُهُمْ أَوْلِيَآءُ بَعْضٍ وَالَّذِينَ ءَامَنُواْ وَلَمْ يُهَاجِرُواْ مَا لَكُم مِّن وَلَٰيَتِهِم مِّن شَيْءٍ حَتَّىٰ يُهَاجِرُواْ وَإِنِ اسْتَنصَرُوكُمْ فِي الدِّينِ فَعَلَيْكُمُ النَّصْرُ إِلَّا عَلَىٰ قَوْمٍ بَيْنَكُمْ وَبَيْنَهُم مِّيثَٰقٌ وَاللَّهُ بِمَا تَعْمَلُونَ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آمنوا وهاجروا وجاهدوا بأموالهم وأنفسهم في سبيل الله وهم المهاجرون، والذين آووهم ونصروهم وهم الأنصار، أولئك بعضهم أولياء بعض، والذين آمنوا ولم يهاجروا ليس لكم من ولايتهم شيء حتى يهاجروا، وإن طلبوا نصرتكم في الدين فانصروهم إلا على قوم بينكم وبينهم عهد، والله بما تعملون بصير.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كَفَرُواْ بَعْضُهُمْ أَوْلِيَآءُ بَعْضٍ إِلَّا تَفْعَلُوهُ تَكُن فِتْنَةٌ فِي الْأَرْضِ وَفَسَادٌ 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والكفار بعضهم أنصار بعض، إن لم تتوالوا أنتم أيها المؤمنون تكن فتنة في الأرض وفساد كبير.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وَهَاجَرُواْ وَجَٰهَدُواْ فِي سَبِيلِ اللَّهِ وَالَّذِينَ ءَاوَواْ وَّنَصَرُواْ أُوْلَـٰئِكَ هُمُ الْمُؤْمِنُونَ حَقًّا لَّهُم مَّغْفِرَةٌ وَرِزْقٌ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والمهاجرون والأنصار أولئك هم المؤمنون حقًّا، لهم مغفرة ورزق كريم.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الأنفال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مِن بَعْدُ وَهَاجَرُواْ وَجَٰهَدُواْ مَعَكُمْ فَأُوْلَـٰئِكَ مِنكُمْ وَأُوْلُواْ الْأَرْحَامِ بَعْضُهُمْ أَوْلَىٰ بِبَعْضٍ فِي كِتَٰبِ اللَّهِ إِنَّ اللَّهَ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آمنوا بعد ذلك وهاجروا وجاهدوا معكم فأولئك منكم، والأقارب بعضهم أولى ببعض في الميراث في حكم الله، إن الله بكل شيء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البراءة من المشركين</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٦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١٦</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التوبة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لما نزلت أوائل سورة براءة سنة تسع، بعث النبي صلى الله عليه وسلم أبا بكر أميرًا على الحج، ثم أردفه بعليّ رضي الله عنهما، فنادى في الناس يوم النحر: «لا يحجّ بعد العام مشرك، ولا يطوف بالبيت عريان»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إعلان البراءة من المشركين الناقضين للعهد، مع الوفاء لمن وفى، وتأمين من طلب سماع كلام الله، والأمر بقتال من نقض العهد وطعن في الدين.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بَرَآءَةٌ مِّنَ اللَّهِ وَرَسُولِهِ إِلَى الَّذِينَ عَٰهَدتُّم مِّنَ الْمُشْرِكِينَ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هذه براءة وانتهاء للعهد من الله ورسوله إلى المشركين الذين عاهدتموهم ثم نقضوا العهد.</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فَسِيحُواْ فِي الْأَرْضِ أَرْبَعَةَ أَشْهُرٍ وَاعْلَمُواْ أَنَّكُمْ غَيْرُ مُعْجِزِي اللَّهِ وَأَنَّ اللَّهَ مُخْزِي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فسيروا آمنين في الأرض أربعة أشهر، واعلموا أنكم لن تُعجزوا الله، وأن الله مُذلّ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وَأَذَٰنٌ مِّنَ اللَّهِ وَرَسُولِهِ إِلَى النَّاسِ يَوْمَ الْحَجِّ الْأَكْبَرِ أَنَّ اللَّهَ بَرِيءٌ مِّنَ الْمُشْرِكِينَ وَرَسُولُهُ فَإِن تُبْتُمْ فَهُوَ خَيْرٌ لَّكُمْ وَإِن تَوَلَّيْتُمْ فَاعْلَمُواْ أَنَّكُمْ غَيْرُ مُعْجِزِي اللَّهِ وَبَشِّرِ الَّذِينَ كَفَرُواْ بِعَذَابٍ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وإعلام من الله ورسوله إلى الناس يوم الحج الأكبر يوم النحر: أن الله بريء من المشركين ورسوله كذلك، فإن تبتم فهو خير لكم، وإن أعرضتم فاعلموا أنكم لن تُعجزوا الله، وبشّر الكفار بعذاب موجع.</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الَّذِينَ عَٰهَدتُّم مِّنَ الْمُشْرِكِينَ ثُمَّ لَمْ يَنقُصُوكُمْ شَيْـًٔا وَلَمْ يُظَٰهِرُواْ عَلَيْكُمْ أَحَدًا فَأَتِمُّواْ إِلَيْهِمْ عَهْدَهُمْ إِلَىٰ مُدَّتِهِمْ إِنَّ اللَّهَ يُحِبُّ 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المشركين الذين عاهدتموهم ثم لم يُنقصوكم شيئًا من العهد، ولم يعاونوا عليكم أحدًا، فأتمّوا لهم عهدهم إلى مدّتهم، إن الله يحب المتقين الوافين بالعهد.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انسَلَخَ الْأَشْهُرُ الْحُرُمُ فَاقْتُلُواْ الْمُشْرِكِينَ حَيْثُ وَجَدتُّمُوهُمْ وَخُذُوهُمْ وَاحْصُرُوهُمْ وَاقْعُدُواْ لَهُمْ كُلَّ مَرْصَدٍ فَإِن تَابُواْ وَأَقَامُواْ الصَّلَوٰةَ وَءَاتَوُاْ الزَّكَوٰةَ فَخَلُّواْ سَبِيلَهُمْ 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انقضت الأشهر الأربعة التي أُمّنوا فيها فقاتلوا المشركين المحاربين حيث وجدتموهم، وخذوهم أسرى، وحاصروهم، وراقبوهم في كل طريق، فإن تابوا وأقاموا الصلاة وآتوا الزكاة فاتركوهم، إن الله غفور رحيم.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أَحَدٌ مِّنَ الْمُشْرِكِينَ اسْتَجَارَكَ فَأَجِرْهُ حَتَّىٰ يَسْمَعَ كَلَٰمَ اللَّهِ ثُمَّ أَبْلِغْهُ مَأْمَنَهُ ذَٰلِكَ بِأَنَّهُمْ قَوْمٌ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طلب أحد من المشركين الأمان منك فأمّنه حتى يسمع القرآن، ثم أوصله إلى مكان أمنه، ذلك لأنهم قوم لا يعلمون حقيقة الإسلام. وهذا من سماحة الإسلام.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كَيْفَ يَكُونُ لِلْمُشْرِكِينَ عَهْدٌ عِندَ اللَّهِ وَعِندَ رَسُولِهِ إِلَّا الَّذِينَ عَٰهَدتُّمْ عِندَ الْمَسْجِدِ الْحَرَامِ فَمَا اسْتَقَٰمُواْ لَكُمْ فَاسْتَقِيمُواْ لَهُمْ إِنَّ اللَّهَ يُحِبُّ 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كيف يكون للمشركين عهد عند الله ورسوله وهم ينقضونه؟ إلا الذين عاهدتم عند المسجد الحرام يوم الحديبية، فما داموا مستقيمين على عهدهم فاستقيموا لهم، إن الله يحب المتقين.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كَيْفَ وَإِن يَظْهَرُواْ عَلَيْكُمْ لَا يَرْقُبُواْ فِيكُمْ إِلًّا وَلَا ذِمَّةً يُرْضُونَكُم بِأَفْوَٰهِهِمْ وَتَأْبَىٰ قُلُوبُهُمْ وَأَكْثَرُهُمْ 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كيف يكون لهم عهد وإن يغلبوكم لا يراعوا فيكم قرابة ولا عهدًا؟ يُرضونكم بكلامهم وتأبى قلوبهم، وأكثرهم خارجون عن الطاعة.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اشْتَرَوْاْ بِـَٔايَٰتِ اللَّهِ ثَمَنًا قَلِيلًا فَصَدُّواْ عَن سَبِيلِهِ إِنَّهُمْ سَآءَ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استبدلوا بآيات الله متاعًا قليلًا من الدنيا، فصدّوا الناس عن دينه، إنهم ساء ما كانوا يعملون.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يَرْقُبُونَ فِي مُؤْمِنٍ إِلًّا وَلَا ذِمَّةً وَأُوْلَـٰئِكَ هُمُ الْمُعْتَدُونَ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يراعون في مؤمن قرابة ولا عهدًا، وأولئك هم المعتدون.</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تَابُواْ وَأَقَامُواْ الصَّلَوٰةَ وَءَاتَوُاْ الزَّكَوٰةَ فَإِخْوَٰنُكُمْ فِي الدِّينِ وَنُفَصِّلُ الْأيَٰتِ لِقَوْمٍ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تابوا وأقاموا الصلاة وآتوا الزكاة فهم إخوانكم في الدين، ونبيّن الآيات لقوم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نَّكَثُواْ أَيْمَٰنَهُم مِّن بَعْدِ عَهْدِهِمْ وَطَعَنُواْ فِي دِينِكُمْ فَقَٰتِلُواْ أَئِمَّةَ الْكُفْرِ إِنَّهُمْ لَآ أَيْمَٰنَ لَهُمْ لَعَلَّهُمْ يَنتَهُونَ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نقضوا عهودهم وطعنوا في دينكم فقاتلوا رؤساء الكفر، إنهم لا عهود لهم، لعلهم يتوقّفون.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تُقَٰتِلُونَ قَوْمًا نَّكَثُواْ أَيْمَٰنَهُمْ وَهَمُّواْ بِإِخْرَاجِ الرَّسُولِ وَهُم بَدَءُوكُمْ أَوَّلَ مَرَّةٍ أَتَخْشَوْنَهُمْ فَاللَّهُ أَحَقُّ أَن تَخْشَوْهُ إِن كُنتُم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تقاتلون قومًا نقضوا عهودهم، وهمّوا بإخراج الرسول من مكة، وهم بدؤوكم بالقتال أول مرة؟ أتخافونهم؟ فالله أحق أن تخافوه إن كنتم 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قَٰتِلُوهُمْ يُعَذِّبْهُمُ اللَّهُ بِأَيْدِيكُمْ وَيُخْزِهِمْ وَيَنصُرْكُمْ عَلَيْهِمْ وَيَشْفِ صُدُورَ قَوْمٍ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قاتلوهم يعذّبهم الله بأيديكم، ويُذلّهم، وينصركم عليهم، ويشفِ صدور المؤمنين.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وَيُذْهِبْ غَيْظَ قُلُوبِهِمْ وَيَتُوبُ اللَّهُ عَلَىٰ مَن يَشَآءُ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ويُذهب غيظ قلوبهم، ويتوب الله على من يشاء منهم، والله عليم 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حَسِبْتُمْ أَن تُتْرَكُواْ وَلَمَّا يَعْلَمِ اللَّهُ الَّذِينَ جَٰهَدُواْ مِنكُمْ وَلَمْ يَتَّخِذُواْ مِن دُونِ اللَّهِ وَلَا رَسُولِهِ وَلَا الْمُؤْمِنِينَ وَلِيجَةً وَاللَّهُ خَبِيرٌ بِمَا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ظننتم أن تُتركوا دون اختبار، ولم يظهر الذين جاهدوا منكم ولم يتّخذوا غير الله ورسوله والمؤمنين أصدقاء مقرّبين؟ والله خبير بما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عمارة المساجد ويوم حنين</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٧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١٧ – ٣٧</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التوبة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النعمان بن بشير رضي الله عنه: كنت عند منبر النبي صلى الله عليه وسلم، فقال رجل: لا أبالي ألّا أعمل عملًا بعد أن أسقي الحاج، وقال آخر: بل عمارة المسجد الحرام، وقال آخر: بل الجهاد في سبيل الله، فنزلت: ﴿أجعلتم سقاية الحاج وعمارة المسجد الحرام كمن آمن بالله...﴾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من يعمر مساجد الله حقًّا، وتقديم حب الله ورسوله على كل شيء، ودرس يوم حنين حين أعجبتهم كثرتهم، وانحراف أهل الكتاب، وعقوبة كنز الأموال، والأشهر الحرم.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كَانَ لِلْمُشْرِكِينَ أَن يَعْمُرُواْ مَسَٰجِدَ اللَّهِ شَٰهِدِينَ عَلَىٰ أَنفُسِهِم بِالْكُفْرِ أُوْلَـٰئِكَ حَبِطَتْ أَعْمَٰلُهُمْ وَفِي النَّارِ هُمْ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ينبغي للمشركين أن يعمروا مساجد الله وهم يشهدون على أنفسهم بالكفر، أولئك بطلت أعمالهم، وفي النار هم خالدون.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يَعْمُرُ مَسَٰجِدَ اللَّهِ مَنْ ءَامَنَ بِاللَّهِ وَالْيَوْمِ الْأخِرِ وَأَقَامَ الصَّلَوٰةَ وَءَاتَى الزَّكَوٰةَ وَلَمْ يَخْشَ إِلَّا اللَّهَ فَعَسَىٰ أُوْلَـٰئِكَ أَن يَكُونُواْ مِنَ الْمُهْتَدِينَ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يعمر مساجد الله من آمن بالله واليوم الآخر، وأقام الصلاة، وآتى الزكاة، ولم يخف إلا الله، فأولئك يُرجى أن يكونوا من المهتدين.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أَجَعَلْتُمْ سِقَايَةَ الْحَآجِّ وَعِمَارَةَ الْمَسْجِدِ الْحَرَامِ كَمَنْ ءَامَنَ بِاللَّهِ وَالْيَوْمِ الْأخِرِ وَجَٰهَدَ فِي سَبِيلِ اللَّهِ لَا يَسْتَوُنَ عِندَ اللَّهِ وَاللَّهُ لَا يَهْدِي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أجعلتم سقاية الحجاج وعمارة المسجد الحرام كإيمان من آمن بالله واليوم الآخر وجاهد في سبيل الله؟ لا يستوون عند الله، والله لا يهدي القوم الظالمين.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ءَامَنُواْ وَهَاجَرُواْ وَجَٰهَدُواْ فِي سَبِيلِ اللَّهِ بِأَمْوَٰلِهِمْ وَأَنفُسِهِمْ أَعْظَمُ دَرَجَةً عِندَ اللَّهِ وَأُوْلَـٰئِكَ هُمُ الْفَآئِزُونَ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آمنوا وهاجروا وجاهدوا في سبيل الله بأموالهم وأنفسهم أعظم منزلة عند الله، وأولئك هم الفائزون.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يُبَشِّرُهُمْ رَبُّهُم بِرَحْمَةٍ مِّنْهُ وَرِضْوَٰنٍ وَجَنَّـٰتٍ لَّهُمْ فِيهَا نَعِيمٌ مُّقِيمٌ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يبشّرهم ربهم برحمة منه، ورضوان، وجنات لهم فيها نعيم دائم.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خَٰلِدِينَ فِيهَآ أَبَدًا إِنَّ اللَّهَ عِندَهُ أَجْرٌ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خالدين فيها أبدًا، إن الله عنده أجر عظيم.</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ءَابَآءَكُمْ وَإِخْوَٰنَكُمْ أَوْلِيَآءَ إِنِ اسْتَحَبُّواْ الْكُفْرَ عَلَى الْإِيمَٰنِ وَمَن يَتَوَلَّهُم مِّنكُمْ فَأُوْلَـٰئِكَ هُمُ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تتخذوا آباءكم وإخوانكم أولياء إن اختاروا الكفر على الإيمان، ومن يتولّهم منكم فأولئك هم الظالمون.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كَانَ ءَابَآؤُكُمْ وَأَبْنَآؤُكُمْ وَإِخْوَٰنُكُمْ وَأَزْوَٰجُكُمْ وَعَشِيرَتُكُمْ وَأَمْوَٰلٌ اقْتَرَفْتُمُوهَا وَتِجَٰرَةٌ تَخْشَوْنَ كَسَادَهَا وَمَسَٰكِنُ تَرْضَوْنَهَآ أَحَبَّ إِلَيْكُم مِّنَ اللَّهِ وَرَسُولِهِ وَجِهَادٍ فِي سَبِيلِهِ فَتَرَبَّصُواْ حَتَّىٰ يَأْتِيَ اللَّهُ بِأَمْرِهِ وَاللَّهُ لَا يَهْدِي الْقَوْمَ الْفَٰسِقِينَ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 كان آباؤكم وأبناؤكم وإخوانكم وأزواجكم وعشيرتكم، وأموال اكتسبتموها، وتجارة تخافون ركودها، ومساكن تحبّونها، أحبّ إليكم من الله ورسوله وجهاد في سبيله، فانتظروا حتى يأتي الله بعقوبته، والله لا يهدي القوم الفاسقين.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نَصَرَكُمُ اللَّهُ فِي مَوَاطِنَ كَثِيرَةٍ وَيَوْمَ حُنَيْنٍ إِذْ أَعْجَبَتْكُمْ كَثْرَتُكُمْ فَلَمْ تُغْنِ عَنكُمْ شَيْـًٔا وَضَاقَتْ عَلَيْكُمُ الْأَرْضُ بِمَا رَحُبَتْ ثُمَّ وَلَّيْتُم مُّدْبِرِينَ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نصركم الله في مواقع كثيرة، ويوم حُنين إذ أعجبتكم كثرتكم فلم تنفعكم شيئًا، وضاقت عليكم الأرض على سعتها، ثم ولّيتم منهزمين.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أَنزَلَ اللَّهُ سَكِينَتَهُ عَلَىٰ رَسُولِهِ وَعَلَى الْمُؤْمِنِينَ وَأَنزَلَ جُنُودًا لَّمْ تَرَوْهَا وَعَذَّبَ الَّذِينَ كَفَرُواْ وَذَٰلِكَ جَزَآءُ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أنزل الله طمأنينته على رسوله وعلى المؤمنين، وأنزل جنودًا من الملائكة لم تروها، وعذّب الكفار بالقتل والأسر، وذلك جزاء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يَتُوبُ اللَّهُ مِن بَعْدِ ذَٰلِكَ عَلَىٰ مَن يَشَآءُ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يتوب الله من بعد ذلك على من يشاء منهم، والله غفور رحيم.</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إِنَّمَا الْمُشْرِكُونَ نَجَسٌ فَلَا يَقْرَبُواْ الْمَسْجِدَ الْحَرَامَ بَعْدَ عَامِهِمْ هَٰذَا وَإِنْ خِفْتُمْ عَيْلَةً فَسَوْفَ يُغْنِيكُمُ اللَّهُ مِن فَضْلِهِ إِن شَآءَ إِنَّ 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إنما المشركون نجس بسبب شركهم، فلا يدخلوا المسجد الحرام بعد هذا العام، وإن خفتم فقرًا لانقطاع تجارتهم فسوف يغنيكم الله من فضله إن شاء، إن الله عليم 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قَٰتِلُواْ الَّذِينَ لَا يُؤْمِنُونَ بِاللَّهِ وَلَا بِالْيَوْمِ الْأخِرِ وَلَا يُحَرِّمُونَ مَا حَرَّمَ اللَّهُ وَرَسُولُهُ وَلَا يَدِينُونَ دِينَ الْحَقِّ مِنَ الَّذِينَ أُوتُواْ الْكِتَٰبَ حَتَّىٰ يُعْطُواْ الْجِزْيَةَ عَن يَدٍ وَهُمْ صَٰغِرُونَ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قاتلوا الذين لا يؤمنون بالله ولا باليوم الآخر إيمانًا صحيحًا، ولا يحرّمون ما حرّم الله ورسوله، ولا يدينون بالإسلام، من أهل الكتاب، حتى يدفعوا الجزية وهم خاضعون لحكم الإسلام.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وَقَالَتِ الْيَهُودُ عُزَيْرٌ ابْنُ اللَّهِ وَقَالَتِ النَّصَٰرَى الْمَسِيحُ ابْنُ اللَّهِ ذَٰلِكَ قَوْلُهُم بِأَفْوَٰهِهِمْ يُضَٰهِـُٔونَ قَوْلَ الَّذِينَ كَفَرُواْ مِن قَبْلُ قَٰتَلَهُمُ اللَّهُ أَنَّىٰ يُؤْفَكُونَ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وقالت طائفة من اليهود: عُزير ابن الله، وقالت النصارى: المسيح ابن الله، ذلك قول بأفواههم بلا دليل، يشابهون قول المشركين قبلهم، قاتلهم الله، كيف يُصرفون عن الحق؟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اتَّخَذُواْ أَحْبَارَهُمْ وَرُهْبَٰنَهُمْ أَرْبَابًا مِّن دُونِ اللَّهِ وَالْمَسِيحَ ابْنَ مَرْيَمَ وَمَآ أُمِرُواْ إِلَّا لِيَعْبُدُواْ إِلَٰهًا وَٰحِدًا لَّآ إِلَٰهَ إِلَّا هُوَ سُبْحَٰنَهُ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اتخذوا علماءهم وعُبّادهم أربابًا من دون الله، يطيعونهم في تحليل الحرام وتحريم الحلال، والمسيح ابن مريم، وما أُمروا إلا أن يعبدوا إلهًا واحدًا، لا إله إلا هو، تنزّه عما يشركون.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يُرِيدُونَ أَن يُطْفِـُٔواْ نُورَ اللَّهِ بِأَفْوَٰهِهِمْ وَيَأْبَى اللَّهُ إِلَّآ أَن يُتِمَّ نُورَهُ وَلَوْ كَرِهَ الْكَٰفِرُونَ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يريدون أن يُطفئوا نور الإسلام بأقوالهم الباطلة، ويأبى الله إلا أن يُتمّ نوره ولو كره الكافرون.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أَرْسَلَ رَسُولَهُ بِالْهُدَىٰ وَدِينِ الْحَقِّ لِيُظْهِرَهُ عَلَى الدِّينِ كُلِّهِ وَلَوْ كَرِهَ الْمُشْرِكُونَ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أرسل رسوله بالهدى ودين الحق، ليُعليه على الأديان كلها، ولو كره المشركون.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إِنَّ كَثِيرًا مِّنَ الْأَحْبَارِ وَالرُّهْبَانِ لَيَأْكُلُونَ أَمْوَٰلَ النَّاسِ بِالْبَٰطِلِ وَيَصُدُّونَ عَن سَبِيلِ اللَّهِ وَالَّذِينَ يَكْنِزُونَ الذَّهَبَ وَالْفِضَّةَ وَلَا يُنفِقُونَهَا فِي سَبِيلِ اللَّهِ فَبَشِّرْهُم بِعَذَابٍ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إن كثيرًا من علماء أهل الكتاب وعُبّادهم ليأخذون أموال الناس بالباطل، ويصدّون عن دين الله، والذين يجمعون الذهب والفضة ولا يُخرجون زكاتها فبشّرهم بعذاب موجع.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يُحْمَىٰ عَلَيْهَا فِي نَارِ جَهَنَّمَ فَتُكْوَىٰ بِهَا جِبَاهُهُمْ وَجُنُوبُهُمْ وَظُهُورُهُمْ هَٰذَا مَا كَنَزْتُمْ لِأَنفُسِكُمْ فَذُوقُواْ مَا كُنتُمْ تَكْنِزُونَ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يُحمى عليها في نار جهنم فتُكوى بها جباههم وجنوبهم وظهورهم، ويُقال: هذا ما جمعتم لأنفسكم فذوقوا عاقبة ما كنتم تجمعون.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عِدَّةَ الشُّهُورِ عِندَ اللَّهِ اثْنَا عَشَرَ شَهْرًا فِي كِتَٰبِ اللَّهِ يَوْمَ خَلَقَ السَّمَٰوَٰتِ وَالْأَرْضَ مِنْهَآ أَرْبَعَةٌ حُرُمٌ ذَٰلِكَ الدِّينُ الْقَيِّمُ فَلَا تَظْلِمُواْ فِيهِنَّ أَنفُسَكُمْ وَقَٰتِلُواْ الْمُشْرِكِينَ كَآفَّةً كَمَا يُقَٰتِلُونَكُمْ كَآفَّةً وَاعْلَمُواْ أَنَّ اللَّهَ مَعَ 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عدد الشهور عند الله اثنا عشر شهرًا في اللوح المحفوظ يوم خلق السماوات والأرض، منها أربعة حُرُم: ذو القعدة وذو الحجة والمحرم ورجب، ذلك الدين المستقيم، فلا تظلموا فيهن أنفسكم بالمعاصي، وقاتلوا المشركين جميعًا كما يقاتلونكم جميعًا، واعلموا أن الله مع المتقين.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النَّسِيءُ زِيَادَةٌ فِي الْكُفْرِ يُضَلُّ بِهِ الَّذِينَ كَفَرُواْ يُحِلُّونَهُ عَامًا وَيُحَرِّمُونَهُ عَامًا لِّيُوَاطِـُٔواْ عِدَّةَ مَا حَرَّمَ اللَّهُ فَيُحِلُّواْ مَا حَرَّمَ اللَّهُ زُيِّنَ لَهُمْ سُوءُ أَعْمَٰلِهِمْ وَاللَّهُ لَا يَهْدِي الْقَوْمَ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تأخير حرمة شهر إلى شهر آخر زيادة في الكفر، يُضل به الكفار، يُحلّونه عامًا ويحرّمونه عامًا، ليوافقوا عدد الأشهر المحرّمة فيُحلّوا ما حرّم الله، زُيّن لهم سوء أعمالهم، والله لا يهدي القوم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غزوة تبوك والمتخلّفون</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٨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٣٨ – ٥٩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التوبة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النبي صلى الله عليه وسلم قال للجَدّ بن قيس وهو يتجهّز لتبوك: «هل لك في جلاد بني الأصفر؟» فقال: ائذن لي ولا تفتنّي، فإني أخاف إن رأيت نساءهم ألّا أصبر، فنزلت: ﴿ومنهم من يقول ائذن لي ولا تفتنّي ألا في الفتنة سقطوا﴾.</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الحثّ على الخروج إلى تبوك في وقت الحرّ والعسرة، وتذكير بنصر الله لنبيه في الغار، وفضح أعذار المنافقين الكاذبة وأحوالهم.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مَا لَكُمْ إِذَا قِيلَ لَكُمُ انفِرُواْ فِي سَبِيلِ اللَّهِ اثَّاقَلْتُمْ إِلَى الْأَرْضِ أَرَضِيتُم بِالْحَيَوٰةِ الدُّنْيَا مِنَ الْأخِرَةِ فَمَا مَتَٰعُ الْحَيَوٰةِ الدُّنْيَا فِي الْأخِرَةِ إِلَّا قَلِيلٌ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ما لكم إذا قيل لكم: اخرجوا للجهاد في سبيل الله تكاسلتم ولزمتم الأرض؟ أرضيتم بالحياة الدنيا بدلًا من الآخرة؟ فما متاع الدنيا في الآخرة إلا قليل.</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تَنفِرُواْ يُعَذِّبْكُمْ عَذَابًا أَلِيمًا وَيَسْتَبْدِلْ قَوْمًا غَيْرَكُمْ وَلَا تَضُرُّوهُ شَيْـًٔا وَاللَّهُ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لا تخرجوا للجهاد يعذّبكم عذابًا موجعًا، ويأتِ بقوم غيركم، ولا تضرّون الله شيئًا، والله على كل شيء قدير.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تَنصُرُوهُ فَقَدْ نَصَرَهُ اللَّهُ إِذْ أَخْرَجَهُ الَّذِينَ كَفَرُواْ ثَانِيَ اثْنَيْنِ إِذْ هُمَا فِي الْغَارِ إِذْ يَقُولُ لِصَٰحِبِهِ لَا تَحْزَنْ إِنَّ اللَّهَ مَعَنَا فَأَنزَلَ اللَّهُ سَكِينَتَهُ عَلَيْهِ وَأَيَّدَهُ بِجُنُودٍ لَّمْ تَرَوْهَا وَجَعَلَ كَلِمَةَ الَّذِينَ كَفَرُواْ السُّفْلَىٰ وَكَلِمَةُ اللَّهِ هِيَ الْعُلْيَا وَاللَّهُ عَزِيزٌ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لا تنصروا الرسول فقد نصره الله حين أخرجه الكفار من مكة، ثاني اثنين هو وأبو بكر، إذ هما في غار ثور، إذ يقول لصاحبه: لا تحزن إن الله معنا، فأنزل الله طمأنينته عليه، وقوّاه بجنود لم تروها، وجعل كلمة الكفار السفلى، وكلمة الله هي العليا، والله عزيز 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انفِرُواْ خِفَافًا وَثِقَالًا وَجَٰهِدُواْ بِأَمْوَٰلِكُمْ وَأَنفُسِكُمْ فِي سَبِيلِ اللَّهِ ذَٰلِكُمْ خَيْرٌ لَّكُمْ إِن كُنتُمْ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اخرجوا للجهاد نشيطين وغير نشيطين، أغنياء وفقراء، وجاهدوا بأموالكم وأنفسكم في سبيل الله، ذلكم خير لكم إن كنتم تعلمون.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كَانَ عَرَضًا قَرِيبًا وَسَفَرًا قَاصِدًا لَّاتَّبَعُوكَ وَلَٰكِن بَعُدَتْ عَلَيْهِمُ الشُّقَّةُ وَسَيَحْلِفُونَ بِاللَّهِ لَوِ اسْتَطَعْنَا لَخَرَجْنَا مَعَكُمْ يُهْلِكُونَ أَنفُسَهُمْ وَاللَّهُ يَعْلَمُ إِنَّهُمْ 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كان ما دُعوا إليه غنيمة قريبة وسفرًا سهلًا لاتّبعك المنافقون، ولكن بعدت عليهم المسافة إلى تبوك، وسيحلفون بالله: لو استطعنا لخرجنا معكم، يُهلكون أنفسهم بالكذب، والله يعلم إنهم لكاذبون.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عَفَا اللَّهُ عَنكَ لِمَ أَذِنتَ لَهُمْ حَتَّىٰ يَتَبَيَّنَ لَكَ الَّذِينَ صَدَقُواْ وَتَعْلَمَ الْكَٰذِبِينَ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عفا الله عنك يا محمد، لِمَ أذنت لهم في التخلّف حتى يتبيّن لك الصادقون في أعذارهم وتعلم الكاذبين؟</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يَسْتَـْٔذِنُكَ الَّذِينَ يُؤْمِنُونَ بِاللَّهِ وَالْيَوْمِ الْأخِرِ أَن يُجَٰهِدُواْ بِأَمْوَٰلِهِمْ وَأَنفُسِهِمْ وَاللَّهُ عَلِيمٌ بِالْمُتَّقِينَ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يستأذنك المؤمنون بالله واليوم الآخر في ترك الجهاد بأموالهم وأنفسهم، والله عليم بالمتقين.</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يَسْتَـْٔذِنُكَ الَّذِينَ لَا يُؤْمِنُونَ بِاللَّهِ وَالْيَوْمِ الْأخِرِ وَارْتَابَتْ قُلُوبُهُمْ فَهُمْ فِي رَيْبِهِمْ يَتَرَدَّدُونَ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يستأذنك الذين لا يؤمنون بالله واليوم الآخر، وشكّت قلوبهم، فهم في شكّهم يتحيّرون.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أَرَادُواْ الْخُرُوجَ لَأَعَدُّواْ لَهُ عُدَّةً وَلَٰكِن كَرِهَ اللَّهُ انبِعَاثَهُمْ فَثَبَّطَهُمْ وَقِيلَ اقْعُدُواْ مَعَ الْقَٰعِدِينَ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أرادوا الخروج لاستعدّوا له، ولكن كره الله خروجهم فثبّطهم، وقيل لهم: اقعدوا مع القاعدين.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خَرَجُواْ فِيكُم مَّا زَادُوكُمْ إِلَّا خَبَالًا وَلَأَوْضَعُواْ خِلَٰلَكُمْ يَبْغُونَكُمُ الْفِتْنَةَ وَفِيكُمْ سَمَّـٰعُونَ لَهُمْ وَاللَّهُ عَلِيمٌ بِالظَّـٰلِمِينَ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خرجوا معكم ما زادوكم إلا فسادًا، ولأسرعوا بينكم بالنميمة يريدون لكم الفتنة، وفيكم من يسمع لهم، والله عليم بالظالمين.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ابْتَغَوُاْ الْفِتْنَةَ مِن قَبْلُ وَقَلَّبُواْ لَكَ الْأُمُورَ حَتَّىٰ جَآءَ الْحَقُّ وَظَهَرَ أَمْرُ اللَّهِ وَهُمْ كَٰرِهُونَ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طلبوا الفتنة من قبل، ودبّروا لك المكائد، حتى جاء النصر وظهر دين الله وهم كارهون.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وَمِنْهُم مَّن يَقُولُ ائْذَن لِّي وَلَا تَفْتِنِّي أَلَا فِي الْفِتْنَةِ سَقَطُواْ وَإِنَّ جَهَنَّمَ لَمُحِيطَةٌ بِالْكَٰفِرِينَ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المنافقين من يقول: ائذن لي في القعود، ولا توقعني في الفتنة، ألا في الفتنة سقطوا بتخلّفهم، وإن جهنم لمحيطة بالكافرين.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تُصِبْكَ حَسَنَةٌ تَسُؤْهُمْ وَإِن تُصِبْكَ مُصِيبَةٌ يَقُولُواْ قَدْ أَخَذْنَآ أَمْرَنَا مِن قَبْلُ وَيَتَوَلَّواْ وَّهُمْ فَرِحُونَ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يُصبك نصر وغنيمة يُحزنهم، وإن تُصبك مصيبة يقولوا: قد أخذنا حذرنا بتخلّفنا، وينصرفوا وهم فرحون.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لَّن يُصِيبَنَآ إِلَّا مَا كَتَبَ اللَّهُ لَنَا هُوَ مَوْلَىٰنَا وَعَلَى اللَّهِ فَلْيَتَوَكَّلِ الْمُؤْمِنُونَ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لن يصيبنا إلا ما كتب الله لنا، هو ناصرنا، وعلى الله فليتوكّل المؤمنون.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هَلْ تَرَبَّصُونَ بِنَآ إِلَّآ إِحْدَى الْحُسْنَيَيْنِ وَنَحْنُ نَتَرَبَّصُ بِكُمْ أَن يُصِيبَكُمُ اللَّهُ بِعَذَابٍ مِّنْ عِندِهِ أَوْ بِأَيْدِينَا فَتَرَبَّصُواْ إِنَّا مَعَكُم مُّتَرَبِّصُونَ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هل تنتظرون بنا إلا إحدى الحسنيين: النصر أو الشهادة؟ ونحن ننتظر بكم أن يصيبكم الله بعذاب من عنده أو بأيدينا، فانتظروا إنا معكم منتظرون.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أَنفِقُواْ طَوْعًا أَوْ كَرْهًا لَّن يُتَقَبَّلَ مِنكُمْ إِنَّكُمْ كُنتُمْ قَوْمًا 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أنفقوا طائعين أو كارهين، لن يُقبل منكم، إنكم كنتم قومًا خارجين عن الطاعة.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٥٤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مَنَعَهُمْ أَن تُقْبَلَ مِنْهُمْ نَفَقَٰتُهُمْ إِلَّآ أَنَّهُمْ كَفَرُواْ بِاللَّهِ وَبِرَسُولِهِ وَلَا يَأْتُونَ الصَّلَوٰةَ إِلَّا وَهُمْ كُسَالَىٰ وَلَا يُنفِقُونَ إِلَّا وَهُمْ كَٰرِهُونَ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منع قبول نفقاتهم إلا أنهم كفروا بالله ورسوله، ولا يأتون الصلاة إلا وهم كسالى، ولا ينفقون إلا وهم كارهون.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تُعْجِبْكَ أَمْوَٰلُهُمْ وَلَآ أَوْلَٰدُهُمْ إِنَّمَا يُرِيدُ اللَّهُ لِيُعَذِّبَهُم بِهَا فِي الْحَيَوٰةِ الدُّنْيَا وَتَزْهَقَ أَنفُسُهُمْ وَهُمْ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تُعجبك أموالهم ولا أولادهم، إنما يريد الله أن يعذّبهم بها في الحياة الدنيا بالتعب في جمعها والخوف عليها، وتخرج أرواحهم وهم 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٥٦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وَيَحْلِفُونَ بِاللَّهِ إِنَّهُمْ لَمِنكُمْ وَمَا هُم مِّنكُمْ وَلَٰكِنَّهُمْ قَوْمٌ يَفْرَقُونَ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ويحلفون بالله إنهم منكم، وما هم منكم، ولكنهم قوم يخافون فيُظهرون الإسلام.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 يَجِدُونَ مَلْجَـًٔا أَوْ مَغَٰرَٰتٍ أَوْ مُدَّخَلًا لَّوَلَّوْاْ إِلَيْهِ وَهُمْ يَجْمَحُونَ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 يجدون حصنًا أو مغارات أو مكانًا يدخلونه لأسرعوا إليه هاربين منكم.</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وَمِنْهُم مَّن يَلْمِزُكَ فِي الصَّدَقَٰتِ فَإِنْ أُعْطُواْ مِنْهَا رَضُواْ وَإِن لَّمْ يُعْطَوْاْ مِنْهَآ إِذَا هُمْ يَسْخَطُونَ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المنافقين من يعيبك في قسمة الصدقات، فإن أُعطوا منها رضوا، وإن لم يُعطوا إذا هم يسخطون.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أَنَّهُمْ رَضُواْ مَآ ءَاتَىٰهُمُ اللَّهُ وَرَسُولُهُ وَقَالُواْ حَسْبُنَا اللَّهُ سَيُؤْتِينَا اللَّهُ مِن فَضْلِهِ وَرَسُولُهُ إِنَّآ إِلَى اللَّهِ رَٰغِبُونَ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أنهم رضوا بما أعطاهم الله ورسوله، وقالوا: الله كافينا، سيُعطينا الله من فضله ورسوله، إنا إلى الله راغبون، لكان خيرًا 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الزكاة وفضح المنافقين</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٩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٦٠ – ٨٠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التوبة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عمر رضي الله عنهما: قال رجل في غزوة تبوك: ما رأينا مثل قرّائنا هؤلاء أرغب بطونًا ولا أكذب ألسنًا ولا أجبن عند اللقاء، يعني النبي صلى الله عليه وسلم وأصحابه، فنزل: ﴿قل أبالله وآياته ورسوله كنتم تستهزئون﴾ (رواه ابن جرير، وذكره ابن كثير).</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مصارف الزكاة الثمانية، وأذى المنافقين للنبي صلى الله عليه وسلم واستهزاؤهم بالدين، والمقارنة بين صفات المنافقين وصفات المؤمنين.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٦٠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الصَّدَقَٰتُ لِلْفُقَرَآءِ وَالْمَسَٰكِينِ وَالْعَٰمِلِينَ عَلَيْهَا وَالْمُؤَلَّفَةِ قُلُوبُهُمْ وَفِي الرِّقَابِ وَالْغَٰرِمِينَ وَفِي سَبِيلِ اللَّهِ وَابْنِ السَّبِيلِ فَرِيضَةً مِّنَ اللَّهِ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تُصرف الزكاة للفقراء، والمساكين، والعاملين على جمعها، والذين يُراد تأليف قلوبهم على الإسلام، وفي تحرير العبيد، والمدينين، وفي سبيل الله، والمسافر المنقطع، فريضة من الله، والله عليم حكيم.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وَمِنْهُمُ الَّذِينَ يُؤْذُونَ النَّبِيَّ وَيَقُولُونَ هُوَ أُذُنٌ قُلْ أُذُنُ خَيْرٍ لَّكُمْ يُؤْمِنُ بِاللَّهِ وَيُؤْمِنُ لِلْمُؤْمِنِينَ وَرَحْمَةٌ لِّلَّذِينَ ءَامَنُواْ مِنكُمْ وَالَّذِينَ يُؤْذُونَ رَسُولَ اللَّهِ 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المنافقين الذين يؤذون النبي ويقولون: هو يسمع كل ما يُقال له! قل: هو يسمع الخير لكم، يؤمن بالله، ويصدّق المؤمنين، ورحمة للمؤمنين منكم، والذين يؤذون رسول الله لهم عذاب موجع.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يَحْلِفُونَ بِاللَّهِ لَكُمْ لِيُرْضُوكُمْ وَاللَّهُ وَرَسُولُهُ أَحَقُّ أَن يُرْضُوهُ إِن كَانُواْ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يحلفون بالله لكم ليُرضوكم، والله ورسوله أحق أن يُرضوه بالطاعة إن كانوا مؤمنين.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يَعْلَمُواْ أَنَّهُ مَن يُحَادِدِ اللَّهَ وَرَسُولَهُ فَأَنَّ لَهُ نَارَ جَهَنَّمَ خَٰلِدًا فِيهَا ذَٰلِكَ الْخِزْيُ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يعلموا أن من يعادِ الله ورسوله فله نار جهنم خالدًا فيها؟ ذلك الذل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٦٤ – ٦٥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يَحْذَرُ الْمُنَٰفِقُونَ أَن تُنَزَّلَ عَلَيْهِمْ سُورَةٌ تُنَبِّئُهُم بِمَا فِي قُلُوبِهِمْ قُلِ اسْتَهْزِءُواْ إِنَّ اللَّهَ مُخْرِجٌ مَّا تَحْذَرُونَ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يخاف المنافقون أن تنزل سورة تُخبر المؤمنين بما في قلوبهم، قل: استهزئوا، إن الله مُظهر ما تخافون ظهوره.</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سَأَلْتَهُمْ لَيَقُولُنَّ إِنَّمَا كُنَّا نَخُوضُ وَنَلْعَبُ قُلْ أَبِاللَّهِ وَءَايَٰتِهِ وَرَسُولِهِ كُنتُمْ تَسْتَهْزِءُونَ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سألتهم عن استهزائهم ليقولُنّ: إنما كنا نتحدّث ونمزح، قل: أبالله وآياته ورسوله كنتم تستهزئون؟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٦٦ –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تَعْتَذِرُواْ قَدْ كَفَرْتُم بَعْدَ إِيمَٰنِكُمْ إِن نَّعْفُ عَن طَآئِفَةٍ مِّنكُمْ نُعَذِّبْ طَآئِفَةً بِأَنَّهُمْ كَانُواْ 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تعتذروا، قد كفرتم بعد إيمانكم بهذا الاستهزاء، إن نعفُ عن طائفة منكم لتوبتهم نعذّب طائفة أخرى بإجرامهم.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الْمُنَٰفِقُونَ وَالْمُنَٰفِقَٰتُ بَعْضُهُم مِّن بَعْضٍ يَأْمُرُونَ بِالْمُنكَرِ وَيَنْهَوْنَ عَنِ الْمَعْرُوفِ وَيَقْبِضُونَ أَيْدِيَهُمْ نَسُواْ اللَّهَ فَنَسِيَهُمْ إِنَّ الْمُنَٰفِقِينَ هُمُ الْفَٰسِقُونَ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المنافقون والمنافقات بعضهم من بعض، يأمرون بالمنكر، وينهون عن المعروف، ويبخلون بأموالهم، نسوا الله فتركهم، إن المنافقين هم الفاسقون.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13533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وَعَدَ اللَّهُ الْمُنَٰفِقِينَ وَالْمُنَٰفِقَٰتِ وَالْكُفَّارَ نَارَ جَهَنَّمَ خَٰلِدِينَ فِيهَا هِيَ حَسْبُهُمْ وَلَعَنَهُمُ اللَّهُ وَلَهُمْ عَذَابٌ مُّقِيمٌ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وعد الله المنافقين والمنافقات والكفار نار جهنم خالدين فيها، هي كافيتهم، ولعنهم الله، ولهم عذاب دائم.</a:t>
            </a:r>
            <a:endParaRPr lang="ar-SA" sz="3200" dirty="0"/>
          </a:p>
        </p:txBody>
      </p:sp>
      <p:sp>
        <p:nvSpPr>
          <p:cNvPr id="9" name="Shape 7"/>
          <p:cNvSpPr/>
          <p:nvPr/>
        </p:nvSpPr>
        <p:spPr>
          <a:xfrm>
            <a:off x="2103120" y="3035808"/>
            <a:ext cx="8641080" cy="0"/>
          </a:xfrm>
          <a:prstGeom prst="line">
            <a:avLst/>
          </a:prstGeom>
          <a:noFill/>
          <a:ln w="9525">
            <a:solidFill>
              <a:schemeClr val="accent2"/>
            </a:solidFill>
            <a:prstDash val="dash"/>
          </a:ln>
        </p:spPr>
      </p:sp>
      <p:sp>
        <p:nvSpPr>
          <p:cNvPr id="10" name="Shape 8"/>
          <p:cNvSpPr/>
          <p:nvPr/>
        </p:nvSpPr>
        <p:spPr>
          <a:xfrm>
            <a:off x="10927080" y="3209544"/>
            <a:ext cx="548640" cy="548640"/>
          </a:xfrm>
          <a:prstGeom prst="star8">
            <a:avLst/>
          </a:prstGeom>
          <a:solidFill>
            <a:schemeClr val="accent2"/>
          </a:solidFill>
          <a:ln/>
        </p:spPr>
      </p:sp>
      <p:sp>
        <p:nvSpPr>
          <p:cNvPr id="11" name="Shape 9"/>
          <p:cNvSpPr/>
          <p:nvPr/>
        </p:nvSpPr>
        <p:spPr>
          <a:xfrm>
            <a:off x="11036808" y="33192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095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3191256"/>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كَالَّذِينَ مِن قَبْلِكُمْ كَانُواْ أَشَدَّ مِنكُمْ قُوَّةً وَأَكْثَرَ أَمْوَٰلًا وَأَوْلَٰدًا فَاسْتَمْتَعُواْ بِخَلَٰقِهِمْ فَاسْتَمْتَعْتُم بِخَلَٰقِكُمْ كَمَا اسْتَمْتَعَ الَّذِينَ مِن قَبْلِكُم بِخَلَٰقِهِمْ وَخُضْتُمْ كَالَّذِي خَاضُواْ أُوْلَـٰئِكَ حَبِطَتْ أَعْمَٰلُهُمْ فِي الدُّنْيَا وَالْأخِرَةِ وَأُوْلَـٰئِكَ هُمُ الْخَٰسِرُونَ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أنتم أيها المنافقون كالذين من قبلكم، كانوا أشد منكم قوة وأكثر أموالًا وأولادًا، فتمتّعوا بنصيبهم من الدنيا، فتمتّعتم بنصيبكم كما تمتّعوا، وخضتم في الباطل كما خاضوا، أولئك بطلت أعمالهم في الدنيا والآخرة، وأولئك هم الخاسرون.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يَأْتِهِمْ نَبَأُ الَّذِينَ مِن قَبْلِهِمْ قَوْمِ نُوحٍ وَعَادٍ وَثَمُودَ وَقَوْمِ إِبْرَٰهِيمَ وَأَصْحَٰبِ مَدْيَنَ وَالْمُؤْتَفِكَٰتِ أَتَتْهُمْ رُسُلُهُم بِالْبَيِّنَٰتِ فَمَا كَانَ اللَّهُ لِيَظْلِمَهُمْ وَلَٰكِن كَانُواْ أَنفُسَهُمْ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يأتهم خبر الأمم قبلهم: قوم نوح، وعاد، وثمود، وقوم إبراهيم، وأهل مدين، وقرى قوم لوط المقلوبة؟ أتتهم رسلهم بالمعجزات فكذّبوا، فما ظلمهم الله، ولكن ظلموا أنفسهم.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وَالْمُؤْمِنُونَ وَالْمُؤْمِنَٰتُ بَعْضُهُمْ أَوْلِيَآءُ بَعْضٍ يَأْمُرُونَ بِالْمَعْرُوفِ وَيَنْهَوْنَ عَنِ الْمُنكَرِ وَيُقِيمُونَ الصَّلَوٰةَ وَيُؤْتُونَ الزَّكَوٰةَ وَيُطِيعُونَ اللَّهَ وَرَسُولَهُ أُوْلَـٰئِكَ سَيَرْحَمُهُمُ اللَّهُ إِنَّ اللَّهَ عَزِيزٌ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والمؤمنون والمؤمنات بعضهم أنصار بعض، يأمرون بالمعروف، وينهون عن المنكر، ويقيمون الصلاة، ويؤتون الزكاة، ويطيعون الله ورسوله، أولئك سيرحمهم الله، إن الله عزيز حكيم.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وَعَدَ اللَّهُ الْمُؤْمِنِينَ وَالْمُؤْمِنَٰتِ جَنَّـٰتٍ تَجْرِي مِن تَحْتِهَا الْأَنْهَٰرُ خَٰلِدِينَ فِيهَا وَمَسَٰكِنَ طَيِّبَةً فِي جَنَّـٰتِ عَدْنٍ وَرِضْوَٰنٌ مِّنَ اللَّهِ أَكْبَرُ ذَٰلِكَ هُوَ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وعد الله المؤمنين والمؤمنات جنات تجري من تحتها الأنهار خالدين فيها، ومساكن طيبة في جنات الإقامة، ورضوان من الله أكبر من ذلك كله، ذلك هو الفوز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921508"/>
            <a:ext cx="548640" cy="548640"/>
          </a:xfrm>
          <a:prstGeom prst="star8">
            <a:avLst/>
          </a:prstGeom>
          <a:solidFill>
            <a:schemeClr val="accent2"/>
          </a:solidFill>
          <a:ln/>
        </p:spPr>
      </p:sp>
      <p:sp>
        <p:nvSpPr>
          <p:cNvPr id="6" name="Shape 4"/>
          <p:cNvSpPr/>
          <p:nvPr/>
        </p:nvSpPr>
        <p:spPr>
          <a:xfrm>
            <a:off x="11036808" y="303123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النَّبِيُّ جَٰهِدِ الْكُفَّارَ وَالْمُنَٰفِقِينَ وَاغْلُظْ عَلَيْهِمْ وَمَأْوَىٰهُمْ جَهَنَّمُ وَبِئْسَ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النبي، جاهد الكفار بالسيف والمنافقين بالحجة، واشتدّ عليهم، ومصيرهم جهنم وبئس المصير.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٧٤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8" name="Text 6"/>
          <p:cNvSpPr txBox="1"/>
          <p:nvPr/>
        </p:nvSpPr>
        <p:spPr>
          <a:xfrm>
            <a:off x="731520" y="1353312"/>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يَحْلِفُونَ بِاللَّهِ مَا قَالُواْ وَلَقَدْ قَالُواْ كَلِمَةَ الْكُفْرِ وَكَفَرُواْ بَعْدَ إِسْلَٰمِهِمْ وَهَمُّواْ بِمَا لَمْ يَنَالُواْ وَمَا نَقَمُواْ إِلَّآ أَنْ أَغْنَىٰهُمُ اللَّهُ وَرَسُولُهُ مِن فَضْلِهِ فَإِن يَتُوبُواْ يَكُ خَيْرًا لَّهُمْ وَإِن يَتَوَلَّوْاْ يُعَذِّبْهُمُ اللَّهُ عَذَابًا أَلِيمًا فِي الدُّنْيَا وَالْأخِرَةِ وَمَا لَهُمْ فِي الْأَرْضِ مِن وَلِيٍّ وَلَا نَصِيرٍ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يحلف المنافقون بالله ما قالوا كلمة سوء في النبي، ولقد قالوا كلمة الكفر، وكفروا بعد إظهار إسلامهم، وهمّوا بقتل النبي صلى الله عليه وسلم فلم يتمكّنوا، وما عابوا إلا أن أغناهم الله ورسوله من فضله، فإن يتوبوا يكن خيرًا لهم، وإن يُعرضوا يعذّبهم الله عذابًا موجعًا في الدنيا والآخرة، وما لهم من وليّ ولا نصير.</a:t>
            </a:r>
            <a:endParaRPr lang="ar-SA" sz="3200" dirty="0"/>
          </a:p>
        </p:txBody>
      </p:sp>
      <p:sp>
        <p:nvSpPr>
          <p:cNvPr id="9" name="Shape 7"/>
          <p:cNvSpPr/>
          <p:nvPr/>
        </p:nvSpPr>
        <p:spPr>
          <a:xfrm>
            <a:off x="2103120" y="4882896"/>
            <a:ext cx="8641080" cy="0"/>
          </a:xfrm>
          <a:prstGeom prst="line">
            <a:avLst/>
          </a:prstGeom>
          <a:noFill/>
          <a:ln w="9525">
            <a:solidFill>
              <a:schemeClr val="accent2"/>
            </a:solidFill>
            <a:prstDash val="dash"/>
          </a:ln>
        </p:spPr>
      </p:sp>
      <p:sp>
        <p:nvSpPr>
          <p:cNvPr id="10" name="Shape 8"/>
          <p:cNvSpPr/>
          <p:nvPr/>
        </p:nvSpPr>
        <p:spPr>
          <a:xfrm>
            <a:off x="10927080" y="5056632"/>
            <a:ext cx="548640" cy="548640"/>
          </a:xfrm>
          <a:prstGeom prst="star8">
            <a:avLst/>
          </a:prstGeom>
          <a:solidFill>
            <a:schemeClr val="accent2"/>
          </a:solidFill>
          <a:ln/>
        </p:spPr>
      </p:sp>
      <p:sp>
        <p:nvSpPr>
          <p:cNvPr id="11" name="Shape 9"/>
          <p:cNvSpPr/>
          <p:nvPr/>
        </p:nvSpPr>
        <p:spPr>
          <a:xfrm>
            <a:off x="11036808" y="516636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505663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3" name="Text 11"/>
          <p:cNvSpPr txBox="1"/>
          <p:nvPr/>
        </p:nvSpPr>
        <p:spPr>
          <a:xfrm>
            <a:off x="731520" y="503834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وَمِنْهُم مَّنْ عَٰهَدَ اللَّهَ لَئِنْ ءَاتَىٰنَا مِن فَضْلِهِ لَنَصَّدَّقَنَّ وَلَنَكُونَنَّ 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المنافقين من عاهد الله: لئن أعطانا من فضله لنتصدّقنّ ولنكوننّ من الصالحين.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٧٦ – ٧٨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ءَاتَىٰهُم مِّن فَضْلِهِ بَخِلُواْ بِهِ وَتَوَلَّواْ وَّهُم مُّعْرِضُونَ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أعطاهم من فضله بخلوا به، وأعرضوا عن عهدهم.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فَأَعْقَبَهُمْ نِفَاقًا فِي قُلُوبِهِمْ إِلَىٰ يَوْمِ يَلْقَوْنَهُ بِمَآ أَخْلَفُواْ اللَّهَ مَا وَعَدُوهُ وَبِمَا كَانُواْ يَكْذِبُونَ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فجعل عاقبتهم نفاقًا في قلوبهم إلى يوم يلقونه، بسبب إخلافهم وعد الله وكذبهم.</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يَعْلَمُواْ أَنَّ اللَّهَ يَعْلَمُ سِرَّهُمْ وَنَجْوَىٰهُمْ وَأَنَّ اللَّهَ عَلَّـٰمُ الْغُيُوبِ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يعلموا أن الله يعلم ما يُسرّونه وما يتناجون به، وأن الله علّام الغيوب؟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٧٩ – ٨٠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يَلْمِزُونَ الْمُطَّوِّعِينَ مِنَ الْمُؤْمِنِينَ فِي الصَّدَقَٰتِ وَالَّذِينَ لَا يَجِدُونَ إِلَّا جُهْدَهُمْ فَيَسْخَرُونَ مِنْهُمْ سَخِرَ اللَّهُ مِنْهُمْ وَلَهُمْ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المنافقون الذين يعيبون المؤمنين المتطوّعين بالصدقات الكثيرة، ويسخرون من الفقراء الذين لا يجدون إلا القليل، سخر الله منهم، ولهم عذاب موجع.</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اسْتَغْفِرْ لَهُمْ أَوْ لَا تَسْتَغْفِرْ لَهُمْ إِن تَسْتَغْفِرْ لَهُمْ سَبْعِينَ مَرَّةً فَلَن يَغْفِرَ اللَّهُ لَهُمْ ذَٰلِكَ بِأَنَّهُمْ كَفَرُواْ بِاللَّهِ وَرَسُولِهِ وَاللَّهُ لَا يَهْدِي الْقَوْمَ الْفَٰسِقِينَ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استغفر لهم أو لا تستغفر، إن تستغفر لهم سبعين مرة فلن يغفر الله لهم، لأنهم كفروا بالله ورسوله، والله لا يهدي القوم الفاسقين.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المتخلّفون والمعذورون</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١٠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٨١ – ٩٩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التوبة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لما مات عبد الله بن أُبيّ رأس المنافقين، صلّى عليه النبي صلى الله عليه وسلم، فأنزل الله: ﴿ولا تصلّ على أحد منهم مات أبدًا ولا تقم على قبره﴾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فرح المنافقين بالتخلّف، والنهي عن الصلاة عليهم، وبيان أصحاب الأعذار الحقيقية كالضعفاء والمرضى والفقراء الباكين، وأحوال الأعراب.</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٨١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فَرِحَ الْمُخَلَّفُونَ بِمَقْعَدِهِمْ خِلَٰفَ رَسُولِ اللَّهِ وَكَرِهُواْ أَن يُجَٰهِدُواْ بِأَمْوَٰلِهِمْ وَأَنفُسِهِمْ فِي سَبِيلِ اللَّهِ وَقَالُواْ لَا تَنفِرُواْ فِي الْحَرِّ قُلْ نَارُ جَهَنَّمَ أَشَدُّ حَرًّا لَّوْ كَانُواْ يَفْقَهُونَ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فرح المتخلّفون عن غزوة تبوك بقعودهم بعد خروج رسول الله، وكرهوا الجهاد بأموالهم وأنفسهم، وقالوا: لا تخرجوا في الحرّ، قل: نار جهنم أشدّ حرًّا لو كانوا يفهمون.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فَلْيَضْحَكُواْ قَلِيلًا وَلْيَبْكُواْ كَثِيرًا جَزَآءً بِمَا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فليضحكوا في الدنيا قليلًا، وليبكوا في الآخرة كثيرًا، جزاءً بما كانوا يكسبون.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رَّجَعَكَ اللَّهُ إِلَىٰ طَآئِفَةٍ مِّنْهُمْ فَاسْتَـْٔذَنُوكَ لِلْخُرُوجِ فَقُل لَّن تَخْرُجُواْ مَعِيَ أَبَدًا وَلَن تُقَٰتِلُواْ مَعِيَ عَدُوًّا إِنَّكُمْ رَضِيتُم بِالْقُعُودِ أَوَّلَ مَرَّةٍ فَاقْعُدُواْ مَعَ الْخَٰلِفِينَ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ردّك الله إلى جماعة من المنافقين فاستأذنوك للخروج إلى غزوة أخرى، فقل: لن تخرجوا معي أبدًا، ولن تقاتلوا معي عدوًّا، إنكم رضيتم بالقعود أول مرة فاقعدوا مع المتخلّفين.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تُصَلِّ عَلَىٰ أَحَدٍ مِّنْهُم مَّاتَ أَبَدًا وَلَا تَقُمْ عَلَىٰ قَبْرِهِ إِنَّهُمْ كَفَرُواْ بِاللَّهِ وَرَسُولِهِ وَمَاتُواْ وَهُمْ 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تصلّ على أحد منهم مات أبدًا، ولا تقف على قبره تدعو له، إنهم كفروا بالله ورسوله وماتوا وهم فاسقون.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٨٥ – ٨٦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تُعْجِبْكَ أَمْوَٰلُهُمْ وَأَوْلَٰدُهُمْ إِنَّمَا يُرِيدُ اللَّهُ أَن يُعَذِّبَهُم بِهَا فِي الدُّنْيَا وَتَزْهَقَ أَنفُسُهُمْ وَهُمْ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تُعجبك أموالهم وأولادهم، إنما يريد الله أن يعذّبهم بها في الدنيا، وتخرج أرواحهم وهم كافرون.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أُنزِلَتْ سُورَةٌ أَنْ ءَامِنُواْ بِاللَّهِ وَجَٰهِدُواْ مَعَ رَسُولِهِ اسْتَـْٔذَنَكَ أُوْلُواْ الطَّوْلِ مِنْهُمْ وَقَالُواْ ذَرْنَا نَكُن مَّعَ الْقَٰعِدِينَ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أُنزلت سورة تأمر بالإيمان بالله والجهاد مع رسوله، استأذنك أصحاب الغنى والقدرة منهم، وقالوا: اتركنا نكن مع القاعدين.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٨٧ – ٨٩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رَضُواْ بِأَن يَكُونُواْ مَعَ الْخَوَالِفِ وَطُبِعَ عَلَىٰ قُلُوبِهِمْ فَهُمْ لَا يَفْقَهُونَ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رضوا أن يكونوا مع النساء المتخلّفات في البيوت، وخُتم على قلوبهم فهم لا يفهمون.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لَٰكِنِ الرَّسُولُ وَالَّذِينَ ءَامَنُواْ مَعَهُ جَٰهَدُواْ بِأَمْوَٰلِهِمْ وَأَنفُسِهِمْ وَأُوْلَـٰئِكَ لَهُمُ الْخَيْرَٰتُ وَأُوْلَـٰئِكَ هُمُ الْمُفْلِحُونَ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لكن الرسول والمؤمنون معه جاهدوا بأموالهم وأنفسهم، وأولئك لهم الخيرات في الدنيا والآخرة، وأولئك هم المفلحون.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أَعَدَّ اللَّهُ لَهُمْ جَنَّـٰتٍ تَجْرِي مِن تَحْتِهَا الْأَنْهَٰرُ خَٰلِدِينَ فِيهَا ذَٰلِكَ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أعدّ الله لهم جنات تجري من تحتها الأنهار خالدين فيها، ذلك الفوز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٩٠ –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 الْمُعَذِّرُونَ مِنَ الْأَعْرَابِ لِيُؤْذَنَ لَهُمْ وَقَعَدَ الَّذِينَ كَذَبُواْ اللَّهَ وَرَسُولَهُ سَيُصِيبُ الَّذِينَ كَفَرُواْ مِنْهُمْ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 المعتذرون من الأعراب ليُؤذن لهم في التخلّف، وقعد الذين كذبوا الله ورسوله بلا عذر، سيصيب الكافرين منهم عذاب موجع.</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 عَلَى الضُّعَفَآءِ وَلَا عَلَى الْمَرْضَىٰ وَلَا عَلَى الَّذِينَ لَا يَجِدُونَ مَا يُنفِقُونَ حَرَجٌ إِذَا نَصَحُواْ لِلَّهِ وَرَسُولِهِ مَا عَلَى الْمُحْسِنِينَ مِن سَبِيلٍ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على الضعفاء كالشيوخ، ولا على المرضى، ولا على الفقراء الذين لا يجدون ما ينفقون، إثم في التخلّف إذا أخلصوا لله ورسوله، ما على المحسنين من لوم، والله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٩٢ – ٩٣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عَلَى الَّذِينَ إِذَا مَآ أَتَوْكَ لِتَحْمِلَهُمْ قُلْتَ لَآ أَجِدُ مَآ أَحْمِلُكُمْ عَلَيْهِ تَوَلَّواْ وَّأَعْيُنُهُمْ تَفِيضُ مِنَ الدَّمْعِ حَزَنًا أَلَّا يَجِدُواْ مَا يُنفِقُونَ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على الذين جاؤوك يطلبون أن تحملهم على الدوابّ، فقلت: لا أجد ما أحملكم عليه، فرجعوا وأعينهم تفيض بالدموع حزنًا ألّا يجدوا ما ينفقون. وهم البكّاؤون رضي الله عنهم.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السَّبِيلُ عَلَى الَّذِينَ يَسْتَـْٔذِنُونَكَ وَهُمْ أَغْنِيَآءُ رَضُواْ بِأَن يَكُونُواْ مَعَ الْخَوَالِفِ وَطَبَعَ اللَّهُ عَلَىٰ قُلُوبِهِمْ فَهُمْ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اللوم والإثم على الذين يستأذنونك وهم أغنياء قادرون، رضوا أن يكونوا مع النساء المتخلّفات، وختم الله على قلوبهم فهم لا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٩٤ – ٩٥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يَعْتَذِرُونَ إِلَيْكُمْ إِذَا رَجَعْتُمْ إِلَيْهِمْ قُل لَّا تَعْتَذِرُواْ لَن نُّؤْمِنَ لَكُمْ قَدْ نَبَّأَنَا اللَّهُ مِنْ أَخْبَارِكُمْ وَسَيَرَى اللَّهُ عَمَلَكُمْ وَرَسُولُهُ ثُمَّ تُرَدُّونَ إِلَىٰ عَٰلِمِ الْغَيْبِ وَالشَّهَٰدَةِ فَيُنَبِّئُكُم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يعتذر المنافقون إليكم إذا رجعتم من تبوك، قل: لا تعتذروا، لن نصدّقكم، قد أخبرنا الله من أخباركم، وسيرى الله ورسوله عملكم، ثم تُردّون إلى عالم الغيب والشهادة فيخبركم بما كنتم تعملون.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سَيَحْلِفُونَ بِاللَّهِ لَكُمْ إِذَا انقَلَبْتُمْ إِلَيْهِمْ لِتُعْرِضُواْ عَنْهُمْ فَأَعْرِضُواْ عَنْهُمْ إِنَّهُمْ رِجْسٌ وَمَأْوَىٰهُمْ جَهَنَّمُ جَزَآءً بِمَا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سيحلفون لكم بالله إذا رجعتم إليهم لتتركوا لومهم، فأعرضوا عنهم، إنهم نجس القلوب، ومصيرهم جهنم جزاءً بما كانوا يكسبون.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٩٦ – ٩٧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يَحْلِفُونَ لَكُمْ لِتَرْضَوْاْ عَنْهُمْ فَإِن تَرْضَوْاْ عَنْهُمْ فَإِنَّ اللَّهَ لَا يَرْضَىٰ عَنِ الْقَوْمِ الْفَٰسِقِينَ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يحلفون لكم لترضوا عنهم، فإن رضيتم عنهم فإن الله لا يرضى عن القوم الفاسقين.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الْأَعْرَابُ أَشَدُّ كُفْرًا وَنِفَاقًا وَأَجْدَرُ أَلَّا يَعْلَمُواْ حُدُودَ مَآ أَنزَلَ اللَّهُ عَلَىٰ رَسُولِهِ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الأعراب سكان البادية أشد كفرًا ونفاقًا من أهل المدن لبعدهم عن العلم، وأحقّ ألّا يعلموا حدود ما أنزل الله على رسوله، والله عليم 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٩٨ – ٩٩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الْأَعْرَابِ مَن يَتَّخِذُ مَا يُنفِقُ مَغْرَمًا وَيَتَرَبَّصُ بِكُمُ الدَّوَآئِرَ عَلَيْهِمْ دَآئِرَةُ السَّوْءِ وَاللَّهُ سَمِيعٌ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الأعراب من يعدّ ما ينفقه في سبيل الله خسارة وغرامة، وينتظر أن تدور عليكم المصائب، عليهم تدور المصيبة السيئة، والله سميع عليم.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الْأَعْرَابِ مَن يُؤْمِنُ بِاللَّهِ وَالْيَوْمِ الْأخِرِ وَيَتَّخِذُ مَا يُنفِقُ قُرُبَٰتٍ عِندَ اللَّهِ وَصَلَوَٰتِ الرَّسُولِ أَلَآ إِنَّهَا قُرْبَةٌ لَّهُمْ سَيُدْخِلُهُمُ اللَّهُ فِي رَحْمَتِهِ 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الأعراب من يؤمن بالله واليوم الآخر، ويجعل ما ينفقه قربة إلى الله وسببًا لدعاء الرسول له، ألا إنها قربة لهم، سيُدخلهم الله في رحمته، إن 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السابقون ومسجد الضرار</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١١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١٠٠ – ١١٠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التوبة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أبو هريرة رضي الله عنه: نزلت هذه الآية في أهل قُباء: ﴿فيه رجال يحبون أن يتطهّروا﴾، قال: كانوا يستنجون بالماء، فنزلت فيهم (رواه أبو داود والترمذي).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فضل السابقين الأولين من المهاجرين والأنصار، وقبول توبة المعترفين بذنوبهم، وأخذ الصدقة لتطهيرهم، وفضح مسجد الضرار وتفضيل مسجد قباء.</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١٠٠ – ١٠١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وَالسَّـٰبِقُونَ الْأَوَّلُونَ مِنَ الْمُهَٰجِرِينَ وَالْأَنصَارِ وَالَّذِينَ اتَّبَعُوهُم بِإِحْسَٰنٍ رَّضِيَ اللَّهُ عَنْهُمْ وَرَضُواْ عَنْهُ وَأَعَدَّ لَهُمْ جَنَّـٰتٍ تَجْرِي تَحْتَهَا الْأَنْهَٰرُ خَٰلِدِينَ فِيهَآ أَبَدًا ذَٰلِكَ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والسابقون الأولون إلى الإسلام من المهاجرين والأنصار، والذين اتّبعوهم بإحسان، رضي الله عنهم ورضوا عنه، وأعدّ لهم جنات تجري تحتها الأنهار خالدين فيها أبدًا، ذلك الفوز العظيم.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وَمِمَّنْ حَوْلَكُم مِّنَ الْأَعْرَابِ مُنَٰفِقُونَ وَمِنْ أَهْلِ الْمَدِينَةِ مَرَدُواْ عَلَى النِّفَاقِ لَا تَعْلَمُهُمْ نَحْنُ نَعْلَمُهُمْ سَنُعَذِّبُهُم مَّرَّتَيْنِ ثُمَّ يُرَدُّونَ إِلَىٰ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الأعراب حولكم منافقون، ومن أهل المدينة منافقون تمرّسوا على النفاق، لا تعرفهم أنت، نحن نعرفهم، سنعذّبهم مرتين في الدنيا، ثم يُردّون إلى عذاب 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١٠٢ – ١٠٣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وَءَاخَرُونَ اعْتَرَفُواْ بِذُنُوبِهِمْ خَلَطُواْ عَمَلًا صَٰلِحًا وَءَاخَرَ سَيِّئًا عَسَى اللَّهُ أَن يَتُوبَ عَلَيْهِمْ 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وآخرون تخلّفوا ثم اعترفوا بذنوبهم، خلطوا عملًا صالحًا بآخر سيئ، عسى الله أن يتوب عليهم، إن الله غفور رحيم.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خُذْ مِنْ أَمْوَٰلِهِمْ صَدَقَةً تُطَهِّرُهُمْ وَتُزَكِّيهِم بِهَا وَصَلِّ عَلَيْهِمْ إِنَّ صَلَوٰتَكَ سَكَنٌ لَّهُمْ وَاللَّهُ سَمِيعٌ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خذ من أموالهم صدقة تطهّرهم من الذنوب وتنمّي حسناتهم، وادعُ لهم، إن دعاءك طمأنينة لهم، والله سميع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١٠٤ – ١٠٥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يَعْلَمُواْ أَنَّ اللَّهَ هُوَ يَقْبَلُ التَّوْبَةَ عَنْ عِبَادِهِ وَيَأْخُذُ الصَّدَقَٰتِ وَأَنَّ اللَّهَ هُوَ التَّوَّابُ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يعلموا أن الله هو يقبل التوبة من عباده، ويقبل الصدقات، وأن الله هو التواب الرحيم؟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وَقُلِ اعْمَلُواْ فَسَيَرَى اللَّهُ عَمَلَكُمْ وَرَسُولُهُ وَالْمُؤْمِنُونَ وَسَتُرَدُّونَ إِلَىٰ عَٰلِمِ الْغَيْبِ وَالشَّهَٰدَةِ فَيُنَبِّئُكُم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وقل: اعملوا، فسيرى الله عملكم ورسوله والمؤمنون، وستُردّون إلى عالم الغيب والشهادة فيخبركم بما كنتم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١٠٦ – ١٠٧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8" name="Text 6"/>
          <p:cNvSpPr txBox="1"/>
          <p:nvPr/>
        </p:nvSpPr>
        <p:spPr>
          <a:xfrm>
            <a:off x="731520" y="1559052"/>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وَءَاخَرُونَ مُرْجَوْنَ لِأَمْرِ اللَّهِ إِمَّا يُعَذِّبُهُمْ وَإِمَّا يَتُوبُ عَلَيْهِمْ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وآخرون من المتخلّفين أُخّر أمرهم لحكم الله: إما يعذّبهم، وإما يتوب عليهم، والله عليم حكيم. وهم الثلاثة الذين خُلّفوا.</a:t>
            </a:r>
            <a:endParaRPr lang="ar-SA" sz="3200" dirty="0"/>
          </a:p>
        </p:txBody>
      </p:sp>
      <p:sp>
        <p:nvSpPr>
          <p:cNvPr id="9" name="Shape 7"/>
          <p:cNvSpPr/>
          <p:nvPr/>
        </p:nvSpPr>
        <p:spPr>
          <a:xfrm>
            <a:off x="2103120" y="3081528"/>
            <a:ext cx="8641080" cy="0"/>
          </a:xfrm>
          <a:prstGeom prst="line">
            <a:avLst/>
          </a:prstGeom>
          <a:noFill/>
          <a:ln w="9525">
            <a:solidFill>
              <a:schemeClr val="accent2"/>
            </a:solidFill>
            <a:prstDash val="dash"/>
          </a:ln>
        </p:spPr>
      </p:sp>
      <p:sp>
        <p:nvSpPr>
          <p:cNvPr id="10" name="Shape 8"/>
          <p:cNvSpPr/>
          <p:nvPr/>
        </p:nvSpPr>
        <p:spPr>
          <a:xfrm>
            <a:off x="10927080" y="3342132"/>
            <a:ext cx="548640" cy="548640"/>
          </a:xfrm>
          <a:prstGeom prst="star8">
            <a:avLst/>
          </a:prstGeom>
          <a:solidFill>
            <a:schemeClr val="accent2"/>
          </a:solidFill>
          <a:ln/>
        </p:spPr>
      </p:sp>
      <p:sp>
        <p:nvSpPr>
          <p:cNvPr id="11" name="Shape 9"/>
          <p:cNvSpPr/>
          <p:nvPr/>
        </p:nvSpPr>
        <p:spPr>
          <a:xfrm>
            <a:off x="11036808" y="345186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34213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13" name="Text 11"/>
          <p:cNvSpPr txBox="1"/>
          <p:nvPr/>
        </p:nvSpPr>
        <p:spPr>
          <a:xfrm>
            <a:off x="731520" y="332384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اتَّخَذُواْ مَسْجِدًا ضِرَارًا وَكُفْرًا وَتَفْرِيقًا بَيْنَ الْمُؤْمِنِينَ وَإِرْصَادًا لِّمَنْ حَارَبَ اللَّهَ وَرَسُولَهُ مِن قَبْلُ وَلَيَحْلِفُنَّ إِنْ أَرَدْنَآ إِلَّا الْحُسْنَىٰ وَاللَّهُ يَشْهَدُ إِنَّهُمْ لَكَٰذِبُونَ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والمنافقون الذين بنوا مسجدًا للإضرار بالمؤمنين، وللكفر، وللتفريق بين المؤمنين، وانتظارًا لمن حارب الله ورسوله من قبل، وليحلفنّ: ما أردنا إلا الخير، والله يشهد إنهم لكاذبون.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١٠٨ – ١٠٩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تَقُمْ فِيهِ أَبَدًا لَّمَسْجِدٌ أُسِّسَ عَلَى التَّقْوَىٰ مِنْ أَوَّلِ يَوْمٍ أَحَقُّ أَن تَقُومَ فِيهِ فِيهِ رِجَالٌ يُحِبُّونَ أَن يَتَطَهَّرُواْ وَاللَّهُ يُحِبُّ الْمُطَّهِّرِينَ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تصلّ فيه أبدًا، لمسجد قباء الذي أُسّس على التقوى من أول يوم أحق أن تصلّي فيه، فيه رجال يحبون أن يتطهّروا، والله يحب المتطهرين.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أَسَّسَ بُنْيَٰنَهُ عَلَىٰ تَقْوَىٰ مِنَ اللَّهِ وَرِضْوَٰنٍ خَيْرٌ أَم مَّنْ أَسَّسَ بُنْيَٰنَهُ عَلَىٰ شَفَا جُرُفٍ هَارٍ فَانْهَارَ بِهِ فِي نَارِ جَهَنَّمَ وَاللَّهُ لَا يَهْدِي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أسّس بنيانه على تقوى من الله ورضوانه خير، أم من أسّس بنيانه على طرف حفرة متصدّعة فانهار به في نار جهنم؟ والله لا يهدي القوم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3214116"/>
            <a:ext cx="548640" cy="548640"/>
          </a:xfrm>
          <a:prstGeom prst="star8">
            <a:avLst/>
          </a:prstGeom>
          <a:solidFill>
            <a:schemeClr val="accent2"/>
          </a:solidFill>
          <a:ln/>
        </p:spPr>
      </p:sp>
      <p:sp>
        <p:nvSpPr>
          <p:cNvPr id="6" name="Shape 4"/>
          <p:cNvSpPr/>
          <p:nvPr/>
        </p:nvSpPr>
        <p:spPr>
          <a:xfrm>
            <a:off x="11036808" y="33238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8" name="Text 6"/>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يَزَالُ بُنْيَٰنُهُمُ الَّذِي بَنَوْاْ رِيبَةً فِي قُلُوبِهِمْ إِلَّآ أَن تَقَطَّعَ قُلُوبُهُمْ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يزال بنيانهم الذي بنوه شكًّا ونفاقًا في قلوبهم، إلا أن تتقطّع قلوبهم بالموت، والله عليم 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البيعة الرابحة وتوبة الثلاثة</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١٢ من ١٢</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١١١ – ١٢٩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التوبة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لما حضرت أبا طالب الوفاة قال النبي صلى الله عليه وسلم: «لأستغفرنّ لك ما لم أُنهَ عنك»، فنزلت: ﴿ما كان للنبي والذين آمنوا أن يستغفروا للمشركين﴾ (رواه البخاري ومسلم). وقصة توبة كعب بن مالك وصاحبيه في الصحيحين.</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صفقة المؤمنين الرابحة مع الله، وصفاتهم التسع، وتوبة الله على النبي والمهاجرين والأنصار، وعلى الثلاثة الذين خُلّفوا بصدقهم، والأمر بالتفقّه في الدين، ورحمة النبي صلى الله عليه وسلم بأمته.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اشْتَرَىٰ مِنَ الْمُؤْمِنِينَ أَنفُسَهُمْ وَأَمْوَٰلَهُم بِأَنَّ لَهُمُ الْجَنَّةَ يُقَٰتِلُونَ فِي سَبِيلِ اللَّهِ فَيَقْتُلُونَ وَيُقْتَلُونَ وَعْدًا عَلَيْهِ حَقًّا فِي التَّوْرَىٰةِ وَالْإِنجِيلِ وَالْقُرْءَانِ وَمَنْ أَوْفَىٰ بِعَهْدِهِ مِنَ اللَّهِ فَاسْتَبْشِرُواْ بِبَيْعِكُمُ الَّذِي بَايَعْتُم بِهِ وَذَٰلِكَ هُوَ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اشترى من المؤمنين أنفسهم وأموالهم بأن لهم الجنة، يقاتلون في سبيل الله فيَقتلون ويُقتلون، وعدًا عليه حقًّا في التوراة والإنجيل والقرآن، ومن أوفى بعهده من الله؟ فافرحوا ببيعكم الذي بايعتم به، وذلك هو الفوز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١١٢ – ١١٣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التَّـٰئِبُونَ الْعَٰبِدُونَ الْحَٰمِدُونَ السَّـٰئِحُونَ الرَّـٰكِعُونَ السَّـٰجِدُونَ الْأمِرُونَ بِالْمَعْرُوفِ وَالنَّاهُونَ عَنِ الْمُنكَرِ وَالْحَٰفِظُونَ لِحُدُودِ اللَّهِ وَبَشِّرِ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صفاتهم: التائبون من الذنوب، العابدون، الحامدون لله، الصائمون، الراكعون، الساجدون، الآمرون بالمعروف، والناهون عن المنكر، والحافظون لحدود الله، وبشّر المؤمنين.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كَانَ لِلنَّبِيِّ وَالَّذِينَ ءَامَنُواْ أَن يَسْتَغْفِرُواْ لِلْمُشْرِكِينَ وَلَوْ كَانُواْ أُوْلِي قُرْبَىٰ مِن بَعْدِ مَا تَبَيَّنَ لَهُمْ أَنَّهُمْ أَصْحَٰبُ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ينبغي للنبي والمؤمنين أن يطلبوا المغفرة للمشركين ولو كانوا أقارب، بعد ما تبيّن لهم أنهم ماتوا على الشرك فهم أصحاب الجحيم.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١١٤ – ١١٥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اسْتِغْفَارُ إِبْرَٰهِيمَ لِأَبِيهِ إِلَّا عَن مَّوْعِدَةٍ وَعَدَهَآ إِيَّاهُ فَلَمَّا تَبَيَّنَ لَهُ أَنَّهُ عَدُوٌّ لِّلَّهِ تَبَرَّأَ مِنْهُ إِنَّ إِبْرَٰهِيمَ لَأَوَّـٰهٌ حَلِيمٌ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استغفار إبراهيم لأبيه إلا لوعد وعده إياه، فلما تبيّن له أنه عدو لله لموته على الشرك تبرّأ منه، إن إبراهيم لكثير الدعاء والتضرّع، حليم.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اللَّهُ لِيُضِلَّ قَوْمًا بَعْدَ إِذْ هَدَىٰهُمْ حَتَّىٰ يُبَيِّنَ لَهُم مَّا يَتَّقُونَ إِنَّ اللَّهَ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الله ليحكم بضلال قوم بعد أن هداهم حتى يبيّن لهم ما يجتنبونه، إن الله بكل شيء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١١٦ – ١١٧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لَهُ مُلْكُ السَّمَٰوَٰتِ وَالْأَرْضِ يُحْيِ وَيُمِيتُ وَمَا لَكُم مِّن دُونِ اللَّهِ مِن وَلِيٍّ وَلَا نَصِيرٍ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له ملك السماوات والأرض، يُحيي ويُميت، وما لكم من دون الله من وليّ ولا نصير.</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تَّابَ اللَّهُ عَلَى النَّبِيِّ وَالْمُهَٰجِرِينَ وَالْأَنصَارِ الَّذِينَ اتَّبَعُوهُ فِي سَاعَةِ الْعُسْرَةِ مِن بَعْدِ مَا كَادَ يَزِيغُ قُلُوبُ فَرِيقٍ مِّنْهُمْ ثُمَّ تَابَ عَلَيْهِمْ إِنَّهُ بِهِمْ رَءُوفٌ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تاب الله على النبي والمهاجرين والأنصار الذين اتّبعوه في وقت الشدة في غزوة تبوك، من بعد ما كادت قلوب بعضهم تميل عن الحق من شدة المشقة، ثم تاب عليهم، إنه بهم رؤوف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١١٨ – ١١٩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وَعَلَى الثَّلَٰثَةِ الَّذِينَ خُلِّفُواْ حَتَّىٰ إِذَا ضَاقَتْ عَلَيْهِمُ الْأَرْضُ بِمَا رَحُبَتْ وَضَاقَتْ عَلَيْهِمْ أَنفُسُهُمْ وَظَنُّواْ أَن لَّا مَلْجَأَ مِنَ اللَّهِ إِلَّآ إِلَيْهِ ثُمَّ تَابَ عَلَيْهِمْ لِيَتُوبُواْ إِنَّ اللَّهَ هُوَ التَّوَّابُ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وتاب على الثلاثة الذين أُخّر أمرهم: كعب بن مالك وصاحباه، حتى إذا ضاقت عليهم الأرض على سعتها، وضاقت عليهم أنفسهم، وأيقنوا ألّا ملجأ من الله إلا إليه، ثم وفّقهم للتوبة ليتوبوا، إن الله هو التواب الرحيم.</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١١٩</a:t>
            </a:r>
            <a:endParaRPr lang="ar-SA" sz="13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وَكُونُواْ مَعَ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اتقوا الله، وكونوا مع الصادقين في أقوالهم وأفعالهم. فبالصدق نجا كعب وصاحباه.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١٢٠</a:t>
            </a:r>
            <a:endParaRPr lang="ar-SA" sz="13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كَانَ لِأَهْلِ الْمَدِينَةِ وَمَنْ حَوْلَهُم مِّنَ الْأَعْرَابِ أَن يَتَخَلَّفُواْ عَن رَّسُولِ اللَّهِ وَلَا يَرْغَبُواْ بِأَنفُسِهِمْ عَن نَّفْسِهِ ذَٰلِكَ بِأَنَّهُمْ لَا يُصِيبُهُمْ ظَمَأٌ وَلَا نَصَبٌ وَلَا مَخْمَصَةٌ فِي سَبِيلِ اللَّهِ وَلَا يَطَـُٔونَ مَوْطِئًا يَغِيظُ الْكُفَّارَ وَلَا يَنَالُونَ مِنْ عَدُوٍّ نَّيْلًا إِلَّا كُتِبَ لَهُم بِهِ عَمَلٌ صَٰلِحٌ إِنَّ اللَّهَ لَا يُضِيعُ أَجْرَ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ينبغي لأهل المدينة ومن حولهم من الأعراب أن يتخلّفوا عن رسول الله، ولا أن يُؤثروا أنفسهم على نفسه، ذلك لأنهم لا يصيبهم عطش ولا تعب ولا جوع في سبيل الله، ولا يطؤون أرضًا تغيظ الكفار، ولا ينالون من عدو شيئًا، إلا كُتب لهم به عمل صالح، إن الله لا يُضيع أجر المحسنين.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١٢١ – ١٢٢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١٢١</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يُنفِقُونَ نَفَقَةً صَغِيرَةً وَلَا كَبِيرَةً وَلَا يَقْطَعُونَ وَادِيًا إِلَّا كُتِبَ لَهُمْ لِيَجْزِيَهُمُ اللَّهُ أَحْسَنَ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ينفقون نفقة صغيرة ولا كبيرة، ولا يقطعون واديًا في سيرهم، إلا كُتب لهم، ليجزيهم الله بأحسن ما كانوا يعملون.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١٢٢</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الْمُؤْمِنُونَ لِيَنفِرُواْ كَآفَّةً فَلَوْلَا نَفَرَ مِن كُلِّ فِرْقَةٍ مِّنْهُمْ طَآئِفَةٌ لِّيَتَفَقَّهُواْ فِي الدِّينِ وَلِيُنذِرُواْ قَوْمَهُمْ إِذَا رَجَعُواْ إِلَيْهِمْ لَعَلَّهُمْ يَحْذَرُونَ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ينبغي للمؤمنين أن يخرجوا كلهم للجهاد، فهلّا خرج من كل جماعة طائفة، ويبقى آخرون ليتعلّموا الدين، ولينذروا قومهم إذا رجعوا إليهم لعلهم يحذرون.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١٢٣ – ١٢٤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١٢٣</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قَٰتِلُواْ الَّذِينَ يَلُونَكُم مِّنَ الْكُفَّارِ وَلْيَجِدُواْ فِيكُمْ غِلْظَةً وَاعْلَمُواْ أَنَّ اللَّهَ مَعَ 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قاتلوا الذين يقربون منكم من الكفار، وليجدوا فيكم شدة، واعلموا أن الله مع المتقين.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١٢٤</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مَآ أُنزِلَتْ سُورَةٌ فَمِنْهُم مَّن يَقُولُ أَيُّكُمْ زَادَتْهُ هَٰذِهِ إِيمَٰنًا فَأَمَّا الَّذِينَ ءَامَنُواْ فَزَادَتْهُمْ إِيمَٰنًا وَهُمْ يَسْتَبْشِرُونَ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ما أُنزلت سورة فمن المنافقين من يقول استهزاءً: أيّكم زادته هذه إيمانًا؟ فأما المؤمنون فزادتهم إيمانًا وهم يفرحون.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١٢٥ – ١٢٦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١٢٥</a:t>
            </a:r>
            <a:endParaRPr lang="ar-SA" sz="13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الَّذِينَ فِي قُلُوبِهِم مَّرَضٌ فَزَادَتْهُمْ رِجْسًا إِلَىٰ رِجْسِهِمْ وَمَاتُواْ وَهُمْ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الذين في قلوبهم شك فزادتهم كفرًا إلى كفرهم، وماتوا وهم كافرون.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١٢٦</a:t>
            </a:r>
            <a:endParaRPr lang="ar-SA" sz="13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أَوَلَا يَرَوْنَ أَنَّهُمْ يُفْتَنُونَ فِي كُلِّ عَامٍ مَّرَّةً أَوْ مَرَّتَيْنِ ثُمَّ لَا يَتُوبُونَ وَلَا هُمْ يَذَّكَّرُونَ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أوَلا يرى المنافقون أنهم يُختبرون في كل عام مرة أو مرتين بالمصائب وكشف نفاقهم، ثم لا يتوبون ولا هم يتّعظون؟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١٢٧ – ١٢٨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١٢٧</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مَآ أُنزِلَتْ سُورَةٌ نَّظَرَ بَعْضُهُمْ إِلَىٰ بَعْضٍ هَلْ يَرَىٰكُم مِّنْ أَحَدٍ ثُمَّ انصَرَفُواْ صَرَفَ اللَّهُ قُلُوبَهُم بِأَنَّهُمْ قَوْمٌ لَّا يَفْقَهُونَ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ما أُنزلت سورة نظر بعضهم إلى بعض: هل يراكم أحد؟ ثم انصرفوا، صرف الله قلوبهم عن الخير لأنهم قوم لا يفهمون.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١٢٨</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جَآءَكُمْ رَسُولٌ مِّنْ أَنفُسِكُمْ عَزِيزٌ عَلَيْهِ مَا عَنِتُّمْ حَرِيصٌ عَلَيْكُم بِالْمُؤْمِنِينَ رَءُوفٌ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جاءكم رسول من جنسكم تعرفونه، يشقّ عليه ما يشقّ عليكم، حريص على هدايتكم، بالمؤمنين رؤوف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التوبة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3214116"/>
            <a:ext cx="548640" cy="548640"/>
          </a:xfrm>
          <a:prstGeom prst="star8">
            <a:avLst/>
          </a:prstGeom>
          <a:solidFill>
            <a:schemeClr val="accent2"/>
          </a:solidFill>
          <a:ln/>
        </p:spPr>
      </p:sp>
      <p:sp>
        <p:nvSpPr>
          <p:cNvPr id="6" name="Shape 4"/>
          <p:cNvSpPr/>
          <p:nvPr/>
        </p:nvSpPr>
        <p:spPr>
          <a:xfrm>
            <a:off x="11036808" y="33238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١٢٩</a:t>
            </a:r>
            <a:endParaRPr lang="ar-SA" sz="1300" dirty="0"/>
          </a:p>
        </p:txBody>
      </p:sp>
      <p:sp>
        <p:nvSpPr>
          <p:cNvPr id="8" name="Text 6"/>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تَوَلَّوْاْ فَقُلْ حَسْبِيَ اللَّهُ لَآ إِلَٰهَ إِلَّا هُوَ عَلَيْهِ تَوَكَّلْتُ وَهُوَ رَبُّ الْعَرْشِ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أعرضوا فقل: الله كافيني، لا إله إلا هو، عليه توكّلت، وهو رب العرش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pic>
        <p:nvPicPr>
          <p:cNvPr id="2" name="Image 0" descr="assets89/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89/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Anfal Tawba Tafsir">
  <a:themeElements>
    <a:clrScheme name="Anfal Tawba Tafsir">
      <a:dk1>
        <a:srgbClr val="2E2222"/>
      </a:dk1>
      <a:lt1>
        <a:srgbClr val="FFFFFF"/>
      </a:lt1>
      <a:dk2>
        <a:srgbClr val="8E2323"/>
      </a:dk2>
      <a:lt2>
        <a:srgbClr val="FCF7F6"/>
      </a:lt2>
      <a:accent1>
        <a:srgbClr val="8E2323"/>
      </a:accent1>
      <a:accent2>
        <a:srgbClr val="C9A04A"/>
      </a:accent2>
      <a:accent3>
        <a:srgbClr val="A83A32"/>
      </a:accent3>
      <a:accent4>
        <a:srgbClr val="6E6060"/>
      </a:accent4>
      <a:accent5>
        <a:srgbClr val="F5E6E3"/>
      </a:accent5>
      <a:accent6>
        <a:srgbClr val="2F6B5E"/>
      </a:accent6>
      <a:hlink>
        <a:srgbClr val="A83A32"/>
      </a:hlink>
      <a:folHlink>
        <a:srgbClr val="6E6060"/>
      </a:folHlink>
    </a:clrScheme>
    <a:fontScheme name="Anfal Tawba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121</Slides>
  <Notes>121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121</vt:i4>
      </vt:variant>
    </vt:vector>
  </HeadingPairs>
  <TitlesOfParts>
    <vt:vector size="1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سورتي الأنفال والتوبة — مبسّط من تفسير ابن كثير</dc:title>
  <dc:subject>PptxGenJS Presentation</dc:subject>
  <dc:creator>معلم القرآن الكريم</dc:creator>
  <cp:lastModifiedBy>معلم القرآن الكريم</cp:lastModifiedBy>
  <cp:revision>1</cp:revision>
  <dcterms:created xsi:type="dcterms:W3CDTF">2026-10-03T22:16:53Z</dcterms:created>
  <dcterms:modified xsi:type="dcterms:W3CDTF">2026-10-03T22:16:53Z</dcterms:modified>
</cp:coreProperties>
</file>