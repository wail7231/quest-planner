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Lst>
  <p:notesMasterIdLst>
    <p:notesMasterId r:id="rId9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f6fc5fa5-0c92-266f-6d8d-2a9580139a9a}">
          <p14:sldIdLst>
            <p14:sldId id="256"/>
            <p14:sldId id="257"/>
            <p14:sldId id="258"/>
          </p14:sldIdLst>
        </p14:section>
        <p14:section name="سورة طه" id="{6b543ac1-9fbe-a7c0-7183-7527239a7b8c}">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Lst>
        </p14:section>
        <p14:section name="سورة مريم" id="{6526ff47-2fe0-6774-c247-0c257c182257}">
          <p14:sldIdLst>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Lst>
        </p14:section>
        <p14:section name="سورة الكهف" id="{be1301f6-a4b9-1288-5323-300a56e1e036}">
          <p14:sldIdLst>
            <p14:sldId id="332"/>
            <p14:sldId id="333"/>
            <p14:sldId id="334"/>
            <p14:sldId id="335"/>
            <p14:sldId id="336"/>
            <p14:sldId id="337"/>
            <p14:sldId id="338"/>
            <p14:sldId id="339"/>
            <p14:sldId id="340"/>
            <p14:sldId id="341"/>
            <p14:sldId id="342"/>
            <p14:sldId id="343"/>
            <p14:sldId id="344"/>
            <p14:sldId id="345"/>
          </p14:sldIdLst>
        </p14:section>
        <p14:section name="الخاتمة" id="{9f6df2b5-714d-5811-a188-8c76032225f3}">
          <p14:sldIdLst>
            <p14:sldId id="3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notesMaster" Target="notesMasters/notesMaster1.xml"/><Relationship Id="rId94" Type="http://schemas.openxmlformats.org/officeDocument/2006/relationships/presProps" Target="presProps.xml"/><Relationship Id="rId95" Type="http://schemas.openxmlformats.org/officeDocument/2006/relationships/viewProps" Target="viewProps.xml"/><Relationship Id="rId96" Type="http://schemas.openxmlformats.org/officeDocument/2006/relationships/theme" Target="theme/theme1.xml"/><Relationship Id="rId9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طه ثم نصعد سورةً سورة حتى نصل إلى سورة الكهف،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دعا موسى ربه في الآيات 25–35؟ احفظ هذا الدعاء.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كان إبراهيم يخاطب أباه في الآيات 42–45؟ وماذا نتعلّم من 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الحكمة من خرق السفينة وبناء الجدار (الآيتان 79 و82)؟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6/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6/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6/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slideLayout" Target="../slideLayouts/slideLayout4.xml"/><Relationship Id="rId4" Type="http://schemas.openxmlformats.org/officeDocument/2006/relationships/notesSlide" Target="../notesSlides/notesSlide9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6/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قال ألم</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16/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طه إلى سورة الكهف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البرونزي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قال ألم</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طه صعودًا إلى سورة الكهف</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طه</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مريم</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الكهف</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طه</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١٣٥</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المشركين لما رأوا اجتهاد النبي صلى الله عليه وسلم في العبادة قالوا: ما أُنزل هذا القرآن على محمد إلا ليشقى! فأنزل الله: ﴿طه، ما أنزلنا عليك القرآن لتشقى﴾. وبسماع أول سورة طه أسلم عمر بن الخطاب رضي الله عنه.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القرآن سعادة لا شقاء، وقصة موسى كاملة: من نداء الوادي المقدّس، ودعائه بشرح الصدر، ومواجهة فرعون والسحرة، إلى فتنة السامري، ثم قصة آدم، والأمر بالصبر والصلاة.</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طه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أَنزَلْنَا عَلَيْكَ الْقُرْءَانَ لِتَشْقَىٰ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أنزلنا عليك القرآن لتتعب وتشقى، بل لتسعد به.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تَذْكِرَةً لِّمَن يَخْشَىٰ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أنزلناه إلا تذكيرًا لمن يخاف الله.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تَنزِيلًا مِّمَّنْ خَلَقَ الْأَرْضَ وَالسَّمَٰوَٰتِ الْعُلَى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تنزيلًا من الله الذي خلق الأرض والسماوات العالية.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الرَّحْمَٰنُ عَلَى الْعَرْشِ اسْتَوَىٰ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الرحمن على العرش علا وارتفع علوًّا يليق بجلاله.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 مَا فِي السَّمَٰوَٰتِ وَمَا فِي الْأَرْضِ وَمَا بَيْنَهُمَا وَمَا تَحْتَ الثَّرَىٰ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 ما في السماوات وما في الأرض وما بينهما وما تحت التراب.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تَجْهَرْ بِالْقَوْلِ فَإِنَّهُ يَعْلَمُ السِّرَّ وَأَخْفَى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تجهر بالقول فإنه يعلم السرّ وما هو أخفى منه مما في النفس.</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لَآ إِلَٰهَ إِلَّا هُوَ لَهُ الْأَسْمَآءُ الْحُسْنَىٰ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لا إله إلا هو، له الأسماء الحسنى.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وَهَلْ أَتَىٰكَ حَدِيثُ 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وهل أتاك خبر موسى؟</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رَءَا نَارًا فَقَالَ لِأَهْلِهِ امْكُثُواْ إِنِّي ءَانَسْتُ نَارًا لَّعَلِّي ءَاتِيكُم مِّنْهَا بِقَبَسٍ أَوْ أَجِدُ عَلَى النَّارِ 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رأى نارًا في طريقه من مدين في ليلة باردة، فقال لأهله: انتظروا، إني رأيت نارًا، لعلي آتيكم منها بشعلة، أو أجد عند النار من يدلّني على الطريق.</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أَتَىٰهَا نُودِيَ يَٰمُوسَىٰ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أتاها نُودي: يا موسى.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أَنَا رَبُّكَ فَاخْلَعْ نَعْلَيْكَ إِنَّكَ بِالْوَادِ الْمُقَدَّسِ طُوًى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أنا ربك، فاخلع نعليك تعظيمًا، إنك بالوادي المطهّر المسمّى طُوى.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وَأَنَا اخْتَرْتُكَ فَاسْتَمِعْ لِمَا يُوحَىٰ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وأنا اخترتك للرسالة، فاستمع لما يوحى إليك.</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إِنَّنِي أَنَا اللَّهُ لَآ إِلَٰهَ إِلَّآ أَنَا فَاعْبُدْنِي وَأَقِمِ الصَّلَوٰةَ لِذِكْرِي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إنني أنا الله لا إله إلا أنا، فاعبدني، وأقم الصلاة لتذكرني فيها.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السَّاعَةَ ءَاتِيَةٌ أَكَادُ أُخْفِيهَا لِتُجْزَىٰ كُلُّ نَفْسٍ بِمَا تَسْعَىٰ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القيامة آتية، أكاد أُخفيها حتى عن نفسي، لتُجزى كل نفس بما تعمل.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يَصُدَّنَّكَ عَنْهَا مَن لَّا يُؤْمِنُ بِهَا وَاتَّبَعَ هَوَىٰهُ فَتَرْدَىٰ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يصرفنّك عن الإيمان بها من لا يؤمن بها واتّبع هواه، فتهلك.</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تِلْكَ بِيَمِينِكَ يَٰمُوسَىٰ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تلك التي بيدك اليمنى يا موسى؟</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هِيَ عَصَايَ أَتَوَكَّؤُاْ عَلَيْهَا وَأَهُشُّ بِهَا عَلَىٰ غَنَمِي وَلِيَ فِيهَا مَـَٔارِبُ أُخْرَىٰ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هي عصاي، أعتمد عليها في المشي، وأضرب بها الشجر ليتساقط ورقه لغنمي، ولي فيها منافع أخرى.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أَلْقِهَا يَٰمُوسَىٰ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ألقها يا موسى.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فَأَلْقَىٰهَا فَإِذَا هِيَ حَيَّةٌ تَسْعَىٰ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فألقاها فإذا هي حيّة تتحرّك بسرعة.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خُذْهَا وَلَا تَخَفْ سَنُعِيدُهَا سِيرَتَهَا 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خذها ولا تخف، سنعيدها إلى حالتها الأولى عصا.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وَاضْمُمْ يَدَكَ إِلَىٰ جَنَاحِكَ تَخْرُجْ بَيْضَآءَ مِنْ غَيْرِ سُوءٍ ءَايَةً أُخْرَىٰ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وأدخل يدك تحت إبطك تخرج بيضاء مشرقة من غير مرض، معجزة أخرى.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لِنُرِيَكَ مِنْ ءَايَٰتِنَا الْكُبْرَى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لنُريك من آياتنا العظيمة.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اذْهَبْ إِلَىٰ فِرْعَوْنَ إِنَّهُ طَغَىٰ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اذهب إلى فرعون، إنه تجاوز الحد في الكفر والظلم.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اشْرَحْ لِي صَدْرِي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رب وسّع لي صدري.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وَيَسِّرْ لِي أَمْرِي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وسهّل لي أمري.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وَاحْلُلْ عُقْدَةً مِّن لِّسَانِي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وأطلق عقدة لساني.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يَفْقَهُواْ قَوْلِي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ليفهموا كلامي.</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وَاجْعَل لِّي وَزِيرًا مِّنْ أَهْلِي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واجعل لي معينًا من أهلي.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هَٰرُونَ أَخِي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هارون أخي.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اشْدُدْ بِهِ أَزْرِي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قوِّ به ظهري.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وَأَشْرِكْهُ فِي أَمْرِي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وأشركه معي في الرسالة.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كَيْ نُسَبِّحَكَ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كي نسبّحك كثيرًا.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وَنَذْكُرَكَ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ونذكرك كثيرًا.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 كُنتَ بِنَا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 كنت بنا بصيرًا.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قَدْ أُوتِيتَ سُؤْلَكَ يَٰمُوسَىٰ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قد أُعطيت ما سألت يا موسى.</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مَنَنَّا عَلَيْكَ مَرَّةً أُخْرَىٰ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أنعمنا عليك مرة أخرى قبل هذه.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أَوْحَيْنَآ إِلَىٰ أُمِّكَ مَا يُوحَىٰ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ألهمنا أمك ما أُلهمت.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اقْذِفِيهِ فِي التَّابُوتِ فَاقْذِفِيهِ فِي الْيَمِّ فَلْيُلْقِهِ الْيَمُّ بِالسَّاحِلِ يَأْخُذْهُ عَدُوٌّ لِّي وَعَدُوٌّ لَّهُ وَأَلْقَيْتُ عَلَيْكَ مَحَبَّةً مِّنِّي وَلِتُصْنَعَ عَلَىٰ عَيْنِي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 ضعيه في الصندوق، فألقيه في النيل، فيلقيه النيل على الشاطئ، يأخذه عدو لي وعدو له وهو فرعون، وألقيت عليك محبة مني فأحبّك كل من رآك، ولتُربّى تحت رعايتي.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تَمْشِي أُخْتُكَ فَتَقُولُ هَلْ أَدُلُّكُمْ عَلَىٰ مَن يَكْفُلُهُ فَرَجَعْنَٰكَ إِلَىٰ أُمِّكَ كَيْ تَقَرَّ عَيْنُهَا وَلَا تَحْزَنَ وَقَتَلْتَ نَفْسًا فَنَجَّيْنَٰكَ مِنَ الْغَمِّ وَفَتَنَّـٰكَ فُتُونًا فَلَبِثْتَ سِنِينَ فِي أَهْلِ مَدْيَنَ ثُمَّ جِئْتَ عَلَىٰ قَدَرٍ يَٰمُوسَىٰ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تمشي أختك فتقول: هل أدلّكم على من يكفله؟ فرددناك إلى أمك كي تطمئن ولا تحزن، وقتلت نفسًا خطأً فنجّيناك من الغمّ، واختبرناك اختبارًا، فبقيت سنين في أهل مدين، ثم جئت في الوقت المقدّر يا موسى.</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وَاصْطَنَعْتُكَ لِنَفْسِي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واخترتك لرسالتي ومحبّتي.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اذْهَبْ أَنتَ وَأَخُوكَ بِـَٔايَٰتِي وَلَا تَنِيَا فِي ذِكْرِي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اذهب أنت وأخوك بمعجزاتي، ولا تفترا عن ذكري.</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اذْهَبَآ إِلَىٰ فِرْعَوْنَ إِنَّهُ طَغَىٰ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اذهبا إلى فرعون، إنه تجاوز الحد.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فَقُولَا لَهُ قَوْلًا لَّيِّنًا لَّعَلَّهُ يَتَذَكَّرُ أَوْ يَخْشَىٰ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فقولا له قولًا ليّنًا لطيفًا، لعله يتذكّر أو يخاف الله. فإذا كان اللين مع فرعون، فكيف مع غيره؟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قَالَا رَبَّنَآ إِنَّنَا نَخَافُ أَن يَفْرُطَ عَلَيْنَآ أَوْ أَن يَطْغَىٰ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قالا: ربنا إننا نخاف أن يعجل علينا بالعقوبة، أو يزداد طغيانًا.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لَا تَخَافَآ إِنَّنِي مَعَكُمَآ أَسْمَعُ وَأَرَىٰ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لا تخافا، إنني معكما بحفظي ونصري، أسمع وأرى.</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فَأْتِيَاهُ فَقُولَآ إِنَّا رَسُولَا رَبِّكَ فَأَرْسِلْ مَعَنَا بَنِي إِسْرَـٰءِيلَ وَلَا تُعَذِّبْهُمْ قَدْ جِئْنَٰكَ بِـَٔايَةٍ مِّن رَّبِّكَ وَالسَّلَٰمُ عَلَىٰ مَنِ اتَّبَعَ الْهُدَىٰ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فأتياه فقولا: إنا رسولا ربك، فأطلق معنا بني إسرائيل ولا تعذّبهم، قد جئناك بمعجزة من ربك، والسلام على من اتّبع الهدى.</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قَدْ أُوحِيَ إِلَيْنَآ أَنَّ الْعَذَابَ عَلَىٰ مَن كَذَّبَ وَتَوَلَّىٰ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قد أُوحي إلينا أن العذاب على من كذّب وأعرض.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فَمَن رَّبُّكُمَا يَٰمُوسَىٰ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فمن ربكما يا موسى؟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رَبُّنَا الَّذِي أَعْطَىٰ كُلَّ شَيْءٍ خَلْقَهُ ثُمَّ 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ربنا الذي أعطى كل شيء خلقه وصورته اللائقة به، ثم هداه لما يصلحه.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فَمَا بَالُ الْقُرُونِ 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فما حال الأمم السابقة؟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عِلْمُهَا عِندَ رَبِّي فِي كِتَٰبٍ لَّا يَضِلُّ رَبِّي وَلَا يَنسَى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علمها عند ربي في كتاب، لا يخطئ ربي ولا ينسى.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جَعَلَ لَكُمُ الْأَرْضَ مَهْدًا وَسَلَكَ لَكُمْ فِيهَا سُبُلًا وَأَنزَلَ مِنَ السَّمَآءِ مَآءً فَأَخْرَجْنَا بِهِ أَزْوَٰجًا مِّن نَّبَاتٍ شَتَّىٰ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جعل لكم الأرض ممهّدة، وجعل لكم فيها طرقًا، وأنزل من السماء مطرًا، فأخرجنا به أصنافًا من نبات مختلفة.</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كُلُواْ وَارْعَوْاْ أَنْعَٰمَكُمْ إِنَّ فِي ذَٰلِكَ لَأيَٰتٍ لِّأُوْلِي النُّهَىٰ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كلوا وارعوا أنعامكم، إن في ذلك لدلائل لأصحاب العقول.</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مِنْهَا خَلَقْنَٰكُمْ وَفِيهَا نُعِيدُكُمْ وَمِنْهَا نُخْرِجُكُمْ تَارَةً أُخْرَىٰ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الأرض خلقناكم، وفيها نعيدكم بعد الموت، ومنها نُخرجكم مرة أخرى للبعث.</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أَرَيْنَٰهُ ءَايَٰتِنَا كُلَّهَا فَكَذَّبَ وَأَبَىٰ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أرينا فرعون آياتنا كلها، فكذّب وامتنع عن الإيمان.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أَجِئْتَنَا لِتُخْرِجَنَا مِنْ أَرْضِنَا بِسِحْرِكَ يَٰمُوسَىٰ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أجئتنا لتُخرجنا من أرضنا بسحرك يا موسى؟</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فَلَنَأْتِيَنَّكَ بِسِحْرٍ مِّثْلِهِ فَاجْعَلْ بَيْنَنَا وَبَيْنَكَ مَوْعِدًا لَّا نُخْلِفُهُ نَحْنُ وَلَآ أَنتَ مَكَانًا سُوًى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فلنأتينّك بسحر مثله، فاجعل بيننا وبينك موعدًا لا نُخلفه نحن ولا أنت، في مكان مستوٍ.</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مَوْعِدُكُمْ يَوْمُ الزِّينَةِ وَأَن يُحْشَرَ النَّاسُ ضُحًى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موعدكم يوم العيد، وأن يجتمع الناس وقت الضحى.</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فَتَوَلَّىٰ فِرْعَوْنُ فَجَمَعَ كَيْدَهُ ثُمَّ أَتَىٰ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فانصرف فرعون، فجمع سحرته ومكره، ثم جاء للموعد.</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لَهُم مُّوسَىٰ وَيْلَكُمْ لَا تَفْتَرُواْ عَلَى اللَّهِ كَذِبًا فَيُسْحِتَكُم بِعَذَابٍ وَقَدْ خَابَ مَنِ افْتَرَىٰ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لهم موسى: ويلكم، لا تختلقوا على الله كذبًا فيستأصلكم بعذاب، وقد خسر من افترى.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فَتَنَٰزَعُواْ أَمْرَهُم بَيْنَهُمْ وَأَسَرُّواْ النَّجْوَىٰ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فتنازع السحرة أمرهم بينهم، وأخفوا الحديث.</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 هَٰذَٰنِ لَسَٰحِرَٰنِ يُرِيدَانِ أَن يُخْرِجَاكُم مِّنْ أَرْضِكُم بِسِحْرِهِمَا وَيَذْهَبَا بِطَرِيقَتِكُمُ الْمُثْلَىٰ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 هذين لساحران يريدان أن يُخرجاكم من أرضكم بسحرهما، ويُذهبا بطريقتكم الفضلى.</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فَأَجْمِعُواْ كَيْدَكُمْ ثُمَّ ائْتُواْ صَفًّا وَقَدْ أَفْلَحَ الْيَوْمَ مَنِ اسْتَعْلَىٰ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فاجمعوا كيدكم، ثم ائتوا صفًّا واحدًا، وقد فاز اليوم من غلب.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يَٰمُوسَىٰ إِمَّآ أَن تُلْقِيَ وَإِمَّآ أَن نَّكُونَ أَوَّلَ مَنْ أَلْقَىٰ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موسى، إما أن تُلقي أنت أولًا، وإما أن نكون أول من يُلقي.</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بَلْ أَلْقُواْ فَإِذَا حِبَالُهُمْ وَعِصِيُّهُمْ يُخَيَّلُ إِلَيْهِ مِن سِحْرِهِمْ أَنَّهَا تَسْعَىٰ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بل ألقوا، فإذا حبالهم وعصيّهم يُخيّل إليه من سحرهم أنها حيّات تسعى.</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فَأَوْجَسَ فِي نَفْسِهِ خِيفَةً 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فأحسّ موسى في نفسه خوفًا.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قُلْنَا لَا تَخَفْ إِنَّكَ أَنتَ الْأَعْلَىٰ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قلنا: لا تخف، إنك أنت الغالب.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وَأَلْقِ مَا فِي يَمِينِكَ تَلْقَفْ مَا صَنَعُواْ إِنَّمَا صَنَعُواْ كَيْدُ سَٰحِرٍ وَلَا يُفْلِحُ السَّاحِرُ حَيْثُ أَتَىٰ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وألقِ عصاك التي في يمينك تبتلع ما صنعوا، إنما صنعوا كيد ساحر، ولا يفوز الساحر أينما كان.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فَأُلْقِيَ السَّحَرَةُ سُجَّدًا قَالُواْ ءَامَنَّا بِرَبِّ هَٰرُونَ وَمُوسَىٰ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فألقى موسى عصاه فابتلعت حبالهم، فخرّ السحرة ساجدين، قالوا: آمنّا برب هارون وموسى.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ءَامَنتُمْ لَهُ قَبْلَ أَنْ ءَاذَنَ لَكُمْ إِنَّهُ لَكَبِيرُكُمُ الَّذِي عَلَّمَكُمُ السِّحْرَ فَلَأُقَطِّعَنَّ أَيْدِيَكُمْ وَأَرْجُلَكُم مِّنْ خِلَٰفٍ وَلَأُصَلِّبَنَّكُمْ فِي جُذُوعِ النَّخْلِ وَلَتَعْلَمُنَّ أَيُّنَآ أَشَدُّ عَذَابًا وَأَبْقَىٰ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آمنتم له قبل أن آذن لكم؟ إنه لكبيركم الذي علّمكم السحر، فلأقطعنّ أيديكم وأرجلكم من خلاف، ولأصلبنّكم على جذوع النخل، ولتعلمُنّ أيّنا أشدّ عذابًا وأدوم: أنا أم رب موسى.</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لَن نُّؤْثِرَكَ عَلَىٰ مَا جَآءَنَا مِنَ الْبَيِّنَٰتِ وَالَّذِي فَطَرَنَا فَاقْضِ مَآ أَنتَ قَاضٍ إِنَّمَا تَقْضِي هَٰذِهِ الْحَيَوٰةَ الدُّنْيَآ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لن نختارك على ما جاءنا من الحجج الواضحة وعلى الله الذي خلقنا، فافعل ما أنت فاعل، إنما تحكم في هذه الحياة الدنيا الزائلة.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ءَامَنَّا بِرَبِّنَا لِيَغْفِرَ لَنَا خَطَٰيَٰنَا وَمَآ أَكْرَهْتَنَا عَلَيْهِ مِنَ السِّحْرِ وَاللَّهُ خَيْرٌ وَأَبْقَىٰ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آمنّا بربنا ليغفر لنا ذنوبنا، وما أجبرتنا عليه من تعلّم السحر، والله خير ثوابًا وأبقى.</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مَن يَأْتِ رَبَّهُ مُجْرِمًا فَإِنَّ لَهُ جَهَنَّمَ لَا يَمُوتُ فِيهَا وَلَا يَحْيَىٰ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من يأتِ ربه يوم القيامة مجرمًا كافرًا فإن له جهنم، لا يموت فيها فيستريح، ولا يحيا حياة طيبة.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يَأْتِهِ مُؤْمِنًا قَدْ عَمِلَ الصَّـٰلِحَٰتِ فَأُوْلَـٰئِكَ لَهُمُ الدَّرَجَٰتُ الْعُلَىٰ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يأته مؤمنًا قد عمل الصالحات فأولئك لهم المنازل العالية.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جَنَّـٰتُ عَدْنٍ تَجْرِي مِن تَحْتِهَا الْأَنْهَٰرُ خَٰلِدِينَ فِيهَا وَذَٰلِكَ جَزَآءُ مَن تَزَكَّىٰ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جنات إقامة تجري من تحتها الأنهار خالدين فيها، وذلك جزاء من تطهّر من الكفر والذنوب.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أَوْحَيْنَآ إِلَىٰ مُوسَىٰ أَنْ أَسْرِ بِعِبَادِي فَاضْرِبْ لَهُمْ طَرِيقًا فِي الْبَحْرِ يَبَسًا لَّا تَخَٰفُ دَرَكًا وَلَا تَخْشَىٰ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أوحينا إلى موسى: أن اخرج بعبادي ليلًا، فاضرب لهم بعصاك طريقًا في البحر يابسًا، لا تخاف أن يدركك فرعون، ولا تخشى الغرق.</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فَأَتْبَعَهُمْ فِرْعَوْنُ بِجُنُودِهِ فَغَشِيَهُم مِّنَ الْيَمِّ مَا غَشِيَهُمْ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فلحقهم فرعون بجنوده، فغطّاهم من البحر ما غطّاهم فغرقوا جميعًا.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وَأَضَلَّ فِرْعَوْنُ قَوْمَهُ وَمَا 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وأضلّ فرعون قومه، وما هداهم إلى الصواب.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٨٠ – ٨١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يَٰبَنِي إِسْرَـٰءِيلَ قَدْ أَنجَيْنَٰكُم مِّنْ عَدُوِّكُمْ وَوَٰعَدْنَٰكُمْ جَانِبَ الطُّورِ الْأَيْمَنَ وَنَزَّلْنَا عَلَيْكُمُ الْمَنَّ وَالسَّلْوَىٰ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بني إسرائيل، قد أنجيناكم من عدوكم، وواعدناكم جانب جبل الطور الأيمن لإنزال التوراة، ونزّلنا عليكم المنّ والسلوى.</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كُلُواْ مِن طَيِّبَٰتِ مَا رَزَقْنَٰكُمْ وَلَا تَطْغَوْاْ فِيهِ فَيَحِلَّ عَلَيْكُمْ غَضَبِي وَمَن يَحْلِلْ عَلَيْهِ غَضَبِي فَقَدْ هَوَىٰ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كلوا من طيبات ما رزقناكم، ولا تتجاوزوا الحدّ فيه، فينزل عليكم غضبي، ومن ينزل عليه غضبي فقد هلك.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٨٢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وَإِنِّي لَغَفَّارٌ لِّمَن تَابَ وَءَامَنَ وَعَمِلَ صَٰلِحًا ثُمَّ اهْتَدَىٰ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وإني لكثير المغفرة لمن تاب، وآمن، وعمل صالحًا، ثم ثبت على الهداية.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أَعْجَلَكَ عَن قَوْمِكَ يَٰمُوسَىٰ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الله لموسى حين سبق قومه إلى الموعد: وما أعجلك عن قومك يا موسى؟</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هُمْ أُوْلَآءِ عَلَىٰ أَثَرِي وَعَجِلْتُ إِلَيْكَ رَبِّ لِتَرْضَىٰ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هم قادمون خلفي، وأسرعت إليك يا رب لترضى عني.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فَإِنَّا قَدْ فَتَنَّا قَوْمَكَ مِن بَعْدِكَ وَأَضَلَّهُمُ السَّامِرِيُّ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فإنا قد اختبرنا قومك بعدك، وأضلّهم السامريّ بعبادة العجل.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فَرَجَعَ مُوسَىٰ إِلَىٰ قَوْمِهِ غَضْبَٰنَ أَسِفًا قَالَ يَٰقَوْمِ أَلَمْ يَعِدْكُمْ رَبُّكُمْ وَعْدًا حَسَنًا أَفَطَالَ عَلَيْكُمُ الْعَهْدُ أَمْ أَرَدتُّمْ أَن يَحِلَّ عَلَيْكُمْ غَضَبٌ مِّن رَّبِّكُمْ فَأَخْلَفْتُم مَّوْعِدِي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فرجع موسى إلى قومه غضبان حزينًا، قال: يا قوم ألم يعدكم ربكم وعدًا حسنًا بإنزال التوراة؟ أفطال عليكم الزمان، أم أردتم أن ينزل عليكم غضب من ربكم فأخلفتم موعدي؟</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مَآ أَخْلَفْنَا مَوْعِدَكَ بِمَلْكِنَا وَلَٰكِنَّا حُمِّلْنَآ أَوْزَارًا مِّن زِينَةِ الْقَوْمِ فَقَذَفْنَٰهَا فَكَذَٰلِكَ أَلْقَى السَّامِرِيُّ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ما أخلفنا موعدك باختيارنا، ولكنا حُمّلنا أثقالًا من حُليّ قوم فرعون، فألقيناها في النار، فكذلك ألقى السامري ما معه.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٨٨ –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331720"/>
            <a:ext cx="548640" cy="548640"/>
          </a:xfrm>
          <a:prstGeom prst="star8">
            <a:avLst/>
          </a:prstGeom>
          <a:solidFill>
            <a:schemeClr val="accent2"/>
          </a:solidFill>
          <a:ln/>
        </p:spPr>
      </p:sp>
      <p:sp>
        <p:nvSpPr>
          <p:cNvPr id="6" name="Shape 4"/>
          <p:cNvSpPr/>
          <p:nvPr/>
        </p:nvSpPr>
        <p:spPr>
          <a:xfrm>
            <a:off x="11036808" y="24414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3317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8" name="Text 6"/>
          <p:cNvSpPr txBox="1"/>
          <p:nvPr/>
        </p:nvSpPr>
        <p:spPr>
          <a:xfrm>
            <a:off x="731520" y="231343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فَأَخْرَجَ لَهُمْ عِجْلًا جَسَدًا لَّهُ خُوَارٌ فَقَالُواْ هَٰذَآ إِلَٰهُكُمْ وَإِلَٰهُ مُوسَىٰ فَنَسِيَ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فأخرج لهم السامري عجلًا جسدًا له صوت كصوت البقر، فقالوا: هذا إلهكم وإله موسى، فنسي موسى إلهه هنا وذهب يطلبه!</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3" name="Text 11"/>
          <p:cNvSpPr txBox="1"/>
          <p:nvPr/>
        </p:nvSpPr>
        <p:spPr>
          <a:xfrm>
            <a:off x="731520" y="40782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أَفَلَا يَرَوْنَ أَلَّا يَرْجِعُ إِلَيْهِمْ قَوْلًا وَلَا يَمْلِكُ لَهُمْ ضَرًّا وَلَا نَفْعًا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أفلا يرون أن العجل لا يردّ عليهم كلامًا، ولا يملك لهم ضرًّا ولا نفعًا؟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٩٠ – 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قَالَ لَهُمْ هَٰرُونُ مِن قَبْلُ يَٰقَوْمِ إِنَّمَا فُتِنتُم بِهِ وَإِنَّ رَبَّكُمُ الرَّحْمَٰنُ فَاتَّبِعُونِي وَأَطِيعُواْ أَمْرِي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قال لهم هارون قبل رجوع موسى: يا قوم إنما اختُبرتم بالعجل، وإن ربكم الرحمن، فاتّبعوني وأطيعوا أمري.</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لَن نَّبْرَحَ عَلَيْهِ عَٰكِفِينَ حَتَّىٰ يَرْجِعَ إِلَيْنَا مُوسَىٰ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لن نزال على عبادته مقيمين حتى يرجع إلينا موسى.</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يَٰهَٰرُونُ مَا مَنَعَكَ إِذْ رَأَيْتَهُمْ ضَلُّواْ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يا هارون، ما منعك حين رأيتهم ضلّوا.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٩٣ – ٩٥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تَتَّبِعَنِ أَفَعَصَيْتَ أَمْرِي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تتبعني وتلحق بي؟ أفعصيت أمري؟</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يَبْنَؤُمَّ لَا تَأْخُذْ بِلِحْيَتِي وَلَا بِرَأْسِي إِنِّي خَشِيتُ أَن تَقُولَ فَرَّقْتَ بَيْنَ بَنِي إِسْرَـٰءِيلَ وَلَمْ تَرْقُبْ قَوْلِي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هارون: يا ابن أمي لا تأخذ بلحيتي ولا برأسي، إني خشيت إن تركتهم أن تقول: فرّقت بين بني إسرائيل، ولم تحفظ وصيتي.</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فَمَا خَطْبُكَ يَٰسَٰمِرِيُّ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فما شأنك يا سامريّ؟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٩٦ – ٩٧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3322"/>
            <a:ext cx="548640" cy="548640"/>
          </a:xfrm>
          <a:prstGeom prst="star8">
            <a:avLst/>
          </a:prstGeom>
          <a:solidFill>
            <a:schemeClr val="accent2"/>
          </a:solidFill>
          <a:ln/>
        </p:spPr>
      </p:sp>
      <p:sp>
        <p:nvSpPr>
          <p:cNvPr id="6" name="Shape 4"/>
          <p:cNvSpPr/>
          <p:nvPr/>
        </p:nvSpPr>
        <p:spPr>
          <a:xfrm>
            <a:off x="11036808" y="154305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332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8" name="Text 6"/>
          <p:cNvSpPr txBox="1"/>
          <p:nvPr/>
        </p:nvSpPr>
        <p:spPr>
          <a:xfrm>
            <a:off x="731520" y="141503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بَصُرْتُ بِمَا لَمْ يَبْصُرُواْ بِهِ فَقَبَضْتُ قَبْضَةً مِّنْ أَثَرِ الرَّسُولِ فَنَبَذْتُهَا وَكَذَٰلِكَ سَوَّلَتْ لِي نَفْسِي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رأيت ما لم يروه، رأيت جبريل على فرسه، فأخذت قبضة من تراب أثر فرسه فألقيتها على الحليّ المذاب، وكذلك زيّنت لي نفسي.</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33038"/>
            <a:ext cx="548640" cy="548640"/>
          </a:xfrm>
          <a:prstGeom prst="star8">
            <a:avLst/>
          </a:prstGeom>
          <a:solidFill>
            <a:schemeClr val="accent2"/>
          </a:solidFill>
          <a:ln/>
        </p:spPr>
      </p:sp>
      <p:sp>
        <p:nvSpPr>
          <p:cNvPr id="11" name="Shape 9"/>
          <p:cNvSpPr/>
          <p:nvPr/>
        </p:nvSpPr>
        <p:spPr>
          <a:xfrm>
            <a:off x="11036808" y="384276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3303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3" name="Text 11"/>
          <p:cNvSpPr txBox="1"/>
          <p:nvPr/>
        </p:nvSpPr>
        <p:spPr>
          <a:xfrm>
            <a:off x="731520" y="3714750"/>
            <a:ext cx="10012680" cy="223113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فَاذْهَبْ فَإِنَّ لَكَ فِي الْحَيَوٰةِ أَن تَقُولَ لَا مِسَاسَ وَإِنَّ لَكَ مَوْعِدًا لَّن تُخْلَفَهُ وَانظُرْ إِلَىٰ إِلَٰهِكَ الَّذِي ظَلْتَ عَلَيْهِ عَاكِفًا لَّنُحَرِّقَنَّهُ ثُمَّ لَنَنسِفَنَّهُ فِي الْيَمِّ نَسْفًا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فاذهب، فإن عقوبتك في الحياة أن تقول لمن لقيك: لا تمسّني، فتعيش منبوذًا، وإن لك موعدًا للعذاب في الآخرة لن تُخلفه، وانظر إلى إلهك الذي أقمت على عبادته، لنُحرقنّه ثم لننثرنّه في البحر نثرًا.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٩٨ – ١٠١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إِلَٰهُكُمُ اللَّهُ الَّذِي لَآ إِلَٰهَ إِلَّا هُوَ وَسِعَ كُلَّ شَيْءٍ عِلْمًا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إلهكم الحق الله الذي لا إله إلا هو، وسع كل شيء علمًا.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نَقُصُّ عَلَيْكَ مِنْ أَنبَآءِ مَا قَدْ سَبَقَ وَقَدْ ءَاتَيْنَٰكَ مِن لَّدُنَّا ذِكْرًا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كما قصصنا عليك خبر موسى نقصّ عليك من أخبار ما سبق، وقد آتيناك من عندنا القرآن.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أَعْرَضَ عَنْهُ فَإِنَّهُ يَحْمِلُ يَوْمَ الْقِيَٰمَةِ وِزْرًا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أعرض عنه فإنه يحمل يوم القيامة ذنبًا ثقيلًا.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خَٰلِدِينَ فِيهِ وَسَآءَ لَهُمْ يَوْمَ الْقِيَٰمَةِ حِمْلًا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خالدين في عقوبته، وبئس الحمل حملهم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١٠٢ – ١٠٥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يُنفَخُ فِي الصُّورِ وَنَحْشُرُ الْمُجْرِمِينَ يَوْمَئِذٍ زُرْقًا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يُنفخ في البوق، ونجمع المجرمين يومئذ زُرق العيون من شدة الهول.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يَتَخَٰفَتُونَ بَيْنَهُمْ إِن لَّبِثْتُمْ إِلَّا عَشْرًا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يتهامسون بينهم: ما بقيتم في الدنيا إلا عشر ليال.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أَعْلَمُ بِمَا يَقُولُونَ إِذْ يَقُولُ أَمْثَلُهُمْ طَرِيقَةً إِن لَّبِثْتُمْ إِلَّا يَوْمًا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أعلم بما يقولون، إذ يقول أعقلهم: ما بقيتم إلا يومًا واحدًا.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وَيَسْـَٔلُونَكَ عَنِ الْجِبَالِ فَقُلْ يَنسِفُهَا رَبِّي نَسْفًا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ويسألونك عن الجبال يوم القيامة، فقل: يقتلعها ربي ويفرّقها تفريقًا.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١٠٦ – ١٠٨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فَيَذَرُهَا قَاعًا صَفْصَفًا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فيتركها أرضًا مستوية ملساء.</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تَرَىٰ فِيهَا عِوَجًا وَلَآ أَمْتًا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ترى فيها انخفاضًا ولا ارتفاعًا.</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يَوْمَئِذٍ يَتَّبِعُونَ الدَّاعِيَ لَا عِوَجَ لَهُ وَخَشَعَتِ الْأَصْوَاتُ لِلرَّحْمَٰنِ فَلَا تَسْمَعُ إِلَّا هَمْسًا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يومئذ يتّبع الناس صوت الداعي إلى المحشر، لا يميلون عنه، وخضعت الأصوات للرحمن، فلا تسمع إلا صوتًا خفيًّا.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١٠٩ – ١١٢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يَوْمَئِذٍ لَّا تَنفَعُ الشَّفَٰعَةُ إِلَّا مَنْ أَذِنَ لَهُ الرَّحْمَٰنُ وَرَضِيَ لَهُ قَوْلًا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يومئذ لا تنفع الشفاعة إلا من أذن له الرحمن، ورضي قوله.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يَعْلَمُ مَا بَيْنَ أَيْدِيهِمْ وَمَا خَلْفَهُمْ وَلَا يُحِيطُونَ بِهِ عِلْمًا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يعلم ما أمامهم وما خلفهم، ولا يحيطون به علمًا.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وَعَنَتِ الْوُجُوهُ لِلْحَيِّ الْقَيُّومِ وَقَدْ خَابَ مَنْ حَمَلَ ظُلْمًا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وذلّت الوجوه وخضعت للحي القيوم، وقد خسر من حمل ظلمًا وشركًا.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يَعْمَلْ مِنَ الصَّـٰلِحَٰتِ وَهُوَ مُؤْمِنٌ فَلَا يَخَافُ ظُلْمًا وَلَا هَضْمًا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يعمل من الصالحات وهو مؤمن فلا يخاف ظلمًا بزيادة سيئاته، ولا نقصًا من حسناته.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١١٣ – ١١٥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أَنزَلْنَٰهُ قُرْءَانًا عَرَبِيًّا وَصَرَّفْنَا فِيهِ مِنَ الْوَعِيدِ لَعَلَّهُمْ يَتَّقُونَ أَوْ يُحْدِثُ لَهُمْ ذِكْرًا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أنزلناه قرآنًا عربيًّا، وكرّرنا فيه الوعيد، لعلهم يتقون، أو يُحدث لهم القرآن تذكّرًا.</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فَتَعَٰلَى اللَّهُ الْمَلِكُ الْحَقُّ وَلَا تَعْجَلْ بِالْقُرْءَانِ مِن قَبْلِ أَن يُقْضَىٰ إِلَيْكَ وَحْيُهُ وَقُل رَّبِّ زِدْنِي عِلْمًا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فتعالى الله الملك الحق، ولا تعجل بقراءة القرآن قبل أن يُتمّ جبريل قراءته عليك، وقل: رب زدني علمًا.</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عَهِدْنَآ إِلَىٰ ءَادَمَ مِن قَبْلُ فَنَسِيَ وَلَمْ نَجِدْ لَهُ عَزْمًا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وصّينا آدم من قبل ألّا يأكل من الشجرة، فنسي، ولم نجد له عزيمة قوية على الترك.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١١٦ – ١١٩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قُلْنَا لِلْمَلَـٰئِكَةِ اسْجُدُواْ لِأدَمَ فَسَجَدُواْ إِلَّآ إِبْلِيسَ أَبَىٰ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قلنا للملائكة: اسجدوا لآدم، فسجدوا إلا إبليس امتنع.</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فَقُلْنَا يَـٰـَٔادَمُ إِنَّ هَٰذَا عَدُوٌّ لَّكَ وَلِزَوْجِكَ فَلَا يُخْرِجَنَّكُمَا مِنَ الْجَنَّةِ فَتَشْقَىٰ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فقلنا: يا آدم إن هذا عدو لك ولزوجك، فلا يُخرجنّكما من الجنة فتتعب في طلب الرزق.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لَكَ أَلَّا تَجُوعَ فِيهَا وَلَا تَعْرَىٰ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لك ألّا تجوع فيها ولا تعرى.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وَأَنَّكَ لَا تَظْمَؤُاْ فِيهَا وَلَا تَضْحَىٰ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وأنك لا تعطش فيها، ولا يصيبك حرّ الشمس.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١٢٠ – ١٢٢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فَوَسْوَسَ إِلَيْهِ الشَّيْطَٰنُ قَالَ يَـٰـَٔادَمُ هَلْ أَدُلُّكَ عَلَىٰ شَجَرَةِ الْخُلْدِ وَمُلْكٍ لَّا يَبْلَىٰ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فوسوس إليه الشيطان، قال: يا آدم هل أدلّك على شجرة من أكل منها خلد ولم يمت، وملك لا يزول؟</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فَأَكَلَا مِنْهَا فَبَدَتْ لَهُمَا سَوْءَٰتُهُمَا وَطَفِقَا يَخْصِفَانِ عَلَيْهِمَا مِن وَرَقِ الْجَنَّةِ وَعَصَىٰ ءَادَمُ رَبَّهُ فَغَوَىٰ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فأكلا منها، فانكشفت لهما عوراتهما، وأخذا يُلصقان عليهما من ورق الجنة، وخالف آدم أمر ربه، فأخطأ.</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اجْتَبَٰهُ رَبُّهُ فَتَابَ عَلَيْهِ وَهَدَىٰ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اختاره ربه، فتاب عليه، وهداه.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١٢٣ – ١٢٥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اهْبِطَا مِنْهَا جَمِيعًا بَعْضُكُمْ لِبَعْضٍ عَدُوٌّ فَإِمَّا يَأْتِيَنَّكُم مِّنِّي هُدًى فَمَنِ اتَّبَعَ هُدَايَ فَلَا يَضِلُّ وَلَا يَشْقَىٰ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اهبطا من الجنة جميعًا، بعضكم لبعض عدو، فإن يأتكم مني هدى فمن اتّبع هداي فلا يضلّ في الدنيا، ولا يشقى في الآخرة.</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١٢٤</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أَعْرَضَ عَن ذِكْرِي فَإِنَّ لَهُ مَعِيشَةً ضَنكًا وَنَحْشُرُهُ يَوْمَ الْقِيَٰمَةِ أَعْمَىٰ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أعرض عن ذكري فإن له معيشة ضيقة في الدنيا ولو كثر ماله، ونحشره يوم القيامة أعمى.</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١٢٥</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لِمَ حَشَرْتَنِي أَعْمَىٰ وَقَدْ كُنتُ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لِمَ حشرتني أعمى وقد كنت بصيرًا؟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١٢٦ – ١٢٨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١٢٦</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كَذَٰلِكَ أَتَتْكَ ءَايَٰتُنَا فَنَسِيتَهَا وَكَذَٰلِكَ الْيَوْمَ تُنسَىٰ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كذلك أتتك آياتنا فتركتها، وكذلك اليوم تُترك في العذاب.</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١٢٧</a:t>
            </a:r>
            <a:endParaRPr lang="ar-SA" sz="13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نَجْزِي مَنْ أَسْرَفَ وَلَمْ يُؤْمِن بِـَٔايَٰتِ رَبِّهِ وَلَعَذَابُ الْأخِرَةِ أَشَدُّ وَأَبْقَىٰ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نجزي من أسرف ولم يؤمن بآيات ربه، ولعذاب الآخرة أشدّ وأدوم.</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١٢٨</a:t>
            </a:r>
            <a:endParaRPr lang="ar-SA" sz="13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أَفَلَمْ يَهْدِ لَهُمْ كَمْ أَهْلَكْنَا قَبْلَهُم مِّنَ الْقُرُونِ يَمْشُونَ فِي مَسَٰكِنِهِمْ إِنَّ فِي ذَٰلِكَ لَأيَٰتٍ لِّأُوْلِي النُّهَىٰ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أفلم يتبيّن لهم كم أهلكنا قبلهم من الأمم يمشون في مساكنهم؟ إن في ذلك لعبرًا لأصحاب العقول.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١٢٩ – ١٣٠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١٢٩</a:t>
            </a:r>
            <a:endParaRPr lang="ar-SA" sz="13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كَلِمَةٌ سَبَقَتْ مِن رَّبِّكَ لَكَانَ لِزَامًا وَأَجَلٌ مُّسَمًّى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حكم سبق من ربك بتأخير العذاب، ووقت محدد، لكان العذاب لازمًا لهم في الحال.</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١٣٠</a:t>
            </a:r>
            <a:endParaRPr lang="ar-SA" sz="13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فَاصْبِرْ عَلَىٰ مَا يَقُولُونَ وَسَبِّحْ بِحَمْدِ رَبِّكَ قَبْلَ طُلُوعِ الشَّمْسِ وَقَبْلَ غُرُوبِهَا وَمِنْ ءَانَآيِٕ الَّيْلِ فَسَبِّحْ وَأَطْرَافَ النَّهَارِ لَعَلَّكَ تَرْضَىٰ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فاصبر على ما يقولون، وسبّح بحمد ربك قبل طلوع الشمس وهي صلاة الفجر، وقبل غروبها وهي صلاة العصر، ومن ساعات الليل فسبّح، وفي أطراف النهار، لعلك ترضى بالثواب.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١٣١ – ١٣٢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١٣١</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تَمُدَّنَّ عَيْنَيْكَ إِلَىٰ مَا مَتَّعْنَا بِهِ أَزْوَٰجًا مِّنْهُمْ زَهْرَةَ الْحَيَوٰةِ الدُّنْيَا لِنَفْتِنَهُمْ فِيهِ وَرِزْقُ رَبِّكَ خَيْرٌ وَأَبْقَىٰ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تنظر متمنّيًا إلى ما متّعنا به أصنافًا من الكفار من زينة الحياة الدنيا، لنختبرهم فيه، ورزق ربك في الآخرة خير وأدوم.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١٣٢</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وَأْمُرْ أَهْلَكَ بِالصَّلَوٰةِ وَاصْطَبِرْ عَلَيْهَا لَا نَسْـَٔلُكَ رِزْقًا نَّحْنُ نَرْزُقُكَ وَالْعَٰقِبَةُ لِلتَّقْوَىٰ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وأمر أهلك بالصلاة، واصبر على أدائها، لا نطلب منك رزقًا، نحن نرزقك، والعاقبة الحسنة لأهل التقوى.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طه</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١٣٣ – ١٣٥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١٣٣</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لَوْلَا يَأْتِينَا بِـَٔايَةٍ مِّن رَّبِّهِ أَوَلَمْ تَأْتِهِم بَيِّنَةُ مَا فِي الصُّحُفِ الْأُولَىٰ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هلّا يأتينا بمعجزة من ربه! أولم يأتهم القرآن بيانًا لما في الكتب السابقة؟</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١٣٤</a:t>
            </a:r>
            <a:endParaRPr lang="ar-SA" sz="13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أَنَّآ أَهْلَكْنَٰهُم بِعَذَابٍ مِّن قَبْلِهِ لَقَالُواْ رَبَّنَا لَوْلَآ أَرْسَلْتَ إِلَيْنَا رَسُولًا فَنَتَّبِعَ ءَايَٰتِكَ مِن قَبْلِ أَن نَّذِلَّ وَنَخْزَىٰ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أنا أهلكناهم بعذاب قبل إرسال محمد لقالوا: ربنا هلّا أرسلت إلينا رسولًا فنتّبع آياتك من قبل أن نذلّ ونُفضح.</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١٣٥</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كُلٌّ مُّتَرَبِّصٌ فَتَرَبَّصُواْ فَسَتَعْلَمُونَ مَنْ أَصْحَٰبُ الصِّرَٰطِ السَّوِيِّ وَمَنِ اهْتَدَىٰ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كلٌّ منا ومنكم منتظر، فانتظروا، فستعلمون من أصحاب الطريق المستقيم، ومن اهتدى.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مريم</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٩٨</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قال النبي صلى الله عليه وسلم لجبريل: «ما يمنعك أن تزورنا أكثر مما تزورنا؟» فنزلت: ﴿وما نتنزّل إلا بأمر ربك له ما بين أيدينا وما خلفنا﴾ (رواه البخاري). وقرأ جعفر بن أبي طالب صدر سورة مريم على النجاشي فبكى (رواه أحمد).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رحمة الله بأنبيائه: دعاء زكريا وولادة يحيى، وقصة مريم وولادة عيسى ومعجزة كلامه في المهد، وحوار إبراهيم اللطيف مع أبيه، ثم ذكر موسى وإسماعيل وإدريس، والرد على من ادّعى لله ولدًا.</a:t>
            </a:r>
            <a:endParaRPr lang="ar-SA"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كهيعص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ذِكْرُ رَحْمَتِ رَبِّكَ عَبْدَهُ زَكَرِيَّآ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ذكر رحمة ربك بعبده زكريا.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نَادَىٰ رَبَّهُ نِدَآءً خَفِيًّا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دعا ربه دعاءً خفيًّا في السرّ.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إِنِّي وَهَنَ الْعَظْمُ مِنِّي وَاشْتَعَلَ الرَّأْسُ شَيْبًا وَلَمْ أَكُن بِدُعَآئِكَ رَبِّ شَقِيًّا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إني ضعف عظمي، وانتشر الشيب في رأسي، ولم أكن بدعائك يا رب خائبًا قط.</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وَإِنِّي خِفْتُ الْمَوَٰلِيَ مِن وَرَآءِي وَكَانَتِ امْرَأَتِي عَاقِرًا فَهَبْ لِي مِن لَّدُنكَ وَلِيًّا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وإني خفت أقاربي من بعدي ألّا يقوموا بالدين، وكانت امرأتي لا تلد، فهب لي من عندك ولدًا.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يَرِثُنِي وَيَرِثُ مِنْ ءَالِ يَعْقُوبَ وَاجْعَلْهُ رَبِّ رَضِيًّا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يرث النبوة عني وعن آل يعقوب، واجعله يا رب مرضيًّا.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يَٰزَكَرِيَّآ إِنَّا نُبَشِّرُكَ بِغُلَٰمٍ اسْمُهُ يَحْيَىٰ لَمْ نَجْعَل لَّهُ مِن قَبْلُ سَمِيًّا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زكريا، إنا نبشّرك بغلام اسمه يحيى، لم نجعل له من قبل من سُمّي بهذا الاسم.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أَنَّىٰ يَكُونُ لِي غُلَٰمٌ وَكَانَتِ امْرَأَتِي عَاقِرًا وَقَدْ بَلَغْتُ مِنَ الْكِبَرِ عِتِيًّا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كيف يكون لي غلام وكانت امرأتي عقيمًا، وقد بلغت من الكبر غايته؟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كَذَٰلِكَ قَالَ رَبُّكَ هُوَ عَلَيَّ هَيِّنٌ وَقَدْ خَلَقْتُكَ مِن قَبْلُ وَلَمْ تَكُ شَيْـًٔا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الملك: كذلك الأمر، قال ربك: هو عليّ سهل، وقد خلقتك من قبل ولم تكن شيئًا.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اجْعَل لِّي ءَايَةً قَالَ ءَايَتُكَ أَلَّا تُكَلِّمَ النَّاسَ ثَلَٰثَ لَيَالٍ سَوِيًّا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اجعل لي علامة، قال: علامتك ألّا تقدر على كلام الناس ثلاث ليال وأنت سليم.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فَخَرَجَ عَلَىٰ قَوْمِهِ مِنَ الْمِحْرَابِ فَأَوْحَىٰ إِلَيْهِمْ أَن سَبِّحُواْ بُكْرَةً وَعَشِيًّا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فخرج على قومه من مكان صلاته، فأشار إليهم: أن سبّحوا الله صباحًا ومساءً.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يَٰيَحْيَىٰ خُذِ الْكِتَٰبَ بِقُوَّةٍ وَءَاتَيْنَٰهُ الْحُكْمَ صَبِيًّا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وقلنا: يا يحيى خذ التوراة بجدّ واجتهاد، وآتيناه الفهم والحكمة وهو صغير.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وَحَنَانًا مِّن لَّدُنَّا وَزَكَوٰةً وَكَانَ تَقِيًّا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وآتيناه رحمة من عندنا، وطهارة من الذنوب، وكان تقيًّا.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وَبَرًّا بِوَٰلِدَيْهِ وَلَمْ يَكُن جَبَّارًا عَصِيًّا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 بارًّا بوالديه، ولم يكن متكبّرًا ولا عاصيًا.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وَسَلَٰمٌ عَلَيْهِ يَوْمَ وُلِدَ وَيَوْمَ يَمُوتُ وَيَوْمَ يُبْعَثُ حَيًّا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وسلام وأمان عليه يوم وُلد، ويوم يموت، ويوم يُبعث حيًّا.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فِي الْكِتَٰبِ مَرْيَمَ إِذِ انتَبَذَتْ مِنْ أَهْلِهَا مَكَانًا شَرْقِيًّا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في القرآن قصة مريم حين اعتزلت أهلها إلى مكان جهة الشرق.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فَاتَّخَذَتْ مِن دُونِهِمْ حِجَابًا فَأَرْسَلْنَآ إِلَيْهَا رُوحَنَا فَتَمَثَّلَ لَهَا بَشَرًا سَوِيًّا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فاتّخذت من دونهم سترًا، فأرسلنا إليها جبريل فتصوّر لها في صورة إنسان تام الخلقة.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إِنِّي أَعُوذُ بِالرَّحْمَٰنِ مِنكَ إِن كُنتَ تَقِيًّا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إني أعوذ بالرحمن منك إن كنت تقيًّا تخاف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إِنَّمَآ أَنَا رَسُولُ رَبِّكِ لِأَهَبَ لَكِ غُلَٰمًا زَكِيًّا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إنما أنا رسول ربك لأهب لك غلامًا طاهرًا.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قَالَتْ أَنَّىٰ يَكُونُ لِي غُلَٰمٌ وَلَمْ يَمْسَسْنِي بَشَرٌ وَلَمْ أَكُ بَغِيًّا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كيف يكون لي غلام ولم يمسسني رجل بزواج، ولم أكن امرأة سيئة؟</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كَذَٰلِكِ قَالَ رَبُّكِ هُوَ عَلَيَّ هَيِّنٌ وَلِنَجْعَلَهُ ءَايَةً لِّلنَّاسِ وَرَحْمَةً مِّنَّا وَكَانَ أَمْرًا مَّقْضِيًّا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كذلك الأمر، قال ربك: هو عليّ سهل، ولنجعله علامة للناس على قدرتنا، ورحمة منا، وكان أمرًا مقدّرًا.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فَحَمَلَتْهُ فَانتَبَذَتْ بِهِ مَكَانًا قَصِيًّا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فحملت به، فاعتزلت به مكانًا بعيدًا.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فَأَجَآءَهَا الْمَخَاضُ إِلَىٰ جِذْعِ النَّخْلَةِ قَالَتْ يَٰلَيْتَنِي مِتُّ قَبْلَ هَٰذَا وَكُنتُ نَسْيًا مَّنسِيًّا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فألجأها ألم الولادة إلى جذع النخلة، قالت: يا ليتني متّ قبل هذا وكنت شيئًا منسيًّا.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فَنَادَىٰهَا مِن تَحْتِهَآ أَلَّا تَحْزَنِي قَدْ جَعَلَ رَبُّكِ تَحْتَكِ سَرِيًّا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فناداها عيسى من تحتها: لا تحزني، قد جعل ربك تحتك نهرًا صغيرًا.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وَهُزِّي إِلَيْكِ بِجِذْعِ النَّخْلَةِ تُسَٰقِطْ عَلَيْكِ رُطَبًا جَنِيًّا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وحرّكي إليك جذع النخلة تتساقط عليك رطبًا طريًّا.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فَكُلِي وَاشْرَبِي وَقَرِّي عَيْنًا فَإِمَّا تَرَيِنَّ مِنَ الْبَشَرِ أَحَدًا فَقُولِي إِنِّي نَذَرْتُ لِلرَّحْمَٰنِ صَوْمًا فَلَنْ أُكَلِّمَ الْيَوْمَ إِنسِيًّا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فكلي واشربي وطيبي نفسًا، فإن رأيت أحدًا من الناس فقولي بالإشارة: إني نذرت للرحمن صمتًا فلن أكلّم اليوم إنسانًا.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فَأَتَتْ بِهِ قَوْمَهَا تَحْمِلُهُ قَالُواْ يَٰمَرْيَمُ لَقَدْ جِئْتِ شَيْـًٔا فَرِيًّا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فأتت به قومها تحمله، قالوا: يا مريم لقد جئت أمرًا عظيمًا منكرًا.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يَـٰأُخْتَ هَٰرُونَ مَا كَانَ أَبُوكِ امْرَأَ سَوْءٍ وَمَا كَانَتْ أُمُّكِ بَغِيًّا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أخت هارون الرجل الصالح في العبادة، ما كان أبوك رجل سوء، وما كانت أمك امرأة سيئة.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فَأَشَارَتْ إِلَيْهِ قَالُواْ كَيْفَ نُكَلِّمُ مَن كَانَ فِي الْمَهْدِ صَبِيًّا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فأشارت إلى عيسى ليكلّموه، قالوا: كيف نكلّم طفلًا في المهد؟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إِنِّي عَبْدُ اللَّهِ ءَاتَىٰنِيَ الْكِتَٰبَ وَجَعَلَنِي نَبِيًّا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عيسى: إني عبد الله، قضى أن يؤتيني الإنجيل، وجعلني نبيًّا.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وَجَعَلَنِي مُبَارَكًا أَيْنَ مَا كُنتُ وَأَوْصَٰنِي بِالصَّلَوٰةِ وَالزَّكَوٰةِ مَا دُمْتُ حَيًّا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وجعلني نافعًا مباركًا أينما كنت، وأوصاني بالصلاة والزكاة ما دمت حيًّا.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وَبَرًّا بِوَٰلِدَتِي وَلَمْ يَجْعَلْنِي جَبَّارًا شَقِيًّا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وجعلني بارًّا بوالدتي، ولم يجعلني متكبّرًا شقيًّا.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وَالسَّلَٰمُ عَلَيَّ يَوْمَ وُلِدتُّ وَيَوْمَ أَمُوتُ وَيَوْمَ أُبْعَثُ حَيًّا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والسلام عليّ يوم وُلدت، ويوم أموت، ويوم أُبعث حيًّا.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عِيسَى ابْنُ مَرْيَمَ قَوْلَ الْحَقِّ الَّذِي فِيهِ يَمْتَرُونَ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هو عيسى ابن مريم حقًّا، القول الحق الذي يشكّ فيه اليهود والنصارى.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لِلَّهِ أَن يَتَّخِذَ مِن وَلَدٍ سُبْحَٰنَهُ إِذَا قَضَىٰ أَمْرًا فَإِنَّمَا يَقُولُ لَهُ كُن فَيَكُونُ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ينبغي لله أن يتّخذ ولدًا، تنزّه، إذا أراد أمرًا فإنما يقول له: كن، فيكون.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اللَّهَ رَبِّي وَرَبُّكُمْ فَاعْبُدُوهُ هَٰذَا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عيسى: إن الله ربي وربكم فاعبدوه، هذا طريق مستقيم.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فَاخْتَلَفَ الْأَحْزَابُ مِن بَيْنِهِمْ فَوَيْلٌ لِّلَّذِينَ كَفَرُواْ مِن مَّشْهَدِ 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فاختلفت الفرق في أمر عيسى، فهلاك للكافرين من حضور يوم عظيم.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أَسْمِعْ بِهِمْ وَأَبْصِرْ يَوْمَ يَأْتُونَنَا لَٰكِنِ الظَّـٰلِمُونَ الْيَوْمَ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أسمعهم وأبصرهم يوم القيامة! لكن الظالمين اليوم في الدنيا في ضلال واضح.</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وَأَنذِرْهُمْ يَوْمَ الْحَسْرَةِ إِذْ قُضِيَ الْأَمْرُ وَهُمْ فِي غَفْلَةٍ وَهُمْ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وأنذرهم يوم الحسرة حين يُقضى الأمر ويُذبح الموت، وهم في الدنيا في غفلة لا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نَحْنُ نَرِثُ الْأَرْضَ وَمَنْ عَلَيْهَا وَإِلَيْنَا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نحن نرث الأرض ومن عليها، وإلينا يرجعون.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فِي الْكِتَٰبِ إِبْرَٰهِيمَ إِنَّهُ كَانَ صِدِّيقًا نَّبِيًّا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في القرآن قصة إبراهيم، إنه كان كثير الصدق نبيًّا.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لِأَبِيهِ يَـٰأَبَتِ لِمَ تَعْبُدُ مَا لَا يَسْمَعُ وَلَا يُبْصِرُ وَلَا يُغْنِي عَنكَ شَيْـًٔا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قال لأبيه بلطف: يا أبت، لِمَ تعبد ما لا يسمع ولا يبصر، ولا يدفع عنك شيئًا؟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يَـٰأَبَتِ إِنِّي قَدْ جَآءَنِي مِنَ الْعِلْمِ مَا لَمْ يَأْتِكَ فَاتَّبِعْنِي أَهْدِكَ صِرَٰطًا سَوِيًّا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أبت إني قد جاءني من العلم ما لم يأتك، فاتّبعني أدلّك على طريق مستقيم.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يَـٰأَبَتِ لَا تَعْبُدِ الشَّيْطَٰنَ إِنَّ الشَّيْطَٰنَ كَانَ لِلرَّحْمَٰنِ عَصِيًّا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أبت لا تطع الشيطان، إن الشيطان كان للرحمن عاصيًا.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يَـٰأَبَتِ إِنِّي أَخَافُ أَن يَمَسَّكَ عَذَابٌ مِّنَ الرَّحْمَٰنِ فَتَكُونَ لِلشَّيْطَٰنِ وَلِيًّا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أبت إني أخاف أن يصيبك عذاب من الرحمن، فتكون للشيطان قرينًا في النار.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أَرَاغِبٌ أَنتَ عَنْ ءَالِهَتِي يَـٰإِبْرَٰهِيمُ لَئِن لَّمْ تَنتَهِ لَأَرْجُمَنَّكَ وَاهْجُرْنِي مَلِيًّا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أبوه: أراغب أنت عن آلهتي يا إبراهيم؟ لئن لم تتوقّف لأرجمنّك بالحجارة، واتركني زمنًا طويلًا.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سَلَٰمٌ عَلَيْكَ سَأَسْتَغْفِرُ لَكَ رَبِّي إِنَّهُ كَانَ بِي حَفِيًّا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إبراهيم: سلام عليك، سأطلب لك المغفرة من ربي، إنه كان بي لطيفًا.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وَأَعْتَزِلُكُمْ وَمَا تَدْعُونَ مِن دُونِ اللَّهِ وَأَدْعُواْ رَبِّي عَسَىٰ أَلَّآ أَكُونَ بِدُعَآءِ رَبِّي شَقِيًّا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وأعتزلكم وما تعبدون من دون الله، وأدعو ربي، عسى ألّا أكون بدعاء ربي خائبًا.</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اعْتَزَلَهُمْ وَمَا يَعْبُدُونَ مِن دُونِ اللَّهِ وَهَبْنَا لَهُ إِسْحَٰقَ وَيَعْقُوبَ وَكُلًّا جَعَلْنَا نَبِيًّا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اعتزلهم وما يعبدون من دون الله، عوّضناه فوهبنا له إسحاق ويعقوب، وكلًّا جعلنا نبيًّا.</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وَوَهَبْنَا لَهُم مِّن رَّحْمَتِنَا وَجَعَلْنَا لَهُمْ لِسَانَ صِدْقٍ عَلِيًّا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ووهبنا لهم من رحمتنا، وجعلنا لهم ثناءً حسنًا عاليًا بين الناس.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فِي الْكِتَٰبِ مُوسَىٰ إِنَّهُ كَانَ مُخْلَصًا وَكَانَ رَسُولًا نَّبِيًّا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في القرآن موسى، إنه كان مُصطفى مختارًا، وكان رسولًا نبيًّا.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وَنَٰدَيْنَٰهُ مِن جَانِبِ الطُّورِ الْأَيْمَنِ وَقَرَّبْنَٰهُ نَجِيًّا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وناديناه من جانب جبل الطور الأيمن، وقرّبناه مناجيًا لنا.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وَوَهَبْنَا لَهُ مِن رَّحْمَتِنَآ أَخَاهُ هَٰرُونَ نَبِيًّا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ووهبنا له من رحمتنا أخاه هارون نبيًّا، إجابةً لدعائه.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فِي الْكِتَٰبِ إِسْمَٰعِيلَ إِنَّهُ كَانَ صَادِقَ الْوَعْدِ وَكَانَ رَسُولًا نَّبِيًّا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في القرآن إسماعيل، إنه كان صادق الوعد، وكان رسولًا نبيًّا.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وَكَانَ يَأْمُرُ أَهْلَهُ بِالصَّلَوٰةِ وَالزَّكَوٰةِ وَكَانَ عِندَ رَبِّهِ مَرْضِيًّا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 يأمر أهله بالصلاة والزكاة، وكان عند ربه مرضيًّا.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فِي الْكِتَٰبِ إِدْرِيسَ إِنَّهُ كَانَ صِدِّيقًا نَّبِيًّا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في القرآن إدريس، إنه كان كثير الصدق نبيًّا.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وَرَفَعْنَٰهُ مَكَانًا عَلِيًّا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ورفعناه مكانًا عاليًا. ورآه النبي صلى الله عليه وسلم ليلة المعراج في السماء الرابعة.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أَنْعَمَ اللَّهُ عَلَيْهِم مِّنَ النَّبِيِّـنَ مِن ذُرِّيَّةِ ءَادَمَ وَمِمَّنْ حَمَلْنَا مَعَ نُوحٍ وَمِن ذُرِّيَّةِ إِبْرَٰهِيمَ وَإِسْرَـٰءِيلَ وَمِمَّنْ هَدَيْنَا وَاجْتَبَيْنَآ إِذَا تُتْلَىٰ عَلَيْهِمْ ءَايَٰتُ الرَّحْمَٰنِ خَرُّواْ سُجَّدًا وَبُكِيًّا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الأنبياء الذين أنعم الله عليهم من ذرية آدم، وممن حملنا مع نوح، ومن ذرية إبراهيم وإسرائيل، وممن هدينا واخترنا، إذا تُقرأ عليهم آيات الرحمن خرّوا سجّدًا باكين. وهنا موضع سجدة تلاوة.</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فَخَلَفَ مِن بَعْدِهِمْ خَلْفٌ أَضَاعُواْ الصَّلَوٰةَ وَاتَّبَعُواْ الشَّهَوَٰتِ فَسَوْفَ يَلْقَوْنَ غَيًّا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فجاء من بعدهم جيل سيئ أضاعوا الصلاة، واتّبعوا الشهوات، فسوف يلقون شرًّا وخسارة.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٦٠ –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تَابَ وَءَامَنَ وَعَمِلَ صَٰلِحًا فَأُوْلَـٰئِكَ يَدْخُلُونَ الْجَنَّةَ وَلَا يُظْلَمُونَ شَيْـًٔا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تاب وآمن وعمل صالحًا، فأولئك يدخلون الجنة ولا يُنقصون من أعمالهم شيئًا.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جَنَّـٰتِ عَدْنٍ الَّتِي وَعَدَ الرَّحْمَٰنُ عِبَادَهُ بِالْغَيْبِ إِنَّهُ كَانَ وَعْدُهُ مَأْتِيًّا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جنات إقامة التي وعد الرحمن عباده وهي غائبة عنهم، إن وعده آتٍ لا محالة.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يَسْمَعُونَ فِيهَا لَغْوًا إِلَّا سَلَٰمًا وَلَهُمْ رِزْقُهُمْ فِيهَا بُكْرَةً وَعَشِيًّا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يسمعون فيها كلامًا باطلًا، إلا السلام، ولهم رزقهم فيها صباحًا ومساءً.</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الْجَنَّةُ الَّتِي نُورِثُ مِنْ عِبَادِنَا مَن كَانَ تَقِيًّا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الجنة التي نُعطيها من عبادنا من كان تقيًّا.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نَتَنَزَّلُ إِلَّا بِأَمْرِ رَبِّكَ لَهُ مَا بَيْنَ أَيْدِينَا وَمَا خَلْفَنَا وَمَا بَيْنَ ذَٰلِكَ وَمَا كَانَ رَبُّكَ نَسِيًّا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جبريل: وما نتنزّل إلا بأمر ربك، له ما أمامنا وما خلفنا وما بين ذلك، وما كان ربك ناسيًا.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فَاعْبُدْهُ وَاصْطَبِرْ لِعِبَٰدَتِهِ هَلْ تَعْلَمُ لَهُ سَمِيًّا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السماوات والأرض وما بينهما، فاعبده، واصبر على عبادته، هل تعلم له مثيلًا؟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 الْإِنسَٰنُ أَءِذَا مَا مِتُّ لَسَوْفَ أُخْرَجُ حَيًّا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الإنسان الكافر: أإذا متّ لسوف أُخرج حيًّا؟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أَوَلَا يَذْكُرُ الْإِنسَٰنُ أَنَّا خَلَقْنَٰهُ مِن قَبْلُ وَلَمْ يَكُ شَيْـًٔا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أوَلا يتذكّر الإنسان أنا خلقناه من قبل ولم يكن شيئًا؟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فَوَرَبِّكَ لَنَحْشُرَنَّهُمْ وَالشَّيَٰطِينَ ثُمَّ لَنُحْضِرَنَّهُمْ حَوْلَ جَهَنَّمَ جِثِيًّا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فوربّك لنجمعنّهم والشياطين، ثم لنُحضرنّهم حول جهنم جاثين على رُكَبهم.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لَنَنزِعَنَّ مِن كُلِّ شِيعَةٍ أَيُّهُمْ أَشَدُّ عَلَى الرَّحْمَٰنِ عِتِيًّا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لنأخذنّ من كل جماعة أشدّهم عصيانًا وتمرّدًا على الرحمن.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لَنَحْنُ أَعْلَمُ بِالَّذِينَ هُمْ أَوْلَىٰ بِهَا صِلِيًّا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لنحن أعلم بالذين هم أحقّ بدخولها والاحتراق بها.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مِّنكُمْ إِلَّا وَارِدُهَا كَانَ عَلَىٰ رَبِّكَ حَتْمًا مَّقْضِيًّا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منكم من أحد إلا سيمرّ على الصراط فوق جهنم، كان ذلك على ربك أمرًا لازمًا مقضيًّا.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نُنَجِّي الَّذِينَ اتَّقَواْ وَّنَذَرُ الظَّـٰلِمِينَ فِيهَا جِثِيًّا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ننجّي المتقين، ونترك الظالمين فيها جاثين على رُكَبهم.</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قَالَ الَّذِينَ كَفَرُواْ لِلَّذِينَ ءَامَنُواْ أَيُّ الْفَرِيقَيْنِ خَيْرٌ مَّقَامًا وَأَحْسَنُ نَدِيًّا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تُقرأ عليهم آياتنا الواضحة قال الكفار للمؤمنين: أيّ الفريقين أحسن منزلًا وأجمل مجلسًا، نحن أم أنتم؟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٧٤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وَكَمْ أَهْلَكْنَا قَبْلَهُم مِّن قَرْنٍ هُمْ أَحْسَنُ أَثَٰثًا وَرِءْيًا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أهلكنا قبلهم من أمم كانوا أحسن متاعًا ومنظرًا.</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كَانَ فِي الضَّلَٰلَةِ فَلْيَمْدُدْ لَهُ الرَّحْمَٰنُ مَدًّا حَتَّىٰ إِذَا رَأَوْاْ مَا يُوعَدُونَ إِمَّا الْعَذَابَ وَإِمَّا السَّاعَةَ فَسَيَعْلَمُونَ مَنْ هُوَ شَرٌّ مَّكَانًا وَأَضْعَفُ جُندًا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كان في الضلال فليُمهله الرحمن ويزده، حتى إذا رأوا ما يوعدون: إما العذاب في الدنيا وإما القيامة، فسيعلمون من هو شرّ مكانًا وأضعف أنصارًا.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٧٦ –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وَيَزِيدُ اللَّهُ الَّذِينَ اهْتَدَوْاْ هُدًى وَالْبَٰقِيَٰتُ الصَّـٰلِحَٰتُ خَيْرٌ عِندَ رَبِّكَ ثَوَابًا وَخَيْرٌ مَّرَدًّا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ويزيد الله المهتدين هدى، والأعمال الصالحة الباقية خير عند ربك ثوابًا، وخير عاقبة.</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أَفَرَءَيْتَ الَّذِي كَفَرَ بِـَٔايَٰتِنَا وَقَالَ لَأُوتَيَنَّ مَالًا وَوَلَدًا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أفرأيت الذي كفر بآياتنا، وقال مستهزئًا: لأُعطينّ في الآخرة مالًا وولدًا؟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أَطَّلَعَ الْغَيْبَ أَمِ اتَّخَذَ عِندَ الرَّحْمَٰنِ عَهْدًا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أاطّلع على الغيب، أم أخذ عند الرحمن عهدًا بذلك؟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٧٩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سَنَكْتُبُ مَا يَقُولُ وَنَمُدُّ لَهُ مِنَ الْعَذَابِ مَدًّا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سنكتب ما يقول، ونزيد له من العذاب زيادة.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وَنَرِثُهُ مَا يَقُولُ وَيَأْتِينَا فَرْدًا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ونرث ما يقول من المال والولد، ويأتينا يوم القيامة وحيدًا بلا مال ولا ولد.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وَاتَّخَذُواْ مِن دُونِ اللَّهِ ءَالِهَةً لِّيَكُونُواْ لَهُمْ عِزًّا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واتّخذ المشركون من دون الله آلهة ليكونوا لهم عزًّا ونصرة.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سَيَكْفُرُونَ بِعِبَادَتِهِمْ وَيَكُونُونَ عَلَيْهِمْ ضِدًّا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ستتبرّأ الآلهة من عبادتهم، ويكونون عليهم أعداء.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أَنَّآ أَرْسَلْنَا الشَّيَٰطِينَ عَلَى الْكَٰفِرِينَ تَؤُزُّهُمْ أَزًّا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أنا سلّطنا الشياطين على الكافرين تحرّكهم إلى المعاصي تحريكًا؟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تَعْجَلْ عَلَيْهِمْ إِنَّمَا نَعُدُّ لَهُمْ عَدًّا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تستعجل عليهم بالعذاب، إنما نعدّ أعمارهم وأعمالهم عدًّا.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نَحْشُرُ الْمُتَّقِينَ إِلَى الرَّحْمَٰنِ وَفْدًا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نجمع المتقين إلى الرحمن وفدًا مكرَّمين.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وَنَسُوقُ الْمُجْرِمِينَ إِلَىٰ جَهَنَّمَ وِرْدًا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ونسوق المجرمين إلى جهنم عطاشًا.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٨٧ – ٩٠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يَمْلِكُونَ الشَّفَٰعَةَ إِلَّا مَنِ اتَّخَذَ عِندَ الرَّحْمَٰنِ عَهْدًا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يملكون الشفاعة، إلا من اتّخذ عند الرحمن عهدًا بالإيمان والعمل الصالح.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اتَّخَذَ الرَّحْمَٰنُ وَلَدًا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اتّخذ الرحمن ولدًا.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جِئْتُمْ شَيْـًٔا إِدًّا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جئتم بقول منكر عظيم.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تَكَادُ السَّمَٰوَٰتُ يَتَفَطَّرْنَ مِنْهُ وَتَنشَقُّ الْأَرْضُ وَتَخِرُّ الْجِبَالُ هَدًّا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تكاد السماوات يتشقّقن منه، وتنشقّ الأرض، وتسقط الجبال هدمًا.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٩١ – ٩٤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دَعَوْاْ لِلرَّحْمَٰنِ وَلَدًا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لأنهم نسبوا للرحمن ولدًا.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يَنبَغِي لِلرَّحْمَٰنِ أَن يَتَّخِذَ وَلَدًا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ينبغي للرحمن أن يتّخذ ولدًا.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كُلُّ مَن فِي السَّمَٰوَٰتِ وَالْأَرْضِ إِلَّآ ءَاتِي الرَّحْمَٰنِ عَبْدًا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كل من في السماوات والأرض إلا سيأتي الرحمن عبدًا خاضعًا.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أَحْصَىٰهُمْ وَعَدَّهُمْ عَدًّا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أحصاهم وعدّهم عدًّا دقيقًا.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مريم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٩٥ – ٩٨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وَكُلُّهُمْ ءَاتِيهِ يَوْمَ الْقِيَٰمَةِ فَرْدًا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وكلهم آتيه يوم القيامة وحيدًا.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سَيَجْعَلُ لَهُمُ الرَّحْمَٰنُ وُدًّا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الصالحين سيجعل لهم الرحمن محبة في قلوب عباده.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فَإِنَّمَا يَسَّرْنَٰهُ بِلِسَانِكَ لِتُبَشِّرَ بِهِ الْمُتَّقِينَ وَتُنذِرَ بِهِ قَوْمًا لُّدًّا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فإنما سهّلنا القرآن بلغتك لتبشّر به المتقين، وتنذر به قومًا شديدي الخصومة.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وَكَمْ أَهْلَكْنَا قَبْلَهُم مِّن قَرْنٍ هَلْ تُحِسُّ مِنْهُم مِّنْ أَحَدٍ أَوْ تَسْمَعُ لَهُمْ رِكْزًا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أهلكنا قبلهم من أمم، هل ترى منهم أحدًا أو تسمع لهم صوتًا خفيًّا؟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الكهف</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٧٥ – ١١٠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سأل المشركون النبي صلى الله عليه وسلم بتعليم من اليهود عن الرجل الطوّاف الذي بلغ مشارق الأرض ومغاربها، فأنزل الله: ﴿ويسألونك عن ذي القرنين قل سأتلو عليكم منه ذكرًا﴾ (ذكره ابن كثير عن ابن عباس).</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يبدأ هذا الجزء من الآية ٧٥: تفسير الخضر لأفعاله الثلاثة وحِكم الله الخفية، وقصة ذي القرنين الملك الصالح وبناء السد على يأجوج ومأجوج، وختام السورة بالإخلاص.</a:t>
            </a:r>
            <a:endParaRPr lang="ar-SA"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أَلَمْ أَقُل لَّكَ إِنَّكَ لَن تَسْتَطِيعَ مَعِيَ صَبْرًا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الخضر: ألم أقل لك إنك لن تستطيع معي صبرًا؟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 سَأَلْتُكَ عَن شَيْءٍ بَعْدَهَا فَلَا تُصَٰحِبْنِي قَدْ بَلَغْتَ مِن لَّدُنِّي عُذْرًا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إن سألتك عن شيء بعد هذه المرة فلا تصاحبني، قد بلغت من جهتي العذر.</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فَانطَلَقَا حَتَّىٰ إِذَآ أَتَيَآ أَهْلَ قَرْيَةٍ اسْتَطْعَمَآ أَهْلَهَا فَأَبَوْاْ أَن يُضَيِّفُوهُمَا فَوَجَدَا فِيهَا جِدَارًا يُرِيدُ أَن يَنقَضَّ فَأَقَامَهُ قَالَ لَوْ شِئْتَ لَتَّخَذْتَ عَلَيْهِ أَجْرًا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فانطلقا حتى إذا أتيا أهل قرية طلبا منهم طعامًا فرفضوا أن يضيّفوهما، فوجدا فيها جدارًا مائلًا يكاد يسقط، فأقامه الخضر، قال موسى: لو شئت لأخذت عليه أجرًا.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هَٰذَا فِرَاقُ بَيْنِي وَبَيْنِكَ سَأُنَبِّئُكَ بِتَأْوِيلِ مَا لَمْ تَسْتَطِع عَّلَيْهِ صَبْرًا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الخضر: هذا وقت الفراق بيني وبينك، سأخبرك بتفسير ما لم تستطع عليه صبرًا.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أَمَّا السَّفِينَةُ فَكَانَتْ لِمَسَٰكِينَ يَعْمَلُونَ فِي الْبَحْرِ فَأَرَدتُّ أَنْ أَعِيبَهَا وَكَانَ وَرَآءَهُم مَّلِكٌ يَأْخُذُ كُلَّ سَفِينَةٍ غَصْبًا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أما السفينة فكانت لمساكين يعملون في البحر، فأردت أن أعيبها، لأن أمامهم ملكًا ظالمًا يأخذ كل سفينة سليمة غصبًا.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الْغُلَٰمُ فَكَانَ أَبَوَاهُ مُؤْمِنَيْنِ فَخَشِينَآ أَن يُرْهِقَهُمَا طُغْيَٰنًا وَكُفْرًا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الغلام فكان أبواه مؤمنين، فخشينا أن يُوقعهما في الطغيان والكفر لشدة حبهما 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55905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فَأَرَدْنَآ أَن يُبْدِلَهُمَا رَبُّهُمَا خَيْرًا مِّنْهُ زَكَوٰةً وَأَقْرَبَ رُحْمًا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فأردنا أن يُبدلهما ربهما ولدًا خيرًا منه صلاحًا، وأكثر برًّا ورحمة بهما.</a:t>
            </a:r>
            <a:endParaRPr lang="ar-SA" sz="3200" dirty="0"/>
          </a:p>
        </p:txBody>
      </p:sp>
      <p:sp>
        <p:nvSpPr>
          <p:cNvPr id="9" name="Shape 7"/>
          <p:cNvSpPr/>
          <p:nvPr/>
        </p:nvSpPr>
        <p:spPr>
          <a:xfrm>
            <a:off x="2103120" y="2743200"/>
            <a:ext cx="8641080" cy="0"/>
          </a:xfrm>
          <a:prstGeom prst="line">
            <a:avLst/>
          </a:prstGeom>
          <a:noFill/>
          <a:ln w="9525">
            <a:solidFill>
              <a:schemeClr val="accent2"/>
            </a:solidFill>
            <a:prstDash val="dash"/>
          </a:ln>
        </p:spPr>
      </p:sp>
      <p:sp>
        <p:nvSpPr>
          <p:cNvPr id="10" name="Shape 8"/>
          <p:cNvSpPr/>
          <p:nvPr/>
        </p:nvSpPr>
        <p:spPr>
          <a:xfrm>
            <a:off x="10927080" y="3003804"/>
            <a:ext cx="548640" cy="548640"/>
          </a:xfrm>
          <a:prstGeom prst="star8">
            <a:avLst/>
          </a:prstGeom>
          <a:solidFill>
            <a:schemeClr val="accent2"/>
          </a:solidFill>
          <a:ln/>
        </p:spPr>
      </p:sp>
      <p:sp>
        <p:nvSpPr>
          <p:cNvPr id="11" name="Shape 9"/>
          <p:cNvSpPr/>
          <p:nvPr/>
        </p:nvSpPr>
        <p:spPr>
          <a:xfrm>
            <a:off x="11036808" y="31135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038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2985516"/>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الْجِدَارُ فَكَانَ لِغُلَٰمَيْنِ يَتِيمَيْنِ فِي الْمَدِينَةِ وَكَانَ تَحْتَهُ كَنزٌ لَّهُمَا وَكَانَ أَبُوهُمَا صَٰلِحًا فَأَرَادَ رَبُّكَ أَن يَبْلُغَآ أَشُدَّهُمَا وَيَسْتَخْرِجَا كَنزَهُمَا رَحْمَةً مِّن رَّبِّكَ وَمَا فَعَلْتُهُ عَنْ أَمْرِي ذَٰلِكَ تَأْوِيلُ مَا لَمْ تَسْطِع عَّلَيْهِ صَبْرًا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الجدار فكان لغلامين يتيمين في المدينة، وكان تحته كنز لهما، وكان أبوهما رجلًا صالحًا، فأراد ربك أن يكبرا ويستخرجا كنزهما رحمة من ربك، وما فعلته من عند نفسي بل بأمر الله، ذلك تفسير ما لم تستطع عليه صبرًا.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وَيَسْـَٔلُونَكَ عَن ذِي الْقَرْنَيْنِ قُلْ سَأَتْلُواْ عَلَيْكُم مِّنْهُ ذِكْرًا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ويسألك المشركون عن ذي القرنين، قل: سأقرأ عليكم من خبره ما فيه عبرة.</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مَكَّنَّا لَهُ فِي الْأَرْضِ وَءَاتَيْنَٰهُ مِن كُلِّ شَيْءٍ سَبَبًا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مكّنّا له في الأرض بالملك، وأعطيناه من كل شيء وسيلة توصله إلى مقصوده.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فَأَتْبَعَ سَبَبًا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فسلك طريقًا نحو المغرب.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بَلَغَ مَغْرِبَ الشَّمْسِ وَجَدَهَا تَغْرُبُ فِي عَيْنٍ حَمِئَةٍ وَوَجَدَ عِندَهَا قَوْمًا قُلْنَا يَٰذَا الْقَرْنَيْنِ إِمَّآ أَن تُعَذِّبَ وَإِمَّآ أَن تَتَّخِذَ فِيهِمْ حُسْنًا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بلغ مكان غروب الشمس رآها في نظر العين تغرب في عين ذات طين أسود، ووجد عندها قومًا، قلنا: يا ذا القرنين، إما أن تعذّبهم، وإما أن تُحسن إليهم.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أَمَّا مَن ظَلَمَ فَسَوْفَ نُعَذِّبُهُ ثُمَّ يُرَدُّ إِلَىٰ رَبِّهِ فَيُعَذِّبُهُ عَذَابًا نُّكْرًا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أما من ظلم بالكفر فسوف نعذّبه، ثم يُرد إلى ربه فيعذّبه عذابًا منكرًا.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مَنْ ءَامَنَ وَعَمِلَ صَٰلِحًا فَلَهُ جَزَآءً الْحُسْنَىٰ وَسَنَقُولُ لَهُ مِنْ أَمْرِنَا يُسْرًا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من آمن وعمل صالحًا فله الجنة، وسنقول له من أمرنا قولًا سهلًا.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٨٩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أَتْبَعَ سَبَبًا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سلك طريقًا نحو المشرق.</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بَلَغَ مَطْلِعَ الشَّمْسِ وَجَدَهَا تَطْلُعُ عَلَىٰ قَوْمٍ لَّمْ نَجْعَل لَّهُم مِّن دُونِهَا سِتْرًا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بلغ مكان طلوع الشمس وجدها تطلع على قوم لم نجعل لهم ما يسترهم من حرّها من بناء أو شجر.</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وَقَدْ أَحَطْنَا بِمَا لَدَيْهِ خُبْرًا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كان أمره، وقد أحطنا بما عنده علمًا.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أَتْبَعَ سَبَبًا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سلك طريقًا ثالثًا.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بَلَغَ بَيْنَ السَّدَّيْنِ وَجَدَ مِن دُونِهِمَا قَوْمًا لَّا يَكَادُونَ يَفْقَهُونَ قَوْلًا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بلغ بين جبلين، وجد من دونهما قومًا لا يكادون يفهمون كلام غيرهم.</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يَٰذَا الْقَرْنَيْنِ إِنَّ يَأْجُوجَ وَمَأْجُوجَ مُفْسِدُونَ فِي الْأَرْضِ فَهَلْ نَجْعَلُ لَكَ خَرْجًا عَلَىٰ أَن تَجْعَلَ بَيْنَنَا وَبَيْنَهُمْ سَدًّا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ذا القرنين، إن يأجوج ومأجوج مفسدون في الأرض، فهل نجعل لك أجرًا على أن تجعل بيننا وبينهم سدًّا؟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٩٥ – ٩٧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مَا مَكَّنِّي فِيهِ رَبِّي خَيْرٌ فَأَعِينُونِي بِقُوَّةٍ أَجْعَلْ بَيْنَكُمْ وَبَيْنَهُمْ رَدْمًا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ما أعطاني ربي من الملك خير من أجركم، فأعينوني بقوتكم وعمّالكم أجعل بينكم وبينهم حاجزًا قويًّا.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ءَاتُونِي زُبَرَ الْحَدِيدِ حَتَّىٰ إِذَا سَاوَىٰ بَيْنَ الصَّدَفَيْنِ قَالَ انفُخُواْ حَتَّىٰ إِذَا جَعَلَهُ نَارًا قَالَ ءَاتُونِي أُفْرِغْ عَلَيْهِ قِطْرًا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أعطوني قطع الحديد، حتى إذا ساوى بين جانبي الجبلين، قال: انفخوا عليه بالمنافخ، حتى إذا صار نارًا، قال: أعطوني نحاسًا مذابًا أصبّه عليه.</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اسْطَٰعُواْ أَن يَظْهَرُوهُ وَمَا اسْتَطَٰعُواْ لَهُ نَقْبًا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استطاع يأجوج ومأجوج أن يصعدوا فوقه لارتفاعه وملاسته، وما استطاعوا أن يثقبوه لصلابته.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٩٨ –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8" name="Text 6"/>
          <p:cNvSpPr txBox="1"/>
          <p:nvPr/>
        </p:nvSpPr>
        <p:spPr>
          <a:xfrm>
            <a:off x="731520" y="160020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هَٰذَا رَحْمَةٌ مِّن رَّبِّي فَإِذَا جَآءَ وَعْدُ رَبِّي جَعَلَهُ دَكَّآءَ وَكَانَ وَعْدُ رَبِّي حَقًّا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ذو القرنين: هذا السدّ رحمة من ربي، فإذا جاء وعد ربي بخروجهم قرب الساعة جعله مستويًا بالأرض، وكان وعد ربي حقًّا.</a:t>
            </a:r>
            <a:endParaRPr lang="ar-SA" sz="3200" dirty="0"/>
          </a:p>
        </p:txBody>
      </p:sp>
      <p:sp>
        <p:nvSpPr>
          <p:cNvPr id="9" name="Shape 7"/>
          <p:cNvSpPr/>
          <p:nvPr/>
        </p:nvSpPr>
        <p:spPr>
          <a:xfrm>
            <a:off x="2103120" y="3122676"/>
            <a:ext cx="8641080" cy="0"/>
          </a:xfrm>
          <a:prstGeom prst="line">
            <a:avLst/>
          </a:prstGeom>
          <a:noFill/>
          <a:ln w="9525">
            <a:solidFill>
              <a:schemeClr val="accent2"/>
            </a:solidFill>
            <a:prstDash val="dash"/>
          </a:ln>
        </p:spPr>
      </p:sp>
      <p:sp>
        <p:nvSpPr>
          <p:cNvPr id="10" name="Shape 8"/>
          <p:cNvSpPr/>
          <p:nvPr/>
        </p:nvSpPr>
        <p:spPr>
          <a:xfrm>
            <a:off x="10927080" y="3383280"/>
            <a:ext cx="548640" cy="548640"/>
          </a:xfrm>
          <a:prstGeom prst="star8">
            <a:avLst/>
          </a:prstGeom>
          <a:solidFill>
            <a:schemeClr val="accent2"/>
          </a:solidFill>
          <a:ln/>
        </p:spPr>
      </p:sp>
      <p:sp>
        <p:nvSpPr>
          <p:cNvPr id="11" name="Shape 9"/>
          <p:cNvSpPr/>
          <p:nvPr/>
        </p:nvSpPr>
        <p:spPr>
          <a:xfrm>
            <a:off x="11036808" y="34930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832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3" name="Text 11"/>
          <p:cNvSpPr txBox="1"/>
          <p:nvPr/>
        </p:nvSpPr>
        <p:spPr>
          <a:xfrm>
            <a:off x="731520" y="33649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وَتَرَكْنَا بَعْضَهُمْ يَوْمَئِذٍ يَمُوجُ فِي بَعْضٍ وَنُفِخَ فِي الصُّورِ فَجَمَعْنَٰهُمْ جَمْعًا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وتركنا يأجوج ومأجوج يومئذ يختلط بعضهم ببعض، ونُفخ في البوق، فجمعنا الخلائق جميعًا.</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وَعَرَضْنَا جَهَنَّمَ يَوْمَئِذٍ لِّلْكَٰفِرِينَ عَرْضًا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وأظهرنا جهنم يومئذ للكافرين ظاهرة يرونها.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١٠١ – ١٠٣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كَانَتْ أَعْيُنُهُمْ فِي غِطَآءٍ عَن ذِكْرِي وَكَانُواْ لَا يَسْتَطِيعُونَ سَمْعًا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كانت أعينهم في غطاء عن آيات الله، وكانوا لا يستطيعون سماع الحق.</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أَفَحَسِبَ الَّذِينَ كَفَرُواْ أَن يَتَّخِذُواْ عِبَادِي مِن دُونِي أَوْلِيَآءَ إِنَّآ أَعْتَدْنَا جَهَنَّمَ لِلْكَٰفِرِينَ نُزُلًا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أفظن الكفار أن يتّخذوا عبادي كالملائكة والأنبياء آلهة من دوني؟ إنا أعددنا جهنم للكافرين منزلًا.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هَلْ نُنَبِّئُكُم بِالْأَخْسَرِينَ أَعْمَٰلًا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هل نخبركم بأخسر الناس أعمالًا؟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١٠٤ – ١٠٦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ضَلَّ سَعْيُهُمْ فِي الْحَيَوٰةِ الدُّنْيَا وَهُمْ يَحْسَبُونَ أَنَّهُمْ يُحْسِنُونَ صُنْعًا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ضاع عملهم في الحياة الدنيا، وهم يظنون أنهم يُحسنون عملًا.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كَفَرُواْ بِـَٔايَٰتِ رَبِّهِمْ وَلِقَآئِهِ فَحَبِطَتْ أَعْمَٰلُهُمْ فَلَا نُقِيمُ لَهُمْ يَوْمَ الْقِيَٰمَةِ وَزْنًا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كفروا بآيات ربهم ولقائه، فبطلت أعمالهم، فلا نقيم لهم يوم القيامة وزنًا.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جَزَآؤُهُمْ جَهَنَّمُ بِمَا كَفَرُواْ وَاتَّخَذُواْ ءَايَٰتِي وَرُسُلِي هُزُوًا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جزاؤهم جهنم بكفرهم، واتّخاذهم آياتي ورسلي سخرية.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١٠٧ – ١٠٩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كَانَتْ لَهُمْ جَنَّـٰتُ الْفِرْدَوْسِ نُزُلًا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الصالحين كانت لهم جنات الفردوس، أعلى الجنة، منزلًا.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خَٰلِدِينَ فِيهَا لَا يَبْغُونَ عَنْهَا حِوَلًا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خالدين فيها، لا يطلبون عنها تحوّلًا.</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لَّوْ كَانَ الْبَحْرُ مِدَادًا لِّكَلِمَٰتِ رَبِّي لَنَفِدَ الْبَحْرُ قَبْلَ أَن تَنفَدَ كَلِمَٰتُ رَبِّي وَلَوْ جِئْنَا بِمِثْلِهِ مَدَدًا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لو كان البحر حبرًا تُكتب به كلمات ربي لنفد البحر قبل أن تنفد كلمات ربي، ولو جئنا بمثله زيادة.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الكهف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إِنَّمَآ أَنَا بَشَرٌ مِّثْلُكُمْ يُوحَىٰ إِلَيَّ أَنَّمَآ إِلَٰهُكُمْ إِلَٰهٌ وَٰحِدٌ فَمَن كَانَ يَرْجُواْ لِقَآءَ رَبِّهِ فَلْيَعْمَلْ عَمَلًا صَٰلِحًا وَلَا يُشْرِكْ بِعِبَادَةِ رَبِّهِ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إنما أنا بشر مثلكم يوحى إليّ أنما إلهكم إله واحد، فمن كان يرجو لقاء ربه فليعمل عملًا صالحًا، ولا يُشرك بعبادة ربه أحدًا.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pic>
        <p:nvPicPr>
          <p:cNvPr id="2" name="Image 0" descr="assets16/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16/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16 Tafsir">
  <a:themeElements>
    <a:clrScheme name="Juz 16 Tafsir">
      <a:dk1>
        <a:srgbClr val="2D2720"/>
      </a:dk1>
      <a:lt1>
        <a:srgbClr val="FFFFFF"/>
      </a:lt1>
      <a:dk2>
        <a:srgbClr val="8A5A12"/>
      </a:dk2>
      <a:lt2>
        <a:srgbClr val="FDF9F0"/>
      </a:lt2>
      <a:accent1>
        <a:srgbClr val="8A5A12"/>
      </a:accent1>
      <a:accent2>
        <a:srgbClr val="C9A04A"/>
      </a:accent2>
      <a:accent3>
        <a:srgbClr val="A6731F"/>
      </a:accent3>
      <a:accent4>
        <a:srgbClr val="6B6255"/>
      </a:accent4>
      <a:accent5>
        <a:srgbClr val="F5EBD8"/>
      </a:accent5>
      <a:accent6>
        <a:srgbClr val="2F6B5E"/>
      </a:accent6>
      <a:hlink>
        <a:srgbClr val="A6731F"/>
      </a:hlink>
      <a:folHlink>
        <a:srgbClr val="6B6255"/>
      </a:folHlink>
    </a:clrScheme>
    <a:fontScheme name="Juz 16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91</Slides>
  <Notes>91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91</vt:i4>
      </vt:variant>
    </vt:vector>
  </HeadingPairs>
  <TitlesOfParts>
    <vt:vector size="9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قال ألم — مبسّط من تفسير ابن كثير</dc:title>
  <dc:subject>PptxGenJS Presentation</dc:subject>
  <dc:creator>معلم القرآن الكريم</dc:creator>
  <cp:lastModifiedBy>معلم القرآن الكريم</cp:lastModifiedBy>
  <cp:revision>1</cp:revision>
  <dcterms:created xsi:type="dcterms:W3CDTF">2026-10-03T22:31:45Z</dcterms:created>
  <dcterms:modified xsi:type="dcterms:W3CDTF">2026-10-03T22:31:45Z</dcterms:modified>
</cp:coreProperties>
</file>