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ceb14081-8ccf-97f1-7f4d-023939ee4481}">
          <p14:sldIdLst>
            <p14:sldId id="256"/>
            <p14:sldId id="257"/>
            <p14:sldId id="258"/>
          </p14:sldIdLst>
        </p14:section>
        <p14:section name="سورة الحج" id="{f3dd79c7-a826-a659-487d-969b8b09be7e}">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سورة الأنبياء" id="{c9750f5a-7a4f-27e9-6c55-b3594e59c91f}">
          <p14:sldIdLst>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Lst>
        </p14:section>
        <p14:section name="الخاتمة" id="{8f0b03ff-c61e-725f-5ddb-626e5fb37935}">
          <p14:sldIdLst>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الحج ثم نصعد سورةً سورة حتى نصل إلى سورة الأنبياء،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نذبح الأضاحي؟ وما الذي يصل إلى الله منها (الآية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قال يونس في بطن الحوت (الآية 87)؟ ومتى ندعو بهذا الدعاء؟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7/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7/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7/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4.xml"/><Relationship Id="rId4"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7/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اقترب</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17/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الحج إلى سورة الأنبياء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الكحلي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اقترب</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الحج صعودًا إلى سورة الأنبياء</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الحج</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الأنبياء</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الحج</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٧٨</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٢٢</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عليّ رضي الله عنه: فينا نزلت هذه الآية: ﴿هذان خصمان اختصموا في ربهم﴾، وهم الذين تبارزوا يوم بدر: عليّ وحمزة وعبيدة بن الحارث، مع عتبة وشيبة والوليد بن عتبة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أهوال الساعة ودلائل البعث، وقصة بناء إبراهيم للبيت والأذان بالحج، ومناسك الحج وتعظيم شعائر الله، والإذن للمؤمنين بالدفاع عن أنفسهم، ومثل الذباب الذي يُظهر عجز الأصنام.</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اتَّقُواْ رَبَّكُمْ إِنَّ زَلْزَلَةَ السَّاعَةِ شَيْءٌ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اتقوا ربكم، إن زلزلة الأرض عند قيام الساعة شيء عظيم.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تَرَوْنَهَا تَذْهَلُ كُلُّ مُرْضِعَةٍ عَمَّآ أَرْضَعَتْ وَتَضَعُ كُلُّ ذَاتِ حَمْلٍ حَمْلَهَا وَتَرَى النَّاسَ سُكَٰرَىٰ وَمَا هُم بِسُكَٰرَىٰ وَلَٰكِنَّ عَذَابَ اللَّهِ 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ترونها تنسى كل مرضعة رضيعها من شدة الهول، وتُسقط كل حامل حملها، وترى الناس كأنهم سكارى من الخوف وما هم بسكارى، ولكن عذاب الله شديد.</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النَّاسِ مَن يُجَٰدِلُ فِي اللَّهِ بِغَيْرِ عِلْمٍ وَيَتَّبِعُ كُلَّ شَيْطَٰنٍ مَّرِيدٍ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الناس من يجادل في الله بغير علم، ويتّبع كل شيطان متمرّد.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3214116"/>
            <a:ext cx="548640" cy="548640"/>
          </a:xfrm>
          <a:prstGeom prst="star8">
            <a:avLst/>
          </a:prstGeom>
          <a:solidFill>
            <a:schemeClr val="accent2"/>
          </a:solidFill>
          <a:ln/>
        </p:spPr>
      </p:sp>
      <p:sp>
        <p:nvSpPr>
          <p:cNvPr id="6" name="Shape 4"/>
          <p:cNvSpPr/>
          <p:nvPr/>
        </p:nvSpPr>
        <p:spPr>
          <a:xfrm>
            <a:off x="11036808" y="33238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كُتِبَ عَلَيْهِ أَنَّهُ مَن تَوَلَّاهُ فَأَنَّهُ يُضِلُّهُ وَيَهْدِيهِ إِلَىٰ عَذَابِ السَّعِيرِ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كُتب على الشيطان أن من اتّبعه فإنه يُضلّه، ويقوده إلى عذاب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7028"/>
            <a:ext cx="548640" cy="548640"/>
          </a:xfrm>
          <a:prstGeom prst="star8">
            <a:avLst/>
          </a:prstGeom>
          <a:solidFill>
            <a:schemeClr val="accent2"/>
          </a:solidFill>
          <a:ln/>
        </p:spPr>
      </p:sp>
      <p:sp>
        <p:nvSpPr>
          <p:cNvPr id="6" name="Shape 4"/>
          <p:cNvSpPr/>
          <p:nvPr/>
        </p:nvSpPr>
        <p:spPr>
          <a:xfrm>
            <a:off x="11036808" y="14767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70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8740"/>
            <a:ext cx="10012680" cy="46634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إِن كُنتُمْ فِي رَيْبٍ مِّنَ الْبَعْثِ فَإِنَّا خَلَقْنَٰكُم مِّن تُرَابٍ ثُمَّ مِن نُّطْفَةٍ ثُمَّ مِنْ عَلَقَةٍ ثُمَّ مِن مُّضْغَةٍ مُّخَلَّقَةٍ وَغَيْرِ مُخَلَّقَةٍ لِّنُبَيِّنَ لَكُمْ وَنُقِرُّ فِي الْأَرْحَامِ مَا نَشَآءُ إِلَىٰ أَجَلٍ مُّسَمًّى ثُمَّ نُخْرِجُكُمْ طِفْلًا ثُمَّ لِتَبْلُغُواْ أَشُدَّكُمْ وَمِنكُم مَّن يُتَوَفَّىٰ وَمِنكُم مَّن يُرَدُّ إِلَىٰ أَرْذَلِ الْعُمُرِ لِكَيْلَا يَعْلَمَ مِن بَعْدِ عِلْمٍ شَيْـًٔا وَتَرَى الْأَرْضَ هَامِدَةً فَإِذَآ أَنزَلْنَا عَلَيْهَا الْمَآءَ اهْتَزَّتْ وَرَبَتْ وَأَنبَتَتْ مِن كُلِّ زَوْجٍ بَهِيجٍ</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إن كنتم في شك من البعث فتأمّلوا: خلقنا أباكم من تراب، ثم خلقناكم من نطفة، ثم من دم متجمّد، ثم من قطعة لحم مصوّرة وغير مصوّرة، لنبيّن لكم قدرتنا، ونُبقي في الأرحام ما نشاء إلى وقت الولادة، ثم نُخرجكم أطفالًا، ثم لتبلغوا قوّتكم، ومنكم من يموت، ومنكم من يُردّ إلى أضعف العمر فلا يعلم بعد علم شيئًا، وترى الأرض يابسة فإذا أنزلنا عليها المطر تحرّكت بالنبات وارتفعت وأنبتت من كل صنف حسن.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 اللَّهَ هُوَ الْحَقُّ وَأَنَّهُ يُحْيِ الْمَوْتَىٰ وَأَنَّهُ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 الله هو الحق، وأنه يُحيي الموتى، وأنه على كل شيء قدير.</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السَّاعَةَ ءَاتِيَةٌ لَّا رَيْبَ فِيهَا وَأَنَّ اللَّهَ يَبْعَثُ مَن فِي الْقُبُورِ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القيامة آتية لا شك فيها، وأن الله يبعث من في القبور.</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النَّاسِ مَن يُجَٰدِلُ فِي اللَّهِ بِغَيْرِ عِلْمٍ وَلَا هُدًى وَلَا كِتَٰبٍ مُّنِيرٍ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الناس من يجادل في الله بغير علم، ولا دليل، ولا كتاب منير.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ثَانِيَ عِطْفِهِ لِيُضِلَّ عَن سَبِيلِ اللَّهِ لَهُ فِي الدُّنْيَا خِزْيٌ وَنُذِيقُهُ يَوْمَ الْقِيَٰمَةِ عَذَابَ الْحَرِيقِ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لاويًا عنقه تكبّرًا، ليُضلّ الناس عن دين الله، له في الدنيا ذلّ، ونذيقه يوم القيامة عذاب النار المحرقة.</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بِمَا قَدَّمَتْ يَدَاكَ وَأَنَّ اللَّهَ لَيْسَ بِظَلَّـٰمٍ لِّلْعَبِيدِ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 ذلك بما قدّمت يداك، وأن الله ليس بظالم للعبيد.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النَّاسِ مَن يَعْبُدُ اللَّهَ عَلَىٰ حَرْفٍ فَإِنْ أَصَابَهُ خَيْرٌ اطْمَأَنَّ بِهِ وَإِنْ أَصَابَتْهُ فِتْنَةٌ انقَلَبَ عَلَىٰ وَجْهِهِ خَسِرَ الدُّنْيَا وَالْأخِرَةَ ذَٰلِكَ هُوَ الْخُسْرَانُ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الناس من يعبد الله على شك وتردّد، فإن أصابه خير اطمأنّ، وإن أصابه بلاء رجع عن دينه، خسر الدنيا والآخرة، ذلك هو الخسران الواضح.</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يَدْعُواْ مِن دُونِ اللَّهِ مَا لَا يَضُرُّهُ وَمَا لَا يَنفَعُهُ ذَٰلِكَ هُوَ الضَّلَٰلُ الْبَعِيدُ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يعبد من دون الله ما لا يضرّه ولا ينفعه، ذلك هو الضلال البعيد.</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يَدْعُواْ لَمَن ضَرُّهُ أَقْرَبُ مِن نَّفْعِهِ لَبِئْسَ الْمَوْلَىٰ وَلَبِئْسَ الْعَشِيرُ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يعبد من ضرّه أقرب من نفعه، لبئس الناصر، ولبئس الصاحب.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يُدْخِلُ الَّذِينَ ءَامَنُواْ وَعَمِلُواْ الصَّـٰلِحَٰتِ جَنَّـٰتٍ تَجْرِي مِن تَحْتِهَا الْأَنْهَٰرُ إِنَّ اللَّهَ يَفْعَلُ مَا يُرِيدُ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يُدخل المؤمنين الصالحين جنات تجري من تحتها الأنهار، إن الله يفعل ما يريد.</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كَانَ يَظُنُّ أَن لَّن يَنصُرَهُ اللَّهُ فِي الدُّنْيَا وَالْأخِرَةِ فَلْيَمْدُدْ بِسَبَبٍ إِلَى السَّمَآءِ ثُمَّ لْيَقْطَعْ فَلْيَنظُرْ هَلْ يُذْهِبَنَّ كَيْدُهُ مَا يَغِيظُ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كان يظن أن الله لن ينصر نبيّه في الدنيا والآخرة فليمدد حبلًا إلى سقف بيته ثم ليختنق به، فلينظر هل يُذهب ذلك غيظه؟ فإن الله ناصره لا محالة.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أَنزَلْنَٰهُ ءَايَٰتٍ بَيِّنَٰتٍ وَأَنَّ اللَّهَ يَهْدِي مَن يُرِيدُ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أنزلنا القرآن آيات واضحات، وأن الله يهدي من يريد.</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وَالَّذِينَ هَادُواْ وَالصَّـٰبِـِٔينَ وَالنَّصَٰرَىٰ وَالْمَجُوسَ وَالَّذِينَ أَشْرَكُواْ إِنَّ اللَّهَ يَفْصِلُ بَيْنَهُمْ يَوْمَ الْقِيَٰمَةِ إِنَّ اللَّهَ عَلَىٰ كُلِّ شَيْءٍ شَهِيدٌ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المؤمنين، واليهود، والصابئين، والنصارى، والمجوس، والمشركين، إن الله يفصل بينهم يوم القيامة، إن الله على كل شيء شهيد.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اللَّهَ يَسْجُدُ لَهُ مَن فِي السَّمَٰوَٰتِ وَمَن فِي الْأَرْضِ وَالشَّمْسُ وَالْقَمَرُ وَالنُّجُومُ وَالْجِبَالُ وَالشَّجَرُ وَالدَّوَآبُّ وَكَثِيرٌ مِّنَ النَّاسِ وَكَثِيرٌ حَقَّ عَلَيْهِ الْعَذَابُ وَمَن يُهِنِ اللَّهُ فَمَا لَهُ مِن مُّكْرِمٍ إِنَّ اللَّهَ يَفْعَلُ مَا يَشَآءُ</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تعلم أن الله يسجد له من في السماوات ومن في الأرض، والشمس والقمر والنجوم والجبال والشجر والدواب، وكثير من الناس، وكثير وجب عليه العذاب، ومن يُهنه الله فما له من مُكرم، إن الله يفعل ما يشاء. وهنا موضع سجدة تلاوة.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هَٰذَانِ خَصْمَانِ اخْتَصَمُواْ فِي رَبِّهِمْ فَالَّذِينَ كَفَرُواْ قُطِّعَتْ لَهُمْ ثِيَابٌ مِّن نَّارٍ يُصَبُّ مِن فَوْقِ رُءُوسِهِمُ الْحَمِيمُ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هذان فريقان اختصموا في ربهم: المؤمنون والكافرون، فالكفار فُصّلت لهم ثياب من نار، يُصبّ من فوق رؤوسهم الماء الحار. ونزلت في الذين تبارزوا يوم بدر (البخاري).</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يُصْهَرُ بِهِ مَا فِي بُطُونِهِمْ وَالْجُلُودُ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يُذاب به ما في بطونهم وجلودهم.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وَلَهُم مَّقَٰمِعُ مِنْ حَدِيدٍ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ولهم مطارق من حديد يُضربون بها.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كُلَّمَآ أَرَادُواْ أَن يَخْرُجُواْ مِنْهَا مِنْ غَمٍّ أُعِيدُواْ فِيهَا وَذُوقُواْ عَذَابَ الْحَرِيقِ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كلما أرادوا أن يخرجوا منها من شدة الغمّ أُعيدوا فيها، وقيل: ذوقوا عذاب النار المحرقة.</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يُدْخِلُ الَّذِينَ ءَامَنُواْ وَعَمِلُواْ الصَّـٰلِحَٰتِ جَنَّـٰتٍ تَجْرِي مِن تَحْتِهَا الْأَنْهَٰرُ يُحَلَّوْنَ فِيهَا مِنْ أَسَاوِرَ مِن ذَهَبٍ وَلُؤْلُؤًا وَلِبَاسُهُمْ فِيهَا حَرِيرٌ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يُدخل المؤمنين الصالحين جنات تجري من تحتها الأنهار، يُزيَّنون فيها بأساور من ذهب ولؤلؤ، ولباسهم فيها حرير.</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وَهُدُواْ إِلَى الطَّيِّبِ مِنَ الْقَوْلِ وَهُدُواْ إِلَىٰ صِرَٰطِ الْحَمِيدِ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وهُدوا في الدنيا إلى الكلام الطيب كالتوحيد، وهُدوا إلى طريق الله المحمود.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وَيَصُدُّونَ عَن سَبِيلِ اللَّهِ وَالْمَسْجِدِ الْحَرَامِ الَّذِي جَعَلْنَٰهُ لِلنَّاسِ سَوَآءً الْعَٰكِفُ فِيهِ وَالْبَادِ وَمَن يُرِدْ فِيهِ بِإِلْحَادٍ بِظُلْمٍ نُّذِقْهُ مِنْ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الكفار الذين يصدّون عن دين الله وعن المسجد الحرام الذي جعلناه للناس سواء: المقيم فيه والقادم إليه، ومن يُرد فيه ميلًا عن الحق بظلم نُذقه من عذاب موجع.</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بَوَّأْنَا لِإِبْرَٰهِيمَ مَكَانَ الْبَيْتِ أَن لَّا تُشْرِكْ بِي شَيْـًٔا وَطَهِّرْ بَيْتِيَ لِلطَّآئِفِينَ وَالْقَآئِمِينَ وَالرُّكَّعِ السُّجُودِ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بيّنّا لإبراهيم مكان البيت ليبنيه، وقلنا: لا تُشرك بي شيئًا، وطهّر بيتي للطائفين، والمصلّين القائمين، والراكعين الساجدين.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وَأَذِّن فِي النَّاسِ بِالْحَجِّ يَأْتُوكَ رِجَالًا وَعَلَىٰ كُلِّ ضَامِرٍ يَأْتِينَ مِن كُلِّ فَجٍّ عَمِيقٍ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وناد في الناس بالحج، يأتوك ماشين، وراكبين على كل بعير ضامر من التعب، يأتين من كل طريق بعيد.</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لِّيَشْهَدُواْ مَنَٰفِعَ لَهُمْ وَيَذْكُرُواْ اسْمَ اللَّهِ فِي أَيَّامٍ مَّعْلُومَٰتٍ عَلَىٰ مَا رَزَقَهُم مِّن بَهِيمَةِ الْأَنْعَٰمِ فَكُلُواْ مِنْهَا وَأَطْعِمُواْ الْبَآئِسَ الْفَقِيرَ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ليحضروا منافع لهم في دينهم ودنياهم، ويذكروا اسم الله في أيام النحر عند ذبح ما رزقهم من الأنعام، فكلوا منها، وأطعموا الفقير الشديد الحاجة.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85166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لْيَقْضُواْ تَفَثَهُمْ وَلْيُوفُواْ نُذُورَهُمْ وَلْيَطَّوَّفُواْ بِالْبَيْتِ الْعَتِيقِ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ليُزيلوا ما عليهم من وسخ الإحرام بالحلق وتقليم الأظفار، وليوفوا بنذورهم، وليطوفوا بالبيت العتيق وهو الكعبة.</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6164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وَمَن يُعَظِّمْ حُرُمَٰتِ اللَّهِ فَهُوَ خَيْرٌ لَّهُ عِندَ رَبِّهِ وَأُحِلَّتْ لَكُمُ الْأَنْعَٰمُ إِلَّا مَا يُتْلَىٰ عَلَيْكُمْ فَاجْتَنِبُواْ الرِّجْسَ مِنَ الْأَوْثَٰنِ وَاجْتَنِبُواْ قَوْلَ الزُّورِ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أمر الله، ومن يعظّم ما حرّم الله فهو خير له عند ربه، وأُحلّت لكم الأنعام إلا ما يُقرأ عليكم تحريمه، فاجتنبوا النجس من عبادة الأصنام، واجتنبوا قول الكذب.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حُنَفَآءَ لِلَّهِ غَيْرَ مُشْرِكِينَ بِهِ وَمَن يُشْرِكْ بِاللَّهِ فَكَأَنَّمَا خَرَّ مِنَ السَّمَآءِ فَتَخْطَفُهُ الطَّيْرُ أَوْ تَهْوِي بِهِ الرِّيحُ فِي مَكَانٍ سَحِيقٍ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مستقيمين لله، غير مشركين به، ومن يُشرك بالله فكأنما سقط من السماء فتخطفه الطير، أو تُلقي به الريح في مكان بعيد فيهلك.</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وَمَن يُعَظِّمْ شَعَـٰئِرَ اللَّهِ فَإِنَّهَا مِن تَقْوَى الْقُلُوبِ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أمر الله، ومن يعظّم شعائر الله كالهدي ومناسك الحج فإن تعظيمها من تقوى القلوب.</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لَكُمْ فِيهَا مَنَٰفِعُ إِلَىٰ أَجَلٍ مُّسَمًّى ثُمَّ مَحِلُّهَآ إِلَى الْبَيْتِ الْعَتِيقِ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لكم في الهدي منافع كالركوب واللبن إلى وقت ذبحها، ثم مكان ذبحها عند البيت العتيق في الحرم.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وَلِكُلِّ أُمَّةٍ جَعَلْنَا مَنسَكًا لِّيَذْكُرُواْ اسْمَ اللَّهِ عَلَىٰ مَا رَزَقَهُم مِّن بَهِيمَةِ الْأَنْعَٰمِ فَإِلَٰهُكُمْ إِلَٰهٌ وَٰحِدٌ فَلَهُ أَسْلِمُواْ وَبَشِّرِ الْمُخْبِتِينَ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ولكل أمة شرعنا لهم ذبحًا يتقرّبون به، ليذكروا اسم الله على ما رزقهم من الأنعام، فإلهكم إله واحد فله أسلموا، وبشّر المتواضعين الخاشعين.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إِذَا ذُكِرَ اللَّهُ وَجِلَتْ قُلُوبُهُمْ وَالصَّـٰبِرِينَ عَلَىٰ مَآ أَصَابَهُمْ وَالْمُقِيمِي الصَّلَوٰةِ وَمِمَّا رَزَقْنَٰهُمْ يُنفِقُونَ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إذا ذُكر الله خافت قلوبهم، والصابرين على ما أصابهم، والمقيمين الصلاة، ومما رزقناهم ينفقون.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وَالْبُدْنَ جَعَلْنَٰهَا لَكُم مِّن شَعَـٰئِرِ اللَّهِ لَكُمْ فِيهَا خَيْرٌ فَاذْكُرُواْ اسْمَ اللَّهِ عَلَيْهَا صَوَآفَّ فَإِذَا وَجَبَتْ جُنُوبُهَا فَكُلُواْ مِنْهَا وَأَطْعِمُواْ الْقَانِعَ وَالْمُعْتَرَّ كَذَٰلِكَ سَخَّرْنَٰهَا لَكُمْ 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والإبل جعلناها لكم من شعائر الله، لكم فيها خير، فاذكروا اسم الله عليها عند نحرها قائمة مصفوفة، فإذا سقطت على جنوبها ميتة فكلوا منها، وأطعموا الفقير القانع، والسائل المتعرّض، كذلك سخّرناها لكم لعلكم تشكرون.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395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 يَنَالَ اللَّهَ لُحُومُهَا وَلَا دِمَآؤُهَا وَلَٰكِن يَنَالُهُ التَّقْوَىٰ مِنكُمْ كَذَٰلِكَ سَخَّرَهَا لَكُمْ لِتُكَبِّرُواْ اللَّهَ عَلَىٰ مَا هَدَىٰكُمْ وَبَشِّرِ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 يصل إلى الله لحومها ولا دماؤها، ولكن يصل إليه التقوى والإخلاص منكم، كذلك سخّرها لكم لتكبّروا الله على ما هداكم، وبشّر المحسنين.</a:t>
            </a:r>
            <a:endParaRPr lang="ar-SA" sz="3200" dirty="0"/>
          </a:p>
        </p:txBody>
      </p:sp>
      <p:sp>
        <p:nvSpPr>
          <p:cNvPr id="9" name="Shape 7"/>
          <p:cNvSpPr/>
          <p:nvPr/>
        </p:nvSpPr>
        <p:spPr>
          <a:xfrm>
            <a:off x="2103120" y="3346704"/>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يُدَٰفِعُ عَنِ الَّذِينَ ءَامَنُواْ إِنَّ اللَّهَ لَا يُحِبُّ كُلَّ خَوَّانٍ كَفُورٍ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يدفع عن المؤمنين كيد أعدائهم، إن الله لا يحب كل خائن جحود.</a:t>
            </a:r>
            <a:endParaRPr lang="ar-SA" sz="3200" dirty="0"/>
          </a:p>
        </p:txBody>
      </p:sp>
      <p:sp>
        <p:nvSpPr>
          <p:cNvPr id="14" name="Shape 12"/>
          <p:cNvSpPr/>
          <p:nvPr/>
        </p:nvSpPr>
        <p:spPr>
          <a:xfrm>
            <a:off x="2103120" y="4572000"/>
            <a:ext cx="8641080" cy="0"/>
          </a:xfrm>
          <a:prstGeom prst="line">
            <a:avLst/>
          </a:prstGeom>
          <a:noFill/>
          <a:ln w="9525">
            <a:solidFill>
              <a:schemeClr val="accent2"/>
            </a:solidFill>
            <a:prstDash val="dash"/>
          </a:ln>
        </p:spPr>
      </p:sp>
      <p:sp>
        <p:nvSpPr>
          <p:cNvPr id="15" name="Shape 13"/>
          <p:cNvSpPr/>
          <p:nvPr/>
        </p:nvSpPr>
        <p:spPr>
          <a:xfrm>
            <a:off x="10927080" y="4732020"/>
            <a:ext cx="548640" cy="548640"/>
          </a:xfrm>
          <a:prstGeom prst="star8">
            <a:avLst/>
          </a:prstGeom>
          <a:solidFill>
            <a:schemeClr val="accent2"/>
          </a:solidFill>
          <a:ln/>
        </p:spPr>
      </p:sp>
      <p:sp>
        <p:nvSpPr>
          <p:cNvPr id="16" name="Shape 14"/>
          <p:cNvSpPr/>
          <p:nvPr/>
        </p:nvSpPr>
        <p:spPr>
          <a:xfrm>
            <a:off x="11036808" y="484174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320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471373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أُذِنَ لِلَّذِينَ يُقَٰتَلُونَ بِأَنَّهُمْ ظُلِمُواْ وَإِنَّ اللَّهَ عَلَىٰ نَصْرِهِمْ لَقَدِيرٌ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أُذن للمؤمنين الذين يقاتلهم المشركون في القتال، لأنهم ظُلموا، وإن الله على نصرهم لقدير. وهي أول آية نزلت في الإذن بالقتال.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أُخْرِجُواْ مِن دِيَٰرِهِم بِغَيْرِ حَقٍّ إِلَّآ أَن يَقُولُواْ رَبُّنَا اللَّهُ وَلَوْلَا دَفْعُ اللَّهِ النَّاسَ بَعْضَهُم بِبَعْضٍ لَّهُدِّمَتْ صَوَٰمِعُ وَبِيَعٌ وَصَلَوَٰتٌ وَمَسَٰجِدُ يُذْكَرُ فِيهَا اسْمُ اللَّهِ كَثِيرًا وَلَيَنصُرَنَّ اللَّهُ مَن يَنصُرُهُ إِنَّ اللَّهَ لَقَوِيٌّ عَزِيزٌ</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أُخرجوا من ديارهم بغير حق، إلا أن يقولوا: ربنا الله، ولولا أن الله يدفع الظالمين بالمؤمنين لهُدمت صوامع الرهبان، وكنائس النصارى، ومعابد اليهود، ومساجد المسلمين التي يُذكر فيها اسم الله كثيرًا، ولينصرنّ الله من ينصر دينه، إن الله لقوي عزيز.</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إِن مَّكَّنَّـٰهُمْ فِي الْأَرْضِ أَقَامُواْ الصَّلَوٰةَ وَءَاتَوُاْ الزَّكَوٰةَ وَأَمَرُواْ بِالْمَعْرُوفِ وَنَهَوْاْ عَنِ الْمُنكَرِ وَلِلَّهِ عَٰقِبَةُ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إن مكّنّاهم في الأرض أقاموا الصلاة، وآتوا الزكاة، وأمروا بالمعروف، ونهوا عن المنكر، ولله عاقبة الأمور.</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يُكَذِّبُوكَ فَقَدْ كَذَّبَتْ قَبْلَهُمْ قَوْمُ نُوحٍ وَعَادٌ وَثَمُودُ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يكذّبوك فقد كذّبت قبلهم قوم نوح وعاد وثمود.</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وَقَوْمُ إِبْرَٰهِيمَ وَقَوْمُ لُوطٍ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وقوم إبراهيم وقوم لوط.</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وَأَصْحَٰبُ مَدْيَنَ وَكُذِّبَ مُوسَىٰ فَأَمْلَيْتُ لِلْكَٰفِرِينَ ثُمَّ أَخَذْتُهُمْ فَكَيْفَ كَانَ نَكِيرِ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وأصحاب مدين، وكُذّب موسى، فأمهلت الكافرين ثم أخذتهم، فكيف كان إنكاري عليهم؟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فَكَأَيِّن مِّن قَرْيَةٍ أَهْلَكْنَٰهَا وَهِيَ ظَالِمَةٌ فَهِيَ خَاوِيَةٌ عَلَىٰ عُرُوشِهَا وَبِئْرٍ مُّعَطَّلَةٍ وَقَصْرٍ مَّشِيدٍ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فكم من قرية أهلكناها وهي ظالمة، فهي ساقطة على سقوفها، وكم من بئر متروكة، وقصر عالٍ خالٍ من أهله.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أَفَلَمْ يَسِيرُواْ فِي الْأَرْضِ فَتَكُونَ لَهُمْ قُلُوبٌ يَعْقِلُونَ بِهَآ أَوْ ءَاذَانٌ يَسْمَعُونَ بِهَا فَإِنَّهَا لَا تَعْمَى الْأَبْصَٰرُ وَلَٰكِن تَعْمَى الْقُلُوبُ الَّتِي فِي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أفلم يسيروا في الأرض فتكون لهم قلوب يعقلون بها، أو آذان يسمعون بها؟ فإنها لا تعمى الأبصار، ولكن تعمى القلوب التي في الصدور.</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وَيَسْتَعْجِلُونَكَ بِالْعَذَابِ وَلَن يُخْلِفَ اللَّهُ وَعْدَهُ وَإِنَّ يَوْمًا عِندَ رَبِّكَ كَأَلْفِ سَنَةٍ مِّمَّا تَعُدُّونَ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ويستعجلونك بالعذاب، ولن يُخلف الله وعده، وإن يومًا عند ربك كألف سنة مما تعدّون.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وَكَأَيِّن مِّن قَرْيَةٍ أَمْلَيْتُ لَهَا وَهِيَ ظَالِمَةٌ ثُمَّ أَخَذْتُهَا وَإِلَيَّ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من قرية أمهلتها وهي ظالمة، ثم أخذتها بالعذاب، وإليّ المرجع.</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يَـٰأَيُّهَا النَّاسُ إِنَّمَآ أَنَا لَكُمْ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أيها الناس إنما أنا لكم نذير واضح.</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فَالَّذِينَ ءَامَنُواْ وَعَمِلُواْ الصَّـٰلِحَٰتِ لَهُم مَّغْفِرَةٌ وَرِزْقٌ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فالمؤمنون الصالحون لهم مغفرة ورزق كريم.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سَعَوْاْ فِي ءَايَٰتِنَا مُعَٰجِزِينَ أُوْلَـٰئِكَ أَصْحَٰبُ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سعوا في إبطال آياتنا ظانّين أنهم يُعجزوننا أولئك أصحاب الجحيم.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أَرْسَلْنَا مِن قَبْلِكَ مِن رَّسُولٍ وَلَا نَبِيٍّ إِلَّآ إِذَا تَمَنَّىٰ أَلْقَى الشَّيْطَٰنُ فِي أُمْنِيَّتِهِ فَيَنسَخُ اللَّهُ مَا يُلْقِي الشَّيْطَٰنُ ثُمَّ يُحْكِمُ اللَّهُ ءَايَٰتِهِ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 قبلك من رسول ولا نبي إلا إذا قرأ ألقى الشيطان في قراءته شبهات في نفوس السامعين، فيُزيل الله ما يُلقي الشيطان، ثم يُثبّت الله آياته، والله عليم حكيم.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لِّيَجْعَلَ مَا يُلْقِي الشَّيْطَٰنُ فِتْنَةً لِّلَّذِينَ فِي قُلُوبِهِم مَّرَضٌ وَالْقَاسِيَةِ قُلُوبُهُمْ وَإِنَّ الظَّـٰلِمِينَ لَفِي شِقَاقٍ 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ليجعل ما يُلقي الشيطان من الشبهات اختبارًا للمنافقين والقاسية قلوبهم، وإن الظالمين لفي خلاف بعيد عن الحق.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وَلِيَعْلَمَ الَّذِينَ أُوتُواْ الْعِلْمَ أَنَّهُ الْحَقُّ مِن رَّبِّكَ فَيُؤْمِنُواْ بِهِ فَتُخْبِتَ لَهُ قُلُوبُهُمْ وَإِنَّ اللَّهَ لَهَادِ الَّذِينَ ءَامَنُواْ إِلَىٰ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وليعلم أهل العلم أن القرآن الحق من ربك، فيؤمنوا به، فتخشع له قلوبهم، وإن الله لهادي المؤمنين إلى طريق مستقيم.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يَزَالُ الَّذِينَ كَفَرُواْ فِي مِرْيَةٍ مِّنْهُ حَتَّىٰ تَأْتِيَهُمُ السَّاعَةُ بَغْتَةً أَوْ يَأْتِيَهُمْ عَذَابُ يَوْمٍ عَقِيمٍ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يزال الكفار في شك من القرآن حتى تأتيهم القيامة فجأة، أو يأتيهم عذاب يوم لا خير فيه.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الْمُلْكُ يَوْمَئِذٍ لِّلَّهِ يَحْكُمُ بَيْنَهُمْ فَالَّذِينَ ءَامَنُواْ وَعَمِلُواْ الصَّـٰلِحَٰتِ فِي جَنَّـٰتِ النَّعِيمِ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الملك يوم القيامة لله وحده، يحكم بينهم، فالمؤمنون الصالحون في جنات النعيم.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كَفَرُواْ وَكَذَّبُواْ بِـَٔايَٰتِنَا فَأُوْلَـٰئِكَ لَهُمْ عَذَابٌ 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والكفار المكذّبون بآياتنا فأولئك لهم عذاب مُذلّ.</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هَاجَرُواْ فِي سَبِيلِ اللَّهِ ثُمَّ قُتِلُواْ أَوْ مَاتُواْ لَيَرْزُقَنَّهُمُ اللَّهُ رِزْقًا حَسَنًا وَإِنَّ اللَّهَ لَهُوَ خَيْرُ الرَّـٰزِقِينَ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هاجروا في سبيل الله ثم قُتلوا أو ماتوا ليرزقنّهم الله رزقًا حسنًا في الجنة، وإن الله لهو خير الرازقين.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لَيُدْخِلَنَّهُم مُّدْخَلًا يَرْضَوْنَهُ وَإِنَّ اللَّهَ لَعَلِيمٌ حَلِيمٌ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ليُدخلنّهم مكانًا يرضونه وهو الجنة، وإن الله لعليم حليم.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وَمَنْ عَاقَبَ بِمِثْلِ مَا عُوقِبَ بِهِ ثُمَّ بُغِيَ عَلَيْهِ لَيَنصُرَنَّهُ اللَّهُ إِنَّ اللَّهَ لَعَفُوٌّ غَفُورٌ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ومن عاقب من ظلمه بمثل ما ظُلم به، ثم اعتُدي عليه بعد ذلك، لينصرنّه الله، إن الله لعفوّ غفور.</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 اللَّهَ يُولِجُ الَّيْلَ فِي النَّهَارِ وَيُولِجُ النَّهَارَ فِي الَّيْلِ وَأَنَّ اللَّهَ سَمِيعٌ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النصر لأن الله القادر يُدخل الليل في النهار، والنهار في الليل، وأن الله سميع بصير.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 اللَّهَ هُوَ الْحَقُّ وَأَنَّ مَا يَدْعُونَ مِن دُونِهِ هُوَ الْبَٰطِلُ وَأَنَّ اللَّهَ هُوَ الْعَلِيُّ الْكَبِيرُ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لأن الله هو الحق، وأن ما يعبدون من دونه هو الباطل، وأن الله هو العليّ الكبير.</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اللَّهَ أَنزَلَ مِنَ السَّمَآءِ مَآءً فَتُصْبِحُ الْأَرْضُ مُخْضَرَّةً إِنَّ اللَّهَ لَطِيفٌ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 الله أنزل من السماء مطرًا فتصبح الأرض خضراء بالنبات؟ إن الله لطيف خبير.</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 مَا فِي السَّمَٰوَٰتِ وَمَا فِي الْأَرْضِ وَإِنَّ اللَّهَ لَهُوَ الْغَنِيُّ الْحَمِيدُ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 ما في السماوات وما في الأرض، وإن الله لهو الغني المحمود.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اللَّهَ سَخَّرَ لَكُم مَّا فِي الْأَرْضِ وَالْفُلْكَ تَجْرِي فِي الْبَحْرِ بِأَمْرِهِ وَيُمْسِكُ السَّمَآءَ أَن تَقَعَ عَلَى الْأَرْضِ إِلَّا بِإِذْنِهِ إِنَّ اللَّهَ بِالنَّاسِ لَرَءُوفٌ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 الله ذلّل لكم ما في الأرض، والسفن تجري في البحر بأمره، ويُمسك السماء أن تقع على الأرض إلا بإذنه؟ إن الله بالناس لرؤوف رحيم.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أَحْيَاكُمْ ثُمَّ يُمِيتُكُمْ ثُمَّ يُحْيِيكُمْ إِنَّ الْإِنسَٰنَ لَكَفُورٌ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أحياكم، ثم يُميتكم، ثم يُحييكم للبعث، إن الإنسان لجحود.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٦٧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لِّكُلِّ أُمَّةٍ جَعَلْنَا مَنسَكًا هُمْ نَاسِكُوهُ فَلَا يُنَٰزِعُنَّكَ فِي الْأَمْرِ وَادْعُ إِلَىٰ رَبِّكَ إِنَّكَ لَعَلَىٰ هُدًى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لكل أمة جعلنا شريعة هم عاملون بها، فلا ينازعنّك المشركون في أمر الذبح، وادعُ إلى ربك، إنك لعلى هدى مستقيم.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جَٰدَلُوكَ فَقُلِ اللَّهُ أَعْلَمُ بِمَا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جادلوك فقل: الله أعلم بما تعملون.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يَحْكُمُ بَيْنَكُمْ يَوْمَ الْقِيَٰمَةِ فِيمَا كُنتُمْ فِيهِ تَخْتَلِفُونَ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يحكم بينكم يوم القيامة فيما كنتم فيه تختلفون.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٧٠ – ٧١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تَعْلَمْ أَنَّ اللَّهَ يَعْلَمُ مَا فِي السَّمَآءِ وَالْأَرْضِ إِنَّ ذَٰلِكَ فِي كِتَٰبٍ إِنَّ ذَٰلِكَ عَلَى اللَّهِ يَسِيرٌ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تعلم أن الله يعلم ما في السماء والأرض؟ إن ذلك مكتوب في اللوح المحفوظ، إن ذلك على الله سهل.</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وَيَعْبُدُونَ مِن دُونِ اللَّهِ مَا لَمْ يُنَزِّلْ بِهِ سُلْطَٰنًا وَمَا لَيْسَ لَهُم بِهِ عِلْمٌ وَمَا لِلظَّـٰلِمِينَ مِن نَّصِيرٍ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ويعبدون من دون الله ما لم يُنزل به حجة، وما ليس لهم به علم، وما للظالمين من نصير.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تُتْلَىٰ عَلَيْهِمْ ءَايَٰتُنَا بَيِّنَٰتٍ تَعْرِفُ فِي وُجُوهِ الَّذِينَ كَفَرُواْ الْمُنكَرَ يَكَادُونَ يَسْطُونَ بِالَّذِينَ يَتْلُونَ عَلَيْهِمْ ءَايَٰتِنَا قُلْ أَفَأُنَبِّئُكُم بِشَرٍّ مِّن ذَٰلِكُمُ النَّارُ وَعَدَهَا اللَّهُ الَّذِينَ كَفَرُواْ وَبِئْسَ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قُرئت عليهم آياتنا الواضحة ترى في وجوه الكفار الإنكار، يكادون يبطشون بالذين يقرؤون عليهم آياتنا، قل: أفأخبركم بأشدّ كراهة لكم من ذلك؟ النار، وعدها الله الكفار، وبئس المصير.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ضُرِبَ مَثَلٌ فَاسْتَمِعُواْ لَهُ إِنَّ الَّذِينَ تَدْعُونَ مِن دُونِ اللَّهِ لَن يَخْلُقُواْ ذُبَابًا وَلَوِ اجْتَمَعُواْ لَهُ وَإِن يَسْلُبْهُمُ الذُّبَابُ شَيْـًٔا لَّا يَسْتَنقِذُوهُ مِنْهُ ضَعُفَ الطَّالِبُ وَالْمَطْلُوبُ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ضُرب مثل فاستمعوا له: إن الذين تعبدون من دون الله لن يخلقوا ذبابة ولو اجتمعوا لخلقها، وإن يأخذ الذباب منهم شيئًا لا يستطيعون استرجاعه منه، ضعف العابد والمعبود.</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قَدَرُواْ اللَّهَ حَقَّ قَدْرِهِ إِنَّ اللَّهَ لَقَوِيٌّ عَزِيزٌ</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عظّموا الله حق تعظيمه حين أشركوا به، إن الله لقوي عزيز.</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٧٥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يَصْطَفِي مِنَ الْمَلَـٰئِكَةِ رُسُلًا وَمِنَ النَّاسِ إِنَّ اللَّهَ سَمِيعٌ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يختار من الملائكة رسلًا كجبريل، ومن الناس رسلًا، إن الله سميع بصير.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يَعْلَمُ مَا بَيْنَ أَيْدِيهِمْ وَمَا خَلْفَهُمْ وَإِلَى اللَّهِ تُرْجَعُ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يعلم ما أمامهم وما خلفهم، وإلى الله ترجع الأمور.</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ارْكَعُواْ وَاسْجُدُواْ وَاعْبُدُواْ رَبَّكُمْ وَافْعَلُواْ الْخَيْرَ لَعَلَّكُمْ تُفْلِحُونَ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اركعوا واسجدوا في صلاتكم، واعبدوا ربكم، وافعلوا الخير لعلكم تفلحون. وهنا موضع سجدة تلاوة.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وَجَٰهِدُواْ فِي اللَّهِ حَقَّ جِهَادِهِ هُوَ اجْتَبَىٰكُمْ وَمَا جَعَلَ عَلَيْكُمْ فِي الدِّينِ مِنْ حَرَجٍ مِّلَّةَ أَبِيكُمْ إِبْرَٰهِيمَ هُوَ سَمَّىٰكُمُ الْمُسْلِمِينَ مِن قَبْلُ وَفِي هَٰذَا لِيَكُونَ الرَّسُولُ شَهِيدًا عَلَيْكُمْ وَتَكُونُواْ شُهَدَآءَ عَلَى النَّاسِ فَأَقِيمُواْ الصَّلَوٰةَ وَءَاتُواْ الزَّكَوٰةَ وَاعْتَصِمُواْ بِاللَّهِ هُوَ مَوْلَىٰكُمْ فَنِعْمَ الْمَوْلَىٰ وَنِعْمَ النَّصِيرُ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وجاهدوا في سبيل الله حق الجهاد، هو اختاركم، وما جعل عليكم في الدين من ضيق، الزموا ملّة أبيكم إبراهيم، هو سمّاكم المسلمين من قبل وفي هذا القرآن، ليكون الرسول شاهدًا عليكم، وتكونوا شهداء على الأمم، فأقيموا الصلاة، وآتوا الزكاة، واعتصموا بالله، هو مولاكم، فنعم المولى ونعم النصير.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الأنبياء</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٢١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نزلت: ﴿إنكم وما تعبدون من دون الله حصب جهنم﴾ قال المشركون: فعيسى والملائكة يُعبدون، أفهم في النار؟ فأنزل الله: ﴿إن الذين سبقت لهم منا الحسنى أولئك عنها مبعدون﴾ (ذكره ابن كثير عن ابن عباس).</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اقتراب الحساب وغفلة الناس، وأدلة التوحيد في الكون، ثم موكب الأنبياء: إبراهيم وتحطيمه الأصنام، ولوط ونوح وداود وسليمان وأيوب ويونس وزكريا، وأن النبي صلى الله عليه وسلم رحمة للعالمين.</a:t>
            </a:r>
            <a:endParaRPr lang="ar-SA"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اقْتَرَبَ لِلنَّاسِ حِسَابُهُمْ وَهُمْ فِي غَفْلَةٍ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قرُب للناس وقت حسابهم، وهم في غفلة عنه، معرضون عن الاستعداد له.</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يَأْتِيهِم مِّن ذِكْرٍ مِّن رَّبِّهِم مُّحْدَثٍ إِلَّا اسْتَمَعُوهُ وَهُمْ يَلْعَبُونَ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يأتيهم من قرآن جديد النزول من ربهم إلا استمعوه وهم لاهون لاعبون.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لَاهِيَةً قُلُوبُهُمْ وَأَسَرُّواْ النَّجْوَى الَّذِينَ ظَلَمُواْ هَلْ هَٰذَآ إِلَّا بَشَرٌ مِّثْلُكُمْ أَفَتَأْتُونَ السِّحْرَ وَأَنتُمْ تُبْصِرُونَ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قلوبهم غافلة لاهية، وأخفى الظالمون حديثهم: هل محمد إلا بشر مثلكم؟ أفتأتون السحر وأنتم تبصرون؟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رَبِّي يَعْلَمُ الْقَوْلَ فِي السَّمَآءِ وَالْأَرْضِ وَهُوَ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الرسول: ربي يعلم القول في السماء والأرض، وهو السميع العليم.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قَالُواْ أَضْغَٰثُ أَحْلَٰمٍ بَلِ افْتَرَىٰهُ بَلْ هُوَ شَاعِرٌ فَلْيَأْتِنَا بِـَٔايَةٍ كَمَآ أُرْسِلَ الْأَوَّلُونَ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قالوا: القرآن أحلام مختلطة، بل اختلقه، بل هو شاعر، فليأتنا بمعجزة كما أُرسل الأنبياء الأولون.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ءَامَنَتْ قَبْلَهُم مِّن قَرْيَةٍ أَهْلَكْنَٰهَآ أَفَهُمْ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آمنت قبلهم من قرية طلبت المعجزات فجاءتها فأهلكناها، أفهؤلاء يؤمنون؟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أَرْسَلْنَا قَبْلَكَ إِلَّا رِجَالًا نُّوحِي إِلَيْهِمْ فَسْـَٔلُواْ أَهْلَ الذِّكْرِ إِن كُنتُمْ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 قبلك إلا رجالًا من البشر نوحي إليهم، فاسألوا أهل العلم بالكتب السابقة إن كنتم لا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جَعَلْنَٰهُمْ جَسَدًا لَّا يَأْكُلُونَ الطَّعَامَ وَمَا كَانُواْ خَٰلِدِينَ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جعلنا الرسل أجسادًا لا يأكلون الطعام، وما كانوا خالدين في الدنيا.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صَدَقْنَٰهُمُ الْوَعْدَ فَأَنجَيْنَٰهُمْ وَمَن نَّشَآءُ وَأَهْلَكْنَا الْمُسْرِفِينَ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صدقنا الرسل ما وعدناهم من النصر، فأنجيناهم ومن نشاء من المؤمنين، وأهلكنا المسرفين.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أَنزَلْنَآ إِلَيْكُمْ كِتَٰبًا فِيهِ ذِكْرُكُمْ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أنزلنا إليكم كتابًا فيه شرفكم وعزّكم، أفلا تعقلون؟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وَكَمْ قَصَمْنَا مِن قَرْيَةٍ كَانَتْ ظَالِمَةً وَأَنشَأْنَا بَعْدَهَا قَوْمًا ءَاخَرِينَ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أهلكنا من قرية كانت ظالمة، وأنشأنا بعدها قومًا آخرين.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أَحَسُّواْ بَأْسَنَآ إِذَا هُم مِّنْهَا يَرْكُضُونَ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أحسّوا بعذابنا إذا هم يهربون منها مسرعين.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تَرْكُضُواْ وَارْجِعُواْ إِلَىٰ مَآ أُتْرِفْتُمْ فِيهِ وَمَسَٰكِنِكُمْ لَعَلَّكُمْ تُسْـَٔلُونَ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استهزاءً: لا تهربوا، وارجعوا إلى ما كنتم فيه من النعيم ومساكنكم، لعلكم تُسألون.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يَٰوَيْلَنَآ إِنَّا كُنَّا ظَٰلِمِينَ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هلاكنا! إنا كنا ظالمين.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زَالَت تِّلْكَ دَعْوَىٰهُمْ حَتَّىٰ جَعَلْنَٰهُمْ حَصِيدًا خَٰمِدِينَ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زالت تلك دعواهم حتى جعلناهم كالزرع المحصود، ميّتين لا حركة فيهم.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خَلَقْنَا السَّمَآءَ وَالْأَرْضَ وَمَا بَيْنَهُمَا لَٰعِبِينَ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خلقنا السماء والأرض وما بينهما عبثًا ولهوًا.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أَرَدْنَآ أَن نَّتَّخِذَ لَهْوًا لَّاتَّخَذْنَٰهُ مِن لَّدُنَّآ إِن كُنَّا فَٰعِلِينَ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أردنا أن نتّخذ لهوًا لاتّخذناه من عندنا، ولكننا لم نفعل.</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نَقْذِفُ بِالْحَقِّ عَلَى الْبَٰطِلِ فَيَدْمَغُهُ فَإِذَا هُوَ زَاهِقٌ وَلَكُمُ الْوَيْلُ مِمَّا تَصِفُونَ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نرمي بالحق على الباطل فيُبطله، فإذا هو ذاهب مضمحلّ، ولكم الويل مما تصفون به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 مَن فِي السَّمَٰوَٰتِ وَالْأَرْضِ وَمَنْ عِندَهُ لَا يَسْتَكْبِرُونَ عَنْ عِبَادَتِهِ وَلَا يَسْتَحْسِرُونَ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 من في السماوات والأرض، والملائكة الذين عنده لا يتكبّرون عن عبادته ولا يتعبون.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يُسَبِّحُونَ الَّيْلَ وَالنَّهَارَ لَا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يسبّحون الليل والنهار لا يفترون.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اتَّخَذُواْ ءَالِهَةً مِّنَ الْأَرْضِ هُمْ يُنشِرُونَ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اتّخذ المشركون آلهة من الأرض، هل يقدرون على إحياء الموتى؟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كَانَ فِيهِمَآ ءَالِهَةٌ إِلَّا اللَّهُ لَفَسَدَتَا فَسُبْحَٰنَ اللَّهِ رَبِّ الْعَرْشِ عَمَّا يَصِفُونَ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كان في السماوات والأرض آلهة غير الله لفسدتا لتنازعهم، فتنزّه الله رب العرش عما يصفون.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يُسْـَٔلُ عَمَّا يَفْعَلُ وَهُمْ يُسْـَٔلُونَ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يُسأل عما يفعل لكمال حكمته، وهم يُسألون عن أعمالهم.</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اتَّخَذُواْ مِن دُونِهِ ءَالِهَةً قُلْ هَاتُواْ بُرْهَٰنَكُمْ هَٰذَا ذِكْرُ مَن مَّعِيَ وَذِكْرُ مَن قَبْلِي بَلْ أَكْثَرُهُمْ لَا يَعْلَمُونَ الْحَقَّ فَهُم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اتّخذوا من دونه آلهة، قل: هاتوا حجّتكم، هذا القرآن وكتب من قبلي كلها جاءت بالتوحيد، بل أكثرهم لا يعلمون الحق فهم معرضون.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أَرْسَلْنَا مِن قَبْلِكَ مِن رَّسُولٍ إِلَّا نُوحِي إِلَيْهِ أَنَّهُ لَآ إِلَٰهَ إِلَّآ أَنَا فَاعْبُدُونِ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 قبلك من رسول إلا نوحي إليه: أنه لا إله إلا أنا فاعبدون.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اتَّخَذَ الرَّحْمَٰنُ وَلَدًا سُبْحَٰنَهُ بَلْ عِبَادٌ مُّكْرَمُونَ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اتّخذ الرحمن ولدًا، يعنون الملائكة، تنزّه، بل الملائكة عباد مكرَمون.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يَسْبِقُونَهُ بِالْقَوْلِ وَهُم بِأَمْرِهِ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يتقدّمون بين يديه بالقول، وهم بأمره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يَعْلَمُ مَا بَيْنَ أَيْدِيهِمْ وَمَا خَلْفَهُمْ وَلَا يَشْفَعُونَ إِلَّا لِمَنِ ارْتَضَىٰ وَهُم مِّنْ خَشْيَتِهِ مُشْفِقُونَ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يعلم ما أمامهم وما خلفهم، ولا يشفعون إلا لمن رضي الله عنه، وهم من خشيته خائفون.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يَقُلْ مِنْهُمْ إِنِّي إِلَٰهٌ مِّن دُونِهِ فَذَٰلِكَ نَجْزِيهِ جَهَنَّمَ كَذَٰلِكَ نَجْزِي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يقل منهم: إني إله من دون الله، فجزاؤه جهنم، كذلك نجزي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 الَّذِينَ كَفَرُواْ أَنَّ السَّمَٰوَٰتِ وَالْأَرْضَ كَانَتَا رَتْقًا فَفَتَقْنَٰهُمَا وَجَعَلْنَا مِنَ الْمَآءِ كُلَّ شَيْءٍ حَيٍّ أَفَلَا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يعلم الكفار أن السماوات والأرض كانتا ملتصقتين ففصلناهما، وجعلنا من الماء كل شيء حيّ؟ أفلا يؤمنون؟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فِي الْأَرْضِ رَوَٰسِيَ أَن تَمِيدَ بِهِمْ وَجَعَلْنَا فِيهَا فِجَاجًا سُبُلًا لَّعَلَّهُمْ يَهْتَدُونَ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في الأرض جبالًا ثابتة لئلّا تضطرب بهم، وجعلنا فيها طرقًا واسعة لعلهم يهتدون.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السَّمَآءَ سَقْفًا مَّحْفُوظًا وَهُمْ عَنْ ءَايَٰتِهَا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السماء سقفًا محفوظًا من السقوط والشياطين، وهم عن آياتها معرضون.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خَلَقَ الَّيْلَ وَالنَّهَارَ وَالشَّمْسَ وَالْقَمَرَ كُلٌّ فِي فَلَكٍ يَسْبَحُونَ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خلق الليل والنهار والشمس والقمر، كلٌّ في مداره يسبحون.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جَعَلْنَا لِبَشَرٍ مِّن قَبْلِكَ الْخُلْدَ أَفَإِيْن مِّتَّ فَهُمُ الْخَٰلِدُونَ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جعلنا لأحد من البشر قبلك الخلود، أفإن متّ فهم الخالدون؟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 نَفْسٍ ذَآئِقَةُ الْمَوْتِ وَنَبْلُوكُم بِالشَّرِّ وَالْخَيْرِ فِتْنَةً وَإِلَيْنَا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 نفس ذائقة الموت، ونختبركم بالشدة والرخاء ابتلاءً، وإلينا ترجعون.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رَءَاكَ الَّذِينَ كَفَرُواْ إِن يَتَّخِذُونَكَ إِلَّا هُزُوًا أَهَٰذَا الَّذِي يَذْكُرُ ءَالِهَتَكُمْ وَهُم بِذِكْرِ الرَّحْمَٰنِ هُمْ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رآك الكفار ما يتّخذونك إلا سخرية، يقولون: أهذا الذي يعيب آلهتكم؟ وهم بذكر الرحمن كافرون.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الْإِنسَٰنُ مِنْ عَجَلٍ سَأُوْرِيكُمْ ءَايَٰتِي فَلَا تَسْتَعْجِلُونِ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الإنسان عجولًا، سأريكم آياتي من العذاب، فلا تستعجلون.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ويقولون: متى هذا الوعد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يَعْلَمُ الَّذِينَ كَفَرُواْ حِينَ لَا يَكُفُّونَ عَن وُجُوهِهِمُ النَّارَ وَلَا عَن ظُهُورِهِمْ وَلَا هُمْ يُنصَرُونَ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يعلم الكفار حين لا يستطيعون دفع النار عن وجوههم ولا عن ظهورهم، ولا هم يُنصرون، لما استعجلوا.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تَأْتِيهِم بَغْتَةً فَتَبْهَتُهُمْ فَلَا يَسْتَطِيعُونَ رَدَّهَا وَلَا هُمْ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تأتيهم القيامة فجأة فتحيّرهم، فلا يستطيعون ردّها، ولا هم يُمهَلون.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اسْتُهْزِئَ بِرُسُلٍ مِّن قَبْلِكَ فَحَاقَ بِالَّذِينَ سَخِرُواْ مِنْهُم مَّا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استُهزئ برسل قبلك، فنزل بالساخرين ما كانوا يستهزئون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مَن يَكْلَؤُكُم بِالَّيْلِ وَالنَّهَارِ مِنَ الرَّحْمَٰنِ بَلْ هُمْ عَن ذِكْرِ رَبِّهِم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من يحفظكم بالليل والنهار من عذاب الرحمن؟ بل هم عن ذكر ربهم معرضون.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لَهُمْ ءَالِهَةٌ تَمْنَعُهُم مِّن دُونِنَا لَا يَسْتَطِيعُونَ نَصْرَ أَنفُسِهِمْ وَلَا هُم مِّنَّا يُصْحَبُونَ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لهم آلهة تمنعهم من عذابنا؟ لا يستطيعون نصر أنفسهم، ولا هم منا يُحفظون.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مَتَّعْنَا هَـٰؤُلَآءِ وَءَابَآءَهُمْ حَتَّىٰ طَالَ عَلَيْهِمُ الْعُمُرُ أَفَلَا يَرَوْنَ أَنَّا نَأْتِي الْأَرْضَ نَنقُصُهَا مِنْ أَطْرَافِهَآ أَفَهُمُ الْغَٰلِبُونَ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متّعنا هؤلاء وآباءهم حتى طال عليهم العمر فاغترّوا، أفلا يرون أنا نأتي الأرض فننقصها من أطرافها بفتوح المسلمين؟ أفهم الغالبون؟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إِنَّمَآ أُنذِرُكُم بِالْوَحْيِ وَلَا يَسْمَعُ الصُّمُّ الدُّعَآءَ إِذَا مَا يُنذَرُونَ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إنما أنذركم بالوحي، ولا يسمع الصمّ الدعاء إذا ما يُنذرون.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مَّسَّتْهُمْ نَفْحَةٌ مِّنْ عَذَابِ رَبِّكَ لَيَقُولُنَّ يَٰوَيْلَنَآ إِنَّا كُنَّا ظَٰلِمِينَ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أصابهم شيء يسير من عذاب ربك ليقولُنّ: يا هلاكنا، إنا كنا 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وَنَضَعُ الْمَوَٰزِينَ الْقِسْطَ لِيَوْمِ الْقِيَٰمَةِ فَلَا تُظْلَمُ نَفْسٌ شَيْـًٔا وَإِن كَانَ مِثْقَالَ حَبَّةٍ مِّنْ خَرْدَلٍ أَتَيْنَا بِهَا وَكَفَىٰ بِنَا حَٰسِبِينَ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ونضع الموازين العادلة ليوم القيامة، فلا تُظلم نفس شيئًا، وإن كان العمل وزن حبة خردل أتينا بها، وكفى بنا محاسبين.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مُوسَىٰ وَهَٰرُونَ الْفُرْقَانَ وَضِيَآءً وَذِكْرًا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موسى وهارون التوراة الفارقة بين الحق والباطل، وضياءً، وتذكيرًا للمتقين.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يَخْشَوْنَ رَبَّهُم بِالْغَيْبِ وَهُم مِّنَ السَّاعَةِ مُشْفِقُونَ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يخافون ربهم وهم لا يرونه، وهم من القيامة خائفون.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وَهَٰذَا ذِكْرٌ مُّبَارَكٌ أَنزَلْنَٰهُ أَفَأَنتُمْ لَهُ مُنكِرُونَ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وهذا القرآن ذكر مبارك أنزلناه، أفأنتم له منكرون؟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إِبْرَٰهِيمَ رُشْدَهُ مِن قَبْلُ وَكُنَّا بِهِ 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إبراهيم هدايته من قبل موسى، وكنا عالمين بأنه أهل لها.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لِأَبِيهِ وَقَوْمِهِ مَا هَٰذِهِ التَّمَاثِيلُ الَّتِي أَنتُمْ لَهَا عَٰكِفُونَ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 لأبيه وقومه: ما هذه التماثيل التي أنتم مقيمون على عبادتها؟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وَجَدْنَآ ءَابَآءَنَا لَهَا عَٰبِدِينَ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وجدنا آباءنا لها عابدين.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لَقَدْ كُنتُمْ أَنتُمْ وَءَابَآؤُكُمْ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لقد كنتم أنتم وآباؤكم في ضلال واضح.</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أَجِئْتَنَا بِالْحَقِّ أَمْ أَنتَ مِنَ اللَّـٰعِبِينَ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أجئتنا بالحق جادًّا، أم أنت من اللاعبين المازحين؟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بَل رَّبُّكُمْ رَبُّ السَّمَٰوَٰتِ وَالْأَرْضِ الَّذِي فَطَرَهُنَّ وَأَنَا عَلَىٰ ذَٰلِكُم مِّنَ الشَّـٰهِدِينَ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بل ربكم رب السماوات والأرض الذي خلقهن، وأنا على ذلكم من الشاهدين.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وَتَاللَّهِ لَأَكِيدَنَّ أَصْنَٰمَكُم بَعْدَ أَن تُوَلُّواْ مُدْبِرِينَ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والله لأكيدنّ أصنامكم بعد أن تنصرفوا إلى عيدكم.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فَجَعَلَهُمْ جُذَٰذًا إِلَّا كَبِيرًا لَّهُمْ لَعَلَّهُمْ إِلَيْهِ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فكسّرها قطعًا إلا الصنم الأكبر تركه، لعلهم يرجعون إليه فيسألونه.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مَن فَعَلَ هَٰذَا بِـَٔالِهَتِنَآ إِنَّهُ لَمِنَ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من فعل هذا بآلهتنا؟ إنه لمن الظالمين.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سَمِعْنَا فَتًى يَذْكُرُهُمْ يُقَالُ لَهُ إِبْرَٰهِيمُ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سمعنا شابًّا يعيبها يُقال له إبراهيم.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فَأْتُواْ بِهِ عَلَىٰ أَعْيُنِ النَّاسِ لَعَلَّهُمْ يَشْهَدُونَ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فأتوا به أمام الناس لعلهم يشهدون عليه.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ءَأَنتَ فَعَلْتَ هَٰذَا بِـَٔالِهَتِنَا يَـٰإِبْرَٰهِيمُ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أأنت فعلت هذا بآلهتنا يا إبراهيم؟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بَلْ فَعَلَهُ كَبِيرُهُمْ هَٰذَا فَسْـَٔلُوهُمْ إِن كَانُواْ يَنطِقُونَ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بل فعله كبيرهم هذا، فاسألوهم إن كانوا ينطقون. قالها ليُقيم عليهم الحجة بعجز أصنامهم.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فَرَجَعُواْ إِلَىٰ أَنفُسِهِمْ فَقَالُواْ إِنَّكُمْ أَنتُمُ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فرجعوا إلى أنفسهم بالتفكير، فقالوا: إنكم أنتم الظالمون بعبادة ما لا ينطق.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نُكِسُواْ عَلَىٰ رُءُوسِهِمْ لَقَدْ عَلِمْتَ مَا هَـٰؤُلَآءِ يَنطِقُونَ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انقلبوا إلى عنادهم، فقالوا: لقد علمت أن هؤلاء لا ينطقون.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أَفَتَعْبُدُونَ مِن دُونِ اللَّهِ مَا لَا يَنفَعُكُمْ شَيْـًٔا وَلَا يَضُرُّكُمْ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أفتعبدون من دون الله ما لا ينفعكم شيئًا ولا يضرّكم؟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 لَّكُمْ وَلِمَا تَعْبُدُونَ مِن دُونِ اللَّهِ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قبحًا لكم ولما تعبدون من دون الله، أفلا تعقلون؟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حَرِّقُوهُ وَانصُرُواْ ءَالِهَتَكُمْ إِن كُنتُمْ فَٰعِلِينَ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أحرقوه بالنار، وانصروا آلهتكم إن كنتم فاعلين.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قُلْنَا يَٰنَارُ كُونِي بَرْدًا وَسَلَٰمًا عَلَىٰ إِبْرَٰهِيمَ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قلنا: يا نار كوني بردًا وسلامًا على إبراهيم، فلم تحرق إلا وثاقه.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وَأَرَادُواْ بِهِ كَيْدًا فَجَعَلْنَٰهُمُ الْأَخْسَرِينَ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وأرادوا به كيدًا، فجعلناهم الأخسرين.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وَنَجَّيْنَٰهُ وَلُوطًا إِلَى الْأَرْضِ الَّتِي بَٰرَكْنَا فِيهَا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ونجّيناه ولوطًا إلى أرض الشام التي باركنا فيها للعالمين.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وَوَهَبْنَا لَهُ إِسْحَٰقَ وَيَعْقُوبَ نَافِلَةً وَكُلًّا جَعَلْنَا صَٰلِحِينَ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ووهبنا له إسحاق ابنًا ويعقوب حفيدًا زيادة، وكلًّا جعلناهم صالحين.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وَجَعَلْنَٰهُمْ أَئِمَّةً يَهْدُونَ بِأَمْرِنَا وَأَوْحَيْنَآ إِلَيْهِمْ فِعْلَ الْخَيْرَٰتِ وَإِقَامَ الصَّلَوٰةِ وَإِيتَآءَ الزَّكَوٰةِ وَكَانُواْ لَنَا عَٰبِدِينَ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وجعلناهم قادة يهدون الناس بأمرنا، وأوحينا إليهم فعل الخيرات وإقامة الصلاة وإيتاء الزكاة، وكانوا لنا عابدين.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وَلُوطًا ءَاتَيْنَٰهُ حُكْمًا وَعِلْمًا وَنَجَّيْنَٰهُ مِنَ الْقَرْيَةِ الَّتِي كَانَت تَّعْمَلُ الْخَبَـٰئِثَ إِنَّهُمْ كَانُواْ قَوْمَ سَوْءٍ 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ولوطًا آتيناه حكمًا وعلمًا، ونجّيناه من القرية التي كانت تعمل الأعمال الخبيثة، إنهم كانوا قوم سوء فاسقين.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٧٥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وَأَدْخَلْنَٰهُ فِي رَحْمَتِنَآ إِنَّهُ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وأدخلناه في رحمتنا، إنه من الصالحين.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وَنُوحًا إِذْ نَادَىٰ مِن قَبْلُ فَاسْتَجَبْنَا لَهُ فَنَجَّيْنَٰهُ وَأَهْلَهُ مِنَ الْكَرْبِ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نوحًا حين دعا على قومه من قبل إبراهيم، فاستجبنا له، فنجّيناه وأهله من الكرب العظيم.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وَنَصَرْنَٰهُ مِنَ الْقَوْمِ الَّذِينَ كَذَّبُواْ بِـَٔايَٰتِنَآ إِنَّهُمْ كَانُواْ قَوْمَ سَوْءٍ فَأَغْرَقْنَٰهُمْ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ونصرناه من القوم الذين كذّبوا بآياتنا، إنهم كانوا قوم سوء فأغرقناهم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٧٨ – 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وَدَاوُدَ وَسُلَيْمَٰنَ إِذْ يَحْكُمَانِ فِي الْحَرْثِ إِذْ نَفَشَتْ فِيهِ غَنَمُ الْقَوْمِ وَكُنَّا لِحُكْمِهِمْ شَٰهِدِينَ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داود وسليمان حين يحكمان في زرع رعت فيه غنم قوم ليلًا فأتلفته، وكنا لحكمهم شاهدين.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فَفَهَّمْنَٰهَا سُلَيْمَٰنَ وَكُلًّا ءَاتَيْنَا حُكْمًا وَعِلْمًا وَسَخَّرْنَا مَعَ دَاوُدَ الْجِبَالَ يُسَبِّحْنَ وَالطَّيْرَ وَكُنَّا فَٰعِلِينَ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ففهّمنا سليمان الحكم الأصوب، وكلًّا منهما آتيناه حكمًا وعلمًا، وذلّلنا مع داود الجبال يسبّحن والطير، وكنا فاعلين ذلك.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٨٠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وَعَلَّمْنَٰهُ صَنْعَةَ لَبُوسٍ لَّكُمْ لِتُحْصِنَكُم مِّن بَأْسِكُمْ فَهَلْ أَنتُمْ 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وعلّمنا داود صناعة الدروع لكم، لتحميكم في حربكم، فهل أنتم شاكرون؟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3" name="Text 11"/>
          <p:cNvSpPr txBox="1"/>
          <p:nvPr/>
        </p:nvSpPr>
        <p:spPr>
          <a:xfrm>
            <a:off x="731520" y="27340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وَلِسُلَيْمَٰنَ الرِّيحَ عَاصِفَةً تَجْرِي بِأَمْرِهِ إِلَى الْأَرْضِ الَّتِي بَٰرَكْنَا فِيهَا وَكُنَّا بِكُلِّ شَيْءٍ 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وسخّرنا لسليمان الريح شديدة الهبوب تجري بأمره إلى أرض الشام المباركة، وكنا بكل شيء عالمين.</a:t>
            </a:r>
            <a:endParaRPr lang="ar-SA" sz="3200" dirty="0"/>
          </a:p>
        </p:txBody>
      </p:sp>
      <p:sp>
        <p:nvSpPr>
          <p:cNvPr id="14" name="Shape 12"/>
          <p:cNvSpPr/>
          <p:nvPr/>
        </p:nvSpPr>
        <p:spPr>
          <a:xfrm>
            <a:off x="2103120" y="4459224"/>
            <a:ext cx="8641080" cy="0"/>
          </a:xfrm>
          <a:prstGeom prst="line">
            <a:avLst/>
          </a:prstGeom>
          <a:noFill/>
          <a:ln w="9525">
            <a:solidFill>
              <a:schemeClr val="accent2"/>
            </a:solidFill>
            <a:prstDash val="dash"/>
          </a:ln>
        </p:spPr>
      </p:sp>
      <p:sp>
        <p:nvSpPr>
          <p:cNvPr id="15" name="Shape 13"/>
          <p:cNvSpPr/>
          <p:nvPr/>
        </p:nvSpPr>
        <p:spPr>
          <a:xfrm>
            <a:off x="10927080" y="4675632"/>
            <a:ext cx="548640" cy="548640"/>
          </a:xfrm>
          <a:prstGeom prst="star8">
            <a:avLst/>
          </a:prstGeom>
          <a:solidFill>
            <a:schemeClr val="accent2"/>
          </a:solidFill>
          <a:ln/>
        </p:spPr>
      </p:sp>
      <p:sp>
        <p:nvSpPr>
          <p:cNvPr id="16" name="Shape 14"/>
          <p:cNvSpPr/>
          <p:nvPr/>
        </p:nvSpPr>
        <p:spPr>
          <a:xfrm>
            <a:off x="11036808" y="478536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7563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8" name="Text 16"/>
          <p:cNvSpPr txBox="1"/>
          <p:nvPr/>
        </p:nvSpPr>
        <p:spPr>
          <a:xfrm>
            <a:off x="731520" y="465734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الشَّيَٰطِينِ مَن يَغُوصُونَ لَهُ وَيَعْمَلُونَ عَمَلًا دُونَ ذَٰلِكَ وَكُنَّا لَهُمْ حَٰفِظِينَ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وسخّرنا له من الشياطين من يغوصون في البحر لاستخراج اللؤلؤ، ويعملون أعمالًا أخرى كالبناء، وكنا لهم حافظين من الإفساد.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وَأَيُّوبَ إِذْ نَادَىٰ رَبَّهُ أَنِّي مَسَّنِيَ الضُّرُّ وَأَنتَ أَرْحَمُ الرَّـٰحِمِينَ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أيوب حين دعا ربه: أني أصابني الضرّ، وأنت أرحم الراحمين.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فَاسْتَجَبْنَا لَهُ فَكَشَفْنَا مَا بِهِ مِن ضُرٍّ وَءَاتَيْنَٰهُ أَهْلَهُ وَمِثْلَهُم مَّعَهُمْ رَحْمَةً مِّنْ عِندِنَا وَذِكْرَىٰ لِلْعَٰبِدِينَ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فاستجبنا له، فكشفنا ما به من ضرّ، وآتيناه أهله ومثلهم معهم، رحمة من عندنا، وتذكيرًا للعابدين بأن الصبر يأتي بالفرج.</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وَإِسْمَٰعِيلَ وَإِدْرِيسَ وَذَا الْكِفْلِ كُلٌّ مِّنَ الصَّـٰبِرِينَ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إسماعيل وإدريس وذا الكفل، كلٌّ من الصابرين.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1339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وَأَدْخَلْنَٰهُمْ فِي رَحْمَتِنَآ إِنَّهُم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وأدخلناهم في رحمتنا، إنهم من الصالحين.</a:t>
            </a:r>
            <a:endParaRPr lang="ar-SA" sz="3200" dirty="0"/>
          </a:p>
        </p:txBody>
      </p:sp>
      <p:sp>
        <p:nvSpPr>
          <p:cNvPr id="9" name="Shape 7"/>
          <p:cNvSpPr/>
          <p:nvPr/>
        </p:nvSpPr>
        <p:spPr>
          <a:xfrm>
            <a:off x="2103120" y="2423160"/>
            <a:ext cx="8641080" cy="0"/>
          </a:xfrm>
          <a:prstGeom prst="line">
            <a:avLst/>
          </a:prstGeom>
          <a:noFill/>
          <a:ln w="9525">
            <a:solidFill>
              <a:schemeClr val="accent2"/>
            </a:solidFill>
            <a:prstDash val="dash"/>
          </a:ln>
        </p:spPr>
      </p:sp>
      <p:sp>
        <p:nvSpPr>
          <p:cNvPr id="10" name="Shape 8"/>
          <p:cNvSpPr/>
          <p:nvPr/>
        </p:nvSpPr>
        <p:spPr>
          <a:xfrm>
            <a:off x="10927080" y="2583180"/>
            <a:ext cx="548640" cy="548640"/>
          </a:xfrm>
          <a:prstGeom prst="star8">
            <a:avLst/>
          </a:prstGeom>
          <a:solidFill>
            <a:schemeClr val="accent2"/>
          </a:solidFill>
          <a:ln/>
        </p:spPr>
      </p:sp>
      <p:sp>
        <p:nvSpPr>
          <p:cNvPr id="11" name="Shape 9"/>
          <p:cNvSpPr/>
          <p:nvPr/>
        </p:nvSpPr>
        <p:spPr>
          <a:xfrm>
            <a:off x="11036808" y="26929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831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256489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وَذَا النُّونِ إِذ ذَّهَبَ مُغَٰضِبًا فَظَنَّ أَن لَّن نَّقْدِرَ عَلَيْهِ فَنَادَىٰ فِي الظُّلُمَٰتِ أَن لَّآ إِلَٰهَ إِلَّآ أَنتَ سُبْحَٰنَكَ إِنِّي كُنتُ مِنَ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يونس صاحب الحوت حين ذهب مغاضبًا لقومه، فظنّ أن لن نضيّق عليه، فنادى في ظلمات البحر وبطن الحوت والليل: لا إله إلا أنت، سبحانك، إني كنت من الظالمين.</a:t>
            </a:r>
            <a:endParaRPr lang="ar-SA" sz="3200" dirty="0"/>
          </a:p>
        </p:txBody>
      </p:sp>
      <p:sp>
        <p:nvSpPr>
          <p:cNvPr id="14" name="Shape 12"/>
          <p:cNvSpPr/>
          <p:nvPr/>
        </p:nvSpPr>
        <p:spPr>
          <a:xfrm>
            <a:off x="2103120" y="4572000"/>
            <a:ext cx="8641080" cy="0"/>
          </a:xfrm>
          <a:prstGeom prst="line">
            <a:avLst/>
          </a:prstGeom>
          <a:noFill/>
          <a:ln w="9525">
            <a:solidFill>
              <a:schemeClr val="accent2"/>
            </a:solidFill>
            <a:prstDash val="dash"/>
          </a:ln>
        </p:spPr>
      </p:sp>
      <p:sp>
        <p:nvSpPr>
          <p:cNvPr id="15" name="Shape 13"/>
          <p:cNvSpPr/>
          <p:nvPr/>
        </p:nvSpPr>
        <p:spPr>
          <a:xfrm>
            <a:off x="10927080" y="4732020"/>
            <a:ext cx="548640" cy="548640"/>
          </a:xfrm>
          <a:prstGeom prst="star8">
            <a:avLst/>
          </a:prstGeom>
          <a:solidFill>
            <a:schemeClr val="accent2"/>
          </a:solidFill>
          <a:ln/>
        </p:spPr>
      </p:sp>
      <p:sp>
        <p:nvSpPr>
          <p:cNvPr id="16" name="Shape 14"/>
          <p:cNvSpPr/>
          <p:nvPr/>
        </p:nvSpPr>
        <p:spPr>
          <a:xfrm>
            <a:off x="11036808" y="484174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320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8" name="Text 16"/>
          <p:cNvSpPr txBox="1"/>
          <p:nvPr/>
        </p:nvSpPr>
        <p:spPr>
          <a:xfrm>
            <a:off x="731520" y="471373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فَاسْتَجَبْنَا لَهُ وَنَجَّيْنَٰهُ مِنَ الْغَمِّ وَكَذَٰلِكَ نُـۨجِي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فاستجبنا له ونجّيناه من الغمّ، وكذلك ننجّي المؤمنين إذا دعوا بهذا الدعاء. قال النبي صلى الله عليه وسلم: «لم يدعُ بها رجل مسلم في شيء قط إلا استجاب الله له» (رواه الترمذي).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٨٩ –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1339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وَزَكَرِيَّآ إِذْ نَادَىٰ رَبَّهُ رَبِّ لَا تَذَرْنِي فَرْدًا وَأَنتَ خَيْرُ الْوَٰرِثِينَ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زكريا حين دعا ربه: رب لا تتركني وحيدًا بلا ولد، وأنت خير الوارثين.</a:t>
            </a:r>
            <a:endParaRPr lang="ar-SA" sz="3200" dirty="0"/>
          </a:p>
        </p:txBody>
      </p:sp>
      <p:sp>
        <p:nvSpPr>
          <p:cNvPr id="9" name="Shape 7"/>
          <p:cNvSpPr/>
          <p:nvPr/>
        </p:nvSpPr>
        <p:spPr>
          <a:xfrm>
            <a:off x="2103120" y="2423160"/>
            <a:ext cx="8641080" cy="0"/>
          </a:xfrm>
          <a:prstGeom prst="line">
            <a:avLst/>
          </a:prstGeom>
          <a:noFill/>
          <a:ln w="9525">
            <a:solidFill>
              <a:schemeClr val="accent2"/>
            </a:solidFill>
            <a:prstDash val="dash"/>
          </a:ln>
        </p:spPr>
      </p:sp>
      <p:sp>
        <p:nvSpPr>
          <p:cNvPr id="10" name="Shape 8"/>
          <p:cNvSpPr/>
          <p:nvPr/>
        </p:nvSpPr>
        <p:spPr>
          <a:xfrm>
            <a:off x="10927080" y="2583180"/>
            <a:ext cx="548640" cy="548640"/>
          </a:xfrm>
          <a:prstGeom prst="star8">
            <a:avLst/>
          </a:prstGeom>
          <a:solidFill>
            <a:schemeClr val="accent2"/>
          </a:solidFill>
          <a:ln/>
        </p:spPr>
      </p:sp>
      <p:sp>
        <p:nvSpPr>
          <p:cNvPr id="11" name="Shape 9"/>
          <p:cNvSpPr/>
          <p:nvPr/>
        </p:nvSpPr>
        <p:spPr>
          <a:xfrm>
            <a:off x="11036808" y="26929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831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3" name="Text 11"/>
          <p:cNvSpPr txBox="1"/>
          <p:nvPr/>
        </p:nvSpPr>
        <p:spPr>
          <a:xfrm>
            <a:off x="731520" y="256489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فَاسْتَجَبْنَا لَهُ وَوَهَبْنَا لَهُ يَحْيَىٰ وَأَصْلَحْنَا لَهُ زَوْجَهُ إِنَّهُمْ كَانُواْ يُسَٰرِعُونَ فِي الْخَيْرَٰتِ وَيَدْعُونَنَا رَغَبًا وَرَهَبًا وَكَانُواْ لَنَا خَٰشِعِينَ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فاستجبنا له، ووهبنا له يحيى، وأصلحنا له زوجته فصارت تلد، إنهم كانوا يسارعون في الخيرات، ويدعوننا رغبة ورهبة، وكانوا لنا خاشعين.</a:t>
            </a:r>
            <a:endParaRPr lang="ar-SA" sz="3200" dirty="0"/>
          </a:p>
        </p:txBody>
      </p:sp>
      <p:sp>
        <p:nvSpPr>
          <p:cNvPr id="14" name="Shape 12"/>
          <p:cNvSpPr/>
          <p:nvPr/>
        </p:nvSpPr>
        <p:spPr>
          <a:xfrm>
            <a:off x="2103120" y="4572000"/>
            <a:ext cx="8641080" cy="0"/>
          </a:xfrm>
          <a:prstGeom prst="line">
            <a:avLst/>
          </a:prstGeom>
          <a:noFill/>
          <a:ln w="9525">
            <a:solidFill>
              <a:schemeClr val="accent2"/>
            </a:solidFill>
            <a:prstDash val="dash"/>
          </a:ln>
        </p:spPr>
      </p:sp>
      <p:sp>
        <p:nvSpPr>
          <p:cNvPr id="15" name="Shape 13"/>
          <p:cNvSpPr/>
          <p:nvPr/>
        </p:nvSpPr>
        <p:spPr>
          <a:xfrm>
            <a:off x="10927080" y="4732020"/>
            <a:ext cx="548640" cy="548640"/>
          </a:xfrm>
          <a:prstGeom prst="star8">
            <a:avLst/>
          </a:prstGeom>
          <a:solidFill>
            <a:schemeClr val="accent2"/>
          </a:solidFill>
          <a:ln/>
        </p:spPr>
      </p:sp>
      <p:sp>
        <p:nvSpPr>
          <p:cNvPr id="16" name="Shape 14"/>
          <p:cNvSpPr/>
          <p:nvPr/>
        </p:nvSpPr>
        <p:spPr>
          <a:xfrm>
            <a:off x="11036808" y="484174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320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8" name="Text 16"/>
          <p:cNvSpPr txBox="1"/>
          <p:nvPr/>
        </p:nvSpPr>
        <p:spPr>
          <a:xfrm>
            <a:off x="731520" y="471373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وَالَّتِي أَحْصَنَتْ فَرْجَهَا فَنَفَخْنَا فِيهَا مِن رُّوحِنَا وَجَعَلْنَٰهَا وَابْنَهَآ ءَايَةً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مريم التي حفظت نفسها من الحرام، فنفخنا فيها من روحنا بواسطة جبريل، وجعلناها وابنها عيسى آية للعالمين.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٩٢ – ٩٥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هَٰذِهِ أُمَّتُكُمْ أُمَّةً وَٰحِدَةً وَأَنَا رَبُّكُمْ فَاعْبُدُونِ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هذه ملّتكم ملّة واحدة وهي الإسلام، وأنا ربكم فاعبدون.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وَتَقَطَّعُواْ أَمْرَهُم بَيْنَهُمْ كُلٌّ إِلَيْنَا 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وتفرّق الناس في الدين فرقًا، كلٌّ إلينا راجعون.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يَعْمَلْ مِنَ الصَّـٰلِحَٰتِ وَهُوَ مُؤْمِنٌ فَلَا كُفْرَانَ لِسَعْيِهِ وَإِنَّا لَهُ كَٰتِبُونَ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يعمل من الصالحات وهو مؤمن فلا يُضيَّع عمله، وإنا له كاتبون.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وَحَرَٰمٌ عَلَىٰ قَرْيَةٍ أَهْلَكْنَٰهَآ أَنَّهُمْ لَا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وممتنع على أهل قرية أهلكناهم أن يرجعوا إلى الدنيا ليتوبوا.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٩٦ – ٩٨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فُتِحَتْ يَأْجُوجُ وَمَأْجُوجُ وَهُم مِّن كُلِّ حَدَبٍ يَنسِلُونَ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فُتح سدّ يأجوج ومأجوج، وهم من كل مرتفع يُسرعون.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وَاقْتَرَبَ الْوَعْدُ الْحَقُّ فَإِذَا هِيَ شَٰخِصَةٌ أَبْصَٰرُ الَّذِينَ كَفَرُواْ يَٰوَيْلَنَا قَدْ كُنَّا فِي غَفْلَةٍ مِّنْ هَٰذَا بَلْ كُنَّا ظَٰلِمِينَ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واقترب يوم القيامة، فإذا أبصار الكفار مرتفعة لا تطرف من الهول، يقولون: يا هلاكنا! قد كنا في غفلة من هذا، بل كنا ظالمين.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إِنَّكُمْ وَمَا تَعْبُدُونَ مِن دُونِ اللَّهِ حَصَبُ جَهَنَّمَ أَنتُمْ لَهَا وَٰرِدُونَ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إنكم أيها المشركون وما تعبدون من دون الله من الأصنام وقود جهنم، أنتم لها داخلون.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٩٩ – ١٠٢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كَانَ هَـٰؤُلَآءِ ءَالِهَةً مَّا وَرَدُوهَا وَكُلٌّ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كان هؤلاء آلهة ما دخلوها، وكلٌّ فيها خالدون.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لَهُمْ فِيهَا زَفِيرٌ وَهُمْ فِيهَا لَا يَسْمَعُونَ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فيها أنين شديد، وهم فيها لا يسمعون من شدة العذاب.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سَبَقَتْ لَهُم مِّنَّا الْحُسْنَىٰ أُوْلَـٰئِكَ عَنْهَا مُبْعَدُونَ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سبقت لهم منا الجنة بأعمالهم الصالحة أولئك عن النار مُبعَدون.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يَسْمَعُونَ حَسِيسَهَا وَهُمْ فِي مَا اشْتَهَتْ أَنفُسُهُمْ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يسمعون صوتها، وهم فيما اشتهت أنفسهم من النعيم خالدون.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١٠٣ – ١٠٥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يَحْزُنُهُمُ الْفَزَعُ الْأَكْبَرُ وَتَتَلَقَّىٰهُمُ الْمَلَـٰئِكَةُ هَٰذَا يَوْمُكُمُ الَّذِي كُنتُمْ تُوعَدُونَ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يحزنهم الفزع الأكبر يوم القيامة، وتستقبلهم الملائكة: هذا يومكم الذي كنتم توعدون.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نَطْوِي السَّمَآءَ كَطَيِّ السِّجِلِّ لِلْكُتُبِ كَمَا بَدَأْنَآ أَوَّلَ خَلْقٍ نُّعِيدُهُ وَعْدًا عَلَيْنَآ إِنَّا كُنَّا فَٰعِلِينَ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نطوي السماء كما تُطوى الصحيفة على ما كُتب فيها، كما بدأنا أول خلق نعيده، وعدًا علينا، إنا كنا فاعلين.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كَتَبْنَا فِي الزَّبُورِ مِن بَعْدِ الذِّكْرِ أَنَّ الْأَرْضَ يَرِثُهَا عِبَادِيَ الصَّـٰلِحُونَ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كتبنا في الكتب المنزلة من بعد اللوح المحفوظ: أن الأرض يرثها عبادي الصالحون.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١٠٦ – ١٠٩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هَٰذَا لَبَلَٰغًا لِّقَوْمٍ عَٰبِدِينَ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هذا القرآن لكفاية لقوم عابدين.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أَرْسَلْنَٰكَ إِلَّا رَحْمَةً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أرسلناك يا محمد إلا رحمة للعالمين.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إِنَّمَا يُوحَىٰ إِلَيَّ أَنَّمَآ إِلَٰهُكُمْ إِلَٰهٌ وَٰحِدٌ فَهَلْ أَنتُم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إنما يوحى إليّ أنما إلهكم إله واحد، فهل أنتم مسلمون؟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تَوَلَّوْاْ فَقُلْ ءَاذَنتُكُمْ عَلَىٰ سَوَآءٍ وَإِنْ أَدْرِي أَقَرِيبٌ أَم بَعِيدٌ مَّا تُوعَدُونَ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أعرضوا فقل: أعلمتكم جميعًا بالحق مستوين في العلم به، وما أدري أقريب أم بعيد ما توعدون.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الأنبياء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١١٠ – ١١٢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يَعْلَمُ الْجَهْرَ مِنَ الْقَوْلِ وَيَعْلَمُ مَا تَكْتُمُونَ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يعلم الجهر من القول، ويعلم ما تكتمون.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أَدْرِي لَعَلَّهُ فِتْنَةٌ لَّكُمْ وَمَتَٰعٌ إِلَىٰ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أدري لعل تأخير العذاب اختبار لكم، وتمتيع إلى وقت.</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رَبِّ احْكُم بِالْحَقِّ وَرَبُّنَا الرَّحْمَٰنُ الْمُسْتَعَانُ عَلَىٰ مَا تَصِفُونَ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احكم بيني وبينهم بالحق، وربنا الرحمن المستعان على ما تصفون من الكذب.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pic>
        <p:nvPicPr>
          <p:cNvPr id="2" name="Image 0" descr="assets17/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17/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17 Tafsir">
  <a:themeElements>
    <a:clrScheme name="Juz 17 Tafsir">
      <a:dk1>
        <a:srgbClr val="22252F"/>
      </a:dk1>
      <a:lt1>
        <a:srgbClr val="FFFFFF"/>
      </a:lt1>
      <a:dk2>
        <a:srgbClr val="22336B"/>
      </a:dk2>
      <a:lt2>
        <a:srgbClr val="F6F7FB"/>
      </a:lt2>
      <a:accent1>
        <a:srgbClr val="22336B"/>
      </a:accent1>
      <a:accent2>
        <a:srgbClr val="C9A04A"/>
      </a:accent2>
      <a:accent3>
        <a:srgbClr val="34498A"/>
      </a:accent3>
      <a:accent4>
        <a:srgbClr val="61646F"/>
      </a:accent4>
      <a:accent5>
        <a:srgbClr val="E6E9F3"/>
      </a:accent5>
      <a:accent6>
        <a:srgbClr val="8A2F2A"/>
      </a:accent6>
      <a:hlink>
        <a:srgbClr val="34498A"/>
      </a:hlink>
      <a:folHlink>
        <a:srgbClr val="61646F"/>
      </a:folHlink>
    </a:clrScheme>
    <a:fontScheme name="Juz 17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اقترب — مبسّط من تفسير ابن كثير</dc:title>
  <dc:subject>PptxGenJS Presentation</dc:subject>
  <dc:creator>معلم القرآن الكريم</dc:creator>
  <cp:lastModifiedBy>معلم القرآن الكريم</cp:lastModifiedBy>
  <cp:revision>1</cp:revision>
  <dcterms:created xsi:type="dcterms:W3CDTF">2026-10-03T22:34:00Z</dcterms:created>
  <dcterms:modified xsi:type="dcterms:W3CDTF">2026-10-03T22:34:00Z</dcterms:modified>
</cp:coreProperties>
</file>