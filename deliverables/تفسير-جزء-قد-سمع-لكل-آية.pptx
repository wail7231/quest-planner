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12840953-d509-c85c-956b-445fc8e63354}">
          <p14:sldIdLst>
            <p14:sldId id="256"/>
            <p14:sldId id="257"/>
            <p14:sldId id="258"/>
          </p14:sldIdLst>
        </p14:section>
        <p14:section name="سورة التحريم" id="{3e85a1fe-933b-64ac-f36b-b81817ff921e}">
          <p14:sldIdLst>
            <p14:sldId id="259"/>
            <p14:sldId id="260"/>
            <p14:sldId id="261"/>
            <p14:sldId id="262"/>
            <p14:sldId id="263"/>
            <p14:sldId id="264"/>
            <p14:sldId id="265"/>
          </p14:sldIdLst>
        </p14:section>
        <p14:section name="سورة الطلاق" id="{a520bacf-2df6-96ae-9253-ed71c60e9d72}">
          <p14:sldIdLst>
            <p14:sldId id="266"/>
            <p14:sldId id="267"/>
            <p14:sldId id="268"/>
            <p14:sldId id="269"/>
            <p14:sldId id="270"/>
            <p14:sldId id="271"/>
            <p14:sldId id="272"/>
          </p14:sldIdLst>
        </p14:section>
        <p14:section name="سورة التغابن" id="{ede60ff2-2d32-77ba-6aa8-e63f762092c6}">
          <p14:sldIdLst>
            <p14:sldId id="273"/>
            <p14:sldId id="274"/>
            <p14:sldId id="275"/>
            <p14:sldId id="276"/>
            <p14:sldId id="277"/>
            <p14:sldId id="278"/>
            <p14:sldId id="279"/>
            <p14:sldId id="280"/>
          </p14:sldIdLst>
        </p14:section>
        <p14:section name="سورة المنافقون" id="{e3a47ff8-b808-3128-0a95-5ad1c4d0bf64}">
          <p14:sldIdLst>
            <p14:sldId id="281"/>
            <p14:sldId id="282"/>
            <p14:sldId id="283"/>
            <p14:sldId id="284"/>
            <p14:sldId id="285"/>
            <p14:sldId id="286"/>
          </p14:sldIdLst>
        </p14:section>
        <p14:section name="سورة الجمعة" id="{596aa91b-57f5-9450-ec70-3f9d89299d87}">
          <p14:sldIdLst>
            <p14:sldId id="287"/>
            <p14:sldId id="288"/>
            <p14:sldId id="289"/>
            <p14:sldId id="290"/>
            <p14:sldId id="291"/>
          </p14:sldIdLst>
        </p14:section>
        <p14:section name="سورة الصف" id="{a6b86f8e-4ffe-75ae-3a96-b8dfc02a6c6a}">
          <p14:sldIdLst>
            <p14:sldId id="292"/>
            <p14:sldId id="293"/>
            <p14:sldId id="294"/>
            <p14:sldId id="295"/>
            <p14:sldId id="296"/>
            <p14:sldId id="297"/>
            <p14:sldId id="298"/>
          </p14:sldIdLst>
        </p14:section>
        <p14:section name="سورة الممتحنة" id="{72889585-66d9-ce24-1489-49f5805dfc3a}">
          <p14:sldIdLst>
            <p14:sldId id="299"/>
            <p14:sldId id="300"/>
            <p14:sldId id="301"/>
            <p14:sldId id="302"/>
            <p14:sldId id="303"/>
            <p14:sldId id="304"/>
            <p14:sldId id="305"/>
            <p14:sldId id="306"/>
            <p14:sldId id="307"/>
            <p14:sldId id="308"/>
          </p14:sldIdLst>
        </p14:section>
        <p14:section name="سورة الحشر" id="{9f648aaf-d0a1-ecc8-51c9-7f257d1382d8}">
          <p14:sldIdLst>
            <p14:sldId id="309"/>
            <p14:sldId id="310"/>
            <p14:sldId id="311"/>
            <p14:sldId id="312"/>
            <p14:sldId id="313"/>
            <p14:sldId id="314"/>
            <p14:sldId id="315"/>
            <p14:sldId id="316"/>
            <p14:sldId id="317"/>
            <p14:sldId id="318"/>
            <p14:sldId id="319"/>
            <p14:sldId id="320"/>
          </p14:sldIdLst>
        </p14:section>
        <p14:section name="سورة المجادلة" id="{93e040f4-08a6-a6ef-5858-585776425162}">
          <p14:sldIdLst>
            <p14:sldId id="321"/>
            <p14:sldId id="322"/>
            <p14:sldId id="323"/>
            <p14:sldId id="324"/>
            <p14:sldId id="325"/>
            <p14:sldId id="326"/>
            <p14:sldId id="327"/>
            <p14:sldId id="328"/>
            <p14:sldId id="329"/>
            <p14:sldId id="330"/>
            <p14:sldId id="331"/>
            <p14:sldId id="332"/>
            <p14:sldId id="333"/>
          </p14:sldIdLst>
        </p14:section>
        <p14:section name="الخاتمة" id="{7809e357-6ee6-7762-d5af-2771075ec011}">
          <p14:sldIdLst>
            <p14:sldId id="3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التحريم ثم نصعد سورةً سورة حتى نصل إلى سورة المجادلة،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المثلان اللذان ضربهما الله للمؤمنين في آخر السورة؟ وما الدرس منهما؟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الثمرات التي وعد الله بها من يتقيه في هذه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سُمّي يوم القيامة «يوم التغابن»؟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صفتين من صفات المنافقين في السورة، وكيف نحذر منهما؟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الواجب على المسلم إذا سمع أذان الجمعة؟ وماذا يفعل بعد الصلاة؟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«التجارة» التي تنجي من العذاب كما في الآيتين 10 و11؟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متى يجوز للمسلم أن يُحسن إلى غير المسلمين ويعدل معهم كما في الآية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وصف الله الأنصار في الآية 9؟ وكيف نقتدي بهم؟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آداب المجالس التي علّمتنا إياها الآيات 9–11؟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8/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8/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8/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4.xml"/><Relationship Id="rId4"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8/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قد سمع</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28/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التحريم إلى سورة المجادلة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العنابي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قد سمع</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التحريم صعودًا إلى سورة المجادلة</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التحريم</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الطلاق</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التغابن</a:t>
            </a:r>
            <a:endParaRPr lang="ar-SA" sz="1500" dirty="0"/>
          </a:p>
        </p:txBody>
      </p:sp>
      <p:sp>
        <p:nvSpPr>
          <p:cNvPr id="10" name="Shape 8"/>
          <p:cNvSpPr/>
          <p:nvPr/>
        </p:nvSpPr>
        <p:spPr>
          <a:xfrm>
            <a:off x="6127852" y="1920240"/>
            <a:ext cx="1298448" cy="530352"/>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6127852"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٤  </a:t>
            </a:r>
            <a:pPr rtl="1" algn="ctr" indent="0" marL="0">
              <a:buNone/>
            </a:pPr>
            <a:r>
              <a:rPr lang="ar-SA" altLang="en-US" sz="1500" b="1" dirty="0">
                <a:solidFill>
                  <a:schemeClr val="tx2"/>
                </a:solidFill>
              </a:rPr>
              <a:t>المنافقون</a:t>
            </a:r>
            <a:endParaRPr lang="ar-SA" sz="1500" dirty="0"/>
          </a:p>
        </p:txBody>
      </p:sp>
      <p:sp>
        <p:nvSpPr>
          <p:cNvPr id="12" name="Shape 10"/>
          <p:cNvSpPr/>
          <p:nvPr/>
        </p:nvSpPr>
        <p:spPr>
          <a:xfrm>
            <a:off x="4765396" y="1920240"/>
            <a:ext cx="1298448" cy="530352"/>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4765396"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٥  </a:t>
            </a:r>
            <a:pPr rtl="1" algn="ctr" indent="0" marL="0">
              <a:buNone/>
            </a:pPr>
            <a:r>
              <a:rPr lang="ar-SA" altLang="en-US" sz="1500" b="1" dirty="0">
                <a:solidFill>
                  <a:schemeClr val="tx2"/>
                </a:solidFill>
              </a:rPr>
              <a:t>الجمعة</a:t>
            </a:r>
            <a:endParaRPr lang="ar-SA" sz="1500" dirty="0"/>
          </a:p>
        </p:txBody>
      </p:sp>
      <p:sp>
        <p:nvSpPr>
          <p:cNvPr id="14" name="Shape 12"/>
          <p:cNvSpPr/>
          <p:nvPr/>
        </p:nvSpPr>
        <p:spPr>
          <a:xfrm>
            <a:off x="3402940" y="1920240"/>
            <a:ext cx="1298448" cy="530352"/>
          </a:xfrm>
          <a:prstGeom prst="roundRect">
            <a:avLst>
              <a:gd name="adj" fmla="val 50000"/>
            </a:avLst>
          </a:prstGeom>
          <a:solidFill>
            <a:schemeClr val="accent5"/>
          </a:solidFill>
          <a:ln w="12700">
            <a:solidFill>
              <a:schemeClr val="accent2"/>
            </a:solidFill>
            <a:prstDash val="solid"/>
          </a:ln>
        </p:spPr>
      </p:sp>
      <p:sp>
        <p:nvSpPr>
          <p:cNvPr id="15" name="Text 13"/>
          <p:cNvSpPr txBox="1"/>
          <p:nvPr/>
        </p:nvSpPr>
        <p:spPr>
          <a:xfrm>
            <a:off x="340294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٦  </a:t>
            </a:r>
            <a:pPr rtl="1" algn="ctr" indent="0" marL="0">
              <a:buNone/>
            </a:pPr>
            <a:r>
              <a:rPr lang="ar-SA" altLang="en-US" sz="1500" b="1" dirty="0">
                <a:solidFill>
                  <a:schemeClr val="tx2"/>
                </a:solidFill>
              </a:rPr>
              <a:t>الصف</a:t>
            </a:r>
            <a:endParaRPr lang="ar-SA" sz="1500" dirty="0"/>
          </a:p>
        </p:txBody>
      </p:sp>
      <p:sp>
        <p:nvSpPr>
          <p:cNvPr id="16" name="Shape 14"/>
          <p:cNvSpPr/>
          <p:nvPr/>
        </p:nvSpPr>
        <p:spPr>
          <a:xfrm>
            <a:off x="2040484" y="1920240"/>
            <a:ext cx="1298448" cy="530352"/>
          </a:xfrm>
          <a:prstGeom prst="roundRect">
            <a:avLst>
              <a:gd name="adj" fmla="val 50000"/>
            </a:avLst>
          </a:prstGeom>
          <a:solidFill>
            <a:schemeClr val="bg1"/>
          </a:solidFill>
          <a:ln w="12700">
            <a:solidFill>
              <a:schemeClr val="accent2"/>
            </a:solidFill>
            <a:prstDash val="solid"/>
          </a:ln>
        </p:spPr>
      </p:sp>
      <p:sp>
        <p:nvSpPr>
          <p:cNvPr id="17" name="Text 15"/>
          <p:cNvSpPr txBox="1"/>
          <p:nvPr/>
        </p:nvSpPr>
        <p:spPr>
          <a:xfrm>
            <a:off x="204048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٧  </a:t>
            </a:r>
            <a:pPr rtl="1" algn="ctr" indent="0" marL="0">
              <a:buNone/>
            </a:pPr>
            <a:r>
              <a:rPr lang="ar-SA" altLang="en-US" sz="1500" b="1" dirty="0">
                <a:solidFill>
                  <a:schemeClr val="tx2"/>
                </a:solidFill>
              </a:rPr>
              <a:t>الممتحنة</a:t>
            </a:r>
            <a:endParaRPr lang="ar-SA" sz="1500" dirty="0"/>
          </a:p>
        </p:txBody>
      </p:sp>
      <p:sp>
        <p:nvSpPr>
          <p:cNvPr id="18" name="Shape 16"/>
          <p:cNvSpPr/>
          <p:nvPr/>
        </p:nvSpPr>
        <p:spPr>
          <a:xfrm>
            <a:off x="678028" y="1920240"/>
            <a:ext cx="1298448" cy="530352"/>
          </a:xfrm>
          <a:prstGeom prst="roundRect">
            <a:avLst>
              <a:gd name="adj" fmla="val 50000"/>
            </a:avLst>
          </a:prstGeom>
          <a:solidFill>
            <a:schemeClr val="accent5"/>
          </a:solidFill>
          <a:ln w="12700">
            <a:solidFill>
              <a:schemeClr val="accent2"/>
            </a:solidFill>
            <a:prstDash val="solid"/>
          </a:ln>
        </p:spPr>
      </p:sp>
      <p:sp>
        <p:nvSpPr>
          <p:cNvPr id="19" name="Text 17"/>
          <p:cNvSpPr txBox="1"/>
          <p:nvPr/>
        </p:nvSpPr>
        <p:spPr>
          <a:xfrm>
            <a:off x="67802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٨  </a:t>
            </a:r>
            <a:pPr rtl="1" algn="ctr" indent="0" marL="0">
              <a:buNone/>
            </a:pPr>
            <a:r>
              <a:rPr lang="ar-SA" altLang="en-US" sz="1500" b="1" dirty="0">
                <a:solidFill>
                  <a:schemeClr val="tx2"/>
                </a:solidFill>
              </a:rPr>
              <a:t>الحشر</a:t>
            </a:r>
            <a:endParaRPr lang="ar-SA" sz="1500" dirty="0"/>
          </a:p>
        </p:txBody>
      </p:sp>
      <p:sp>
        <p:nvSpPr>
          <p:cNvPr id="20" name="Shape 18"/>
          <p:cNvSpPr/>
          <p:nvPr/>
        </p:nvSpPr>
        <p:spPr>
          <a:xfrm>
            <a:off x="10215220" y="2578608"/>
            <a:ext cx="1298448" cy="530352"/>
          </a:xfrm>
          <a:prstGeom prst="roundRect">
            <a:avLst>
              <a:gd name="adj" fmla="val 50000"/>
            </a:avLst>
          </a:prstGeom>
          <a:solidFill>
            <a:schemeClr val="bg1"/>
          </a:solidFill>
          <a:ln w="12700">
            <a:solidFill>
              <a:schemeClr val="accent2"/>
            </a:solidFill>
            <a:prstDash val="solid"/>
          </a:ln>
        </p:spPr>
      </p:sp>
      <p:sp>
        <p:nvSpPr>
          <p:cNvPr id="21" name="Text 19"/>
          <p:cNvSpPr txBox="1"/>
          <p:nvPr/>
        </p:nvSpPr>
        <p:spPr>
          <a:xfrm>
            <a:off x="10215220" y="2578608"/>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٩  </a:t>
            </a:r>
            <a:pPr rtl="1" algn="ctr" indent="0" marL="0">
              <a:buNone/>
            </a:pPr>
            <a:r>
              <a:rPr lang="ar-SA" altLang="en-US" sz="1500" b="1" dirty="0">
                <a:solidFill>
                  <a:schemeClr val="tx2"/>
                </a:solidFill>
              </a:rPr>
              <a:t>المجادلة</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التحريم</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١٢</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٦٦</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كان النبي صلى الله عليه وسلم يشرب عسلًا عند زوجته زينب بنت جحش، فاتفقت عائشة وحفصة رضي الله عنهما على أن تقولا له: إنّا نجد منك ريحًا، فقال: «لن أعود له»، فنزلت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تربية بيت النبوة والمؤمنين على طاعة الله، والأمر بالتوبة النصوح، وضرب الأمثال بنساء صالحات وغير صالحات.</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التحريم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لِمَ تُحَرِّمُ مَآ أَحَلَّ اللَّهُ لَكَ تَبْتَغِي مَرْضَاتَ أَزْوَٰجِكَ وَاللَّهُ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لماذا تمنع نفسك مما أحلّه الله لك، تطلب بذلك رضا زوجاتك؟ والله غفور رحيم.</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فَرَضَ اللَّهُ لَكُمْ تَحِلَّةَ أَيْمَٰنِكُمْ وَاللَّهُ مَوْلَىٰكُمْ وَهُوَ الْعَلِيمُ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شرع الله لكم كفّارةً تتحلّلون بها من أيمانكم، والله ناصركم، وهو العليم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التحريم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أَسَرَّ النَّبِيُّ إِلَىٰ بَعْضِ أَزْوَٰجِهِ حَدِيثًا فَلَمَّا نَبَّأَتْ بِهِ وَأَظْهَرَهُ اللَّهُ عَلَيْهِ عَرَّفَ بَعْضَهُ وَأَعْرَضَ عَن بَعْضٍ فَلَمَّا نَبَّأَهَا بِهِ قَالَتْ مَنْ أَنبَأَكَ هَٰذَا قَالَ نَبَّأَنِيَ الْعَلِيمُ الْخَبِيرُ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وحين أسرّ النبي صلى الله عليه وسلم إلى زوجته حفصة حديثًا فأخبرت به عائشة، أطلعه الله على ذلك، فعاتبها ببعضه وترك بعضه تكرّمًا، فقالت: من أخبرك؟ قال: أخبرني العليم الخبير.</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تَتُوبَآ إِلَى اللَّهِ فَقَدْ صَغَتْ قُلُوبُكُمَا وَإِن تَظَٰهَرَا عَلَيْهِ فَإِنَّ اللَّهَ هُوَ مَوْلَىٰهُ وَجِبْرِيلُ وَصَٰلِحُ الْمُؤْمِنِينَ وَالْمَلَـٰئِكَةُ بَعْدَ ذَٰلِكَ ظَهِيرٌ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تتوبا إلى الله -يا عائشة وحفصة- فقد مالت قلوبكما، وإن تتعاونا عليه فإن الله ناصره، وجبريل وصالحو المؤمنين، والملائكة بعد ذلك أعوان 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التحريم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عَسَىٰ رَبُّهُ إِن طَلَّقَكُنَّ أَن يُبْدِلَهُ أَزْوَٰجًا خَيْرًا مِّنكُنَّ مُسْلِمَٰتٍ مُّؤْمِنَٰتٍ قَٰنِتَٰتٍ تَـٰئِبَٰتٍ عَٰبِدَٰتٍ سَـٰئِحَٰتٍ ثَيِّبَٰتٍ وَأَبْكَارًا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عسى ربه إن طلّقكن أن يعطيه زوجات خيرًا منكن: مسلمات مؤمنات مطيعات تائبات عابدات صائمات.</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قُواْ أَنفُسَكُمْ وَأَهْلِيكُمْ نَارًا وَقُودُهَا النَّاسُ وَالْحِجَارَةُ عَلَيْهَا مَلَـٰئِكَةٌ غِلَاظٌ شِدَادٌ لَّا يَعْصُونَ اللَّهَ مَآ أَمَرَهُمْ وَيَفْعَلُونَ مَا يُؤْمَرُونَ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احموا أنفسكم وأهليكم من النار بطاعة الله وتعليمهم الخير؛ نارٍ وقودها الناس والحجارة، عليها ملائكة أشدّاء لا يعصون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التحريم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43789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كَفَرُواْ لَا تَعْتَذِرُواْ الْيَوْمَ إِنَّمَا تُجْزَوْنَ 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للكفار يوم القيامة: لا تعتذروا اليوم، إنما تُجزون بأعمالكم.</a:t>
            </a:r>
            <a:endParaRPr lang="ar-SA" sz="3200" dirty="0"/>
          </a:p>
        </p:txBody>
      </p:sp>
      <p:sp>
        <p:nvSpPr>
          <p:cNvPr id="9" name="Shape 7"/>
          <p:cNvSpPr/>
          <p:nvPr/>
        </p:nvSpPr>
        <p:spPr>
          <a:xfrm>
            <a:off x="2103120" y="2619756"/>
            <a:ext cx="8641080" cy="0"/>
          </a:xfrm>
          <a:prstGeom prst="line">
            <a:avLst/>
          </a:prstGeom>
          <a:noFill/>
          <a:ln w="9525">
            <a:solidFill>
              <a:schemeClr val="accent2"/>
            </a:solidFill>
            <a:prstDash val="dash"/>
          </a:ln>
        </p:spPr>
      </p:sp>
      <p:sp>
        <p:nvSpPr>
          <p:cNvPr id="10" name="Shape 8"/>
          <p:cNvSpPr/>
          <p:nvPr/>
        </p:nvSpPr>
        <p:spPr>
          <a:xfrm>
            <a:off x="10927080" y="2878074"/>
            <a:ext cx="548640" cy="548640"/>
          </a:xfrm>
          <a:prstGeom prst="star8">
            <a:avLst/>
          </a:prstGeom>
          <a:solidFill>
            <a:schemeClr val="accent2"/>
          </a:solidFill>
          <a:ln/>
        </p:spPr>
      </p:sp>
      <p:sp>
        <p:nvSpPr>
          <p:cNvPr id="11" name="Shape 9"/>
          <p:cNvSpPr/>
          <p:nvPr/>
        </p:nvSpPr>
        <p:spPr>
          <a:xfrm>
            <a:off x="11036808" y="298780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87807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2859786"/>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تُوبُواْ إِلَى اللَّهِ تَوْبَةً نَّصُوحًا عَسَىٰ رَبُّكُمْ أَن يُكَفِّرَ عَنكُمْ سَيِّـَٔاتِكُمْ وَيُدْخِلَكُمْ جَنَّـٰتٍ تَجْرِي مِن تَحْتِهَا الْأَنْهَٰرُ يَوْمَ لَا يُخْزِي اللَّهُ النَّبِيَّ وَالَّذِينَ ءَامَنُواْ مَعَهُ نُورُهُمْ يَسْعَىٰ بَيْنَ أَيْدِيهِمْ وَبِأَيْمَٰنِهِمْ يَقُولُونَ رَبَّنَآ أَتْمِمْ لَنَا نُورَنَا وَاغْفِرْ لَنَآ إِنَّكَ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توبوا إلى الله توبة صادقة خالصة، عسى ربكم أن يمحو سيئاتكم ويدخلكم الجنة، يوم يسعى نور المؤمنين أمامهم وعن أيمانهم.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التحريم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جَٰهِدِ الْكُفَّارَ وَالْمُنَٰفِقِينَ وَاغْلُظْ عَلَيْهِمْ وَمَأْوَىٰهُمْ جَهَنَّمُ وَبِئْسَ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جاهد الكفار بالسلاح، والمنافقين بالحجة وإقامة الحدود، واشتدّ عليهم، ومصيرهم جهنم.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ضَرَبَ اللَّهُ مَثَلًا لِّلَّذِينَ كَفَرُواْ امْرَأَتَ نُوحٍ وَامْرَأَتَ لُوطٍ كَانَتَا تَحْتَ عَبْدَيْنِ مِنْ عِبَادِنَا صَٰلِحَيْنِ فَخَانَتَاهُمَا فَلَمْ يُغْنِيَا عَنْهُمَا مِنَ اللَّهِ شَيْـًٔا وَقِيلَ ادْخُلَا النَّارَ مَعَ الدَّـٰخِلِينَ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ضرب الله مثلًا للكفار بامرأة نوح وامرأة لوط، كانتا زوجتين لنبيّين صالحين فخالفتاهما في الدين، فلم ينفعهما قربهما منهما، وقيل لهما: ادخلا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التحريم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وَضَرَبَ اللَّهُ مَثَلًا لِّلَّذِينَ ءَامَنُواْ امْرَأَتَ فِرْعَوْنَ إِذْ قَالَتْ رَبِّ ابْنِ لِي عِندَكَ بَيْتًا فِي الْجَنَّةِ وَنَجِّنِي مِن فِرْعَوْنَ وَعَمَلِهِ وَنَجِّنِي مِنَ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وضرب مثلًا للمؤمنين بآسية امرأة فرعون، لم يضرّها كفر زوجها، فدعت: ربِّ ابنِ لي عندك بيتًا في الجنة، ونجّني من فرعون وعمله ومن القوم الظالمين.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وَمَرْيَمَ ابْنَتَ عِمْرَٰنَ الَّتِي أَحْصَنَتْ فَرْجَهَا فَنَفَخْنَا فِيهِ مِن رُّوحِنَا وَصَدَّقَتْ بِكَلِمَٰتِ رَبِّهَا وَكُتُبِهِ وَكَانَتْ مِنَ الْقَٰنِتِينَ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ومريم بنت عمران التي حفظت نفسها وعفّت، فأرسل الله إليها جبريل فنفخ فيها فحملت بعيسى، وصدّقت بكلمات ربها وكتبه، وكانت من المطيعين.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الطلاق</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١٢</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٦٥</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طلّق عبد الله بن عمر امرأته في وقت لا يجوز فيه الطلاق، فذكر ذلك عمر للنبي صلى الله عليه وسلم فغضب وأمره أن يراجعها، وبيّن الوقت المشروع للطلاق، وتلا أول هذه السورة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أحكام الطلاق والعدة بالعدل والإحسان، والحثّ على التقوى والتوكل على الله.</a:t>
            </a:r>
            <a:endParaRPr lang="ar-SA"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الطلاق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إِذَا طَلَّقْتُمُ النِّسَآءَ فَطَلِّقُوهُنَّ لِعِدَّتِهِنَّ وَأَحْصُواْ الْعِدَّةَ وَاتَّقُواْ اللَّهَ رَبَّكُمْ لَا تُخْرِجُوهُنَّ مِن بُيُوتِهِنَّ وَلَا يَخْرُجْنَ إِلَّآ أَن يَأْتِينَ بِفَٰحِشَةٍ مُّبَيِّنَةٍ وَتِلْكَ حُدُودُ اللَّهِ وَمَن يَتَعَدَّ حُدُودَ اللَّهِ فَقَدْ ظَلَمَ نَفْسَهُ لَا تَدْرِي لَعَلَّ اللَّهَ يُحْدِثُ بَعْدَ ذَٰلِكَ أَمْرًا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إذا أراد المسلمون الطلاق فليطلّقوا في الوقت الذي شرعه الله، وليحسبوا العدة، ولا تُخرَج المرأة من بيتها أثناءها، وتلك حدود الله، لعل الله يُحدث بعد ذلك صلحًا ورجوعًا.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الطلاق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بَلَغْنَ أَجَلَهُنَّ فَأَمْسِكُوهُنَّ بِمَعْرُوفٍ أَوْ فَارِقُوهُنَّ بِمَعْرُوفٍ وَأَشْهِدُواْ ذَوَيْ عَدْلٍ مِّنكُمْ وَأَقِيمُواْ الشَّهَٰدَةَ لِلَّهِ ذَٰلِكُمْ يُوعَظُ بِهِ مَن كَانَ يُؤْمِنُ بِاللَّهِ وَالْيَوْمِ الْأخِرِ وَمَن يَتَّقِ اللَّهَ يَجْعَل لَّهُ مَخْرَجًا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قاربت العدة نهايتها، فإما رجوعٌ بإحسان أو فراقٌ بإحسان، وأشهدوا رجلين عدلين، ومن يتقِ الله يجعل له من كل ضيق مخرجًا.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وَيَرْزُقْهُ مِنْ حَيْثُ لَا يَحْتَسِبُ وَمَن يَتَوَكَّلْ عَلَى اللَّهِ فَهُوَ حَسْبُهُ إِنَّ اللَّهَ بَٰلِغُ أَمْرِهِ قَدْ جَعَلَ اللَّهُ لِكُلِّ شَيْءٍ قَدْرًا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ويرزقه من حيث لا يتوقع، ومن يتوكّل على الله فهو كافيه، إن الله بالغ أمره، وقد جعل لكل شيء مقدارًا.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الطلاق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وَالَّـٰـِٔي يَئِسْنَ مِنَ الْمَحِيضِ مِن نِّسَآئِكُمْ إِنِ ارْتَبْتُمْ فَعِدَّتُهُنَّ ثَلَٰثَةُ أَشْهُرٍ وَالَّـٰـِٔي لَمْ يَحِضْنَ وَأُوْلَٰتُ الْأَحْمَالِ أَجَلُهُنَّ أَن يَضَعْنَ حَمْلَهُنَّ وَمَن يَتَّقِ اللَّهَ يَجْعَل لَّهُ مِنْ أَمْرِهِ يُسْرًا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والنساء الكبيرات اللاتي انقطع حيضهن، والصغيرات، عدّتهن ثلاثة أشهر، والحوامل عدّتهن أن يضعن حملهن، ومن يتقِ الله يسهّل له أموره.</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أَمْرُ اللَّهِ أَنزَلَهُ إِلَيْكُمْ وَمَن يَتَّقِ اللَّهَ يُكَفِّرْ عَنْهُ سَيِّـَٔاتِهِ وَيُعْظِمْ لَهُ أَجْرًا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حكم الله أنزله إليكم، ومن يتقِ الله يمحُ عنه سيئاته، ويُعظم له أجره.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الطلاق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أَسْكِنُوهُنَّ مِنْ حَيْثُ سَكَنتُم مِّن وُجْدِكُمْ وَلَا تُضَآرُّوهُنَّ لِتُضَيِّقُواْ عَلَيْهِنَّ وَإِن كُنَّ أُوْلَٰتِ حَمْلٍ فَأَنفِقُواْ عَلَيْهِنَّ حَتَّىٰ يَضَعْنَ حَمْلَهُنَّ فَإِنْ أَرْضَعْنَ لَكُمْ فَـَٔاتُوهُنَّ أُجُورَهُنَّ وَأْتَمِرُواْ بَيْنَكُم بِمَعْرُوفٍ وَإِن تَعَاسَرْتُمْ فَسَتُرْضِعُ لَهُ أُخْرَىٰ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أسكنوا المطلّقات في مثل مساكنكم حسب قدرتكم، ولا تضيّقوا عليهن، وأنفقوا على الحوامل حتى يلدن، وإن أرضعن لكم فأعطوهن أجرهن، وتشاوروا بينكم بالمعروف.</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لِيُنفِقْ ذُو سَعَةٍ مِّن سَعَتِهِ وَمَن قُدِرَ عَلَيْهِ رِزْقُهُ فَلْيُنفِقْ مِمَّآ ءَاتَىٰهُ اللَّهُ لَا يُكَلِّفُ اللَّهُ نَفْسًا إِلَّا مَآ ءَاتَىٰهَا سَيَجْعَلُ اللَّهُ بَعْدَ عُسْرٍ يُسْرًا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لينفق الغني على قدر غناه، ومن ضُيّق عليه رزقه فلينفق مما أعطاه الله، لا يكلّف الله نفسًا إلا ما أعطاها، وسيجعل الله بعد عسرٍ يسرًا.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الطلاق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وَكَأَيِّن مِّن قَرْيَةٍ عَتَتْ عَنْ أَمْرِ رَبِّهَا وَرُسُلِهِ فَحَاسَبْنَٰهَا حِسَابًا شَدِيدًا وَعَذَّبْنَٰهَا عَذَابًا نُّكْرًا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وكثير من القرى عصت أمر ربها ورسله، فحاسبناها حسابًا شديدًا، وعذّبناها عذابًا فظيعًا.</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فَذَاقَتْ وَبَالَ أَمْرِهَا وَكَانَ عَٰقِبَةُ أَمْرِهَا خُسْرًا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فذاقت سوء عاقبة عصيانها، وكانت نهايتها خسارة.</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أَعَدَّ اللَّهُ لَهُمْ عَذَابًا شَدِيدًا فَاتَّقُواْ اللَّهَ يَـٰأُوْلِي الْأَلْبَٰبِ الَّذِينَ ءَامَنُواْ قَدْ أَنزَلَ اللَّهُ إِلَيْكُمْ ذِكْرًا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أعدّ الله لهم عذابًا شديدًا، فاتقوا الله يا أصحاب العقول المؤمنين، قد أنزل الله إليكم القرآن.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الطلاق</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رَّسُولًا يَتْلُواْ عَلَيْكُمْ ءَايَٰتِ اللَّهِ مُبَيِّنَٰتٍ لِّيُخْرِجَ الَّذِينَ ءَامَنُواْ وَعَمِلُواْ الصَّـٰلِحَٰتِ مِنَ الظُّلُمَٰتِ إِلَى النُّورِ وَمَن يُؤْمِن بِاللَّهِ وَيَعْمَلْ صَٰلِحًا يُدْخِلْهُ جَنَّـٰتٍ تَجْرِي مِن تَحْتِهَا الْأَنْهَٰرُ خَٰلِدِينَ فِيهَآ أَبَدًا قَدْ أَحْسَنَ اللَّهُ لَهُ رِزْقًا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وأرسل رسولًا يقرأ عليكم آيات الله الواضحات، ليُخرج المؤمنين من ظلمات الكفر إلى نور الإيمان، ومن يؤمن ويعمل صالحًا يُدخله جنات خالدين فيها.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خَلَقَ سَبْعَ سَمَٰوَٰتٍ وَمِنَ الْأَرْضِ مِثْلَهُنَّ يَتَنَزَّلُ الْأَمْرُ بَيْنَهُنَّ لِتَعْلَمُواْ أَنَّ اللَّهَ عَلَىٰ كُلِّ شَيْءٍ قَدِيرٌ وَأَنَّ اللَّهَ قَدْ أَحَاطَ بِكُلِّ شَيْءٍ عِلْمًا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خلق سبع سماوات، وخلق من الأرض سبعًا مثلهن، يتنزّل أمره بينهن، لتعلموا أن الله على كل شيء قدير، وأنه أحاط بكل شيء علمًا.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التغابن</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١٨</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٦٤</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في قوله: ﴿إن من أزواجكم وأولادكم عدوًّا لكم﴾: نزلت في رجال من أهل مكة أسلموا وأرادوا الهجرة إلى النبي صلى الله عليه وسلم، فمنعهم أزواجهم وأولادهم (رواه الترمذي).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تقرير عظمة الله وعلمه، والإيمان بالبعث ويوم التغابن، والرضا بالقضاء، والتحذير من فتنة المال والأولاد.</a:t>
            </a:r>
            <a:endParaRPr lang="ar-SA"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التغابن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يُسَبِّحُ لِلَّهِ مَا فِي السَّمَٰوَٰتِ وَمَا فِي الْأَرْضِ لَهُ الْمُلْكُ وَلَهُ الْحَمْدُ وَهُوَ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ينزّه الله كل ما في السماوات والأرض، له الملك كله، وله الحمد، وهو على كل شيء قدير.</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خَلَقَكُمْ فَمِنكُمْ كَافِرٌ وَمِنكُم مُّؤْمِنٌ وَاللَّهُ بِمَا تَعْمَلُونَ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خلقكم، فمنكم كافر ومنكم مؤمن، والله بصير بأعمالكم.</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خَلَقَ السَّمَٰوَٰتِ وَالْأَرْضَ بِالْحَقِّ وَصَوَّرَكُمْ فَأَحْسَنَ صُوَرَكُمْ وَإِلَيْهِ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 السماوات والأرض بالحق، وصوّركم فأحسن صوركم، وإليه المرجع.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التغابن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يَعْلَمُ مَا فِي السَّمَٰوَٰتِ وَالْأَرْضِ وَيَعْلَمُ مَا تُسِرُّونَ وَمَا تُعْلِنُونَ وَاللَّهُ عَلِيمٌ بِذَاتِ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يعلم ما في السماوات والأرض، ويعلم ما تخفون وما تظهرون، وهو عليم بما في القلوب.</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يَأْتِكُمْ نَبَؤُاْ الَّذِينَ كَفَرُواْ مِن قَبْلُ فَذَاقُواْ وَبَالَ أَمْرِهِمْ وَلَهُمْ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يأتكم خبر الأمم الكافرة قبلكم؟ ذاقوا عاقبة كفرهم في الدنيا، ولهم في الآخرة عذاب مؤلم.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التغابن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بِأَنَّهُ كَانَت تَّأْتِيهِمْ رُسُلُهُم بِالْبَيِّنَٰتِ فَقَالُواْ أَبَشَرٌ يَهْدُونَنَا فَكَفَرُواْ وَتَوَلَّواْ وَّاسْتَغْنَى اللَّهُ وَاللَّهُ غَنِيٌّ 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لأنهم جاءتهم رسلهم بالحجج الواضحة، فقالوا: أبشرٌ مثلنا يهدوننا؟ فكفروا وأعرضوا، والله غنيّ عنهم حميد.</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زَعَمَ الَّذِينَ كَفَرُواْ أَن لَّن يُبْعَثُواْ قُلْ بَلَىٰ وَرَبِّي لَتُبْعَثُنَّ ثُمَّ لَتُنَبَّؤُنَّ بِمَا عَمِلْتُمْ وَذَٰلِكَ عَلَى اللَّهِ يَسِيرٌ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زعم الكفار أنهم لن يُبعثوا، قل: بلى وربي لتُبعثُنّ، ثم لتُخبَرُنّ بأعمالكم، وذلك على الله سهل.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التغابن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فَـَٔامِنُواْ بِاللَّهِ وَرَسُولِهِ وَالنُّورِ الَّذِي أَنزَلْنَا وَاللَّهُ بِمَا تَعْمَلُونَ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فآمنوا بالله ورسوله والقرآن الذي أنزلناه نورًا، والله خبير بأعمالكم.</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يَجْمَعُكُمْ لِيَوْمِ الْجَمْعِ ذَٰلِكَ يَوْمُ التَّغَابُنِ وَمَن يُؤْمِن بِاللَّهِ وَيَعْمَلْ صَٰلِحًا يُكَفِّرْ عَنْهُ سَيِّـَٔاتِهِ وَيُدْخِلْهُ جَنَّـٰتٍ تَجْرِي مِن تَحْتِهَا الْأَنْهَٰرُ خَٰلِدِينَ فِيهَآ أَبَدًا ذَٰلِكَ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يجمعكم الله يوم القيامة، ذلك يوم التغابن: يظهر فيه الرابح والخاسر، ومن يؤمن ويعمل صالحًا يمحُ عنه سيئاته ويُدخله الجنة.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التغابن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كَفَرُواْ وَكَذَّبُواْ بِـَٔايَٰتِنَآ أُوْلَـٰئِكَ أَصْحَٰبُ النَّارِ خَٰلِدِينَ فِيهَا وَبِئْسَ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كفروا وكذّبوا بآياتنا هم أهل النار خالدين فيها، وبئس المرجع.</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أَصَابَ مِن مُّصِيبَةٍ إِلَّا بِإِذْنِ اللَّهِ وَمَن يُؤْمِن بِاللَّهِ يَهْدِ قَلْبَهُ وَاللَّهُ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أصاب أحدًا من مصيبة إلا بقضاء الله، ومن يؤمن بالله يهدِ قلبه، فيعلم أنها من عند الله فيرضى ويصبر.</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وَأَطِيعُواْ اللَّهَ وَأَطِيعُواْ الرَّسُولَ فَإِن تَوَلَّيْتُمْ فَإِنَّمَا عَلَىٰ رَسُولِنَا الْبَلَٰغُ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وأطيعوا الله والرسول، فإن أعرضتم فإنما على رسولنا التبليغ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التغابن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لَآ إِلَٰهَ إِلَّا هُوَ وَعَلَى اللَّهِ فَلْيَتَوَكَّلِ الْمُؤْمِنُونَ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لا معبود بحق إلا هو، وعليه وحده فليتوكّل المؤمنون.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إِنَّ مِنْ أَزْوَٰجِكُمْ وَأَوْلَٰدِكُمْ عَدُوًّا لَّكُمْ فَاحْذَرُوهُمْ وَإِن تَعْفُواْ وَتَصْفَحُواْ وَتَغْفِرُواْ فَإِنَّ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إن بعض أزواجكم وأولادكم قد يصرفونكم عن طاعة الله فاحذروهم، وإن تعفوا وتسامحوا فإن الله غفور رحيم.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أَمْوَٰلُكُمْ وَأَوْلَٰدُكُمْ فِتْنَةٌ وَاللَّهُ عِندَهُ أَجْرٌ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أموالكم وأولادكم اختبار لكم، والله عنده أجر عظيم لمن قدّم طاعته.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التغابن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57884"/>
            <a:ext cx="548640" cy="548640"/>
          </a:xfrm>
          <a:prstGeom prst="star8">
            <a:avLst/>
          </a:prstGeom>
          <a:solidFill>
            <a:schemeClr val="accent2"/>
          </a:solidFill>
          <a:ln/>
        </p:spPr>
      </p:sp>
      <p:sp>
        <p:nvSpPr>
          <p:cNvPr id="6" name="Shape 4"/>
          <p:cNvSpPr/>
          <p:nvPr/>
        </p:nvSpPr>
        <p:spPr>
          <a:xfrm>
            <a:off x="11036808" y="1467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57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3395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فَاتَّقُواْ اللَّهَ مَا اسْتَطَعْتُمْ وَاسْمَعُواْ وَأَطِيعُواْ وَأَنفِقُواْ خَيْرًا لِّأَنفُسِكُمْ وَمَن يُوقَ شُحَّ نَفْسِهِ فَأُوْلَـٰئِكَ هُمُ الْمُفْلِحُونَ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فاتقوا الله قدر استطاعتكم، واسمعوا وأطيعوا، وأنفقوا خيرًا لأنفسكم، ومن يُحفظ من بخل نفسه فهو من الفائزين.</a:t>
            </a:r>
            <a:endParaRPr lang="ar-SA" sz="3200" dirty="0"/>
          </a:p>
        </p:txBody>
      </p:sp>
      <p:sp>
        <p:nvSpPr>
          <p:cNvPr id="9" name="Shape 7"/>
          <p:cNvSpPr/>
          <p:nvPr/>
        </p:nvSpPr>
        <p:spPr>
          <a:xfrm>
            <a:off x="2103120" y="3346704"/>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488436"/>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تُقْرِضُواْ اللَّهَ قَرْضًا حَسَنًا يُضَٰعِفْهُ لَكُمْ وَيَغْفِرْ لَكُمْ وَاللَّهُ شَكُورٌ حَلِيمٌ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تنفقوا في سبيل الله نفقة طيبة يضاعفها لكم ويغفر لكم، والله شكور يثيب على القليل، حليم لا يعجّل العقوبة.</a:t>
            </a:r>
            <a:endParaRPr lang="ar-SA" sz="3200" dirty="0"/>
          </a:p>
        </p:txBody>
      </p:sp>
      <p:sp>
        <p:nvSpPr>
          <p:cNvPr id="14" name="Shape 12"/>
          <p:cNvSpPr/>
          <p:nvPr/>
        </p:nvSpPr>
        <p:spPr>
          <a:xfrm>
            <a:off x="2103120" y="4910328"/>
            <a:ext cx="8641080" cy="0"/>
          </a:xfrm>
          <a:prstGeom prst="line">
            <a:avLst/>
          </a:prstGeom>
          <a:noFill/>
          <a:ln w="9525">
            <a:solidFill>
              <a:schemeClr val="accent2"/>
            </a:solidFill>
            <a:prstDash val="dash"/>
          </a:ln>
        </p:spPr>
      </p:sp>
      <p:sp>
        <p:nvSpPr>
          <p:cNvPr id="15" name="Shape 13"/>
          <p:cNvSpPr/>
          <p:nvPr/>
        </p:nvSpPr>
        <p:spPr>
          <a:xfrm>
            <a:off x="10927080" y="5070348"/>
            <a:ext cx="548640" cy="548640"/>
          </a:xfrm>
          <a:prstGeom prst="star8">
            <a:avLst/>
          </a:prstGeom>
          <a:solidFill>
            <a:schemeClr val="accent2"/>
          </a:solidFill>
          <a:ln/>
        </p:spPr>
      </p:sp>
      <p:sp>
        <p:nvSpPr>
          <p:cNvPr id="16" name="Shape 14"/>
          <p:cNvSpPr/>
          <p:nvPr/>
        </p:nvSpPr>
        <p:spPr>
          <a:xfrm>
            <a:off x="11036808" y="518007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70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5052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عَٰلِمُ الْغَيْبِ وَالشَّهَٰدَةِ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يعلم ما غاب وما حضر، وهو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المنافقون</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١١</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٦٣</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زيد بن أرقم: كنت في غزاة فسمعت عبد الله بن أُبيّ يقول: لا تنفقوا على من عند رسول الله حتى ينفضّوا، ولئن رجعنا إلى المدينة ليُخرجنّ الأعزّ منها الأذلّ، فأخبرت النبي صلى الله عليه وسلم فحلف ما قال، فأنزل الله تصديقي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كشف صفات المنافقين وكذبهم، والتحذير من أن تُلهي الأموال والأولاد عن ذكر الله. وكان النبي صلى الله عليه وسلم يقرؤها مع الجمعة في صلاة الجمعة (رواه مسلم).</a:t>
            </a:r>
            <a:endParaRPr lang="ar-SA"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المنافقون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جَآءَكَ الْمُنَٰفِقُونَ قَالُواْ نَشْهَدُ إِنَّكَ لَرَسُولُ اللَّهِ وَاللَّهُ يَعْلَمُ إِنَّكَ لَرَسُولُهُ وَاللَّهُ يَشْهَدُ إِنَّ الْمُنَٰفِقِينَ لَكَٰذِبُونَ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جاءك المنافقون قالوا بألسنتهم: نشهد إنك لرسول الله، والله يعلم إنك لرسوله، والله يشهد إنهم كاذبون؛ لأنهم لا يعتقدون ذلك بقلوبهم.</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اتَّخَذُواْ أَيْمَٰنَهُمْ جُنَّةً فَصَدُّواْ عَن سَبِيلِ اللَّهِ إِنَّهُمْ سَآءَ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جعلوا أيمانهم الكاذبة وقاية يحتمون بها، فصدّوا الناس عن الإسلام، بئس ما يعملون.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بِأَنَّهُمْ ءَامَنُواْ ثُمَّ كَفَرُواْ فَطُبِعَ عَلَىٰ قُلُوبِهِمْ فَهُمْ لَا يَفْقَهُونَ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لأنهم أظهروا الإيمان ثم كفروا، فخُتم على قلوبهم فلا يفهمون الحق.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المنافقون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رَأَيْتَهُمْ تُعْجِبُكَ أَجْسَامُهُمْ وَإِن يَقُولُواْ تَسْمَعْ لِقَوْلِهِمْ كَأَنَّهُمْ خُشُبٌ مُّسَنَّدَةٌ يَحْسَبُونَ كُلَّ صَيْحَةٍ عَلَيْهِمْ هُمُ الْعَدُوُّ فَاحْذَرْهُمْ قَٰتَلَهُمُ اللَّهُ أَنَّىٰ يُؤْفَكُونَ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رأيتهم أعجبتك أجسامهم، وإن تكلّموا سمعت لفصاحتهم، لكنهم كالخشب المسنَدة لا خير فيها، يظنون كل صوت عليهم من شدة خوفهم، هم العدو فاحذرهم.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قِيلَ لَهُمْ تَعَالَوْاْ يَسْتَغْفِرْ لَكُمْ رَسُولُ اللَّهِ لَوَّوْاْ رُءُوسَهُمْ وَرَأَيْتَهُمْ يَصُدُّونَ وَهُم مُّسْتَكْبِرُونَ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قيل لهم: تعالوا يستغفر لكم رسول الله، أمالوا رؤوسهم استهزاءً، ورأيتهم يُعرضون متكبّرين.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المنافقون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سَوَآءٌ عَلَيْهِمْ أَسْتَغْفَرْتَ لَهُمْ أَمْ لَمْ تَسْتَغْفِرْ لَهُمْ لَن يَغْفِرَ اللَّهُ لَهُمْ إِنَّ اللَّهَ لَا يَهْدِي الْقَوْمَ الْفَٰسِقِينَ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يستوي استغفارك لهم وعدمه، لن يغفر الله لهم، إن الله لا يهدي الخارجين عن طاعته.</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هُمُ الَّذِينَ يَقُولُونَ لَا تُنفِقُواْ عَلَىٰ مَنْ عِندَ رَسُولِ اللَّهِ حَتَّىٰ يَنفَضُّواْ وَلِلَّهِ خَزَآئِنُ السَّمَٰوَٰتِ وَالْأَرْضِ وَلَٰكِنَّ الْمُنَٰفِقِينَ لَا يَفْقَهُونَ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هم الذين يقولون: لا تنفقوا على أصحاب رسول الله حتى يتفرّقوا عنه، ولله خزائن السماوات والأرض، ولكن المنافقين لا يفهمون.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المنافقون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يَقُولُونَ لَئِن رَّجَعْنَآ إِلَى الْمَدِينَةِ لَيُخْرِجَنَّ الْأَعَزُّ مِنْهَا الْأَذَلَّ وَلِلَّهِ الْعِزَّةُ وَلِرَسُولِهِ وَلِلْمُؤْمِنِينَ وَلَٰكِنَّ الْمُنَٰفِقِينَ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يقولون: لئن رجعنا إلى المدينة ليُخرجنّ الأعزّ منها الأذلّ، ولله العزة ولرسوله وللمؤمنين، ولكن المنافقين لا يعلمون.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تُلْهِكُمْ أَمْوَٰلُكُمْ وَلَآ أَوْلَٰدُكُمْ عَن ذِكْرِ اللَّهِ وَمَن يَفْعَلْ ذَٰلِكَ فَأُوْلَـٰئِكَ هُمُ الْخَٰسِرُونَ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تشغلكم أموالكم ولا أولادكم عن ذكر الله والصلاة، ومن يفعل ذلك فهو من الخاسرين.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المنافقون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وَأَنفِقُواْ مِن مَّا رَزَقْنَٰكُم مِّن قَبْلِ أَن يَأْتِيَ أَحَدَكُمُ الْمَوْتُ فَيَقُولَ رَبِّ لَوْلَآ أَخَّرْتَنِي إِلَىٰ أَجَلٍ قَرِيبٍ فَأَصَّدَّقَ وَأَكُن 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وأنفقوا مما رزقناكم قبل أن يأتي أحدكم الموت، فيقول نادمًا: ربِّ لو أخّرتني مدة قليلة فأتصدّق وأكون من الصالحين.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وَلَن يُؤَخِّرَ اللَّهُ نَفْسًا إِذَا جَآءَ أَجَلُهَا وَاللَّهُ خَبِيرٌ بِمَا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ولن يؤخّر الله نفسًا إذا جاء أجلها، والله خبير بأعمالكم.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الجمعة</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١١</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٦٢</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جابر بن عبد الله: بينما نحن نصلي مع النبي صلى الله عليه وسلم -أي في خطبة الجمعة- إذ أقبلت قافلة تحمل طعامًا، فانصرف الناس إليها حتى ما بقي مع النبي صلى الله عليه وسلم إلا اثنا عشر رجلًا، فنزلت: ﴿وإذا رأوا تجارة أو لهوًا انفضّوا إليها﴾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نعمة بعثة النبي صلى الله عليه وسلم، وأحكام صلاة الجمعة وفضلها، والتحذير من الانشغال عنها.</a:t>
            </a:r>
            <a:endParaRPr lang="ar-SA"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الجمعة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يُسَبِّحُ لِلَّهِ مَا فِي السَّمَٰوَٰتِ وَمَا فِي الْأَرْضِ الْمَلِكِ الْقُدُّوسِ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ينزّه الله كل ما في السماوات والأرض، الملك، المنزّه عن كل نقص، العزيز الحكيم.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بَعَثَ فِي الْأُمِّيِّـنَ رَسُولًا مِّنْهُمْ يَتْلُواْ عَلَيْهِمْ ءَايَٰتِهِ وَيُزَكِّيهِمْ وَيُعَلِّمُهُمُ الْكِتَٰبَ وَالْحِكْمَةَ وَإِن كَانُواْ مِن قَبْلُ لَفِي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أرسل في العرب الذين لا يقرؤون ولا يكتبون رسولًا منهم، يقرأ عليهم آياته ويطهّرهم ويعلّمهم القرآن والسنة، وقد كانوا قبله في ضلال واضح.</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وَءَاخَرِينَ مِنْهُمْ لَمَّا يَلْحَقُواْ بِهِمْ وَهُوَ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وأرسله أيضًا إلى أقوام آخرين لم يأتوا بعد، وهم كل من آمن به إلى يوم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الجمعة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فَضْلُ اللَّهِ يُؤْتِيهِ مَن يَشَآءُ وَاللَّهُ ذُو الْفَضْلِ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فضل الله يعطيه من يشاء، والله صاحب الفضل العظيم.</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مَثَلُ الَّذِينَ حُمِّلُواْ التَّوْرَىٰةَ ثُمَّ لَمْ يَحْمِلُوهَا كَمَثَلِ الْحِمَارِ يَحْمِلُ أَسْفَارًا بِئْسَ مَثَلُ الْقَوْمِ الَّذِينَ كَذَّبُواْ بِـَٔايَٰتِ اللَّهِ وَاللَّهُ لَا يَهْدِي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مثل اليهود الذين أُعطوا التوراة ثم لم يعملوا بها، كمثل الحمار يحمل كتبًا كبيرة لا يدري ما فيها.</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يَـٰأَيُّهَا الَّذِينَ هَادُواْ إِن زَعَمْتُمْ أَنَّكُمْ أَوْلِيَآءُ لِلَّهِ مِن دُونِ النَّاسِ فَتَمَنَّوُاْ الْمَوْتَ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أيها اليهود، إن زعمتم أنكم أحباب الله دون الناس فتمنّوا الموت إن كنتم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الجمعة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يَتَمَنَّوْنَهُ أَبَدًا بِمَا قَدَّمَتْ أَيْدِيهِمْ وَاللَّهُ عَلِيمٌ بِالظَّـٰلِمِينَ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ولن يتمنّوه أبدًا بسبب ما قدّموا من الذنوب، والله عليم بالظالمين.</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الْمَوْتَ الَّذِي تَفِرُّونَ مِنْهُ فَإِنَّهُ مُلَٰقِيكُمْ ثُمَّ تُرَدُّونَ إِلَىٰ عَٰلِمِ الْغَيْبِ وَالشَّهَٰدَةِ فَيُنَبِّئُكُم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 الموت الذي تهربون منه سيلقاكم لا محالة، ثم تُردّون إلى الله فيخبركم بأعمالكم.</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إِذَا نُودِيَ لِلصَّلَوٰةِ مِن يَوْمِ الْجُمُعَةِ فَاسْعَوْاْ إِلَىٰ ذِكْرِ اللَّهِ وَذَرُواْ الْبَيْعَ ذَٰلِكُمْ خَيْرٌ لَّكُمْ إِن كُنتُمْ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إذا أُذّن لصلاة الجمعة فامضوا إلى الخطبة والصلاة، واتركوا البيع، ذلك خير 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الجمعة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قُضِيَتِ الصَّلَوٰةُ فَانتَشِرُواْ فِي الْأَرْضِ وَابْتَغُواْ مِن فَضْلِ اللَّهِ وَاذْكُرُواْ اللَّهَ كَثِيرًا لَّعَلَّكُمْ تُفْلِحُونَ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انتهت الصلاة فتفرّقوا في الأرض واطلبوا الرزق، واذكروا الله كثيرًا لعلكم تفوزون.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رَأَوْاْ تِجَٰرَةً أَوْ لَهْوًا انفَضُّواْ إِلَيْهَا وَتَرَكُوكَ قَآئِمًا قُلْ مَا عِندَ اللَّهِ خَيْرٌ مِّنَ اللَّهْوِ وَمِنَ التِّجَٰرَةِ وَاللَّهُ خَيْرُ الرَّـٰزِقِينَ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رأى بعضهم تجارة أو لهوًا خرجوا إليها وتركوك قائمًا تخطب، قل: ما عند الله من الثواب خير من اللهو والتجارة، والله خير الرازقين.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الصف</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١٤</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٦١</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عبد الله بن سلام: جلسنا نفرًا من أصحاب النبي صلى الله عليه وسلم فقلنا: لو نعلم أيّ الأعمال أحبّ إلى الله لعملناه، فأنزل الله هذه السورة، فقرأها علينا النبي صلى الله عليه وسلم (رواه الترمذي وأحمد).</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الحثّ على الصدق بين القول والعمل، ووحدة صف المؤمنين، ونصرة دين الله، والتجارة الرابحة مع الله.</a:t>
            </a:r>
            <a:endParaRPr lang="ar-SA"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سَبَّحَ لِلَّهِ مَا فِي السَّمَٰوَٰتِ وَمَا فِي الْأَرْضِ وَهُوَ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نزّه الله كل ما في السماوات والأرض، وهو العزيز الحكيم.</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لِمَ تَقُولُونَ مَا لَا تَفْعَلُونَ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لماذا تقولون قولًا ولا تفعلونه؟</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كَبُرَ مَقْتًا عِندَ اللَّهِ أَن تَقُولُواْ مَا لَا تَفْعَلُونَ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عظُم بُغضًا عند الله أن تقولوا ما لا تفعلون.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يُحِبُّ الَّذِينَ يُقَٰتِلُونَ فِي سَبِيلِهِ صَفًّا كَأَنَّهُم بُنْيَٰنٌ مَّرْصُوصٌ</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يحب المجاهدين في سبيله صفًا واحدًا، كأنهم بناء متماسك.</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 مُوسَىٰ لِقَوْمِهِ يَٰقَوْمِ لِمَ تُؤْذُونَنِي وَقَد تَّعْلَمُونَ أَنِّي رَسُولُ اللَّهِ إِلَيْكُمْ فَلَمَّا زَاغُواْ أَزَاغَ اللَّهُ قُلُوبَهُمْ وَاللَّهُ لَا يَهْدِي الْقَوْمَ الْفَٰسِقِينَ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 موسى لقومه: لماذا تؤذونني وأنتم تعلمون أني رسول الله إليكم؟ فلما مالوا عن الحق أمال الله قلوبهم عن الهدى.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 عِيسَى ابْنُ مَرْيَمَ يَٰبَنِي إِسْرَـٰءِيلَ إِنِّي رَسُولُ اللَّهِ إِلَيْكُم مُّصَدِّقًا لِّمَا بَيْنَ يَدَيَّ مِنَ التَّوْرَىٰةِ وَمُبَشِّرًا بِرَسُولٍ يَأْتِي مِن بَعْدِي اسْمُهُ أَحْمَدُ فَلَمَّا جَآءَهُم بِالْبَيِّنَٰتِ قَالُواْ هَٰذَا سِحْرٌ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 عيسى: يا بني إسرائيل، إني رسول الله إليكم، مصدّقًا بالتوراة، ومبشّرًا برسول يأتي بعدي اسمه أحمد -وهو محمد صلى الله عليه وسلم-، فلما جاءهم قالوا: هذا سحر واضح.</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أَظْلَمُ مِمَّنِ افْتَرَىٰ عَلَى اللَّهِ الْكَذِبَ وَهُوَ يُدْعَىٰ إِلَى الْإِسْلَٰمِ وَاللَّهُ لَا يَهْدِي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أحد أظلم ممن كذب على الله وهو يُدعى إلى الإسلام، والله لا يهدي القوم 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يُرِيدُونَ لِيُطْفِـُٔواْ نُورَ اللَّهِ بِأَفْوَٰهِهِمْ وَاللَّهُ مُتِمُّ نُورِهِ وَلَوْ كَرِهَ الْكَٰفِرُونَ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يريد الكفار أن يُبطلوا دين الله بأقوالهم الكاذبة، والله مُظهرٌ دينه ولو كره الكافرون.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أَرْسَلَ رَسُولَهُ بِالْهُدَىٰ وَدِينِ الْحَقِّ لِيُظْهِرَهُ عَلَى الدِّينِ كُلِّهِ وَلَوْ كَرِهَ الْمُشْرِكُونَ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أرسل رسوله بالهدى ودين الإسلام الحق، ليُعليه على جميع الأديان ولو كره المشركون.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هَلْ أَدُلُّكُمْ عَلَىٰ تِجَٰرَةٍ تُنجِيكُم مِّنْ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هل أدلّكم على تجارة رابحة تنجيكم من عذاب مؤلم؟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تُؤْمِنُونَ بِاللَّهِ وَرَسُولِهِ وَتُجَٰهِدُونَ فِي سَبِيلِ اللَّهِ بِأَمْوَٰلِكُمْ وَأَنفُسِكُمْ ذَٰلِكُمْ خَيْرٌ لَّكُمْ إِن كُنتُمْ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 تؤمنوا بالله ورسوله، وتجاهدوا في سبيل الله بأموالكم وأنفسكم، ذلك خير لكم.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يَغْفِرْ لَكُمْ ذُنُوبَكُمْ وَيُدْخِلْكُمْ جَنَّـٰتٍ تَجْرِي مِن تَحْتِهَا الْأَنْهَٰرُ وَمَسَٰكِنَ طَيِّبَةً فِي جَنَّـٰتِ عَدْنٍ ذَٰلِكَ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يغفر لكم ذنوبكم، ويدخلكم جنات تجري من تحتها الأنهار، ومساكن طيبة في جنات الإقامة الدائمة، ذلك هو الفوز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وَأُخْرَىٰ تُحِبُّونَهَا نَصْرٌ مِّنَ اللَّهِ وَفَتْحٌ قَرِيبٌ وَبَشِّرِ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ونعمة أخرى تحبونها: نصر من الله وفتح قريب، وبشّر المؤمنين.</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كُونُواْ أَنصَارَ اللَّهِ كَمَا قَالَ عِيسَى ابْنُ مَرْيَمَ لِلْحَوَارِيِّـنَ مَنْ أَنصَارِي إِلَى اللَّهِ قَالَ الْحَوَارِيُّونَ نَحْنُ أَنصَارُ اللَّهِ فَـَٔامَنَت طَّآئِفَةٌ مِّن بَنِي إِسْرَـٰءِيلَ وَكَفَرَت طَّآئِفَةٌ فَأَيَّدْنَا الَّذِينَ ءَامَنُواْ عَلَىٰ عَدُوِّهِمْ فَأَصْبَحُواْ ظَٰهِرِينَ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كونوا أنصار دين الله، كما قال عيسى للحواريين: من ينصرني في الدعوة إلى الله؟ قالوا: نحن أنصار الله، فآمنت طائفة وكفرت طائفة، فأيّدنا المؤمنين فصاروا غالبين.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الممتحنة</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١٣</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٦٠</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كتب الصحابي حاطب بن أبي بلتعة رسالة إلى قريش يخبرهم بمسير النبي صلى الله عليه وسلم إليهم، فأطلع الله نبيه على ذلك، فأرسل عليًّا والزبير فأخذا الرسالة من امرأة في الطريق، فاعتذر حاطب بأنه أراد حماية أهله بمكة، فعذره النبي صلى الله عليه وسلم، ونزلت السورة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حدود الولاء للمؤمنين والبراءة من أعداء الله، مع العدل والإحسان إلى من لم يعادِ المسلمين.</a:t>
            </a:r>
            <a:endParaRPr lang="ar-SA"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الممتحنة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تَتَّخِذُواْ عَدُوِّي وَعَدُوَّكُمْ أَوْلِيَآءَ تُلْقُونَ إِلَيْهِم بِالْمَوَدَّةِ وَقَدْ كَفَرُواْ بِمَا جَآءَكُم مِّنَ الْحَقِّ يُخْرِجُونَ الرَّسُولَ وَإِيَّاكُمْ أَن تُؤْمِنُواْ بِاللَّهِ رَبِّكُمْ إِن كُنتُمْ خَرَجْتُمْ جِهَٰدًا فِي سَبِيلِي وَابْتِغَآءَ مَرْضَاتِي تُسِرُّونَ إِلَيْهِم بِالْمَوَدَّةِ وَأَنَا أَعْلَمُ بِمَآ أَخْفَيْتُمْ وَمَآ أَعْلَنتُمْ وَمَن يَفْعَلْهُ مِنكُمْ فَقَدْ ضَلَّ سَوَآءَ السَّبِيلِ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تتخذوا أعدائي وأعداءكم من الكفار أصدقاء تحبونهم وتخبرونهم بأسراركم، وقد كفروا بالحق، وأخرجوا الرسول وأخرجوكم لأنكم آمنتم بالله.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الممتحنة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يَثْقَفُوكُمْ يَكُونُواْ لَكُمْ أَعْدَآءً وَيَبْسُطُواْ إِلَيْكُمْ أَيْدِيَهُمْ وَأَلْسِنَتَهُم بِالسُّوءِ وَوَدُّواْ لَوْ تَكْفُرُونَ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يظفروا بكم يُظهروا عداوتهم، ويؤذوكم بأيديهم وألسنتهم، وتمنّوا لو تكفرون.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لَن تَنفَعَكُمْ أَرْحَامُكُمْ وَلَآ أَوْلَٰدُكُمْ يَوْمَ الْقِيَٰمَةِ يَفْصِلُ بَيْنَكُمْ وَاللَّهُ بِمَا تَعْمَلُونَ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لن تنفعكم قراباتكم ولا أولادكم يوم القيامة إن عصيتم الله لأجلهم، والله بصير بأعمالكم.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الممتحنة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437894"/>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كَانَتْ لَكُمْ أُسْوَةٌ حَسَنَةٌ فِي إِبْرَٰهِيمَ وَالَّذِينَ مَعَهُ إِذْ قَالُواْ لِقَوْمِهِمْ إِنَّا بُرَءَـٰؤُاْ مِنكُمْ وَمِمَّا تَعْبُدُونَ مِن دُونِ اللَّهِ كَفَرْنَا بِكُمْ وَبَدَا بَيْنَنَا وَبَيْنَكُمُ الْعَدَٰوَةُ وَالْبَغْضَآءُ أَبَدًا حَتَّىٰ تُؤْمِنُواْ بِاللَّهِ وَحْدَهُ إِلَّا قَوْلَ إِبْرَٰهِيمَ لِأَبِيهِ لَأَسْتَغْفِرَنَّ لَكَ وَمَآ أَمْلِكُ لَكَ مِنَ اللَّهِ مِن شَيْءٍ رَّبَّنَا عَلَيْكَ تَوَكَّلْنَا وَإِلَيْكَ أَنَبْنَا وَإِلَيْكَ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كان لكم قدوة حسنة في إبراهيم ومن آمن معه، حين قالوا لقومهم: إنا بريئون منكم ومما تعبدون من دون الله حتى تؤمنوا بالله وحده، إلا استغفار إبراهيم لأبيه فلا تقتدوا به فيه.</a:t>
            </a:r>
            <a:endParaRPr lang="ar-SA" sz="3200" dirty="0"/>
          </a:p>
        </p:txBody>
      </p:sp>
      <p:sp>
        <p:nvSpPr>
          <p:cNvPr id="9" name="Shape 7"/>
          <p:cNvSpPr/>
          <p:nvPr/>
        </p:nvSpPr>
        <p:spPr>
          <a:xfrm>
            <a:off x="2103120" y="4713732"/>
            <a:ext cx="8641080" cy="0"/>
          </a:xfrm>
          <a:prstGeom prst="line">
            <a:avLst/>
          </a:prstGeom>
          <a:noFill/>
          <a:ln w="9525">
            <a:solidFill>
              <a:schemeClr val="accent2"/>
            </a:solidFill>
            <a:prstDash val="dash"/>
          </a:ln>
        </p:spPr>
      </p:sp>
      <p:sp>
        <p:nvSpPr>
          <p:cNvPr id="10" name="Shape 8"/>
          <p:cNvSpPr/>
          <p:nvPr/>
        </p:nvSpPr>
        <p:spPr>
          <a:xfrm>
            <a:off x="10927080" y="4972050"/>
            <a:ext cx="548640" cy="548640"/>
          </a:xfrm>
          <a:prstGeom prst="star8">
            <a:avLst/>
          </a:prstGeom>
          <a:solidFill>
            <a:schemeClr val="accent2"/>
          </a:solidFill>
          <a:ln/>
        </p:spPr>
      </p:sp>
      <p:sp>
        <p:nvSpPr>
          <p:cNvPr id="11" name="Shape 9"/>
          <p:cNvSpPr/>
          <p:nvPr/>
        </p:nvSpPr>
        <p:spPr>
          <a:xfrm>
            <a:off x="11036808" y="508177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97205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495376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لَا تَجْعَلْنَا فِتْنَةً لِّلَّذِينَ كَفَرُواْ وَاغْفِرْ لَنَا رَبَّنَآ إِنَّكَ أَنتَ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ربنا لا تسلّط علينا الكفار فيفتنونا، واغفر لنا، إنك أنت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الممتحنة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كَانَ لَكُمْ فِيهِمْ أُسْوَةٌ حَسَنَةٌ لِّمَن كَانَ يَرْجُواْ اللَّهَ وَالْيَوْمَ الْأخِرَ وَمَن يَتَوَلَّ فَإِنَّ اللَّهَ هُوَ الْغَنِيُّ الْحَمِيدُ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كان لكم فيهم قدوة حسنة لمن يرجو الله واليوم الآخر، ومن يُعرض فإن الله غني عنه، حميد.</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عَسَى اللَّهُ أَن يَجْعَلَ بَيْنَكُمْ وَبَيْنَ الَّذِينَ عَادَيْتُم مِّنْهُم مَّوَدَّةً وَاللَّهُ قَدِيرٌ وَاللَّهُ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عسى الله أن يجعل بينكم وبين أعدائكم من الكفار محبة بإسلامهم، والله قدير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الممتحنة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يَنْهَىٰكُمُ اللَّهُ عَنِ الَّذِينَ لَمْ يُقَٰتِلُوكُمْ فِي الدِّينِ وَلَمْ يُخْرِجُوكُم مِّن دِيَٰرِكُمْ أَن تَبَرُّوهُمْ وَتُقْسِطُواْ إِلَيْهِمْ إِنَّ اللَّهَ يُحِبُّ الْمُقْسِطِينَ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ينهاكم الله عن الإحسان والعدل مع الكفار الذين لم يقاتلوكم ولم يُخرجوكم من بلادكم، إن الله يحب العادلين.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يَنْهَىٰكُمُ اللَّهُ عَنِ الَّذِينَ قَٰتَلُوكُمْ فِي الدِّينِ وَأَخْرَجُوكُم مِّن دِيَٰرِكُمْ وَظَٰهَرُواْ عَلَىٰ إِخْرَاجِكُمْ أَن تَوَلَّوْهُمْ وَمَن يَتَوَلَّهُمْ فَأُوْلَـٰئِكَ هُمُ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ينهاكم عن موالاة الذين قاتلوكم وأخرجوكم من بلادكم وأعانوا على إخراجكم، ومن يتولّهم فأولئك هم الظالمون.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الممتحنة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74520"/>
            <a:ext cx="548640" cy="548640"/>
          </a:xfrm>
          <a:prstGeom prst="star8">
            <a:avLst/>
          </a:prstGeom>
          <a:solidFill>
            <a:schemeClr val="accent2"/>
          </a:solidFill>
          <a:ln/>
        </p:spPr>
      </p:sp>
      <p:sp>
        <p:nvSpPr>
          <p:cNvPr id="6" name="Shape 4"/>
          <p:cNvSpPr/>
          <p:nvPr/>
        </p:nvSpPr>
        <p:spPr>
          <a:xfrm>
            <a:off x="11036808" y="198424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745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856232"/>
            <a:ext cx="10012680" cy="36484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إِذَا جَآءَكُمُ الْمُؤْمِنَٰتُ مُهَٰجِرَٰتٍ فَامْتَحِنُوهُنَّ اللَّهُ أَعْلَمُ بِإِيمَٰنِهِنَّ فَإِنْ عَلِمْتُمُوهُنَّ مُؤْمِنَٰتٍ فَلَا تَرْجِعُوهُنَّ إِلَى الْكُفَّارِ لَا هُنَّ حِلٌّ لَّهُمْ وَلَا هُمْ يَحِلُّونَ لَهُنَّ وَءَاتُوهُم مَّآ أَنفَقُواْ وَلَا جُنَاحَ عَلَيْكُمْ أَن تَنكِحُوهُنَّ إِذَآ ءَاتَيْتُمُوهُنَّ أُجُورَهُنَّ وَلَا تُمْسِكُواْ بِعِصَمِ الْكَوَافِرِ وَسْـَٔلُواْ مَآ أَنفَقْتُمْ وَلْيَسْـَٔلُواْ مَآ أَنفَقُواْ ذَٰلِكُمْ حُكْمُ اللَّهِ يَحْكُمُ بَيْنَكُمْ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إذا جاءكم النساء مهاجرات فاختبروا صدق إيمانهن، فإن علمتموهن مؤمنات فلا تُرجعوهن إلى الكفار، وأعطوا أزواجهن ما أنفقوا عليهن.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الممتحنة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فَاتَكُمْ شَيْءٌ مِّنْ أَزْوَٰجِكُمْ إِلَى الْكُفَّارِ فَعَاقَبْتُمْ فَـَٔاتُواْ الَّذِينَ ذَهَبَتْ أَزْوَٰجُهُم مِّثْلَ مَآ أَنفَقُواْ وَاتَّقُواْ اللَّهَ الَّذِي أَنتُم بِهِ 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ذهبت زوجة أحدكم إلى الكفار ثم غنمتم منهم، فأعطوا الذين ذهبت زوجاتهم مثل ما أنفقوا، واتقوا الله الذي أنتم به مؤمنون.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الممتحنة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إِذَا جَآءَكَ الْمُؤْمِنَٰتُ يُبَايِعْنَكَ عَلَىٰ أَن لَّا يُشْرِكْنَ بِاللَّهِ شَيْـًٔا وَلَا يَسْرِقْنَ وَلَا يَزْنِينَ وَلَا يَقْتُلْنَ أَوْلَٰدَهُنَّ وَلَا يَأْتِينَ بِبُهْتَٰنٍ يَفْتَرِينَهُ بَيْنَ أَيْدِيهِنَّ وَأَرْجُلِهِنَّ وَلَا يَعْصِينَكَ فِي مَعْرُوفٍ فَبَايِعْهُنَّ وَاسْتَغْفِرْ لَهُنَّ اللَّهَ 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إذا جاءتك النساء المؤمنات يبايعنك على ألّا يشركن بالله شيئًا، ولا يسرقن، ولا يقعن في الفاحشة، ولا يقتلن أولادهن، ولا يكذبن، ولا يعصينك في معروف، فبايعهن واستغفر لهن.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الممتحنة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تَتَوَلَّوْاْ قَوْمًا غَضِبَ اللَّهُ عَلَيْهِمْ قَدْ يَئِسُواْ مِنَ الْأخِرَةِ كَمَا يَئِسَ الْكُفَّارُ مِنْ أَصْحَٰبِ الْقُبُورِ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تتخذوا أولياء قومًا غضب الله عليهم، قد يئسوا من ثواب الآخرة كما يئس الكفار من عودة موتاهم.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الحشر</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٢٤</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٥٩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نزلت في يهود بني النضير لمّا نقضوا العهد وأرادوا قتل النبي صلى الله عليه وسلم، فحاصرهم ثم أجلاهم من المدينة. وكان ابن عباس يسمّيها: «سورة بني النضير»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نصر الله للمؤمنين على يهود بني النضير، وفضل المهاجرين والأنصار، وكشف المنافقين، وذكر أسماء الله الحسنى.</a:t>
            </a:r>
            <a:endParaRPr lang="ar-SA"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الحشر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43789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سَبَّحَ لِلَّهِ مَا فِي السَّمَٰوَٰتِ وَمَا فِي الْأَرْضِ وَهُوَ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نزّه الله كل ما في السماوات والأرض، وهو العزيز الحكيم.</a:t>
            </a:r>
            <a:endParaRPr lang="ar-SA" sz="3200" dirty="0"/>
          </a:p>
        </p:txBody>
      </p:sp>
      <p:sp>
        <p:nvSpPr>
          <p:cNvPr id="9" name="Shape 7"/>
          <p:cNvSpPr/>
          <p:nvPr/>
        </p:nvSpPr>
        <p:spPr>
          <a:xfrm>
            <a:off x="2103120" y="2619756"/>
            <a:ext cx="8641080" cy="0"/>
          </a:xfrm>
          <a:prstGeom prst="line">
            <a:avLst/>
          </a:prstGeom>
          <a:noFill/>
          <a:ln w="9525">
            <a:solidFill>
              <a:schemeClr val="accent2"/>
            </a:solidFill>
            <a:prstDash val="dash"/>
          </a:ln>
        </p:spPr>
      </p:sp>
      <p:sp>
        <p:nvSpPr>
          <p:cNvPr id="10" name="Shape 8"/>
          <p:cNvSpPr/>
          <p:nvPr/>
        </p:nvSpPr>
        <p:spPr>
          <a:xfrm>
            <a:off x="10927080" y="2878074"/>
            <a:ext cx="548640" cy="548640"/>
          </a:xfrm>
          <a:prstGeom prst="star8">
            <a:avLst/>
          </a:prstGeom>
          <a:solidFill>
            <a:schemeClr val="accent2"/>
          </a:solidFill>
          <a:ln/>
        </p:spPr>
      </p:sp>
      <p:sp>
        <p:nvSpPr>
          <p:cNvPr id="11" name="Shape 9"/>
          <p:cNvSpPr/>
          <p:nvPr/>
        </p:nvSpPr>
        <p:spPr>
          <a:xfrm>
            <a:off x="11036808" y="298780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87807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859786"/>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أَخْرَجَ الَّذِينَ كَفَرُواْ مِنْ أَهْلِ الْكِتَٰبِ مِن دِيَٰرِهِمْ لِأَوَّلِ الْحَشْرِ مَا ظَنَنتُمْ أَن يَخْرُجُواْ وَظَنُّواْ أَنَّهُم مَّانِعَتُهُمْ حُصُونُهُم مِّنَ اللَّهِ فَأَتَىٰهُمُ اللَّهُ مِنْ حَيْثُ لَمْ يَحْتَسِبُواْ وَقَذَفَ فِي قُلُوبِهِمُ الرُّعْبَ يُخْرِبُونَ بُيُوتَهُم بِأَيْدِيهِمْ وَأَيْدِي الْمُؤْمِنِينَ فَاعْتَبِرُواْ يَـٰأُوْلِي الْأَبْصَٰرِ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أخرج يهود بني النضير من ديارهم في أول إجلاء لهم، ما ظننتم أن يخرجوا، وظنوا أن حصونهم تمنعهم، فأتاهم أمر الله من حيث لم يتوقعوا، وقذف في قلوبهم الرعب، فاعتبروا يا أصحاب البصائر.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الحشر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وَلَوْلَآ أَن كَتَبَ اللَّهُ عَلَيْهِمُ الْجَلَآءَ لَعَذَّبَهُمْ فِي الدُّنْيَا وَلَهُمْ فِي الْأخِرَةِ عَذَابُ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ولولا أن كتب الله عليهم الخروج من ديارهم لعذّبهم في الدنيا بالقتل، ولهم في الآخرة عذاب النار.</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بِأَنَّهُمْ شَآقُّواْ اللَّهَ وَرَسُولَهُ وَمَن يُشَآقِّ اللَّهَ فَإِنَّ اللَّهَ شَدِيدُ الْعِقَابِ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لأنهم عادَوا الله ورسوله، ومن يعادِ الله فإن الله شديد العقاب.</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قَطَعْتُم مِّن لِّينَةٍ أَوْ تَرَكْتُمُوهَا قَآئِمَةً عَلَىٰ أُصُولِهَا فَبِإِذْنِ اللَّهِ وَلِيُخْزِيَ الْفَٰسِقِينَ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قطعتم من نخلة أو تركتموها قائمة فبإذن الله، ليُذلّ الخارجين عن طاعته.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الحشر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أَفَآءَ اللَّهُ عَلَىٰ رَسُولِهِ مِنْهُمْ فَمَآ أَوْجَفْتُمْ عَلَيْهِ مِنْ خَيْلٍ وَلَا رِكَابٍ وَلَٰكِنَّ اللَّهَ يُسَلِّطُ رُسُلَهُ عَلَىٰ مَن يَشَآءُ وَاللَّهُ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أعطاه الله لرسوله من أموالهم دون قتال، فلم تتعبوا فيه بخيل ولا إبل، ولكن الله يسلّط رسله على من يشاء.</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أَفَآءَ اللَّهُ عَلَىٰ رَسُولِهِ مِنْ أَهْلِ الْقُرَىٰ فَلِلَّهِ وَلِلرَّسُولِ وَلِذِي الْقُرْبَىٰ وَالْيَتَٰمَىٰ وَالْمَسَٰكِينِ وَابْنِ السَّبِيلِ كَيْ لَا يَكُونَ دُولَةً بَيْنَ الْأَغْنِيَآءِ مِنكُمْ وَمَآ ءَاتَىٰكُمُ الرَّسُولُ فَخُذُوهُ وَمَا نَهَىٰكُمْ عَنْهُ فَانتَهُواْ وَاتَّقُواْ اللَّهَ إِنَّ اللَّهَ شَدِيدُ الْعِقَابِ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أعطى الله رسوله من أموال الكفار بلا قتال فهو لله وللرسول وللأقارب واليتامى والمساكين وابن السبيل، كي لا يتداوله الأغنياء وحدهم، وما أمركم به الرسول فافعلوه، وما نهاكم عنه فاتركوه.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الحشر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لِلْفُقَرَآءِ الْمُهَٰجِرِينَ الَّذِينَ أُخْرِجُواْ مِن دِيَٰرِهِمْ وَأَمْوَٰلِهِمْ يَبْتَغُونَ فَضْلًا مِّنَ اللَّهِ وَرِضْوَٰنًا وَيَنصُرُونَ اللَّهَ وَرَسُولَهُ أُوْلَـٰئِكَ هُمُ الصَّـٰدِقُونَ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ويُعطى منه الفقراء المهاجرون الذين أُخرجوا من ديارهم وأموالهم، يطلبون فضل الله ورضوانه، وينصرون الله ورسوله، أولئك هم الصادقون.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تَبَوَّءُو الدَّارَ وَالْإِيمَٰنَ مِن قَبْلِهِمْ يُحِبُّونَ مَنْ هَاجَرَ إِلَيْهِمْ وَلَا يَجِدُونَ فِي صُدُورِهِمْ حَاجَةً مِّمَّآ أُوتُواْ وَيُؤْثِرُونَ عَلَىٰ أَنفُسِهِمْ وَلَوْ كَانَ بِهِمْ خَصَاصَةٌ وَمَن يُوقَ شُحَّ نَفْسِهِ فَأُوْلَـٰئِكَ هُمُ الْمُفْلِحُونَ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والأنصار الذين سكنوا المدينة وآمنوا قبل قدوم المهاجرين، يحبون من هاجر إليهم، ولا يحسدونهم على ما أُعطوا، ويقدّمونهم على أنفسهم ولو كانوا محتاجين، ومن يُحفظ من بخل نفسه فهو من المفلحين.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الحشر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جَآءُو مِن بَعْدِهِمْ يَقُولُونَ رَبَّنَا اغْفِرْ لَنَا وَلِإِخْوَٰنِنَا الَّذِينَ سَبَقُونَا بِالْإِيمَٰنِ وَلَا تَجْعَلْ فِي قُلُوبِنَا غِلًّا لِّلَّذِينَ ءَامَنُواْ رَبَّنَآ إِنَّكَ رَءُوفٌ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جاؤوا بعدهم يدعون: ربنا اغفر لنا ولإخواننا الذين سبقونا بالإيمان، ولا تجعل في قلوبنا حقدًا على المؤمنين، ربنا إنك رؤوف رحيم.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إِلَى الَّذِينَ نَافَقُواْ يَقُولُونَ لِإِخْوَٰنِهِمُ الَّذِينَ كَفَرُواْ مِنْ أَهْلِ الْكِتَٰبِ لَئِنْ أُخْرِجْتُمْ لَنَخْرُجَنَّ مَعَكُمْ وَلَا نُطِيعُ فِيكُمْ أَحَدًا أَبَدًا وَإِن قُوتِلْتُمْ لَنَنصُرَنَّكُمْ وَاللَّهُ يَشْهَدُ إِنَّهُمْ لَكَٰذِبُونَ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إلى المنافقين يقولون ليهود بني النضير: لئن أُخرجتم لنخرجنّ معكم، وإن قوتلتم لننصرنّكم؟ والله يشهد إنهم لكاذبون.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الحشر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لَئِنْ أُخْرِجُواْ لَا يَخْرُجُونَ مَعَهُمْ وَلَئِن قُوتِلُواْ لَا يَنصُرُونَهُمْ وَلَئِن نَّصَرُوهُمْ لَيُوَلُّنَّ الْأَدْبَٰرَ ثُمَّ لَا يُنصَرُونَ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لئن أُخرج اليهود لا يخرج المنافقون معهم، ولئن قوتلوا لا ينصرونهم، ولئن نصروهم ليهربُنّ ثم لا يُنصرون.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لَأَنتُمْ أَشَدُّ رَهْبَةً فِي صُدُورِهِم مِّنَ اللَّهِ ذَٰلِكَ بِأَنَّهُمْ قَوْمٌ لَّا يَفْقَهُونَ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إنهم يخافونكم أكثر من خوفهم من الله؛ لأنهم قوم لا يفهمون.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الحشر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يُقَٰتِلُونَكُمْ جَمِيعًا إِلَّا فِي قُرًى مُّحَصَّنَةٍ أَوْ مِن وَرَآءِ جُدُرٍ بَأْسُهُم بَيْنَهُمْ شَدِيدٌ تَحْسَبُهُمْ جَمِيعًا وَقُلُوبُهُمْ شَتَّىٰ ذَٰلِكَ بِأَنَّهُمْ قَوْمٌ لَّا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يقاتلونكم مجتمعين إلا في قرى محصّنة أو من وراء الجدران، عداوتهم بينهم شديدة، تظنهم متّحدين وقلوبهم متفرقة.</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كَمَثَلِ الَّذِينَ مِن قَبْلِهِمْ قَرِيبًا ذَاقُواْ وَبَالَ أَمْرِهِمْ وَلَهُمْ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مثلهم كمثل الكفار الذين سبقوهم قريبًا، ذاقوا سوء عاقبة أمرهم، ولهم عذاب مؤلم.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الحشر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كَمَثَلِ الشَّيْطَٰنِ إِذْ قَالَ لِلْإِنسَٰنِ اكْفُرْ فَلَمَّا كَفَرَ قَالَ إِنِّي بَرِيءٌ مِّنكَ إِنِّي أَخَافُ اللَّهَ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ومثل المنافقين معهم كمثل الشيطان، يقول للإنسان: اكفر، فلما كفر قال: إني بريء منك، إني أخاف الله رب العالمين.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فَكَانَ عَٰقِبَتَهُمَآ أَنَّهُمَا فِي النَّارِ خَٰلِدَيْنِ فِيهَا وَذَٰلِكَ جَزَـٰؤُاْ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فكانت عاقبة الشيطان ومن أطاعه النار خالدين فيها، وذلك جزاء 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الحشر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وَلْتَنظُرْ نَفْسٌ مَّا قَدَّمَتْ لِغَدٍ وَاتَّقُواْ اللَّهَ إِنَّ اللَّهَ خَبِيرٌ بِمَا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اتقوا الله، ولينظر كل واحد ماذا قدّم ليوم القيامة من عمل، واتقوا الله إنه خبير بأعمالكم.</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تَكُونُواْ كَالَّذِينَ نَسُواْ اللَّهَ فَأَنسَىٰهُمْ أَنفُسَهُمْ أُوْلَـٰئِكَ هُمُ الْفَٰسِقُونَ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تكونوا كالذين تركوا أمر الله، فأنساهم العمل لما ينفعهم، أولئك هم الخارجون عن طاعته.</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يَسْتَوِي أَصْحَٰبُ النَّارِ وَأَصْحَٰبُ الْجَنَّةِ أَصْحَٰبُ الْجَنَّةِ هُمُ الْفَآئِزُونَ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يستوي أهل النار وأهل الجنة، أهل الجنة هم الفائزون.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الحشر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 أَنزَلْنَا هَٰذَا الْقُرْءَانَ عَلَىٰ جَبَلٍ لَّرَأَيْتَهُ خَٰشِعًا مُّتَصَدِّعًا مِّنْ خَشْيَةِ اللَّهِ وَتِلْكَ الْأَمْثَٰلُ نَضْرِبُهَا لِلنَّاسِ لَعَلَّهُمْ يَتَفَكَّرُونَ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أنزلنا هذا القرآن على جبل لرأيته خاضعًا متشقّقًا من خوف الله، فكيف بقلب الإنسان؟ وتلك أمثال نضربها للناس لعلهم يتفكرون.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اللَّهُ الَّذِي لَآ إِلَٰهَ إِلَّا هُوَ عَٰلِمُ الْغَيْبِ وَالشَّهَٰدَةِ هُوَ الرَّحْمَٰنُ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الله الذي لا معبود بحق إلا هو، يعلم ما غاب وما حضر، هو الرحمن الرحيم.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الحشر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اللَّهُ الَّذِي لَآ إِلَٰهَ إِلَّا هُوَ الْمَلِكُ الْقُدُّوسُ السَّلَٰمُ الْمُؤْمِنُ الْمُهَيْمِنُ الْعَزِيزُ الْجَبَّارُ الْمُتَكَبِّرُ سُبْحَٰنَ اللَّهِ عَمَّا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الله الملك، المنزّه عن النقص، السالم من كل عيب، المصدّق رسله، الرقيب على خلقه، العزيز، الجبار، المتكبّر، سبحانه عما يشركون.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اللَّهُ الْخَٰلِقُ الْبَارِئُ الْمُصَوِّرُ لَهُ الْأَسْمَآءُ الْحُسْنَىٰ يُسَبِّحُ لَهُ مَا فِي السَّمَٰوَٰتِ وَالْأَرْضِ وَهُوَ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الله الخالق، الموجِد، المصوّر، له الأسماء الحسنى، يسبّح له ما في السماوات والأرض، وهو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المجادلة</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٢٢</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٥٨</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جاءت خولة بنت ثعلبة تشتكي إلى النبي صلى الله عليه وسلم أن زوجها أوس بن الصامت قال لها: أنتِ عليّ كظهر أمي، فنزلت. قالت عائشة رضي الله عنها: الحمد لله الذي وسع سمعه الأصوات، لقد جاءت المجادِلة تكلّم النبي صلى الله عليه وسلم وأنا في ناحية البيت ما أسمع ما تقول (رواه أحمد والنسائي، وعلّقه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سمع الله وعلمه المحيط، وحكم الظهار، وآداب المجالس والتناجي، وصفات حزب الله وحزب الشيطان.</a:t>
            </a:r>
            <a:endParaRPr lang="ar-SA"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المجادلة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سَمِعَ اللَّهُ قَوْلَ الَّتِي تُجَٰدِلُكَ فِي زَوْجِهَا وَتَشْتَكِي إِلَى اللَّهِ وَاللَّهُ يَسْمَعُ تَحَاوُرَكُمَآ إِنَّ اللَّهَ سَمِيعٌ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سمع الله قول خولة بنت ثعلبة التي تراجعك في شأن زوجها وتشتكي إلى الله، والله يسمع حواركما، إن الله سميع بصير.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يُظَٰهِرُونَ مِنكُم مِّن نِّسَآئِهِم مَّا هُنَّ أُمَّهَٰتِهِمْ إِنْ أُمَّهَٰتُهُمْ إِلَّا الَّـٰـِٔي وَلَدْنَهُمْ وَإِنَّهُمْ لَيَقُولُونَ مُنكَرًا مِّنَ الْقَوْلِ وَزُورًا وَإِنَّ اللَّهَ لَعَفُوٌّ غَفُورٌ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يقولون لزوجاتهم: أنتِ عليّ كظهر أمي -وهو الظهار- ما زوجاتهم بأمهاتهم، إنما أمهاتهم اللاتي ولدنهم، وإنهم ليقولون قولًا منكرًا وكذبًا، وإن الله لعفوّ غفور.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المجادلة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يُظَٰهِرُونَ مِن نِّسَآئِهِمْ ثُمَّ يَعُودُونَ لِمَا قَالُواْ فَتَحْرِيرُ رَقَبَةٍ مِّن قَبْلِ أَن يَتَمَآسَّا ذَٰلِكُمْ تُوعَظُونَ بِهِ وَاللَّهُ بِمَا تَعْمَلُونَ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يفعلون ذلك ثم يريدون الرجوع إلى زوجاتهم، فعليهم أن يعتقوا عبدًا قبل أن يقتربوا منهن، ذلكم توعظون به، والله بما تعملون خبير.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المجادلة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لَّمْ يَجِدْ فَصِيَامُ شَهْرَيْنِ مُتَتَابِعَيْنِ مِن قَبْلِ أَن يَتَمَآسَّا فَمَن لَّمْ يَسْتَطِعْ فَإِطْعَامُ سِتِّينَ مِسْكِينًا ذَٰلِكَ لِتُؤْمِنُواْ بِاللَّهِ وَرَسُولِهِ وَتِلْكَ حُدُودُ اللَّهِ وَلِلْكَٰفِرِينَ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لم يجد فعليه صيام شهرين متتابعين، فمن لم يستطع فإطعام ستين مسكينًا، ذلك لتؤمنوا بالله ورسوله، وتلك حدود الله، وللكافرين عذاب مؤلم.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يُحَآدُّونَ اللَّهَ وَرَسُولَهُ كُبِتُواْ كَمَا كُبِتَ الَّذِينَ مِن قَبْلِهِمْ وَقَدْ أَنزَلْنَآ ءَايَٰتٍ بَيِّنَٰتٍ وَلِلْكَٰفِرِينَ عَذَابٌ مُّهِينٌ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يعادون الله ورسوله أُذلّوا كما أُذلّ الكفار قبلهم، وقد أنزلنا آيات واضحات، وللكافرين عذاب مُهين.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المجادلة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يَبْعَثُهُمُ اللَّهُ جَمِيعًا فَيُنَبِّئُهُم بِمَا عَمِلُواْ أَحْصَىٰهُ اللَّهُ وَنَسُوهُ وَاللَّهُ عَلَىٰ كُلِّ شَيْءٍ شَهِيدٌ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يبعثهم الله جميعًا فيخبرهم بأعمالهم، أحصاها الله ونسوها، والله على كل شيء شهيد.</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 اللَّهَ يَعْلَمُ مَا فِي السَّمَٰوَٰتِ وَمَا فِي الْأَرْضِ مَا يَكُونُ مِن نَّجْوَىٰ ثَلَٰثَةٍ إِلَّا هُوَ رَابِعُهُمْ وَلَا خَمْسَةٍ إِلَّا هُوَ سَادِسُهُمْ وَلَآ أَدْنَىٰ مِن ذَٰلِكَ وَلَآ أَكْثَرَ إِلَّا هُوَ مَعَهُمْ أَيْنَ مَا كَانُواْ ثُمَّ يُنَبِّئُهُم بِمَا عَمِلُواْ يَوْمَ الْقِيَٰمَةِ إِنَّ اللَّهَ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أن الله يعلم ما في السماوات والأرض؟ ما يتناجى ثلاثة إلا وهو رابعهم بعلمه، ولا خمسة إلا هو سادسهم، ولا أقل ولا أكثر إلا هو معهم بعلمه أينما كانوا، ثم يخبرهم بأعمالهم يوم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المجادلة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إِلَى الَّذِينَ نُهُواْ عَنِ النَّجْوَىٰ ثُمَّ يَعُودُونَ لِمَا نُهُواْ عَنْهُ وَيَتَنَٰجَوْنَ بِالْإِثْمِ وَالْعُدْوَٰنِ وَمَعْصِيَتِ الرَّسُولِ وَإِذَا جَآءُوكَ حَيَّوْكَ بِمَا لَمْ يُحَيِّكَ بِهِ اللَّهُ وَيَقُولُونَ فِي أَنفُسِهِمْ لَوْلَا يُعَذِّبُنَا اللَّهُ بِمَا نَقُولُ حَسْبُهُمْ جَهَنَّمُ يَصْلَوْنَهَا فَبِئْسَ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إلى الذين نُهوا عن التناجي بالسوء ثم يعودون إليه، فيتناجون بالإثم والعدوان، وإذا جاؤوك حيّوك بتحية لم يحيّك بها الله، فقالوا: «السام عليك» أي الموت؟ حسبهم جهنم.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المجادلة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إِذَا تَنَٰجَيْتُمْ فَلَا تَتَنَٰجَوْاْ بِالْإِثْمِ وَالْعُدْوَٰنِ وَمَعْصِيَتِ الرَّسُولِ وَتَنَٰجَوْاْ بِالْبِرِّ وَالتَّقْوَىٰ وَاتَّقُواْ اللَّهَ الَّذِي إِلَيْهِ تُحْشَرُونَ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إذا تحدّثتم سرًا فلا تتحدّثوا بالإثم والعدوان ومعصية الرسول، وتحدّثوا بالخير والتقوى، واتقوا الله الذي إليه تُحشرون.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النَّجْوَىٰ مِنَ الشَّيْطَٰنِ لِيَحْزُنَ الَّذِينَ ءَامَنُواْ وَلَيْسَ بِضَآرِّهِمْ شَيْـًٔا إِلَّا بِإِذْنِ اللَّهِ وَعَلَى اللَّهِ فَلْيَتَوَكَّلِ الْمُؤْمِنُونَ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التناجي بالسوء من تزيين الشيطان ليُحزن المؤمنين، وليس بضارّهم شيئًا إلا بإذن الله. وقال صلى الله عليه وسلم: «إذا كنتم ثلاثة فلا يتناجى اثنان دون الثالث» (متفق عليه).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المجادلة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إِذَا قِيلَ لَكُمْ تَفَسَّحُواْ فِي الْمَجَٰلِسِ فَافْسَحُواْ يَفْسَحِ اللَّهُ لَكُمْ وَإِذَا قِيلَ انشُزُواْ فَانشُزُواْ يَرْفَعِ اللَّهُ الَّذِينَ ءَامَنُواْ مِنكُمْ وَالَّذِينَ أُوتُواْ الْعِلْمَ دَرَجَٰتٍ وَاللَّهُ بِمَا تَعْمَلُونَ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إذا قيل لكم: وسّعوا في المجالس فوسّعوا، يوسّع الله عليكم، وإذا قيل: انهضوا فانهضوا، يرفع الله المؤمنين وأهل العلم درجات.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المجادلة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إِذَا نَٰجَيْتُمُ الرَّسُولَ فَقَدِّمُواْ بَيْنَ يَدَيْ نَجْوَىٰكُمْ صَدَقَةً ذَٰلِكَ خَيْرٌ لَّكُمْ وَأَطْهَرُ فَإِن لَّمْ تَجِدُواْ فَإِنَّ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إذا أردتم أن تحدّثوا الرسول سرًا فقدّموا قبل ذلك صدقة، فإن لم تجدوا فإن الله غفور رحيم.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ءَأَشْفَقْتُمْ أَن تُقَدِّمُواْ بَيْنَ يَدَيْ نَجْوَىٰكُمْ صَدَقَٰتٍ فَإِذْ لَمْ تَفْعَلُواْ وَتَابَ اللَّهُ عَلَيْكُمْ فَأَقِيمُواْ الصَّلَوٰةَ وَءَاتُواْ الزَّكَوٰةَ وَأَطِيعُواْ اللَّهَ وَرَسُولَهُ وَاللَّهُ خَبِيرٌ بِمَا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أخفتم الفقر إن قدّمتم صدقات؟ فإذ لم تفعلوا وعفا الله عنكم ونسخ ذلك، فأقيموا الصلاة وآتوا الزكاة وأطيعوا الله ورسوله.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المجادلة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إِلَى الَّذِينَ تَوَلَّوْاْ قَوْمًا غَضِبَ اللَّهُ عَلَيْهِم مَّا هُم مِّنكُمْ وَلَا مِنْهُمْ وَيَحْلِفُونَ عَلَى الْكَذِبِ وَهُمْ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إلى المنافقين الذين والَوا قومًا غضب الله عليهم؟ ما هم منكم ولا منهم، ويحلفون كاذبين وهم يعلمون.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أَعَدَّ اللَّهُ لَهُمْ عَذَابًا شَدِيدًا إِنَّهُمْ سَآءَ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أعدّ الله لهم عذابًا شديدًا، بئس ما كانوا يعملون.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اتَّخَذُواْ أَيْمَٰنَهُمْ جُنَّةً فَصَدُّواْ عَن سَبِيلِ اللَّهِ فَلَهُمْ عَذَابٌ مُّهِينٌ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جعلوا أيمانهم الكاذبة وقاية لهم، فصدّوا الناس عن الإسلام، فلهم عذاب مُذلّ.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المجادلة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لَّن تُغْنِيَ عَنْهُمْ أَمْوَٰلُهُمْ وَلَآ أَوْلَٰدُهُم مِّنَ اللَّهِ شَيْـًٔا أُوْلَـٰئِكَ أَصْحَٰبُ النَّارِ هُمْ فِيهَا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لن تنفعهم أموالهم ولا أولادهم عند الله شيئًا، أولئك أهل النار خالدين فيها.</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يَبْعَثُهُمُ اللَّهُ جَمِيعًا فَيَحْلِفُونَ لَهُ كَمَا يَحْلِفُونَ لَكُمْ وَيَحْسَبُونَ أَنَّهُمْ عَلَىٰ شَيْءٍ أَلَآ إِنَّهُمْ هُمُ الْكَٰذِبُونَ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يبعثهم الله جميعًا فيحلفون له كاذبين كما يحلفون لكم في الدنيا، ويظنون أن ذلك ينفعهم، ألا إنهم هم الكاذبون.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المجادلة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اسْتَحْوَذَ عَلَيْهِمُ الشَّيْطَٰنُ فَأَنسَىٰهُمْ ذِكْرَ اللَّهِ أُوْلَـٰئِكَ حِزْبُ الشَّيْطَٰنِ أَلَآ إِنَّ حِزْبَ الشَّيْطَٰنِ هُمُ الْخَٰسِرُونَ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غلب عليهم الشيطان فأنساهم ذكر الله، أولئك أتباع الشيطان، ألا إن أتباع الشيطان هم الخاسرون.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يُحَآدُّونَ اللَّهَ وَرَسُولَهُ أُوْلَـٰئِكَ فِي الْأَذَلِّينَ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يعادون الله ورسوله من الأذلّاء.</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كَتَبَ اللَّهُ لَأَغْلِبَنَّ أَنَا وَرُسُلِي إِنَّ اللَّهَ قَوِيٌّ عَزِيزٌ</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كتب الله وقضى: لأغلبنّ أنا ورسلي، إن الله قوي عزيز.</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المجادلة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74520"/>
            <a:ext cx="548640" cy="548640"/>
          </a:xfrm>
          <a:prstGeom prst="star8">
            <a:avLst/>
          </a:prstGeom>
          <a:solidFill>
            <a:schemeClr val="accent2"/>
          </a:solidFill>
          <a:ln/>
        </p:spPr>
      </p:sp>
      <p:sp>
        <p:nvSpPr>
          <p:cNvPr id="6" name="Shape 4"/>
          <p:cNvSpPr/>
          <p:nvPr/>
        </p:nvSpPr>
        <p:spPr>
          <a:xfrm>
            <a:off x="11036808" y="198424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745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856232"/>
            <a:ext cx="10012680" cy="36484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تَجِدُ قَوْمًا يُؤْمِنُونَ بِاللَّهِ وَالْيَوْمِ الْأخِرِ يُوَآدُّونَ مَنْ حَآدَّ اللَّهَ وَرَسُولَهُ وَلَوْ كَانُواْ ءَابَآءَهُمْ أَوْ أَبْنَآءَهُمْ أَوْ إِخْوَٰنَهُمْ أَوْ عَشِيرَتَهُمْ أُوْلَـٰئِكَ كَتَبَ فِي قُلُوبِهِمُ الْإِيمَٰنَ وَأَيَّدَهُم بِرُوحٍ مِّنْهُ وَيُدْخِلُهُمْ جَنَّـٰتٍ تَجْرِي مِن تَحْتِهَا الْأَنْهَٰرُ خَٰلِدِينَ فِيهَا رَضِيَ اللَّهُ عَنْهُمْ وَرَضُواْ عَنْهُ أُوْلَـٰئِكَ حِزْبُ اللَّهِ أَلَآ إِنَّ حِزْبَ اللَّهِ هُمُ الْمُفْلِحُونَ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تجد المؤمنين الصادقين يحبّون أعداء الله ورسوله ولو كانوا أقرب الناس إليهم، أولئك ثبّت الله الإيمان في قلوبهم وقوّاهم بنصره، ويدخلهم الجنة، رضي الله عنهم ورضوا عنه، ألا إن حزب الله هم المفلحون.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pic>
        <p:nvPicPr>
          <p:cNvPr id="2" name="Image 0" descr="assets28/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28/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Qad Sami Tafsir">
  <a:themeElements>
    <a:clrScheme name="Juz Qad Sami Tafsir">
      <a:dk1>
        <a:srgbClr val="2B2426"/>
      </a:dk1>
      <a:lt1>
        <a:srgbClr val="FFFFFF"/>
      </a:lt1>
      <a:dk2>
        <a:srgbClr val="6B1E2E"/>
      </a:dk2>
      <a:lt2>
        <a:srgbClr val="FBF7F3"/>
      </a:lt2>
      <a:accent1>
        <a:srgbClr val="6B1E2E"/>
      </a:accent1>
      <a:accent2>
        <a:srgbClr val="C9A04A"/>
      </a:accent2>
      <a:accent3>
        <a:srgbClr val="8C2F42"/>
      </a:accent3>
      <a:accent4>
        <a:srgbClr val="6E6264"/>
      </a:accent4>
      <a:accent5>
        <a:srgbClr val="F3E8E6"/>
      </a:accent5>
      <a:accent6>
        <a:srgbClr val="2F6B5E"/>
      </a:accent6>
      <a:hlink>
        <a:srgbClr val="8C2F42"/>
      </a:hlink>
      <a:folHlink>
        <a:srgbClr val="6E6264"/>
      </a:folHlink>
    </a:clrScheme>
    <a:fontScheme name="Juz Qad Sami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قد سمع — مبسّط من تفسير ابن كثير</dc:title>
  <dc:subject>PptxGenJS Presentation</dc:subject>
  <dc:creator>معلم القرآن الكريم</dc:creator>
  <cp:lastModifiedBy>معلم القرآن الكريم</cp:lastModifiedBy>
  <cp:revision>1</cp:revision>
  <dcterms:created xsi:type="dcterms:W3CDTF">2026-10-03T20:27:57Z</dcterms:created>
  <dcterms:modified xsi:type="dcterms:W3CDTF">2026-10-03T20:27:57Z</dcterms:modified>
</cp:coreProperties>
</file>