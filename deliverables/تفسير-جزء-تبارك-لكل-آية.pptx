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slideMasters/slideMaster86.xml" ContentType="application/vnd.openxmlformats-officedocument.presentationml.slideMaster+xml"/>
  <Override PartName="/ppt/slides/slide86.xml" ContentType="application/vnd.openxmlformats-officedocument.presentationml.slide+xml"/>
  <Override PartName="/ppt/slideMasters/slideMaster87.xml" ContentType="application/vnd.openxmlformats-officedocument.presentationml.slideMaster+xml"/>
  <Override PartName="/ppt/slides/slide87.xml" ContentType="application/vnd.openxmlformats-officedocument.presentationml.slide+xml"/>
  <Override PartName="/ppt/slideMasters/slideMaster88.xml" ContentType="application/vnd.openxmlformats-officedocument.presentationml.slideMaster+xml"/>
  <Override PartName="/ppt/slides/slide88.xml" ContentType="application/vnd.openxmlformats-officedocument.presentationml.slide+xml"/>
  <Override PartName="/ppt/slideMasters/slideMaster89.xml" ContentType="application/vnd.openxmlformats-officedocument.presentationml.slideMaster+xml"/>
  <Override PartName="/ppt/slides/slide89.xml" ContentType="application/vnd.openxmlformats-officedocument.presentationml.slide+xml"/>
  <Override PartName="/ppt/slideMasters/slideMaster90.xml" ContentType="application/vnd.openxmlformats-officedocument.presentationml.slideMaster+xml"/>
  <Override PartName="/ppt/slides/slide90.xml" ContentType="application/vnd.openxmlformats-officedocument.presentationml.slide+xml"/>
  <Override PartName="/ppt/slideMasters/slideMaster91.xml" ContentType="application/vnd.openxmlformats-officedocument.presentationml.slideMaster+xml"/>
  <Override PartName="/ppt/slides/slide91.xml" ContentType="application/vnd.openxmlformats-officedocument.presentationml.slide+xml"/>
  <Override PartName="/ppt/slideMasters/slideMaster92.xml" ContentType="application/vnd.openxmlformats-officedocument.presentationml.slideMaster+xml"/>
  <Override PartName="/ppt/slides/slide92.xml" ContentType="application/vnd.openxmlformats-officedocument.presentationml.slide+xml"/>
  <Override PartName="/ppt/slideMasters/slideMaster93.xml" ContentType="application/vnd.openxmlformats-officedocument.presentationml.slideMaster+xml"/>
  <Override PartName="/ppt/slides/slide93.xml" ContentType="application/vnd.openxmlformats-officedocument.presentationml.slide+xml"/>
  <Override PartName="/ppt/slideMasters/slideMaster94.xml" ContentType="application/vnd.openxmlformats-officedocument.presentationml.slideMaster+xml"/>
  <Override PartName="/ppt/slides/slide94.xml" ContentType="application/vnd.openxmlformats-officedocument.presentationml.slide+xml"/>
  <Override PartName="/ppt/slideMasters/slideMaster95.xml" ContentType="application/vnd.openxmlformats-officedocument.presentationml.slideMaster+xml"/>
  <Override PartName="/ppt/slides/slide95.xml" ContentType="application/vnd.openxmlformats-officedocument.presentationml.slide+xml"/>
  <Override PartName="/ppt/slideMasters/slideMaster96.xml" ContentType="application/vnd.openxmlformats-officedocument.presentationml.slideMaster+xml"/>
  <Override PartName="/ppt/slides/slide96.xml" ContentType="application/vnd.openxmlformats-officedocument.presentationml.slide+xml"/>
  <Override PartName="/ppt/slideMasters/slideMaster97.xml" ContentType="application/vnd.openxmlformats-officedocument.presentationml.slideMaster+xml"/>
  <Override PartName="/ppt/slides/slide97.xml" ContentType="application/vnd.openxmlformats-officedocument.presentationml.slide+xml"/>
  <Override PartName="/ppt/slideMasters/slideMaster98.xml" ContentType="application/vnd.openxmlformats-officedocument.presentationml.slideMaster+xml"/>
  <Override PartName="/ppt/slides/slide98.xml" ContentType="application/vnd.openxmlformats-officedocument.presentationml.slide+xml"/>
  <Override PartName="/ppt/slideMasters/slideMaster99.xml" ContentType="application/vnd.openxmlformats-officedocument.presentationml.slideMaster+xml"/>
  <Override PartName="/ppt/slides/slide99.xml" ContentType="application/vnd.openxmlformats-officedocument.presentationml.slide+xml"/>
  <Override PartName="/ppt/slideMasters/slideMaster100.xml" ContentType="application/vnd.openxmlformats-officedocument.presentationml.slideMaster+xml"/>
  <Override PartName="/ppt/slides/slide100.xml" ContentType="application/vnd.openxmlformats-officedocument.presentationml.slide+xml"/>
  <Override PartName="/ppt/slideMasters/slideMaster101.xml" ContentType="application/vnd.openxmlformats-officedocument.presentationml.slideMaster+xml"/>
  <Override PartName="/ppt/slides/slide101.xml" ContentType="application/vnd.openxmlformats-officedocument.presentationml.slide+xml"/>
  <Override PartName="/ppt/slideMasters/slideMaster102.xml" ContentType="application/vnd.openxmlformats-officedocument.presentationml.slideMaster+xml"/>
  <Override PartName="/ppt/slides/slide102.xml" ContentType="application/vnd.openxmlformats-officedocument.presentationml.slide+xml"/>
  <Override PartName="/ppt/slideMasters/slideMaster103.xml" ContentType="application/vnd.openxmlformats-officedocument.presentationml.slideMaster+xml"/>
  <Override PartName="/ppt/slides/slide103.xml" ContentType="application/vnd.openxmlformats-officedocument.presentationml.slide+xml"/>
  <Override PartName="/ppt/slideMasters/slideMaster104.xml" ContentType="application/vnd.openxmlformats-officedocument.presentationml.slideMaster+xml"/>
  <Override PartName="/ppt/slides/slide104.xml" ContentType="application/vnd.openxmlformats-officedocument.presentationml.slide+xml"/>
  <Override PartName="/ppt/slideMasters/slideMaster105.xml" ContentType="application/vnd.openxmlformats-officedocument.presentationml.slideMaster+xml"/>
  <Override PartName="/ppt/slides/slide105.xml" ContentType="application/vnd.openxmlformats-officedocument.presentationml.slide+xml"/>
  <Override PartName="/ppt/slideMasters/slideMaster106.xml" ContentType="application/vnd.openxmlformats-officedocument.presentationml.slideMaster+xml"/>
  <Override PartName="/ppt/slides/slide106.xml" ContentType="application/vnd.openxmlformats-officedocument.presentationml.slide+xml"/>
  <Override PartName="/ppt/slideMasters/slideMaster107.xml" ContentType="application/vnd.openxmlformats-officedocument.presentationml.slideMaster+xml"/>
  <Override PartName="/ppt/slides/slide107.xml" ContentType="application/vnd.openxmlformats-officedocument.presentationml.slide+xml"/>
  <Override PartName="/ppt/slideMasters/slideMaster108.xml" ContentType="application/vnd.openxmlformats-officedocument.presentationml.slideMaster+xml"/>
  <Override PartName="/ppt/slides/slide108.xml" ContentType="application/vnd.openxmlformats-officedocument.presentationml.slide+xml"/>
  <Override PartName="/ppt/slideMasters/slideMaster109.xml" ContentType="application/vnd.openxmlformats-officedocument.presentationml.slideMaster+xml"/>
  <Override PartName="/ppt/slides/slide109.xml" ContentType="application/vnd.openxmlformats-officedocument.presentationml.slide+xml"/>
  <Override PartName="/ppt/slideMasters/slideMaster110.xml" ContentType="application/vnd.openxmlformats-officedocument.presentationml.slideMaster+xml"/>
  <Override PartName="/ppt/slides/slide110.xml" ContentType="application/vnd.openxmlformats-officedocument.presentationml.slide+xml"/>
  <Override PartName="/ppt/slideMasters/slideMaster111.xml" ContentType="application/vnd.openxmlformats-officedocument.presentationml.slideMaster+xml"/>
  <Override PartName="/ppt/slides/slide111.xml" ContentType="application/vnd.openxmlformats-officedocument.presentationml.slide+xml"/>
  <Override PartName="/ppt/slideMasters/slideMaster112.xml" ContentType="application/vnd.openxmlformats-officedocument.presentationml.slideMaster+xml"/>
  <Override PartName="/ppt/slides/slide112.xml" ContentType="application/vnd.openxmlformats-officedocument.presentationml.slide+xml"/>
  <Override PartName="/ppt/slideMasters/slideMaster113.xml" ContentType="application/vnd.openxmlformats-officedocument.presentationml.slideMaster+xml"/>
  <Override PartName="/ppt/slides/slide113.xml" ContentType="application/vnd.openxmlformats-officedocument.presentationml.slide+xml"/>
  <Override PartName="/ppt/slideMasters/slideMaster114.xml" ContentType="application/vnd.openxmlformats-officedocument.presentationml.slideMaster+xml"/>
  <Override PartName="/ppt/slides/slide114.xml" ContentType="application/vnd.openxmlformats-officedocument.presentationml.slide+xml"/>
  <Override PartName="/ppt/slideMasters/slideMaster115.xml" ContentType="application/vnd.openxmlformats-officedocument.presentationml.slideMaster+xml"/>
  <Override PartName="/ppt/slides/slide115.xml" ContentType="application/vnd.openxmlformats-officedocument.presentationml.slide+xml"/>
  <Override PartName="/ppt/slideMasters/slideMaster116.xml" ContentType="application/vnd.openxmlformats-officedocument.presentationml.slideMaster+xml"/>
  <Override PartName="/ppt/slides/slide116.xml" ContentType="application/vnd.openxmlformats-officedocument.presentationml.slide+xml"/>
  <Override PartName="/ppt/slideMasters/slideMaster117.xml" ContentType="application/vnd.openxmlformats-officedocument.presentationml.slideMaster+xml"/>
  <Override PartName="/ppt/slides/slide117.xml" ContentType="application/vnd.openxmlformats-officedocument.presentationml.slide+xml"/>
  <Override PartName="/ppt/slideMasters/slideMaster118.xml" ContentType="application/vnd.openxmlformats-officedocument.presentationml.slideMaster+xml"/>
  <Override PartName="/ppt/slides/slide118.xml" ContentType="application/vnd.openxmlformats-officedocument.presentationml.slide+xml"/>
  <Override PartName="/ppt/slideMasters/slideMaster119.xml" ContentType="application/vnd.openxmlformats-officedocument.presentationml.slideMaster+xml"/>
  <Override PartName="/ppt/slides/slide119.xml" ContentType="application/vnd.openxmlformats-officedocument.presentationml.slide+xml"/>
  <Override PartName="/ppt/slideMasters/slideMaster120.xml" ContentType="application/vnd.openxmlformats-officedocument.presentationml.slideMaster+xml"/>
  <Override PartName="/ppt/slides/slide120.xml" ContentType="application/vnd.openxmlformats-officedocument.presentationml.slide+xml"/>
  <Override PartName="/ppt/slideMasters/slideMaster121.xml" ContentType="application/vnd.openxmlformats-officedocument.presentationml.slideMaster+xml"/>
  <Override PartName="/ppt/slides/slide121.xml" ContentType="application/vnd.openxmlformats-officedocument.presentationml.slide+xml"/>
  <Override PartName="/ppt/slideMasters/slideMaster122.xml" ContentType="application/vnd.openxmlformats-officedocument.presentationml.slideMaster+xml"/>
  <Override PartName="/ppt/slides/slide122.xml" ContentType="application/vnd.openxmlformats-officedocument.presentationml.slide+xml"/>
  <Override PartName="/ppt/slideMasters/slideMaster123.xml" ContentType="application/vnd.openxmlformats-officedocument.presentationml.slideMaster+xml"/>
  <Override PartName="/ppt/slides/slide123.xml" ContentType="application/vnd.openxmlformats-officedocument.presentationml.slide+xml"/>
  <Override PartName="/ppt/slideMasters/slideMaster124.xml" ContentType="application/vnd.openxmlformats-officedocument.presentationml.slideMaster+xml"/>
  <Override PartName="/ppt/slides/slide124.xml" ContentType="application/vnd.openxmlformats-officedocument.presentationml.slide+xml"/>
  <Override PartName="/ppt/slideMasters/slideMaster125.xml" ContentType="application/vnd.openxmlformats-officedocument.presentationml.slideMaster+xml"/>
  <Override PartName="/ppt/slides/slide125.xml" ContentType="application/vnd.openxmlformats-officedocument.presentationml.slide+xml"/>
  <Override PartName="/ppt/slideMasters/slideMaster126.xml" ContentType="application/vnd.openxmlformats-officedocument.presentationml.slideMaster+xml"/>
  <Override PartName="/ppt/slides/slide126.xml" ContentType="application/vnd.openxmlformats-officedocument.presentationml.slide+xml"/>
  <Override PartName="/ppt/slideMasters/slideMaster127.xml" ContentType="application/vnd.openxmlformats-officedocument.presentationml.slideMaster+xml"/>
  <Override PartName="/ppt/slides/slide127.xml" ContentType="application/vnd.openxmlformats-officedocument.presentationml.slide+xml"/>
  <Override PartName="/ppt/slideMasters/slideMaster128.xml" ContentType="application/vnd.openxmlformats-officedocument.presentationml.slideMaster+xml"/>
  <Override PartName="/ppt/slides/slide128.xml" ContentType="application/vnd.openxmlformats-officedocument.presentationml.slide+xml"/>
  <Override PartName="/ppt/slideMasters/slideMaster129.xml" ContentType="application/vnd.openxmlformats-officedocument.presentationml.slideMaster+xml"/>
  <Override PartName="/ppt/slides/slide129.xml" ContentType="application/vnd.openxmlformats-officedocument.presentationml.slide+xml"/>
  <Override PartName="/ppt/slideMasters/slideMaster130.xml" ContentType="application/vnd.openxmlformats-officedocument.presentationml.slideMaster+xml"/>
  <Override PartName="/ppt/slides/slide130.xml" ContentType="application/vnd.openxmlformats-officedocument.presentationml.slide+xml"/>
  <Override PartName="/ppt/slideMasters/slideMaster131.xml" ContentType="application/vnd.openxmlformats-officedocument.presentationml.slideMaster+xml"/>
  <Override PartName="/ppt/slides/slide131.xml" ContentType="application/vnd.openxmlformats-officedocument.presentationml.slide+xml"/>
  <Override PartName="/ppt/slideMasters/slideMaster132.xml" ContentType="application/vnd.openxmlformats-officedocument.presentationml.slideMaster+xml"/>
  <Override PartName="/ppt/slides/slide132.xml" ContentType="application/vnd.openxmlformats-officedocument.presentationml.slide+xml"/>
  <Override PartName="/ppt/slideMasters/slideMaster133.xml" ContentType="application/vnd.openxmlformats-officedocument.presentationml.slideMaster+xml"/>
  <Override PartName="/ppt/slides/slide133.xml" ContentType="application/vnd.openxmlformats-officedocument.presentationml.slide+xml"/>
  <Override PartName="/ppt/slideMasters/slideMaster134.xml" ContentType="application/vnd.openxmlformats-officedocument.presentationml.slideMaster+xml"/>
  <Override PartName="/ppt/slides/slide134.xml" ContentType="application/vnd.openxmlformats-officedocument.presentationml.slide+xml"/>
  <Override PartName="/ppt/slideMasters/slideMaster135.xml" ContentType="application/vnd.openxmlformats-officedocument.presentationml.slideMaster+xml"/>
  <Override PartName="/ppt/slides/slide135.xml" ContentType="application/vnd.openxmlformats-officedocument.presentationml.slide+xml"/>
  <Override PartName="/ppt/slideMasters/slideMaster136.xml" ContentType="application/vnd.openxmlformats-officedocument.presentationml.slideMaster+xml"/>
  <Override PartName="/ppt/slides/slide136.xml" ContentType="application/vnd.openxmlformats-officedocument.presentationml.slide+xml"/>
  <Override PartName="/ppt/slideMasters/slideMaster137.xml" ContentType="application/vnd.openxmlformats-officedocument.presentationml.slideMaster+xml"/>
  <Override PartName="/ppt/slides/slide137.xml" ContentType="application/vnd.openxmlformats-officedocument.presentationml.slide+xml"/>
  <Override PartName="/ppt/slideMasters/slideMaster138.xml" ContentType="application/vnd.openxmlformats-officedocument.presentationml.slideMaster+xml"/>
  <Override PartName="/ppt/slides/slide138.xml" ContentType="application/vnd.openxmlformats-officedocument.presentationml.slide+xml"/>
  <Override PartName="/ppt/slideMasters/slideMaster139.xml" ContentType="application/vnd.openxmlformats-officedocument.presentationml.slideMaster+xml"/>
  <Override PartName="/ppt/slides/slide139.xml" ContentType="application/vnd.openxmlformats-officedocument.presentationml.slide+xml"/>
  <Override PartName="/ppt/slideMasters/slideMaster140.xml" ContentType="application/vnd.openxmlformats-officedocument.presentationml.slideMaster+xml"/>
  <Override PartName="/ppt/slides/slide140.xml" ContentType="application/vnd.openxmlformats-officedocument.presentationml.slide+xml"/>
  <Override PartName="/ppt/slideMasters/slideMaster141.xml" ContentType="application/vnd.openxmlformats-officedocument.presentationml.slideMaster+xml"/>
  <Override PartName="/ppt/slides/slide141.xml" ContentType="application/vnd.openxmlformats-officedocument.presentationml.slide+xml"/>
  <Override PartName="/ppt/slideMasters/slideMaster142.xml" ContentType="application/vnd.openxmlformats-officedocument.presentationml.slideMaster+xml"/>
  <Override PartName="/ppt/slides/slide142.xml" ContentType="application/vnd.openxmlformats-officedocument.presentationml.slide+xml"/>
  <Override PartName="/ppt/slideMasters/slideMaster143.xml" ContentType="application/vnd.openxmlformats-officedocument.presentationml.slideMaster+xml"/>
  <Override PartName="/ppt/slides/slide143.xml" ContentType="application/vnd.openxmlformats-officedocument.presentationml.slide+xml"/>
  <Override PartName="/ppt/slideMasters/slideMaster144.xml" ContentType="application/vnd.openxmlformats-officedocument.presentationml.slideMaster+xml"/>
  <Override PartName="/ppt/slides/slide144.xml" ContentType="application/vnd.openxmlformats-officedocument.presentationml.slide+xml"/>
  <Override PartName="/ppt/slideMasters/slideMaster145.xml" ContentType="application/vnd.openxmlformats-officedocument.presentationml.slideMaster+xml"/>
  <Override PartName="/ppt/slides/slide145.xml" ContentType="application/vnd.openxmlformats-officedocument.presentationml.slide+xml"/>
  <Override PartName="/ppt/slideMasters/slideMaster146.xml" ContentType="application/vnd.openxmlformats-officedocument.presentationml.slideMaster+xml"/>
  <Override PartName="/ppt/slides/slide146.xml" ContentType="application/vnd.openxmlformats-officedocument.presentationml.slide+xml"/>
  <Override PartName="/ppt/slideMasters/slideMaster147.xml" ContentType="application/vnd.openxmlformats-officedocument.presentationml.slideMaster+xml"/>
  <Override PartName="/ppt/slides/slide147.xml" ContentType="application/vnd.openxmlformats-officedocument.presentationml.slide+xml"/>
  <Override PartName="/ppt/slideMasters/slideMaster148.xml" ContentType="application/vnd.openxmlformats-officedocument.presentationml.slideMaster+xml"/>
  <Override PartName="/ppt/slides/slide148.xml" ContentType="application/vnd.openxmlformats-officedocument.presentationml.slide+xml"/>
  <Override PartName="/ppt/slideMasters/slideMaster149.xml" ContentType="application/vnd.openxmlformats-officedocument.presentationml.slideMaster+xml"/>
  <Override PartName="/ppt/slides/slide149.xml" ContentType="application/vnd.openxmlformats-officedocument.presentationml.slide+xml"/>
  <Override PartName="/ppt/slideMasters/slideMaster150.xml" ContentType="application/vnd.openxmlformats-officedocument.presentationml.slideMaster+xml"/>
  <Override PartName="/ppt/slides/slide150.xml" ContentType="application/vnd.openxmlformats-officedocument.presentationml.slide+xml"/>
  <Override PartName="/ppt/slideMasters/slideMaster151.xml" ContentType="application/vnd.openxmlformats-officedocument.presentationml.slideMaster+xml"/>
  <Override PartName="/ppt/slides/slide151.xml" ContentType="application/vnd.openxmlformats-officedocument.presentationml.slide+xml"/>
  <Override PartName="/ppt/slideMasters/slideMaster152.xml" ContentType="application/vnd.openxmlformats-officedocument.presentationml.slideMaster+xml"/>
  <Override PartName="/ppt/slides/slide152.xml" ContentType="application/vnd.openxmlformats-officedocument.presentationml.slide+xml"/>
  <Override PartName="/ppt/slideMasters/slideMaster153.xml" ContentType="application/vnd.openxmlformats-officedocument.presentationml.slideMaster+xml"/>
  <Override PartName="/ppt/slides/slide153.xml" ContentType="application/vnd.openxmlformats-officedocument.presentationml.slide+xml"/>
  <Override PartName="/ppt/slideMasters/slideMaster154.xml" ContentType="application/vnd.openxmlformats-officedocument.presentationml.slideMaster+xml"/>
  <Override PartName="/ppt/slides/slide154.xml" ContentType="application/vnd.openxmlformats-officedocument.presentationml.slide+xml"/>
  <Override PartName="/ppt/slideMasters/slideMaster155.xml" ContentType="application/vnd.openxmlformats-officedocument.presentationml.slideMaster+xml"/>
  <Override PartName="/ppt/slides/slide155.xml" ContentType="application/vnd.openxmlformats-officedocument.presentationml.slide+xml"/>
  <Override PartName="/ppt/slideMasters/slideMaster156.xml" ContentType="application/vnd.openxmlformats-officedocument.presentationml.slideMaster+xml"/>
  <Override PartName="/ppt/slides/slide156.xml" ContentType="application/vnd.openxmlformats-officedocument.presentationml.slide+xml"/>
  <Override PartName="/ppt/slideMasters/slideMaster157.xml" ContentType="application/vnd.openxmlformats-officedocument.presentationml.slideMaster+xml"/>
  <Override PartName="/ppt/slides/slide157.xml" ContentType="application/vnd.openxmlformats-officedocument.presentationml.slide+xml"/>
  <Override PartName="/ppt/slideMasters/slideMaster158.xml" ContentType="application/vnd.openxmlformats-officedocument.presentationml.slideMaster+xml"/>
  <Override PartName="/ppt/slides/slide158.xml" ContentType="application/vnd.openxmlformats-officedocument.presentationml.slide+xml"/>
  <Override PartName="/ppt/slideMasters/slideMaster159.xml" ContentType="application/vnd.openxmlformats-officedocument.presentationml.slideMaster+xml"/>
  <Override PartName="/ppt/slides/slide1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Lst>
  <p:notesMasterIdLst>
    <p:notesMasterId r:id="rId1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مقدمة" id="{8e30401d-25d8-d7db-ca23-213967691e9c}">
          <p14:sldIdLst>
            <p14:sldId id="256"/>
            <p14:sldId id="257"/>
            <p14:sldId id="258"/>
          </p14:sldIdLst>
        </p14:section>
        <p14:section name="سورة المرسلات" id="{b78165df-b0e6-59ed-4bad-b3be1201ff82}">
          <p14:sldIdLst>
            <p14:sldId id="259"/>
            <p14:sldId id="260"/>
            <p14:sldId id="261"/>
            <p14:sldId id="262"/>
            <p14:sldId id="263"/>
            <p14:sldId id="264"/>
            <p14:sldId id="265"/>
            <p14:sldId id="266"/>
            <p14:sldId id="267"/>
            <p14:sldId id="268"/>
            <p14:sldId id="269"/>
            <p14:sldId id="270"/>
            <p14:sldId id="271"/>
            <p14:sldId id="272"/>
            <p14:sldId id="273"/>
            <p14:sldId id="274"/>
            <p14:sldId id="275"/>
          </p14:sldIdLst>
        </p14:section>
        <p14:section name="سورة الإنسان" id="{3e5436be-87f9-65cf-0a5c-db6427ff9b75}">
          <p14:sldIdLst>
            <p14:sldId id="276"/>
            <p14:sldId id="277"/>
            <p14:sldId id="278"/>
            <p14:sldId id="279"/>
            <p14:sldId id="280"/>
            <p14:sldId id="281"/>
            <p14:sldId id="282"/>
            <p14:sldId id="283"/>
            <p14:sldId id="284"/>
            <p14:sldId id="285"/>
            <p14:sldId id="286"/>
            <p14:sldId id="287"/>
          </p14:sldIdLst>
        </p14:section>
        <p14:section name="سورة القيامة" id="{86fcd121-b33f-7b78-d452-a067e2dc6293}">
          <p14:sldIdLst>
            <p14:sldId id="288"/>
            <p14:sldId id="289"/>
            <p14:sldId id="290"/>
            <p14:sldId id="291"/>
            <p14:sldId id="292"/>
            <p14:sldId id="293"/>
            <p14:sldId id="294"/>
            <p14:sldId id="295"/>
            <p14:sldId id="296"/>
            <p14:sldId id="297"/>
            <p14:sldId id="298"/>
            <p14:sldId id="299"/>
          </p14:sldIdLst>
        </p14:section>
        <p14:section name="سورة المدثر" id="{8883a91a-8f20-e72e-7cda-bfa4043b9b75}">
          <p14:sldIdLst>
            <p14:sldId id="300"/>
            <p14:sldId id="301"/>
            <p14:sldId id="302"/>
            <p14:sldId id="303"/>
            <p14:sldId id="304"/>
            <p14:sldId id="305"/>
            <p14:sldId id="306"/>
            <p14:sldId id="307"/>
            <p14:sldId id="308"/>
            <p14:sldId id="309"/>
            <p14:sldId id="310"/>
            <p14:sldId id="311"/>
            <p14:sldId id="312"/>
            <p14:sldId id="313"/>
            <p14:sldId id="314"/>
            <p14:sldId id="315"/>
            <p14:sldId id="316"/>
            <p14:sldId id="317"/>
            <p14:sldId id="318"/>
            <p14:sldId id="319"/>
            <p14:sldId id="320"/>
            <p14:sldId id="321"/>
            <p14:sldId id="322"/>
            <p14:sldId id="323"/>
          </p14:sldIdLst>
        </p14:section>
        <p14:section name="سورة المزمل" id="{f6101b0d-8c51-d104-f5fc-51c232fce238}">
          <p14:sldIdLst>
            <p14:sldId id="324"/>
            <p14:sldId id="325"/>
            <p14:sldId id="326"/>
            <p14:sldId id="327"/>
            <p14:sldId id="328"/>
            <p14:sldId id="329"/>
            <p14:sldId id="330"/>
            <p14:sldId id="331"/>
            <p14:sldId id="332"/>
            <p14:sldId id="333"/>
            <p14:sldId id="334"/>
            <p14:sldId id="335"/>
          </p14:sldIdLst>
        </p14:section>
        <p14:section name="سورة الجن" id="{54061627-b08e-9e85-afbc-14975970adf2}">
          <p14:sldIdLst>
            <p14:sldId id="336"/>
            <p14:sldId id="337"/>
            <p14:sldId id="338"/>
            <p14:sldId id="339"/>
            <p14:sldId id="340"/>
            <p14:sldId id="341"/>
            <p14:sldId id="342"/>
            <p14:sldId id="343"/>
            <p14:sldId id="344"/>
            <p14:sldId id="345"/>
            <p14:sldId id="346"/>
          </p14:sldIdLst>
        </p14:section>
        <p14:section name="سورة نوح" id="{22a6ed06-c6f4-acc0-d8ad-ceec345becf9}">
          <p14:sldIdLst>
            <p14:sldId id="347"/>
            <p14:sldId id="348"/>
            <p14:sldId id="349"/>
            <p14:sldId id="350"/>
            <p14:sldId id="351"/>
            <p14:sldId id="352"/>
            <p14:sldId id="353"/>
            <p14:sldId id="354"/>
            <p14:sldId id="355"/>
            <p14:sldId id="356"/>
            <p14:sldId id="357"/>
          </p14:sldIdLst>
        </p14:section>
        <p14:section name="سورة المعارج" id="{f33da4af-1de8-0309-447f-c2c5b90a1a93}">
          <p14:sldIdLst>
            <p14:sldId id="358"/>
            <p14:sldId id="359"/>
            <p14:sldId id="360"/>
            <p14:sldId id="361"/>
            <p14:sldId id="362"/>
            <p14:sldId id="363"/>
            <p14:sldId id="364"/>
            <p14:sldId id="365"/>
            <p14:sldId id="366"/>
            <p14:sldId id="367"/>
            <p14:sldId id="368"/>
            <p14:sldId id="369"/>
          </p14:sldIdLst>
        </p14:section>
        <p14:section name="سورة الحاقة" id="{5d56dd96-d1f6-7b90-1589-2bd0cc12ec34}">
          <p14:sldIdLst>
            <p14:sldId id="370"/>
            <p14:sldId id="371"/>
            <p14:sldId id="372"/>
            <p14:sldId id="373"/>
            <p14:sldId id="374"/>
            <p14:sldId id="375"/>
            <p14:sldId id="376"/>
            <p14:sldId id="377"/>
            <p14:sldId id="378"/>
            <p14:sldId id="379"/>
            <p14:sldId id="380"/>
            <p14:sldId id="381"/>
            <p14:sldId id="382"/>
            <p14:sldId id="383"/>
            <p14:sldId id="384"/>
            <p14:sldId id="385"/>
            <p14:sldId id="386"/>
            <p14:sldId id="387"/>
          </p14:sldIdLst>
        </p14:section>
        <p14:section name="سورة القلم" id="{75273e85-e295-e6c0-e338-d96be680ecde}">
          <p14:sldIdLst>
            <p14:sldId id="388"/>
            <p14:sldId id="389"/>
            <p14:sldId id="390"/>
            <p14:sldId id="391"/>
            <p14:sldId id="392"/>
            <p14:sldId id="393"/>
            <p14:sldId id="394"/>
            <p14:sldId id="395"/>
            <p14:sldId id="396"/>
            <p14:sldId id="397"/>
            <p14:sldId id="398"/>
            <p14:sldId id="399"/>
            <p14:sldId id="400"/>
            <p14:sldId id="401"/>
            <p14:sldId id="402"/>
          </p14:sldIdLst>
        </p14:section>
        <p14:section name="سورة الملك" id="{024beb7a-d4e8-1e2b-50b9-58b6bd2e7be3}">
          <p14:sldIdLst>
            <p14:sldId id="403"/>
            <p14:sldId id="404"/>
            <p14:sldId id="405"/>
            <p14:sldId id="406"/>
            <p14:sldId id="407"/>
            <p14:sldId id="408"/>
            <p14:sldId id="409"/>
            <p14:sldId id="410"/>
            <p14:sldId id="411"/>
            <p14:sldId id="412"/>
            <p14:sldId id="413"/>
          </p14:sldIdLst>
        </p14:section>
        <p14:section name="الخاتمة" id="{2de10621-cb1a-55dc-a8bc-77b9fa0d74a9}">
          <p14:sldIdLst>
            <p14:sldId id="41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notesMaster" Target="notesMasters/notesMaster1.xml"/><Relationship Id="rId162" Type="http://schemas.openxmlformats.org/officeDocument/2006/relationships/presProps" Target="presProps.xml"/><Relationship Id="rId163" Type="http://schemas.openxmlformats.org/officeDocument/2006/relationships/viewProps" Target="viewProps.xml"/><Relationship Id="rId164" Type="http://schemas.openxmlformats.org/officeDocument/2006/relationships/theme" Target="theme/theme1.xml"/><Relationship Id="rId1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_rels/notesSlide8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6.xml"/>
		</Relationships>
</file>

<file path=ppt/notesSlides/_rels/notesSlide8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7.xml"/>
		</Relationships>
</file>

<file path=ppt/notesSlides/_rels/notesSlide8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8.xml"/>
		</Relationships>
</file>

<file path=ppt/notesSlides/_rels/notesSlide8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9.xml"/>
		</Relationships>
</file>

<file path=ppt/notesSlides/_rels/notesSlide9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0.xml"/>
		</Relationships>
</file>

<file path=ppt/notesSlides/_rels/notesSlide9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1.xml"/>
		</Relationships>
</file>

<file path=ppt/notesSlides/_rels/notesSlide9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2.xml"/>
		</Relationships>
</file>

<file path=ppt/notesSlides/_rels/notesSlide9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3.xml"/>
		</Relationships>
</file>

<file path=ppt/notesSlides/_rels/notesSlide9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4.xml"/>
		</Relationships>
</file>

<file path=ppt/notesSlides/_rels/notesSlide9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5.xml"/>
		</Relationships>
</file>

<file path=ppt/notesSlides/_rels/notesSlide9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6.xml"/>
		</Relationships>
</file>

<file path=ppt/notesSlides/_rels/notesSlide9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7.xml"/>
		</Relationships>
</file>

<file path=ppt/notesSlides/_rels/notesSlide9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8.xml"/>
		</Relationships>
</file>

<file path=ppt/notesSlides/_rels/notesSlide9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9.xml"/>
		</Relationships>
</file>

<file path=ppt/notesSlides/_rels/notesSlide10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0.xml"/>
		</Relationships>
</file>

<file path=ppt/notesSlides/_rels/notesSlide10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1.xml"/>
		</Relationships>
</file>

<file path=ppt/notesSlides/_rels/notesSlide10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2.xml"/>
		</Relationships>
</file>

<file path=ppt/notesSlides/_rels/notesSlide10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3.xml"/>
		</Relationships>
</file>

<file path=ppt/notesSlides/_rels/notesSlide10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4.xml"/>
		</Relationships>
</file>

<file path=ppt/notesSlides/_rels/notesSlide10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5.xml"/>
		</Relationships>
</file>

<file path=ppt/notesSlides/_rels/notesSlide10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6.xml"/>
		</Relationships>
</file>

<file path=ppt/notesSlides/_rels/notesSlide10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7.xml"/>
		</Relationships>
</file>

<file path=ppt/notesSlides/_rels/notesSlide10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8.xml"/>
		</Relationships>
</file>

<file path=ppt/notesSlides/_rels/notesSlide10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9.xml"/>
		</Relationships>
</file>

<file path=ppt/notesSlides/_rels/notesSlide1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0.xml"/>
		</Relationships>
</file>

<file path=ppt/notesSlides/_rels/notesSlide1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1.xml"/>
		</Relationships>
</file>

<file path=ppt/notesSlides/_rels/notesSlide1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2.xml"/>
		</Relationships>
</file>

<file path=ppt/notesSlides/_rels/notesSlide1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3.xml"/>
		</Relationships>
</file>

<file path=ppt/notesSlides/_rels/notesSlide1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4.xml"/>
		</Relationships>
</file>

<file path=ppt/notesSlides/_rels/notesSlide1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5.xml"/>
		</Relationships>
</file>

<file path=ppt/notesSlides/_rels/notesSlide1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6.xml"/>
		</Relationships>
</file>

<file path=ppt/notesSlides/_rels/notesSlide1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7.xml"/>
		</Relationships>
</file>

<file path=ppt/notesSlides/_rels/notesSlide1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8.xml"/>
		</Relationships>
</file>

<file path=ppt/notesSlides/_rels/notesSlide1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9.xml"/>
		</Relationships>
</file>

<file path=ppt/notesSlides/_rels/notesSlide1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0.xml"/>
		</Relationships>
</file>

<file path=ppt/notesSlides/_rels/notesSlide1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1.xml"/>
		</Relationships>
</file>

<file path=ppt/notesSlides/_rels/notesSlide1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2.xml"/>
		</Relationships>
</file>

<file path=ppt/notesSlides/_rels/notesSlide1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3.xml"/>
		</Relationships>
</file>

<file path=ppt/notesSlides/_rels/notesSlide1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4.xml"/>
		</Relationships>
</file>

<file path=ppt/notesSlides/_rels/notesSlide1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5.xml"/>
		</Relationships>
</file>

<file path=ppt/notesSlides/_rels/notesSlide1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6.xml"/>
		</Relationships>
</file>

<file path=ppt/notesSlides/_rels/notesSlide1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7.xml"/>
		</Relationships>
</file>

<file path=ppt/notesSlides/_rels/notesSlide1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8.xml"/>
		</Relationships>
</file>

<file path=ppt/notesSlides/_rels/notesSlide1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9.xml"/>
		</Relationships>
</file>

<file path=ppt/notesSlides/_rels/notesSlide1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0.xml"/>
		</Relationships>
</file>

<file path=ppt/notesSlides/_rels/notesSlide1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1.xml"/>
		</Relationships>
</file>

<file path=ppt/notesSlides/_rels/notesSlide1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2.xml"/>
		</Relationships>
</file>

<file path=ppt/notesSlides/_rels/notesSlide1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3.xml"/>
		</Relationships>
</file>

<file path=ppt/notesSlides/_rels/notesSlide1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4.xml"/>
		</Relationships>
</file>

<file path=ppt/notesSlides/_rels/notesSlide1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5.xml"/>
		</Relationships>
</file>

<file path=ppt/notesSlides/_rels/notesSlide1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6.xml"/>
		</Relationships>
</file>

<file path=ppt/notesSlides/_rels/notesSlide1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7.xml"/>
		</Relationships>
</file>

<file path=ppt/notesSlides/_rels/notesSlide1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8.xml"/>
		</Relationships>
</file>

<file path=ppt/notesSlides/_rels/notesSlide1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9.xml"/>
		</Relationships>
</file>

<file path=ppt/notesSlides/_rels/notesSlide1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0.xml"/>
		</Relationships>
</file>

<file path=ppt/notesSlides/_rels/notesSlide1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1.xml"/>
		</Relationships>
</file>

<file path=ppt/notesSlides/_rels/notesSlide1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2.xml"/>
		</Relationships>
</file>

<file path=ppt/notesSlides/_rels/notesSlide1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3.xml"/>
		</Relationships>
</file>

<file path=ppt/notesSlides/_rels/notesSlide1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4.xml"/>
		</Relationships>
</file>

<file path=ppt/notesSlides/_rels/notesSlide1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5.xml"/>
		</Relationships>
</file>

<file path=ppt/notesSlides/_rels/notesSlide1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6.xml"/>
		</Relationships>
</file>

<file path=ppt/notesSlides/_rels/notesSlide1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7.xml"/>
		</Relationships>
</file>

<file path=ppt/notesSlides/_rels/notesSlide1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8.xml"/>
		</Relationships>
</file>

<file path=ppt/notesSlides/_rels/notesSlide1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9.xml"/>
		</Relationships>
</file>

<file path=ppt/notesSlides/_rels/notesSlide1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0.xml"/>
		</Relationships>
</file>

<file path=ppt/notesSlides/_rels/notesSlide1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1.xml"/>
		</Relationships>
</file>

<file path=ppt/notesSlides/_rels/notesSlide1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2.xml"/>
		</Relationships>
</file>

<file path=ppt/notesSlides/_rels/notesSlide1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3.xml"/>
		</Relationships>
</file>

<file path=ppt/notesSlides/_rels/notesSlide1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4.xml"/>
		</Relationships>
</file>

<file path=ppt/notesSlides/_rels/notesSlide1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5.xml"/>
		</Relationships>
</file>

<file path=ppt/notesSlides/_rels/notesSlide1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6.xml"/>
		</Relationships>
</file>

<file path=ppt/notesSlides/_rels/notesSlide1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7.xml"/>
		</Relationships>
</file>

<file path=ppt/notesSlides/_rels/notesSlide1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8.xml"/>
		</Relationships>
</file>

<file path=ppt/notesSlides/_rels/notesSlide1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نبدأ بسورة المرسلات ثم نصعد سورةً سورة حتى نصل إلى سورة الملك، أما الآيات داخل كل سورة فبترتيبها في المصحف.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تكررت آية ﴿ويل يومئذ للمكذبين﴾ عشر مرات، فما الحكمة من تكرارها؟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اذكر ثلاثًا من صفات الأبرار التي ذكرتها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تكفّل الله لنبيه ﷺ بحفظ القرآن كما في الآيات 16–19؟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الأوامر التي وُجّهت إلى النبي ﷺ في أول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معنى «ورتّل القرآن ترتيلًا»؟ وكيف نطبّقه في قراءتنا؟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قال الجن عندما سمعوا القرآن؟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 الخيرات التي وعد بها نوحٌ قومَه إن استغفروا ربهم؟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عدّد ثلاثًا من صفات المصلّين التي ذكرتها السورة.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يقول من أُعطي كتابه بيمينه؟ وماذا يقول من أُعطي كتابه بشماله؟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ماذا فعل أصحاب البستان؟ وما عاقبتهم؟ وما الدرس من قصتهم؟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سؤال للنقاش بعد تفسير السورة: كيف تشفع سورة الملك لصاحبها؟ وما الذي يعينك على المحافظة عليها؟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jp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jp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AGE">
    <p:bg>
      <p:bgPr>
        <a:solidFill>
          <a:schemeClr val="bg2"/>
        </a:solidFill>
      </p:bgPr>
    </p:bg>
    <p:spTree>
      <p:nvGrpSpPr>
        <p:cNvPr id="1" name=""/>
        <p:cNvGrpSpPr/>
        <p:nvPr/>
      </p:nvGrpSpPr>
      <p:grpSpPr>
        <a:xfrm>
          <a:off x="0" y="0"/>
          <a:ext cx="0" cy="0"/>
          <a:chOff x="0" y="0"/>
          <a:chExt cx="0" cy="0"/>
        </a:xfrm>
      </p:grpSpPr>
      <p:pic>
        <p:nvPicPr>
          <p:cNvPr id="2" name="Image 0" descr="assets29/bg_pag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4084168" y="384048"/>
            <a:ext cx="4023360" cy="713232"/>
          </a:xfrm>
          <a:prstGeom prst="rect">
            <a:avLst/>
          </a:prstGeom>
          <a:noFill/>
          <a:ln/>
        </p:spPr>
        <p:txBody>
          <a:bodyPr wrap="square" rtlCol="0"/>
          <a:lstStyle>
            <a:lvl1pPr rtl="1" algn="ctr" indent="0" marL="0">
              <a:buNone/>
              <a:defRPr lang="en-US" sz="30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30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
    <p:bg>
      <p:bgPr>
        <a:solidFill>
          <a:schemeClr val="bg2"/>
        </a:solidFill>
      </p:bgPr>
    </p:bg>
    <p:spTree>
      <p:nvGrpSpPr>
        <p:cNvPr id="1" name=""/>
        <p:cNvGrpSpPr/>
        <p:nvPr/>
      </p:nvGrpSpPr>
      <p:grpSpPr>
        <a:xfrm>
          <a:off x="0" y="0"/>
          <a:ext cx="0" cy="0"/>
          <a:chOff x="0" y="0"/>
          <a:chExt cx="0" cy="0"/>
        </a:xfrm>
      </p:grpSpPr>
      <p:pic>
        <p:nvPicPr>
          <p:cNvPr id="2" name="Image 0" descr="assets29/bg_intro.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3626968" y="603504"/>
            <a:ext cx="4937760" cy="987552"/>
          </a:xfrm>
          <a:prstGeom prst="rect">
            <a:avLst/>
          </a:prstGeom>
          <a:noFill/>
          <a:ln/>
        </p:spPr>
        <p:txBody>
          <a:bodyPr wrap="square" rtlCol="0"/>
          <a:lstStyle>
            <a:lvl1pPr rtl="1" algn="ctr" indent="0" marL="0">
              <a:buNone/>
              <a:defRPr lang="en-US" sz="4800" b="1" dirty="0">
                <a:solidFill>
                  <a:schemeClr val="accent2"/>
                </a:solidFill>
                <a:latin typeface="Sakkal Majalla" pitchFamily="34" charset="0"/>
                <a:ea typeface="Sakkal Majalla" pitchFamily="34" charset="-122"/>
                <a:cs typeface="Sakkal Majalla" pitchFamily="34" charset="-120"/>
              </a:defRPr>
            </a:lvl1pPr>
          </a:lstStyle>
          <a:p>
            <a:pPr algn="ctr" indent="0" marL="0">
              <a:buNone/>
            </a:pPr>
            <a:endParaRPr lang="en-US" sz="4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bg2"/>
        </a:solidFill>
      </p:bgPr>
    </p:bg>
    <p:spTree>
      <p:nvGrpSpPr>
        <p:cNvPr id="1" name=""/>
        <p:cNvGrpSpPr/>
        <p:nvPr/>
      </p:nvGrpSpPr>
      <p:grpSpPr>
        <a:xfrm>
          <a:off x="0" y="0"/>
          <a:ext cx="0" cy="0"/>
          <a:chOff x="0" y="0"/>
          <a:chExt cx="0" cy="0"/>
        </a:xfrm>
      </p:grpSpPr>
      <p:pic>
        <p:nvPicPr>
          <p:cNvPr id="2" name="Image 0" descr="assets29/bg_dark.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rtlCol="0"/>
          <a:lstStyle>
            <a:lvl1pPr rtl="1" algn="ctr" indent="0" marL="0">
              <a:buNone/>
              <a:defRPr lang="en-US" sz="6400" b="1" dirty="0">
                <a:solidFill>
                  <a:schemeClr val="bg1"/>
                </a:solidFill>
                <a:latin typeface="Sakkal Majalla" pitchFamily="34" charset="0"/>
                <a:ea typeface="Sakkal Majalla" pitchFamily="34" charset="-122"/>
                <a:cs typeface="Sakkal Majalla" pitchFamily="34" charset="-120"/>
              </a:defRPr>
            </a:lvl1pPr>
          </a:lstStyle>
          <a:p>
            <a:pPr algn="ctr" indent="0" marL="0">
              <a:buNone/>
            </a:pPr>
            <a:endParaRPr lang="en-US" sz="6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image" Target="../media/image-159-1.png"/><Relationship Id="rId2" Type="http://schemas.openxmlformats.org/officeDocument/2006/relationships/image" Target="../media/image-159-2.png"/><Relationship Id="rId3" Type="http://schemas.openxmlformats.org/officeDocument/2006/relationships/slideLayout" Target="../slideLayouts/slideLayout4.xml"/><Relationship Id="rId4" Type="http://schemas.openxmlformats.org/officeDocument/2006/relationships/notesSlide" Target="../notesSlides/notesSlide1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assets29/rosette.png">    </p:cNvPr>
          <p:cNvPicPr>
            <a:picLocks noChangeAspect="1"/>
          </p:cNvPicPr>
          <p:nvPr/>
        </p:nvPicPr>
        <p:blipFill>
          <a:blip r:embed="rId1"/>
          <a:stretch>
            <a:fillRect/>
          </a:stretch>
        </p:blipFill>
        <p:spPr>
          <a:xfrm>
            <a:off x="5364328" y="777240"/>
            <a:ext cx="1463040" cy="146304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تفسير جزء تبارك</a:t>
            </a:r>
            <a:endParaRPr lang="en-US" sz="6400" dirty="0"/>
          </a:p>
        </p:txBody>
      </p:sp>
      <p:sp>
        <p:nvSpPr>
          <p:cNvPr id="4" name="Text 1"/>
          <p:cNvSpPr txBox="1"/>
          <p:nvPr/>
        </p:nvSpPr>
        <p:spPr>
          <a:xfrm>
            <a:off x="1097280" y="3657600"/>
            <a:ext cx="9997135" cy="502920"/>
          </a:xfrm>
          <a:prstGeom prst="rect">
            <a:avLst/>
          </a:prstGeom>
          <a:noFill/>
          <a:ln/>
        </p:spPr>
        <p:txBody>
          <a:bodyPr wrap="square" lIns="0" tIns="0" rIns="0" bIns="0" rtlCol="0" anchor="t"/>
          <a:lstStyle/>
          <a:p>
            <a:pPr rtl="1" algn="ctr" indent="0" marL="0">
              <a:buNone/>
            </a:pPr>
            <a:r>
              <a:rPr lang="ar-SA" altLang="en-US" sz="2400" b="1" dirty="0">
                <a:solidFill>
                  <a:schemeClr val="accent2"/>
                </a:solidFill>
              </a:rPr>
              <a:t>تفسيرٌ مبسّط لكل آية، مستفاد من تفسير الحافظ ابن كثير رحمه الله</a:t>
            </a:r>
            <a:endParaRPr lang="ar-SA" sz="2400" dirty="0"/>
          </a:p>
        </p:txBody>
      </p:sp>
      <p:pic>
        <p:nvPicPr>
          <p:cNvPr id="5" name="Image 1" descr="assets29/divider.png">    </p:cNvPr>
          <p:cNvPicPr>
            <a:picLocks noChangeAspect="1"/>
          </p:cNvPicPr>
          <p:nvPr/>
        </p:nvPicPr>
        <p:blipFill>
          <a:blip r:embed="rId2"/>
          <a:stretch>
            <a:fillRect/>
          </a:stretch>
        </p:blipFill>
        <p:spPr>
          <a:xfrm>
            <a:off x="3809848" y="4343400"/>
            <a:ext cx="4572000" cy="228600"/>
          </a:xfrm>
          <a:prstGeom prst="rect">
            <a:avLst/>
          </a:prstGeom>
        </p:spPr>
      </p:pic>
      <p:sp>
        <p:nvSpPr>
          <p:cNvPr id="6" name="Text 2"/>
          <p:cNvSpPr txBox="1"/>
          <p:nvPr/>
        </p:nvSpPr>
        <p:spPr>
          <a:xfrm>
            <a:off x="1097280" y="4754880"/>
            <a:ext cx="9997135" cy="457200"/>
          </a:xfrm>
          <a:prstGeom prst="rect">
            <a:avLst/>
          </a:prstGeom>
          <a:noFill/>
          <a:ln/>
        </p:spPr>
        <p:txBody>
          <a:bodyPr wrap="square" lIns="0" tIns="0" rIns="0" bIns="0" rtlCol="0" anchor="t"/>
          <a:lstStyle/>
          <a:p>
            <a:pPr rtl="1" algn="ctr" indent="0" marL="0">
              <a:buNone/>
            </a:pPr>
            <a:r>
              <a:rPr lang="ar-SA" altLang="en-US" sz="1800" dirty="0">
                <a:solidFill>
                  <a:schemeClr val="bg2"/>
                </a:solidFill>
              </a:rPr>
              <a:t>من سورة المرسلات إلى سورة الملك  •  مع أسباب النزول</a:t>
            </a:r>
            <a:endParaRPr lang="ar-SA"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بين يدي الدرس</a:t>
            </a:r>
            <a:endParaRPr lang="en-US" sz="3000" dirty="0"/>
          </a:p>
        </p:txBody>
      </p:sp>
      <p:sp>
        <p:nvSpPr>
          <p:cNvPr id="3" name="Shape 1"/>
          <p:cNvSpPr/>
          <p:nvPr/>
        </p:nvSpPr>
        <p:spPr>
          <a:xfrm>
            <a:off x="6263640" y="1463040"/>
            <a:ext cx="5303520" cy="4617720"/>
          </a:xfrm>
          <a:prstGeom prst="roundRect">
            <a:avLst>
              <a:gd name="adj" fmla="val 2970"/>
            </a:avLst>
          </a:prstGeom>
          <a:solidFill>
            <a:schemeClr val="accent5"/>
          </a:solidFill>
          <a:ln w="15875">
            <a:solidFill>
              <a:schemeClr val="accent2"/>
            </a:solidFill>
            <a:prstDash val="solid"/>
          </a:ln>
        </p:spPr>
      </p:sp>
      <p:sp>
        <p:nvSpPr>
          <p:cNvPr id="4" name="Text 2"/>
          <p:cNvSpPr txBox="1"/>
          <p:nvPr/>
        </p:nvSpPr>
        <p:spPr>
          <a:xfrm>
            <a:off x="6492240" y="1645920"/>
            <a:ext cx="48463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الإمام ابن كثير رحمه الله</a:t>
            </a:r>
            <a:endParaRPr lang="ar-SA" sz="2400" dirty="0"/>
          </a:p>
        </p:txBody>
      </p:sp>
      <p:sp>
        <p:nvSpPr>
          <p:cNvPr id="5" name="Text 3"/>
          <p:cNvSpPr txBox="1"/>
          <p:nvPr/>
        </p:nvSpPr>
        <p:spPr>
          <a:xfrm>
            <a:off x="6492240" y="2286000"/>
            <a:ext cx="4846320" cy="3566160"/>
          </a:xfrm>
          <a:prstGeom prst="rect">
            <a:avLst/>
          </a:prstGeom>
          <a:noFill/>
          <a:ln/>
        </p:spPr>
        <p:txBody>
          <a:bodyPr wrap="square" lIns="0" tIns="0" rIns="0" bIns="0" rtlCol="0" anchor="t"/>
          <a:lstStyle/>
          <a:p>
            <a:pPr rtl="1" algn="r" indent="0" marL="0">
              <a:spcAft>
                <a:spcPts val="1000"/>
              </a:spcAft>
              <a:buNone/>
            </a:pPr>
            <a:r>
              <a:rPr lang="ar-SA" altLang="en-US" sz="1600" b="1" dirty="0">
                <a:solidFill>
                  <a:schemeClr val="tx2"/>
                </a:solidFill>
              </a:rPr>
              <a:t>اسمه: </a:t>
            </a:r>
            <a:pPr rtl="1" algn="r" indent="0" marL="0">
              <a:spcAft>
                <a:spcPts val="1000"/>
              </a:spcAft>
              <a:buNone/>
            </a:pPr>
            <a:r>
              <a:rPr lang="ar-SA" altLang="en-US" sz="1600" dirty="0">
                <a:solidFill>
                  <a:schemeClr val="tx1"/>
                </a:solidFill>
              </a:rPr>
              <a:t>إسماعيل بن عمر بن كثير الدمشقي</a:t>
            </a:r>
            <a:endParaRPr lang="ar-SA" sz="1600" dirty="0"/>
          </a:p>
          <a:p>
            <a:pPr rtl="1" algn="r" indent="0" marL="0">
              <a:spcAft>
                <a:spcPts val="1000"/>
              </a:spcAft>
              <a:buNone/>
            </a:pPr>
            <a:r>
              <a:rPr lang="ar-SA" altLang="en-US" sz="1600" b="1" dirty="0">
                <a:solidFill>
                  <a:schemeClr val="tx2"/>
                </a:solidFill>
              </a:rPr>
              <a:t>عاش: </a:t>
            </a:r>
            <a:pPr rtl="1" algn="r" indent="0" marL="0">
              <a:spcAft>
                <a:spcPts val="1000"/>
              </a:spcAft>
              <a:buNone/>
            </a:pPr>
            <a:r>
              <a:rPr lang="ar-SA" altLang="en-US" sz="1600" dirty="0">
                <a:solidFill>
                  <a:schemeClr val="tx1"/>
                </a:solidFill>
              </a:rPr>
              <a:t>نحو ٧٠١ – ٧٧٤ هـ في بلاد الشام</a:t>
            </a:r>
            <a:endParaRPr lang="ar-SA" sz="1600" dirty="0"/>
          </a:p>
          <a:p>
            <a:pPr rtl="1" algn="r" indent="0" marL="0">
              <a:spcAft>
                <a:spcPts val="1000"/>
              </a:spcAft>
              <a:buNone/>
            </a:pPr>
            <a:r>
              <a:rPr lang="ar-SA" altLang="en-US" sz="1600" b="1" dirty="0">
                <a:solidFill>
                  <a:schemeClr val="tx2"/>
                </a:solidFill>
              </a:rPr>
              <a:t>من شيوخه: </a:t>
            </a:r>
            <a:pPr rtl="1" algn="r" indent="0" marL="0">
              <a:spcAft>
                <a:spcPts val="1000"/>
              </a:spcAft>
              <a:buNone/>
            </a:pPr>
            <a:r>
              <a:rPr lang="ar-SA" altLang="en-US" sz="1600" dirty="0">
                <a:solidFill>
                  <a:schemeClr val="tx1"/>
                </a:solidFill>
              </a:rPr>
              <a:t>ابن تيمية، والمِزّي، والذهبي</a:t>
            </a:r>
            <a:endParaRPr lang="ar-SA" sz="1600" dirty="0"/>
          </a:p>
          <a:p>
            <a:pPr rtl="1" algn="r" indent="0" marL="0">
              <a:spcAft>
                <a:spcPts val="1000"/>
              </a:spcAft>
              <a:buNone/>
            </a:pPr>
            <a:r>
              <a:rPr lang="ar-SA" altLang="en-US" sz="1600" b="1" dirty="0">
                <a:solidFill>
                  <a:schemeClr val="tx2"/>
                </a:solidFill>
              </a:rPr>
              <a:t>كتابه: </a:t>
            </a:r>
            <a:pPr rtl="1" algn="r" indent="0" marL="0">
              <a:spcAft>
                <a:spcPts val="1000"/>
              </a:spcAft>
              <a:buNone/>
            </a:pPr>
            <a:r>
              <a:rPr lang="ar-SA" altLang="en-US" sz="1600" dirty="0">
                <a:solidFill>
                  <a:schemeClr val="tx1"/>
                </a:solidFill>
              </a:rPr>
              <a:t>«تفسير القرآن العظيم» من أشهر كتب التفسير</a:t>
            </a:r>
            <a:endParaRPr lang="ar-SA" sz="1600" dirty="0"/>
          </a:p>
          <a:p>
            <a:pPr rtl="1" algn="r" indent="0" marL="0">
              <a:spcAft>
                <a:spcPts val="1000"/>
              </a:spcAft>
              <a:buNone/>
            </a:pPr>
            <a:r>
              <a:rPr lang="ar-SA" altLang="en-US" sz="1600" b="1" dirty="0">
                <a:solidFill>
                  <a:schemeClr val="tx2"/>
                </a:solidFill>
              </a:rPr>
              <a:t>منهجه: </a:t>
            </a:r>
            <a:pPr rtl="1" algn="r" indent="0" marL="0">
              <a:spcAft>
                <a:spcPts val="1000"/>
              </a:spcAft>
              <a:buNone/>
            </a:pPr>
            <a:r>
              <a:rPr lang="ar-SA" altLang="en-US" sz="1600" dirty="0">
                <a:solidFill>
                  <a:schemeClr val="tx1"/>
                </a:solidFill>
              </a:rPr>
              <a:t>يفسّر القرآن بالقرآن، ثم بالسنة، ثم بأقوال الصحابة والتابعين</a:t>
            </a:r>
            <a:endParaRPr lang="ar-SA" sz="1600" dirty="0"/>
          </a:p>
        </p:txBody>
      </p:sp>
      <p:sp>
        <p:nvSpPr>
          <p:cNvPr id="6" name="Text 4"/>
          <p:cNvSpPr txBox="1"/>
          <p:nvPr/>
        </p:nvSpPr>
        <p:spPr>
          <a:xfrm>
            <a:off x="685800" y="1600200"/>
            <a:ext cx="5303520" cy="502920"/>
          </a:xfrm>
          <a:prstGeom prst="rect">
            <a:avLst/>
          </a:prstGeom>
          <a:noFill/>
          <a:ln/>
        </p:spPr>
        <p:txBody>
          <a:bodyPr wrap="square" lIns="0" tIns="0" rIns="0" bIns="0" rtlCol="0" anchor="t"/>
          <a:lstStyle/>
          <a:p>
            <a:pPr rtl="1" algn="r" indent="0" marL="0">
              <a:buNone/>
            </a:pPr>
            <a:r>
              <a:rPr lang="ar-SA" altLang="en-US" sz="2400" b="1" dirty="0">
                <a:solidFill>
                  <a:schemeClr val="tx2"/>
                </a:solidFill>
                <a:latin typeface="Sakkal Majalla" pitchFamily="34" charset="0"/>
                <a:ea typeface="Sakkal Majalla" pitchFamily="34" charset="-122"/>
                <a:cs typeface="Sakkal Majalla" pitchFamily="34" charset="-120"/>
              </a:rPr>
              <a:t>كيف نقرأ الشرائح؟</a:t>
            </a:r>
            <a:endParaRPr lang="ar-SA" sz="2400" dirty="0"/>
          </a:p>
        </p:txBody>
      </p:sp>
      <p:sp>
        <p:nvSpPr>
          <p:cNvPr id="7" name="Shape 5"/>
          <p:cNvSpPr/>
          <p:nvPr/>
        </p:nvSpPr>
        <p:spPr>
          <a:xfrm>
            <a:off x="5349240" y="2331720"/>
            <a:ext cx="566928" cy="566928"/>
          </a:xfrm>
          <a:prstGeom prst="star8">
            <a:avLst/>
          </a:prstGeom>
          <a:solidFill>
            <a:schemeClr val="accent2"/>
          </a:solidFill>
          <a:ln/>
        </p:spPr>
      </p:sp>
      <p:sp>
        <p:nvSpPr>
          <p:cNvPr id="8" name="Shape 6"/>
          <p:cNvSpPr/>
          <p:nvPr/>
        </p:nvSpPr>
        <p:spPr>
          <a:xfrm>
            <a:off x="5462626" y="2445106"/>
            <a:ext cx="340157" cy="340157"/>
          </a:xfrm>
          <a:prstGeom prst="ellipse">
            <a:avLst/>
          </a:prstGeom>
          <a:solidFill>
            <a:schemeClr val="bg2"/>
          </a:solidFill>
          <a:ln w="19050">
            <a:solidFill>
              <a:schemeClr val="tx2"/>
            </a:solidFill>
            <a:prstDash val="solid"/>
          </a:ln>
        </p:spPr>
      </p:sp>
      <p:sp>
        <p:nvSpPr>
          <p:cNvPr id="9" name="Text 7"/>
          <p:cNvSpPr txBox="1"/>
          <p:nvPr/>
        </p:nvSpPr>
        <p:spPr>
          <a:xfrm>
            <a:off x="5349240" y="2331720"/>
            <a:ext cx="566928" cy="566928"/>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10" name="Text 8"/>
          <p:cNvSpPr txBox="1"/>
          <p:nvPr/>
        </p:nvSpPr>
        <p:spPr>
          <a:xfrm>
            <a:off x="685800" y="2386584"/>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رقم الآية داخل النجمة الذهبية</a:t>
            </a:r>
            <a:endParaRPr lang="ar-SA" sz="1700" dirty="0"/>
          </a:p>
        </p:txBody>
      </p:sp>
      <p:sp>
        <p:nvSpPr>
          <p:cNvPr id="11" name="Shape 9"/>
          <p:cNvSpPr/>
          <p:nvPr/>
        </p:nvSpPr>
        <p:spPr>
          <a:xfrm>
            <a:off x="5422392" y="3337560"/>
            <a:ext cx="420624" cy="420624"/>
          </a:xfrm>
          <a:prstGeom prst="ellipse">
            <a:avLst/>
          </a:prstGeom>
          <a:solidFill>
            <a:schemeClr val="tx2"/>
          </a:solidFill>
          <a:ln w="19050">
            <a:solidFill>
              <a:schemeClr val="accent2"/>
            </a:solidFill>
            <a:prstDash val="solid"/>
          </a:ln>
        </p:spPr>
      </p:sp>
      <p:sp>
        <p:nvSpPr>
          <p:cNvPr id="12" name="Text 10"/>
          <p:cNvSpPr txBox="1"/>
          <p:nvPr/>
        </p:nvSpPr>
        <p:spPr>
          <a:xfrm>
            <a:off x="685800" y="3319272"/>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نص الآية باللون الأزرق</a:t>
            </a:r>
            <a:endParaRPr lang="ar-SA" sz="1700" dirty="0"/>
          </a:p>
        </p:txBody>
      </p:sp>
      <p:sp>
        <p:nvSpPr>
          <p:cNvPr id="13" name="Shape 11"/>
          <p:cNvSpPr/>
          <p:nvPr/>
        </p:nvSpPr>
        <p:spPr>
          <a:xfrm>
            <a:off x="5422392" y="4270248"/>
            <a:ext cx="420624" cy="420624"/>
          </a:xfrm>
          <a:prstGeom prst="ellipse">
            <a:avLst/>
          </a:prstGeom>
          <a:solidFill>
            <a:schemeClr val="tx1"/>
          </a:solidFill>
          <a:ln w="19050">
            <a:solidFill>
              <a:schemeClr val="accent2"/>
            </a:solidFill>
            <a:prstDash val="solid"/>
          </a:ln>
        </p:spPr>
      </p:sp>
      <p:sp>
        <p:nvSpPr>
          <p:cNvPr id="14" name="Text 12"/>
          <p:cNvSpPr txBox="1"/>
          <p:nvPr/>
        </p:nvSpPr>
        <p:spPr>
          <a:xfrm>
            <a:off x="685800" y="4251960"/>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تفسير الآية بلغة سهلة تحتها مباشرة</a:t>
            </a:r>
            <a:endParaRPr lang="ar-SA" sz="1700" dirty="0"/>
          </a:p>
        </p:txBody>
      </p:sp>
      <p:sp>
        <p:nvSpPr>
          <p:cNvPr id="15" name="Shape 13"/>
          <p:cNvSpPr/>
          <p:nvPr/>
        </p:nvSpPr>
        <p:spPr>
          <a:xfrm>
            <a:off x="5422392" y="5202936"/>
            <a:ext cx="420624" cy="420624"/>
          </a:xfrm>
          <a:prstGeom prst="ellipse">
            <a:avLst/>
          </a:prstGeom>
          <a:solidFill>
            <a:schemeClr val="accent6"/>
          </a:solidFill>
          <a:ln w="19050">
            <a:solidFill>
              <a:schemeClr val="accent2"/>
            </a:solidFill>
            <a:prstDash val="solid"/>
          </a:ln>
        </p:spPr>
      </p:sp>
      <p:sp>
        <p:nvSpPr>
          <p:cNvPr id="16" name="Text 14"/>
          <p:cNvSpPr txBox="1"/>
          <p:nvPr/>
        </p:nvSpPr>
        <p:spPr>
          <a:xfrm>
            <a:off x="685800" y="5184648"/>
            <a:ext cx="4480560" cy="457200"/>
          </a:xfrm>
          <a:prstGeom prst="rect">
            <a:avLst/>
          </a:prstGeom>
          <a:noFill/>
          <a:ln/>
        </p:spPr>
        <p:txBody>
          <a:bodyPr wrap="square" lIns="0" tIns="0" rIns="0" bIns="0" rtlCol="0" anchor="ctr"/>
          <a:lstStyle/>
          <a:p>
            <a:pPr rtl="1" algn="r" indent="0" marL="0">
              <a:buNone/>
            </a:pPr>
            <a:r>
              <a:rPr lang="ar-SA" altLang="en-US" sz="1700" dirty="0">
                <a:solidFill>
                  <a:schemeClr val="tx1"/>
                </a:solidFill>
              </a:rPr>
              <a:t>في أول كل سورة: سبب النزول ومقصد السورة</a:t>
            </a:r>
            <a:endParaRPr lang="ar-SA" sz="17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 جزء تبارك</a:t>
            </a:r>
            <a:endParaRPr lang="en-US" sz="3000" dirty="0"/>
          </a:p>
        </p:txBody>
      </p:sp>
      <p:sp>
        <p:nvSpPr>
          <p:cNvPr id="3" name="Text 1"/>
          <p:cNvSpPr txBox="1"/>
          <p:nvPr/>
        </p:nvSpPr>
        <p:spPr>
          <a:xfrm>
            <a:off x="685800" y="1325880"/>
            <a:ext cx="10820095" cy="411480"/>
          </a:xfrm>
          <a:prstGeom prst="rect">
            <a:avLst/>
          </a:prstGeom>
          <a:noFill/>
          <a:ln/>
        </p:spPr>
        <p:txBody>
          <a:bodyPr wrap="square" lIns="0" tIns="0" rIns="0" bIns="0" rtlCol="0" anchor="t"/>
          <a:lstStyle/>
          <a:p>
            <a:pPr rtl="1" algn="ctr" indent="0" marL="0">
              <a:buNone/>
            </a:pPr>
            <a:r>
              <a:rPr lang="ar-SA" altLang="en-US" sz="1800" dirty="0">
                <a:solidFill>
                  <a:schemeClr val="accent4"/>
                </a:solidFill>
              </a:rPr>
              <a:t>نبدأ رحلتنا من سورة المرسلات صعودًا إلى سورة الملك</a:t>
            </a:r>
            <a:endParaRPr lang="ar-SA" sz="1800" dirty="0"/>
          </a:p>
        </p:txBody>
      </p:sp>
      <p:sp>
        <p:nvSpPr>
          <p:cNvPr id="4" name="Shape 2"/>
          <p:cNvSpPr/>
          <p:nvPr/>
        </p:nvSpPr>
        <p:spPr>
          <a:xfrm>
            <a:off x="10215220" y="1920240"/>
            <a:ext cx="1298448" cy="530352"/>
          </a:xfrm>
          <a:prstGeom prst="roundRect">
            <a:avLst>
              <a:gd name="adj" fmla="val 50000"/>
            </a:avLst>
          </a:prstGeom>
          <a:solidFill>
            <a:schemeClr val="bg1"/>
          </a:solidFill>
          <a:ln w="12700">
            <a:solidFill>
              <a:schemeClr val="accent2"/>
            </a:solidFill>
            <a:prstDash val="solid"/>
          </a:ln>
        </p:spPr>
      </p:sp>
      <p:sp>
        <p:nvSpPr>
          <p:cNvPr id="5" name="Text 3"/>
          <p:cNvSpPr txBox="1"/>
          <p:nvPr/>
        </p:nvSpPr>
        <p:spPr>
          <a:xfrm>
            <a:off x="1021522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  </a:t>
            </a:r>
            <a:pPr rtl="1" algn="ctr" indent="0" marL="0">
              <a:buNone/>
            </a:pPr>
            <a:r>
              <a:rPr lang="ar-SA" altLang="en-US" sz="1500" b="1" dirty="0">
                <a:solidFill>
                  <a:schemeClr val="tx2"/>
                </a:solidFill>
              </a:rPr>
              <a:t>المرسلات</a:t>
            </a:r>
            <a:endParaRPr lang="ar-SA" sz="1500" dirty="0"/>
          </a:p>
        </p:txBody>
      </p:sp>
      <p:sp>
        <p:nvSpPr>
          <p:cNvPr id="6" name="Shape 4"/>
          <p:cNvSpPr/>
          <p:nvPr/>
        </p:nvSpPr>
        <p:spPr>
          <a:xfrm>
            <a:off x="8852764" y="1920240"/>
            <a:ext cx="1298448" cy="530352"/>
          </a:xfrm>
          <a:prstGeom prst="roundRect">
            <a:avLst>
              <a:gd name="adj" fmla="val 50000"/>
            </a:avLst>
          </a:prstGeom>
          <a:solidFill>
            <a:schemeClr val="accent5"/>
          </a:solidFill>
          <a:ln w="12700">
            <a:solidFill>
              <a:schemeClr val="accent2"/>
            </a:solidFill>
            <a:prstDash val="solid"/>
          </a:ln>
        </p:spPr>
      </p:sp>
      <p:sp>
        <p:nvSpPr>
          <p:cNvPr id="7" name="Text 5"/>
          <p:cNvSpPr txBox="1"/>
          <p:nvPr/>
        </p:nvSpPr>
        <p:spPr>
          <a:xfrm>
            <a:off x="885276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٢  </a:t>
            </a:r>
            <a:pPr rtl="1" algn="ctr" indent="0" marL="0">
              <a:buNone/>
            </a:pPr>
            <a:r>
              <a:rPr lang="ar-SA" altLang="en-US" sz="1500" b="1" dirty="0">
                <a:solidFill>
                  <a:schemeClr val="tx2"/>
                </a:solidFill>
              </a:rPr>
              <a:t>الإنسان</a:t>
            </a:r>
            <a:endParaRPr lang="ar-SA" sz="1500" dirty="0"/>
          </a:p>
        </p:txBody>
      </p:sp>
      <p:sp>
        <p:nvSpPr>
          <p:cNvPr id="8" name="Shape 6"/>
          <p:cNvSpPr/>
          <p:nvPr/>
        </p:nvSpPr>
        <p:spPr>
          <a:xfrm>
            <a:off x="7490308" y="1920240"/>
            <a:ext cx="1298448" cy="530352"/>
          </a:xfrm>
          <a:prstGeom prst="roundRect">
            <a:avLst>
              <a:gd name="adj" fmla="val 50000"/>
            </a:avLst>
          </a:prstGeom>
          <a:solidFill>
            <a:schemeClr val="bg1"/>
          </a:solidFill>
          <a:ln w="12700">
            <a:solidFill>
              <a:schemeClr val="accent2"/>
            </a:solidFill>
            <a:prstDash val="solid"/>
          </a:ln>
        </p:spPr>
      </p:sp>
      <p:sp>
        <p:nvSpPr>
          <p:cNvPr id="9" name="Text 7"/>
          <p:cNvSpPr txBox="1"/>
          <p:nvPr/>
        </p:nvSpPr>
        <p:spPr>
          <a:xfrm>
            <a:off x="749030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٣  </a:t>
            </a:r>
            <a:pPr rtl="1" algn="ctr" indent="0" marL="0">
              <a:buNone/>
            </a:pPr>
            <a:r>
              <a:rPr lang="ar-SA" altLang="en-US" sz="1500" b="1" dirty="0">
                <a:solidFill>
                  <a:schemeClr val="tx2"/>
                </a:solidFill>
              </a:rPr>
              <a:t>القيامة</a:t>
            </a:r>
            <a:endParaRPr lang="ar-SA" sz="1500" dirty="0"/>
          </a:p>
        </p:txBody>
      </p:sp>
      <p:sp>
        <p:nvSpPr>
          <p:cNvPr id="10" name="Shape 8"/>
          <p:cNvSpPr/>
          <p:nvPr/>
        </p:nvSpPr>
        <p:spPr>
          <a:xfrm>
            <a:off x="6127852" y="1920240"/>
            <a:ext cx="1298448" cy="530352"/>
          </a:xfrm>
          <a:prstGeom prst="roundRect">
            <a:avLst>
              <a:gd name="adj" fmla="val 50000"/>
            </a:avLst>
          </a:prstGeom>
          <a:solidFill>
            <a:schemeClr val="accent5"/>
          </a:solidFill>
          <a:ln w="12700">
            <a:solidFill>
              <a:schemeClr val="accent2"/>
            </a:solidFill>
            <a:prstDash val="solid"/>
          </a:ln>
        </p:spPr>
      </p:sp>
      <p:sp>
        <p:nvSpPr>
          <p:cNvPr id="11" name="Text 9"/>
          <p:cNvSpPr txBox="1"/>
          <p:nvPr/>
        </p:nvSpPr>
        <p:spPr>
          <a:xfrm>
            <a:off x="6127852"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٤  </a:t>
            </a:r>
            <a:pPr rtl="1" algn="ctr" indent="0" marL="0">
              <a:buNone/>
            </a:pPr>
            <a:r>
              <a:rPr lang="ar-SA" altLang="en-US" sz="1500" b="1" dirty="0">
                <a:solidFill>
                  <a:schemeClr val="tx2"/>
                </a:solidFill>
              </a:rPr>
              <a:t>المدثر</a:t>
            </a:r>
            <a:endParaRPr lang="ar-SA" sz="1500" dirty="0"/>
          </a:p>
        </p:txBody>
      </p:sp>
      <p:sp>
        <p:nvSpPr>
          <p:cNvPr id="12" name="Shape 10"/>
          <p:cNvSpPr/>
          <p:nvPr/>
        </p:nvSpPr>
        <p:spPr>
          <a:xfrm>
            <a:off x="4765396" y="1920240"/>
            <a:ext cx="1298448" cy="530352"/>
          </a:xfrm>
          <a:prstGeom prst="roundRect">
            <a:avLst>
              <a:gd name="adj" fmla="val 50000"/>
            </a:avLst>
          </a:prstGeom>
          <a:solidFill>
            <a:schemeClr val="bg1"/>
          </a:solidFill>
          <a:ln w="12700">
            <a:solidFill>
              <a:schemeClr val="accent2"/>
            </a:solidFill>
            <a:prstDash val="solid"/>
          </a:ln>
        </p:spPr>
      </p:sp>
      <p:sp>
        <p:nvSpPr>
          <p:cNvPr id="13" name="Text 11"/>
          <p:cNvSpPr txBox="1"/>
          <p:nvPr/>
        </p:nvSpPr>
        <p:spPr>
          <a:xfrm>
            <a:off x="4765396"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٥  </a:t>
            </a:r>
            <a:pPr rtl="1" algn="ctr" indent="0" marL="0">
              <a:buNone/>
            </a:pPr>
            <a:r>
              <a:rPr lang="ar-SA" altLang="en-US" sz="1500" b="1" dirty="0">
                <a:solidFill>
                  <a:schemeClr val="tx2"/>
                </a:solidFill>
              </a:rPr>
              <a:t>المزمل</a:t>
            </a:r>
            <a:endParaRPr lang="ar-SA" sz="1500" dirty="0"/>
          </a:p>
        </p:txBody>
      </p:sp>
      <p:sp>
        <p:nvSpPr>
          <p:cNvPr id="14" name="Shape 12"/>
          <p:cNvSpPr/>
          <p:nvPr/>
        </p:nvSpPr>
        <p:spPr>
          <a:xfrm>
            <a:off x="3402940" y="1920240"/>
            <a:ext cx="1298448" cy="530352"/>
          </a:xfrm>
          <a:prstGeom prst="roundRect">
            <a:avLst>
              <a:gd name="adj" fmla="val 50000"/>
            </a:avLst>
          </a:prstGeom>
          <a:solidFill>
            <a:schemeClr val="accent5"/>
          </a:solidFill>
          <a:ln w="12700">
            <a:solidFill>
              <a:schemeClr val="accent2"/>
            </a:solidFill>
            <a:prstDash val="solid"/>
          </a:ln>
        </p:spPr>
      </p:sp>
      <p:sp>
        <p:nvSpPr>
          <p:cNvPr id="15" name="Text 13"/>
          <p:cNvSpPr txBox="1"/>
          <p:nvPr/>
        </p:nvSpPr>
        <p:spPr>
          <a:xfrm>
            <a:off x="3402940"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٦  </a:t>
            </a:r>
            <a:pPr rtl="1" algn="ctr" indent="0" marL="0">
              <a:buNone/>
            </a:pPr>
            <a:r>
              <a:rPr lang="ar-SA" altLang="en-US" sz="1500" b="1" dirty="0">
                <a:solidFill>
                  <a:schemeClr val="tx2"/>
                </a:solidFill>
              </a:rPr>
              <a:t>الجن</a:t>
            </a:r>
            <a:endParaRPr lang="ar-SA" sz="1500" dirty="0"/>
          </a:p>
        </p:txBody>
      </p:sp>
      <p:sp>
        <p:nvSpPr>
          <p:cNvPr id="16" name="Shape 14"/>
          <p:cNvSpPr/>
          <p:nvPr/>
        </p:nvSpPr>
        <p:spPr>
          <a:xfrm>
            <a:off x="2040484" y="1920240"/>
            <a:ext cx="1298448" cy="530352"/>
          </a:xfrm>
          <a:prstGeom prst="roundRect">
            <a:avLst>
              <a:gd name="adj" fmla="val 50000"/>
            </a:avLst>
          </a:prstGeom>
          <a:solidFill>
            <a:schemeClr val="bg1"/>
          </a:solidFill>
          <a:ln w="12700">
            <a:solidFill>
              <a:schemeClr val="accent2"/>
            </a:solidFill>
            <a:prstDash val="solid"/>
          </a:ln>
        </p:spPr>
      </p:sp>
      <p:sp>
        <p:nvSpPr>
          <p:cNvPr id="17" name="Text 15"/>
          <p:cNvSpPr txBox="1"/>
          <p:nvPr/>
        </p:nvSpPr>
        <p:spPr>
          <a:xfrm>
            <a:off x="2040484"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٧  </a:t>
            </a:r>
            <a:pPr rtl="1" algn="ctr" indent="0" marL="0">
              <a:buNone/>
            </a:pPr>
            <a:r>
              <a:rPr lang="ar-SA" altLang="en-US" sz="1500" b="1" dirty="0">
                <a:solidFill>
                  <a:schemeClr val="tx2"/>
                </a:solidFill>
              </a:rPr>
              <a:t>نوح</a:t>
            </a:r>
            <a:endParaRPr lang="ar-SA" sz="1500" dirty="0"/>
          </a:p>
        </p:txBody>
      </p:sp>
      <p:sp>
        <p:nvSpPr>
          <p:cNvPr id="18" name="Shape 16"/>
          <p:cNvSpPr/>
          <p:nvPr/>
        </p:nvSpPr>
        <p:spPr>
          <a:xfrm>
            <a:off x="678028" y="1920240"/>
            <a:ext cx="1298448" cy="530352"/>
          </a:xfrm>
          <a:prstGeom prst="roundRect">
            <a:avLst>
              <a:gd name="adj" fmla="val 50000"/>
            </a:avLst>
          </a:prstGeom>
          <a:solidFill>
            <a:schemeClr val="accent5"/>
          </a:solidFill>
          <a:ln w="12700">
            <a:solidFill>
              <a:schemeClr val="accent2"/>
            </a:solidFill>
            <a:prstDash val="solid"/>
          </a:ln>
        </p:spPr>
      </p:sp>
      <p:sp>
        <p:nvSpPr>
          <p:cNvPr id="19" name="Text 17"/>
          <p:cNvSpPr txBox="1"/>
          <p:nvPr/>
        </p:nvSpPr>
        <p:spPr>
          <a:xfrm>
            <a:off x="678028" y="1920240"/>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٨  </a:t>
            </a:r>
            <a:pPr rtl="1" algn="ctr" indent="0" marL="0">
              <a:buNone/>
            </a:pPr>
            <a:r>
              <a:rPr lang="ar-SA" altLang="en-US" sz="1500" b="1" dirty="0">
                <a:solidFill>
                  <a:schemeClr val="tx2"/>
                </a:solidFill>
              </a:rPr>
              <a:t>المعارج</a:t>
            </a:r>
            <a:endParaRPr lang="ar-SA" sz="1500" dirty="0"/>
          </a:p>
        </p:txBody>
      </p:sp>
      <p:sp>
        <p:nvSpPr>
          <p:cNvPr id="20" name="Shape 18"/>
          <p:cNvSpPr/>
          <p:nvPr/>
        </p:nvSpPr>
        <p:spPr>
          <a:xfrm>
            <a:off x="10215220" y="2578608"/>
            <a:ext cx="1298448" cy="530352"/>
          </a:xfrm>
          <a:prstGeom prst="roundRect">
            <a:avLst>
              <a:gd name="adj" fmla="val 50000"/>
            </a:avLst>
          </a:prstGeom>
          <a:solidFill>
            <a:schemeClr val="bg1"/>
          </a:solidFill>
          <a:ln w="12700">
            <a:solidFill>
              <a:schemeClr val="accent2"/>
            </a:solidFill>
            <a:prstDash val="solid"/>
          </a:ln>
        </p:spPr>
      </p:sp>
      <p:sp>
        <p:nvSpPr>
          <p:cNvPr id="21" name="Text 19"/>
          <p:cNvSpPr txBox="1"/>
          <p:nvPr/>
        </p:nvSpPr>
        <p:spPr>
          <a:xfrm>
            <a:off x="10215220"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٩  </a:t>
            </a:r>
            <a:pPr rtl="1" algn="ctr" indent="0" marL="0">
              <a:buNone/>
            </a:pPr>
            <a:r>
              <a:rPr lang="ar-SA" altLang="en-US" sz="1500" b="1" dirty="0">
                <a:solidFill>
                  <a:schemeClr val="tx2"/>
                </a:solidFill>
              </a:rPr>
              <a:t>الحاقة</a:t>
            </a:r>
            <a:endParaRPr lang="ar-SA" sz="1500" dirty="0"/>
          </a:p>
        </p:txBody>
      </p:sp>
      <p:sp>
        <p:nvSpPr>
          <p:cNvPr id="22" name="Shape 20"/>
          <p:cNvSpPr/>
          <p:nvPr/>
        </p:nvSpPr>
        <p:spPr>
          <a:xfrm>
            <a:off x="8852764" y="2578608"/>
            <a:ext cx="1298448" cy="530352"/>
          </a:xfrm>
          <a:prstGeom prst="roundRect">
            <a:avLst>
              <a:gd name="adj" fmla="val 50000"/>
            </a:avLst>
          </a:prstGeom>
          <a:solidFill>
            <a:schemeClr val="accent5"/>
          </a:solidFill>
          <a:ln w="12700">
            <a:solidFill>
              <a:schemeClr val="accent2"/>
            </a:solidFill>
            <a:prstDash val="solid"/>
          </a:ln>
        </p:spPr>
      </p:sp>
      <p:sp>
        <p:nvSpPr>
          <p:cNvPr id="23" name="Text 21"/>
          <p:cNvSpPr txBox="1"/>
          <p:nvPr/>
        </p:nvSpPr>
        <p:spPr>
          <a:xfrm>
            <a:off x="8852764"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١٠  </a:t>
            </a:r>
            <a:pPr rtl="1" algn="ctr" indent="0" marL="0">
              <a:buNone/>
            </a:pPr>
            <a:r>
              <a:rPr lang="ar-SA" altLang="en-US" sz="1500" b="1" dirty="0">
                <a:solidFill>
                  <a:schemeClr val="tx2"/>
                </a:solidFill>
              </a:rPr>
              <a:t>القلم</a:t>
            </a:r>
            <a:endParaRPr lang="ar-SA" sz="1500" dirty="0"/>
          </a:p>
        </p:txBody>
      </p:sp>
      <p:sp>
        <p:nvSpPr>
          <p:cNvPr id="24" name="Shape 22"/>
          <p:cNvSpPr/>
          <p:nvPr/>
        </p:nvSpPr>
        <p:spPr>
          <a:xfrm>
            <a:off x="7490308" y="2578608"/>
            <a:ext cx="1298448" cy="530352"/>
          </a:xfrm>
          <a:prstGeom prst="roundRect">
            <a:avLst>
              <a:gd name="adj" fmla="val 50000"/>
            </a:avLst>
          </a:prstGeom>
          <a:solidFill>
            <a:schemeClr val="bg1"/>
          </a:solidFill>
          <a:ln w="12700">
            <a:solidFill>
              <a:schemeClr val="accent2"/>
            </a:solidFill>
            <a:prstDash val="solid"/>
          </a:ln>
        </p:spPr>
      </p:sp>
      <p:sp>
        <p:nvSpPr>
          <p:cNvPr id="25" name="Text 23"/>
          <p:cNvSpPr txBox="1"/>
          <p:nvPr/>
        </p:nvSpPr>
        <p:spPr>
          <a:xfrm>
            <a:off x="7490308" y="2578608"/>
            <a:ext cx="1298448" cy="530352"/>
          </a:xfrm>
          <a:prstGeom prst="rect">
            <a:avLst/>
          </a:prstGeom>
          <a:noFill/>
          <a:ln/>
        </p:spPr>
        <p:txBody>
          <a:bodyPr wrap="square" lIns="0" tIns="0" rIns="0" bIns="0" rtlCol="0" anchor="ctr"/>
          <a:lstStyle/>
          <a:p>
            <a:pPr rtl="1" algn="ctr" indent="0" marL="0">
              <a:buNone/>
            </a:pPr>
            <a:r>
              <a:rPr lang="ar-SA" altLang="en-US" sz="1500" b="1" dirty="0">
                <a:solidFill>
                  <a:schemeClr val="accent2"/>
                </a:solidFill>
              </a:rPr>
              <a:t>١١  </a:t>
            </a:r>
            <a:pPr rtl="1" algn="ctr" indent="0" marL="0">
              <a:buNone/>
            </a:pPr>
            <a:r>
              <a:rPr lang="ar-SA" altLang="en-US" sz="1500" b="1" dirty="0">
                <a:solidFill>
                  <a:schemeClr val="tx2"/>
                </a:solidFill>
              </a:rPr>
              <a:t>الملك</a:t>
            </a:r>
            <a:endParaRPr lang="ar-SA" sz="15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المرسلات</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٥٠</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مسعود رضي الله عنه: بينما نحن مع النبي صلى الله عليه وسلم في غار بمنى إذ نزلت عليه سورة «والمرسلات»، فإنه ليتلوها وإني لأتلقاها من فيه (رواه البخاري).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يوم الفصل والجزاء، وتهديد المكذّبين، وبيان نعيم المتقين.</a:t>
            </a:r>
            <a:endParaRPr lang="ar-SA"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وَالْمُرْسَلَٰتِ عُرْفًا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بالرياح التي تُرسل متتابعة، وقيل: بالملائكة المرسلة بأمره.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فَالْعَٰصِفَٰتِ عَصْفًا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وبالرياح الشديدة الهبوب.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وَالنَّـٰشِرَٰتِ نَشْرًا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وبالرياح التي تنشر السحاب في السماء.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فَالْفَٰرِقَٰتِ فَرْقًا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وبالملائكة التي تنزل بما يفرّق بين الحق والباطل.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فَالْمُلْقِيَٰتِ ذِكْرًا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وبالملائكة التي تُلقي الوحي إلى الرسل.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عُذْرًا أَوْ نُذْرًا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إعذارًا من الله إلى خلقه، وإنذارًا لهم من عذابه.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تُوعَدُونَ لَوَٰقِعٌ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ما توعدون به من القيامة والجزاء واقعٌ لا محالة.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النُّجُومُ طُمِسَتْ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النجوم ذهب ضوؤها.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السَّمَآءُ فُرِجَتْ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السماء انشقت وتصدّعت.</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الْجِبَالُ نُسِفَتْ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الجبال قُلعت وفُتّتت حتى لا يبقى لها أثر.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الرُّسُلُ أُقِّتَتْ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الرسل جُمعوا في الوقت المحدد ليشهدوا على أممهم.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١٢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لِأَيِّ يَوْمٍ أُجِّلَتْ</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لأي يوم عظيم أُخّرت هذه الأمور؟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لِيَوْمِ الْفَصْلِ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ليوم الفصل بين الخلائق والقضاء بينهم.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يَوْمُ الْفَصْلِ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أعلمك بعظمة يوم الفصل وهوله؟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73352"/>
            <a:ext cx="548640" cy="548640"/>
          </a:xfrm>
          <a:prstGeom prst="star8">
            <a:avLst/>
          </a:prstGeom>
          <a:solidFill>
            <a:schemeClr val="accent2"/>
          </a:solidFill>
          <a:ln/>
        </p:spPr>
      </p:sp>
      <p:sp>
        <p:nvSpPr>
          <p:cNvPr id="6" name="Shape 4"/>
          <p:cNvSpPr/>
          <p:nvPr/>
        </p:nvSpPr>
        <p:spPr>
          <a:xfrm>
            <a:off x="11036808" y="17830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733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1655064"/>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 وتكررت هذه الآية عشر مرات في السورة للتهديد والتأكيد.</a:t>
            </a:r>
            <a:endParaRPr lang="ar-SA" sz="3200" dirty="0"/>
          </a:p>
        </p:txBody>
      </p:sp>
      <p:sp>
        <p:nvSpPr>
          <p:cNvPr id="9" name="Shape 7"/>
          <p:cNvSpPr/>
          <p:nvPr/>
        </p:nvSpPr>
        <p:spPr>
          <a:xfrm>
            <a:off x="2103120" y="3140964"/>
            <a:ext cx="8641080" cy="0"/>
          </a:xfrm>
          <a:prstGeom prst="line">
            <a:avLst/>
          </a:prstGeom>
          <a:noFill/>
          <a:ln w="9525">
            <a:solidFill>
              <a:schemeClr val="accent2"/>
            </a:solidFill>
            <a:prstDash val="dash"/>
          </a:ln>
        </p:spPr>
      </p:sp>
      <p:sp>
        <p:nvSpPr>
          <p:cNvPr id="10" name="Shape 8"/>
          <p:cNvSpPr/>
          <p:nvPr/>
        </p:nvSpPr>
        <p:spPr>
          <a:xfrm>
            <a:off x="10927080" y="3401568"/>
            <a:ext cx="548640" cy="548640"/>
          </a:xfrm>
          <a:prstGeom prst="star8">
            <a:avLst/>
          </a:prstGeom>
          <a:solidFill>
            <a:schemeClr val="accent2"/>
          </a:solidFill>
          <a:ln/>
        </p:spPr>
      </p:sp>
      <p:sp>
        <p:nvSpPr>
          <p:cNvPr id="11" name="Shape 9"/>
          <p:cNvSpPr/>
          <p:nvPr/>
        </p:nvSpPr>
        <p:spPr>
          <a:xfrm>
            <a:off x="11036808" y="35112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015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38328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نُهْلِكِ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نُهلك الأمم السابقة المكذبة، كقوم نوح وعاد وثمود؟</a:t>
            </a:r>
            <a:endParaRPr lang="ar-SA" sz="3200" dirty="0"/>
          </a:p>
        </p:txBody>
      </p:sp>
      <p:sp>
        <p:nvSpPr>
          <p:cNvPr id="14" name="Shape 12"/>
          <p:cNvSpPr/>
          <p:nvPr/>
        </p:nvSpPr>
        <p:spPr>
          <a:xfrm>
            <a:off x="2103120" y="4530852"/>
            <a:ext cx="8641080" cy="0"/>
          </a:xfrm>
          <a:prstGeom prst="line">
            <a:avLst/>
          </a:prstGeom>
          <a:noFill/>
          <a:ln w="9525">
            <a:solidFill>
              <a:schemeClr val="accent2"/>
            </a:solidFill>
            <a:prstDash val="dash"/>
          </a:ln>
        </p:spPr>
      </p:sp>
      <p:sp>
        <p:nvSpPr>
          <p:cNvPr id="15" name="Shape 13"/>
          <p:cNvSpPr/>
          <p:nvPr/>
        </p:nvSpPr>
        <p:spPr>
          <a:xfrm>
            <a:off x="10927080" y="4791456"/>
            <a:ext cx="548640" cy="548640"/>
          </a:xfrm>
          <a:prstGeom prst="star8">
            <a:avLst/>
          </a:prstGeom>
          <a:solidFill>
            <a:schemeClr val="accent2"/>
          </a:solidFill>
          <a:ln/>
        </p:spPr>
      </p:sp>
      <p:sp>
        <p:nvSpPr>
          <p:cNvPr id="16" name="Shape 14"/>
          <p:cNvSpPr/>
          <p:nvPr/>
        </p:nvSpPr>
        <p:spPr>
          <a:xfrm>
            <a:off x="11036808" y="490118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91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8" name="Text 16"/>
          <p:cNvSpPr txBox="1"/>
          <p:nvPr/>
        </p:nvSpPr>
        <p:spPr>
          <a:xfrm>
            <a:off x="731520" y="47731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نُتْبِعُهُمُ الْأخِرِينَ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نُلحق بهم من سار على طريقتهم من المكذبين بعدهم.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١٨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نَفْعَلُ بِالْمُجْرِمِينَ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مثل ذلك نفعل بكل مجرم.</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نَخْلُقكُّم مِّن مَّآءٍ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نخلقكم من ماء ضعيف حقير؟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فَجَعَلْنَٰهُ فِي قَرَارٍ مَّكِينٍ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فجعلناه في مكان حصين، وهو رحم الأم.</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قَدَرٍ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مدة معلومة، وهي مدة الحمل.</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فَقَدَرْنَا فَنِعْمَ الْقَٰدِرُونَ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فقدّرنا خلقه ومراحله، فنعم المقدّرون نحن.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٢٤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نَجْعَلِ الْأَرْضَ كِفَاتًا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نجعل الأرض تضمّ الناس وتجمعهم؟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أَحْيَآءً وَأَمْوَٰتًا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تضمهم أحياءً على ظهرها، وأمواتًا في بطنها.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وَجَعَلْنَا فِيهَا رَوَٰسِيَ شَٰمِخَٰتٍ وَأَسْقَيْنَٰكُم مَّآءً فُرَاتًا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وجعلنا فيها جبالًا ثابتة عالية، وسقيناكم ماءً عذبًا.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انطَلِقُواْ إِلَىٰ مَا كُنتُم بِهِ تُكَذِّبُونَ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للكفار يوم القيامة: اذهبوا إلى العذاب الذي كنتم تكذّبون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انطَلِقُواْ إِلَىٰ ظِلٍّ ذِي ثَلَٰثِ شُعَبٍ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اذهبوا إلى ظلٍّ من دخان جهنم، يتفرّق ثلاث فرق.</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ظَلِيلٍ وَلَا يُغْنِي مِنَ اللَّهَبِ</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يُظلّ من الحر، ولا يدفع عنهم لهب النار.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إِنَّهَا تَرْمِي بِشَرَرٍ كَالْقَصْرِ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النار ترمي بشرر عظيم، كل شررة كالبناء العالي.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كَأَنَّهُ جِمَٰلَتٌ صُفْرٌ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 الشرر جِمالٌ صُفر في لونها وكثرتها.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يَوْمُ لَا يَنطِقُونَ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يوم لا يتكلم فيه الكفار بحجة تنفعهم.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٣٦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يُؤْذَنُ لَهُمْ فَيَعْتَذِرُونَ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يُؤذن لهم في الاعتذار فيعتذرون.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هَٰذَا يَوْمُ الْفَصْلِ جَمَعْنَٰكُمْ وَالْأَوَّلِينَ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هذا يوم الفصل، جمعناكم أيها المكذبون مع الأمم السابقة.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فَإِن كَانَ لَكُمْ كَيْدٌ فَكِيدُونِ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فإن كانت لكم حيلة للنجاة من عذابي فافعلوها. وهذا تحدٍّ وتهديد.</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الْمُتَّقِينَ فِي ظِلَٰلٍ وَعُيُونٍ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المتقين في ظلال الأشجار وعيون الماء الجارية في الجنة.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٤٢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وَفَوَٰكِهَ مِمَّا يَشْتَهُونَ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وفواكه كثيرة مما يشتهون.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كُلُواْ وَاشْرَبُواْ هَنِيـًٔا بِمَا كُنتُمْ تَعْمَلُونَ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كلوا واشربوا هنيئًا بسبب أعمالكم الصالحة.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كَذَٰلِكَ نَجْزِي الْمُحْسِنِينَ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كذلك نجزي كل من أحسن العمل.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كُلُواْ وَتَمَتَّعُواْ قَلِيلًا إِنَّكُم مُّجْرِمُونَ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للمكذبين تهديدًا: تمتعوا في الدنيا قليلًا، فإنكم مجرمون مصيركم النار.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المرسلات</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٤٨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قِيلَ لَهُمُ ارْكَعُواْ لَا يَرْكَعُونَ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قيل للكفار: صلّوا لله، لا يصلّون.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وَيْلٌ يَوْمَئِذٍ لِّلْمُكَذِّبِينَ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وعذابٌ يومئذ للمكذّبين بهذا اليوم.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فَبِأَيِّ حَدِيثٍ بَعْدَهُ يُؤْمِنُونَ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لم يؤمنوا بهذا القرآن، فبأي كلام بعده يؤمنون؟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الإنسان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٣١</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مدنية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٧٦</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بيان خلق الإنسان واختباره، وصفات الأبرار ونعيمهم في الجنة. وكان النبي صلى الله عليه وسلم يقرؤها في فجر الجمعة (رواه مسلم).</a:t>
            </a:r>
            <a:endParaRPr lang="ar-SA"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73352"/>
            <a:ext cx="548640" cy="548640"/>
          </a:xfrm>
          <a:prstGeom prst="star8">
            <a:avLst/>
          </a:prstGeom>
          <a:solidFill>
            <a:schemeClr val="accent2"/>
          </a:solidFill>
          <a:ln/>
        </p:spPr>
      </p:sp>
      <p:sp>
        <p:nvSpPr>
          <p:cNvPr id="6" name="Shape 4"/>
          <p:cNvSpPr/>
          <p:nvPr/>
        </p:nvSpPr>
        <p:spPr>
          <a:xfrm>
            <a:off x="11036808" y="17830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733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6550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 أَتَىٰ عَلَى الْإِنسَٰنِ حِينٌ مِّنَ الدَّهْرِ لَمْ يَكُن شَيْـًٔا مَّذْكُورًا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قد مضى على الإنسان زمن طويل قبل أن يُخلق، لم يكن فيه شيئًا يُذكر.</a:t>
            </a:r>
            <a:endParaRPr lang="ar-SA" sz="3200" dirty="0"/>
          </a:p>
        </p:txBody>
      </p:sp>
      <p:sp>
        <p:nvSpPr>
          <p:cNvPr id="9" name="Shape 7"/>
          <p:cNvSpPr/>
          <p:nvPr/>
        </p:nvSpPr>
        <p:spPr>
          <a:xfrm>
            <a:off x="2103120" y="2802636"/>
            <a:ext cx="8641080" cy="0"/>
          </a:xfrm>
          <a:prstGeom prst="line">
            <a:avLst/>
          </a:prstGeom>
          <a:noFill/>
          <a:ln w="9525">
            <a:solidFill>
              <a:schemeClr val="accent2"/>
            </a:solidFill>
            <a:prstDash val="dash"/>
          </a:ln>
        </p:spPr>
      </p:sp>
      <p:sp>
        <p:nvSpPr>
          <p:cNvPr id="10" name="Shape 8"/>
          <p:cNvSpPr/>
          <p:nvPr/>
        </p:nvSpPr>
        <p:spPr>
          <a:xfrm>
            <a:off x="10927080" y="3063240"/>
            <a:ext cx="548640" cy="548640"/>
          </a:xfrm>
          <a:prstGeom prst="star8">
            <a:avLst/>
          </a:prstGeom>
          <a:solidFill>
            <a:schemeClr val="accent2"/>
          </a:solidFill>
          <a:ln/>
        </p:spPr>
      </p:sp>
      <p:sp>
        <p:nvSpPr>
          <p:cNvPr id="11" name="Shape 9"/>
          <p:cNvSpPr/>
          <p:nvPr/>
        </p:nvSpPr>
        <p:spPr>
          <a:xfrm>
            <a:off x="11036808" y="31729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632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044952"/>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خَلَقْنَا الْإِنسَٰنَ مِن نُّطْفَةٍ أَمْشَاجٍ نَّبْتَلِيهِ فَجَعَلْنَٰهُ سَمِيعًا بَصِيرًا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خلقنا الإنسان من ماء مختلط من الرجل والمرأة لنختبره بالأوامر والنواهي، وجعلناه يسمع ويبصر.</a:t>
            </a:r>
            <a:endParaRPr lang="ar-SA" sz="3200" dirty="0"/>
          </a:p>
        </p:txBody>
      </p:sp>
      <p:sp>
        <p:nvSpPr>
          <p:cNvPr id="14" name="Shape 12"/>
          <p:cNvSpPr/>
          <p:nvPr/>
        </p:nvSpPr>
        <p:spPr>
          <a:xfrm>
            <a:off x="2103120" y="4530852"/>
            <a:ext cx="8641080" cy="0"/>
          </a:xfrm>
          <a:prstGeom prst="line">
            <a:avLst/>
          </a:prstGeom>
          <a:noFill/>
          <a:ln w="9525">
            <a:solidFill>
              <a:schemeClr val="accent2"/>
            </a:solidFill>
            <a:prstDash val="dash"/>
          </a:ln>
        </p:spPr>
      </p:sp>
      <p:sp>
        <p:nvSpPr>
          <p:cNvPr id="15" name="Shape 13"/>
          <p:cNvSpPr/>
          <p:nvPr/>
        </p:nvSpPr>
        <p:spPr>
          <a:xfrm>
            <a:off x="10927080" y="4791456"/>
            <a:ext cx="548640" cy="548640"/>
          </a:xfrm>
          <a:prstGeom prst="star8">
            <a:avLst/>
          </a:prstGeom>
          <a:solidFill>
            <a:schemeClr val="accent2"/>
          </a:solidFill>
          <a:ln/>
        </p:spPr>
      </p:sp>
      <p:sp>
        <p:nvSpPr>
          <p:cNvPr id="16" name="Shape 14"/>
          <p:cNvSpPr/>
          <p:nvPr/>
        </p:nvSpPr>
        <p:spPr>
          <a:xfrm>
            <a:off x="11036808" y="490118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91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7731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هَدَيْنَٰهُ السَّبِيلَ إِمَّا شَاكِرًا وَإِمَّا كَفُورًا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بيّنا له طريق الخير والشر، فإما أن يكون شاكرًا مؤمنًا، وإما كافرًا جاحدًا.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أَعْتَدْنَا لِلْكَٰفِرِينَ سَلَٰسِلَاْ وَأَغْلَٰلًا وَسَعِيرًا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أعددنا للكافرين سلاسل تُقيّد بها أرجلهم، وأغلالًا في أعناقهم، ونارًا مشتعلة.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الْأَبْرَارَ يَشْرَبُونَ مِن كَأْسٍ كَانَ مِزَاجُهَا كَافُورًا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المؤمنين الأبرار يشربون في الجنة من كأس ممزوجة بالكافور الطيب البارد.</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عَيْنًا يَشْرَبُ بِهَا عِبَادُ اللَّهِ يُفَجِّرُونَهَا تَفْجِيرًا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وهي عين يشرب منها عباد الله، يُجرونها حيث شاؤوا.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73352"/>
            <a:ext cx="548640" cy="548640"/>
          </a:xfrm>
          <a:prstGeom prst="star8">
            <a:avLst/>
          </a:prstGeom>
          <a:solidFill>
            <a:schemeClr val="accent2"/>
          </a:solidFill>
          <a:ln/>
        </p:spPr>
      </p:sp>
      <p:sp>
        <p:nvSpPr>
          <p:cNvPr id="6" name="Shape 4"/>
          <p:cNvSpPr/>
          <p:nvPr/>
        </p:nvSpPr>
        <p:spPr>
          <a:xfrm>
            <a:off x="11036808" y="17830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733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655064"/>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يُوفُونَ بِالنَّذْرِ وَيَخَافُونَ يَوْمًا كَانَ شَرُّهُ مُسْتَطِيرًا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صفاتهم: يوفون بما أوجبوه على أنفسهم من الطاعات، ويخافون يوم القيامة الذي يعمّ شرّه.</a:t>
            </a:r>
            <a:endParaRPr lang="ar-SA" sz="3200" dirty="0"/>
          </a:p>
        </p:txBody>
      </p:sp>
      <p:sp>
        <p:nvSpPr>
          <p:cNvPr id="9" name="Shape 7"/>
          <p:cNvSpPr/>
          <p:nvPr/>
        </p:nvSpPr>
        <p:spPr>
          <a:xfrm>
            <a:off x="2103120" y="3140964"/>
            <a:ext cx="8641080" cy="0"/>
          </a:xfrm>
          <a:prstGeom prst="line">
            <a:avLst/>
          </a:prstGeom>
          <a:noFill/>
          <a:ln w="9525">
            <a:solidFill>
              <a:schemeClr val="accent2"/>
            </a:solidFill>
            <a:prstDash val="dash"/>
          </a:ln>
        </p:spPr>
      </p:sp>
      <p:sp>
        <p:nvSpPr>
          <p:cNvPr id="10" name="Shape 8"/>
          <p:cNvSpPr/>
          <p:nvPr/>
        </p:nvSpPr>
        <p:spPr>
          <a:xfrm>
            <a:off x="10927080" y="3401568"/>
            <a:ext cx="548640" cy="548640"/>
          </a:xfrm>
          <a:prstGeom prst="star8">
            <a:avLst/>
          </a:prstGeom>
          <a:solidFill>
            <a:schemeClr val="accent2"/>
          </a:solidFill>
          <a:ln/>
        </p:spPr>
      </p:sp>
      <p:sp>
        <p:nvSpPr>
          <p:cNvPr id="11" name="Shape 9"/>
          <p:cNvSpPr/>
          <p:nvPr/>
        </p:nvSpPr>
        <p:spPr>
          <a:xfrm>
            <a:off x="11036808" y="35112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015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38328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وَيُطْعِمُونَ الطَّعَامَ عَلَىٰ حُبِّهِ مِسْكِينًا وَيَتِيمًا وَأَسِيرًا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ويطعمون الطعام مع حبهم له وحاجتهم إليه: الفقير، واليتيم، والأسير.</a:t>
            </a:r>
            <a:endParaRPr lang="ar-SA" sz="3200" dirty="0"/>
          </a:p>
        </p:txBody>
      </p:sp>
      <p:sp>
        <p:nvSpPr>
          <p:cNvPr id="14" name="Shape 12"/>
          <p:cNvSpPr/>
          <p:nvPr/>
        </p:nvSpPr>
        <p:spPr>
          <a:xfrm>
            <a:off x="2103120" y="4530852"/>
            <a:ext cx="8641080" cy="0"/>
          </a:xfrm>
          <a:prstGeom prst="line">
            <a:avLst/>
          </a:prstGeom>
          <a:noFill/>
          <a:ln w="9525">
            <a:solidFill>
              <a:schemeClr val="accent2"/>
            </a:solidFill>
            <a:prstDash val="dash"/>
          </a:ln>
        </p:spPr>
      </p:sp>
      <p:sp>
        <p:nvSpPr>
          <p:cNvPr id="15" name="Shape 13"/>
          <p:cNvSpPr/>
          <p:nvPr/>
        </p:nvSpPr>
        <p:spPr>
          <a:xfrm>
            <a:off x="10927080" y="4791456"/>
            <a:ext cx="548640" cy="548640"/>
          </a:xfrm>
          <a:prstGeom prst="star8">
            <a:avLst/>
          </a:prstGeom>
          <a:solidFill>
            <a:schemeClr val="accent2"/>
          </a:solidFill>
          <a:ln/>
        </p:spPr>
      </p:sp>
      <p:sp>
        <p:nvSpPr>
          <p:cNvPr id="16" name="Shape 14"/>
          <p:cNvSpPr/>
          <p:nvPr/>
        </p:nvSpPr>
        <p:spPr>
          <a:xfrm>
            <a:off x="11036808" y="4901184"/>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914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7731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إِنَّمَا نُطْعِمُكُمْ لِوَجْهِ اللَّهِ لَا نُرِيدُ مِنكُمْ جَزَآءً وَلَا شُكُورًا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يقولون في أنفسهم: إنما نطعمكم ابتغاء وجه الله، لا نريد منكم مكافأة ولا ثناءً.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نَخَافُ مِن رَّبِّنَا يَوْمًا عَبُوسًا قَمْطَرِيرًا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نخاف من ربنا يومًا شديدًا تعبس فيه الوجوه من هوله.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فَوَقَىٰهُمُ اللَّهُ شَرَّ ذَٰلِكَ الْيَوْمِ وَلَقَّىٰهُمْ نَضْرَةً وَسُرُورًا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فحفظهم الله من شر ذلك اليوم، وأعطاهم حُسنًا في وجوههم وفرحًا في قلوبهم.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وَجَزَىٰهُم بِمَا صَبَرُواْ جَنَّةً وَحَرِيرًا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وجزاهم بصبرهم جنةً يدخلونها، وحريرًا يلبسونه.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مُّتَّكِـِٔينَ فِيهَا عَلَى الْأَرَآئِكِ لَا يَرَوْنَ فِيهَا شَمْسًا وَلَا زَمْهَرِيرًا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متكئين على الأسرّة المزيّنة، لا يجدون فيها حرّ الشمس ولا شدّة البرد.</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وَدَانِيَةً عَلَيْهِمْ ظِلَٰلُهَا وَذُلِّلَتْ قُطُوفُهَا تَذْلِيلًا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وظلال أشجارها قريبة منهم، وثمارها قريبة سهلة التناول.</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وَيُطَافُ عَلَيْهِم بِـَٔانِيَةٍ مِّن فِضَّةٍ وَأَكْوَابٍ كَانَتْ قَوَارِيرَا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ويدور عليهم الخدم بأوانٍ من فضة، وأكواب صافية كالزجاج.</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قَوَارِيرَاْ مِن فِضَّةٍ قَدَّرُوهَا تَقْدِيرًا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أكواب من فضة في صفاء الزجاج، قُدّرت على قدر ما يشتهون.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وَيُسْقَوْنَ فِيهَا كَأْسًا كَانَ مِزَاجُهَا زَنجَبِيلًا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ويُسقون في الجنة كأسًا ممزوجة بالزنجبيل.</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عَيْنًا فِيهَا تُسَمَّىٰ سَلْسَبِيلًا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عين في الجنة اسمها سلسبيل، لسهولة شربها وطيبها.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4203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وَيَطُوفُ عَلَيْهِمْ وِلْدَٰنٌ مُّخَلَّدُونَ إِذَا رَأَيْتَهُمْ حَسِبْتَهُمْ لُؤْلُؤًا مَّنثُورًا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ويخدمهم غلمان باقون على شبابهم، إذا رأيتهم ظننتهم لؤلؤًا منثورًا من حسنهم.</a:t>
            </a:r>
            <a:endParaRPr lang="ar-SA" sz="3200" dirty="0"/>
          </a:p>
        </p:txBody>
      </p:sp>
      <p:sp>
        <p:nvSpPr>
          <p:cNvPr id="9" name="Shape 7"/>
          <p:cNvSpPr/>
          <p:nvPr/>
        </p:nvSpPr>
        <p:spPr>
          <a:xfrm>
            <a:off x="2103120" y="2548128"/>
            <a:ext cx="8641080" cy="0"/>
          </a:xfrm>
          <a:prstGeom prst="line">
            <a:avLst/>
          </a:prstGeom>
          <a:noFill/>
          <a:ln w="9525">
            <a:solidFill>
              <a:schemeClr val="accent2"/>
            </a:solidFill>
            <a:prstDash val="dash"/>
          </a:ln>
        </p:spPr>
      </p:sp>
      <p:sp>
        <p:nvSpPr>
          <p:cNvPr id="10" name="Shape 8"/>
          <p:cNvSpPr/>
          <p:nvPr/>
        </p:nvSpPr>
        <p:spPr>
          <a:xfrm>
            <a:off x="10927080" y="2788920"/>
            <a:ext cx="548640" cy="548640"/>
          </a:xfrm>
          <a:prstGeom prst="star8">
            <a:avLst/>
          </a:prstGeom>
          <a:solidFill>
            <a:schemeClr val="accent2"/>
          </a:solidFill>
          <a:ln/>
        </p:spPr>
      </p:sp>
      <p:sp>
        <p:nvSpPr>
          <p:cNvPr id="11" name="Shape 9"/>
          <p:cNvSpPr/>
          <p:nvPr/>
        </p:nvSpPr>
        <p:spPr>
          <a:xfrm>
            <a:off x="11036808" y="28986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889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77063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رَأَيْتَ ثَمَّ رَأَيْتَ نَعِيمًا وَمُلْكًا كَبِيرًا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نظرت هناك في الجنة رأيت نعيمًا عظيمًا وملكًا واسعًا.</a:t>
            </a:r>
            <a:endParaRPr lang="ar-SA" sz="3200" dirty="0"/>
          </a:p>
        </p:txBody>
      </p:sp>
      <p:sp>
        <p:nvSpPr>
          <p:cNvPr id="14" name="Shape 12"/>
          <p:cNvSpPr/>
          <p:nvPr/>
        </p:nvSpPr>
        <p:spPr>
          <a:xfrm>
            <a:off x="2103120" y="3898392"/>
            <a:ext cx="8641080" cy="0"/>
          </a:xfrm>
          <a:prstGeom prst="line">
            <a:avLst/>
          </a:prstGeom>
          <a:noFill/>
          <a:ln w="9525">
            <a:solidFill>
              <a:schemeClr val="accent2"/>
            </a:solidFill>
            <a:prstDash val="dash"/>
          </a:ln>
        </p:spPr>
      </p:sp>
      <p:sp>
        <p:nvSpPr>
          <p:cNvPr id="15" name="Shape 13"/>
          <p:cNvSpPr/>
          <p:nvPr/>
        </p:nvSpPr>
        <p:spPr>
          <a:xfrm>
            <a:off x="10927080" y="4139184"/>
            <a:ext cx="548640" cy="548640"/>
          </a:xfrm>
          <a:prstGeom prst="star8">
            <a:avLst/>
          </a:prstGeom>
          <a:solidFill>
            <a:schemeClr val="accent2"/>
          </a:solidFill>
          <a:ln/>
        </p:spPr>
      </p:sp>
      <p:sp>
        <p:nvSpPr>
          <p:cNvPr id="16" name="Shape 14"/>
          <p:cNvSpPr/>
          <p:nvPr/>
        </p:nvSpPr>
        <p:spPr>
          <a:xfrm>
            <a:off x="11036808" y="424891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139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12089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عَٰلِيَهُمْ ثِيَابُ سُندُسٍ خُضْرٌ وَإِسْتَبْرَقٌ وَحُلُّواْ أَسَاوِرَ مِن فِضَّةٍ وَسَقَىٰهُمْ رَبُّهُمْ شَرَابًا طَهُورًا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عليهم ثياب من حرير أخضر رقيق وغليظ، ويُحلَّون بأساور من فضة، ويسقيهم ربهم شرابًا طاهرًا.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كَانَ لَكُمْ جَزَآءً وَكَانَ سَعْيُكُم مَّشْكُورًا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ويُقال لهم: إن هذا كان جزاءً لأعمالكم، وكان عملكم مقبولًا.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نَحْنُ نَزَّلْنَا عَلَيْكَ الْقُرْءَانَ تَنزِيلًا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نحن نزّلنا عليك يا محمد القرآن مفرّقًا.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لِحُكْمِ رَبِّكَ وَلَا تُطِعْ مِنْهُمْ ءَاثِمًا أَوْ كَفُورًا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على ما قدّره ربك، ولا تطع من الكفار من يدعوك إلى المعصية أو الكفر.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اسْمَ رَبِّكَ بُكْرَةً وَأَصِيلًا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ربك وصلِّ له أول النهار وآخره.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الَّيْلِ فَاسْجُدْ لَهُ وَسَبِّحْهُ لَيْلًا طَوِيلًا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 الليل فصلِّ له، وسبّحه ليلًا طويلًا.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هَـٰؤُلَآءِ يُحِبُّونَ الْعَاجِلَةَ وَيَذَرُونَ وَرَآءَهُمْ يَوْمًا ثَقِيلًا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يحبون الدنيا، ويتركون العمل ليوم القيامة الشديد.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٢٩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نَّحْنُ خَلَقْنَٰهُمْ وَشَدَدْنَآ أَسْرَهُمْ وَإِذَا شِئْنَا بَدَّلْنَآ أَمْثَٰلَهُمْ تَبْدِيلًا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نحن خلقناهم وقوّينا خلقهم، وإذا شئنا أهلكناهم وجئنا بقوم غيرهم.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هَٰذِهِ تَذْكِرَةٌ فَمَن شَآءَ اتَّخَذَ إِلَىٰ رَبِّهِ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هذه السورة موعظة، فمن شاء اتخذ طريقًا إلى ربه بطاعته.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الإنسان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٣٠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تَشَآءُونَ إِلَّآ أَن يَشَآءَ اللَّهُ إِنَّ اللَّهَ كَانَ عَلِيمًا حَكِيمًا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تشاؤون شيئًا إلا أن يشاء الله، إنه عليم بخلقه، حكيم في أفعاله.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يُدْخِلُ مَن يَشَآءُ فِي رَحْمَتِهِ وَالظَّـٰلِمِينَ أَعَدَّ لَهُمْ 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يُدخل من يشاء في رحمته وجنته، والظالمون أعدّ لهم عذابًا مؤلمًا.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القيامة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٤٠</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٧٥</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كان النبي صلى الله عليه وسلم إذا نزل عليه جبريل بالوحي يحرّك لسانه وشفتيه مستعجلًا ليحفظه، فأنزل الله: ﴿لا تحرك به لسانك لتعجل به﴾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البعث ويوم القيامة، ومحاسبة الإنسان على أعماله، وأحوال الاحتضار.</a:t>
            </a:r>
            <a:endParaRPr lang="ar-SA" sz="1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أُقْسِمُ بِيَوْمِ الْقِيَٰمَةِ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أقسم الله بيوم القيامة. و«لا» هنا لتأكيد القسم والرد على المنكرين.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أُقْسِمُ بِالنَّفْسِ اللَّوَّامَةِ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وأقسم بالنفس التي تلوم صاحبها على التقصير في الخير وعلى فعل الشر.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أَيَحْسَبُ الْإِنسَٰنُ أَلَّن نَّجْمَعَ عِظَامَهُ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أيظن الإنسان أن لن نجمع عظامه بعد أن تتفرّق في التراب؟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بَلَىٰ قَٰدِرِينَ عَلَىٰ أَن نُّسَوِّيَ بَنَانَهُ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بلى، نجمعها، ونحن قادرون على أن نعيد أطراف أصابعه كما كانت.</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يُرِيدُ الْإِنسَٰنُ لِيَفْجُرَ أَمَامَهُ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يريد الإنسان أن يستمر في المعاصي فيما بقي من عمره.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يَسْـَٔلُ أَيَّانَ يَوْمُ الْقِيَٰمَةِ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 مستبعدًا: متى يوم القيامة؟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بَرِقَ الْبَصَرُ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تحيّر البصر واندهش من الهول.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وَخَسَفَ الْقَمَرُ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وذهب ضوء القمر.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وَجُمِعَ الشَّمْسُ وَالْقَمَرُ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وجُمع بين الشمس والقمر فذهب نورهما.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يَقُولُ الْإِنسَٰنُ يَوْمَئِذٍ أَيْنَ الْمَفَرُّ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الإنسان يومئذ: أين المهرب؟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لَا وَزَرَ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لا ملجأ ولا مهرب.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رَبِّكَ يَوْمَئِذٍ الْمُسْتَقَرُّ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ربك وحده يومئذ المرجع والمصير.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يُنَبَّؤُاْ الْإِنسَٰنُ يَوْمَئِذٍ بِمَا قَدَّمَ وَأَخَّرَ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يُخبَر الإنسان يومئذ بجميع أعماله، ما عمله أولًا وما عمله آخرًا.</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الْإِنسَٰنُ عَلَىٰ نَفْسِهِ بَصِيرَةٌ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الإنسان شاهد على نفسه، يعلم ما عمل.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أَلْقَىٰ مَعَاذِيرَهُ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جاء بالأعذار يدافع بها عن نفسه، فلن تُقبل.</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تُحَرِّكْ بِهِ لِسَانَكَ لِتَعْجَلَ بِهِ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تحرّك يا محمد لسانك بالقرآن عند نزوله مستعجلًا لحفظه.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عَلَيْنَا جَمْعَهُ وَقُرْءَانَهُ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علينا أن نجمعه في صدرك، وأن تقرأه.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قَرَأْنَٰهُ فَاتَّبِعْ قُرْءَانَهُ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قرأه عليك جبريل فاستمع لقراءته، ثم اقرأه كما سمعته.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 عَلَيْنَا بَيَانَهُ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إن علينا بيان معانيه وأحكامه.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بَلْ تُحِبُّونَ الْعَاجِلَةَ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بل تحبون الدنيا الفانية.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وَتَذَرُونَ الْأخِرَةَ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وتتركون العمل للآخرة.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وُجُوهٌ يَوْمَئِذٍ نَّاضِرَةٌ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وجوه المؤمنين يومئذ حسنة مشرقة.</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رَبِّهَا نَاظِرَةٌ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تنظر إلى ربها عيانًا، كما في الصحيحين: «إنكم سترون ربكم كما ترون القمر».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وَوُجُوهٌ يَوْمَئِذٍ بَاسِرَةٌ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ووجوه الكفار يومئذ عابسة كالحة.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تَظُنُّ أَن يُفْعَلَ بِهَا فَاقِرَةٌ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تتوقع أن تنزل بها مصيبة عظيمة تكسر فقار الظهر.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إِذَا بَلَغَتِ التَّرَاقِيَ</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إذا وصلت الروح عند الموت إلى أعلى الصدر.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وَقِيلَ مَنْ رَاقٍ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وقيل: من يرقيه ويشفيه؟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وَظَنَّ أَنَّهُ الْفِرَاقُ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وأيقن المحتضر أنه فراق الدنيا.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وَالْتَفَّتِ السَّاقُ بِالسَّاقِ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واجتمعت عليه شدة فراق الدنيا وشدة استقبال الآخرة.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إِلَىٰ رَبِّكَ يَوْمَئِذٍ الْمَسَاقُ</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إلى ربك يومئذ يُساق العباد.</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صَدَّقَ وَلَا صَلَّىٰ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فهذا الكافر لا صدّق بالرسول، ولا صلّى 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وَلَٰكِن كَذَّبَ وَتَوَلَّىٰ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ولكن كذّب بالحق، وأعرض عن الطاعة.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ذَهَبَ إِلَىٰ أَهْلِهِ يَتَمَطَّىٰ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ذهب إلى أهله يمشي متبخترًا متكبرًا.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أَوْلَىٰ لَكَ فَأَوْلَىٰ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هلاكٌ لك ثم هلاك. وهو تهديد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أَوْلَىٰ لَكَ فَأَوْلَىٰ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هلاكٌ لك ثم هلاك. تأكيد للتهديد.</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أَيَحْسَبُ الْإِنسَٰنُ أَن يُتْرَكَ سُدًى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أيظن الإنسان أن يُترك مهملًا، لا يُؤمر ولا يُنهى ولا يُحاسب؟</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يَكُ نُطْفَةً مِّن مَّنِيٍّ يُمْنَىٰ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يكن نطفة من ماء يُصبّ في الرحم؟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القيامة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673352"/>
            <a:ext cx="548640" cy="548640"/>
          </a:xfrm>
          <a:prstGeom prst="star8">
            <a:avLst/>
          </a:prstGeom>
          <a:solidFill>
            <a:schemeClr val="accent2"/>
          </a:solidFill>
          <a:ln/>
        </p:spPr>
      </p:sp>
      <p:sp>
        <p:nvSpPr>
          <p:cNvPr id="6" name="Shape 4"/>
          <p:cNvSpPr/>
          <p:nvPr/>
        </p:nvSpPr>
        <p:spPr>
          <a:xfrm>
            <a:off x="11036808" y="178308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6733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6550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كَانَ عَلَقَةً فَخَلَقَ فَسَوَّىٰ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صار علقة، فخلقه الله وسوّى أعضاءه.</a:t>
            </a:r>
            <a:endParaRPr lang="ar-SA" sz="3200" dirty="0"/>
          </a:p>
        </p:txBody>
      </p:sp>
      <p:sp>
        <p:nvSpPr>
          <p:cNvPr id="9" name="Shape 7"/>
          <p:cNvSpPr/>
          <p:nvPr/>
        </p:nvSpPr>
        <p:spPr>
          <a:xfrm>
            <a:off x="2103120" y="2802636"/>
            <a:ext cx="8641080" cy="0"/>
          </a:xfrm>
          <a:prstGeom prst="line">
            <a:avLst/>
          </a:prstGeom>
          <a:noFill/>
          <a:ln w="9525">
            <a:solidFill>
              <a:schemeClr val="accent2"/>
            </a:solidFill>
            <a:prstDash val="dash"/>
          </a:ln>
        </p:spPr>
      </p:sp>
      <p:sp>
        <p:nvSpPr>
          <p:cNvPr id="10" name="Shape 8"/>
          <p:cNvSpPr/>
          <p:nvPr/>
        </p:nvSpPr>
        <p:spPr>
          <a:xfrm>
            <a:off x="10927080" y="3063240"/>
            <a:ext cx="548640" cy="548640"/>
          </a:xfrm>
          <a:prstGeom prst="star8">
            <a:avLst/>
          </a:prstGeom>
          <a:solidFill>
            <a:schemeClr val="accent2"/>
          </a:solidFill>
          <a:ln/>
        </p:spPr>
      </p:sp>
      <p:sp>
        <p:nvSpPr>
          <p:cNvPr id="11" name="Shape 9"/>
          <p:cNvSpPr/>
          <p:nvPr/>
        </p:nvSpPr>
        <p:spPr>
          <a:xfrm>
            <a:off x="11036808" y="31729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632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04495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فَجَعَلَ مِنْهُ الزَّوْجَيْنِ الذَّكَرَ وَالْأُنثَىٰ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فجعل منه الصنفين: الذكر والأنثى.</a:t>
            </a:r>
            <a:endParaRPr lang="ar-SA" sz="3200" dirty="0"/>
          </a:p>
        </p:txBody>
      </p:sp>
      <p:sp>
        <p:nvSpPr>
          <p:cNvPr id="14" name="Shape 12"/>
          <p:cNvSpPr/>
          <p:nvPr/>
        </p:nvSpPr>
        <p:spPr>
          <a:xfrm>
            <a:off x="2103120" y="4192524"/>
            <a:ext cx="8641080" cy="0"/>
          </a:xfrm>
          <a:prstGeom prst="line">
            <a:avLst/>
          </a:prstGeom>
          <a:noFill/>
          <a:ln w="9525">
            <a:solidFill>
              <a:schemeClr val="accent2"/>
            </a:solidFill>
            <a:prstDash val="dash"/>
          </a:ln>
        </p:spPr>
      </p:sp>
      <p:sp>
        <p:nvSpPr>
          <p:cNvPr id="15" name="Shape 13"/>
          <p:cNvSpPr/>
          <p:nvPr/>
        </p:nvSpPr>
        <p:spPr>
          <a:xfrm>
            <a:off x="10927080" y="4453128"/>
            <a:ext cx="548640" cy="548640"/>
          </a:xfrm>
          <a:prstGeom prst="star8">
            <a:avLst/>
          </a:prstGeom>
          <a:solidFill>
            <a:schemeClr val="accent2"/>
          </a:solidFill>
          <a:ln/>
        </p:spPr>
      </p:sp>
      <p:sp>
        <p:nvSpPr>
          <p:cNvPr id="16" name="Shape 14"/>
          <p:cNvSpPr/>
          <p:nvPr/>
        </p:nvSpPr>
        <p:spPr>
          <a:xfrm>
            <a:off x="11036808" y="4562856"/>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45312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434840"/>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أَلَيْسَ ذَٰلِكَ بِقَٰدِرٍ عَلَىٰ أَن يُحْـِيَ الْمَوْتَىٰ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أليس الذي خلق ذلك بقادر على أن يحيي الموتى؟ بلى. وكان النبي صلى الله عليه وسلم إذا قرأها قال: «سبحانك فبلى».</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المدثر</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٥٦</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٧٤</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جابر بن عبد الله: حدّث النبي صلى الله عليه وسلم أنه بعد فترة من انقطاع الوحي رأى المَلَك جالسًا على كرسي بين السماء والأرض، فرجع إلى أهله فقال: «زمّلوني، دثّروني»، فأنزل الله: ﴿يا أيها المدثر﴾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أمر النبي صلى الله عليه وسلم بالإنذار والدعوة، وبيان مصير المكذبين وأحوال أهل النار.</a:t>
            </a:r>
            <a:endParaRPr lang="ar-SA" sz="1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الْمُدَّثِّرُ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المتغطّي بثيابه، وهو النبي صلى الله عليه وسلم.</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قُمْ فَأَنذِرْ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قم فخوّف الناس من عذاب الله.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وَرَبَّكَ فَكَبِّرْ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وعظّم ربك.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وَثِيَابَكَ فَطَهِّرْ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وطهّر ثيابك من النجاسة، وطهّر نفسك من الذنوب.</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وَالرُّجْزَ فَاهْجُرْ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واترك عبادة الأصنام والمعاصي.</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تَمْنُن تَسْتَكْثِرُ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تُعطِ العطية لتطلب أكثر منها، كما قال ابن عباس.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وَلِرَبِّكَ فَاصْبِرْ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واصبر لوجه ربك على أذى المشركين وعلى الطاعة.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نُقِرَ فِي النَّاقُورِ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نُفخ في الصور.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فَذَٰلِكَ يَوْمَئِذٍ يَوْمٌ عَسِيرٌ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فذلك اليوم يوم شديد.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الْكَٰفِرِينَ غَيْرُ يَسِيرٍ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الكافرين غير سهل.</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ذَرْنِي وَمَنْ خَلَقْتُ وَحِيدًا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اتركني يا محمد مع من خلقته وحيدًا في بطن أمه بلا مال ولا ولد، وهو الوليد بن المغيرة.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وَجَعَلْتُ لَهُ مَالًا مَّمْدُودًا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وأعطيته مالًا كثيرًا واسعًا.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وَبَنِينَ شُهُودًا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وأولادًا حاضرين معه لا يغيبون عنه.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وَمَهَّدتُّ لَهُ تَمْهِيدًا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ويسّرت له أسباب العيش والجاه.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يَطْمَعُ أَنْ أَزِيدَ</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يطمع أن أزيده مع كفره.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إِنَّهُ كَانَ لِأيَٰتِنَا عَنِيدًا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لن أزيده؛ إنه كان معاندًا للقرآن.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سَأُرْهِقُهُ صَعُودًا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سأكلّفه مشقة من العذاب لا راحة فيها.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فَكَّرَ وَقَدَّرَ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فكّر في القرآن، ودبّر ما يقوله ليطعن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فَقُتِلَ كَيْفَ قَدَّرَ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فلُعن، كيف دبّر هذا الطعن!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قُتِلَ كَيْفَ قَدَّرَ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لُعن، كيف دبّر!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نَظَرَ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تأمّل فيما قال.</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عَبَسَ وَبَسَرَ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قطّب وجهه وكلح.</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أَدْبَرَ وَاسْتَكْبَرَ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أعرض عن الحق وتكبّر عن قبوله.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فَقَالَ إِنْ هَٰذَآ إِلَّا سِحْرٌ يُؤْثَرُ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فقال: ما هذا القرآن إلا سحر يُنقل عن السحرة السابقين.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هَٰذَآ إِلَّا قَوْلُ الْبَشَرِ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هذا إلا كلام البشر.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سَأُصْلِيهِ سَقَرَ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سأُدخله سقر، وهي من أسماء جهنم.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سَقَرُ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أعلمك ما سقر؟ تعظيمٌ لهولها.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تُبْقِي وَلَا تَذَرُ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تُبقي شيئًا ممن يدخلها، ولا تتركه.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لَوَّاحَةٌ لِّلْبَشَرِ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تحرق الجلود وتغيّرها.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عَلَيْهَا تِسْعَةَ عَشَرَ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عليها تسعة عشر من الملائكة، هم خزنتها.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٣١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64742"/>
            <a:ext cx="548640" cy="548640"/>
          </a:xfrm>
          <a:prstGeom prst="star8">
            <a:avLst/>
          </a:prstGeom>
          <a:solidFill>
            <a:schemeClr val="accent2"/>
          </a:solidFill>
          <a:ln/>
        </p:spPr>
      </p:sp>
      <p:sp>
        <p:nvSpPr>
          <p:cNvPr id="6" name="Shape 4"/>
          <p:cNvSpPr/>
          <p:nvPr/>
        </p:nvSpPr>
        <p:spPr>
          <a:xfrm>
            <a:off x="11036808" y="1474470"/>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6474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8" name="Text 6"/>
          <p:cNvSpPr txBox="1"/>
          <p:nvPr/>
        </p:nvSpPr>
        <p:spPr>
          <a:xfrm>
            <a:off x="731520" y="1346454"/>
            <a:ext cx="10012680" cy="346557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جَعَلْنَآ أَصْحَٰبَ النَّارِ إِلَّا مَلَـٰئِكَةً وَمَا جَعَلْنَا عِدَّتَهُمْ إِلَّا فِتْنَةً لِّلَّذِينَ كَفَرُواْ لِيَسْتَيْقِنَ الَّذِينَ أُوتُواْ الْكِتَٰبَ وَيَزْدَادَ الَّذِينَ ءَامَنُواْ إِيمَٰنًا وَلَا يَرْتَابَ الَّذِينَ أُوتُواْ الْكِتَٰبَ وَالْمُؤْمِنُونَ وَلِيَقُولَ الَّذِينَ فِي قُلُوبِهِم مَّرَضٌ وَالْكَٰفِرُونَ مَاذَآ أَرَادَ اللَّهُ بِهَٰذَا مَثَلًا كَذَٰلِكَ يُضِلُّ اللَّهُ مَن يَشَآءُ وَيَهْدِي مَن يَشَآءُ وَمَا يَعْلَمُ جُنُودَ رَبِّكَ إِلَّا هُوَ وَمَا هِيَ إِلَّا ذِكْرَىٰ لِلْبَشَرِ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جعلنا خزنة النار إلا ملائكة أقوياء، وجعلنا عددهم اختبارًا للكفار، وليزداد المؤمنون إيمانًا، وما يعلم جنود ربك إلا هو.</a:t>
            </a:r>
            <a:endParaRPr lang="ar-SA" sz="3200" dirty="0"/>
          </a:p>
        </p:txBody>
      </p:sp>
      <p:sp>
        <p:nvSpPr>
          <p:cNvPr id="9" name="Shape 7"/>
          <p:cNvSpPr/>
          <p:nvPr/>
        </p:nvSpPr>
        <p:spPr>
          <a:xfrm>
            <a:off x="2103120" y="4933188"/>
            <a:ext cx="8641080" cy="0"/>
          </a:xfrm>
          <a:prstGeom prst="line">
            <a:avLst/>
          </a:prstGeom>
          <a:noFill/>
          <a:ln w="9525">
            <a:solidFill>
              <a:schemeClr val="accent2"/>
            </a:solidFill>
            <a:prstDash val="dash"/>
          </a:ln>
        </p:spPr>
      </p:sp>
      <p:sp>
        <p:nvSpPr>
          <p:cNvPr id="10" name="Shape 8"/>
          <p:cNvSpPr/>
          <p:nvPr/>
        </p:nvSpPr>
        <p:spPr>
          <a:xfrm>
            <a:off x="10927080" y="5100066"/>
            <a:ext cx="548640" cy="548640"/>
          </a:xfrm>
          <a:prstGeom prst="star8">
            <a:avLst/>
          </a:prstGeom>
          <a:solidFill>
            <a:schemeClr val="accent2"/>
          </a:solidFill>
          <a:ln/>
        </p:spPr>
      </p:sp>
      <p:sp>
        <p:nvSpPr>
          <p:cNvPr id="11" name="Shape 9"/>
          <p:cNvSpPr/>
          <p:nvPr/>
        </p:nvSpPr>
        <p:spPr>
          <a:xfrm>
            <a:off x="11036808" y="520979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510006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13" name="Text 11"/>
          <p:cNvSpPr txBox="1"/>
          <p:nvPr/>
        </p:nvSpPr>
        <p:spPr>
          <a:xfrm>
            <a:off x="731520" y="508177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وَالْقَمَرِ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وأقسم بالقمر.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وَالَّيْلِ إِذْ أَدْبَرَ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وبالليل إذا ذهب.</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وَالصُّبْحِ إِذَآ أَسْفَرَ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وبالصبح إذا أضاء.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إِنَّهَا لَإِحْدَى الْكُبَرِ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النار لإحدى الأمور العظيمة.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نَذِيرًا لِّلْبَشَرِ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إنذارًا وتخويفًا للناس.</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٣٨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لِمَن شَآءَ مِنكُمْ أَن يَتَقَدَّمَ أَوْ يَتَأَخَّرَ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لمن شاء منكم أن يتقدّم إلى الطاعة، أو يتأخر عنها.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 نَفْسٍ بِمَا كَسَبَتْ رَهِينَةٌ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 نفس محبوسة بعملها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٣٩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أَصْحَٰبَ 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المؤمنين أصحاب اليمين، فقد فكّوا أنفسهم بأعمالهم الصالحة.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جَنَّـٰتٍ يَتَسَآءَلُونَ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هم في جنات يسأل بعضهم بعضًا.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عَنِ 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 حال المجرمين.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سَلَكَكُمْ فِي سَقَرَ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يسألونهم: ما الذي أدخلكم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٤٣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لَمْ نَكُ مِنَ الْمُصَلِّينَ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لم نكن من المصلّين.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 نَكُ نُطْعِمُ الْمِسْكِينَ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 نكن نطعم الفقير.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٤٥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وَكُنَّا نَخُوضُ مَعَ الْخَآئِضِينَ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وكنا نتكلم في الباطل مع أهله.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وَكُنَّا نُكَذِّبُ بِيَوْمِ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وكنا نكذّب بيوم الجزاء.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أَتَىٰنَا الْيَقِينُ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جاءنا الموت.</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تَنفَعُهُمْ شَفَٰعَةُ الشَّـٰفِعِينَ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تنفعهم شفاعة أحد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٤٩ – ٥٠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لَهُمْ عَنِ التَّذْكِرَةِ مُعْرِضِينَ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لهؤلاء الكفار يُعرضون عن القرآن؟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كَأَنَّهُمْ حُمُرٌ مُّسْتَنفِرَةٌ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كأنهم حُمُرٌ وحشية شديدة النفور.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٥١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فَرَّتْ مِن قَسْوَرَةٍ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هربت من الأسد، وقيل: من الرماة.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يُرِيدُ كُلُّ امْرِيٍٕ مِّنْهُمْ أَن يُؤْتَىٰ صُحُفًا مُّنَشَّرَةً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بل يريد كل واحد منهم أن يُنزل عليه كتاب مفتوح من السماء.</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٥٣ – ٥٤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٥٣</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بَل لَّا يَخَافُونَ الْأخِرَةَ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بل هم لا يخافون الآخرة، فلذلك أعرضوا.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٥٤</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إِنَّهُ تَذْكِرَةٌ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إن هذا القرآن موعظة.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المدثر</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٥٥ – ٥٦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٥٥</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شَآءَ ذَكَرَهُ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شاء اتّعظ به.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٥٦</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يَذْكُرُونَ إِلَّآ أَن يَشَآءَ اللَّهُ هُوَ أَهْلُ التَّقْوَىٰ وَأَهْلُ الْمَغْفِرَةِ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يتّعظون إلا أن يشاء الله، هو أهلٌ أن يُتّقى ويُخاف، وأهلٌ أن يغفر لمن تاب.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المزمل</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٢٠</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٧٣</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قالت عائشة رضي الله عنها: إن الله افترض قيام الليل في أول هذه السورة، فقام النبي صلى الله عليه وسلم وأصحابه حولًا، ثم أنزل الله التخفيف في آخرها، فصار قيام الليل تطوّعًا (رواه 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الأمر بقيام الليل وترتيل القرآن، والصبر على أذى المكذبين، ثم التخفيف على المؤمنين.</a:t>
            </a:r>
            <a:endParaRPr lang="ar-SA" sz="1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يَـٰأَيُّهَا الْمُزَّمِّلُ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أيها المتلفّف بثيابه، وهو النبي صلى الله عليه وسلم.</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قُمِ الَّيْلَ إِلَّا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قم الليل للصلاة إلا قليلًا منه.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نِّصْفَهُ أَوِ انقُصْ مِنْهُ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قم نصف الليل، أو أنقص منه قليلًا.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 زِدْ عَلَيْهِ وَرَتِّلِ الْقُرْءَانَ تَرْتِيلًا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 زد على النصف، واقرأ القرآن بتمهّل وتدبّر.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سَنُلْقِي عَلَيْكَ قَوْلًا ثَقِيلًا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سننزل عليك قرآنًا عظيمًا ثقيلًا في العمل به.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نَاشِئَةَ الَّيْلِ هِيَ أَشَدُّ وَطْـًٔا وَأَقْوَمُ قِيلًا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قيام الليل أشد اجتماعًا للقلب مع اللسان، وأصوب للقراءة.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لَكَ فِي النَّهَارِ سَبْحًا طَوِيلًا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لك في النهار انشغالًا طويلًا بأمور الحياة.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وَاذْكُرِ اسْمَ رَبِّكَ وَتَبَتَّلْ إِلَيْهِ تَبْتِيلًا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واذكر ربك، وانقطع إليه بالعبادة انقطاعًا تامًا.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الْمَشْرِقِ وَالْمَغْرِبِ لَآ إِلَٰهَ إِلَّا هُوَ فَاتَّخِذْهُ وَكِيلًا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ربّ المشرق والمغرب، لا معبود بحق إلا هو، فتوكّل عليه.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وَاصْبِرْ عَلَىٰ مَا يَقُولُونَ وَاهْجُرْهُمْ هَجْرًا جَمِيلًا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واصبر على ما يقوله المكذبون، واتركهم تركًا لا أذى فيه.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وَذَرْنِي وَالْمُكَذِّبِينَ أُوْلِي النَّعْمَةِ وَمَهِّلْهُمْ قَلِيلًا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واتركني والمكذبين أصحاب النعيم، وأمهلهم قليلًا.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لَدَيْنَآ أَنكَالًا وَجَحِيمًا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عندنا لهم قيودًا ونارًا مشتعلة.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وَطَعَامًا ذَا غُصَّةٍ وَعَذَابًا أَلِيمًا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وطعامًا يغصّ به آكله، وعذابًا مؤلمًا.</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تَرْجُفُ الْأَرْضُ وَالْجِبَالُ وَكَانَتِ الْجِبَالُ كَثِيبًا مَّهِيلًا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تضطرب الأرض والجبال، وتصير الجبال رملًا متناثرًا.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١٥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أَرْسَلْنَآ إِلَيْكُمْ رَسُولًا شَٰهِدًا عَلَيْكُمْ كَمَآ أَرْسَلْنَآ إِلَىٰ فِرْعَوْنَ رَسُولًا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أرسلنا إليكم محمدًا صلى الله عليه وسلم شاهدًا على أعمالكم، كما أرسلنا موسى إلى فرعون.</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فَعَصَىٰ فِرْعَوْنُ الرَّسُولَ فَأَخَذْنَٰهُ أَخْذًا وَبِيلًا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فعصى فرعون موسى، فأهلكناه إهلاكًا شديدًا.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فَكَيْفَ تَتَّقُونَ إِن كَفَرْتُمْ يَوْمًا يَجْعَلُ الْوِلْدَٰنَ شِيبًا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فكيف تحمون أنفسكم إن كفرتم من يوم يشيب فيه الصغار من شدة هوله؟</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السَّمَآءُ مُنفَطِرٌ بِهِ كَانَ وَعْدُهُ مَفْعُولًا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السماء تتشقق فيه من شدته، ووعد الله واقع لا محالة.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3232404"/>
            <a:ext cx="548640" cy="548640"/>
          </a:xfrm>
          <a:prstGeom prst="star8">
            <a:avLst/>
          </a:prstGeom>
          <a:solidFill>
            <a:schemeClr val="accent2"/>
          </a:solidFill>
          <a:ln/>
        </p:spPr>
      </p:sp>
      <p:sp>
        <p:nvSpPr>
          <p:cNvPr id="6" name="Shape 4"/>
          <p:cNvSpPr/>
          <p:nvPr/>
        </p:nvSpPr>
        <p:spPr>
          <a:xfrm>
            <a:off x="11036808" y="33421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هَٰذِهِ تَذْكِرَةٌ فَمَن شَآءَ اتَّخَذَ إِلَىٰ رَبِّهِ سَبِيلًا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هذه الآيات موعظة، فمن شاء اتخذ طريقًا إلى ربه.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المزمل</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الآية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4168"/>
            <a:ext cx="548640" cy="548640"/>
          </a:xfrm>
          <a:prstGeom prst="star8">
            <a:avLst/>
          </a:prstGeom>
          <a:solidFill>
            <a:schemeClr val="accent2"/>
          </a:solidFill>
          <a:ln/>
        </p:spPr>
      </p:sp>
      <p:sp>
        <p:nvSpPr>
          <p:cNvPr id="6" name="Shape 4"/>
          <p:cNvSpPr/>
          <p:nvPr/>
        </p:nvSpPr>
        <p:spPr>
          <a:xfrm>
            <a:off x="11036808" y="145389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41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325880"/>
            <a:ext cx="10012680" cy="4901184"/>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يَعْلَمُ أَنَّكَ تَقُومُ أَدْنَىٰ مِن ثُلُثَيِ الَّيْلِ وَنِصْفَهُ وَثُلُثَهُ وَطَآئِفَةٌ مِّنَ الَّذِينَ مَعَكَ وَاللَّهُ يُقَدِّرُ الَّيْلَ وَالنَّهَارَ عَلِمَ أَن لَّن تُحْصُوهُ فَتَابَ عَلَيْكُمْ فَاقْرَءُواْ مَا تَيَسَّرَ مِنَ الْقُرْءَانِ عَلِمَ أَن سَيَكُونُ مِنكُم مَّرْضَىٰ وَءَاخَرُونَ يَضْرِبُونَ فِي الْأَرْضِ يَبْتَغُونَ مِن فَضْلِ اللَّهِ وَءَاخَرُونَ يُقَٰتِلُونَ فِي سَبِيلِ اللَّهِ فَاقْرَءُواْ مَا تَيَسَّرَ مِنْهُ وَأَقِيمُواْ الصَّلَوٰةَ وَءَاتُواْ الزَّكَوٰةَ وَأَقْرِضُواْ اللَّهَ قَرْضًا حَسَنًا وَمَا تُقَدِّمُواْ لِأَنفُسِكُم مِّنْ خَيْرٍ تَجِدُوهُ عِندَ اللَّهِ هُوَ خَيْرًا وَأَعْظَمَ أَجْرًا وَاسْتَغْفِرُواْ اللَّهَ إِنَّ اللَّهَ غَفُورٌ رَّحِيمٌ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يعلم أنك تقوم أحيانًا قريبًا من ثلثي الليل، وأحيانًا نصفه أو ثلثه، فخفّف الله عنكم: فاقرؤوا ما تيسّر من القرآن، وأقيموا الصلاة وآتوا الزكاة، وما تقدّموا من خير تجدوه عند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الجن</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٧٢</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قال ابن عباس: انطلق النبي صلى الله عليه وسلم مع أصحابه إلى سوق عُكاظ، فصلّى بهم الفجر في الطريق، فاستمع إليه نفر من الجن فآمنوا، فأنزل الله: ﴿قل أوحي إلي أنه استمع نفر من الجن﴾ (رواه البخاري ومسلم).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إيمان طائفة من الجن بالقرآن، وتقرير التوحيد، وأن علم الغيب لله وحده.</a:t>
            </a:r>
            <a:endParaRPr lang="ar-SA"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420368"/>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أُوحِيَ إِلَيَّ أَنَّهُ اسْتَمَعَ نَفَرٌ مِّنَ الْجِنِّ فَقَالُواْ إِنَّا سَمِعْنَا قُرْءَانًا عَجَبًا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يا محمد: أوحى الله إليّ أن جماعة من الجن استمعوا لقراءتي، فقالوا: سمعنا قرآنًا عجيبًا.</a:t>
            </a:r>
            <a:endParaRPr lang="ar-SA" sz="3200" dirty="0"/>
          </a:p>
        </p:txBody>
      </p:sp>
      <p:sp>
        <p:nvSpPr>
          <p:cNvPr id="9" name="Shape 7"/>
          <p:cNvSpPr/>
          <p:nvPr/>
        </p:nvSpPr>
        <p:spPr>
          <a:xfrm>
            <a:off x="2103120" y="3435096"/>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65760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يَهْدِي إِلَى الرُّشْدِ فَـَٔامَنَّا بِهِ وَلَن نُّشْرِكَ بِرَبِّنَآ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يدعو إلى الحق والصواب، فآمنا به، ولن نشرك بربنا أحدًا.</a:t>
            </a:r>
            <a:endParaRPr lang="ar-SA" sz="3200" dirty="0"/>
          </a:p>
        </p:txBody>
      </p:sp>
      <p:sp>
        <p:nvSpPr>
          <p:cNvPr id="14" name="Shape 12"/>
          <p:cNvSpPr/>
          <p:nvPr/>
        </p:nvSpPr>
        <p:spPr>
          <a:xfrm>
            <a:off x="2103120" y="4785360"/>
            <a:ext cx="8641080" cy="0"/>
          </a:xfrm>
          <a:prstGeom prst="line">
            <a:avLst/>
          </a:prstGeom>
          <a:noFill/>
          <a:ln w="9525">
            <a:solidFill>
              <a:schemeClr val="accent2"/>
            </a:solidFill>
            <a:prstDash val="dash"/>
          </a:ln>
        </p:spPr>
      </p:sp>
      <p:sp>
        <p:nvSpPr>
          <p:cNvPr id="15" name="Shape 13"/>
          <p:cNvSpPr/>
          <p:nvPr/>
        </p:nvSpPr>
        <p:spPr>
          <a:xfrm>
            <a:off x="10927080" y="5026152"/>
            <a:ext cx="548640" cy="548640"/>
          </a:xfrm>
          <a:prstGeom prst="star8">
            <a:avLst/>
          </a:prstGeom>
          <a:solidFill>
            <a:schemeClr val="accent2"/>
          </a:solidFill>
          <a:ln/>
        </p:spPr>
      </p:sp>
      <p:sp>
        <p:nvSpPr>
          <p:cNvPr id="16" name="Shape 14"/>
          <p:cNvSpPr/>
          <p:nvPr/>
        </p:nvSpPr>
        <p:spPr>
          <a:xfrm>
            <a:off x="11036808" y="513588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261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50078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تَعَٰلَىٰ جَدُّ رَبِّنَا مَا اتَّخَذَ صَٰحِبَةً وَلَا وَلَدًا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وتعالت عظمة ربنا، لم يتخذ زوجة ولا ولدًا.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كَانَ يَقُولُ سَفِيهُنَا عَلَى اللَّهِ شَطَطًا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 سفيهنا -وهو إبليس- يقول على الله قولًا بعيدًا عن الحق.</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ظَنَنَّآ أَن لَّن تَقُولَ الْإِنسُ وَالْجِنُّ عَلَى اللَّهِ كَذِبًا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وكنا نظن أن الإنس والجن لا يكذبون على الله.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كَانَ رِجَالٌ مِّنَ الْإِنسِ يَعُوذُونَ بِرِجَالٍ مِّنَ الْجِنِّ فَزَادُوهُمْ رَهَقًا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وكان رجال من الإنس يستعيذون بالجن إذا نزلوا واديًا، فزادهم الجن خوفًا وطغيانًا.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54990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وَأَنَّهُمْ ظَنُّواْ كَمَا ظَنَنتُمْ أَن لَّن يَبْعَثَ اللَّهُ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وظن الإنس كما ظننتم أيها الجن أن الله لن يبعث رسولًا، ولن يبعث أحدًا بعد الموت.</a:t>
            </a:r>
            <a:endParaRPr lang="ar-SA" sz="3200" dirty="0"/>
          </a:p>
        </p:txBody>
      </p:sp>
      <p:sp>
        <p:nvSpPr>
          <p:cNvPr id="9" name="Shape 7"/>
          <p:cNvSpPr/>
          <p:nvPr/>
        </p:nvSpPr>
        <p:spPr>
          <a:xfrm>
            <a:off x="2103120" y="2697480"/>
            <a:ext cx="8641080" cy="0"/>
          </a:xfrm>
          <a:prstGeom prst="line">
            <a:avLst/>
          </a:prstGeom>
          <a:noFill/>
          <a:ln w="9525">
            <a:solidFill>
              <a:schemeClr val="accent2"/>
            </a:solidFill>
            <a:prstDash val="dash"/>
          </a:ln>
        </p:spPr>
      </p:sp>
      <p:sp>
        <p:nvSpPr>
          <p:cNvPr id="10" name="Shape 8"/>
          <p:cNvSpPr/>
          <p:nvPr/>
        </p:nvSpPr>
        <p:spPr>
          <a:xfrm>
            <a:off x="10927080" y="2958084"/>
            <a:ext cx="548640" cy="548640"/>
          </a:xfrm>
          <a:prstGeom prst="star8">
            <a:avLst/>
          </a:prstGeom>
          <a:solidFill>
            <a:schemeClr val="accent2"/>
          </a:solidFill>
          <a:ln/>
        </p:spPr>
      </p:sp>
      <p:sp>
        <p:nvSpPr>
          <p:cNvPr id="11" name="Shape 9"/>
          <p:cNvSpPr/>
          <p:nvPr/>
        </p:nvSpPr>
        <p:spPr>
          <a:xfrm>
            <a:off x="11036808" y="30678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580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9397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لَمَسْنَا السَّمَآءَ فَوَجَدْنَٰهَا مُلِئَتْ حَرَسًا شَدِيدًا وَشُهُبًا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طلبنا السماء لنسمع أخبارها، فوجدناها مملوءة بالملائكة الحرس والشهب المحرقة.</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329684"/>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كُنَّا نَقْعُدُ مِنْهَا مَقَٰعِدَ لِلسَّمْعِ فَمَن يَسْتَمِعِ الْأنَ يَجِدْ لَهُ شِهَابًا رَّصَدًا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وكنا نجلس منها في أماكن لنسترق السمع، فمن يحاول الآن يجد شهابًا ينتظره فيحرقه.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لَا نَدْرِي أَشَرٌّ أُرِيدَ بِمَن فِي الْأَرْضِ أَمْ أَرَادَ بِهِمْ رَبُّهُمْ رَشَدًا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ندري: أأراد الله بأهل الأرض شرًا، أم أراد بهم خيرًا وهداية؟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مِنَّا الصَّـٰلِحُونَ وَمِنَّا دُونَ ذَٰلِكَ كُنَّا طَرَآئِقَ قِدَدًا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ومنا الصالحون، ومنا من هم دون ذلك، كنا فرقًا ومذاهب مختلفة.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ظَنَنَّآ أَن لَّن نُّعْجِزَ اللَّهَ فِي الْأَرْضِ وَلَن نُّعْجِزَهُ هَرَبًا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وأيقنّا أننا لن نُفلت من الله في الأرض، ولن نفوته هربًا.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85</a:t>
            </a:fld>
            <a:endParaRPr 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549908"/>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لَمَّا سَمِعْنَا الْهُدَىٰ ءَامَنَّا بِهِ فَمَن يُؤْمِن بِرَبِّهِ فَلَا يَخَافُ بَخْسًا وَلَا رَهَقًا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سمعنا القرآن آمنا به، فمن يؤمن بربه فلا يخاف نقصًا من حسناته ولا ظلمًا.</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4884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وَأَنَّا مِنَّا الْمُسْلِمُونَ وَمِنَّا الْقَٰسِطُونَ فَمَنْ أَسْلَمَ فَأُوْلَـٰئِكَ تَحَرَّوْاْ رَشَدًا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ومنا المسلمون، ومنا الظالمون الجائرون عن الحق، فمن أسلم فقد قصد طريق الهداية.</a:t>
            </a:r>
            <a:endParaRPr lang="ar-SA" sz="3200" dirty="0"/>
          </a:p>
        </p:txBody>
      </p:sp>
      <p:sp>
        <p:nvSpPr>
          <p:cNvPr id="14" name="Shape 12"/>
          <p:cNvSpPr/>
          <p:nvPr/>
        </p:nvSpPr>
        <p:spPr>
          <a:xfrm>
            <a:off x="2103120" y="4636008"/>
            <a:ext cx="8641080" cy="0"/>
          </a:xfrm>
          <a:prstGeom prst="line">
            <a:avLst/>
          </a:prstGeom>
          <a:noFill/>
          <a:ln w="9525">
            <a:solidFill>
              <a:schemeClr val="accent2"/>
            </a:solidFill>
            <a:prstDash val="dash"/>
          </a:ln>
        </p:spPr>
      </p:sp>
      <p:sp>
        <p:nvSpPr>
          <p:cNvPr id="15" name="Shape 13"/>
          <p:cNvSpPr/>
          <p:nvPr/>
        </p:nvSpPr>
        <p:spPr>
          <a:xfrm>
            <a:off x="10927080" y="4896612"/>
            <a:ext cx="548640" cy="548640"/>
          </a:xfrm>
          <a:prstGeom prst="star8">
            <a:avLst/>
          </a:prstGeom>
          <a:solidFill>
            <a:schemeClr val="accent2"/>
          </a:solidFill>
          <a:ln/>
        </p:spPr>
      </p:sp>
      <p:sp>
        <p:nvSpPr>
          <p:cNvPr id="16" name="Shape 14"/>
          <p:cNvSpPr/>
          <p:nvPr/>
        </p:nvSpPr>
        <p:spPr>
          <a:xfrm>
            <a:off x="11036808" y="500634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966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87832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الْقَٰسِطُونَ فَكَانُواْ لِجَهَنَّمَ حَطَبًا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الجائرون عن الحق فهم وقود جهنم.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86</a:t>
            </a:fld>
            <a:endParaRPr lang="en-US"/>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وَأَلَّوِ اسْتَقَٰمُواْ عَلَى الطَّرِيقَةِ لَأَسْقَيْنَٰهُم مَّآءً غَدَقًا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استقام الناس على طريق الإسلام لأنزلنا عليهم مطرًا كثيرًا ووسّعنا عليهم الرزق.</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لِّنَفْتِنَهُمْ فِيهِ وَمَن يُعْرِضْ عَن ذِكْرِ رَبِّهِ يَسْلُكْهُ عَذَابًا صَعَدًا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لنختبرهم فيه، ومن يُعرض عن القرآن يُدخله الله عذابًا شاقًا.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 الْمَسَٰجِدَ لِلَّهِ فَلَا تَدْعُواْ مَعَ اللَّهِ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وأن المساجد لعبادة الله وحده، فلا تعبدوا فيها مع الله أحدًا.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87</a:t>
            </a:fld>
            <a:endParaRPr lang="en-US"/>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وَأَنَّهُ لَمَّا قَامَ عَبْدُ اللَّهِ يَدْعُوهُ كَادُواْ يَكُونُونَ عَلَيْهِ لِبَدًا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ولما قام محمد صلى الله عليه وسلم يعبد ربه، كاد الجن يزدحمون عليه ليسمعوا القرآن.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أَدْعُواْ رَبِّي وَلَآ أُشْرِكُ بِهِ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إنما أعبد ربي وحده، ولا أشرك به أحدًا.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لَآ أَمْلِكُ لَكُمْ ضَرًّا وَلَا رَشَدًا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إني لا أملك لكم ضرًا ولا هداية، إنما أنا مبلّغ.</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88</a:t>
            </a:fld>
            <a:endParaRPr lang="en-US"/>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4203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إِنِّي لَن يُجِيرَنِي مِنَ اللَّهِ أَحَدٌ وَلَنْ أَجِدَ مِن دُونِهِ مُلْتَحَدًا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لن يحميني من الله أحد إن عصيته، ولن أجد ملجأً غيره.</a:t>
            </a:r>
            <a:endParaRPr lang="ar-SA" sz="3200" dirty="0"/>
          </a:p>
        </p:txBody>
      </p:sp>
      <p:sp>
        <p:nvSpPr>
          <p:cNvPr id="9" name="Shape 7"/>
          <p:cNvSpPr/>
          <p:nvPr/>
        </p:nvSpPr>
        <p:spPr>
          <a:xfrm>
            <a:off x="2103120" y="2548128"/>
            <a:ext cx="8641080" cy="0"/>
          </a:xfrm>
          <a:prstGeom prst="line">
            <a:avLst/>
          </a:prstGeom>
          <a:noFill/>
          <a:ln w="9525">
            <a:solidFill>
              <a:schemeClr val="accent2"/>
            </a:solidFill>
            <a:prstDash val="dash"/>
          </a:ln>
        </p:spPr>
      </p:sp>
      <p:sp>
        <p:nvSpPr>
          <p:cNvPr id="10" name="Shape 8"/>
          <p:cNvSpPr/>
          <p:nvPr/>
        </p:nvSpPr>
        <p:spPr>
          <a:xfrm>
            <a:off x="10927080" y="2788920"/>
            <a:ext cx="548640" cy="548640"/>
          </a:xfrm>
          <a:prstGeom prst="star8">
            <a:avLst/>
          </a:prstGeom>
          <a:solidFill>
            <a:schemeClr val="accent2"/>
          </a:solidFill>
          <a:ln/>
        </p:spPr>
      </p:sp>
      <p:sp>
        <p:nvSpPr>
          <p:cNvPr id="11" name="Shape 9"/>
          <p:cNvSpPr/>
          <p:nvPr/>
        </p:nvSpPr>
        <p:spPr>
          <a:xfrm>
            <a:off x="11036808" y="28986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889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770632"/>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بَلَٰغًا مِّنَ اللَّهِ وَرِسَٰلَٰتِهِ وَمَن يَعْصِ اللَّهَ وَرَسُولَهُ فَإِنَّ لَهُ نَارَ جَهَنَّمَ خَٰلِدِينَ فِيهَآ أَبَدًا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لكني أملك أن أبلّغ رسالات الله، ومن يعصِ الله ورسوله فإن له نار جهنم خالدين فيها أبدًا.</a:t>
            </a:r>
            <a:endParaRPr lang="ar-SA" sz="3200" dirty="0"/>
          </a:p>
        </p:txBody>
      </p:sp>
      <p:sp>
        <p:nvSpPr>
          <p:cNvPr id="14" name="Shape 12"/>
          <p:cNvSpPr/>
          <p:nvPr/>
        </p:nvSpPr>
        <p:spPr>
          <a:xfrm>
            <a:off x="2103120" y="4785360"/>
            <a:ext cx="8641080" cy="0"/>
          </a:xfrm>
          <a:prstGeom prst="line">
            <a:avLst/>
          </a:prstGeom>
          <a:noFill/>
          <a:ln w="9525">
            <a:solidFill>
              <a:schemeClr val="accent2"/>
            </a:solidFill>
            <a:prstDash val="dash"/>
          </a:ln>
        </p:spPr>
      </p:sp>
      <p:sp>
        <p:nvSpPr>
          <p:cNvPr id="15" name="Shape 13"/>
          <p:cNvSpPr/>
          <p:nvPr/>
        </p:nvSpPr>
        <p:spPr>
          <a:xfrm>
            <a:off x="10927080" y="5026152"/>
            <a:ext cx="548640" cy="548640"/>
          </a:xfrm>
          <a:prstGeom prst="star8">
            <a:avLst/>
          </a:prstGeom>
          <a:solidFill>
            <a:schemeClr val="accent2"/>
          </a:solidFill>
          <a:ln/>
        </p:spPr>
      </p:sp>
      <p:sp>
        <p:nvSpPr>
          <p:cNvPr id="16" name="Shape 14"/>
          <p:cNvSpPr/>
          <p:nvPr/>
        </p:nvSpPr>
        <p:spPr>
          <a:xfrm>
            <a:off x="11036808" y="513588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261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50078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حَتَّىٰ إِذَا رَأَوْاْ مَا يُوعَدُونَ فَسَيَعْلَمُونَ مَنْ أَضْعَفُ نَاصِرًا وَأَقَلُّ عَدَدًا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حتى إذا رأى الكفار العذاب، فسيعلمون من أضعف ناصرًا وأقل عددًا.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537460"/>
            <a:ext cx="548640" cy="548640"/>
          </a:xfrm>
          <a:prstGeom prst="star8">
            <a:avLst/>
          </a:prstGeom>
          <a:solidFill>
            <a:schemeClr val="accent2"/>
          </a:solidFill>
          <a:ln/>
        </p:spPr>
      </p:sp>
      <p:sp>
        <p:nvSpPr>
          <p:cNvPr id="6" name="Shape 4"/>
          <p:cNvSpPr/>
          <p:nvPr/>
        </p:nvSpPr>
        <p:spPr>
          <a:xfrm>
            <a:off x="11036808" y="264718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53746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251917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 أَدْرِي أَقَرِيبٌ مَّا تُوعَدُونَ أَمْ يَجْعَلُ لَهُ رَبِّي أَمَدًا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لا أدري أقريبٌ العذاب الذي توعدون، أم يجعل له ربي مدة طويلة.</a:t>
            </a:r>
            <a:endParaRPr lang="ar-SA" sz="3200" dirty="0"/>
          </a:p>
        </p:txBody>
      </p:sp>
      <p:sp>
        <p:nvSpPr>
          <p:cNvPr id="9" name="Shape 7"/>
          <p:cNvSpPr/>
          <p:nvPr/>
        </p:nvSpPr>
        <p:spPr>
          <a:xfrm>
            <a:off x="2103120" y="3666744"/>
            <a:ext cx="8641080" cy="0"/>
          </a:xfrm>
          <a:prstGeom prst="line">
            <a:avLst/>
          </a:prstGeom>
          <a:noFill/>
          <a:ln w="9525">
            <a:solidFill>
              <a:schemeClr val="accent2"/>
            </a:solidFill>
            <a:prstDash val="dash"/>
          </a:ln>
        </p:spPr>
      </p:sp>
      <p:sp>
        <p:nvSpPr>
          <p:cNvPr id="10" name="Shape 8"/>
          <p:cNvSpPr/>
          <p:nvPr/>
        </p:nvSpPr>
        <p:spPr>
          <a:xfrm>
            <a:off x="10927080" y="3927348"/>
            <a:ext cx="548640" cy="548640"/>
          </a:xfrm>
          <a:prstGeom prst="star8">
            <a:avLst/>
          </a:prstGeom>
          <a:solidFill>
            <a:schemeClr val="accent2"/>
          </a:solidFill>
          <a:ln/>
        </p:spPr>
      </p:sp>
      <p:sp>
        <p:nvSpPr>
          <p:cNvPr id="11" name="Shape 9"/>
          <p:cNvSpPr/>
          <p:nvPr/>
        </p:nvSpPr>
        <p:spPr>
          <a:xfrm>
            <a:off x="11036808" y="40370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9273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390906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عَٰلِمُ الْغَيْبِ فَلَا يُظْهِرُ عَلَىٰ غَيْبِهِ أَحَدًا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عالم الغيب وحده، فلا يُطلع على غيبه أحدًا.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90</a:t>
            </a:fld>
            <a:endParaRPr lang="en-US"/>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الجن</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93976"/>
            <a:ext cx="548640" cy="548640"/>
          </a:xfrm>
          <a:prstGeom prst="star8">
            <a:avLst/>
          </a:prstGeom>
          <a:solidFill>
            <a:schemeClr val="accent2"/>
          </a:solidFill>
          <a:ln/>
        </p:spPr>
      </p:sp>
      <p:sp>
        <p:nvSpPr>
          <p:cNvPr id="6" name="Shape 4"/>
          <p:cNvSpPr/>
          <p:nvPr/>
        </p:nvSpPr>
        <p:spPr>
          <a:xfrm>
            <a:off x="11036808" y="22037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939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207568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مَنِ ارْتَضَىٰ مِن رَّسُولٍ فَإِنَّهُ يَسْلُكُ مِن بَيْنِ يَدَيْهِ وَمِنْ خَلْفِهِ رَصَدًا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من اختاره من الرسل فيُطلعه على ما شاء، ويجعل من حوله ملائكة يحفظونه.</a:t>
            </a:r>
            <a:endParaRPr lang="ar-SA" sz="3200" dirty="0"/>
          </a:p>
        </p:txBody>
      </p:sp>
      <p:sp>
        <p:nvSpPr>
          <p:cNvPr id="9" name="Shape 7"/>
          <p:cNvSpPr/>
          <p:nvPr/>
        </p:nvSpPr>
        <p:spPr>
          <a:xfrm>
            <a:off x="2103120" y="3223260"/>
            <a:ext cx="8641080" cy="0"/>
          </a:xfrm>
          <a:prstGeom prst="line">
            <a:avLst/>
          </a:prstGeom>
          <a:noFill/>
          <a:ln w="9525">
            <a:solidFill>
              <a:schemeClr val="accent2"/>
            </a:solidFill>
            <a:prstDash val="dash"/>
          </a:ln>
        </p:spPr>
      </p:sp>
      <p:sp>
        <p:nvSpPr>
          <p:cNvPr id="10" name="Shape 8"/>
          <p:cNvSpPr/>
          <p:nvPr/>
        </p:nvSpPr>
        <p:spPr>
          <a:xfrm>
            <a:off x="10927080" y="3483864"/>
            <a:ext cx="548640" cy="548640"/>
          </a:xfrm>
          <a:prstGeom prst="star8">
            <a:avLst/>
          </a:prstGeom>
          <a:solidFill>
            <a:schemeClr val="accent2"/>
          </a:solidFill>
          <a:ln/>
        </p:spPr>
      </p:sp>
      <p:sp>
        <p:nvSpPr>
          <p:cNvPr id="11" name="Shape 9"/>
          <p:cNvSpPr/>
          <p:nvPr/>
        </p:nvSpPr>
        <p:spPr>
          <a:xfrm>
            <a:off x="11036808" y="359359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838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46557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لِّيَعْلَمَ أَن قَدْ أَبْلَغُواْ رِسَٰلَٰتِ رَبِّهِمْ وَأَحَاطَ بِمَا لَدَيْهِمْ وَأَحْصَىٰ كُلَّ شَيْءٍ عَدَدًا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ليعلم الرسول أن الرسل قبله قد بلّغوا رسالات ربهم، والله أحاط بما عندهم، وأحصى كل شيء عددًا.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91</a:t>
            </a:fld>
            <a:endParaRPr lang="en-US"/>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نوح</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٢٨</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٧١</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لهذه السورة سبب نزول خاص مشهور، وهي من السور التي نزلت لتذكير الناس وهدايتهم.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قصة دعوة نوح عليه السلام لقومه، وصبره الطويل، وعاقبة المكذبين، وفضل الاستغفار.</a:t>
            </a:r>
            <a:endParaRPr lang="ar-SA" sz="18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549908"/>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أَرْسَلْنَا نُوحًا إِلَىٰ قَوْمِهِ أَنْ أَنذِرْ قَوْمَكَ مِن قَبْلِ أَن يَأْتِيَهُمْ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أرسلنا نوحًا إلى قومه، وأمرناه أن يخوّفهم قبل أن يأتيهم عذاب مؤلم.</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34884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يَٰقَوْمِ إِنِّي لَكُمْ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نوح: يا قوم، إني لكم منذر واضح الإنذار.</a:t>
            </a:r>
            <a:endParaRPr lang="ar-SA" sz="3200" dirty="0"/>
          </a:p>
        </p:txBody>
      </p:sp>
      <p:sp>
        <p:nvSpPr>
          <p:cNvPr id="14" name="Shape 12"/>
          <p:cNvSpPr/>
          <p:nvPr/>
        </p:nvSpPr>
        <p:spPr>
          <a:xfrm>
            <a:off x="2103120" y="4636008"/>
            <a:ext cx="8641080" cy="0"/>
          </a:xfrm>
          <a:prstGeom prst="line">
            <a:avLst/>
          </a:prstGeom>
          <a:noFill/>
          <a:ln w="9525">
            <a:solidFill>
              <a:schemeClr val="accent2"/>
            </a:solidFill>
            <a:prstDash val="dash"/>
          </a:ln>
        </p:spPr>
      </p:sp>
      <p:sp>
        <p:nvSpPr>
          <p:cNvPr id="15" name="Shape 13"/>
          <p:cNvSpPr/>
          <p:nvPr/>
        </p:nvSpPr>
        <p:spPr>
          <a:xfrm>
            <a:off x="10927080" y="4896612"/>
            <a:ext cx="548640" cy="548640"/>
          </a:xfrm>
          <a:prstGeom prst="star8">
            <a:avLst/>
          </a:prstGeom>
          <a:solidFill>
            <a:schemeClr val="accent2"/>
          </a:solidFill>
          <a:ln/>
        </p:spPr>
      </p:sp>
      <p:sp>
        <p:nvSpPr>
          <p:cNvPr id="16" name="Shape 14"/>
          <p:cNvSpPr/>
          <p:nvPr/>
        </p:nvSpPr>
        <p:spPr>
          <a:xfrm>
            <a:off x="11036808" y="500634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966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87832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اعْبُدُواْ اللَّهَ وَاتَّقُوهُ وَأَطِيعُونِ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 اعبدوا الله وحده، واتقوه، وأطيعوني فيما آمركم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93</a:t>
            </a:fld>
            <a:endParaRPr lang="en-US"/>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549908"/>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يَغْفِرْ لَكُم مِّن ذُنُوبِكُمْ وَيُؤَخِّرْكُمْ إِلَىٰ أَجَلٍ مُّسَمًّى إِنَّ أَجَلَ اللَّهِ إِذَا جَآءَ لَا يُؤَخَّرُ لَوْ كُنتُمْ تَعْلَمُونَ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فعلتم يغفر لكم ذنوبكم، ويؤخر هلاككم إلى آجالكم، فإن الموت إذا جاء لا يتأخر.</a:t>
            </a:r>
            <a:endParaRPr lang="ar-SA" sz="3200" dirty="0"/>
          </a:p>
        </p:txBody>
      </p:sp>
      <p:sp>
        <p:nvSpPr>
          <p:cNvPr id="9" name="Shape 7"/>
          <p:cNvSpPr/>
          <p:nvPr/>
        </p:nvSpPr>
        <p:spPr>
          <a:xfrm>
            <a:off x="2103120" y="3246120"/>
            <a:ext cx="8641080" cy="0"/>
          </a:xfrm>
          <a:prstGeom prst="line">
            <a:avLst/>
          </a:prstGeom>
          <a:noFill/>
          <a:ln w="9525">
            <a:solidFill>
              <a:schemeClr val="accent2"/>
            </a:solidFill>
            <a:prstDash val="dash"/>
          </a:ln>
        </p:spPr>
      </p:sp>
      <p:sp>
        <p:nvSpPr>
          <p:cNvPr id="10" name="Shape 8"/>
          <p:cNvSpPr/>
          <p:nvPr/>
        </p:nvSpPr>
        <p:spPr>
          <a:xfrm>
            <a:off x="10927080" y="3506724"/>
            <a:ext cx="548640" cy="548640"/>
          </a:xfrm>
          <a:prstGeom prst="star8">
            <a:avLst/>
          </a:prstGeom>
          <a:solidFill>
            <a:schemeClr val="accent2"/>
          </a:solidFill>
          <a:ln/>
        </p:spPr>
      </p:sp>
      <p:sp>
        <p:nvSpPr>
          <p:cNvPr id="11" name="Shape 9"/>
          <p:cNvSpPr/>
          <p:nvPr/>
        </p:nvSpPr>
        <p:spPr>
          <a:xfrm>
            <a:off x="11036808" y="361645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5067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34884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رَبِّ إِنِّي دَعَوْتُ قَوْمِي لَيْلًا وَنَهَارًا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نوح: يا رب، إني دعوت قومي إلى الإيمان ليلًا ونهارًا.</a:t>
            </a:r>
            <a:endParaRPr lang="ar-SA" sz="3200" dirty="0"/>
          </a:p>
        </p:txBody>
      </p:sp>
      <p:sp>
        <p:nvSpPr>
          <p:cNvPr id="14" name="Shape 12"/>
          <p:cNvSpPr/>
          <p:nvPr/>
        </p:nvSpPr>
        <p:spPr>
          <a:xfrm>
            <a:off x="2103120" y="4636008"/>
            <a:ext cx="8641080" cy="0"/>
          </a:xfrm>
          <a:prstGeom prst="line">
            <a:avLst/>
          </a:prstGeom>
          <a:noFill/>
          <a:ln w="9525">
            <a:solidFill>
              <a:schemeClr val="accent2"/>
            </a:solidFill>
            <a:prstDash val="dash"/>
          </a:ln>
        </p:spPr>
      </p:sp>
      <p:sp>
        <p:nvSpPr>
          <p:cNvPr id="15" name="Shape 13"/>
          <p:cNvSpPr/>
          <p:nvPr/>
        </p:nvSpPr>
        <p:spPr>
          <a:xfrm>
            <a:off x="10927080" y="4896612"/>
            <a:ext cx="548640" cy="548640"/>
          </a:xfrm>
          <a:prstGeom prst="star8">
            <a:avLst/>
          </a:prstGeom>
          <a:solidFill>
            <a:schemeClr val="accent2"/>
          </a:solidFill>
          <a:ln/>
        </p:spPr>
      </p:sp>
      <p:sp>
        <p:nvSpPr>
          <p:cNvPr id="16" name="Shape 14"/>
          <p:cNvSpPr/>
          <p:nvPr/>
        </p:nvSpPr>
        <p:spPr>
          <a:xfrm>
            <a:off x="11036808" y="500634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966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487832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 يَزِدْهُمْ دُعَآءِي إِلَّا فِرَارًا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 يزدهم دعائي إلا هروبًا من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420368"/>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وَإِنِّي كُلَّمَا دَعَوْتُهُمْ لِتَغْفِرَ لَهُمْ جَعَلُواْ أَصَٰبِعَهُمْ فِي ءَاذَانِهِمْ وَاسْتَغْشَوْاْ ثِيَابَهُمْ وَأَصَرُّواْ وَاسْتَكْبَرُواْ اسْتِكْبَارًا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وكلما دعوتهم ليؤمنوا فتغفر لهم، وضعوا أصابعهم في آذانهم، وغطّوا وجوههم بثيابهم، وأصرّوا على الكفر وتكبّروا.</a:t>
            </a:r>
            <a:endParaRPr lang="ar-SA" sz="3200" dirty="0"/>
          </a:p>
        </p:txBody>
      </p:sp>
      <p:sp>
        <p:nvSpPr>
          <p:cNvPr id="9" name="Shape 7"/>
          <p:cNvSpPr/>
          <p:nvPr/>
        </p:nvSpPr>
        <p:spPr>
          <a:xfrm>
            <a:off x="2103120" y="3435096"/>
            <a:ext cx="8641080" cy="0"/>
          </a:xfrm>
          <a:prstGeom prst="line">
            <a:avLst/>
          </a:prstGeom>
          <a:noFill/>
          <a:ln w="9525">
            <a:solidFill>
              <a:schemeClr val="accent2"/>
            </a:solidFill>
            <a:prstDash val="dash"/>
          </a:ln>
        </p:spPr>
      </p:sp>
      <p:sp>
        <p:nvSpPr>
          <p:cNvPr id="10" name="Shape 8"/>
          <p:cNvSpPr/>
          <p:nvPr/>
        </p:nvSpPr>
        <p:spPr>
          <a:xfrm>
            <a:off x="10927080" y="3675888"/>
            <a:ext cx="548640" cy="548640"/>
          </a:xfrm>
          <a:prstGeom prst="star8">
            <a:avLst/>
          </a:prstGeom>
          <a:solidFill>
            <a:schemeClr val="accent2"/>
          </a:solidFill>
          <a:ln/>
        </p:spPr>
      </p:sp>
      <p:sp>
        <p:nvSpPr>
          <p:cNvPr id="11" name="Shape 9"/>
          <p:cNvSpPr/>
          <p:nvPr/>
        </p:nvSpPr>
        <p:spPr>
          <a:xfrm>
            <a:off x="11036808" y="378561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6758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365760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إِنِّي دَعَوْتُهُمْ جِهَارًا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دعوتهم بصوت مرتفع ظاهر.</a:t>
            </a:r>
            <a:endParaRPr lang="ar-SA" sz="3200" dirty="0"/>
          </a:p>
        </p:txBody>
      </p:sp>
      <p:sp>
        <p:nvSpPr>
          <p:cNvPr id="14" name="Shape 12"/>
          <p:cNvSpPr/>
          <p:nvPr/>
        </p:nvSpPr>
        <p:spPr>
          <a:xfrm>
            <a:off x="2103120" y="4785360"/>
            <a:ext cx="8641080" cy="0"/>
          </a:xfrm>
          <a:prstGeom prst="line">
            <a:avLst/>
          </a:prstGeom>
          <a:noFill/>
          <a:ln w="9525">
            <a:solidFill>
              <a:schemeClr val="accent2"/>
            </a:solidFill>
            <a:prstDash val="dash"/>
          </a:ln>
        </p:spPr>
      </p:sp>
      <p:sp>
        <p:nvSpPr>
          <p:cNvPr id="15" name="Shape 13"/>
          <p:cNvSpPr/>
          <p:nvPr/>
        </p:nvSpPr>
        <p:spPr>
          <a:xfrm>
            <a:off x="10927080" y="5026152"/>
            <a:ext cx="548640" cy="548640"/>
          </a:xfrm>
          <a:prstGeom prst="star8">
            <a:avLst/>
          </a:prstGeom>
          <a:solidFill>
            <a:schemeClr val="accent2"/>
          </a:solidFill>
          <a:ln/>
        </p:spPr>
      </p:sp>
      <p:sp>
        <p:nvSpPr>
          <p:cNvPr id="16" name="Shape 14"/>
          <p:cNvSpPr/>
          <p:nvPr/>
        </p:nvSpPr>
        <p:spPr>
          <a:xfrm>
            <a:off x="11036808" y="513588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261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50078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إِنِّي أَعْلَنتُ لَهُمْ وَأَسْرَرْتُ لَهُمْ إِسْرَارًا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دعوتهم علانية أمام الناس، ودعوتهم سرًّا.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95</a:t>
            </a:fld>
            <a:endParaRPr lang="en-US"/>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فَقُلْتُ اسْتَغْفِرُواْ رَبَّكُمْ إِنَّهُ كَانَ غَفَّارًا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فقلت لهم: اطلبوا المغفرة من ربكم وتوبوا إليه، إنه كثير المغفرة.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يُرْسِلِ السَّمَآءَ عَلَيْكُم مِّدْرَارًا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استغفرتم ينزّل عليكم المطر متتابعًا.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وَيُمْدِدْكُم بِأَمْوَٰلٍ وَبَنِينَ وَيَجْعَل لَّكُمْ جَنَّـٰتٍ وَيَجْعَل لَّكُمْ أَنْهَٰرًا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ويكثّر أموالكم وأولادكم، ويجعل لكم بساتين وأنهارًا.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96</a:t>
            </a:fld>
            <a:endParaRPr lang="en-US"/>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لَكُمْ لَا تَرْجُونَ لِلَّهِ وَقَارًا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لكم لا تعظّمون الله حق تعظيمه؟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 خَلَقَكُمْ أَطْوَارًا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خلقكم مراحل: نطفة، ثم علقة، ثم مضغة.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أَلَمْ تَرَوْاْ كَيْفَ خَلَقَ اللَّهُ سَبْعَ سَمَٰوَٰتٍ طِبَاقًا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ألم تروا كيف خلق الله سبع سماوات بعضها فوق بعض؟</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97</a:t>
            </a:fld>
            <a:endParaRPr lang="en-US"/>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وَجَعَلَ الْقَمَرَ فِيهِنَّ نُورًا وَجَعَلَ الشَّمْسَ سِرَاجًا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وجعل القمر فيها نورًا، وجعل الشمس مصباحًا مضيئًا.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أَنبَتَكُم مِّنَ الْأَرْضِ نَبَاتًا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خلق أباكم آدم من تراب الأرض.</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يُعِيدُكُمْ فِيهَا وَيُخْرِجُكُمْ إِخْرَاجًا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يعيدكم في الأرض بعد الموت، ثم يخرجكم منها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98</a:t>
            </a:fld>
            <a:endParaRPr lang="en-US"/>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4203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وَاللَّهُ جَعَلَ لَكُمُ الْأَرْضَ بِسَاطًا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والله جعل لكم الأرض ممهّدة مبسوطة.</a:t>
            </a:r>
            <a:endParaRPr lang="ar-SA" sz="3200" dirty="0"/>
          </a:p>
        </p:txBody>
      </p:sp>
      <p:sp>
        <p:nvSpPr>
          <p:cNvPr id="9" name="Shape 7"/>
          <p:cNvSpPr/>
          <p:nvPr/>
        </p:nvSpPr>
        <p:spPr>
          <a:xfrm>
            <a:off x="2103120" y="2548128"/>
            <a:ext cx="8641080" cy="0"/>
          </a:xfrm>
          <a:prstGeom prst="line">
            <a:avLst/>
          </a:prstGeom>
          <a:noFill/>
          <a:ln w="9525">
            <a:solidFill>
              <a:schemeClr val="accent2"/>
            </a:solidFill>
            <a:prstDash val="dash"/>
          </a:ln>
        </p:spPr>
      </p:sp>
      <p:sp>
        <p:nvSpPr>
          <p:cNvPr id="10" name="Shape 8"/>
          <p:cNvSpPr/>
          <p:nvPr/>
        </p:nvSpPr>
        <p:spPr>
          <a:xfrm>
            <a:off x="10927080" y="2788920"/>
            <a:ext cx="548640" cy="548640"/>
          </a:xfrm>
          <a:prstGeom prst="star8">
            <a:avLst/>
          </a:prstGeom>
          <a:solidFill>
            <a:schemeClr val="accent2"/>
          </a:solidFill>
          <a:ln/>
        </p:spPr>
      </p:sp>
      <p:sp>
        <p:nvSpPr>
          <p:cNvPr id="11" name="Shape 9"/>
          <p:cNvSpPr/>
          <p:nvPr/>
        </p:nvSpPr>
        <p:spPr>
          <a:xfrm>
            <a:off x="11036808" y="28986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889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277063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لِّتَسْلُكُواْ مِنْهَا سُبُلًا فِجَاجًا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لتسيروا فيها في طرق واسعة.</a:t>
            </a:r>
            <a:endParaRPr lang="ar-SA" sz="3200" dirty="0"/>
          </a:p>
        </p:txBody>
      </p:sp>
      <p:sp>
        <p:nvSpPr>
          <p:cNvPr id="14" name="Shape 12"/>
          <p:cNvSpPr/>
          <p:nvPr/>
        </p:nvSpPr>
        <p:spPr>
          <a:xfrm>
            <a:off x="2103120" y="3898392"/>
            <a:ext cx="8641080" cy="0"/>
          </a:xfrm>
          <a:prstGeom prst="line">
            <a:avLst/>
          </a:prstGeom>
          <a:noFill/>
          <a:ln w="9525">
            <a:solidFill>
              <a:schemeClr val="accent2"/>
            </a:solidFill>
            <a:prstDash val="dash"/>
          </a:ln>
        </p:spPr>
      </p:sp>
      <p:sp>
        <p:nvSpPr>
          <p:cNvPr id="15" name="Shape 13"/>
          <p:cNvSpPr/>
          <p:nvPr/>
        </p:nvSpPr>
        <p:spPr>
          <a:xfrm>
            <a:off x="10927080" y="4139184"/>
            <a:ext cx="548640" cy="548640"/>
          </a:xfrm>
          <a:prstGeom prst="star8">
            <a:avLst/>
          </a:prstGeom>
          <a:solidFill>
            <a:schemeClr val="accent2"/>
          </a:solidFill>
          <a:ln/>
        </p:spPr>
      </p:sp>
      <p:sp>
        <p:nvSpPr>
          <p:cNvPr id="16" name="Shape 14"/>
          <p:cNvSpPr/>
          <p:nvPr/>
        </p:nvSpPr>
        <p:spPr>
          <a:xfrm>
            <a:off x="11036808" y="424891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139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412089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نُوحٌ رَّبِّ إِنَّهُمْ عَصَوْنِي وَاتَّبَعُواْ مَن لَّمْ يَزِدْهُ مَالُهُ وَوَلَدُهُ إِلَّا خَسَارًا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نوح: يا رب، إنهم عصوني، واتبعوا الأغنياء الذين لم يزدهم مالهم وأولادهم إلا خسارة.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4203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وَمَكَرُواْ مَكْرًا كُبَّارًا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ومكر الرؤساء مكرًا عظيمًا.</a:t>
            </a:r>
            <a:endParaRPr lang="ar-SA" sz="3200" dirty="0"/>
          </a:p>
        </p:txBody>
      </p:sp>
      <p:sp>
        <p:nvSpPr>
          <p:cNvPr id="9" name="Shape 7"/>
          <p:cNvSpPr/>
          <p:nvPr/>
        </p:nvSpPr>
        <p:spPr>
          <a:xfrm>
            <a:off x="2103120" y="2548128"/>
            <a:ext cx="8641080" cy="0"/>
          </a:xfrm>
          <a:prstGeom prst="line">
            <a:avLst/>
          </a:prstGeom>
          <a:noFill/>
          <a:ln w="9525">
            <a:solidFill>
              <a:schemeClr val="accent2"/>
            </a:solidFill>
            <a:prstDash val="dash"/>
          </a:ln>
        </p:spPr>
      </p:sp>
      <p:sp>
        <p:nvSpPr>
          <p:cNvPr id="10" name="Shape 8"/>
          <p:cNvSpPr/>
          <p:nvPr/>
        </p:nvSpPr>
        <p:spPr>
          <a:xfrm>
            <a:off x="10927080" y="2788920"/>
            <a:ext cx="548640" cy="548640"/>
          </a:xfrm>
          <a:prstGeom prst="star8">
            <a:avLst/>
          </a:prstGeom>
          <a:solidFill>
            <a:schemeClr val="accent2"/>
          </a:solidFill>
          <a:ln/>
        </p:spPr>
      </p:sp>
      <p:sp>
        <p:nvSpPr>
          <p:cNvPr id="11" name="Shape 9"/>
          <p:cNvSpPr/>
          <p:nvPr/>
        </p:nvSpPr>
        <p:spPr>
          <a:xfrm>
            <a:off x="11036808" y="28986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889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2770632"/>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لَا تَذَرُنَّ ءَالِهَتَكُمْ وَلَا تَذَرُنَّ وَدًّا وَلَا سُوَاعًا وَلَا يَغُوثَ وَيَعُوقَ وَنَسْرًا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لأتباعهم: لا تتركوا آلهتكم: ودًّا وسُواعًا ويغوث ويعوق ونسرًا. وكانت أسماء رجال صالحين صُوّروا ثم عُبدوا (البخاري).</a:t>
            </a:r>
            <a:endParaRPr lang="ar-SA" sz="3200" dirty="0"/>
          </a:p>
        </p:txBody>
      </p:sp>
      <p:sp>
        <p:nvSpPr>
          <p:cNvPr id="14" name="Shape 12"/>
          <p:cNvSpPr/>
          <p:nvPr/>
        </p:nvSpPr>
        <p:spPr>
          <a:xfrm>
            <a:off x="2103120" y="4785360"/>
            <a:ext cx="8641080" cy="0"/>
          </a:xfrm>
          <a:prstGeom prst="line">
            <a:avLst/>
          </a:prstGeom>
          <a:noFill/>
          <a:ln w="9525">
            <a:solidFill>
              <a:schemeClr val="accent2"/>
            </a:solidFill>
            <a:prstDash val="dash"/>
          </a:ln>
        </p:spPr>
      </p:sp>
      <p:sp>
        <p:nvSpPr>
          <p:cNvPr id="15" name="Shape 13"/>
          <p:cNvSpPr/>
          <p:nvPr/>
        </p:nvSpPr>
        <p:spPr>
          <a:xfrm>
            <a:off x="10927080" y="5026152"/>
            <a:ext cx="548640" cy="548640"/>
          </a:xfrm>
          <a:prstGeom prst="star8">
            <a:avLst/>
          </a:prstGeom>
          <a:solidFill>
            <a:schemeClr val="accent2"/>
          </a:solidFill>
          <a:ln/>
        </p:spPr>
      </p:sp>
      <p:sp>
        <p:nvSpPr>
          <p:cNvPr id="16" name="Shape 14"/>
          <p:cNvSpPr/>
          <p:nvPr/>
        </p:nvSpPr>
        <p:spPr>
          <a:xfrm>
            <a:off x="11036808" y="513588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261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50078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وَقَدْ أَضَلُّواْ كَثِيرًا وَلَا تَزِدِ الظَّـٰلِمِينَ إِلَّا ضَلَٰلًا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وقد أضلّ هؤلاء الرؤساء كثيرًا من الناس، ولا تزد الظالمين يا رب إلا ضلالًا.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100</a:t>
            </a:fld>
            <a:endParaRPr lang="en-US"/>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263140"/>
            <a:ext cx="548640" cy="548640"/>
          </a:xfrm>
          <a:prstGeom prst="star8">
            <a:avLst/>
          </a:prstGeom>
          <a:solidFill>
            <a:schemeClr val="accent2"/>
          </a:solidFill>
          <a:ln/>
        </p:spPr>
      </p:sp>
      <p:sp>
        <p:nvSpPr>
          <p:cNvPr id="6" name="Shape 4"/>
          <p:cNvSpPr/>
          <p:nvPr/>
        </p:nvSpPr>
        <p:spPr>
          <a:xfrm>
            <a:off x="11036808" y="2372868"/>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2631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2244852"/>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مِّمَّا خَطِيـَٰٔتِهِمْ أُغْرِقُواْ فَأُدْخِلُواْ نَارًا فَلَمْ يَجِدُواْ لَهُم مِّن دُونِ اللَّهِ أَنصَارًا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بسبب ذنوبهم أُغرقوا بالطوفان ثم أُدخلوا النار، ولم يجدوا من ينصرهم من الله.</a:t>
            </a:r>
            <a:endParaRPr lang="ar-SA" sz="3200" dirty="0"/>
          </a:p>
        </p:txBody>
      </p:sp>
      <p:sp>
        <p:nvSpPr>
          <p:cNvPr id="9" name="Shape 7"/>
          <p:cNvSpPr/>
          <p:nvPr/>
        </p:nvSpPr>
        <p:spPr>
          <a:xfrm>
            <a:off x="2103120" y="3941064"/>
            <a:ext cx="8641080" cy="0"/>
          </a:xfrm>
          <a:prstGeom prst="line">
            <a:avLst/>
          </a:prstGeom>
          <a:noFill/>
          <a:ln w="9525">
            <a:solidFill>
              <a:schemeClr val="accent2"/>
            </a:solidFill>
            <a:prstDash val="dash"/>
          </a:ln>
        </p:spPr>
      </p:sp>
      <p:sp>
        <p:nvSpPr>
          <p:cNvPr id="10" name="Shape 8"/>
          <p:cNvSpPr/>
          <p:nvPr/>
        </p:nvSpPr>
        <p:spPr>
          <a:xfrm>
            <a:off x="10927080" y="4201668"/>
            <a:ext cx="548640" cy="548640"/>
          </a:xfrm>
          <a:prstGeom prst="star8">
            <a:avLst/>
          </a:prstGeom>
          <a:solidFill>
            <a:schemeClr val="accent2"/>
          </a:solidFill>
          <a:ln/>
        </p:spPr>
      </p:sp>
      <p:sp>
        <p:nvSpPr>
          <p:cNvPr id="11" name="Shape 9"/>
          <p:cNvSpPr/>
          <p:nvPr/>
        </p:nvSpPr>
        <p:spPr>
          <a:xfrm>
            <a:off x="11036808" y="431139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420166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418338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 نُوحٌ رَّبِّ لَا تَذَرْ عَلَى الْأَرْضِ مِنَ الْكَٰفِرِينَ دَيَّارًا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 نوح: يا رب، لا تترك على الأرض أحدًا من الكافرين.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101</a:t>
            </a:fld>
            <a:endParaRPr lang="en-US"/>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نوح</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٢٧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2093976"/>
            <a:ext cx="548640" cy="548640"/>
          </a:xfrm>
          <a:prstGeom prst="star8">
            <a:avLst/>
          </a:prstGeom>
          <a:solidFill>
            <a:schemeClr val="accent2"/>
          </a:solidFill>
          <a:ln/>
        </p:spPr>
      </p:sp>
      <p:sp>
        <p:nvSpPr>
          <p:cNvPr id="6" name="Shape 4"/>
          <p:cNvSpPr/>
          <p:nvPr/>
        </p:nvSpPr>
        <p:spPr>
          <a:xfrm>
            <a:off x="11036808" y="220370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20939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8" name="Text 6"/>
          <p:cNvSpPr txBox="1"/>
          <p:nvPr/>
        </p:nvSpPr>
        <p:spPr>
          <a:xfrm>
            <a:off x="731520" y="207568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إِنَّكَ إِن تَذَرْهُمْ يُضِلُّواْ عِبَادَكَ وَلَا يَلِدُواْ إِلَّا فَاجِرًا كَفَّارًا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إنك إن تتركهم يُضلّوا عبادك، ولا يلدوا إلا فاجرًا كفّارًا.</a:t>
            </a:r>
            <a:endParaRPr lang="ar-SA" sz="3200" dirty="0"/>
          </a:p>
        </p:txBody>
      </p:sp>
      <p:sp>
        <p:nvSpPr>
          <p:cNvPr id="9" name="Shape 7"/>
          <p:cNvSpPr/>
          <p:nvPr/>
        </p:nvSpPr>
        <p:spPr>
          <a:xfrm>
            <a:off x="2103120" y="3223260"/>
            <a:ext cx="8641080" cy="0"/>
          </a:xfrm>
          <a:prstGeom prst="line">
            <a:avLst/>
          </a:prstGeom>
          <a:noFill/>
          <a:ln w="9525">
            <a:solidFill>
              <a:schemeClr val="accent2"/>
            </a:solidFill>
            <a:prstDash val="dash"/>
          </a:ln>
        </p:spPr>
      </p:sp>
      <p:sp>
        <p:nvSpPr>
          <p:cNvPr id="10" name="Shape 8"/>
          <p:cNvSpPr/>
          <p:nvPr/>
        </p:nvSpPr>
        <p:spPr>
          <a:xfrm>
            <a:off x="10927080" y="3483864"/>
            <a:ext cx="548640" cy="548640"/>
          </a:xfrm>
          <a:prstGeom prst="star8">
            <a:avLst/>
          </a:prstGeom>
          <a:solidFill>
            <a:schemeClr val="accent2"/>
          </a:solidFill>
          <a:ln/>
        </p:spPr>
      </p:sp>
      <p:sp>
        <p:nvSpPr>
          <p:cNvPr id="11" name="Shape 9"/>
          <p:cNvSpPr/>
          <p:nvPr/>
        </p:nvSpPr>
        <p:spPr>
          <a:xfrm>
            <a:off x="11036808" y="359359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4838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3" name="Text 11"/>
          <p:cNvSpPr txBox="1"/>
          <p:nvPr/>
        </p:nvSpPr>
        <p:spPr>
          <a:xfrm>
            <a:off x="731520" y="346557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رَّبِّ اغْفِرْ لِي وَلِوَٰلِدَيَّ وَلِمَن دَخَلَ بَيْتِيَ مُؤْمِنًا وَلِلْمُؤْمِنِينَ وَالْمُؤْمِنَٰتِ وَلَا تَزِدِ الظَّـٰلِمِينَ إِلَّا تَبَارًا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ربِّ اغفر لي ولوالديّ ولمن دخل بيتي مؤمنًا وللمؤمنين والمؤمنات، ولا تزد الظالمين إلا هلاكًا.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102</a:t>
            </a:fld>
            <a:endParaRPr lang="en-US"/>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المعارج</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٤٤</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٧٠</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ذكر ابن كثير عن ابن عباس أن السائل هو النضر بن الحارث، قال: ﴿اللهم إن كان هذا هو الحق من عندك فأمطر علينا حجارة من السماء﴾، فنزلت ﴿سأل سائل بعذاب واقع﴾ (رواه النسائي).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أهوال يوم القيامة، وطبيعة الإنسان الجزوع، وصفات المصلّين الناجين.</a:t>
            </a:r>
            <a:endParaRPr lang="ar-SA" sz="18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سَأَلَ سَآئِلٌ بِعَذَابٍ وَاقِعٍ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دعا داعٍ من المشركين بعذاب واقع، وهو النضر بن الحارث.</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لِّلْكَٰفِرِينَ لَيْسَ لَهُ دَافِعٌ</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واقع على الكافرين، لا يستطيع أحد أن يدفعه.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 اللَّهِ ذِي الْمَعَارِجِ</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الله صاحب العلو والدرجات.</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تَعْرُجُ الْمَلَـٰئِكَةُ وَالرُّوحُ إِلَيْهِ فِي يَوْمٍ كَانَ مِقْدَارُهُ خَمْسِينَ أَلْفَ سَنَةٍ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تصعد إليه الملائكة وجبريل، في يوم القيامة الذي مقداره خمسون ألف سنة.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104</a:t>
            </a:fld>
            <a:endParaRPr lang="en-US"/>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صَبْرًا جَمِيلًا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يا محمد على أذاهم صبرًا لا شكوى فيه.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إِنَّهُمْ يَرَوْنَهُ بَعِيدًا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الكفار يرون يوم القيامة بعيدًا مستحيلًا.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وَنَرَىٰهُ قَرِيبًا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ونراه نحن قريبًا واقعًا.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تَكُونُ السَّمَآءُ كَالْمُهْلِ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تكون السماء مثل الزيت العكر، أو المعدن المذاب.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105</a:t>
            </a:fld>
            <a:endParaRPr lang="en-US"/>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وَتَكُونُ الْجِبَالُ كَالْعِهْنِ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وتكون الجبال كالصوف المنفوش.</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يَسْـَٔلُ حَمِيمٌ حَمِيمًا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يسأل قريبٌ قريبه عن حاله، لانشغال كل واحد بنفسه.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يُبَصَّرُونَهُمْ يَوَدُّ الْمُجْرِمُ لَوْ يَفْتَدِي مِنْ عَذَابِ يَوْمِئِذٍ بِبَنِيهِ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يرى بعضهم بعضًا ويعرفونهم، ويتمنى الكافر لو يفدي نفسه من العذاب بأولاده.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وَصَٰحِبَتِهِ وَأَخِيهِ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وبزوجته وأخيه.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106</a:t>
            </a:fld>
            <a:endParaRPr lang="en-US"/>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وَفَصِيلَتِهِ الَّتِي تُـْٔوِيهِ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وبعشيرته التي كانت تحميه.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وَمَن فِي الْأَرْضِ جَمِيعًا ثُمَّ يُنجِيهِ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وبجميع من في الأرض، ثم ينجو من العذاب.</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إِنَّهَا لَظَىٰ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لا ينفعه الفداء، إنها نار تتلهّب.</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نَزَّاعَةً لِّلشَّوَىٰ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تنزع جلدة الرأس وأطراف الجسد من شدة حرّها.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107</a:t>
            </a:fld>
            <a:endParaRPr lang="en-US"/>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تَدْعُواْ مَنْ أَدْبَرَ وَتَوَلَّىٰ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تنادي من أعرض عن الحق وترك الطاعة.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وَجَمَعَ فَأَوْعَىٰ</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وجمع المال وخزنه، ومنع حق الله فيه.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الْإِنسَٰنَ خُلِقَ هَلُوعًا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الإنسان خُلق شديد الحرص، قليل الصبر.</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مَسَّهُ الشَّرُّ جَزُوعًا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أصابه شر جزع ولم يصبر.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108</a:t>
            </a:fld>
            <a:endParaRPr lang="en-US"/>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وَإِذَا مَسَّهُ الْخَيْرُ مَنُوعًا</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وإذا أصابه خير بخل به ومنعه.</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الْمُصَلِّينَ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المصلّين، فإنهم سالمون من هذه الصفات.</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الَّذِينَ هُمْ عَلَىٰ صَلَاتِهِمْ دَآئِمُونَ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الذين يحافظون على صلاتهم في أوقاتها.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فِي أَمْوَٰلِهِمْ حَقٌّ مَّعْلُومٌ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في أموالهم نصيب معلوم، كالزكاة.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109</a:t>
            </a:fld>
            <a:endParaRPr lang="en-US"/>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لِّلسَّآئِلِ وَالْمَحْرُومِ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للفقير الذي يسأل، والفقير المتعفّف الذي لا يسأل.</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يُصَدِّقُونَ بِيَوْمِ الدِّينِ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يؤمنون بيوم الجزاء.</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مِّنْ عَذَابِ رَبِّهِم مُّشْفِقُونَ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يخافون عذاب ربهم.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عَذَابَ رَبِّهِمْ غَيْرُ مَأْمُونٍ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عذاب ربهم لا ينبغي أن يأمنه أحد.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110</a:t>
            </a:fld>
            <a:endParaRPr lang="en-US"/>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لِفُرُوجِهِمْ حَٰفِظُونَ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يحفظون أنفسهم عن الحرام.</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إِلَّا عَلَىٰ أَزْوَٰجِهِمْ أَوْ مَا مَلَكَتْ أَيْمَٰنُهُمْ فَإِنَّهُمْ غَيْرُ مَلُومِينَ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إلا مع زوجاتهم أو ما ملكت أيمانهم، فلا لوم عليهم.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فَمَنِ ابْتَغَىٰ وَرَآءَ ذَٰلِكَ فَأُوْلَـٰئِكَ هُمُ الْعَادُونَ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فمن طلب غير ذلك فهو متجاوز للحلال إلى الحرام.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لِأَمَٰنَٰتِهِمْ وَعَهْدِهِمْ رَٰعُونَ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يحفظون الأمانات، ويوفون بالعهود.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111</a:t>
            </a:fld>
            <a:endParaRPr lang="en-US"/>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بِشَهَٰدَٰتِهِمْ قَآئِمُونَ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يؤدّون الشهادة بالحق دون زيادة أو نقص.</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وَالَّذِينَ هُمْ عَلَىٰ صَلَاتِهِمْ يُحَافِظُونَ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والذين يحافظون على صلاتهم بأركانها وخشوعها.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أُوْلَـٰئِكَ فِي جَنَّـٰتٍ مُّكْرَمُونَ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أولئك في جنات النعيم مكرّمون.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فَمَالِ الَّذِينَ كَفَرُواْ قِبَلَكَ مُهْطِعِينَ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فما بال الكفار مسرعين نحوك يا محمد ينظرون إليك؟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112</a:t>
            </a:fld>
            <a:endParaRPr lang="en-US"/>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عَنِ الْيَمِينِ وَعَنِ الشِّمَالِ عِزِينَ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عن يمينك وعن شمالك جماعات متفرقة.</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أَيَطْمَعُ كُلُّ امْرِيٍٕ مِّنْهُمْ أَن يُدْخَلَ جَنَّةَ 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أيطمع كل واحد منهم أن يدخل الجنة وهو كافر؟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كَلَّآ إِنَّا خَلَقْنَٰهُم مِّمَّا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كلا، إنا خلقناهم من ماء ضعيف كما يعلمون، فلماذا يتكبّرون؟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أُقْسِمُ بِرَبِّ الْمَشَٰرِقِ وَالْمَغَٰرِبِ إِنَّا لَقَٰدِرُونَ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فأقسم بربّ مشارق الشمس ومغاربها، إنا لقادرون.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113</a:t>
            </a:fld>
            <a:endParaRPr lang="en-US"/>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المعارج</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عَلَىٰ أَن نُّبَدِّلَ خَيْرًا مِّنْهُمْ وَمَا نَحْنُ بِمَسْبُوقِينَ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على أن نأتي بقوم خير منهم، وما نحن بعاجزين.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فَذَرْهُمْ يَخُوضُواْ وَيَلْعَبُواْ حَتَّىٰ يُلَٰقُواْ يَوْمَهُمُ الَّذِي يُوعَدُونَ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فاتركهم يخوضوا في باطلهم ويلعبوا، حتى يلاقوا يوم القيامة الذي يوعدون.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يَخْرُجُونَ مِنَ الْأَجْدَاثِ سِرَاعًا كَأَنَّهُمْ إِلَىٰ نُصُبٍ يُوفِضُونَ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يخرجون من القبور مسرعين، كأنهم يسرعون إلى علامة منصوبة.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خَٰشِعَةً أَبْصَٰرُهُمْ تَرْهَقُهُمْ ذِلَّةٌ ذَٰلِكَ الْيَوْمُ الَّذِي كَانُواْ يُوعَدُونَ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أبصارهم ذليلة، تغشاهم الذلة، ذلك هو اليوم الذي كانوا يوعدون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114</a:t>
            </a:fld>
            <a:endParaRPr lang="en-US"/>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الحاقة</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٥٢</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٦٩</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لها سبب نزول خاص مشهور. وذكر ابن كثير أن عمر بن الخطاب رضي الله عنه سمع النبي صلى الله عليه وسلم يقرؤها عند الكعبة قبل إسلامه، فكان ذلك من أسباب دخول الإسلام في قلبه.</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أهوال يوم القيامة، ومصير الأمم المكذبة، وحال أصحاب اليمين وأصحاب الشمال، وصدق القرآن.</a:t>
            </a:r>
            <a:endParaRPr lang="ar-SA" sz="18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الْحَآقَّةُ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الحاقّة من أسماء يوم القيامة؛ لأنه يتحقق فيه الوعد والوعيد.</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الْحَآقَّةُ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 شيء هي الحاقّة؟ تعظيمٌ لشأنها.</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أَدْرَىٰكَ مَا الْحَآقَّةُ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أعلمك بحقيقتها وهولها؟</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كَذَّبَتْ ثَمُودُ وَعَادٌ بِالْقَارِعَةِ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كذّبت ثمود وعاد بالقيامة التي تقرع القلوب.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116</a:t>
            </a:fld>
            <a:endParaRPr lang="en-US"/>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4203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ثَمُودُ فَأُهْلِكُواْ بِالطَّاغِيَةِ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ثمود فأُهلكوا بالصيحة الشديدة.</a:t>
            </a:r>
            <a:endParaRPr lang="ar-SA" sz="3200" dirty="0"/>
          </a:p>
        </p:txBody>
      </p:sp>
      <p:sp>
        <p:nvSpPr>
          <p:cNvPr id="9" name="Shape 7"/>
          <p:cNvSpPr/>
          <p:nvPr/>
        </p:nvSpPr>
        <p:spPr>
          <a:xfrm>
            <a:off x="2103120" y="2548128"/>
            <a:ext cx="8641080" cy="0"/>
          </a:xfrm>
          <a:prstGeom prst="line">
            <a:avLst/>
          </a:prstGeom>
          <a:noFill/>
          <a:ln w="9525">
            <a:solidFill>
              <a:schemeClr val="accent2"/>
            </a:solidFill>
            <a:prstDash val="dash"/>
          </a:ln>
        </p:spPr>
      </p:sp>
      <p:sp>
        <p:nvSpPr>
          <p:cNvPr id="10" name="Shape 8"/>
          <p:cNvSpPr/>
          <p:nvPr/>
        </p:nvSpPr>
        <p:spPr>
          <a:xfrm>
            <a:off x="10927080" y="2788920"/>
            <a:ext cx="548640" cy="548640"/>
          </a:xfrm>
          <a:prstGeom prst="star8">
            <a:avLst/>
          </a:prstGeom>
          <a:solidFill>
            <a:schemeClr val="accent2"/>
          </a:solidFill>
          <a:ln/>
        </p:spPr>
      </p:sp>
      <p:sp>
        <p:nvSpPr>
          <p:cNvPr id="11" name="Shape 9"/>
          <p:cNvSpPr/>
          <p:nvPr/>
        </p:nvSpPr>
        <p:spPr>
          <a:xfrm>
            <a:off x="11036808" y="28986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889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770632"/>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عَادٌ فَأُهْلِكُواْ بِرِيحٍ صَرْصَرٍ عَاتِيَةٍ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عاد فأُهلكوا بريح شديدة البرد عاتية.</a:t>
            </a:r>
            <a:endParaRPr lang="ar-SA" sz="3200" dirty="0"/>
          </a:p>
        </p:txBody>
      </p:sp>
      <p:sp>
        <p:nvSpPr>
          <p:cNvPr id="14" name="Shape 12"/>
          <p:cNvSpPr/>
          <p:nvPr/>
        </p:nvSpPr>
        <p:spPr>
          <a:xfrm>
            <a:off x="2103120" y="3898392"/>
            <a:ext cx="8641080" cy="0"/>
          </a:xfrm>
          <a:prstGeom prst="line">
            <a:avLst/>
          </a:prstGeom>
          <a:noFill/>
          <a:ln w="9525">
            <a:solidFill>
              <a:schemeClr val="accent2"/>
            </a:solidFill>
            <a:prstDash val="dash"/>
          </a:ln>
        </p:spPr>
      </p:sp>
      <p:sp>
        <p:nvSpPr>
          <p:cNvPr id="15" name="Shape 13"/>
          <p:cNvSpPr/>
          <p:nvPr/>
        </p:nvSpPr>
        <p:spPr>
          <a:xfrm>
            <a:off x="10927080" y="4139184"/>
            <a:ext cx="548640" cy="548640"/>
          </a:xfrm>
          <a:prstGeom prst="star8">
            <a:avLst/>
          </a:prstGeom>
          <a:solidFill>
            <a:schemeClr val="accent2"/>
          </a:solidFill>
          <a:ln/>
        </p:spPr>
      </p:sp>
      <p:sp>
        <p:nvSpPr>
          <p:cNvPr id="16" name="Shape 14"/>
          <p:cNvSpPr/>
          <p:nvPr/>
        </p:nvSpPr>
        <p:spPr>
          <a:xfrm>
            <a:off x="11036808" y="424891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139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412089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سَخَّرَهَا عَلَيْهِمْ سَبْعَ لَيَالٍ وَثَمَٰنِيَةَ أَيَّامٍ حُسُومًا فَتَرَى الْقَوْمَ فِيهَا صَرْعَىٰ كَأَنَّهُمْ أَعْجَازُ نَخْلٍ خَاوِيَةٍ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سلّطها الله عليهم سبع ليالٍ وثمانية أيام متتابعة، فترى القوم صرعى كأنهم أصول نخل ساقطة فارغة.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117</a:t>
            </a:fld>
            <a:endParaRPr lang="en-US"/>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٨ – ١٠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فَهَلْ تَرَىٰ لَهُم مِّن بَاقِيَةٍ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فهل ترى لهم من بقية؟ لا.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وَجَآءَ فِرْعَوْنُ وَمَن قَبْلَهُ وَالْمُؤْتَفِكَٰتُ بِالْخَاطِئَةِ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وجاء فرعون ومن قبله من الأمم، وقرى قوم لوط التي قُلبت، بالذنوب والمعاصي.</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فَعَصَوْاْ رَسُولَ رَبِّهِمْ فَأَخَذَهُمْ أَخْذَةً رَّابِيَةً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فعصوا رسل ربهم، فأخذهم أخذًا شديدًا.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118</a:t>
            </a:fld>
            <a:endParaRPr lang="en-US"/>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١١ – ١٣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لَمَّا طَغَا الْمَآءُ حَمَلْنَٰكُمْ فِي الْجَارِيَةِ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لما ارتفع الماء في طوفان نوح، حملنا آباءكم في السفينة.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لِنَجْعَلَهَا لَكُمْ تَذْكِرَةً وَتَعِيَهَآ أُذُنٌ وَٰعِيَةٌ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لنجعل هذه الحادثة عبرة، وتحفظها أذن حافظة.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فَإِذَا نُفِخَ فِي الصُّورِ نَفْخَةٌ وَٰحِدَةٌ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فإذا نُفخ في الصور نفخة واحدة.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119</a:t>
            </a:fld>
            <a:endParaRPr lang="en-US"/>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١٤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وَحُمِلَتِ الْأَرْضُ وَالْجِبَالُ فَدُكَّتَا دَكَّةً وَٰحِدَةً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ورُفعت الأرض والجبال، فدُقّتا دقة واحدة.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فَيَوْمَئِذٍ وَقَعَتِ الْوَاقِعَةُ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فيومئذ قامت القيامة.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وَانشَقَّتِ السَّمَآءُ فَهِيَ يَوْمَئِذٍ وَاهِيَةٌ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وانشقت السماء فهي يومئذ ضعيفة.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120</a:t>
            </a:fld>
            <a:endParaRPr lang="en-US"/>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١٩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وَالْمَلَكُ عَلَىٰ أَرْجَآئِهَا وَيَحْمِلُ عَرْشَ رَبِّكَ فَوْقَهُمْ يَوْمَئِذٍ ثَمَٰنِيَةٌ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والملائكة على جوانبها، ويحمل عرش ربك فوقهم يومئذ ثمانية من الملائكة.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يَوْمَئِذٍ تُعْرَضُونَ لَا تَخْفَىٰ مِنكُمْ خَافِيَةٌ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يومئذ تُعرضون على الله للحساب، لا يخفى عليه منكم شيء.</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فَأَمَّا مَنْ أُوتِيَ كِتَٰبَهُ بِيَمِينِهِ فَيَقُولُ هَآؤُمُ اقْرَءُواْ كِتَٰبِيَهْ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فأما من أُعطي كتابه بيمينه فيقول فرحًا: خذوا اقرؤوا كتابي.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121</a:t>
            </a:fld>
            <a:endParaRPr lang="en-US"/>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٢٠ – ٢٢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إِنِّي ظَنَنتُ أَنِّي مُلَٰقٍ حِسَابِيَهْ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إني أيقنت في الدنيا أني سألقى حسابي، فعملت له.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فَهُوَ فِي عِيشَةٍ رَّاضِيَةٍ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فهو في عيشة هنيئة يرضاها.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فِي جَنَّةٍ عَالِيَةٍ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في جنة رفيعة المكان.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122</a:t>
            </a:fld>
            <a:endParaRPr lang="en-US"/>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٢٣ – ٢٥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قُطُوفُهَا دَانِيَةٌ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ثمارها قريبة يتناولها بسهولة.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كُلُواْ وَاشْرَبُواْ هَنِيـًٔا بِمَآ أَسْلَفْتُمْ فِي الْأَيَّامِ الْخَالِيَةِ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يُقال لهم: كلوا واشربوا هنيئًا بما قدّمتم من الأعمال الصالحة في أيام الدنيا.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وَأَمَّا مَنْ أُوتِيَ كِتَٰبَهُ بِشِمَالِهِ فَيَقُولُ يَٰلَيْتَنِي لَمْ أُوتَ كِتَٰبِيَهْ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وأما من أُعطي كتابه بشماله فيقول نادمًا: يا ليتني لم أُعطَ كتابي.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123</a:t>
            </a:fld>
            <a:endParaRPr lang="en-US"/>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٢٦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وَلَمْ أَدْرِ مَا حِسَابِيَهْ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 أعرف ما حسابي.</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يَٰلَيْتَهَا كَانَتِ الْقَاضِيَةَ</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يا ليت الموتة كانت النهاية فلم أُبعث.</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أَغْنَىٰ عَنِّي مَالِيَهْ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لم ينفعني مالي.</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124</a:t>
            </a:fld>
            <a:endParaRPr lang="en-US"/>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هَلَكَ عَنِّي سُلْطَٰنِيَهْ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ذهب عني جاهي وقوتي.</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خُذُوهُ فَغُلُّوهُ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 الله للملائكة: خذوه فاجعلوا الأغلال في عنقه.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الْجَحِيمَ صَلُّوهُ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أدخلوه النار.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125</a:t>
            </a:fld>
            <a:endParaRPr lang="en-US"/>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٣٢ – ٣٤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فِي سِلْسِلَةٍ ذَرْعُهَا سَبْعُونَ ذِرَاعًا فَاسْلُكُوهُ</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أدخلوه في سلسلة طولها سبعون ذراعًا.</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كَانَ لَا يُؤْمِنُ بِاللَّهِ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إنه كان لا يؤمن بالله العظيم.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يَحُضُّ عَلَىٰ طَعَامِ الْمِسْكِينِ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يحثّ الناس على إطعام المسكين.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126</a:t>
            </a:fld>
            <a:endParaRPr lang="en-US"/>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٣٥ – ٣٧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فَلَيْسَ لَهُ الْيَوْمَ هَٰهُنَا حَمِيمٌ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فليس له اليوم قريب ينفعه.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طَعَامٌ إِلَّا مِنْ غِسْلِينٍ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طعام له إلا صديد أهل النار.</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لَّا يَأْكُلُهُ إِلَّا الْخَٰطِـُٔونَ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لا يأكله إلا أصحاب الذنوب.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127</a:t>
            </a:fld>
            <a:endParaRPr lang="en-US"/>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٣٨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أُقْسِمُ بِمَا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فأقسم بما ترون من المخلوقات.</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لَا تُبْصِرُونَ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وبما لا ترون منها.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إِنَّهُ لَقَوْلُ رَسُولٍ كَرِيمٍ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القرآن لكلام الله، يتلوه رسول كريم هو محمد صلى الله عليه وسلم.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128</a:t>
            </a:fld>
            <a:endParaRPr lang="en-US"/>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هُوَ بِقَوْلِ شَاعِرٍ قَلِيلًا مَّا تُؤْمِنُونَ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وليس بقول شاعر كما تزعمون، قليلًا ما تؤمنون.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بِقَوْلِ كَاهِنٍ قَلِيلًا مَّا تَذَكَّرُونَ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وليس بقول كاهن، قليلًا ما تتّعظون.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تَنزِيلٌ مِّن رَّبِّ الْعَٰلَمِينَ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ولكنه منزّل من ربّ العالمين.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129</a:t>
            </a:fld>
            <a:endParaRPr lang="en-US"/>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وَلَوْ تَقَوَّلَ عَلَيْنَا بَعْضَ الْأَقَاوِيلِ</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ولو افترى محمد علينا شيئًا لم نقله.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لَأَخَذْنَا مِنْهُ بِالْيَمِينِ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لأخذناه بقوة.</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لَقَطَعْنَا مِنْهُ الْوَتِينَ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لقطعنا عرق قلبه.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130</a:t>
            </a:fld>
            <a:endParaRPr lang="en-US"/>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فَمَا مِنكُم مِّنْ أَحَدٍ عَنْهُ حَٰجِزِينَ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يستطيع أحد منكم أن يمنعنا عنه.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لَتَذْكِرَةٌ لِّلْمُتَّقِينَ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القرآن لموعظة للمتقين.</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وَإِنَّا لَنَعْلَمُ أَنَّ مِنكُم 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وإنا لنعلم أن منكم من يكذّب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131</a:t>
            </a:fld>
            <a:endParaRPr lang="en-US"/>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الحاقة</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لَحَسْرَةٌ عَلَى الْكَٰفِرِينَ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التكذيب به لندامة على الكافرين يوم القيامة.</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وَإِنَّهُ لَحَقُّ الْيَقِينِ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وإنه لحقٌّ لا شك فيه.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فَسَبِّحْ بِاسْمِ رَبِّكَ الْعَظِيمِ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فنزّه ربك العظيم واذكره.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132</a:t>
            </a:fld>
            <a:endParaRPr lang="en-US"/>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القلم</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٥٢</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٦٨</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نزلت ردًّا على المشركين الذين اتهموا النبي صلى الله عليه وسلم بالجنون، فبيّن الله براءته وأثنى على خُلقه العظيم.</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الدفاع عن النبي صلى الله عليه وسلم والثناء على خُلقه العظيم، وقصة أصحاب الجنة، والتحذير من صفات المكذبين.</a:t>
            </a:r>
            <a:endParaRPr lang="ar-SA" sz="180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ن وَالْقَلَمِ وَمَا يَسْطُرُونَ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«ن» من الحروف المقطّعة، وأقسم الله بالقلم وبما يكتبه الناس.</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أَنتَ بِنِعْمَةِ رَبِّكَ بِمَجْنُونٍ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أنت يا محمد -بفضل ربك عليك- بمجنون كما يزعم المشركون.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لَكَ لَأَجْرًا غَيْرَ مَمْنُونٍ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لك لأجرًا عظيمًا غير مقطوع.</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وَإِنَّكَ لَعَلَىٰ خُلُقٍ عَظِيمٍ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وإنك لعلى أخلاق عظيمة. قالت عائشة: «كان خُلقه القرآن» (رواه مسلم).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134</a:t>
            </a:fld>
            <a:endParaRPr lang="en-US"/>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 – 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فَسَتُبْصِرُ وَيُبْصِرُونَ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فسترى ويرون.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بِأَييِّكُمُ الْمَفْتُونُ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أيكم المجنون الضالّ.</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رَبَّكَ هُوَ أَعْلَمُ بِمَن ضَلَّ عَن سَبِيلِهِ وَهُوَ أَعْلَمُ بِالْمُهْتَدِينَ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ربك أعلم بمن ضلّ عن طريقه، وأعلم بالمهتدين.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فَلَا تُطِعِ الْمُكَذِّبِينَ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فلا تطع المكذبين.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135</a:t>
            </a:fld>
            <a:endParaRPr lang="en-US"/>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٩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وَدُّواْ لَوْ تُدْهِنُ فَيُدْهِنُونَ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تمنّوا لو تلين لهم في دينك فيلينون لك.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تُطِعْ كُلَّ حَلَّافٍ مَّهِينٍ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ولا تطع كل كثير الحلف بالباطل، حقير.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هَمَّازٍ مَّشَّآءٍ بِنَمِيمٍ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عيّابٍ للناس، يمشي بينهم بالنميمة.</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مَّنَّاعٍ لِّلْخَيْرِ مُعْتَدٍ أَثِيمٍ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يمنع الخير، ظالم، كثير الذنوب.</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136</a:t>
            </a:fld>
            <a:endParaRPr lang="en-US"/>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عُتُلٍّ بَعْدَ ذَٰلِكَ زَنِيمٍ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غليظ جافٍ، مشهور بالشر.</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كَانَ ذَا مَالٍ وَبَنِينَ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لأنه كان صاحب مال وأولاد تكبّر.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تُتْلَىٰ عَلَيْهِ ءَايَٰتُنَا قَالَ أَسَٰطِيرُ الْأَوَّلِينَ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تُقرأ عليه آيات القرآن قال: حكايات الأولين.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سَنَسِمُهُ عَلَى الْخُرْطُومِ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سنجعل على أنفه علامة يُعرف بها.</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137</a:t>
            </a:fld>
            <a:endParaRPr lang="en-US"/>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١٧ – ٢٠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إِنَّا بَلَوْنَٰهُمْ كَمَا بَلَوْنَآ أَصْحَٰبَ الْجَنَّةِ إِذْ أَقْسَمُواْ لَيَصْرِمُنَّهَا مُصْبِحِينَ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إنا اختبرنا أهل مكة كما اختبرنا أصحاب البستان، حين حلفوا ليقطعُنّ ثماره في الصباح.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وَلَا يَسْتَثْنُونَ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ولم يقولوا: إن شاء الله، ونووا منع الفقراء.</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فَطَافَ عَلَيْهَا طَآئِفٌ مِّن رَّبِّكَ وَهُمْ نَآئِمُونَ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فأرسل الله على البستان عذابًا وهم نائمون.</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فَأَصْبَحَتْ كَالصَّرِيمِ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فأصبح البستان محترقًا كالليل الأسود.</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138</a:t>
            </a:fld>
            <a:endParaRPr lang="en-US"/>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٢١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فَتَنَادَوْاْ مُصْبِحِينَ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فنادى بعضهم بعضًا في الصباح.</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اغْدُواْ عَلَىٰ حَرْثِكُمْ إِن كُنتُمْ صَٰرِمِينَ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 اخرجوا مبكرين إلى بستانكم إن كنتم تريدون قطع ثماره.</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فَانطَلَقُواْ وَهُمْ يَتَخَٰفَتُونَ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فانطلقوا يتكلمون بصوت منخفض.</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أَن لَّا يَدْخُلَنَّهَا الْيَوْمَ عَلَيْكُم مِّسْكِينٌ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يقولون: لا تسمحوا لأي فقير أن يدخله اليوم.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139</a:t>
            </a:fld>
            <a:endParaRPr lang="en-US"/>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وَغَدَوْاْ عَلَىٰ حَرْدٍ قَٰدِرِينَ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وخرجوا مبكرين عازمين على منع الفقراء، ظانّين أنهم قادرون.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رَأَوْهَا قَالُواْ إِنَّا لَضَآلُّونَ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رأوا البستان محترقًا قالوا: لقد ضللنا الطريق.</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بَلْ نَحْنُ مَحْرُومُونَ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عرفوا أنه بستانهم فقالوا: بل حُرمنا ثماره.</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 أَوْسَطُهُمْ أَلَمْ أَقُل لَّكُمْ لَوْلَا تُسَبِّحُونَ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 أعدلهم: ألم أقل لكم هلّا تسبّحون الله وتشكرونه؟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140</a:t>
            </a:fld>
            <a:endParaRPr lang="en-US"/>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٢٩ – ٣٢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سُبْحَٰنَ رَبِّنَآ إِنَّا كُنَّا ظَٰلِمِينَ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سبحان ربنا، إنا كنا ظالمين بمنع الفقراء.</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فَأَقْبَلَ بَعْضُهُمْ عَلَىٰ بَعْضٍ يَتَلَٰوَمُونَ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فأقبل بعضهم على بعض يلوم كل واحد الآخر.</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٣١</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يَٰوَيْلَنَآ إِنَّا كُنَّا طَٰغِينَ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يا هلاكنا، إنا كنا متجاوزين للحد.</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٣٢</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عَسَىٰ رَبُّنَآ أَن يُبْدِلَنَا خَيْرًا مِّنْهَآ إِنَّآ إِلَىٰ رَبِّنَا رَٰغِبُونَ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عسى ربنا أن يعطينا خيرًا منه، إنا إلى ربنا راغبون تائبون.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141</a:t>
            </a:fld>
            <a:endParaRPr lang="en-US"/>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٣٣ – ٣٦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٣٣</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كَذَٰلِكَ الْعَذَابُ وَلَعَذَابُ الْأخِرَةِ أَكْبَرُ لَوْ كَانُواْ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هكذا يكون عذاب الدنيا لمن خالف أمر الله، وعذاب الآخرة أكبر لو كانوا يعلمون.</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٣٤</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لِلْمُتَّقِينَ عِندَ رَبِّهِمْ جَنَّـٰتِ النَّعِيمِ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للمتقين عند ربهم جنات النعيم.</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٣٥</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أَفَنَجْعَلُ الْمُسْلِمِينَ كَالْمُجْرِمِينَ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أفنجعل المسلمين المطيعين مثل المجرمين في الجزاء؟</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٣٦</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مَا لَكُمْ كَيْفَ تَحْكُمُونَ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ما لكم، كيف تحكمون هذا الحكم الجائر؟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142</a:t>
            </a:fld>
            <a:endParaRPr lang="en-US"/>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٣٧ – ٤٠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80744"/>
            <a:ext cx="548640" cy="548640"/>
          </a:xfrm>
          <a:prstGeom prst="star8">
            <a:avLst/>
          </a:prstGeom>
          <a:solidFill>
            <a:schemeClr val="accent2"/>
          </a:solidFill>
          <a:ln/>
        </p:spPr>
      </p:sp>
      <p:sp>
        <p:nvSpPr>
          <p:cNvPr id="6" name="Shape 4"/>
          <p:cNvSpPr/>
          <p:nvPr/>
        </p:nvSpPr>
        <p:spPr>
          <a:xfrm>
            <a:off x="11036808" y="149047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8074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٣٧</a:t>
            </a:r>
            <a:endParaRPr lang="ar-SA" sz="1600" dirty="0"/>
          </a:p>
        </p:txBody>
      </p:sp>
      <p:sp>
        <p:nvSpPr>
          <p:cNvPr id="8" name="Text 6"/>
          <p:cNvSpPr txBox="1"/>
          <p:nvPr/>
        </p:nvSpPr>
        <p:spPr>
          <a:xfrm>
            <a:off x="731520" y="136245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لَكُمْ كِتَٰبٌ فِيهِ تَدْرُسُونَ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لكم كتاب من السماء تقرؤون فيه ذلك؟</a:t>
            </a:r>
            <a:endParaRPr lang="ar-SA" sz="3200" dirty="0"/>
          </a:p>
        </p:txBody>
      </p:sp>
      <p:sp>
        <p:nvSpPr>
          <p:cNvPr id="9" name="Shape 7"/>
          <p:cNvSpPr/>
          <p:nvPr/>
        </p:nvSpPr>
        <p:spPr>
          <a:xfrm>
            <a:off x="2103120" y="2432304"/>
            <a:ext cx="8641080" cy="0"/>
          </a:xfrm>
          <a:prstGeom prst="line">
            <a:avLst/>
          </a:prstGeom>
          <a:noFill/>
          <a:ln w="9525">
            <a:solidFill>
              <a:schemeClr val="accent2"/>
            </a:solidFill>
            <a:prstDash val="dash"/>
          </a:ln>
        </p:spPr>
      </p:sp>
      <p:sp>
        <p:nvSpPr>
          <p:cNvPr id="10" name="Shape 8"/>
          <p:cNvSpPr/>
          <p:nvPr/>
        </p:nvSpPr>
        <p:spPr>
          <a:xfrm>
            <a:off x="10927080" y="2615184"/>
            <a:ext cx="548640" cy="548640"/>
          </a:xfrm>
          <a:prstGeom prst="star8">
            <a:avLst/>
          </a:prstGeom>
          <a:solidFill>
            <a:schemeClr val="accent2"/>
          </a:solidFill>
          <a:ln/>
        </p:spPr>
      </p:sp>
      <p:sp>
        <p:nvSpPr>
          <p:cNvPr id="11" name="Shape 9"/>
          <p:cNvSpPr/>
          <p:nvPr/>
        </p:nvSpPr>
        <p:spPr>
          <a:xfrm>
            <a:off x="11036808" y="27249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6151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٣٨</a:t>
            </a:r>
            <a:endParaRPr lang="ar-SA" sz="1600" dirty="0"/>
          </a:p>
        </p:txBody>
      </p:sp>
      <p:sp>
        <p:nvSpPr>
          <p:cNvPr id="13" name="Text 11"/>
          <p:cNvSpPr txBox="1"/>
          <p:nvPr/>
        </p:nvSpPr>
        <p:spPr>
          <a:xfrm>
            <a:off x="731520" y="25968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لَكُمْ فِيهِ لَمَا تَخَيَّرُونَ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أن لكم فيه ما تختارون وتشتهون؟</a:t>
            </a:r>
            <a:endParaRPr lang="ar-SA" sz="3200" dirty="0"/>
          </a:p>
        </p:txBody>
      </p:sp>
      <p:sp>
        <p:nvSpPr>
          <p:cNvPr id="14" name="Shape 12"/>
          <p:cNvSpPr/>
          <p:nvPr/>
        </p:nvSpPr>
        <p:spPr>
          <a:xfrm>
            <a:off x="2103120" y="3666744"/>
            <a:ext cx="8641080" cy="0"/>
          </a:xfrm>
          <a:prstGeom prst="line">
            <a:avLst/>
          </a:prstGeom>
          <a:noFill/>
          <a:ln w="9525">
            <a:solidFill>
              <a:schemeClr val="accent2"/>
            </a:solidFill>
            <a:prstDash val="dash"/>
          </a:ln>
        </p:spPr>
      </p:sp>
      <p:sp>
        <p:nvSpPr>
          <p:cNvPr id="15" name="Shape 13"/>
          <p:cNvSpPr/>
          <p:nvPr/>
        </p:nvSpPr>
        <p:spPr>
          <a:xfrm>
            <a:off x="10927080" y="3849624"/>
            <a:ext cx="548640" cy="548640"/>
          </a:xfrm>
          <a:prstGeom prst="star8">
            <a:avLst/>
          </a:prstGeom>
          <a:solidFill>
            <a:schemeClr val="accent2"/>
          </a:solidFill>
          <a:ln/>
        </p:spPr>
      </p:sp>
      <p:sp>
        <p:nvSpPr>
          <p:cNvPr id="16" name="Shape 14"/>
          <p:cNvSpPr/>
          <p:nvPr/>
        </p:nvSpPr>
        <p:spPr>
          <a:xfrm>
            <a:off x="11036808" y="3959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3849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٣٩</a:t>
            </a:r>
            <a:endParaRPr lang="ar-SA" sz="1600" dirty="0"/>
          </a:p>
        </p:txBody>
      </p:sp>
      <p:sp>
        <p:nvSpPr>
          <p:cNvPr id="18" name="Text 16"/>
          <p:cNvSpPr txBox="1"/>
          <p:nvPr/>
        </p:nvSpPr>
        <p:spPr>
          <a:xfrm>
            <a:off x="731520" y="383133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لَكُمْ أَيْمَٰنٌ عَلَيْنَا بَٰلِغَةٌ إِلَىٰ يَوْمِ الْقِيَٰمَةِ إِنَّ لَكُمْ لَمَا تَحْكُمُونَ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لكم عهود مؤكدة علينا إلى يوم القيامة أن لكم ما تحكمون به لأنفسكم؟</a:t>
            </a:r>
            <a:endParaRPr lang="ar-SA" sz="3200" dirty="0"/>
          </a:p>
        </p:txBody>
      </p:sp>
      <p:sp>
        <p:nvSpPr>
          <p:cNvPr id="19" name="Shape 17"/>
          <p:cNvSpPr/>
          <p:nvPr/>
        </p:nvSpPr>
        <p:spPr>
          <a:xfrm>
            <a:off x="2103120" y="4901184"/>
            <a:ext cx="8641080" cy="0"/>
          </a:xfrm>
          <a:prstGeom prst="line">
            <a:avLst/>
          </a:prstGeom>
          <a:noFill/>
          <a:ln w="9525">
            <a:solidFill>
              <a:schemeClr val="accent2"/>
            </a:solidFill>
            <a:prstDash val="dash"/>
          </a:ln>
        </p:spPr>
      </p:sp>
      <p:sp>
        <p:nvSpPr>
          <p:cNvPr id="20" name="Shape 18"/>
          <p:cNvSpPr/>
          <p:nvPr/>
        </p:nvSpPr>
        <p:spPr>
          <a:xfrm>
            <a:off x="10927080" y="5084064"/>
            <a:ext cx="548640" cy="548640"/>
          </a:xfrm>
          <a:prstGeom prst="star8">
            <a:avLst/>
          </a:prstGeom>
          <a:solidFill>
            <a:schemeClr val="accent2"/>
          </a:solidFill>
          <a:ln/>
        </p:spPr>
      </p:sp>
      <p:sp>
        <p:nvSpPr>
          <p:cNvPr id="21" name="Shape 19"/>
          <p:cNvSpPr/>
          <p:nvPr/>
        </p:nvSpPr>
        <p:spPr>
          <a:xfrm>
            <a:off x="11036808" y="5193792"/>
            <a:ext cx="329184" cy="329184"/>
          </a:xfrm>
          <a:prstGeom prst="ellipse">
            <a:avLst/>
          </a:prstGeom>
          <a:solidFill>
            <a:schemeClr val="bg2"/>
          </a:solidFill>
          <a:ln w="19050">
            <a:solidFill>
              <a:schemeClr val="tx2"/>
            </a:solidFill>
            <a:prstDash val="solid"/>
          </a:ln>
        </p:spPr>
      </p:sp>
      <p:sp>
        <p:nvSpPr>
          <p:cNvPr id="22" name="Text 20"/>
          <p:cNvSpPr txBox="1"/>
          <p:nvPr/>
        </p:nvSpPr>
        <p:spPr>
          <a:xfrm>
            <a:off x="10927080" y="50840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٤٠</a:t>
            </a:r>
            <a:endParaRPr lang="ar-SA" sz="1600" dirty="0"/>
          </a:p>
        </p:txBody>
      </p:sp>
      <p:sp>
        <p:nvSpPr>
          <p:cNvPr id="23" name="Text 21"/>
          <p:cNvSpPr txBox="1"/>
          <p:nvPr/>
        </p:nvSpPr>
        <p:spPr>
          <a:xfrm>
            <a:off x="731520" y="506577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سَلْهُمْ أَيُّهُم بِذَٰلِكَ زَعِيمٌ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سلهم يا محمد: أيّهم كفيل بذلك؟</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143</a:t>
            </a:fld>
            <a:endParaRPr lang="en-US"/>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٤١ – ٤٣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04188"/>
            <a:ext cx="548640" cy="548640"/>
          </a:xfrm>
          <a:prstGeom prst="star8">
            <a:avLst/>
          </a:prstGeom>
          <a:solidFill>
            <a:schemeClr val="accent2"/>
          </a:solidFill>
          <a:ln/>
        </p:spPr>
      </p:sp>
      <p:sp>
        <p:nvSpPr>
          <p:cNvPr id="6" name="Shape 4"/>
          <p:cNvSpPr/>
          <p:nvPr/>
        </p:nvSpPr>
        <p:spPr>
          <a:xfrm>
            <a:off x="11036808" y="1613916"/>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0418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٤١</a:t>
            </a:r>
            <a:endParaRPr lang="ar-SA" sz="1600" dirty="0"/>
          </a:p>
        </p:txBody>
      </p:sp>
      <p:sp>
        <p:nvSpPr>
          <p:cNvPr id="8" name="Text 6"/>
          <p:cNvSpPr txBox="1"/>
          <p:nvPr/>
        </p:nvSpPr>
        <p:spPr>
          <a:xfrm>
            <a:off x="731520" y="1485900"/>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لَهُمْ شُرَكَآءُ فَلْيَأْتُواْ بِشُرَكَآئِهِمْ إِن كَانُواْ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لهم شركاء يوافقونهم؟ فليأتوا بهم إن كانوا صادقين.</a:t>
            </a:r>
            <a:endParaRPr lang="ar-SA" sz="3200" dirty="0"/>
          </a:p>
        </p:txBody>
      </p:sp>
      <p:sp>
        <p:nvSpPr>
          <p:cNvPr id="9" name="Shape 7"/>
          <p:cNvSpPr/>
          <p:nvPr/>
        </p:nvSpPr>
        <p:spPr>
          <a:xfrm>
            <a:off x="2103120" y="2633472"/>
            <a:ext cx="8641080" cy="0"/>
          </a:xfrm>
          <a:prstGeom prst="line">
            <a:avLst/>
          </a:prstGeom>
          <a:noFill/>
          <a:ln w="9525">
            <a:solidFill>
              <a:schemeClr val="accent2"/>
            </a:solidFill>
            <a:prstDash val="dash"/>
          </a:ln>
        </p:spPr>
      </p:sp>
      <p:sp>
        <p:nvSpPr>
          <p:cNvPr id="10" name="Shape 8"/>
          <p:cNvSpPr/>
          <p:nvPr/>
        </p:nvSpPr>
        <p:spPr>
          <a:xfrm>
            <a:off x="10927080" y="2894076"/>
            <a:ext cx="548640" cy="548640"/>
          </a:xfrm>
          <a:prstGeom prst="star8">
            <a:avLst/>
          </a:prstGeom>
          <a:solidFill>
            <a:schemeClr val="accent2"/>
          </a:solidFill>
          <a:ln/>
        </p:spPr>
      </p:sp>
      <p:sp>
        <p:nvSpPr>
          <p:cNvPr id="11" name="Shape 9"/>
          <p:cNvSpPr/>
          <p:nvPr/>
        </p:nvSpPr>
        <p:spPr>
          <a:xfrm>
            <a:off x="11036808" y="3003804"/>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89407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٤٢</a:t>
            </a:r>
            <a:endParaRPr lang="ar-SA" sz="1600" dirty="0"/>
          </a:p>
        </p:txBody>
      </p:sp>
      <p:sp>
        <p:nvSpPr>
          <p:cNvPr id="13" name="Text 11"/>
          <p:cNvSpPr txBox="1"/>
          <p:nvPr/>
        </p:nvSpPr>
        <p:spPr>
          <a:xfrm>
            <a:off x="731520" y="2875788"/>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يَوْمَ يُكْشَفُ عَن سَاقٍ وَيُدْعَوْنَ إِلَى السُّجُودِ فَلَا يَسْتَطِيعُونَ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يوم القيامة يكشف ربنا عن ساقه، ويُدعى الناس إلى السجود، فلا يستطيع المنافقون والكافرون، كما في حديث أبي سعيد (البخاري).</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٤٣</a:t>
            </a:r>
            <a:endParaRPr lang="ar-SA" sz="1600" dirty="0"/>
          </a:p>
        </p:txBody>
      </p:sp>
      <p:sp>
        <p:nvSpPr>
          <p:cNvPr id="18" name="Text 16"/>
          <p:cNvSpPr txBox="1"/>
          <p:nvPr/>
        </p:nvSpPr>
        <p:spPr>
          <a:xfrm>
            <a:off x="731520" y="4604004"/>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خَٰشِعَةً أَبْصَٰرُهُمْ تَرْهَقُهُمْ ذِلَّةٌ وَقَدْ كَانُواْ يُدْعَوْنَ إِلَى السُّجُودِ وَهُمْ سَٰلِمُونَ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أبصارهم ذليلة تغشاهم الذلة، وقد كانوا يُدعون إلى الصلاة في الدنيا وهم أصحّاء فيرفضون.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144</a:t>
            </a:fld>
            <a:endParaRPr lang="en-US"/>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٤٤ – ٤٦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٤٤</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فَذَرْنِي وَمَن يُكَذِّبُ بِهَٰذَا الْحَدِيثِ سَنَسْتَدْرِجُهُم مِّنْ حَيْثُ لَا يَعْلَمُونَ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فاتركني ومن يكذّب بالقرآن، سنأخذهم بالتدريج من حيث لا يشعرون.</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٤٥</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وَأُمْلِي لَهُمْ إِنَّ كَيْدِي مَتِينٌ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وأمهلهم، إن تدبيري قوي محكم.</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٤٦</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تَسْـَٔلُهُمْ أَجْرًا فَهُم مِّن مَّغْرَمٍ مُّثْقَلُونَ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تطلب منهم أجرًا على الدعوة فهم مثقلون به؟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145</a:t>
            </a:fld>
            <a:endParaRPr lang="en-US"/>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٤٧ – ٤٩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٤٧</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عِندَهُمُ الْغَيْبُ فَهُمْ يَكْتُبُونَ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عندهم علم الغيب فهم يكتبون منه ما يحكمون به؟</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٤٨</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فَاصْبِرْ لِحُكْمِ رَبِّكَ وَلَا تَكُن كَصَاحِبِ الْحُوتِ إِذْ نَادَىٰ وَهُوَ مَكْظُومٌ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فاصبر لحكم ربك، ولا تكن كيونس صاحب الحوت حين دعا ربه وهو مملوء غمًّا.</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٤٩</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لَّوْلَآ أَن تَدَٰرَكَهُ نِعْمَةٌ مِّن رَّبِّهِ لَنُبِذَ بِالْعَرَآءِ وَهُوَ مَذْمُومٌ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لولا أن رحمه ربه لطُرح في الأرض الخالية وهو ملوم.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146</a:t>
            </a:fld>
            <a:endParaRPr lang="en-US"/>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القلم</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٥٠ – ٥٢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٥٠</a:t>
            </a:r>
            <a:endParaRPr lang="ar-SA" sz="1600" dirty="0"/>
          </a:p>
        </p:txBody>
      </p:sp>
      <p:sp>
        <p:nvSpPr>
          <p:cNvPr id="8" name="Text 6"/>
          <p:cNvSpPr txBox="1"/>
          <p:nvPr/>
        </p:nvSpPr>
        <p:spPr>
          <a:xfrm>
            <a:off x="731520" y="154990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فَاجْتَبَٰهُ رَبُّهُ فَجَعَلَهُ مِنَ الصَّـٰلِحِينَ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فاختاره ربه وجعله من الصالحين.</a:t>
            </a:r>
            <a:endParaRPr lang="ar-SA" sz="3200" dirty="0"/>
          </a:p>
        </p:txBody>
      </p:sp>
      <p:sp>
        <p:nvSpPr>
          <p:cNvPr id="9" name="Shape 7"/>
          <p:cNvSpPr/>
          <p:nvPr/>
        </p:nvSpPr>
        <p:spPr>
          <a:xfrm>
            <a:off x="2103120" y="2697480"/>
            <a:ext cx="8641080" cy="0"/>
          </a:xfrm>
          <a:prstGeom prst="line">
            <a:avLst/>
          </a:prstGeom>
          <a:noFill/>
          <a:ln w="9525">
            <a:solidFill>
              <a:schemeClr val="accent2"/>
            </a:solidFill>
            <a:prstDash val="dash"/>
          </a:ln>
        </p:spPr>
      </p:sp>
      <p:sp>
        <p:nvSpPr>
          <p:cNvPr id="10" name="Shape 8"/>
          <p:cNvSpPr/>
          <p:nvPr/>
        </p:nvSpPr>
        <p:spPr>
          <a:xfrm>
            <a:off x="10927080" y="2958084"/>
            <a:ext cx="548640" cy="548640"/>
          </a:xfrm>
          <a:prstGeom prst="star8">
            <a:avLst/>
          </a:prstGeom>
          <a:solidFill>
            <a:schemeClr val="accent2"/>
          </a:solidFill>
          <a:ln/>
        </p:spPr>
      </p:sp>
      <p:sp>
        <p:nvSpPr>
          <p:cNvPr id="11" name="Shape 9"/>
          <p:cNvSpPr/>
          <p:nvPr/>
        </p:nvSpPr>
        <p:spPr>
          <a:xfrm>
            <a:off x="11036808" y="30678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580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٥١</a:t>
            </a:r>
            <a:endParaRPr lang="ar-SA" sz="1600" dirty="0"/>
          </a:p>
        </p:txBody>
      </p:sp>
      <p:sp>
        <p:nvSpPr>
          <p:cNvPr id="13" name="Text 11"/>
          <p:cNvSpPr txBox="1"/>
          <p:nvPr/>
        </p:nvSpPr>
        <p:spPr>
          <a:xfrm>
            <a:off x="731520" y="2939796"/>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وَإِن يَكَادُ الَّذِينَ كَفَرُواْ لَيُزْلِقُونَكَ بِأَبْصَٰرِهِمْ لَمَّا سَمِعُواْ الذِّكْرَ وَيَقُولُونَ إِنَّهُ لَمَجْنُونٌ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وإن الكفار ليكادون يصيبونك بأعينهم حسدًا لما سمعوا القرآن، ويقولون: إنه لمجنون.</a:t>
            </a:r>
            <a:endParaRPr lang="ar-SA" sz="3200" dirty="0"/>
          </a:p>
        </p:txBody>
      </p:sp>
      <p:sp>
        <p:nvSpPr>
          <p:cNvPr id="14" name="Shape 12"/>
          <p:cNvSpPr/>
          <p:nvPr/>
        </p:nvSpPr>
        <p:spPr>
          <a:xfrm>
            <a:off x="2103120" y="4636008"/>
            <a:ext cx="8641080" cy="0"/>
          </a:xfrm>
          <a:prstGeom prst="line">
            <a:avLst/>
          </a:prstGeom>
          <a:noFill/>
          <a:ln w="9525">
            <a:solidFill>
              <a:schemeClr val="accent2"/>
            </a:solidFill>
            <a:prstDash val="dash"/>
          </a:ln>
        </p:spPr>
      </p:sp>
      <p:sp>
        <p:nvSpPr>
          <p:cNvPr id="15" name="Shape 13"/>
          <p:cNvSpPr/>
          <p:nvPr/>
        </p:nvSpPr>
        <p:spPr>
          <a:xfrm>
            <a:off x="10927080" y="4896612"/>
            <a:ext cx="548640" cy="548640"/>
          </a:xfrm>
          <a:prstGeom prst="star8">
            <a:avLst/>
          </a:prstGeom>
          <a:solidFill>
            <a:schemeClr val="accent2"/>
          </a:solidFill>
          <a:ln/>
        </p:spPr>
      </p:sp>
      <p:sp>
        <p:nvSpPr>
          <p:cNvPr id="16" name="Shape 14"/>
          <p:cNvSpPr/>
          <p:nvPr/>
        </p:nvSpPr>
        <p:spPr>
          <a:xfrm>
            <a:off x="11036808" y="500634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89661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٥٢</a:t>
            </a:r>
            <a:endParaRPr lang="ar-SA" sz="1600" dirty="0"/>
          </a:p>
        </p:txBody>
      </p:sp>
      <p:sp>
        <p:nvSpPr>
          <p:cNvPr id="18" name="Text 16"/>
          <p:cNvSpPr txBox="1"/>
          <p:nvPr/>
        </p:nvSpPr>
        <p:spPr>
          <a:xfrm>
            <a:off x="731520" y="487832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وَمَا هُوَ إِلَّا ذِكْرٌ لِّلْعَٰلَمِينَ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وما القرآن إلا موعظة للعالمين.</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147</a:t>
            </a:fld>
            <a:endParaRPr lang="en-US"/>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ph idx="101" type="title" hasCustomPrompt="1"/>
          </p:nvPr>
        </p:nvSpPr>
        <p:spPr>
          <a:xfrm>
            <a:off x="3626968" y="603504"/>
            <a:ext cx="4937760" cy="987552"/>
          </a:xfrm>
          <a:prstGeom prst="rect">
            <a:avLst/>
          </a:prstGeom>
          <a:noFill/>
          <a:ln/>
        </p:spPr>
        <p:txBody>
          <a:bodyPr wrap="square" lIns="0" tIns="0" rIns="0" bIns="0" rtlCol="0" anchor="ctr"/>
          <a:lstStyle/>
          <a:p>
            <a:pPr rtl="1" algn="ctr" indent="0" marL="0">
              <a:buNone/>
            </a:pPr>
            <a:r>
              <a:rPr lang="en-US" sz="4800" b="1" dirty="0">
                <a:solidFill>
                  <a:schemeClr val="accent2"/>
                </a:solidFill>
                <a:latin typeface="Sakkal Majalla" pitchFamily="34" charset="0"/>
                <a:ea typeface="Sakkal Majalla" pitchFamily="34" charset="-122"/>
                <a:cs typeface="Sakkal Majalla" pitchFamily="34" charset="-120"/>
              </a:rPr>
              <a:t>سورة الملك</a:t>
            </a:r>
            <a:endParaRPr lang="en-US" sz="4800" dirty="0"/>
          </a:p>
        </p:txBody>
      </p:sp>
      <p:sp>
        <p:nvSpPr>
          <p:cNvPr id="3" name="Shape 1"/>
          <p:cNvSpPr/>
          <p:nvPr/>
        </p:nvSpPr>
        <p:spPr>
          <a:xfrm>
            <a:off x="7741768" y="1828800"/>
            <a:ext cx="2834640" cy="457200"/>
          </a:xfrm>
          <a:prstGeom prst="roundRect">
            <a:avLst>
              <a:gd name="adj" fmla="val 50000"/>
            </a:avLst>
          </a:prstGeom>
          <a:solidFill>
            <a:schemeClr val="tx2"/>
          </a:solidFill>
          <a:ln w="15875">
            <a:solidFill>
              <a:schemeClr val="accent2"/>
            </a:solidFill>
            <a:prstDash val="solid"/>
          </a:ln>
        </p:spPr>
      </p:sp>
      <p:sp>
        <p:nvSpPr>
          <p:cNvPr id="4" name="Text 2"/>
          <p:cNvSpPr txBox="1"/>
          <p:nvPr/>
        </p:nvSpPr>
        <p:spPr>
          <a:xfrm>
            <a:off x="774176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عدد آياتها: ٣٠</a:t>
            </a:r>
            <a:endParaRPr lang="ar-SA" sz="1600" dirty="0"/>
          </a:p>
        </p:txBody>
      </p:sp>
      <p:sp>
        <p:nvSpPr>
          <p:cNvPr id="5" name="Shape 3"/>
          <p:cNvSpPr/>
          <p:nvPr/>
        </p:nvSpPr>
        <p:spPr>
          <a:xfrm>
            <a:off x="4678528" y="1828800"/>
            <a:ext cx="2834640" cy="457200"/>
          </a:xfrm>
          <a:prstGeom prst="roundRect">
            <a:avLst>
              <a:gd name="adj" fmla="val 50000"/>
            </a:avLst>
          </a:prstGeom>
          <a:solidFill>
            <a:schemeClr val="tx2"/>
          </a:solidFill>
          <a:ln w="15875">
            <a:solidFill>
              <a:schemeClr val="accent2"/>
            </a:solidFill>
            <a:prstDash val="solid"/>
          </a:ln>
        </p:spPr>
      </p:sp>
      <p:sp>
        <p:nvSpPr>
          <p:cNvPr id="6" name="Text 4"/>
          <p:cNvSpPr txBox="1"/>
          <p:nvPr/>
        </p:nvSpPr>
        <p:spPr>
          <a:xfrm>
            <a:off x="467852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مكية</a:t>
            </a:r>
            <a:endParaRPr lang="ar-SA" sz="1600" dirty="0"/>
          </a:p>
        </p:txBody>
      </p:sp>
      <p:sp>
        <p:nvSpPr>
          <p:cNvPr id="7" name="Shape 5"/>
          <p:cNvSpPr/>
          <p:nvPr/>
        </p:nvSpPr>
        <p:spPr>
          <a:xfrm>
            <a:off x="1615288" y="1828800"/>
            <a:ext cx="2834640" cy="457200"/>
          </a:xfrm>
          <a:prstGeom prst="roundRect">
            <a:avLst>
              <a:gd name="adj" fmla="val 50000"/>
            </a:avLst>
          </a:prstGeom>
          <a:solidFill>
            <a:schemeClr val="tx2"/>
          </a:solidFill>
          <a:ln w="15875">
            <a:solidFill>
              <a:schemeClr val="accent2"/>
            </a:solidFill>
            <a:prstDash val="solid"/>
          </a:ln>
        </p:spPr>
      </p:sp>
      <p:sp>
        <p:nvSpPr>
          <p:cNvPr id="8" name="Text 6"/>
          <p:cNvSpPr txBox="1"/>
          <p:nvPr/>
        </p:nvSpPr>
        <p:spPr>
          <a:xfrm>
            <a:off x="1615288" y="1828800"/>
            <a:ext cx="283464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rPr>
              <a:t>ترتيبها في المصحف: ٦٧</a:t>
            </a:r>
            <a:endParaRPr lang="ar-SA" sz="1600" dirty="0"/>
          </a:p>
        </p:txBody>
      </p:sp>
      <p:sp>
        <p:nvSpPr>
          <p:cNvPr id="9" name="Shape 7"/>
          <p:cNvSpPr/>
          <p:nvPr/>
        </p:nvSpPr>
        <p:spPr>
          <a:xfrm>
            <a:off x="6278728" y="2880360"/>
            <a:ext cx="5257800" cy="3246120"/>
          </a:xfrm>
          <a:prstGeom prst="roundRect">
            <a:avLst>
              <a:gd name="adj" fmla="val 4225"/>
            </a:avLst>
          </a:prstGeom>
          <a:solidFill>
            <a:schemeClr val="bg2"/>
          </a:solidFill>
          <a:ln w="25400">
            <a:solidFill>
              <a:schemeClr val="accent2"/>
            </a:solidFill>
            <a:prstDash val="solid"/>
          </a:ln>
        </p:spPr>
      </p:sp>
      <p:sp>
        <p:nvSpPr>
          <p:cNvPr id="10" name="Shape 8"/>
          <p:cNvSpPr/>
          <p:nvPr/>
        </p:nvSpPr>
        <p:spPr>
          <a:xfrm>
            <a:off x="7810348" y="2651760"/>
            <a:ext cx="2194560" cy="457200"/>
          </a:xfrm>
          <a:prstGeom prst="roundRect">
            <a:avLst>
              <a:gd name="adj" fmla="val 50000"/>
            </a:avLst>
          </a:prstGeom>
          <a:solidFill>
            <a:schemeClr val="accent6"/>
          </a:solidFill>
          <a:ln w="15875">
            <a:solidFill>
              <a:schemeClr val="accent2"/>
            </a:solidFill>
            <a:prstDash val="solid"/>
          </a:ln>
        </p:spPr>
      </p:sp>
      <p:sp>
        <p:nvSpPr>
          <p:cNvPr id="11" name="Text 9"/>
          <p:cNvSpPr txBox="1"/>
          <p:nvPr/>
        </p:nvSpPr>
        <p:spPr>
          <a:xfrm>
            <a:off x="781034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سبب النزول</a:t>
            </a:r>
            <a:endParaRPr lang="ar-SA" sz="1800" dirty="0"/>
          </a:p>
        </p:txBody>
      </p:sp>
      <p:sp>
        <p:nvSpPr>
          <p:cNvPr id="12" name="Text 10"/>
          <p:cNvSpPr txBox="1"/>
          <p:nvPr/>
        </p:nvSpPr>
        <p:spPr>
          <a:xfrm>
            <a:off x="659876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لم يُروَ لها سبب نزول خاص مشهور. ومن فضلها قوله صلى الله عليه وسلم: «إن سورة من القرآن ثلاثون آية شفعت لرجل حتى غُفر له، وهي: تبارك الذي بيده الملك» (رواه أبو داود والترمذي).</a:t>
            </a:r>
            <a:endParaRPr lang="ar-SA" sz="1800" dirty="0"/>
          </a:p>
        </p:txBody>
      </p:sp>
      <p:sp>
        <p:nvSpPr>
          <p:cNvPr id="13" name="Shape 11"/>
          <p:cNvSpPr/>
          <p:nvPr/>
        </p:nvSpPr>
        <p:spPr>
          <a:xfrm>
            <a:off x="655168" y="2880360"/>
            <a:ext cx="5257800" cy="3246120"/>
          </a:xfrm>
          <a:prstGeom prst="roundRect">
            <a:avLst>
              <a:gd name="adj" fmla="val 4225"/>
            </a:avLst>
          </a:prstGeom>
          <a:solidFill>
            <a:schemeClr val="bg2"/>
          </a:solidFill>
          <a:ln w="25400">
            <a:solidFill>
              <a:schemeClr val="accent2"/>
            </a:solidFill>
            <a:prstDash val="solid"/>
          </a:ln>
        </p:spPr>
      </p:sp>
      <p:sp>
        <p:nvSpPr>
          <p:cNvPr id="14" name="Shape 12"/>
          <p:cNvSpPr/>
          <p:nvPr/>
        </p:nvSpPr>
        <p:spPr>
          <a:xfrm>
            <a:off x="2186788" y="2651760"/>
            <a:ext cx="2194560" cy="457200"/>
          </a:xfrm>
          <a:prstGeom prst="roundRect">
            <a:avLst>
              <a:gd name="adj" fmla="val 50000"/>
            </a:avLst>
          </a:prstGeom>
          <a:solidFill>
            <a:schemeClr val="tx2"/>
          </a:solidFill>
          <a:ln w="15875">
            <a:solidFill>
              <a:schemeClr val="accent2"/>
            </a:solidFill>
            <a:prstDash val="solid"/>
          </a:ln>
        </p:spPr>
      </p:sp>
      <p:sp>
        <p:nvSpPr>
          <p:cNvPr id="15" name="Text 13"/>
          <p:cNvSpPr txBox="1"/>
          <p:nvPr/>
        </p:nvSpPr>
        <p:spPr>
          <a:xfrm>
            <a:off x="2186788" y="2651760"/>
            <a:ext cx="2194560" cy="457200"/>
          </a:xfrm>
          <a:prstGeom prst="rect">
            <a:avLst/>
          </a:prstGeom>
          <a:noFill/>
          <a:ln/>
        </p:spPr>
        <p:txBody>
          <a:bodyPr wrap="square" lIns="0" tIns="0" rIns="0" bIns="0" rtlCol="0" anchor="ctr"/>
          <a:lstStyle/>
          <a:p>
            <a:pPr rtl="1" algn="ctr" indent="0" marL="0">
              <a:buNone/>
            </a:pPr>
            <a:r>
              <a:rPr lang="ar-SA" altLang="en-US" sz="1800" b="1" dirty="0">
                <a:solidFill>
                  <a:schemeClr val="bg1"/>
                </a:solidFill>
              </a:rPr>
              <a:t>مقصد السورة</a:t>
            </a:r>
            <a:endParaRPr lang="ar-SA" sz="1800" dirty="0"/>
          </a:p>
        </p:txBody>
      </p:sp>
      <p:sp>
        <p:nvSpPr>
          <p:cNvPr id="16" name="Text 14"/>
          <p:cNvSpPr txBox="1"/>
          <p:nvPr/>
        </p:nvSpPr>
        <p:spPr>
          <a:xfrm>
            <a:off x="975208" y="3291840"/>
            <a:ext cx="4617720" cy="2606040"/>
          </a:xfrm>
          <a:prstGeom prst="rect">
            <a:avLst/>
          </a:prstGeom>
          <a:noFill/>
          <a:ln/>
        </p:spPr>
        <p:txBody>
          <a:bodyPr wrap="square" lIns="0" tIns="0" rIns="0" bIns="0" rtlCol="0" anchor="ctr"/>
          <a:lstStyle/>
          <a:p>
            <a:pPr rtl="1" algn="r" indent="0" marL="0">
              <a:lnSpc>
                <a:spcPct val="115000"/>
              </a:lnSpc>
              <a:buNone/>
            </a:pPr>
            <a:r>
              <a:rPr lang="ar-SA" altLang="en-US" sz="1800" dirty="0">
                <a:solidFill>
                  <a:schemeClr val="tx1"/>
                </a:solidFill>
              </a:rPr>
              <a:t>إثبات قدرة الله وعظمة ملكه، ودلائل خلقه، وحال الكفار والمؤمنين. وتُسمّى «المانعة»؛ لأنها تمنع صاحبها من عذاب القبر.</a:t>
            </a:r>
            <a:endParaRPr lang="ar-SA" sz="18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 – ٣</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7216"/>
            <a:ext cx="548640" cy="548640"/>
          </a:xfrm>
          <a:prstGeom prst="star8">
            <a:avLst/>
          </a:prstGeom>
          <a:solidFill>
            <a:schemeClr val="accent2"/>
          </a:solidFill>
          <a:ln/>
        </p:spPr>
      </p:sp>
      <p:sp>
        <p:nvSpPr>
          <p:cNvPr id="6" name="Shape 4"/>
          <p:cNvSpPr/>
          <p:nvPr/>
        </p:nvSpPr>
        <p:spPr>
          <a:xfrm>
            <a:off x="11036808" y="14569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72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a:t>
            </a:r>
            <a:endParaRPr lang="ar-SA" sz="1600" dirty="0"/>
          </a:p>
        </p:txBody>
      </p:sp>
      <p:sp>
        <p:nvSpPr>
          <p:cNvPr id="8" name="Text 6"/>
          <p:cNvSpPr txBox="1"/>
          <p:nvPr/>
        </p:nvSpPr>
        <p:spPr>
          <a:xfrm>
            <a:off x="731520" y="13289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تَبَٰرَكَ الَّذِي بِيَدِهِ الْمُلْكُ وَهُوَ عَلَىٰ كُلِّ شَيْءٍ قَدِيرٌ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تعاظم الله وكثر خيره، الذي بيده ملك كل شيء، وهو على كل شيء قدير.</a:t>
            </a:r>
            <a:endParaRPr lang="ar-SA" sz="3200" dirty="0"/>
          </a:p>
        </p:txBody>
      </p:sp>
      <p:sp>
        <p:nvSpPr>
          <p:cNvPr id="9" name="Shape 7"/>
          <p:cNvSpPr/>
          <p:nvPr/>
        </p:nvSpPr>
        <p:spPr>
          <a:xfrm>
            <a:off x="2103120" y="2365248"/>
            <a:ext cx="8641080" cy="0"/>
          </a:xfrm>
          <a:prstGeom prst="line">
            <a:avLst/>
          </a:prstGeom>
          <a:noFill/>
          <a:ln w="9525">
            <a:solidFill>
              <a:schemeClr val="accent2"/>
            </a:solidFill>
            <a:prstDash val="dash"/>
          </a:ln>
        </p:spPr>
      </p:sp>
      <p:sp>
        <p:nvSpPr>
          <p:cNvPr id="10" name="Shape 8"/>
          <p:cNvSpPr/>
          <p:nvPr/>
        </p:nvSpPr>
        <p:spPr>
          <a:xfrm>
            <a:off x="10927080" y="2514600"/>
            <a:ext cx="548640" cy="548640"/>
          </a:xfrm>
          <a:prstGeom prst="star8">
            <a:avLst/>
          </a:prstGeom>
          <a:solidFill>
            <a:schemeClr val="accent2"/>
          </a:solidFill>
          <a:ln/>
        </p:spPr>
      </p:sp>
      <p:sp>
        <p:nvSpPr>
          <p:cNvPr id="11" name="Shape 9"/>
          <p:cNvSpPr/>
          <p:nvPr/>
        </p:nvSpPr>
        <p:spPr>
          <a:xfrm>
            <a:off x="11036808" y="26243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14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a:t>
            </a:r>
            <a:endParaRPr lang="ar-SA" sz="1600" dirty="0"/>
          </a:p>
        </p:txBody>
      </p:sp>
      <p:sp>
        <p:nvSpPr>
          <p:cNvPr id="13" name="Text 11"/>
          <p:cNvSpPr txBox="1"/>
          <p:nvPr/>
        </p:nvSpPr>
        <p:spPr>
          <a:xfrm>
            <a:off x="731520" y="2496312"/>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خَلَقَ الْمَوْتَ وَالْحَيَوٰةَ لِيَبْلُوَكُمْ أَيُّكُمْ أَحْسَنُ عَمَلًا وَهُوَ الْعَزِيزُ الْغَفُورُ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خلق الموت والحياة ليختبركم: أيّكم أحسن عملًا، وهو العزيز الغفور لمن تاب.</a:t>
            </a:r>
            <a:endParaRPr lang="ar-SA" sz="3200" dirty="0"/>
          </a:p>
        </p:txBody>
      </p:sp>
      <p:sp>
        <p:nvSpPr>
          <p:cNvPr id="14" name="Shape 12"/>
          <p:cNvSpPr/>
          <p:nvPr/>
        </p:nvSpPr>
        <p:spPr>
          <a:xfrm>
            <a:off x="2103120" y="4081272"/>
            <a:ext cx="8641080" cy="0"/>
          </a:xfrm>
          <a:prstGeom prst="line">
            <a:avLst/>
          </a:prstGeom>
          <a:noFill/>
          <a:ln w="9525">
            <a:solidFill>
              <a:schemeClr val="accent2"/>
            </a:solidFill>
            <a:prstDash val="dash"/>
          </a:ln>
        </p:spPr>
      </p:sp>
      <p:sp>
        <p:nvSpPr>
          <p:cNvPr id="15" name="Shape 13"/>
          <p:cNvSpPr/>
          <p:nvPr/>
        </p:nvSpPr>
        <p:spPr>
          <a:xfrm>
            <a:off x="10927080" y="4230624"/>
            <a:ext cx="548640" cy="548640"/>
          </a:xfrm>
          <a:prstGeom prst="star8">
            <a:avLst/>
          </a:prstGeom>
          <a:solidFill>
            <a:schemeClr val="accent2"/>
          </a:solidFill>
          <a:ln/>
        </p:spPr>
      </p:sp>
      <p:sp>
        <p:nvSpPr>
          <p:cNvPr id="16" name="Shape 14"/>
          <p:cNvSpPr/>
          <p:nvPr/>
        </p:nvSpPr>
        <p:spPr>
          <a:xfrm>
            <a:off x="11036808" y="4340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230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a:t>
            </a:r>
            <a:endParaRPr lang="ar-SA" sz="1600" dirty="0"/>
          </a:p>
        </p:txBody>
      </p:sp>
      <p:sp>
        <p:nvSpPr>
          <p:cNvPr id="18" name="Text 16"/>
          <p:cNvSpPr txBox="1"/>
          <p:nvPr/>
        </p:nvSpPr>
        <p:spPr>
          <a:xfrm>
            <a:off x="731520" y="421233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الَّذِي خَلَقَ سَبْعَ سَمَٰوَٰتٍ طِبَاقًا مَّا تَرَىٰ فِي خَلْقِ الرَّحْمَٰنِ مِن تَفَٰوُتٍ فَارْجِعِ الْبَصَرَ هَلْ تَرَىٰ مِن فُطُورٍ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الذي خلق سبع سماوات بعضها فوق بعض، لا ترى فيها خللًا ولا عيبًا، فأعد النظر: هل ترى من شقوق؟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149</a:t>
            </a:fld>
            <a:endParaRPr lang="en-US"/>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٤ – ٦</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٤</a:t>
            </a:r>
            <a:endParaRPr lang="ar-SA" sz="1600" dirty="0"/>
          </a:p>
        </p:txBody>
      </p:sp>
      <p:sp>
        <p:nvSpPr>
          <p:cNvPr id="8" name="Text 6"/>
          <p:cNvSpPr txBox="1"/>
          <p:nvPr/>
        </p:nvSpPr>
        <p:spPr>
          <a:xfrm>
            <a:off x="731520" y="142036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ثُمَّ ارْجِعِ الْبَصَرَ كَرَّتَيْنِ يَنقَلِبْ إِلَيْكَ الْبَصَرُ خَاسِئًا وَهُوَ حَسِيرٌ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ثم أعد النظر مرة بعد مرة، يرجع إليك بصرك عاجزًا عن رؤية عيب، وهو متعب.</a:t>
            </a:r>
            <a:endParaRPr lang="ar-SA" sz="3200" dirty="0"/>
          </a:p>
        </p:txBody>
      </p:sp>
      <p:sp>
        <p:nvSpPr>
          <p:cNvPr id="9" name="Shape 7"/>
          <p:cNvSpPr/>
          <p:nvPr/>
        </p:nvSpPr>
        <p:spPr>
          <a:xfrm>
            <a:off x="2103120" y="2548128"/>
            <a:ext cx="8641080" cy="0"/>
          </a:xfrm>
          <a:prstGeom prst="line">
            <a:avLst/>
          </a:prstGeom>
          <a:noFill/>
          <a:ln w="9525">
            <a:solidFill>
              <a:schemeClr val="accent2"/>
            </a:solidFill>
            <a:prstDash val="dash"/>
          </a:ln>
        </p:spPr>
      </p:sp>
      <p:sp>
        <p:nvSpPr>
          <p:cNvPr id="10" name="Shape 8"/>
          <p:cNvSpPr/>
          <p:nvPr/>
        </p:nvSpPr>
        <p:spPr>
          <a:xfrm>
            <a:off x="10927080" y="2788920"/>
            <a:ext cx="548640" cy="548640"/>
          </a:xfrm>
          <a:prstGeom prst="star8">
            <a:avLst/>
          </a:prstGeom>
          <a:solidFill>
            <a:schemeClr val="accent2"/>
          </a:solidFill>
          <a:ln/>
        </p:spPr>
      </p:sp>
      <p:sp>
        <p:nvSpPr>
          <p:cNvPr id="11" name="Shape 9"/>
          <p:cNvSpPr/>
          <p:nvPr/>
        </p:nvSpPr>
        <p:spPr>
          <a:xfrm>
            <a:off x="11036808" y="289864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78892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٥</a:t>
            </a:r>
            <a:endParaRPr lang="ar-SA" sz="1600" dirty="0"/>
          </a:p>
        </p:txBody>
      </p:sp>
      <p:sp>
        <p:nvSpPr>
          <p:cNvPr id="13" name="Text 11"/>
          <p:cNvSpPr txBox="1"/>
          <p:nvPr/>
        </p:nvSpPr>
        <p:spPr>
          <a:xfrm>
            <a:off x="731520" y="2770632"/>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زَيَّنَّا السَّمَآءَ الدُّنْيَا بِمَصَٰبِيحَ وَجَعَلْنَٰهَا رُجُومًا لِّلشَّيَٰطِينِ وَأَعْتَدْنَا لَهُمْ عَذَابَ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زيّنا السماء القريبة بالنجوم، وجعلنا منها شهبًا تُرمى بها الشياطين، وأعددنا لهم عذاب النار.</a:t>
            </a:r>
            <a:endParaRPr lang="ar-SA" sz="3200" dirty="0"/>
          </a:p>
        </p:txBody>
      </p:sp>
      <p:sp>
        <p:nvSpPr>
          <p:cNvPr id="14" name="Shape 12"/>
          <p:cNvSpPr/>
          <p:nvPr/>
        </p:nvSpPr>
        <p:spPr>
          <a:xfrm>
            <a:off x="2103120" y="4785360"/>
            <a:ext cx="8641080" cy="0"/>
          </a:xfrm>
          <a:prstGeom prst="line">
            <a:avLst/>
          </a:prstGeom>
          <a:noFill/>
          <a:ln w="9525">
            <a:solidFill>
              <a:schemeClr val="accent2"/>
            </a:solidFill>
            <a:prstDash val="dash"/>
          </a:ln>
        </p:spPr>
      </p:sp>
      <p:sp>
        <p:nvSpPr>
          <p:cNvPr id="15" name="Shape 13"/>
          <p:cNvSpPr/>
          <p:nvPr/>
        </p:nvSpPr>
        <p:spPr>
          <a:xfrm>
            <a:off x="10927080" y="5026152"/>
            <a:ext cx="548640" cy="548640"/>
          </a:xfrm>
          <a:prstGeom prst="star8">
            <a:avLst/>
          </a:prstGeom>
          <a:solidFill>
            <a:schemeClr val="accent2"/>
          </a:solidFill>
          <a:ln/>
        </p:spPr>
      </p:sp>
      <p:sp>
        <p:nvSpPr>
          <p:cNvPr id="16" name="Shape 14"/>
          <p:cNvSpPr/>
          <p:nvPr/>
        </p:nvSpPr>
        <p:spPr>
          <a:xfrm>
            <a:off x="11036808" y="513588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261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٦</a:t>
            </a:r>
            <a:endParaRPr lang="ar-SA" sz="1600" dirty="0"/>
          </a:p>
        </p:txBody>
      </p:sp>
      <p:sp>
        <p:nvSpPr>
          <p:cNvPr id="18" name="Text 16"/>
          <p:cNvSpPr txBox="1"/>
          <p:nvPr/>
        </p:nvSpPr>
        <p:spPr>
          <a:xfrm>
            <a:off x="731520" y="50078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وَلِلَّذِينَ كَفَرُواْ بِرَبِّهِمْ عَذَابُ جَهَنَّمَ وَبِئْسَ الْمَصِيرُ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وللذين كفروا بربهم عذاب جهنم، وبئس المرجع.</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150</a:t>
            </a:fld>
            <a:endParaRPr lang="en-US"/>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٧ – ٩</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7216"/>
            <a:ext cx="548640" cy="548640"/>
          </a:xfrm>
          <a:prstGeom prst="star8">
            <a:avLst/>
          </a:prstGeom>
          <a:solidFill>
            <a:schemeClr val="accent2"/>
          </a:solidFill>
          <a:ln/>
        </p:spPr>
      </p:sp>
      <p:sp>
        <p:nvSpPr>
          <p:cNvPr id="6" name="Shape 4"/>
          <p:cNvSpPr/>
          <p:nvPr/>
        </p:nvSpPr>
        <p:spPr>
          <a:xfrm>
            <a:off x="11036808" y="14569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72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٧</a:t>
            </a:r>
            <a:endParaRPr lang="ar-SA" sz="1600" dirty="0"/>
          </a:p>
        </p:txBody>
      </p:sp>
      <p:sp>
        <p:nvSpPr>
          <p:cNvPr id="8" name="Text 6"/>
          <p:cNvSpPr txBox="1"/>
          <p:nvPr/>
        </p:nvSpPr>
        <p:spPr>
          <a:xfrm>
            <a:off x="731520" y="13289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إِذَآ أُلْقُواْ فِيهَا سَمِعُواْ لَهَا شَهِيقًا وَهِيَ تَفُورُ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إذا أُلقوا فيها سمعوا لها صوتًا منكرًا، وهي تغلي.</a:t>
            </a:r>
            <a:endParaRPr lang="ar-SA" sz="3200" dirty="0"/>
          </a:p>
        </p:txBody>
      </p:sp>
      <p:sp>
        <p:nvSpPr>
          <p:cNvPr id="9" name="Shape 7"/>
          <p:cNvSpPr/>
          <p:nvPr/>
        </p:nvSpPr>
        <p:spPr>
          <a:xfrm>
            <a:off x="2103120" y="2365248"/>
            <a:ext cx="8641080" cy="0"/>
          </a:xfrm>
          <a:prstGeom prst="line">
            <a:avLst/>
          </a:prstGeom>
          <a:noFill/>
          <a:ln w="9525">
            <a:solidFill>
              <a:schemeClr val="accent2"/>
            </a:solidFill>
            <a:prstDash val="dash"/>
          </a:ln>
        </p:spPr>
      </p:sp>
      <p:sp>
        <p:nvSpPr>
          <p:cNvPr id="10" name="Shape 8"/>
          <p:cNvSpPr/>
          <p:nvPr/>
        </p:nvSpPr>
        <p:spPr>
          <a:xfrm>
            <a:off x="10927080" y="2514600"/>
            <a:ext cx="548640" cy="548640"/>
          </a:xfrm>
          <a:prstGeom prst="star8">
            <a:avLst/>
          </a:prstGeom>
          <a:solidFill>
            <a:schemeClr val="accent2"/>
          </a:solidFill>
          <a:ln/>
        </p:spPr>
      </p:sp>
      <p:sp>
        <p:nvSpPr>
          <p:cNvPr id="11" name="Shape 9"/>
          <p:cNvSpPr/>
          <p:nvPr/>
        </p:nvSpPr>
        <p:spPr>
          <a:xfrm>
            <a:off x="11036808" y="262432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51460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٨</a:t>
            </a:r>
            <a:endParaRPr lang="ar-SA" sz="1600" dirty="0"/>
          </a:p>
        </p:txBody>
      </p:sp>
      <p:sp>
        <p:nvSpPr>
          <p:cNvPr id="13" name="Text 11"/>
          <p:cNvSpPr txBox="1"/>
          <p:nvPr/>
        </p:nvSpPr>
        <p:spPr>
          <a:xfrm>
            <a:off x="731520" y="2496312"/>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تَكَادُ تَمَيَّزُ مِنَ الْغَيْظِ كُلَّمَآ أُلْقِيَ فِيهَا فَوْجٌ سَأَلَهُمْ خَزَنَتُهَآ أَلَمْ يَأْتِكُمْ نَذِيرٌ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تكاد تتقطع من شدة غضبها، كلما أُلقي فيها جماعة سألهم خزنتها: ألم يأتكم رسول يحذّركم؟</a:t>
            </a:r>
            <a:endParaRPr lang="ar-SA" sz="3200" dirty="0"/>
          </a:p>
        </p:txBody>
      </p:sp>
      <p:sp>
        <p:nvSpPr>
          <p:cNvPr id="14" name="Shape 12"/>
          <p:cNvSpPr/>
          <p:nvPr/>
        </p:nvSpPr>
        <p:spPr>
          <a:xfrm>
            <a:off x="2103120" y="4081272"/>
            <a:ext cx="8641080" cy="0"/>
          </a:xfrm>
          <a:prstGeom prst="line">
            <a:avLst/>
          </a:prstGeom>
          <a:noFill/>
          <a:ln w="9525">
            <a:solidFill>
              <a:schemeClr val="accent2"/>
            </a:solidFill>
            <a:prstDash val="dash"/>
          </a:ln>
        </p:spPr>
      </p:sp>
      <p:sp>
        <p:nvSpPr>
          <p:cNvPr id="15" name="Shape 13"/>
          <p:cNvSpPr/>
          <p:nvPr/>
        </p:nvSpPr>
        <p:spPr>
          <a:xfrm>
            <a:off x="10927080" y="4230624"/>
            <a:ext cx="548640" cy="548640"/>
          </a:xfrm>
          <a:prstGeom prst="star8">
            <a:avLst/>
          </a:prstGeom>
          <a:solidFill>
            <a:schemeClr val="accent2"/>
          </a:solidFill>
          <a:ln/>
        </p:spPr>
      </p:sp>
      <p:sp>
        <p:nvSpPr>
          <p:cNvPr id="16" name="Shape 14"/>
          <p:cNvSpPr/>
          <p:nvPr/>
        </p:nvSpPr>
        <p:spPr>
          <a:xfrm>
            <a:off x="11036808" y="434035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23062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٩</a:t>
            </a:r>
            <a:endParaRPr lang="ar-SA" sz="1600" dirty="0"/>
          </a:p>
        </p:txBody>
      </p:sp>
      <p:sp>
        <p:nvSpPr>
          <p:cNvPr id="18" name="Text 16"/>
          <p:cNvSpPr txBox="1"/>
          <p:nvPr/>
        </p:nvSpPr>
        <p:spPr>
          <a:xfrm>
            <a:off x="731520" y="4212336"/>
            <a:ext cx="10012680" cy="181965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قَالُواْ بَلَىٰ قَدْ جَآءَنَا نَذِيرٌ فَكَذَّبْنَا وَقُلْنَا مَا نَزَّلَ اللَّهُ مِن شَيْءٍ إِنْ أَنتُمْ إِلَّا فِي ضَلَٰلٍ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قالوا: بلى، جاءنا رسول فكذّبناه، وقلنا: ما نزّل الله من شيء، ما أنتم إلا في ضلال كبير.</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151</a:t>
            </a:fld>
            <a:endParaRPr lang="en-US"/>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١٠ – ١٢</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١٠</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وَقَالُواْ لَوْ كُنَّا نَسْمَعُ أَوْ نَعْقِلُ مَا كُنَّا فِي أَصْحَٰبِ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وقالوا: لو كنا نسمع سماع انتفاع أو نعقل، ما كنا من أهل النار.</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١١</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فَاعْتَرَفُواْ بِذَنبِهِمْ فَسُحْقًا لِّأَصْحَٰبِ السَّعِيرِ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فاعترفوا بذنبهم، فبُعدًا لأهل النار من رحمة الله.</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١٢</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إِنَّ الَّذِينَ يَخْشَوْنَ رَبَّهُم بِالْغَيْبِ لَهُم مَّغْفِرَةٌ وَأَجْرٌ كَبِيرٌ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إن الذين يخافون ربهم وهم لا يرونه، لهم مغفرة لذنوبهم وثواب عظيم.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152</a:t>
            </a:fld>
            <a:endParaRPr lang="en-US"/>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١٣ – ١٥</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١٣</a:t>
            </a:r>
            <a:endParaRPr lang="ar-SA" sz="1600" dirty="0"/>
          </a:p>
        </p:txBody>
      </p:sp>
      <p:sp>
        <p:nvSpPr>
          <p:cNvPr id="8" name="Text 6"/>
          <p:cNvSpPr txBox="1"/>
          <p:nvPr/>
        </p:nvSpPr>
        <p:spPr>
          <a:xfrm>
            <a:off x="731520" y="154990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وَأَسِرُّواْ قَوْلَكُمْ أَوِ اجْهَرُواْ بِهِ إِنَّهُ عَلِيمٌ بِذَاتِ الصُّدُورِ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وأخفوا كلامكم أو أظهروه، فإن الله عليم بما في القلوب.</a:t>
            </a:r>
            <a:endParaRPr lang="ar-SA" sz="3200" dirty="0"/>
          </a:p>
        </p:txBody>
      </p:sp>
      <p:sp>
        <p:nvSpPr>
          <p:cNvPr id="9" name="Shape 7"/>
          <p:cNvSpPr/>
          <p:nvPr/>
        </p:nvSpPr>
        <p:spPr>
          <a:xfrm>
            <a:off x="2103120" y="2697480"/>
            <a:ext cx="8641080" cy="0"/>
          </a:xfrm>
          <a:prstGeom prst="line">
            <a:avLst/>
          </a:prstGeom>
          <a:noFill/>
          <a:ln w="9525">
            <a:solidFill>
              <a:schemeClr val="accent2"/>
            </a:solidFill>
            <a:prstDash val="dash"/>
          </a:ln>
        </p:spPr>
      </p:sp>
      <p:sp>
        <p:nvSpPr>
          <p:cNvPr id="10" name="Shape 8"/>
          <p:cNvSpPr/>
          <p:nvPr/>
        </p:nvSpPr>
        <p:spPr>
          <a:xfrm>
            <a:off x="10927080" y="2958084"/>
            <a:ext cx="548640" cy="548640"/>
          </a:xfrm>
          <a:prstGeom prst="star8">
            <a:avLst/>
          </a:prstGeom>
          <a:solidFill>
            <a:schemeClr val="accent2"/>
          </a:solidFill>
          <a:ln/>
        </p:spPr>
      </p:sp>
      <p:sp>
        <p:nvSpPr>
          <p:cNvPr id="11" name="Shape 9"/>
          <p:cNvSpPr/>
          <p:nvPr/>
        </p:nvSpPr>
        <p:spPr>
          <a:xfrm>
            <a:off x="11036808" y="30678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580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١٤</a:t>
            </a:r>
            <a:endParaRPr lang="ar-SA" sz="1600" dirty="0"/>
          </a:p>
        </p:txBody>
      </p:sp>
      <p:sp>
        <p:nvSpPr>
          <p:cNvPr id="13" name="Text 11"/>
          <p:cNvSpPr txBox="1"/>
          <p:nvPr/>
        </p:nvSpPr>
        <p:spPr>
          <a:xfrm>
            <a:off x="731520" y="29397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أَلَا يَعْلَمُ مَنْ خَلَقَ وَهُوَ اللَّطِيفُ الْخَبِيرُ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ألا يعلم الخالق خلقه؟ وهو اللطيف بعباده، الخبير بكل شيء.</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١٥</a:t>
            </a:r>
            <a:endParaRPr lang="ar-SA" sz="1600" dirty="0"/>
          </a:p>
        </p:txBody>
      </p:sp>
      <p:sp>
        <p:nvSpPr>
          <p:cNvPr id="18" name="Text 16"/>
          <p:cNvSpPr txBox="1"/>
          <p:nvPr/>
        </p:nvSpPr>
        <p:spPr>
          <a:xfrm>
            <a:off x="731520" y="4329684"/>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هُوَ الَّذِي جَعَلَ لَكُمُ الْأَرْضَ ذَلُولًا فَامْشُواْ فِي مَنَاكِبِهَا وَكُلُواْ مِن رِّزْقِهِ وَإِلَيْهِ النُّشُورُ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هو الذي جعل لكم الأرض سهلة مذلّلة، فامشوا في نواحيها، وكلوا من رزقه، وإليه البعث.</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153</a:t>
            </a:fld>
            <a:endParaRPr lang="en-US"/>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١٦ – ١٨</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842516"/>
            <a:ext cx="548640" cy="548640"/>
          </a:xfrm>
          <a:prstGeom prst="star8">
            <a:avLst/>
          </a:prstGeom>
          <a:solidFill>
            <a:schemeClr val="accent2"/>
          </a:solidFill>
          <a:ln/>
        </p:spPr>
      </p:sp>
      <p:sp>
        <p:nvSpPr>
          <p:cNvPr id="6" name="Shape 4"/>
          <p:cNvSpPr/>
          <p:nvPr/>
        </p:nvSpPr>
        <p:spPr>
          <a:xfrm>
            <a:off x="11036808" y="19522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8425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١٦</a:t>
            </a:r>
            <a:endParaRPr lang="ar-SA" sz="1600" dirty="0"/>
          </a:p>
        </p:txBody>
      </p:sp>
      <p:sp>
        <p:nvSpPr>
          <p:cNvPr id="8" name="Text 6"/>
          <p:cNvSpPr txBox="1"/>
          <p:nvPr/>
        </p:nvSpPr>
        <p:spPr>
          <a:xfrm>
            <a:off x="731520" y="182422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ءَأَمِنتُم مَّن فِي السَّمَآءِ أَن يَخْسِفَ بِكُمُ الْأَرْضَ فَإِذَا هِيَ تَمُورُ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أأمنتم الله الذي في السماء أن يخسف بكم الأرض فإذا هي تضطرب؟</a:t>
            </a:r>
            <a:endParaRPr lang="ar-SA" sz="3200" dirty="0"/>
          </a:p>
        </p:txBody>
      </p:sp>
      <p:sp>
        <p:nvSpPr>
          <p:cNvPr id="9" name="Shape 7"/>
          <p:cNvSpPr/>
          <p:nvPr/>
        </p:nvSpPr>
        <p:spPr>
          <a:xfrm>
            <a:off x="2103120" y="2971800"/>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١٧</a:t>
            </a:r>
            <a:endParaRPr lang="ar-SA" sz="1600" dirty="0"/>
          </a:p>
        </p:txBody>
      </p:sp>
      <p:sp>
        <p:nvSpPr>
          <p:cNvPr id="13" name="Text 11"/>
          <p:cNvSpPr txBox="1"/>
          <p:nvPr/>
        </p:nvSpPr>
        <p:spPr>
          <a:xfrm>
            <a:off x="731520" y="32141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 أَمِنتُم مَّن فِي السَّمَآءِ أَن يُرْسِلَ عَلَيْكُمْ حَاصِبًا فَسَتَعْلَمُونَ كَيْفَ نَذِيرِ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أم أمنتم الله الذي في السماء أن يرسل عليكم ريحًا فيها حجارة؟ فستعلمون كيف إنذاري.</a:t>
            </a:r>
            <a:endParaRPr lang="ar-SA" sz="3200" dirty="0"/>
          </a:p>
        </p:txBody>
      </p:sp>
      <p:sp>
        <p:nvSpPr>
          <p:cNvPr id="14" name="Shape 12"/>
          <p:cNvSpPr/>
          <p:nvPr/>
        </p:nvSpPr>
        <p:spPr>
          <a:xfrm>
            <a:off x="2103120" y="4361688"/>
            <a:ext cx="8641080" cy="0"/>
          </a:xfrm>
          <a:prstGeom prst="line">
            <a:avLst/>
          </a:prstGeom>
          <a:noFill/>
          <a:ln w="9525">
            <a:solidFill>
              <a:schemeClr val="accent2"/>
            </a:solidFill>
            <a:prstDash val="dash"/>
          </a:ln>
        </p:spPr>
      </p:sp>
      <p:sp>
        <p:nvSpPr>
          <p:cNvPr id="15" name="Shape 13"/>
          <p:cNvSpPr/>
          <p:nvPr/>
        </p:nvSpPr>
        <p:spPr>
          <a:xfrm>
            <a:off x="10927080" y="4622292"/>
            <a:ext cx="548640" cy="548640"/>
          </a:xfrm>
          <a:prstGeom prst="star8">
            <a:avLst/>
          </a:prstGeom>
          <a:solidFill>
            <a:schemeClr val="accent2"/>
          </a:solidFill>
          <a:ln/>
        </p:spPr>
      </p:sp>
      <p:sp>
        <p:nvSpPr>
          <p:cNvPr id="16" name="Shape 14"/>
          <p:cNvSpPr/>
          <p:nvPr/>
        </p:nvSpPr>
        <p:spPr>
          <a:xfrm>
            <a:off x="11036808" y="473202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62229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١٨</a:t>
            </a:r>
            <a:endParaRPr lang="ar-SA" sz="1600" dirty="0"/>
          </a:p>
        </p:txBody>
      </p:sp>
      <p:sp>
        <p:nvSpPr>
          <p:cNvPr id="18" name="Text 16"/>
          <p:cNvSpPr txBox="1"/>
          <p:nvPr/>
        </p:nvSpPr>
        <p:spPr>
          <a:xfrm>
            <a:off x="731520" y="460400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وَلَقَدْ كَذَّبَ الَّذِينَ مِن قَبْلِهِمْ فَكَيْفَ كَانَ نَكِيرِ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ولقد كذّب الذين من قبلهم، فكيف كان إنكاري عليهم وعقابي لهم؟</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154</a:t>
            </a:fld>
            <a:endParaRPr lang="en-US"/>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١٩ – ٢١</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03604"/>
            <a:ext cx="548640" cy="548640"/>
          </a:xfrm>
          <a:prstGeom prst="star8">
            <a:avLst/>
          </a:prstGeom>
          <a:solidFill>
            <a:schemeClr val="accent2"/>
          </a:solidFill>
          <a:ln/>
        </p:spPr>
      </p:sp>
      <p:sp>
        <p:nvSpPr>
          <p:cNvPr id="6" name="Shape 4"/>
          <p:cNvSpPr/>
          <p:nvPr/>
        </p:nvSpPr>
        <p:spPr>
          <a:xfrm>
            <a:off x="11036808" y="1513332"/>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036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١٩</a:t>
            </a:r>
            <a:endParaRPr lang="ar-SA" sz="1600" dirty="0"/>
          </a:p>
        </p:txBody>
      </p:sp>
      <p:sp>
        <p:nvSpPr>
          <p:cNvPr id="8" name="Text 6"/>
          <p:cNvSpPr txBox="1"/>
          <p:nvPr/>
        </p:nvSpPr>
        <p:spPr>
          <a:xfrm>
            <a:off x="731520" y="1385316"/>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أَوَلَمْ يَرَوْاْ إِلَى الطَّيْرِ فَوْقَهُمْ صَـٰفَّـٰتٍ وَيَقْبِضْنَ مَا يُمْسِكُهُنَّ إِلَّا الرَّحْمَٰنُ إِنَّهُ بِكُلِّ شَيْءٍ بَصِيرٌ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أولم يروا إلى الطير فوقهم تبسط أجنحتها وتضمّها؟ ما يمسكهن في الهواء إلا الرحمن.</a:t>
            </a:r>
            <a:endParaRPr lang="ar-SA" sz="3200" dirty="0"/>
          </a:p>
        </p:txBody>
      </p:sp>
      <p:sp>
        <p:nvSpPr>
          <p:cNvPr id="9" name="Shape 7"/>
          <p:cNvSpPr/>
          <p:nvPr/>
        </p:nvSpPr>
        <p:spPr>
          <a:xfrm>
            <a:off x="2103120" y="3026664"/>
            <a:ext cx="8641080" cy="0"/>
          </a:xfrm>
          <a:prstGeom prst="line">
            <a:avLst/>
          </a:prstGeom>
          <a:noFill/>
          <a:ln w="9525">
            <a:solidFill>
              <a:schemeClr val="accent2"/>
            </a:solidFill>
            <a:prstDash val="dash"/>
          </a:ln>
        </p:spPr>
      </p:sp>
      <p:sp>
        <p:nvSpPr>
          <p:cNvPr id="10" name="Shape 8"/>
          <p:cNvSpPr/>
          <p:nvPr/>
        </p:nvSpPr>
        <p:spPr>
          <a:xfrm>
            <a:off x="10927080" y="3232404"/>
            <a:ext cx="548640" cy="548640"/>
          </a:xfrm>
          <a:prstGeom prst="star8">
            <a:avLst/>
          </a:prstGeom>
          <a:solidFill>
            <a:schemeClr val="accent2"/>
          </a:solidFill>
          <a:ln/>
        </p:spPr>
      </p:sp>
      <p:sp>
        <p:nvSpPr>
          <p:cNvPr id="11" name="Shape 9"/>
          <p:cNvSpPr/>
          <p:nvPr/>
        </p:nvSpPr>
        <p:spPr>
          <a:xfrm>
            <a:off x="11036808" y="334213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2324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٢٠</a:t>
            </a:r>
            <a:endParaRPr lang="ar-SA" sz="1600" dirty="0"/>
          </a:p>
        </p:txBody>
      </p:sp>
      <p:sp>
        <p:nvSpPr>
          <p:cNvPr id="13" name="Text 11"/>
          <p:cNvSpPr txBox="1"/>
          <p:nvPr/>
        </p:nvSpPr>
        <p:spPr>
          <a:xfrm>
            <a:off x="731520" y="3214116"/>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هَٰذَا الَّذِي هُوَ جُندٌ لَّكُمْ يَنصُرُكُم مِّن دُونِ الرَّحْمَٰنِ إِنِ الْكَٰفِرُونَ إِلَّا فِي غُرُورٍ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هذا الجند الذي ينصركم من دون الرحمن؟ ما الكافرون إلا في خداع وغرور.</a:t>
            </a:r>
            <a:endParaRPr lang="ar-SA" sz="3200" dirty="0"/>
          </a:p>
        </p:txBody>
      </p:sp>
      <p:sp>
        <p:nvSpPr>
          <p:cNvPr id="14" name="Shape 12"/>
          <p:cNvSpPr/>
          <p:nvPr/>
        </p:nvSpPr>
        <p:spPr>
          <a:xfrm>
            <a:off x="2103120" y="4855464"/>
            <a:ext cx="8641080" cy="0"/>
          </a:xfrm>
          <a:prstGeom prst="line">
            <a:avLst/>
          </a:prstGeom>
          <a:noFill/>
          <a:ln w="9525">
            <a:solidFill>
              <a:schemeClr val="accent2"/>
            </a:solidFill>
            <a:prstDash val="dash"/>
          </a:ln>
        </p:spPr>
      </p:sp>
      <p:sp>
        <p:nvSpPr>
          <p:cNvPr id="15" name="Shape 13"/>
          <p:cNvSpPr/>
          <p:nvPr/>
        </p:nvSpPr>
        <p:spPr>
          <a:xfrm>
            <a:off x="10927080" y="5061204"/>
            <a:ext cx="548640" cy="548640"/>
          </a:xfrm>
          <a:prstGeom prst="star8">
            <a:avLst/>
          </a:prstGeom>
          <a:solidFill>
            <a:schemeClr val="accent2"/>
          </a:solidFill>
          <a:ln/>
        </p:spPr>
      </p:sp>
      <p:sp>
        <p:nvSpPr>
          <p:cNvPr id="16" name="Shape 14"/>
          <p:cNvSpPr/>
          <p:nvPr/>
        </p:nvSpPr>
        <p:spPr>
          <a:xfrm>
            <a:off x="11036808" y="517093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6120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٢١</a:t>
            </a:r>
            <a:endParaRPr lang="ar-SA" sz="1600" dirty="0"/>
          </a:p>
        </p:txBody>
      </p:sp>
      <p:sp>
        <p:nvSpPr>
          <p:cNvPr id="18" name="Text 16"/>
          <p:cNvSpPr txBox="1"/>
          <p:nvPr/>
        </p:nvSpPr>
        <p:spPr>
          <a:xfrm>
            <a:off x="731520" y="504291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أَمَّنْ هَٰذَا الَّذِي يَرْزُقُكُمْ إِنْ أَمْسَكَ رِزْقَهُ بَل لَّجُّواْ فِي عُتُوٍّ وَنُفُورٍ</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من هذا الذي يرزقكم إن منع الله رزقه؟ بل استمرّوا في العناد والنفور عن الحق.</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155</a:t>
            </a:fld>
            <a:endParaRPr lang="en-US"/>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٢٢ – ٢٤</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438656"/>
            <a:ext cx="548640" cy="548640"/>
          </a:xfrm>
          <a:prstGeom prst="star8">
            <a:avLst/>
          </a:prstGeom>
          <a:solidFill>
            <a:schemeClr val="accent2"/>
          </a:solidFill>
          <a:ln/>
        </p:spPr>
      </p:sp>
      <p:sp>
        <p:nvSpPr>
          <p:cNvPr id="6" name="Shape 4"/>
          <p:cNvSpPr/>
          <p:nvPr/>
        </p:nvSpPr>
        <p:spPr>
          <a:xfrm>
            <a:off x="11036808" y="154838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43865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٢٢</a:t>
            </a:r>
            <a:endParaRPr lang="ar-SA" sz="1600" dirty="0"/>
          </a:p>
        </p:txBody>
      </p:sp>
      <p:sp>
        <p:nvSpPr>
          <p:cNvPr id="8" name="Text 6"/>
          <p:cNvSpPr txBox="1"/>
          <p:nvPr/>
        </p:nvSpPr>
        <p:spPr>
          <a:xfrm>
            <a:off x="731520" y="1420368"/>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أَفَمَن يَمْشِي مُكِبًّا عَلَىٰ وَجْهِهِ أَهْدَىٰ أَمَّن يَمْشِي سَوِيًّا عَلَىٰ صِرَٰطٍ مُّسْتَقِيمٍ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أفمن يمشي منكبًّا على وجهه -وهو الكافر- أهدى، أم من يمشي مستقيمًا على طريق مستقيم -وهو المؤمن-؟</a:t>
            </a:r>
            <a:endParaRPr lang="ar-SA" sz="3200" dirty="0"/>
          </a:p>
        </p:txBody>
      </p:sp>
      <p:sp>
        <p:nvSpPr>
          <p:cNvPr id="9" name="Shape 7"/>
          <p:cNvSpPr/>
          <p:nvPr/>
        </p:nvSpPr>
        <p:spPr>
          <a:xfrm>
            <a:off x="2103120" y="2886456"/>
            <a:ext cx="8641080" cy="0"/>
          </a:xfrm>
          <a:prstGeom prst="line">
            <a:avLst/>
          </a:prstGeom>
          <a:noFill/>
          <a:ln w="9525">
            <a:solidFill>
              <a:schemeClr val="accent2"/>
            </a:solidFill>
            <a:prstDash val="dash"/>
          </a:ln>
        </p:spPr>
      </p:sp>
      <p:sp>
        <p:nvSpPr>
          <p:cNvPr id="10" name="Shape 8"/>
          <p:cNvSpPr/>
          <p:nvPr/>
        </p:nvSpPr>
        <p:spPr>
          <a:xfrm>
            <a:off x="10927080" y="3127248"/>
            <a:ext cx="548640" cy="548640"/>
          </a:xfrm>
          <a:prstGeom prst="star8">
            <a:avLst/>
          </a:prstGeom>
          <a:solidFill>
            <a:schemeClr val="accent2"/>
          </a:solidFill>
          <a:ln/>
        </p:spPr>
      </p:sp>
      <p:sp>
        <p:nvSpPr>
          <p:cNvPr id="11" name="Shape 9"/>
          <p:cNvSpPr/>
          <p:nvPr/>
        </p:nvSpPr>
        <p:spPr>
          <a:xfrm>
            <a:off x="11036808" y="3236976"/>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127248"/>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٢٣</a:t>
            </a:r>
            <a:endParaRPr lang="ar-SA" sz="1600" dirty="0"/>
          </a:p>
        </p:txBody>
      </p:sp>
      <p:sp>
        <p:nvSpPr>
          <p:cNvPr id="13" name="Text 11"/>
          <p:cNvSpPr txBox="1"/>
          <p:nvPr/>
        </p:nvSpPr>
        <p:spPr>
          <a:xfrm>
            <a:off x="731520" y="3108960"/>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هُوَ الَّذِي أَنشَأَكُمْ وَجَعَلَ لَكُمُ السَّمْعَ وَالْأَبْصَٰرَ وَالْأَفْـِٔدَةَ قَلِيلًا مَّا تَشْكُرُونَ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هو الذي خلقكم، وجعل لكم السمع والأبصار والقلوب، قليلًا ما تشكرون.</a:t>
            </a:r>
            <a:endParaRPr lang="ar-SA" sz="3200" dirty="0"/>
          </a:p>
        </p:txBody>
      </p:sp>
      <p:sp>
        <p:nvSpPr>
          <p:cNvPr id="14" name="Shape 12"/>
          <p:cNvSpPr/>
          <p:nvPr/>
        </p:nvSpPr>
        <p:spPr>
          <a:xfrm>
            <a:off x="2103120" y="4785360"/>
            <a:ext cx="8641080" cy="0"/>
          </a:xfrm>
          <a:prstGeom prst="line">
            <a:avLst/>
          </a:prstGeom>
          <a:noFill/>
          <a:ln w="9525">
            <a:solidFill>
              <a:schemeClr val="accent2"/>
            </a:solidFill>
            <a:prstDash val="dash"/>
          </a:ln>
        </p:spPr>
      </p:sp>
      <p:sp>
        <p:nvSpPr>
          <p:cNvPr id="15" name="Shape 13"/>
          <p:cNvSpPr/>
          <p:nvPr/>
        </p:nvSpPr>
        <p:spPr>
          <a:xfrm>
            <a:off x="10927080" y="5026152"/>
            <a:ext cx="548640" cy="548640"/>
          </a:xfrm>
          <a:prstGeom prst="star8">
            <a:avLst/>
          </a:prstGeom>
          <a:solidFill>
            <a:schemeClr val="accent2"/>
          </a:solidFill>
          <a:ln/>
        </p:spPr>
      </p:sp>
      <p:sp>
        <p:nvSpPr>
          <p:cNvPr id="16" name="Shape 14"/>
          <p:cNvSpPr/>
          <p:nvPr/>
        </p:nvSpPr>
        <p:spPr>
          <a:xfrm>
            <a:off x="11036808" y="513588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502615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٢٤</a:t>
            </a:r>
            <a:endParaRPr lang="ar-SA" sz="1600" dirty="0"/>
          </a:p>
        </p:txBody>
      </p:sp>
      <p:sp>
        <p:nvSpPr>
          <p:cNvPr id="18" name="Text 16"/>
          <p:cNvSpPr txBox="1"/>
          <p:nvPr/>
        </p:nvSpPr>
        <p:spPr>
          <a:xfrm>
            <a:off x="731520" y="5007864"/>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هُوَ الَّذِي ذَرَأَكُمْ فِي الْأَرْضِ وَإِلَيْهِ تُحْشَرُونَ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هو الذي نشركم في الأرض، وإليه تُجمعون يوم القيامة.</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156</a:t>
            </a:fld>
            <a:endParaRPr lang="en-US"/>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٢٥ – ٢٧</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568196"/>
            <a:ext cx="548640" cy="548640"/>
          </a:xfrm>
          <a:prstGeom prst="star8">
            <a:avLst/>
          </a:prstGeom>
          <a:solidFill>
            <a:schemeClr val="accent2"/>
          </a:solidFill>
          <a:ln/>
        </p:spPr>
      </p:sp>
      <p:sp>
        <p:nvSpPr>
          <p:cNvPr id="6" name="Shape 4"/>
          <p:cNvSpPr/>
          <p:nvPr/>
        </p:nvSpPr>
        <p:spPr>
          <a:xfrm>
            <a:off x="11036808" y="167792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56819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٢٥</a:t>
            </a:r>
            <a:endParaRPr lang="ar-SA" sz="1600" dirty="0"/>
          </a:p>
        </p:txBody>
      </p:sp>
      <p:sp>
        <p:nvSpPr>
          <p:cNvPr id="8" name="Text 6"/>
          <p:cNvSpPr txBox="1"/>
          <p:nvPr/>
        </p:nvSpPr>
        <p:spPr>
          <a:xfrm>
            <a:off x="731520" y="1549908"/>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وَيَقُولُونَ مَتَىٰ هَٰذَا الْوَعْدُ إِن كُنتُمْ صَٰدِقِينَ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ويقول الكفار: متى هذا الوعد بالبعث إن كنتم صادقين؟</a:t>
            </a:r>
            <a:endParaRPr lang="ar-SA" sz="3200" dirty="0"/>
          </a:p>
        </p:txBody>
      </p:sp>
      <p:sp>
        <p:nvSpPr>
          <p:cNvPr id="9" name="Shape 7"/>
          <p:cNvSpPr/>
          <p:nvPr/>
        </p:nvSpPr>
        <p:spPr>
          <a:xfrm>
            <a:off x="2103120" y="2697480"/>
            <a:ext cx="8641080" cy="0"/>
          </a:xfrm>
          <a:prstGeom prst="line">
            <a:avLst/>
          </a:prstGeom>
          <a:noFill/>
          <a:ln w="9525">
            <a:solidFill>
              <a:schemeClr val="accent2"/>
            </a:solidFill>
            <a:prstDash val="dash"/>
          </a:ln>
        </p:spPr>
      </p:sp>
      <p:sp>
        <p:nvSpPr>
          <p:cNvPr id="10" name="Shape 8"/>
          <p:cNvSpPr/>
          <p:nvPr/>
        </p:nvSpPr>
        <p:spPr>
          <a:xfrm>
            <a:off x="10927080" y="2958084"/>
            <a:ext cx="548640" cy="548640"/>
          </a:xfrm>
          <a:prstGeom prst="star8">
            <a:avLst/>
          </a:prstGeom>
          <a:solidFill>
            <a:schemeClr val="accent2"/>
          </a:solidFill>
          <a:ln/>
        </p:spPr>
      </p:sp>
      <p:sp>
        <p:nvSpPr>
          <p:cNvPr id="11" name="Shape 9"/>
          <p:cNvSpPr/>
          <p:nvPr/>
        </p:nvSpPr>
        <p:spPr>
          <a:xfrm>
            <a:off x="11036808" y="3067812"/>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295808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٢٦</a:t>
            </a:r>
            <a:endParaRPr lang="ar-SA" sz="1600" dirty="0"/>
          </a:p>
        </p:txBody>
      </p:sp>
      <p:sp>
        <p:nvSpPr>
          <p:cNvPr id="13" name="Text 11"/>
          <p:cNvSpPr txBox="1"/>
          <p:nvPr/>
        </p:nvSpPr>
        <p:spPr>
          <a:xfrm>
            <a:off x="731520" y="2939796"/>
            <a:ext cx="10012680" cy="93268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إِنَّمَا الْعِلْمُ عِندَ اللَّهِ وَإِنَّمَآ أَنَا نَذِيرٌ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علم ذلك عند الله وحده، وإنما أنا منذر واضح الإنذار.</a:t>
            </a:r>
            <a:endParaRPr lang="ar-SA" sz="3200" dirty="0"/>
          </a:p>
        </p:txBody>
      </p:sp>
      <p:sp>
        <p:nvSpPr>
          <p:cNvPr id="14" name="Shape 12"/>
          <p:cNvSpPr/>
          <p:nvPr/>
        </p:nvSpPr>
        <p:spPr>
          <a:xfrm>
            <a:off x="2103120" y="4087368"/>
            <a:ext cx="8641080" cy="0"/>
          </a:xfrm>
          <a:prstGeom prst="line">
            <a:avLst/>
          </a:prstGeom>
          <a:noFill/>
          <a:ln w="9525">
            <a:solidFill>
              <a:schemeClr val="accent2"/>
            </a:solidFill>
            <a:prstDash val="dash"/>
          </a:ln>
        </p:spPr>
      </p:sp>
      <p:sp>
        <p:nvSpPr>
          <p:cNvPr id="15" name="Shape 13"/>
          <p:cNvSpPr/>
          <p:nvPr/>
        </p:nvSpPr>
        <p:spPr>
          <a:xfrm>
            <a:off x="10927080" y="4347972"/>
            <a:ext cx="548640" cy="548640"/>
          </a:xfrm>
          <a:prstGeom prst="star8">
            <a:avLst/>
          </a:prstGeom>
          <a:solidFill>
            <a:schemeClr val="accent2"/>
          </a:solidFill>
          <a:ln/>
        </p:spPr>
      </p:sp>
      <p:sp>
        <p:nvSpPr>
          <p:cNvPr id="16" name="Shape 14"/>
          <p:cNvSpPr/>
          <p:nvPr/>
        </p:nvSpPr>
        <p:spPr>
          <a:xfrm>
            <a:off x="11036808" y="4457700"/>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347972"/>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٢٧</a:t>
            </a:r>
            <a:endParaRPr lang="ar-SA" sz="1600" dirty="0"/>
          </a:p>
        </p:txBody>
      </p:sp>
      <p:sp>
        <p:nvSpPr>
          <p:cNvPr id="18" name="Text 16"/>
          <p:cNvSpPr txBox="1"/>
          <p:nvPr/>
        </p:nvSpPr>
        <p:spPr>
          <a:xfrm>
            <a:off x="731520" y="4329684"/>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فَلَمَّا رَأَوْهُ زُلْفَةً سِيـَٔتْ وُجُوهُ الَّذِينَ كَفَرُواْ وَقِيلَ هَٰذَا الَّذِي كُنتُم بِهِ تَدَّعُونَ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فلما رأوا العذاب قريبًا منهم اسودّت وجوه الكفار، وقيل لهم: هذا الذي كنتم تطلبونه.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157</a:t>
            </a:fld>
            <a:endParaRPr lang="en-US"/>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ph idx="101" type="title" hasCustomPrompt="1"/>
          </p:nvPr>
        </p:nvSpPr>
        <p:spPr>
          <a:xfrm>
            <a:off x="4084168" y="384048"/>
            <a:ext cx="4023360" cy="713232"/>
          </a:xfrm>
          <a:prstGeom prst="rect">
            <a:avLst/>
          </a:prstGeom>
          <a:noFill/>
          <a:ln/>
        </p:spPr>
        <p:txBody>
          <a:bodyPr wrap="square" lIns="0" tIns="0" rIns="0" bIns="0" rtlCol="0" anchor="ctr"/>
          <a:lstStyle/>
          <a:p>
            <a:pPr rtl="1" algn="ctr" indent="0" marL="0">
              <a:buNone/>
            </a:pPr>
            <a:r>
              <a:rPr lang="en-US" sz="3000" b="1" dirty="0">
                <a:solidFill>
                  <a:schemeClr val="bg1"/>
                </a:solidFill>
                <a:latin typeface="Sakkal Majalla" pitchFamily="34" charset="0"/>
                <a:ea typeface="Sakkal Majalla" pitchFamily="34" charset="-122"/>
                <a:cs typeface="Sakkal Majalla" pitchFamily="34" charset="-120"/>
              </a:rPr>
              <a:t>سورة الملك</a:t>
            </a:r>
            <a:endParaRPr lang="en-US" sz="3000" dirty="0"/>
          </a:p>
        </p:txBody>
      </p:sp>
      <p:sp>
        <p:nvSpPr>
          <p:cNvPr id="3" name="Text 1"/>
          <p:cNvSpPr txBox="1"/>
          <p:nvPr/>
        </p:nvSpPr>
        <p:spPr>
          <a:xfrm>
            <a:off x="8732520" y="548640"/>
            <a:ext cx="2651760" cy="384048"/>
          </a:xfrm>
          <a:prstGeom prst="rect">
            <a:avLst/>
          </a:prstGeom>
          <a:noFill/>
          <a:ln/>
        </p:spPr>
        <p:txBody>
          <a:bodyPr wrap="square" lIns="0" tIns="0" rIns="0" bIns="0" rtlCol="0" anchor="ctr"/>
          <a:lstStyle/>
          <a:p>
            <a:pPr rtl="1" algn="r" indent="0" marL="0">
              <a:buNone/>
            </a:pPr>
            <a:r>
              <a:rPr lang="ar-SA" altLang="en-US" sz="1600" b="1" dirty="0">
                <a:solidFill>
                  <a:schemeClr val="accent2"/>
                </a:solidFill>
              </a:rPr>
              <a:t>الآيات ٢٨ – ٣٠</a:t>
            </a:r>
            <a:endParaRPr lang="ar-SA" sz="1600" dirty="0"/>
          </a:p>
        </p:txBody>
      </p:sp>
      <p:sp>
        <p:nvSpPr>
          <p:cNvPr id="4" name="Text 2"/>
          <p:cNvSpPr txBox="1"/>
          <p:nvPr/>
        </p:nvSpPr>
        <p:spPr>
          <a:xfrm>
            <a:off x="777240" y="548640"/>
            <a:ext cx="2651760" cy="384048"/>
          </a:xfrm>
          <a:prstGeom prst="rect">
            <a:avLst/>
          </a:prstGeom>
          <a:noFill/>
          <a:ln/>
        </p:spPr>
        <p:txBody>
          <a:bodyPr wrap="square" lIns="0" tIns="0" rIns="0" bIns="0" rtlCol="0" anchor="ctr"/>
          <a:lstStyle/>
          <a:p>
            <a:pPr rtl="1" algn="l" indent="0" marL="0">
              <a:buNone/>
            </a:pPr>
            <a:r>
              <a:rPr lang="ar-SA" altLang="en-US" sz="1400" dirty="0">
                <a:solidFill>
                  <a:schemeClr val="accent4"/>
                </a:solidFill>
              </a:rPr>
              <a:t>تفسير ابن كثير مبسّطًا</a:t>
            </a:r>
            <a:endParaRPr lang="ar-SA" sz="1400" dirty="0"/>
          </a:p>
        </p:txBody>
      </p:sp>
      <p:sp>
        <p:nvSpPr>
          <p:cNvPr id="5" name="Shape 3"/>
          <p:cNvSpPr/>
          <p:nvPr/>
        </p:nvSpPr>
        <p:spPr>
          <a:xfrm>
            <a:off x="10927080" y="1347216"/>
            <a:ext cx="548640" cy="548640"/>
          </a:xfrm>
          <a:prstGeom prst="star8">
            <a:avLst/>
          </a:prstGeom>
          <a:solidFill>
            <a:schemeClr val="accent2"/>
          </a:solidFill>
          <a:ln/>
        </p:spPr>
      </p:sp>
      <p:sp>
        <p:nvSpPr>
          <p:cNvPr id="6" name="Shape 4"/>
          <p:cNvSpPr/>
          <p:nvPr/>
        </p:nvSpPr>
        <p:spPr>
          <a:xfrm>
            <a:off x="11036808" y="1456944"/>
            <a:ext cx="329184" cy="329184"/>
          </a:xfrm>
          <a:prstGeom prst="ellipse">
            <a:avLst/>
          </a:prstGeom>
          <a:solidFill>
            <a:schemeClr val="bg2"/>
          </a:solidFill>
          <a:ln w="19050">
            <a:solidFill>
              <a:schemeClr val="tx2"/>
            </a:solidFill>
            <a:prstDash val="solid"/>
          </a:ln>
        </p:spPr>
      </p:sp>
      <p:sp>
        <p:nvSpPr>
          <p:cNvPr id="7" name="Text 5"/>
          <p:cNvSpPr txBox="1"/>
          <p:nvPr/>
        </p:nvSpPr>
        <p:spPr>
          <a:xfrm>
            <a:off x="10927080" y="1347216"/>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٢٨</a:t>
            </a:r>
            <a:endParaRPr lang="ar-SA" sz="1600" dirty="0"/>
          </a:p>
        </p:txBody>
      </p:sp>
      <p:sp>
        <p:nvSpPr>
          <p:cNvPr id="8" name="Text 6"/>
          <p:cNvSpPr txBox="1"/>
          <p:nvPr/>
        </p:nvSpPr>
        <p:spPr>
          <a:xfrm>
            <a:off x="731520" y="1328928"/>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أَهْلَكَنِيَ اللَّهُ وَمَن مَّعِيَ أَوْ رَحِمَنَا فَمَن يُجِيرُ الْكَٰفِرِينَ مِنْ عَذَابٍ أَلِيمٍ</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أماتني الله ومن معي أو رحمنا، فمن يحمي الكافرين من عذاب مؤلم؟</a:t>
            </a:r>
            <a:endParaRPr lang="ar-SA" sz="3200" dirty="0"/>
          </a:p>
        </p:txBody>
      </p:sp>
      <p:sp>
        <p:nvSpPr>
          <p:cNvPr id="9" name="Shape 7"/>
          <p:cNvSpPr/>
          <p:nvPr/>
        </p:nvSpPr>
        <p:spPr>
          <a:xfrm>
            <a:off x="2103120" y="2913888"/>
            <a:ext cx="8641080" cy="0"/>
          </a:xfrm>
          <a:prstGeom prst="line">
            <a:avLst/>
          </a:prstGeom>
          <a:noFill/>
          <a:ln w="9525">
            <a:solidFill>
              <a:schemeClr val="accent2"/>
            </a:solidFill>
            <a:prstDash val="dash"/>
          </a:ln>
        </p:spPr>
      </p:sp>
      <p:sp>
        <p:nvSpPr>
          <p:cNvPr id="10" name="Shape 8"/>
          <p:cNvSpPr/>
          <p:nvPr/>
        </p:nvSpPr>
        <p:spPr>
          <a:xfrm>
            <a:off x="10927080" y="3063240"/>
            <a:ext cx="548640" cy="548640"/>
          </a:xfrm>
          <a:prstGeom prst="star8">
            <a:avLst/>
          </a:prstGeom>
          <a:solidFill>
            <a:schemeClr val="accent2"/>
          </a:solidFill>
          <a:ln/>
        </p:spPr>
      </p:sp>
      <p:sp>
        <p:nvSpPr>
          <p:cNvPr id="11" name="Shape 9"/>
          <p:cNvSpPr/>
          <p:nvPr/>
        </p:nvSpPr>
        <p:spPr>
          <a:xfrm>
            <a:off x="11036808" y="3172968"/>
            <a:ext cx="329184" cy="329184"/>
          </a:xfrm>
          <a:prstGeom prst="ellipse">
            <a:avLst/>
          </a:prstGeom>
          <a:solidFill>
            <a:schemeClr val="bg2"/>
          </a:solidFill>
          <a:ln w="19050">
            <a:solidFill>
              <a:schemeClr val="tx2"/>
            </a:solidFill>
            <a:prstDash val="solid"/>
          </a:ln>
        </p:spPr>
      </p:sp>
      <p:sp>
        <p:nvSpPr>
          <p:cNvPr id="12" name="Text 10"/>
          <p:cNvSpPr txBox="1"/>
          <p:nvPr/>
        </p:nvSpPr>
        <p:spPr>
          <a:xfrm>
            <a:off x="10927080" y="3063240"/>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٢٩</a:t>
            </a:r>
            <a:endParaRPr lang="ar-SA" sz="1600" dirty="0"/>
          </a:p>
        </p:txBody>
      </p:sp>
      <p:sp>
        <p:nvSpPr>
          <p:cNvPr id="13" name="Text 11"/>
          <p:cNvSpPr txBox="1"/>
          <p:nvPr/>
        </p:nvSpPr>
        <p:spPr>
          <a:xfrm>
            <a:off x="731520" y="3044952"/>
            <a:ext cx="10012680" cy="1481328"/>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هُوَ الرَّحْمَٰنُ ءَامَنَّا بِهِ وَعَلَيْهِ تَوَكَّلْنَا فَسَتَعْلَمُونَ مَنْ هُوَ فِي ضَلَٰلٍ مُّبِينٍ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هو الرحمن، آمنا به وعليه توكّلنا، فستعلمون من هو في ضلال واضح.</a:t>
            </a:r>
            <a:endParaRPr lang="ar-SA" sz="3200" dirty="0"/>
          </a:p>
        </p:txBody>
      </p:sp>
      <p:sp>
        <p:nvSpPr>
          <p:cNvPr id="14" name="Shape 12"/>
          <p:cNvSpPr/>
          <p:nvPr/>
        </p:nvSpPr>
        <p:spPr>
          <a:xfrm>
            <a:off x="2103120" y="4629912"/>
            <a:ext cx="8641080" cy="0"/>
          </a:xfrm>
          <a:prstGeom prst="line">
            <a:avLst/>
          </a:prstGeom>
          <a:noFill/>
          <a:ln w="9525">
            <a:solidFill>
              <a:schemeClr val="accent2"/>
            </a:solidFill>
            <a:prstDash val="dash"/>
          </a:ln>
        </p:spPr>
      </p:sp>
      <p:sp>
        <p:nvSpPr>
          <p:cNvPr id="15" name="Shape 13"/>
          <p:cNvSpPr/>
          <p:nvPr/>
        </p:nvSpPr>
        <p:spPr>
          <a:xfrm>
            <a:off x="10927080" y="4779264"/>
            <a:ext cx="548640" cy="548640"/>
          </a:xfrm>
          <a:prstGeom prst="star8">
            <a:avLst/>
          </a:prstGeom>
          <a:solidFill>
            <a:schemeClr val="accent2"/>
          </a:solidFill>
          <a:ln/>
        </p:spPr>
      </p:sp>
      <p:sp>
        <p:nvSpPr>
          <p:cNvPr id="16" name="Shape 14"/>
          <p:cNvSpPr/>
          <p:nvPr/>
        </p:nvSpPr>
        <p:spPr>
          <a:xfrm>
            <a:off x="11036808" y="4888992"/>
            <a:ext cx="329184" cy="329184"/>
          </a:xfrm>
          <a:prstGeom prst="ellipse">
            <a:avLst/>
          </a:prstGeom>
          <a:solidFill>
            <a:schemeClr val="bg2"/>
          </a:solidFill>
          <a:ln w="19050">
            <a:solidFill>
              <a:schemeClr val="tx2"/>
            </a:solidFill>
            <a:prstDash val="solid"/>
          </a:ln>
        </p:spPr>
      </p:sp>
      <p:sp>
        <p:nvSpPr>
          <p:cNvPr id="17" name="Text 15"/>
          <p:cNvSpPr txBox="1"/>
          <p:nvPr/>
        </p:nvSpPr>
        <p:spPr>
          <a:xfrm>
            <a:off x="10927080" y="4779264"/>
            <a:ext cx="548640" cy="548640"/>
          </a:xfrm>
          <a:prstGeom prst="rect">
            <a:avLst/>
          </a:prstGeom>
          <a:noFill/>
          <a:ln/>
        </p:spPr>
        <p:txBody>
          <a:bodyPr wrap="square" lIns="0" tIns="0" rIns="0" bIns="0" rtlCol="0" anchor="ctr"/>
          <a:lstStyle/>
          <a:p>
            <a:pPr rtl="1" algn="ctr" indent="0" marL="0">
              <a:buNone/>
            </a:pPr>
            <a:r>
              <a:rPr lang="ar-SA" altLang="en-US" sz="1600" b="1" dirty="0">
                <a:solidFill>
                  <a:schemeClr val="tx2"/>
                </a:solidFill>
                <a:latin typeface="Arial" pitchFamily="34" charset="0"/>
                <a:ea typeface="Arial" pitchFamily="34" charset="-122"/>
                <a:cs typeface="Arial" pitchFamily="34" charset="-120"/>
              </a:rPr>
              <a:t>٣٠</a:t>
            </a:r>
            <a:endParaRPr lang="ar-SA" sz="1600" dirty="0"/>
          </a:p>
        </p:txBody>
      </p:sp>
      <p:sp>
        <p:nvSpPr>
          <p:cNvPr id="18" name="Text 16"/>
          <p:cNvSpPr txBox="1"/>
          <p:nvPr/>
        </p:nvSpPr>
        <p:spPr>
          <a:xfrm>
            <a:off x="731520" y="4760976"/>
            <a:ext cx="10012680" cy="1271016"/>
          </a:xfrm>
          <a:prstGeom prst="rect">
            <a:avLst/>
          </a:prstGeom>
          <a:noFill/>
          <a:ln/>
        </p:spPr>
        <p:txBody>
          <a:bodyPr wrap="square" lIns="0" tIns="0" rIns="0" bIns="0" rtlCol="0" anchor="t"/>
          <a:lstStyle/>
          <a:p>
            <a:pPr rtl="1" algn="r" indent="0" marL="0">
              <a:spcAft>
                <a:spcPts val="500"/>
              </a:spcAft>
              <a:buNone/>
            </a:pPr>
            <a:r>
              <a:rPr lang="ar-SA" altLang="en-US" sz="3200" b="1" dirty="0">
                <a:solidFill>
                  <a:schemeClr val="tx2"/>
                </a:solidFill>
                <a:latin typeface="Traditional Arabic" pitchFamily="34" charset="0"/>
                <a:ea typeface="Traditional Arabic" pitchFamily="34" charset="-122"/>
                <a:cs typeface="Traditional Arabic" pitchFamily="34" charset="-120"/>
              </a:rPr>
              <a:t>قُلْ أَرَءَيْتُمْ إِنْ أَصْبَحَ مَآؤُكُمْ غَوْرًا فَمَن يَأْتِيكُم بِمَآءٍ مَّعِينٍ</a:t>
            </a:r>
            <a:endParaRPr lang="ar-SA" sz="3200" dirty="0"/>
          </a:p>
          <a:p>
            <a:pPr rtl="1" algn="r" indent="0" marL="0">
              <a:buNone/>
            </a:pPr>
            <a:r>
              <a:rPr lang="ar-SA" altLang="en-US" sz="1900" dirty="0">
                <a:solidFill>
                  <a:schemeClr val="tx1"/>
                </a:solidFill>
                <a:latin typeface="Arial" pitchFamily="34" charset="0"/>
                <a:ea typeface="Arial" pitchFamily="34" charset="-122"/>
                <a:cs typeface="Arial" pitchFamily="34" charset="-120"/>
              </a:rPr>
              <a:t>قل: أخبروني إن صار ماؤكم غائرًا في الأرض، فمن يأتيكم بماء جارٍ ظاهر؟ لا أحد إلا الله.</a:t>
            </a:r>
            <a:endParaRPr lang="ar-SA" sz="3200" dirty="0"/>
          </a:p>
        </p:txBody>
      </p:sp>
      <p:sp>
        <p:nvSpPr>
          <p:cNvPr id="25" name="Slide Number Placeholder 0"/>
          <p:cNvSpPr>
            <a:spLocks noGrp="1"/>
          </p:cNvSpPr>
          <p:nvPr>
            <p:ph type="sldNum" sz="quarter" idx="4294967295"/>
          </p:nvPr>
        </p:nvSpPr>
        <p:spPr>
          <a:xfrm>
            <a:off x="502920" y="6327648"/>
            <a:ext cx="54864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l"/>
            <a:fld id="{F7021451-1387-4CA6-816F-3879F97B5CBC}" type="slidenum">
              <a:rPr b="0" lang="en-US"/>
              <a:t>158</a:t>
            </a:fld>
            <a:endParaRPr lang="en-US"/>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pic>
        <p:nvPicPr>
          <p:cNvPr id="2" name="Image 0" descr="assets29/rosette.png">    </p:cNvPr>
          <p:cNvPicPr>
            <a:picLocks noChangeAspect="1"/>
          </p:cNvPicPr>
          <p:nvPr/>
        </p:nvPicPr>
        <p:blipFill>
          <a:blip r:embed="rId1"/>
          <a:stretch>
            <a:fillRect/>
          </a:stretch>
        </p:blipFill>
        <p:spPr>
          <a:xfrm>
            <a:off x="5455768" y="822960"/>
            <a:ext cx="1280160" cy="1280160"/>
          </a:xfrm>
          <a:prstGeom prst="rect">
            <a:avLst/>
          </a:prstGeom>
        </p:spPr>
      </p:pic>
      <p:sp>
        <p:nvSpPr>
          <p:cNvPr id="3" name="Text 0"/>
          <p:cNvSpPr/>
          <p:nvPr>
            <p:ph idx="101" type="title" hasCustomPrompt="1"/>
          </p:nvPr>
        </p:nvSpPr>
        <p:spPr>
          <a:xfrm>
            <a:off x="1097280" y="2514600"/>
            <a:ext cx="9997135" cy="1097280"/>
          </a:xfrm>
          <a:prstGeom prst="rect">
            <a:avLst/>
          </a:prstGeom>
          <a:noFill/>
          <a:ln/>
        </p:spPr>
        <p:txBody>
          <a:bodyPr wrap="square" lIns="0" tIns="0" rIns="0" bIns="0" rtlCol="0" anchor="ctr"/>
          <a:lstStyle/>
          <a:p>
            <a:pPr rtl="1" algn="ctr" indent="0" marL="0">
              <a:buNone/>
            </a:pPr>
            <a:r>
              <a:rPr lang="en-US" sz="6400" b="1" dirty="0">
                <a:solidFill>
                  <a:schemeClr val="bg1"/>
                </a:solidFill>
                <a:latin typeface="Sakkal Majalla" pitchFamily="34" charset="0"/>
                <a:ea typeface="Sakkal Majalla" pitchFamily="34" charset="-122"/>
                <a:cs typeface="Sakkal Majalla" pitchFamily="34" charset="-120"/>
              </a:rPr>
              <a:t>جزاكم الله خيرًا</a:t>
            </a:r>
            <a:endParaRPr lang="en-US" sz="6400" dirty="0"/>
          </a:p>
        </p:txBody>
      </p:sp>
      <p:sp>
        <p:nvSpPr>
          <p:cNvPr id="4" name="Text 1"/>
          <p:cNvSpPr txBox="1"/>
          <p:nvPr/>
        </p:nvSpPr>
        <p:spPr>
          <a:xfrm>
            <a:off x="1371600" y="3794760"/>
            <a:ext cx="9448495" cy="914400"/>
          </a:xfrm>
          <a:prstGeom prst="rect">
            <a:avLst/>
          </a:prstGeom>
          <a:noFill/>
          <a:ln/>
        </p:spPr>
        <p:txBody>
          <a:bodyPr wrap="square" lIns="0" tIns="0" rIns="0" bIns="0" rtlCol="0" anchor="t"/>
          <a:lstStyle/>
          <a:p>
            <a:pPr rtl="1" algn="ctr" indent="0" marL="0">
              <a:buNone/>
            </a:pPr>
            <a:r>
              <a:rPr lang="ar-SA" altLang="en-US" sz="2600" b="1" dirty="0">
                <a:solidFill>
                  <a:schemeClr val="accent2"/>
                </a:solidFill>
                <a:latin typeface="Traditional Arabic" pitchFamily="34" charset="0"/>
                <a:ea typeface="Traditional Arabic" pitchFamily="34" charset="-122"/>
                <a:cs typeface="Traditional Arabic" pitchFamily="34" charset="-120"/>
              </a:rPr>
              <a:t>«اللهم اجعل القرآن العظيم ربيع قلوبنا، ونور صدورنا، وجلاء أحزاننا، وذهاب همومنا»</a:t>
            </a:r>
            <a:endParaRPr lang="ar-SA" sz="2600" dirty="0"/>
          </a:p>
        </p:txBody>
      </p:sp>
      <p:pic>
        <p:nvPicPr>
          <p:cNvPr id="5" name="Image 1" descr="assets29/divider.png">    </p:cNvPr>
          <p:cNvPicPr>
            <a:picLocks noChangeAspect="1"/>
          </p:cNvPicPr>
          <p:nvPr/>
        </p:nvPicPr>
        <p:blipFill>
          <a:blip r:embed="rId2"/>
          <a:stretch>
            <a:fillRect/>
          </a:stretch>
        </p:blipFill>
        <p:spPr>
          <a:xfrm>
            <a:off x="3809848" y="4846320"/>
            <a:ext cx="4572000" cy="228600"/>
          </a:xfrm>
          <a:prstGeom prst="rect">
            <a:avLst/>
          </a:prstGeom>
        </p:spPr>
      </p:pic>
      <p:sp>
        <p:nvSpPr>
          <p:cNvPr id="6" name="Text 2"/>
          <p:cNvSpPr txBox="1"/>
          <p:nvPr/>
        </p:nvSpPr>
        <p:spPr>
          <a:xfrm>
            <a:off x="1371600" y="5257800"/>
            <a:ext cx="9448495" cy="365760"/>
          </a:xfrm>
          <a:prstGeom prst="rect">
            <a:avLst/>
          </a:prstGeom>
          <a:noFill/>
          <a:ln/>
        </p:spPr>
        <p:txBody>
          <a:bodyPr wrap="square" lIns="0" tIns="0" rIns="0" bIns="0" rtlCol="0" anchor="t"/>
          <a:lstStyle/>
          <a:p>
            <a:pPr rtl="1" algn="ctr" indent="0" marL="0">
              <a:buNone/>
            </a:pPr>
            <a:r>
              <a:rPr lang="ar-SA" altLang="en-US" sz="1500" dirty="0">
                <a:solidFill>
                  <a:schemeClr val="bg2"/>
                </a:solidFill>
              </a:rPr>
              <a:t>المرجع: تفسير القرآن العظيم، للحافظ ابن كثير رحمه الله</a:t>
            </a:r>
            <a:endParaRPr lang="ar-SA" sz="1500" dirty="0"/>
          </a:p>
        </p:txBody>
      </p:sp>
    </p:spTree>
  </p:cSld>
  <p:clrMapOvr>
    <a:masterClrMapping/>
  </p:clrMapOvr>
</p:sld>
</file>

<file path=ppt/theme/theme1.xml><?xml version="1.0" encoding="utf-8"?>
<a:theme xmlns:a="http://schemas.openxmlformats.org/drawingml/2006/main" name="Juz Tabarak Tafsir">
  <a:themeElements>
    <a:clrScheme name="Juz Tabarak Tafsir">
      <a:dk1>
        <a:srgbClr val="23262E"/>
      </a:dk1>
      <a:lt1>
        <a:srgbClr val="FFFFFF"/>
      </a:lt1>
      <a:dk2>
        <a:srgbClr val="1B3A6B"/>
      </a:dk2>
      <a:lt2>
        <a:srgbClr val="F5F7FB"/>
      </a:lt2>
      <a:accent1>
        <a:srgbClr val="1B3A6B"/>
      </a:accent1>
      <a:accent2>
        <a:srgbClr val="C9A04A"/>
      </a:accent2>
      <a:accent3>
        <a:srgbClr val="2A5694"/>
      </a:accent3>
      <a:accent4>
        <a:srgbClr val="5F6675"/>
      </a:accent4>
      <a:accent5>
        <a:srgbClr val="E7EDF6"/>
      </a:accent5>
      <a:accent6>
        <a:srgbClr val="1E8C8C"/>
      </a:accent6>
      <a:hlink>
        <a:srgbClr val="2A5694"/>
      </a:hlink>
      <a:folHlink>
        <a:srgbClr val="5F6675"/>
      </a:folHlink>
    </a:clrScheme>
    <a:fontScheme name="Juz Tabarak Tafsir">
      <a:majorFont>
        <a:latin typeface="Sakkal Majall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159</Slides>
  <Notes>159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159</vt:i4>
      </vt:variant>
    </vt:vector>
  </HeadingPairs>
  <TitlesOfParts>
    <vt:vector size="1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تفسير جزء تبارك — مبسّط من تفسير ابن كثير</dc:title>
  <dc:subject>PptxGenJS Presentation</dc:subject>
  <dc:creator>معلم القرآن الكريم</dc:creator>
  <cp:lastModifiedBy>معلم القرآن الكريم</cp:lastModifiedBy>
  <cp:revision>1</cp:revision>
  <dcterms:created xsi:type="dcterms:W3CDTF">2026-10-03T20:08:08Z</dcterms:created>
  <dcterms:modified xsi:type="dcterms:W3CDTF">2026-10-03T20:08:08Z</dcterms:modified>
</cp:coreProperties>
</file>