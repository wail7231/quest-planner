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Lst>
  <p:notesMasterIdLst>
    <p:notesMasterId r:id="rId1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0b293eb0-9041-07bd-009c-11bf5fc3b7ad}">
          <p14:sldIdLst>
            <p14:sldId id="256"/>
            <p14:sldId id="257"/>
            <p14:sldId id="258"/>
            <p14:sldId id="259"/>
          </p14:sldIdLst>
        </p14:section>
        <p14:section name="1. التقوى وحقوق اليتامى" id="{54613430-0320-6f20-d622-23449d706baa}">
          <p14:sldIdLst>
            <p14:sldId id="260"/>
            <p14:sldId id="261"/>
            <p14:sldId id="262"/>
            <p14:sldId id="263"/>
            <p14:sldId id="264"/>
            <p14:sldId id="265"/>
            <p14:sldId id="266"/>
          </p14:sldIdLst>
        </p14:section>
        <p14:section name="2. آيات المواريث" id="{5054f104-c43b-75f7-299f-185525a23c52}">
          <p14:sldIdLst>
            <p14:sldId id="267"/>
            <p14:sldId id="268"/>
            <p14:sldId id="269"/>
            <p14:sldId id="270"/>
          </p14:sldIdLst>
        </p14:section>
        <p14:section name="3. التوبة وأحكام الأسرة" id="{1faa3891-9f3c-a7b1-fef1-935a09076eab}">
          <p14:sldIdLst>
            <p14:sldId id="271"/>
            <p14:sldId id="272"/>
            <p14:sldId id="273"/>
            <p14:sldId id="274"/>
            <p14:sldId id="275"/>
            <p14:sldId id="276"/>
            <p14:sldId id="277"/>
            <p14:sldId id="278"/>
            <p14:sldId id="279"/>
            <p14:sldId id="280"/>
          </p14:sldIdLst>
        </p14:section>
        <p14:section name="4. حرمة الأموال وحقوق الناس" id="{4bae48ad-49e3-fe14-4b90-2092f0ec3564}">
          <p14:sldIdLst>
            <p14:sldId id="281"/>
            <p14:sldId id="282"/>
            <p14:sldId id="283"/>
            <p14:sldId id="284"/>
            <p14:sldId id="285"/>
            <p14:sldId id="286"/>
            <p14:sldId id="287"/>
            <p14:sldId id="288"/>
          </p14:sldIdLst>
        </p14:section>
        <p14:section name="5. الطهارة والتيمّم وأحوال أهل الكتاب" id="{e843a7c4-57dd-4b63-e61a-0bfbc9775e25}">
          <p14:sldIdLst>
            <p14:sldId id="289"/>
            <p14:sldId id="290"/>
            <p14:sldId id="291"/>
            <p14:sldId id="292"/>
            <p14:sldId id="293"/>
            <p14:sldId id="294"/>
            <p14:sldId id="295"/>
            <p14:sldId id="296"/>
            <p14:sldId id="297"/>
          </p14:sldIdLst>
        </p14:section>
        <p14:section name="6. الأمانة وطاعة الله ورسوله" id="{686b2def-1b85-57a4-3747-f13dd06709ee}">
          <p14:sldIdLst>
            <p14:sldId id="298"/>
            <p14:sldId id="299"/>
            <p14:sldId id="300"/>
            <p14:sldId id="301"/>
            <p14:sldId id="302"/>
            <p14:sldId id="303"/>
            <p14:sldId id="304"/>
          </p14:sldIdLst>
        </p14:section>
        <p14:section name="7. الجهاد والهجرة وصلاة الخوف" id="{1353de12-1d2f-3360-884f-3e2f34e1506d}">
          <p14:sldIdLst>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 id="324"/>
            <p14:sldId id="325"/>
          </p14:sldIdLst>
        </p14:section>
        <p14:section name="8. الحكم بالعدل والتحذير من الشرك" id="{08beb9eb-a8b8-b58e-2f09-e94ea68eed6d}">
          <p14:sldIdLst>
            <p14:sldId id="326"/>
            <p14:sldId id="327"/>
            <p14:sldId id="328"/>
            <p14:sldId id="329"/>
            <p14:sldId id="330"/>
            <p14:sldId id="331"/>
            <p14:sldId id="332"/>
            <p14:sldId id="333"/>
            <p14:sldId id="334"/>
            <p14:sldId id="335"/>
          </p14:sldIdLst>
        </p14:section>
        <p14:section name="9. العدل مع النساء وصفات المنافقين" id="{72431cb0-33b8-7208-c877-34a5d096e39f}">
          <p14:sldIdLst>
            <p14:sldId id="336"/>
            <p14:sldId id="337"/>
            <p14:sldId id="338"/>
            <p14:sldId id="339"/>
            <p14:sldId id="340"/>
            <p14:sldId id="341"/>
            <p14:sldId id="342"/>
            <p14:sldId id="343"/>
            <p14:sldId id="344"/>
            <p14:sldId id="345"/>
            <p14:sldId id="346"/>
            <p14:sldId id="347"/>
            <p14:sldId id="348"/>
            <p14:sldId id="349"/>
          </p14:sldIdLst>
        </p14:section>
        <p14:section name="10. أهل الكتاب وعيسى عليه السلام والكلالة" id="{05393f15-4001-4142-98ac-ba0211c56566}">
          <p14:sldIdLst>
            <p14:sldId id="350"/>
            <p14:sldId id="351"/>
            <p14:sldId id="352"/>
            <p14:sldId id="353"/>
            <p14:sldId id="354"/>
            <p14:sldId id="355"/>
            <p14:sldId id="356"/>
            <p14:sldId id="357"/>
            <p14:sldId id="358"/>
            <p14:sldId id="359"/>
            <p14:sldId id="360"/>
            <p14:sldId id="361"/>
            <p14:sldId id="362"/>
            <p14:sldId id="363"/>
          </p14:sldIdLst>
        </p14:section>
        <p14:section name="الخاتمة" id="{9714769d-b8bc-5ec6-12c4-f91a53dced64}">
          <p14:sldIdLst>
            <p14:sldId id="3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notesMaster" Target="notesMasters/notesMaster1.xml"/><Relationship Id="rId112" Type="http://schemas.openxmlformats.org/officeDocument/2006/relationships/presProps" Target="presProps.xml"/><Relationship Id="rId113" Type="http://schemas.openxmlformats.org/officeDocument/2006/relationships/viewProps" Target="viewProps.xml"/><Relationship Id="rId114" Type="http://schemas.openxmlformats.org/officeDocument/2006/relationships/theme" Target="theme/theme1.xml"/><Relationship Id="rId1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قسّمنا السورة إلى عشرة مقاطع موضوعية، في أول كل مقطع شريحة فيها سبب النزول ومقصد المقطع، ثم تفسير آياته بالترتيب.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عقوبة من يأكل أموال اليتامى ظلمًا كما في الآية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لماذا قال الله في آخر آيات المواريث: ﴿تلك حدود الله﴾؟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متى تُقبل التوبة، ومتى لا تُقبل كما في الآيتين 17 و18؟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اذكر خمسة ممن أمر الله بالإحسان إليهم في الآية 36.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متى يجوز التيمّم؟ وكيف نتيمّم؟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مع من يكون في الجنة من يطيع الله والرسول كما في الآية 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كيف نردّ التحية كما علّمتنا الآية 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الأعمال الثلاثة التي فيها خير من كلام الناس السرّي كما في الآية 114؟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اذكر صفتين من صفات المنافقين في الصلاة كما في الآية 142.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حدث لعيسى عليه السلام كما في الآيتين 157 و158؟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4/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4/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4/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image" Target="../media/image-109-1.png"/><Relationship Id="rId2" Type="http://schemas.openxmlformats.org/officeDocument/2006/relationships/image" Target="../media/image-109-2.png"/><Relationship Id="rId3" Type="http://schemas.openxmlformats.org/officeDocument/2006/relationships/slideLayout" Target="../slideLayouts/slideLayout4.xml"/><Relationship Id="rId4" Type="http://schemas.openxmlformats.org/officeDocument/2006/relationships/notesSlide" Target="../notesSlides/notesSlide10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4/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سورة النساء</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4/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١٧٦ آية  •  مدنية  •  ١٠ مقاطع مع أسباب النزول</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الفوشي</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سورة النساء</a:t>
            </a:r>
            <a:endParaRPr lang="en-US" sz="3000" dirty="0"/>
          </a:p>
        </p:txBody>
      </p:sp>
      <p:sp>
        <p:nvSpPr>
          <p:cNvPr id="3" name="Shape 1"/>
          <p:cNvSpPr/>
          <p:nvPr/>
        </p:nvSpPr>
        <p:spPr>
          <a:xfrm>
            <a:off x="8031175" y="1463040"/>
            <a:ext cx="3474720" cy="4572000"/>
          </a:xfrm>
          <a:prstGeom prst="roundRect">
            <a:avLst>
              <a:gd name="adj" fmla="val 3947"/>
            </a:avLst>
          </a:prstGeom>
          <a:solidFill>
            <a:schemeClr val="accent5"/>
          </a:solidFill>
          <a:ln w="15875">
            <a:solidFill>
              <a:schemeClr val="accent2"/>
            </a:solidFill>
            <a:prstDash val="solid"/>
          </a:ln>
        </p:spPr>
      </p:sp>
      <p:sp>
        <p:nvSpPr>
          <p:cNvPr id="4" name="Shape 2"/>
          <p:cNvSpPr/>
          <p:nvPr/>
        </p:nvSpPr>
        <p:spPr>
          <a:xfrm>
            <a:off x="9402775" y="1737360"/>
            <a:ext cx="731520" cy="731520"/>
          </a:xfrm>
          <a:prstGeom prst="star8">
            <a:avLst/>
          </a:prstGeom>
          <a:solidFill>
            <a:schemeClr val="accent2"/>
          </a:solidFill>
          <a:ln/>
        </p:spPr>
      </p:sp>
      <p:sp>
        <p:nvSpPr>
          <p:cNvPr id="5" name="Shape 3"/>
          <p:cNvSpPr/>
          <p:nvPr/>
        </p:nvSpPr>
        <p:spPr>
          <a:xfrm>
            <a:off x="9549079" y="1883664"/>
            <a:ext cx="438912" cy="438912"/>
          </a:xfrm>
          <a:prstGeom prst="ellipse">
            <a:avLst/>
          </a:prstGeom>
          <a:solidFill>
            <a:schemeClr val="bg2"/>
          </a:solidFill>
          <a:ln w="19050">
            <a:solidFill>
              <a:schemeClr val="tx2"/>
            </a:solidFill>
            <a:prstDash val="solid"/>
          </a:ln>
        </p:spPr>
      </p:sp>
      <p:sp>
        <p:nvSpPr>
          <p:cNvPr id="6" name="Text 4"/>
          <p:cNvSpPr txBox="1"/>
          <p:nvPr/>
        </p:nvSpPr>
        <p:spPr>
          <a:xfrm>
            <a:off x="940277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١</a:t>
            </a:r>
            <a:endParaRPr lang="ar-SA" sz="1800" dirty="0"/>
          </a:p>
        </p:txBody>
      </p:sp>
      <p:sp>
        <p:nvSpPr>
          <p:cNvPr id="7" name="Text 5"/>
          <p:cNvSpPr txBox="1"/>
          <p:nvPr/>
        </p:nvSpPr>
        <p:spPr>
          <a:xfrm>
            <a:off x="825977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من السبع الطوال</a:t>
            </a:r>
            <a:endParaRPr lang="ar-SA" sz="2400" dirty="0"/>
          </a:p>
        </p:txBody>
      </p:sp>
      <p:sp>
        <p:nvSpPr>
          <p:cNvPr id="8" name="Text 6"/>
          <p:cNvSpPr txBox="1"/>
          <p:nvPr/>
        </p:nvSpPr>
        <p:spPr>
          <a:xfrm>
            <a:off x="830549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قال النبي صلى الله عليه وسلم: «من أخذ السبع الأُوَل من القرآن فهو حَبر» (رواه أحمد)، وسورة النساء من هذه السبع الطوال.</a:t>
            </a:r>
            <a:endParaRPr lang="ar-SA" sz="1600" dirty="0"/>
          </a:p>
        </p:txBody>
      </p:sp>
      <p:sp>
        <p:nvSpPr>
          <p:cNvPr id="9" name="Shape 7"/>
          <p:cNvSpPr/>
          <p:nvPr/>
        </p:nvSpPr>
        <p:spPr>
          <a:xfrm>
            <a:off x="4282135" y="1463040"/>
            <a:ext cx="3474720" cy="4572000"/>
          </a:xfrm>
          <a:prstGeom prst="roundRect">
            <a:avLst>
              <a:gd name="adj" fmla="val 3947"/>
            </a:avLst>
          </a:prstGeom>
          <a:solidFill>
            <a:schemeClr val="accent5"/>
          </a:solidFill>
          <a:ln w="15875">
            <a:solidFill>
              <a:schemeClr val="accent2"/>
            </a:solidFill>
            <a:prstDash val="solid"/>
          </a:ln>
        </p:spPr>
      </p:sp>
      <p:sp>
        <p:nvSpPr>
          <p:cNvPr id="10" name="Shape 8"/>
          <p:cNvSpPr/>
          <p:nvPr/>
        </p:nvSpPr>
        <p:spPr>
          <a:xfrm>
            <a:off x="5653735" y="1737360"/>
            <a:ext cx="731520" cy="731520"/>
          </a:xfrm>
          <a:prstGeom prst="star8">
            <a:avLst/>
          </a:prstGeom>
          <a:solidFill>
            <a:schemeClr val="accent2"/>
          </a:solidFill>
          <a:ln/>
        </p:spPr>
      </p:sp>
      <p:sp>
        <p:nvSpPr>
          <p:cNvPr id="11" name="Shape 9"/>
          <p:cNvSpPr/>
          <p:nvPr/>
        </p:nvSpPr>
        <p:spPr>
          <a:xfrm>
            <a:off x="5800039" y="1883664"/>
            <a:ext cx="438912" cy="438912"/>
          </a:xfrm>
          <a:prstGeom prst="ellipse">
            <a:avLst/>
          </a:prstGeom>
          <a:solidFill>
            <a:schemeClr val="bg2"/>
          </a:solidFill>
          <a:ln w="19050">
            <a:solidFill>
              <a:schemeClr val="tx2"/>
            </a:solidFill>
            <a:prstDash val="solid"/>
          </a:ln>
        </p:spPr>
      </p:sp>
      <p:sp>
        <p:nvSpPr>
          <p:cNvPr id="12" name="Text 10"/>
          <p:cNvSpPr txBox="1"/>
          <p:nvPr/>
        </p:nvSpPr>
        <p:spPr>
          <a:xfrm>
            <a:off x="565373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٢</a:t>
            </a:r>
            <a:endParaRPr lang="ar-SA" sz="1800" dirty="0"/>
          </a:p>
        </p:txBody>
      </p:sp>
      <p:sp>
        <p:nvSpPr>
          <p:cNvPr id="13" name="Text 11"/>
          <p:cNvSpPr txBox="1"/>
          <p:nvPr/>
        </p:nvSpPr>
        <p:spPr>
          <a:xfrm>
            <a:off x="451073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حقوق الضعفاء</a:t>
            </a:r>
            <a:endParaRPr lang="ar-SA" sz="2400" dirty="0"/>
          </a:p>
        </p:txBody>
      </p:sp>
      <p:sp>
        <p:nvSpPr>
          <p:cNvPr id="14" name="Text 12"/>
          <p:cNvSpPr txBox="1"/>
          <p:nvPr/>
        </p:nvSpPr>
        <p:spPr>
          <a:xfrm>
            <a:off x="455645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سُمّيت «النساء» لكثرة ما فيها من أحكام النساء، وقد عُنيت بحقوق الضعفاء: النساء واليتامى والمستضعفين.</a:t>
            </a:r>
            <a:endParaRPr lang="ar-SA" sz="1600" dirty="0"/>
          </a:p>
        </p:txBody>
      </p:sp>
      <p:sp>
        <p:nvSpPr>
          <p:cNvPr id="15" name="Shape 13"/>
          <p:cNvSpPr/>
          <p:nvPr/>
        </p:nvSpPr>
        <p:spPr>
          <a:xfrm>
            <a:off x="533095" y="1463040"/>
            <a:ext cx="3474720" cy="4572000"/>
          </a:xfrm>
          <a:prstGeom prst="roundRect">
            <a:avLst>
              <a:gd name="adj" fmla="val 3947"/>
            </a:avLst>
          </a:prstGeom>
          <a:solidFill>
            <a:schemeClr val="accent5"/>
          </a:solidFill>
          <a:ln w="15875">
            <a:solidFill>
              <a:schemeClr val="accent2"/>
            </a:solidFill>
            <a:prstDash val="solid"/>
          </a:ln>
        </p:spPr>
      </p:sp>
      <p:sp>
        <p:nvSpPr>
          <p:cNvPr id="16" name="Shape 14"/>
          <p:cNvSpPr/>
          <p:nvPr/>
        </p:nvSpPr>
        <p:spPr>
          <a:xfrm>
            <a:off x="1904695" y="1737360"/>
            <a:ext cx="731520" cy="731520"/>
          </a:xfrm>
          <a:prstGeom prst="star8">
            <a:avLst/>
          </a:prstGeom>
          <a:solidFill>
            <a:schemeClr val="accent2"/>
          </a:solidFill>
          <a:ln/>
        </p:spPr>
      </p:sp>
      <p:sp>
        <p:nvSpPr>
          <p:cNvPr id="17" name="Shape 15"/>
          <p:cNvSpPr/>
          <p:nvPr/>
        </p:nvSpPr>
        <p:spPr>
          <a:xfrm>
            <a:off x="2050999" y="1883664"/>
            <a:ext cx="438912" cy="438912"/>
          </a:xfrm>
          <a:prstGeom prst="ellipse">
            <a:avLst/>
          </a:prstGeom>
          <a:solidFill>
            <a:schemeClr val="bg2"/>
          </a:solidFill>
          <a:ln w="19050">
            <a:solidFill>
              <a:schemeClr val="tx2"/>
            </a:solidFill>
            <a:prstDash val="solid"/>
          </a:ln>
        </p:spPr>
      </p:sp>
      <p:sp>
        <p:nvSpPr>
          <p:cNvPr id="18" name="Text 16"/>
          <p:cNvSpPr txBox="1"/>
          <p:nvPr/>
        </p:nvSpPr>
        <p:spPr>
          <a:xfrm>
            <a:off x="1904695" y="1737360"/>
            <a:ext cx="731520" cy="731520"/>
          </a:xfrm>
          <a:prstGeom prst="rect">
            <a:avLst/>
          </a:prstGeom>
          <a:noFill/>
          <a:ln/>
        </p:spPr>
        <p:txBody>
          <a:bodyPr wrap="square" lIns="0" tIns="0" rIns="0" bIns="0" rtlCol="0" anchor="ctr"/>
          <a:lstStyle/>
          <a:p>
            <a:pPr rtl="1" algn="ctr" indent="0" marL="0">
              <a:buNone/>
            </a:pPr>
            <a:r>
              <a:rPr lang="ar-SA" altLang="en-US" sz="1800" b="1" dirty="0">
                <a:solidFill>
                  <a:schemeClr val="tx2"/>
                </a:solidFill>
                <a:latin typeface="Arial" pitchFamily="34" charset="0"/>
                <a:ea typeface="Arial" pitchFamily="34" charset="-122"/>
                <a:cs typeface="Arial" pitchFamily="34" charset="-120"/>
              </a:rPr>
              <a:t>٣</a:t>
            </a:r>
            <a:endParaRPr lang="ar-SA" sz="1800" dirty="0"/>
          </a:p>
        </p:txBody>
      </p:sp>
      <p:sp>
        <p:nvSpPr>
          <p:cNvPr id="19" name="Text 17"/>
          <p:cNvSpPr txBox="1"/>
          <p:nvPr/>
        </p:nvSpPr>
        <p:spPr>
          <a:xfrm>
            <a:off x="761695" y="2651760"/>
            <a:ext cx="3017520" cy="548640"/>
          </a:xfrm>
          <a:prstGeom prst="rect">
            <a:avLst/>
          </a:prstGeom>
          <a:noFill/>
          <a:ln/>
        </p:spPr>
        <p:txBody>
          <a:bodyPr wrap="square" lIns="0" tIns="0" rIns="0" bIns="0" rtlCol="0" anchor="t"/>
          <a:lstStyle/>
          <a:p>
            <a:pPr rtl="1" algn="ct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السورة في سطور</a:t>
            </a:r>
            <a:endParaRPr lang="ar-SA" sz="2400" dirty="0"/>
          </a:p>
        </p:txBody>
      </p:sp>
      <p:sp>
        <p:nvSpPr>
          <p:cNvPr id="20" name="Text 18"/>
          <p:cNvSpPr txBox="1"/>
          <p:nvPr/>
        </p:nvSpPr>
        <p:spPr>
          <a:xfrm>
            <a:off x="807415" y="3291840"/>
            <a:ext cx="2926080" cy="2560320"/>
          </a:xfrm>
          <a:prstGeom prst="rect">
            <a:avLst/>
          </a:prstGeom>
          <a:noFill/>
          <a:ln/>
        </p:spPr>
        <p:txBody>
          <a:bodyPr wrap="square" lIns="0" tIns="0" rIns="0" bIns="0" rtlCol="0" anchor="t"/>
          <a:lstStyle/>
          <a:p>
            <a:pPr rtl="1" algn="ctr" indent="0" marL="0">
              <a:lnSpc>
                <a:spcPct val="115000"/>
              </a:lnSpc>
              <a:buNone/>
            </a:pPr>
            <a:r>
              <a:rPr lang="ar-SA" altLang="en-US" sz="1600" dirty="0">
                <a:solidFill>
                  <a:schemeClr val="tx1"/>
                </a:solidFill>
              </a:rPr>
              <a:t>١٧٦ آية، مدنية، وهي الرابعة في ترتيب المصحف. فيها آيات المواريث، وآخر آية نزلت في الكلالة.</a:t>
            </a:r>
            <a:endParaRPr lang="ar-SA" sz="16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مقاطع السورة</a:t>
            </a:r>
            <a:endParaRPr lang="en-US" sz="3000" dirty="0"/>
          </a:p>
        </p:txBody>
      </p:sp>
      <p:sp>
        <p:nvSpPr>
          <p:cNvPr id="3" name="Text 1"/>
          <p:cNvSpPr txBox="1"/>
          <p:nvPr/>
        </p:nvSpPr>
        <p:spPr>
          <a:xfrm>
            <a:off x="685800" y="1280160"/>
            <a:ext cx="10820095" cy="384048"/>
          </a:xfrm>
          <a:prstGeom prst="rect">
            <a:avLst/>
          </a:prstGeom>
          <a:noFill/>
          <a:ln/>
        </p:spPr>
        <p:txBody>
          <a:bodyPr wrap="square" lIns="0" tIns="0" rIns="0" bIns="0" rtlCol="0" anchor="t"/>
          <a:lstStyle/>
          <a:p>
            <a:pPr rtl="1" algn="ctr" indent="0" marL="0">
              <a:buNone/>
            </a:pPr>
            <a:r>
              <a:rPr lang="ar-SA" altLang="en-US" sz="1700" dirty="0">
                <a:solidFill>
                  <a:schemeClr val="accent4"/>
                </a:solidFill>
              </a:rPr>
              <a:t>قسّمنا السورة إلى عشرة مقاطع بحسب موضوعاتها، لنفهمها خطوة خطوة</a:t>
            </a:r>
            <a:endParaRPr lang="ar-SA" sz="1700" dirty="0"/>
          </a:p>
        </p:txBody>
      </p:sp>
      <p:sp>
        <p:nvSpPr>
          <p:cNvPr id="4" name="Shape 2"/>
          <p:cNvSpPr/>
          <p:nvPr/>
        </p:nvSpPr>
        <p:spPr>
          <a:xfrm>
            <a:off x="6233008" y="1828800"/>
            <a:ext cx="5257800" cy="749808"/>
          </a:xfrm>
          <a:prstGeom prst="roundRect">
            <a:avLst>
              <a:gd name="adj" fmla="val 14634"/>
            </a:avLst>
          </a:prstGeom>
          <a:solidFill>
            <a:schemeClr val="bg1"/>
          </a:solidFill>
          <a:ln w="12700">
            <a:solidFill>
              <a:schemeClr val="accent2"/>
            </a:solidFill>
            <a:prstDash val="solid"/>
          </a:ln>
        </p:spPr>
      </p:sp>
      <p:sp>
        <p:nvSpPr>
          <p:cNvPr id="5" name="Shape 3"/>
          <p:cNvSpPr/>
          <p:nvPr/>
        </p:nvSpPr>
        <p:spPr>
          <a:xfrm>
            <a:off x="10805008" y="1938528"/>
            <a:ext cx="530352" cy="530352"/>
          </a:xfrm>
          <a:prstGeom prst="star8">
            <a:avLst/>
          </a:prstGeom>
          <a:solidFill>
            <a:schemeClr val="accent2"/>
          </a:solidFill>
          <a:ln/>
        </p:spPr>
      </p:sp>
      <p:sp>
        <p:nvSpPr>
          <p:cNvPr id="6" name="Shape 4"/>
          <p:cNvSpPr/>
          <p:nvPr/>
        </p:nvSpPr>
        <p:spPr>
          <a:xfrm>
            <a:off x="10911078" y="2044598"/>
            <a:ext cx="318211" cy="318211"/>
          </a:xfrm>
          <a:prstGeom prst="ellipse">
            <a:avLst/>
          </a:prstGeom>
          <a:solidFill>
            <a:schemeClr val="bg2"/>
          </a:solidFill>
          <a:ln w="19050">
            <a:solidFill>
              <a:schemeClr val="tx2"/>
            </a:solidFill>
            <a:prstDash val="solid"/>
          </a:ln>
        </p:spPr>
      </p:sp>
      <p:sp>
        <p:nvSpPr>
          <p:cNvPr id="7" name="Text 5"/>
          <p:cNvSpPr txBox="1"/>
          <p:nvPr/>
        </p:nvSpPr>
        <p:spPr>
          <a:xfrm>
            <a:off x="10805008" y="193852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١</a:t>
            </a:r>
            <a:endParaRPr lang="ar-SA" sz="1400" dirty="0"/>
          </a:p>
        </p:txBody>
      </p:sp>
      <p:sp>
        <p:nvSpPr>
          <p:cNvPr id="8" name="Text 6"/>
          <p:cNvSpPr txBox="1"/>
          <p:nvPr/>
        </p:nvSpPr>
        <p:spPr>
          <a:xfrm>
            <a:off x="6415888" y="190195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التقوى وحقوق اليتامى</a:t>
            </a:r>
            <a:endParaRPr lang="ar-SA" sz="1700" dirty="0"/>
          </a:p>
        </p:txBody>
      </p:sp>
      <p:sp>
        <p:nvSpPr>
          <p:cNvPr id="9" name="Text 7"/>
          <p:cNvSpPr txBox="1"/>
          <p:nvPr/>
        </p:nvSpPr>
        <p:spPr>
          <a:xfrm>
            <a:off x="6415888" y="226771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 – ١٠</a:t>
            </a:r>
            <a:endParaRPr lang="ar-SA" sz="1300" dirty="0"/>
          </a:p>
        </p:txBody>
      </p:sp>
      <p:sp>
        <p:nvSpPr>
          <p:cNvPr id="10" name="Shape 8"/>
          <p:cNvSpPr/>
          <p:nvPr/>
        </p:nvSpPr>
        <p:spPr>
          <a:xfrm>
            <a:off x="700888" y="1828800"/>
            <a:ext cx="5257800" cy="749808"/>
          </a:xfrm>
          <a:prstGeom prst="roundRect">
            <a:avLst>
              <a:gd name="adj" fmla="val 14634"/>
            </a:avLst>
          </a:prstGeom>
          <a:solidFill>
            <a:schemeClr val="accent5"/>
          </a:solidFill>
          <a:ln w="12700">
            <a:solidFill>
              <a:schemeClr val="accent2"/>
            </a:solidFill>
            <a:prstDash val="solid"/>
          </a:ln>
        </p:spPr>
      </p:sp>
      <p:sp>
        <p:nvSpPr>
          <p:cNvPr id="11" name="Shape 9"/>
          <p:cNvSpPr/>
          <p:nvPr/>
        </p:nvSpPr>
        <p:spPr>
          <a:xfrm>
            <a:off x="5272888" y="1938528"/>
            <a:ext cx="530352" cy="530352"/>
          </a:xfrm>
          <a:prstGeom prst="star8">
            <a:avLst/>
          </a:prstGeom>
          <a:solidFill>
            <a:schemeClr val="accent2"/>
          </a:solidFill>
          <a:ln/>
        </p:spPr>
      </p:sp>
      <p:sp>
        <p:nvSpPr>
          <p:cNvPr id="12" name="Shape 10"/>
          <p:cNvSpPr/>
          <p:nvPr/>
        </p:nvSpPr>
        <p:spPr>
          <a:xfrm>
            <a:off x="5378958" y="2044598"/>
            <a:ext cx="318211" cy="318211"/>
          </a:xfrm>
          <a:prstGeom prst="ellipse">
            <a:avLst/>
          </a:prstGeom>
          <a:solidFill>
            <a:schemeClr val="bg2"/>
          </a:solidFill>
          <a:ln w="19050">
            <a:solidFill>
              <a:schemeClr val="tx2"/>
            </a:solidFill>
            <a:prstDash val="solid"/>
          </a:ln>
        </p:spPr>
      </p:sp>
      <p:sp>
        <p:nvSpPr>
          <p:cNvPr id="13" name="Text 11"/>
          <p:cNvSpPr txBox="1"/>
          <p:nvPr/>
        </p:nvSpPr>
        <p:spPr>
          <a:xfrm>
            <a:off x="5272888" y="193852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٢</a:t>
            </a:r>
            <a:endParaRPr lang="ar-SA" sz="1400" dirty="0"/>
          </a:p>
        </p:txBody>
      </p:sp>
      <p:sp>
        <p:nvSpPr>
          <p:cNvPr id="14" name="Text 12"/>
          <p:cNvSpPr txBox="1"/>
          <p:nvPr/>
        </p:nvSpPr>
        <p:spPr>
          <a:xfrm>
            <a:off x="883768" y="190195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آيات المواريث</a:t>
            </a:r>
            <a:endParaRPr lang="ar-SA" sz="1700" dirty="0"/>
          </a:p>
        </p:txBody>
      </p:sp>
      <p:sp>
        <p:nvSpPr>
          <p:cNvPr id="15" name="Text 13"/>
          <p:cNvSpPr txBox="1"/>
          <p:nvPr/>
        </p:nvSpPr>
        <p:spPr>
          <a:xfrm>
            <a:off x="883768" y="226771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١١ – ١٤</a:t>
            </a:r>
            <a:endParaRPr lang="ar-SA" sz="1300" dirty="0"/>
          </a:p>
        </p:txBody>
      </p:sp>
      <p:sp>
        <p:nvSpPr>
          <p:cNvPr id="16" name="Shape 14"/>
          <p:cNvSpPr/>
          <p:nvPr/>
        </p:nvSpPr>
        <p:spPr>
          <a:xfrm>
            <a:off x="6233008" y="2697480"/>
            <a:ext cx="5257800" cy="749808"/>
          </a:xfrm>
          <a:prstGeom prst="roundRect">
            <a:avLst>
              <a:gd name="adj" fmla="val 14634"/>
            </a:avLst>
          </a:prstGeom>
          <a:solidFill>
            <a:schemeClr val="bg1"/>
          </a:solidFill>
          <a:ln w="12700">
            <a:solidFill>
              <a:schemeClr val="accent2"/>
            </a:solidFill>
            <a:prstDash val="solid"/>
          </a:ln>
        </p:spPr>
      </p:sp>
      <p:sp>
        <p:nvSpPr>
          <p:cNvPr id="17" name="Shape 15"/>
          <p:cNvSpPr/>
          <p:nvPr/>
        </p:nvSpPr>
        <p:spPr>
          <a:xfrm>
            <a:off x="10805008" y="2807208"/>
            <a:ext cx="530352" cy="530352"/>
          </a:xfrm>
          <a:prstGeom prst="star8">
            <a:avLst/>
          </a:prstGeom>
          <a:solidFill>
            <a:schemeClr val="accent2"/>
          </a:solidFill>
          <a:ln/>
        </p:spPr>
      </p:sp>
      <p:sp>
        <p:nvSpPr>
          <p:cNvPr id="18" name="Shape 16"/>
          <p:cNvSpPr/>
          <p:nvPr/>
        </p:nvSpPr>
        <p:spPr>
          <a:xfrm>
            <a:off x="10911078" y="2913278"/>
            <a:ext cx="318211" cy="318211"/>
          </a:xfrm>
          <a:prstGeom prst="ellipse">
            <a:avLst/>
          </a:prstGeom>
          <a:solidFill>
            <a:schemeClr val="bg2"/>
          </a:solidFill>
          <a:ln w="19050">
            <a:solidFill>
              <a:schemeClr val="tx2"/>
            </a:solidFill>
            <a:prstDash val="solid"/>
          </a:ln>
        </p:spPr>
      </p:sp>
      <p:sp>
        <p:nvSpPr>
          <p:cNvPr id="19" name="Text 17"/>
          <p:cNvSpPr txBox="1"/>
          <p:nvPr/>
        </p:nvSpPr>
        <p:spPr>
          <a:xfrm>
            <a:off x="10805008" y="280720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٣</a:t>
            </a:r>
            <a:endParaRPr lang="ar-SA" sz="1400" dirty="0"/>
          </a:p>
        </p:txBody>
      </p:sp>
      <p:sp>
        <p:nvSpPr>
          <p:cNvPr id="20" name="Text 18"/>
          <p:cNvSpPr txBox="1"/>
          <p:nvPr/>
        </p:nvSpPr>
        <p:spPr>
          <a:xfrm>
            <a:off x="6415888" y="277063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التوبة وأحكام الأسرة</a:t>
            </a:r>
            <a:endParaRPr lang="ar-SA" sz="1700" dirty="0"/>
          </a:p>
        </p:txBody>
      </p:sp>
      <p:sp>
        <p:nvSpPr>
          <p:cNvPr id="21" name="Text 19"/>
          <p:cNvSpPr txBox="1"/>
          <p:nvPr/>
        </p:nvSpPr>
        <p:spPr>
          <a:xfrm>
            <a:off x="6415888" y="313639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١٥ – ٢٨</a:t>
            </a:r>
            <a:endParaRPr lang="ar-SA" sz="1300" dirty="0"/>
          </a:p>
        </p:txBody>
      </p:sp>
      <p:sp>
        <p:nvSpPr>
          <p:cNvPr id="22" name="Shape 20"/>
          <p:cNvSpPr/>
          <p:nvPr/>
        </p:nvSpPr>
        <p:spPr>
          <a:xfrm>
            <a:off x="700888" y="2697480"/>
            <a:ext cx="5257800" cy="749808"/>
          </a:xfrm>
          <a:prstGeom prst="roundRect">
            <a:avLst>
              <a:gd name="adj" fmla="val 14634"/>
            </a:avLst>
          </a:prstGeom>
          <a:solidFill>
            <a:schemeClr val="accent5"/>
          </a:solidFill>
          <a:ln w="12700">
            <a:solidFill>
              <a:schemeClr val="accent2"/>
            </a:solidFill>
            <a:prstDash val="solid"/>
          </a:ln>
        </p:spPr>
      </p:sp>
      <p:sp>
        <p:nvSpPr>
          <p:cNvPr id="23" name="Shape 21"/>
          <p:cNvSpPr/>
          <p:nvPr/>
        </p:nvSpPr>
        <p:spPr>
          <a:xfrm>
            <a:off x="5272888" y="2807208"/>
            <a:ext cx="530352" cy="530352"/>
          </a:xfrm>
          <a:prstGeom prst="star8">
            <a:avLst/>
          </a:prstGeom>
          <a:solidFill>
            <a:schemeClr val="accent2"/>
          </a:solidFill>
          <a:ln/>
        </p:spPr>
      </p:sp>
      <p:sp>
        <p:nvSpPr>
          <p:cNvPr id="24" name="Shape 22"/>
          <p:cNvSpPr/>
          <p:nvPr/>
        </p:nvSpPr>
        <p:spPr>
          <a:xfrm>
            <a:off x="5378958" y="2913278"/>
            <a:ext cx="318211" cy="318211"/>
          </a:xfrm>
          <a:prstGeom prst="ellipse">
            <a:avLst/>
          </a:prstGeom>
          <a:solidFill>
            <a:schemeClr val="bg2"/>
          </a:solidFill>
          <a:ln w="19050">
            <a:solidFill>
              <a:schemeClr val="tx2"/>
            </a:solidFill>
            <a:prstDash val="solid"/>
          </a:ln>
        </p:spPr>
      </p:sp>
      <p:sp>
        <p:nvSpPr>
          <p:cNvPr id="25" name="Text 23"/>
          <p:cNvSpPr txBox="1"/>
          <p:nvPr/>
        </p:nvSpPr>
        <p:spPr>
          <a:xfrm>
            <a:off x="5272888" y="280720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٤</a:t>
            </a:r>
            <a:endParaRPr lang="ar-SA" sz="1400" dirty="0"/>
          </a:p>
        </p:txBody>
      </p:sp>
      <p:sp>
        <p:nvSpPr>
          <p:cNvPr id="26" name="Text 24"/>
          <p:cNvSpPr txBox="1"/>
          <p:nvPr/>
        </p:nvSpPr>
        <p:spPr>
          <a:xfrm>
            <a:off x="883768" y="277063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حرمة الأموال وحقوق الناس</a:t>
            </a:r>
            <a:endParaRPr lang="ar-SA" sz="1700" dirty="0"/>
          </a:p>
        </p:txBody>
      </p:sp>
      <p:sp>
        <p:nvSpPr>
          <p:cNvPr id="27" name="Text 25"/>
          <p:cNvSpPr txBox="1"/>
          <p:nvPr/>
        </p:nvSpPr>
        <p:spPr>
          <a:xfrm>
            <a:off x="883768" y="313639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٢٩ – ٤٢</a:t>
            </a:r>
            <a:endParaRPr lang="ar-SA" sz="1300" dirty="0"/>
          </a:p>
        </p:txBody>
      </p:sp>
      <p:sp>
        <p:nvSpPr>
          <p:cNvPr id="28" name="Shape 26"/>
          <p:cNvSpPr/>
          <p:nvPr/>
        </p:nvSpPr>
        <p:spPr>
          <a:xfrm>
            <a:off x="6233008" y="3566160"/>
            <a:ext cx="5257800" cy="749808"/>
          </a:xfrm>
          <a:prstGeom prst="roundRect">
            <a:avLst>
              <a:gd name="adj" fmla="val 14634"/>
            </a:avLst>
          </a:prstGeom>
          <a:solidFill>
            <a:schemeClr val="bg1"/>
          </a:solidFill>
          <a:ln w="12700">
            <a:solidFill>
              <a:schemeClr val="accent2"/>
            </a:solidFill>
            <a:prstDash val="solid"/>
          </a:ln>
        </p:spPr>
      </p:sp>
      <p:sp>
        <p:nvSpPr>
          <p:cNvPr id="29" name="Shape 27"/>
          <p:cNvSpPr/>
          <p:nvPr/>
        </p:nvSpPr>
        <p:spPr>
          <a:xfrm>
            <a:off x="10805008" y="3675888"/>
            <a:ext cx="530352" cy="530352"/>
          </a:xfrm>
          <a:prstGeom prst="star8">
            <a:avLst/>
          </a:prstGeom>
          <a:solidFill>
            <a:schemeClr val="accent2"/>
          </a:solidFill>
          <a:ln/>
        </p:spPr>
      </p:sp>
      <p:sp>
        <p:nvSpPr>
          <p:cNvPr id="30" name="Shape 28"/>
          <p:cNvSpPr/>
          <p:nvPr/>
        </p:nvSpPr>
        <p:spPr>
          <a:xfrm>
            <a:off x="10911078" y="3781958"/>
            <a:ext cx="318211" cy="318211"/>
          </a:xfrm>
          <a:prstGeom prst="ellipse">
            <a:avLst/>
          </a:prstGeom>
          <a:solidFill>
            <a:schemeClr val="bg2"/>
          </a:solidFill>
          <a:ln w="19050">
            <a:solidFill>
              <a:schemeClr val="tx2"/>
            </a:solidFill>
            <a:prstDash val="solid"/>
          </a:ln>
        </p:spPr>
      </p:sp>
      <p:sp>
        <p:nvSpPr>
          <p:cNvPr id="31" name="Text 29"/>
          <p:cNvSpPr txBox="1"/>
          <p:nvPr/>
        </p:nvSpPr>
        <p:spPr>
          <a:xfrm>
            <a:off x="10805008" y="367588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٥</a:t>
            </a:r>
            <a:endParaRPr lang="ar-SA" sz="1400" dirty="0"/>
          </a:p>
        </p:txBody>
      </p:sp>
      <p:sp>
        <p:nvSpPr>
          <p:cNvPr id="32" name="Text 30"/>
          <p:cNvSpPr txBox="1"/>
          <p:nvPr/>
        </p:nvSpPr>
        <p:spPr>
          <a:xfrm>
            <a:off x="6415888" y="363931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الطهارة والتيمّم وأحوال أهل الكتاب</a:t>
            </a:r>
            <a:endParaRPr lang="ar-SA" sz="1700" dirty="0"/>
          </a:p>
        </p:txBody>
      </p:sp>
      <p:sp>
        <p:nvSpPr>
          <p:cNvPr id="33" name="Text 31"/>
          <p:cNvSpPr txBox="1"/>
          <p:nvPr/>
        </p:nvSpPr>
        <p:spPr>
          <a:xfrm>
            <a:off x="6415888" y="400507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٤٣ – ٥٧</a:t>
            </a:r>
            <a:endParaRPr lang="ar-SA" sz="1300" dirty="0"/>
          </a:p>
        </p:txBody>
      </p:sp>
      <p:sp>
        <p:nvSpPr>
          <p:cNvPr id="34" name="Shape 32"/>
          <p:cNvSpPr/>
          <p:nvPr/>
        </p:nvSpPr>
        <p:spPr>
          <a:xfrm>
            <a:off x="700888" y="3566160"/>
            <a:ext cx="5257800" cy="749808"/>
          </a:xfrm>
          <a:prstGeom prst="roundRect">
            <a:avLst>
              <a:gd name="adj" fmla="val 14634"/>
            </a:avLst>
          </a:prstGeom>
          <a:solidFill>
            <a:schemeClr val="accent5"/>
          </a:solidFill>
          <a:ln w="12700">
            <a:solidFill>
              <a:schemeClr val="accent2"/>
            </a:solidFill>
            <a:prstDash val="solid"/>
          </a:ln>
        </p:spPr>
      </p:sp>
      <p:sp>
        <p:nvSpPr>
          <p:cNvPr id="35" name="Shape 33"/>
          <p:cNvSpPr/>
          <p:nvPr/>
        </p:nvSpPr>
        <p:spPr>
          <a:xfrm>
            <a:off x="5272888" y="3675888"/>
            <a:ext cx="530352" cy="530352"/>
          </a:xfrm>
          <a:prstGeom prst="star8">
            <a:avLst/>
          </a:prstGeom>
          <a:solidFill>
            <a:schemeClr val="accent2"/>
          </a:solidFill>
          <a:ln/>
        </p:spPr>
      </p:sp>
      <p:sp>
        <p:nvSpPr>
          <p:cNvPr id="36" name="Shape 34"/>
          <p:cNvSpPr/>
          <p:nvPr/>
        </p:nvSpPr>
        <p:spPr>
          <a:xfrm>
            <a:off x="5378958" y="3781958"/>
            <a:ext cx="318211" cy="318211"/>
          </a:xfrm>
          <a:prstGeom prst="ellipse">
            <a:avLst/>
          </a:prstGeom>
          <a:solidFill>
            <a:schemeClr val="bg2"/>
          </a:solidFill>
          <a:ln w="19050">
            <a:solidFill>
              <a:schemeClr val="tx2"/>
            </a:solidFill>
            <a:prstDash val="solid"/>
          </a:ln>
        </p:spPr>
      </p:sp>
      <p:sp>
        <p:nvSpPr>
          <p:cNvPr id="37" name="Text 35"/>
          <p:cNvSpPr txBox="1"/>
          <p:nvPr/>
        </p:nvSpPr>
        <p:spPr>
          <a:xfrm>
            <a:off x="5272888" y="367588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٦</a:t>
            </a:r>
            <a:endParaRPr lang="ar-SA" sz="1400" dirty="0"/>
          </a:p>
        </p:txBody>
      </p:sp>
      <p:sp>
        <p:nvSpPr>
          <p:cNvPr id="38" name="Text 36"/>
          <p:cNvSpPr txBox="1"/>
          <p:nvPr/>
        </p:nvSpPr>
        <p:spPr>
          <a:xfrm>
            <a:off x="883768" y="363931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الأمانة وطاعة الله ورسوله</a:t>
            </a:r>
            <a:endParaRPr lang="ar-SA" sz="1700" dirty="0"/>
          </a:p>
        </p:txBody>
      </p:sp>
      <p:sp>
        <p:nvSpPr>
          <p:cNvPr id="39" name="Text 37"/>
          <p:cNvSpPr txBox="1"/>
          <p:nvPr/>
        </p:nvSpPr>
        <p:spPr>
          <a:xfrm>
            <a:off x="883768" y="400507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٥٨ – ٧٠</a:t>
            </a:r>
            <a:endParaRPr lang="ar-SA" sz="1300" dirty="0"/>
          </a:p>
        </p:txBody>
      </p:sp>
      <p:sp>
        <p:nvSpPr>
          <p:cNvPr id="40" name="Shape 38"/>
          <p:cNvSpPr/>
          <p:nvPr/>
        </p:nvSpPr>
        <p:spPr>
          <a:xfrm>
            <a:off x="6233008" y="4434840"/>
            <a:ext cx="5257800" cy="749808"/>
          </a:xfrm>
          <a:prstGeom prst="roundRect">
            <a:avLst>
              <a:gd name="adj" fmla="val 14634"/>
            </a:avLst>
          </a:prstGeom>
          <a:solidFill>
            <a:schemeClr val="bg1"/>
          </a:solidFill>
          <a:ln w="12700">
            <a:solidFill>
              <a:schemeClr val="accent2"/>
            </a:solidFill>
            <a:prstDash val="solid"/>
          </a:ln>
        </p:spPr>
      </p:sp>
      <p:sp>
        <p:nvSpPr>
          <p:cNvPr id="41" name="Shape 39"/>
          <p:cNvSpPr/>
          <p:nvPr/>
        </p:nvSpPr>
        <p:spPr>
          <a:xfrm>
            <a:off x="10805008" y="4544568"/>
            <a:ext cx="530352" cy="530352"/>
          </a:xfrm>
          <a:prstGeom prst="star8">
            <a:avLst/>
          </a:prstGeom>
          <a:solidFill>
            <a:schemeClr val="accent2"/>
          </a:solidFill>
          <a:ln/>
        </p:spPr>
      </p:sp>
      <p:sp>
        <p:nvSpPr>
          <p:cNvPr id="42" name="Shape 40"/>
          <p:cNvSpPr/>
          <p:nvPr/>
        </p:nvSpPr>
        <p:spPr>
          <a:xfrm>
            <a:off x="10911078" y="4650638"/>
            <a:ext cx="318211" cy="318211"/>
          </a:xfrm>
          <a:prstGeom prst="ellipse">
            <a:avLst/>
          </a:prstGeom>
          <a:solidFill>
            <a:schemeClr val="bg2"/>
          </a:solidFill>
          <a:ln w="19050">
            <a:solidFill>
              <a:schemeClr val="tx2"/>
            </a:solidFill>
            <a:prstDash val="solid"/>
          </a:ln>
        </p:spPr>
      </p:sp>
      <p:sp>
        <p:nvSpPr>
          <p:cNvPr id="43" name="Text 41"/>
          <p:cNvSpPr txBox="1"/>
          <p:nvPr/>
        </p:nvSpPr>
        <p:spPr>
          <a:xfrm>
            <a:off x="10805008" y="454456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٧</a:t>
            </a:r>
            <a:endParaRPr lang="ar-SA" sz="1400" dirty="0"/>
          </a:p>
        </p:txBody>
      </p:sp>
      <p:sp>
        <p:nvSpPr>
          <p:cNvPr id="44" name="Text 42"/>
          <p:cNvSpPr txBox="1"/>
          <p:nvPr/>
        </p:nvSpPr>
        <p:spPr>
          <a:xfrm>
            <a:off x="6415888" y="450799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الجهاد والهجرة وصلاة الخوف</a:t>
            </a:r>
            <a:endParaRPr lang="ar-SA" sz="1700" dirty="0"/>
          </a:p>
        </p:txBody>
      </p:sp>
      <p:sp>
        <p:nvSpPr>
          <p:cNvPr id="45" name="Text 43"/>
          <p:cNvSpPr txBox="1"/>
          <p:nvPr/>
        </p:nvSpPr>
        <p:spPr>
          <a:xfrm>
            <a:off x="6415888" y="487375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٧١ – ١٠٤</a:t>
            </a:r>
            <a:endParaRPr lang="ar-SA" sz="1300" dirty="0"/>
          </a:p>
        </p:txBody>
      </p:sp>
      <p:sp>
        <p:nvSpPr>
          <p:cNvPr id="46" name="Shape 44"/>
          <p:cNvSpPr/>
          <p:nvPr/>
        </p:nvSpPr>
        <p:spPr>
          <a:xfrm>
            <a:off x="700888" y="4434840"/>
            <a:ext cx="5257800" cy="749808"/>
          </a:xfrm>
          <a:prstGeom prst="roundRect">
            <a:avLst>
              <a:gd name="adj" fmla="val 14634"/>
            </a:avLst>
          </a:prstGeom>
          <a:solidFill>
            <a:schemeClr val="accent5"/>
          </a:solidFill>
          <a:ln w="12700">
            <a:solidFill>
              <a:schemeClr val="accent2"/>
            </a:solidFill>
            <a:prstDash val="solid"/>
          </a:ln>
        </p:spPr>
      </p:sp>
      <p:sp>
        <p:nvSpPr>
          <p:cNvPr id="47" name="Shape 45"/>
          <p:cNvSpPr/>
          <p:nvPr/>
        </p:nvSpPr>
        <p:spPr>
          <a:xfrm>
            <a:off x="5272888" y="4544568"/>
            <a:ext cx="530352" cy="530352"/>
          </a:xfrm>
          <a:prstGeom prst="star8">
            <a:avLst/>
          </a:prstGeom>
          <a:solidFill>
            <a:schemeClr val="accent2"/>
          </a:solidFill>
          <a:ln/>
        </p:spPr>
      </p:sp>
      <p:sp>
        <p:nvSpPr>
          <p:cNvPr id="48" name="Shape 46"/>
          <p:cNvSpPr/>
          <p:nvPr/>
        </p:nvSpPr>
        <p:spPr>
          <a:xfrm>
            <a:off x="5378958" y="4650638"/>
            <a:ext cx="318211" cy="318211"/>
          </a:xfrm>
          <a:prstGeom prst="ellipse">
            <a:avLst/>
          </a:prstGeom>
          <a:solidFill>
            <a:schemeClr val="bg2"/>
          </a:solidFill>
          <a:ln w="19050">
            <a:solidFill>
              <a:schemeClr val="tx2"/>
            </a:solidFill>
            <a:prstDash val="solid"/>
          </a:ln>
        </p:spPr>
      </p:sp>
      <p:sp>
        <p:nvSpPr>
          <p:cNvPr id="49" name="Text 47"/>
          <p:cNvSpPr txBox="1"/>
          <p:nvPr/>
        </p:nvSpPr>
        <p:spPr>
          <a:xfrm>
            <a:off x="5272888" y="454456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٨</a:t>
            </a:r>
            <a:endParaRPr lang="ar-SA" sz="1400" dirty="0"/>
          </a:p>
        </p:txBody>
      </p:sp>
      <p:sp>
        <p:nvSpPr>
          <p:cNvPr id="50" name="Text 48"/>
          <p:cNvSpPr txBox="1"/>
          <p:nvPr/>
        </p:nvSpPr>
        <p:spPr>
          <a:xfrm>
            <a:off x="883768" y="450799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الحكم بالعدل والتحذير من الشرك</a:t>
            </a:r>
            <a:endParaRPr lang="ar-SA" sz="1700" dirty="0"/>
          </a:p>
        </p:txBody>
      </p:sp>
      <p:sp>
        <p:nvSpPr>
          <p:cNvPr id="51" name="Text 49"/>
          <p:cNvSpPr txBox="1"/>
          <p:nvPr/>
        </p:nvSpPr>
        <p:spPr>
          <a:xfrm>
            <a:off x="883768" y="487375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١٠٥ – ١٢٦</a:t>
            </a:r>
            <a:endParaRPr lang="ar-SA" sz="1300" dirty="0"/>
          </a:p>
        </p:txBody>
      </p:sp>
      <p:sp>
        <p:nvSpPr>
          <p:cNvPr id="52" name="Shape 50"/>
          <p:cNvSpPr/>
          <p:nvPr/>
        </p:nvSpPr>
        <p:spPr>
          <a:xfrm>
            <a:off x="6233008" y="5303520"/>
            <a:ext cx="5257800" cy="749808"/>
          </a:xfrm>
          <a:prstGeom prst="roundRect">
            <a:avLst>
              <a:gd name="adj" fmla="val 14634"/>
            </a:avLst>
          </a:prstGeom>
          <a:solidFill>
            <a:schemeClr val="bg1"/>
          </a:solidFill>
          <a:ln w="12700">
            <a:solidFill>
              <a:schemeClr val="accent2"/>
            </a:solidFill>
            <a:prstDash val="solid"/>
          </a:ln>
        </p:spPr>
      </p:sp>
      <p:sp>
        <p:nvSpPr>
          <p:cNvPr id="53" name="Shape 51"/>
          <p:cNvSpPr/>
          <p:nvPr/>
        </p:nvSpPr>
        <p:spPr>
          <a:xfrm>
            <a:off x="10805008" y="5413248"/>
            <a:ext cx="530352" cy="530352"/>
          </a:xfrm>
          <a:prstGeom prst="star8">
            <a:avLst/>
          </a:prstGeom>
          <a:solidFill>
            <a:schemeClr val="accent2"/>
          </a:solidFill>
          <a:ln/>
        </p:spPr>
      </p:sp>
      <p:sp>
        <p:nvSpPr>
          <p:cNvPr id="54" name="Shape 52"/>
          <p:cNvSpPr/>
          <p:nvPr/>
        </p:nvSpPr>
        <p:spPr>
          <a:xfrm>
            <a:off x="10911078" y="5519318"/>
            <a:ext cx="318211" cy="318211"/>
          </a:xfrm>
          <a:prstGeom prst="ellipse">
            <a:avLst/>
          </a:prstGeom>
          <a:solidFill>
            <a:schemeClr val="bg2"/>
          </a:solidFill>
          <a:ln w="19050">
            <a:solidFill>
              <a:schemeClr val="tx2"/>
            </a:solidFill>
            <a:prstDash val="solid"/>
          </a:ln>
        </p:spPr>
      </p:sp>
      <p:sp>
        <p:nvSpPr>
          <p:cNvPr id="55" name="Text 53"/>
          <p:cNvSpPr txBox="1"/>
          <p:nvPr/>
        </p:nvSpPr>
        <p:spPr>
          <a:xfrm>
            <a:off x="10805008" y="541324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٩</a:t>
            </a:r>
            <a:endParaRPr lang="ar-SA" sz="1400" dirty="0"/>
          </a:p>
        </p:txBody>
      </p:sp>
      <p:sp>
        <p:nvSpPr>
          <p:cNvPr id="56" name="Text 54"/>
          <p:cNvSpPr txBox="1"/>
          <p:nvPr/>
        </p:nvSpPr>
        <p:spPr>
          <a:xfrm>
            <a:off x="6415888" y="537667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العدل مع النساء وصفات المنافقين</a:t>
            </a:r>
            <a:endParaRPr lang="ar-SA" sz="1700" dirty="0"/>
          </a:p>
        </p:txBody>
      </p:sp>
      <p:sp>
        <p:nvSpPr>
          <p:cNvPr id="57" name="Text 55"/>
          <p:cNvSpPr txBox="1"/>
          <p:nvPr/>
        </p:nvSpPr>
        <p:spPr>
          <a:xfrm>
            <a:off x="6415888" y="574243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١٢٧ – ١٥٢</a:t>
            </a:r>
            <a:endParaRPr lang="ar-SA" sz="1300" dirty="0"/>
          </a:p>
        </p:txBody>
      </p:sp>
      <p:sp>
        <p:nvSpPr>
          <p:cNvPr id="58" name="Shape 56"/>
          <p:cNvSpPr/>
          <p:nvPr/>
        </p:nvSpPr>
        <p:spPr>
          <a:xfrm>
            <a:off x="700888" y="5303520"/>
            <a:ext cx="5257800" cy="749808"/>
          </a:xfrm>
          <a:prstGeom prst="roundRect">
            <a:avLst>
              <a:gd name="adj" fmla="val 14634"/>
            </a:avLst>
          </a:prstGeom>
          <a:solidFill>
            <a:schemeClr val="accent5"/>
          </a:solidFill>
          <a:ln w="12700">
            <a:solidFill>
              <a:schemeClr val="accent2"/>
            </a:solidFill>
            <a:prstDash val="solid"/>
          </a:ln>
        </p:spPr>
      </p:sp>
      <p:sp>
        <p:nvSpPr>
          <p:cNvPr id="59" name="Shape 57"/>
          <p:cNvSpPr/>
          <p:nvPr/>
        </p:nvSpPr>
        <p:spPr>
          <a:xfrm>
            <a:off x="5272888" y="5413248"/>
            <a:ext cx="530352" cy="530352"/>
          </a:xfrm>
          <a:prstGeom prst="star8">
            <a:avLst/>
          </a:prstGeom>
          <a:solidFill>
            <a:schemeClr val="accent2"/>
          </a:solidFill>
          <a:ln/>
        </p:spPr>
      </p:sp>
      <p:sp>
        <p:nvSpPr>
          <p:cNvPr id="60" name="Shape 58"/>
          <p:cNvSpPr/>
          <p:nvPr/>
        </p:nvSpPr>
        <p:spPr>
          <a:xfrm>
            <a:off x="5378958" y="5519318"/>
            <a:ext cx="318211" cy="318211"/>
          </a:xfrm>
          <a:prstGeom prst="ellipse">
            <a:avLst/>
          </a:prstGeom>
          <a:solidFill>
            <a:schemeClr val="bg2"/>
          </a:solidFill>
          <a:ln w="19050">
            <a:solidFill>
              <a:schemeClr val="tx2"/>
            </a:solidFill>
            <a:prstDash val="solid"/>
          </a:ln>
        </p:spPr>
      </p:sp>
      <p:sp>
        <p:nvSpPr>
          <p:cNvPr id="61" name="Text 59"/>
          <p:cNvSpPr txBox="1"/>
          <p:nvPr/>
        </p:nvSpPr>
        <p:spPr>
          <a:xfrm>
            <a:off x="5272888" y="5413248"/>
            <a:ext cx="530352" cy="530352"/>
          </a:xfrm>
          <a:prstGeom prst="rect">
            <a:avLst/>
          </a:prstGeom>
          <a:noFill/>
          <a:ln/>
        </p:spPr>
        <p:txBody>
          <a:bodyPr wrap="square" lIns="0" tIns="0" rIns="0" bIns="0" rtlCol="0" anchor="ctr"/>
          <a:lstStyle/>
          <a:p>
            <a:pPr rtl="1" algn="ctr" indent="0" marL="0">
              <a:buNone/>
            </a:pPr>
            <a:r>
              <a:rPr lang="ar-SA" altLang="en-US" sz="1400" b="1" dirty="0">
                <a:solidFill>
                  <a:schemeClr val="tx2"/>
                </a:solidFill>
                <a:latin typeface="Arial" pitchFamily="34" charset="0"/>
                <a:ea typeface="Arial" pitchFamily="34" charset="-122"/>
                <a:cs typeface="Arial" pitchFamily="34" charset="-120"/>
              </a:rPr>
              <a:t>١٠</a:t>
            </a:r>
            <a:endParaRPr lang="ar-SA" sz="1400" dirty="0"/>
          </a:p>
        </p:txBody>
      </p:sp>
      <p:sp>
        <p:nvSpPr>
          <p:cNvPr id="62" name="Text 60"/>
          <p:cNvSpPr txBox="1"/>
          <p:nvPr/>
        </p:nvSpPr>
        <p:spPr>
          <a:xfrm>
            <a:off x="883768" y="5376672"/>
            <a:ext cx="4251960" cy="384048"/>
          </a:xfrm>
          <a:prstGeom prst="rect">
            <a:avLst/>
          </a:prstGeom>
          <a:noFill/>
          <a:ln/>
        </p:spPr>
        <p:txBody>
          <a:bodyPr wrap="square" lIns="0" tIns="0" rIns="0" bIns="0" rtlCol="0" anchor="ctr"/>
          <a:lstStyle/>
          <a:p>
            <a:pPr rtl="1" algn="r" indent="0" marL="0">
              <a:buNone/>
            </a:pPr>
            <a:r>
              <a:rPr lang="ar-SA" altLang="en-US" sz="1700" b="1" dirty="0">
                <a:solidFill>
                  <a:schemeClr val="tx2"/>
                </a:solidFill>
              </a:rPr>
              <a:t>أهل الكتاب وعيسى عليه السلام والكلالة</a:t>
            </a:r>
            <a:endParaRPr lang="ar-SA" sz="1700" dirty="0"/>
          </a:p>
        </p:txBody>
      </p:sp>
      <p:sp>
        <p:nvSpPr>
          <p:cNvPr id="63" name="Text 61"/>
          <p:cNvSpPr txBox="1"/>
          <p:nvPr/>
        </p:nvSpPr>
        <p:spPr>
          <a:xfrm>
            <a:off x="883768" y="5742432"/>
            <a:ext cx="4251960" cy="256032"/>
          </a:xfrm>
          <a:prstGeom prst="rect">
            <a:avLst/>
          </a:prstGeom>
          <a:noFill/>
          <a:ln/>
        </p:spPr>
        <p:txBody>
          <a:bodyPr wrap="square" lIns="0" tIns="0" rIns="0" bIns="0" rtlCol="0" anchor="t"/>
          <a:lstStyle/>
          <a:p>
            <a:pPr rtl="1" algn="r" indent="0" marL="0">
              <a:buNone/>
            </a:pPr>
            <a:r>
              <a:rPr lang="ar-SA" altLang="en-US" sz="1300" b="1" dirty="0">
                <a:solidFill>
                  <a:schemeClr val="accent2"/>
                </a:solidFill>
              </a:rPr>
              <a:t>الآيات ١٥٣ – ١٧٦</a:t>
            </a:r>
            <a:endParaRPr lang="ar-SA" sz="13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3400" b="1" dirty="0">
                <a:solidFill>
                  <a:schemeClr val="accent2"/>
                </a:solidFill>
                <a:latin typeface="Sakkal Majalla" pitchFamily="34" charset="0"/>
                <a:ea typeface="Sakkal Majalla" pitchFamily="34" charset="-122"/>
                <a:cs typeface="Sakkal Majalla" pitchFamily="34" charset="-120"/>
              </a:rPr>
              <a:t>التقوى وحقوق اليتامى</a:t>
            </a:r>
            <a:endParaRPr lang="ar-SA" sz="3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 – ١٠</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النساء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قالت عائشة رضي الله عنها في قوله: ﴿وإن خفتم ألا تُقسطوا في اليتامى﴾: هي اليتيمة تكون في رعاية وليّها، فيرغب في مالها وجمالها، ويريد أن يتزوّجها بأقل من مهر مثلها، فنُهوا عن ذلك إلا أن يعدلوا (رواه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الأمر بتقوى الله وصلة الأرحام، وحفظ أموال اليتامى، وإعطاء النساء مهورهن، والتحذير الشديد من أكل مال اليتيم.</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النَّاسُ اتَّقُواْ رَبَّكُمُ الَّذِي خَلَقَكُم مِّن نَّفْسٍ وَٰحِدَةٍ وَخَلَقَ مِنْهَا زَوْجَهَا وَبَثَّ مِنْهُمَا رِجَالًا كَثِيرًا وَنِسَآءً وَاتَّقُواْ اللَّهَ الَّذِي تَسَآءَلُونَ بِهِ وَالْأَرْحَامَ إِنَّ اللَّهَ كَانَ عَلَيْكُمْ رَقِيبًا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الناس، اتقوا ربكم الذي خلقكم من نفس واحدة -آدم-، وخلق منها زوجها حواء، ونشر منهما رجالًا كثيرًا ونساءً، واتقوا الله الذي تتساءلون به، واحذروا قطع الأرحام، إن الله كان عليكم رقيبًا.</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وَءَاتُواْ الْيَتَٰمَىٰ أَمْوَٰلَهُمْ وَلَا تَتَبَدَّلُواْ الْخَبِيثَ بِالطَّيِّبِ وَلَا تَأْكُلُواْ أَمْوَٰلَهُمْ إِلَىٰ أَمْوَٰلِكُمْ إِنَّهُ كَانَ حُوبًا كَبِيرًا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وأعطوا اليتامى أموالهم كاملة إذا كبروا، ولا تستبدلوا الرديء من أموالكم بالجيد من أموالهم، ولا تضمّوها إلى أموالكم لتأكلوها، إنه كان ذنبًا عظيمًا.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خِفْتُمْ أَلَّا تُقْسِطُواْ فِي الْيَتَٰمَىٰ فَانكِحُواْ مَا طَابَ لَكُم مِّنَ النِّسَآءِ مَثْنَىٰ وَثُلَٰثَ وَرُبَٰعَ فَإِنْ خِفْتُمْ أَلَّا تَعْدِلُواْ فَوَٰحِدَةً أَوْ مَا مَلَكَتْ أَيْمَٰنُكُمْ ذَٰلِكَ أَدْنَىٰ أَلَّا تَعُولُواْ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خفتم ألّا تعدلوا مع اليتيمة التي تحت رعايتكم إذا تزوّجتموها، فتزوّجوا غيرها من النساء: اثنتين أو ثلاثًا أو أربعًا، فإن خفتم ألّا تعدلوا فاكتفوا بواحدة، ذلك أقرب ألّا تظلموا.</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وَءَاتُواْ النِّسَآءَ صَدُقَٰتِهِنَّ نِحْلَةً فَإِن طِبْنَ لَكُمْ عَن شَيْءٍ مِّنْهُ نَفْسًا فَكُلُوهُ هَنِيـًٔا مَّرِيـًٔا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وأعطوا النساء مهورهن عطيةً واجبة بطيب نفس، فإن طابت أنفسهن لكم بشيء منه فكلوه هنيئًا.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تُؤْتُواْ السُّفَهَآءَ أَمْوَٰلَكُمُ الَّتِي جَعَلَ اللَّهُ لَكُمْ قِيَٰمًا وَارْزُقُوهُمْ فِيهَا وَاكْسُوهُمْ وَقُولُواْ لَهُمْ قَوْلًا مَّعْرُوفًا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تعطوا من لا يُحسن التصرّف أموالكم التي بها قوام حياتكم، وأنفقوا عليهم منها واكسوهم، وقولوا لهم قولًا طيبًا.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وَابْتَلُواْ الْيَتَٰمَىٰ حَتَّىٰ إِذَا بَلَغُواْ النِّكَاحَ فَإِنْ ءَانَسْتُم مِّنْهُمْ رُشْدًا فَادْفَعُواْ إِلَيْهِمْ أَمْوَٰلَهُمْ وَلَا تَأْكُلُوهَآ إِسْرَافًا وَبِدَارًا أَن يَكْبَرُواْ وَمَن كَانَ غَنِيًّا فَلْيَسْتَعْفِفْ وَمَن كَانَ فَقِيرًا فَلْيَأْكُلْ بِالْمَعْرُوفِ فَإِذَا دَفَعْتُمْ إِلَيْهِمْ أَمْوَٰلَهُمْ فَأَشْهِدُواْ عَلَيْهِمْ وَكَفَىٰ بِاللَّهِ حَسِيبًا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واختبروا اليتامى حتى إذا بلغوا وعرفتم منهم حُسن التصرّف فأعطوهم أموالهم، ولا تسرعوا في أكلها قبل أن يكبروا، ومن كان غنيًّا من الأوصياء فليتعفّف، ومن كان فقيرًا فليأخذ بقدر حاجته، وأشهدوا عند تسليمها.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لِّلرِّجَالِ نَصِيبٌ مِّمَّا تَرَكَ الْوَٰلِدَانِ وَالْأَقْرَبُونَ وَلِلنِّسَآءِ نَصِيبٌ مِّمَّا تَرَكَ الْوَٰلِدَانِ وَالْأَقْرَبُونَ مِمَّا قَلَّ مِنْهُ أَوْ كَثُرَ نَصِيبًا مَّفْرُوضًا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للرجال نصيب من الميراث، وللنساء نصيب كذلك، قليلًا كان أو كثيرًا، نصيبًا مفروضًا من الله. وقد كانوا في الجاهلية لا يورّثون النساء والصغار.</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حَضَرَ الْقِسْمَةَ أُوْلُواْ الْقُرْبَىٰ وَالْيَتَٰمَىٰ وَالْمَسَٰكِينُ فَارْزُقُوهُم مِّنْهُ وَقُولُواْ لَهُمْ قَوْلًا مَّعْرُوفًا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حضر قسمة الميراث أقارب لا يرثون، أو يتامى أو مساكين، فأعطوهم شيئًا منه، وقولوا لهم قولًا طيبًا.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وَلْيَخْشَ الَّذِينَ لَوْ تَرَكُواْ مِنْ خَلْفِهِمْ ذُرِّيَّةً ضِعَٰفًا خَافُواْ عَلَيْهِمْ فَلْيَتَّقُواْ اللَّهَ وَلْيَقُولُواْ قَوْلًا سَدِيدًا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وليخشَ الله من يتصرّف في مال اليتيم كما يخاف على أولاده الضعفاء لو مات وتركهم، فليتقوا الله، وليقولوا قولًا صوابًا عادلًا.</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يَأْكُلُونَ أَمْوَٰلَ الْيَتَٰمَىٰ ظُلْمًا إِنَّمَا يَأْكُلُونَ فِي بُطُونِهِمْ نَارًا وَسَيَصْلَوْنَ سَعِيرًا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يأكلون أموال اليتامى ظلمًا إنما يأكلون في بطونهم نارًا، وسيدخلون نارًا مشتعلة.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4400" b="1" dirty="0">
                <a:solidFill>
                  <a:schemeClr val="accent2"/>
                </a:solidFill>
                <a:latin typeface="Sakkal Majalla" pitchFamily="34" charset="0"/>
                <a:ea typeface="Sakkal Majalla" pitchFamily="34" charset="-122"/>
                <a:cs typeface="Sakkal Majalla" pitchFamily="34" charset="-120"/>
              </a:rPr>
              <a:t>آيات المواريث</a:t>
            </a:r>
            <a:endParaRPr lang="ar-SA" sz="4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٢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١١ – ١٤</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النساء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جابر بن عبد الله: مرضت فعادني النبي صلى الله عليه وسلم وأبو بكر، فقلت: يا رسول الله، كيف أصنع في مالي؟ فلم يُجبني بشيء حتى نزلت آية الميراث ﴿يوصيكم الله في أولادكم﴾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أنصبة الورثة من الأولاد والوالدين والأزواج والإخوة، وأنها حدود الله التي لا يجوز تجاوزها.</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2748"/>
            <a:ext cx="548640" cy="548640"/>
          </a:xfrm>
          <a:prstGeom prst="star8">
            <a:avLst/>
          </a:prstGeom>
          <a:solidFill>
            <a:schemeClr val="accent2"/>
          </a:solidFill>
          <a:ln/>
        </p:spPr>
      </p:sp>
      <p:sp>
        <p:nvSpPr>
          <p:cNvPr id="6" name="Shape 4"/>
          <p:cNvSpPr/>
          <p:nvPr/>
        </p:nvSpPr>
        <p:spPr>
          <a:xfrm>
            <a:off x="11036808" y="152247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27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1394460"/>
            <a:ext cx="10012680" cy="457200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يُوصِيكُمُ اللَّهُ فِي أَوْلَٰدِكُمْ لِلذَّكَرِ مِثْلُ حَظِّ الْأُنثَيَيْنِ فَإِن كُنَّ نِسَآءً فَوْقَ اثْنَتَيْنِ فَلَهُنَّ ثُلُثَا مَا تَرَكَ وَإِن كَانَتْ وَٰحِدَةً فَلَهَا النِّصْفُ وَلِأَبَوَيْهِ لِكُلِّ وَٰحِدٍ مِّنْهُمَا السُّدُسُ مِمَّا تَرَكَ إِن كَانَ لَهُ وَلَدٌ فَإِن لَّمْ يَكُن لَّهُ وَلَدٌ وَوَرِثَهُ أَبَوَاهُ فَلِأُمِّهِ الثُّلُثُ فَإِن كَانَ لَهُ إِخْوَةٌ فَلِأُمِّهِ السُّدُسُ مِن بَعْدِ وَصِيَّةٍ يُوصِي بِهَآ أَوْ دَيْنٍ ءَابَآؤُكُمْ وَأَبْنَآؤُكُمْ لَا تَدْرُونَ أَيُّهُمْ أَقْرَبُ لَكُمْ نَفْعًا فَرِيضَةً مِّنَ اللَّهِ إِنَّ اللَّهَ كَانَ عَلِيمًا حَكِيمًا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يأمركم الله في ميراث أولادكم: للذكر مثل نصيب الأنثيين، فإن كنّ بنات أكثر من اثنتين فلهن الثلثان، وإن كانت واحدة فلها النصف، ولكل واحد من الأبوين السدس إن كان للميت ولد، وذلك بعد تنفيذ الوصية وسداد الدين.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81912"/>
            <a:ext cx="548640" cy="548640"/>
          </a:xfrm>
          <a:prstGeom prst="star8">
            <a:avLst/>
          </a:prstGeom>
          <a:solidFill>
            <a:schemeClr val="accent2"/>
          </a:solidFill>
          <a:ln/>
        </p:spPr>
      </p:sp>
      <p:sp>
        <p:nvSpPr>
          <p:cNvPr id="6" name="Shape 4"/>
          <p:cNvSpPr/>
          <p:nvPr/>
        </p:nvSpPr>
        <p:spPr>
          <a:xfrm>
            <a:off x="11036808" y="16916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819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8" name="Text 6"/>
          <p:cNvSpPr txBox="1"/>
          <p:nvPr/>
        </p:nvSpPr>
        <p:spPr>
          <a:xfrm>
            <a:off x="731520" y="1563624"/>
            <a:ext cx="10012680" cy="423367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وَلَكُمْ نِصْفُ مَا تَرَكَ أَزْوَٰجُكُمْ إِن لَّمْ يَكُن لَّهُنَّ وَلَدٌ فَإِن كَانَ لَهُنَّ وَلَدٌ فَلَكُمُ الرُّبُعُ مِمَّا تَرَكْنَ مِن بَعْدِ وَصِيَّةٍ يُوصِينَ بِهَآ أَوْ دَيْنٍ وَلَهُنَّ الرُّبُعُ مِمَّا تَرَكْتُمْ إِن لَّمْ يَكُن لَّكُمْ وَلَدٌ فَإِن كَانَ لَكُمْ وَلَدٌ فَلَهُنَّ الثُّمُنُ مِمَّا تَرَكْتُم مِّن بَعْدِ وَصِيَّةٍ تُوصُونَ بِهَآ أَوْ دَيْنٍ وَإِن كَانَ رَجُلٌ يُورَثُ كَلَٰلَةً أَوِ امْرَأَةٌ وَلَهُ أَخٌ أَوْ أُخْتٌ فَلِكُلِّ وَٰحِدٍ مِّنْهُمَا السُّدُسُ فَإِن كَانُواْ أَكْثَرَ مِن ذَٰلِكَ فَهُمْ شُرَكَآءُ فِي الثُّلُثِ مِن بَعْدِ وَصِيَّةٍ يُوصَىٰ بِهَآ أَوْ دَيْنٍ غَيْرَ مُضَآرٍّ وَصِيَّةً مِّنَ اللَّهِ وَاللَّهُ عَلِيمٌ حَلِيمٌ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وللزوج نصف ما تركت زوجته إن لم يكن لها ولد، والربع إن كان لها ولد، وللزوجة الربع إن لم يكن لزوجها ولد، والثمن إن كان له ولد، وللأخ أو الأخت لأم السدس، بعد الوصية والدين، دون إضرار بالورثة.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تِلْكَ حُدُودُ اللَّهِ وَمَن يُطِعِ اللَّهَ وَرَسُولَهُ يُدْخِلْهُ جَنَّـٰتٍ تَجْرِي مِن تَحْتِهَا الْأَنْهَٰرُ خَٰلِدِينَ فِيهَا وَذَٰلِكَ الْفَوْزُ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تلك أحكام الله وحدوده، ومن يطع الله ورسوله يُدخله جنات تجري من تحتها الأنهار خالدين فيها، وذلك الفوز العظيم.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يَعْصِ اللَّهَ وَرَسُولَهُ وَيَتَعَدَّ حُدُودَهُ يُدْخِلْهُ نَارًا خَٰلِدًا فِيهَا وَلَهُ عَذَابٌ مُّهِينٌ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يعصِ الله ورسوله ويتجاوز حدوده يُدخله نارًا خالدًا فيها، وله عذاب مُهين.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3400" b="1" dirty="0">
                <a:solidFill>
                  <a:schemeClr val="accent2"/>
                </a:solidFill>
                <a:latin typeface="Sakkal Majalla" pitchFamily="34" charset="0"/>
                <a:ea typeface="Sakkal Majalla" pitchFamily="34" charset="-122"/>
                <a:cs typeface="Sakkal Majalla" pitchFamily="34" charset="-120"/>
              </a:rPr>
              <a:t>التوبة وأحكام الأسرة</a:t>
            </a:r>
            <a:endParaRPr lang="ar-SA" sz="3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٣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١٥ – ٢٨</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النساء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عباس: كانوا في الجاهلية إذا مات الرجل كان أولياؤه أحق بامرأته، إن شاء بعضهم تزوّجها وإن شاؤوا منعوها، فنزلت: ﴿لا يحلّ لكم أن ترثوا النساء كرهًا﴾ (رواه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شروط التوبة المقبولة، والنهي عن ظلم النساء، والأمر بمعاشرتهن بالمعروف، وبيان من يحرم الزواج بهن، ورحمة الله في التخفيف.</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وَالَّـٰتِي يَأْتِينَ الْفَٰحِشَةَ مِن نِّسَآئِكُمْ فَاسْتَشْهِدُواْ عَلَيْهِنَّ أَرْبَعَةً مِّنكُمْ فَإِن شَهِدُواْ فَأَمْسِكُوهُنَّ فِي الْبُيُوتِ حَتَّىٰ يَتَوَفَّىٰهُنَّ الْمَوْتُ أَوْ يَجْعَلَ اللَّهُ لَهُنَّ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والنساء اللاتي يقعن في الفاحشة فاطلبوا عليهن أربعة شهود، فإن شهدوا فاحبسوهن في البيوت حتى يجعل الله لهن حكمًا آخر، وقد نُسخ ذلك بالحدّ المذكور في سورة النور.</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وَالَّذَانِ يَأْتِيَٰنِهَا مِنكُمْ فَـَٔاذُوهُمَا فَإِن تَابَا وَأَصْلَحَا فَأَعْرِضُواْ عَنْهُمَآ إِنَّ اللَّهَ كَانَ تَوَّابًا رَّحِيمًا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والرجل والمرأة إذا وقعا في الفاحشة فعاقبوهما بالتوبيخ، فإن تابا وأصلحا فاتركوهما، إن الله كان توابًا رحيمًا. ثم نُسخ ذلك بالحدّ.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التَّوْبَةُ عَلَى اللَّهِ لِلَّذِينَ يَعْمَلُونَ السُّوءَ بِجَهَٰلَةٍ ثُمَّ يَتُوبُونَ مِن قَرِيبٍ فَأُوْلَـٰئِكَ يَتُوبُ اللَّهُ عَلَيْهِمْ وَكَانَ اللَّهُ عَلِيمًا حَكِيمًا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إنما يقبل الله التوبة من الذين يعملون المعصية بجهالة، ثم يتوبون قبل الموت، فأولئك يتوب الله عليهم، وكان الله عليمًا حكيمًا.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وَلَيْسَتِ التَّوْبَةُ لِلَّذِينَ يَعْمَلُونَ السَّيِّـَٔاتِ حَتَّىٰ إِذَا حَضَرَ أَحَدَهُمُ الْمَوْتُ قَالَ إِنِّي تُبْتُ الْـَٰٔنَ وَلَا الَّذِينَ يَمُوتُونَ وَهُمْ كُفَّارٌ أُوْلَـٰئِكَ أَعْتَدْنَا لَهُمْ عَذَابًا أَلِيمًا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وليست التوبة مقبولة ممن يستمر على المعاصي حتى إذا حضره الموت قال: إني تبت الآن، ولا من الذين يموتون وهم كفار، أولئك أعددنا لهم عذابًا مؤلمًا.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90572"/>
            <a:ext cx="548640" cy="548640"/>
          </a:xfrm>
          <a:prstGeom prst="star8">
            <a:avLst/>
          </a:prstGeom>
          <a:solidFill>
            <a:schemeClr val="accent2"/>
          </a:solidFill>
          <a:ln/>
        </p:spPr>
      </p:sp>
      <p:sp>
        <p:nvSpPr>
          <p:cNvPr id="6" name="Shape 4"/>
          <p:cNvSpPr/>
          <p:nvPr/>
        </p:nvSpPr>
        <p:spPr>
          <a:xfrm>
            <a:off x="11036808"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905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2272284"/>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يَحِلُّ لَكُمْ أَن تَرِثُواْ النِّسَآءَ كَرْهًا وَلَا تَعْضُلُوهُنَّ لِتَذْهَبُواْ بِبَعْضِ مَآ ءَاتَيْتُمُوهُنَّ إِلَّآ أَن يَأْتِينَ بِفَٰحِشَةٍ مُّبَيِّنَةٍ وَعَاشِرُوهُنَّ بِالْمَعْرُوفِ فَإِن كَرِهْتُمُوهُنَّ فَعَسَىٰ أَن تَكْرَهُواْ شَيْـًٔا وَيَجْعَلَ اللَّهُ فِيهِ خَيْرًا كَثِيرًا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يحلّ لكم أن ترثوا زوجات أقاربكم بعد موتهم كما كان أهل الجاهلية يفعلون، ولا تضيّقوا عليهن لتأخذوا بعض مهورهن، وعاشروهن بالمعروف، فإن كرهتموهن فعسى أن تكرهوا شيئًا ويجعل الله فيه خيرًا كثيرًا.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٢٠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أَرَدتُّمُ اسْتِبْدَالَ زَوْجٍ مَّكَانَ زَوْجٍ وَءَاتَيْتُمْ إِحْدَىٰهُنَّ قِنطَارًا فَلَا تَأْخُذُواْ مِنْهُ شَيْـًٔا أَتَأْخُذُونَهُ بُهْتَٰنًا وَإِثْمًا مُّبِينًا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أردتم أن تتزوّجوا امرأة مكان أخرى، وقد أعطيتم الأولى مالًا كثيرًا، فلا تأخذوا منه شيئًا، أتأخذونه ظلمًا وإثمًا واضحًا؟</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وَكَيْفَ تَأْخُذُونَهُ وَقَدْ أَفْضَىٰ بَعْضُكُمْ إِلَىٰ بَعْضٍ وَأَخَذْنَ مِنكُم مِّيثَٰقًا غَلِيظًا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وكيف تأخذونه وقد عاش بعضكم مع بعض، وأخذن منكم عهدًا مؤكّدًا بعقد الزواج؟</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تَنكِحُواْ مَا نَكَحَ ءَابَآؤُكُم مِّنَ النِّسَآءِ إِلَّا مَا قَدْ سَلَفَ إِنَّهُ كَانَ فَٰحِشَةً وَمَقْتًا وَسَآءَ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تتزوّجوا من تزوّجها آباؤكم، إلا ما مضى في الجاهلية فقد عُفي عنه، إنه كان أمرًا قبيحًا وبغيضًا وطريقًا سيئًا.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05356"/>
            <a:ext cx="548640" cy="548640"/>
          </a:xfrm>
          <a:prstGeom prst="star8">
            <a:avLst/>
          </a:prstGeom>
          <a:solidFill>
            <a:schemeClr val="accent2"/>
          </a:solidFill>
          <a:ln/>
        </p:spPr>
      </p:sp>
      <p:sp>
        <p:nvSpPr>
          <p:cNvPr id="6" name="Shape 4"/>
          <p:cNvSpPr/>
          <p:nvPr/>
        </p:nvSpPr>
        <p:spPr>
          <a:xfrm>
            <a:off x="11036808" y="18150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053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1687068"/>
            <a:ext cx="10012680" cy="398678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حُرِّمَتْ عَلَيْكُمْ أُمَّهَٰتُكُمْ وَبَنَاتُكُمْ وَأَخَوَٰتُكُمْ وَعَمَّـٰتُكُمْ وَخَٰلَٰتُكُمْ وَبَنَاتُ الْأَخِ وَبَنَاتُ الْأُخْتِ وَأُمَّهَٰتُكُمُ الَّـٰتِي أَرْضَعْنَكُمْ وَأَخَوَٰتُكُم مِّنَ الرَّضَٰعَةِ وَأُمَّهَٰتُ نِسَآئِكُمْ وَرَبَـٰئِبُكُمُ الَّـٰتِي فِي حُجُورِكُم مِّن نِّسَآئِكُمُ الَّـٰتِي دَخَلْتُم بِهِنَّ فَإِن لَّمْ تَكُونُواْ دَخَلْتُم بِهِنَّ فَلَا جُنَاحَ عَلَيْكُمْ وَحَلَـٰئِلُ أَبْنَآئِكُمُ الَّذِينَ مِنْ أَصْلَٰبِكُمْ وَأَن تَجْمَعُواْ بَيْنَ الْأُخْتَيْنِ إِلَّا مَا قَدْ سَلَفَ إِنَّ اللَّهَ كَانَ غَفُورًا رَّحِيمًا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حُرّم عليكم الزواج من: أمهاتكم، وبناتكم، وأخواتكم، وعمّاتكم، وخالاتكم، وبنات الأخ، وبنات الأخت، والأمهات والأخوات من الرضاعة، وأمهات الزوجات، وبنات الزوجات اللاتي تربّين عندكم، وزوجات الأبناء، والجمع بين الأختين.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167128"/>
            <a:ext cx="548640" cy="548640"/>
          </a:xfrm>
          <a:prstGeom prst="star8">
            <a:avLst/>
          </a:prstGeom>
          <a:solidFill>
            <a:schemeClr val="accent2"/>
          </a:solidFill>
          <a:ln/>
        </p:spPr>
      </p:sp>
      <p:sp>
        <p:nvSpPr>
          <p:cNvPr id="6" name="Shape 4"/>
          <p:cNvSpPr/>
          <p:nvPr/>
        </p:nvSpPr>
        <p:spPr>
          <a:xfrm>
            <a:off x="11036808" y="227685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1671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8" name="Text 6"/>
          <p:cNvSpPr txBox="1"/>
          <p:nvPr/>
        </p:nvSpPr>
        <p:spPr>
          <a:xfrm>
            <a:off x="731520" y="2148840"/>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وَالْمُحْصَنَٰتُ مِنَ النِّسَآءِ إِلَّا مَا مَلَكَتْ أَيْمَٰنُكُمْ كِتَٰبَ اللَّهِ عَلَيْكُمْ وَأُحِلَّ لَكُم مَّا وَرَآءَ ذَٰلِكُمْ أَن تَبْتَغُواْ بِأَمْوَٰلِكُم مُّحْصِنِينَ غَيْرَ مُسَٰفِحِينَ فَمَا اسْتَمْتَعْتُم بِهِ مِنْهُنَّ فَـَٔاتُوهُنَّ أُجُورَهُنَّ فَرِيضَةً وَلَا جُنَاحَ عَلَيْكُمْ فِيمَا تَرَٰضَيْتُم بِهِ مِن بَعْدِ الْفَرِيضَةِ إِنَّ اللَّهَ كَانَ عَلِيمًا حَكِيمًا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وحُرّمت عليكم المتزوجات من النساء، إلا من سُبيت في الحرب، هذا حكم الله عليكم، وأُحلّ لكم ما سوى ذلك أن تتزوّجوا بأموالكم أعفّاء، فأعطوهن مهورهن فريضةً.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81912"/>
            <a:ext cx="548640" cy="548640"/>
          </a:xfrm>
          <a:prstGeom prst="star8">
            <a:avLst/>
          </a:prstGeom>
          <a:solidFill>
            <a:schemeClr val="accent2"/>
          </a:solidFill>
          <a:ln/>
        </p:spPr>
      </p:sp>
      <p:sp>
        <p:nvSpPr>
          <p:cNvPr id="6" name="Shape 4"/>
          <p:cNvSpPr/>
          <p:nvPr/>
        </p:nvSpPr>
        <p:spPr>
          <a:xfrm>
            <a:off x="11036808" y="16916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819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563624"/>
            <a:ext cx="10012680" cy="423367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لَّمْ يَسْتَطِعْ مِنكُمْ طَوْلًا أَن يَنكِحَ الْمُحْصَنَٰتِ الْمُؤْمِنَٰتِ فَمِن مَّا مَلَكَتْ أَيْمَٰنُكُم مِّن فَتَيَٰتِكُمُ الْمُؤْمِنَٰتِ وَاللَّهُ أَعْلَمُ بِإِيمَٰنِكُم بَعْضُكُم مِّن بَعْضٍ فَانكِحُوهُنَّ بِإِذْنِ أَهْلِهِنَّ وَءَاتُوهُنَّ أُجُورَهُنَّ بِالْمَعْرُوفِ مُحْصَنَٰتٍ غَيْرَ مُسَٰفِحَٰتٍ وَلَا مُتَّخِذَٰتِ أَخْدَانٍ فَإِذَآ أُحْصِنَّ فَإِنْ أَتَيْنَ بِفَٰحِشَةٍ فَعَلَيْهِنَّ نِصْفُ مَا عَلَى الْمُحْصَنَٰتِ مِنَ الْعَذَابِ ذَٰلِكَ لِمَنْ خَشِيَ الْعَنَتَ مِنكُمْ وَأَن تَصْبِرُواْ خَيْرٌ لَّكُمْ وَاللَّهُ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لم يستطع منكم مهر الحرة المؤمنة فليتزوّج من الإماء المؤمنات بإذن أهلهن، وأعطوهن مهورهن بالمعروف، وأن تصبروا خير لكم، والله غفور رحيم.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٢٦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يُرِيدُ اللَّهُ لِيُبَيِّنَ لَكُمْ وَيَهْدِيَكُمْ سُنَنَ الَّذِينَ مِن قَبْلِكُمْ وَيَتُوبَ عَلَيْكُمْ وَاللَّهُ عَلِيمٌ حَكِيمٌ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يريد الله أن يبيّن لكم أحكام دينكم، ويهديكم طرق الصالحين قبلكم، ويتوب عليكم، والله عليم حكيم.</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وَاللَّهُ يُرِيدُ أَن يَتُوبَ عَلَيْكُمْ وَيُرِيدُ الَّذِينَ يَتَّبِعُونَ الشَّهَوَٰتِ أَن تَمِيلُواْ مَيْلًا عَظِيمًا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والله يريد أن يتوب عليكم، ويريد أتباع الشهوات أن تنحرفوا عن الحق انحرافًا عظيمًا.</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يُرِيدُ اللَّهُ أَن يُخَفِّفَ عَنكُمْ وَخُلِقَ الْإِنسَٰنُ ضَعِيفًا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يريد الله أن يخفّف عنكم في أحكامه، وخُلق الإنسان ضعيفًا.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حرمة الأموال وحقوق الناس</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٤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٢٩ – ٤٢</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النساء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قالت أم سلمة رضي الله عنها: يا رسول الله، يغزو الرجال ولا نغزو، ولنا نصف الميراث، فأنزل الله: ﴿ولا تتمنّوا ما فضّل الله به بعضكم على بعض﴾ (رواه الترمذي).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تحريم أكل الأموال بالباطل وقتل النفس، واجتناب الكبائر، والإصلاح بين الزوجين، والإحسان إلى الوالدين والجيران وغيرهم.</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تَأْكُلُواْ أَمْوَٰلَكُم بَيْنَكُم بِالْبَٰطِلِ إِلَّآ أَن تَكُونَ تِجَٰرَةً عَن تَرَاضٍ مِّنكُمْ وَلَا تَقْتُلُواْ أَنفُسَكُمْ إِنَّ اللَّهَ كَانَ بِكُمْ رَحِيمًا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يأكل بعضكم مال بعض بغير حق، إلا أن تكون تجارة عن رضا منكم، ولا يقتل بعضكم بعضًا، ولا تقتلوا أنفسكم، إن الله كان بكم رحيمًا.</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يَفْعَلْ ذَٰلِكَ عُدْوَٰنًا وَظُلْمًا فَسَوْفَ نُصْلِيهِ نَارًا وَكَانَ ذَٰلِكَ عَلَى اللَّهِ يَسِيرًا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يفعل ذلك تعدّيًا وظلمًا فسوف نُدخله نارًا، وكان ذلك على الله سهلًا.</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تَجْتَنِبُواْ كَبَآئِرَ مَا تُنْهَوْنَ عَنْهُ نُكَفِّرْ عَنكُمْ سَيِّـَٔاتِكُمْ وَنُدْخِلْكُم مُّدْخَلًا كَرِيمًا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تبتعدوا عن كبائر الذنوب نمحُ عنكم صغائرها، ونُدخلكم مكانًا كريمًا، وهو الجنة.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تَتَمَنَّوْاْ مَا فَضَّلَ اللَّهُ بِهِ بَعْضَكُمْ عَلَىٰ بَعْضٍ لِّلرِّجَالِ نَصِيبٌ مِّمَّا اكْتَسَبُواْ وَلِلنِّسَآءِ نَصِيبٌ مِّمَّا اكْتَسَبْنَ وَسْـَٔلُواْ اللَّهَ مِن فَضْلِهِ إِنَّ اللَّهَ كَانَ بِكُلِّ شَيْءٍ عَلِيمًا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تتمنّوا ما فضّل الله به بعضكم على بعض، للرجال ثواب ما عملوا، وللنساء ثواب ما عملن، واسألوا الله من فضله، إن الله كان بكل شيء عليمًا.</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وَلِكُلٍّ جَعَلْنَا مَوَٰلِيَ مِمَّا تَرَكَ الْوَٰلِدَانِ وَالْأَقْرَبُونَ وَالَّذِينَ عَقَدَتْ أَيْمَٰنُكُمْ فَـَٔاتُوهُمْ نَصِيبَهُمْ إِنَّ اللَّهَ كَانَ عَلَىٰ كُلِّ شَيْءٍ شَهِيدًا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ولكل واحد منكم جعلنا ورثة يرثون مما ترك الوالدان والأقارب، والذين تحالفتم معهم فأعطوهم نصيبهم من النصرة والنصيحة، إن الله كان على كل شيء شهيدًا.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الرِّجَالُ قَوَّـٰمُونَ عَلَى النِّسَآءِ بِمَا فَضَّلَ اللَّهُ بَعْضَهُمْ عَلَىٰ بَعْضٍ وَبِمَآ أَنفَقُواْ مِنْ أَمْوَٰلِهِمْ فَالصَّـٰلِحَٰتُ قَٰنِتَٰتٌ حَٰفِظَٰتٌ لِّلْغَيْبِ بِمَا حَفِظَ اللَّهُ وَالَّـٰتِي تَخَافُونَ نُشُوزَهُنَّ فَعِظُوهُنَّ وَاهْجُرُوهُنَّ فِي الْمَضَاجِعِ وَاضْرِبُوهُنَّ فَإِنْ أَطَعْنَكُمْ فَلَا تَبْغُواْ عَلَيْهِنَّ سَبِيلًا إِنَّ اللَّهَ كَانَ عَلِيًّا كَبِيرًا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الرجال قائمون على شؤون النساء بالرعاية والحماية والنفقة، بما فضّل الله به بعضهم على بعض وبما ينفقون من أموالهم، والصالحات مطيعات لله حافظات لحقوق أزواجهن، ومن يُخشى عصيانها فعالجوا ذلك بالموعظة أولًا ثم بالتدرّج المشروع، فإن أطعنكم فلا تظلموهن.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٣٥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خِفْتُمْ شِقَاقَ بَيْنِهِمَا فَابْعَثُواْ حَكَمًا مِّنْ أَهْلِهِ وَحَكَمًا مِّنْ أَهْلِهَآ إِن يُرِيدَآ إِصْلَٰحًا يُوَفِّقِ اللَّهُ بَيْنَهُمَآ إِنَّ اللَّهَ كَانَ عَلِيمًا خَبِيرًا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خفتم خلافًا بين الزوجين فأرسلوا حكمًا من أهله وحكمًا من أهلها، إن يريدا إصلاحًا يوفّق الله بينهما، إن الله كان عليمًا خبيرًا.</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وَاعْبُدُواْ اللَّهَ وَلَا تُشْرِكُواْ بِهِ شَيْـًٔا وَبِالْوَٰلِدَيْنِ إِحْسَٰنًا وَبِذِي الْقُرْبَىٰ وَالْيَتَٰمَىٰ وَالْمَسَٰكِينِ وَالْجَارِ ذِي الْقُرْبَىٰ وَالْجَارِ الْجُنُبِ وَالصَّاحِبِ بِالْجَنبِ وَابْنِ السَّبِيلِ وَمَا مَلَكَتْ أَيْمَٰنُكُمْ إِنَّ اللَّهَ لَا يُحِبُّ مَن كَانَ مُخْتَالًا فَخُورًا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واعبدوا الله ولا تشركوا به شيئًا، وأحسنوا إلى الوالدين والأقارب واليتامى والمساكين، والجار القريب والجار البعيد، والصاحب، والمسافر، والخادم، إن الله لا يحب المتكبّر الفخور.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يَبْخَلُونَ وَيَأْمُرُونَ النَّاسَ بِالْبُخْلِ وَيَكْتُمُونَ مَآ ءَاتَىٰهُمُ اللَّهُ مِن فَضْلِهِ وَأَعْتَدْنَا لِلْكَٰفِرِينَ عَذَابًا مُّهِينًا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يبخلون ويأمرون الناس بالبخل، ويُخفون ما أعطاهم الله من فضله، وأعددنا للكافرين عذابًا مُهينًا.</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يُنفِقُونَ أَمْوَٰلَهُمْ رِئَآءَ النَّاسِ وَلَا يُؤْمِنُونَ بِاللَّهِ وَلَا بِالْيَوْمِ الْأخِرِ وَمَن يَكُنِ الشَّيْطَٰنُ لَهُ قَرِينًا فَسَآءَ قَرِينًا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ينفقون أموالهم ليراهم الناس، ولا يؤمنون بالله ولا باليوم الآخر، ومن يكن الشيطان صاحبه فبئس الصاحب.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٣٩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15668"/>
            <a:ext cx="548640" cy="548640"/>
          </a:xfrm>
          <a:prstGeom prst="star8">
            <a:avLst/>
          </a:prstGeom>
          <a:solidFill>
            <a:schemeClr val="accent2"/>
          </a:solidFill>
          <a:ln/>
        </p:spPr>
      </p:sp>
      <p:sp>
        <p:nvSpPr>
          <p:cNvPr id="6" name="Shape 4"/>
          <p:cNvSpPr/>
          <p:nvPr/>
        </p:nvSpPr>
        <p:spPr>
          <a:xfrm>
            <a:off x="11036808" y="20253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15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8" name="Text 6"/>
          <p:cNvSpPr txBox="1"/>
          <p:nvPr/>
        </p:nvSpPr>
        <p:spPr>
          <a:xfrm>
            <a:off x="731520" y="189738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وَمَاذَا عَلَيْهِمْ لَوْ ءَامَنُواْ بِاللَّهِ وَالْيَوْمِ الْأخِرِ وَأَنفَقُواْ مِمَّا رَزَقَهُمُ اللَّهُ وَكَانَ اللَّهُ بِهِمْ عَلِيمًا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وماذا يضرّهم لو آمنوا بالله واليوم الآخر، وأنفقوا مما رزقهم الله؟ وكان الله بهم عليمًا.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3" name="Text 11"/>
          <p:cNvSpPr txBox="1"/>
          <p:nvPr/>
        </p:nvSpPr>
        <p:spPr>
          <a:xfrm>
            <a:off x="731520" y="3909060"/>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لَا يَظْلِمُ مِثْقَالَ ذَرَّةٍ وَإِن تَكُ حَسَنَةً يُضَٰعِفْهَا وَيُؤْتِ مِن لَّدُنْهُ أَجْرًا عَظِيمًا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لا يظلم أحدًا وزن ذرّة، وإن تكن حسنة يضاعفها، ويعطي من عنده أجرًا عظيمًا.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69948"/>
            <a:ext cx="548640" cy="548640"/>
          </a:xfrm>
          <a:prstGeom prst="star8">
            <a:avLst/>
          </a:prstGeom>
          <a:solidFill>
            <a:schemeClr val="accent2"/>
          </a:solidFill>
          <a:ln/>
        </p:spPr>
      </p:sp>
      <p:sp>
        <p:nvSpPr>
          <p:cNvPr id="6" name="Shape 4"/>
          <p:cNvSpPr/>
          <p:nvPr/>
        </p:nvSpPr>
        <p:spPr>
          <a:xfrm>
            <a:off x="11036808" y="197967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699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851660"/>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فَكَيْفَ إِذَا جِئْنَا مِن كُلِّ أُمَّةٍ بِشَهِيدٍ وَجِئْنَا بِكَ عَلَىٰ هَـٰؤُلَآءِ شَهِيدًا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فكيف يكون الحال إذا جئنا من كل أمة بنبيّها شاهدًا، وجئنا بك يا محمد شاهدًا على أمتك؟ ولما قرأها ابن مسعود على النبي صلى الله عليه وسلم ذرفت عيناه (البخاري).</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36164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يَوْمَئِذٍ يَوَدُّ الَّذِينَ كَفَرُواْ وَعَصَوُاْ الرَّسُولَ لَوْ تُسَوَّىٰ بِهِمُ الْأَرْضُ وَلَا يَكْتُمُونَ اللَّهَ حَدِيثًا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يومئذ يتمنى الكفار الذين عصوا الرسول لو يكونون ترابًا تُسوّى بهم الأرض، ولا يستطيعون أن يُخفوا عن الله شيئًا.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الطهارة والتيمّم وأحوال أهل الكتاب</a:t>
            </a:r>
            <a:endParaRPr lang="ar-SA" sz="2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٥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٤٣ – ٥٧</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النساء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خرجت عائشة رضي الله عنها مع النبي صلى الله عليه وسلم في سفر فضاع عقدها، فأقاموا يبحثون عنه وليس معهم ماء، فأنزل الله آية التيمّم، فقال أُسيد بن حضير: ما هي بأول بركتكم يا آل أبي بكر (رواه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النهي عن الصلاة في حال السُّكر قبل تحريم الخمر، وتشريع التيمّم، وكشف تحريف بعض أهل الكتاب، وأن الله لا يغفر الشرك.</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تَقْرَبُواْ الصَّلَوٰةَ وَأَنتُمْ سُكَٰرَىٰ حَتَّىٰ تَعْلَمُواْ مَا تَقُولُونَ وَلَا جُنُبًا إِلَّا عَابِرِي سَبِيلٍ حَتَّىٰ تَغْتَسِلُواْ وَإِن كُنتُم مَّرْضَىٰ أَوْ عَلَىٰ سَفَرٍ أَوْ جَآءَ أَحَدٌ مِّنكُم مِّنَ الْغَآئِطِ أَوْ لَٰمَسْتُمُ النِّسَآءَ فَلَمْ تَجِدُواْ مَآءً فَتَيَمَّمُواْ صَعِيدًا طَيِّبًا فَامْسَحُواْ بِوُجُوهِكُمْ وَأَيْدِيكُمْ إِنَّ اللَّهَ كَانَ عَفُوًّا غَفُورًا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تقربوا الصلاة وأنتم سكارى حتى تعلموا ما تقولون -وكان ذلك قبل تحريم الخمر-، ولا وأنتم على جنابة حتى تغتسلوا، وإن كنتم مرضى أو مسافرين أو لم تجدوا ماءً فتيمّموا بالتراب الطاهر فامسحوا وجوهكم وأيديكم.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2189988"/>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إِلَى الَّذِينَ أُوتُواْ نَصِيبًا مِّنَ الْكِتَٰبِ يَشْتَرُونَ الضَّلَٰلَةَ وَيُرِيدُونَ أَن تَضِلُّواْ السَّبِيلَ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إلى الذين أُعطوا نصيبًا من الكتاب يختارون الضلالة، ويريدون أن تضلّوا الطريق؟</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420166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وَاللَّهُ أَعْلَمُ بِأَعْدَآئِكُمْ وَكَفَىٰ بِاللَّهِ وَلِيًّا وَكَفَىٰ بِاللَّهِ نَصِيرًا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والله أعلم بأعدائكم، وكفى بالله وليًّا، وكفى بالله نصيرًا.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٤٦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90572"/>
            <a:ext cx="548640" cy="548640"/>
          </a:xfrm>
          <a:prstGeom prst="star8">
            <a:avLst/>
          </a:prstGeom>
          <a:solidFill>
            <a:schemeClr val="accent2"/>
          </a:solidFill>
          <a:ln/>
        </p:spPr>
      </p:sp>
      <p:sp>
        <p:nvSpPr>
          <p:cNvPr id="6" name="Shape 4"/>
          <p:cNvSpPr/>
          <p:nvPr/>
        </p:nvSpPr>
        <p:spPr>
          <a:xfrm>
            <a:off x="11036808" y="24003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905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8" name="Text 6"/>
          <p:cNvSpPr txBox="1"/>
          <p:nvPr/>
        </p:nvSpPr>
        <p:spPr>
          <a:xfrm>
            <a:off x="731520" y="2272284"/>
            <a:ext cx="10012680" cy="281635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الَّذِينَ هَادُواْ يُحَرِّفُونَ الْكَلِمَ عَن مَّوَاضِعِهِ وَيَقُولُونَ سَمِعْنَا وَعَصَيْنَا وَاسْمَعْ غَيْرَ مُسْمَعٍ وَرَٰعِنَا لَيًّا بِأَلْسِنَتِهِمْ وَطَعْنًا فِي الدِّينِ وَلَوْ أَنَّهُمْ قَالُواْ سَمِعْنَا وَأَطَعْنَا وَاسْمَعْ وَانظُرْنَا لَكَانَ خَيْرًا لَّهُمْ وَأَقْوَمَ وَلَٰكِن لَّعَنَهُمُ اللَّهُ بِكُفْرِهِمْ فَلَا يُؤْمِنُونَ إِلَّا قَلِيلًا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اليهود قوم يغيّرون كلام الله عن معناه، ويقولون للنبي صلى الله عليه وسلم: سمعنا وعصينا، ويلوون ألسنتهم بكلمة «راعنا» يقصدون السبّ، ولو قالوا: سمعنا وأطعنا وانظرنا لكان خيرًا لهم، ولكن لعنهم الله بكفرهم.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أُوتُواْ الْكِتَٰبَ ءَامِنُواْ بِمَا نَزَّلْنَا مُصَدِّقًا لِّمَا مَعَكُم مِّن قَبْلِ أَن نَّطْمِسَ وُجُوهًا فَنَرُدَّهَا عَلَىٰ أَدْبَارِهَآ أَوْ نَلْعَنَهُمْ كَمَا لَعَنَّآ أَصْحَٰبَ السَّبْتِ وَكَانَ أَمْرُ اللَّهِ مَفْعُولًا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أهل الكتاب، آمنوا بالقرآن المصدّق لما معكم، من قبل أن نمحو الوجوه فنجعلها كالأقفية، أو نلعنكم كما لعنّا أصحاب السبت، وكان أمر الله نافذًا.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٤٨ – 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69948"/>
            <a:ext cx="548640" cy="548640"/>
          </a:xfrm>
          <a:prstGeom prst="star8">
            <a:avLst/>
          </a:prstGeom>
          <a:solidFill>
            <a:schemeClr val="accent2"/>
          </a:solidFill>
          <a:ln/>
        </p:spPr>
      </p:sp>
      <p:sp>
        <p:nvSpPr>
          <p:cNvPr id="6" name="Shape 4"/>
          <p:cNvSpPr/>
          <p:nvPr/>
        </p:nvSpPr>
        <p:spPr>
          <a:xfrm>
            <a:off x="11036808" y="197967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699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8" name="Text 6"/>
          <p:cNvSpPr txBox="1"/>
          <p:nvPr/>
        </p:nvSpPr>
        <p:spPr>
          <a:xfrm>
            <a:off x="731520" y="18516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لَا يَغْفِرُ أَن يُشْرَكَ بِهِ وَيَغْفِرُ مَا دُونَ ذَٰلِكَ لِمَن يَشَآءُ وَمَن يُشْرِكْ بِاللَّهِ فَقَدِ افْتَرَىٰ إِثْمًا عَظِيمًا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لا يغفر لمن مات مشركًا، ويغفر ما دون الشرك من الذنوب لمن يشاء، ومن يشرك بالله فقد اختلق ذنبًا عظيمًا.</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219956"/>
            <a:ext cx="548640" cy="548640"/>
          </a:xfrm>
          <a:prstGeom prst="star8">
            <a:avLst/>
          </a:prstGeom>
          <a:solidFill>
            <a:schemeClr val="accent2"/>
          </a:solidFill>
          <a:ln/>
        </p:spPr>
      </p:sp>
      <p:sp>
        <p:nvSpPr>
          <p:cNvPr id="11" name="Shape 9"/>
          <p:cNvSpPr/>
          <p:nvPr/>
        </p:nvSpPr>
        <p:spPr>
          <a:xfrm>
            <a:off x="11036808" y="432968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199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3" name="Text 11"/>
          <p:cNvSpPr txBox="1"/>
          <p:nvPr/>
        </p:nvSpPr>
        <p:spPr>
          <a:xfrm>
            <a:off x="731520" y="4201668"/>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إِلَى الَّذِينَ يُزَكُّونَ أَنفُسَهُم بَلِ اللَّهُ يُزَكِّي مَن يَشَآءُ وَلَا يُظْلَمُونَ فَتِيلًا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إلى الذين يمدحون أنفسهم ويزعمون أنهم أطهار؟ بل الله يطهّر من يشاء، ولا يُظلمون شيئًا ولو قدر الخيط الذي في نواة التمر.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٥٠ – 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انظُرْ كَيْفَ يَفْتَرُونَ عَلَى اللَّهِ الْكَذِبَ وَكَفَىٰ بِهِ إِثْمًا مُّبِينًا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انظر كيف يختلقون الكذب على الله، وكفى بذلك إثمًا واضحًا.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إِلَى الَّذِينَ أُوتُواْ نَصِيبًا مِّنَ الْكِتَٰبِ يُؤْمِنُونَ بِالْجِبْتِ وَالطَّـٰغُوتِ وَيَقُولُونَ لِلَّذِينَ كَفَرُواْ هَـٰؤُلَآءِ أَهْدَىٰ مِنَ الَّذِينَ ءَامَنُواْ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إلى الذين أُعطوا نصيبًا من الكتاب يؤمنون بالسحر والأصنام، ويقولون للمشركين: أنتم أهدى طريقًا من المؤمنين؟</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الَّذِينَ لَعَنَهُمُ اللَّهُ وَمَن يَلْعَنِ اللَّهُ فَلَن تَجِدَ لَهُ نَصِيرًا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الذين طردهم الله من رحمته، ومن يطرده الله فلن تجد له ناصرًا.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٥٣ – ٥٥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لَهُمْ نَصِيبٌ مِّنَ الْمُلْكِ فَإِذًا لَّا يُؤْتُونَ النَّاسَ نَقِيرًا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لهم نصيب من الملك؟ لو كان لهم لما أعطوا الناس شيئًا ولو قدر النقرة في النواة من شدة بخلهم.</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يَحْسُدُونَ النَّاسَ عَلَىٰ مَآ ءَاتَىٰهُمُ اللَّهُ مِن فَضْلِهِ فَقَدْ ءَاتَيْنَآ ءَالَ إِبْرَٰهِيمَ الْكِتَٰبَ وَالْحِكْمَةَ وَءَاتَيْنَٰهُم مُّلْكًا عَظِيمًا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يحسدون النبي صلى الله عليه وسلم والمؤمنين على ما أعطاهم الله من فضله؟ فقد أعطينا آل إبراهيم الكتاب والحكمة وملكًا عظيمًا.</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فَمِنْهُم مَّنْ ءَامَنَ بِهِ وَمِنْهُم مَّن صَدَّ عَنْهُ وَكَفَىٰ بِجَهَنَّمَ سَعِيرًا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فمنهم من آمن به، ومنهم من أعرض عنه، وكفى بجهنم نارًا مشتعلة.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٥٦ – ٥٧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كَفَرُواْ بِـَٔايَٰتِنَا سَوْفَ نُصْلِيهِمْ نَارًا كُلَّمَا نَضِجَتْ جُلُودُهُم بَدَّلْنَٰهُمْ جُلُودًا غَيْرَهَا لِيَذُوقُواْ الْعَذَابَ إِنَّ اللَّهَ كَانَ عَزِيزًا حَكِيمًا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كفروا بآياتنا سوف نُدخلهم نارًا، كلما احترقت جلودهم بدّلناهم جلودًا غيرها ليستمرّ ألم العذاب، إن الله كان عزيزًا حكيمًا.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٥٧</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ءَامَنُواْ وَعَمِلُواْ الصَّـٰلِحَٰتِ سَنُدْخِلُهُمْ جَنَّـٰتٍ تَجْرِي مِن تَحْتِهَا الْأَنْهَٰرُ خَٰلِدِينَ فِيهَآ أَبَدًا لَّهُمْ فِيهَآ أَزْوَٰجٌ مُّطَهَّرَةٌ وَنُدْخِلُهُمْ ظِلًّا ظَلِيلًا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آمنوا وعملوا الصالحات سنُدخلهم جنات تجري من تحتها الأنهار خالدين فيها أبدًا، لهم فيها أزواج مطهّرة، ونُدخلهم ظلًّا دائمًا.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الأمانة وطاعة الله ورسوله</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٦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٥٨ – ٧٠</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النساء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اختصم الزبير بن العوام ورجل من الأنصار في ماء يسقيان به نخلهما، فحكم النبي صلى الله عليه وسلم للزبير، فغضب الأنصاري، فنزلت: ﴿فلا وربك لا يؤمنون حتى يحكّموك فيما شجر بينهم﴾ (رواه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الأمر بأداء الأمانات والحكم بالعدل، وطاعة الله ورسوله وولاة الأمر، والرجوع إلى القرآن والسنة عند الاختلاف، وفضل من يطيع الله ورسوله.</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٥٨ – ٥٩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٥٨</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يَأْمُرُكُمْ أَن تُؤَدُّواْ الْأَمَٰنَٰتِ إِلَىٰ أَهْلِهَا وَإِذَا حَكَمْتُم بَيْنَ النَّاسِ أَن تَحْكُمُواْ بِالْعَدْلِ إِنَّ اللَّهَ نِعِمَّا يَعِظُكُم بِهِ إِنَّ اللَّهَ كَانَ سَمِيعًا بَصِيرًا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يأمركم أن تردّوا الأمانات إلى أصحابها، وإذا حكمتم بين الناس أن تحكموا بالعدل، نِعم ما يعظكم الله به. وذكر ابن كثير أنها نزلت لما ردّ النبي صلى الله عليه وسلم مفتاح الكعبة إلى عثمان بن طلحة.</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٥٩</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أَطِيعُواْ اللَّهَ وَأَطِيعُواْ الرَّسُولَ وَأُوْلِي الْأَمْرِ مِنكُمْ فَإِن تَنَٰزَعْتُمْ فِي شَيْءٍ فَرُدُّوهُ إِلَى اللَّهِ وَالرَّسُولِ إِن كُنتُمْ تُؤْمِنُونَ بِاللَّهِ وَالْيَوْمِ الْأخِرِ ذَٰلِكَ خَيْرٌ وَأَحْسَنُ تَأْوِيلًا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أطيعوا الله وأطيعوا الرسول، وأطيعوا ولاة أموركم والعلماء في غير معصية، فإن اختلفتم في شيء فارجعوا فيه إلى القرآن والسنة، ذلك خير وأحسن عاقبة.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٦٠ – ٦١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٦٠</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إِلَى الَّذِينَ يَزْعُمُونَ أَنَّهُمْ ءَامَنُواْ بِمَآ أُنزِلَ إِلَيْكَ وَمَآ أُنزِلَ مِن قَبْلِكَ يُرِيدُونَ أَن يَتَحَاكَمُواْ إِلَى الطَّـٰغُوتِ وَقَدْ أُمِرُواْ أَن يَكْفُرُواْ بِهِ وَيُرِيدُ الشَّيْطَٰنُ أَن يُضِلَّهُمْ ضَلَٰلًا بَعِيدًا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إلى المنافقين الذين يزعمون أنهم آمنوا، يريدون أن يتحاكموا إلى غير شرع الله، وقد أُمروا أن يكفروا به، ويريد الشيطان أن يُضلّهم ضلالًا بعيدًا؟</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٦١</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قِيلَ لَهُمْ تَعَالَوْاْ إِلَىٰ مَآ أَنزَلَ اللَّهُ وَإِلَى الرَّسُولِ رَأَيْتَ الْمُنَٰفِقِينَ يَصُدُّونَ عَنكَ صُدُودًا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قيل لهم: تعالوا إلى حكم الله والرسول، رأيت المنافقين يُعرضون عنك إعراضًا شديدًا.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٦٢ – ٦٣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٦٢</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فَكَيْفَ إِذَآ أَصَٰبَتْهُم مُّصِيبَةٌ بِمَا قَدَّمَتْ أَيْدِيهِمْ ثُمَّ جَآءُوكَ يَحْلِفُونَ بِاللَّهِ إِنْ أَرَدْنَآ إِلَّآ إِحْسَٰنًا وَتَوْفِيقًا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فكيف حالهم إذا أصابتهم مصيبة بسبب ذنوبهم، ثم جاؤوك يحلفون: ما أردنا إلا الإحسان والتوفيق بين الخصوم؟</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٦٣</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الَّذِينَ يَعْلَمُ اللَّهُ مَا فِي قُلُوبِهِمْ فَأَعْرِضْ عَنْهُمْ وَعِظْهُمْ وَقُل لَّهُمْ فِي أَنفُسِهِمْ قَوْلًا بَلِيغًا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يعلم الله ما في قلوبهم من النفاق، فأعرض عنهم، وانصحهم، وقل لهم قولًا مؤثّرًا يبلغ قلوبهم.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٦٤ – ٦٥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٦٤</a:t>
            </a:r>
            <a:endParaRPr lang="ar-SA" sz="16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أَرْسَلْنَا مِن رَّسُولٍ إِلَّا لِيُطَاعَ بِإِذْنِ اللَّهِ وَلَوْ أَنَّهُمْ إِذ ظَّلَمُواْ أَنفُسَهُمْ جَآءُوكَ فَاسْتَغْفَرُواْ اللَّهَ وَاسْتَغْفَرَ لَهُمُ الرَّسُولُ لَوَجَدُواْ اللَّهَ تَوَّابًا رَّحِيمًا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أرسلنا من رسول إلا ليُطاع بأمر الله، ولو أنهم حين ظلموا أنفسهم جاؤوك فاستغفروا الله واستغفر لهم الرسول لوجدوا الله توابًا رحيمًا.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٦٥</a:t>
            </a:r>
            <a:endParaRPr lang="ar-SA" sz="16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فَلَا وَرَبِّكَ لَا يُؤْمِنُونَ حَتَّىٰ يُحَكِّمُوكَ فِيمَا شَجَرَ بَيْنَهُمْ ثُمَّ لَا يَجِدُواْ فِي أَنفُسِهِمْ حَرَجًا مِّمَّا قَضَيْتَ وَيُسَلِّمُواْ تَسْلِيمًا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فلا وربك لا يؤمنون حقًّا حتى يجعلوك حكمًا فيما اختلفوا فيه، ثم لا يجدوا في أنفسهم ضيقًا من حكمك، ويستسلموا له تمامًا.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٦٦ – ٦٨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٦٦</a:t>
            </a:r>
            <a:endParaRPr lang="ar-SA" sz="1600" dirty="0"/>
          </a:p>
        </p:txBody>
      </p:sp>
      <p:sp>
        <p:nvSpPr>
          <p:cNvPr id="8" name="Text 6"/>
          <p:cNvSpPr txBox="1"/>
          <p:nvPr/>
        </p:nvSpPr>
        <p:spPr>
          <a:xfrm>
            <a:off x="731520" y="139598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أَنَّا كَتَبْنَا عَلَيْهِمْ أَنِ اقْتُلُواْ أَنفُسَكُمْ أَوِ اخْرُجُواْ مِن دِيَٰرِكُم مَّا فَعَلُوهُ إِلَّا قَلِيلٌ مِّنْهُمْ وَلَوْ أَنَّهُمْ فَعَلُواْ مَا يُوعَظُونَ بِهِ لَكَانَ خَيْرًا لَّهُمْ وَأَشَدَّ تَثْبِيتًا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فرضنا عليهم أن يقتلوا أنفسهم أو يخرجوا من ديارهم ما فعله إلا قليل منهم، ولو أنهم فعلوا ما يُوعظون به لكان خيرًا لهم وأشد تثبيتًا لإيمانهم.</a:t>
            </a:r>
            <a:endParaRPr lang="ar-SA" sz="3200" dirty="0"/>
          </a:p>
        </p:txBody>
      </p:sp>
      <p:sp>
        <p:nvSpPr>
          <p:cNvPr id="9" name="Shape 7"/>
          <p:cNvSpPr/>
          <p:nvPr/>
        </p:nvSpPr>
        <p:spPr>
          <a:xfrm>
            <a:off x="2103120" y="3459480"/>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٦٧</a:t>
            </a:r>
            <a:endParaRPr lang="ar-SA" sz="1600" dirty="0"/>
          </a:p>
        </p:txBody>
      </p:sp>
      <p:sp>
        <p:nvSpPr>
          <p:cNvPr id="13" name="Text 11"/>
          <p:cNvSpPr txBox="1"/>
          <p:nvPr/>
        </p:nvSpPr>
        <p:spPr>
          <a:xfrm>
            <a:off x="731520" y="36576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لَّأتَيْنَٰهُم مِّن لَّدُنَّآ أَجْرًا عَظِيمًا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لأعطيناهم من عندنا أجرًا عظيمًا.</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٦٨</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وَلَهَدَيْنَٰهُمْ صِرَٰطًا مُّسْتَقِيمًا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ولهديناهم طريقًا مستقيمًا.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٦٩ – ٧٠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٦٩</a:t>
            </a:r>
            <a:endParaRPr lang="ar-SA" sz="16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يُطِعِ اللَّهَ وَالرَّسُولَ فَأُوْلَـٰئِكَ مَعَ الَّذِينَ أَنْعَمَ اللَّهُ عَلَيْهِم مِّنَ النَّبِيِّـنَ وَالصِّدِّيقِينَ وَالشُّهَدَآءِ وَالصَّـٰلِحِينَ وَحَسُنَ أُوْلَـٰئِكَ رَفِيقًا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يطع الله والرسول فأولئك في الجنة مع الذين أنعم الله عليهم: من النبيين، والصدّيقين، والشهداء، والصالحين، وحسُن أولئك رفقاء.</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٧٠</a:t>
            </a:r>
            <a:endParaRPr lang="ar-SA" sz="16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ذَٰلِكَ الْفَضْلُ مِنَ اللَّهِ وَكَفَىٰ بِاللَّهِ عَلِيمًا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ذلك الفضل من الله، وكفى بالله عليمًا.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800" b="1" dirty="0">
                <a:solidFill>
                  <a:schemeClr val="accent2"/>
                </a:solidFill>
                <a:latin typeface="Sakkal Majalla" pitchFamily="34" charset="0"/>
                <a:ea typeface="Sakkal Majalla" pitchFamily="34" charset="-122"/>
                <a:cs typeface="Sakkal Majalla" pitchFamily="34" charset="-120"/>
              </a:rPr>
              <a:t>الجهاد والهجرة وصلاة الخوف</a:t>
            </a:r>
            <a:endParaRPr lang="ar-SA" sz="28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٧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٧١ – ١٠٤</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النساء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لما نزلت ﴿لا يستوي القاعدون من المؤمنين... والمجاهدون في سبيل الله﴾ جاء ابن أم مكتوم فشكا عماه، فأنزل الله: ﴿غير أولي الضرر﴾ (رواه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الحثّ على الجهاد ونصرة المستضعفين، وكشف المنافقين، وأدب ردّ التحية، وحرمة دم المؤمن، وفضل الهجرة، وقصر الصلاة وصلاة الخوف.</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٧١ – ٧٣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3124"/>
            <a:ext cx="548640" cy="548640"/>
          </a:xfrm>
          <a:prstGeom prst="star8">
            <a:avLst/>
          </a:prstGeom>
          <a:solidFill>
            <a:schemeClr val="accent2"/>
          </a:solidFill>
          <a:ln/>
        </p:spPr>
      </p:sp>
      <p:sp>
        <p:nvSpPr>
          <p:cNvPr id="6" name="Shape 4"/>
          <p:cNvSpPr/>
          <p:nvPr/>
        </p:nvSpPr>
        <p:spPr>
          <a:xfrm>
            <a:off x="11036808" y="148285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31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٧١</a:t>
            </a:r>
            <a:endParaRPr lang="ar-SA" sz="1600" dirty="0"/>
          </a:p>
        </p:txBody>
      </p:sp>
      <p:sp>
        <p:nvSpPr>
          <p:cNvPr id="8" name="Text 6"/>
          <p:cNvSpPr txBox="1"/>
          <p:nvPr/>
        </p:nvSpPr>
        <p:spPr>
          <a:xfrm>
            <a:off x="731520" y="13548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خُذُواْ حِذْرَكُمْ فَانفِرُواْ ثُبَاتٍ أَوِ انفِرُواْ جَمِيعًا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خذوا حذركم من عدوكم، واخرجوا للجهاد جماعات متفرقة أو مجتمعين.</a:t>
            </a:r>
            <a:endParaRPr lang="ar-SA" sz="3200" dirty="0"/>
          </a:p>
        </p:txBody>
      </p:sp>
      <p:sp>
        <p:nvSpPr>
          <p:cNvPr id="9" name="Shape 7"/>
          <p:cNvSpPr/>
          <p:nvPr/>
        </p:nvSpPr>
        <p:spPr>
          <a:xfrm>
            <a:off x="2103120" y="2453640"/>
            <a:ext cx="8641080" cy="0"/>
          </a:xfrm>
          <a:prstGeom prst="line">
            <a:avLst/>
          </a:prstGeom>
          <a:noFill/>
          <a:ln w="9525">
            <a:solidFill>
              <a:schemeClr val="accent2"/>
            </a:solidFill>
            <a:prstDash val="dash"/>
          </a:ln>
        </p:spPr>
      </p:sp>
      <p:sp>
        <p:nvSpPr>
          <p:cNvPr id="10" name="Shape 8"/>
          <p:cNvSpPr/>
          <p:nvPr/>
        </p:nvSpPr>
        <p:spPr>
          <a:xfrm>
            <a:off x="10927080" y="2628900"/>
            <a:ext cx="548640" cy="548640"/>
          </a:xfrm>
          <a:prstGeom prst="star8">
            <a:avLst/>
          </a:prstGeom>
          <a:solidFill>
            <a:schemeClr val="accent2"/>
          </a:solidFill>
          <a:ln/>
        </p:spPr>
      </p:sp>
      <p:sp>
        <p:nvSpPr>
          <p:cNvPr id="11" name="Shape 9"/>
          <p:cNvSpPr/>
          <p:nvPr/>
        </p:nvSpPr>
        <p:spPr>
          <a:xfrm>
            <a:off x="11036808" y="273862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289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٧٢</a:t>
            </a:r>
            <a:endParaRPr lang="ar-SA" sz="1600" dirty="0"/>
          </a:p>
        </p:txBody>
      </p:sp>
      <p:sp>
        <p:nvSpPr>
          <p:cNvPr id="13" name="Text 11"/>
          <p:cNvSpPr txBox="1"/>
          <p:nvPr/>
        </p:nvSpPr>
        <p:spPr>
          <a:xfrm>
            <a:off x="731520" y="261061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مِنكُمْ لَمَن لَّيُبَطِّئَنَّ فَإِنْ أَصَٰبَتْكُم مُّصِيبَةٌ قَالَ قَدْ أَنْعَمَ اللَّهُ عَلَيَّ إِذْ لَمْ أَكُن مَّعَهُمْ شَهِيدًا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منكم من يتثاقل عن الخروج، فإن أصابتكم مصيبة قال فرحًا: قد أنعم الله عليّ إذ لم أكن معهم حاضرًا.</a:t>
            </a:r>
            <a:endParaRPr lang="ar-SA" sz="3200" dirty="0"/>
          </a:p>
        </p:txBody>
      </p:sp>
      <p:sp>
        <p:nvSpPr>
          <p:cNvPr id="14" name="Shape 12"/>
          <p:cNvSpPr/>
          <p:nvPr/>
        </p:nvSpPr>
        <p:spPr>
          <a:xfrm>
            <a:off x="2103120" y="4294632"/>
            <a:ext cx="8641080" cy="0"/>
          </a:xfrm>
          <a:prstGeom prst="line">
            <a:avLst/>
          </a:prstGeom>
          <a:noFill/>
          <a:ln w="9525">
            <a:solidFill>
              <a:schemeClr val="accent2"/>
            </a:solidFill>
            <a:prstDash val="dash"/>
          </a:ln>
        </p:spPr>
      </p:sp>
      <p:sp>
        <p:nvSpPr>
          <p:cNvPr id="15" name="Shape 13"/>
          <p:cNvSpPr/>
          <p:nvPr/>
        </p:nvSpPr>
        <p:spPr>
          <a:xfrm>
            <a:off x="10927080" y="4469892"/>
            <a:ext cx="548640" cy="548640"/>
          </a:xfrm>
          <a:prstGeom prst="star8">
            <a:avLst/>
          </a:prstGeom>
          <a:solidFill>
            <a:schemeClr val="accent2"/>
          </a:solidFill>
          <a:ln/>
        </p:spPr>
      </p:sp>
      <p:sp>
        <p:nvSpPr>
          <p:cNvPr id="16" name="Shape 14"/>
          <p:cNvSpPr/>
          <p:nvPr/>
        </p:nvSpPr>
        <p:spPr>
          <a:xfrm>
            <a:off x="11036808" y="45796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698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٧٣</a:t>
            </a:r>
            <a:endParaRPr lang="ar-SA" sz="1600" dirty="0"/>
          </a:p>
        </p:txBody>
      </p:sp>
      <p:sp>
        <p:nvSpPr>
          <p:cNvPr id="18" name="Text 16"/>
          <p:cNvSpPr txBox="1"/>
          <p:nvPr/>
        </p:nvSpPr>
        <p:spPr>
          <a:xfrm>
            <a:off x="731520" y="445160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وَلَئِنْ أَصَٰبَكُمْ فَضْلٌ مِّنَ اللَّهِ لَيَقُولَنَّ كَأَن لَّمْ تَكُن بَيْنَكُمْ وَبَيْنَهُ مَوَدَّةٌ يَٰلَيْتَنِي كُنتُ مَعَهُمْ فَأَفُوزَ فَوْزًا عَظِيمًا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ولئن أصابكم نصر وغنيمة ليقولنّ -كأنه ليس منكم-: يا ليتني كنت معهم فأفوز فوزًا عظيمًا.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٧٤ – ٧٥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٧٤</a:t>
            </a:r>
            <a:endParaRPr lang="ar-SA" sz="1600" dirty="0"/>
          </a:p>
        </p:txBody>
      </p:sp>
      <p:sp>
        <p:nvSpPr>
          <p:cNvPr id="8" name="Text 6"/>
          <p:cNvSpPr txBox="1"/>
          <p:nvPr/>
        </p:nvSpPr>
        <p:spPr>
          <a:xfrm>
            <a:off x="731520" y="135331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فَلْيُقَٰتِلْ فِي سَبِيلِ اللَّهِ الَّذِينَ يَشْرُونَ الْحَيَوٰةَ الدُّنْيَا بِالْأخِرَةِ وَمَن يُقَٰتِلْ فِي سَبِيلِ اللَّهِ فَيُقْتَلْ أَوْ يَغْلِبْ فَسَوْفَ نُؤْتِيهِ أَجْرًا عَظِيمًا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فليقاتل في سبيل الله المؤمنون الذين يبيعون الدنيا بالآخرة، ومن يقاتل في سبيل الله فيُقتل أو ينتصر فسوف نعطيه أجرًا عظيمًا.</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547872"/>
            <a:ext cx="548640" cy="548640"/>
          </a:xfrm>
          <a:prstGeom prst="star8">
            <a:avLst/>
          </a:prstGeom>
          <a:solidFill>
            <a:schemeClr val="accent2"/>
          </a:solidFill>
          <a:ln/>
        </p:spPr>
      </p:sp>
      <p:sp>
        <p:nvSpPr>
          <p:cNvPr id="11" name="Shape 9"/>
          <p:cNvSpPr/>
          <p:nvPr/>
        </p:nvSpPr>
        <p:spPr>
          <a:xfrm>
            <a:off x="11036808" y="365760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478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٧٥</a:t>
            </a:r>
            <a:endParaRPr lang="ar-SA" sz="1600" dirty="0"/>
          </a:p>
        </p:txBody>
      </p:sp>
      <p:sp>
        <p:nvSpPr>
          <p:cNvPr id="13" name="Text 11"/>
          <p:cNvSpPr txBox="1"/>
          <p:nvPr/>
        </p:nvSpPr>
        <p:spPr>
          <a:xfrm>
            <a:off x="731520" y="352958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لَكُمْ لَا تُقَٰتِلُونَ فِي سَبِيلِ اللَّهِ وَالْمُسْتَضْعَفِينَ مِنَ الرِّجَالِ وَالنِّسَآءِ وَالْوِلْدَٰنِ الَّذِينَ يَقُولُونَ رَبَّنَآ أَخْرِجْنَا مِنْ هَٰذِهِ الْقَرْيَةِ الظَّالِمِ أَهْلُهَا وَاجْعَل لَّنَا مِن لَّدُنكَ وَلِيًّا وَاجْعَل لَّنَا مِن لَّدُنكَ نَصِيرًا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لكم لا تقاتلون في سبيل الله، ولإنقاذ المستضعفين من الرجال والنساء والأطفال الذين يدعون: ربنا أخرجنا من هذه القرية الظالم أهلها -مكة-، واجعل لنا من عندك وليًّا ونصيرًا؟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٧٦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٧٦</a:t>
            </a:r>
            <a:endParaRPr lang="ar-SA" sz="16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ءَامَنُواْ يُقَٰتِلُونَ فِي سَبِيلِ اللَّهِ وَالَّذِينَ كَفَرُواْ يُقَٰتِلُونَ فِي سَبِيلِ الطَّـٰغُوتِ فَقَٰتِلُواْ أَوْلِيَآءَ الشَّيْطَٰنِ إِنَّ كَيْدَ الشَّيْطَٰنِ كَانَ ضَعِيفًا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المؤمنون يقاتلون في سبيل الله، والكفار يقاتلون في سبيل الطاغوت، فقاتلوا أولياء الشيطان، إن مكر الشيطان كان ضعيفًا.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٧٧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167128"/>
            <a:ext cx="548640" cy="548640"/>
          </a:xfrm>
          <a:prstGeom prst="star8">
            <a:avLst/>
          </a:prstGeom>
          <a:solidFill>
            <a:schemeClr val="accent2"/>
          </a:solidFill>
          <a:ln/>
        </p:spPr>
      </p:sp>
      <p:sp>
        <p:nvSpPr>
          <p:cNvPr id="6" name="Shape 4"/>
          <p:cNvSpPr/>
          <p:nvPr/>
        </p:nvSpPr>
        <p:spPr>
          <a:xfrm>
            <a:off x="11036808" y="227685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1671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٧٧</a:t>
            </a:r>
            <a:endParaRPr lang="ar-SA" sz="1600" dirty="0"/>
          </a:p>
        </p:txBody>
      </p:sp>
      <p:sp>
        <p:nvSpPr>
          <p:cNvPr id="8" name="Text 6"/>
          <p:cNvSpPr txBox="1"/>
          <p:nvPr/>
        </p:nvSpPr>
        <p:spPr>
          <a:xfrm>
            <a:off x="731520" y="2148840"/>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 إِلَى الَّذِينَ قِيلَ لَهُمْ كُفُّواْ أَيْدِيَكُمْ وَأَقِيمُواْ الصَّلَوٰةَ وَءَاتُواْ الزَّكَوٰةَ فَلَمَّا كُتِبَ عَلَيْهِمُ الْقِتَالُ إِذَا فَرِيقٌ مِّنْهُمْ يَخْشَوْنَ النَّاسَ كَخَشْيَةِ اللَّهِ أَوْ أَشَدَّ خَشْيَةً وَقَالُواْ رَبَّنَا لِمَ كَتَبْتَ عَلَيْنَا الْقِتَالَ لَوْلَآ أَخَّرْتَنَآ إِلَىٰ أَجَلٍ قَرِيبٍ قُلْ مَتَٰعُ الدُّنْيَا قَلِيلٌ وَالْأخِرَةُ خَيْرٌ لِّمَنِ اتَّقَىٰ وَلَا تُظْلَمُونَ فَتِيلًا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 إلى الذين قيل لهم بمكة: كفّوا أيديكم عن القتال وأقيموا الصلاة وآتوا الزكاة، فلما فُرض عليهم القتال بالمدينة خاف فريق منهم من الناس كخوفهم من الله أو أشد؟ قل: متاع الدنيا قليل، والآخرة خير لمن اتقى.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٧٨ – ٧٩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٧٨</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أَيْنَمَا تَكُونُواْ يُدْرِككُّمُ الْمَوْتُ وَلَوْ كُنتُمْ فِي بُرُوجٍ مُّشَيَّدَةٍ وَإِن تُصِبْهُمْ حَسَنَةٌ يَقُولُواْ هَٰذِهِ مِنْ عِندِ اللَّهِ وَإِن تُصِبْهُمْ سَيِّئَةٌ يَقُولُواْ هَٰذِهِ مِنْ عِندِكَ قُلْ كُلٌّ مِّنْ عِندِ اللَّهِ فَمَالِ هَـٰؤُلَآءِ الْقَوْمِ لَا يَكَادُونَ يَفْقَهُونَ حَدِيثًا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أينما تكونوا يدرككم الموت ولو كنتم في حصون عالية، وإن تصبهم نعمة يقولوا: هذه من عند الله، وإن تصبهم مصيبة يقولوا: هذه بسببك يا محمد، قل: كلٌّ من عند الله، فما لهؤلاء لا يكادون يفهمون؟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٧٩</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أَصَابَكَ مِنْ حَسَنَةٍ فَمِنَ اللَّهِ وَمَآ أَصَابَكَ مِن سَيِّئَةٍ فَمِن نَّفْسِكَ وَأَرْسَلْنَٰكَ لِلنَّاسِ رَسُولًا وَكَفَىٰ بِاللَّهِ شَهِيدًا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أصابك أيها الإنسان من نعمة فمن فضل الله، وما أصابك من مصيبة فبسبب ذنوبك، وأرسلناك يا محمد للناس رسولًا، وكفى بالله شهيدًا.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٨٠ – ٨٢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٨٠</a:t>
            </a:r>
            <a:endParaRPr lang="ar-SA" sz="16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يُطِعِ الرَّسُولَ فَقَدْ أَطَاعَ اللَّهَ وَمَن تَوَلَّىٰ فَمَآ أَرْسَلْنَٰكَ عَلَيْهِمْ حَفِيظًا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يطع الرسول فقد أطاع الله، ومن أعرض فما أرسلناك عليهم رقيبًا تحاسبهم.</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٨١</a:t>
            </a:r>
            <a:endParaRPr lang="ar-SA" sz="16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وَيَقُولُونَ طَاعَةٌ فَإِذَا بَرَزُواْ مِنْ عِندِكَ بَيَّتَ طَآئِفَةٌ مِّنْهُمْ غَيْرَ الَّذِي تَقُولُ وَاللَّهُ يَكْتُبُ مَا يُبَيِّتُونَ فَأَعْرِضْ عَنْهُمْ وَتَوَكَّلْ عَلَى اللَّهِ وَكَفَىٰ بِاللَّهِ وَكِيلًا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ويقول المنافقون: أمرك طاعة، فإذا خرجوا من عندك دبّرت طائفة منهم في الليل غير ما قالوا، والله يكتب ما يدبّرون، فأعرض عنهم، وتوكّل على الله، وكفى بالله وكيلًا.</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٨٢</a:t>
            </a:r>
            <a:endParaRPr lang="ar-SA" sz="16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أَفَلَا يَتَدَبَّرُونَ الْقُرْءَانَ وَلَوْ كَانَ مِنْ عِندِ غَيْرِ اللَّهِ لَوَجَدُواْ فِيهِ اخْتِلَٰفًا كَثِيرًا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أفلا يتأمّلون القرآن؟ ولو كان من عند غير الله لوجدوا فيه اختلافًا وتناقضًا كثيرًا.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٨٣ – ٨٤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٨٣</a:t>
            </a:r>
            <a:endParaRPr lang="ar-SA" sz="16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جَآءَهُمْ أَمْرٌ مِّنَ الْأَمْنِ أَوِ الْخَوْفِ أَذَاعُواْ بِهِ وَلَوْ رَدُّوهُ إِلَى الرَّسُولِ وَإِلَىٰ أُوْلِي الْأَمْرِ مِنْهُمْ لَعَلِمَهُ الَّذِينَ يَسْتَنبِطُونَهُ مِنْهُمْ وَلَوْلَا فَضْلُ اللَّهِ عَلَيْكُمْ وَرَحْمَتُهُ لَاتَّبَعْتُمُ الشَّيْطَٰنَ إِلَّا قَلِيلًا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جاءهم خبر فيه أمن أو خوف نشروه، ولو ردّوه إلى الرسول وأهل العلم والرأي لعلمه الذين يستخرجون حقيقته، ولولا فضل الله عليكم ورحمته لاتّبعتم الشيطان إلا قليلًا.</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٨٤</a:t>
            </a:r>
            <a:endParaRPr lang="ar-SA" sz="16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فَقَٰتِلْ فِي سَبِيلِ اللَّهِ لَا تُكَلَّفُ إِلَّا نَفْسَكَ وَحَرِّضِ الْمُؤْمِنِينَ عَسَى اللَّهُ أَن يَكُفَّ بَأْسَ الَّذِينَ كَفَرُواْ وَاللَّهُ أَشَدُّ بَأْسًا وَأَشَدُّ تَنكِيلًا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فقاتل في سبيل الله، لا تُكلَّف إلا نفسك، وحثّ المؤمنين على القتال، عسى الله أن يمنع قوة الكفار، والله أشد قوة وأشد عقابًا.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٨٥ – ٨٦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٨٥</a:t>
            </a:r>
            <a:endParaRPr lang="ar-SA" sz="16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يَشْفَعْ شَفَٰعَةً حَسَنَةً يَكُن لَّهُ نَصِيبٌ مِّنْهَا وَمَن يَشْفَعْ شَفَٰعَةً سَيِّئَةً يَكُن لَّهُ كِفْلٌ مِّنْهَا وَكَانَ اللَّهُ عَلَىٰ كُلِّ شَيْءٍ مُّقِيتًا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يتوسّط في أمر خير يكن له نصيب من ثوابه، ومن يتوسّط في أمر شر يكن له نصيب من إثمه، وكان الله على كل شيء مقتدرًا.</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٨٦</a:t>
            </a:r>
            <a:endParaRPr lang="ar-SA" sz="16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حُيِّيتُم بِتَحِيَّةٍ فَحَيُّواْ بِأَحْسَنَ مِنْهَآ أَوْ رُدُّوهَآ إِنَّ اللَّهَ كَانَ عَلَىٰ كُلِّ شَيْءٍ حَسِيبًا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ألقى عليكم أحد السلام فردّوا عليه بأحسن منه أو بمثله، إن الله كان على كل شيء حسيبًا.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٨٧ – ٨٨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٨٧</a:t>
            </a:r>
            <a:endParaRPr lang="ar-SA" sz="1600" dirty="0"/>
          </a:p>
        </p:txBody>
      </p:sp>
      <p:sp>
        <p:nvSpPr>
          <p:cNvPr id="8" name="Text 6"/>
          <p:cNvSpPr txBox="1"/>
          <p:nvPr/>
        </p:nvSpPr>
        <p:spPr>
          <a:xfrm>
            <a:off x="731520" y="17282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اللَّهُ لَآ إِلَٰهَ إِلَّا هُوَ لَيَجْمَعَنَّكُمْ إِلَىٰ يَوْمِ الْقِيَٰمَةِ لَا رَيْبَ فِيهِ وَمَنْ أَصْدَقُ مِنَ اللَّهِ حَدِيثًا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الله لا معبود بحق إلا هو، ليجمعنّكم يوم القيامة الذي لا شك فيه، ومن أصدق من الله حديثًا؟</a:t>
            </a:r>
            <a:endParaRPr lang="ar-SA" sz="3200" dirty="0"/>
          </a:p>
        </p:txBody>
      </p:sp>
      <p:sp>
        <p:nvSpPr>
          <p:cNvPr id="9" name="Shape 7"/>
          <p:cNvSpPr/>
          <p:nvPr/>
        </p:nvSpPr>
        <p:spPr>
          <a:xfrm>
            <a:off x="2103120" y="3497580"/>
            <a:ext cx="8641080" cy="0"/>
          </a:xfrm>
          <a:prstGeom prst="line">
            <a:avLst/>
          </a:prstGeom>
          <a:noFill/>
          <a:ln w="9525">
            <a:solidFill>
              <a:schemeClr val="accent2"/>
            </a:solidFill>
            <a:prstDash val="dash"/>
          </a:ln>
        </p:spPr>
      </p:sp>
      <p:sp>
        <p:nvSpPr>
          <p:cNvPr id="10" name="Shape 8"/>
          <p:cNvSpPr/>
          <p:nvPr/>
        </p:nvSpPr>
        <p:spPr>
          <a:xfrm>
            <a:off x="10927080" y="3758184"/>
            <a:ext cx="548640" cy="548640"/>
          </a:xfrm>
          <a:prstGeom prst="star8">
            <a:avLst/>
          </a:prstGeom>
          <a:solidFill>
            <a:schemeClr val="accent2"/>
          </a:solidFill>
          <a:ln/>
        </p:spPr>
      </p:sp>
      <p:sp>
        <p:nvSpPr>
          <p:cNvPr id="11" name="Shape 9"/>
          <p:cNvSpPr/>
          <p:nvPr/>
        </p:nvSpPr>
        <p:spPr>
          <a:xfrm>
            <a:off x="11036808" y="3867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758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٨٨</a:t>
            </a:r>
            <a:endParaRPr lang="ar-SA" sz="1600" dirty="0"/>
          </a:p>
        </p:txBody>
      </p:sp>
      <p:sp>
        <p:nvSpPr>
          <p:cNvPr id="13" name="Text 11"/>
          <p:cNvSpPr txBox="1"/>
          <p:nvPr/>
        </p:nvSpPr>
        <p:spPr>
          <a:xfrm>
            <a:off x="731520" y="373989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فَمَا لَكُمْ فِي الْمُنَٰفِقِينَ فِئَتَيْنِ وَاللَّهُ أَرْكَسَهُم بِمَا كَسَبُواْ أَتُرِيدُونَ أَن تَهْدُواْ مَنْ أَضَلَّ اللَّهُ وَمَن يُضْلِلِ اللَّهُ فَلَن تَجِدَ لَهُ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فما لكم أيها المؤمنون انقسمتم في شأن المنافقين فرقتين؟ والله ردّهم إلى الكفر بسبب أعمالهم، أتريدون أن تهدوا من أضلّه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٨٩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٨٩</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وَدُّواْ لَوْ تَكْفُرُونَ كَمَا كَفَرُواْ فَتَكُونُونَ سَوَآءً فَلَا تَتَّخِذُواْ مِنْهُمْ أَوْلِيَآءَ حَتَّىٰ يُهَاجِرُواْ فِي سَبِيلِ اللَّهِ فَإِن تَوَلَّوْاْ فَخُذُوهُمْ وَاقْتُلُوهُمْ حَيْثُ وَجَدتُّمُوهُمْ وَلَا تَتَّخِذُواْ مِنْهُمْ وَلِيًّا وَلَا نَصِيرًا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تمنّوا لو تكفرون كما كفروا فتكونون مثلهم، فلا تتخذوا منهم أصدقاء حتى يهاجروا في سبيل الله، فإن أعرضوا وحاربوكم فقاتلوهم.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٩٠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٩٠</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الَّذِينَ يَصِلُونَ إِلَىٰ قَوْمٍ بَيْنَكُمْ وَبَيْنَهُم مِّيثَٰقٌ أَوْ جَآءُوكُمْ حَصِرَتْ صُدُورُهُمْ أَن يُقَٰتِلُوكُمْ أَوْ يُقَٰتِلُواْ قَوْمَهُمْ وَلَوْ شَآءَ اللَّهُ لَسَلَّطَهُمْ عَلَيْكُمْ فَلَقَٰتَلُوكُمْ فَإِنِ اعْتَزَلُوكُمْ فَلَمْ يُقَٰتِلُوكُمْ وَأَلْقَوْاْ إِلَيْكُمُ السَّلَمَ فَمَا جَعَلَ اللَّهُ لَكُمْ عَلَيْهِمْ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الذين ينضمّون إلى قوم بينكم وبينهم عهد، أو جاؤوكم لا يريدون قتالكم ولا قتال قومهم، فإن اعتزلوكم وطلبوا السلم فما جعل الله لكم عليهم سبيلًا.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٩١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٩١</a:t>
            </a:r>
            <a:endParaRPr lang="ar-SA" sz="16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سَتَجِدُونَ ءَاخَرِينَ يُرِيدُونَ أَن يَأْمَنُوكُمْ وَيَأْمَنُواْ قَوْمَهُمْ كُلَّ مَا رُدُّواْ إِلَى الْفِتْنَةِ أُرْكِسُواْ فِيهَا فَإِن لَّمْ يَعْتَزِلُوكُمْ وَيُلْقُواْ إِلَيْكُمُ السَّلَمَ وَيَكُفُّواْ أَيْدِيَهُمْ فَخُذُوهُمْ وَاقْتُلُوهُمْ حَيْثُ ثَقِفْتُمُوهُمْ وَأُوْلَـٰئِكُمْ جَعَلْنَا لَكُمْ عَلَيْهِمْ سُلْطَٰنًا مُّبِينًا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وستجدون آخرين يُظهرون لكم الإسلام ليأمنوكم، ويُظهرون الكفر لقومهم ليأمنوهم، فإن لم يعتزلوكم ويكفّوا أيديهم فقاتلوهم، أولئك جعلنا لكم عليهم حجة واضحة.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٩٢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74520"/>
            <a:ext cx="548640" cy="548640"/>
          </a:xfrm>
          <a:prstGeom prst="star8">
            <a:avLst/>
          </a:prstGeom>
          <a:solidFill>
            <a:schemeClr val="accent2"/>
          </a:solidFill>
          <a:ln/>
        </p:spPr>
      </p:sp>
      <p:sp>
        <p:nvSpPr>
          <p:cNvPr id="6" name="Shape 4"/>
          <p:cNvSpPr/>
          <p:nvPr/>
        </p:nvSpPr>
        <p:spPr>
          <a:xfrm>
            <a:off x="11036808" y="198424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745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٩٢</a:t>
            </a:r>
            <a:endParaRPr lang="ar-SA" sz="1600" dirty="0"/>
          </a:p>
        </p:txBody>
      </p:sp>
      <p:sp>
        <p:nvSpPr>
          <p:cNvPr id="8" name="Text 6"/>
          <p:cNvSpPr txBox="1"/>
          <p:nvPr/>
        </p:nvSpPr>
        <p:spPr>
          <a:xfrm>
            <a:off x="731520" y="1856232"/>
            <a:ext cx="10012680" cy="364845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كَانَ لِمُؤْمِنٍ أَن يَقْتُلَ مُؤْمِنًا إِلَّا خَطَـًٔا وَمَن قَتَلَ مُؤْمِنًا خَطَـًٔا فَتَحْرِيرُ رَقَبَةٍ مُّؤْمِنَةٍ وَدِيَةٌ مُّسَلَّمَةٌ إِلَىٰ أَهْلِهِ إِلَّآ أَن يَصَّدَّقُواْ فَإِن كَانَ مِن قَوْمٍ عَدُوٍّ لَّكُمْ وَهُوَ مُؤْمِنٌ فَتَحْرِيرُ رَقَبَةٍ مُّؤْمِنَةٍ وَإِن كَانَ مِن قَوْمٍ بَيْنَكُمْ وَبَيْنَهُم مِّيثَٰقٌ فَدِيَةٌ مُّسَلَّمَةٌ إِلَىٰ أَهْلِهِ وَتَحْرِيرُ رَقَبَةٍ مُّؤْمِنَةٍ فَمَن لَّمْ يَجِدْ فَصِيَامُ شَهْرَيْنِ مُتَتَابِعَيْنِ تَوْبَةً مِّنَ اللَّهِ وَكَانَ اللَّهُ عَلِيمًا حَكِيمًا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ينبغي لمؤمن أن يقتل مؤمنًا إلا خطأً، ومن قتل مؤمنًا خطأً فعليه عتق رقبة مؤمنة، ودية تُعطى لأهله، فمن لم يجد فصيام شهرين متتابعين توبةً من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٩٣ – ٩٤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٩٣</a:t>
            </a:r>
            <a:endParaRPr lang="ar-SA" sz="1600" dirty="0"/>
          </a:p>
        </p:txBody>
      </p:sp>
      <p:sp>
        <p:nvSpPr>
          <p:cNvPr id="8" name="Text 6"/>
          <p:cNvSpPr txBox="1"/>
          <p:nvPr/>
        </p:nvSpPr>
        <p:spPr>
          <a:xfrm>
            <a:off x="731520" y="143789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يَقْتُلْ مُؤْمِنًا مُّتَعَمِّدًا فَجَزَآؤُهُ جَهَنَّمُ خَٰلِدًا فِيهَا وَغَضِبَ اللَّهُ عَلَيْهِ وَلَعَنَهُ وَأَعَدَّ لَهُ عَذَابًا عَظِيمًا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يقتل مؤمنًا متعمّدًا فجزاؤه جهنم خالدًا فيها، وغضب الله عليه ولعنه، وأعدّ له عذابًا عظيمًا.</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3290"/>
            <a:ext cx="548640" cy="548640"/>
          </a:xfrm>
          <a:prstGeom prst="star8">
            <a:avLst/>
          </a:prstGeom>
          <a:solidFill>
            <a:schemeClr val="accent2"/>
          </a:solidFill>
          <a:ln/>
        </p:spPr>
      </p:sp>
      <p:sp>
        <p:nvSpPr>
          <p:cNvPr id="11" name="Shape 9"/>
          <p:cNvSpPr/>
          <p:nvPr/>
        </p:nvSpPr>
        <p:spPr>
          <a:xfrm>
            <a:off x="11036808" y="3573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329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٩٤</a:t>
            </a:r>
            <a:endParaRPr lang="ar-SA" sz="1600" dirty="0"/>
          </a:p>
        </p:txBody>
      </p:sp>
      <p:sp>
        <p:nvSpPr>
          <p:cNvPr id="13" name="Text 11"/>
          <p:cNvSpPr txBox="1"/>
          <p:nvPr/>
        </p:nvSpPr>
        <p:spPr>
          <a:xfrm>
            <a:off x="731520" y="344500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إِذَا ضَرَبْتُمْ فِي سَبِيلِ اللَّهِ فَتَبَيَّنُواْ وَلَا تَقُولُواْ لِمَنْ أَلْقَىٰ إِلَيْكُمُ السَّلَٰمَ لَسْتَ مُؤْمِنًا تَبْتَغُونَ عَرَضَ الْحَيَوٰةِ الدُّنْيَا فَعِندَ اللَّهِ مَغَانِمُ كَثِيرَةٌ كَذَٰلِكَ كُنتُم مِّن قَبْلُ فَمَنَّ اللَّهُ عَلَيْكُمْ فَتَبَيَّنُواْ إِنَّ اللَّهَ كَانَ بِمَا تَعْمَلُونَ خَبِيرًا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إذا خرجتم للجهاد فتثبّتوا، ولا تقولوا لمن أظهر لكم الإسلام: لست مؤمنًا، تطلبون غنيمة الدنيا، فعند الله غنائم كثيرة، كذلك كنتم من قبل فمنّ الله عليكم فتثبّتوا.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٩٥ – ٩٦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٩٥</a:t>
            </a:r>
            <a:endParaRPr lang="ar-SA" sz="1600" dirty="0"/>
          </a:p>
        </p:txBody>
      </p:sp>
      <p:sp>
        <p:nvSpPr>
          <p:cNvPr id="8" name="Text 6"/>
          <p:cNvSpPr txBox="1"/>
          <p:nvPr/>
        </p:nvSpPr>
        <p:spPr>
          <a:xfrm>
            <a:off x="731520" y="1728216"/>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يَسْتَوِي الْقَٰعِدُونَ مِنَ الْمُؤْمِنِينَ غَيْرُ أُوْلِي الضَّرَرِ وَالْمُجَٰهِدُونَ فِي سَبِيلِ اللَّهِ بِأَمْوَٰلِهِمْ وَأَنفُسِهِمْ فَضَّلَ اللَّهُ الْمُجَٰهِدِينَ بِأَمْوَٰلِهِمْ وَأَنفُسِهِمْ عَلَى الْقَٰعِدِينَ دَرَجَةً وَكُلًّا وَعَدَ اللَّهُ الْحُسْنَىٰ وَفَضَّلَ اللَّهُ الْمُجَٰهِدِينَ عَلَى الْقَٰعِدِينَ أَجْرًا عَظِيمًا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يستوي القاعدون عن الجهاد من غير عذر والمجاهدون بأموالهم وأنفسهم، فضّل الله المجاهدين على القاعدين درجة، وكلًّا وعد الله الجنة.</a:t>
            </a:r>
            <a:endParaRPr lang="ar-SA" sz="3200" dirty="0"/>
          </a:p>
        </p:txBody>
      </p:sp>
      <p:sp>
        <p:nvSpPr>
          <p:cNvPr id="9" name="Shape 7"/>
          <p:cNvSpPr/>
          <p:nvPr/>
        </p:nvSpPr>
        <p:spPr>
          <a:xfrm>
            <a:off x="2103120" y="4421124"/>
            <a:ext cx="8641080" cy="0"/>
          </a:xfrm>
          <a:prstGeom prst="line">
            <a:avLst/>
          </a:prstGeom>
          <a:noFill/>
          <a:ln w="9525">
            <a:solidFill>
              <a:schemeClr val="accent2"/>
            </a:solidFill>
            <a:prstDash val="dash"/>
          </a:ln>
        </p:spPr>
      </p:sp>
      <p:sp>
        <p:nvSpPr>
          <p:cNvPr id="10" name="Shape 8"/>
          <p:cNvSpPr/>
          <p:nvPr/>
        </p:nvSpPr>
        <p:spPr>
          <a:xfrm>
            <a:off x="10927080" y="4681728"/>
            <a:ext cx="548640" cy="548640"/>
          </a:xfrm>
          <a:prstGeom prst="star8">
            <a:avLst/>
          </a:prstGeom>
          <a:solidFill>
            <a:schemeClr val="accent2"/>
          </a:solidFill>
          <a:ln/>
        </p:spPr>
      </p:sp>
      <p:sp>
        <p:nvSpPr>
          <p:cNvPr id="11" name="Shape 9"/>
          <p:cNvSpPr/>
          <p:nvPr/>
        </p:nvSpPr>
        <p:spPr>
          <a:xfrm>
            <a:off x="11036808" y="479145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6817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٩٦</a:t>
            </a:r>
            <a:endParaRPr lang="ar-SA" sz="1600" dirty="0"/>
          </a:p>
        </p:txBody>
      </p:sp>
      <p:sp>
        <p:nvSpPr>
          <p:cNvPr id="13" name="Text 11"/>
          <p:cNvSpPr txBox="1"/>
          <p:nvPr/>
        </p:nvSpPr>
        <p:spPr>
          <a:xfrm>
            <a:off x="731520" y="466344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دَرَجَٰتٍ مِّنْهُ وَمَغْفِرَةً وَرَحْمَةً وَكَانَ اللَّهُ غَفُورًا رَّحِيمًا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درجات منه، ومغفرة ورحمة، وكان الله غفورًا رحيمًا.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٩٧ – ٩٨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٩٧</a:t>
            </a:r>
            <a:endParaRPr lang="ar-SA" sz="16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تَوَفَّىٰهُمُ الْمَلَـٰئِكَةُ ظَالِمِي أَنفُسِهِمْ قَالُواْ فِيمَ كُنتُمْ قَالُواْ كُنَّا مُسْتَضْعَفِينَ فِي الْأَرْضِ قَالُواْ أَلَمْ تَكُنْ أَرْضُ اللَّهِ وَٰسِعَةً فَتُهَاجِرُواْ فِيهَا فَأُوْلَـٰئِكَ مَأْوَىٰهُمْ جَهَنَّمُ وَسَآءَتْ مَصِيرًا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قبضت الملائكة أرواحهم وهم ظالمون لأنفسهم بترك الهجرة، تقول لهم الملائكة: في أي شيء كنتم؟ قالوا: كنا مستضعفين، قالت: ألم تكن أرض الله واسعة فتهاجروا فيها؟ فأولئك مأواهم جهنم.</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٩٨</a:t>
            </a:r>
            <a:endParaRPr lang="ar-SA" sz="16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الْمُسْتَضْعَفِينَ مِنَ الرِّجَالِ وَالنِّسَآءِ وَالْوِلْدَٰنِ لَا يَسْتَطِيعُونَ حِيلَةً وَلَا يَهْتَدُونَ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المستضعفين حقًّا من الرجال والنساء والأطفال، الذين لا يستطيعون حيلة ولا يعرفون طريقًا.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٩٩ – ١٠٠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٩٩</a:t>
            </a:r>
            <a:endParaRPr lang="ar-SA" sz="16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فَأُوْلَـٰئِكَ عَسَى اللَّهُ أَن يَعْفُوَ عَنْهُمْ وَكَانَ اللَّهُ عَفُوًّا غَفُورًا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فأولئك يُرجى أن يعفو الله عنهم، وكان الله عفوًّا غفورًا.</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١٠٠</a:t>
            </a:r>
            <a:endParaRPr lang="ar-SA" sz="13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يُهَاجِرْ فِي سَبِيلِ اللَّهِ يَجِدْ فِي الْأَرْضِ مُرَٰغَمًا كَثِيرًا وَسَعَةً وَمَن يَخْرُجْ مِن بَيْتِهِ مُهَاجِرًا إِلَى اللَّهِ وَرَسُولِهِ ثُمَّ يُدْرِكْهُ الْمَوْتُ فَقَدْ وَقَعَ أَجْرُهُ عَلَى اللَّهِ وَكَانَ اللَّهُ غَفُورًا رَّحِيمًا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يهاجر في سبيل الله يجد في الأرض أماكن كثيرة وسعة في الرزق، ومن يخرج من بيته مهاجرًا ثم يدركه الموت فقد ثبت أجره على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١٠١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١٠١</a:t>
            </a:r>
            <a:endParaRPr lang="ar-SA" sz="13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ضَرَبْتُمْ فِي الْأَرْضِ فَلَيْسَ عَلَيْكُمْ جُنَاحٌ أَن تَقْصُرُواْ مِنَ الصَّلَوٰةِ إِنْ خِفْتُمْ أَن يَفْتِنَكُمُ الَّذِينَ كَفَرُواْ إِنَّ الْكَٰفِرِينَ كَانُواْ لَكُمْ عَدُوًّا مُّبِينًا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سافرتم فلا حرج عليكم أن تقصروا الصلاة الرباعية إن خفتم أذى الكفار، وقد جعل الله القصر رخصةً في كل سفر كما بيّنت السنة.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١٠٢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81912"/>
            <a:ext cx="548640" cy="548640"/>
          </a:xfrm>
          <a:prstGeom prst="star8">
            <a:avLst/>
          </a:prstGeom>
          <a:solidFill>
            <a:schemeClr val="accent2"/>
          </a:solidFill>
          <a:ln/>
        </p:spPr>
      </p:sp>
      <p:sp>
        <p:nvSpPr>
          <p:cNvPr id="6" name="Shape 4"/>
          <p:cNvSpPr/>
          <p:nvPr/>
        </p:nvSpPr>
        <p:spPr>
          <a:xfrm>
            <a:off x="11036808" y="16916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819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١٠٢</a:t>
            </a:r>
            <a:endParaRPr lang="ar-SA" sz="1300" dirty="0"/>
          </a:p>
        </p:txBody>
      </p:sp>
      <p:sp>
        <p:nvSpPr>
          <p:cNvPr id="8" name="Text 6"/>
          <p:cNvSpPr txBox="1"/>
          <p:nvPr/>
        </p:nvSpPr>
        <p:spPr>
          <a:xfrm>
            <a:off x="731520" y="1563624"/>
            <a:ext cx="10012680" cy="423367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كُنتَ فِيهِمْ فَأَقَمْتَ لَهُمُ الصَّلَوٰةَ فَلْتَقُمْ طَآئِفَةٌ مِّنْهُم مَّعَكَ وَلْيَأْخُذُواْ أَسْلِحَتَهُمْ فَإِذَا سَجَدُواْ فَلْيَكُونُواْ مِن وَرَآئِكُمْ وَلْتَأْتِ طَآئِفَةٌ أُخْرَىٰ لَمْ يُصَلُّواْ فَلْيُصَلُّواْ مَعَكَ وَلْيَأْخُذُواْ حِذْرَهُمْ وَأَسْلِحَتَهُمْ وَدَّ الَّذِينَ كَفَرُواْ لَوْ تَغْفُلُونَ عَنْ أَسْلِحَتِكُمْ وَأَمْتِعَتِكُمْ فَيَمِيلُونَ عَلَيْكُم مَّيْلَةً وَٰحِدَةً وَلَا جُنَاحَ عَلَيْكُمْ إِن كَانَ بِكُمْ أَذًى مِّن مَّطَرٍ أَوْ كُنتُم مَّرْضَىٰ أَن تَضَعُواْ أَسْلِحَتَكُمْ وَخُذُواْ حِذْرَكُمْ إِنَّ اللَّهَ أَعَدَّ لِلْكَٰفِرِينَ عَذَابًا مُّهِينًا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كنت فيهم في الحرب فأقمت لهم الصلاة، فلتصلِّ طائفة معك وهم حاملون أسلحتهم والأخرى تحرسهم، ثم تتبادلان، وهذه «صلاة الخوف».</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١٠٣ – ١٠٤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١٠٣</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قَضَيْتُمُ الصَّلَوٰةَ فَاذْكُرُواْ اللَّهَ قِيَٰمًا وَقُعُودًا وَعَلَىٰ جُنُوبِكُمْ فَإِذَا اطْمَأْنَنتُمْ فَأَقِيمُواْ الصَّلَوٰةَ إِنَّ الصَّلَوٰةَ كَانَتْ عَلَى الْمُؤْمِنِينَ كِتَٰبًا مَّوْقُوتًا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أنهيتم الصلاة فاذكروا الله قائمين وقاعدين ومضطجعين، فإذا اطمأننتم فأقيموا الصلاة تامة، إن الصلاة كانت على المؤمنين فريضة محدّدة الأوقات.</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١٠٤</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تَهِنُواْ فِي ابْتِغَآءِ الْقَوْمِ إِن تَكُونُواْ تَأْلَمُونَ فَإِنَّهُمْ يَأْلَمُونَ كَمَا تَأْلَمُونَ وَتَرْجُونَ مِنَ اللَّهِ مَا لَا يَرْجُونَ وَكَانَ اللَّهُ عَلِيمًا حَكِيمًا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تضعفوا في طلب عدوكم، إن تكونوا تتألّمون فإنهم يتألّمون كما تتألّمون، وترجون من الله الثواب ما لا يرجون.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الحكم بالعدل والتحذير من الشرك</a:t>
            </a:r>
            <a:endParaRPr lang="ar-SA" sz="2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٨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١٠٥ – ١٢٦</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النساء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ابن كثير أن رجلًا من الأنصار يُقال له طُعمة بن أُبيرق سرق درعًا، ثم رمى بها رجلًا بريئًا، وجاء قومه يدافعون عنه عند النبي صلى الله عليه وسلم، فأنزل الله: ﴿ولا تكن للخائنين خصيمًا﴾ (رواه الترمذي).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الأمر بالحكم بالعدل وعدم الدفاع عن الخائنين، والتحذير من اتهام البريء، وفضل الصدقة والإصلاح بين الناس، والتحذير من الشرك ووساوس الشيطان.</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١٠٥ – ١٠٧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١٠٥</a:t>
            </a:r>
            <a:endParaRPr lang="ar-SA" sz="1300" dirty="0"/>
          </a:p>
        </p:txBody>
      </p:sp>
      <p:sp>
        <p:nvSpPr>
          <p:cNvPr id="8" name="Text 6"/>
          <p:cNvSpPr txBox="1"/>
          <p:nvPr/>
        </p:nvSpPr>
        <p:spPr>
          <a:xfrm>
            <a:off x="731520" y="14767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أَنزَلْنَآ إِلَيْكَ الْكِتَٰبَ بِالْحَقِّ لِتَحْكُمَ بَيْنَ النَّاسِ بِمَآ أَرَىٰكَ اللَّهُ وَلَا تَكُن لِّلْخَآئِنِينَ خَصِيمًا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أنزلنا إليك القرآن بالحق لتحكم بين الناس بما علّمك الله، ولا تكن مدافعًا عن الخائنين.</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١٠٦</a:t>
            </a:r>
            <a:endParaRPr lang="ar-SA" sz="1300" dirty="0"/>
          </a:p>
        </p:txBody>
      </p:sp>
      <p:sp>
        <p:nvSpPr>
          <p:cNvPr id="13" name="Text 11"/>
          <p:cNvSpPr txBox="1"/>
          <p:nvPr/>
        </p:nvSpPr>
        <p:spPr>
          <a:xfrm>
            <a:off x="731520" y="348843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وَاسْتَغْفِرِ اللَّهَ إِنَّ اللَّهَ كَانَ غَفُورًا رَّحِيمًا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واستغفر الله، إن الله كان غفورًا رحيمًا.</a:t>
            </a:r>
            <a:endParaRPr lang="ar-SA" sz="3200" dirty="0"/>
          </a:p>
        </p:txBody>
      </p:sp>
      <p:sp>
        <p:nvSpPr>
          <p:cNvPr id="14" name="Shape 12"/>
          <p:cNvSpPr/>
          <p:nvPr/>
        </p:nvSpPr>
        <p:spPr>
          <a:xfrm>
            <a:off x="2103120" y="4672584"/>
            <a:ext cx="8641080" cy="0"/>
          </a:xfrm>
          <a:prstGeom prst="line">
            <a:avLst/>
          </a:prstGeom>
          <a:noFill/>
          <a:ln w="9525">
            <a:solidFill>
              <a:schemeClr val="accent2"/>
            </a:solidFill>
            <a:prstDash val="dash"/>
          </a:ln>
        </p:spPr>
      </p:sp>
      <p:sp>
        <p:nvSpPr>
          <p:cNvPr id="15" name="Shape 13"/>
          <p:cNvSpPr/>
          <p:nvPr/>
        </p:nvSpPr>
        <p:spPr>
          <a:xfrm>
            <a:off x="10927080" y="4933188"/>
            <a:ext cx="548640" cy="548640"/>
          </a:xfrm>
          <a:prstGeom prst="star8">
            <a:avLst/>
          </a:prstGeom>
          <a:solidFill>
            <a:schemeClr val="accent2"/>
          </a:solidFill>
          <a:ln/>
        </p:spPr>
      </p:sp>
      <p:sp>
        <p:nvSpPr>
          <p:cNvPr id="16" name="Shape 14"/>
          <p:cNvSpPr/>
          <p:nvPr/>
        </p:nvSpPr>
        <p:spPr>
          <a:xfrm>
            <a:off x="11036808" y="504291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9331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١٠٧</a:t>
            </a:r>
            <a:endParaRPr lang="ar-SA" sz="1300" dirty="0"/>
          </a:p>
        </p:txBody>
      </p:sp>
      <p:sp>
        <p:nvSpPr>
          <p:cNvPr id="18" name="Text 16"/>
          <p:cNvSpPr txBox="1"/>
          <p:nvPr/>
        </p:nvSpPr>
        <p:spPr>
          <a:xfrm>
            <a:off x="731520" y="491490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تُجَٰدِلْ عَنِ الَّذِينَ يَخْتَانُونَ أَنفُسَهُمْ إِنَّ اللَّهَ لَا يُحِبُّ مَن كَانَ خَوَّانًا أَثِيمًا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تدافع عن الذين يخونون أنفسهم، إن الله لا يحب الخوّان كثير الإثم.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١٠٨ – ١٠٩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١٠٨</a:t>
            </a:r>
            <a:endParaRPr lang="ar-SA" sz="13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يَسْتَخْفُونَ مِنَ النَّاسِ وَلَا يَسْتَخْفُونَ مِنَ اللَّهِ وَهُوَ مَعَهُمْ إِذْ يُبَيِّتُونَ مَا لَا يَرْضَىٰ مِنَ الْقَوْلِ وَكَانَ اللَّهُ بِمَا يَعْمَلُونَ مُحِيطًا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يستترون من الناس ولا يستترون من الله وهو معهم حين يدبّرون في الليل ما لا يرضاه من القول، وكان الله بما يعملون محيطًا.</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١٠٩</a:t>
            </a:r>
            <a:endParaRPr lang="ar-SA" sz="13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هَـٰأَنتُمْ هَـٰؤُلَآءِ جَٰدَلْتُمْ عَنْهُمْ فِي الْحَيَوٰةِ الدُّنْيَا فَمَن يُجَٰدِلُ اللَّهَ عَنْهُمْ يَوْمَ الْقِيَٰمَةِ أَم مَّن يَكُونُ عَلَيْهِمْ وَكِيلًا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ها أنتم دافعتم عنهم في الدنيا، فمن يدافع عنهم أمام الله يوم القيامة؟ أم من يكون وكيلًا عنهم؟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١١٠ – ١١٢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١١٠</a:t>
            </a:r>
            <a:endParaRPr lang="ar-SA" sz="13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يَعْمَلْ سُوءًا أَوْ يَظْلِمْ نَفْسَهُ ثُمَّ يَسْتَغْفِرِ اللَّهَ يَجِدِ اللَّهَ غَفُورًا رَّحِيمًا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يعمل سوءًا أو يظلم نفسه ثم يستغفر الله، يجد الله غفورًا رحيمًا.</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١١١</a:t>
            </a:r>
            <a:endParaRPr lang="ar-SA" sz="13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يَكْسِبْ إِثْمًا فَإِنَّمَا يَكْسِبُهُ عَلَىٰ نَفْسِهِ وَكَانَ اللَّهُ عَلِيمًا حَكِيمًا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يعمل ذنبًا فإنما يعود ضرره على نفسه، وكان الله عليمًا حكيمًا.</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١١٢</a:t>
            </a:r>
            <a:endParaRPr lang="ar-SA" sz="13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يَكْسِبْ خَطِيـَٔةً أَوْ إِثْمًا ثُمَّ يَرْمِ بِهِ بَرِيـًٔا فَقَدِ احْتَمَلَ بُهْتَٰنًا وَإِثْمًا مُّبِينًا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يعمل خطيئة أو ذنبًا ثم يتّهم به بريئًا، فقد تحمّل كذبًا وإثمًا واضحًا.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١١٣ – ١١٤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١١٣</a:t>
            </a:r>
            <a:endParaRPr lang="ar-SA" sz="13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وَلَوْلَا فَضْلُ اللَّهِ عَلَيْكَ وَرَحْمَتُهُ لَهَمَّت طَّآئِفَةٌ مِّنْهُمْ أَن يُضِلُّوكَ وَمَا يُضِلُّونَ إِلَّآ أَنفُسَهُمْ وَمَا يَضُرُّونَكَ مِن شَيْءٍ وَأَنزَلَ اللَّهُ عَلَيْكَ الْكِتَٰبَ وَالْحِكْمَةَ وَعَلَّمَكَ مَا لَمْ تَكُن تَعْلَمُ وَكَانَ فَضْلُ اللَّهِ عَلَيْكَ عَظِيمًا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ولولا فضل الله عليك ورحمته لأرادت طائفة منهم أن يُبعدوك عن الحكم بالحق، وأنزل الله عليك الكتاب والحكمة، وعلّمك ما لم تكن تعلم، وكان فضل الله عليك عظيمًا.</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١١٤</a:t>
            </a:r>
            <a:endParaRPr lang="ar-SA" sz="13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خَيْرَ فِي كَثِيرٍ مِّن نَّجْوَىٰهُمْ إِلَّا مَنْ أَمَرَ بِصَدَقَةٍ أَوْ مَعْرُوفٍ أَوْ إِصْلَٰحٍ بَيْنَ النَّاسِ وَمَن يَفْعَلْ ذَٰلِكَ ابْتِغَآءَ مَرْضَاتِ اللَّهِ فَسَوْفَ نُؤْتِيهِ أَجْرًا عَظِيمًا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خير في كثير من كلام الناس السرّي، إلا من أمر بصدقة، أو معروف، أو إصلاح بين الناس، ومن يفعل ذلك طلبًا لرضا الله فسوف نعطيه أجرًا عظيمًا.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١١٥ – ١١٦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١١٥</a:t>
            </a:r>
            <a:endParaRPr lang="ar-SA" sz="13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يُشَاقِقِ الرَّسُولَ مِن بَعْدِ مَا تَبَيَّنَ لَهُ الْهُدَىٰ وَيَتَّبِعْ غَيْرَ سَبِيلِ الْمُؤْمِنِينَ نُوَلِّهِ مَا تَوَلَّىٰ وَنُصْلِهِ جَهَنَّمَ وَسَآءَتْ مَصِيرًا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يخالف الرسول بعد ما ظهر له الحق، ويتّبع غير طريق المؤمنين، نتركه لما اختاره، ونُدخله جهنم، وساءت مصيرًا.</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١١٦</a:t>
            </a:r>
            <a:endParaRPr lang="ar-SA" sz="13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اللَّهَ لَا يَغْفِرُ أَن يُشْرَكَ بِهِ وَيَغْفِرُ مَا دُونَ ذَٰلِكَ لِمَن يَشَآءُ وَمَن يُشْرِكْ بِاللَّهِ فَقَدْ ضَلَّ ضَلَٰلًا بَعِيدًا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الله لا يغفر لمن مات مشركًا، ويغفر ما دون ذلك لمن يشاء، ومن يشرك بالله فقد ضلّ ضلالًا بعيدًا.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١١٧ – ١١٩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57884"/>
            <a:ext cx="548640" cy="548640"/>
          </a:xfrm>
          <a:prstGeom prst="star8">
            <a:avLst/>
          </a:prstGeom>
          <a:solidFill>
            <a:schemeClr val="accent2"/>
          </a:solidFill>
          <a:ln/>
        </p:spPr>
      </p:sp>
      <p:sp>
        <p:nvSpPr>
          <p:cNvPr id="6" name="Shape 4"/>
          <p:cNvSpPr/>
          <p:nvPr/>
        </p:nvSpPr>
        <p:spPr>
          <a:xfrm>
            <a:off x="11036808" y="146761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5788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١١٧</a:t>
            </a:r>
            <a:endParaRPr lang="ar-SA" sz="1300" dirty="0"/>
          </a:p>
        </p:txBody>
      </p:sp>
      <p:sp>
        <p:nvSpPr>
          <p:cNvPr id="8" name="Text 6"/>
          <p:cNvSpPr txBox="1"/>
          <p:nvPr/>
        </p:nvSpPr>
        <p:spPr>
          <a:xfrm>
            <a:off x="731520" y="1339596"/>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يَدْعُونَ مِن دُونِهِ إِلَّآ إِنَٰثًا وَإِن يَدْعُونَ إِلَّا شَيْطَٰنًا مَّرِيدًا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يعبد المشركون من دون الله إلا أصنامًا سمّوها بأسماء الإناث كاللات والعزّى، وما يعبدون في الحقيقة إلا شيطانًا متمرّدًا.</a:t>
            </a:r>
            <a:endParaRPr lang="ar-SA" sz="3200" dirty="0"/>
          </a:p>
        </p:txBody>
      </p:sp>
      <p:sp>
        <p:nvSpPr>
          <p:cNvPr id="9" name="Shape 7"/>
          <p:cNvSpPr/>
          <p:nvPr/>
        </p:nvSpPr>
        <p:spPr>
          <a:xfrm>
            <a:off x="2103120" y="2761488"/>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١١٨</a:t>
            </a:r>
            <a:endParaRPr lang="ar-SA" sz="13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لَّعَنَهُ اللَّهُ وَقَالَ لَأَتَّخِذَنَّ مِنْ عِبَادِكَ نَصِيبًا مَّفْرُوضًا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طرده الله من رحمته، وقال الشيطان: لأتخذنّ من عبادك نصيبًا معلومًا أُضلّهم.</a:t>
            </a:r>
            <a:endParaRPr lang="ar-SA" sz="3200" dirty="0"/>
          </a:p>
        </p:txBody>
      </p:sp>
      <p:sp>
        <p:nvSpPr>
          <p:cNvPr id="14" name="Shape 12"/>
          <p:cNvSpPr/>
          <p:nvPr/>
        </p:nvSpPr>
        <p:spPr>
          <a:xfrm>
            <a:off x="2103120" y="3986784"/>
            <a:ext cx="8641080" cy="0"/>
          </a:xfrm>
          <a:prstGeom prst="line">
            <a:avLst/>
          </a:prstGeom>
          <a:noFill/>
          <a:ln w="9525">
            <a:solidFill>
              <a:schemeClr val="accent2"/>
            </a:solidFill>
            <a:prstDash val="dash"/>
          </a:ln>
        </p:spPr>
      </p:sp>
      <p:sp>
        <p:nvSpPr>
          <p:cNvPr id="15" name="Shape 13"/>
          <p:cNvSpPr/>
          <p:nvPr/>
        </p:nvSpPr>
        <p:spPr>
          <a:xfrm>
            <a:off x="10927080" y="4146804"/>
            <a:ext cx="548640" cy="548640"/>
          </a:xfrm>
          <a:prstGeom prst="star8">
            <a:avLst/>
          </a:prstGeom>
          <a:solidFill>
            <a:schemeClr val="accent2"/>
          </a:solidFill>
          <a:ln/>
        </p:spPr>
      </p:sp>
      <p:sp>
        <p:nvSpPr>
          <p:cNvPr id="16" name="Shape 14"/>
          <p:cNvSpPr/>
          <p:nvPr/>
        </p:nvSpPr>
        <p:spPr>
          <a:xfrm>
            <a:off x="11036808" y="425653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1468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١١٩</a:t>
            </a:r>
            <a:endParaRPr lang="ar-SA" sz="1300" dirty="0"/>
          </a:p>
        </p:txBody>
      </p:sp>
      <p:sp>
        <p:nvSpPr>
          <p:cNvPr id="18" name="Text 16"/>
          <p:cNvSpPr txBox="1"/>
          <p:nvPr/>
        </p:nvSpPr>
        <p:spPr>
          <a:xfrm>
            <a:off x="731520" y="41285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وَلَأُضِلَّنَّهُمْ وَلَأُمَنِّيَنَّهُمْ وَلَأمُرَنَّهُمْ فَلَيُبَتِّكُنَّ ءَاذَانَ الْأَنْعَٰمِ وَلَأمُرَنَّهُمْ فَلَيُغَيِّرُنَّ خَلْقَ اللَّهِ وَمَن يَتَّخِذِ الشَّيْطَٰنَ وَلِيًّا مِّن دُونِ اللَّهِ فَقَدْ خَسِرَ خُسْرَانًا مُّبِينًا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ولأُضلّنهم، ولأُمنّينّهم بالأماني الكاذبة، ولآمرنّهم بتغيير خلق الله، ومن يتخذ الشيطان وليًّا من دون الله فقد خسر خسرانًا واضحًا.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١٢٠ – ١٢٢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١٢٠</a:t>
            </a:r>
            <a:endParaRPr lang="ar-SA" sz="13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يَعِدُهُمْ وَيُمَنِّيهِمْ وَمَا يَعِدُهُمُ الشَّيْطَٰنُ إِلَّا غُرُورًا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يعدهم الشيطان ويمنّيهم، وما يعدهم إلا خداعًا وباطلًا.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١٢١</a:t>
            </a:r>
            <a:endParaRPr lang="ar-SA" sz="13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مَأْوَىٰهُمْ جَهَنَّمُ وَلَا يَجِدُونَ عَنْهَا مَحِيصًا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مسكنهم جهنم، ولا يجدون منها مهربًا.</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١٢٢</a:t>
            </a:r>
            <a:endParaRPr lang="ar-SA" sz="13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ءَامَنُواْ وَعَمِلُواْ الصَّـٰلِحَٰتِ سَنُدْخِلُهُمْ جَنَّـٰتٍ تَجْرِي مِن تَحْتِهَا الْأَنْهَٰرُ خَٰلِدِينَ فِيهَآ أَبَدًا وَعْدَ اللَّهِ حَقًّا وَمَنْ أَصْدَقُ مِنَ اللَّهِ قِيلًا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آمنوا وعملوا الصالحات سنُدخلهم جنات تجري من تحتها الأنهار خالدين فيها أبدًا، وعدًا حقًّا، ومن أصدق من الله قولًا؟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١٢٣ – ١٢٤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١٢٣</a:t>
            </a:r>
            <a:endParaRPr lang="ar-SA" sz="13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لَّيْسَ بِأَمَانِيِّكُمْ وَلَآ أَمَانِيِّ أَهْلِ الْكِتَٰبِ مَن يَعْمَلْ سُوءًا يُجْزَ بِهِ وَلَا يَجِدْ لَهُ مِن دُونِ اللَّهِ وَلِيًّا وَلَا نَصِيرًا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ليس دخول الجنة بأمانيكم ولا بأماني أهل الكتاب، بل من يعمل سوءًا يُجزَ به، ولا يجد له من دون الله وليًّا ولا نصيرًا.</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١٢٤</a:t>
            </a:r>
            <a:endParaRPr lang="ar-SA" sz="13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يَعْمَلْ مِنَ الصَّـٰلِحَٰتِ مِن ذَكَرٍ أَوْ أُنثَىٰ وَهُوَ مُؤْمِنٌ فَأُوْلَـٰئِكَ يَدْخُلُونَ الْجَنَّةَ وَلَا يُظْلَمُونَ نَقِيرًا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يعمل من الصالحات ذكرًا كان أو أنثى وهو مؤمن، فأولئك يدخلون الجنة، ولا يُظلمون شيئًا ولو قليلًا.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١٢٥ – ١٢٦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١٢٥</a:t>
            </a:r>
            <a:endParaRPr lang="ar-SA" sz="1300" dirty="0"/>
          </a:p>
        </p:txBody>
      </p:sp>
      <p:sp>
        <p:nvSpPr>
          <p:cNvPr id="8" name="Text 6"/>
          <p:cNvSpPr txBox="1"/>
          <p:nvPr/>
        </p:nvSpPr>
        <p:spPr>
          <a:xfrm>
            <a:off x="731520" y="2020824"/>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أَحْسَنُ دِينًا مِّمَّنْ أَسْلَمَ وَجْهَهُ لِلَّهِ وَهُوَ مُحْسِنٌ وَاتَّبَعَ مِلَّةَ إِبْرَٰهِيمَ حَنِيفًا وَاتَّخَذَ اللَّهُ إِبْرَٰهِيمَ خَلِيلًا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أحد أحسن دينًا ممن أخلص لله وهو محسن، واتّبع دين إبراهيم المائل إلى التوحيد، واتخذ الله إبراهيم خليلًا، أي حبيبًا مقرّبًا.</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9120"/>
            <a:ext cx="548640" cy="548640"/>
          </a:xfrm>
          <a:prstGeom prst="star8">
            <a:avLst/>
          </a:prstGeom>
          <a:solidFill>
            <a:schemeClr val="accent2"/>
          </a:solidFill>
          <a:ln/>
        </p:spPr>
      </p:sp>
      <p:sp>
        <p:nvSpPr>
          <p:cNvPr id="11" name="Shape 9"/>
          <p:cNvSpPr/>
          <p:nvPr/>
        </p:nvSpPr>
        <p:spPr>
          <a:xfrm>
            <a:off x="11036808" y="44988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912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١٢٦</a:t>
            </a:r>
            <a:endParaRPr lang="ar-SA" sz="1300" dirty="0"/>
          </a:p>
        </p:txBody>
      </p:sp>
      <p:sp>
        <p:nvSpPr>
          <p:cNvPr id="13" name="Text 11"/>
          <p:cNvSpPr txBox="1"/>
          <p:nvPr/>
        </p:nvSpPr>
        <p:spPr>
          <a:xfrm>
            <a:off x="731520" y="437083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وَلِلَّهِ مَا فِي السَّمَٰوَٰتِ وَمَا فِي الْأَرْضِ وَكَانَ اللَّهُ بِكُلِّ شَيْءٍ مُّحِيطًا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ولله ما في السماوات وما في الأرض، وكان الله بكل شيء محيطًا.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العدل مع النساء وصفات المنافقين</a:t>
            </a:r>
            <a:endParaRPr lang="ar-SA" sz="2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٩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١٢٧ – ١٥٢</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النساء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خشيت أم المؤمنين سودة بنت زمعة رضي الله عنها لما كبرت أن يفارقها النبي صلى الله عليه وسلم، فوهبت يومها لعائشة، فنزلت: ﴿وإن امرأة خافت من بعلها نشوزًا أو إعراضًا فلا جناح عليهما أن يصلحا بينهما صلحًا﴾ (رواه أبو داود والترمذي).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العدل مع النساء واليتامى، والصلح بين الزوجين، والقيام بالشهادة بالعدل ولو على النفس، وكشف صفات المنافقين ومصيرهم.</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167128"/>
            <a:ext cx="548640" cy="548640"/>
          </a:xfrm>
          <a:prstGeom prst="star8">
            <a:avLst/>
          </a:prstGeom>
          <a:solidFill>
            <a:schemeClr val="accent2"/>
          </a:solidFill>
          <a:ln/>
        </p:spPr>
      </p:sp>
      <p:sp>
        <p:nvSpPr>
          <p:cNvPr id="6" name="Shape 4"/>
          <p:cNvSpPr/>
          <p:nvPr/>
        </p:nvSpPr>
        <p:spPr>
          <a:xfrm>
            <a:off x="11036808" y="227685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16712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١٢٧</a:t>
            </a:r>
            <a:endParaRPr lang="ar-SA" sz="1300" dirty="0"/>
          </a:p>
        </p:txBody>
      </p:sp>
      <p:sp>
        <p:nvSpPr>
          <p:cNvPr id="8" name="Text 6"/>
          <p:cNvSpPr txBox="1"/>
          <p:nvPr/>
        </p:nvSpPr>
        <p:spPr>
          <a:xfrm>
            <a:off x="731520" y="2148840"/>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وَيَسْتَفْتُونَكَ فِي النِّسَآءِ قُلِ اللَّهُ يُفْتِيكُمْ فِيهِنَّ وَمَا يُتْلَىٰ عَلَيْكُمْ فِي الْكِتَٰبِ فِي يَتَٰمَى النِّسَآءِ الَّـٰتِي لَا تُؤْتُونَهُنَّ مَا كُتِبَ لَهُنَّ وَتَرْغَبُونَ أَن تَنكِحُوهُنَّ وَالْمُسْتَضْعَفِينَ مِنَ الْوِلْدَٰنِ وَأَن تَقُومُواْ لِلْيَتَٰمَىٰ بِالْقِسْطِ وَمَا تَفْعَلُواْ مِنْ خَيْرٍ فَإِنَّ اللَّهَ كَانَ بِهِ عَلِيمًا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ويسألونك عن أحكام النساء، قل: الله يبيّن لكم أحكامهن، وما يُقرأ عليكم في القرآن في شأن اليتيمات اللاتي لا تعطونهن حقوقهن، والمستضعفين من الأطفال، وأن تقوموا لليتامى بالعدل.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١٢٨ – ١٢٩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١٢٨</a:t>
            </a:r>
            <a:endParaRPr lang="ar-SA" sz="13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امْرَأَةٌ خَافَتْ مِن بَعْلِهَا نُشُوزًا أَوْ إِعْرَاضًا فَلَا جُنَاحَ عَلَيْهِمَآ أَن يُصْلِحَا بَيْنَهُمَا صُلْحًا وَالصُّلْحُ خَيْرٌ وَأُحْضِرَتِ الْأَنفُسُ الشُّحَّ وَإِن تُحْسِنُواْ وَتَتَّقُواْ فَإِنَّ اللَّهَ كَانَ بِمَا تَعْمَلُونَ خَبِيرًا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امرأة خافت من زوجها نفورًا أو إعراضًا فلا حرج عليهما أن يتصالحا بأن تتنازل عن بعض حقها، والصلح خير، وإن تُحسنوا وتتقوا فإن الله خبير بما تعملون.</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١٢٩</a:t>
            </a:r>
            <a:endParaRPr lang="ar-SA" sz="13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وَلَن تَسْتَطِيعُواْ أَن تَعْدِلُواْ بَيْنَ النِّسَآءِ وَلَوْ حَرَصْتُمْ فَلَا تَمِيلُواْ كُلَّ الْمَيْلِ فَتَذَرُوهَا كَالْمُعَلَّقَةِ وَإِن تُصْلِحُواْ وَتَتَّقُواْ فَإِنَّ اللَّهَ كَانَ غَفُورًا رَّحِيمًا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ولن تستطيعوا العدل الكامل بين الزوجات في المحبة ولو حرصتم، فلا تميلوا كل الميل إلى واحدة فتتركوا الأخرى كالمعلّقة، لا هي متزوجة ولا مطلّقة.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١٣٠ – ١٣١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١٣٠</a:t>
            </a:r>
            <a:endParaRPr lang="ar-SA" sz="13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يَتَفَرَّقَا يُغْنِ اللَّهُ كُلًّا مِّن سَعَتِهِ وَكَانَ اللَّهُ وَٰسِعًا حَكِيمًا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يفترقا يُغنِ الله كلًّا منهما من فضله، وكان الله واسعًا حكيمًا.</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١٣١</a:t>
            </a:r>
            <a:endParaRPr lang="ar-SA" sz="13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وَلِلَّهِ مَا فِي السَّمَٰوَٰتِ وَمَا فِي الْأَرْضِ وَلَقَدْ وَصَّيْنَا الَّذِينَ أُوتُواْ الْكِتَٰبَ مِن قَبْلِكُمْ وَإِيَّاكُمْ أَنِ اتَّقُواْ اللَّهَ وَإِن تَكْفُرُواْ فَإِنَّ لِلَّهِ مَا فِي السَّمَٰوَٰتِ وَمَا فِي الْأَرْضِ وَكَانَ اللَّهُ غَنِيًّا حَمِيدًا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ولله ما في السماوات والأرض، ولقد أوصينا الذين أُعطوا الكتاب من قبلكم وأوصيناكم أن اتقوا الله، وإن تكفروا فإن لله ما في السماوات والأرض، وكان الله غنيًّا حميدًا.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١٣٢ – ١٣٤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95044"/>
            <a:ext cx="548640" cy="548640"/>
          </a:xfrm>
          <a:prstGeom prst="star8">
            <a:avLst/>
          </a:prstGeom>
          <a:solidFill>
            <a:schemeClr val="accent2"/>
          </a:solidFill>
          <a:ln/>
        </p:spPr>
      </p:sp>
      <p:sp>
        <p:nvSpPr>
          <p:cNvPr id="6" name="Shape 4"/>
          <p:cNvSpPr/>
          <p:nvPr/>
        </p:nvSpPr>
        <p:spPr>
          <a:xfrm>
            <a:off x="11036808" y="16047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950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١٣٢</a:t>
            </a:r>
            <a:endParaRPr lang="ar-SA" sz="1300" dirty="0"/>
          </a:p>
        </p:txBody>
      </p:sp>
      <p:sp>
        <p:nvSpPr>
          <p:cNvPr id="8" name="Text 6"/>
          <p:cNvSpPr txBox="1"/>
          <p:nvPr/>
        </p:nvSpPr>
        <p:spPr>
          <a:xfrm>
            <a:off x="731520" y="14767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وَلِلَّهِ مَا فِي السَّمَٰوَٰتِ وَمَا فِي الْأَرْضِ وَكَفَىٰ بِاللَّهِ وَكِيلًا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ولله ما في السماوات والأرض، وكفى بالله وكيلًا.</a:t>
            </a:r>
            <a:endParaRPr lang="ar-SA" sz="3200" dirty="0"/>
          </a:p>
        </p:txBody>
      </p:sp>
      <p:sp>
        <p:nvSpPr>
          <p:cNvPr id="9" name="Shape 7"/>
          <p:cNvSpPr/>
          <p:nvPr/>
        </p:nvSpPr>
        <p:spPr>
          <a:xfrm>
            <a:off x="2103120" y="2660904"/>
            <a:ext cx="8641080" cy="0"/>
          </a:xfrm>
          <a:prstGeom prst="line">
            <a:avLst/>
          </a:prstGeom>
          <a:noFill/>
          <a:ln w="9525">
            <a:solidFill>
              <a:schemeClr val="accent2"/>
            </a:solidFill>
            <a:prstDash val="dash"/>
          </a:ln>
        </p:spPr>
      </p:sp>
      <p:sp>
        <p:nvSpPr>
          <p:cNvPr id="10" name="Shape 8"/>
          <p:cNvSpPr/>
          <p:nvPr/>
        </p:nvSpPr>
        <p:spPr>
          <a:xfrm>
            <a:off x="10927080" y="2921508"/>
            <a:ext cx="548640" cy="548640"/>
          </a:xfrm>
          <a:prstGeom prst="star8">
            <a:avLst/>
          </a:prstGeom>
          <a:solidFill>
            <a:schemeClr val="accent2"/>
          </a:solidFill>
          <a:ln/>
        </p:spPr>
      </p:sp>
      <p:sp>
        <p:nvSpPr>
          <p:cNvPr id="11" name="Shape 9"/>
          <p:cNvSpPr/>
          <p:nvPr/>
        </p:nvSpPr>
        <p:spPr>
          <a:xfrm>
            <a:off x="11036808" y="303123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2150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١٣٣</a:t>
            </a:r>
            <a:endParaRPr lang="ar-SA" sz="1300" dirty="0"/>
          </a:p>
        </p:txBody>
      </p:sp>
      <p:sp>
        <p:nvSpPr>
          <p:cNvPr id="13" name="Text 11"/>
          <p:cNvSpPr txBox="1"/>
          <p:nvPr/>
        </p:nvSpPr>
        <p:spPr>
          <a:xfrm>
            <a:off x="731520" y="2903220"/>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يَشَأْ يُذْهِبْكُمْ أَيُّهَا النَّاسُ وَيَأْتِ بِـَٔاخَرِينَ وَكَانَ اللَّهُ عَلَىٰ ذَٰلِكَ قَدِيرًا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يشأ يُهلككم أيها الناس ويأتِ بآخرين، وكان الله على ذلك قديرًا.</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١٣٤</a:t>
            </a:r>
            <a:endParaRPr lang="ar-SA" sz="1300" dirty="0"/>
          </a:p>
        </p:txBody>
      </p:sp>
      <p:sp>
        <p:nvSpPr>
          <p:cNvPr id="18" name="Text 16"/>
          <p:cNvSpPr txBox="1"/>
          <p:nvPr/>
        </p:nvSpPr>
        <p:spPr>
          <a:xfrm>
            <a:off x="731520" y="432968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كَانَ يُرِيدُ ثَوَابَ الدُّنْيَا فَعِندَ اللَّهِ ثَوَابُ الدُّنْيَا وَالْأخِرَةِ وَكَانَ اللَّهُ سَمِيعًا بَصِيرًا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كان يريد ثواب الدنيا فعند الله ثواب الدنيا والآخرة، وكان الله سميعًا بصيرًا.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١٣٥</a:t>
            </a:r>
            <a:endParaRPr lang="ar-SA" sz="13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كُونُواْ قَوَّـٰمِينَ بِالْقِسْطِ شُهَدَآءَ لِلَّهِ وَلَوْ عَلَىٰ أَنفُسِكُمْ أَوِ الْوَٰلِدَيْنِ وَالْأَقْرَبِينَ إِن يَكُنْ غَنِيًّا أَوْ فَقِيرًا فَاللَّهُ أَوْلَىٰ بِهِمَا فَلَا تَتَّبِعُواْ الْهَوَىٰ أَن تَعْدِلُواْ وَإِن تَلْوُاْ أَوْ تُعْرِضُواْ فَإِنَّ اللَّهَ كَانَ بِمَا تَعْمَلُونَ خَبِيرًا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كونوا قائمين بالعدل، شاهدين لله بالحق ولو على أنفسكم أو الوالدين والأقارب، غنيًّا كان أو فقيرًا، فلا تتّبعوا الهوى، وإن تحرّفوا الشهادة أو تُعرضوا فإن الله خبير بما تعملون.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١٣٦ – ١٣٧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١٣٦</a:t>
            </a:r>
            <a:endParaRPr lang="ar-SA" sz="13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ءَامِنُواْ بِاللَّهِ وَرَسُولِهِ وَالْكِتَٰبِ الَّذِي نَزَّلَ عَلَىٰ رَسُولِهِ وَالْكِتَٰبِ الَّذِي أَنزَلَ مِن قَبْلُ وَمَن يَكْفُرْ بِاللَّهِ وَمَلَـٰئِكَتِهِ وَكُتُبِهِ وَرُسُلِهِ وَالْيَوْمِ الْأخِرِ فَقَدْ ضَلَّ ضَلَٰلًا بَعِيدًا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اثبتوا على الإيمان بالله ورسوله والقرآن والكتب السابقة، ومن يكفر بالله وملائكته وكتبه ورسله واليوم الآخر فقد ضلّ ضلالًا بعيدًا.</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١٣٧</a:t>
            </a:r>
            <a:endParaRPr lang="ar-SA" sz="13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ءَامَنُواْ ثُمَّ كَفَرُواْ ثُمَّ ءَامَنُواْ ثُمَّ كَفَرُواْ ثُمَّ ازْدَادُواْ كُفْرًا لَّمْ يَكُنِ اللَّهُ لِيَغْفِرَ لَهُمْ وَلَا لِيَهْدِيَهُمْ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آمنوا ثم كفروا ثم آمنوا ثم كفروا ثم استمرّوا على الكفر حتى الموت، لم يكن الله ليغفر لهم ولا ليهديهم طريقًا.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١٣٨ – ١٣٩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08276"/>
            <a:ext cx="548640" cy="548640"/>
          </a:xfrm>
          <a:prstGeom prst="star8">
            <a:avLst/>
          </a:prstGeom>
          <a:solidFill>
            <a:schemeClr val="accent2"/>
          </a:solidFill>
          <a:ln/>
        </p:spPr>
      </p:sp>
      <p:sp>
        <p:nvSpPr>
          <p:cNvPr id="6" name="Shape 4"/>
          <p:cNvSpPr/>
          <p:nvPr/>
        </p:nvSpPr>
        <p:spPr>
          <a:xfrm>
            <a:off x="11036808" y="23180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082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١٣٨</a:t>
            </a:r>
            <a:endParaRPr lang="ar-SA" sz="1300" dirty="0"/>
          </a:p>
        </p:txBody>
      </p:sp>
      <p:sp>
        <p:nvSpPr>
          <p:cNvPr id="8" name="Text 6"/>
          <p:cNvSpPr txBox="1"/>
          <p:nvPr/>
        </p:nvSpPr>
        <p:spPr>
          <a:xfrm>
            <a:off x="731520" y="218998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بَشِّرِ الْمُنَٰفِقِينَ بِأَنَّ لَهُمْ عَذَابًا أَلِيمًا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بشّر المنافقين بأن لهم عذابًا مؤلمًا.</a:t>
            </a:r>
            <a:endParaRPr lang="ar-SA" sz="3200" dirty="0"/>
          </a:p>
        </p:txBody>
      </p:sp>
      <p:sp>
        <p:nvSpPr>
          <p:cNvPr id="9" name="Shape 7"/>
          <p:cNvSpPr/>
          <p:nvPr/>
        </p:nvSpPr>
        <p:spPr>
          <a:xfrm>
            <a:off x="2103120" y="3374136"/>
            <a:ext cx="8641080" cy="0"/>
          </a:xfrm>
          <a:prstGeom prst="line">
            <a:avLst/>
          </a:prstGeom>
          <a:noFill/>
          <a:ln w="9525">
            <a:solidFill>
              <a:schemeClr val="accent2"/>
            </a:solidFill>
            <a:prstDash val="dash"/>
          </a:ln>
        </p:spPr>
      </p:sp>
      <p:sp>
        <p:nvSpPr>
          <p:cNvPr id="10" name="Shape 8"/>
          <p:cNvSpPr/>
          <p:nvPr/>
        </p:nvSpPr>
        <p:spPr>
          <a:xfrm>
            <a:off x="10927080" y="3634740"/>
            <a:ext cx="548640" cy="548640"/>
          </a:xfrm>
          <a:prstGeom prst="star8">
            <a:avLst/>
          </a:prstGeom>
          <a:solidFill>
            <a:schemeClr val="accent2"/>
          </a:solidFill>
          <a:ln/>
        </p:spPr>
      </p:sp>
      <p:sp>
        <p:nvSpPr>
          <p:cNvPr id="11" name="Shape 9"/>
          <p:cNvSpPr/>
          <p:nvPr/>
        </p:nvSpPr>
        <p:spPr>
          <a:xfrm>
            <a:off x="11036808" y="37444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347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١٣٩</a:t>
            </a:r>
            <a:endParaRPr lang="ar-SA" sz="1300" dirty="0"/>
          </a:p>
        </p:txBody>
      </p:sp>
      <p:sp>
        <p:nvSpPr>
          <p:cNvPr id="13" name="Text 11"/>
          <p:cNvSpPr txBox="1"/>
          <p:nvPr/>
        </p:nvSpPr>
        <p:spPr>
          <a:xfrm>
            <a:off x="731520" y="3616452"/>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يَتَّخِذُونَ الْكَٰفِرِينَ أَوْلِيَآءَ مِن دُونِ الْمُؤْمِنِينَ أَيَبْتَغُونَ عِندَهُمُ الْعِزَّةَ فَإِنَّ الْعِزَّةَ لِلَّهِ جَمِيعًا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يتخذون الكافرين أنصارًا من دون المؤمنين، أيطلبون عندهم القوة والعزة؟ فإن العزة لله جميعًا.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١٤٠</a:t>
            </a:r>
            <a:endParaRPr lang="ar-SA" sz="13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وَقَدْ نَزَّلَ عَلَيْكُمْ فِي الْكِتَٰبِ أَنْ إِذَا سَمِعْتُمْ ءَايَٰتِ اللَّهِ يُكْفَرُ بِهَا وَيُسْتَهْزَأُ بِهَا فَلَا تَقْعُدُواْ مَعَهُمْ حَتَّىٰ يَخُوضُواْ فِي حَدِيثٍ غَيْرِهِ إِنَّكُمْ إِذًا مِّثْلُهُمْ إِنَّ اللَّهَ جَامِعُ الْمُنَٰفِقِينَ وَالْكَٰفِرِينَ فِي جَهَنَّمَ جَمِيعًا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وقد نزّل عليكم في القرآن: إذا سمعتم آيات الله يُكفر بها ويُستهزأ بها فلا تجلسوا معهم حتى يتكلموا في حديث غيره، إنكم إذًا مثلهم، إن الله جامع المنافقين والكافرين في جهنم جميعًا.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١٤١ – ١٤٢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71600"/>
            <a:ext cx="548640" cy="548640"/>
          </a:xfrm>
          <a:prstGeom prst="star8">
            <a:avLst/>
          </a:prstGeom>
          <a:solidFill>
            <a:schemeClr val="accent2"/>
          </a:solidFill>
          <a:ln/>
        </p:spPr>
      </p:sp>
      <p:sp>
        <p:nvSpPr>
          <p:cNvPr id="6" name="Shape 4"/>
          <p:cNvSpPr/>
          <p:nvPr/>
        </p:nvSpPr>
        <p:spPr>
          <a:xfrm>
            <a:off x="11036808" y="148132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7160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١٤١</a:t>
            </a:r>
            <a:endParaRPr lang="ar-SA" sz="1300" dirty="0"/>
          </a:p>
        </p:txBody>
      </p:sp>
      <p:sp>
        <p:nvSpPr>
          <p:cNvPr id="8" name="Text 6"/>
          <p:cNvSpPr txBox="1"/>
          <p:nvPr/>
        </p:nvSpPr>
        <p:spPr>
          <a:xfrm>
            <a:off x="731520" y="135331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يَتَرَبَّصُونَ بِكُمْ فَإِن كَانَ لَكُمْ فَتْحٌ مِّنَ اللَّهِ قَالُواْ أَلَمْ نَكُن مَّعَكُمْ وَإِن كَانَ لِلْكَٰفِرِينَ نَصِيبٌ قَالُواْ أَلَمْ نَسْتَحْوِذْ عَلَيْكُمْ وَنَمْنَعْكُم مِّنَ الْمُؤْمِنِينَ فَاللَّهُ يَحْكُمُ بَيْنَكُمْ يَوْمَ الْقِيَٰمَةِ وَلَن يَجْعَلَ اللَّهُ لِلْكَٰفِرِينَ عَلَى الْمُؤْمِنِينَ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ينتظرون بكم المصائب، فإن كان لكم نصر قالوا: ألم نكن معكم؟ وإن كان للكافرين نصيب قالوا لهم: ألم نُعِنكم؟ فالله يحكم بينكم يوم القيامة، ولن يجعل الله للكافرين على المؤمنين سبيلًا.</a:t>
            </a:r>
            <a:endParaRPr lang="ar-SA" sz="3200" dirty="0"/>
          </a:p>
        </p:txBody>
      </p:sp>
      <p:sp>
        <p:nvSpPr>
          <p:cNvPr id="9" name="Shape 7"/>
          <p:cNvSpPr/>
          <p:nvPr/>
        </p:nvSpPr>
        <p:spPr>
          <a:xfrm>
            <a:off x="2103120" y="3959352"/>
            <a:ext cx="8641080" cy="0"/>
          </a:xfrm>
          <a:prstGeom prst="line">
            <a:avLst/>
          </a:prstGeom>
          <a:noFill/>
          <a:ln w="9525">
            <a:solidFill>
              <a:schemeClr val="accent2"/>
            </a:solidFill>
            <a:prstDash val="dash"/>
          </a:ln>
        </p:spPr>
      </p:sp>
      <p:sp>
        <p:nvSpPr>
          <p:cNvPr id="10" name="Shape 8"/>
          <p:cNvSpPr/>
          <p:nvPr/>
        </p:nvSpPr>
        <p:spPr>
          <a:xfrm>
            <a:off x="10927080" y="4133088"/>
            <a:ext cx="548640" cy="548640"/>
          </a:xfrm>
          <a:prstGeom prst="star8">
            <a:avLst/>
          </a:prstGeom>
          <a:solidFill>
            <a:schemeClr val="accent2"/>
          </a:solidFill>
          <a:ln/>
        </p:spPr>
      </p:sp>
      <p:sp>
        <p:nvSpPr>
          <p:cNvPr id="11" name="Shape 9"/>
          <p:cNvSpPr/>
          <p:nvPr/>
        </p:nvSpPr>
        <p:spPr>
          <a:xfrm>
            <a:off x="11036808" y="42428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13308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١٤٢</a:t>
            </a:r>
            <a:endParaRPr lang="ar-SA" sz="1300" dirty="0"/>
          </a:p>
        </p:txBody>
      </p:sp>
      <p:sp>
        <p:nvSpPr>
          <p:cNvPr id="13" name="Text 11"/>
          <p:cNvSpPr txBox="1"/>
          <p:nvPr/>
        </p:nvSpPr>
        <p:spPr>
          <a:xfrm>
            <a:off x="731520" y="411480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الْمُنَٰفِقِينَ يُخَٰدِعُونَ اللَّهَ وَهُوَ خَٰدِعُهُمْ وَإِذَا قَامُواْ إِلَى الصَّلَوٰةِ قَامُواْ كُسَالَىٰ يُرَآءُونَ النَّاسَ وَلَا يَذْكُرُونَ اللَّهَ إِلَّا قَلِيلًا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المنافقين يظنون أنهم يخدعون الله وهو مجازيهم على خداعهم، وإذا قاموا إلى الصلاة قاموا كسالى، يُراؤون الناس، ولا يذكرون الله إلا قليلًا.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١٤٣ – ١٤٤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١٤٣</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مُّذَبْذَبِينَ بَيْنَ ذَٰلِكَ لَآ إِلَىٰ هَـٰؤُلَآءِ وَلَآ إِلَىٰ هَـٰؤُلَآءِ وَمَن يُضْلِلِ اللَّهُ فَلَن تَجِدَ لَهُ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متردّدين بين الإيمان والكفر، لا مع المؤمنين ولا مع الكافرين، ومن يُضلله الله فلن تجد له طريقًا إلى الهداية.</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١٤٤</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الَّذِينَ ءَامَنُواْ لَا تَتَّخِذُواْ الْكَٰفِرِينَ أَوْلِيَآءَ مِن دُونِ الْمُؤْمِنِينَ أَتُرِيدُونَ أَن تَجْعَلُواْ لِلَّهِ عَلَيْكُمْ سُلْطَٰنًا مُّبِينًا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المؤمنون، لا تتخذوا الكافرين أنصارًا من دون المؤمنين، أتريدون أن تجعلوا لله عليكم حجة واضحة في عقابكم؟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١٤٥ – ١٤٧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١٤٥</a:t>
            </a:r>
            <a:endParaRPr lang="ar-SA" sz="13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الْمُنَٰفِقِينَ فِي الدَّرْكِ الْأَسْفَلِ مِنَ النَّارِ وَلَن تَجِدَ لَهُمْ نَصِيرًا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المنافقين في الطبقة السفلى من النار، ولن تجد لهم ناصرًا.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١٤٦</a:t>
            </a:r>
            <a:endParaRPr lang="ar-SA" sz="1300" dirty="0"/>
          </a:p>
        </p:txBody>
      </p:sp>
      <p:sp>
        <p:nvSpPr>
          <p:cNvPr id="13" name="Text 11"/>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الَّذِينَ تَابُواْ وَأَصْلَحُواْ وَاعْتَصَمُواْ بِاللَّهِ وَأَخْلَصُواْ دِينَهُمْ لِلَّهِ فَأُوْلَـٰئِكَ مَعَ الْمُؤْمِنِينَ وَسَوْفَ يُؤْتِ اللَّهُ الْمُؤْمِنِينَ أَجْرًا عَظِيمًا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الذين تابوا وأصلحوا أعمالهم، وتمسّكوا بالله، وأخلصوا دينهم لله، فأولئك مع المؤمنين، وسوف يعطي الله المؤمنين أجرًا عظيمًا.</a:t>
            </a:r>
            <a:endParaRPr lang="ar-SA" sz="3200" dirty="0"/>
          </a:p>
        </p:txBody>
      </p:sp>
      <p:sp>
        <p:nvSpPr>
          <p:cNvPr id="14" name="Shape 12"/>
          <p:cNvSpPr/>
          <p:nvPr/>
        </p:nvSpPr>
        <p:spPr>
          <a:xfrm>
            <a:off x="2103120" y="4797552"/>
            <a:ext cx="8641080" cy="0"/>
          </a:xfrm>
          <a:prstGeom prst="line">
            <a:avLst/>
          </a:prstGeom>
          <a:noFill/>
          <a:ln w="9525">
            <a:solidFill>
              <a:schemeClr val="accent2"/>
            </a:solidFill>
            <a:prstDash val="dash"/>
          </a:ln>
        </p:spPr>
      </p:sp>
      <p:sp>
        <p:nvSpPr>
          <p:cNvPr id="15" name="Shape 13"/>
          <p:cNvSpPr/>
          <p:nvPr/>
        </p:nvSpPr>
        <p:spPr>
          <a:xfrm>
            <a:off x="10927080" y="5013960"/>
            <a:ext cx="548640" cy="548640"/>
          </a:xfrm>
          <a:prstGeom prst="star8">
            <a:avLst/>
          </a:prstGeom>
          <a:solidFill>
            <a:schemeClr val="accent2"/>
          </a:solidFill>
          <a:ln/>
        </p:spPr>
      </p:sp>
      <p:sp>
        <p:nvSpPr>
          <p:cNvPr id="16" name="Shape 14"/>
          <p:cNvSpPr/>
          <p:nvPr/>
        </p:nvSpPr>
        <p:spPr>
          <a:xfrm>
            <a:off x="11036808" y="512368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1396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١٤٧</a:t>
            </a:r>
            <a:endParaRPr lang="ar-SA" sz="1300" dirty="0"/>
          </a:p>
        </p:txBody>
      </p:sp>
      <p:sp>
        <p:nvSpPr>
          <p:cNvPr id="18" name="Text 16"/>
          <p:cNvSpPr txBox="1"/>
          <p:nvPr/>
        </p:nvSpPr>
        <p:spPr>
          <a:xfrm>
            <a:off x="731520" y="499567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يَفْعَلُ اللَّهُ بِعَذَابِكُمْ إِن شَكَرْتُمْ وَءَامَنتُمْ وَكَانَ اللَّهُ شَاكِرًا عَلِيمًا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يفعل الله بعذابكم إن شكرتم وآمنتم؟ وكان الله شاكرًا يثيب على القليل، عليمًا.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92</a:t>
            </a:fld>
            <a:endParaRPr 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١٤٨ – ١٥٠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١٤٨</a:t>
            </a:r>
            <a:endParaRPr lang="ar-SA" sz="13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يُحِبُّ اللَّهُ الْجَهْرَ بِالسُّوءِ مِنَ الْقَوْلِ إِلَّا مَن ظُلِمَ وَكَانَ اللَّهُ سَمِيعًا عَلِيمًا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يحب الله أن يجهر أحد بالكلام السيئ، إلا المظلوم فله أن يذكر ظلم من ظلمه، وكان الله سميعًا عليمًا.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١٤٩</a:t>
            </a:r>
            <a:endParaRPr lang="ar-SA" sz="1300" dirty="0"/>
          </a:p>
        </p:txBody>
      </p:sp>
      <p:sp>
        <p:nvSpPr>
          <p:cNvPr id="13" name="Text 11"/>
          <p:cNvSpPr txBox="1"/>
          <p:nvPr/>
        </p:nvSpPr>
        <p:spPr>
          <a:xfrm>
            <a:off x="731520" y="273405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تُبْدُواْ خَيْرًا أَوْ تُخْفُوهُ أَوْ تَعْفُواْ عَن سُوءٍ فَإِنَّ اللَّهَ كَانَ عَفُوًّا قَدِيرًا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تُظهروا خيرًا أو تُخفوه، أو تعفوا عمّن أساء إليكم، فإن الله كان عفوًّا قديرًا.</a:t>
            </a:r>
            <a:endParaRPr lang="ar-SA" sz="3200" dirty="0"/>
          </a:p>
        </p:txBody>
      </p:sp>
      <p:sp>
        <p:nvSpPr>
          <p:cNvPr id="14" name="Shape 12"/>
          <p:cNvSpPr/>
          <p:nvPr/>
        </p:nvSpPr>
        <p:spPr>
          <a:xfrm>
            <a:off x="2103120" y="3874008"/>
            <a:ext cx="8641080" cy="0"/>
          </a:xfrm>
          <a:prstGeom prst="line">
            <a:avLst/>
          </a:prstGeom>
          <a:noFill/>
          <a:ln w="9525">
            <a:solidFill>
              <a:schemeClr val="accent2"/>
            </a:solidFill>
            <a:prstDash val="dash"/>
          </a:ln>
        </p:spPr>
      </p:sp>
      <p:sp>
        <p:nvSpPr>
          <p:cNvPr id="15" name="Shape 13"/>
          <p:cNvSpPr/>
          <p:nvPr/>
        </p:nvSpPr>
        <p:spPr>
          <a:xfrm>
            <a:off x="10927080" y="4090416"/>
            <a:ext cx="548640" cy="548640"/>
          </a:xfrm>
          <a:prstGeom prst="star8">
            <a:avLst/>
          </a:prstGeom>
          <a:solidFill>
            <a:schemeClr val="accent2"/>
          </a:solidFill>
          <a:ln/>
        </p:spPr>
      </p:sp>
      <p:sp>
        <p:nvSpPr>
          <p:cNvPr id="16" name="Shape 14"/>
          <p:cNvSpPr/>
          <p:nvPr/>
        </p:nvSpPr>
        <p:spPr>
          <a:xfrm>
            <a:off x="11036808" y="420014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0904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١٥٠</a:t>
            </a:r>
            <a:endParaRPr lang="ar-SA" sz="1300" dirty="0"/>
          </a:p>
        </p:txBody>
      </p:sp>
      <p:sp>
        <p:nvSpPr>
          <p:cNvPr id="18" name="Text 16"/>
          <p:cNvSpPr txBox="1"/>
          <p:nvPr/>
        </p:nvSpPr>
        <p:spPr>
          <a:xfrm>
            <a:off x="731520" y="407212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يَكْفُرُونَ بِاللَّهِ وَرُسُلِهِ وَيُرِيدُونَ أَن يُفَرِّقُواْ بَيْنَ اللَّهِ وَرُسُلِهِ وَيَقُولُونَ نُؤْمِنُ بِبَعْضٍ وَنَكْفُرُ بِبَعْضٍ وَيُرِيدُونَ أَن يَتَّخِذُواْ بَيْنَ ذَٰلِكَ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يكفرون بالله ورسله، ويريدون أن يفرّقوا بين الإيمان بالله والإيمان برسله، فيقولون: نؤمن ببعض الرسل ونكفر ببعض، ويريدون أن يتخذوا طريقًا بين ذلك.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١٥١ – ١٥٢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١٥١</a:t>
            </a:r>
            <a:endParaRPr lang="ar-SA" sz="1300" dirty="0"/>
          </a:p>
        </p:txBody>
      </p:sp>
      <p:sp>
        <p:nvSpPr>
          <p:cNvPr id="8" name="Text 6"/>
          <p:cNvSpPr txBox="1"/>
          <p:nvPr/>
        </p:nvSpPr>
        <p:spPr>
          <a:xfrm>
            <a:off x="731520" y="202082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هُمُ الْكَٰفِرُونَ حَقًّا وَأَعْتَدْنَا لِلْكَٰفِرِينَ عَذَابًا مُّهِينًا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هم الكافرون حقًّا، وأعددنا للكافرين عذابًا مُهينًا.</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5576"/>
            <a:ext cx="548640" cy="548640"/>
          </a:xfrm>
          <a:prstGeom prst="star8">
            <a:avLst/>
          </a:prstGeom>
          <a:solidFill>
            <a:schemeClr val="accent2"/>
          </a:solidFill>
          <a:ln/>
        </p:spPr>
      </p:sp>
      <p:sp>
        <p:nvSpPr>
          <p:cNvPr id="11" name="Shape 9"/>
          <p:cNvSpPr/>
          <p:nvPr/>
        </p:nvSpPr>
        <p:spPr>
          <a:xfrm>
            <a:off x="11036808" y="35753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557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١٥٢</a:t>
            </a:r>
            <a:endParaRPr lang="ar-SA" sz="1300" dirty="0"/>
          </a:p>
        </p:txBody>
      </p:sp>
      <p:sp>
        <p:nvSpPr>
          <p:cNvPr id="13" name="Text 11"/>
          <p:cNvSpPr txBox="1"/>
          <p:nvPr/>
        </p:nvSpPr>
        <p:spPr>
          <a:xfrm>
            <a:off x="731520" y="3447288"/>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ءَامَنُواْ بِاللَّهِ وَرُسُلِهِ وَلَمْ يُفَرِّقُواْ بَيْنَ أَحَدٍ مِّنْهُمْ أُوْلَـٰئِكَ سَوْفَ يُؤْتِيهِمْ أُجُورَهُمْ وَكَانَ اللَّهُ غَفُورًا رَّحِيمًا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آمنوا بالله ورسله جميعًا ولم يفرّقوا بين أحد منهم، أولئك سوف يعطيهم أجورهم، وكان الله غفورًا رحيمًا.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txBox="1"/>
          <p:nvPr/>
        </p:nvSpPr>
        <p:spPr>
          <a:xfrm>
            <a:off x="3581248" y="603504"/>
            <a:ext cx="5029200" cy="987552"/>
          </a:xfrm>
          <a:prstGeom prst="rect">
            <a:avLst/>
          </a:prstGeom>
          <a:noFill/>
          <a:ln/>
        </p:spPr>
        <p:txBody>
          <a:bodyPr wrap="square" lIns="0" tIns="0" rIns="0" bIns="0" rtlCol="0" anchor="ctr"/>
          <a:lstStyle/>
          <a:p>
            <a:pPr rtl="1" algn="ctr" indent="0" marL="0">
              <a:buNone/>
            </a:pPr>
            <a:r>
              <a:rPr lang="ar-SA" altLang="en-US" sz="2400" b="1" dirty="0">
                <a:solidFill>
                  <a:schemeClr val="accent2"/>
                </a:solidFill>
                <a:latin typeface="Sakkal Majalla" pitchFamily="34" charset="0"/>
                <a:ea typeface="Sakkal Majalla" pitchFamily="34" charset="-122"/>
                <a:cs typeface="Sakkal Majalla" pitchFamily="34" charset="-120"/>
              </a:rPr>
              <a:t>أهل الكتاب وعيسى عليه السلام والكلالة</a:t>
            </a:r>
            <a:endParaRPr lang="ar-SA" sz="2400" dirty="0"/>
          </a:p>
        </p:txBody>
      </p:sp>
      <p:sp>
        <p:nvSpPr>
          <p:cNvPr id="3" name="Shape 1"/>
          <p:cNvSpPr/>
          <p:nvPr/>
        </p:nvSpPr>
        <p:spPr>
          <a:xfrm>
            <a:off x="7833208" y="1828800"/>
            <a:ext cx="310896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83320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المقطع ١٠ من ١٠</a:t>
            </a:r>
            <a:endParaRPr lang="ar-SA" sz="1600" dirty="0"/>
          </a:p>
        </p:txBody>
      </p:sp>
      <p:sp>
        <p:nvSpPr>
          <p:cNvPr id="5" name="Shape 3"/>
          <p:cNvSpPr/>
          <p:nvPr/>
        </p:nvSpPr>
        <p:spPr>
          <a:xfrm>
            <a:off x="4541368" y="1828800"/>
            <a:ext cx="310896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54136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الآيات ١٥٣ – ١٧٦</a:t>
            </a:r>
            <a:endParaRPr lang="ar-SA" sz="1600" dirty="0"/>
          </a:p>
        </p:txBody>
      </p:sp>
      <p:sp>
        <p:nvSpPr>
          <p:cNvPr id="7" name="Shape 5"/>
          <p:cNvSpPr/>
          <p:nvPr/>
        </p:nvSpPr>
        <p:spPr>
          <a:xfrm>
            <a:off x="1249528" y="1828800"/>
            <a:ext cx="310896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249528" y="1828800"/>
            <a:ext cx="310896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سورة النساء • مدنية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البراء بن عازب: آخر آية نزلت: ﴿يستفتونك قل الله يفتيكم في الكلالة﴾ (رواه البخاري). وسأل عنها جابر بن عبد الله رضي الله عنه لما مرض ولم يكن له ولد ولا والد.</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نقض بني إسرائيل للعهود، وأن عيسى عليه السلام لم يُقتل ولم يُصلب بل رفعه الله، والردّ على الغلوّ فيه، وحكم ميراث الكلالة.</a:t>
            </a:r>
            <a:endParaRPr lang="ar-SA" sz="1800" dirty="0"/>
          </a:p>
        </p:txBody>
      </p:sp>
      <p:sp>
        <p:nvSpPr>
          <p:cNvPr id="18"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algn="ctr" indent="0" marL="0">
              <a:buNone/>
            </a:pPr>
            <a:endParaRPr lang="en-US" sz="48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١٥٣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459736"/>
            <a:ext cx="548640" cy="548640"/>
          </a:xfrm>
          <a:prstGeom prst="star8">
            <a:avLst/>
          </a:prstGeom>
          <a:solidFill>
            <a:schemeClr val="accent2"/>
          </a:solidFill>
          <a:ln/>
        </p:spPr>
      </p:sp>
      <p:sp>
        <p:nvSpPr>
          <p:cNvPr id="6" name="Shape 4"/>
          <p:cNvSpPr/>
          <p:nvPr/>
        </p:nvSpPr>
        <p:spPr>
          <a:xfrm>
            <a:off x="11036808" y="256946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45973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١٥٣</a:t>
            </a:r>
            <a:endParaRPr lang="ar-SA" sz="1300" dirty="0"/>
          </a:p>
        </p:txBody>
      </p:sp>
      <p:sp>
        <p:nvSpPr>
          <p:cNvPr id="8" name="Text 6"/>
          <p:cNvSpPr txBox="1"/>
          <p:nvPr/>
        </p:nvSpPr>
        <p:spPr>
          <a:xfrm>
            <a:off x="731520" y="2441448"/>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يَسْـَٔلُكَ أَهْلُ الْكِتَٰبِ أَن تُنَزِّلَ عَلَيْهِمْ كِتَٰبًا مِّنَ السَّمَآءِ فَقَدْ سَأَلُواْ مُوسَىٰ أَكْبَرَ مِن ذَٰلِكَ فَقَالُواْ أَرِنَا اللَّهَ جَهْرَةً فَأَخَذَتْهُمُ الصَّـٰعِقَةُ بِظُلْمِهِمْ ثُمَّ اتَّخَذُواْ الْعِجْلَ مِن بَعْدِ مَا جَآءَتْهُمُ الْبَيِّنَٰتُ فَعَفَوْنَا عَن ذَٰلِكَ وَءَاتَيْنَا مُوسَىٰ سُلْطَٰنًا مُّبِينًا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يسألك اليهود أن تُنزل عليهم كتابًا مكتوبًا من السماء، فقد سألوا موسى أعظم من ذلك فقالوا: أرنا الله عيانًا، فأخذتهم الصاعقة بظلمهم، ثم عبدوا العجل، فعفونا عن ذلك.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١٥٤ – ١٥٥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77340"/>
            <a:ext cx="548640" cy="548640"/>
          </a:xfrm>
          <a:prstGeom prst="star8">
            <a:avLst/>
          </a:prstGeom>
          <a:solidFill>
            <a:schemeClr val="accent2"/>
          </a:solidFill>
          <a:ln/>
        </p:spPr>
      </p:sp>
      <p:sp>
        <p:nvSpPr>
          <p:cNvPr id="6" name="Shape 4"/>
          <p:cNvSpPr/>
          <p:nvPr/>
        </p:nvSpPr>
        <p:spPr>
          <a:xfrm>
            <a:off x="11036808" y="16870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7734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١٥٤</a:t>
            </a:r>
            <a:endParaRPr lang="ar-SA" sz="1300" dirty="0"/>
          </a:p>
        </p:txBody>
      </p:sp>
      <p:sp>
        <p:nvSpPr>
          <p:cNvPr id="8" name="Text 6"/>
          <p:cNvSpPr txBox="1"/>
          <p:nvPr/>
        </p:nvSpPr>
        <p:spPr>
          <a:xfrm>
            <a:off x="731520" y="1559052"/>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وَرَفَعْنَا فَوْقَهُمُ الطُّورَ بِمِيثَٰقِهِمْ وَقُلْنَا لَهُمُ ادْخُلُواْ الْبَابَ سُجَّدًا وَقُلْنَا لَهُمْ لَا تَعْدُواْ فِي السَّبْتِ وَأَخَذْنَا مِنْهُم مِّيثَٰقًا غَلِيظًا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ورفعنا فوقهم جبل الطور حين أخذنا عليهم العهد، وقلنا لهم: ادخلوا باب بيت المقدس خاضعين، ولا تعتدوا يوم السبت، وأخذنا منهم عهدًا مؤكّدًا.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١٥٥</a:t>
            </a:r>
            <a:endParaRPr lang="ar-SA" sz="1300" dirty="0"/>
          </a:p>
        </p:txBody>
      </p:sp>
      <p:sp>
        <p:nvSpPr>
          <p:cNvPr id="13" name="Text 11"/>
          <p:cNvSpPr txBox="1"/>
          <p:nvPr/>
        </p:nvSpPr>
        <p:spPr>
          <a:xfrm>
            <a:off x="731520" y="3909060"/>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فَبِمَا نَقْضِهِم مِّيثَٰقَهُمْ وَكُفْرِهِم بِـَٔايَٰتِ اللَّهِ وَقَتْلِهِمُ الْأَنبِيَآءَ بِغَيْرِ حَقٍّ وَقَوْلِهِمْ قُلُوبُنَا غُلْفٌ بَلْ طَبَعَ اللَّهُ عَلَيْهَا بِكُفْرِهِمْ فَلَا يُؤْمِنُونَ إِلَّا قَلِيلًا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فبسبب نقضهم العهد، وكفرهم بآيات الله، وقتلهم الأنبياء بغير حق، وقولهم: قلوبنا مغطّاة لا تفهم، بل طبع الله عليها بكفرهم، فلا يؤمنون إلا قليلًا.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١٥٦ – ١٥٧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١٥٦</a:t>
            </a:r>
            <a:endParaRPr lang="ar-SA" sz="1300" dirty="0"/>
          </a:p>
        </p:txBody>
      </p:sp>
      <p:sp>
        <p:nvSpPr>
          <p:cNvPr id="8" name="Text 6"/>
          <p:cNvSpPr txBox="1"/>
          <p:nvPr/>
        </p:nvSpPr>
        <p:spPr>
          <a:xfrm>
            <a:off x="731520" y="1728216"/>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وَبِكُفْرِهِمْ وَقَوْلِهِمْ عَلَىٰ مَرْيَمَ بُهْتَٰنًا عَظِيمًا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وبكفرهم، وقولهم على مريم كذبًا عظيمًا حين اتّهموها بالفاحشة.</a:t>
            </a:r>
            <a:endParaRPr lang="ar-SA" sz="3200" dirty="0"/>
          </a:p>
        </p:txBody>
      </p:sp>
      <p:sp>
        <p:nvSpPr>
          <p:cNvPr id="9" name="Shape 7"/>
          <p:cNvSpPr/>
          <p:nvPr/>
        </p:nvSpPr>
        <p:spPr>
          <a:xfrm>
            <a:off x="2103120" y="2912364"/>
            <a:ext cx="8641080" cy="0"/>
          </a:xfrm>
          <a:prstGeom prst="line">
            <a:avLst/>
          </a:prstGeom>
          <a:noFill/>
          <a:ln w="9525">
            <a:solidFill>
              <a:schemeClr val="accent2"/>
            </a:solidFill>
            <a:prstDash val="dash"/>
          </a:ln>
        </p:spPr>
      </p:sp>
      <p:sp>
        <p:nvSpPr>
          <p:cNvPr id="10" name="Shape 8"/>
          <p:cNvSpPr/>
          <p:nvPr/>
        </p:nvSpPr>
        <p:spPr>
          <a:xfrm>
            <a:off x="10927080" y="3172968"/>
            <a:ext cx="548640" cy="548640"/>
          </a:xfrm>
          <a:prstGeom prst="star8">
            <a:avLst/>
          </a:prstGeom>
          <a:solidFill>
            <a:schemeClr val="accent2"/>
          </a:solidFill>
          <a:ln/>
        </p:spPr>
      </p:sp>
      <p:sp>
        <p:nvSpPr>
          <p:cNvPr id="11" name="Shape 9"/>
          <p:cNvSpPr/>
          <p:nvPr/>
        </p:nvSpPr>
        <p:spPr>
          <a:xfrm>
            <a:off x="11036808" y="32826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7296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١٥٧</a:t>
            </a:r>
            <a:endParaRPr lang="ar-SA" sz="1300" dirty="0"/>
          </a:p>
        </p:txBody>
      </p:sp>
      <p:sp>
        <p:nvSpPr>
          <p:cNvPr id="13" name="Text 11"/>
          <p:cNvSpPr txBox="1"/>
          <p:nvPr/>
        </p:nvSpPr>
        <p:spPr>
          <a:xfrm>
            <a:off x="731520" y="3154680"/>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وَقَوْلِهِمْ إِنَّا قَتَلْنَا الْمَسِيحَ عِيسَى ابْنَ مَرْيَمَ رَسُولَ اللَّهِ وَمَا قَتَلُوهُ وَمَا صَلَبُوهُ وَلَٰكِن شُبِّهَ لَهُمْ وَإِنَّ الَّذِينَ اخْتَلَفُواْ فِيهِ لَفِي شَكٍّ مِّنْهُ مَا لَهُم بِهِ مِنْ عِلْمٍ إِلَّا اتِّبَاعَ الظَّنِّ وَمَا قَتَلُوهُ يَقِينًا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وقولهم: إنا قتلنا المسيح عيسى ابن مريم رسول الله، وما قتلوه وما صلبوه، ولكن أُلقي شبهه على رجل آخر فقتلوه، وما قتلوه يقينًا.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١٥٨ – ١٦٠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14272"/>
            <a:ext cx="548640" cy="548640"/>
          </a:xfrm>
          <a:prstGeom prst="star8">
            <a:avLst/>
          </a:prstGeom>
          <a:solidFill>
            <a:schemeClr val="accent2"/>
          </a:solidFill>
          <a:ln/>
        </p:spPr>
      </p:sp>
      <p:sp>
        <p:nvSpPr>
          <p:cNvPr id="6" name="Shape 4"/>
          <p:cNvSpPr/>
          <p:nvPr/>
        </p:nvSpPr>
        <p:spPr>
          <a:xfrm>
            <a:off x="11036808" y="152400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1427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١٥٨</a:t>
            </a:r>
            <a:endParaRPr lang="ar-SA" sz="1300" dirty="0"/>
          </a:p>
        </p:txBody>
      </p:sp>
      <p:sp>
        <p:nvSpPr>
          <p:cNvPr id="8" name="Text 6"/>
          <p:cNvSpPr txBox="1"/>
          <p:nvPr/>
        </p:nvSpPr>
        <p:spPr>
          <a:xfrm>
            <a:off x="731520" y="139598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رَّفَعَهُ اللَّهُ إِلَيْهِ وَكَانَ اللَّهُ عَزِيزًا حَكِيمًا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رفعه الله إليه حيًّا ببدنه وروحه، وكان الله عزيزًا حكيمًا.</a:t>
            </a:r>
            <a:endParaRPr lang="ar-SA" sz="3200" dirty="0"/>
          </a:p>
        </p:txBody>
      </p:sp>
      <p:sp>
        <p:nvSpPr>
          <p:cNvPr id="9" name="Shape 7"/>
          <p:cNvSpPr/>
          <p:nvPr/>
        </p:nvSpPr>
        <p:spPr>
          <a:xfrm>
            <a:off x="2103120" y="2535936"/>
            <a:ext cx="8641080" cy="0"/>
          </a:xfrm>
          <a:prstGeom prst="line">
            <a:avLst/>
          </a:prstGeom>
          <a:noFill/>
          <a:ln w="9525">
            <a:solidFill>
              <a:schemeClr val="accent2"/>
            </a:solidFill>
            <a:prstDash val="dash"/>
          </a:ln>
        </p:spPr>
      </p:sp>
      <p:sp>
        <p:nvSpPr>
          <p:cNvPr id="10" name="Shape 8"/>
          <p:cNvSpPr/>
          <p:nvPr/>
        </p:nvSpPr>
        <p:spPr>
          <a:xfrm>
            <a:off x="10927080" y="2752344"/>
            <a:ext cx="548640" cy="548640"/>
          </a:xfrm>
          <a:prstGeom prst="star8">
            <a:avLst/>
          </a:prstGeom>
          <a:solidFill>
            <a:schemeClr val="accent2"/>
          </a:solidFill>
          <a:ln/>
        </p:spPr>
      </p:sp>
      <p:sp>
        <p:nvSpPr>
          <p:cNvPr id="11" name="Shape 9"/>
          <p:cNvSpPr/>
          <p:nvPr/>
        </p:nvSpPr>
        <p:spPr>
          <a:xfrm>
            <a:off x="11036808" y="286207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١٥٩</a:t>
            </a:r>
            <a:endParaRPr lang="ar-SA" sz="1300" dirty="0"/>
          </a:p>
        </p:txBody>
      </p:sp>
      <p:sp>
        <p:nvSpPr>
          <p:cNvPr id="13" name="Text 11"/>
          <p:cNvSpPr txBox="1"/>
          <p:nvPr/>
        </p:nvSpPr>
        <p:spPr>
          <a:xfrm>
            <a:off x="731520" y="2734056"/>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مِّنْ أَهْلِ الْكِتَٰبِ إِلَّا لَيُؤْمِنَنَّ بِهِ قَبْلَ مَوْتِهِ وَيَوْمَ الْقِيَٰمَةِ يَكُونُ عَلَيْهِمْ شَهِيدًا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من أحد من أهل الكتاب إلا سيؤمن بعيسى قبل موت عيسى عند نزوله آخر الزمان، ويوم القيامة يكون شاهدًا عليهم.</a:t>
            </a:r>
            <a:endParaRPr lang="ar-SA" sz="3200" dirty="0"/>
          </a:p>
        </p:txBody>
      </p:sp>
      <p:sp>
        <p:nvSpPr>
          <p:cNvPr id="14" name="Shape 12"/>
          <p:cNvSpPr/>
          <p:nvPr/>
        </p:nvSpPr>
        <p:spPr>
          <a:xfrm>
            <a:off x="2103120" y="4212336"/>
            <a:ext cx="8641080" cy="0"/>
          </a:xfrm>
          <a:prstGeom prst="line">
            <a:avLst/>
          </a:prstGeom>
          <a:noFill/>
          <a:ln w="9525">
            <a:solidFill>
              <a:schemeClr val="accent2"/>
            </a:solidFill>
            <a:prstDash val="dash"/>
          </a:ln>
        </p:spPr>
      </p:sp>
      <p:sp>
        <p:nvSpPr>
          <p:cNvPr id="15" name="Shape 13"/>
          <p:cNvSpPr/>
          <p:nvPr/>
        </p:nvSpPr>
        <p:spPr>
          <a:xfrm>
            <a:off x="10927080" y="4428744"/>
            <a:ext cx="548640" cy="548640"/>
          </a:xfrm>
          <a:prstGeom prst="star8">
            <a:avLst/>
          </a:prstGeom>
          <a:solidFill>
            <a:schemeClr val="accent2"/>
          </a:solidFill>
          <a:ln/>
        </p:spPr>
      </p:sp>
      <p:sp>
        <p:nvSpPr>
          <p:cNvPr id="16" name="Shape 14"/>
          <p:cNvSpPr/>
          <p:nvPr/>
        </p:nvSpPr>
        <p:spPr>
          <a:xfrm>
            <a:off x="11036808" y="453847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287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١٦٠</a:t>
            </a:r>
            <a:endParaRPr lang="ar-SA" sz="1300" dirty="0"/>
          </a:p>
        </p:txBody>
      </p:sp>
      <p:sp>
        <p:nvSpPr>
          <p:cNvPr id="18" name="Text 16"/>
          <p:cNvSpPr txBox="1"/>
          <p:nvPr/>
        </p:nvSpPr>
        <p:spPr>
          <a:xfrm>
            <a:off x="731520" y="441045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فَبِظُلْمٍ مِّنَ الَّذِينَ هَادُواْ حَرَّمْنَا عَلَيْهِمْ طَيِّبَٰتٍ أُحِلَّتْ لَهُمْ وَبِصَدِّهِمْ عَن سَبِيلِ اللَّهِ كَثِيرًا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فبسبب ظلم اليهود حرّمنا عليهم طيبات كانت حلالًا لهم، وبسبب صدّهم كثيرًا من الناس عن دين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١٦١ – ١٦٢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١٦١</a:t>
            </a:r>
            <a:endParaRPr lang="ar-SA" sz="1300" dirty="0"/>
          </a:p>
        </p:txBody>
      </p:sp>
      <p:sp>
        <p:nvSpPr>
          <p:cNvPr id="8" name="Text 6"/>
          <p:cNvSpPr txBox="1"/>
          <p:nvPr/>
        </p:nvSpPr>
        <p:spPr>
          <a:xfrm>
            <a:off x="731520" y="143789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وَأَخْذِهِمُ الرِّبَوٰاْ وَقَدْ نُهُواْ عَنْهُ وَأَكْلِهِمْ أَمْوَٰلَ النَّاسِ بِالْبَٰطِلِ وَأَعْتَدْنَا لِلْكَٰفِرِينَ مِنْهُمْ عَذَابًا أَلِيمًا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وأخذهم الربا وقد نُهوا عنه، وأكلهم أموال الناس بالباطل، وأعددنا للكافرين منهم عذابًا مؤلمًا.</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3290"/>
            <a:ext cx="548640" cy="548640"/>
          </a:xfrm>
          <a:prstGeom prst="star8">
            <a:avLst/>
          </a:prstGeom>
          <a:solidFill>
            <a:schemeClr val="accent2"/>
          </a:solidFill>
          <a:ln/>
        </p:spPr>
      </p:sp>
      <p:sp>
        <p:nvSpPr>
          <p:cNvPr id="11" name="Shape 9"/>
          <p:cNvSpPr/>
          <p:nvPr/>
        </p:nvSpPr>
        <p:spPr>
          <a:xfrm>
            <a:off x="11036808" y="3573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329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١٦٢</a:t>
            </a:r>
            <a:endParaRPr lang="ar-SA" sz="1300" dirty="0"/>
          </a:p>
        </p:txBody>
      </p:sp>
      <p:sp>
        <p:nvSpPr>
          <p:cNvPr id="13" name="Text 11"/>
          <p:cNvSpPr txBox="1"/>
          <p:nvPr/>
        </p:nvSpPr>
        <p:spPr>
          <a:xfrm>
            <a:off x="731520" y="344500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لَّـٰكِنِ الرَّـٰسِخُونَ فِي الْعِلْمِ مِنْهُمْ وَالْمُؤْمِنُونَ يُؤْمِنُونَ بِمَآ أُنزِلَ إِلَيْكَ وَمَآ أُنزِلَ مِن قَبْلِكَ وَالْمُقِيمِينَ الصَّلَوٰةَ وَالْمُؤْتُونَ الزَّكَوٰةَ وَالْمُؤْمِنُونَ بِاللَّهِ وَالْيَوْمِ الْأخِرِ أُوْلَـٰئِكَ سَنُؤْتِيهِمْ أَجْرًا عَظِيمًا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لكن الراسخون في العلم منهم والمؤمنون يؤمنون بما أُنزل إليك وما أُنزل من قبلك، والمقيمون الصلاة، والمؤتون الزكاة، والمؤمنون بالله واليوم الآخر، أولئك سنعطيهم أجرًا عظيمًا.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١٦٣ – ١٦٤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١٦٣</a:t>
            </a:r>
            <a:endParaRPr lang="ar-SA" sz="1300" dirty="0"/>
          </a:p>
        </p:txBody>
      </p:sp>
      <p:sp>
        <p:nvSpPr>
          <p:cNvPr id="8" name="Text 6"/>
          <p:cNvSpPr txBox="1"/>
          <p:nvPr/>
        </p:nvSpPr>
        <p:spPr>
          <a:xfrm>
            <a:off x="731520" y="1437894"/>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أَوْحَيْنَآ إِلَيْكَ كَمَآ أَوْحَيْنَآ إِلَىٰ نُوحٍ وَالنَّبِيِّـنَ مِن بَعْدِهِ وَأَوْحَيْنَآ إِلَىٰ إِبْرَٰهِيمَ وَإِسْمَٰعِيلَ وَإِسْحَٰقَ وَيَعْقُوبَ وَالْأَسْبَاطِ وَعِيسَىٰ وَأَيُّوبَ وَيُونُسَ وَهَٰرُونَ وَسُلَيْمَٰنَ وَءَاتَيْنَا دَاوُدَ زَبُورًا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أوحينا إليك كما أوحينا إلى نوح والنبيين من بعده، وإلى إبراهيم وإسماعيل وإسحاق ويعقوب والأسباط، وعيسى وأيوب ويونس وهارون وسليمان، وأعطينا داود الزبور.</a:t>
            </a:r>
            <a:endParaRPr lang="ar-SA" sz="3200" dirty="0"/>
          </a:p>
        </p:txBody>
      </p:sp>
      <p:sp>
        <p:nvSpPr>
          <p:cNvPr id="9" name="Shape 7"/>
          <p:cNvSpPr/>
          <p:nvPr/>
        </p:nvSpPr>
        <p:spPr>
          <a:xfrm>
            <a:off x="2103120" y="4128516"/>
            <a:ext cx="8641080" cy="0"/>
          </a:xfrm>
          <a:prstGeom prst="line">
            <a:avLst/>
          </a:prstGeom>
          <a:noFill/>
          <a:ln w="9525">
            <a:solidFill>
              <a:schemeClr val="accent2"/>
            </a:solidFill>
            <a:prstDash val="dash"/>
          </a:ln>
        </p:spPr>
      </p:sp>
      <p:sp>
        <p:nvSpPr>
          <p:cNvPr id="10" name="Shape 8"/>
          <p:cNvSpPr/>
          <p:nvPr/>
        </p:nvSpPr>
        <p:spPr>
          <a:xfrm>
            <a:off x="10927080" y="4386834"/>
            <a:ext cx="548640" cy="548640"/>
          </a:xfrm>
          <a:prstGeom prst="star8">
            <a:avLst/>
          </a:prstGeom>
          <a:solidFill>
            <a:schemeClr val="accent2"/>
          </a:solidFill>
          <a:ln/>
        </p:spPr>
      </p:sp>
      <p:sp>
        <p:nvSpPr>
          <p:cNvPr id="11" name="Shape 9"/>
          <p:cNvSpPr/>
          <p:nvPr/>
        </p:nvSpPr>
        <p:spPr>
          <a:xfrm>
            <a:off x="11036808" y="449656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38683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١٦٤</a:t>
            </a:r>
            <a:endParaRPr lang="ar-SA" sz="1300" dirty="0"/>
          </a:p>
        </p:txBody>
      </p:sp>
      <p:sp>
        <p:nvSpPr>
          <p:cNvPr id="13" name="Text 11"/>
          <p:cNvSpPr txBox="1"/>
          <p:nvPr/>
        </p:nvSpPr>
        <p:spPr>
          <a:xfrm>
            <a:off x="731520" y="436854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وَرُسُلًا قَدْ قَصَصْنَٰهُمْ عَلَيْكَ مِن قَبْلُ وَرُسُلًا لَّمْ نَقْصُصْهُمْ عَلَيْكَ وَكَلَّمَ اللَّهُ مُوسَىٰ تَكْلِيمًا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ورسلًا قد ذكرنا لك أخبارهم من قبل، ورسلًا لم نذكرهم لك، وكلّم الله موسى تكليمًا حقيقيًّا.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١٦٥ – ١٦٦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46504"/>
            <a:ext cx="548640" cy="548640"/>
          </a:xfrm>
          <a:prstGeom prst="star8">
            <a:avLst/>
          </a:prstGeom>
          <a:solidFill>
            <a:schemeClr val="accent2"/>
          </a:solidFill>
          <a:ln/>
        </p:spPr>
      </p:sp>
      <p:sp>
        <p:nvSpPr>
          <p:cNvPr id="6" name="Shape 4"/>
          <p:cNvSpPr/>
          <p:nvPr/>
        </p:nvSpPr>
        <p:spPr>
          <a:xfrm>
            <a:off x="11036808" y="18562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465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١٦٥</a:t>
            </a:r>
            <a:endParaRPr lang="ar-SA" sz="1300" dirty="0"/>
          </a:p>
        </p:txBody>
      </p:sp>
      <p:sp>
        <p:nvSpPr>
          <p:cNvPr id="8" name="Text 6"/>
          <p:cNvSpPr txBox="1"/>
          <p:nvPr/>
        </p:nvSpPr>
        <p:spPr>
          <a:xfrm>
            <a:off x="731520" y="172821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رُّسُلًا مُّبَشِّرِينَ وَمُنذِرِينَ لِئَلَّا يَكُونَ لِلنَّاسِ عَلَى اللَّهِ حُجَّةٌ بَعْدَ الرُّسُلِ وَكَانَ اللَّهُ عَزِيزًا حَكِيمًا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أرسلناهم مبشّرين بالجنة ومنذرين من النار، لئلا يكون للناس على الله حجة بعد إرسال الرسل، وكان الله عزيزًا حكيمًا.</a:t>
            </a:r>
            <a:endParaRPr lang="ar-SA" sz="3200" dirty="0"/>
          </a:p>
        </p:txBody>
      </p:sp>
      <p:sp>
        <p:nvSpPr>
          <p:cNvPr id="9" name="Shape 7"/>
          <p:cNvSpPr/>
          <p:nvPr/>
        </p:nvSpPr>
        <p:spPr>
          <a:xfrm>
            <a:off x="2103120" y="3835908"/>
            <a:ext cx="8641080" cy="0"/>
          </a:xfrm>
          <a:prstGeom prst="line">
            <a:avLst/>
          </a:prstGeom>
          <a:noFill/>
          <a:ln w="9525">
            <a:solidFill>
              <a:schemeClr val="accent2"/>
            </a:solidFill>
            <a:prstDash val="dash"/>
          </a:ln>
        </p:spPr>
      </p:sp>
      <p:sp>
        <p:nvSpPr>
          <p:cNvPr id="10" name="Shape 8"/>
          <p:cNvSpPr/>
          <p:nvPr/>
        </p:nvSpPr>
        <p:spPr>
          <a:xfrm>
            <a:off x="10927080" y="4096512"/>
            <a:ext cx="548640" cy="548640"/>
          </a:xfrm>
          <a:prstGeom prst="star8">
            <a:avLst/>
          </a:prstGeom>
          <a:solidFill>
            <a:schemeClr val="accent2"/>
          </a:solidFill>
          <a:ln/>
        </p:spPr>
      </p:sp>
      <p:sp>
        <p:nvSpPr>
          <p:cNvPr id="11" name="Shape 9"/>
          <p:cNvSpPr/>
          <p:nvPr/>
        </p:nvSpPr>
        <p:spPr>
          <a:xfrm>
            <a:off x="11036808" y="4206240"/>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0965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١٦٦</a:t>
            </a:r>
            <a:endParaRPr lang="ar-SA" sz="1300" dirty="0"/>
          </a:p>
        </p:txBody>
      </p:sp>
      <p:sp>
        <p:nvSpPr>
          <p:cNvPr id="13" name="Text 11"/>
          <p:cNvSpPr txBox="1"/>
          <p:nvPr/>
        </p:nvSpPr>
        <p:spPr>
          <a:xfrm>
            <a:off x="731520" y="407822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لَّـٰكِنِ اللَّهُ يَشْهَدُ بِمَآ أَنزَلَ إِلَيْكَ أَنزَلَهُ بِعِلْمِهِ وَالْمَلَـٰئِكَةُ يَشْهَدُونَ وَكَفَىٰ بِاللَّهِ شَهِيدًا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لكن الله يشهد بصدق ما أنزل إليك، أنزله بعلمه، والملائكة يشهدون، وكفى بالله شهيدًا.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١٦٧ – ١٦٩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787652"/>
            <a:ext cx="548640" cy="548640"/>
          </a:xfrm>
          <a:prstGeom prst="star8">
            <a:avLst/>
          </a:prstGeom>
          <a:solidFill>
            <a:schemeClr val="accent2"/>
          </a:solidFill>
          <a:ln/>
        </p:spPr>
      </p:sp>
      <p:sp>
        <p:nvSpPr>
          <p:cNvPr id="6" name="Shape 4"/>
          <p:cNvSpPr/>
          <p:nvPr/>
        </p:nvSpPr>
        <p:spPr>
          <a:xfrm>
            <a:off x="11036808" y="18973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78765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١٦٧</a:t>
            </a:r>
            <a:endParaRPr lang="ar-SA" sz="1300" dirty="0"/>
          </a:p>
        </p:txBody>
      </p:sp>
      <p:sp>
        <p:nvSpPr>
          <p:cNvPr id="8" name="Text 6"/>
          <p:cNvSpPr txBox="1"/>
          <p:nvPr/>
        </p:nvSpPr>
        <p:spPr>
          <a:xfrm>
            <a:off x="731520" y="1769364"/>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كَفَرُواْ وَصَدُّواْ عَن سَبِيلِ اللَّهِ قَدْ ضَلُّواْ ضَلَٰلًا بَعِيدًا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كفروا ومنعوا الناس عن دين الله قد ضلّوا ضلالًا بعيدًا.</a:t>
            </a:r>
            <a:endParaRPr lang="ar-SA" sz="3200" dirty="0"/>
          </a:p>
        </p:txBody>
      </p:sp>
      <p:sp>
        <p:nvSpPr>
          <p:cNvPr id="9" name="Shape 7"/>
          <p:cNvSpPr/>
          <p:nvPr/>
        </p:nvSpPr>
        <p:spPr>
          <a:xfrm>
            <a:off x="2103120" y="2953512"/>
            <a:ext cx="8641080" cy="0"/>
          </a:xfrm>
          <a:prstGeom prst="line">
            <a:avLst/>
          </a:prstGeom>
          <a:noFill/>
          <a:ln w="9525">
            <a:solidFill>
              <a:schemeClr val="accent2"/>
            </a:solidFill>
            <a:prstDash val="dash"/>
          </a:ln>
        </p:spPr>
      </p:sp>
      <p:sp>
        <p:nvSpPr>
          <p:cNvPr id="10" name="Shape 8"/>
          <p:cNvSpPr/>
          <p:nvPr/>
        </p:nvSpPr>
        <p:spPr>
          <a:xfrm>
            <a:off x="10927080" y="3214116"/>
            <a:ext cx="548640" cy="548640"/>
          </a:xfrm>
          <a:prstGeom prst="star8">
            <a:avLst/>
          </a:prstGeom>
          <a:solidFill>
            <a:schemeClr val="accent2"/>
          </a:solidFill>
          <a:ln/>
        </p:spPr>
      </p:sp>
      <p:sp>
        <p:nvSpPr>
          <p:cNvPr id="11" name="Shape 9"/>
          <p:cNvSpPr/>
          <p:nvPr/>
        </p:nvSpPr>
        <p:spPr>
          <a:xfrm>
            <a:off x="11036808" y="332384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14116"/>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١٦٨</a:t>
            </a:r>
            <a:endParaRPr lang="ar-SA" sz="1300" dirty="0"/>
          </a:p>
        </p:txBody>
      </p:sp>
      <p:sp>
        <p:nvSpPr>
          <p:cNvPr id="13" name="Text 11"/>
          <p:cNvSpPr txBox="1"/>
          <p:nvPr/>
        </p:nvSpPr>
        <p:spPr>
          <a:xfrm>
            <a:off x="731520" y="3195828"/>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كَفَرُواْ وَظَلَمُواْ لَمْ يَكُنِ اللَّهُ لِيَغْفِرَ لَهُمْ وَلَا لِيَهْدِيَهُمْ طَرِيقًا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كفروا وظلموا لم يكن الله ليغفر لهم، ولا ليهديهم طريقًا.</a:t>
            </a:r>
            <a:endParaRPr lang="ar-SA" sz="3200" dirty="0"/>
          </a:p>
        </p:txBody>
      </p:sp>
      <p:sp>
        <p:nvSpPr>
          <p:cNvPr id="14" name="Shape 12"/>
          <p:cNvSpPr/>
          <p:nvPr/>
        </p:nvSpPr>
        <p:spPr>
          <a:xfrm>
            <a:off x="2103120" y="4379976"/>
            <a:ext cx="8641080" cy="0"/>
          </a:xfrm>
          <a:prstGeom prst="line">
            <a:avLst/>
          </a:prstGeom>
          <a:noFill/>
          <a:ln w="9525">
            <a:solidFill>
              <a:schemeClr val="accent2"/>
            </a:solidFill>
            <a:prstDash val="dash"/>
          </a:ln>
        </p:spPr>
      </p:sp>
      <p:sp>
        <p:nvSpPr>
          <p:cNvPr id="15" name="Shape 13"/>
          <p:cNvSpPr/>
          <p:nvPr/>
        </p:nvSpPr>
        <p:spPr>
          <a:xfrm>
            <a:off x="10927080" y="4640580"/>
            <a:ext cx="548640" cy="548640"/>
          </a:xfrm>
          <a:prstGeom prst="star8">
            <a:avLst/>
          </a:prstGeom>
          <a:solidFill>
            <a:schemeClr val="accent2"/>
          </a:solidFill>
          <a:ln/>
        </p:spPr>
      </p:sp>
      <p:sp>
        <p:nvSpPr>
          <p:cNvPr id="16" name="Shape 14"/>
          <p:cNvSpPr/>
          <p:nvPr/>
        </p:nvSpPr>
        <p:spPr>
          <a:xfrm>
            <a:off x="11036808" y="4750308"/>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4058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١٦٩</a:t>
            </a:r>
            <a:endParaRPr lang="ar-SA" sz="1300" dirty="0"/>
          </a:p>
        </p:txBody>
      </p:sp>
      <p:sp>
        <p:nvSpPr>
          <p:cNvPr id="18" name="Text 16"/>
          <p:cNvSpPr txBox="1"/>
          <p:nvPr/>
        </p:nvSpPr>
        <p:spPr>
          <a:xfrm>
            <a:off x="731520" y="4622292"/>
            <a:ext cx="10012680" cy="96926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طَرِيقَ جَهَنَّمَ خَٰلِدِينَ فِيهَآ أَبَدًا وَكَانَ ذَٰلِكَ عَلَى اللَّهِ يَسِيرًا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طريق جهنم خالدين فيها أبدًا، وكان ذلك على الله سهلًا.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103</a:t>
            </a:fld>
            <a:endParaRPr lang="en-US"/>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١٧٠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752344"/>
            <a:ext cx="548640" cy="548640"/>
          </a:xfrm>
          <a:prstGeom prst="star8">
            <a:avLst/>
          </a:prstGeom>
          <a:solidFill>
            <a:schemeClr val="accent2"/>
          </a:solidFill>
          <a:ln/>
        </p:spPr>
      </p:sp>
      <p:sp>
        <p:nvSpPr>
          <p:cNvPr id="6" name="Shape 4"/>
          <p:cNvSpPr/>
          <p:nvPr/>
        </p:nvSpPr>
        <p:spPr>
          <a:xfrm>
            <a:off x="11036808" y="28620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75234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١٧٠</a:t>
            </a:r>
            <a:endParaRPr lang="ar-SA" sz="1300" dirty="0"/>
          </a:p>
        </p:txBody>
      </p:sp>
      <p:sp>
        <p:nvSpPr>
          <p:cNvPr id="8" name="Text 6"/>
          <p:cNvSpPr txBox="1"/>
          <p:nvPr/>
        </p:nvSpPr>
        <p:spPr>
          <a:xfrm>
            <a:off x="731520" y="2734056"/>
            <a:ext cx="10012680" cy="189280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النَّاسُ قَدْ جَآءَكُمُ الرَّسُولُ بِالْحَقِّ مِن رَّبِّكُمْ فَـَٔامِنُواْ خَيْرًا لَّكُمْ وَإِن تَكْفُرُواْ فَإِنَّ لِلَّهِ مَا فِي السَّمَٰوَٰتِ وَالْأَرْضِ وَكَانَ اللَّهُ عَلِيمًا حَكِيمًا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الناس، قد جاءكم الرسول محمد صلى الله عليه وسلم بالحق من ربكم، فآمنوا يكن خيرًا لكم، وإن تكفروا فإن لله ما في السماوات والأرض.</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١٧١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997964"/>
            <a:ext cx="548640" cy="548640"/>
          </a:xfrm>
          <a:prstGeom prst="star8">
            <a:avLst/>
          </a:prstGeom>
          <a:solidFill>
            <a:schemeClr val="accent2"/>
          </a:solidFill>
          <a:ln/>
        </p:spPr>
      </p:sp>
      <p:sp>
        <p:nvSpPr>
          <p:cNvPr id="6" name="Shape 4"/>
          <p:cNvSpPr/>
          <p:nvPr/>
        </p:nvSpPr>
        <p:spPr>
          <a:xfrm>
            <a:off x="11036808" y="210769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99796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١٧١</a:t>
            </a:r>
            <a:endParaRPr lang="ar-SA" sz="1300" dirty="0"/>
          </a:p>
        </p:txBody>
      </p:sp>
      <p:sp>
        <p:nvSpPr>
          <p:cNvPr id="8" name="Text 6"/>
          <p:cNvSpPr txBox="1"/>
          <p:nvPr/>
        </p:nvSpPr>
        <p:spPr>
          <a:xfrm>
            <a:off x="731520" y="1979676"/>
            <a:ext cx="10012680" cy="340156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يَـٰأَهْلَ الْكِتَٰبِ لَا تَغْلُواْ فِي دِينِكُمْ وَلَا تَقُولُواْ عَلَى اللَّهِ إِلَّا الْحَقَّ إِنَّمَا الْمَسِيحُ عِيسَى ابْنُ مَرْيَمَ رَسُولُ اللَّهِ وَكَلِمَتُهُ أَلْقَىٰهَآ إِلَىٰ مَرْيَمَ وَرُوحٌ مِّنْهُ فَـَٔامِنُواْ بِاللَّهِ وَرُسُلِهِ وَلَا تَقُولُواْ ثَلَٰثَةٌ انتَهُواْ خَيْرًا لَّكُمْ إِنَّمَا اللَّهُ إِلَٰهٌ وَٰحِدٌ سُبْحَٰنَهُ أَن يَكُونَ لَهُ وَلَدٌ لَّهُ مَا فِي السَّمَٰوَٰتِ وَمَا فِي الْأَرْضِ وَكَفَىٰ بِاللَّهِ وَكِيلًا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أهل الكتاب، لا تتجاوزوا الحدّ في دينكم، ولا تقولوا على الله إلا الحق، إنما المسيح عيسى ابن مريم رسول الله، خلقه بكلمة «كن»، فآمنوا بالله ورسله، ولا تقولوا: الآلهة ثلاثة، انتهوا خيرًا لكم، إنما الله إله واحد، سبحانه أن يكون له ولد.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١٧٢ – ١٧٣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56182"/>
            <a:ext cx="548640" cy="548640"/>
          </a:xfrm>
          <a:prstGeom prst="star8">
            <a:avLst/>
          </a:prstGeom>
          <a:solidFill>
            <a:schemeClr val="accent2"/>
          </a:solidFill>
          <a:ln/>
        </p:spPr>
      </p:sp>
      <p:sp>
        <p:nvSpPr>
          <p:cNvPr id="6" name="Shape 4"/>
          <p:cNvSpPr/>
          <p:nvPr/>
        </p:nvSpPr>
        <p:spPr>
          <a:xfrm>
            <a:off x="11036808" y="156591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5618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١٧٢</a:t>
            </a:r>
            <a:endParaRPr lang="ar-SA" sz="1300" dirty="0"/>
          </a:p>
        </p:txBody>
      </p:sp>
      <p:sp>
        <p:nvSpPr>
          <p:cNvPr id="8" name="Text 6"/>
          <p:cNvSpPr txBox="1"/>
          <p:nvPr/>
        </p:nvSpPr>
        <p:spPr>
          <a:xfrm>
            <a:off x="731520" y="1437894"/>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لَّن يَسْتَنكِفَ الْمَسِيحُ أَن يَكُونَ عَبْدًا لِّلَّهِ وَلَا الْمَلَـٰئِكَةُ الْمُقَرَّبُونَ وَمَن يَسْتَنكِفْ عَنْ عِبَادَتِهِ وَيَسْتَكْبِرْ فَسَيَحْشُرُهُمْ إِلَيْهِ جَمِيعًا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لن يتكبّر المسيح أن يكون عبدًا لله، ولا الملائكة المقرّبون، ومن يتكبّر عن عبادته فسيجمعهم إليه جميعًا.</a:t>
            </a:r>
            <a:endParaRPr lang="ar-SA" sz="3200" dirty="0"/>
          </a:p>
        </p:txBody>
      </p:sp>
      <p:sp>
        <p:nvSpPr>
          <p:cNvPr id="9" name="Shape 7"/>
          <p:cNvSpPr/>
          <p:nvPr/>
        </p:nvSpPr>
        <p:spPr>
          <a:xfrm>
            <a:off x="2103120" y="3204972"/>
            <a:ext cx="8641080" cy="0"/>
          </a:xfrm>
          <a:prstGeom prst="line">
            <a:avLst/>
          </a:prstGeom>
          <a:noFill/>
          <a:ln w="9525">
            <a:solidFill>
              <a:schemeClr val="accent2"/>
            </a:solidFill>
            <a:prstDash val="dash"/>
          </a:ln>
        </p:spPr>
      </p:sp>
      <p:sp>
        <p:nvSpPr>
          <p:cNvPr id="10" name="Shape 8"/>
          <p:cNvSpPr/>
          <p:nvPr/>
        </p:nvSpPr>
        <p:spPr>
          <a:xfrm>
            <a:off x="10927080" y="3463290"/>
            <a:ext cx="548640" cy="548640"/>
          </a:xfrm>
          <a:prstGeom prst="star8">
            <a:avLst/>
          </a:prstGeom>
          <a:solidFill>
            <a:schemeClr val="accent2"/>
          </a:solidFill>
          <a:ln/>
        </p:spPr>
      </p:sp>
      <p:sp>
        <p:nvSpPr>
          <p:cNvPr id="11" name="Shape 9"/>
          <p:cNvSpPr/>
          <p:nvPr/>
        </p:nvSpPr>
        <p:spPr>
          <a:xfrm>
            <a:off x="11036808" y="357301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63290"/>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١٧٣</a:t>
            </a:r>
            <a:endParaRPr lang="ar-SA" sz="1300" dirty="0"/>
          </a:p>
        </p:txBody>
      </p:sp>
      <p:sp>
        <p:nvSpPr>
          <p:cNvPr id="13" name="Text 11"/>
          <p:cNvSpPr txBox="1"/>
          <p:nvPr/>
        </p:nvSpPr>
        <p:spPr>
          <a:xfrm>
            <a:off x="731520" y="3445002"/>
            <a:ext cx="10012680" cy="247802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فَأَمَّا الَّذِينَ ءَامَنُواْ وَعَمِلُواْ الصَّـٰلِحَٰتِ فَيُوَفِّيهِمْ أُجُورَهُمْ وَيَزِيدُهُم مِّن فَضْلِهِ وَأَمَّا الَّذِينَ اسْتَنكَفُواْ وَاسْتَكْبَرُواْ فَيُعَذِّبُهُمْ عَذَابًا أَلِيمًا وَلَا يَجِدُونَ لَهُم مِّن دُونِ اللَّهِ وَلِيًّا وَلَا نَصِيرًا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فأما المؤمنون العاملون للصالحات فيعطيهم أجورهم كاملة ويزيدهم من فضله، وأما المتكبّرون فيعذّبهم عذابًا مؤلمًا، ولا يجدون لهم وليًّا ولا نصيرًا.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١٧٤ – ١٧٥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39112"/>
            <a:ext cx="548640" cy="548640"/>
          </a:xfrm>
          <a:prstGeom prst="star8">
            <a:avLst/>
          </a:prstGeom>
          <a:solidFill>
            <a:schemeClr val="accent2"/>
          </a:solidFill>
          <a:ln/>
        </p:spPr>
      </p:sp>
      <p:sp>
        <p:nvSpPr>
          <p:cNvPr id="6" name="Shape 4"/>
          <p:cNvSpPr/>
          <p:nvPr/>
        </p:nvSpPr>
        <p:spPr>
          <a:xfrm>
            <a:off x="11036808" y="214884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39112"/>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١٧٤</a:t>
            </a:r>
            <a:endParaRPr lang="ar-SA" sz="1300" dirty="0"/>
          </a:p>
        </p:txBody>
      </p:sp>
      <p:sp>
        <p:nvSpPr>
          <p:cNvPr id="8" name="Text 6"/>
          <p:cNvSpPr txBox="1"/>
          <p:nvPr/>
        </p:nvSpPr>
        <p:spPr>
          <a:xfrm>
            <a:off x="731520" y="2020824"/>
            <a:ext cx="10012680" cy="1307592"/>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النَّاسُ قَدْ جَآءَكُم بُرْهَٰنٌ مِّن رَّبِّكُمْ وَأَنزَلْنَآ إِلَيْكُمْ نُورًا مُّبِينًا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الناس، قد جاءكم دليل قاطع من ربكم -وهو محمد صلى الله عليه وسلم-، وأنزلنا إليكم نورًا واضحًا -وهو القرآن-.</a:t>
            </a:r>
            <a:endParaRPr lang="ar-SA" sz="3200" dirty="0"/>
          </a:p>
        </p:txBody>
      </p:sp>
      <p:sp>
        <p:nvSpPr>
          <p:cNvPr id="9" name="Shape 7"/>
          <p:cNvSpPr/>
          <p:nvPr/>
        </p:nvSpPr>
        <p:spPr>
          <a:xfrm>
            <a:off x="2103120" y="3543300"/>
            <a:ext cx="8641080" cy="0"/>
          </a:xfrm>
          <a:prstGeom prst="line">
            <a:avLst/>
          </a:prstGeom>
          <a:noFill/>
          <a:ln w="9525">
            <a:solidFill>
              <a:schemeClr val="accent2"/>
            </a:solidFill>
            <a:prstDash val="dash"/>
          </a:ln>
        </p:spPr>
      </p:sp>
      <p:sp>
        <p:nvSpPr>
          <p:cNvPr id="10" name="Shape 8"/>
          <p:cNvSpPr/>
          <p:nvPr/>
        </p:nvSpPr>
        <p:spPr>
          <a:xfrm>
            <a:off x="10927080" y="3803904"/>
            <a:ext cx="548640" cy="548640"/>
          </a:xfrm>
          <a:prstGeom prst="star8">
            <a:avLst/>
          </a:prstGeom>
          <a:solidFill>
            <a:schemeClr val="accent2"/>
          </a:solidFill>
          <a:ln/>
        </p:spPr>
      </p:sp>
      <p:sp>
        <p:nvSpPr>
          <p:cNvPr id="11" name="Shape 9"/>
          <p:cNvSpPr/>
          <p:nvPr/>
        </p:nvSpPr>
        <p:spPr>
          <a:xfrm>
            <a:off x="11036808" y="39136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803904"/>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١٧٥</a:t>
            </a:r>
            <a:endParaRPr lang="ar-SA" sz="1300" dirty="0"/>
          </a:p>
        </p:txBody>
      </p:sp>
      <p:sp>
        <p:nvSpPr>
          <p:cNvPr id="13" name="Text 11"/>
          <p:cNvSpPr txBox="1"/>
          <p:nvPr/>
        </p:nvSpPr>
        <p:spPr>
          <a:xfrm>
            <a:off x="731520" y="3785616"/>
            <a:ext cx="10012680" cy="155448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فَأَمَّا الَّذِينَ ءَامَنُواْ بِاللَّهِ وَاعْتَصَمُواْ بِهِ فَسَيُدْخِلُهُمْ فِي رَحْمَةٍ مِّنْهُ وَفَضْلٍ وَيَهْدِيهِمْ إِلَيْهِ صِرَٰطًا مُّسْتَقِيمًا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فأما الذين آمنوا بالله وتمسّكوا بالقرآن، فسيُدخلهم في رحمة منه وفضل، ويهديهم إليه طريقًا مستقيمًا.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النساء</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١٧٦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167128"/>
            <a:ext cx="548640" cy="548640"/>
          </a:xfrm>
          <a:prstGeom prst="star8">
            <a:avLst/>
          </a:prstGeom>
          <a:solidFill>
            <a:schemeClr val="accent2"/>
          </a:solidFill>
          <a:ln/>
        </p:spPr>
      </p:sp>
      <p:sp>
        <p:nvSpPr>
          <p:cNvPr id="6" name="Shape 4"/>
          <p:cNvSpPr/>
          <p:nvPr/>
        </p:nvSpPr>
        <p:spPr>
          <a:xfrm>
            <a:off x="11036808" y="227685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167128"/>
            <a:ext cx="548640" cy="548640"/>
          </a:xfrm>
          <a:prstGeom prst="rect">
            <a:avLst/>
          </a:prstGeom>
          <a:noFill/>
          <a:ln/>
        </p:spPr>
        <p:txBody>
          <a:bodyPr wrap="square" lIns="0" tIns="0" rIns="0" bIns="0" rtlCol="0" anchor="ctr"/>
          <a:lstStyle/>
          <a:p>
            <a:pPr rtl="1" algn="ctr" indent="0" marL="0">
              <a:buNone/>
            </a:pPr>
            <a:r>
              <a:rPr lang="ar-SA" altLang="en-US" sz="1300" b="1" dirty="0">
                <a:solidFill>
                  <a:schemeClr val="tx2"/>
                </a:solidFill>
                <a:latin typeface="Arial" pitchFamily="34" charset="0"/>
                <a:ea typeface="Arial" pitchFamily="34" charset="-122"/>
                <a:cs typeface="Arial" pitchFamily="34" charset="-120"/>
              </a:rPr>
              <a:t>١٧٦</a:t>
            </a:r>
            <a:endParaRPr lang="ar-SA" sz="1300" dirty="0"/>
          </a:p>
        </p:txBody>
      </p:sp>
      <p:sp>
        <p:nvSpPr>
          <p:cNvPr id="8" name="Text 6"/>
          <p:cNvSpPr txBox="1"/>
          <p:nvPr/>
        </p:nvSpPr>
        <p:spPr>
          <a:xfrm>
            <a:off x="731520" y="2148840"/>
            <a:ext cx="10012680" cy="3063240"/>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يَسْتَفْتُونَكَ قُلِ اللَّهُ يُفْتِيكُمْ فِي الْكَلَٰلَةِ إِنِ امْرُؤٌاْ هَلَكَ لَيْسَ لَهُ وَلَدٌ وَلَهُ أُخْتٌ فَلَهَا نِصْفُ مَا تَرَكَ وَهُوَ يَرِثُهَآ إِن لَّمْ يَكُن لَّهَا وَلَدٌ فَإِن كَانَتَا اثْنَتَيْنِ فَلَهُمَا الثُّلُثَانِ مِمَّا تَرَكَ وَإِن كَانُواْ إِخْوَةً رِّجَالًا وَنِسَآءً فَلِلذَّكَرِ مِثْلُ حَظِّ الْأُنثَيَيْنِ يُبَيِّنُ اللَّهُ لَكُمْ أَن تَضِلُّواْ وَاللَّهُ بِكُلِّ شَيْءٍ عَلِيمٌ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يسألونك، قل: الله يبيّن لكم حكم «الكلالة»، وهو من مات وليس له ولد ولا والد: فإن كانت له أخت فلها نصف ما ترك، وإن كانتا اثنتين فلهما الثلثان، وإن كانوا إخوة رجالًا ونساءً فللذكر مثل حظ الأنثيين.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pic>
        <p:nvPicPr>
          <p:cNvPr id="2" name="Image 0" descr="assets4/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4/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An-Nisa Tafsir">
  <a:themeElements>
    <a:clrScheme name="An-Nisa Tafsir">
      <a:dk1>
        <a:srgbClr val="2B2228"/>
      </a:dk1>
      <a:lt1>
        <a:srgbClr val="FFFFFF"/>
      </a:lt1>
      <a:dk2>
        <a:srgbClr val="8E1F5E"/>
      </a:dk2>
      <a:lt2>
        <a:srgbClr val="FCF7FA"/>
      </a:lt2>
      <a:accent1>
        <a:srgbClr val="8E1F5E"/>
      </a:accent1>
      <a:accent2>
        <a:srgbClr val="C9A04A"/>
      </a:accent2>
      <a:accent3>
        <a:srgbClr val="AE2E78"/>
      </a:accent3>
      <a:accent4>
        <a:srgbClr val="6E6269"/>
      </a:accent4>
      <a:accent5>
        <a:srgbClr val="F6E8F0"/>
      </a:accent5>
      <a:accent6>
        <a:srgbClr val="2F6B5E"/>
      </a:accent6>
      <a:hlink>
        <a:srgbClr val="AE2E78"/>
      </a:hlink>
      <a:folHlink>
        <a:srgbClr val="6E6269"/>
      </a:folHlink>
    </a:clrScheme>
    <a:fontScheme name="An-Nisa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109</Slides>
  <Notes>109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109</vt:i4>
      </vt:variant>
    </vt:vector>
  </HeadingPairs>
  <TitlesOfParts>
    <vt:vector size="1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سورة النساء — مبسّط من تفسير ابن كثير</dc:title>
  <dc:subject>PptxGenJS Presentation</dc:subject>
  <dc:creator>معلم القرآن الكريم</dc:creator>
  <cp:lastModifiedBy>معلم القرآن الكريم</cp:lastModifiedBy>
  <cp:revision>1</cp:revision>
  <dcterms:created xsi:type="dcterms:W3CDTF">2026-10-03T21:08:45Z</dcterms:created>
  <dcterms:modified xsi:type="dcterms:W3CDTF">2026-10-03T21:08:45Z</dcterms:modified>
</cp:coreProperties>
</file>