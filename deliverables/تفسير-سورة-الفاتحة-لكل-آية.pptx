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6cf0df5b-7033-c894-4a1f-cf68b1b2a5e2}">
          <p14:sldIdLst>
            <p14:sldId id="256"/>
            <p14:sldId id="257"/>
            <p14:sldId id="258"/>
            <p14:sldId id="259"/>
          </p14:sldIdLst>
        </p14:section>
        <p14:section name="1. الثناء على الله وتمجيده" id="{792b06e8-5d20-239d-04e9-e87d81e27262}">
          <p14:sldIdLst>
            <p14:sldId id="260"/>
            <p14:sldId id="261"/>
            <p14:sldId id="262"/>
          </p14:sldIdLst>
        </p14:section>
        <p14:section name="2. العهد بين العبد وربه" id="{a11bd1b6-bb94-714f-6edf-c5212fd74a40}">
          <p14:sldIdLst>
            <p14:sldId id="263"/>
            <p14:sldId id="264"/>
          </p14:sldIdLst>
        </p14:section>
        <p14:section name="3. أعظم دعاء: الهداية" id="{c004a980-4f83-5b51-9378-84f4a0be9abb}">
          <p14:sldIdLst>
            <p14:sldId id="265"/>
            <p14:sldId id="266"/>
          </p14:sldIdLst>
        </p14:section>
        <p14:section name="الخاتمة" id="{2f0d50aa-a645-a1c7-3ad8-8896a0605884}">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السورة إلى ثلاثة مقاطع: الثناء على الله، ثم العهد بين العبد وربه، ثم الدعاء بالهداية، كما قسّمها الحديث القدسي.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يقول الله حين يقول العبد: الحمد لله رب العالمين؟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الفرق بين ﴿إياك نعبد﴾ و﴿إياك نستعين﴾؟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نطلب الهداية في كل ركعة ونحن مسلمون؟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سورة الفاتحة</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٧ آيات  •  مكية  •  أم الكتاب والسبع المثاني</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الأخضر الملكي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سورة الفاتحة</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أعظم سورة في القرآن</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النبي صلى الله عليه وسلم لأبي سعيد بن المعلّى: «لأعلّمنّك سورة هي أعظم السور في القرآن: الحمد لله رب العالمين، هي السبع المثاني والقرآن العظيم الذي أوتيته» (رواه البخاري).</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لا صلاة إلا بها</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النبي صلى الله عليه وسلم: «لا صلاة لمن لم يقرأ بفاتحة الكتاب» (رواه البخاري ومسلم)، فنقرؤها في كل ركعة، أي سبع عشرة مرة على الأقل كل يوم.</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أسماؤها كثيرة</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من أسمائها: الفاتحة لأن القرآن يُفتتح بها، وأم الكتاب، والسبع المثاني لأنها سبع آيات تُثنّى في كل صلاة، والرقية، والشافية. وهي ٧ آيات مكية.</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السورة</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ثلاثة مقاطع كما في الحديث القدسي: «قسمت الصلاة بيني وبين عبدي نصفين»</a:t>
            </a:r>
            <a:endParaRPr lang="ar-SA" sz="1700" dirty="0"/>
          </a:p>
        </p:txBody>
      </p:sp>
      <p:sp>
        <p:nvSpPr>
          <p:cNvPr id="4" name="Shape 2"/>
          <p:cNvSpPr/>
          <p:nvPr/>
        </p:nvSpPr>
        <p:spPr>
          <a:xfrm>
            <a:off x="6233008" y="1828800"/>
            <a:ext cx="5257800" cy="749808"/>
          </a:xfrm>
          <a:prstGeom prst="roundRect">
            <a:avLst>
              <a:gd name="adj" fmla="val 14634"/>
            </a:avLst>
          </a:prstGeom>
          <a:solidFill>
            <a:schemeClr val="bg1"/>
          </a:solidFill>
          <a:ln w="12700">
            <a:solidFill>
              <a:schemeClr val="accent2"/>
            </a:solidFill>
            <a:prstDash val="solid"/>
          </a:ln>
        </p:spPr>
      </p:sp>
      <p:sp>
        <p:nvSpPr>
          <p:cNvPr id="5" name="Shape 3"/>
          <p:cNvSpPr/>
          <p:nvPr/>
        </p:nvSpPr>
        <p:spPr>
          <a:xfrm>
            <a:off x="10805008" y="1938528"/>
            <a:ext cx="530352" cy="530352"/>
          </a:xfrm>
          <a:prstGeom prst="star8">
            <a:avLst/>
          </a:prstGeom>
          <a:solidFill>
            <a:schemeClr val="accent2"/>
          </a:solidFill>
          <a:ln/>
        </p:spPr>
      </p:sp>
      <p:sp>
        <p:nvSpPr>
          <p:cNvPr id="6" name="Shape 4"/>
          <p:cNvSpPr/>
          <p:nvPr/>
        </p:nvSpPr>
        <p:spPr>
          <a:xfrm>
            <a:off x="1091107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1080500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a:t>
            </a:r>
            <a:endParaRPr lang="ar-SA" sz="1400" dirty="0"/>
          </a:p>
        </p:txBody>
      </p:sp>
      <p:sp>
        <p:nvSpPr>
          <p:cNvPr id="8" name="Text 6"/>
          <p:cNvSpPr txBox="1"/>
          <p:nvPr/>
        </p:nvSpPr>
        <p:spPr>
          <a:xfrm>
            <a:off x="6370168" y="186537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الثناء على الله وتمجيده</a:t>
            </a:r>
            <a:endParaRPr lang="ar-SA" sz="1700" dirty="0"/>
          </a:p>
        </p:txBody>
      </p:sp>
      <p:sp>
        <p:nvSpPr>
          <p:cNvPr id="9" name="Text 7"/>
          <p:cNvSpPr txBox="1"/>
          <p:nvPr/>
        </p:nvSpPr>
        <p:spPr>
          <a:xfrm>
            <a:off x="6370168" y="224869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 – ٤</a:t>
            </a:r>
            <a:endParaRPr lang="ar-SA" sz="1300" dirty="0"/>
          </a:p>
        </p:txBody>
      </p:sp>
      <p:sp>
        <p:nvSpPr>
          <p:cNvPr id="10" name="Shape 8"/>
          <p:cNvSpPr/>
          <p:nvPr/>
        </p:nvSpPr>
        <p:spPr>
          <a:xfrm>
            <a:off x="700888" y="1828800"/>
            <a:ext cx="5257800" cy="749808"/>
          </a:xfrm>
          <a:prstGeom prst="roundRect">
            <a:avLst>
              <a:gd name="adj" fmla="val 14634"/>
            </a:avLst>
          </a:prstGeom>
          <a:solidFill>
            <a:schemeClr val="accent5"/>
          </a:solidFill>
          <a:ln w="12700">
            <a:solidFill>
              <a:schemeClr val="accent2"/>
            </a:solidFill>
            <a:prstDash val="solid"/>
          </a:ln>
        </p:spPr>
      </p:sp>
      <p:sp>
        <p:nvSpPr>
          <p:cNvPr id="11" name="Shape 9"/>
          <p:cNvSpPr/>
          <p:nvPr/>
        </p:nvSpPr>
        <p:spPr>
          <a:xfrm>
            <a:off x="5272888" y="1938528"/>
            <a:ext cx="530352" cy="530352"/>
          </a:xfrm>
          <a:prstGeom prst="star8">
            <a:avLst/>
          </a:prstGeom>
          <a:solidFill>
            <a:schemeClr val="accent2"/>
          </a:solidFill>
          <a:ln/>
        </p:spPr>
      </p:sp>
      <p:sp>
        <p:nvSpPr>
          <p:cNvPr id="12" name="Shape 10"/>
          <p:cNvSpPr/>
          <p:nvPr/>
        </p:nvSpPr>
        <p:spPr>
          <a:xfrm>
            <a:off x="537895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527288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٢</a:t>
            </a:r>
            <a:endParaRPr lang="ar-SA" sz="1400" dirty="0"/>
          </a:p>
        </p:txBody>
      </p:sp>
      <p:sp>
        <p:nvSpPr>
          <p:cNvPr id="14" name="Text 12"/>
          <p:cNvSpPr txBox="1"/>
          <p:nvPr/>
        </p:nvSpPr>
        <p:spPr>
          <a:xfrm>
            <a:off x="838048" y="186537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العهد بين العبد وربه</a:t>
            </a:r>
            <a:endParaRPr lang="ar-SA" sz="1700" dirty="0"/>
          </a:p>
        </p:txBody>
      </p:sp>
      <p:sp>
        <p:nvSpPr>
          <p:cNvPr id="15" name="Text 13"/>
          <p:cNvSpPr txBox="1"/>
          <p:nvPr/>
        </p:nvSpPr>
        <p:spPr>
          <a:xfrm>
            <a:off x="838048" y="224869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٥ – ٥</a:t>
            </a:r>
            <a:endParaRPr lang="ar-SA" sz="1300" dirty="0"/>
          </a:p>
        </p:txBody>
      </p:sp>
      <p:sp>
        <p:nvSpPr>
          <p:cNvPr id="16" name="Shape 14"/>
          <p:cNvSpPr/>
          <p:nvPr/>
        </p:nvSpPr>
        <p:spPr>
          <a:xfrm>
            <a:off x="6233008" y="2697480"/>
            <a:ext cx="5257800" cy="749808"/>
          </a:xfrm>
          <a:prstGeom prst="roundRect">
            <a:avLst>
              <a:gd name="adj" fmla="val 14634"/>
            </a:avLst>
          </a:prstGeom>
          <a:solidFill>
            <a:schemeClr val="bg1"/>
          </a:solidFill>
          <a:ln w="12700">
            <a:solidFill>
              <a:schemeClr val="accent2"/>
            </a:solidFill>
            <a:prstDash val="solid"/>
          </a:ln>
        </p:spPr>
      </p:sp>
      <p:sp>
        <p:nvSpPr>
          <p:cNvPr id="17" name="Shape 15"/>
          <p:cNvSpPr/>
          <p:nvPr/>
        </p:nvSpPr>
        <p:spPr>
          <a:xfrm>
            <a:off x="10805008" y="2807208"/>
            <a:ext cx="530352" cy="530352"/>
          </a:xfrm>
          <a:prstGeom prst="star8">
            <a:avLst/>
          </a:prstGeom>
          <a:solidFill>
            <a:schemeClr val="accent2"/>
          </a:solidFill>
          <a:ln/>
        </p:spPr>
      </p:sp>
      <p:sp>
        <p:nvSpPr>
          <p:cNvPr id="18" name="Shape 16"/>
          <p:cNvSpPr/>
          <p:nvPr/>
        </p:nvSpPr>
        <p:spPr>
          <a:xfrm>
            <a:off x="1091107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1080500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٣</a:t>
            </a:r>
            <a:endParaRPr lang="ar-SA" sz="1400" dirty="0"/>
          </a:p>
        </p:txBody>
      </p:sp>
      <p:sp>
        <p:nvSpPr>
          <p:cNvPr id="20" name="Text 18"/>
          <p:cNvSpPr txBox="1"/>
          <p:nvPr/>
        </p:nvSpPr>
        <p:spPr>
          <a:xfrm>
            <a:off x="6370168" y="273405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أعظم دعاء: الهداية</a:t>
            </a:r>
            <a:endParaRPr lang="ar-SA" sz="1700" dirty="0"/>
          </a:p>
        </p:txBody>
      </p:sp>
      <p:sp>
        <p:nvSpPr>
          <p:cNvPr id="21" name="Text 19"/>
          <p:cNvSpPr txBox="1"/>
          <p:nvPr/>
        </p:nvSpPr>
        <p:spPr>
          <a:xfrm>
            <a:off x="6370168" y="311737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٦ – ٧</a:t>
            </a:r>
            <a:endParaRPr lang="ar-SA" sz="13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الثناء على الله وتمجيده</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٣</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٤</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الفاتحة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نزلت الفاتحة بمكة، وهي من أوائل ما نزل من القرآن كاملًا. وقال الله في الحديث القدسي: «قسمتُ الصلاة بيني وبين عبدي نصفين، ولعبدي ما سأل» (رواه مسلم)، فالآيات الأولى ثناء على الله.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تبدأ الفاتحة بالبسملة، ثم الثناء على الله بأنه رب العالمين، الرحمن الرحيم، مالك يوم الدين؛ فيعرف العبد ربه قبل أن يسأله.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الفاتحة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24228"/>
            <a:ext cx="548640" cy="548640"/>
          </a:xfrm>
          <a:prstGeom prst="star8">
            <a:avLst/>
          </a:prstGeom>
          <a:solidFill>
            <a:schemeClr val="accent2"/>
          </a:solidFill>
          <a:ln/>
        </p:spPr>
      </p:sp>
      <p:sp>
        <p:nvSpPr>
          <p:cNvPr id="6" name="Shape 4"/>
          <p:cNvSpPr/>
          <p:nvPr/>
        </p:nvSpPr>
        <p:spPr>
          <a:xfrm>
            <a:off x="11036808" y="19339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242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05940"/>
            <a:ext cx="10012680" cy="164592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بِسْمِ اللَّهِ الرَّحْمَٰنِ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أبدأ قراءتي مستعينًا باسم الله ومتبرّكًا به. و«الله» اسم الرب المعبود بحق، وهو أعظم أسمائه. و«الرحمن» صاحب الرحمة الواسعة التي تشمل جميع الخلق في الدنيا، و«الرحيم» الذي يرحم المؤمنين رحمة خاصة يوم القيامة.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909060"/>
            <a:ext cx="10012680" cy="164592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الْحَمْدُ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الثناء الكامل والشكر بجميع أنواعه لله وحده، فهو ربّ العالمين: خالقهم، ومالكهم، ومربّيهم بنعمه. و«العالمين» كل ما سوى الله من الإنس والجن والملائكة وسائر المخلوقات. قال الله في الحديث القدسي: إذا قال العبد: ﴿الحمد لله رب العالمين﴾، قال الله: «حمدني عبدي» (رواه 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الفاتحة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2556"/>
            <a:ext cx="548640" cy="548640"/>
          </a:xfrm>
          <a:prstGeom prst="star8">
            <a:avLst/>
          </a:prstGeom>
          <a:solidFill>
            <a:schemeClr val="accent2"/>
          </a:solidFill>
          <a:ln/>
        </p:spPr>
      </p:sp>
      <p:sp>
        <p:nvSpPr>
          <p:cNvPr id="6" name="Shape 4"/>
          <p:cNvSpPr/>
          <p:nvPr/>
        </p:nvSpPr>
        <p:spPr>
          <a:xfrm>
            <a:off x="11036808" y="22722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25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214426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الرَّحْمَٰنِ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الرحمن الذي وسعت رحمته كل شيء، الرحيم بعباده المؤمنين. وذِكر الرحمة بعد ذِكر الربوبية يجمع بين الخوف والرجاء. وإذا قالها العبد قال الله: «أثنى عليّ عبدي» (رواه مسلم).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9090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مَٰلِكِ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المالك المتصرّف وحده يوم الجزاء والحساب وهو يوم القيامة، وخصّه بالذكر لأنه يوم لا يملك فيه أحد شيئًا، ولا يتكلّم أحد إلا بإذنه. وإذا قالها العبد قال الله: «مجّدني عبدي» (رواه 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العهد بين العبد وربه</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٣</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 – 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الفاتحة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الله تعالى عن هذه الآية: «هذا بيني وبين عبدي، ولعبدي ما سأل» (رواه مسلم)؛ فهي الآية التي تجمع بين حق الله وحاجة العبد.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قلب الفاتحة: أن نعبد الله وحده، وأن نستعين به وحده، فلا نصرف شيئًا من العبادة لغيره.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الفاتحة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875788"/>
            <a:ext cx="548640" cy="548640"/>
          </a:xfrm>
          <a:prstGeom prst="star8">
            <a:avLst/>
          </a:prstGeom>
          <a:solidFill>
            <a:schemeClr val="accent2"/>
          </a:solidFill>
          <a:ln/>
        </p:spPr>
      </p:sp>
      <p:sp>
        <p:nvSpPr>
          <p:cNvPr id="6" name="Shape 4"/>
          <p:cNvSpPr/>
          <p:nvPr/>
        </p:nvSpPr>
        <p:spPr>
          <a:xfrm>
            <a:off x="11036808" y="29855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8757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2857500"/>
            <a:ext cx="10012680" cy="164592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إِيَّاكَ نَعْبُدُ وَإِيَّاكَ نَسْتَعِينُ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نخصّك وحدك يا ربنا بالعبادة فلا نعبد غيرك، ونخصّك وحدك بطلب العون فلا نستعين إلا بك. وهذه الآية سرّ الفاتحة: فالعبادة غاية العبد، والاستعانة وسيلته إليها. وإذا قالها العبد قال الله: «هذا بيني وبين عبدي، ولعبدي ما سأل» (رواه 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أعظم دعاء: الهداية</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٣</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٦ – 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الفاتحة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الله تعالى: فإذا قال العبد: ﴿اهدنا الصراط المستقيم...﴾ إلى آخر السورة، قال: «هذا لعبدي، ولعبدي ما سأل» (رواه مسلم)، فالله يستجيب لمن دعاه بقلب حاضر.</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بعد الثناء والعهد يأتي الطلب: أن يهدينا الله إلى الصراط المستقيم، طريق الأنبياء والصالحين، ويُبعدنا عن طريق المغضوب عليهم والضالين.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الفاتحة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3392"/>
            <a:ext cx="548640" cy="548640"/>
          </a:xfrm>
          <a:prstGeom prst="star8">
            <a:avLst/>
          </a:prstGeom>
          <a:solidFill>
            <a:schemeClr val="accent2"/>
          </a:solidFill>
          <a:ln/>
        </p:spPr>
      </p:sp>
      <p:sp>
        <p:nvSpPr>
          <p:cNvPr id="6" name="Shape 4"/>
          <p:cNvSpPr/>
          <p:nvPr/>
        </p:nvSpPr>
        <p:spPr>
          <a:xfrm>
            <a:off x="11036808" y="210312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33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97510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اهْدِنَا الصِّرَٰطَ الْمُسْتَقِيمَ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دلّنا وأرشدنا ووفّقنا، وثبّتنا على الطريق الواضح المستقيم الذي لا اعوجاج فيه، وهو الإسلام، واتّباع القرآن وسنة النبي صلى الله عليه وسلم. ونحن نطلب الهداية في كل ركعة لأننا نحتاج إليها في كل لحظة.</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739896"/>
            <a:ext cx="10012680" cy="164592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صِرَٰطَ الَّذِينَ أَنْعَمْتَ عَلَيْهِمْ غَيْرِ الْمَغْضُوبِ عَلَيْهِمْ وَلَا الضَّآلِّينَ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طريق الذين أنعمت عليهم من النبيين والصدّيقين والشهداء والصالحين، لا طريق المغضوب عليهم الذين عرفوا الحق وتركوه كاليهود، ولا طريق الضالين الذين تركوا الحق جهلًا كالنصارى، كما فسّره النبي صلى الله عليه وسلم (رواه الترمذي). ويُستحبّ أن نقول بعدها: «آمين» أي: اللهم استجب.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assets1/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Al-Fatiha Tafsir">
  <a:themeElements>
    <a:clrScheme name="Al-Fatiha Tafsir">
      <a:dk1>
        <a:srgbClr val="222A26"/>
      </a:dk1>
      <a:lt1>
        <a:srgbClr val="FFFFFF"/>
      </a:lt1>
      <a:dk2>
        <a:srgbClr val="1B4D3E"/>
      </a:dk2>
      <a:lt2>
        <a:srgbClr val="FBFAF3"/>
      </a:lt2>
      <a:accent1>
        <a:srgbClr val="1B4D3E"/>
      </a:accent1>
      <a:accent2>
        <a:srgbClr val="C9A04A"/>
      </a:accent2>
      <a:accent3>
        <a:srgbClr val="2A6B56"/>
      </a:accent3>
      <a:accent4>
        <a:srgbClr val="5F6B65"/>
      </a:accent4>
      <a:accent5>
        <a:srgbClr val="EEF1E6"/>
      </a:accent5>
      <a:accent6>
        <a:srgbClr val="8A2F2A"/>
      </a:accent6>
      <a:hlink>
        <a:srgbClr val="2A6B56"/>
      </a:hlink>
      <a:folHlink>
        <a:srgbClr val="5F6B65"/>
      </a:folHlink>
    </a:clrScheme>
    <a:fontScheme name="Al-Fatiha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سورة الفاتحة — مبسّط من تفسير ابن كثير</dc:title>
  <dc:subject>PptxGenJS Presentation</dc:subject>
  <dc:creator>معلم القرآن الكريم</dc:creator>
  <cp:lastModifiedBy>معلم القرآن الكريم</cp:lastModifiedBy>
  <cp:revision>1</cp:revision>
  <dcterms:created xsi:type="dcterms:W3CDTF">2026-10-03T22:43:14Z</dcterms:created>
  <dcterms:modified xsi:type="dcterms:W3CDTF">2026-10-03T22:43:14Z</dcterms:modified>
</cp:coreProperties>
</file>