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notesMasterIdLst>
    <p:notesMasterId r:id="rId1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92192af0-d250-3ea7-63d3-c9bf441e2330}">
          <p14:sldIdLst>
            <p14:sldId id="256"/>
            <p14:sldId id="257"/>
            <p14:sldId id="258"/>
            <p14:sldId id="259"/>
          </p14:sldIdLst>
        </p14:section>
        <p14:section name="1. الحمد لله الخالق" id="{3c61b78a-00be-f84f-60a3-fb01fb1017f4}">
          <p14:sldIdLst>
            <p14:sldId id="260"/>
            <p14:sldId id="261"/>
            <p14:sldId id="262"/>
            <p14:sldId id="263"/>
            <p14:sldId id="264"/>
          </p14:sldIdLst>
        </p14:section>
        <p14:section name="2. الرحمة وشهادة التوحيد" id="{4341e333-ec26-1df7-3054-b1a4ce54c267}">
          <p14:sldIdLst>
            <p14:sldId id="265"/>
            <p14:sldId id="266"/>
            <p14:sldId id="267"/>
            <p14:sldId id="268"/>
            <p14:sldId id="269"/>
            <p14:sldId id="270"/>
          </p14:sldIdLst>
        </p14:section>
        <p14:section name="3. المكذّبون وتسلية النبي" id="{4393054e-dee2-8e94-6482-18e98e271f48}">
          <p14:sldIdLst>
            <p14:sldId id="271"/>
            <p14:sldId id="272"/>
            <p14:sldId id="273"/>
            <p14:sldId id="274"/>
            <p14:sldId id="275"/>
            <p14:sldId id="276"/>
            <p14:sldId id="277"/>
            <p14:sldId id="278"/>
            <p14:sldId id="279"/>
            <p14:sldId id="280"/>
            <p14:sldId id="281"/>
          </p14:sldIdLst>
        </p14:section>
        <p14:section name="4. الرسول البشر والمؤمنون الفقراء" id="{50c43799-9257-e610-7e28-4805e52c7adb}">
          <p14:sldIdLst>
            <p14:sldId id="282"/>
            <p14:sldId id="283"/>
            <p14:sldId id="284"/>
            <p14:sldId id="285"/>
            <p14:sldId id="286"/>
            <p14:sldId id="287"/>
            <p14:sldId id="288"/>
            <p14:sldId id="289"/>
          </p14:sldIdLst>
        </p14:section>
        <p14:section name="5. مفاتح الغيب وقدرة الله" id="{85dcf7a7-7eee-a44e-0ef9-b9331eb78324}">
          <p14:sldIdLst>
            <p14:sldId id="290"/>
            <p14:sldId id="291"/>
            <p14:sldId id="292"/>
            <p14:sldId id="293"/>
            <p14:sldId id="294"/>
            <p14:sldId id="295"/>
            <p14:sldId id="296"/>
            <p14:sldId id="297"/>
            <p14:sldId id="298"/>
          </p14:sldIdLst>
        </p14:section>
        <p14:section name="6. مناظرة إبراهيم وموكب الأنبياء" id="{419337ea-731a-72e0-92c1-28b512ab6731}">
          <p14:sldIdLst>
            <p14:sldId id="299"/>
            <p14:sldId id="300"/>
            <p14:sldId id="301"/>
            <p14:sldId id="302"/>
            <p14:sldId id="303"/>
            <p14:sldId id="304"/>
            <p14:sldId id="305"/>
            <p14:sldId id="306"/>
            <p14:sldId id="307"/>
          </p14:sldIdLst>
        </p14:section>
        <p14:section name="7. آيات الله في الكون" id="{88a703df-2582-9ca4-23b6-940e5d7a1e07}">
          <p14:sldIdLst>
            <p14:sldId id="308"/>
            <p14:sldId id="309"/>
            <p14:sldId id="310"/>
            <p14:sldId id="311"/>
            <p14:sldId id="312"/>
            <p14:sldId id="313"/>
            <p14:sldId id="314"/>
            <p14:sldId id="315"/>
            <p14:sldId id="316"/>
            <p14:sldId id="317"/>
            <p14:sldId id="318"/>
            <p14:sldId id="319"/>
            <p14:sldId id="320"/>
          </p14:sldIdLst>
        </p14:section>
        <p14:section name="8. أعداء الأنبياء وأحكام الذبائح" id="{c004a902-4b58-983b-c79f-ee39c500bc5d}">
          <p14:sldIdLst>
            <p14:sldId id="321"/>
            <p14:sldId id="322"/>
            <p14:sldId id="323"/>
            <p14:sldId id="324"/>
            <p14:sldId id="325"/>
            <p14:sldId id="326"/>
            <p14:sldId id="327"/>
            <p14:sldId id="328"/>
            <p14:sldId id="329"/>
            <p14:sldId id="330"/>
          </p14:sldIdLst>
        </p14:section>
        <p14:section name="9. إبطال أحكام الجاهلية" id="{9c8ef0f7-e097-0762-49eb-17959f263d88}">
          <p14:sldIdLst>
            <p14:sldId id="331"/>
            <p14:sldId id="332"/>
            <p14:sldId id="333"/>
            <p14:sldId id="334"/>
            <p14:sldId id="335"/>
            <p14:sldId id="336"/>
            <p14:sldId id="337"/>
            <p14:sldId id="338"/>
            <p14:sldId id="339"/>
            <p14:sldId id="340"/>
            <p14:sldId id="341"/>
            <p14:sldId id="342"/>
            <p14:sldId id="343"/>
            <p14:sldId id="344"/>
          </p14:sldIdLst>
        </p14:section>
        <p14:section name="10. الوصايا العشر" id="{42c378c0-d448-962a-92e5-c7d21c40493c}">
          <p14:sldIdLst>
            <p14:sldId id="345"/>
            <p14:sldId id="346"/>
            <p14:sldId id="347"/>
            <p14:sldId id="348"/>
            <p14:sldId id="349"/>
            <p14:sldId id="350"/>
            <p14:sldId id="351"/>
            <p14:sldId id="352"/>
            <p14:sldId id="353"/>
            <p14:sldId id="354"/>
          </p14:sldIdLst>
        </p14:section>
        <p14:section name="الخاتمة" id="{26eb25a2-e9bb-9c58-f54f-1e0f103a622f}">
          <p14:sldIdLst>
            <p14:sldId id="3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السورة إلى عشرة مقاطع موضوعية، في أول كل مقطع شريحة فيها سبب النزول ومقصد المقطع، ثم تفسير آياته بالترتيب.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خلق الله في الآية الأولى؟ ولماذا نحمده؟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يملك كشف الضر وجلب الخير كما في الآية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سلّى الله نبيّه ﷺ في الآيتين 33–34؟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نهى الله نبيه عن طرد المؤمنين الفقراء (الآية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ثلاثة أشياء يعلمها الله وحده كما في الآية 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استدلّ إبراهيم بغياب الكوكب والقمر والشمس على أنها ليست آلهة؟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نهى الله عن سبّ آلهة المشركين في الآية 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الفرق بين صدر من أراد الله هدايته ومن أراد إضلاله (الآية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الأطعمة المحرّمة التي ذكرتها الآية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خمسًا من الوصايا في الآيات 151–153.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6/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6/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6/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slideLayout" Target="../slideLayouts/slideLayout4.xml"/><Relationship Id="rId4"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6/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سورة الأنعام</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6/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١٦٥ آية  •  مكية  •  ١٠ مقاطع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الأزرق الياقوتي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سورة الأنعام</a:t>
            </a:r>
            <a:endParaRPr lang="en-US" sz="3000" dirty="0"/>
          </a:p>
        </p:txBody>
      </p:sp>
      <p:sp>
        <p:nvSpPr>
          <p:cNvPr id="3" name="Shape 1"/>
          <p:cNvSpPr/>
          <p:nvPr/>
        </p:nvSpPr>
        <p:spPr>
          <a:xfrm>
            <a:off x="8031175" y="1463040"/>
            <a:ext cx="3474720" cy="4572000"/>
          </a:xfrm>
          <a:prstGeom prst="roundRect">
            <a:avLst>
              <a:gd name="adj" fmla="val 3947"/>
            </a:avLst>
          </a:prstGeom>
          <a:solidFill>
            <a:schemeClr val="accent5"/>
          </a:solidFill>
          <a:ln w="15875">
            <a:solidFill>
              <a:schemeClr val="accent2"/>
            </a:solidFill>
            <a:prstDash val="solid"/>
          </a:ln>
        </p:spPr>
      </p:sp>
      <p:sp>
        <p:nvSpPr>
          <p:cNvPr id="4" name="Shape 2"/>
          <p:cNvSpPr/>
          <p:nvPr/>
        </p:nvSpPr>
        <p:spPr>
          <a:xfrm>
            <a:off x="9402775" y="1737360"/>
            <a:ext cx="731520" cy="731520"/>
          </a:xfrm>
          <a:prstGeom prst="star8">
            <a:avLst/>
          </a:prstGeom>
          <a:solidFill>
            <a:schemeClr val="accent2"/>
          </a:solidFill>
          <a:ln/>
        </p:spPr>
      </p:sp>
      <p:sp>
        <p:nvSpPr>
          <p:cNvPr id="5" name="Shape 3"/>
          <p:cNvSpPr/>
          <p:nvPr/>
        </p:nvSpPr>
        <p:spPr>
          <a:xfrm>
            <a:off x="9549079"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940277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١</a:t>
            </a:r>
            <a:endParaRPr lang="ar-SA" sz="1800" dirty="0"/>
          </a:p>
        </p:txBody>
      </p:sp>
      <p:sp>
        <p:nvSpPr>
          <p:cNvPr id="7" name="Text 5"/>
          <p:cNvSpPr txBox="1"/>
          <p:nvPr/>
        </p:nvSpPr>
        <p:spPr>
          <a:xfrm>
            <a:off x="825977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سورة التوحيد</a:t>
            </a:r>
            <a:endParaRPr lang="ar-SA" sz="2400" dirty="0"/>
          </a:p>
        </p:txBody>
      </p:sp>
      <p:sp>
        <p:nvSpPr>
          <p:cNvPr id="8" name="Text 6"/>
          <p:cNvSpPr txBox="1"/>
          <p:nvPr/>
        </p:nvSpPr>
        <p:spPr>
          <a:xfrm>
            <a:off x="830549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عُنيت السورة كلها بتقرير التوحيد والرد على المشركين بالحجج العقلية والكونية، ولذلك قال العلماء: هي أصل في محاجّة المشركين.</a:t>
            </a:r>
            <a:endParaRPr lang="ar-SA" sz="1600" dirty="0"/>
          </a:p>
        </p:txBody>
      </p:sp>
      <p:sp>
        <p:nvSpPr>
          <p:cNvPr id="9" name="Shape 7"/>
          <p:cNvSpPr/>
          <p:nvPr/>
        </p:nvSpPr>
        <p:spPr>
          <a:xfrm>
            <a:off x="4282135" y="1463040"/>
            <a:ext cx="3474720" cy="4572000"/>
          </a:xfrm>
          <a:prstGeom prst="roundRect">
            <a:avLst>
              <a:gd name="adj" fmla="val 3947"/>
            </a:avLst>
          </a:prstGeom>
          <a:solidFill>
            <a:schemeClr val="accent5"/>
          </a:solidFill>
          <a:ln w="15875">
            <a:solidFill>
              <a:schemeClr val="accent2"/>
            </a:solidFill>
            <a:prstDash val="solid"/>
          </a:ln>
        </p:spPr>
      </p:sp>
      <p:sp>
        <p:nvSpPr>
          <p:cNvPr id="10" name="Shape 8"/>
          <p:cNvSpPr/>
          <p:nvPr/>
        </p:nvSpPr>
        <p:spPr>
          <a:xfrm>
            <a:off x="5653735" y="1737360"/>
            <a:ext cx="731520" cy="731520"/>
          </a:xfrm>
          <a:prstGeom prst="star8">
            <a:avLst/>
          </a:prstGeom>
          <a:solidFill>
            <a:schemeClr val="accent2"/>
          </a:solidFill>
          <a:ln/>
        </p:spPr>
      </p:sp>
      <p:sp>
        <p:nvSpPr>
          <p:cNvPr id="11" name="Shape 9"/>
          <p:cNvSpPr/>
          <p:nvPr/>
        </p:nvSpPr>
        <p:spPr>
          <a:xfrm>
            <a:off x="5800039"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65373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٢</a:t>
            </a:r>
            <a:endParaRPr lang="ar-SA" sz="1800" dirty="0"/>
          </a:p>
        </p:txBody>
      </p:sp>
      <p:sp>
        <p:nvSpPr>
          <p:cNvPr id="13" name="Text 11"/>
          <p:cNvSpPr txBox="1"/>
          <p:nvPr/>
        </p:nvSpPr>
        <p:spPr>
          <a:xfrm>
            <a:off x="451073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من السبع الطوال</a:t>
            </a:r>
            <a:endParaRPr lang="ar-SA" sz="2400" dirty="0"/>
          </a:p>
        </p:txBody>
      </p:sp>
      <p:sp>
        <p:nvSpPr>
          <p:cNvPr id="14" name="Text 12"/>
          <p:cNvSpPr txBox="1"/>
          <p:nvPr/>
        </p:nvSpPr>
        <p:spPr>
          <a:xfrm>
            <a:off x="455645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 النبي صلى الله عليه وسلم: «من أخذ السبع الأُوَل من القرآن فهو حَبر» (رواه أحمد)، والأنعام من هذه السبع الطوال، وهي من أطول السور المكية.</a:t>
            </a:r>
            <a:endParaRPr lang="ar-SA" sz="1600" dirty="0"/>
          </a:p>
        </p:txBody>
      </p:sp>
      <p:sp>
        <p:nvSpPr>
          <p:cNvPr id="15" name="Shape 13"/>
          <p:cNvSpPr/>
          <p:nvPr/>
        </p:nvSpPr>
        <p:spPr>
          <a:xfrm>
            <a:off x="533095" y="1463040"/>
            <a:ext cx="3474720" cy="4572000"/>
          </a:xfrm>
          <a:prstGeom prst="roundRect">
            <a:avLst>
              <a:gd name="adj" fmla="val 3947"/>
            </a:avLst>
          </a:prstGeom>
          <a:solidFill>
            <a:schemeClr val="accent5"/>
          </a:solidFill>
          <a:ln w="15875">
            <a:solidFill>
              <a:schemeClr val="accent2"/>
            </a:solidFill>
            <a:prstDash val="solid"/>
          </a:ln>
        </p:spPr>
      </p:sp>
      <p:sp>
        <p:nvSpPr>
          <p:cNvPr id="16" name="Shape 14"/>
          <p:cNvSpPr/>
          <p:nvPr/>
        </p:nvSpPr>
        <p:spPr>
          <a:xfrm>
            <a:off x="1904695" y="1737360"/>
            <a:ext cx="731520" cy="731520"/>
          </a:xfrm>
          <a:prstGeom prst="star8">
            <a:avLst/>
          </a:prstGeom>
          <a:solidFill>
            <a:schemeClr val="accent2"/>
          </a:solidFill>
          <a:ln/>
        </p:spPr>
      </p:sp>
      <p:sp>
        <p:nvSpPr>
          <p:cNvPr id="17" name="Shape 15"/>
          <p:cNvSpPr/>
          <p:nvPr/>
        </p:nvSpPr>
        <p:spPr>
          <a:xfrm>
            <a:off x="205099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190469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٣</a:t>
            </a:r>
            <a:endParaRPr lang="ar-SA" sz="1800" dirty="0"/>
          </a:p>
        </p:txBody>
      </p:sp>
      <p:sp>
        <p:nvSpPr>
          <p:cNvPr id="19" name="Text 17"/>
          <p:cNvSpPr txBox="1"/>
          <p:nvPr/>
        </p:nvSpPr>
        <p:spPr>
          <a:xfrm>
            <a:off x="76169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السورة في سطور</a:t>
            </a:r>
            <a:endParaRPr lang="ar-SA" sz="2400" dirty="0"/>
          </a:p>
        </p:txBody>
      </p:sp>
      <p:sp>
        <p:nvSpPr>
          <p:cNvPr id="20" name="Text 18"/>
          <p:cNvSpPr txBox="1"/>
          <p:nvPr/>
        </p:nvSpPr>
        <p:spPr>
          <a:xfrm>
            <a:off x="80741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١٦٥ آية، مكية، وهي السادسة في ترتيب المصحف. سُمّيت «الأنعام» لذكر أحكام الإبل والبقر والغنم التي اخترعها المشركون.</a:t>
            </a:r>
            <a:endParaRPr lang="ar-SA" sz="16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مقاطع السورة</a:t>
            </a:r>
            <a:endParaRPr lang="en-US" sz="30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rtl="1" algn="ctr" indent="0" marL="0">
              <a:buNone/>
            </a:pPr>
            <a:r>
              <a:rPr lang="ar-SA" altLang="en-US" sz="1700" dirty="0">
                <a:solidFill>
                  <a:schemeClr val="accent4"/>
                </a:solidFill>
              </a:rPr>
              <a:t>قسّمنا السورة إلى عشرة مقاطع بحسب موضوعاتها، لنفهمها خطوة خطوة</a:t>
            </a:r>
            <a:endParaRPr lang="ar-SA" sz="1700" dirty="0"/>
          </a:p>
        </p:txBody>
      </p:sp>
      <p:sp>
        <p:nvSpPr>
          <p:cNvPr id="4" name="Shape 2"/>
          <p:cNvSpPr/>
          <p:nvPr/>
        </p:nvSpPr>
        <p:spPr>
          <a:xfrm>
            <a:off x="6233008" y="1828800"/>
            <a:ext cx="5257800" cy="749808"/>
          </a:xfrm>
          <a:prstGeom prst="roundRect">
            <a:avLst>
              <a:gd name="adj" fmla="val 14634"/>
            </a:avLst>
          </a:prstGeom>
          <a:solidFill>
            <a:schemeClr val="bg1"/>
          </a:solidFill>
          <a:ln w="12700">
            <a:solidFill>
              <a:schemeClr val="accent2"/>
            </a:solidFill>
            <a:prstDash val="solid"/>
          </a:ln>
        </p:spPr>
      </p:sp>
      <p:sp>
        <p:nvSpPr>
          <p:cNvPr id="5" name="Shape 3"/>
          <p:cNvSpPr/>
          <p:nvPr/>
        </p:nvSpPr>
        <p:spPr>
          <a:xfrm>
            <a:off x="10805008" y="1938528"/>
            <a:ext cx="530352" cy="530352"/>
          </a:xfrm>
          <a:prstGeom prst="star8">
            <a:avLst/>
          </a:prstGeom>
          <a:solidFill>
            <a:schemeClr val="accent2"/>
          </a:solidFill>
          <a:ln/>
        </p:spPr>
      </p:sp>
      <p:sp>
        <p:nvSpPr>
          <p:cNvPr id="6" name="Shape 4"/>
          <p:cNvSpPr/>
          <p:nvPr/>
        </p:nvSpPr>
        <p:spPr>
          <a:xfrm>
            <a:off x="1091107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1080500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a:t>
            </a:r>
            <a:endParaRPr lang="ar-SA" sz="1400" dirty="0"/>
          </a:p>
        </p:txBody>
      </p:sp>
      <p:sp>
        <p:nvSpPr>
          <p:cNvPr id="8" name="Text 6"/>
          <p:cNvSpPr txBox="1"/>
          <p:nvPr/>
        </p:nvSpPr>
        <p:spPr>
          <a:xfrm>
            <a:off x="6370168" y="186537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الحمد لله الخالق</a:t>
            </a:r>
            <a:endParaRPr lang="ar-SA" sz="1700" dirty="0"/>
          </a:p>
        </p:txBody>
      </p:sp>
      <p:sp>
        <p:nvSpPr>
          <p:cNvPr id="9" name="Text 7"/>
          <p:cNvSpPr txBox="1"/>
          <p:nvPr/>
        </p:nvSpPr>
        <p:spPr>
          <a:xfrm>
            <a:off x="6370168" y="224869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 – ١١</a:t>
            </a:r>
            <a:endParaRPr lang="ar-SA" sz="1300" dirty="0"/>
          </a:p>
        </p:txBody>
      </p:sp>
      <p:sp>
        <p:nvSpPr>
          <p:cNvPr id="10" name="Shape 8"/>
          <p:cNvSpPr/>
          <p:nvPr/>
        </p:nvSpPr>
        <p:spPr>
          <a:xfrm>
            <a:off x="700888" y="1828800"/>
            <a:ext cx="5257800" cy="749808"/>
          </a:xfrm>
          <a:prstGeom prst="roundRect">
            <a:avLst>
              <a:gd name="adj" fmla="val 14634"/>
            </a:avLst>
          </a:prstGeom>
          <a:solidFill>
            <a:schemeClr val="accent5"/>
          </a:solidFill>
          <a:ln w="12700">
            <a:solidFill>
              <a:schemeClr val="accent2"/>
            </a:solidFill>
            <a:prstDash val="solid"/>
          </a:ln>
        </p:spPr>
      </p:sp>
      <p:sp>
        <p:nvSpPr>
          <p:cNvPr id="11" name="Shape 9"/>
          <p:cNvSpPr/>
          <p:nvPr/>
        </p:nvSpPr>
        <p:spPr>
          <a:xfrm>
            <a:off x="5272888" y="1938528"/>
            <a:ext cx="530352" cy="530352"/>
          </a:xfrm>
          <a:prstGeom prst="star8">
            <a:avLst/>
          </a:prstGeom>
          <a:solidFill>
            <a:schemeClr val="accent2"/>
          </a:solidFill>
          <a:ln/>
        </p:spPr>
      </p:sp>
      <p:sp>
        <p:nvSpPr>
          <p:cNvPr id="12" name="Shape 10"/>
          <p:cNvSpPr/>
          <p:nvPr/>
        </p:nvSpPr>
        <p:spPr>
          <a:xfrm>
            <a:off x="537895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527288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٢</a:t>
            </a:r>
            <a:endParaRPr lang="ar-SA" sz="1400" dirty="0"/>
          </a:p>
        </p:txBody>
      </p:sp>
      <p:sp>
        <p:nvSpPr>
          <p:cNvPr id="14" name="Text 12"/>
          <p:cNvSpPr txBox="1"/>
          <p:nvPr/>
        </p:nvSpPr>
        <p:spPr>
          <a:xfrm>
            <a:off x="838048" y="186537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الرحمة وشهادة التوحيد</a:t>
            </a:r>
            <a:endParaRPr lang="ar-SA" sz="1700" dirty="0"/>
          </a:p>
        </p:txBody>
      </p:sp>
      <p:sp>
        <p:nvSpPr>
          <p:cNvPr id="15" name="Text 13"/>
          <p:cNvSpPr txBox="1"/>
          <p:nvPr/>
        </p:nvSpPr>
        <p:spPr>
          <a:xfrm>
            <a:off x="838048" y="224869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١٢ – ٢٤</a:t>
            </a:r>
            <a:endParaRPr lang="ar-SA" sz="1300" dirty="0"/>
          </a:p>
        </p:txBody>
      </p:sp>
      <p:sp>
        <p:nvSpPr>
          <p:cNvPr id="16" name="Shape 14"/>
          <p:cNvSpPr/>
          <p:nvPr/>
        </p:nvSpPr>
        <p:spPr>
          <a:xfrm>
            <a:off x="6233008" y="2697480"/>
            <a:ext cx="5257800" cy="749808"/>
          </a:xfrm>
          <a:prstGeom prst="roundRect">
            <a:avLst>
              <a:gd name="adj" fmla="val 14634"/>
            </a:avLst>
          </a:prstGeom>
          <a:solidFill>
            <a:schemeClr val="bg1"/>
          </a:solidFill>
          <a:ln w="12700">
            <a:solidFill>
              <a:schemeClr val="accent2"/>
            </a:solidFill>
            <a:prstDash val="solid"/>
          </a:ln>
        </p:spPr>
      </p:sp>
      <p:sp>
        <p:nvSpPr>
          <p:cNvPr id="17" name="Shape 15"/>
          <p:cNvSpPr/>
          <p:nvPr/>
        </p:nvSpPr>
        <p:spPr>
          <a:xfrm>
            <a:off x="10805008" y="2807208"/>
            <a:ext cx="530352" cy="530352"/>
          </a:xfrm>
          <a:prstGeom prst="star8">
            <a:avLst/>
          </a:prstGeom>
          <a:solidFill>
            <a:schemeClr val="accent2"/>
          </a:solidFill>
          <a:ln/>
        </p:spPr>
      </p:sp>
      <p:sp>
        <p:nvSpPr>
          <p:cNvPr id="18" name="Shape 16"/>
          <p:cNvSpPr/>
          <p:nvPr/>
        </p:nvSpPr>
        <p:spPr>
          <a:xfrm>
            <a:off x="1091107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1080500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٣</a:t>
            </a:r>
            <a:endParaRPr lang="ar-SA" sz="1400" dirty="0"/>
          </a:p>
        </p:txBody>
      </p:sp>
      <p:sp>
        <p:nvSpPr>
          <p:cNvPr id="20" name="Text 18"/>
          <p:cNvSpPr txBox="1"/>
          <p:nvPr/>
        </p:nvSpPr>
        <p:spPr>
          <a:xfrm>
            <a:off x="6370168" y="273405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المكذّبون وتسلية النبي</a:t>
            </a:r>
            <a:endParaRPr lang="ar-SA" sz="1700" dirty="0"/>
          </a:p>
        </p:txBody>
      </p:sp>
      <p:sp>
        <p:nvSpPr>
          <p:cNvPr id="21" name="Text 19"/>
          <p:cNvSpPr txBox="1"/>
          <p:nvPr/>
        </p:nvSpPr>
        <p:spPr>
          <a:xfrm>
            <a:off x="6370168" y="311737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٢٥ – ٤٥</a:t>
            </a:r>
            <a:endParaRPr lang="ar-SA" sz="1300" dirty="0"/>
          </a:p>
        </p:txBody>
      </p:sp>
      <p:sp>
        <p:nvSpPr>
          <p:cNvPr id="22" name="Shape 20"/>
          <p:cNvSpPr/>
          <p:nvPr/>
        </p:nvSpPr>
        <p:spPr>
          <a:xfrm>
            <a:off x="700888" y="2697480"/>
            <a:ext cx="5257800" cy="749808"/>
          </a:xfrm>
          <a:prstGeom prst="roundRect">
            <a:avLst>
              <a:gd name="adj" fmla="val 14634"/>
            </a:avLst>
          </a:prstGeom>
          <a:solidFill>
            <a:schemeClr val="accent5"/>
          </a:solidFill>
          <a:ln w="12700">
            <a:solidFill>
              <a:schemeClr val="accent2"/>
            </a:solidFill>
            <a:prstDash val="solid"/>
          </a:ln>
        </p:spPr>
      </p:sp>
      <p:sp>
        <p:nvSpPr>
          <p:cNvPr id="23" name="Shape 21"/>
          <p:cNvSpPr/>
          <p:nvPr/>
        </p:nvSpPr>
        <p:spPr>
          <a:xfrm>
            <a:off x="5272888" y="2807208"/>
            <a:ext cx="530352" cy="530352"/>
          </a:xfrm>
          <a:prstGeom prst="star8">
            <a:avLst/>
          </a:prstGeom>
          <a:solidFill>
            <a:schemeClr val="accent2"/>
          </a:solidFill>
          <a:ln/>
        </p:spPr>
      </p:sp>
      <p:sp>
        <p:nvSpPr>
          <p:cNvPr id="24" name="Shape 22"/>
          <p:cNvSpPr/>
          <p:nvPr/>
        </p:nvSpPr>
        <p:spPr>
          <a:xfrm>
            <a:off x="537895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527288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٤</a:t>
            </a:r>
            <a:endParaRPr lang="ar-SA" sz="1400" dirty="0"/>
          </a:p>
        </p:txBody>
      </p:sp>
      <p:sp>
        <p:nvSpPr>
          <p:cNvPr id="26" name="Text 24"/>
          <p:cNvSpPr txBox="1"/>
          <p:nvPr/>
        </p:nvSpPr>
        <p:spPr>
          <a:xfrm>
            <a:off x="838048" y="273405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الرسول البشر والمؤمنون الفقراء</a:t>
            </a:r>
            <a:endParaRPr lang="ar-SA" sz="1700" dirty="0"/>
          </a:p>
        </p:txBody>
      </p:sp>
      <p:sp>
        <p:nvSpPr>
          <p:cNvPr id="27" name="Text 25"/>
          <p:cNvSpPr txBox="1"/>
          <p:nvPr/>
        </p:nvSpPr>
        <p:spPr>
          <a:xfrm>
            <a:off x="838048" y="311737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٤٦ – ٥٨</a:t>
            </a:r>
            <a:endParaRPr lang="ar-SA" sz="1300" dirty="0"/>
          </a:p>
        </p:txBody>
      </p:sp>
      <p:sp>
        <p:nvSpPr>
          <p:cNvPr id="28" name="Shape 26"/>
          <p:cNvSpPr/>
          <p:nvPr/>
        </p:nvSpPr>
        <p:spPr>
          <a:xfrm>
            <a:off x="6233008" y="3566160"/>
            <a:ext cx="5257800" cy="749808"/>
          </a:xfrm>
          <a:prstGeom prst="roundRect">
            <a:avLst>
              <a:gd name="adj" fmla="val 14634"/>
            </a:avLst>
          </a:prstGeom>
          <a:solidFill>
            <a:schemeClr val="bg1"/>
          </a:solidFill>
          <a:ln w="12700">
            <a:solidFill>
              <a:schemeClr val="accent2"/>
            </a:solidFill>
            <a:prstDash val="solid"/>
          </a:ln>
        </p:spPr>
      </p:sp>
      <p:sp>
        <p:nvSpPr>
          <p:cNvPr id="29" name="Shape 27"/>
          <p:cNvSpPr/>
          <p:nvPr/>
        </p:nvSpPr>
        <p:spPr>
          <a:xfrm>
            <a:off x="10805008" y="3675888"/>
            <a:ext cx="530352" cy="530352"/>
          </a:xfrm>
          <a:prstGeom prst="star8">
            <a:avLst/>
          </a:prstGeom>
          <a:solidFill>
            <a:schemeClr val="accent2"/>
          </a:solidFill>
          <a:ln/>
        </p:spPr>
      </p:sp>
      <p:sp>
        <p:nvSpPr>
          <p:cNvPr id="30" name="Shape 28"/>
          <p:cNvSpPr/>
          <p:nvPr/>
        </p:nvSpPr>
        <p:spPr>
          <a:xfrm>
            <a:off x="1091107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1080500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٥</a:t>
            </a:r>
            <a:endParaRPr lang="ar-SA" sz="1400" dirty="0"/>
          </a:p>
        </p:txBody>
      </p:sp>
      <p:sp>
        <p:nvSpPr>
          <p:cNvPr id="32" name="Text 30"/>
          <p:cNvSpPr txBox="1"/>
          <p:nvPr/>
        </p:nvSpPr>
        <p:spPr>
          <a:xfrm>
            <a:off x="6370168" y="360273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مفاتح الغيب وقدرة الله</a:t>
            </a:r>
            <a:endParaRPr lang="ar-SA" sz="1700" dirty="0"/>
          </a:p>
        </p:txBody>
      </p:sp>
      <p:sp>
        <p:nvSpPr>
          <p:cNvPr id="33" name="Text 31"/>
          <p:cNvSpPr txBox="1"/>
          <p:nvPr/>
        </p:nvSpPr>
        <p:spPr>
          <a:xfrm>
            <a:off x="6370168" y="398605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٥٩ – ٧٣</a:t>
            </a:r>
            <a:endParaRPr lang="ar-SA" sz="1300" dirty="0"/>
          </a:p>
        </p:txBody>
      </p:sp>
      <p:sp>
        <p:nvSpPr>
          <p:cNvPr id="34" name="Shape 32"/>
          <p:cNvSpPr/>
          <p:nvPr/>
        </p:nvSpPr>
        <p:spPr>
          <a:xfrm>
            <a:off x="700888" y="3566160"/>
            <a:ext cx="5257800" cy="749808"/>
          </a:xfrm>
          <a:prstGeom prst="roundRect">
            <a:avLst>
              <a:gd name="adj" fmla="val 14634"/>
            </a:avLst>
          </a:prstGeom>
          <a:solidFill>
            <a:schemeClr val="accent5"/>
          </a:solidFill>
          <a:ln w="12700">
            <a:solidFill>
              <a:schemeClr val="accent2"/>
            </a:solidFill>
            <a:prstDash val="solid"/>
          </a:ln>
        </p:spPr>
      </p:sp>
      <p:sp>
        <p:nvSpPr>
          <p:cNvPr id="35" name="Shape 33"/>
          <p:cNvSpPr/>
          <p:nvPr/>
        </p:nvSpPr>
        <p:spPr>
          <a:xfrm>
            <a:off x="5272888" y="3675888"/>
            <a:ext cx="530352" cy="530352"/>
          </a:xfrm>
          <a:prstGeom prst="star8">
            <a:avLst/>
          </a:prstGeom>
          <a:solidFill>
            <a:schemeClr val="accent2"/>
          </a:solidFill>
          <a:ln/>
        </p:spPr>
      </p:sp>
      <p:sp>
        <p:nvSpPr>
          <p:cNvPr id="36" name="Shape 34"/>
          <p:cNvSpPr/>
          <p:nvPr/>
        </p:nvSpPr>
        <p:spPr>
          <a:xfrm>
            <a:off x="537895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527288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٦</a:t>
            </a:r>
            <a:endParaRPr lang="ar-SA" sz="1400" dirty="0"/>
          </a:p>
        </p:txBody>
      </p:sp>
      <p:sp>
        <p:nvSpPr>
          <p:cNvPr id="38" name="Text 36"/>
          <p:cNvSpPr txBox="1"/>
          <p:nvPr/>
        </p:nvSpPr>
        <p:spPr>
          <a:xfrm>
            <a:off x="838048" y="360273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مناظرة إبراهيم وموكب الأنبياء</a:t>
            </a:r>
            <a:endParaRPr lang="ar-SA" sz="1700" dirty="0"/>
          </a:p>
        </p:txBody>
      </p:sp>
      <p:sp>
        <p:nvSpPr>
          <p:cNvPr id="39" name="Text 37"/>
          <p:cNvSpPr txBox="1"/>
          <p:nvPr/>
        </p:nvSpPr>
        <p:spPr>
          <a:xfrm>
            <a:off x="838048" y="398605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٧٤ – ٩٠</a:t>
            </a:r>
            <a:endParaRPr lang="ar-SA" sz="1300" dirty="0"/>
          </a:p>
        </p:txBody>
      </p:sp>
      <p:sp>
        <p:nvSpPr>
          <p:cNvPr id="40" name="Shape 38"/>
          <p:cNvSpPr/>
          <p:nvPr/>
        </p:nvSpPr>
        <p:spPr>
          <a:xfrm>
            <a:off x="6233008" y="4434840"/>
            <a:ext cx="5257800" cy="749808"/>
          </a:xfrm>
          <a:prstGeom prst="roundRect">
            <a:avLst>
              <a:gd name="adj" fmla="val 14634"/>
            </a:avLst>
          </a:prstGeom>
          <a:solidFill>
            <a:schemeClr val="bg1"/>
          </a:solidFill>
          <a:ln w="12700">
            <a:solidFill>
              <a:schemeClr val="accent2"/>
            </a:solidFill>
            <a:prstDash val="solid"/>
          </a:ln>
        </p:spPr>
      </p:sp>
      <p:sp>
        <p:nvSpPr>
          <p:cNvPr id="41" name="Shape 39"/>
          <p:cNvSpPr/>
          <p:nvPr/>
        </p:nvSpPr>
        <p:spPr>
          <a:xfrm>
            <a:off x="10805008" y="4544568"/>
            <a:ext cx="530352" cy="530352"/>
          </a:xfrm>
          <a:prstGeom prst="star8">
            <a:avLst/>
          </a:prstGeom>
          <a:solidFill>
            <a:schemeClr val="accent2"/>
          </a:solidFill>
          <a:ln/>
        </p:spPr>
      </p:sp>
      <p:sp>
        <p:nvSpPr>
          <p:cNvPr id="42" name="Shape 40"/>
          <p:cNvSpPr/>
          <p:nvPr/>
        </p:nvSpPr>
        <p:spPr>
          <a:xfrm>
            <a:off x="1091107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1080500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٧</a:t>
            </a:r>
            <a:endParaRPr lang="ar-SA" sz="1400" dirty="0"/>
          </a:p>
        </p:txBody>
      </p:sp>
      <p:sp>
        <p:nvSpPr>
          <p:cNvPr id="44" name="Text 42"/>
          <p:cNvSpPr txBox="1"/>
          <p:nvPr/>
        </p:nvSpPr>
        <p:spPr>
          <a:xfrm>
            <a:off x="6370168" y="447141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آيات الله في الكون</a:t>
            </a:r>
            <a:endParaRPr lang="ar-SA" sz="1700" dirty="0"/>
          </a:p>
        </p:txBody>
      </p:sp>
      <p:sp>
        <p:nvSpPr>
          <p:cNvPr id="45" name="Text 43"/>
          <p:cNvSpPr txBox="1"/>
          <p:nvPr/>
        </p:nvSpPr>
        <p:spPr>
          <a:xfrm>
            <a:off x="6370168" y="485473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٩١ – ١١٠</a:t>
            </a:r>
            <a:endParaRPr lang="ar-SA" sz="1300" dirty="0"/>
          </a:p>
        </p:txBody>
      </p:sp>
      <p:sp>
        <p:nvSpPr>
          <p:cNvPr id="46" name="Shape 44"/>
          <p:cNvSpPr/>
          <p:nvPr/>
        </p:nvSpPr>
        <p:spPr>
          <a:xfrm>
            <a:off x="700888" y="4434840"/>
            <a:ext cx="5257800" cy="749808"/>
          </a:xfrm>
          <a:prstGeom prst="roundRect">
            <a:avLst>
              <a:gd name="adj" fmla="val 14634"/>
            </a:avLst>
          </a:prstGeom>
          <a:solidFill>
            <a:schemeClr val="accent5"/>
          </a:solidFill>
          <a:ln w="12700">
            <a:solidFill>
              <a:schemeClr val="accent2"/>
            </a:solidFill>
            <a:prstDash val="solid"/>
          </a:ln>
        </p:spPr>
      </p:sp>
      <p:sp>
        <p:nvSpPr>
          <p:cNvPr id="47" name="Shape 45"/>
          <p:cNvSpPr/>
          <p:nvPr/>
        </p:nvSpPr>
        <p:spPr>
          <a:xfrm>
            <a:off x="5272888" y="4544568"/>
            <a:ext cx="530352" cy="530352"/>
          </a:xfrm>
          <a:prstGeom prst="star8">
            <a:avLst/>
          </a:prstGeom>
          <a:solidFill>
            <a:schemeClr val="accent2"/>
          </a:solidFill>
          <a:ln/>
        </p:spPr>
      </p:sp>
      <p:sp>
        <p:nvSpPr>
          <p:cNvPr id="48" name="Shape 46"/>
          <p:cNvSpPr/>
          <p:nvPr/>
        </p:nvSpPr>
        <p:spPr>
          <a:xfrm>
            <a:off x="537895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527288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٨</a:t>
            </a:r>
            <a:endParaRPr lang="ar-SA" sz="1400" dirty="0"/>
          </a:p>
        </p:txBody>
      </p:sp>
      <p:sp>
        <p:nvSpPr>
          <p:cNvPr id="50" name="Text 48"/>
          <p:cNvSpPr txBox="1"/>
          <p:nvPr/>
        </p:nvSpPr>
        <p:spPr>
          <a:xfrm>
            <a:off x="838048" y="447141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أعداء الأنبياء وأحكام الذبائح</a:t>
            </a:r>
            <a:endParaRPr lang="ar-SA" sz="1700" dirty="0"/>
          </a:p>
        </p:txBody>
      </p:sp>
      <p:sp>
        <p:nvSpPr>
          <p:cNvPr id="51" name="Text 49"/>
          <p:cNvSpPr txBox="1"/>
          <p:nvPr/>
        </p:nvSpPr>
        <p:spPr>
          <a:xfrm>
            <a:off x="838048" y="485473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١١١ – ١٢٧</a:t>
            </a:r>
            <a:endParaRPr lang="ar-SA" sz="1300" dirty="0"/>
          </a:p>
        </p:txBody>
      </p:sp>
      <p:sp>
        <p:nvSpPr>
          <p:cNvPr id="52" name="Shape 50"/>
          <p:cNvSpPr/>
          <p:nvPr/>
        </p:nvSpPr>
        <p:spPr>
          <a:xfrm>
            <a:off x="6233008" y="5303520"/>
            <a:ext cx="5257800" cy="749808"/>
          </a:xfrm>
          <a:prstGeom prst="roundRect">
            <a:avLst>
              <a:gd name="adj" fmla="val 14634"/>
            </a:avLst>
          </a:prstGeom>
          <a:solidFill>
            <a:schemeClr val="bg1"/>
          </a:solidFill>
          <a:ln w="12700">
            <a:solidFill>
              <a:schemeClr val="accent2"/>
            </a:solidFill>
            <a:prstDash val="solid"/>
          </a:ln>
        </p:spPr>
      </p:sp>
      <p:sp>
        <p:nvSpPr>
          <p:cNvPr id="53" name="Shape 51"/>
          <p:cNvSpPr/>
          <p:nvPr/>
        </p:nvSpPr>
        <p:spPr>
          <a:xfrm>
            <a:off x="10805008" y="5413248"/>
            <a:ext cx="530352" cy="530352"/>
          </a:xfrm>
          <a:prstGeom prst="star8">
            <a:avLst/>
          </a:prstGeom>
          <a:solidFill>
            <a:schemeClr val="accent2"/>
          </a:solidFill>
          <a:ln/>
        </p:spPr>
      </p:sp>
      <p:sp>
        <p:nvSpPr>
          <p:cNvPr id="54" name="Shape 52"/>
          <p:cNvSpPr/>
          <p:nvPr/>
        </p:nvSpPr>
        <p:spPr>
          <a:xfrm>
            <a:off x="1091107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1080500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٩</a:t>
            </a:r>
            <a:endParaRPr lang="ar-SA" sz="1400" dirty="0"/>
          </a:p>
        </p:txBody>
      </p:sp>
      <p:sp>
        <p:nvSpPr>
          <p:cNvPr id="56" name="Text 54"/>
          <p:cNvSpPr txBox="1"/>
          <p:nvPr/>
        </p:nvSpPr>
        <p:spPr>
          <a:xfrm>
            <a:off x="6370168" y="534009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إبطال أحكام الجاهلية</a:t>
            </a:r>
            <a:endParaRPr lang="ar-SA" sz="1700" dirty="0"/>
          </a:p>
        </p:txBody>
      </p:sp>
      <p:sp>
        <p:nvSpPr>
          <p:cNvPr id="57" name="Text 55"/>
          <p:cNvSpPr txBox="1"/>
          <p:nvPr/>
        </p:nvSpPr>
        <p:spPr>
          <a:xfrm>
            <a:off x="6370168" y="572341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١٢٨ – ١٥٠</a:t>
            </a:r>
            <a:endParaRPr lang="ar-SA" sz="1300" dirty="0"/>
          </a:p>
        </p:txBody>
      </p:sp>
      <p:sp>
        <p:nvSpPr>
          <p:cNvPr id="58" name="Shape 56"/>
          <p:cNvSpPr/>
          <p:nvPr/>
        </p:nvSpPr>
        <p:spPr>
          <a:xfrm>
            <a:off x="700888" y="5303520"/>
            <a:ext cx="5257800" cy="749808"/>
          </a:xfrm>
          <a:prstGeom prst="roundRect">
            <a:avLst>
              <a:gd name="adj" fmla="val 14634"/>
            </a:avLst>
          </a:prstGeom>
          <a:solidFill>
            <a:schemeClr val="accent5"/>
          </a:solidFill>
          <a:ln w="12700">
            <a:solidFill>
              <a:schemeClr val="accent2"/>
            </a:solidFill>
            <a:prstDash val="solid"/>
          </a:ln>
        </p:spPr>
      </p:sp>
      <p:sp>
        <p:nvSpPr>
          <p:cNvPr id="59" name="Shape 57"/>
          <p:cNvSpPr/>
          <p:nvPr/>
        </p:nvSpPr>
        <p:spPr>
          <a:xfrm>
            <a:off x="5272888" y="5413248"/>
            <a:ext cx="530352" cy="530352"/>
          </a:xfrm>
          <a:prstGeom prst="star8">
            <a:avLst/>
          </a:prstGeom>
          <a:solidFill>
            <a:schemeClr val="accent2"/>
          </a:solidFill>
          <a:ln/>
        </p:spPr>
      </p:sp>
      <p:sp>
        <p:nvSpPr>
          <p:cNvPr id="60" name="Shape 58"/>
          <p:cNvSpPr/>
          <p:nvPr/>
        </p:nvSpPr>
        <p:spPr>
          <a:xfrm>
            <a:off x="537895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527288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١٠</a:t>
            </a:r>
            <a:endParaRPr lang="ar-SA" sz="1400" dirty="0"/>
          </a:p>
        </p:txBody>
      </p:sp>
      <p:sp>
        <p:nvSpPr>
          <p:cNvPr id="62" name="Text 60"/>
          <p:cNvSpPr txBox="1"/>
          <p:nvPr/>
        </p:nvSpPr>
        <p:spPr>
          <a:xfrm>
            <a:off x="838048" y="534009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الوصايا العشر</a:t>
            </a:r>
            <a:endParaRPr lang="ar-SA" sz="1700" dirty="0"/>
          </a:p>
        </p:txBody>
      </p:sp>
      <p:sp>
        <p:nvSpPr>
          <p:cNvPr id="63" name="Text 61"/>
          <p:cNvSpPr txBox="1"/>
          <p:nvPr/>
        </p:nvSpPr>
        <p:spPr>
          <a:xfrm>
            <a:off x="838048" y="572341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١٥١ – ١٦٥</a:t>
            </a:r>
            <a:endParaRPr lang="ar-SA" sz="13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الحمد لله الخالق</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١١</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افتتاح السورة بحمد الله خالق السماوات والأرض، وبيان عناد المشركين وإعراضهم عن الآيات، وتذكيرهم بهلاك الأمم المكذّبة.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516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الْحَمْدُ لِلَّهِ الَّذِي خَلَقَ السَّمَٰوَٰتِ وَالْأَرْضَ وَجَعَلَ الظُّلُمَٰتِ وَالنُّورَ ثُمَّ الَّذِينَ كَفَرُواْ بِرَبِّهِمْ يَعْدِلُونَ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الحمد لله الذي خلق السماوات والأرض، وجعل الظلمات والنور، ثم الكفار بعد هذا يجعلون له شركاء يساوونهم به.</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420166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خَلَقَكُم مِّن طِينٍ ثُمَّ قَضَىٰ أَجَلًا وَأَجَلٌ مُّسَمًّى عِندَهُ ثُمَّ أَنتُمْ تَمْتَرُونَ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خلق أباكم آدم من طين، ثم قدّر لكل واحد مدة حياته، وأجل آخر عنده لقيام الساعة، ثم أنتم تشكّون في البعث.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اللَّهُ فِي السَّمَٰوَٰتِ وَفِي الْأَرْضِ يَعْلَمُ سِرَّكُمْ وَجَهْرَكُمْ وَيَعْلَمُ مَا تَكْسِبُونَ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الله المعبود في السماوات وفي الأرض، يعلم ما تُخفون وما تُظهرون، ويعلم ما تعملون.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تَأْتِيهِم مِّنْ ءَايَةٍ مِّنْ ءَايَٰتِ رَبِّهِمْ إِلَّا كَانُواْ عَنْهَا مُعْرِضِينَ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تأتي المشركين آية من آيات ربهم إلا أعرضوا عنها.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فَقَدْ كَذَّبُواْ بِالْحَقِّ لَمَّا جَآءَهُمْ فَسَوْفَ يَأْتِيهِمْ أَنبَـٰؤُاْ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فقد كذّبوا بالقرآن لما جاءهم، فسوف يأتيهم عاقبة ما كانوا يستهزئون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يَرَوْاْ كَمْ أَهْلَكْنَا مِن قَبْلِهِم مِّن قَرْنٍ مَّكَّنَّـٰهُمْ فِي الْأَرْضِ مَا لَمْ نُمَكِّن لَّكُمْ وَأَرْسَلْنَا السَّمَآءَ عَلَيْهِم مِّدْرَارًا وَجَعَلْنَا الْأَنْهَٰرَ تَجْرِي مِن تَحْتِهِمْ فَأَهْلَكْنَٰهُم بِذُنُوبِهِمْ وَأَنشَأْنَا مِن بَعْدِهِمْ قَرْنًا ءَاخَرِينَ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يروا كم أهلكنا قبلهم من الأمم؟ مكّنّاهم في الأرض أكثر مما مكّنّا لكم، وأنزلنا عليهم المطر الغزير، وجعلنا الأنهار تجري من تحتهم، فأهلكناهم بذنوبهم، وأنشأنا بعدهم أممًا آخرين.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نَزَّلْنَا عَلَيْكَ كِتَٰبًا فِي قِرْطَاسٍ فَلَمَسُوهُ بِأَيْدِيهِمْ لَقَالَ الَّذِينَ كَفَرُواْ إِنْ هَٰذَآ إِلَّا 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نزّلنا عليك كتابًا مكتوبًا في ورق فلمسوه بأيديهم، لقال الكفار عنادًا: ما هذا إلا سحر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لَوْلَآ أُنزِلَ عَلَيْهِ مَلَكٌ وَلَوْ أَنزَلْنَا مَلَكًا لَّقُضِيَ الْأَمْرُ ثُمَّ لَا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هلّا أُنزل على محمد ملك يصدّقه! ولو أنزلنا ملكًا فلم يؤمنوا لأُهلكوا، ثم لا يُمهَلون.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جَعَلْنَٰهُ مَلَكًا لَّجَعَلْنَٰهُ رَجُلًا وَلَلَبَسْنَا عَلَيْهِم مَّا يَلْبِسُونَ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جعلنا الرسول ملكًا لجعلناه في صورة رجل ليستطيعوا رؤيته، ولاشتبه عليهم الأمر كما اشتبه الآن.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اسْتُهْزِئَ بِرُسُلٍ مِّن قَبْلِكَ فَحَاقَ بِالَّذِينَ سَخِرُواْ مِنْهُم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استُهزئ برسل قبلك، فنزل بالساخرين العذاب الذي كانوا يستهزئون به.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سِيرُواْ فِي الْأَرْضِ ثُمَّ انظُرُواْ كَيْفَ كَانَ عَٰقِبَةُ الْمُكَذِّبِينَ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سيروا في الأرض ثم انظروا كيف كانت عاقبة المكذّبين.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الرحمة وشهادة التوحيد</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٢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١٢ – ٢٤</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الله كتب على نفسه الرحمة، وهو وحده الذي يملك النفع والضر، وأعظم شهادة شهادته بالتوحيد، ومشهد المشركين يوم القيامة يُنكرون شركهم.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لِّمَن مَّا فِي السَّمَٰوَٰتِ وَالْأَرْضِ قُل لِّلَّهِ كَتَبَ عَلَىٰ نَفْسِهِ الرَّحْمَةَ لَيَجْمَعَنَّكُمْ إِلَىٰ يَوْمِ الْقِيَٰمَةِ لَا رَيْبَ فِيهِ الَّذِينَ خَسِرُواْ أَنفُسَهُمْ فَهُمْ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لمن ما في السماوات والأرض؟ قل: لله، كتب على نفسه الرحمة، ليجمعنّكم إلى يوم القيامة لا شك فيه، الذين خسروا أنفسهم فهم لا يؤمنون.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 مَا سَكَنَ فِي الَّيْلِ وَالنَّهَارِ وَهُوَ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 كل ما استقرّ في الليل والنهار، وهو السميع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أَغَيْرَ اللَّهِ أَتَّخِذُ وَلِيًّا فَاطِرِ السَّمَٰوَٰتِ وَالْأَرْضِ وَهُوَ يُطْعِمُ وَلَا يُطْعَمُ قُلْ إِنِّي أُمِرْتُ أَنْ أَكُونَ أَوَّلَ مَنْ أَسْلَمَ وَلَا تَكُونَنَّ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أأتّخذ غير الله وليًّا وهو خالق السماوات والأرض، وهو يرزق ولا يُرزق؟ قل: إني أُمرت أن أكون أول من أسلم من هذه الأمة، ولا تكوننّ من المشركين.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إِنِّي أَخَافُ إِنْ عَصَيْتُ رَبِّي عَذَابَ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إني أخاف إن عصيت ربي عذاب يوم عظيم.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يُصْرَفْ عَنْهُ يَوْمَئِذٍ فَقَدْ رَحِمَهُ وَذَٰلِكَ الْفَوْزُ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يُبعَد عنه العذاب يومئذ فقد رحمه الله، وذلك الفوز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يَمْسَسْكَ اللَّهُ بِضُرٍّ فَلَا كَاشِفَ لَهُ إِلَّا هُوَ وَإِن يَمْسَسْكَ بِخَيْرٍ فَهُوَ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يُصبك الله بضرّ فلا يكشفه إلا هو، وإن يُصبك بخير فهو على كل شيء قدير.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الْقَاهِرُ فَوْقَ عِبَادِهِ وَهُوَ الْحَكِيمُ الْخَبِيرُ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الغالب العالي فوق عباده، وهو الحكيم الخبير.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أَيُّ شَيْءٍ أَكْبَرُ شَهَٰدَةً قُلِ اللَّهُ شَهِيدٌ بَيْنِي وَبَيْنَكُمْ وَأُوحِيَ إِلَيَّ هَٰذَا الْقُرْءَانُ لِأُنذِرَكُم بِهِ وَمَن بَلَغَ أَئِنَّكُمْ لَتَشْهَدُونَ أَنَّ مَعَ اللَّهِ ءَالِهَةً أُخْرَىٰ قُل لَّآ أَشْهَدُ قُلْ إِنَّمَا هُوَ إِلَٰهٌ وَٰحِدٌ وَإِنَّنِي بَرِيءٌ مِّمَّا تُشْرِكُونَ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أيّ شيء أعظم شهادة؟ قل: الله شهيد بيني وبينكم، وأُوحي إليّ هذا القرآن لأنذركم به وأنذر كل من بلغه، أإنكم لتشهدون أن مع الله آلهة أخرى؟ قل: لا أشهد، إنما هو إله واحد، وإنني بريء مما تشركون.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ءَاتَيْنَٰهُمُ الْكِتَٰبَ يَعْرِفُونَهُ كَمَا يَعْرِفُونَ أَبْنَآءَهُمُ الَّذِينَ خَسِرُواْ أَنفُسَهُمْ فَهُمْ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آتيناهم الكتاب من اليهود والنصارى يعرفون محمدًا كما يعرفون أبناءهم، الذين خسروا أنفسهم فهم لا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أَظْلَمُ مِمَّنِ افْتَرَىٰ عَلَى اللَّهِ كَذِبًا أَوْ كَذَّبَ بِـَٔايَٰتِهِ إِنَّهُ لَا يُفْلِحُ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أظلم ممن كذب على الله أو كذّب بآياته، إنه لا يفلح الظالمون.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نَحْشُرُهُمْ جَمِيعًا ثُمَّ نَقُولُ لِلَّذِينَ أَشْرَكُواْ أَيْنَ شُرَكَآؤُكُمُ الَّذِينَ كُنتُمْ تَزْعُمُونَ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نجمعهم جميعًا ثم نقول للمشركين: أين آلهتكم التي كنتم تزعمون؟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لَمْ تَكُن فِتْنَتُهُمْ إِلَّآ أَن قَالُواْ وَاللَّهِ رَبِّنَا مَا كُنَّا 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لم يكن جوابهم إلا أن قالوا كاذبين: والله ربنا ما كنا مشركين.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انظُرْ كَيْفَ كَذَبُواْ عَلَىٰ أَنفُسِهِمْ وَضَلَّ عَنْهُم 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انظر كيف كذبوا على أنفسهم، وغاب عنهم ما كانوا يختلقون.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المكذّبون وتسلية النبي</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٣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٢٥ – ٤٥</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علي رضي الله عنه: إن أبا جهل قال للنبي صلى الله عليه وسلم: إنا لا نكذّبك، ولكن نكذّب بما جئت به، فأنزل الله: ﴿فإنهم لا يكذّبونك ولكن الظالمين بآيات الله يجحدون﴾ (رواه الترمذي والحاكم).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صفات المعاندين الذين يسمعون ولا ينتفعون، وتمنّيهم الرجوع يوم القيامة، وتسلية النبي صلى الله عليه وسلم بصبر الرسل قبله، وسنة الله في استدراج الأمم.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مَّن يَسْتَمِعُ إِلَيْكَ وَجَعَلْنَا عَلَىٰ قُلُوبِهِمْ أَكِنَّةً أَن يَفْقَهُوهُ وَفِي ءَاذَانِهِمْ وَقْرًا وَإِن يَرَوْاْ كُلَّ ءَايَةٍ لَّا يُؤْمِنُواْ بِهَا حَتَّىٰ إِذَا جَآءُوكَ يُجَٰدِلُونَكَ يَقُولُ الَّذِينَ كَفَرُواْ إِنْ هَٰذَآ إِلَّآ أَسَٰطِيرُ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ومنهم من يستمع إليك وهو لا يريد الحق، وجعلنا على قلوبهم أغطية فلا يفهمونه، وفي آذانهم صممًا، وإن يروا كل آية لا يؤمنوا بها، حتى إذا جاؤوك يجادلونك قالوا: ما هذا إلا أكاذيب الأولين.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وَهُمْ يَنْهَوْنَ عَنْهُ وَيَنْـَٔوْنَ عَنْهُ وَإِن يُهْلِكُونَ إِلَّآ أَنفُسَهُمْ وَمَا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وهم ينهون الناس عن اتّباع النبي، ويبتعدون هم عنه، وما يُهلكون إلا أنفسهم وما يشعرون.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تَرَىٰ إِذْ وُقِفُواْ عَلَى النَّارِ فَقَالُواْ يَٰلَيْتَنَا نُرَدُّ وَلَا نُكَذِّبَ بِـَٔايَٰتِ رَبِّنَا وَنَكُونَ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ترى إذ وقفوا على النار فقالوا: يا ليتنا نُرَدّ إلى الدنيا، ولا نكذّب بآيات ربنا، ونكون من المؤمنين.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بَدَا لَهُم مَّا كَانُواْ يُخْفُونَ مِن قَبْلُ وَلَوْ رُدُّواْ لَعَادُواْ لِمَا نُهُواْ عَنْهُ وَإِنَّهُمْ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ظهر لهم ما كانوا يُخفونه، ولو رُدّوا إلى الدنيا لعادوا إلى ما نُهوا عنه، وإنهم لكاذبون.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إِنْ هِيَ إِلَّا حَيَاتُنَا الدُّنْيَا وَمَا نَحْنُ بِمَبْعُوثِينَ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ما هي إلا حياتنا الدنيا، وما نحن بمبعوثين.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تَرَىٰ إِذْ وُقِفُواْ عَلَىٰ رَبِّهِمْ قَالَ أَلَيْسَ هَٰذَا بِالْحَقِّ قَالُواْ بَلَىٰ وَرَبِّنَا قَالَ فَذُوقُواْ الْعَذَابَ بِمَا كُنتُمْ تَكْفُرُونَ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ترى إذ وقفوا أمام ربهم، قال: أليس هذا البعث حقًّا؟ قالوا: بلى وربنا، قال: فذوقوا العذاب بكفركم.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خَسِرَ الَّذِينَ كَذَّبُواْ بِلِقَآءِ اللَّهِ حَتَّىٰ إِذَا جَآءَتْهُمُ السَّاعَةُ بَغْتَةً قَالُواْ يَٰحَسْرَتَنَا عَلَىٰ مَا فَرَّطْنَا فِيهَا وَهُمْ يَحْمِلُونَ أَوْزَارَهُمْ عَلَىٰ ظُهُورِهِمْ أَلَا سَآءَ مَا يَزِرُونَ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خسر الذين كذّبوا بلقاء الله، حتى إذا جاءتهم القيامة فجأة قالوا: يا حسرتنا على ما ضيّعنا في الدنيا، وهم يحملون ذنوبهم على ظهورهم، ألا بئس ما يحملون.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الْحَيَوٰةُ الدُّنْيَآ إِلَّا لَعِبٌ وَلَهْوٌ وَلَلدَّارُ الْأخِرَةُ خَيْرٌ لِّلَّذِينَ يَتَّقُونَ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الحياة الدنيا إلا لعب ولهو، وللدار الآخرة خير للذين يتقون، أفلا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نَعْلَمُ إِنَّهُ لَيَحْزُنُكَ الَّذِي يَقُولُونَ فَإِنَّهُمْ لَا يُكَذِّبُونَكَ وَلَٰكِنَّ الظَّـٰلِمِينَ بِـَٔايَٰتِ اللَّهِ يَجْحَدُونَ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نعلم إنه ليُحزنك ما يقولون، فإنهم لا يكذّبونك في قلوبهم، ولكن الظالمين يجحدون بآيات الله.</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كُذِّبَتْ رُسُلٌ مِّن قَبْلِكَ فَصَبَرُواْ عَلَىٰ مَا كُذِّبُواْ وَأُوذُواْ حَتَّىٰ أَتَىٰهُمْ نَصْرُنَا وَلَا مُبَدِّلَ لِكَلِمَٰتِ اللَّهِ وَلَقَدْ جَآءَكَ مِن نَّبَإِيْ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كُذّبت رسل قبلك فصبروا على التكذيب والأذى حتى أتاهم نصرنا، ولا مغيّر لوعد الله، ولقد جاءك من أخبار المرسلين.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كَانَ كَبُرَ عَلَيْكَ إِعْرَاضُهُمْ فَإِنِ اسْتَطَعْتَ أَن تَبْتَغِيَ نَفَقًا فِي الْأَرْضِ أَوْ سُلَّمًا فِي السَّمَآءِ فَتَأْتِيَهُم بِـَٔايَةٍ وَلَوْ شَآءَ اللَّهُ لَجَمَعَهُمْ عَلَى الْهُدَىٰ فَلَا تَكُونَنَّ مِنَ الْجَٰهِلِينَ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كان شقّ عليك إعراضهم، فإن استطعت أن تطلب نفقًا في الأرض أو سلّمًا في السماء فتأتيهم بآية فافعل، ولو شاء الله لجمعهم على الهدى، فلا تكوننّ من الجاهلين.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يَسْتَجِيبُ الَّذِينَ يَسْمَعُونَ وَالْمَوْتَىٰ يَبْعَثُهُمُ اللَّهُ ثُمَّ إِلَيْهِ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يستجيب لك الذين يسمعون سماع قبول، والكفار كالموتى، يبعثهم الله ثم إليه يرجعون.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لَوْلَا نُزِّلَ عَلَيْهِ ءَايَةٌ مِّن رَّبِّهِ قُلْ إِنَّ اللَّهَ قَادِرٌ عَلَىٰ أَن يُنَزِّلَ ءَايَةً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هلّا نُزّل عليه معجزة من ربه! قل: إن الله قادر على أن يُنزّل معجزة، ولكن أكثرهم لا يعلمون أن نزولها ثم التكذيب بها سبب للهلاك.</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مِن دَآبَّةٍ فِي الْأَرْضِ وَلَا طَـٰئِرٍ يَطِيرُ بِجَنَاحَيْهِ إِلَّآ أُمَمٌ أَمْثَالُكُم مَّا فَرَّطْنَا فِي الْكِتَٰبِ مِن شَيْءٍ ثُمَّ إِلَىٰ رَبِّهِمْ يُحْشَرُونَ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 دابة في الأرض، ولا طائر يطير بجناحيه، إلا أمم مخلوقة مثلكم، ما تركنا في اللوح المحفوظ من شيء، ثم إلى ربهم يُحشرون.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كَذَّبُواْ بِـَٔايَٰتِنَا صُمٌّ وَبُكْمٌ فِي الظُّلُمَٰتِ مَن يَشَإِ اللَّهُ يُضْلِلْهُ وَمَن يَشَأْ يَجْعَلْهُ عَلَىٰ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كذّبوا بآياتنا صمّ لا يسمعون الحق، بُكم لا ينطقون به، في ظلمات الكفر، من يشأ الله يُضلله، ومن يشأ يجعله على طريق مستقيم.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أَرَءَيْتَكُمْ إِنْ أَتَىٰكُمْ عَذَابُ اللَّهِ أَوْ أَتَتْكُمُ السَّاعَةُ أَغَيْرَ اللَّهِ تَدْعُونَ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أتاكم عذاب الله أو جاءتكم القيامة، أغير الله تدعون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إِيَّاهُ تَدْعُونَ فَيَكْشِفُ مَا تَدْعُونَ إِلَيْهِ إِن شَآءَ وَتَنسَوْنَ مَا تُشْرِكُونَ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إياه وحده تدعون، فيكشف ما تدعونه لكشفه إن شاء، وتنسون آلهتكم.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إِلَىٰ أُمَمٍ مِّن قَبْلِكَ فَأَخَذْنَٰهُم بِالْبَأْسَآءِ وَالضَّرَّآءِ لَعَلَّهُمْ يَتَضَرَّعُونَ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إلى أمم قبلك فكذّبوا، فابتليناهم بالفقر والمرض لعلهم يتذلّلون لله.</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فَلَوْلَآ إِذْ جَآءَهُم بَأْسُنَا تَضَرَّعُواْ وَلَٰكِن قَسَتْ قُلُوبُهُمْ وَزَيَّنَ لَهُمُ الشَّيْطَٰنُ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 تذلّلوا لما جاءهم العذاب! ولكن قست قلوبهم، وزيّن لهم الشيطان 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نَسُواْ مَا ذُكِّرُواْ بِهِ فَتَحْنَا عَلَيْهِمْ أَبْوَٰبَ كُلِّ شَيْءٍ حَتَّىٰ إِذَا فَرِحُواْ بِمَآ أُوتُواْ أَخَذْنَٰهُم بَغْتَةً فَإِذَا هُم مُّبْلِسُونَ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تركوا ما ذُكّروا به فتحنا عليهم أبواب كل خير استدراجًا، حتى إذا فرحوا بما أُعطوا أخذناهم فجأة، فإذا هم يائسون.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فَقُطِعَ دَابِرُ الْقَوْمِ الَّذِينَ ظَلَمُواْ وَالْحَمْدُ 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فأُهلك الظالمون عن آخرهم، والحمد لله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الرسول البشر والمؤمنون الفقراء</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٤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٤٦ – ٥٨</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سعد بن أبي وقاص رضي الله عنه: كنا مع النبي صلى الله عليه وسلم ستة نفر، فقال المشركون: اطرد هؤلاء لا يجترئون علينا، فوقع في نفس النبي صلى الله عليه وسلم ما شاء الله، فأنزل الله: ﴿ولا تطرد الذين يدعون ربهم بالغداة والعشي يريدون وجهه﴾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النبي صلى الله عليه وسلم بشر لا يملك خزائن الله ولا يعلم الغيب، والأمر بإكرام المؤمنين الفقراء وعدم طردهم إرضاءً للأغنياء.</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إِنْ أَخَذَ اللَّهُ سَمْعَكُمْ وَأَبْصَٰرَكُمْ وَخَتَمَ عَلَىٰ قُلُوبِكُم مَّنْ إِلَٰهٌ غَيْرُ اللَّهِ يَأْتِيكُم بِهِ انظُرْ كَيْفَ نُصَرِّفُ الْأيَٰتِ ثُمَّ هُمْ يَصْدِفُونَ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أخذ الله سمعكم وأبصاركم وختم على قلوبكم، من إله غير الله يُعيدها إليكم؟ انظر كيف ننوّع الآيات، ثم هم يُعرضون.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أَرَءَيْتَكُمْ إِنْ أَتَىٰكُمْ عَذَابُ اللَّهِ بَغْتَةً أَوْ جَهْرَةً هَلْ يُهْلَكُ إِلَّا الْقَوْمُ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أتاكم عذاب الله فجأة أو عيانًا، هل يُهلك إلا القوم الظالمون؟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نُرْسِلُ الْمُرْسَلِينَ إِلَّا مُبَشِّرِينَ وَمُنذِرِينَ فَمَنْ ءَامَنَ وَأَصْلَحَ فَلَا خَوْفٌ عَلَيْهِمْ وَلَا هُمْ يَحْزَنُونَ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نرسل المرسلين إلا مبشّرين بالجنة ومنذرين من النار، فمن آمن وأصلح فلا خوف عليهم ولا هم يحزنون.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كَذَّبُواْ بِـَٔايَٰتِنَا يَمَسُّهُمُ الْعَذَابُ بِمَا كَانُواْ يَفْسُقُونَ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كذّبوا بآياتنا يصيبهم العذاب بسبب فسقهم.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لَّآ أَقُولُ لَكُمْ عِندِي خَزَآئِنُ اللَّهِ وَلَآ أَعْلَمُ الْغَيْبَ وَلَآ أَقُولُ لَكُمْ إِنِّي مَلَكٌ إِنْ أَتَّبِعُ إِلَّا مَا يُوحَىٰ إِلَيَّ قُلْ هَلْ يَسْتَوِي الْأَعْمَىٰ وَالْبَصِيرُ أَفَلَا تَتَفَكَّرُونَ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لا أقول لكم: عندي خزائن الله، ولا أعلم الغيب، ولا أقول لكم: إني ملك، ما أتّبع إلا ما يوحى إليّ، قل: هل يستوي الكافر الأعمى والمؤمن البصير؟ أفلا تتفكرون؟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وَأَنذِرْ بِهِ الَّذِينَ يَخَافُونَ أَن يُحْشَرُواْ إِلَىٰ رَبِّهِمْ لَيْسَ لَهُم مِّن دُونِهِ وَلِيٌّ وَلَا شَفِيعٌ لَّعَلَّهُمْ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وأنذر بالقرآن الذين يخافون أن يُجمعوا إلى ربهم، ليس لهم من دونه وليّ ولا شفيع، لعلهم يتقون.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تَطْرُدِ الَّذِينَ يَدْعُونَ رَبَّهُم بِالْغَدَوٰةِ وَالْعَشِيِّ يُرِيدُونَ وَجْهَهُ مَا عَلَيْكَ مِنْ حِسَابِهِم مِّن شَيْءٍ وَمَا مِنْ حِسَابِكَ عَلَيْهِم مِّن شَيْءٍ فَتَطْرُدَهُمْ فَتَكُونَ مِنَ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تُبعد عن مجلسك المؤمنين الفقراء الذين يدعون ربهم صباحًا ومساءً يريدون وجهه، ليس عليك من حسابهم شيء، ولا عليهم من حسابك شيء، فتطردهم فتكون من الظالمين.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فَتَنَّا بَعْضَهُم بِبَعْضٍ لِّيَقُولُواْ أَهَـٰؤُلَآءِ مَنَّ اللَّهُ عَلَيْهِم مِّن بَيْنِنَآ أَلَيْسَ اللَّهُ بِأَعْلَمَ بِالشَّـٰكِرِينَ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اختبرنا بعضهم ببعض، ليقول الأغنياء الكفار عن الفقراء المؤمنين: أهؤلاء أنعم الله عليهم بالهداية من بيننا؟ أليس الله أعلم بالشاكرين؟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جَآءَكَ الَّذِينَ يُؤْمِنُونَ بِـَٔايَٰتِنَا فَقُلْ سَلَٰمٌ عَلَيْكُمْ كَتَبَ رَبُّكُمْ عَلَىٰ نَفْسِهِ الرَّحْمَةَ أَنَّهُ مَنْ عَمِلَ مِنكُمْ سُوءًا بِجَهَٰلَةٍ ثُمَّ تَابَ مِن بَعْدِهِ وَأَصْلَحَ فَأَنَّهُ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جاءك المؤمنون فقل: سلام عليكم، كتب ربكم على نفسه الرحمة، أن من عمل منكم سوءًا بجهل ثم تاب وأصلح فإن الله غفور رحيم.</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نُفَصِّلُ الْأيَٰتِ وَلِتَسْتَبِينَ سَبِيلُ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نبيّن الآيات، ولتظهر طريق المجرمين فتُجتنب.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إِنِّي نُهِيتُ أَنْ أَعْبُدَ الَّذِينَ تَدْعُونَ مِن دُونِ اللَّهِ قُل لَّآ أَتَّبِعُ أَهْوَآءَكُمْ قَدْ ضَلَلْتُ إِذًا وَمَآ أَنَا مِنَ الْمُهْتَدِينَ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إني نُهيت أن أعبد الذين تعبدون من دون الله، قل: لا أتّبع أهواءكم، قد ضللت إذًا وما أنا من المهتدين.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إِنِّي عَلَىٰ بَيِّنَةٍ مِّن رَّبِّي وَكَذَّبْتُم بِهِ مَا عِندِي مَا تَسْتَعْجِلُونَ بِهِ إِنِ الْحُكْمُ إِلَّا لِلَّهِ يَقُصُّ الْحَقَّ وَهُوَ خَيْرُ الْفَٰصِلِينَ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إني على حجة واضحة من ربي وقد كذّبتم بها، ليس عندي العذاب الذي تستعجلونه، ما الحكم إلا لله، يقصّ الحق، وهو خير الفاصلين.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921508"/>
            <a:ext cx="548640" cy="548640"/>
          </a:xfrm>
          <a:prstGeom prst="star8">
            <a:avLst/>
          </a:prstGeom>
          <a:solidFill>
            <a:schemeClr val="accent2"/>
          </a:solidFill>
          <a:ln/>
        </p:spPr>
      </p:sp>
      <p:sp>
        <p:nvSpPr>
          <p:cNvPr id="6" name="Shape 4"/>
          <p:cNvSpPr/>
          <p:nvPr/>
        </p:nvSpPr>
        <p:spPr>
          <a:xfrm>
            <a:off x="11036808" y="303123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لَّوْ أَنَّ عِندِي مَا تَسْتَعْجِلُونَ بِهِ لَقُضِيَ الْأَمْرُ بَيْنِي وَبَيْنَكُمْ وَاللَّهُ أَعْلَمُ بِالظَّـٰلِمِينَ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لو أن عندي ما تستعجلون به من العذاب لأُنزل بكم وانتهى الأمر، والله أعلم بالظالمين.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مفاتح الغيب وقدرة الله</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٥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٥٩ – ٧٣</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علم الله المحيط بكل ورقة وحبة، وقدرته على النوم والإيقاظ والموت والبعث، ونجاة الناس من الكروب، والنهي عن مجالسة المستهزئين بالدين.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وَعِندَهُ مَفَاتِحُ الْغَيْبِ لَا يَعْلَمُهَآ إِلَّا هُوَ وَيَعْلَمُ مَا فِي الْبَرِّ وَالْبَحْرِ وَمَا تَسْقُطُ مِن وَرَقَةٍ إِلَّا يَعْلَمُهَا وَلَا حَبَّةٍ فِي ظُلُمَٰتِ الْأَرْضِ وَلَا رَطْبٍ وَلَا يَابِسٍ إِلَّا فِي كِتَٰبٍ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وعنده مفاتح الغيب لا يعلمها إلا هو، ويعلم ما في البرّ والبحر، وما تسقط من ورقة إلا يعلمها، ولا حبة في ظلمات الأرض، ولا رطب ولا يابس، إلا مكتوب في كتاب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يَتَوَفَّىٰكُم بِالَّيْلِ وَيَعْلَمُ مَا جَرَحْتُم بِالنَّهَارِ ثُمَّ يَبْعَثُكُمْ فِيهِ لِيُقْضَىٰ أَجَلٌ مُّسَمًّى ثُمَّ إِلَيْهِ مَرْجِعُكُمْ ثُمَّ يُنَبِّئُكُم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يقبض أرواحكم بالليل في النوم، ويعلم ما عملتم بالنهار، ثم يوقظكم في النهار لتُتمّوا أعماركم، ثم إليه مرجعكم، ثم يخبركم بما كنتم تعملون.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الْقَاهِرُ فَوْقَ عِبَادِهِ وَيُرْسِلُ عَلَيْكُمْ حَفَظَةً حَتَّىٰ إِذَا جَآءَ أَحَدَكُمُ الْمَوْتُ تَوَفَّتْهُ رُسُلُنَا وَهُمْ لَا يُفَرِّطُونَ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الغالب فوق عباده، ويرسل عليكم ملائكة يحفظون أعمالكم، حتى إذا جاء أحدكم الموت قبضت روحه ملائكتنا، وهم لا يقصّرون.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رُدُّواْ إِلَى اللَّهِ مَوْلَىٰهُمُ الْحَقِّ أَلَا لَهُ الْحُكْمُ وَهُوَ أَسْرَعُ الْحَٰسِبِينَ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رُدّوا إلى الله مولاهم الحق، ألا له الحكم، وهو أسرع المحاسبين.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يُنَجِّيكُم مِّن ظُلُمَٰتِ الْبَرِّ وَالْبَحْرِ تَدْعُونَهُ تَضَرُّعًا وَخُفْيَةً لَّئِنْ أَنجَىٰنَا مِنْ هَٰذِهِ لَنَكُونَنَّ مِنَ الشَّـٰكِرِينَ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ينجّيكم من شدائد البرّ والبحر، تدعونه متذلّلين وفي السرّ: لئن أنجيتنا من هذه لنكوننّ من الشاكرين؟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اللَّهُ يُنَجِّيكُم مِّنْهَا وَمِن كُلِّ كَرْبٍ ثُمَّ أَنتُمْ تُشْرِكُونَ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الله ينجّيكم منها ومن كل كرب، ثم أنتم تشركون.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هُوَ الْقَادِرُ عَلَىٰ أَن يَبْعَثَ عَلَيْكُمْ عَذَابًا مِّن فَوْقِكُمْ أَوْ مِن تَحْتِ أَرْجُلِكُمْ أَوْ يَلْبِسَكُمْ شِيَعًا وَيُذِيقَ بَعْضَكُم بَأْسَ بَعْضٍ انظُرْ كَيْفَ نُصَرِّفُ الْأيَٰتِ لَعَلَّهُمْ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هو القادر على أن يرسل عليكم عذابًا من فوقكم كالحجارة، أو من تحت أرجلكم كالخسف، أو يجعلكم فِرَقًا متنازعة يذيق بعضكم بأس بعض، انظر كيف ننوّع الآيات لعلهم يفهمون.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وَكَذَّبَ بِهِ قَوْمُكَ وَهُوَ الْحَقُّ قُل لَّسْتُ عَلَيْكُم بِوَكِيلٍ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وكذّب بالقرآن قومك وهو الحق، قل: لست عليكم بحفيظ.</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لِّكُلِّ نَبَإٍ مُّسْتَقَرٌّ وَسَوْفَ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لكل خبر وقت يقع فيه، وسوف تعلمون.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رَأَيْتَ الَّذِينَ يَخُوضُونَ فِي ءَايَٰتِنَا فَأَعْرِضْ عَنْهُمْ حَتَّىٰ يَخُوضُواْ فِي حَدِيثٍ غَيْرِهِ وَإِمَّا يُنسِيَنَّكَ الشَّيْطَٰنُ فَلَا تَقْعُدْ بَعْدَ الذِّكْرَىٰ مَعَ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رأيت الذين يخوضون في آياتنا بالاستهزاء فأعرض عنهم حتى يتحدّثوا في حديث غيره، وإن أنساك الشيطان فلا تقعد بعد التذكّر مع القوم الظالمين.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عَلَى الَّذِينَ يَتَّقُونَ مِنْ حِسَابِهِم مِّن شَيْءٍ وَلَٰكِن ذِكْرَىٰ لَعَلَّهُمْ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على المتقين من حساب هؤلاء شيء، ولكن عليهم أن يذكّروهم لعلهم يتقون.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وَذَرِ الَّذِينَ اتَّخَذُواْ دِينَهُمْ لَعِبًا وَلَهْوًا وَغَرَّتْهُمُ الْحَيَوٰةُ الدُّنْيَا وَذَكِّرْ بِهِ أَن تُبْسَلَ نَفْسٌ بِمَا كَسَبَتْ لَيْسَ لَهَا مِن دُونِ اللَّهِ وَلِيٌّ وَلَا شَفِيعٌ وَإِن تَعْدِلْ كُلَّ عَدْلٍ لَّا يُؤْخَذْ مِنْهَآ أُوْلَـٰئِكَ الَّذِينَ أُبْسِلُواْ بِمَا كَسَبُواْ لَهُمْ شَرَابٌ مِّنْ حَمِيمٍ وَعَذَابٌ أَلِيمٌ بِمَا كَانُواْ يَكْفُرُونَ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واترك الذين جعلوا دينهم لعبًا ولهوًا وخدعتهم الحياة الدنيا، وذكّر بالقرآن لئلّا تُحبس نفس في العذاب بعملها، ليس لها من دون الله وليّ ولا شفيع، وإن تقدّم كل فداء لا يُقبل منها، أولئك لهم شراب من ماء حار وعذاب موجع بكفرهم.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أَنَدْعُواْ مِن دُونِ اللَّهِ مَا لَا يَنفَعُنَا وَلَا يَضُرُّنَا وَنُرَدُّ عَلَىٰ أَعْقَابِنَا بَعْدَ إِذْ هَدَىٰنَا اللَّهُ كَالَّذِي اسْتَهْوَتْهُ الشَّيَٰطِينُ فِي الْأَرْضِ حَيْرَانَ لَهُ أَصْحَٰبٌ يَدْعُونَهُ إِلَى الْهُدَى ائْتِنَا قُلْ إِنَّ هُدَى اللَّهِ هُوَ الْهُدَىٰ وَأُمِرْنَا لِنُسْلِمَ لِرَبِّ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أنعبد من دون الله ما لا ينفعنا ولا يضرّنا، ونرجع إلى الكفر بعد أن هدانا الله، كالذي أضلّته الشياطين في الأرض فهو حائر، له أصحاب يدعونه إلى الطريق: ائتنا؟ قل: إن هدى الله هو الهدى، وأُمرنا لنُسلم لرب العالمين.</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أَقِيمُواْ الصَّلَوٰةَ وَاتَّقُوهُ وَهُوَ الَّذِي إِلَيْهِ تُحْشَرُونَ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وأُمرنا أن أقيموا الصلاة واتقوه، وهو الذي إليه تُجمعون.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خَلَقَ السَّمَٰوَٰتِ وَالْأَرْضَ بِالْحَقِّ وَيَوْمَ يَقُولُ كُن فَيَكُونُ قَوْلُهُ الْحَقُّ وَلَهُ الْمُلْكُ يَوْمَ يُنفَخُ فِي الصُّورِ عَٰلِمُ الْغَيْبِ وَالشَّهَٰدَةِ وَهُوَ الْحَكِيمُ الْخَبِيرُ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خلق السماوات والأرض بالحق، ويوم يقول للشيء: كن فيكون، قوله الحق، وله الملك يوم يُنفخ في البوق، عالم الغيب والشهادة، وهو الحكيم الخبير.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مناظرة إبراهيم وموكب الأنبياء</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٦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٧٤ – ٩٠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نزلت: ﴿الذين آمنوا ولم يلبسوا إيمانهم بظلم﴾ شقّ ذلك على الصحابة وقالوا: أيّنا لم يظلم نفسه؟ فقال النبي صلى الله عليه وسلم: «ليس كما تظنون، إنما هو كما قال لقمان لابنه: إن الشرك لظلم عظيم»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مناظرة إبراهيم لقومه في عبادة الكواكب وإثباته التوحيد بالحجة، ثم ذكر ثمانية عشر نبيًّا هداهم الله، والأمر بالاقتداء بهم.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٧٤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إِبْرَٰهِيمُ لِأَبِيهِ ءَازَرَ أَتَتَّخِذُ أَصْنَامًا ءَالِهَةً إِنِّي أَرَىٰكَ وَقَوْمَكَ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إبراهيم لأبيه آزر: أتتخذ أصنامًا آلهة؟ إني أراك وقومك في ضلال واضح.</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نُرِي إِبْرَٰهِيمَ مَلَكُوتَ السَّمَٰوَٰتِ وَالْأَرْضِ وَلِيَكُونَ مِنَ الْمُوقِنِينَ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وكما هديناه أريناه ملك السماوات والأرض ودلائل التوحيد فيهما، وليكون من الموقنين.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202082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جَنَّ عَلَيْهِ الَّيْلُ رَءَا كَوْكَبًا قَالَ هَٰذَا رَبِّي فَلَمَّآ أَفَلَ قَالَ لَآ أُحِبُّ الْأفِلِينَ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أظلم عليه الليل رأى كوكبًا، فقال لقومه مناظرًا لهم: هذا ربي؟ فلما غاب قال: لا أحب الآلهة التي تغيب.</a:t>
            </a:r>
            <a:endParaRPr lang="ar-SA" sz="3200" dirty="0"/>
          </a:p>
        </p:txBody>
      </p:sp>
      <p:sp>
        <p:nvSpPr>
          <p:cNvPr id="9" name="Shape 7"/>
          <p:cNvSpPr/>
          <p:nvPr/>
        </p:nvSpPr>
        <p:spPr>
          <a:xfrm>
            <a:off x="2103120" y="3543300"/>
            <a:ext cx="8641080" cy="0"/>
          </a:xfrm>
          <a:prstGeom prst="line">
            <a:avLst/>
          </a:prstGeom>
          <a:noFill/>
          <a:ln w="9525">
            <a:solidFill>
              <a:schemeClr val="accent2"/>
            </a:solidFill>
            <a:prstDash val="dash"/>
          </a:ln>
        </p:spPr>
      </p:sp>
      <p:sp>
        <p:nvSpPr>
          <p:cNvPr id="10" name="Shape 8"/>
          <p:cNvSpPr/>
          <p:nvPr/>
        </p:nvSpPr>
        <p:spPr>
          <a:xfrm>
            <a:off x="10927080" y="3803904"/>
            <a:ext cx="548640" cy="548640"/>
          </a:xfrm>
          <a:prstGeom prst="star8">
            <a:avLst/>
          </a:prstGeom>
          <a:solidFill>
            <a:schemeClr val="accent2"/>
          </a:solidFill>
          <a:ln/>
        </p:spPr>
      </p:sp>
      <p:sp>
        <p:nvSpPr>
          <p:cNvPr id="11" name="Shape 9"/>
          <p:cNvSpPr/>
          <p:nvPr/>
        </p:nvSpPr>
        <p:spPr>
          <a:xfrm>
            <a:off x="11036808" y="39136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8039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37856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رَءَا الْقَمَرَ بَازِغًا قَالَ هَٰذَا رَبِّي فَلَمَّآ أَفَلَ قَالَ لَئِن لَّمْ يَهْدِنِي رَبِّي لَأَكُونَنَّ مِنَ الْقَوْمِ الضَّآلِّينَ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رأى القمر طالعًا قال: هذا ربي؟ فلما غاب قال: لئن لم يهدني ربي لأكوننّ من القوم الضالين.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رَءَا الشَّمْسَ بَازِغَةً قَالَ هَٰذَا رَبِّي هَٰذَآ أَكْبَرُ فَلَمَّآ أَفَلَتْ قَالَ يَٰقَوْمِ إِنِّي بَرِيءٌ مِّمَّا تُشْرِكُونَ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رأى الشمس طالعة قال: هذا ربي؟ هذا أكبر! فلما غابت قال: يا قوم إني بريء مما تشركون.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وَجَّهْتُ وَجْهِيَ لِلَّذِي فَطَرَ السَّمَٰوَٰتِ وَالْأَرْضَ حَنِيفًا وَمَآ أَنَا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وجّهت وجهي وعبادتي للذي خلق السماوات والأرض، مائلًا عن الشرك إلى التوحيد، وما أنا من المشركين.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وَحَآجَّهُ قَوْمُهُ قَالَ أَتُحَـٰجُّونِّي فِي اللَّهِ وَقَدْ هَدَىٰنِ وَلَآ أَخَافُ مَا تُشْرِكُونَ بِهِ إِلَّآ أَن يَشَآءَ رَبِّي شَيْـًٔا وَسِعَ رَبِّي كُلَّ شَيْءٍ عِلْمًا أَفَلَا تَتَذَكَّرُونَ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وجادله قومه في التوحيد، قال: أتجادلونني في الله وقد هداني؟ ولا أخاف آلهتكم أن تضرّني إلا أن يشاء ربي شيئًا، وسع ربي كل شيء علمًا، أفلا تتذكرون؟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وَكَيْفَ أَخَافُ مَآ أَشْرَكْتُمْ وَلَا تَخَافُونَ أَنَّكُمْ أَشْرَكْتُم بِاللَّهِ مَا لَمْ يُنَزِّلْ بِهِ عَلَيْكُمْ سُلْطَٰنًا فَأَيُّ الْفَرِيقَيْنِ أَحَقُّ بِالْأَمْنِ إِن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وكيف أخاف آلهتكم، وأنتم لا تخافون أنكم أشركتم بالله ما لم يُنزل به حجة؟ فأيّ الفريقين أحق بالأمن إن كنتم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٨٢ – ٨٣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8" name="Text 6"/>
          <p:cNvSpPr txBox="1"/>
          <p:nvPr/>
        </p:nvSpPr>
        <p:spPr>
          <a:xfrm>
            <a:off x="731520" y="185166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ءَامَنُواْ وَلَمْ يَلْبِسُواْ إِيمَٰنَهُم بِظُلْمٍ أُوْلَـٰئِكَ لَهُمُ الْأَمْنُ وَهُم مُّهْتَدُونَ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آمنوا ولم يخلطوا إيمانهم بشرك، أولئك لهم الأمن، وهم مهتدون. وفسّر النبي صلى الله عليه وسلم الظلم هنا بالشرك (البخاري ومسلم).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3" name="Text 11"/>
          <p:cNvSpPr txBox="1"/>
          <p:nvPr/>
        </p:nvSpPr>
        <p:spPr>
          <a:xfrm>
            <a:off x="731520" y="36164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وَتِلْكَ حُجَّتُنَآ ءَاتَيْنَٰهَآ إِبْرَٰهِيمَ عَلَىٰ قَوْمِهِ نَرْفَعُ دَرَجَٰتٍ مَّن نَّشَآءُ إِنَّ رَبَّكَ حَكِيمٌ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وتلك حجتنا التي علّمناها إبراهيم ليغلب بها قومه، نرفع درجات من نشاء بالعلم والإيمان، إن ربك حكيم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٨٤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وَوَهَبْنَا لَهُ إِسْحَٰقَ وَيَعْقُوبَ كُلًّا هَدَيْنَا وَنُوحًا هَدَيْنَا مِن قَبْلُ وَمِن ذُرِّيَّتِهِ دَاوُدَ وَسُلَيْمَٰنَ وَأَيُّوبَ وَيُوسُفَ وَمُوسَىٰ وَهَٰرُونَ وَكَذَٰلِكَ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ووهبنا له إسحاق ويعقوب، كلًّا هدينا، ونوحًا هدينا من قبله، ومن ذريته داود وسليمان وأيوب ويوسف وموسى وهارون، وكذلك نجزي المحسنين.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وَزَكَرِيَّا وَيَحْيَىٰ وَعِيسَىٰ وَإِلْيَاسَ كُلٌّ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وزكريا ويحيى وعيسى وإلياس، كلٌّ من الصالحين.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وَإِسْمَٰعِيلَ وَالْيَسَعَ وَيُونُسَ وَلُوطًا وَكُلًّا فَضَّلْنَا عَلَى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وإسماعيل واليسع ويونس ولوطًا، وكلًّا فضّلنا على عالمي زمانهم.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ءَابَآئِهِمْ وَذُرِّيَّـٰتِهِمْ وَإِخْوَٰنِهِمْ وَاجْتَبَيْنَٰهُمْ وَهَدَيْنَٰهُمْ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وهدينا بعض آبائهم وذرياتهم وإخوانهم، واخترناهم، وهديناهم إلى طريق مستقيم.</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هُدَى اللَّهِ يَهْدِي بِهِ مَن يَشَآءُ مِنْ عِبَادِهِ وَلَوْ أَشْرَكُواْ لَحَبِطَ عَنْهُم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هدى الله يهدي به من يشاء من عباده، ولو أشركوا لبطل عنهم 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ءَاتَيْنَٰهُمُ الْكِتَٰبَ وَالْحُكْمَ وَالنُّبُوَّةَ فَإِن يَكْفُرْ بِهَا هَـٰؤُلَآءِ فَقَدْ وَكَّلْنَا بِهَا قَوْمًا لَّيْسُواْ بِهَا بِكَٰفِرِينَ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آتيناهم الكتب والحكمة والنبوة، فإن يكفر بها أهل مكة فقد وكّلنا بها قومًا ليسوا بها بكافرين، وهم المهاجرون والأنصار.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هَدَى اللَّهُ فَبِهُدَىٰهُمُ اقْتَدِهْ قُل لَّآ أَسْـَٔلُكُمْ عَلَيْهِ أَجْرًا إِنْ هُوَ إِلَّا ذِكْرَىٰ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الأنبياء هم الذين هداهم الله فاقتدِ بهداهم، قل: لا أطلب منكم على القرآن أجرًا، ما هو إلا تذكير للعالمين.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آيات الله في الكون</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٧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٩١ – ١١٠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الرد على من أنكر الوحي، وبركة القرآن، ومشهد الظالمين عند الموت، ثم آيات الله في فلق الحب والنوى والصبح والنجوم والنبات، والنهي عن سبّ آلهة المشركين.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قَدَرُواْ اللَّهَ حَقَّ قَدْرِهِ إِذْ قَالُواْ مَآ أَنزَلَ اللَّهُ عَلَىٰ بَشَرٍ مِّن شَيْءٍ قُلْ مَنْ أَنزَلَ الْكِتَٰبَ الَّذِي جَآءَ بِهِ مُوسَىٰ نُورًا وَهُدًى لِّلنَّاسِ تَجْعَلُونَهُ قَرَاطِيسَ تُبْدُونَهَا وَتُخْفُونَ كَثِيرًا وَعُلِّمْتُم مَّا لَمْ تَعْلَمُواْ أَنتُمْ وَلَآ ءَابَآؤُكُمْ قُلِ اللَّهُ ثُمَّ ذَرْهُمْ فِي خَوْضِهِمْ يَلْعَبُونَ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عظّموا الله حق تعظيمه حين قالوا: ما أنزل الله على بشر من شيء، قل: من أنزل التوراة التي جاء بها موسى نورًا وهدى للناس، تكتبونها في أوراق تُظهرون بعضها وتُخفون كثيرًا، وعُلّمتم ما لم تعلموا أنتم ولا آباؤكم؟ قل: الله أنزله، ثم اتركهم في باطلهم يلعبون.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وَهَٰذَا كِتَٰبٌ أَنزَلْنَٰهُ مُبَارَكٌ مُّصَدِّقُ الَّذِي بَيْنَ يَدَيْهِ وَلِتُنذِرَ أُمَّ الْقُرَىٰ وَمَنْ حَوْلَهَا وَالَّذِينَ يُؤْمِنُونَ بِالْأخِرَةِ يُؤْمِنُونَ بِهِ وَهُمْ عَلَىٰ صَلَاتِهِمْ يُحَافِظُونَ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وهذا القرآن كتاب أنزلناه كثير البركة، مصدّق لما قبله من الكتب، ولتنذر به أهل مكة ومن حولها، والذين يؤمنون بالآخرة يؤمنون به، وهم على صلاتهم يحافظون.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أَظْلَمُ مِمَّنِ افْتَرَىٰ عَلَى اللَّهِ كَذِبًا أَوْ قَالَ أُوحِيَ إِلَيَّ وَلَمْ يُوحَ إِلَيْهِ شَيْءٌ وَمَن قَالَ سَأُنزِلُ مِثْلَ مَآ أَنزَلَ اللَّهُ وَلَوْ تَرَىٰ إِذِ الظَّـٰلِمُونَ فِي غَمَرَٰتِ الْمَوْتِ وَالْمَلَـٰئِكَةُ بَاسِطُواْ أَيْدِيهِمْ أَخْرِجُواْ أَنفُسَكُمُ الْيَوْمَ تُجْزَوْنَ عَذَابَ الْهُونِ بِمَا كُنتُمْ تَقُولُونَ عَلَى اللَّهِ غَيْرَ الْحَقِّ وَكُنتُمْ عَنْ ءَايَٰتِهِ تَسْتَكْبِرُونَ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أظلم ممن كذب على الله، أو ادّعى النبوة ولم يوحَ إليه شيء، ومن قال: سأُنزل مثل ما أنزل الله، ولو ترى إذ الظالمون في شدائد الموت، والملائكة باسطو أيديهم بالضرب: أخرجوا أرواحكم، اليوم تُجزون عذاب الذل بكذبكم على الله وتكبّركم عن آياته.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جِئْتُمُونَا فُرَٰدَىٰ كَمَا خَلَقْنَٰكُمْ أَوَّلَ مَرَّةٍ وَتَرَكْتُم مَّا خَوَّلْنَٰكُمْ وَرَآءَ ظُهُورِكُمْ وَمَا نَرَىٰ مَعَكُمْ شُفَعَآءَكُمُ الَّذِينَ زَعَمْتُمْ أَنَّهُمْ فِيكُمْ شُرَكَـٰؤُاْ لَقَد تَّقَطَّعَ بَيْنَكُمْ وَضَلَّ عَنكُم مَّا كُنتُمْ تَزْعُمُونَ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جئتمونا يوم القيامة فرادى بلا مال ولا أهل، كما خلقناكم أول مرة، وتركتم ما أعطيناكم خلف ظهوركم، وما نرى معكم شفعاءكم الذين زعمتم أنهم شركاء لله، لقد انقطع ما بينكم، وغاب عنكم ما كنتم تزعمون.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٩٥ – 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فَالِقُ الْحَبِّ وَالنَّوَىٰ يُخْرِجُ الْحَيَّ مِنَ الْمَيِّتِ وَمُخْرِجُ الْمَيِّتِ مِنَ الْحَيِّ ذَٰلِكُمُ اللَّهُ فَأَنَّىٰ تُؤْفَكُونَ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يشقّ الحبّ والنوى فيخرج منه النبات والشجر، يُخرج الحي من الميت ويُخرج الميت من الحي، ذلكم الله، فكيف تُصرفون عن عبادته؟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فَالِقُ الْإِصْبَاحِ وَجَعَلَ الَّيْلَ سَكَنًا وَالشَّمْسَ وَالْقَمَرَ حُسْبَانًا ذَٰلِكَ تَقْدِيرُ الْعَزِيزِ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شاقّ ضوء الصبح من ظلام الليل، وجعل الليل سكنًا للراحة، والشمس والقمر يجريان بحساب دقيق، ذلك تقدير العزيز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٩٧ – ٩٨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جَعَلَ لَكُمُ النُّجُومَ لِتَهْتَدُواْ بِهَا فِي ظُلُمَٰتِ الْبَرِّ وَالْبَحْرِ قَدْ فَصَّلْنَا الْأيَٰتِ لِقَوْمٍ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جعل لكم النجوم لتهتدوا بها في ظلمات البر والبحر، قد بيّنّا الآيات لقوم يعلمون.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أَنشَأَكُم مِّن نَّفْسٍ وَٰحِدَةٍ فَمُسْتَقَرٌّ وَمُسْتَوْدَعٌ قَدْ فَصَّلْنَا الْأيَٰتِ لِقَوْمٍ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خلقكم من نفس واحدة هي آدم، فمنكم مستقرّ في الأرحام ومستودع في الأصلاب، قد بيّنّا الآيات لقوم يفهمون.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أَنزَلَ مِنَ السَّمَآءِ مَآءً فَأَخْرَجْنَا بِهِ نَبَاتَ كُلِّ شَيْءٍ فَأَخْرَجْنَا مِنْهُ خَضِرًا نُّخْرِجُ مِنْهُ حَبًّا مُّتَرَاكِبًا وَمِنَ النَّخْلِ مِن طَلْعِهَا قِنْوَانٌ دَانِيَةٌ وَجَنَّـٰتٍ مِّنْ أَعْنَابٍ وَالزَّيْتُونَ وَالرُّمَّانَ مُشْتَبِهًا وَغَيْرَ مُتَشَٰبِهٍ انظُرُواْ إِلَىٰ ثَمَرِهِ إِذَآ أَثْمَرَ وَيَنْعِهِ إِنَّ فِي ذَٰلِكُمْ لَأيَٰتٍ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أنزل من السماء مطرًا، فأخرجنا به نبات كل شيء، فأخرجنا منه زرعًا أخضر يخرج منه حبّ متراكب كالسنابل، ومن النخل عذوق قريبة، وبساتين من أعناب، والزيتون والرمان متشابهًا في الورق ومختلفًا في الطعم، انظروا إلى ثمره حين يبدو ثم حين ينضج، إن في ذلكم لدلائل لقوم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١٠٠ – ١٠١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وَجَعَلُواْ لِلَّهِ شُرَكَآءَ الْجِنَّ وَخَلَقَهُمْ وَخَرَقُواْ لَهُ بَنِينَ وَبَنَٰتٍ بِغَيْرِ عِلْمٍ سُبْحَٰنَهُ وَتَعَٰلَىٰ عَمَّا يَصِفُونَ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 المشركون الجن شركاء لله في العبادة وهو خالقهم، واختلقوا له بنين وبنات بغير علم، تنزّه وتعالى عما يصفون.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بَدِيعُ السَّمَٰوَٰتِ وَالْأَرْضِ أَنَّىٰ يَكُونُ لَهُ وَلَدٌ وَلَمْ تَكُن لَّهُ صَٰحِبَةٌ وَخَلَقَ كُلَّ شَيْءٍ وَهُوَ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مُبدع السماوات والأرض على غير مثال، كيف يكون له ولد ولم تكن له زوجة؟ وخلق كل شيء، وهو بكل شيء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١٠٢ – ١٠٣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ذَٰلِكُمُ اللَّهُ رَبُّكُمْ لَآ إِلَٰهَ إِلَّا هُوَ خَٰلِقُ كُلِّ شَيْءٍ فَاعْبُدُوهُ وَهُوَ عَلَىٰ كُلِّ شَيْءٍ 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ذلكم الله ربكم، لا إله إلا هو، خالق كل شيء فاعبدوه، وهو على كل شيء وكيل.</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تُدْرِكُهُ الْأَبْصَٰرُ وَهُوَ يُدْرِكُ الْأَبْصَٰرَ وَهُوَ اللَّطِيفُ الْخَبِيرُ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تحيط به الأبصار، وهو يحيط بها، وهو اللطيف الخبير. والمؤمنون يرونه في الآخرة كما ثبت في السنة.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١٠٤ – ١٠٦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جَآءَكُم بَصَآئِرُ مِن رَّبِّكُمْ فَمَنْ أَبْصَرَ فَلِنَفْسِهِ وَمَنْ عَمِيَ فَعَلَيْهَا وَمَآ أَنَا عَلَيْكُم بِحَفِيظٍ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جاءكم من ربكم دلائل تُبصرون بها الحق، فمن أبصر فنفعه لنفسه، ومن عمي فضرره عليها، وما أنا عليكم برقيب.</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نُصَرِّفُ الْأيَٰتِ وَلِيَقُولُواْ دَرَسْتَ وَلِنُبَيِّنَهُ لِقَوْمٍ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ننوّع الآيات، وليقول المشركون: تعلّمت يا محمد من أهل الكتاب، ولنبيّنه لقوم يعلمون.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اتَّبِعْ مَآ أُوحِيَ إِلَيْكَ مِن رَّبِّكَ لَآ إِلَٰهَ إِلَّا هُوَ وَأَعْرِضْ عَنِ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اتّبع ما أوحي إليك من ربك، لا إله إلا هو، وأعرض عن المشركين.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١٠٧ – ١٠٨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شَآءَ اللَّهُ مَآ أَشْرَكُواْ وَمَا جَعَلْنَٰكَ عَلَيْهِمْ حَفِيظًا وَمَآ أَنتَ عَلَيْهِم بِوَكِيلٍ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شاء الله ما أشركوا، وما جعلناك عليهم رقيبًا، ولست بموكّل عليهم.</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تَسُبُّواْ الَّذِينَ يَدْعُونَ مِن دُونِ اللَّهِ فَيَسُبُّواْ اللَّهَ عَدْوًا بِغَيْرِ عِلْمٍ كَذَٰلِكَ زَيَّنَّا لِكُلِّ أُمَّةٍ عَمَلَهُمْ ثُمَّ إِلَىٰ رَبِّهِم مَّرْجِعُهُمْ فَيُنَبِّئُهُم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تسبّوا آلهة المشركين فيسبّوا الله ظلمًا وجهلًا، كذلك زيّنّا لكل أمة عملها، ثم إلى ربهم مرجعهم فيخبرهم بما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١٠٩ – ١١٠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وَأَقْسَمُواْ بِاللَّهِ جَهْدَ أَيْمَٰنِهِمْ لَئِن جَآءَتْهُمْ ءَايَةٌ لَّيُؤْمِنُنَّ بِهَا قُلْ إِنَّمَا الْأيَٰتُ عِندَ اللَّهِ وَمَا يُشْعِرُكُمْ أَنَّهَآ إِذَا جَآءَتْ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المشركون بالله أشد أيمانهم: لئن جاءتهم معجزة ليؤمننّ بها، قل: إنما المعجزات عند الله، وما يُدريكم أنها إذا جاءت لا يؤمنون؟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وَنُقَلِّبُ أَفْـِٔدَتَهُمْ وَأَبْصَٰرَهُمْ كَمَا لَمْ يُؤْمِنُواْ بِهِ أَوَّلَ مَرَّةٍ وَنَذَرُهُمْ فِي طُغْيَٰنِهِمْ يَعْمَهُونَ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ونقلّب قلوبهم وأبصارهم عن الحق، كما لم يؤمنوا بالقرآن أول مرة، ونتركهم في طغيانهم يتحيّرون.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أعداء الأنبياء وأحكام الذبائح</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٨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١١١ – ١٢٧</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جاء ناس إلى النبي صلى الله عليه وسلم فقالوا: أنأكل ما نقتل ولا نأكل ما يقتل الله؟ فأنزل الله: ﴿ولا تأكلوا مما لم يُذكر اسم الله عليه...﴾ إلى قوله: ﴿وإن أطعتموهم إنكم لمشركون﴾ (رواه أبو داود والترمذي).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لكل نبي أعداء من شياطين الإنس والجن، وكلمات الله التامة صدقًا وعدلًا، وحكم ما ذُكر اسم الله عليه من الذبائح، ومثَل المؤمن الحي والكافر الميت.</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١١١ – ١١٢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أَنَّنَا نَزَّلْنَآ إِلَيْهِمُ الْمَلَـٰئِكَةَ وَكَلَّمَهُمُ الْمَوْتَىٰ وَحَشَرْنَا عَلَيْهِمْ كُلَّ شَيْءٍ قُبُلًا مَّا كَانُواْ لِيُؤْمِنُواْ إِلَّآ أَن يَشَآءَ اللَّهُ وَلَٰكِنَّ أَكْثَرَهُمْ يَجْهَلُونَ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أننا نزّلنا إليهم الملائكة، وكلّمهم الموتى، وجمعنا عليهم كل شيء يرونه عيانًا، ما كانوا ليؤمنوا إلا أن يشاء الله، ولكن أكثرهم يجهلون.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جَعَلْنَا لِكُلِّ نَبِيٍّ عَدُوًّا شَيَٰطِينَ الْإِنسِ وَالْجِنِّ يُوحِي بَعْضُهُمْ إِلَىٰ بَعْضٍ زُخْرُفَ الْقَوْلِ غُرُورًا وَلَوْ شَآءَ رَبُّكَ مَا فَعَلُوهُ فَذَرْهُمْ وَمَا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وكما جعلنا لك أعداء جعلنا لكل نبي أعداء من شياطين الإنس والجن، يُلقي بعضهم إلى بعض الكلام المزيّن ليخدعوا به، ولو شاء ربك ما فعلوه، فاتركهم وما يختلقون.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١١٣ – ١١٤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وَلِتَصْغَىٰ إِلَيْهِ أَفْـِٔدَةُ الَّذِينَ لَا يُؤْمِنُونَ بِالْأخِرَةِ وَلِيَرْضَوْهُ وَلِيَقْتَرِفُواْ مَا هُم مُّقْتَرِفُونَ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ولتميل إلى هذا الكلام المزخرف قلوب الذين لا يؤمنون بالآخرة، وليرضوه، وليكتسبوا ما هم مكتسبون من الآثام.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أَفَغَيْرَ اللَّهِ أَبْتَغِي حَكَمًا وَهُوَ الَّذِي أَنزَلَ إِلَيْكُمُ الْكِتَٰبَ مُفَصَّلًا وَالَّذِينَ ءَاتَيْنَٰهُمُ الْكِتَٰبَ يَعْلَمُونَ أَنَّهُ مُنَزَّلٌ مِّن رَّبِّكَ بِالْحَقِّ فَلَا تَكُونَنَّ مِنَ الْمُمْتَرِينَ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أأطلب حَكَمًا غير الله وهو الذي أنزل إليكم القرآن مفصّلًا؟ والذين آتيناهم الكتاب يعلمون أنه منزل من ربك بالحق، فلا تكوننّ من الشاكّين.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١١٥ – ١١٧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وَتَمَّتْ كَلِمَتُ رَبِّكَ صِدْقًا وَعَدْلًا لَّا مُبَدِّلَ لِكَلِمَٰتِهِ وَهُوَ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وتمّت كلمات ربك صدقًا في الأخبار وعدلًا في الأحكام، لا مغيّر لكلماته، وهو السميع العليم.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تُطِعْ أَكْثَرَ مَن فِي الْأَرْضِ يُضِلُّوكَ عَن سَبِيلِ اللَّهِ إِن يَتَّبِعُونَ إِلَّا الظَّنَّ وَإِنْ هُمْ إِلَّا يَخْرُصُونَ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تُطع أكثر من في الأرض يُضلّوك عن دين الله، ما يتّبعون إلا الظن، وما هم إلا يكذبون.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 هُوَ أَعْلَمُ مَن يَضِلُّ عَن سَبِيلِهِ وَهُوَ أَعْلَمُ بِالْمُهْتَدِينَ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 هو أعلم بمن يضلّ عن سبيله، وهو أعلم بالمهتدين.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١١٨ – ١١٩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فَكُلُواْ مِمَّا ذُكِرَ اسْمُ اللَّهِ عَلَيْهِ إِن كُنتُم بِـَٔايَٰتِهِ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فكلوا من الذبائح التي ذُكر اسم الله عليها إن كنتم بآياته مؤمنين.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لَكُمْ أَلَّا تَأْكُلُواْ مِمَّا ذُكِرَ اسْمُ اللَّهِ عَلَيْهِ وَقَدْ فَصَّلَ لَكُم مَّا حَرَّمَ عَلَيْكُمْ إِلَّا مَا اضْطُرِرْتُمْ إِلَيْهِ وَإِنَّ كَثِيرًا لَّيُضِلُّونَ بِأَهْوَآئِهِم بِغَيْرِ عِلْمٍ إِنَّ رَبَّكَ هُوَ أَعْلَمُ بِالْمُعْتَدِينَ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الذي يمنعكم أن تأكلوا مما ذُكر اسم الله عليه، وقد بيّن لكم ما حرّم عليكم إلا ما اضطررتم إليه؟ وإن كثيرًا ليُضلّون الناس بأهوائهم بغير علم، إن ربك هو أعلم بالمعتدين.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١٢٠ – ١٢١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وَذَرُواْ ظَٰهِرَ الْإِثْمِ وَبَاطِنَهُ إِنَّ الَّذِينَ يَكْسِبُونَ الْإِثْمَ سَيُجْزَوْنَ بِمَا كَانُواْ يَقْتَرِفُونَ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واتركوا الذنوب الظاهرة والخفية، إن الذين يكسبون الإثم سيُجزون بما كانوا يكتسبون.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تَأْكُلُواْ مِمَّا لَمْ يُذْكَرِ اسْمُ اللَّهِ عَلَيْهِ وَإِنَّهُ لَفِسْقٌ وَإِنَّ الشَّيَٰطِينَ لَيُوحُونَ إِلَىٰ أَوْلِيَآئِهِمْ لِيُجَٰدِلُوكُمْ وَإِنْ أَطَعْتُمُوهُمْ إِنَّكُمْ لَمُشْرِكُونَ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تأكلوا من الذبائح التي لم يُذكر اسم الله عليها، وإن أكلها لخروج عن الطاعة، وإن الشياطين ليوسوسون إلى أوليائهم ليجادلوكم، وإن أطعتموهم في تحليل الحرام إنكم لمشركون.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١٢٢ – ١٢٣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أَوَمَن كَانَ مَيْتًا فَأَحْيَيْنَٰهُ وَجَعَلْنَا لَهُ نُورًا يَمْشِي بِهِ فِي النَّاسِ كَمَن مَّثَلُهُ فِي الظُّلُمَٰتِ لَيْسَ بِخَارِجٍ مِّنْهَا كَذَٰلِكَ زُيِّنَ لِلْكَٰفِرِينَ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أوَمن كان ميّت القلب بالكفر فأحييناه بالإيمان، وجعلنا له نورًا يمشي به في الناس، كمن هو في ظلمات الكفر لا يخرج منها؟ كذلك زُيّن للكافرين ما كانوا يعملون.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جَعَلْنَا فِي كُلِّ قَرْيَةٍ أَكَٰبِرَ مُجْرِمِيهَا لِيَمْكُرُواْ فِيهَا وَمَا يَمْكُرُونَ إِلَّا بِأَنفُسِهِمْ وَمَا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جعلنا في كل قرية كبار مجرميها ليمكروا فيها، وما يمكرون إلا بأنفسهم وما يشعرون.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جَآءَتْهُمْ ءَايَةٌ قَالُواْ لَن نُّؤْمِنَ حَتَّىٰ نُؤْتَىٰ مِثْلَ مَآ أُوتِيَ رُسُلُ اللَّهِ اللَّهُ أَعْلَمُ حَيْثُ يَجْعَلُ رِسَالَتَهُ سَيُصِيبُ الَّذِينَ أَجْرَمُواْ صَغَارٌ عِندَ اللَّهِ وَعَذَابٌ شَدِيدٌ بِمَا كَانُواْ يَمْكُرُونَ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جاءتهم آية قالوا: لن نؤمن حتى نُعطى النبوة مثل الرسل! الله أعلم حيث يجعل رسالته، سيصيب المجرمين ذلّ عند الله وعذاب شديد بمكرهم.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١٢٥ – ١٢٦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يُرِدِ اللَّهُ أَن يَهْدِيَهُ يَشْرَحْ صَدْرَهُ لِلْإِسْلَٰمِ وَمَن يُرِدْ أَن يُضِلَّهُ يَجْعَلْ صَدْرَهُ ضَيِّقًا حَرَجًا كَأَنَّمَا يَصَّعَّدُ فِي السَّمَآءِ كَذَٰلِكَ يَجْعَلُ اللَّهُ الرِّجْسَ عَلَى الَّذِينَ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يُرد الله أن يهديه يوسّع صدره للإسلام، ومن يُرد أن يُضلّه يجعل صدره ضيّقًا شديد الضيق كأنما يصعد في السماء، كذلك يجعل الله العذاب على الذين لا يؤمنون.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وَهَٰذَا صِرَٰطُ رَبِّكَ مُسْتَقِيمًا قَدْ فَصَّلْنَا الْأيَٰتِ لِقَوْمٍ يَذَّكَّرُونَ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وهذا الإسلام طريق ربك المستقيم، قد بيّنّا الآيات لقوم يتذكرون.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14116"/>
            <a:ext cx="548640" cy="548640"/>
          </a:xfrm>
          <a:prstGeom prst="star8">
            <a:avLst/>
          </a:prstGeom>
          <a:solidFill>
            <a:schemeClr val="accent2"/>
          </a:solidFill>
          <a:ln/>
        </p:spPr>
      </p:sp>
      <p:sp>
        <p:nvSpPr>
          <p:cNvPr id="6" name="Shape 4"/>
          <p:cNvSpPr/>
          <p:nvPr/>
        </p:nvSpPr>
        <p:spPr>
          <a:xfrm>
            <a:off x="11036808" y="33238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8" name="Text 6"/>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دَارُ السَّلَٰمِ عِندَ رَبِّهِمْ وَهُوَ وَلِيُّهُم بِمَا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دار السلامة وهي الجنة عند ربهم، وهو ناصرهم بسبب أعمالهم الصالحة.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إبطال أحكام الجاهلية</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٩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١٢٨ – ١٥٠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حوار الجن والإنس يوم القيامة، ثم إبطال ما اخترعه المشركون من تحريم الأنعام والزروع وقتل الأولاد، وبيان المحرّمات الحقيقية من الطعام.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١٢٨ – ١٢٩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يَحْشُرُهُمْ جَمِيعًا يَٰمَعْشَرَ الْجِنِّ قَدِ اسْتَكْثَرْتُم مِّنَ الْإِنسِ وَقَالَ أَوْلِيَآؤُهُم مِّنَ الْإِنسِ رَبَّنَا اسْتَمْتَعَ بَعْضُنَا بِبَعْضٍ وَبَلَغْنَآ أَجَلَنَا الَّذِي أَجَّلْتَ لَنَا قَالَ النَّارُ مَثْوَىٰكُمْ خَٰلِدِينَ فِيهَآ إِلَّا مَا شَآءَ اللَّهُ إِنَّ رَبَّكَ حَكِيمٌ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يجمع الله الجن والإنس، يقول: يا معشر الجن قد أضللتم كثيرًا من الإنس، وقال أتباعهم من الإنس: ربنا انتفع بعضنا ببعض، وبلغنا الأجل الذي حدّدته لنا، قال: النار مقامكم خالدين فيها إلا ما شاء الله، إن ربك حكيم عليم.</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١٢٩</a:t>
            </a:r>
            <a:endParaRPr lang="ar-SA" sz="13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نُوَلِّي بَعْضَ الظَّـٰلِمِينَ بَعْضًا بِمَا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نُسلّط بعض الظالمين على بعض بسبب ذنوبهم.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١٣٠ – ١٣١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١٣٠</a:t>
            </a:r>
            <a:endParaRPr lang="ar-SA" sz="13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يَٰمَعْشَرَ الْجِنِّ وَالْإِنسِ أَلَمْ يَأْتِكُمْ رُسُلٌ مِّنكُمْ يَقُصُّونَ عَلَيْكُمْ ءَايَٰتِي وَيُنذِرُونَكُمْ لِقَآءَ يَوْمِكُمْ هَٰذَا قَالُواْ شَهِدْنَا عَلَىٰ أَنفُسِنَا وَغَرَّتْهُمُ الْحَيَوٰةُ الدُّنْيَا وَشَهِدُواْ عَلَىٰ أَنفُسِهِمْ أَنَّهُمْ كَانُواْ 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معشر الجن والإنس، ألم يأتكم رسل منكم يقرؤون عليكم آياتي، وينذرونكم هذا اليوم؟ قالوا: شهدنا على أنفسنا، وخدعتهم الحياة الدنيا، وشهدوا على أنفسهم أنهم كانوا كافرين.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١٣١</a:t>
            </a:r>
            <a:endParaRPr lang="ar-SA" sz="13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أَن لَّمْ يَكُن رَّبُّكَ مُهْلِكَ الْقُرَىٰ بِظُلْمٍ وَأَهْلُهَا 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الإرسال لأن ربك لم يكن ليُهلك القرى بظلمهم وأهلها غافلون لم يأتهم رسول.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١٣٢ – ١٣٤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١٣٢</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وَلِكُلٍّ دَرَجَٰتٌ مِّمَّا عَمِلُواْ وَمَا رَبُّكَ بِغَٰفِلٍ عَمَّا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ولكلٍّ من الجن والإنس منازل بحسب أعمالهم، وما ربك بغافل عما يعملون.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١٣٣</a:t>
            </a:r>
            <a:endParaRPr lang="ar-SA" sz="13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وَرَبُّكَ الْغَنِيُّ ذُو الرَّحْمَةِ إِن يَشَأْ يُذْهِبْكُمْ وَيَسْتَخْلِفْ مِن بَعْدِكُم مَّا يَشَآءُ كَمَآ أَنشَأَكُم مِّن ذُرِّيَّةِ قَوْمٍ ءَاخَرِينَ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وربك الغني صاحب الرحمة، إن يشأ يُهلككم، ويأتِ بعدكم بمن يشاء، كما أنشأكم من ذرية قوم آخرين.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١٣٤</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مَا تُوعَدُونَ لَأتٍ وَمَآ أَنتُم بِمُعْجِزِينَ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ما توعدون به من البعث لآتٍ، وما أنتم بفائتين.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١٣٥ – ١٣٦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١٣٥</a:t>
            </a:r>
            <a:endParaRPr lang="ar-SA" sz="13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يَٰقَوْمِ اعْمَلُواْ عَلَىٰ مَكَانَتِكُمْ إِنِّي عَامِلٌ فَسَوْفَ تَعْلَمُونَ مَن تَكُونُ لَهُ عَٰقِبَةُ الدَّارِ إِنَّهُ لَا يُفْلِحُ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قوم اعملوا على طريقتكم إني عامل على طريقتي، فسوف تعلمون من تكون له العاقبة الحسنة، إنه لا يفلح الظالمون.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١٣٦</a:t>
            </a:r>
            <a:endParaRPr lang="ar-SA" sz="13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وَجَعَلُواْ لِلَّهِ مِمَّا ذَرَأَ مِنَ الْحَرْثِ وَالْأَنْعَٰمِ نَصِيبًا فَقَالُواْ هَٰذَا لِلَّهِ بِزَعْمِهِمْ وَهَٰذَا لِشُرَكَآئِنَا فَمَا كَانَ لِشُرَكَآئِهِمْ فَلَا يَصِلُ إِلَى اللَّهِ وَمَا كَانَ لِلَّهِ فَهُوَ يَصِلُ إِلَىٰ شُرَكَآئِهِمْ سَآءَ مَا يَحْكُمُونَ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 المشركون لله نصيبًا مما خلق من الزرع والأنعام، فقالوا: هذا لله بزعمهم، وهذا لأصنامنا، فما كان لأصنامهم لا يصل إلى الله، وما كان لله يصل إلى أصنامهم، بئس ما يحكمون.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١٣٧ – ١٣٨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١٣٧</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زَيَّنَ لِكَثِيرٍ مِّنَ الْمُشْرِكِينَ قَتْلَ أَوْلَٰدِهِمْ شُرَكَآؤُهُمْ لِيُرْدُوهُمْ وَلِيَلْبِسُواْ عَلَيْهِمْ دِينَهُمْ وَلَوْ شَآءَ اللَّهُ مَا فَعَلُوهُ فَذَرْهُمْ وَمَا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زيّن الشياطين لكثير من المشركين قتل أولادهم، ليُهلكوهم وليخلطوا عليهم دينهم، ولو شاء الله ما فعلوه، فاتركهم وما يختلقون.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١٣٨</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هَٰذِهِ أَنْعَٰمٌ وَحَرْثٌ حِجْرٌ لَّا يَطْعَمُهَآ إِلَّا مَن نَّشَآءُ بِزَعْمِهِمْ وَأَنْعَٰمٌ حُرِّمَتْ ظُهُورُهَا وَأَنْعَٰمٌ لَّا يَذْكُرُونَ اسْمَ اللَّهِ عَلَيْهَا افْتِرَآءً عَلَيْهِ سَيَجْزِيهِم بِمَا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هذه أنعام وزروع محرّمة لا يأكلها إلا من نشاء بزعمهم، وأنعام حرّموا ركوبها، وأنعام لا يذكرون اسم الله عليها، كذبًا على الله، سيجزيهم بما كانوا يختلقون.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١٣٩ – ١٤٠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١٣٩</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مَا فِي بُطُونِ هَٰذِهِ الْأَنْعَٰمِ خَالِصَةٌ لِّذُكُورِنَا وَمُحَرَّمٌ عَلَىٰ أَزْوَٰجِنَا وَإِن يَكُن مَّيْتَةً فَهُمْ فِيهِ شُرَكَآءُ سَيَجْزِيهِمْ وَصْفَهُمْ إِنَّهُ حَكِيمٌ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ما في بطون هذه الأنعام من الأجنّة حلال لذكورنا، وحرام على نسائنا، وإن وُلد ميتًا اشتركوا فيه، سيجزيهم على وصفهم الكاذب، إنه حكيم عليم.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١٤٠</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خَسِرَ الَّذِينَ قَتَلُواْ أَوْلَٰدَهُمْ سَفَهًا بِغَيْرِ عِلْمٍ وَحَرَّمُواْ مَا رَزَقَهُمُ اللَّهُ افْتِرَآءً عَلَى اللَّهِ قَدْ ضَلُّواْ وَمَا كَانُواْ مُهْتَدِينَ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خسر الذين قتلوا أولادهم سفهًا بغير علم، وحرّموا ما رزقهم الله كذبًا على الله، قد ضلّوا وما كانوا مهتدين.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١٤١</a:t>
            </a:r>
            <a:endParaRPr lang="ar-SA" sz="13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أَنشَأَ جَنَّـٰتٍ مَّعْرُوشَٰتٍ وَغَيْرَ مَعْرُوشَٰتٍ وَالنَّخْلَ وَالزَّرْعَ مُخْتَلِفًا أُكُلُهُ وَالزَّيْتُونَ وَالرُّمَّانَ مُتَشَٰبِهًا وَغَيْرَ مُتَشَٰبِهٍ كُلُواْ مِن ثَمَرِهِ إِذَآ أَثْمَرَ وَءَاتُواْ حَقَّهُ يَوْمَ حَصَادِهِ وَلَا تُسْرِفُواْ إِنَّهُ لَا يُحِبُّ الْمُسْرِفِينَ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أنشأ بساتين: منها ما يُرفع على العرائش كالعنب، ومنها ما لا يُرفع، والنخل والزرع مختلفًا طعمه، والزيتون والرمان متشابهًا وغير متشابه، كلوا من ثمره إذا أثمر، وأخرجوا زكاته يوم حصاده، ولا تُسرفوا، إنه لا يحب المسرفين.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١٤٢ – ١٤٣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١٤٢</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الْأَنْعَٰمِ حَمُولَةً وَفَرْشًا كُلُواْ مِمَّا رَزَقَكُمُ اللَّهُ وَلَا تَتَّبِعُواْ خُطُوَٰتِ الشَّيْطَٰنِ إِنَّهُ لَكُمْ عَدُوٌّ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وأنشأ من الأنعام ما يُحمل عليه كالإبل، وما هو صغير قريب من الأرض كالغنم، كلوا مما رزقكم الله، ولا تتّبعوا خطوات الشيطان، إنه لكم عدو واضح.</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١٤٣</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ثَمَٰنِيَةَ أَزْوَٰجٍ مِّنَ الضَّأْنِ اثْنَيْنِ وَمِنَ الْمَعْزِ اثْنَيْنِ قُلْ ءَآلذَّكَرَيْنِ حَرَّمَ أَمِ الْأُنثَيَيْنِ أَمَّا اشْتَمَلَتْ عَلَيْهِ أَرْحَامُ الْأُنثَيَيْنِ نَبِّـُٔونِي بِعِلْمٍ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أنشأ لكم ثمانية أصناف: من الضأن ذكرًا وأنثى، ومن المعز ذكرًا وأنثى، قل: أحرّم الله الذكرين أم الأنثيين أم ما في بطون الأنثيين؟ أخبروني بعلم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١٤٤</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الْإِبِلِ اثْنَيْنِ وَمِنَ الْبَقَرِ اثْنَيْنِ قُلْ ءَآلذَّكَرَيْنِ حَرَّمَ أَمِ الْأُنثَيَيْنِ أَمَّا اشْتَمَلَتْ عَلَيْهِ أَرْحَامُ الْأُنثَيَيْنِ أَمْ كُنتُمْ شُهَدَآءَ إِذْ وَصَّىٰكُمُ اللَّهُ بِهَٰذَا فَمَنْ أَظْلَمُ مِمَّنِ افْتَرَىٰ عَلَى اللَّهِ كَذِبًا لِّيُضِلَّ النَّاسَ بِغَيْرِ عِلْمٍ إِنَّ 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الإبل ذكرًا وأنثى، ومن البقر ذكرًا وأنثى، قل: أيّها حرّم؟ أم كنتم حاضرين حين وصّاكم الله بهذا؟ فلا أحد أظلم ممن كذب على الله ليُضلّ الناس بغير علم، إن الله لا يهدي القوم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١٤٥</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لَّآ أَجِدُ فِي مَآ أُوحِيَ إِلَيَّ مُحَرَّمًا عَلَىٰ طَاعِمٍ يَطْعَمُهُ إِلَّآ أَن يَكُونَ مَيْتَةً أَوْ دَمًا مَّسْفُوحًا أَوْ لَحْمَ خِنزِيرٍ فَإِنَّهُ رِجْسٌ أَوْ فِسْقًا أُهِلَّ لِغَيْرِ اللَّهِ بِهِ فَمَنِ اضْطُرَّ غَيْرَ بَاغٍ وَلَا عَادٍ فَإِنَّ رَبَّكَ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لا أجد فيما أوحي إليّ طعامًا محرّمًا إلا أن يكون ميتة، أو دمًا مسفوحًا، أو لحم خنزير فإنه نجس، أو ما ذُبح لغير الله، فمن اضطر غير ظالم ولا متجاوز للحاجة فإن ربك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١٤٦ – ١٤٧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١٤٦</a:t>
            </a:r>
            <a:endParaRPr lang="ar-SA" sz="13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وَعَلَى الَّذِينَ هَادُواْ حَرَّمْنَا كُلَّ ذِي ظُفُرٍ وَمِنَ الْبَقَرِ وَالْغَنَمِ حَرَّمْنَا عَلَيْهِمْ شُحُومَهُمَآ إِلَّا مَا حَمَلَتْ ظُهُورُهُمَآ أَوِ الْحَوَايَآ أَوْ مَا اخْتَلَطَ بِعَظْمٍ ذَٰلِكَ جَزَيْنَٰهُم بِبَغْيِهِمْ وَإِنَّا لَصَٰدِقُونَ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وعلى اليهود حرّمنا كل ذي ظُفر كالإبل والنعام، ومن البقر والغنم حرّمنا عليهم شحومهما إلا ما حملت ظهورهما أو الأمعاء أو ما اختلط بعظم، ذلك عقوبة لهم على ظلمهم، وإنا لصادقون.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١٤٧</a:t>
            </a:r>
            <a:endParaRPr lang="ar-SA" sz="13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كَذَّبُوكَ فَقُل رَّبُّكُمْ ذُو رَحْمَةٍ وَٰسِعَةٍ وَلَا يُرَدُّ بَأْسُهُ عَنِ الْقَوْمِ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كذّبوك فقل: ربكم ذو رحمة واسعة، ولا يُردّ عذابه عن القوم المجرمين.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١٤٨ – ١٤٩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١٤٨</a:t>
            </a:r>
            <a:endParaRPr lang="ar-SA" sz="13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سَيَقُولُ الَّذِينَ أَشْرَكُواْ لَوْ شَآءَ اللَّهُ مَآ أَشْرَكْنَا وَلَآ ءَابَآؤُنَا وَلَا حَرَّمْنَا مِن شَيْءٍ كَذَٰلِكَ كَذَّبَ الَّذِينَ مِن قَبْلِهِمْ حَتَّىٰ ذَاقُواْ بَأْسَنَا قُلْ هَلْ عِندَكُم مِّنْ عِلْمٍ فَتُخْرِجُوهُ لَنَآ إِن تَتَّبِعُونَ إِلَّا الظَّنَّ وَإِنْ أَنتُمْ إِلَّا تَخْرُصُونَ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سيقول المشركون: لو شاء الله ما أشركنا ولا آباؤنا ولا حرّمنا شيئًا! كذلك كذّب الذين من قبلهم حتى ذاقوا عذابنا، قل: هل عندكم علم فتُظهروه لنا؟ ما تتّبعون إلا الظن، وما أنتم إلا تكذبون.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١٤٩</a:t>
            </a:r>
            <a:endParaRPr lang="ar-SA" sz="13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فَلِلَّهِ الْحُجَّةُ الْبَٰلِغَةُ فَلَوْ شَآءَ لَهَدَىٰكُمْ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فلله الحجة القاطعة، فلو شاء لهداكم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١٥٠</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هَلُمَّ شُهَدَآءَكُمُ الَّذِينَ يَشْهَدُونَ أَنَّ اللَّهَ حَرَّمَ هَٰذَا فَإِن شَهِدُواْ فَلَا تَشْهَدْ مَعَهُمْ وَلَا تَتَّبِعْ أَهْوَآءَ الَّذِينَ كَذَّبُواْ بِـَٔايَٰتِنَا وَالَّذِينَ لَا يُؤْمِنُونَ بِالْأخِرَةِ وَهُم بِرَبِّهِمْ يَعْدِلُونَ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هاتوا شهودكم الذين يشهدون أن الله حرّم هذا، فإن شهدوا كذبًا فلا تشهد معهم، ولا تتّبع أهواء المكذّبين بآياتنا والذين لا يؤمنون بالآخرة وهم يجعلون لربهم شركاء.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4400" b="1" dirty="0">
                <a:solidFill>
                  <a:schemeClr val="accent2"/>
                </a:solidFill>
                <a:latin typeface="Sakkal Majalla" pitchFamily="34" charset="0"/>
                <a:ea typeface="Sakkal Majalla" pitchFamily="34" charset="-122"/>
                <a:cs typeface="Sakkal Majalla" pitchFamily="34" charset="-120"/>
              </a:rPr>
              <a:t>الوصايا العشر</a:t>
            </a:r>
            <a:endParaRPr lang="ar-SA" sz="4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١٠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١٥١ – ١٦٥</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الأنعام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عشر وصايا جامعة: التوحيد، وبرّ الوالدين، وحفظ الأولاد والأنفس والأموال، والعدل، والوفاء بالعهد، واتّباع الصراط المستقيم. قال ابن مسعود: من أراد أن ينظر إلى وصية محمد صلى الله عليه وسلم التي عليها خاتمه فليقرأ هذه الآيات (رواه الترمذي).</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١٥١</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تَعَالَوْاْ أَتْلُ مَا حَرَّمَ رَبُّكُمْ عَلَيْكُمْ أَلَّا تُشْرِكُواْ بِهِ شَيْـًٔا وَبِالْوَٰلِدَيْنِ إِحْسَٰنًا وَلَا تَقْتُلُواْ أَوْلَٰدَكُم مِّنْ إِمْلَٰقٍ نَّحْنُ نَرْزُقُكُمْ وَإِيَّاهُمْ وَلَا تَقْرَبُواْ الْفَوَٰحِشَ مَا ظَهَرَ مِنْهَا وَمَا بَطَنَ وَلَا تَقْتُلُواْ النَّفْسَ الَّتِي حَرَّمَ اللَّهُ إِلَّا بِالْحَقِّ ذَٰلِكُمْ وَصَّىٰكُم بِهِ لَعَلَّكُمْ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تعالوا أقرأ عليكم ما حرّم ربكم عليكم: ألّا تشركوا به شيئًا، وأحسنوا إلى الوالدين إحسانًا، ولا تقتلوا أولادكم من الفقر نحن نرزقكم وإياهم، ولا تقربوا الفواحش ظاهرها وخفيّها، ولا تقتلوا النفس التي حرّم الله إلا بالحق، ذلكم وصّاكم به لعلكم تعقلون.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١٥٢</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تَقْرَبُواْ مَالَ الْيَتِيمِ إِلَّا بِالَّتِي هِيَ أَحْسَنُ حَتَّىٰ يَبْلُغَ أَشُدَّهُ وَأَوْفُواْ الْكَيْلَ وَالْمِيزَانَ بِالْقِسْطِ لَا نُكَلِّفُ نَفْسًا إِلَّا وُسْعَهَا وَإِذَا قُلْتُمْ فَاعْدِلُواْ وَلَوْ كَانَ ذَا قُرْبَىٰ وَبِعَهْدِ اللَّهِ أَوْفُواْ ذَٰلِكُمْ وَصَّىٰكُم بِهِ لَعَلَّكُمْ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تقربوا مال اليتيم إلا بالطريقة التي هي أحسن حتى يبلغ رشده، وأتمّوا الكيل والميزان بالعدل، لا نكلّف نفسًا إلا طاقتها، وإذا قلتم فاعدلوا ولو كان قريبًا، وبعهد الله أوفوا، ذلكم وصّاكم به لعلكم تتذكرون.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83180"/>
            <a:ext cx="548640" cy="548640"/>
          </a:xfrm>
          <a:prstGeom prst="star8">
            <a:avLst/>
          </a:prstGeom>
          <a:solidFill>
            <a:schemeClr val="accent2"/>
          </a:solidFill>
          <a:ln/>
        </p:spPr>
      </p:sp>
      <p:sp>
        <p:nvSpPr>
          <p:cNvPr id="6" name="Shape 4"/>
          <p:cNvSpPr/>
          <p:nvPr/>
        </p:nvSpPr>
        <p:spPr>
          <a:xfrm>
            <a:off x="11036808" y="269290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831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١٥٣</a:t>
            </a:r>
            <a:endParaRPr lang="ar-SA" sz="1300" dirty="0"/>
          </a:p>
        </p:txBody>
      </p:sp>
      <p:sp>
        <p:nvSpPr>
          <p:cNvPr id="8" name="Text 6"/>
          <p:cNvSpPr txBox="1"/>
          <p:nvPr/>
        </p:nvSpPr>
        <p:spPr>
          <a:xfrm>
            <a:off x="731520" y="2564892"/>
            <a:ext cx="10012680" cy="223113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هَٰذَا صِرَٰطِي مُسْتَقِيمًا فَاتَّبِعُوهُ وَلَا تَتَّبِعُواْ السُّبُلَ فَتَفَرَّقَ بِكُمْ عَن سَبِيلِهِ ذَٰلِكُمْ وَصَّىٰكُم بِهِ لَعَلَّكُمْ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هذا الإسلام طريقي المستقيم فاتّبعوه، ولا تتّبعوا الطرق الأخرى فتفرّقكم عن طريقه، ذلكم وصّاكم به لعلكم تتقون. وخطّ النبي صلى الله عليه وسلم خطًّا مستقيمًا وخطوطًا عن جانبيه ثم قرأ هذه الآية (رواه أحمد).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١٥٤ – ١٥٥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١٥٤</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ءَاتَيْنَا مُوسَى الْكِتَٰبَ تَمَامًا عَلَى الَّذِي أَحْسَنَ وَتَفْصِيلًا لِّكُلِّ شَيْءٍ وَهُدًى وَرَحْمَةً لَّعَلَّهُم بِلِقَآءِ رَبِّهِمْ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آتينا موسى التوراة تمامًا للنعمة على من أحسن، وتفصيلًا لكل شيء، وهدى ورحمة لعلهم بلقاء ربهم يؤمنون.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١٥٥</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وَهَٰذَا كِتَٰبٌ أَنزَلْنَٰهُ مُبَارَكٌ فَاتَّبِعُوهُ وَاتَّقُواْ لَعَلَّكُمْ تُرْحَمُونَ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وهذا القرآن كتاب أنزلناه كثير البركة فاتّبعوه، واتقوا لعلكم تُرحمون.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١٥٦ – ١٥٧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١٥٦</a:t>
            </a:r>
            <a:endParaRPr lang="ar-SA" sz="13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تَقُولُواْ إِنَّمَآ أُنزِلَ الْكِتَٰبُ عَلَىٰ طَآئِفَتَيْنِ مِن قَبْلِنَا وَإِن كُنَّا عَن دِرَاسَتِهِمْ لَغَٰفِلِينَ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لئلّا تقولوا: إنما أُنزل الكتاب على اليهود والنصارى قبلنا، وإن كنا عن قراءتهم لغافلين.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١٥٧</a:t>
            </a:r>
            <a:endParaRPr lang="ar-SA" sz="13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تَقُولُواْ لَوْ أَنَّآ أُنزِلَ عَلَيْنَا الْكِتَٰبُ لَكُنَّآ أَهْدَىٰ مِنْهُمْ فَقَدْ جَآءَكُم بَيِّنَةٌ مِّن رَّبِّكُمْ وَهُدًى وَرَحْمَةٌ فَمَنْ أَظْلَمُ مِمَّن كَذَّبَ بِـَٔايَٰتِ اللَّهِ وَصَدَفَ عَنْهَا سَنَجْزِي الَّذِينَ يَصْدِفُونَ عَنْ ءَايَٰتِنَا سُوءَ الْعَذَابِ بِمَا كَانُواْ يَصْدِفُونَ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تقولوا: لو أنا أُنزل علينا الكتاب لكنا أهدى منهم، فقد جاءكم حجة واضحة من ربكم وهدى ورحمة، فمن أظلم ممن كذّب بآيات الله وأعرض عنها؟ سنجزي المعرضين عن آياتنا سوء العذاب بإعراضهم.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١٥٨</a:t>
            </a:r>
            <a:endParaRPr lang="ar-SA" sz="13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يَنظُرُونَ إِلَّآ أَن تَأْتِيَهُمُ الْمَلَـٰئِكَةُ أَوْ يَأْتِيَ رَبُّكَ أَوْ يَأْتِيَ بَعْضُ ءَايَٰتِ رَبِّكَ يَوْمَ يَأْتِي بَعْضُ ءَايَٰتِ رَبِّكَ لَا يَنفَعُ نَفْسًا إِيمَٰنُهَا لَمْ تَكُنْ ءَامَنَتْ مِن قَبْلُ أَوْ كَسَبَتْ فِي إِيمَٰنِهَا خَيْرًا قُلِ انتَظِرُواْ إِنَّا مُنتَظِرُونَ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ينتظرون إلا أن تأتيهم الملائكة لقبض أرواحهم، أو يأتي ربك يوم القيامة، أو يأتي بعض علامات الساعة كطلوع الشمس من مغربها؟ يوم يأتي ذلك لا ينفع نفسًا إيمانها لم تكن آمنت من قبل أو عملت في إيمانها خيرًا، قل: انتظروا إنا منتظرون.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١٥٩ – ١٦٠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١٥٩</a:t>
            </a:r>
            <a:endParaRPr lang="ar-SA" sz="13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فَرَّقُواْ دِينَهُمْ وَكَانُواْ شِيَعًا لَّسْتَ مِنْهُمْ فِي شَيْءٍ إِنَّمَآ أَمْرُهُمْ إِلَى اللَّهِ ثُمَّ يُنَبِّئُهُم بِمَا كَانُواْ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فرّقوا دينهم وصاروا أحزابًا لست منهم في شيء، إنما أمرهم إلى الله، ثم يخبرهم بما كانوا يفعلون.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١٦٠</a:t>
            </a:r>
            <a:endParaRPr lang="ar-SA" sz="13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جَآءَ بِالْحَسَنَةِ فَلَهُ عَشْرُ أَمْثَالِهَا وَمَن جَآءَ بِالسَّيِّئَةِ فَلَا يُجْزَىٰ إِلَّا مِثْلَهَا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جاء بالحسنة فله عشر حسنات أمثالها، ومن جاء بالسيئة فلا يُجزى إلا سيئة مثلها، وهم لا يُظلمون.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١٦١ – ١٦٣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١٦١</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إِنَّنِي هَدَىٰنِي رَبِّي إِلَىٰ صِرَٰطٍ مُّسْتَقِيمٍ دِينًا قِيَمًا مِّلَّةَ إِبْرَٰهِيمَ حَنِيفًا وَمَا كَانَ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إنني هداني ربي إلى طريق مستقيم، دينًا قائمًا، ملّة إبراهيم المائل عن الشرك إلى التوحيد، وما كان من المشركين.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١٦٢</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صَلَاتِي وَنُسُكِي وَمَحْيَايَ وَمَمَاتِي 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صلاتي، وذبحي، وحياتي، وموتي، لله رب العالمين.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١٦٣</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شَرِيكَ لَهُ وَبِذَٰلِكَ أُمِرْتُ وَأَنَا أَوَّلُ الْمُسْلِمِينَ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شريك له، وبذلك أُمرت، وأنا أول المسلمين من هذه الأمة.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الأنعام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١٦٤ – ١٦٥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١٦٤</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أَغَيْرَ اللَّهِ أَبْغِي رَبًّا وَهُوَ رَبُّ كُلِّ شَيْءٍ وَلَا تَكْسِبُ كُلُّ نَفْسٍ إِلَّا عَلَيْهَا وَلَا تَزِرُ وَازِرَةٌ وِزْرَ أُخْرَىٰ ثُمَّ إِلَىٰ رَبِّكُم مَّرْجِعُكُمْ فَيُنَبِّئُكُم بِمَا كُنتُمْ فِيهِ تَخْتَلِفُونَ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أأطلب ربًّا غير الله وهو رب كل شيء؟ ولا تعمل نفس ذنبًا إلا كان عليها، ولا تحمل نفس ذنب غيرها، ثم إلى ربكم مرجعكم فيخبركم بما كنتم فيه تختلفون.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١٦٥</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جَعَلَكُمْ خَلَـٰئِفَ الْأَرْضِ وَرَفَعَ بَعْضَكُمْ فَوْقَ بَعْضٍ دَرَجَٰتٍ لِّيَبْلُوَكُمْ فِي مَآ ءَاتَىٰكُمْ إِنَّ رَبَّكَ سَرِيعُ الْعِقَابِ وَإِنَّهُ لَغَفُورٌ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جعلكم يخلف بعضكم بعضًا في الأرض، ورفع بعضكم فوق بعض درجات في الرزق والقوة ليختبركم فيما أعطاكم، إن ربك سريع العقاب، وإنه لغفور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pic>
        <p:nvPicPr>
          <p:cNvPr id="2" name="Image 0" descr="assets6/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6/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Al-Anam Tafsir">
  <a:themeElements>
    <a:clrScheme name="Al-Anam Tafsir">
      <a:dk1>
        <a:srgbClr val="222833"/>
      </a:dk1>
      <a:lt1>
        <a:srgbClr val="FFFFFF"/>
      </a:lt1>
      <a:dk2>
        <a:srgbClr val="1F4E79"/>
      </a:dk2>
      <a:lt2>
        <a:srgbClr val="F5F8FC"/>
      </a:lt2>
      <a:accent1>
        <a:srgbClr val="1F4E79"/>
      </a:accent1>
      <a:accent2>
        <a:srgbClr val="C9A04A"/>
      </a:accent2>
      <a:accent3>
        <a:srgbClr val="2D6A9F"/>
      </a:accent3>
      <a:accent4>
        <a:srgbClr val="5F6670"/>
      </a:accent4>
      <a:accent5>
        <a:srgbClr val="E5EDF6"/>
      </a:accent5>
      <a:accent6>
        <a:srgbClr val="8A2F2A"/>
      </a:accent6>
      <a:hlink>
        <a:srgbClr val="2D6A9F"/>
      </a:hlink>
      <a:folHlink>
        <a:srgbClr val="5F6670"/>
      </a:folHlink>
    </a:clrScheme>
    <a:fontScheme name="Al-Anam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سورة الأنعام — مبسّط من تفسير ابن كثير</dc:title>
  <dc:subject>PptxGenJS Presentation</dc:subject>
  <dc:creator>معلم القرآن الكريم</dc:creator>
  <cp:lastModifiedBy>معلم القرآن الكريم</cp:lastModifiedBy>
  <cp:revision>1</cp:revision>
  <dcterms:created xsi:type="dcterms:W3CDTF">2026-10-03T22:12:40Z</dcterms:created>
  <dcterms:modified xsi:type="dcterms:W3CDTF">2026-10-03T22:12:40Z</dcterms:modified>
</cp:coreProperties>
</file>