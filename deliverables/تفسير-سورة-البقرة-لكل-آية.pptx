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Lst>
  <p:notesMasterIdLst>
    <p:notesMasterId r:id="rId17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dc67c696-d140-b5d4-a454-1a589de4db05}">
          <p14:sldIdLst>
            <p14:sldId id="256"/>
            <p14:sldId id="257"/>
            <p14:sldId id="258"/>
          </p14:sldIdLst>
        </p14:section>
        <p14:section name="1. صفات المؤمنين المتقين" id="{920fe62a-b1ff-ce8e-7738-99a721d9db1c}">
          <p14:sldIdLst>
            <p14:sldId id="259"/>
            <p14:sldId id="260"/>
            <p14:sldId id="261"/>
          </p14:sldIdLst>
        </p14:section>
        <p14:section name="2. صفات الكافرين والمنافقين" id="{97102e6e-13c1-8cbc-9d5c-6bee38235bed}">
          <p14:sldIdLst>
            <p14:sldId id="262"/>
            <p14:sldId id="263"/>
            <p14:sldId id="264"/>
            <p14:sldId id="265"/>
            <p14:sldId id="266"/>
            <p14:sldId id="267"/>
            <p14:sldId id="268"/>
          </p14:sldIdLst>
        </p14:section>
        <p14:section name="3. الدعوة إلى التوحيد والتحدّي بالقرآن" id="{7f1468d0-6b9c-730e-0c1d-8086e946f68b}">
          <p14:sldIdLst>
            <p14:sldId id="269"/>
            <p14:sldId id="270"/>
            <p14:sldId id="271"/>
            <p14:sldId id="272"/>
            <p14:sldId id="273"/>
            <p14:sldId id="274"/>
            <p14:sldId id="275"/>
          </p14:sldIdLst>
        </p14:section>
        <p14:section name="4. قصة آدم عليه السلام" id="{905b9931-e6a6-0d29-8f9d-a8cb296e6177}">
          <p14:sldIdLst>
            <p14:sldId id="276"/>
            <p14:sldId id="277"/>
            <p14:sldId id="278"/>
            <p14:sldId id="279"/>
            <p14:sldId id="280"/>
          </p14:sldIdLst>
        </p14:section>
        <p14:section name="5. نِعَم الله على بني إسرائيل" id="{e654919c-ea34-5f41-305d-d30f8d5463ae}">
          <p14:sldIdLst>
            <p14:sldId id="281"/>
            <p14:sldId id="282"/>
            <p14:sldId id="283"/>
            <p14:sldId id="284"/>
            <p14:sldId id="285"/>
            <p14:sldId id="286"/>
            <p14:sldId id="287"/>
            <p14:sldId id="288"/>
            <p14:sldId id="289"/>
            <p14:sldId id="290"/>
            <p14:sldId id="291"/>
            <p14:sldId id="292"/>
            <p14:sldId id="293"/>
          </p14:sldIdLst>
        </p14:section>
        <p14:section name="6. قصة البقرة" id="{77d6d19d-5737-86e5-4237-ea0f43b4ea5a}">
          <p14:sldIdLst>
            <p14:sldId id="294"/>
            <p14:sldId id="295"/>
            <p14:sldId id="296"/>
            <p14:sldId id="297"/>
            <p14:sldId id="298"/>
          </p14:sldIdLst>
        </p14:section>
        <p14:section name="7. مواقف اليهود من الوحي" id="{f29b4ac7-db15-9913-445d-0dfdfb8eae12}">
          <p14:sldIdLst>
            <p14:sldId id="299"/>
            <p14:sldId id="300"/>
            <p14:sldId id="301"/>
            <p14:sldId id="302"/>
            <p14:sldId id="303"/>
            <p14:sldId id="304"/>
            <p14:sldId id="305"/>
            <p14:sldId id="306"/>
            <p14:sldId id="307"/>
            <p14:sldId id="308"/>
            <p14:sldId id="309"/>
            <p14:sldId id="310"/>
            <p14:sldId id="311"/>
            <p14:sldId id="312"/>
            <p14:sldId id="313"/>
          </p14:sldIdLst>
        </p14:section>
        <p14:section name="8. توجيهات للمؤمنين والرد على أهل الكتاب" id="{52986025-e528-e96b-ec1d-0f66b806a418}">
          <p14:sldIdLst>
            <p14:sldId id="314"/>
            <p14:sldId id="315"/>
            <p14:sldId id="316"/>
            <p14:sldId id="317"/>
            <p14:sldId id="318"/>
            <p14:sldId id="319"/>
            <p14:sldId id="320"/>
            <p14:sldId id="321"/>
            <p14:sldId id="322"/>
            <p14:sldId id="323"/>
            <p14:sldId id="324"/>
            <p14:sldId id="325"/>
          </p14:sldIdLst>
        </p14:section>
        <p14:section name="9. إبراهيم عليه السلام وبناء الكعبة" id="{a5bfcfae-559d-214d-924c-2b76060815ad}">
          <p14:sldIdLst>
            <p14:sldId id="326"/>
            <p14:sldId id="327"/>
            <p14:sldId id="328"/>
            <p14:sldId id="329"/>
            <p14:sldId id="330"/>
            <p14:sldId id="331"/>
            <p14:sldId id="332"/>
            <p14:sldId id="333"/>
            <p14:sldId id="334"/>
            <p14:sldId id="335"/>
          </p14:sldIdLst>
        </p14:section>
        <p14:section name="10. تحويل القبلة" id="{c995c10c-84ea-3f9e-b9d5-8f6fb55408bf}">
          <p14:sldIdLst>
            <p14:sldId id="336"/>
            <p14:sldId id="337"/>
            <p14:sldId id="338"/>
            <p14:sldId id="339"/>
            <p14:sldId id="340"/>
            <p14:sldId id="341"/>
            <p14:sldId id="342"/>
            <p14:sldId id="343"/>
          </p14:sldIdLst>
        </p14:section>
        <p14:section name="11. الصبر والابتلاء ودلائل التوحيد" id="{0778ed39-2552-3e13-ba48-c2a436cfdb2e}">
          <p14:sldIdLst>
            <p14:sldId id="344"/>
            <p14:sldId id="345"/>
            <p14:sldId id="346"/>
            <p14:sldId id="347"/>
            <p14:sldId id="348"/>
            <p14:sldId id="349"/>
            <p14:sldId id="350"/>
          </p14:sldIdLst>
        </p14:section>
        <p14:section name="12. الحلال والطيب، وحقيقة البر" id="{e68b2ffb-04ab-b5cc-dafd-0fcdfc87726d}">
          <p14:sldIdLst>
            <p14:sldId id="351"/>
            <p14:sldId id="352"/>
            <p14:sldId id="353"/>
            <p14:sldId id="354"/>
            <p14:sldId id="355"/>
            <p14:sldId id="356"/>
            <p14:sldId id="357"/>
            <p14:sldId id="358"/>
          </p14:sldIdLst>
        </p14:section>
        <p14:section name="13. الصيام" id="{1984ad47-aa4a-7f9b-003c-2f604d905226}">
          <p14:sldIdLst>
            <p14:sldId id="359"/>
            <p14:sldId id="360"/>
            <p14:sldId id="361"/>
            <p14:sldId id="362"/>
            <p14:sldId id="363"/>
          </p14:sldIdLst>
        </p14:section>
        <p14:section name="14. الأهلّة والقتال والحج" id="{56ef99d6-9b79-9730-a650-8f38e6f88e8b}">
          <p14:sldIdLst>
            <p14:sldId id="364"/>
            <p14:sldId id="365"/>
            <p14:sldId id="366"/>
            <p14:sldId id="367"/>
            <p14:sldId id="368"/>
            <p14:sldId id="369"/>
            <p14:sldId id="370"/>
            <p14:sldId id="371"/>
            <p14:sldId id="372"/>
          </p14:sldIdLst>
        </p14:section>
        <p14:section name="15. بين المنافق والمؤمن" id="{3c6a6eb4-6680-2abc-a148-a71662ecc040}">
          <p14:sldIdLst>
            <p14:sldId id="373"/>
            <p14:sldId id="374"/>
            <p14:sldId id="375"/>
            <p14:sldId id="376"/>
            <p14:sldId id="377"/>
            <p14:sldId id="378"/>
            <p14:sldId id="379"/>
            <p14:sldId id="380"/>
          </p14:sldIdLst>
        </p14:section>
        <p14:section name="16. أحكام الأسرة والمجتمع" id="{0672ada0-39de-1c9f-dd1c-b24c5696a33f}">
          <p14:sldIdLst>
            <p14:sldId id="381"/>
            <p14:sldId id="382"/>
            <p14:sldId id="383"/>
            <p14:sldId id="384"/>
            <p14:sldId id="385"/>
            <p14:sldId id="386"/>
            <p14:sldId id="387"/>
            <p14:sldId id="388"/>
            <p14:sldId id="389"/>
            <p14:sldId id="390"/>
            <p14:sldId id="391"/>
            <p14:sldId id="392"/>
            <p14:sldId id="393"/>
            <p14:sldId id="394"/>
            <p14:sldId id="395"/>
            <p14:sldId id="396"/>
          </p14:sldIdLst>
        </p14:section>
        <p14:section name="17. قصة طالوت وجالوت" id="{7423912b-9df4-4c73-d210-057a61fc9132}">
          <p14:sldIdLst>
            <p14:sldId id="397"/>
            <p14:sldId id="398"/>
            <p14:sldId id="399"/>
            <p14:sldId id="400"/>
            <p14:sldId id="401"/>
            <p14:sldId id="402"/>
            <p14:sldId id="403"/>
          </p14:sldIdLst>
        </p14:section>
        <p14:section name="18. آية الكرسي ولا إكراه في الدين" id="{884f01f6-8fc4-1412-0538-85003dad79e1}">
          <p14:sldIdLst>
            <p14:sldId id="404"/>
            <p14:sldId id="405"/>
            <p14:sldId id="406"/>
            <p14:sldId id="407"/>
          </p14:sldIdLst>
        </p14:section>
        <p14:section name="19. دلائل قدرة الله على الإحياء" id="{1780c7b0-56c9-991e-8691-07e35bfb4712}">
          <p14:sldIdLst>
            <p14:sldId id="408"/>
            <p14:sldId id="409"/>
            <p14:sldId id="410"/>
            <p14:sldId id="411"/>
          </p14:sldIdLst>
        </p14:section>
        <p14:section name="20. فضل الإنفاق وآدابه" id="{b0b06904-ee32-6d94-47f2-5eea7aab52af}">
          <p14:sldIdLst>
            <p14:sldId id="412"/>
            <p14:sldId id="413"/>
            <p14:sldId id="414"/>
            <p14:sldId id="415"/>
            <p14:sldId id="416"/>
            <p14:sldId id="417"/>
            <p14:sldId id="418"/>
            <p14:sldId id="419"/>
            <p14:sldId id="420"/>
          </p14:sldIdLst>
        </p14:section>
        <p14:section name="21. تحريم الربا" id="{f52ecd65-f4ac-0fdc-9616-18bbc122f0f8}">
          <p14:sldIdLst>
            <p14:sldId id="421"/>
            <p14:sldId id="422"/>
            <p14:sldId id="423"/>
            <p14:sldId id="424"/>
            <p14:sldId id="425"/>
          </p14:sldIdLst>
        </p14:section>
        <p14:section name="22. آية الدَّين" id="{bee9551a-25cf-a985-c334-2f60503c298c}">
          <p14:sldIdLst>
            <p14:sldId id="426"/>
            <p14:sldId id="427"/>
            <p14:sldId id="428"/>
          </p14:sldIdLst>
        </p14:section>
        <p14:section name="23. خواتيم سورة البقرة" id="{7812a61e-0698-8959-b021-85696e55c387}">
          <p14:sldIdLst>
            <p14:sldId id="429"/>
            <p14:sldId id="430"/>
            <p14:sldId id="431"/>
          </p14:sldIdLst>
        </p14:section>
        <p14:section name="الخاتمة" id="{6a5a7fb0-1a2f-25cd-342c-86b4d7587410}">
          <p14:sldIdLst>
            <p14:sldId id="43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notesMaster" Target="notesMasters/notesMaster1.xml"/><Relationship Id="rId180" Type="http://schemas.openxmlformats.org/officeDocument/2006/relationships/presProps" Target="presProps.xml"/><Relationship Id="rId181" Type="http://schemas.openxmlformats.org/officeDocument/2006/relationships/viewProps" Target="viewProps.xml"/><Relationship Id="rId182" Type="http://schemas.openxmlformats.org/officeDocument/2006/relationships/theme" Target="theme/theme1.xml"/><Relationship Id="rId18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سورة البقرة أطول سورة في القرآن (286 آية)، وفيها أطول آية وهي آية الدَّين، وهي مدنية من أوائل ما نزل بالمدينة.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هذا المقطع: ما أهم درس تعلّمناه من «صفات المؤمنين المتقين»؟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هذا المقطع: ما أهم درس تعلّمناه من «صفات الكافرين والمنافقين»؟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هذا المقطع: ما أهم درس تعلّمناه من «الدعوة إلى التوحيد والتحدّي بالقرآن»؟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هذا المقطع: ما أهم درس تعلّمناه من «قصة آدم عليه السلام»؟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هذا المقطع: ما أهم درس تعلّمناه من «نِعَم الله على بني إسرائيل»؟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هذا المقطع: ما أهم درس تعلّمناه من «قصة البقرة»؟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هذا المقطع: ما أهم درس تعلّمناه من «مواقف اليهود من الوحي»؟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هذا المقطع: ما أهم درس تعلّمناه من «توجيهات للمؤمنين والرد على أهل الكتاب»؟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هذا المقطع: ما أهم درس تعلّمناه من «إبراهيم عليه السلام وبناء الكعبة»؟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هذا المقطع: ما أهم درس تعلّمناه من «تحويل القبلة»؟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هذا المقطع: ما أهم درس تعلّمناه من «الصبر والابتلاء ودلائل التوحيد»؟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هذا المقطع: ما أهم درس تعلّمناه من «الحلال والطيب، وحقيقة البر»؟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هذا المقطع: ما أهم درس تعلّمناه من «الصيام»؟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هذا المقطع: ما أهم درس تعلّمناه من «الأهلّة والقتال والحج»؟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هذا المقطع: ما أهم درس تعلّمناه من «بين المنافق والمؤمن»؟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هذا المقطع: ما أهم درس تعلّمناه من «أحكام الأسرة والمجتمع»؟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هذا المقطع: ما أهم درس تعلّمناه من «قصة طالوت وجالوت»؟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هذا المقطع: ما أهم درس تعلّمناه من «آية الكرسي ولا إكراه في الدين»؟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هذا المقطع: ما أهم درس تعلّمناه من «دلائل قدرة الله على الإحياء»؟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هذا المقطع: ما أهم درس تعلّمناه من «فضل الإنفاق وآدابه»؟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هذا المقطع: ما أهم درس تعلّمناه من «تحريم الربا»؟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هذا المقطع: ما أهم درس تعلّمناه من «آية الدَّين»؟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هذا المقطع: ما أهم درس تعلّمناه من «خواتيم سورة البقرة»؟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_baq/bg_page.jpg">    </p:cNvPr>
          <p:cNvPicPr>
            <a:picLocks noChangeAspect="1"/>
          </p:cNvPicPr>
          <p:nvPr/>
        </p:nvPicPr>
        <p:blipFill>
          <a:blip r:embed="rId1"/>
          <a:stretch>
            <a:fillRect/>
          </a:stretch>
        </p:blipFill>
        <p:spPr>
          <a:xfrm>
            <a:off x="0" y="0"/>
            <a:ext cx="12191695" cy="6858000"/>
          </a:xfrm>
          <a:prstGeom prst="rect">
            <a:avLst/>
          </a:prstGeom>
        </p:spPr>
      </p:pic>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pic>
        <p:nvPicPr>
          <p:cNvPr id="2" name="Image 0" descr="assets_baq/bg_section.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pic>
        <p:nvPicPr>
          <p:cNvPr id="2" name="Image 0" descr="assets_baq/bg_title.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684368" y="1143000"/>
            <a:ext cx="822960" cy="822960"/>
          </a:xfrm>
          <a:prstGeom prst="octagon">
            <a:avLst/>
          </a:prstGeom>
          <a:solidFill>
            <a:schemeClr val="accent2"/>
          </a:solidFill>
          <a:ln w="15875">
            <a:solidFill>
              <a:schemeClr val="accent5"/>
            </a:solidFill>
            <a:prstDash val="solid"/>
          </a:ln>
        </p:spPr>
      </p:sp>
      <p:sp>
        <p:nvSpPr>
          <p:cNvPr id="3" name="Text 1"/>
          <p:cNvSpPr txBox="1"/>
          <p:nvPr/>
        </p:nvSpPr>
        <p:spPr>
          <a:xfrm>
            <a:off x="5684368" y="1143000"/>
            <a:ext cx="822960" cy="822960"/>
          </a:xfrm>
          <a:prstGeom prst="rect">
            <a:avLst/>
          </a:prstGeom>
          <a:noFill/>
          <a:ln/>
        </p:spPr>
        <p:txBody>
          <a:bodyPr wrap="square" lIns="0" tIns="0" rIns="0" bIns="0" rtlCol="0" anchor="ctr"/>
          <a:lstStyle/>
          <a:p>
            <a:pPr rtl="1" algn="ctr" indent="0" marL="0">
              <a:buNone/>
            </a:pPr>
            <a:r>
              <a:rPr lang="ar-SA" altLang="en-US" sz="2200" b="1" dirty="0">
                <a:solidFill>
                  <a:schemeClr val="bg1"/>
                </a:solidFill>
                <a:latin typeface="Arial" pitchFamily="34" charset="0"/>
                <a:ea typeface="Arial" pitchFamily="34" charset="-122"/>
                <a:cs typeface="Arial" pitchFamily="34" charset="-120"/>
              </a:rPr>
              <a:t>٢</a:t>
            </a:r>
            <a:endParaRPr lang="ar-SA" sz="2200" dirty="0"/>
          </a:p>
        </p:txBody>
      </p:sp>
      <p:sp>
        <p:nvSpPr>
          <p:cNvPr id="4" name="Text 2"/>
          <p:cNvSpPr txBox="1"/>
          <p:nvPr/>
        </p:nvSpPr>
        <p:spPr>
          <a:xfrm>
            <a:off x="3291840" y="2148840"/>
            <a:ext cx="5605272" cy="1188720"/>
          </a:xfrm>
          <a:prstGeom prst="rect">
            <a:avLst/>
          </a:prstGeom>
          <a:noFill/>
          <a:ln/>
        </p:spPr>
        <p:txBody>
          <a:bodyPr wrap="square" lIns="0" tIns="0" rIns="0" bIns="0" rtlCol="0" anchor="ctr"/>
          <a:lstStyle/>
          <a:p>
            <a:pPr rtl="1" algn="ctr" indent="0" marL="0">
              <a:buNone/>
            </a:pPr>
            <a:r>
              <a:rPr lang="ar-SA" altLang="en-US" sz="6600" b="1" dirty="0">
                <a:solidFill>
                  <a:schemeClr val="bg1"/>
                </a:solidFill>
                <a:latin typeface="Sakkal Majalla" pitchFamily="34" charset="0"/>
                <a:ea typeface="Sakkal Majalla" pitchFamily="34" charset="-122"/>
                <a:cs typeface="Sakkal Majalla" pitchFamily="34" charset="-120"/>
              </a:rPr>
              <a:t>سورة البقرة</a:t>
            </a:r>
            <a:endParaRPr lang="ar-SA" sz="6600" dirty="0"/>
          </a:p>
        </p:txBody>
      </p:sp>
      <p:sp>
        <p:nvSpPr>
          <p:cNvPr id="5" name="Text 3"/>
          <p:cNvSpPr txBox="1"/>
          <p:nvPr/>
        </p:nvSpPr>
        <p:spPr>
          <a:xfrm>
            <a:off x="3291840" y="3429000"/>
            <a:ext cx="5605272" cy="502920"/>
          </a:xfrm>
          <a:prstGeom prst="rect">
            <a:avLst/>
          </a:prstGeom>
          <a:noFill/>
          <a:ln/>
        </p:spPr>
        <p:txBody>
          <a:bodyPr wrap="square" lIns="0" tIns="0" rIns="0" bIns="0" rtlCol="0" anchor="t"/>
          <a:lstStyle/>
          <a:p>
            <a:pPr rtl="1" algn="ctr" indent="0" marL="0">
              <a:buNone/>
            </a:pPr>
            <a:r>
              <a:rPr lang="ar-SA" altLang="en-US" sz="2400" b="1" dirty="0">
                <a:solidFill>
                  <a:schemeClr val="accent5"/>
                </a:solidFill>
              </a:rPr>
              <a:t>تفسيرٌ مبسّط لكل آية</a:t>
            </a:r>
            <a:endParaRPr lang="ar-SA" sz="2400" dirty="0"/>
          </a:p>
        </p:txBody>
      </p:sp>
      <p:sp>
        <p:nvSpPr>
          <p:cNvPr id="6" name="Text 4"/>
          <p:cNvSpPr txBox="1"/>
          <p:nvPr/>
        </p:nvSpPr>
        <p:spPr>
          <a:xfrm>
            <a:off x="3291840" y="3931920"/>
            <a:ext cx="5605272" cy="411480"/>
          </a:xfrm>
          <a:prstGeom prst="rect">
            <a:avLst/>
          </a:prstGeom>
          <a:noFill/>
          <a:ln/>
        </p:spPr>
        <p:txBody>
          <a:bodyPr wrap="square" lIns="0" tIns="0" rIns="0" bIns="0" rtlCol="0" anchor="t"/>
          <a:lstStyle/>
          <a:p>
            <a:pPr rtl="1" algn="ctr" indent="0" marL="0">
              <a:buNone/>
            </a:pPr>
            <a:r>
              <a:rPr lang="ar-SA" altLang="en-US" sz="1800" dirty="0">
                <a:solidFill>
                  <a:schemeClr val="bg2"/>
                </a:solidFill>
              </a:rPr>
              <a:t>مستفاد من تفسير الحافظ ابن كثير رحمه الله</a:t>
            </a:r>
            <a:endParaRPr lang="ar-SA" sz="1800" dirty="0"/>
          </a:p>
        </p:txBody>
      </p:sp>
      <p:sp>
        <p:nvSpPr>
          <p:cNvPr id="7" name="Shape 5"/>
          <p:cNvSpPr/>
          <p:nvPr/>
        </p:nvSpPr>
        <p:spPr>
          <a:xfrm>
            <a:off x="7086600" y="4800600"/>
            <a:ext cx="1508760" cy="457200"/>
          </a:xfrm>
          <a:prstGeom prst="roundRect">
            <a:avLst>
              <a:gd name="adj" fmla="val 50000"/>
            </a:avLst>
          </a:prstGeom>
          <a:solidFill>
            <a:schemeClr val="accent2"/>
          </a:solidFill>
          <a:ln/>
        </p:spPr>
      </p:sp>
      <p:sp>
        <p:nvSpPr>
          <p:cNvPr id="8" name="Text 6"/>
          <p:cNvSpPr txBox="1"/>
          <p:nvPr/>
        </p:nvSpPr>
        <p:spPr>
          <a:xfrm>
            <a:off x="7086600" y="4800600"/>
            <a:ext cx="1508760" cy="45720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٢٨٦ آية</a:t>
            </a:r>
            <a:endParaRPr lang="ar-SA" sz="1500" dirty="0"/>
          </a:p>
        </p:txBody>
      </p:sp>
      <p:sp>
        <p:nvSpPr>
          <p:cNvPr id="9" name="Shape 7"/>
          <p:cNvSpPr/>
          <p:nvPr/>
        </p:nvSpPr>
        <p:spPr>
          <a:xfrm>
            <a:off x="5394960" y="4800600"/>
            <a:ext cx="1508760" cy="457200"/>
          </a:xfrm>
          <a:prstGeom prst="roundRect">
            <a:avLst>
              <a:gd name="adj" fmla="val 50000"/>
            </a:avLst>
          </a:prstGeom>
          <a:solidFill>
            <a:schemeClr val="accent2"/>
          </a:solidFill>
          <a:ln/>
        </p:spPr>
      </p:sp>
      <p:sp>
        <p:nvSpPr>
          <p:cNvPr id="10" name="Text 8"/>
          <p:cNvSpPr txBox="1"/>
          <p:nvPr/>
        </p:nvSpPr>
        <p:spPr>
          <a:xfrm>
            <a:off x="5394960" y="4800600"/>
            <a:ext cx="1508760" cy="45720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مدنية</a:t>
            </a:r>
            <a:endParaRPr lang="ar-SA" sz="1500" dirty="0"/>
          </a:p>
        </p:txBody>
      </p:sp>
      <p:sp>
        <p:nvSpPr>
          <p:cNvPr id="11" name="Shape 9"/>
          <p:cNvSpPr/>
          <p:nvPr/>
        </p:nvSpPr>
        <p:spPr>
          <a:xfrm>
            <a:off x="3703320" y="4800600"/>
            <a:ext cx="1508760" cy="457200"/>
          </a:xfrm>
          <a:prstGeom prst="roundRect">
            <a:avLst>
              <a:gd name="adj" fmla="val 50000"/>
            </a:avLst>
          </a:prstGeom>
          <a:solidFill>
            <a:schemeClr val="accent2"/>
          </a:solidFill>
          <a:ln/>
        </p:spPr>
      </p:sp>
      <p:sp>
        <p:nvSpPr>
          <p:cNvPr id="12" name="Text 10"/>
          <p:cNvSpPr txBox="1"/>
          <p:nvPr/>
        </p:nvSpPr>
        <p:spPr>
          <a:xfrm>
            <a:off x="3703320" y="4800600"/>
            <a:ext cx="1508760" cy="45720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٢٣ مقطعًا</a:t>
            </a:r>
            <a:endParaRPr lang="ar-SA"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فضل سورة البقرة</a:t>
            </a:r>
            <a:endParaRPr lang="ar-SA" sz="2600" dirty="0"/>
          </a:p>
        </p:txBody>
      </p:sp>
      <p:sp>
        <p:nvSpPr>
          <p:cNvPr id="4" name="Shape 2"/>
          <p:cNvSpPr/>
          <p:nvPr/>
        </p:nvSpPr>
        <p:spPr>
          <a:xfrm>
            <a:off x="6156655" y="1371600"/>
            <a:ext cx="5257800" cy="2240280"/>
          </a:xfrm>
          <a:prstGeom prst="roundRect">
            <a:avLst>
              <a:gd name="adj" fmla="val 4898"/>
            </a:avLst>
          </a:prstGeom>
          <a:solidFill>
            <a:schemeClr val="bg1"/>
          </a:solidFill>
          <a:ln w="12700">
            <a:solidFill>
              <a:schemeClr val="accent5"/>
            </a:solidFill>
            <a:prstDash val="solid"/>
          </a:ln>
          <a:effectLst>
            <a:outerShdw sx="100000" sy="100000" kx="0" ky="0" algn="bl" rotWithShape="0" blurRad="76200" dist="19050" dir="5400000">
              <a:srgbClr val="6E665C">
                <a:alpha val="18000"/>
              </a:srgbClr>
            </a:outerShdw>
          </a:effectLst>
        </p:spPr>
      </p:sp>
      <p:sp>
        <p:nvSpPr>
          <p:cNvPr id="5" name="Shape 3"/>
          <p:cNvSpPr/>
          <p:nvPr/>
        </p:nvSpPr>
        <p:spPr>
          <a:xfrm>
            <a:off x="10637215" y="1627632"/>
            <a:ext cx="548640" cy="548640"/>
          </a:xfrm>
          <a:prstGeom prst="octagon">
            <a:avLst/>
          </a:prstGeom>
          <a:solidFill>
            <a:schemeClr val="accent2"/>
          </a:solidFill>
          <a:ln w="15875">
            <a:solidFill>
              <a:schemeClr val="accent5"/>
            </a:solidFill>
            <a:prstDash val="solid"/>
          </a:ln>
        </p:spPr>
      </p:sp>
      <p:sp>
        <p:nvSpPr>
          <p:cNvPr id="6" name="Text 4"/>
          <p:cNvSpPr txBox="1"/>
          <p:nvPr/>
        </p:nvSpPr>
        <p:spPr>
          <a:xfrm>
            <a:off x="10637215" y="1627632"/>
            <a:ext cx="548640" cy="548640"/>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١</a:t>
            </a:r>
            <a:endParaRPr lang="ar-SA" sz="1400" dirty="0"/>
          </a:p>
        </p:txBody>
      </p:sp>
      <p:sp>
        <p:nvSpPr>
          <p:cNvPr id="7" name="Text 5"/>
          <p:cNvSpPr txBox="1"/>
          <p:nvPr/>
        </p:nvSpPr>
        <p:spPr>
          <a:xfrm>
            <a:off x="6430975" y="1645920"/>
            <a:ext cx="4069080" cy="502920"/>
          </a:xfrm>
          <a:prstGeom prst="rect">
            <a:avLst/>
          </a:prstGeom>
          <a:noFill/>
          <a:ln/>
        </p:spPr>
        <p:txBody>
          <a:bodyPr wrap="square" lIns="0" tIns="0" rIns="0" bIns="0" rtlCol="0" anchor="ctr"/>
          <a:lstStyle/>
          <a:p>
            <a:pPr rtl="1" algn="r" indent="0" marL="0">
              <a:buNone/>
            </a:pPr>
            <a:r>
              <a:rPr lang="ar-SA" altLang="en-US" sz="2200" b="1" dirty="0">
                <a:solidFill>
                  <a:schemeClr val="tx2"/>
                </a:solidFill>
                <a:latin typeface="Sakkal Majalla" pitchFamily="34" charset="0"/>
                <a:ea typeface="Sakkal Majalla" pitchFamily="34" charset="-122"/>
                <a:cs typeface="Sakkal Majalla" pitchFamily="34" charset="-120"/>
              </a:rPr>
              <a:t>بركة وحماية</a:t>
            </a:r>
            <a:endParaRPr lang="ar-SA" sz="2200" dirty="0"/>
          </a:p>
        </p:txBody>
      </p:sp>
      <p:sp>
        <p:nvSpPr>
          <p:cNvPr id="8" name="Text 6"/>
          <p:cNvSpPr txBox="1"/>
          <p:nvPr/>
        </p:nvSpPr>
        <p:spPr>
          <a:xfrm>
            <a:off x="6430975" y="2286000"/>
            <a:ext cx="4709160" cy="1188720"/>
          </a:xfrm>
          <a:prstGeom prst="rect">
            <a:avLst/>
          </a:prstGeom>
          <a:noFill/>
          <a:ln/>
        </p:spPr>
        <p:txBody>
          <a:bodyPr wrap="square" lIns="0" tIns="0" rIns="0" bIns="0" rtlCol="0" anchor="t"/>
          <a:lstStyle/>
          <a:p>
            <a:pPr rtl="1" algn="r" indent="0" marL="0">
              <a:lnSpc>
                <a:spcPct val="110000"/>
              </a:lnSpc>
              <a:buNone/>
            </a:pPr>
            <a:r>
              <a:rPr lang="ar-SA" altLang="en-US" sz="1600" dirty="0">
                <a:solidFill>
                  <a:schemeClr val="tx1"/>
                </a:solidFill>
              </a:rPr>
              <a:t>«اقرؤوا سورة البقرة؛ فإن أخذها بركة، وتركها حسرة، ولا يستطيعها البطَلة» يعني السحرة (رواه مسلم).</a:t>
            </a:r>
            <a:endParaRPr lang="ar-SA" sz="1600" dirty="0"/>
          </a:p>
        </p:txBody>
      </p:sp>
      <p:sp>
        <p:nvSpPr>
          <p:cNvPr id="9" name="Shape 7"/>
          <p:cNvSpPr/>
          <p:nvPr/>
        </p:nvSpPr>
        <p:spPr>
          <a:xfrm>
            <a:off x="624535" y="1371600"/>
            <a:ext cx="5257800" cy="2240280"/>
          </a:xfrm>
          <a:prstGeom prst="roundRect">
            <a:avLst>
              <a:gd name="adj" fmla="val 4898"/>
            </a:avLst>
          </a:prstGeom>
          <a:solidFill>
            <a:schemeClr val="bg1"/>
          </a:solidFill>
          <a:ln w="12700">
            <a:solidFill>
              <a:schemeClr val="accent5"/>
            </a:solidFill>
            <a:prstDash val="solid"/>
          </a:ln>
          <a:effectLst>
            <a:outerShdw sx="100000" sy="100000" kx="0" ky="0" algn="bl" rotWithShape="0" blurRad="76200" dist="19050" dir="5400000">
              <a:srgbClr val="6E665C">
                <a:alpha val="18000"/>
              </a:srgbClr>
            </a:outerShdw>
          </a:effectLst>
        </p:spPr>
      </p:sp>
      <p:sp>
        <p:nvSpPr>
          <p:cNvPr id="10" name="Shape 8"/>
          <p:cNvSpPr/>
          <p:nvPr/>
        </p:nvSpPr>
        <p:spPr>
          <a:xfrm>
            <a:off x="5105095" y="1627632"/>
            <a:ext cx="548640" cy="548640"/>
          </a:xfrm>
          <a:prstGeom prst="octagon">
            <a:avLst/>
          </a:prstGeom>
          <a:solidFill>
            <a:schemeClr val="accent2"/>
          </a:solidFill>
          <a:ln w="15875">
            <a:solidFill>
              <a:schemeClr val="accent5"/>
            </a:solidFill>
            <a:prstDash val="solid"/>
          </a:ln>
        </p:spPr>
      </p:sp>
      <p:sp>
        <p:nvSpPr>
          <p:cNvPr id="11" name="Text 9"/>
          <p:cNvSpPr txBox="1"/>
          <p:nvPr/>
        </p:nvSpPr>
        <p:spPr>
          <a:xfrm>
            <a:off x="5105095" y="1627632"/>
            <a:ext cx="548640" cy="548640"/>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٢</a:t>
            </a:r>
            <a:endParaRPr lang="ar-SA" sz="1400" dirty="0"/>
          </a:p>
        </p:txBody>
      </p:sp>
      <p:sp>
        <p:nvSpPr>
          <p:cNvPr id="12" name="Text 10"/>
          <p:cNvSpPr txBox="1"/>
          <p:nvPr/>
        </p:nvSpPr>
        <p:spPr>
          <a:xfrm>
            <a:off x="898855" y="1645920"/>
            <a:ext cx="4069080" cy="502920"/>
          </a:xfrm>
          <a:prstGeom prst="rect">
            <a:avLst/>
          </a:prstGeom>
          <a:noFill/>
          <a:ln/>
        </p:spPr>
        <p:txBody>
          <a:bodyPr wrap="square" lIns="0" tIns="0" rIns="0" bIns="0" rtlCol="0" anchor="ctr"/>
          <a:lstStyle/>
          <a:p>
            <a:pPr rtl="1" algn="r" indent="0" marL="0">
              <a:buNone/>
            </a:pPr>
            <a:r>
              <a:rPr lang="ar-SA" altLang="en-US" sz="2200" b="1" dirty="0">
                <a:solidFill>
                  <a:schemeClr val="tx2"/>
                </a:solidFill>
                <a:latin typeface="Sakkal Majalla" pitchFamily="34" charset="0"/>
                <a:ea typeface="Sakkal Majalla" pitchFamily="34" charset="-122"/>
                <a:cs typeface="Sakkal Majalla" pitchFamily="34" charset="-120"/>
              </a:rPr>
              <a:t>تطرد الشيطان</a:t>
            </a:r>
            <a:endParaRPr lang="ar-SA" sz="2200" dirty="0"/>
          </a:p>
        </p:txBody>
      </p:sp>
      <p:sp>
        <p:nvSpPr>
          <p:cNvPr id="13" name="Text 11"/>
          <p:cNvSpPr txBox="1"/>
          <p:nvPr/>
        </p:nvSpPr>
        <p:spPr>
          <a:xfrm>
            <a:off x="898855" y="2286000"/>
            <a:ext cx="4709160" cy="1188720"/>
          </a:xfrm>
          <a:prstGeom prst="rect">
            <a:avLst/>
          </a:prstGeom>
          <a:noFill/>
          <a:ln/>
        </p:spPr>
        <p:txBody>
          <a:bodyPr wrap="square" lIns="0" tIns="0" rIns="0" bIns="0" rtlCol="0" anchor="t"/>
          <a:lstStyle/>
          <a:p>
            <a:pPr rtl="1" algn="r" indent="0" marL="0">
              <a:lnSpc>
                <a:spcPct val="110000"/>
              </a:lnSpc>
              <a:buNone/>
            </a:pPr>
            <a:r>
              <a:rPr lang="ar-SA" altLang="en-US" sz="1600" dirty="0">
                <a:solidFill>
                  <a:schemeClr val="tx1"/>
                </a:solidFill>
              </a:rPr>
              <a:t>«لا تجعلوا بيوتكم مقابر، إن الشيطان ينفر من البيت الذي تُقرأ فيه سورة البقرة» (رواه مسلم).</a:t>
            </a:r>
            <a:endParaRPr lang="ar-SA" sz="1600" dirty="0"/>
          </a:p>
        </p:txBody>
      </p:sp>
      <p:sp>
        <p:nvSpPr>
          <p:cNvPr id="14" name="Shape 12"/>
          <p:cNvSpPr/>
          <p:nvPr/>
        </p:nvSpPr>
        <p:spPr>
          <a:xfrm>
            <a:off x="6156655" y="3886200"/>
            <a:ext cx="5257800" cy="2240280"/>
          </a:xfrm>
          <a:prstGeom prst="roundRect">
            <a:avLst>
              <a:gd name="adj" fmla="val 4898"/>
            </a:avLst>
          </a:prstGeom>
          <a:solidFill>
            <a:schemeClr val="bg1"/>
          </a:solidFill>
          <a:ln w="12700">
            <a:solidFill>
              <a:schemeClr val="accent5"/>
            </a:solidFill>
            <a:prstDash val="solid"/>
          </a:ln>
          <a:effectLst>
            <a:outerShdw sx="100000" sy="100000" kx="0" ky="0" algn="bl" rotWithShape="0" blurRad="76200" dist="19050" dir="5400000">
              <a:srgbClr val="6E665C">
                <a:alpha val="18000"/>
              </a:srgbClr>
            </a:outerShdw>
          </a:effectLst>
        </p:spPr>
      </p:sp>
      <p:sp>
        <p:nvSpPr>
          <p:cNvPr id="15" name="Shape 13"/>
          <p:cNvSpPr/>
          <p:nvPr/>
        </p:nvSpPr>
        <p:spPr>
          <a:xfrm>
            <a:off x="10637215" y="4142232"/>
            <a:ext cx="548640" cy="548640"/>
          </a:xfrm>
          <a:prstGeom prst="octagon">
            <a:avLst/>
          </a:prstGeom>
          <a:solidFill>
            <a:schemeClr val="accent2"/>
          </a:solidFill>
          <a:ln w="15875">
            <a:solidFill>
              <a:schemeClr val="accent5"/>
            </a:solidFill>
            <a:prstDash val="solid"/>
          </a:ln>
        </p:spPr>
      </p:sp>
      <p:sp>
        <p:nvSpPr>
          <p:cNvPr id="16" name="Text 14"/>
          <p:cNvSpPr txBox="1"/>
          <p:nvPr/>
        </p:nvSpPr>
        <p:spPr>
          <a:xfrm>
            <a:off x="10637215" y="4142232"/>
            <a:ext cx="548640" cy="548640"/>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٣</a:t>
            </a:r>
            <a:endParaRPr lang="ar-SA" sz="1400" dirty="0"/>
          </a:p>
        </p:txBody>
      </p:sp>
      <p:sp>
        <p:nvSpPr>
          <p:cNvPr id="17" name="Text 15"/>
          <p:cNvSpPr txBox="1"/>
          <p:nvPr/>
        </p:nvSpPr>
        <p:spPr>
          <a:xfrm>
            <a:off x="6430975" y="4160520"/>
            <a:ext cx="4069080" cy="502920"/>
          </a:xfrm>
          <a:prstGeom prst="rect">
            <a:avLst/>
          </a:prstGeom>
          <a:noFill/>
          <a:ln/>
        </p:spPr>
        <p:txBody>
          <a:bodyPr wrap="square" lIns="0" tIns="0" rIns="0" bIns="0" rtlCol="0" anchor="ctr"/>
          <a:lstStyle/>
          <a:p>
            <a:pPr rtl="1" algn="r" indent="0" marL="0">
              <a:buNone/>
            </a:pPr>
            <a:r>
              <a:rPr lang="ar-SA" altLang="en-US" sz="2200" b="1" dirty="0">
                <a:solidFill>
                  <a:schemeClr val="tx2"/>
                </a:solidFill>
                <a:latin typeface="Sakkal Majalla" pitchFamily="34" charset="0"/>
                <a:ea typeface="Sakkal Majalla" pitchFamily="34" charset="-122"/>
                <a:cs typeface="Sakkal Majalla" pitchFamily="34" charset="-120"/>
              </a:rPr>
              <a:t>أعظم آية</a:t>
            </a:r>
            <a:endParaRPr lang="ar-SA" sz="2200" dirty="0"/>
          </a:p>
        </p:txBody>
      </p:sp>
      <p:sp>
        <p:nvSpPr>
          <p:cNvPr id="18" name="Text 16"/>
          <p:cNvSpPr txBox="1"/>
          <p:nvPr/>
        </p:nvSpPr>
        <p:spPr>
          <a:xfrm>
            <a:off x="6430975" y="4800600"/>
            <a:ext cx="4709160" cy="1188720"/>
          </a:xfrm>
          <a:prstGeom prst="rect">
            <a:avLst/>
          </a:prstGeom>
          <a:noFill/>
          <a:ln/>
        </p:spPr>
        <p:txBody>
          <a:bodyPr wrap="square" lIns="0" tIns="0" rIns="0" bIns="0" rtlCol="0" anchor="t"/>
          <a:lstStyle/>
          <a:p>
            <a:pPr rtl="1" algn="r" indent="0" marL="0">
              <a:lnSpc>
                <a:spcPct val="110000"/>
              </a:lnSpc>
              <a:buNone/>
            </a:pPr>
            <a:r>
              <a:rPr lang="ar-SA" altLang="en-US" sz="1600" dirty="0">
                <a:solidFill>
                  <a:schemeClr val="tx1"/>
                </a:solidFill>
              </a:rPr>
              <a:t>آية الكرسي أعظم آية في كتاب الله (رواه مسلم)، ومن قرأها عند نومه لم يزل عليه من الله حافظ (رواه البخاري).</a:t>
            </a:r>
            <a:endParaRPr lang="ar-SA" sz="1600" dirty="0"/>
          </a:p>
        </p:txBody>
      </p:sp>
      <p:sp>
        <p:nvSpPr>
          <p:cNvPr id="19" name="Shape 17"/>
          <p:cNvSpPr/>
          <p:nvPr/>
        </p:nvSpPr>
        <p:spPr>
          <a:xfrm>
            <a:off x="624535" y="3886200"/>
            <a:ext cx="5257800" cy="2240280"/>
          </a:xfrm>
          <a:prstGeom prst="roundRect">
            <a:avLst>
              <a:gd name="adj" fmla="val 4898"/>
            </a:avLst>
          </a:prstGeom>
          <a:solidFill>
            <a:schemeClr val="bg1"/>
          </a:solidFill>
          <a:ln w="12700">
            <a:solidFill>
              <a:schemeClr val="accent5"/>
            </a:solidFill>
            <a:prstDash val="solid"/>
          </a:ln>
          <a:effectLst>
            <a:outerShdw sx="100000" sy="100000" kx="0" ky="0" algn="bl" rotWithShape="0" blurRad="76200" dist="19050" dir="5400000">
              <a:srgbClr val="6E665C">
                <a:alpha val="18000"/>
              </a:srgbClr>
            </a:outerShdw>
          </a:effectLst>
        </p:spPr>
      </p:sp>
      <p:sp>
        <p:nvSpPr>
          <p:cNvPr id="20" name="Shape 18"/>
          <p:cNvSpPr/>
          <p:nvPr/>
        </p:nvSpPr>
        <p:spPr>
          <a:xfrm>
            <a:off x="5105095" y="4142232"/>
            <a:ext cx="548640" cy="548640"/>
          </a:xfrm>
          <a:prstGeom prst="octagon">
            <a:avLst/>
          </a:prstGeom>
          <a:solidFill>
            <a:schemeClr val="accent2"/>
          </a:solidFill>
          <a:ln w="15875">
            <a:solidFill>
              <a:schemeClr val="accent5"/>
            </a:solidFill>
            <a:prstDash val="solid"/>
          </a:ln>
        </p:spPr>
      </p:sp>
      <p:sp>
        <p:nvSpPr>
          <p:cNvPr id="21" name="Text 19"/>
          <p:cNvSpPr txBox="1"/>
          <p:nvPr/>
        </p:nvSpPr>
        <p:spPr>
          <a:xfrm>
            <a:off x="5105095" y="4142232"/>
            <a:ext cx="548640" cy="548640"/>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٤</a:t>
            </a:r>
            <a:endParaRPr lang="ar-SA" sz="1400" dirty="0"/>
          </a:p>
        </p:txBody>
      </p:sp>
      <p:sp>
        <p:nvSpPr>
          <p:cNvPr id="22" name="Text 20"/>
          <p:cNvSpPr txBox="1"/>
          <p:nvPr/>
        </p:nvSpPr>
        <p:spPr>
          <a:xfrm>
            <a:off x="898855" y="4160520"/>
            <a:ext cx="4069080" cy="502920"/>
          </a:xfrm>
          <a:prstGeom prst="rect">
            <a:avLst/>
          </a:prstGeom>
          <a:noFill/>
          <a:ln/>
        </p:spPr>
        <p:txBody>
          <a:bodyPr wrap="square" lIns="0" tIns="0" rIns="0" bIns="0" rtlCol="0" anchor="ctr"/>
          <a:lstStyle/>
          <a:p>
            <a:pPr rtl="1" algn="r" indent="0" marL="0">
              <a:buNone/>
            </a:pPr>
            <a:r>
              <a:rPr lang="ar-SA" altLang="en-US" sz="2200" b="1" dirty="0">
                <a:solidFill>
                  <a:schemeClr val="tx2"/>
                </a:solidFill>
                <a:latin typeface="Sakkal Majalla" pitchFamily="34" charset="0"/>
                <a:ea typeface="Sakkal Majalla" pitchFamily="34" charset="-122"/>
                <a:cs typeface="Sakkal Majalla" pitchFamily="34" charset="-120"/>
              </a:rPr>
              <a:t>خواتيمها</a:t>
            </a:r>
            <a:endParaRPr lang="ar-SA" sz="2200" dirty="0"/>
          </a:p>
        </p:txBody>
      </p:sp>
      <p:sp>
        <p:nvSpPr>
          <p:cNvPr id="23" name="Text 21"/>
          <p:cNvSpPr txBox="1"/>
          <p:nvPr/>
        </p:nvSpPr>
        <p:spPr>
          <a:xfrm>
            <a:off x="898855" y="4800600"/>
            <a:ext cx="4709160" cy="1188720"/>
          </a:xfrm>
          <a:prstGeom prst="rect">
            <a:avLst/>
          </a:prstGeom>
          <a:noFill/>
          <a:ln/>
        </p:spPr>
        <p:txBody>
          <a:bodyPr wrap="square" lIns="0" tIns="0" rIns="0" bIns="0" rtlCol="0" anchor="t"/>
          <a:lstStyle/>
          <a:p>
            <a:pPr rtl="1" algn="r" indent="0" marL="0">
              <a:lnSpc>
                <a:spcPct val="110000"/>
              </a:lnSpc>
              <a:buNone/>
            </a:pPr>
            <a:r>
              <a:rPr lang="ar-SA" altLang="en-US" sz="1600" dirty="0">
                <a:solidFill>
                  <a:schemeClr val="tx1"/>
                </a:solidFill>
              </a:rPr>
              <a:t>«من قرأ بالآيتين من آخر سورة البقرة في ليلة كفتاه» (رواه البخاري ومسلم).</a:t>
            </a:r>
            <a:endParaRPr lang="ar-SA" sz="16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مقاطع السورة</a:t>
            </a:r>
            <a:endParaRPr lang="ar-SA" sz="2600" dirty="0"/>
          </a:p>
        </p:txBody>
      </p:sp>
      <p:sp>
        <p:nvSpPr>
          <p:cNvPr id="4" name="Shape 2"/>
          <p:cNvSpPr/>
          <p:nvPr/>
        </p:nvSpPr>
        <p:spPr>
          <a:xfrm>
            <a:off x="8839048" y="1298448"/>
            <a:ext cx="2578608" cy="749808"/>
          </a:xfrm>
          <a:prstGeom prst="roundRect">
            <a:avLst>
              <a:gd name="adj" fmla="val 12195"/>
            </a:avLst>
          </a:prstGeom>
          <a:solidFill>
            <a:schemeClr val="bg1"/>
          </a:solidFill>
          <a:ln w="9525">
            <a:solidFill>
              <a:schemeClr val="accent5"/>
            </a:solidFill>
            <a:prstDash val="solid"/>
          </a:ln>
        </p:spPr>
      </p:sp>
      <p:sp>
        <p:nvSpPr>
          <p:cNvPr id="5" name="Shape 3"/>
          <p:cNvSpPr/>
          <p:nvPr/>
        </p:nvSpPr>
        <p:spPr>
          <a:xfrm>
            <a:off x="10942168" y="1481328"/>
            <a:ext cx="384048" cy="384048"/>
          </a:xfrm>
          <a:prstGeom prst="octagon">
            <a:avLst/>
          </a:prstGeom>
          <a:solidFill>
            <a:schemeClr val="accent2"/>
          </a:solidFill>
          <a:ln w="15875">
            <a:solidFill>
              <a:schemeClr val="accent5"/>
            </a:solidFill>
            <a:prstDash val="solid"/>
          </a:ln>
        </p:spPr>
      </p:sp>
      <p:sp>
        <p:nvSpPr>
          <p:cNvPr id="6" name="Text 4"/>
          <p:cNvSpPr txBox="1"/>
          <p:nvPr/>
        </p:nvSpPr>
        <p:spPr>
          <a:xfrm>
            <a:off x="10942168" y="1481328"/>
            <a:ext cx="384048" cy="384048"/>
          </a:xfrm>
          <a:prstGeom prst="rect">
            <a:avLst/>
          </a:prstGeom>
          <a:noFill/>
          <a:ln/>
        </p:spPr>
        <p:txBody>
          <a:bodyPr wrap="square" lIns="0" tIns="0" rIns="0" bIns="0" rtlCol="0" anchor="ctr"/>
          <a:lstStyle/>
          <a:p>
            <a:pPr rtl="1" algn="ctr" indent="0" marL="0">
              <a:buNone/>
            </a:pPr>
            <a:r>
              <a:rPr lang="ar-SA" altLang="en-US" sz="1100" b="1" dirty="0">
                <a:solidFill>
                  <a:schemeClr val="bg1"/>
                </a:solidFill>
                <a:latin typeface="Arial" pitchFamily="34" charset="0"/>
                <a:ea typeface="Arial" pitchFamily="34" charset="-122"/>
                <a:cs typeface="Arial" pitchFamily="34" charset="-120"/>
              </a:rPr>
              <a:t>١</a:t>
            </a:r>
            <a:endParaRPr lang="ar-SA" sz="1100" dirty="0"/>
          </a:p>
        </p:txBody>
      </p:sp>
      <p:sp>
        <p:nvSpPr>
          <p:cNvPr id="7" name="Text 5"/>
          <p:cNvSpPr txBox="1"/>
          <p:nvPr/>
        </p:nvSpPr>
        <p:spPr>
          <a:xfrm>
            <a:off x="8930488" y="1362456"/>
            <a:ext cx="1938528" cy="411480"/>
          </a:xfrm>
          <a:prstGeom prst="rect">
            <a:avLst/>
          </a:prstGeom>
          <a:noFill/>
          <a:ln/>
        </p:spPr>
        <p:txBody>
          <a:bodyPr wrap="square" lIns="0" tIns="0" rIns="0" bIns="0" rtlCol="0" anchor="ctr"/>
          <a:lstStyle/>
          <a:p>
            <a:pPr rtl="1" algn="r" indent="0" marL="0">
              <a:buNone/>
            </a:pPr>
            <a:r>
              <a:rPr lang="ar-SA" altLang="en-US" sz="1300" b="1" dirty="0">
                <a:solidFill>
                  <a:schemeClr val="tx2"/>
                </a:solidFill>
              </a:rPr>
              <a:t>صفات المؤمنين المتقين</a:t>
            </a:r>
            <a:endParaRPr lang="ar-SA" sz="1300" dirty="0"/>
          </a:p>
        </p:txBody>
      </p:sp>
      <p:sp>
        <p:nvSpPr>
          <p:cNvPr id="8" name="Text 6"/>
          <p:cNvSpPr txBox="1"/>
          <p:nvPr/>
        </p:nvSpPr>
        <p:spPr>
          <a:xfrm>
            <a:off x="8930488" y="1755648"/>
            <a:ext cx="1938528" cy="237744"/>
          </a:xfrm>
          <a:prstGeom prst="rect">
            <a:avLst/>
          </a:prstGeom>
          <a:noFill/>
          <a:ln/>
        </p:spPr>
        <p:txBody>
          <a:bodyPr wrap="square" lIns="0" tIns="0" rIns="0" bIns="0" rtlCol="0" anchor="t"/>
          <a:lstStyle/>
          <a:p>
            <a:pPr rtl="1" algn="r" indent="0" marL="0">
              <a:buNone/>
            </a:pPr>
            <a:r>
              <a:rPr lang="ar-SA" altLang="en-US" sz="1100" dirty="0">
                <a:solidFill>
                  <a:schemeClr val="accent2"/>
                </a:solidFill>
              </a:rPr>
              <a:t>الآيات ١ – ٥</a:t>
            </a:r>
            <a:endParaRPr lang="ar-SA" sz="1100" dirty="0"/>
          </a:p>
        </p:txBody>
      </p:sp>
      <p:sp>
        <p:nvSpPr>
          <p:cNvPr id="9" name="Shape 7"/>
          <p:cNvSpPr/>
          <p:nvPr/>
        </p:nvSpPr>
        <p:spPr>
          <a:xfrm>
            <a:off x="6150712" y="1298448"/>
            <a:ext cx="2578608" cy="749808"/>
          </a:xfrm>
          <a:prstGeom prst="roundRect">
            <a:avLst>
              <a:gd name="adj" fmla="val 12195"/>
            </a:avLst>
          </a:prstGeom>
          <a:solidFill>
            <a:schemeClr val="accent6"/>
          </a:solidFill>
          <a:ln w="9525">
            <a:solidFill>
              <a:schemeClr val="accent5"/>
            </a:solidFill>
            <a:prstDash val="solid"/>
          </a:ln>
        </p:spPr>
      </p:sp>
      <p:sp>
        <p:nvSpPr>
          <p:cNvPr id="10" name="Shape 8"/>
          <p:cNvSpPr/>
          <p:nvPr/>
        </p:nvSpPr>
        <p:spPr>
          <a:xfrm>
            <a:off x="8253832" y="1481328"/>
            <a:ext cx="384048" cy="384048"/>
          </a:xfrm>
          <a:prstGeom prst="octagon">
            <a:avLst/>
          </a:prstGeom>
          <a:solidFill>
            <a:schemeClr val="accent2"/>
          </a:solidFill>
          <a:ln w="15875">
            <a:solidFill>
              <a:schemeClr val="accent5"/>
            </a:solidFill>
            <a:prstDash val="solid"/>
          </a:ln>
        </p:spPr>
      </p:sp>
      <p:sp>
        <p:nvSpPr>
          <p:cNvPr id="11" name="Text 9"/>
          <p:cNvSpPr txBox="1"/>
          <p:nvPr/>
        </p:nvSpPr>
        <p:spPr>
          <a:xfrm>
            <a:off x="8253832" y="1481328"/>
            <a:ext cx="384048" cy="384048"/>
          </a:xfrm>
          <a:prstGeom prst="rect">
            <a:avLst/>
          </a:prstGeom>
          <a:noFill/>
          <a:ln/>
        </p:spPr>
        <p:txBody>
          <a:bodyPr wrap="square" lIns="0" tIns="0" rIns="0" bIns="0" rtlCol="0" anchor="ctr"/>
          <a:lstStyle/>
          <a:p>
            <a:pPr rtl="1" algn="ctr" indent="0" marL="0">
              <a:buNone/>
            </a:pPr>
            <a:r>
              <a:rPr lang="ar-SA" altLang="en-US" sz="1100" b="1" dirty="0">
                <a:solidFill>
                  <a:schemeClr val="bg1"/>
                </a:solidFill>
                <a:latin typeface="Arial" pitchFamily="34" charset="0"/>
                <a:ea typeface="Arial" pitchFamily="34" charset="-122"/>
                <a:cs typeface="Arial" pitchFamily="34" charset="-120"/>
              </a:rPr>
              <a:t>٢</a:t>
            </a:r>
            <a:endParaRPr lang="ar-SA" sz="1100" dirty="0"/>
          </a:p>
        </p:txBody>
      </p:sp>
      <p:sp>
        <p:nvSpPr>
          <p:cNvPr id="12" name="Text 10"/>
          <p:cNvSpPr txBox="1"/>
          <p:nvPr/>
        </p:nvSpPr>
        <p:spPr>
          <a:xfrm>
            <a:off x="6242152" y="1362456"/>
            <a:ext cx="1938528" cy="411480"/>
          </a:xfrm>
          <a:prstGeom prst="rect">
            <a:avLst/>
          </a:prstGeom>
          <a:noFill/>
          <a:ln/>
        </p:spPr>
        <p:txBody>
          <a:bodyPr wrap="square" lIns="0" tIns="0" rIns="0" bIns="0" rtlCol="0" anchor="ctr"/>
          <a:lstStyle/>
          <a:p>
            <a:pPr rtl="1" algn="r" indent="0" marL="0">
              <a:buNone/>
            </a:pPr>
            <a:r>
              <a:rPr lang="ar-SA" altLang="en-US" sz="1300" b="1" dirty="0">
                <a:solidFill>
                  <a:schemeClr val="tx2"/>
                </a:solidFill>
              </a:rPr>
              <a:t>صفات الكافرين والمنافقين</a:t>
            </a:r>
            <a:endParaRPr lang="ar-SA" sz="1300" dirty="0"/>
          </a:p>
        </p:txBody>
      </p:sp>
      <p:sp>
        <p:nvSpPr>
          <p:cNvPr id="13" name="Text 11"/>
          <p:cNvSpPr txBox="1"/>
          <p:nvPr/>
        </p:nvSpPr>
        <p:spPr>
          <a:xfrm>
            <a:off x="6242152" y="1755648"/>
            <a:ext cx="1938528" cy="237744"/>
          </a:xfrm>
          <a:prstGeom prst="rect">
            <a:avLst/>
          </a:prstGeom>
          <a:noFill/>
          <a:ln/>
        </p:spPr>
        <p:txBody>
          <a:bodyPr wrap="square" lIns="0" tIns="0" rIns="0" bIns="0" rtlCol="0" anchor="t"/>
          <a:lstStyle/>
          <a:p>
            <a:pPr rtl="1" algn="r" indent="0" marL="0">
              <a:buNone/>
            </a:pPr>
            <a:r>
              <a:rPr lang="ar-SA" altLang="en-US" sz="1100" dirty="0">
                <a:solidFill>
                  <a:schemeClr val="accent2"/>
                </a:solidFill>
              </a:rPr>
              <a:t>الآيات ٦ – ٢٠</a:t>
            </a:r>
            <a:endParaRPr lang="ar-SA" sz="1100" dirty="0"/>
          </a:p>
        </p:txBody>
      </p:sp>
      <p:sp>
        <p:nvSpPr>
          <p:cNvPr id="14" name="Shape 12"/>
          <p:cNvSpPr/>
          <p:nvPr/>
        </p:nvSpPr>
        <p:spPr>
          <a:xfrm>
            <a:off x="3462376" y="1298448"/>
            <a:ext cx="2578608" cy="749808"/>
          </a:xfrm>
          <a:prstGeom prst="roundRect">
            <a:avLst>
              <a:gd name="adj" fmla="val 12195"/>
            </a:avLst>
          </a:prstGeom>
          <a:solidFill>
            <a:schemeClr val="bg1"/>
          </a:solidFill>
          <a:ln w="9525">
            <a:solidFill>
              <a:schemeClr val="accent5"/>
            </a:solidFill>
            <a:prstDash val="solid"/>
          </a:ln>
        </p:spPr>
      </p:sp>
      <p:sp>
        <p:nvSpPr>
          <p:cNvPr id="15" name="Shape 13"/>
          <p:cNvSpPr/>
          <p:nvPr/>
        </p:nvSpPr>
        <p:spPr>
          <a:xfrm>
            <a:off x="5565496" y="1481328"/>
            <a:ext cx="384048" cy="384048"/>
          </a:xfrm>
          <a:prstGeom prst="octagon">
            <a:avLst/>
          </a:prstGeom>
          <a:solidFill>
            <a:schemeClr val="accent2"/>
          </a:solidFill>
          <a:ln w="15875">
            <a:solidFill>
              <a:schemeClr val="accent5"/>
            </a:solidFill>
            <a:prstDash val="solid"/>
          </a:ln>
        </p:spPr>
      </p:sp>
      <p:sp>
        <p:nvSpPr>
          <p:cNvPr id="16" name="Text 14"/>
          <p:cNvSpPr txBox="1"/>
          <p:nvPr/>
        </p:nvSpPr>
        <p:spPr>
          <a:xfrm>
            <a:off x="5565496" y="1481328"/>
            <a:ext cx="384048" cy="384048"/>
          </a:xfrm>
          <a:prstGeom prst="rect">
            <a:avLst/>
          </a:prstGeom>
          <a:noFill/>
          <a:ln/>
        </p:spPr>
        <p:txBody>
          <a:bodyPr wrap="square" lIns="0" tIns="0" rIns="0" bIns="0" rtlCol="0" anchor="ctr"/>
          <a:lstStyle/>
          <a:p>
            <a:pPr rtl="1" algn="ctr" indent="0" marL="0">
              <a:buNone/>
            </a:pPr>
            <a:r>
              <a:rPr lang="ar-SA" altLang="en-US" sz="1100" b="1" dirty="0">
                <a:solidFill>
                  <a:schemeClr val="bg1"/>
                </a:solidFill>
                <a:latin typeface="Arial" pitchFamily="34" charset="0"/>
                <a:ea typeface="Arial" pitchFamily="34" charset="-122"/>
                <a:cs typeface="Arial" pitchFamily="34" charset="-120"/>
              </a:rPr>
              <a:t>٣</a:t>
            </a:r>
            <a:endParaRPr lang="ar-SA" sz="1100" dirty="0"/>
          </a:p>
        </p:txBody>
      </p:sp>
      <p:sp>
        <p:nvSpPr>
          <p:cNvPr id="17" name="Text 15"/>
          <p:cNvSpPr txBox="1"/>
          <p:nvPr/>
        </p:nvSpPr>
        <p:spPr>
          <a:xfrm>
            <a:off x="3553816" y="1362456"/>
            <a:ext cx="1938528" cy="411480"/>
          </a:xfrm>
          <a:prstGeom prst="rect">
            <a:avLst/>
          </a:prstGeom>
          <a:noFill/>
          <a:ln/>
        </p:spPr>
        <p:txBody>
          <a:bodyPr wrap="square" lIns="0" tIns="0" rIns="0" bIns="0" rtlCol="0" anchor="ctr"/>
          <a:lstStyle/>
          <a:p>
            <a:pPr rtl="1" algn="r" indent="0" marL="0">
              <a:buNone/>
            </a:pPr>
            <a:r>
              <a:rPr lang="ar-SA" altLang="en-US" sz="1300" b="1" dirty="0">
                <a:solidFill>
                  <a:schemeClr val="tx2"/>
                </a:solidFill>
              </a:rPr>
              <a:t>الدعوة إلى التوحيد والتحدّي بالقرآن</a:t>
            </a:r>
            <a:endParaRPr lang="ar-SA" sz="1300" dirty="0"/>
          </a:p>
        </p:txBody>
      </p:sp>
      <p:sp>
        <p:nvSpPr>
          <p:cNvPr id="18" name="Text 16"/>
          <p:cNvSpPr txBox="1"/>
          <p:nvPr/>
        </p:nvSpPr>
        <p:spPr>
          <a:xfrm>
            <a:off x="3553816" y="1755648"/>
            <a:ext cx="1938528" cy="237744"/>
          </a:xfrm>
          <a:prstGeom prst="rect">
            <a:avLst/>
          </a:prstGeom>
          <a:noFill/>
          <a:ln/>
        </p:spPr>
        <p:txBody>
          <a:bodyPr wrap="square" lIns="0" tIns="0" rIns="0" bIns="0" rtlCol="0" anchor="t"/>
          <a:lstStyle/>
          <a:p>
            <a:pPr rtl="1" algn="r" indent="0" marL="0">
              <a:buNone/>
            </a:pPr>
            <a:r>
              <a:rPr lang="ar-SA" altLang="en-US" sz="1100" dirty="0">
                <a:solidFill>
                  <a:schemeClr val="accent2"/>
                </a:solidFill>
              </a:rPr>
              <a:t>الآيات ٢١ – ٢٩</a:t>
            </a:r>
            <a:endParaRPr lang="ar-SA" sz="1100" dirty="0"/>
          </a:p>
        </p:txBody>
      </p:sp>
      <p:sp>
        <p:nvSpPr>
          <p:cNvPr id="19" name="Shape 17"/>
          <p:cNvSpPr/>
          <p:nvPr/>
        </p:nvSpPr>
        <p:spPr>
          <a:xfrm>
            <a:off x="774040" y="1298448"/>
            <a:ext cx="2578608" cy="749808"/>
          </a:xfrm>
          <a:prstGeom prst="roundRect">
            <a:avLst>
              <a:gd name="adj" fmla="val 12195"/>
            </a:avLst>
          </a:prstGeom>
          <a:solidFill>
            <a:schemeClr val="accent6"/>
          </a:solidFill>
          <a:ln w="9525">
            <a:solidFill>
              <a:schemeClr val="accent5"/>
            </a:solidFill>
            <a:prstDash val="solid"/>
          </a:ln>
        </p:spPr>
      </p:sp>
      <p:sp>
        <p:nvSpPr>
          <p:cNvPr id="20" name="Shape 18"/>
          <p:cNvSpPr/>
          <p:nvPr/>
        </p:nvSpPr>
        <p:spPr>
          <a:xfrm>
            <a:off x="2877160" y="1481328"/>
            <a:ext cx="384048" cy="384048"/>
          </a:xfrm>
          <a:prstGeom prst="octagon">
            <a:avLst/>
          </a:prstGeom>
          <a:solidFill>
            <a:schemeClr val="accent2"/>
          </a:solidFill>
          <a:ln w="15875">
            <a:solidFill>
              <a:schemeClr val="accent5"/>
            </a:solidFill>
            <a:prstDash val="solid"/>
          </a:ln>
        </p:spPr>
      </p:sp>
      <p:sp>
        <p:nvSpPr>
          <p:cNvPr id="21" name="Text 19"/>
          <p:cNvSpPr txBox="1"/>
          <p:nvPr/>
        </p:nvSpPr>
        <p:spPr>
          <a:xfrm>
            <a:off x="2877160" y="1481328"/>
            <a:ext cx="384048" cy="384048"/>
          </a:xfrm>
          <a:prstGeom prst="rect">
            <a:avLst/>
          </a:prstGeom>
          <a:noFill/>
          <a:ln/>
        </p:spPr>
        <p:txBody>
          <a:bodyPr wrap="square" lIns="0" tIns="0" rIns="0" bIns="0" rtlCol="0" anchor="ctr"/>
          <a:lstStyle/>
          <a:p>
            <a:pPr rtl="1" algn="ctr" indent="0" marL="0">
              <a:buNone/>
            </a:pPr>
            <a:r>
              <a:rPr lang="ar-SA" altLang="en-US" sz="1100" b="1" dirty="0">
                <a:solidFill>
                  <a:schemeClr val="bg1"/>
                </a:solidFill>
                <a:latin typeface="Arial" pitchFamily="34" charset="0"/>
                <a:ea typeface="Arial" pitchFamily="34" charset="-122"/>
                <a:cs typeface="Arial" pitchFamily="34" charset="-120"/>
              </a:rPr>
              <a:t>٤</a:t>
            </a:r>
            <a:endParaRPr lang="ar-SA" sz="1100" dirty="0"/>
          </a:p>
        </p:txBody>
      </p:sp>
      <p:sp>
        <p:nvSpPr>
          <p:cNvPr id="22" name="Text 20"/>
          <p:cNvSpPr txBox="1"/>
          <p:nvPr/>
        </p:nvSpPr>
        <p:spPr>
          <a:xfrm>
            <a:off x="865480" y="1362456"/>
            <a:ext cx="1938528" cy="411480"/>
          </a:xfrm>
          <a:prstGeom prst="rect">
            <a:avLst/>
          </a:prstGeom>
          <a:noFill/>
          <a:ln/>
        </p:spPr>
        <p:txBody>
          <a:bodyPr wrap="square" lIns="0" tIns="0" rIns="0" bIns="0" rtlCol="0" anchor="ctr"/>
          <a:lstStyle/>
          <a:p>
            <a:pPr rtl="1" algn="r" indent="0" marL="0">
              <a:buNone/>
            </a:pPr>
            <a:r>
              <a:rPr lang="ar-SA" altLang="en-US" sz="1300" b="1" dirty="0">
                <a:solidFill>
                  <a:schemeClr val="tx2"/>
                </a:solidFill>
              </a:rPr>
              <a:t>قصة آدم عليه السلام</a:t>
            </a:r>
            <a:endParaRPr lang="ar-SA" sz="1300" dirty="0"/>
          </a:p>
        </p:txBody>
      </p:sp>
      <p:sp>
        <p:nvSpPr>
          <p:cNvPr id="23" name="Text 21"/>
          <p:cNvSpPr txBox="1"/>
          <p:nvPr/>
        </p:nvSpPr>
        <p:spPr>
          <a:xfrm>
            <a:off x="865480" y="1755648"/>
            <a:ext cx="1938528" cy="237744"/>
          </a:xfrm>
          <a:prstGeom prst="rect">
            <a:avLst/>
          </a:prstGeom>
          <a:noFill/>
          <a:ln/>
        </p:spPr>
        <p:txBody>
          <a:bodyPr wrap="square" lIns="0" tIns="0" rIns="0" bIns="0" rtlCol="0" anchor="t"/>
          <a:lstStyle/>
          <a:p>
            <a:pPr rtl="1" algn="r" indent="0" marL="0">
              <a:buNone/>
            </a:pPr>
            <a:r>
              <a:rPr lang="ar-SA" altLang="en-US" sz="1100" dirty="0">
                <a:solidFill>
                  <a:schemeClr val="accent2"/>
                </a:solidFill>
              </a:rPr>
              <a:t>الآيات ٣٠ – ٣٩</a:t>
            </a:r>
            <a:endParaRPr lang="ar-SA" sz="1100" dirty="0"/>
          </a:p>
        </p:txBody>
      </p:sp>
      <p:sp>
        <p:nvSpPr>
          <p:cNvPr id="24" name="Shape 22"/>
          <p:cNvSpPr/>
          <p:nvPr/>
        </p:nvSpPr>
        <p:spPr>
          <a:xfrm>
            <a:off x="8839048" y="2139696"/>
            <a:ext cx="2578608" cy="749808"/>
          </a:xfrm>
          <a:prstGeom prst="roundRect">
            <a:avLst>
              <a:gd name="adj" fmla="val 12195"/>
            </a:avLst>
          </a:prstGeom>
          <a:solidFill>
            <a:schemeClr val="bg1"/>
          </a:solidFill>
          <a:ln w="9525">
            <a:solidFill>
              <a:schemeClr val="accent5"/>
            </a:solidFill>
            <a:prstDash val="solid"/>
          </a:ln>
        </p:spPr>
      </p:sp>
      <p:sp>
        <p:nvSpPr>
          <p:cNvPr id="25" name="Shape 23"/>
          <p:cNvSpPr/>
          <p:nvPr/>
        </p:nvSpPr>
        <p:spPr>
          <a:xfrm>
            <a:off x="10942168" y="2322576"/>
            <a:ext cx="384048" cy="384048"/>
          </a:xfrm>
          <a:prstGeom prst="octagon">
            <a:avLst/>
          </a:prstGeom>
          <a:solidFill>
            <a:schemeClr val="accent2"/>
          </a:solidFill>
          <a:ln w="15875">
            <a:solidFill>
              <a:schemeClr val="accent5"/>
            </a:solidFill>
            <a:prstDash val="solid"/>
          </a:ln>
        </p:spPr>
      </p:sp>
      <p:sp>
        <p:nvSpPr>
          <p:cNvPr id="26" name="Text 24"/>
          <p:cNvSpPr txBox="1"/>
          <p:nvPr/>
        </p:nvSpPr>
        <p:spPr>
          <a:xfrm>
            <a:off x="10942168" y="2322576"/>
            <a:ext cx="384048" cy="384048"/>
          </a:xfrm>
          <a:prstGeom prst="rect">
            <a:avLst/>
          </a:prstGeom>
          <a:noFill/>
          <a:ln/>
        </p:spPr>
        <p:txBody>
          <a:bodyPr wrap="square" lIns="0" tIns="0" rIns="0" bIns="0" rtlCol="0" anchor="ctr"/>
          <a:lstStyle/>
          <a:p>
            <a:pPr rtl="1" algn="ctr" indent="0" marL="0">
              <a:buNone/>
            </a:pPr>
            <a:r>
              <a:rPr lang="ar-SA" altLang="en-US" sz="1100" b="1" dirty="0">
                <a:solidFill>
                  <a:schemeClr val="bg1"/>
                </a:solidFill>
                <a:latin typeface="Arial" pitchFamily="34" charset="0"/>
                <a:ea typeface="Arial" pitchFamily="34" charset="-122"/>
                <a:cs typeface="Arial" pitchFamily="34" charset="-120"/>
              </a:rPr>
              <a:t>٥</a:t>
            </a:r>
            <a:endParaRPr lang="ar-SA" sz="1100" dirty="0"/>
          </a:p>
        </p:txBody>
      </p:sp>
      <p:sp>
        <p:nvSpPr>
          <p:cNvPr id="27" name="Text 25"/>
          <p:cNvSpPr txBox="1"/>
          <p:nvPr/>
        </p:nvSpPr>
        <p:spPr>
          <a:xfrm>
            <a:off x="8930488" y="2203704"/>
            <a:ext cx="1938528" cy="411480"/>
          </a:xfrm>
          <a:prstGeom prst="rect">
            <a:avLst/>
          </a:prstGeom>
          <a:noFill/>
          <a:ln/>
        </p:spPr>
        <p:txBody>
          <a:bodyPr wrap="square" lIns="0" tIns="0" rIns="0" bIns="0" rtlCol="0" anchor="ctr"/>
          <a:lstStyle/>
          <a:p>
            <a:pPr rtl="1" algn="r" indent="0" marL="0">
              <a:buNone/>
            </a:pPr>
            <a:r>
              <a:rPr lang="ar-SA" altLang="en-US" sz="1300" b="1" dirty="0">
                <a:solidFill>
                  <a:schemeClr val="tx2"/>
                </a:solidFill>
              </a:rPr>
              <a:t>نِعَم الله على بني إسرائيل</a:t>
            </a:r>
            <a:endParaRPr lang="ar-SA" sz="1300" dirty="0"/>
          </a:p>
        </p:txBody>
      </p:sp>
      <p:sp>
        <p:nvSpPr>
          <p:cNvPr id="28" name="Text 26"/>
          <p:cNvSpPr txBox="1"/>
          <p:nvPr/>
        </p:nvSpPr>
        <p:spPr>
          <a:xfrm>
            <a:off x="8930488" y="2596896"/>
            <a:ext cx="1938528" cy="237744"/>
          </a:xfrm>
          <a:prstGeom prst="rect">
            <a:avLst/>
          </a:prstGeom>
          <a:noFill/>
          <a:ln/>
        </p:spPr>
        <p:txBody>
          <a:bodyPr wrap="square" lIns="0" tIns="0" rIns="0" bIns="0" rtlCol="0" anchor="t"/>
          <a:lstStyle/>
          <a:p>
            <a:pPr rtl="1" algn="r" indent="0" marL="0">
              <a:buNone/>
            </a:pPr>
            <a:r>
              <a:rPr lang="ar-SA" altLang="en-US" sz="1100" dirty="0">
                <a:solidFill>
                  <a:schemeClr val="accent2"/>
                </a:solidFill>
              </a:rPr>
              <a:t>الآيات ٤٠ – ٦٦</a:t>
            </a:r>
            <a:endParaRPr lang="ar-SA" sz="1100" dirty="0"/>
          </a:p>
        </p:txBody>
      </p:sp>
      <p:sp>
        <p:nvSpPr>
          <p:cNvPr id="29" name="Shape 27"/>
          <p:cNvSpPr/>
          <p:nvPr/>
        </p:nvSpPr>
        <p:spPr>
          <a:xfrm>
            <a:off x="6150712" y="2139696"/>
            <a:ext cx="2578608" cy="749808"/>
          </a:xfrm>
          <a:prstGeom prst="roundRect">
            <a:avLst>
              <a:gd name="adj" fmla="val 12195"/>
            </a:avLst>
          </a:prstGeom>
          <a:solidFill>
            <a:schemeClr val="accent6"/>
          </a:solidFill>
          <a:ln w="9525">
            <a:solidFill>
              <a:schemeClr val="accent5"/>
            </a:solidFill>
            <a:prstDash val="solid"/>
          </a:ln>
        </p:spPr>
      </p:sp>
      <p:sp>
        <p:nvSpPr>
          <p:cNvPr id="30" name="Shape 28"/>
          <p:cNvSpPr/>
          <p:nvPr/>
        </p:nvSpPr>
        <p:spPr>
          <a:xfrm>
            <a:off x="8253832" y="2322576"/>
            <a:ext cx="384048" cy="384048"/>
          </a:xfrm>
          <a:prstGeom prst="octagon">
            <a:avLst/>
          </a:prstGeom>
          <a:solidFill>
            <a:schemeClr val="accent2"/>
          </a:solidFill>
          <a:ln w="15875">
            <a:solidFill>
              <a:schemeClr val="accent5"/>
            </a:solidFill>
            <a:prstDash val="solid"/>
          </a:ln>
        </p:spPr>
      </p:sp>
      <p:sp>
        <p:nvSpPr>
          <p:cNvPr id="31" name="Text 29"/>
          <p:cNvSpPr txBox="1"/>
          <p:nvPr/>
        </p:nvSpPr>
        <p:spPr>
          <a:xfrm>
            <a:off x="8253832" y="2322576"/>
            <a:ext cx="384048" cy="384048"/>
          </a:xfrm>
          <a:prstGeom prst="rect">
            <a:avLst/>
          </a:prstGeom>
          <a:noFill/>
          <a:ln/>
        </p:spPr>
        <p:txBody>
          <a:bodyPr wrap="square" lIns="0" tIns="0" rIns="0" bIns="0" rtlCol="0" anchor="ctr"/>
          <a:lstStyle/>
          <a:p>
            <a:pPr rtl="1" algn="ctr" indent="0" marL="0">
              <a:buNone/>
            </a:pPr>
            <a:r>
              <a:rPr lang="ar-SA" altLang="en-US" sz="1100" b="1" dirty="0">
                <a:solidFill>
                  <a:schemeClr val="bg1"/>
                </a:solidFill>
                <a:latin typeface="Arial" pitchFamily="34" charset="0"/>
                <a:ea typeface="Arial" pitchFamily="34" charset="-122"/>
                <a:cs typeface="Arial" pitchFamily="34" charset="-120"/>
              </a:rPr>
              <a:t>٦</a:t>
            </a:r>
            <a:endParaRPr lang="ar-SA" sz="1100" dirty="0"/>
          </a:p>
        </p:txBody>
      </p:sp>
      <p:sp>
        <p:nvSpPr>
          <p:cNvPr id="32" name="Text 30"/>
          <p:cNvSpPr txBox="1"/>
          <p:nvPr/>
        </p:nvSpPr>
        <p:spPr>
          <a:xfrm>
            <a:off x="6242152" y="2203704"/>
            <a:ext cx="1938528" cy="411480"/>
          </a:xfrm>
          <a:prstGeom prst="rect">
            <a:avLst/>
          </a:prstGeom>
          <a:noFill/>
          <a:ln/>
        </p:spPr>
        <p:txBody>
          <a:bodyPr wrap="square" lIns="0" tIns="0" rIns="0" bIns="0" rtlCol="0" anchor="ctr"/>
          <a:lstStyle/>
          <a:p>
            <a:pPr rtl="1" algn="r" indent="0" marL="0">
              <a:buNone/>
            </a:pPr>
            <a:r>
              <a:rPr lang="ar-SA" altLang="en-US" sz="1300" b="1" dirty="0">
                <a:solidFill>
                  <a:schemeClr val="tx2"/>
                </a:solidFill>
              </a:rPr>
              <a:t>قصة البقرة</a:t>
            </a:r>
            <a:endParaRPr lang="ar-SA" sz="1300" dirty="0"/>
          </a:p>
        </p:txBody>
      </p:sp>
      <p:sp>
        <p:nvSpPr>
          <p:cNvPr id="33" name="Text 31"/>
          <p:cNvSpPr txBox="1"/>
          <p:nvPr/>
        </p:nvSpPr>
        <p:spPr>
          <a:xfrm>
            <a:off x="6242152" y="2596896"/>
            <a:ext cx="1938528" cy="237744"/>
          </a:xfrm>
          <a:prstGeom prst="rect">
            <a:avLst/>
          </a:prstGeom>
          <a:noFill/>
          <a:ln/>
        </p:spPr>
        <p:txBody>
          <a:bodyPr wrap="square" lIns="0" tIns="0" rIns="0" bIns="0" rtlCol="0" anchor="t"/>
          <a:lstStyle/>
          <a:p>
            <a:pPr rtl="1" algn="r" indent="0" marL="0">
              <a:buNone/>
            </a:pPr>
            <a:r>
              <a:rPr lang="ar-SA" altLang="en-US" sz="1100" dirty="0">
                <a:solidFill>
                  <a:schemeClr val="accent2"/>
                </a:solidFill>
              </a:rPr>
              <a:t>الآيات ٦٧ – ٧٤</a:t>
            </a:r>
            <a:endParaRPr lang="ar-SA" sz="1100" dirty="0"/>
          </a:p>
        </p:txBody>
      </p:sp>
      <p:sp>
        <p:nvSpPr>
          <p:cNvPr id="34" name="Shape 32"/>
          <p:cNvSpPr/>
          <p:nvPr/>
        </p:nvSpPr>
        <p:spPr>
          <a:xfrm>
            <a:off x="3462376" y="2139696"/>
            <a:ext cx="2578608" cy="749808"/>
          </a:xfrm>
          <a:prstGeom prst="roundRect">
            <a:avLst>
              <a:gd name="adj" fmla="val 12195"/>
            </a:avLst>
          </a:prstGeom>
          <a:solidFill>
            <a:schemeClr val="bg1"/>
          </a:solidFill>
          <a:ln w="9525">
            <a:solidFill>
              <a:schemeClr val="accent5"/>
            </a:solidFill>
            <a:prstDash val="solid"/>
          </a:ln>
        </p:spPr>
      </p:sp>
      <p:sp>
        <p:nvSpPr>
          <p:cNvPr id="35" name="Shape 33"/>
          <p:cNvSpPr/>
          <p:nvPr/>
        </p:nvSpPr>
        <p:spPr>
          <a:xfrm>
            <a:off x="5565496" y="2322576"/>
            <a:ext cx="384048" cy="384048"/>
          </a:xfrm>
          <a:prstGeom prst="octagon">
            <a:avLst/>
          </a:prstGeom>
          <a:solidFill>
            <a:schemeClr val="accent2"/>
          </a:solidFill>
          <a:ln w="15875">
            <a:solidFill>
              <a:schemeClr val="accent5"/>
            </a:solidFill>
            <a:prstDash val="solid"/>
          </a:ln>
        </p:spPr>
      </p:sp>
      <p:sp>
        <p:nvSpPr>
          <p:cNvPr id="36" name="Text 34"/>
          <p:cNvSpPr txBox="1"/>
          <p:nvPr/>
        </p:nvSpPr>
        <p:spPr>
          <a:xfrm>
            <a:off x="5565496" y="2322576"/>
            <a:ext cx="384048" cy="384048"/>
          </a:xfrm>
          <a:prstGeom prst="rect">
            <a:avLst/>
          </a:prstGeom>
          <a:noFill/>
          <a:ln/>
        </p:spPr>
        <p:txBody>
          <a:bodyPr wrap="square" lIns="0" tIns="0" rIns="0" bIns="0" rtlCol="0" anchor="ctr"/>
          <a:lstStyle/>
          <a:p>
            <a:pPr rtl="1" algn="ctr" indent="0" marL="0">
              <a:buNone/>
            </a:pPr>
            <a:r>
              <a:rPr lang="ar-SA" altLang="en-US" sz="1100" b="1" dirty="0">
                <a:solidFill>
                  <a:schemeClr val="bg1"/>
                </a:solidFill>
                <a:latin typeface="Arial" pitchFamily="34" charset="0"/>
                <a:ea typeface="Arial" pitchFamily="34" charset="-122"/>
                <a:cs typeface="Arial" pitchFamily="34" charset="-120"/>
              </a:rPr>
              <a:t>٧</a:t>
            </a:r>
            <a:endParaRPr lang="ar-SA" sz="1100" dirty="0"/>
          </a:p>
        </p:txBody>
      </p:sp>
      <p:sp>
        <p:nvSpPr>
          <p:cNvPr id="37" name="Text 35"/>
          <p:cNvSpPr txBox="1"/>
          <p:nvPr/>
        </p:nvSpPr>
        <p:spPr>
          <a:xfrm>
            <a:off x="3553816" y="2203704"/>
            <a:ext cx="1938528" cy="411480"/>
          </a:xfrm>
          <a:prstGeom prst="rect">
            <a:avLst/>
          </a:prstGeom>
          <a:noFill/>
          <a:ln/>
        </p:spPr>
        <p:txBody>
          <a:bodyPr wrap="square" lIns="0" tIns="0" rIns="0" bIns="0" rtlCol="0" anchor="ctr"/>
          <a:lstStyle/>
          <a:p>
            <a:pPr rtl="1" algn="r" indent="0" marL="0">
              <a:buNone/>
            </a:pPr>
            <a:r>
              <a:rPr lang="ar-SA" altLang="en-US" sz="1300" b="1" dirty="0">
                <a:solidFill>
                  <a:schemeClr val="tx2"/>
                </a:solidFill>
              </a:rPr>
              <a:t>مواقف اليهود من الوحي</a:t>
            </a:r>
            <a:endParaRPr lang="ar-SA" sz="1300" dirty="0"/>
          </a:p>
        </p:txBody>
      </p:sp>
      <p:sp>
        <p:nvSpPr>
          <p:cNvPr id="38" name="Text 36"/>
          <p:cNvSpPr txBox="1"/>
          <p:nvPr/>
        </p:nvSpPr>
        <p:spPr>
          <a:xfrm>
            <a:off x="3553816" y="2596896"/>
            <a:ext cx="1938528" cy="237744"/>
          </a:xfrm>
          <a:prstGeom prst="rect">
            <a:avLst/>
          </a:prstGeom>
          <a:noFill/>
          <a:ln/>
        </p:spPr>
        <p:txBody>
          <a:bodyPr wrap="square" lIns="0" tIns="0" rIns="0" bIns="0" rtlCol="0" anchor="t"/>
          <a:lstStyle/>
          <a:p>
            <a:pPr rtl="1" algn="r" indent="0" marL="0">
              <a:buNone/>
            </a:pPr>
            <a:r>
              <a:rPr lang="ar-SA" altLang="en-US" sz="1100" dirty="0">
                <a:solidFill>
                  <a:schemeClr val="accent2"/>
                </a:solidFill>
              </a:rPr>
              <a:t>الآيات ٧٥ – ١٠٣</a:t>
            </a:r>
            <a:endParaRPr lang="ar-SA" sz="1100" dirty="0"/>
          </a:p>
        </p:txBody>
      </p:sp>
      <p:sp>
        <p:nvSpPr>
          <p:cNvPr id="39" name="Shape 37"/>
          <p:cNvSpPr/>
          <p:nvPr/>
        </p:nvSpPr>
        <p:spPr>
          <a:xfrm>
            <a:off x="774040" y="2139696"/>
            <a:ext cx="2578608" cy="749808"/>
          </a:xfrm>
          <a:prstGeom prst="roundRect">
            <a:avLst>
              <a:gd name="adj" fmla="val 12195"/>
            </a:avLst>
          </a:prstGeom>
          <a:solidFill>
            <a:schemeClr val="accent6"/>
          </a:solidFill>
          <a:ln w="9525">
            <a:solidFill>
              <a:schemeClr val="accent5"/>
            </a:solidFill>
            <a:prstDash val="solid"/>
          </a:ln>
        </p:spPr>
      </p:sp>
      <p:sp>
        <p:nvSpPr>
          <p:cNvPr id="40" name="Shape 38"/>
          <p:cNvSpPr/>
          <p:nvPr/>
        </p:nvSpPr>
        <p:spPr>
          <a:xfrm>
            <a:off x="2877160" y="2322576"/>
            <a:ext cx="384048" cy="384048"/>
          </a:xfrm>
          <a:prstGeom prst="octagon">
            <a:avLst/>
          </a:prstGeom>
          <a:solidFill>
            <a:schemeClr val="accent2"/>
          </a:solidFill>
          <a:ln w="15875">
            <a:solidFill>
              <a:schemeClr val="accent5"/>
            </a:solidFill>
            <a:prstDash val="solid"/>
          </a:ln>
        </p:spPr>
      </p:sp>
      <p:sp>
        <p:nvSpPr>
          <p:cNvPr id="41" name="Text 39"/>
          <p:cNvSpPr txBox="1"/>
          <p:nvPr/>
        </p:nvSpPr>
        <p:spPr>
          <a:xfrm>
            <a:off x="2877160" y="2322576"/>
            <a:ext cx="384048" cy="384048"/>
          </a:xfrm>
          <a:prstGeom prst="rect">
            <a:avLst/>
          </a:prstGeom>
          <a:noFill/>
          <a:ln/>
        </p:spPr>
        <p:txBody>
          <a:bodyPr wrap="square" lIns="0" tIns="0" rIns="0" bIns="0" rtlCol="0" anchor="ctr"/>
          <a:lstStyle/>
          <a:p>
            <a:pPr rtl="1" algn="ctr" indent="0" marL="0">
              <a:buNone/>
            </a:pPr>
            <a:r>
              <a:rPr lang="ar-SA" altLang="en-US" sz="1100" b="1" dirty="0">
                <a:solidFill>
                  <a:schemeClr val="bg1"/>
                </a:solidFill>
                <a:latin typeface="Arial" pitchFamily="34" charset="0"/>
                <a:ea typeface="Arial" pitchFamily="34" charset="-122"/>
                <a:cs typeface="Arial" pitchFamily="34" charset="-120"/>
              </a:rPr>
              <a:t>٨</a:t>
            </a:r>
            <a:endParaRPr lang="ar-SA" sz="1100" dirty="0"/>
          </a:p>
        </p:txBody>
      </p:sp>
      <p:sp>
        <p:nvSpPr>
          <p:cNvPr id="42" name="Text 40"/>
          <p:cNvSpPr txBox="1"/>
          <p:nvPr/>
        </p:nvSpPr>
        <p:spPr>
          <a:xfrm>
            <a:off x="865480" y="2203704"/>
            <a:ext cx="1938528" cy="411480"/>
          </a:xfrm>
          <a:prstGeom prst="rect">
            <a:avLst/>
          </a:prstGeom>
          <a:noFill/>
          <a:ln/>
        </p:spPr>
        <p:txBody>
          <a:bodyPr wrap="square" lIns="0" tIns="0" rIns="0" bIns="0" rtlCol="0" anchor="ctr"/>
          <a:lstStyle/>
          <a:p>
            <a:pPr rtl="1" algn="r" indent="0" marL="0">
              <a:buNone/>
            </a:pPr>
            <a:r>
              <a:rPr lang="ar-SA" altLang="en-US" sz="1300" b="1" dirty="0">
                <a:solidFill>
                  <a:schemeClr val="tx2"/>
                </a:solidFill>
              </a:rPr>
              <a:t>توجيهات للمؤمنين والرد على أهل الكتاب</a:t>
            </a:r>
            <a:endParaRPr lang="ar-SA" sz="1300" dirty="0"/>
          </a:p>
        </p:txBody>
      </p:sp>
      <p:sp>
        <p:nvSpPr>
          <p:cNvPr id="43" name="Text 41"/>
          <p:cNvSpPr txBox="1"/>
          <p:nvPr/>
        </p:nvSpPr>
        <p:spPr>
          <a:xfrm>
            <a:off x="865480" y="2596896"/>
            <a:ext cx="1938528" cy="237744"/>
          </a:xfrm>
          <a:prstGeom prst="rect">
            <a:avLst/>
          </a:prstGeom>
          <a:noFill/>
          <a:ln/>
        </p:spPr>
        <p:txBody>
          <a:bodyPr wrap="square" lIns="0" tIns="0" rIns="0" bIns="0" rtlCol="0" anchor="t"/>
          <a:lstStyle/>
          <a:p>
            <a:pPr rtl="1" algn="r" indent="0" marL="0">
              <a:buNone/>
            </a:pPr>
            <a:r>
              <a:rPr lang="ar-SA" altLang="en-US" sz="1100" dirty="0">
                <a:solidFill>
                  <a:schemeClr val="accent2"/>
                </a:solidFill>
              </a:rPr>
              <a:t>الآيات ١٠٤ – ١٢٣</a:t>
            </a:r>
            <a:endParaRPr lang="ar-SA" sz="1100" dirty="0"/>
          </a:p>
        </p:txBody>
      </p:sp>
      <p:sp>
        <p:nvSpPr>
          <p:cNvPr id="44" name="Shape 42"/>
          <p:cNvSpPr/>
          <p:nvPr/>
        </p:nvSpPr>
        <p:spPr>
          <a:xfrm>
            <a:off x="8839048" y="2980944"/>
            <a:ext cx="2578608" cy="749808"/>
          </a:xfrm>
          <a:prstGeom prst="roundRect">
            <a:avLst>
              <a:gd name="adj" fmla="val 12195"/>
            </a:avLst>
          </a:prstGeom>
          <a:solidFill>
            <a:schemeClr val="bg1"/>
          </a:solidFill>
          <a:ln w="9525">
            <a:solidFill>
              <a:schemeClr val="accent5"/>
            </a:solidFill>
            <a:prstDash val="solid"/>
          </a:ln>
        </p:spPr>
      </p:sp>
      <p:sp>
        <p:nvSpPr>
          <p:cNvPr id="45" name="Shape 43"/>
          <p:cNvSpPr/>
          <p:nvPr/>
        </p:nvSpPr>
        <p:spPr>
          <a:xfrm>
            <a:off x="10942168" y="3163824"/>
            <a:ext cx="384048" cy="384048"/>
          </a:xfrm>
          <a:prstGeom prst="octagon">
            <a:avLst/>
          </a:prstGeom>
          <a:solidFill>
            <a:schemeClr val="accent2"/>
          </a:solidFill>
          <a:ln w="15875">
            <a:solidFill>
              <a:schemeClr val="accent5"/>
            </a:solidFill>
            <a:prstDash val="solid"/>
          </a:ln>
        </p:spPr>
      </p:sp>
      <p:sp>
        <p:nvSpPr>
          <p:cNvPr id="46" name="Text 44"/>
          <p:cNvSpPr txBox="1"/>
          <p:nvPr/>
        </p:nvSpPr>
        <p:spPr>
          <a:xfrm>
            <a:off x="10942168" y="3163824"/>
            <a:ext cx="384048" cy="384048"/>
          </a:xfrm>
          <a:prstGeom prst="rect">
            <a:avLst/>
          </a:prstGeom>
          <a:noFill/>
          <a:ln/>
        </p:spPr>
        <p:txBody>
          <a:bodyPr wrap="square" lIns="0" tIns="0" rIns="0" bIns="0" rtlCol="0" anchor="ctr"/>
          <a:lstStyle/>
          <a:p>
            <a:pPr rtl="1" algn="ctr" indent="0" marL="0">
              <a:buNone/>
            </a:pPr>
            <a:r>
              <a:rPr lang="ar-SA" altLang="en-US" sz="1100" b="1" dirty="0">
                <a:solidFill>
                  <a:schemeClr val="bg1"/>
                </a:solidFill>
                <a:latin typeface="Arial" pitchFamily="34" charset="0"/>
                <a:ea typeface="Arial" pitchFamily="34" charset="-122"/>
                <a:cs typeface="Arial" pitchFamily="34" charset="-120"/>
              </a:rPr>
              <a:t>٩</a:t>
            </a:r>
            <a:endParaRPr lang="ar-SA" sz="1100" dirty="0"/>
          </a:p>
        </p:txBody>
      </p:sp>
      <p:sp>
        <p:nvSpPr>
          <p:cNvPr id="47" name="Text 45"/>
          <p:cNvSpPr txBox="1"/>
          <p:nvPr/>
        </p:nvSpPr>
        <p:spPr>
          <a:xfrm>
            <a:off x="8930488" y="3044952"/>
            <a:ext cx="1938528" cy="411480"/>
          </a:xfrm>
          <a:prstGeom prst="rect">
            <a:avLst/>
          </a:prstGeom>
          <a:noFill/>
          <a:ln/>
        </p:spPr>
        <p:txBody>
          <a:bodyPr wrap="square" lIns="0" tIns="0" rIns="0" bIns="0" rtlCol="0" anchor="ctr"/>
          <a:lstStyle/>
          <a:p>
            <a:pPr rtl="1" algn="r" indent="0" marL="0">
              <a:buNone/>
            </a:pPr>
            <a:r>
              <a:rPr lang="ar-SA" altLang="en-US" sz="1300" b="1" dirty="0">
                <a:solidFill>
                  <a:schemeClr val="tx2"/>
                </a:solidFill>
              </a:rPr>
              <a:t>إبراهيم عليه السلام وبناء الكعبة</a:t>
            </a:r>
            <a:endParaRPr lang="ar-SA" sz="1300" dirty="0"/>
          </a:p>
        </p:txBody>
      </p:sp>
      <p:sp>
        <p:nvSpPr>
          <p:cNvPr id="48" name="Text 46"/>
          <p:cNvSpPr txBox="1"/>
          <p:nvPr/>
        </p:nvSpPr>
        <p:spPr>
          <a:xfrm>
            <a:off x="8930488" y="3438144"/>
            <a:ext cx="1938528" cy="237744"/>
          </a:xfrm>
          <a:prstGeom prst="rect">
            <a:avLst/>
          </a:prstGeom>
          <a:noFill/>
          <a:ln/>
        </p:spPr>
        <p:txBody>
          <a:bodyPr wrap="square" lIns="0" tIns="0" rIns="0" bIns="0" rtlCol="0" anchor="t"/>
          <a:lstStyle/>
          <a:p>
            <a:pPr rtl="1" algn="r" indent="0" marL="0">
              <a:buNone/>
            </a:pPr>
            <a:r>
              <a:rPr lang="ar-SA" altLang="en-US" sz="1100" dirty="0">
                <a:solidFill>
                  <a:schemeClr val="accent2"/>
                </a:solidFill>
              </a:rPr>
              <a:t>الآيات ١٢٤ – ١٤١</a:t>
            </a:r>
            <a:endParaRPr lang="ar-SA" sz="1100" dirty="0"/>
          </a:p>
        </p:txBody>
      </p:sp>
      <p:sp>
        <p:nvSpPr>
          <p:cNvPr id="49" name="Shape 47"/>
          <p:cNvSpPr/>
          <p:nvPr/>
        </p:nvSpPr>
        <p:spPr>
          <a:xfrm>
            <a:off x="6150712" y="2980944"/>
            <a:ext cx="2578608" cy="749808"/>
          </a:xfrm>
          <a:prstGeom prst="roundRect">
            <a:avLst>
              <a:gd name="adj" fmla="val 12195"/>
            </a:avLst>
          </a:prstGeom>
          <a:solidFill>
            <a:schemeClr val="accent6"/>
          </a:solidFill>
          <a:ln w="9525">
            <a:solidFill>
              <a:schemeClr val="accent5"/>
            </a:solidFill>
            <a:prstDash val="solid"/>
          </a:ln>
        </p:spPr>
      </p:sp>
      <p:sp>
        <p:nvSpPr>
          <p:cNvPr id="50" name="Shape 48"/>
          <p:cNvSpPr/>
          <p:nvPr/>
        </p:nvSpPr>
        <p:spPr>
          <a:xfrm>
            <a:off x="8253832" y="3163824"/>
            <a:ext cx="384048" cy="384048"/>
          </a:xfrm>
          <a:prstGeom prst="octagon">
            <a:avLst/>
          </a:prstGeom>
          <a:solidFill>
            <a:schemeClr val="accent2"/>
          </a:solidFill>
          <a:ln w="15875">
            <a:solidFill>
              <a:schemeClr val="accent5"/>
            </a:solidFill>
            <a:prstDash val="solid"/>
          </a:ln>
        </p:spPr>
      </p:sp>
      <p:sp>
        <p:nvSpPr>
          <p:cNvPr id="51" name="Text 49"/>
          <p:cNvSpPr txBox="1"/>
          <p:nvPr/>
        </p:nvSpPr>
        <p:spPr>
          <a:xfrm>
            <a:off x="8253832" y="3163824"/>
            <a:ext cx="384048" cy="384048"/>
          </a:xfrm>
          <a:prstGeom prst="rect">
            <a:avLst/>
          </a:prstGeom>
          <a:noFill/>
          <a:ln/>
        </p:spPr>
        <p:txBody>
          <a:bodyPr wrap="square" lIns="0" tIns="0" rIns="0" bIns="0" rtlCol="0" anchor="ctr"/>
          <a:lstStyle/>
          <a:p>
            <a:pPr rtl="1" algn="ctr" indent="0" marL="0">
              <a:buNone/>
            </a:pPr>
            <a:r>
              <a:rPr lang="ar-SA" altLang="en-US" sz="1100" b="1" dirty="0">
                <a:solidFill>
                  <a:schemeClr val="bg1"/>
                </a:solidFill>
                <a:latin typeface="Arial" pitchFamily="34" charset="0"/>
                <a:ea typeface="Arial" pitchFamily="34" charset="-122"/>
                <a:cs typeface="Arial" pitchFamily="34" charset="-120"/>
              </a:rPr>
              <a:t>١٠</a:t>
            </a:r>
            <a:endParaRPr lang="ar-SA" sz="1100" dirty="0"/>
          </a:p>
        </p:txBody>
      </p:sp>
      <p:sp>
        <p:nvSpPr>
          <p:cNvPr id="52" name="Text 50"/>
          <p:cNvSpPr txBox="1"/>
          <p:nvPr/>
        </p:nvSpPr>
        <p:spPr>
          <a:xfrm>
            <a:off x="6242152" y="3044952"/>
            <a:ext cx="1938528" cy="411480"/>
          </a:xfrm>
          <a:prstGeom prst="rect">
            <a:avLst/>
          </a:prstGeom>
          <a:noFill/>
          <a:ln/>
        </p:spPr>
        <p:txBody>
          <a:bodyPr wrap="square" lIns="0" tIns="0" rIns="0" bIns="0" rtlCol="0" anchor="ctr"/>
          <a:lstStyle/>
          <a:p>
            <a:pPr rtl="1" algn="r" indent="0" marL="0">
              <a:buNone/>
            </a:pPr>
            <a:r>
              <a:rPr lang="ar-SA" altLang="en-US" sz="1300" b="1" dirty="0">
                <a:solidFill>
                  <a:schemeClr val="tx2"/>
                </a:solidFill>
              </a:rPr>
              <a:t>تحويل القبلة</a:t>
            </a:r>
            <a:endParaRPr lang="ar-SA" sz="1300" dirty="0"/>
          </a:p>
        </p:txBody>
      </p:sp>
      <p:sp>
        <p:nvSpPr>
          <p:cNvPr id="53" name="Text 51"/>
          <p:cNvSpPr txBox="1"/>
          <p:nvPr/>
        </p:nvSpPr>
        <p:spPr>
          <a:xfrm>
            <a:off x="6242152" y="3438144"/>
            <a:ext cx="1938528" cy="237744"/>
          </a:xfrm>
          <a:prstGeom prst="rect">
            <a:avLst/>
          </a:prstGeom>
          <a:noFill/>
          <a:ln/>
        </p:spPr>
        <p:txBody>
          <a:bodyPr wrap="square" lIns="0" tIns="0" rIns="0" bIns="0" rtlCol="0" anchor="t"/>
          <a:lstStyle/>
          <a:p>
            <a:pPr rtl="1" algn="r" indent="0" marL="0">
              <a:buNone/>
            </a:pPr>
            <a:r>
              <a:rPr lang="ar-SA" altLang="en-US" sz="1100" dirty="0">
                <a:solidFill>
                  <a:schemeClr val="accent2"/>
                </a:solidFill>
              </a:rPr>
              <a:t>الآيات ١٤٢ – ١٥٢</a:t>
            </a:r>
            <a:endParaRPr lang="ar-SA" sz="1100" dirty="0"/>
          </a:p>
        </p:txBody>
      </p:sp>
      <p:sp>
        <p:nvSpPr>
          <p:cNvPr id="54" name="Shape 52"/>
          <p:cNvSpPr/>
          <p:nvPr/>
        </p:nvSpPr>
        <p:spPr>
          <a:xfrm>
            <a:off x="3462376" y="2980944"/>
            <a:ext cx="2578608" cy="749808"/>
          </a:xfrm>
          <a:prstGeom prst="roundRect">
            <a:avLst>
              <a:gd name="adj" fmla="val 12195"/>
            </a:avLst>
          </a:prstGeom>
          <a:solidFill>
            <a:schemeClr val="bg1"/>
          </a:solidFill>
          <a:ln w="9525">
            <a:solidFill>
              <a:schemeClr val="accent5"/>
            </a:solidFill>
            <a:prstDash val="solid"/>
          </a:ln>
        </p:spPr>
      </p:sp>
      <p:sp>
        <p:nvSpPr>
          <p:cNvPr id="55" name="Shape 53"/>
          <p:cNvSpPr/>
          <p:nvPr/>
        </p:nvSpPr>
        <p:spPr>
          <a:xfrm>
            <a:off x="5565496" y="3163824"/>
            <a:ext cx="384048" cy="384048"/>
          </a:xfrm>
          <a:prstGeom prst="octagon">
            <a:avLst/>
          </a:prstGeom>
          <a:solidFill>
            <a:schemeClr val="accent2"/>
          </a:solidFill>
          <a:ln w="15875">
            <a:solidFill>
              <a:schemeClr val="accent5"/>
            </a:solidFill>
            <a:prstDash val="solid"/>
          </a:ln>
        </p:spPr>
      </p:sp>
      <p:sp>
        <p:nvSpPr>
          <p:cNvPr id="56" name="Text 54"/>
          <p:cNvSpPr txBox="1"/>
          <p:nvPr/>
        </p:nvSpPr>
        <p:spPr>
          <a:xfrm>
            <a:off x="5565496" y="3163824"/>
            <a:ext cx="384048" cy="384048"/>
          </a:xfrm>
          <a:prstGeom prst="rect">
            <a:avLst/>
          </a:prstGeom>
          <a:noFill/>
          <a:ln/>
        </p:spPr>
        <p:txBody>
          <a:bodyPr wrap="square" lIns="0" tIns="0" rIns="0" bIns="0" rtlCol="0" anchor="ctr"/>
          <a:lstStyle/>
          <a:p>
            <a:pPr rtl="1" algn="ctr" indent="0" marL="0">
              <a:buNone/>
            </a:pPr>
            <a:r>
              <a:rPr lang="ar-SA" altLang="en-US" sz="1100" b="1" dirty="0">
                <a:solidFill>
                  <a:schemeClr val="bg1"/>
                </a:solidFill>
                <a:latin typeface="Arial" pitchFamily="34" charset="0"/>
                <a:ea typeface="Arial" pitchFamily="34" charset="-122"/>
                <a:cs typeface="Arial" pitchFamily="34" charset="-120"/>
              </a:rPr>
              <a:t>١١</a:t>
            </a:r>
            <a:endParaRPr lang="ar-SA" sz="1100" dirty="0"/>
          </a:p>
        </p:txBody>
      </p:sp>
      <p:sp>
        <p:nvSpPr>
          <p:cNvPr id="57" name="Text 55"/>
          <p:cNvSpPr txBox="1"/>
          <p:nvPr/>
        </p:nvSpPr>
        <p:spPr>
          <a:xfrm>
            <a:off x="3553816" y="3044952"/>
            <a:ext cx="1938528" cy="411480"/>
          </a:xfrm>
          <a:prstGeom prst="rect">
            <a:avLst/>
          </a:prstGeom>
          <a:noFill/>
          <a:ln/>
        </p:spPr>
        <p:txBody>
          <a:bodyPr wrap="square" lIns="0" tIns="0" rIns="0" bIns="0" rtlCol="0" anchor="ctr"/>
          <a:lstStyle/>
          <a:p>
            <a:pPr rtl="1" algn="r" indent="0" marL="0">
              <a:buNone/>
            </a:pPr>
            <a:r>
              <a:rPr lang="ar-SA" altLang="en-US" sz="1300" b="1" dirty="0">
                <a:solidFill>
                  <a:schemeClr val="tx2"/>
                </a:solidFill>
              </a:rPr>
              <a:t>الصبر والابتلاء ودلائل التوحيد</a:t>
            </a:r>
            <a:endParaRPr lang="ar-SA" sz="1300" dirty="0"/>
          </a:p>
        </p:txBody>
      </p:sp>
      <p:sp>
        <p:nvSpPr>
          <p:cNvPr id="58" name="Text 56"/>
          <p:cNvSpPr txBox="1"/>
          <p:nvPr/>
        </p:nvSpPr>
        <p:spPr>
          <a:xfrm>
            <a:off x="3553816" y="3438144"/>
            <a:ext cx="1938528" cy="237744"/>
          </a:xfrm>
          <a:prstGeom prst="rect">
            <a:avLst/>
          </a:prstGeom>
          <a:noFill/>
          <a:ln/>
        </p:spPr>
        <p:txBody>
          <a:bodyPr wrap="square" lIns="0" tIns="0" rIns="0" bIns="0" rtlCol="0" anchor="t"/>
          <a:lstStyle/>
          <a:p>
            <a:pPr rtl="1" algn="r" indent="0" marL="0">
              <a:buNone/>
            </a:pPr>
            <a:r>
              <a:rPr lang="ar-SA" altLang="en-US" sz="1100" dirty="0">
                <a:solidFill>
                  <a:schemeClr val="accent2"/>
                </a:solidFill>
              </a:rPr>
              <a:t>الآيات ١٥٣ – ١٦٧</a:t>
            </a:r>
            <a:endParaRPr lang="ar-SA" sz="1100" dirty="0"/>
          </a:p>
        </p:txBody>
      </p:sp>
      <p:sp>
        <p:nvSpPr>
          <p:cNvPr id="59" name="Shape 57"/>
          <p:cNvSpPr/>
          <p:nvPr/>
        </p:nvSpPr>
        <p:spPr>
          <a:xfrm>
            <a:off x="774040" y="2980944"/>
            <a:ext cx="2578608" cy="749808"/>
          </a:xfrm>
          <a:prstGeom prst="roundRect">
            <a:avLst>
              <a:gd name="adj" fmla="val 12195"/>
            </a:avLst>
          </a:prstGeom>
          <a:solidFill>
            <a:schemeClr val="accent6"/>
          </a:solidFill>
          <a:ln w="9525">
            <a:solidFill>
              <a:schemeClr val="accent5"/>
            </a:solidFill>
            <a:prstDash val="solid"/>
          </a:ln>
        </p:spPr>
      </p:sp>
      <p:sp>
        <p:nvSpPr>
          <p:cNvPr id="60" name="Shape 58"/>
          <p:cNvSpPr/>
          <p:nvPr/>
        </p:nvSpPr>
        <p:spPr>
          <a:xfrm>
            <a:off x="2877160" y="3163824"/>
            <a:ext cx="384048" cy="384048"/>
          </a:xfrm>
          <a:prstGeom prst="octagon">
            <a:avLst/>
          </a:prstGeom>
          <a:solidFill>
            <a:schemeClr val="accent2"/>
          </a:solidFill>
          <a:ln w="15875">
            <a:solidFill>
              <a:schemeClr val="accent5"/>
            </a:solidFill>
            <a:prstDash val="solid"/>
          </a:ln>
        </p:spPr>
      </p:sp>
      <p:sp>
        <p:nvSpPr>
          <p:cNvPr id="61" name="Text 59"/>
          <p:cNvSpPr txBox="1"/>
          <p:nvPr/>
        </p:nvSpPr>
        <p:spPr>
          <a:xfrm>
            <a:off x="2877160" y="3163824"/>
            <a:ext cx="384048" cy="384048"/>
          </a:xfrm>
          <a:prstGeom prst="rect">
            <a:avLst/>
          </a:prstGeom>
          <a:noFill/>
          <a:ln/>
        </p:spPr>
        <p:txBody>
          <a:bodyPr wrap="square" lIns="0" tIns="0" rIns="0" bIns="0" rtlCol="0" anchor="ctr"/>
          <a:lstStyle/>
          <a:p>
            <a:pPr rtl="1" algn="ctr" indent="0" marL="0">
              <a:buNone/>
            </a:pPr>
            <a:r>
              <a:rPr lang="ar-SA" altLang="en-US" sz="1100" b="1" dirty="0">
                <a:solidFill>
                  <a:schemeClr val="bg1"/>
                </a:solidFill>
                <a:latin typeface="Arial" pitchFamily="34" charset="0"/>
                <a:ea typeface="Arial" pitchFamily="34" charset="-122"/>
                <a:cs typeface="Arial" pitchFamily="34" charset="-120"/>
              </a:rPr>
              <a:t>١٢</a:t>
            </a:r>
            <a:endParaRPr lang="ar-SA" sz="1100" dirty="0"/>
          </a:p>
        </p:txBody>
      </p:sp>
      <p:sp>
        <p:nvSpPr>
          <p:cNvPr id="62" name="Text 60"/>
          <p:cNvSpPr txBox="1"/>
          <p:nvPr/>
        </p:nvSpPr>
        <p:spPr>
          <a:xfrm>
            <a:off x="865480" y="3044952"/>
            <a:ext cx="1938528" cy="411480"/>
          </a:xfrm>
          <a:prstGeom prst="rect">
            <a:avLst/>
          </a:prstGeom>
          <a:noFill/>
          <a:ln/>
        </p:spPr>
        <p:txBody>
          <a:bodyPr wrap="square" lIns="0" tIns="0" rIns="0" bIns="0" rtlCol="0" anchor="ctr"/>
          <a:lstStyle/>
          <a:p>
            <a:pPr rtl="1" algn="r" indent="0" marL="0">
              <a:buNone/>
            </a:pPr>
            <a:r>
              <a:rPr lang="ar-SA" altLang="en-US" sz="1300" b="1" dirty="0">
                <a:solidFill>
                  <a:schemeClr val="tx2"/>
                </a:solidFill>
              </a:rPr>
              <a:t>الحلال والطيب، وحقيقة البر</a:t>
            </a:r>
            <a:endParaRPr lang="ar-SA" sz="1300" dirty="0"/>
          </a:p>
        </p:txBody>
      </p:sp>
      <p:sp>
        <p:nvSpPr>
          <p:cNvPr id="63" name="Text 61"/>
          <p:cNvSpPr txBox="1"/>
          <p:nvPr/>
        </p:nvSpPr>
        <p:spPr>
          <a:xfrm>
            <a:off x="865480" y="3438144"/>
            <a:ext cx="1938528" cy="237744"/>
          </a:xfrm>
          <a:prstGeom prst="rect">
            <a:avLst/>
          </a:prstGeom>
          <a:noFill/>
          <a:ln/>
        </p:spPr>
        <p:txBody>
          <a:bodyPr wrap="square" lIns="0" tIns="0" rIns="0" bIns="0" rtlCol="0" anchor="t"/>
          <a:lstStyle/>
          <a:p>
            <a:pPr rtl="1" algn="r" indent="0" marL="0">
              <a:buNone/>
            </a:pPr>
            <a:r>
              <a:rPr lang="ar-SA" altLang="en-US" sz="1100" dirty="0">
                <a:solidFill>
                  <a:schemeClr val="accent2"/>
                </a:solidFill>
              </a:rPr>
              <a:t>الآيات ١٦٨ – ١٨٢</a:t>
            </a:r>
            <a:endParaRPr lang="ar-SA" sz="1100" dirty="0"/>
          </a:p>
        </p:txBody>
      </p:sp>
      <p:sp>
        <p:nvSpPr>
          <p:cNvPr id="64" name="Shape 62"/>
          <p:cNvSpPr/>
          <p:nvPr/>
        </p:nvSpPr>
        <p:spPr>
          <a:xfrm>
            <a:off x="8839048" y="3822192"/>
            <a:ext cx="2578608" cy="749808"/>
          </a:xfrm>
          <a:prstGeom prst="roundRect">
            <a:avLst>
              <a:gd name="adj" fmla="val 12195"/>
            </a:avLst>
          </a:prstGeom>
          <a:solidFill>
            <a:schemeClr val="bg1"/>
          </a:solidFill>
          <a:ln w="9525">
            <a:solidFill>
              <a:schemeClr val="accent5"/>
            </a:solidFill>
            <a:prstDash val="solid"/>
          </a:ln>
        </p:spPr>
      </p:sp>
      <p:sp>
        <p:nvSpPr>
          <p:cNvPr id="65" name="Shape 63"/>
          <p:cNvSpPr/>
          <p:nvPr/>
        </p:nvSpPr>
        <p:spPr>
          <a:xfrm>
            <a:off x="10942168" y="4005072"/>
            <a:ext cx="384048" cy="384048"/>
          </a:xfrm>
          <a:prstGeom prst="octagon">
            <a:avLst/>
          </a:prstGeom>
          <a:solidFill>
            <a:schemeClr val="accent2"/>
          </a:solidFill>
          <a:ln w="15875">
            <a:solidFill>
              <a:schemeClr val="accent5"/>
            </a:solidFill>
            <a:prstDash val="solid"/>
          </a:ln>
        </p:spPr>
      </p:sp>
      <p:sp>
        <p:nvSpPr>
          <p:cNvPr id="66" name="Text 64"/>
          <p:cNvSpPr txBox="1"/>
          <p:nvPr/>
        </p:nvSpPr>
        <p:spPr>
          <a:xfrm>
            <a:off x="10942168" y="4005072"/>
            <a:ext cx="384048" cy="384048"/>
          </a:xfrm>
          <a:prstGeom prst="rect">
            <a:avLst/>
          </a:prstGeom>
          <a:noFill/>
          <a:ln/>
        </p:spPr>
        <p:txBody>
          <a:bodyPr wrap="square" lIns="0" tIns="0" rIns="0" bIns="0" rtlCol="0" anchor="ctr"/>
          <a:lstStyle/>
          <a:p>
            <a:pPr rtl="1" algn="ctr" indent="0" marL="0">
              <a:buNone/>
            </a:pPr>
            <a:r>
              <a:rPr lang="ar-SA" altLang="en-US" sz="1100" b="1" dirty="0">
                <a:solidFill>
                  <a:schemeClr val="bg1"/>
                </a:solidFill>
                <a:latin typeface="Arial" pitchFamily="34" charset="0"/>
                <a:ea typeface="Arial" pitchFamily="34" charset="-122"/>
                <a:cs typeface="Arial" pitchFamily="34" charset="-120"/>
              </a:rPr>
              <a:t>١٣</a:t>
            </a:r>
            <a:endParaRPr lang="ar-SA" sz="1100" dirty="0"/>
          </a:p>
        </p:txBody>
      </p:sp>
      <p:sp>
        <p:nvSpPr>
          <p:cNvPr id="67" name="Text 65"/>
          <p:cNvSpPr txBox="1"/>
          <p:nvPr/>
        </p:nvSpPr>
        <p:spPr>
          <a:xfrm>
            <a:off x="8930488" y="3886200"/>
            <a:ext cx="1938528" cy="411480"/>
          </a:xfrm>
          <a:prstGeom prst="rect">
            <a:avLst/>
          </a:prstGeom>
          <a:noFill/>
          <a:ln/>
        </p:spPr>
        <p:txBody>
          <a:bodyPr wrap="square" lIns="0" tIns="0" rIns="0" bIns="0" rtlCol="0" anchor="ctr"/>
          <a:lstStyle/>
          <a:p>
            <a:pPr rtl="1" algn="r" indent="0" marL="0">
              <a:buNone/>
            </a:pPr>
            <a:r>
              <a:rPr lang="ar-SA" altLang="en-US" sz="1300" b="1" dirty="0">
                <a:solidFill>
                  <a:schemeClr val="tx2"/>
                </a:solidFill>
              </a:rPr>
              <a:t>الصيام</a:t>
            </a:r>
            <a:endParaRPr lang="ar-SA" sz="1300" dirty="0"/>
          </a:p>
        </p:txBody>
      </p:sp>
      <p:sp>
        <p:nvSpPr>
          <p:cNvPr id="68" name="Text 66"/>
          <p:cNvSpPr txBox="1"/>
          <p:nvPr/>
        </p:nvSpPr>
        <p:spPr>
          <a:xfrm>
            <a:off x="8930488" y="4279392"/>
            <a:ext cx="1938528" cy="237744"/>
          </a:xfrm>
          <a:prstGeom prst="rect">
            <a:avLst/>
          </a:prstGeom>
          <a:noFill/>
          <a:ln/>
        </p:spPr>
        <p:txBody>
          <a:bodyPr wrap="square" lIns="0" tIns="0" rIns="0" bIns="0" rtlCol="0" anchor="t"/>
          <a:lstStyle/>
          <a:p>
            <a:pPr rtl="1" algn="r" indent="0" marL="0">
              <a:buNone/>
            </a:pPr>
            <a:r>
              <a:rPr lang="ar-SA" altLang="en-US" sz="1100" dirty="0">
                <a:solidFill>
                  <a:schemeClr val="accent2"/>
                </a:solidFill>
              </a:rPr>
              <a:t>الآيات ١٨٣ – ١٨٨</a:t>
            </a:r>
            <a:endParaRPr lang="ar-SA" sz="1100" dirty="0"/>
          </a:p>
        </p:txBody>
      </p:sp>
      <p:sp>
        <p:nvSpPr>
          <p:cNvPr id="69" name="Shape 67"/>
          <p:cNvSpPr/>
          <p:nvPr/>
        </p:nvSpPr>
        <p:spPr>
          <a:xfrm>
            <a:off x="6150712" y="3822192"/>
            <a:ext cx="2578608" cy="749808"/>
          </a:xfrm>
          <a:prstGeom prst="roundRect">
            <a:avLst>
              <a:gd name="adj" fmla="val 12195"/>
            </a:avLst>
          </a:prstGeom>
          <a:solidFill>
            <a:schemeClr val="accent6"/>
          </a:solidFill>
          <a:ln w="9525">
            <a:solidFill>
              <a:schemeClr val="accent5"/>
            </a:solidFill>
            <a:prstDash val="solid"/>
          </a:ln>
        </p:spPr>
      </p:sp>
      <p:sp>
        <p:nvSpPr>
          <p:cNvPr id="70" name="Shape 68"/>
          <p:cNvSpPr/>
          <p:nvPr/>
        </p:nvSpPr>
        <p:spPr>
          <a:xfrm>
            <a:off x="8253832" y="4005072"/>
            <a:ext cx="384048" cy="384048"/>
          </a:xfrm>
          <a:prstGeom prst="octagon">
            <a:avLst/>
          </a:prstGeom>
          <a:solidFill>
            <a:schemeClr val="accent2"/>
          </a:solidFill>
          <a:ln w="15875">
            <a:solidFill>
              <a:schemeClr val="accent5"/>
            </a:solidFill>
            <a:prstDash val="solid"/>
          </a:ln>
        </p:spPr>
      </p:sp>
      <p:sp>
        <p:nvSpPr>
          <p:cNvPr id="71" name="Text 69"/>
          <p:cNvSpPr txBox="1"/>
          <p:nvPr/>
        </p:nvSpPr>
        <p:spPr>
          <a:xfrm>
            <a:off x="8253832" y="4005072"/>
            <a:ext cx="384048" cy="384048"/>
          </a:xfrm>
          <a:prstGeom prst="rect">
            <a:avLst/>
          </a:prstGeom>
          <a:noFill/>
          <a:ln/>
        </p:spPr>
        <p:txBody>
          <a:bodyPr wrap="square" lIns="0" tIns="0" rIns="0" bIns="0" rtlCol="0" anchor="ctr"/>
          <a:lstStyle/>
          <a:p>
            <a:pPr rtl="1" algn="ctr" indent="0" marL="0">
              <a:buNone/>
            </a:pPr>
            <a:r>
              <a:rPr lang="ar-SA" altLang="en-US" sz="1100" b="1" dirty="0">
                <a:solidFill>
                  <a:schemeClr val="bg1"/>
                </a:solidFill>
                <a:latin typeface="Arial" pitchFamily="34" charset="0"/>
                <a:ea typeface="Arial" pitchFamily="34" charset="-122"/>
                <a:cs typeface="Arial" pitchFamily="34" charset="-120"/>
              </a:rPr>
              <a:t>١٤</a:t>
            </a:r>
            <a:endParaRPr lang="ar-SA" sz="1100" dirty="0"/>
          </a:p>
        </p:txBody>
      </p:sp>
      <p:sp>
        <p:nvSpPr>
          <p:cNvPr id="72" name="Text 70"/>
          <p:cNvSpPr txBox="1"/>
          <p:nvPr/>
        </p:nvSpPr>
        <p:spPr>
          <a:xfrm>
            <a:off x="6242152" y="3886200"/>
            <a:ext cx="1938528" cy="411480"/>
          </a:xfrm>
          <a:prstGeom prst="rect">
            <a:avLst/>
          </a:prstGeom>
          <a:noFill/>
          <a:ln/>
        </p:spPr>
        <p:txBody>
          <a:bodyPr wrap="square" lIns="0" tIns="0" rIns="0" bIns="0" rtlCol="0" anchor="ctr"/>
          <a:lstStyle/>
          <a:p>
            <a:pPr rtl="1" algn="r" indent="0" marL="0">
              <a:buNone/>
            </a:pPr>
            <a:r>
              <a:rPr lang="ar-SA" altLang="en-US" sz="1300" b="1" dirty="0">
                <a:solidFill>
                  <a:schemeClr val="tx2"/>
                </a:solidFill>
              </a:rPr>
              <a:t>الأهلّة والقتال والحج</a:t>
            </a:r>
            <a:endParaRPr lang="ar-SA" sz="1300" dirty="0"/>
          </a:p>
        </p:txBody>
      </p:sp>
      <p:sp>
        <p:nvSpPr>
          <p:cNvPr id="73" name="Text 71"/>
          <p:cNvSpPr txBox="1"/>
          <p:nvPr/>
        </p:nvSpPr>
        <p:spPr>
          <a:xfrm>
            <a:off x="6242152" y="4279392"/>
            <a:ext cx="1938528" cy="237744"/>
          </a:xfrm>
          <a:prstGeom prst="rect">
            <a:avLst/>
          </a:prstGeom>
          <a:noFill/>
          <a:ln/>
        </p:spPr>
        <p:txBody>
          <a:bodyPr wrap="square" lIns="0" tIns="0" rIns="0" bIns="0" rtlCol="0" anchor="t"/>
          <a:lstStyle/>
          <a:p>
            <a:pPr rtl="1" algn="r" indent="0" marL="0">
              <a:buNone/>
            </a:pPr>
            <a:r>
              <a:rPr lang="ar-SA" altLang="en-US" sz="1100" dirty="0">
                <a:solidFill>
                  <a:schemeClr val="accent2"/>
                </a:solidFill>
              </a:rPr>
              <a:t>الآيات ١٨٩ – ٢٠٣</a:t>
            </a:r>
            <a:endParaRPr lang="ar-SA" sz="1100" dirty="0"/>
          </a:p>
        </p:txBody>
      </p:sp>
      <p:sp>
        <p:nvSpPr>
          <p:cNvPr id="74" name="Shape 72"/>
          <p:cNvSpPr/>
          <p:nvPr/>
        </p:nvSpPr>
        <p:spPr>
          <a:xfrm>
            <a:off x="3462376" y="3822192"/>
            <a:ext cx="2578608" cy="749808"/>
          </a:xfrm>
          <a:prstGeom prst="roundRect">
            <a:avLst>
              <a:gd name="adj" fmla="val 12195"/>
            </a:avLst>
          </a:prstGeom>
          <a:solidFill>
            <a:schemeClr val="bg1"/>
          </a:solidFill>
          <a:ln w="9525">
            <a:solidFill>
              <a:schemeClr val="accent5"/>
            </a:solidFill>
            <a:prstDash val="solid"/>
          </a:ln>
        </p:spPr>
      </p:sp>
      <p:sp>
        <p:nvSpPr>
          <p:cNvPr id="75" name="Shape 73"/>
          <p:cNvSpPr/>
          <p:nvPr/>
        </p:nvSpPr>
        <p:spPr>
          <a:xfrm>
            <a:off x="5565496" y="4005072"/>
            <a:ext cx="384048" cy="384048"/>
          </a:xfrm>
          <a:prstGeom prst="octagon">
            <a:avLst/>
          </a:prstGeom>
          <a:solidFill>
            <a:schemeClr val="accent2"/>
          </a:solidFill>
          <a:ln w="15875">
            <a:solidFill>
              <a:schemeClr val="accent5"/>
            </a:solidFill>
            <a:prstDash val="solid"/>
          </a:ln>
        </p:spPr>
      </p:sp>
      <p:sp>
        <p:nvSpPr>
          <p:cNvPr id="76" name="Text 74"/>
          <p:cNvSpPr txBox="1"/>
          <p:nvPr/>
        </p:nvSpPr>
        <p:spPr>
          <a:xfrm>
            <a:off x="5565496" y="4005072"/>
            <a:ext cx="384048" cy="384048"/>
          </a:xfrm>
          <a:prstGeom prst="rect">
            <a:avLst/>
          </a:prstGeom>
          <a:noFill/>
          <a:ln/>
        </p:spPr>
        <p:txBody>
          <a:bodyPr wrap="square" lIns="0" tIns="0" rIns="0" bIns="0" rtlCol="0" anchor="ctr"/>
          <a:lstStyle/>
          <a:p>
            <a:pPr rtl="1" algn="ctr" indent="0" marL="0">
              <a:buNone/>
            </a:pPr>
            <a:r>
              <a:rPr lang="ar-SA" altLang="en-US" sz="1100" b="1" dirty="0">
                <a:solidFill>
                  <a:schemeClr val="bg1"/>
                </a:solidFill>
                <a:latin typeface="Arial" pitchFamily="34" charset="0"/>
                <a:ea typeface="Arial" pitchFamily="34" charset="-122"/>
                <a:cs typeface="Arial" pitchFamily="34" charset="-120"/>
              </a:rPr>
              <a:t>١٥</a:t>
            </a:r>
            <a:endParaRPr lang="ar-SA" sz="1100" dirty="0"/>
          </a:p>
        </p:txBody>
      </p:sp>
      <p:sp>
        <p:nvSpPr>
          <p:cNvPr id="77" name="Text 75"/>
          <p:cNvSpPr txBox="1"/>
          <p:nvPr/>
        </p:nvSpPr>
        <p:spPr>
          <a:xfrm>
            <a:off x="3553816" y="3886200"/>
            <a:ext cx="1938528" cy="411480"/>
          </a:xfrm>
          <a:prstGeom prst="rect">
            <a:avLst/>
          </a:prstGeom>
          <a:noFill/>
          <a:ln/>
        </p:spPr>
        <p:txBody>
          <a:bodyPr wrap="square" lIns="0" tIns="0" rIns="0" bIns="0" rtlCol="0" anchor="ctr"/>
          <a:lstStyle/>
          <a:p>
            <a:pPr rtl="1" algn="r" indent="0" marL="0">
              <a:buNone/>
            </a:pPr>
            <a:r>
              <a:rPr lang="ar-SA" altLang="en-US" sz="1300" b="1" dirty="0">
                <a:solidFill>
                  <a:schemeClr val="tx2"/>
                </a:solidFill>
              </a:rPr>
              <a:t>بين المنافق والمؤمن</a:t>
            </a:r>
            <a:endParaRPr lang="ar-SA" sz="1300" dirty="0"/>
          </a:p>
        </p:txBody>
      </p:sp>
      <p:sp>
        <p:nvSpPr>
          <p:cNvPr id="78" name="Text 76"/>
          <p:cNvSpPr txBox="1"/>
          <p:nvPr/>
        </p:nvSpPr>
        <p:spPr>
          <a:xfrm>
            <a:off x="3553816" y="4279392"/>
            <a:ext cx="1938528" cy="237744"/>
          </a:xfrm>
          <a:prstGeom prst="rect">
            <a:avLst/>
          </a:prstGeom>
          <a:noFill/>
          <a:ln/>
        </p:spPr>
        <p:txBody>
          <a:bodyPr wrap="square" lIns="0" tIns="0" rIns="0" bIns="0" rtlCol="0" anchor="t"/>
          <a:lstStyle/>
          <a:p>
            <a:pPr rtl="1" algn="r" indent="0" marL="0">
              <a:buNone/>
            </a:pPr>
            <a:r>
              <a:rPr lang="ar-SA" altLang="en-US" sz="1100" dirty="0">
                <a:solidFill>
                  <a:schemeClr val="accent2"/>
                </a:solidFill>
              </a:rPr>
              <a:t>الآيات ٢٠٤ – ٢١٨</a:t>
            </a:r>
            <a:endParaRPr lang="ar-SA" sz="1100" dirty="0"/>
          </a:p>
        </p:txBody>
      </p:sp>
      <p:sp>
        <p:nvSpPr>
          <p:cNvPr id="79" name="Shape 77"/>
          <p:cNvSpPr/>
          <p:nvPr/>
        </p:nvSpPr>
        <p:spPr>
          <a:xfrm>
            <a:off x="774040" y="3822192"/>
            <a:ext cx="2578608" cy="749808"/>
          </a:xfrm>
          <a:prstGeom prst="roundRect">
            <a:avLst>
              <a:gd name="adj" fmla="val 12195"/>
            </a:avLst>
          </a:prstGeom>
          <a:solidFill>
            <a:schemeClr val="accent6"/>
          </a:solidFill>
          <a:ln w="9525">
            <a:solidFill>
              <a:schemeClr val="accent5"/>
            </a:solidFill>
            <a:prstDash val="solid"/>
          </a:ln>
        </p:spPr>
      </p:sp>
      <p:sp>
        <p:nvSpPr>
          <p:cNvPr id="80" name="Shape 78"/>
          <p:cNvSpPr/>
          <p:nvPr/>
        </p:nvSpPr>
        <p:spPr>
          <a:xfrm>
            <a:off x="2877160" y="4005072"/>
            <a:ext cx="384048" cy="384048"/>
          </a:xfrm>
          <a:prstGeom prst="octagon">
            <a:avLst/>
          </a:prstGeom>
          <a:solidFill>
            <a:schemeClr val="accent2"/>
          </a:solidFill>
          <a:ln w="15875">
            <a:solidFill>
              <a:schemeClr val="accent5"/>
            </a:solidFill>
            <a:prstDash val="solid"/>
          </a:ln>
        </p:spPr>
      </p:sp>
      <p:sp>
        <p:nvSpPr>
          <p:cNvPr id="81" name="Text 79"/>
          <p:cNvSpPr txBox="1"/>
          <p:nvPr/>
        </p:nvSpPr>
        <p:spPr>
          <a:xfrm>
            <a:off x="2877160" y="4005072"/>
            <a:ext cx="384048" cy="384048"/>
          </a:xfrm>
          <a:prstGeom prst="rect">
            <a:avLst/>
          </a:prstGeom>
          <a:noFill/>
          <a:ln/>
        </p:spPr>
        <p:txBody>
          <a:bodyPr wrap="square" lIns="0" tIns="0" rIns="0" bIns="0" rtlCol="0" anchor="ctr"/>
          <a:lstStyle/>
          <a:p>
            <a:pPr rtl="1" algn="ctr" indent="0" marL="0">
              <a:buNone/>
            </a:pPr>
            <a:r>
              <a:rPr lang="ar-SA" altLang="en-US" sz="1100" b="1" dirty="0">
                <a:solidFill>
                  <a:schemeClr val="bg1"/>
                </a:solidFill>
                <a:latin typeface="Arial" pitchFamily="34" charset="0"/>
                <a:ea typeface="Arial" pitchFamily="34" charset="-122"/>
                <a:cs typeface="Arial" pitchFamily="34" charset="-120"/>
              </a:rPr>
              <a:t>١٦</a:t>
            </a:r>
            <a:endParaRPr lang="ar-SA" sz="1100" dirty="0"/>
          </a:p>
        </p:txBody>
      </p:sp>
      <p:sp>
        <p:nvSpPr>
          <p:cNvPr id="82" name="Text 80"/>
          <p:cNvSpPr txBox="1"/>
          <p:nvPr/>
        </p:nvSpPr>
        <p:spPr>
          <a:xfrm>
            <a:off x="865480" y="3886200"/>
            <a:ext cx="1938528" cy="411480"/>
          </a:xfrm>
          <a:prstGeom prst="rect">
            <a:avLst/>
          </a:prstGeom>
          <a:noFill/>
          <a:ln/>
        </p:spPr>
        <p:txBody>
          <a:bodyPr wrap="square" lIns="0" tIns="0" rIns="0" bIns="0" rtlCol="0" anchor="ctr"/>
          <a:lstStyle/>
          <a:p>
            <a:pPr rtl="1" algn="r" indent="0" marL="0">
              <a:buNone/>
            </a:pPr>
            <a:r>
              <a:rPr lang="ar-SA" altLang="en-US" sz="1300" b="1" dirty="0">
                <a:solidFill>
                  <a:schemeClr val="tx2"/>
                </a:solidFill>
              </a:rPr>
              <a:t>أحكام الأسرة والمجتمع</a:t>
            </a:r>
            <a:endParaRPr lang="ar-SA" sz="1300" dirty="0"/>
          </a:p>
        </p:txBody>
      </p:sp>
      <p:sp>
        <p:nvSpPr>
          <p:cNvPr id="83" name="Text 81"/>
          <p:cNvSpPr txBox="1"/>
          <p:nvPr/>
        </p:nvSpPr>
        <p:spPr>
          <a:xfrm>
            <a:off x="865480" y="4279392"/>
            <a:ext cx="1938528" cy="237744"/>
          </a:xfrm>
          <a:prstGeom prst="rect">
            <a:avLst/>
          </a:prstGeom>
          <a:noFill/>
          <a:ln/>
        </p:spPr>
        <p:txBody>
          <a:bodyPr wrap="square" lIns="0" tIns="0" rIns="0" bIns="0" rtlCol="0" anchor="t"/>
          <a:lstStyle/>
          <a:p>
            <a:pPr rtl="1" algn="r" indent="0" marL="0">
              <a:buNone/>
            </a:pPr>
            <a:r>
              <a:rPr lang="ar-SA" altLang="en-US" sz="1100" dirty="0">
                <a:solidFill>
                  <a:schemeClr val="accent2"/>
                </a:solidFill>
              </a:rPr>
              <a:t>الآيات ٢١٩ – ٢٤٢</a:t>
            </a:r>
            <a:endParaRPr lang="ar-SA" sz="1100" dirty="0"/>
          </a:p>
        </p:txBody>
      </p:sp>
      <p:sp>
        <p:nvSpPr>
          <p:cNvPr id="84" name="Shape 82"/>
          <p:cNvSpPr/>
          <p:nvPr/>
        </p:nvSpPr>
        <p:spPr>
          <a:xfrm>
            <a:off x="8839048" y="4663440"/>
            <a:ext cx="2578608" cy="749808"/>
          </a:xfrm>
          <a:prstGeom prst="roundRect">
            <a:avLst>
              <a:gd name="adj" fmla="val 12195"/>
            </a:avLst>
          </a:prstGeom>
          <a:solidFill>
            <a:schemeClr val="bg1"/>
          </a:solidFill>
          <a:ln w="9525">
            <a:solidFill>
              <a:schemeClr val="accent5"/>
            </a:solidFill>
            <a:prstDash val="solid"/>
          </a:ln>
        </p:spPr>
      </p:sp>
      <p:sp>
        <p:nvSpPr>
          <p:cNvPr id="85" name="Shape 83"/>
          <p:cNvSpPr/>
          <p:nvPr/>
        </p:nvSpPr>
        <p:spPr>
          <a:xfrm>
            <a:off x="10942168" y="4846320"/>
            <a:ext cx="384048" cy="384048"/>
          </a:xfrm>
          <a:prstGeom prst="octagon">
            <a:avLst/>
          </a:prstGeom>
          <a:solidFill>
            <a:schemeClr val="accent2"/>
          </a:solidFill>
          <a:ln w="15875">
            <a:solidFill>
              <a:schemeClr val="accent5"/>
            </a:solidFill>
            <a:prstDash val="solid"/>
          </a:ln>
        </p:spPr>
      </p:sp>
      <p:sp>
        <p:nvSpPr>
          <p:cNvPr id="86" name="Text 84"/>
          <p:cNvSpPr txBox="1"/>
          <p:nvPr/>
        </p:nvSpPr>
        <p:spPr>
          <a:xfrm>
            <a:off x="10942168" y="4846320"/>
            <a:ext cx="384048" cy="384048"/>
          </a:xfrm>
          <a:prstGeom prst="rect">
            <a:avLst/>
          </a:prstGeom>
          <a:noFill/>
          <a:ln/>
        </p:spPr>
        <p:txBody>
          <a:bodyPr wrap="square" lIns="0" tIns="0" rIns="0" bIns="0" rtlCol="0" anchor="ctr"/>
          <a:lstStyle/>
          <a:p>
            <a:pPr rtl="1" algn="ctr" indent="0" marL="0">
              <a:buNone/>
            </a:pPr>
            <a:r>
              <a:rPr lang="ar-SA" altLang="en-US" sz="1100" b="1" dirty="0">
                <a:solidFill>
                  <a:schemeClr val="bg1"/>
                </a:solidFill>
                <a:latin typeface="Arial" pitchFamily="34" charset="0"/>
                <a:ea typeface="Arial" pitchFamily="34" charset="-122"/>
                <a:cs typeface="Arial" pitchFamily="34" charset="-120"/>
              </a:rPr>
              <a:t>١٧</a:t>
            </a:r>
            <a:endParaRPr lang="ar-SA" sz="1100" dirty="0"/>
          </a:p>
        </p:txBody>
      </p:sp>
      <p:sp>
        <p:nvSpPr>
          <p:cNvPr id="87" name="Text 85"/>
          <p:cNvSpPr txBox="1"/>
          <p:nvPr/>
        </p:nvSpPr>
        <p:spPr>
          <a:xfrm>
            <a:off x="8930488" y="4727448"/>
            <a:ext cx="1938528" cy="411480"/>
          </a:xfrm>
          <a:prstGeom prst="rect">
            <a:avLst/>
          </a:prstGeom>
          <a:noFill/>
          <a:ln/>
        </p:spPr>
        <p:txBody>
          <a:bodyPr wrap="square" lIns="0" tIns="0" rIns="0" bIns="0" rtlCol="0" anchor="ctr"/>
          <a:lstStyle/>
          <a:p>
            <a:pPr rtl="1" algn="r" indent="0" marL="0">
              <a:buNone/>
            </a:pPr>
            <a:r>
              <a:rPr lang="ar-SA" altLang="en-US" sz="1300" b="1" dirty="0">
                <a:solidFill>
                  <a:schemeClr val="tx2"/>
                </a:solidFill>
              </a:rPr>
              <a:t>قصة طالوت وجالوت</a:t>
            </a:r>
            <a:endParaRPr lang="ar-SA" sz="1300" dirty="0"/>
          </a:p>
        </p:txBody>
      </p:sp>
      <p:sp>
        <p:nvSpPr>
          <p:cNvPr id="88" name="Text 86"/>
          <p:cNvSpPr txBox="1"/>
          <p:nvPr/>
        </p:nvSpPr>
        <p:spPr>
          <a:xfrm>
            <a:off x="8930488" y="5120640"/>
            <a:ext cx="1938528" cy="237744"/>
          </a:xfrm>
          <a:prstGeom prst="rect">
            <a:avLst/>
          </a:prstGeom>
          <a:noFill/>
          <a:ln/>
        </p:spPr>
        <p:txBody>
          <a:bodyPr wrap="square" lIns="0" tIns="0" rIns="0" bIns="0" rtlCol="0" anchor="t"/>
          <a:lstStyle/>
          <a:p>
            <a:pPr rtl="1" algn="r" indent="0" marL="0">
              <a:buNone/>
            </a:pPr>
            <a:r>
              <a:rPr lang="ar-SA" altLang="en-US" sz="1100" dirty="0">
                <a:solidFill>
                  <a:schemeClr val="accent2"/>
                </a:solidFill>
              </a:rPr>
              <a:t>الآيات ٢٤٣ – ٢٥٢</a:t>
            </a:r>
            <a:endParaRPr lang="ar-SA" sz="1100" dirty="0"/>
          </a:p>
        </p:txBody>
      </p:sp>
      <p:sp>
        <p:nvSpPr>
          <p:cNvPr id="89" name="Shape 87"/>
          <p:cNvSpPr/>
          <p:nvPr/>
        </p:nvSpPr>
        <p:spPr>
          <a:xfrm>
            <a:off x="6150712" y="4663440"/>
            <a:ext cx="2578608" cy="749808"/>
          </a:xfrm>
          <a:prstGeom prst="roundRect">
            <a:avLst>
              <a:gd name="adj" fmla="val 12195"/>
            </a:avLst>
          </a:prstGeom>
          <a:solidFill>
            <a:schemeClr val="accent6"/>
          </a:solidFill>
          <a:ln w="9525">
            <a:solidFill>
              <a:schemeClr val="accent5"/>
            </a:solidFill>
            <a:prstDash val="solid"/>
          </a:ln>
        </p:spPr>
      </p:sp>
      <p:sp>
        <p:nvSpPr>
          <p:cNvPr id="90" name="Shape 88"/>
          <p:cNvSpPr/>
          <p:nvPr/>
        </p:nvSpPr>
        <p:spPr>
          <a:xfrm>
            <a:off x="8253832" y="4846320"/>
            <a:ext cx="384048" cy="384048"/>
          </a:xfrm>
          <a:prstGeom prst="octagon">
            <a:avLst/>
          </a:prstGeom>
          <a:solidFill>
            <a:schemeClr val="accent2"/>
          </a:solidFill>
          <a:ln w="15875">
            <a:solidFill>
              <a:schemeClr val="accent5"/>
            </a:solidFill>
            <a:prstDash val="solid"/>
          </a:ln>
        </p:spPr>
      </p:sp>
      <p:sp>
        <p:nvSpPr>
          <p:cNvPr id="91" name="Text 89"/>
          <p:cNvSpPr txBox="1"/>
          <p:nvPr/>
        </p:nvSpPr>
        <p:spPr>
          <a:xfrm>
            <a:off x="8253832" y="4846320"/>
            <a:ext cx="384048" cy="384048"/>
          </a:xfrm>
          <a:prstGeom prst="rect">
            <a:avLst/>
          </a:prstGeom>
          <a:noFill/>
          <a:ln/>
        </p:spPr>
        <p:txBody>
          <a:bodyPr wrap="square" lIns="0" tIns="0" rIns="0" bIns="0" rtlCol="0" anchor="ctr"/>
          <a:lstStyle/>
          <a:p>
            <a:pPr rtl="1" algn="ctr" indent="0" marL="0">
              <a:buNone/>
            </a:pPr>
            <a:r>
              <a:rPr lang="ar-SA" altLang="en-US" sz="1100" b="1" dirty="0">
                <a:solidFill>
                  <a:schemeClr val="bg1"/>
                </a:solidFill>
                <a:latin typeface="Arial" pitchFamily="34" charset="0"/>
                <a:ea typeface="Arial" pitchFamily="34" charset="-122"/>
                <a:cs typeface="Arial" pitchFamily="34" charset="-120"/>
              </a:rPr>
              <a:t>١٨</a:t>
            </a:r>
            <a:endParaRPr lang="ar-SA" sz="1100" dirty="0"/>
          </a:p>
        </p:txBody>
      </p:sp>
      <p:sp>
        <p:nvSpPr>
          <p:cNvPr id="92" name="Text 90"/>
          <p:cNvSpPr txBox="1"/>
          <p:nvPr/>
        </p:nvSpPr>
        <p:spPr>
          <a:xfrm>
            <a:off x="6242152" y="4727448"/>
            <a:ext cx="1938528" cy="411480"/>
          </a:xfrm>
          <a:prstGeom prst="rect">
            <a:avLst/>
          </a:prstGeom>
          <a:noFill/>
          <a:ln/>
        </p:spPr>
        <p:txBody>
          <a:bodyPr wrap="square" lIns="0" tIns="0" rIns="0" bIns="0" rtlCol="0" anchor="ctr"/>
          <a:lstStyle/>
          <a:p>
            <a:pPr rtl="1" algn="r" indent="0" marL="0">
              <a:buNone/>
            </a:pPr>
            <a:r>
              <a:rPr lang="ar-SA" altLang="en-US" sz="1300" b="1" dirty="0">
                <a:solidFill>
                  <a:schemeClr val="tx2"/>
                </a:solidFill>
              </a:rPr>
              <a:t>آية الكرسي ولا إكراه في الدين</a:t>
            </a:r>
            <a:endParaRPr lang="ar-SA" sz="1300" dirty="0"/>
          </a:p>
        </p:txBody>
      </p:sp>
      <p:sp>
        <p:nvSpPr>
          <p:cNvPr id="93" name="Text 91"/>
          <p:cNvSpPr txBox="1"/>
          <p:nvPr/>
        </p:nvSpPr>
        <p:spPr>
          <a:xfrm>
            <a:off x="6242152" y="5120640"/>
            <a:ext cx="1938528" cy="237744"/>
          </a:xfrm>
          <a:prstGeom prst="rect">
            <a:avLst/>
          </a:prstGeom>
          <a:noFill/>
          <a:ln/>
        </p:spPr>
        <p:txBody>
          <a:bodyPr wrap="square" lIns="0" tIns="0" rIns="0" bIns="0" rtlCol="0" anchor="t"/>
          <a:lstStyle/>
          <a:p>
            <a:pPr rtl="1" algn="r" indent="0" marL="0">
              <a:buNone/>
            </a:pPr>
            <a:r>
              <a:rPr lang="ar-SA" altLang="en-US" sz="1100" dirty="0">
                <a:solidFill>
                  <a:schemeClr val="accent2"/>
                </a:solidFill>
              </a:rPr>
              <a:t>الآيات ٢٥٣ – ٢٥٧</a:t>
            </a:r>
            <a:endParaRPr lang="ar-SA" sz="1100" dirty="0"/>
          </a:p>
        </p:txBody>
      </p:sp>
      <p:sp>
        <p:nvSpPr>
          <p:cNvPr id="94" name="Shape 92"/>
          <p:cNvSpPr/>
          <p:nvPr/>
        </p:nvSpPr>
        <p:spPr>
          <a:xfrm>
            <a:off x="3462376" y="4663440"/>
            <a:ext cx="2578608" cy="749808"/>
          </a:xfrm>
          <a:prstGeom prst="roundRect">
            <a:avLst>
              <a:gd name="adj" fmla="val 12195"/>
            </a:avLst>
          </a:prstGeom>
          <a:solidFill>
            <a:schemeClr val="bg1"/>
          </a:solidFill>
          <a:ln w="9525">
            <a:solidFill>
              <a:schemeClr val="accent5"/>
            </a:solidFill>
            <a:prstDash val="solid"/>
          </a:ln>
        </p:spPr>
      </p:sp>
      <p:sp>
        <p:nvSpPr>
          <p:cNvPr id="95" name="Shape 93"/>
          <p:cNvSpPr/>
          <p:nvPr/>
        </p:nvSpPr>
        <p:spPr>
          <a:xfrm>
            <a:off x="5565496" y="4846320"/>
            <a:ext cx="384048" cy="384048"/>
          </a:xfrm>
          <a:prstGeom prst="octagon">
            <a:avLst/>
          </a:prstGeom>
          <a:solidFill>
            <a:schemeClr val="accent2"/>
          </a:solidFill>
          <a:ln w="15875">
            <a:solidFill>
              <a:schemeClr val="accent5"/>
            </a:solidFill>
            <a:prstDash val="solid"/>
          </a:ln>
        </p:spPr>
      </p:sp>
      <p:sp>
        <p:nvSpPr>
          <p:cNvPr id="96" name="Text 94"/>
          <p:cNvSpPr txBox="1"/>
          <p:nvPr/>
        </p:nvSpPr>
        <p:spPr>
          <a:xfrm>
            <a:off x="5565496" y="4846320"/>
            <a:ext cx="384048" cy="384048"/>
          </a:xfrm>
          <a:prstGeom prst="rect">
            <a:avLst/>
          </a:prstGeom>
          <a:noFill/>
          <a:ln/>
        </p:spPr>
        <p:txBody>
          <a:bodyPr wrap="square" lIns="0" tIns="0" rIns="0" bIns="0" rtlCol="0" anchor="ctr"/>
          <a:lstStyle/>
          <a:p>
            <a:pPr rtl="1" algn="ctr" indent="0" marL="0">
              <a:buNone/>
            </a:pPr>
            <a:r>
              <a:rPr lang="ar-SA" altLang="en-US" sz="1100" b="1" dirty="0">
                <a:solidFill>
                  <a:schemeClr val="bg1"/>
                </a:solidFill>
                <a:latin typeface="Arial" pitchFamily="34" charset="0"/>
                <a:ea typeface="Arial" pitchFamily="34" charset="-122"/>
                <a:cs typeface="Arial" pitchFamily="34" charset="-120"/>
              </a:rPr>
              <a:t>١٩</a:t>
            </a:r>
            <a:endParaRPr lang="ar-SA" sz="1100" dirty="0"/>
          </a:p>
        </p:txBody>
      </p:sp>
      <p:sp>
        <p:nvSpPr>
          <p:cNvPr id="97" name="Text 95"/>
          <p:cNvSpPr txBox="1"/>
          <p:nvPr/>
        </p:nvSpPr>
        <p:spPr>
          <a:xfrm>
            <a:off x="3553816" y="4727448"/>
            <a:ext cx="1938528" cy="411480"/>
          </a:xfrm>
          <a:prstGeom prst="rect">
            <a:avLst/>
          </a:prstGeom>
          <a:noFill/>
          <a:ln/>
        </p:spPr>
        <p:txBody>
          <a:bodyPr wrap="square" lIns="0" tIns="0" rIns="0" bIns="0" rtlCol="0" anchor="ctr"/>
          <a:lstStyle/>
          <a:p>
            <a:pPr rtl="1" algn="r" indent="0" marL="0">
              <a:buNone/>
            </a:pPr>
            <a:r>
              <a:rPr lang="ar-SA" altLang="en-US" sz="1300" b="1" dirty="0">
                <a:solidFill>
                  <a:schemeClr val="tx2"/>
                </a:solidFill>
              </a:rPr>
              <a:t>دلائل قدرة الله على الإحياء</a:t>
            </a:r>
            <a:endParaRPr lang="ar-SA" sz="1300" dirty="0"/>
          </a:p>
        </p:txBody>
      </p:sp>
      <p:sp>
        <p:nvSpPr>
          <p:cNvPr id="98" name="Text 96"/>
          <p:cNvSpPr txBox="1"/>
          <p:nvPr/>
        </p:nvSpPr>
        <p:spPr>
          <a:xfrm>
            <a:off x="3553816" y="5120640"/>
            <a:ext cx="1938528" cy="237744"/>
          </a:xfrm>
          <a:prstGeom prst="rect">
            <a:avLst/>
          </a:prstGeom>
          <a:noFill/>
          <a:ln/>
        </p:spPr>
        <p:txBody>
          <a:bodyPr wrap="square" lIns="0" tIns="0" rIns="0" bIns="0" rtlCol="0" anchor="t"/>
          <a:lstStyle/>
          <a:p>
            <a:pPr rtl="1" algn="r" indent="0" marL="0">
              <a:buNone/>
            </a:pPr>
            <a:r>
              <a:rPr lang="ar-SA" altLang="en-US" sz="1100" dirty="0">
                <a:solidFill>
                  <a:schemeClr val="accent2"/>
                </a:solidFill>
              </a:rPr>
              <a:t>الآيات ٢٥٨ – ٢٦٠</a:t>
            </a:r>
            <a:endParaRPr lang="ar-SA" sz="1100" dirty="0"/>
          </a:p>
        </p:txBody>
      </p:sp>
      <p:sp>
        <p:nvSpPr>
          <p:cNvPr id="99" name="Shape 97"/>
          <p:cNvSpPr/>
          <p:nvPr/>
        </p:nvSpPr>
        <p:spPr>
          <a:xfrm>
            <a:off x="774040" y="4663440"/>
            <a:ext cx="2578608" cy="749808"/>
          </a:xfrm>
          <a:prstGeom prst="roundRect">
            <a:avLst>
              <a:gd name="adj" fmla="val 12195"/>
            </a:avLst>
          </a:prstGeom>
          <a:solidFill>
            <a:schemeClr val="accent6"/>
          </a:solidFill>
          <a:ln w="9525">
            <a:solidFill>
              <a:schemeClr val="accent5"/>
            </a:solidFill>
            <a:prstDash val="solid"/>
          </a:ln>
        </p:spPr>
      </p:sp>
      <p:sp>
        <p:nvSpPr>
          <p:cNvPr id="100" name="Shape 98"/>
          <p:cNvSpPr/>
          <p:nvPr/>
        </p:nvSpPr>
        <p:spPr>
          <a:xfrm>
            <a:off x="2877160" y="4846320"/>
            <a:ext cx="384048" cy="384048"/>
          </a:xfrm>
          <a:prstGeom prst="octagon">
            <a:avLst/>
          </a:prstGeom>
          <a:solidFill>
            <a:schemeClr val="accent2"/>
          </a:solidFill>
          <a:ln w="15875">
            <a:solidFill>
              <a:schemeClr val="accent5"/>
            </a:solidFill>
            <a:prstDash val="solid"/>
          </a:ln>
        </p:spPr>
      </p:sp>
      <p:sp>
        <p:nvSpPr>
          <p:cNvPr id="101" name="Text 99"/>
          <p:cNvSpPr txBox="1"/>
          <p:nvPr/>
        </p:nvSpPr>
        <p:spPr>
          <a:xfrm>
            <a:off x="2877160" y="4846320"/>
            <a:ext cx="384048" cy="384048"/>
          </a:xfrm>
          <a:prstGeom prst="rect">
            <a:avLst/>
          </a:prstGeom>
          <a:noFill/>
          <a:ln/>
        </p:spPr>
        <p:txBody>
          <a:bodyPr wrap="square" lIns="0" tIns="0" rIns="0" bIns="0" rtlCol="0" anchor="ctr"/>
          <a:lstStyle/>
          <a:p>
            <a:pPr rtl="1" algn="ctr" indent="0" marL="0">
              <a:buNone/>
            </a:pPr>
            <a:r>
              <a:rPr lang="ar-SA" altLang="en-US" sz="1100" b="1" dirty="0">
                <a:solidFill>
                  <a:schemeClr val="bg1"/>
                </a:solidFill>
                <a:latin typeface="Arial" pitchFamily="34" charset="0"/>
                <a:ea typeface="Arial" pitchFamily="34" charset="-122"/>
                <a:cs typeface="Arial" pitchFamily="34" charset="-120"/>
              </a:rPr>
              <a:t>٢٠</a:t>
            </a:r>
            <a:endParaRPr lang="ar-SA" sz="1100" dirty="0"/>
          </a:p>
        </p:txBody>
      </p:sp>
      <p:sp>
        <p:nvSpPr>
          <p:cNvPr id="102" name="Text 100"/>
          <p:cNvSpPr txBox="1"/>
          <p:nvPr/>
        </p:nvSpPr>
        <p:spPr>
          <a:xfrm>
            <a:off x="865480" y="4727448"/>
            <a:ext cx="1938528" cy="411480"/>
          </a:xfrm>
          <a:prstGeom prst="rect">
            <a:avLst/>
          </a:prstGeom>
          <a:noFill/>
          <a:ln/>
        </p:spPr>
        <p:txBody>
          <a:bodyPr wrap="square" lIns="0" tIns="0" rIns="0" bIns="0" rtlCol="0" anchor="ctr"/>
          <a:lstStyle/>
          <a:p>
            <a:pPr rtl="1" algn="r" indent="0" marL="0">
              <a:buNone/>
            </a:pPr>
            <a:r>
              <a:rPr lang="ar-SA" altLang="en-US" sz="1300" b="1" dirty="0">
                <a:solidFill>
                  <a:schemeClr val="tx2"/>
                </a:solidFill>
              </a:rPr>
              <a:t>فضل الإنفاق وآدابه</a:t>
            </a:r>
            <a:endParaRPr lang="ar-SA" sz="1300" dirty="0"/>
          </a:p>
        </p:txBody>
      </p:sp>
      <p:sp>
        <p:nvSpPr>
          <p:cNvPr id="103" name="Text 101"/>
          <p:cNvSpPr txBox="1"/>
          <p:nvPr/>
        </p:nvSpPr>
        <p:spPr>
          <a:xfrm>
            <a:off x="865480" y="5120640"/>
            <a:ext cx="1938528" cy="237744"/>
          </a:xfrm>
          <a:prstGeom prst="rect">
            <a:avLst/>
          </a:prstGeom>
          <a:noFill/>
          <a:ln/>
        </p:spPr>
        <p:txBody>
          <a:bodyPr wrap="square" lIns="0" tIns="0" rIns="0" bIns="0" rtlCol="0" anchor="t"/>
          <a:lstStyle/>
          <a:p>
            <a:pPr rtl="1" algn="r" indent="0" marL="0">
              <a:buNone/>
            </a:pPr>
            <a:r>
              <a:rPr lang="ar-SA" altLang="en-US" sz="1100" dirty="0">
                <a:solidFill>
                  <a:schemeClr val="accent2"/>
                </a:solidFill>
              </a:rPr>
              <a:t>الآيات ٢٦١ – ٢٧٤</a:t>
            </a:r>
            <a:endParaRPr lang="ar-SA" sz="1100" dirty="0"/>
          </a:p>
        </p:txBody>
      </p:sp>
      <p:sp>
        <p:nvSpPr>
          <p:cNvPr id="104" name="Shape 102"/>
          <p:cNvSpPr/>
          <p:nvPr/>
        </p:nvSpPr>
        <p:spPr>
          <a:xfrm>
            <a:off x="8839048" y="5504688"/>
            <a:ext cx="2578608" cy="749808"/>
          </a:xfrm>
          <a:prstGeom prst="roundRect">
            <a:avLst>
              <a:gd name="adj" fmla="val 12195"/>
            </a:avLst>
          </a:prstGeom>
          <a:solidFill>
            <a:schemeClr val="bg1"/>
          </a:solidFill>
          <a:ln w="9525">
            <a:solidFill>
              <a:schemeClr val="accent5"/>
            </a:solidFill>
            <a:prstDash val="solid"/>
          </a:ln>
        </p:spPr>
      </p:sp>
      <p:sp>
        <p:nvSpPr>
          <p:cNvPr id="105" name="Shape 103"/>
          <p:cNvSpPr/>
          <p:nvPr/>
        </p:nvSpPr>
        <p:spPr>
          <a:xfrm>
            <a:off x="10942168" y="5687568"/>
            <a:ext cx="384048" cy="384048"/>
          </a:xfrm>
          <a:prstGeom prst="octagon">
            <a:avLst/>
          </a:prstGeom>
          <a:solidFill>
            <a:schemeClr val="accent2"/>
          </a:solidFill>
          <a:ln w="15875">
            <a:solidFill>
              <a:schemeClr val="accent5"/>
            </a:solidFill>
            <a:prstDash val="solid"/>
          </a:ln>
        </p:spPr>
      </p:sp>
      <p:sp>
        <p:nvSpPr>
          <p:cNvPr id="106" name="Text 104"/>
          <p:cNvSpPr txBox="1"/>
          <p:nvPr/>
        </p:nvSpPr>
        <p:spPr>
          <a:xfrm>
            <a:off x="10942168" y="5687568"/>
            <a:ext cx="384048" cy="384048"/>
          </a:xfrm>
          <a:prstGeom prst="rect">
            <a:avLst/>
          </a:prstGeom>
          <a:noFill/>
          <a:ln/>
        </p:spPr>
        <p:txBody>
          <a:bodyPr wrap="square" lIns="0" tIns="0" rIns="0" bIns="0" rtlCol="0" anchor="ctr"/>
          <a:lstStyle/>
          <a:p>
            <a:pPr rtl="1" algn="ctr" indent="0" marL="0">
              <a:buNone/>
            </a:pPr>
            <a:r>
              <a:rPr lang="ar-SA" altLang="en-US" sz="1100" b="1" dirty="0">
                <a:solidFill>
                  <a:schemeClr val="bg1"/>
                </a:solidFill>
                <a:latin typeface="Arial" pitchFamily="34" charset="0"/>
                <a:ea typeface="Arial" pitchFamily="34" charset="-122"/>
                <a:cs typeface="Arial" pitchFamily="34" charset="-120"/>
              </a:rPr>
              <a:t>٢١</a:t>
            </a:r>
            <a:endParaRPr lang="ar-SA" sz="1100" dirty="0"/>
          </a:p>
        </p:txBody>
      </p:sp>
      <p:sp>
        <p:nvSpPr>
          <p:cNvPr id="107" name="Text 105"/>
          <p:cNvSpPr txBox="1"/>
          <p:nvPr/>
        </p:nvSpPr>
        <p:spPr>
          <a:xfrm>
            <a:off x="8930488" y="5568696"/>
            <a:ext cx="1938528" cy="411480"/>
          </a:xfrm>
          <a:prstGeom prst="rect">
            <a:avLst/>
          </a:prstGeom>
          <a:noFill/>
          <a:ln/>
        </p:spPr>
        <p:txBody>
          <a:bodyPr wrap="square" lIns="0" tIns="0" rIns="0" bIns="0" rtlCol="0" anchor="ctr"/>
          <a:lstStyle/>
          <a:p>
            <a:pPr rtl="1" algn="r" indent="0" marL="0">
              <a:buNone/>
            </a:pPr>
            <a:r>
              <a:rPr lang="ar-SA" altLang="en-US" sz="1300" b="1" dirty="0">
                <a:solidFill>
                  <a:schemeClr val="tx2"/>
                </a:solidFill>
              </a:rPr>
              <a:t>تحريم الربا</a:t>
            </a:r>
            <a:endParaRPr lang="ar-SA" sz="1300" dirty="0"/>
          </a:p>
        </p:txBody>
      </p:sp>
      <p:sp>
        <p:nvSpPr>
          <p:cNvPr id="108" name="Text 106"/>
          <p:cNvSpPr txBox="1"/>
          <p:nvPr/>
        </p:nvSpPr>
        <p:spPr>
          <a:xfrm>
            <a:off x="8930488" y="5961888"/>
            <a:ext cx="1938528" cy="237744"/>
          </a:xfrm>
          <a:prstGeom prst="rect">
            <a:avLst/>
          </a:prstGeom>
          <a:noFill/>
          <a:ln/>
        </p:spPr>
        <p:txBody>
          <a:bodyPr wrap="square" lIns="0" tIns="0" rIns="0" bIns="0" rtlCol="0" anchor="t"/>
          <a:lstStyle/>
          <a:p>
            <a:pPr rtl="1" algn="r" indent="0" marL="0">
              <a:buNone/>
            </a:pPr>
            <a:r>
              <a:rPr lang="ar-SA" altLang="en-US" sz="1100" dirty="0">
                <a:solidFill>
                  <a:schemeClr val="accent2"/>
                </a:solidFill>
              </a:rPr>
              <a:t>الآيات ٢٧٥ – ٢٨١</a:t>
            </a:r>
            <a:endParaRPr lang="ar-SA" sz="1100" dirty="0"/>
          </a:p>
        </p:txBody>
      </p:sp>
      <p:sp>
        <p:nvSpPr>
          <p:cNvPr id="109" name="Shape 107"/>
          <p:cNvSpPr/>
          <p:nvPr/>
        </p:nvSpPr>
        <p:spPr>
          <a:xfrm>
            <a:off x="6150712" y="5504688"/>
            <a:ext cx="2578608" cy="749808"/>
          </a:xfrm>
          <a:prstGeom prst="roundRect">
            <a:avLst>
              <a:gd name="adj" fmla="val 12195"/>
            </a:avLst>
          </a:prstGeom>
          <a:solidFill>
            <a:schemeClr val="accent6"/>
          </a:solidFill>
          <a:ln w="9525">
            <a:solidFill>
              <a:schemeClr val="accent5"/>
            </a:solidFill>
            <a:prstDash val="solid"/>
          </a:ln>
        </p:spPr>
      </p:sp>
      <p:sp>
        <p:nvSpPr>
          <p:cNvPr id="110" name="Shape 108"/>
          <p:cNvSpPr/>
          <p:nvPr/>
        </p:nvSpPr>
        <p:spPr>
          <a:xfrm>
            <a:off x="8253832" y="5687568"/>
            <a:ext cx="384048" cy="384048"/>
          </a:xfrm>
          <a:prstGeom prst="octagon">
            <a:avLst/>
          </a:prstGeom>
          <a:solidFill>
            <a:schemeClr val="accent2"/>
          </a:solidFill>
          <a:ln w="15875">
            <a:solidFill>
              <a:schemeClr val="accent5"/>
            </a:solidFill>
            <a:prstDash val="solid"/>
          </a:ln>
        </p:spPr>
      </p:sp>
      <p:sp>
        <p:nvSpPr>
          <p:cNvPr id="111" name="Text 109"/>
          <p:cNvSpPr txBox="1"/>
          <p:nvPr/>
        </p:nvSpPr>
        <p:spPr>
          <a:xfrm>
            <a:off x="8253832" y="5687568"/>
            <a:ext cx="384048" cy="384048"/>
          </a:xfrm>
          <a:prstGeom prst="rect">
            <a:avLst/>
          </a:prstGeom>
          <a:noFill/>
          <a:ln/>
        </p:spPr>
        <p:txBody>
          <a:bodyPr wrap="square" lIns="0" tIns="0" rIns="0" bIns="0" rtlCol="0" anchor="ctr"/>
          <a:lstStyle/>
          <a:p>
            <a:pPr rtl="1" algn="ctr" indent="0" marL="0">
              <a:buNone/>
            </a:pPr>
            <a:r>
              <a:rPr lang="ar-SA" altLang="en-US" sz="1100" b="1" dirty="0">
                <a:solidFill>
                  <a:schemeClr val="bg1"/>
                </a:solidFill>
                <a:latin typeface="Arial" pitchFamily="34" charset="0"/>
                <a:ea typeface="Arial" pitchFamily="34" charset="-122"/>
                <a:cs typeface="Arial" pitchFamily="34" charset="-120"/>
              </a:rPr>
              <a:t>٢٢</a:t>
            </a:r>
            <a:endParaRPr lang="ar-SA" sz="1100" dirty="0"/>
          </a:p>
        </p:txBody>
      </p:sp>
      <p:sp>
        <p:nvSpPr>
          <p:cNvPr id="112" name="Text 110"/>
          <p:cNvSpPr txBox="1"/>
          <p:nvPr/>
        </p:nvSpPr>
        <p:spPr>
          <a:xfrm>
            <a:off x="6242152" y="5568696"/>
            <a:ext cx="1938528" cy="411480"/>
          </a:xfrm>
          <a:prstGeom prst="rect">
            <a:avLst/>
          </a:prstGeom>
          <a:noFill/>
          <a:ln/>
        </p:spPr>
        <p:txBody>
          <a:bodyPr wrap="square" lIns="0" tIns="0" rIns="0" bIns="0" rtlCol="0" anchor="ctr"/>
          <a:lstStyle/>
          <a:p>
            <a:pPr rtl="1" algn="r" indent="0" marL="0">
              <a:buNone/>
            </a:pPr>
            <a:r>
              <a:rPr lang="ar-SA" altLang="en-US" sz="1300" b="1" dirty="0">
                <a:solidFill>
                  <a:schemeClr val="tx2"/>
                </a:solidFill>
              </a:rPr>
              <a:t>آية الدَّين</a:t>
            </a:r>
            <a:endParaRPr lang="ar-SA" sz="1300" dirty="0"/>
          </a:p>
        </p:txBody>
      </p:sp>
      <p:sp>
        <p:nvSpPr>
          <p:cNvPr id="113" name="Text 111"/>
          <p:cNvSpPr txBox="1"/>
          <p:nvPr/>
        </p:nvSpPr>
        <p:spPr>
          <a:xfrm>
            <a:off x="6242152" y="5961888"/>
            <a:ext cx="1938528" cy="237744"/>
          </a:xfrm>
          <a:prstGeom prst="rect">
            <a:avLst/>
          </a:prstGeom>
          <a:noFill/>
          <a:ln/>
        </p:spPr>
        <p:txBody>
          <a:bodyPr wrap="square" lIns="0" tIns="0" rIns="0" bIns="0" rtlCol="0" anchor="t"/>
          <a:lstStyle/>
          <a:p>
            <a:pPr rtl="1" algn="r" indent="0" marL="0">
              <a:buNone/>
            </a:pPr>
            <a:r>
              <a:rPr lang="ar-SA" altLang="en-US" sz="1100" dirty="0">
                <a:solidFill>
                  <a:schemeClr val="accent2"/>
                </a:solidFill>
              </a:rPr>
              <a:t>الآيات ٢٨٢ – ٢٨٣</a:t>
            </a:r>
            <a:endParaRPr lang="ar-SA" sz="1100" dirty="0"/>
          </a:p>
        </p:txBody>
      </p:sp>
      <p:sp>
        <p:nvSpPr>
          <p:cNvPr id="114" name="Shape 112"/>
          <p:cNvSpPr/>
          <p:nvPr/>
        </p:nvSpPr>
        <p:spPr>
          <a:xfrm>
            <a:off x="3462376" y="5504688"/>
            <a:ext cx="2578608" cy="749808"/>
          </a:xfrm>
          <a:prstGeom prst="roundRect">
            <a:avLst>
              <a:gd name="adj" fmla="val 12195"/>
            </a:avLst>
          </a:prstGeom>
          <a:solidFill>
            <a:schemeClr val="bg1"/>
          </a:solidFill>
          <a:ln w="9525">
            <a:solidFill>
              <a:schemeClr val="accent5"/>
            </a:solidFill>
            <a:prstDash val="solid"/>
          </a:ln>
        </p:spPr>
      </p:sp>
      <p:sp>
        <p:nvSpPr>
          <p:cNvPr id="115" name="Shape 113"/>
          <p:cNvSpPr/>
          <p:nvPr/>
        </p:nvSpPr>
        <p:spPr>
          <a:xfrm>
            <a:off x="5565496" y="5687568"/>
            <a:ext cx="384048" cy="384048"/>
          </a:xfrm>
          <a:prstGeom prst="octagon">
            <a:avLst/>
          </a:prstGeom>
          <a:solidFill>
            <a:schemeClr val="accent2"/>
          </a:solidFill>
          <a:ln w="15875">
            <a:solidFill>
              <a:schemeClr val="accent5"/>
            </a:solidFill>
            <a:prstDash val="solid"/>
          </a:ln>
        </p:spPr>
      </p:sp>
      <p:sp>
        <p:nvSpPr>
          <p:cNvPr id="116" name="Text 114"/>
          <p:cNvSpPr txBox="1"/>
          <p:nvPr/>
        </p:nvSpPr>
        <p:spPr>
          <a:xfrm>
            <a:off x="5565496" y="5687568"/>
            <a:ext cx="384048" cy="384048"/>
          </a:xfrm>
          <a:prstGeom prst="rect">
            <a:avLst/>
          </a:prstGeom>
          <a:noFill/>
          <a:ln/>
        </p:spPr>
        <p:txBody>
          <a:bodyPr wrap="square" lIns="0" tIns="0" rIns="0" bIns="0" rtlCol="0" anchor="ctr"/>
          <a:lstStyle/>
          <a:p>
            <a:pPr rtl="1" algn="ctr" indent="0" marL="0">
              <a:buNone/>
            </a:pPr>
            <a:r>
              <a:rPr lang="ar-SA" altLang="en-US" sz="1100" b="1" dirty="0">
                <a:solidFill>
                  <a:schemeClr val="bg1"/>
                </a:solidFill>
                <a:latin typeface="Arial" pitchFamily="34" charset="0"/>
                <a:ea typeface="Arial" pitchFamily="34" charset="-122"/>
                <a:cs typeface="Arial" pitchFamily="34" charset="-120"/>
              </a:rPr>
              <a:t>٢٣</a:t>
            </a:r>
            <a:endParaRPr lang="ar-SA" sz="1100" dirty="0"/>
          </a:p>
        </p:txBody>
      </p:sp>
      <p:sp>
        <p:nvSpPr>
          <p:cNvPr id="117" name="Text 115"/>
          <p:cNvSpPr txBox="1"/>
          <p:nvPr/>
        </p:nvSpPr>
        <p:spPr>
          <a:xfrm>
            <a:off x="3553816" y="5568696"/>
            <a:ext cx="1938528" cy="411480"/>
          </a:xfrm>
          <a:prstGeom prst="rect">
            <a:avLst/>
          </a:prstGeom>
          <a:noFill/>
          <a:ln/>
        </p:spPr>
        <p:txBody>
          <a:bodyPr wrap="square" lIns="0" tIns="0" rIns="0" bIns="0" rtlCol="0" anchor="ctr"/>
          <a:lstStyle/>
          <a:p>
            <a:pPr rtl="1" algn="r" indent="0" marL="0">
              <a:buNone/>
            </a:pPr>
            <a:r>
              <a:rPr lang="ar-SA" altLang="en-US" sz="1300" b="1" dirty="0">
                <a:solidFill>
                  <a:schemeClr val="tx2"/>
                </a:solidFill>
              </a:rPr>
              <a:t>خواتيم سورة البقرة</a:t>
            </a:r>
            <a:endParaRPr lang="ar-SA" sz="1300" dirty="0"/>
          </a:p>
        </p:txBody>
      </p:sp>
      <p:sp>
        <p:nvSpPr>
          <p:cNvPr id="118" name="Text 116"/>
          <p:cNvSpPr txBox="1"/>
          <p:nvPr/>
        </p:nvSpPr>
        <p:spPr>
          <a:xfrm>
            <a:off x="3553816" y="5961888"/>
            <a:ext cx="1938528" cy="237744"/>
          </a:xfrm>
          <a:prstGeom prst="rect">
            <a:avLst/>
          </a:prstGeom>
          <a:noFill/>
          <a:ln/>
        </p:spPr>
        <p:txBody>
          <a:bodyPr wrap="square" lIns="0" tIns="0" rIns="0" bIns="0" rtlCol="0" anchor="t"/>
          <a:lstStyle/>
          <a:p>
            <a:pPr rtl="1" algn="r" indent="0" marL="0">
              <a:buNone/>
            </a:pPr>
            <a:r>
              <a:rPr lang="ar-SA" altLang="en-US" sz="1100" dirty="0">
                <a:solidFill>
                  <a:schemeClr val="accent2"/>
                </a:solidFill>
              </a:rPr>
              <a:t>الآيات ٢٨٤ – ٢٨٦</a:t>
            </a:r>
            <a:endParaRPr lang="ar-SA" sz="11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223760" y="1143000"/>
            <a:ext cx="4114800" cy="411480"/>
          </a:xfrm>
          <a:prstGeom prst="rect">
            <a:avLst/>
          </a:prstGeom>
          <a:noFill/>
          <a:ln/>
        </p:spPr>
        <p:txBody>
          <a:bodyPr wrap="square" lIns="0" tIns="0" rIns="0" bIns="0" rtlCol="0" anchor="t"/>
          <a:lstStyle/>
          <a:p>
            <a:pPr rtl="1" algn="ctr" indent="0" marL="0">
              <a:buNone/>
            </a:pPr>
            <a:r>
              <a:rPr lang="ar-SA" altLang="en-US" sz="1800" b="1" dirty="0">
                <a:solidFill>
                  <a:schemeClr val="accent5"/>
                </a:solidFill>
              </a:rPr>
              <a:t>المقطع</a:t>
            </a:r>
            <a:endParaRPr lang="ar-SA" sz="1800" dirty="0"/>
          </a:p>
        </p:txBody>
      </p:sp>
      <p:sp>
        <p:nvSpPr>
          <p:cNvPr id="3" name="Shape 1"/>
          <p:cNvSpPr/>
          <p:nvPr/>
        </p:nvSpPr>
        <p:spPr>
          <a:xfrm>
            <a:off x="8915400" y="1645920"/>
            <a:ext cx="731520" cy="731520"/>
          </a:xfrm>
          <a:prstGeom prst="octagon">
            <a:avLst/>
          </a:prstGeom>
          <a:solidFill>
            <a:schemeClr val="accent2"/>
          </a:solidFill>
          <a:ln w="15875">
            <a:solidFill>
              <a:schemeClr val="accent5"/>
            </a:solidFill>
            <a:prstDash val="solid"/>
          </a:ln>
        </p:spPr>
      </p:sp>
      <p:sp>
        <p:nvSpPr>
          <p:cNvPr id="4" name="Text 2"/>
          <p:cNvSpPr txBox="1"/>
          <p:nvPr/>
        </p:nvSpPr>
        <p:spPr>
          <a:xfrm>
            <a:off x="8915400" y="164592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bg1"/>
                </a:solidFill>
                <a:latin typeface="Arial" pitchFamily="34" charset="0"/>
                <a:ea typeface="Arial" pitchFamily="34" charset="-122"/>
                <a:cs typeface="Arial" pitchFamily="34" charset="-120"/>
              </a:rPr>
              <a:t>١</a:t>
            </a:r>
            <a:endParaRPr lang="ar-SA" sz="1800" dirty="0"/>
          </a:p>
        </p:txBody>
      </p:sp>
      <p:sp>
        <p:nvSpPr>
          <p:cNvPr id="5" name="Text 3"/>
          <p:cNvSpPr txBox="1"/>
          <p:nvPr/>
        </p:nvSpPr>
        <p:spPr>
          <a:xfrm>
            <a:off x="7269480" y="2606040"/>
            <a:ext cx="4023360" cy="1737360"/>
          </a:xfrm>
          <a:prstGeom prst="rect">
            <a:avLst/>
          </a:prstGeom>
          <a:noFill/>
          <a:ln/>
        </p:spPr>
        <p:txBody>
          <a:bodyPr wrap="square" lIns="0" tIns="0" rIns="0" bIns="0" rtlCol="0" anchor="ctr"/>
          <a:lstStyle/>
          <a:p>
            <a:pPr rtl="1" algn="ctr" indent="0" marL="0">
              <a:buNone/>
            </a:pPr>
            <a:r>
              <a:rPr lang="ar-SA" altLang="en-US" sz="3800" b="1" dirty="0">
                <a:solidFill>
                  <a:schemeClr val="bg1"/>
                </a:solidFill>
                <a:latin typeface="Sakkal Majalla" pitchFamily="34" charset="0"/>
                <a:ea typeface="Sakkal Majalla" pitchFamily="34" charset="-122"/>
                <a:cs typeface="Sakkal Majalla" pitchFamily="34" charset="-120"/>
              </a:rPr>
              <a:t>صفات المؤمنين المتقين</a:t>
            </a:r>
            <a:endParaRPr lang="ar-SA" sz="3800" dirty="0"/>
          </a:p>
        </p:txBody>
      </p:sp>
      <p:sp>
        <p:nvSpPr>
          <p:cNvPr id="6" name="Text 4"/>
          <p:cNvSpPr txBox="1"/>
          <p:nvPr/>
        </p:nvSpPr>
        <p:spPr>
          <a:xfrm>
            <a:off x="7269480" y="4526280"/>
            <a:ext cx="4023360" cy="457200"/>
          </a:xfrm>
          <a:prstGeom prst="rect">
            <a:avLst/>
          </a:prstGeom>
          <a:noFill/>
          <a:ln/>
        </p:spPr>
        <p:txBody>
          <a:bodyPr wrap="square" lIns="0" tIns="0" rIns="0" bIns="0" rtlCol="0" anchor="t"/>
          <a:lstStyle/>
          <a:p>
            <a:pPr rtl="1" algn="ctr" indent="0" marL="0">
              <a:buNone/>
            </a:pPr>
            <a:r>
              <a:rPr lang="ar-SA" altLang="en-US" sz="2000" b="1" dirty="0">
                <a:solidFill>
                  <a:schemeClr val="accent5"/>
                </a:solidFill>
              </a:rPr>
              <a:t>الآيات ١ – ٥</a:t>
            </a:r>
            <a:endParaRPr lang="ar-SA" sz="2000" dirty="0"/>
          </a:p>
        </p:txBody>
      </p:sp>
      <p:sp>
        <p:nvSpPr>
          <p:cNvPr id="7" name="Shape 5"/>
          <p:cNvSpPr/>
          <p:nvPr/>
        </p:nvSpPr>
        <p:spPr>
          <a:xfrm>
            <a:off x="685800" y="1783080"/>
            <a:ext cx="5806440" cy="3291840"/>
          </a:xfrm>
          <a:prstGeom prst="roundRect">
            <a:avLst>
              <a:gd name="adj" fmla="val 3333"/>
            </a:avLst>
          </a:prstGeom>
          <a:solidFill>
            <a:schemeClr val="bg2"/>
          </a:solidFill>
          <a:ln w="19050">
            <a:solidFill>
              <a:schemeClr val="accent5"/>
            </a:solidFill>
            <a:prstDash val="solid"/>
          </a:ln>
        </p:spPr>
      </p:sp>
      <p:sp>
        <p:nvSpPr>
          <p:cNvPr id="8" name="Shape 6"/>
          <p:cNvSpPr/>
          <p:nvPr/>
        </p:nvSpPr>
        <p:spPr>
          <a:xfrm>
            <a:off x="4343400" y="2011680"/>
            <a:ext cx="1920240" cy="420624"/>
          </a:xfrm>
          <a:prstGeom prst="roundRect">
            <a:avLst>
              <a:gd name="adj" fmla="val 50000"/>
            </a:avLst>
          </a:prstGeom>
          <a:solidFill>
            <a:schemeClr val="tx2"/>
          </a:solidFill>
          <a:ln/>
        </p:spPr>
      </p:sp>
      <p:sp>
        <p:nvSpPr>
          <p:cNvPr id="9" name="Text 7"/>
          <p:cNvSpPr txBox="1"/>
          <p:nvPr/>
        </p:nvSpPr>
        <p:spPr>
          <a:xfrm>
            <a:off x="4343400" y="201168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مقصد المقطع</a:t>
            </a:r>
            <a:endParaRPr lang="ar-SA" sz="1600" dirty="0"/>
          </a:p>
        </p:txBody>
      </p:sp>
      <p:sp>
        <p:nvSpPr>
          <p:cNvPr id="10" name="Text 8"/>
          <p:cNvSpPr txBox="1"/>
          <p:nvPr/>
        </p:nvSpPr>
        <p:spPr>
          <a:xfrm>
            <a:off x="960120" y="2560320"/>
            <a:ext cx="5257800" cy="23317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بيان أن القرآن هداية للمتقين، وذكر صفاتهم: الإيمان بالغيب، وإقامة الصلاة، والإنفاق، والإيمان بالكتب واليقين بالآخرة.</a:t>
            </a:r>
            <a:endParaRPr lang="ar-SA"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صفات المؤمنين المتقين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 – ٢</a:t>
            </a:r>
            <a:endParaRPr lang="ar-SA" sz="1400" dirty="0"/>
          </a:p>
        </p:txBody>
      </p:sp>
      <p:sp>
        <p:nvSpPr>
          <p:cNvPr id="6" name="Shape 4"/>
          <p:cNvSpPr/>
          <p:nvPr/>
        </p:nvSpPr>
        <p:spPr>
          <a:xfrm>
            <a:off x="731520" y="2150440"/>
            <a:ext cx="10728655" cy="1709014"/>
          </a:xfrm>
          <a:prstGeom prst="roundRect">
            <a:avLst>
              <a:gd name="adj" fmla="val 5350"/>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27845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278456"/>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١</a:t>
            </a:r>
            <a:endParaRPr lang="ar-SA" sz="1400" dirty="0"/>
          </a:p>
        </p:txBody>
      </p:sp>
      <p:sp>
        <p:nvSpPr>
          <p:cNvPr id="9" name="Text 7"/>
          <p:cNvSpPr txBox="1"/>
          <p:nvPr/>
        </p:nvSpPr>
        <p:spPr>
          <a:xfrm>
            <a:off x="914400" y="2278456"/>
            <a:ext cx="9677095" cy="145298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الم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«الم» حروف مقطّعة افتُتحت بها بعض السور، والله أعلم بمرادها، وفيها إشارة إلى إعجاز القرآن المؤلَّف من هذه الحروف.</a:t>
            </a:r>
            <a:endParaRPr lang="ar-SA" sz="2800" dirty="0"/>
          </a:p>
        </p:txBody>
      </p:sp>
      <p:sp>
        <p:nvSpPr>
          <p:cNvPr id="10" name="Shape 8"/>
          <p:cNvSpPr/>
          <p:nvPr/>
        </p:nvSpPr>
        <p:spPr>
          <a:xfrm>
            <a:off x="731520" y="3987470"/>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115486"/>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115486"/>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٢</a:t>
            </a:r>
            <a:endParaRPr lang="ar-SA" sz="1400" dirty="0"/>
          </a:p>
        </p:txBody>
      </p:sp>
      <p:sp>
        <p:nvSpPr>
          <p:cNvPr id="13" name="Text 11"/>
          <p:cNvSpPr txBox="1"/>
          <p:nvPr/>
        </p:nvSpPr>
        <p:spPr>
          <a:xfrm>
            <a:off x="914400" y="4115486"/>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ذَٰلِكَ الْكِتَٰبُ لَا رَيْبَ فِيهِ هُدًى لِّلْمُتَّقِينَ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هذا القرآن لا شك أنه من عند الله، وهو هداية للمتقين.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صفات المؤمنين المتقين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٣ – ٥</a:t>
            </a:r>
            <a:endParaRPr lang="ar-SA" sz="1400" dirty="0"/>
          </a:p>
        </p:txBody>
      </p:sp>
      <p:sp>
        <p:nvSpPr>
          <p:cNvPr id="6" name="Shape 4"/>
          <p:cNvSpPr/>
          <p:nvPr/>
        </p:nvSpPr>
        <p:spPr>
          <a:xfrm>
            <a:off x="731520" y="1535049"/>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663065"/>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663065"/>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٣</a:t>
            </a:r>
            <a:endParaRPr lang="ar-SA" sz="1400" dirty="0"/>
          </a:p>
        </p:txBody>
      </p:sp>
      <p:sp>
        <p:nvSpPr>
          <p:cNvPr id="9" name="Text 7"/>
          <p:cNvSpPr txBox="1"/>
          <p:nvPr/>
        </p:nvSpPr>
        <p:spPr>
          <a:xfrm>
            <a:off x="914400" y="1663065"/>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الَّذِينَ يُؤْمِنُونَ بِالْغَيْبِ وَيُقِيمُونَ الصَّلَوٰةَ وَمِمَّا رَزَقْنَٰهُمْ يُنفِقُونَ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الذين يصدّقون بما غاب عنهم مما أخبر الله به، ويؤدّون الصلاة كاملة، وينفقون مما رزقهم الله.</a:t>
            </a:r>
            <a:endParaRPr lang="ar-SA" sz="2800" dirty="0"/>
          </a:p>
        </p:txBody>
      </p:sp>
      <p:sp>
        <p:nvSpPr>
          <p:cNvPr id="10" name="Shape 8"/>
          <p:cNvSpPr/>
          <p:nvPr/>
        </p:nvSpPr>
        <p:spPr>
          <a:xfrm>
            <a:off x="731520" y="306895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19697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196971"/>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٤</a:t>
            </a:r>
            <a:endParaRPr lang="ar-SA" sz="1400" dirty="0"/>
          </a:p>
        </p:txBody>
      </p:sp>
      <p:sp>
        <p:nvSpPr>
          <p:cNvPr id="13" name="Text 11"/>
          <p:cNvSpPr txBox="1"/>
          <p:nvPr/>
        </p:nvSpPr>
        <p:spPr>
          <a:xfrm>
            <a:off x="914400" y="319697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وَالَّذِينَ يُؤْمِنُونَ بِمَآ أُنزِلَ إِلَيْكَ وَمَآ أُنزِلَ مِن قَبْلِكَ وَبِالْأخِرَةِ هُمْ يُوقِنُونَ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والذين يؤمنون بالقرآن وبالكتب السابقة، ويوقنون بالآخرة يقينًا لا شك فيه.</a:t>
            </a:r>
            <a:endParaRPr lang="ar-SA" sz="2800" dirty="0"/>
          </a:p>
        </p:txBody>
      </p:sp>
      <p:sp>
        <p:nvSpPr>
          <p:cNvPr id="14" name="Shape 12"/>
          <p:cNvSpPr/>
          <p:nvPr/>
        </p:nvSpPr>
        <p:spPr>
          <a:xfrm>
            <a:off x="731520" y="4602861"/>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5" name="Shape 13"/>
          <p:cNvSpPr/>
          <p:nvPr/>
        </p:nvSpPr>
        <p:spPr>
          <a:xfrm>
            <a:off x="10874959" y="4730877"/>
            <a:ext cx="475488" cy="475488"/>
          </a:xfrm>
          <a:prstGeom prst="octagon">
            <a:avLst/>
          </a:prstGeom>
          <a:solidFill>
            <a:schemeClr val="accent2"/>
          </a:solidFill>
          <a:ln w="15875">
            <a:solidFill>
              <a:schemeClr val="accent5"/>
            </a:solidFill>
            <a:prstDash val="solid"/>
          </a:ln>
        </p:spPr>
      </p:sp>
      <p:sp>
        <p:nvSpPr>
          <p:cNvPr id="16" name="Text 14"/>
          <p:cNvSpPr txBox="1"/>
          <p:nvPr/>
        </p:nvSpPr>
        <p:spPr>
          <a:xfrm>
            <a:off x="10874959" y="4730877"/>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٥</a:t>
            </a:r>
            <a:endParaRPr lang="ar-SA" sz="1400" dirty="0"/>
          </a:p>
        </p:txBody>
      </p:sp>
      <p:sp>
        <p:nvSpPr>
          <p:cNvPr id="17" name="Text 15"/>
          <p:cNvSpPr txBox="1"/>
          <p:nvPr/>
        </p:nvSpPr>
        <p:spPr>
          <a:xfrm>
            <a:off x="914400" y="4730877"/>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أُوْلَـٰئِكَ عَلَىٰ هُدًى مِّن رَّبِّهِمْ وَأُوْلَـٰئِكَ هُمُ الْمُفْلِحُونَ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أولئك على نور وهداية من ربهم، وأولئك هم الفائزون.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223760" y="1143000"/>
            <a:ext cx="4114800" cy="411480"/>
          </a:xfrm>
          <a:prstGeom prst="rect">
            <a:avLst/>
          </a:prstGeom>
          <a:noFill/>
          <a:ln/>
        </p:spPr>
        <p:txBody>
          <a:bodyPr wrap="square" lIns="0" tIns="0" rIns="0" bIns="0" rtlCol="0" anchor="t"/>
          <a:lstStyle/>
          <a:p>
            <a:pPr rtl="1" algn="ctr" indent="0" marL="0">
              <a:buNone/>
            </a:pPr>
            <a:r>
              <a:rPr lang="ar-SA" altLang="en-US" sz="1800" b="1" dirty="0">
                <a:solidFill>
                  <a:schemeClr val="accent5"/>
                </a:solidFill>
              </a:rPr>
              <a:t>المقطع</a:t>
            </a:r>
            <a:endParaRPr lang="ar-SA" sz="1800" dirty="0"/>
          </a:p>
        </p:txBody>
      </p:sp>
      <p:sp>
        <p:nvSpPr>
          <p:cNvPr id="3" name="Shape 1"/>
          <p:cNvSpPr/>
          <p:nvPr/>
        </p:nvSpPr>
        <p:spPr>
          <a:xfrm>
            <a:off x="8915400" y="1645920"/>
            <a:ext cx="731520" cy="731520"/>
          </a:xfrm>
          <a:prstGeom prst="octagon">
            <a:avLst/>
          </a:prstGeom>
          <a:solidFill>
            <a:schemeClr val="accent2"/>
          </a:solidFill>
          <a:ln w="15875">
            <a:solidFill>
              <a:schemeClr val="accent5"/>
            </a:solidFill>
            <a:prstDash val="solid"/>
          </a:ln>
        </p:spPr>
      </p:sp>
      <p:sp>
        <p:nvSpPr>
          <p:cNvPr id="4" name="Text 2"/>
          <p:cNvSpPr txBox="1"/>
          <p:nvPr/>
        </p:nvSpPr>
        <p:spPr>
          <a:xfrm>
            <a:off x="8915400" y="164592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bg1"/>
                </a:solidFill>
                <a:latin typeface="Arial" pitchFamily="34" charset="0"/>
                <a:ea typeface="Arial" pitchFamily="34" charset="-122"/>
                <a:cs typeface="Arial" pitchFamily="34" charset="-120"/>
              </a:rPr>
              <a:t>٢</a:t>
            </a:r>
            <a:endParaRPr lang="ar-SA" sz="1800" dirty="0"/>
          </a:p>
        </p:txBody>
      </p:sp>
      <p:sp>
        <p:nvSpPr>
          <p:cNvPr id="5" name="Text 3"/>
          <p:cNvSpPr txBox="1"/>
          <p:nvPr/>
        </p:nvSpPr>
        <p:spPr>
          <a:xfrm>
            <a:off x="7269480" y="2606040"/>
            <a:ext cx="4023360" cy="1737360"/>
          </a:xfrm>
          <a:prstGeom prst="rect">
            <a:avLst/>
          </a:prstGeom>
          <a:noFill/>
          <a:ln/>
        </p:spPr>
        <p:txBody>
          <a:bodyPr wrap="square" lIns="0" tIns="0" rIns="0" bIns="0" rtlCol="0" anchor="ctr"/>
          <a:lstStyle/>
          <a:p>
            <a:pPr rtl="1" algn="ctr" indent="0" marL="0">
              <a:buNone/>
            </a:pPr>
            <a:r>
              <a:rPr lang="ar-SA" altLang="en-US" sz="3800" b="1" dirty="0">
                <a:solidFill>
                  <a:schemeClr val="bg1"/>
                </a:solidFill>
                <a:latin typeface="Sakkal Majalla" pitchFamily="34" charset="0"/>
                <a:ea typeface="Sakkal Majalla" pitchFamily="34" charset="-122"/>
                <a:cs typeface="Sakkal Majalla" pitchFamily="34" charset="-120"/>
              </a:rPr>
              <a:t>صفات الكافرين والمنافقين</a:t>
            </a:r>
            <a:endParaRPr lang="ar-SA" sz="3800" dirty="0"/>
          </a:p>
        </p:txBody>
      </p:sp>
      <p:sp>
        <p:nvSpPr>
          <p:cNvPr id="6" name="Text 4"/>
          <p:cNvSpPr txBox="1"/>
          <p:nvPr/>
        </p:nvSpPr>
        <p:spPr>
          <a:xfrm>
            <a:off x="7269480" y="4526280"/>
            <a:ext cx="4023360" cy="457200"/>
          </a:xfrm>
          <a:prstGeom prst="rect">
            <a:avLst/>
          </a:prstGeom>
          <a:noFill/>
          <a:ln/>
        </p:spPr>
        <p:txBody>
          <a:bodyPr wrap="square" lIns="0" tIns="0" rIns="0" bIns="0" rtlCol="0" anchor="t"/>
          <a:lstStyle/>
          <a:p>
            <a:pPr rtl="1" algn="ctr" indent="0" marL="0">
              <a:buNone/>
            </a:pPr>
            <a:r>
              <a:rPr lang="ar-SA" altLang="en-US" sz="2000" b="1" dirty="0">
                <a:solidFill>
                  <a:schemeClr val="accent5"/>
                </a:solidFill>
              </a:rPr>
              <a:t>الآيات ٦ – ٢٠</a:t>
            </a:r>
            <a:endParaRPr lang="ar-SA" sz="2000" dirty="0"/>
          </a:p>
        </p:txBody>
      </p:sp>
      <p:sp>
        <p:nvSpPr>
          <p:cNvPr id="7" name="Shape 5"/>
          <p:cNvSpPr/>
          <p:nvPr/>
        </p:nvSpPr>
        <p:spPr>
          <a:xfrm>
            <a:off x="685800" y="1783080"/>
            <a:ext cx="5806440" cy="3291840"/>
          </a:xfrm>
          <a:prstGeom prst="roundRect">
            <a:avLst>
              <a:gd name="adj" fmla="val 3333"/>
            </a:avLst>
          </a:prstGeom>
          <a:solidFill>
            <a:schemeClr val="bg2"/>
          </a:solidFill>
          <a:ln w="19050">
            <a:solidFill>
              <a:schemeClr val="accent5"/>
            </a:solidFill>
            <a:prstDash val="solid"/>
          </a:ln>
        </p:spPr>
      </p:sp>
      <p:sp>
        <p:nvSpPr>
          <p:cNvPr id="8" name="Shape 6"/>
          <p:cNvSpPr/>
          <p:nvPr/>
        </p:nvSpPr>
        <p:spPr>
          <a:xfrm>
            <a:off x="4343400" y="2011680"/>
            <a:ext cx="1920240" cy="420624"/>
          </a:xfrm>
          <a:prstGeom prst="roundRect">
            <a:avLst>
              <a:gd name="adj" fmla="val 50000"/>
            </a:avLst>
          </a:prstGeom>
          <a:solidFill>
            <a:schemeClr val="tx2"/>
          </a:solidFill>
          <a:ln/>
        </p:spPr>
      </p:sp>
      <p:sp>
        <p:nvSpPr>
          <p:cNvPr id="9" name="Text 7"/>
          <p:cNvSpPr txBox="1"/>
          <p:nvPr/>
        </p:nvSpPr>
        <p:spPr>
          <a:xfrm>
            <a:off x="4343400" y="201168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مقصد المقطع</a:t>
            </a:r>
            <a:endParaRPr lang="ar-SA" sz="1600" dirty="0"/>
          </a:p>
        </p:txBody>
      </p:sp>
      <p:sp>
        <p:nvSpPr>
          <p:cNvPr id="10" name="Text 8"/>
          <p:cNvSpPr txBox="1"/>
          <p:nvPr/>
        </p:nvSpPr>
        <p:spPr>
          <a:xfrm>
            <a:off x="960120" y="2560320"/>
            <a:ext cx="5257800" cy="23317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بيان حال الكافرين المعاندين، وكشف صفات المنافقين الذين يُظهرون الإيمان ويُخفون الكفر، وضرب الأمثال لهم.</a:t>
            </a:r>
            <a:endParaRPr lang="ar-SA"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صفات الكافرين والمنافقين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٦ – ٨</a:t>
            </a:r>
            <a:endParaRPr lang="ar-SA" sz="1400" dirty="0"/>
          </a:p>
        </p:txBody>
      </p:sp>
      <p:sp>
        <p:nvSpPr>
          <p:cNvPr id="6" name="Shape 4"/>
          <p:cNvSpPr/>
          <p:nvPr/>
        </p:nvSpPr>
        <p:spPr>
          <a:xfrm>
            <a:off x="731520" y="1535049"/>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663065"/>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663065"/>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٦</a:t>
            </a:r>
            <a:endParaRPr lang="ar-SA" sz="1400" dirty="0"/>
          </a:p>
        </p:txBody>
      </p:sp>
      <p:sp>
        <p:nvSpPr>
          <p:cNvPr id="9" name="Text 7"/>
          <p:cNvSpPr txBox="1"/>
          <p:nvPr/>
        </p:nvSpPr>
        <p:spPr>
          <a:xfrm>
            <a:off x="914400" y="1663065"/>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إِنَّ الَّذِينَ كَفَرُواْ سَوَآءٌ عَلَيْهِمْ ءَأَنذَرْتَهُمْ أَمْ لَمْ تُنذِرْهُمْ لَا يُؤْمِنُونَ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إن الكفار المعاندين يستوي عندهم تخويفك وعدمه، لا يؤمنون.</a:t>
            </a:r>
            <a:endParaRPr lang="ar-SA" sz="2800" dirty="0"/>
          </a:p>
        </p:txBody>
      </p:sp>
      <p:sp>
        <p:nvSpPr>
          <p:cNvPr id="10" name="Shape 8"/>
          <p:cNvSpPr/>
          <p:nvPr/>
        </p:nvSpPr>
        <p:spPr>
          <a:xfrm>
            <a:off x="731520" y="306895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19697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196971"/>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٧</a:t>
            </a:r>
            <a:endParaRPr lang="ar-SA" sz="1400" dirty="0"/>
          </a:p>
        </p:txBody>
      </p:sp>
      <p:sp>
        <p:nvSpPr>
          <p:cNvPr id="13" name="Text 11"/>
          <p:cNvSpPr txBox="1"/>
          <p:nvPr/>
        </p:nvSpPr>
        <p:spPr>
          <a:xfrm>
            <a:off x="914400" y="319697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خَتَمَ اللَّهُ عَلَىٰ قُلُوبِهِمْ وَعَلَىٰ سَمْعِهِمْ وَعَلَىٰ أَبْصَٰرِهِمْ غِشَٰوَةٌ وَلَهُمْ عَذَابٌ عَظِيمٌ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طبع الله على قلوبهم وسمعهم بسبب عنادهم، وعلى أبصارهم غطاء، ولهم عذاب عظيم.</a:t>
            </a:r>
            <a:endParaRPr lang="ar-SA" sz="2800" dirty="0"/>
          </a:p>
        </p:txBody>
      </p:sp>
      <p:sp>
        <p:nvSpPr>
          <p:cNvPr id="14" name="Shape 12"/>
          <p:cNvSpPr/>
          <p:nvPr/>
        </p:nvSpPr>
        <p:spPr>
          <a:xfrm>
            <a:off x="731520" y="4602861"/>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5" name="Shape 13"/>
          <p:cNvSpPr/>
          <p:nvPr/>
        </p:nvSpPr>
        <p:spPr>
          <a:xfrm>
            <a:off x="10874959" y="4730877"/>
            <a:ext cx="475488" cy="475488"/>
          </a:xfrm>
          <a:prstGeom prst="octagon">
            <a:avLst/>
          </a:prstGeom>
          <a:solidFill>
            <a:schemeClr val="accent2"/>
          </a:solidFill>
          <a:ln w="15875">
            <a:solidFill>
              <a:schemeClr val="accent5"/>
            </a:solidFill>
            <a:prstDash val="solid"/>
          </a:ln>
        </p:spPr>
      </p:sp>
      <p:sp>
        <p:nvSpPr>
          <p:cNvPr id="16" name="Text 14"/>
          <p:cNvSpPr txBox="1"/>
          <p:nvPr/>
        </p:nvSpPr>
        <p:spPr>
          <a:xfrm>
            <a:off x="10874959" y="4730877"/>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٨</a:t>
            </a:r>
            <a:endParaRPr lang="ar-SA" sz="1400" dirty="0"/>
          </a:p>
        </p:txBody>
      </p:sp>
      <p:sp>
        <p:nvSpPr>
          <p:cNvPr id="17" name="Text 15"/>
          <p:cNvSpPr txBox="1"/>
          <p:nvPr/>
        </p:nvSpPr>
        <p:spPr>
          <a:xfrm>
            <a:off x="914400" y="4730877"/>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وَمِنَ النَّاسِ مَن يَقُولُ ءَامَنَّا بِاللَّهِ وَبِالْيَوْمِ الْأخِرِ وَمَا هُم بِمُؤْمِنِينَ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ومن الناس المنافقون، يقولون بألسنتهم: آمنّا، وهم في الحقيقة غير مؤمنين.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صفات الكافرين والمنافقين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٩ – ١١</a:t>
            </a:r>
            <a:endParaRPr lang="ar-SA" sz="1400" dirty="0"/>
          </a:p>
        </p:txBody>
      </p:sp>
      <p:sp>
        <p:nvSpPr>
          <p:cNvPr id="6" name="Shape 4"/>
          <p:cNvSpPr/>
          <p:nvPr/>
        </p:nvSpPr>
        <p:spPr>
          <a:xfrm>
            <a:off x="731520" y="1535049"/>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663065"/>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663065"/>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٩</a:t>
            </a:r>
            <a:endParaRPr lang="ar-SA" sz="1400" dirty="0"/>
          </a:p>
        </p:txBody>
      </p:sp>
      <p:sp>
        <p:nvSpPr>
          <p:cNvPr id="9" name="Text 7"/>
          <p:cNvSpPr txBox="1"/>
          <p:nvPr/>
        </p:nvSpPr>
        <p:spPr>
          <a:xfrm>
            <a:off x="914400" y="1663065"/>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يُخَٰدِعُونَ اللَّهَ وَالَّذِينَ ءَامَنُواْ وَمَا يَخْدَعُونَ إِلَّآ أَنفُسَهُمْ وَمَا يَشْعُرُونَ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يظنون أنهم يخدعون الله والمؤمنين بإظهار الإيمان، وهم في الحقيقة يخدعون أنفسهم ولا يشعرون.</a:t>
            </a:r>
            <a:endParaRPr lang="ar-SA" sz="2800" dirty="0"/>
          </a:p>
        </p:txBody>
      </p:sp>
      <p:sp>
        <p:nvSpPr>
          <p:cNvPr id="10" name="Shape 8"/>
          <p:cNvSpPr/>
          <p:nvPr/>
        </p:nvSpPr>
        <p:spPr>
          <a:xfrm>
            <a:off x="731520" y="306895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19697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196971"/>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١٠</a:t>
            </a:r>
            <a:endParaRPr lang="ar-SA" sz="1400" dirty="0"/>
          </a:p>
        </p:txBody>
      </p:sp>
      <p:sp>
        <p:nvSpPr>
          <p:cNvPr id="13" name="Text 11"/>
          <p:cNvSpPr txBox="1"/>
          <p:nvPr/>
        </p:nvSpPr>
        <p:spPr>
          <a:xfrm>
            <a:off x="914400" y="319697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فِي قُلُوبِهِم مَّرَضٌ فَزَادَهُمُ اللَّهُ مَرَضًا وَلَهُمْ عَذَابٌ أَلِيمٌ بِمَا كَانُواْ يَكْذِبُونَ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في قلوبهم شكٌّ ونفاق فزادهم الله شكًّا، ولهم عذاب مؤلم بسبب كذبهم.</a:t>
            </a:r>
            <a:endParaRPr lang="ar-SA" sz="2800" dirty="0"/>
          </a:p>
        </p:txBody>
      </p:sp>
      <p:sp>
        <p:nvSpPr>
          <p:cNvPr id="14" name="Shape 12"/>
          <p:cNvSpPr/>
          <p:nvPr/>
        </p:nvSpPr>
        <p:spPr>
          <a:xfrm>
            <a:off x="731520" y="4602861"/>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5" name="Shape 13"/>
          <p:cNvSpPr/>
          <p:nvPr/>
        </p:nvSpPr>
        <p:spPr>
          <a:xfrm>
            <a:off x="10874959" y="4730877"/>
            <a:ext cx="475488" cy="475488"/>
          </a:xfrm>
          <a:prstGeom prst="octagon">
            <a:avLst/>
          </a:prstGeom>
          <a:solidFill>
            <a:schemeClr val="accent2"/>
          </a:solidFill>
          <a:ln w="15875">
            <a:solidFill>
              <a:schemeClr val="accent5"/>
            </a:solidFill>
            <a:prstDash val="solid"/>
          </a:ln>
        </p:spPr>
      </p:sp>
      <p:sp>
        <p:nvSpPr>
          <p:cNvPr id="16" name="Text 14"/>
          <p:cNvSpPr txBox="1"/>
          <p:nvPr/>
        </p:nvSpPr>
        <p:spPr>
          <a:xfrm>
            <a:off x="10874959" y="4730877"/>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١١</a:t>
            </a:r>
            <a:endParaRPr lang="ar-SA" sz="1400" dirty="0"/>
          </a:p>
        </p:txBody>
      </p:sp>
      <p:sp>
        <p:nvSpPr>
          <p:cNvPr id="17" name="Text 15"/>
          <p:cNvSpPr txBox="1"/>
          <p:nvPr/>
        </p:nvSpPr>
        <p:spPr>
          <a:xfrm>
            <a:off x="914400" y="4730877"/>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وَإِذَا قِيلَ لَهُمْ لَا تُفْسِدُواْ فِي الْأَرْضِ قَالُواْ إِنَّمَا نَحْنُ مُصْلِحُونَ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وإذا نُهوا عن الإفساد بالكفر والمعاصي قالوا: إنما نحن مصلحون.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صفات الكافرين والمنافقين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١٢ – ١٣</a:t>
            </a:r>
            <a:endParaRPr lang="ar-SA" sz="1400" dirty="0"/>
          </a:p>
        </p:txBody>
      </p:sp>
      <p:sp>
        <p:nvSpPr>
          <p:cNvPr id="6" name="Shape 4"/>
          <p:cNvSpPr/>
          <p:nvPr/>
        </p:nvSpPr>
        <p:spPr>
          <a:xfrm>
            <a:off x="731520" y="2020367"/>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148383"/>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148383"/>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١٢</a:t>
            </a:r>
            <a:endParaRPr lang="ar-SA" sz="1400" dirty="0"/>
          </a:p>
        </p:txBody>
      </p:sp>
      <p:sp>
        <p:nvSpPr>
          <p:cNvPr id="9" name="Text 7"/>
          <p:cNvSpPr txBox="1"/>
          <p:nvPr/>
        </p:nvSpPr>
        <p:spPr>
          <a:xfrm>
            <a:off x="914400" y="2148383"/>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أَلَآ إِنَّهُمْ هُمُ الْمُفْسِدُونَ وَلَٰكِن لَّا يَشْعُرُونَ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ألا إنهم هم المفسدون حقًا، ولكنهم لا يشعرون.</a:t>
            </a:r>
            <a:endParaRPr lang="ar-SA" sz="2800" dirty="0"/>
          </a:p>
        </p:txBody>
      </p:sp>
      <p:sp>
        <p:nvSpPr>
          <p:cNvPr id="10" name="Shape 8"/>
          <p:cNvSpPr/>
          <p:nvPr/>
        </p:nvSpPr>
        <p:spPr>
          <a:xfrm>
            <a:off x="731520" y="3554273"/>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682289"/>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682289"/>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١٣</a:t>
            </a:r>
            <a:endParaRPr lang="ar-SA" sz="1400" dirty="0"/>
          </a:p>
        </p:txBody>
      </p:sp>
      <p:sp>
        <p:nvSpPr>
          <p:cNvPr id="13" name="Text 11"/>
          <p:cNvSpPr txBox="1"/>
          <p:nvPr/>
        </p:nvSpPr>
        <p:spPr>
          <a:xfrm>
            <a:off x="914400" y="3682289"/>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وَإِذَا قِيلَ لَهُمْ ءَامِنُواْ كَمَآ ءَامَنَ النَّاسُ قَالُواْ أَنُؤْمِنُ كَمَآ ءَامَنَ السُّفَهَآءُ أَلَآ إِنَّهُمْ هُمُ السُّفَهَآءُ وَلَٰكِن لَّا يَعْلَمُونَ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وإذا قيل لهم: آمنوا كما آمن الصحابة، قالوا: أنؤمن كما آمن هؤلاء الجهلاء؟ ألا إنهم هم الجهلاء ولكن لا يعلمون.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صفات الكافرين والمنافقين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١٤ – ١٦</a:t>
            </a:r>
            <a:endParaRPr lang="ar-SA" sz="1400" dirty="0"/>
          </a:p>
        </p:txBody>
      </p:sp>
      <p:sp>
        <p:nvSpPr>
          <p:cNvPr id="6" name="Shape 4"/>
          <p:cNvSpPr/>
          <p:nvPr/>
        </p:nvSpPr>
        <p:spPr>
          <a:xfrm>
            <a:off x="731520" y="1280160"/>
            <a:ext cx="10728655" cy="1951330"/>
          </a:xfrm>
          <a:prstGeom prst="roundRect">
            <a:avLst>
              <a:gd name="adj" fmla="val 4686"/>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0817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08176"/>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١٤</a:t>
            </a:r>
            <a:endParaRPr lang="ar-SA" sz="1400" dirty="0"/>
          </a:p>
        </p:txBody>
      </p:sp>
      <p:sp>
        <p:nvSpPr>
          <p:cNvPr id="9" name="Text 7"/>
          <p:cNvSpPr txBox="1"/>
          <p:nvPr/>
        </p:nvSpPr>
        <p:spPr>
          <a:xfrm>
            <a:off x="914400" y="1408176"/>
            <a:ext cx="9677095" cy="169529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وَإِذَا لَقُواْ الَّذِينَ ءَامَنُواْ قَالُواْ ءَامَنَّا وَإِذَا خَلَوْاْ إِلَىٰ شَيَٰطِينِهِمْ قَالُواْ إِنَّا مَعَكُمْ إِنَّمَا نَحْنُ مُسْتَهْزِءُونَ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وإذا لقوا المؤمنين قالوا: آمنّا، وإذا رجعوا إلى زعمائهم قالوا: إنا معكم، إنما نستهزئ بالمؤمنين.</a:t>
            </a:r>
            <a:endParaRPr lang="ar-SA" sz="2800" dirty="0"/>
          </a:p>
        </p:txBody>
      </p:sp>
      <p:sp>
        <p:nvSpPr>
          <p:cNvPr id="10" name="Shape 8"/>
          <p:cNvSpPr/>
          <p:nvPr/>
        </p:nvSpPr>
        <p:spPr>
          <a:xfrm>
            <a:off x="731520" y="3359506"/>
            <a:ext cx="10728655" cy="1388059"/>
          </a:xfrm>
          <a:prstGeom prst="roundRect">
            <a:avLst>
              <a:gd name="adj" fmla="val 6588"/>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487522"/>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487522"/>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١٥</a:t>
            </a:r>
            <a:endParaRPr lang="ar-SA" sz="1400" dirty="0"/>
          </a:p>
        </p:txBody>
      </p:sp>
      <p:sp>
        <p:nvSpPr>
          <p:cNvPr id="13" name="Text 11"/>
          <p:cNvSpPr txBox="1"/>
          <p:nvPr/>
        </p:nvSpPr>
        <p:spPr>
          <a:xfrm>
            <a:off x="914400" y="3487522"/>
            <a:ext cx="9677095" cy="1132027"/>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اللَّهُ يَسْتَهْزِئُ بِهِمْ وَيَمُدُّهُمْ فِي طُغْيَٰنِهِمْ يَعْمَهُونَ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الله يجازيهم على استهزائهم، ويُمهلهم في ضلالهم يتحيّرون.</a:t>
            </a:r>
            <a:endParaRPr lang="ar-SA" sz="2800" dirty="0"/>
          </a:p>
        </p:txBody>
      </p:sp>
      <p:sp>
        <p:nvSpPr>
          <p:cNvPr id="14" name="Shape 12"/>
          <p:cNvSpPr/>
          <p:nvPr/>
        </p:nvSpPr>
        <p:spPr>
          <a:xfrm>
            <a:off x="731520" y="4875581"/>
            <a:ext cx="10728655" cy="1388059"/>
          </a:xfrm>
          <a:prstGeom prst="roundRect">
            <a:avLst>
              <a:gd name="adj" fmla="val 6588"/>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5" name="Shape 13"/>
          <p:cNvSpPr/>
          <p:nvPr/>
        </p:nvSpPr>
        <p:spPr>
          <a:xfrm>
            <a:off x="10874959" y="5003597"/>
            <a:ext cx="475488" cy="475488"/>
          </a:xfrm>
          <a:prstGeom prst="octagon">
            <a:avLst/>
          </a:prstGeom>
          <a:solidFill>
            <a:schemeClr val="accent2"/>
          </a:solidFill>
          <a:ln w="15875">
            <a:solidFill>
              <a:schemeClr val="accent5"/>
            </a:solidFill>
            <a:prstDash val="solid"/>
          </a:ln>
        </p:spPr>
      </p:sp>
      <p:sp>
        <p:nvSpPr>
          <p:cNvPr id="16" name="Text 14"/>
          <p:cNvSpPr txBox="1"/>
          <p:nvPr/>
        </p:nvSpPr>
        <p:spPr>
          <a:xfrm>
            <a:off x="10874959" y="5003597"/>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١٦</a:t>
            </a:r>
            <a:endParaRPr lang="ar-SA" sz="1400" dirty="0"/>
          </a:p>
        </p:txBody>
      </p:sp>
      <p:sp>
        <p:nvSpPr>
          <p:cNvPr id="17" name="Text 15"/>
          <p:cNvSpPr txBox="1"/>
          <p:nvPr/>
        </p:nvSpPr>
        <p:spPr>
          <a:xfrm>
            <a:off x="914400" y="5003597"/>
            <a:ext cx="9677095" cy="1132027"/>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أُوْلَـٰئِكَ الَّذِينَ اشْتَرَوُاْ الضَّلَٰلَةَ بِالْهُدَىٰ فَمَا رَبِحَت تِّجَٰرَتُهُمْ وَمَا كَانُواْ مُهْتَدِينَ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أولئك الذين استبدلوا الكفر بالإيمان، فما ربحت تجارتهم، وما كانوا مهتدين.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صفات الكافرين والمنافقين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١٧ – ١٨</a:t>
            </a:r>
            <a:endParaRPr lang="ar-SA" sz="1400" dirty="0"/>
          </a:p>
        </p:txBody>
      </p:sp>
      <p:sp>
        <p:nvSpPr>
          <p:cNvPr id="6" name="Shape 4"/>
          <p:cNvSpPr/>
          <p:nvPr/>
        </p:nvSpPr>
        <p:spPr>
          <a:xfrm>
            <a:off x="731520" y="1868805"/>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99682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996821"/>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١٧</a:t>
            </a:r>
            <a:endParaRPr lang="ar-SA" sz="1400" dirty="0"/>
          </a:p>
        </p:txBody>
      </p:sp>
      <p:sp>
        <p:nvSpPr>
          <p:cNvPr id="9" name="Text 7"/>
          <p:cNvSpPr txBox="1"/>
          <p:nvPr/>
        </p:nvSpPr>
        <p:spPr>
          <a:xfrm>
            <a:off x="914400" y="1996821"/>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مَثَلُهُمْ كَمَثَلِ الَّذِي اسْتَوْقَدَ نَارًا فَلَمَّآ أَضَآءَتْ مَا حَوْلَهُ ذَهَبَ اللَّهُ بِنُورِهِمْ وَتَرَكَهُمْ فِي ظُلُمَٰتٍ لَّا يُبْصِرُونَ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مثلهم كمثل رجل أوقد نارًا فلما أضاءت ما حوله أطفأها الله فبقي في الظلام، كذلك المنافقون أظهروا الإيمان ثم انطفأ نوره بنفاقهم.</a:t>
            </a:r>
            <a:endParaRPr lang="ar-SA" sz="2800" dirty="0"/>
          </a:p>
        </p:txBody>
      </p:sp>
      <p:sp>
        <p:nvSpPr>
          <p:cNvPr id="10" name="Shape 8"/>
          <p:cNvSpPr/>
          <p:nvPr/>
        </p:nvSpPr>
        <p:spPr>
          <a:xfrm>
            <a:off x="731520" y="426910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39712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397121"/>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١٨</a:t>
            </a:r>
            <a:endParaRPr lang="ar-SA" sz="1400" dirty="0"/>
          </a:p>
        </p:txBody>
      </p:sp>
      <p:sp>
        <p:nvSpPr>
          <p:cNvPr id="13" name="Text 11"/>
          <p:cNvSpPr txBox="1"/>
          <p:nvPr/>
        </p:nvSpPr>
        <p:spPr>
          <a:xfrm>
            <a:off x="914400" y="439712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صُمٌّ بُكْمٌ عُمْيٌ فَهُمْ لَا يَرْجِعُونَ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صمٌّ عن سماع الحق، بكمٌ عن النطق به، عميٌ عن رؤيته، فلا يرجعون إلى الهدى.</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صفات الكافرين والمنافقين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١٩ – ٢٠</a:t>
            </a:r>
            <a:endParaRPr lang="ar-SA" sz="1400" dirty="0"/>
          </a:p>
        </p:txBody>
      </p:sp>
      <p:sp>
        <p:nvSpPr>
          <p:cNvPr id="6" name="Shape 4"/>
          <p:cNvSpPr/>
          <p:nvPr/>
        </p:nvSpPr>
        <p:spPr>
          <a:xfrm>
            <a:off x="731520" y="14356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563624"/>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563624"/>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١٩</a:t>
            </a:r>
            <a:endParaRPr lang="ar-SA" sz="1400" dirty="0"/>
          </a:p>
        </p:txBody>
      </p:sp>
      <p:sp>
        <p:nvSpPr>
          <p:cNvPr id="9" name="Text 7"/>
          <p:cNvSpPr txBox="1"/>
          <p:nvPr/>
        </p:nvSpPr>
        <p:spPr>
          <a:xfrm>
            <a:off x="914400" y="15636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أَوْ كَصَيِّبٍ مِّنَ السَّمَآءِ فِيهِ ظُلُمَٰتٌ وَرَعْدٌ وَبَرْقٌ يَجْعَلُونَ أَصَٰبِعَهُمْ فِي ءَاذَانِهِم مِّنَ الصَّوَٰعِقِ حَذَرَ الْمَوْتِ وَاللَّهُ مُحِيطٌ بِالْكَٰفِرِينَ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أو مثلهم كقوم أصابهم مطر شديد فيه ظلمات ورعد وبرق، يضعون أصابعهم في آذانهم خوفًا من الموت، كذلك المنافقون يخافون من آيات القرآن، والله محيط بالكافرين.</a:t>
            </a:r>
            <a:endParaRPr lang="ar-SA" sz="2800" dirty="0"/>
          </a:p>
        </p:txBody>
      </p:sp>
      <p:sp>
        <p:nvSpPr>
          <p:cNvPr id="10" name="Shape 8"/>
          <p:cNvSpPr/>
          <p:nvPr/>
        </p:nvSpPr>
        <p:spPr>
          <a:xfrm>
            <a:off x="731520" y="38359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96392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963924"/>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٢٠</a:t>
            </a:r>
            <a:endParaRPr lang="ar-SA" sz="1400" dirty="0"/>
          </a:p>
        </p:txBody>
      </p:sp>
      <p:sp>
        <p:nvSpPr>
          <p:cNvPr id="13" name="Text 11"/>
          <p:cNvSpPr txBox="1"/>
          <p:nvPr/>
        </p:nvSpPr>
        <p:spPr>
          <a:xfrm>
            <a:off x="914400" y="39639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يَكَادُ الْبَرْقُ يَخْطَفُ أَبْصَٰرَهُمْ كُلَّمَآ أَضَآءَ لَهُم مَّشَوْاْ فِيهِ وَإِذَآ أَظْلَمَ عَلَيْهِمْ قَامُواْ وَلَوْ شَآءَ اللَّهُ لَذَهَبَ بِسَمْعِهِمْ وَأَبْصَٰرِهِمْ إِنَّ اللَّهَ عَلَىٰ كُلِّ شَيْءٍ قَدِيرٌ</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يكاد البرق يذهب بأبصارهم، كلما أضاء مشوا، وإذا أظلم وقفوا متحيّرين، كذلك المنافقون يتردّدون بين الإيمان والكفر.</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223760" y="1143000"/>
            <a:ext cx="4114800" cy="411480"/>
          </a:xfrm>
          <a:prstGeom prst="rect">
            <a:avLst/>
          </a:prstGeom>
          <a:noFill/>
          <a:ln/>
        </p:spPr>
        <p:txBody>
          <a:bodyPr wrap="square" lIns="0" tIns="0" rIns="0" bIns="0" rtlCol="0" anchor="t"/>
          <a:lstStyle/>
          <a:p>
            <a:pPr rtl="1" algn="ctr" indent="0" marL="0">
              <a:buNone/>
            </a:pPr>
            <a:r>
              <a:rPr lang="ar-SA" altLang="en-US" sz="1800" b="1" dirty="0">
                <a:solidFill>
                  <a:schemeClr val="accent5"/>
                </a:solidFill>
              </a:rPr>
              <a:t>المقطع</a:t>
            </a:r>
            <a:endParaRPr lang="ar-SA" sz="1800" dirty="0"/>
          </a:p>
        </p:txBody>
      </p:sp>
      <p:sp>
        <p:nvSpPr>
          <p:cNvPr id="3" name="Shape 1"/>
          <p:cNvSpPr/>
          <p:nvPr/>
        </p:nvSpPr>
        <p:spPr>
          <a:xfrm>
            <a:off x="8915400" y="1645920"/>
            <a:ext cx="731520" cy="731520"/>
          </a:xfrm>
          <a:prstGeom prst="octagon">
            <a:avLst/>
          </a:prstGeom>
          <a:solidFill>
            <a:schemeClr val="accent2"/>
          </a:solidFill>
          <a:ln w="15875">
            <a:solidFill>
              <a:schemeClr val="accent5"/>
            </a:solidFill>
            <a:prstDash val="solid"/>
          </a:ln>
        </p:spPr>
      </p:sp>
      <p:sp>
        <p:nvSpPr>
          <p:cNvPr id="4" name="Text 2"/>
          <p:cNvSpPr txBox="1"/>
          <p:nvPr/>
        </p:nvSpPr>
        <p:spPr>
          <a:xfrm>
            <a:off x="8915400" y="164592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bg1"/>
                </a:solidFill>
                <a:latin typeface="Arial" pitchFamily="34" charset="0"/>
                <a:ea typeface="Arial" pitchFamily="34" charset="-122"/>
                <a:cs typeface="Arial" pitchFamily="34" charset="-120"/>
              </a:rPr>
              <a:t>٣</a:t>
            </a:r>
            <a:endParaRPr lang="ar-SA" sz="1800" dirty="0"/>
          </a:p>
        </p:txBody>
      </p:sp>
      <p:sp>
        <p:nvSpPr>
          <p:cNvPr id="5" name="Text 3"/>
          <p:cNvSpPr txBox="1"/>
          <p:nvPr/>
        </p:nvSpPr>
        <p:spPr>
          <a:xfrm>
            <a:off x="7269480" y="2606040"/>
            <a:ext cx="4023360" cy="1737360"/>
          </a:xfrm>
          <a:prstGeom prst="rect">
            <a:avLst/>
          </a:prstGeom>
          <a:noFill/>
          <a:ln/>
        </p:spPr>
        <p:txBody>
          <a:bodyPr wrap="square" lIns="0" tIns="0" rIns="0" bIns="0" rtlCol="0" anchor="ctr"/>
          <a:lstStyle/>
          <a:p>
            <a:pPr rtl="1" algn="ctr" indent="0" marL="0">
              <a:buNone/>
            </a:pPr>
            <a:r>
              <a:rPr lang="ar-SA" altLang="en-US" sz="3800" b="1" dirty="0">
                <a:solidFill>
                  <a:schemeClr val="bg1"/>
                </a:solidFill>
                <a:latin typeface="Sakkal Majalla" pitchFamily="34" charset="0"/>
                <a:ea typeface="Sakkal Majalla" pitchFamily="34" charset="-122"/>
                <a:cs typeface="Sakkal Majalla" pitchFamily="34" charset="-120"/>
              </a:rPr>
              <a:t>الدعوة إلى التوحيد والتحدّي بالقرآن</a:t>
            </a:r>
            <a:endParaRPr lang="ar-SA" sz="3800" dirty="0"/>
          </a:p>
        </p:txBody>
      </p:sp>
      <p:sp>
        <p:nvSpPr>
          <p:cNvPr id="6" name="Text 4"/>
          <p:cNvSpPr txBox="1"/>
          <p:nvPr/>
        </p:nvSpPr>
        <p:spPr>
          <a:xfrm>
            <a:off x="7269480" y="4526280"/>
            <a:ext cx="4023360" cy="457200"/>
          </a:xfrm>
          <a:prstGeom prst="rect">
            <a:avLst/>
          </a:prstGeom>
          <a:noFill/>
          <a:ln/>
        </p:spPr>
        <p:txBody>
          <a:bodyPr wrap="square" lIns="0" tIns="0" rIns="0" bIns="0" rtlCol="0" anchor="t"/>
          <a:lstStyle/>
          <a:p>
            <a:pPr rtl="1" algn="ctr" indent="0" marL="0">
              <a:buNone/>
            </a:pPr>
            <a:r>
              <a:rPr lang="ar-SA" altLang="en-US" sz="2000" b="1" dirty="0">
                <a:solidFill>
                  <a:schemeClr val="accent5"/>
                </a:solidFill>
              </a:rPr>
              <a:t>الآيات ٢١ – ٢٩</a:t>
            </a:r>
            <a:endParaRPr lang="ar-SA" sz="2000" dirty="0"/>
          </a:p>
        </p:txBody>
      </p:sp>
      <p:sp>
        <p:nvSpPr>
          <p:cNvPr id="7" name="Shape 5"/>
          <p:cNvSpPr/>
          <p:nvPr/>
        </p:nvSpPr>
        <p:spPr>
          <a:xfrm>
            <a:off x="685800" y="1783080"/>
            <a:ext cx="5806440" cy="3291840"/>
          </a:xfrm>
          <a:prstGeom prst="roundRect">
            <a:avLst>
              <a:gd name="adj" fmla="val 3333"/>
            </a:avLst>
          </a:prstGeom>
          <a:solidFill>
            <a:schemeClr val="bg2"/>
          </a:solidFill>
          <a:ln w="19050">
            <a:solidFill>
              <a:schemeClr val="accent5"/>
            </a:solidFill>
            <a:prstDash val="solid"/>
          </a:ln>
        </p:spPr>
      </p:sp>
      <p:sp>
        <p:nvSpPr>
          <p:cNvPr id="8" name="Shape 6"/>
          <p:cNvSpPr/>
          <p:nvPr/>
        </p:nvSpPr>
        <p:spPr>
          <a:xfrm>
            <a:off x="4343400" y="2011680"/>
            <a:ext cx="1920240" cy="420624"/>
          </a:xfrm>
          <a:prstGeom prst="roundRect">
            <a:avLst>
              <a:gd name="adj" fmla="val 50000"/>
            </a:avLst>
          </a:prstGeom>
          <a:solidFill>
            <a:schemeClr val="tx2"/>
          </a:solidFill>
          <a:ln/>
        </p:spPr>
      </p:sp>
      <p:sp>
        <p:nvSpPr>
          <p:cNvPr id="9" name="Text 7"/>
          <p:cNvSpPr txBox="1"/>
          <p:nvPr/>
        </p:nvSpPr>
        <p:spPr>
          <a:xfrm>
            <a:off x="4343400" y="201168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مقصد المقطع</a:t>
            </a:r>
            <a:endParaRPr lang="ar-SA" sz="1600" dirty="0"/>
          </a:p>
        </p:txBody>
      </p:sp>
      <p:sp>
        <p:nvSpPr>
          <p:cNvPr id="10" name="Text 8"/>
          <p:cNvSpPr txBox="1"/>
          <p:nvPr/>
        </p:nvSpPr>
        <p:spPr>
          <a:xfrm>
            <a:off x="960120" y="2560320"/>
            <a:ext cx="5257800" cy="23317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دعوة الناس جميعًا إلى عبادة الله وحده، والتحدّي بالإتيان بسورة مثل القرآن، وبشارة المؤمنين بالجنة.</a:t>
            </a:r>
            <a:endParaRPr lang="ar-SA"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الدعوة إلى التوحيد والتحدّي بالقرآن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٢١ – ٢٢</a:t>
            </a:r>
            <a:endParaRPr lang="ar-SA" sz="1400" dirty="0"/>
          </a:p>
        </p:txBody>
      </p:sp>
      <p:sp>
        <p:nvSpPr>
          <p:cNvPr id="6" name="Shape 4"/>
          <p:cNvSpPr/>
          <p:nvPr/>
        </p:nvSpPr>
        <p:spPr>
          <a:xfrm>
            <a:off x="731520" y="186880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99682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996821"/>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٢١</a:t>
            </a:r>
            <a:endParaRPr lang="ar-SA" sz="1400" dirty="0"/>
          </a:p>
        </p:txBody>
      </p:sp>
      <p:sp>
        <p:nvSpPr>
          <p:cNvPr id="9" name="Text 7"/>
          <p:cNvSpPr txBox="1"/>
          <p:nvPr/>
        </p:nvSpPr>
        <p:spPr>
          <a:xfrm>
            <a:off x="914400" y="199682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يَـٰأَيُّهَا النَّاسُ اعْبُدُواْ رَبَّكُمُ الَّذِي خَلَقَكُمْ وَالَّذِينَ مِن قَبْلِكُمْ لَعَلَّكُمْ تَتَّقُونَ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يا أيها الناس، اعبدوا ربكم الذي خلقكم وخلق من قبلكم، لعلكم تتقون عذابه.</a:t>
            </a:r>
            <a:endParaRPr lang="ar-SA" sz="2800" dirty="0"/>
          </a:p>
        </p:txBody>
      </p:sp>
      <p:sp>
        <p:nvSpPr>
          <p:cNvPr id="10" name="Shape 8"/>
          <p:cNvSpPr/>
          <p:nvPr/>
        </p:nvSpPr>
        <p:spPr>
          <a:xfrm>
            <a:off x="731520" y="3402711"/>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530727"/>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530727"/>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٢٢</a:t>
            </a:r>
            <a:endParaRPr lang="ar-SA" sz="1400" dirty="0"/>
          </a:p>
        </p:txBody>
      </p:sp>
      <p:sp>
        <p:nvSpPr>
          <p:cNvPr id="13" name="Text 11"/>
          <p:cNvSpPr txBox="1"/>
          <p:nvPr/>
        </p:nvSpPr>
        <p:spPr>
          <a:xfrm>
            <a:off x="914400" y="3530727"/>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الَّذِي جَعَلَ لَكُمُ الْأَرْضَ فِرَٰشًا وَالسَّمَآءَ بِنَآءً وَأَنزَلَ مِنَ السَّمَآءِ مَآءً فَأَخْرَجَ بِهِ مِنَ الثَّمَرَٰتِ رِزْقًا لَّكُمْ فَلَا تَجْعَلُواْ لِلَّهِ أَندَادًا وَأَنتُمْ تَعْلَمُونَ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الذي جعل الأرض مفروشة لكم، والسماء سقفًا محكمًا، وأنزل المطر فأخرج به الثمار رزقًا لكم، فلا تجعلوا لله شركاء وأنتم تعلمون أنه الخالق وحده.</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الدعوة إلى التوحيد والتحدّي بالقرآن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٢٣ – ٢٤</a:t>
            </a:r>
            <a:endParaRPr lang="ar-SA" sz="1400" dirty="0"/>
          </a:p>
        </p:txBody>
      </p:sp>
      <p:sp>
        <p:nvSpPr>
          <p:cNvPr id="6" name="Shape 4"/>
          <p:cNvSpPr/>
          <p:nvPr/>
        </p:nvSpPr>
        <p:spPr>
          <a:xfrm>
            <a:off x="731520" y="1868805"/>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99682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996821"/>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٢٣</a:t>
            </a:r>
            <a:endParaRPr lang="ar-SA" sz="1400" dirty="0"/>
          </a:p>
        </p:txBody>
      </p:sp>
      <p:sp>
        <p:nvSpPr>
          <p:cNvPr id="9" name="Text 7"/>
          <p:cNvSpPr txBox="1"/>
          <p:nvPr/>
        </p:nvSpPr>
        <p:spPr>
          <a:xfrm>
            <a:off x="914400" y="1996821"/>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وَإِن كُنتُمْ فِي رَيْبٍ مِّمَّا نَزَّلْنَا عَلَىٰ عَبْدِنَا فَأْتُواْ بِسُورَةٍ مِّن مِّثْلِهِ وَادْعُواْ شُهَدَآءَكُم مِّن دُونِ اللَّهِ إِن كُنتُمْ صَٰدِقِينَ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وإن كنتم في شكّ من القرآن الذي أنزلناه على محمد صلى الله عليه وسلم، فأتوا بسورة واحدة مثله، وادعوا من استطعتم من أعوانكم إن كنتم صادقين.</a:t>
            </a:r>
            <a:endParaRPr lang="ar-SA" sz="2800" dirty="0"/>
          </a:p>
        </p:txBody>
      </p:sp>
      <p:sp>
        <p:nvSpPr>
          <p:cNvPr id="10" name="Shape 8"/>
          <p:cNvSpPr/>
          <p:nvPr/>
        </p:nvSpPr>
        <p:spPr>
          <a:xfrm>
            <a:off x="731520" y="426910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39712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397121"/>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٢٤</a:t>
            </a:r>
            <a:endParaRPr lang="ar-SA" sz="1400" dirty="0"/>
          </a:p>
        </p:txBody>
      </p:sp>
      <p:sp>
        <p:nvSpPr>
          <p:cNvPr id="13" name="Text 11"/>
          <p:cNvSpPr txBox="1"/>
          <p:nvPr/>
        </p:nvSpPr>
        <p:spPr>
          <a:xfrm>
            <a:off x="914400" y="439712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فَإِن لَّمْ تَفْعَلُواْ وَلَن تَفْعَلُواْ فَاتَّقُواْ النَّارَ الَّتِي وَقُودُهَا النَّاسُ وَالْحِجَارَةُ أُعِدَّتْ لِلْكَٰفِرِينَ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فإن لم تفعلوا -ولن تستطيعوا أبدًا- فاحذروا النار التي وقودها الناس والحجارة، أُعدّت للكافرين.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الدعوة إلى التوحيد والتحدّي بالقرآن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٢٥</a:t>
            </a:r>
            <a:endParaRPr lang="ar-SA" sz="1400" dirty="0"/>
          </a:p>
        </p:txBody>
      </p:sp>
      <p:sp>
        <p:nvSpPr>
          <p:cNvPr id="6" name="Shape 4"/>
          <p:cNvSpPr/>
          <p:nvPr/>
        </p:nvSpPr>
        <p:spPr>
          <a:xfrm>
            <a:off x="731520" y="2354123"/>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482139"/>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482139"/>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٢٥</a:t>
            </a:r>
            <a:endParaRPr lang="ar-SA" sz="1400" dirty="0"/>
          </a:p>
        </p:txBody>
      </p:sp>
      <p:sp>
        <p:nvSpPr>
          <p:cNvPr id="9" name="Text 7"/>
          <p:cNvSpPr txBox="1"/>
          <p:nvPr/>
        </p:nvSpPr>
        <p:spPr>
          <a:xfrm>
            <a:off x="914400" y="2482139"/>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وَبَشِّرِ الَّذِينَ ءَامَنُواْ وَعَمِلُواْ الصَّـٰلِحَٰتِ أَنَّ لَهُمْ جَنَّـٰتٍ تَجْرِي مِن تَحْتِهَا الْأَنْهَٰرُ كُلَّمَا رُزِقُواْ مِنْهَا مِن ثَمَرَةٍ رِّزْقًا قَالُواْ هَٰذَا الَّذِي رُزِقْنَا مِن قَبْلُ وَأُتُواْ بِهِ مُتَشَٰبِهًا وَلَهُمْ فِيهَآ أَزْوَٰجٌ مُّطَهَّرَةٌ وَهُمْ فِيهَا خَٰلِدُونَ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وبشّر المؤمنين الذين يعملون الصالحات بجنات تجري من تحتها الأنهار، كلما رُزقوا منها ثمرة قالوا: هذا مثل الذي رُزقناه من قبل في شكله، ولهم فيها أزواج مطهّرة، وهم فيها خالدون.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الدعوة إلى التوحيد والتحدّي بالقرآن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٢٦</a:t>
            </a:r>
            <a:endParaRPr lang="ar-SA" sz="1400" dirty="0"/>
          </a:p>
        </p:txBody>
      </p:sp>
      <p:sp>
        <p:nvSpPr>
          <p:cNvPr id="6" name="Shape 4"/>
          <p:cNvSpPr/>
          <p:nvPr/>
        </p:nvSpPr>
        <p:spPr>
          <a:xfrm>
            <a:off x="731520" y="2354123"/>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482139"/>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482139"/>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٢٦</a:t>
            </a:r>
            <a:endParaRPr lang="ar-SA" sz="1400" dirty="0"/>
          </a:p>
        </p:txBody>
      </p:sp>
      <p:sp>
        <p:nvSpPr>
          <p:cNvPr id="9" name="Text 7"/>
          <p:cNvSpPr txBox="1"/>
          <p:nvPr/>
        </p:nvSpPr>
        <p:spPr>
          <a:xfrm>
            <a:off x="914400" y="2482139"/>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إِنَّ اللَّهَ لَا يَسْتَحْيِ أَن يَضْرِبَ مَثَلًا مَّا بَعُوضَةً فَمَا فَوْقَهَا فَأَمَّا الَّذِينَ ءَامَنُواْ فَيَعْلَمُونَ أَنَّهُ الْحَقُّ مِن رَّبِّهِمْ وَأَمَّا الَّذِينَ كَفَرُواْ فَيَقُولُونَ مَاذَآ أَرَادَ اللَّهُ بِهَٰذَا مَثَلًا يُضِلُّ بِهِ كَثِيرًا وَيَهْدِي بِهِ كَثِيرًا وَمَا يُضِلُّ بِهِ إِلَّا الْفَٰسِقِينَ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إن الله لا يمتنع أن يضرب مثلًا بالبعوضة فما فوقها، فأما المؤمنون فيعلمون أنه الحق، وأما الكافرون فيعترضون، يُضلّ الله به كثيرًا ويهدي به كثيرًا.</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الدعوة إلى التوحيد والتحدّي بالقرآن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٢٧ – ٢٨</a:t>
            </a:r>
            <a:endParaRPr lang="ar-SA" sz="1400" dirty="0"/>
          </a:p>
        </p:txBody>
      </p:sp>
      <p:sp>
        <p:nvSpPr>
          <p:cNvPr id="6" name="Shape 4"/>
          <p:cNvSpPr/>
          <p:nvPr/>
        </p:nvSpPr>
        <p:spPr>
          <a:xfrm>
            <a:off x="731520" y="1868805"/>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99682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996821"/>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٢٧</a:t>
            </a:r>
            <a:endParaRPr lang="ar-SA" sz="1400" dirty="0"/>
          </a:p>
        </p:txBody>
      </p:sp>
      <p:sp>
        <p:nvSpPr>
          <p:cNvPr id="9" name="Text 7"/>
          <p:cNvSpPr txBox="1"/>
          <p:nvPr/>
        </p:nvSpPr>
        <p:spPr>
          <a:xfrm>
            <a:off x="914400" y="1996821"/>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الَّذِينَ يَنقُضُونَ عَهْدَ اللَّهِ مِن بَعْدِ مِيثَٰقِهِ وَيَقْطَعُونَ مَآ أَمَرَ اللَّهُ بِهِ أَن يُوصَلَ وَيُفْسِدُونَ فِي الْأَرْضِ أُوْلَـٰئِكَ هُمُ الْخَٰسِرُونَ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الذين ينقضون عهد الله بعد توكيده، ويقطعون ما أمر الله بوصله كالأرحام، ويفسدون في الأرض، أولئك هم الخاسرون.</a:t>
            </a:r>
            <a:endParaRPr lang="ar-SA" sz="2800" dirty="0"/>
          </a:p>
        </p:txBody>
      </p:sp>
      <p:sp>
        <p:nvSpPr>
          <p:cNvPr id="10" name="Shape 8"/>
          <p:cNvSpPr/>
          <p:nvPr/>
        </p:nvSpPr>
        <p:spPr>
          <a:xfrm>
            <a:off x="731520" y="426910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39712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397121"/>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٢٨</a:t>
            </a:r>
            <a:endParaRPr lang="ar-SA" sz="1400" dirty="0"/>
          </a:p>
        </p:txBody>
      </p:sp>
      <p:sp>
        <p:nvSpPr>
          <p:cNvPr id="13" name="Text 11"/>
          <p:cNvSpPr txBox="1"/>
          <p:nvPr/>
        </p:nvSpPr>
        <p:spPr>
          <a:xfrm>
            <a:off x="914400" y="439712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كَيْفَ تَكْفُرُونَ بِاللَّهِ وَكُنتُمْ أَمْوَٰتًا فَأَحْيَٰكُمْ ثُمَّ يُمِيتُكُمْ ثُمَّ يُحْيِيكُمْ ثُمَّ إِلَيْهِ تُرْجَعُونَ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كيف تكفرون بالله وقد كنتم عدمًا فخلقكم، ثم يميتكم، ثم يحييكم للبعث، ثم إليه ترجعون؟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الدعوة إلى التوحيد والتحدّي بالقرآن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٢٩</a:t>
            </a:r>
            <a:endParaRPr lang="ar-SA" sz="1400" dirty="0"/>
          </a:p>
        </p:txBody>
      </p:sp>
      <p:sp>
        <p:nvSpPr>
          <p:cNvPr id="6" name="Shape 4"/>
          <p:cNvSpPr/>
          <p:nvPr/>
        </p:nvSpPr>
        <p:spPr>
          <a:xfrm>
            <a:off x="731520" y="2787320"/>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91533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915336"/>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٢٩</a:t>
            </a:r>
            <a:endParaRPr lang="ar-SA" sz="1400" dirty="0"/>
          </a:p>
        </p:txBody>
      </p:sp>
      <p:sp>
        <p:nvSpPr>
          <p:cNvPr id="9" name="Text 7"/>
          <p:cNvSpPr txBox="1"/>
          <p:nvPr/>
        </p:nvSpPr>
        <p:spPr>
          <a:xfrm>
            <a:off x="914400" y="2915336"/>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هُوَ الَّذِي خَلَقَ لَكُم مَّا فِي الْأَرْضِ جَمِيعًا ثُمَّ اسْتَوَىٰ إِلَى السَّمَآءِ فَسَوَّىٰهُنَّ سَبْعَ سَمَٰوَٰتٍ وَهُوَ بِكُلِّ شَيْءٍ عَلِيمٌ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هو الذي خلق لكم كل ما في الأرض، ثم قصد إلى خلق السماء فجعلها سبع سماوات، وهو بكل شيء عليم.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7223760" y="1143000"/>
            <a:ext cx="4114800" cy="411480"/>
          </a:xfrm>
          <a:prstGeom prst="rect">
            <a:avLst/>
          </a:prstGeom>
          <a:noFill/>
          <a:ln/>
        </p:spPr>
        <p:txBody>
          <a:bodyPr wrap="square" lIns="0" tIns="0" rIns="0" bIns="0" rtlCol="0" anchor="t"/>
          <a:lstStyle/>
          <a:p>
            <a:pPr rtl="1" algn="ctr" indent="0" marL="0">
              <a:buNone/>
            </a:pPr>
            <a:r>
              <a:rPr lang="ar-SA" altLang="en-US" sz="1800" b="1" dirty="0">
                <a:solidFill>
                  <a:schemeClr val="accent5"/>
                </a:solidFill>
              </a:rPr>
              <a:t>المقطع</a:t>
            </a:r>
            <a:endParaRPr lang="ar-SA" sz="1800" dirty="0"/>
          </a:p>
        </p:txBody>
      </p:sp>
      <p:sp>
        <p:nvSpPr>
          <p:cNvPr id="3" name="Shape 1"/>
          <p:cNvSpPr/>
          <p:nvPr/>
        </p:nvSpPr>
        <p:spPr>
          <a:xfrm>
            <a:off x="8915400" y="1645920"/>
            <a:ext cx="731520" cy="731520"/>
          </a:xfrm>
          <a:prstGeom prst="octagon">
            <a:avLst/>
          </a:prstGeom>
          <a:solidFill>
            <a:schemeClr val="accent2"/>
          </a:solidFill>
          <a:ln w="15875">
            <a:solidFill>
              <a:schemeClr val="accent5"/>
            </a:solidFill>
            <a:prstDash val="solid"/>
          </a:ln>
        </p:spPr>
      </p:sp>
      <p:sp>
        <p:nvSpPr>
          <p:cNvPr id="4" name="Text 2"/>
          <p:cNvSpPr txBox="1"/>
          <p:nvPr/>
        </p:nvSpPr>
        <p:spPr>
          <a:xfrm>
            <a:off x="8915400" y="164592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bg1"/>
                </a:solidFill>
                <a:latin typeface="Arial" pitchFamily="34" charset="0"/>
                <a:ea typeface="Arial" pitchFamily="34" charset="-122"/>
                <a:cs typeface="Arial" pitchFamily="34" charset="-120"/>
              </a:rPr>
              <a:t>٤</a:t>
            </a:r>
            <a:endParaRPr lang="ar-SA" sz="1800" dirty="0"/>
          </a:p>
        </p:txBody>
      </p:sp>
      <p:sp>
        <p:nvSpPr>
          <p:cNvPr id="5" name="Text 3"/>
          <p:cNvSpPr txBox="1"/>
          <p:nvPr/>
        </p:nvSpPr>
        <p:spPr>
          <a:xfrm>
            <a:off x="7269480" y="2606040"/>
            <a:ext cx="4023360" cy="1737360"/>
          </a:xfrm>
          <a:prstGeom prst="rect">
            <a:avLst/>
          </a:prstGeom>
          <a:noFill/>
          <a:ln/>
        </p:spPr>
        <p:txBody>
          <a:bodyPr wrap="square" lIns="0" tIns="0" rIns="0" bIns="0" rtlCol="0" anchor="ctr"/>
          <a:lstStyle/>
          <a:p>
            <a:pPr rtl="1" algn="ctr" indent="0" marL="0">
              <a:buNone/>
            </a:pPr>
            <a:r>
              <a:rPr lang="ar-SA" altLang="en-US" sz="3800" b="1" dirty="0">
                <a:solidFill>
                  <a:schemeClr val="bg1"/>
                </a:solidFill>
                <a:latin typeface="Sakkal Majalla" pitchFamily="34" charset="0"/>
                <a:ea typeface="Sakkal Majalla" pitchFamily="34" charset="-122"/>
                <a:cs typeface="Sakkal Majalla" pitchFamily="34" charset="-120"/>
              </a:rPr>
              <a:t>قصة آدم عليه السلام</a:t>
            </a:r>
            <a:endParaRPr lang="ar-SA" sz="3800" dirty="0"/>
          </a:p>
        </p:txBody>
      </p:sp>
      <p:sp>
        <p:nvSpPr>
          <p:cNvPr id="6" name="Text 4"/>
          <p:cNvSpPr txBox="1"/>
          <p:nvPr/>
        </p:nvSpPr>
        <p:spPr>
          <a:xfrm>
            <a:off x="7269480" y="4526280"/>
            <a:ext cx="4023360" cy="457200"/>
          </a:xfrm>
          <a:prstGeom prst="rect">
            <a:avLst/>
          </a:prstGeom>
          <a:noFill/>
          <a:ln/>
        </p:spPr>
        <p:txBody>
          <a:bodyPr wrap="square" lIns="0" tIns="0" rIns="0" bIns="0" rtlCol="0" anchor="t"/>
          <a:lstStyle/>
          <a:p>
            <a:pPr rtl="1" algn="ctr" indent="0" marL="0">
              <a:buNone/>
            </a:pPr>
            <a:r>
              <a:rPr lang="ar-SA" altLang="en-US" sz="2000" b="1" dirty="0">
                <a:solidFill>
                  <a:schemeClr val="accent5"/>
                </a:solidFill>
              </a:rPr>
              <a:t>الآيات ٣٠ – ٣٩</a:t>
            </a:r>
            <a:endParaRPr lang="ar-SA" sz="2000" dirty="0"/>
          </a:p>
        </p:txBody>
      </p:sp>
      <p:sp>
        <p:nvSpPr>
          <p:cNvPr id="7" name="Shape 5"/>
          <p:cNvSpPr/>
          <p:nvPr/>
        </p:nvSpPr>
        <p:spPr>
          <a:xfrm>
            <a:off x="685800" y="1783080"/>
            <a:ext cx="5806440" cy="3291840"/>
          </a:xfrm>
          <a:prstGeom prst="roundRect">
            <a:avLst>
              <a:gd name="adj" fmla="val 3333"/>
            </a:avLst>
          </a:prstGeom>
          <a:solidFill>
            <a:schemeClr val="bg2"/>
          </a:solidFill>
          <a:ln w="19050">
            <a:solidFill>
              <a:schemeClr val="accent5"/>
            </a:solidFill>
            <a:prstDash val="solid"/>
          </a:ln>
        </p:spPr>
      </p:sp>
      <p:sp>
        <p:nvSpPr>
          <p:cNvPr id="8" name="Shape 6"/>
          <p:cNvSpPr/>
          <p:nvPr/>
        </p:nvSpPr>
        <p:spPr>
          <a:xfrm>
            <a:off x="4343400" y="2011680"/>
            <a:ext cx="1920240" cy="420624"/>
          </a:xfrm>
          <a:prstGeom prst="roundRect">
            <a:avLst>
              <a:gd name="adj" fmla="val 50000"/>
            </a:avLst>
          </a:prstGeom>
          <a:solidFill>
            <a:schemeClr val="tx2"/>
          </a:solidFill>
          <a:ln/>
        </p:spPr>
      </p:sp>
      <p:sp>
        <p:nvSpPr>
          <p:cNvPr id="9" name="Text 7"/>
          <p:cNvSpPr txBox="1"/>
          <p:nvPr/>
        </p:nvSpPr>
        <p:spPr>
          <a:xfrm>
            <a:off x="4343400" y="201168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مقصد المقطع</a:t>
            </a:r>
            <a:endParaRPr lang="ar-SA" sz="1600" dirty="0"/>
          </a:p>
        </p:txBody>
      </p:sp>
      <p:sp>
        <p:nvSpPr>
          <p:cNvPr id="10" name="Text 8"/>
          <p:cNvSpPr txBox="1"/>
          <p:nvPr/>
        </p:nvSpPr>
        <p:spPr>
          <a:xfrm>
            <a:off x="960120" y="2560320"/>
            <a:ext cx="5257800" cy="23317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تكريم الإنسان بالخلافة في الأرض والعلم، وبيان عداوة إبليس، وأن باب التوبة مفتوح.</a:t>
            </a:r>
            <a:endParaRPr lang="ar-SA"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قصة آدم عليه السلام</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٣٠ – ٣١</a:t>
            </a:r>
            <a:endParaRPr lang="ar-SA" sz="1400" dirty="0"/>
          </a:p>
        </p:txBody>
      </p:sp>
      <p:sp>
        <p:nvSpPr>
          <p:cNvPr id="6" name="Shape 4"/>
          <p:cNvSpPr/>
          <p:nvPr/>
        </p:nvSpPr>
        <p:spPr>
          <a:xfrm>
            <a:off x="731520" y="1587170"/>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71518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715186"/>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٣٠</a:t>
            </a:r>
            <a:endParaRPr lang="ar-SA" sz="1400" dirty="0"/>
          </a:p>
        </p:txBody>
      </p:sp>
      <p:sp>
        <p:nvSpPr>
          <p:cNvPr id="9" name="Text 7"/>
          <p:cNvSpPr txBox="1"/>
          <p:nvPr/>
        </p:nvSpPr>
        <p:spPr>
          <a:xfrm>
            <a:off x="914400" y="1715186"/>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 قَالَ رَبُّكَ لِلْمَلَـٰئِكَةِ إِنِّي جَاعِلٌ فِي الْأَرْضِ خَلِيفَةً قَالُواْ أَتَجْعَلُ فِيهَا مَن يُفْسِدُ فِيهَا وَيَسْفِكُ الدِّمَآءَ وَنَحْنُ نُسَبِّحُ بِحَمْدِكَ وَنُقَدِّسُ لَكَ قَالَ إِنِّي أَعْلَمُ مَا لَا تَعْلَمُونَ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واذكر حين قال ربك للملائكة: إني جاعل في الأرض قومًا يخلف بعضهم بعضًا، قالوا مستفهمين: أتجعل فيها من يفسد ويسفك الدماء ونحن نسبّح بحمدك؟ قال: إني أعلم ما لا تعلمون.</a:t>
            </a:r>
            <a:endParaRPr lang="ar-SA" sz="2800" dirty="0"/>
          </a:p>
        </p:txBody>
      </p:sp>
      <p:sp>
        <p:nvSpPr>
          <p:cNvPr id="10" name="Shape 8"/>
          <p:cNvSpPr/>
          <p:nvPr/>
        </p:nvSpPr>
        <p:spPr>
          <a:xfrm>
            <a:off x="731520" y="3987470"/>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115486"/>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115486"/>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٣١</a:t>
            </a:r>
            <a:endParaRPr lang="ar-SA" sz="1400" dirty="0"/>
          </a:p>
        </p:txBody>
      </p:sp>
      <p:sp>
        <p:nvSpPr>
          <p:cNvPr id="13" name="Text 11"/>
          <p:cNvSpPr txBox="1"/>
          <p:nvPr/>
        </p:nvSpPr>
        <p:spPr>
          <a:xfrm>
            <a:off x="914400" y="4115486"/>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وَعَلَّمَ ءَادَمَ الْأَسْمَآءَ كُلَّهَا ثُمَّ عَرَضَهُمْ عَلَى الْمَلَـٰئِكَةِ فَقَالَ أَنبِـُٔونِي بِأَسْمَآءِ هَـٰؤُلَآءِ إِن كُنتُمْ صَٰدِقِينَ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وعلّم الله آدم أسماء الأشياء كلها، ثم عرضها على الملائكة فقال: أخبروني بأسماء هؤلاء إن كنتم صادقين.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قصة آدم عليه السلام</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٣٢ – ٣٤</a:t>
            </a:r>
            <a:endParaRPr lang="ar-SA" sz="1400" dirty="0"/>
          </a:p>
        </p:txBody>
      </p:sp>
      <p:sp>
        <p:nvSpPr>
          <p:cNvPr id="6" name="Shape 4"/>
          <p:cNvSpPr/>
          <p:nvPr/>
        </p:nvSpPr>
        <p:spPr>
          <a:xfrm>
            <a:off x="731520" y="1280160"/>
            <a:ext cx="10728655" cy="1287018"/>
          </a:xfrm>
          <a:prstGeom prst="roundRect">
            <a:avLst>
              <a:gd name="adj" fmla="val 710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0817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08176"/>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٣٢</a:t>
            </a:r>
            <a:endParaRPr lang="ar-SA" sz="1400" dirty="0"/>
          </a:p>
        </p:txBody>
      </p:sp>
      <p:sp>
        <p:nvSpPr>
          <p:cNvPr id="9" name="Text 7"/>
          <p:cNvSpPr txBox="1"/>
          <p:nvPr/>
        </p:nvSpPr>
        <p:spPr>
          <a:xfrm>
            <a:off x="914400" y="1408176"/>
            <a:ext cx="9677095" cy="1030986"/>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قَالُواْ سُبْحَٰنَكَ لَا عِلْمَ لَنَآ إِلَّا مَا عَلَّمْتَنَآ إِنَّكَ أَنتَ الْعَلِيمُ الْحَكِيمُ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قالوا: سبحانك، لا علم لنا إلا ما علّمتنا، إنك أنت العليم الحكيم.</a:t>
            </a:r>
            <a:endParaRPr lang="ar-SA" sz="2800" dirty="0"/>
          </a:p>
        </p:txBody>
      </p:sp>
      <p:sp>
        <p:nvSpPr>
          <p:cNvPr id="10" name="Shape 8"/>
          <p:cNvSpPr/>
          <p:nvPr/>
        </p:nvSpPr>
        <p:spPr>
          <a:xfrm>
            <a:off x="731520" y="2695194"/>
            <a:ext cx="10728655" cy="2153412"/>
          </a:xfrm>
          <a:prstGeom prst="roundRect">
            <a:avLst>
              <a:gd name="adj" fmla="val 4246"/>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2823210"/>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2823210"/>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٣٣</a:t>
            </a:r>
            <a:endParaRPr lang="ar-SA" sz="1400" dirty="0"/>
          </a:p>
        </p:txBody>
      </p:sp>
      <p:sp>
        <p:nvSpPr>
          <p:cNvPr id="13" name="Text 11"/>
          <p:cNvSpPr txBox="1"/>
          <p:nvPr/>
        </p:nvSpPr>
        <p:spPr>
          <a:xfrm>
            <a:off x="914400" y="2823210"/>
            <a:ext cx="9677095" cy="1897380"/>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قَالَ يَـٰـَٔادَمُ أَنبِئْهُم بِأَسْمَآئِهِمْ فَلَمَّآ أَنبَأَهُم بِأَسْمَآئِهِمْ قَالَ أَلَمْ أَقُل لَّكُمْ إِنِّي أَعْلَمُ غَيْبَ السَّمَٰوَٰتِ وَالْأَرْضِ وَأَعْلَمُ مَا تُبْدُونَ وَمَا كُنتُمْ تَكْتُمُونَ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قال الله: يا آدم أخبرهم بأسمائها، فلما أخبرهم قال: ألم أقل لكم إني أعلم غيب السماوات والأرض، وأعلم ما تظهرون وما تخفون؟</a:t>
            </a:r>
            <a:endParaRPr lang="ar-SA" sz="2800" dirty="0"/>
          </a:p>
        </p:txBody>
      </p:sp>
      <p:sp>
        <p:nvSpPr>
          <p:cNvPr id="14" name="Shape 12"/>
          <p:cNvSpPr/>
          <p:nvPr/>
        </p:nvSpPr>
        <p:spPr>
          <a:xfrm>
            <a:off x="731520" y="4976622"/>
            <a:ext cx="10728655" cy="1287018"/>
          </a:xfrm>
          <a:prstGeom prst="roundRect">
            <a:avLst>
              <a:gd name="adj" fmla="val 710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5" name="Shape 13"/>
          <p:cNvSpPr/>
          <p:nvPr/>
        </p:nvSpPr>
        <p:spPr>
          <a:xfrm>
            <a:off x="10874959" y="5104638"/>
            <a:ext cx="475488" cy="475488"/>
          </a:xfrm>
          <a:prstGeom prst="octagon">
            <a:avLst/>
          </a:prstGeom>
          <a:solidFill>
            <a:schemeClr val="accent2"/>
          </a:solidFill>
          <a:ln w="15875">
            <a:solidFill>
              <a:schemeClr val="accent5"/>
            </a:solidFill>
            <a:prstDash val="solid"/>
          </a:ln>
        </p:spPr>
      </p:sp>
      <p:sp>
        <p:nvSpPr>
          <p:cNvPr id="16" name="Text 14"/>
          <p:cNvSpPr txBox="1"/>
          <p:nvPr/>
        </p:nvSpPr>
        <p:spPr>
          <a:xfrm>
            <a:off x="10874959" y="5104638"/>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٣٤</a:t>
            </a:r>
            <a:endParaRPr lang="ar-SA" sz="1400" dirty="0"/>
          </a:p>
        </p:txBody>
      </p:sp>
      <p:sp>
        <p:nvSpPr>
          <p:cNvPr id="17" name="Text 15"/>
          <p:cNvSpPr txBox="1"/>
          <p:nvPr/>
        </p:nvSpPr>
        <p:spPr>
          <a:xfrm>
            <a:off x="914400" y="5104638"/>
            <a:ext cx="9677095" cy="1030986"/>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 قُلْنَا لِلْمَلَـٰئِكَةِ اسْجُدُواْ لِأدَمَ فَسَجَدُواْ إِلَّآ إِبْلِيسَ أَبَىٰ وَاسْتَكْبَرَ وَكَانَ مِنَ الْكَٰفِرِينَ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وحين أمرنا الملائكة بالسجود لآدم سجود تحية وإكرام فسجدوا، إلا إبليس امتنع وتكبّر، فصار من الكافرين.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قصة آدم عليه السلام</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٣٥ – ٣٦</a:t>
            </a:r>
            <a:endParaRPr lang="ar-SA" sz="1400" dirty="0"/>
          </a:p>
        </p:txBody>
      </p:sp>
      <p:sp>
        <p:nvSpPr>
          <p:cNvPr id="6" name="Shape 4"/>
          <p:cNvSpPr/>
          <p:nvPr/>
        </p:nvSpPr>
        <p:spPr>
          <a:xfrm>
            <a:off x="731520" y="14356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563624"/>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563624"/>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٣٥</a:t>
            </a:r>
            <a:endParaRPr lang="ar-SA" sz="1400" dirty="0"/>
          </a:p>
        </p:txBody>
      </p:sp>
      <p:sp>
        <p:nvSpPr>
          <p:cNvPr id="9" name="Text 7"/>
          <p:cNvSpPr txBox="1"/>
          <p:nvPr/>
        </p:nvSpPr>
        <p:spPr>
          <a:xfrm>
            <a:off x="914400" y="15636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وَقُلْنَا يَـٰـَٔادَمُ اسْكُنْ أَنتَ وَزَوْجُكَ الْجَنَّةَ وَكُلَا مِنْهَا رَغَدًا حَيْثُ شِئْتُمَا وَلَا تَقْرَبَا هَٰذِهِ الشَّجَرَةَ فَتَكُونَا مِنَ الظَّـٰلِمِينَ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وقلنا: يا آدم، اسكن أنت وزوجك حواء الجنة، وكلا منها هنيئًا حيث شئتما، ولا تقربا هذه الشجرة فتكونا من الظالمين.</a:t>
            </a:r>
            <a:endParaRPr lang="ar-SA" sz="2800" dirty="0"/>
          </a:p>
        </p:txBody>
      </p:sp>
      <p:sp>
        <p:nvSpPr>
          <p:cNvPr id="10" name="Shape 8"/>
          <p:cNvSpPr/>
          <p:nvPr/>
        </p:nvSpPr>
        <p:spPr>
          <a:xfrm>
            <a:off x="731520" y="38359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96392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963924"/>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٣٦</a:t>
            </a:r>
            <a:endParaRPr lang="ar-SA" sz="1400" dirty="0"/>
          </a:p>
        </p:txBody>
      </p:sp>
      <p:sp>
        <p:nvSpPr>
          <p:cNvPr id="13" name="Text 11"/>
          <p:cNvSpPr txBox="1"/>
          <p:nvPr/>
        </p:nvSpPr>
        <p:spPr>
          <a:xfrm>
            <a:off x="914400" y="39639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فَأَزَلَّهُمَا الشَّيْطَٰنُ عَنْهَا فَأَخْرَجَهُمَا مِمَّا كَانَا فِيهِ وَقُلْنَا اهْبِطُواْ بَعْضُكُمْ لِبَعْضٍ عَدُوٌّ وَلَكُمْ فِي الْأَرْضِ مُسْتَقَرٌّ وَمَتَٰعٌ إِلَىٰ حِينٍ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فأوقعهما الشيطان في الخطأ فأكلا من الشجرة، فأخرجهما من نعيم الجنة، وقلنا: انزلوا إلى الأرض، بعضكم لبعض عدو، ولكم فيها مستقر ومتاع إلى حين.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قصة آدم عليه السلام</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٣٧ – ٣٩</a:t>
            </a:r>
            <a:endParaRPr lang="ar-SA" sz="1400" dirty="0"/>
          </a:p>
        </p:txBody>
      </p:sp>
      <p:sp>
        <p:nvSpPr>
          <p:cNvPr id="6" name="Shape 4"/>
          <p:cNvSpPr/>
          <p:nvPr/>
        </p:nvSpPr>
        <p:spPr>
          <a:xfrm>
            <a:off x="731520" y="1280160"/>
            <a:ext cx="10728655" cy="1590142"/>
          </a:xfrm>
          <a:prstGeom prst="roundRect">
            <a:avLst>
              <a:gd name="adj" fmla="val 5750"/>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0817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08176"/>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٣٧</a:t>
            </a:r>
            <a:endParaRPr lang="ar-SA" sz="1400" dirty="0"/>
          </a:p>
        </p:txBody>
      </p:sp>
      <p:sp>
        <p:nvSpPr>
          <p:cNvPr id="9" name="Text 7"/>
          <p:cNvSpPr txBox="1"/>
          <p:nvPr/>
        </p:nvSpPr>
        <p:spPr>
          <a:xfrm>
            <a:off x="914400" y="1408176"/>
            <a:ext cx="9677095" cy="1334110"/>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فَتَلَقَّىٰ ءَادَمُ مِن رَّبِّهِ كَلِمَٰتٍ فَتَابَ عَلَيْهِ إِنَّهُ هُوَ التَّوَّابُ الرَّحِيمُ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فتلقّى آدم من ربه كلمات دعا بها، وهي: ﴿ربنا ظلمنا أنفسنا وإن لم تغفر لنا وترحمنا لنكوننّ من الخاسرين﴾، فتاب الله عليه، إنه هو التواب الرحيم.</a:t>
            </a:r>
            <a:endParaRPr lang="ar-SA" sz="2800" dirty="0"/>
          </a:p>
        </p:txBody>
      </p:sp>
      <p:sp>
        <p:nvSpPr>
          <p:cNvPr id="10" name="Shape 8"/>
          <p:cNvSpPr/>
          <p:nvPr/>
        </p:nvSpPr>
        <p:spPr>
          <a:xfrm>
            <a:off x="731520" y="2998318"/>
            <a:ext cx="10728655" cy="1850288"/>
          </a:xfrm>
          <a:prstGeom prst="roundRect">
            <a:avLst>
              <a:gd name="adj" fmla="val 4942"/>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12633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126334"/>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٣٨</a:t>
            </a:r>
            <a:endParaRPr lang="ar-SA" sz="1400" dirty="0"/>
          </a:p>
        </p:txBody>
      </p:sp>
      <p:sp>
        <p:nvSpPr>
          <p:cNvPr id="13" name="Text 11"/>
          <p:cNvSpPr txBox="1"/>
          <p:nvPr/>
        </p:nvSpPr>
        <p:spPr>
          <a:xfrm>
            <a:off x="914400" y="3126334"/>
            <a:ext cx="9677095" cy="1594256"/>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قُلْنَا اهْبِطُواْ مِنْهَا جَمِيعًا فَإِمَّا يَأْتِيَنَّكُم مِّنِّي هُدًى فَمَن تَبِعَ هُدَايَ فَلَا خَوْفٌ عَلَيْهِمْ وَلَا هُمْ يَحْزَنُونَ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قلنا: انزلوا منها جميعًا، فإذا جاءكم مني هدى فمن اتّبعه فلا خوف عليهم ولا هم يحزنون.</a:t>
            </a:r>
            <a:endParaRPr lang="ar-SA" sz="2800" dirty="0"/>
          </a:p>
        </p:txBody>
      </p:sp>
      <p:sp>
        <p:nvSpPr>
          <p:cNvPr id="14" name="Shape 12"/>
          <p:cNvSpPr/>
          <p:nvPr/>
        </p:nvSpPr>
        <p:spPr>
          <a:xfrm>
            <a:off x="731520" y="4976622"/>
            <a:ext cx="10728655" cy="1287018"/>
          </a:xfrm>
          <a:prstGeom prst="roundRect">
            <a:avLst>
              <a:gd name="adj" fmla="val 710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5" name="Shape 13"/>
          <p:cNvSpPr/>
          <p:nvPr/>
        </p:nvSpPr>
        <p:spPr>
          <a:xfrm>
            <a:off x="10874959" y="5104638"/>
            <a:ext cx="475488" cy="475488"/>
          </a:xfrm>
          <a:prstGeom prst="octagon">
            <a:avLst/>
          </a:prstGeom>
          <a:solidFill>
            <a:schemeClr val="accent2"/>
          </a:solidFill>
          <a:ln w="15875">
            <a:solidFill>
              <a:schemeClr val="accent5"/>
            </a:solidFill>
            <a:prstDash val="solid"/>
          </a:ln>
        </p:spPr>
      </p:sp>
      <p:sp>
        <p:nvSpPr>
          <p:cNvPr id="16" name="Text 14"/>
          <p:cNvSpPr txBox="1"/>
          <p:nvPr/>
        </p:nvSpPr>
        <p:spPr>
          <a:xfrm>
            <a:off x="10874959" y="5104638"/>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٣٩</a:t>
            </a:r>
            <a:endParaRPr lang="ar-SA" sz="1400" dirty="0"/>
          </a:p>
        </p:txBody>
      </p:sp>
      <p:sp>
        <p:nvSpPr>
          <p:cNvPr id="17" name="Text 15"/>
          <p:cNvSpPr txBox="1"/>
          <p:nvPr/>
        </p:nvSpPr>
        <p:spPr>
          <a:xfrm>
            <a:off x="914400" y="5104638"/>
            <a:ext cx="9677095" cy="1030986"/>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وَالَّذِينَ كَفَرُواْ وَكَذَّبُواْ بِـَٔايَٰتِنَآ أُوْلَـٰئِكَ أَصْحَٰبُ النَّارِ هُمْ فِيهَا خَٰلِدُونَ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والذين كفروا وكذّبوا بآياتنا أولئك أهل النار خالدين فيها.</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7223760" y="1143000"/>
            <a:ext cx="4114800" cy="411480"/>
          </a:xfrm>
          <a:prstGeom prst="rect">
            <a:avLst/>
          </a:prstGeom>
          <a:noFill/>
          <a:ln/>
        </p:spPr>
        <p:txBody>
          <a:bodyPr wrap="square" lIns="0" tIns="0" rIns="0" bIns="0" rtlCol="0" anchor="t"/>
          <a:lstStyle/>
          <a:p>
            <a:pPr rtl="1" algn="ctr" indent="0" marL="0">
              <a:buNone/>
            </a:pPr>
            <a:r>
              <a:rPr lang="ar-SA" altLang="en-US" sz="1800" b="1" dirty="0">
                <a:solidFill>
                  <a:schemeClr val="accent5"/>
                </a:solidFill>
              </a:rPr>
              <a:t>المقطع</a:t>
            </a:r>
            <a:endParaRPr lang="ar-SA" sz="1800" dirty="0"/>
          </a:p>
        </p:txBody>
      </p:sp>
      <p:sp>
        <p:nvSpPr>
          <p:cNvPr id="3" name="Shape 1"/>
          <p:cNvSpPr/>
          <p:nvPr/>
        </p:nvSpPr>
        <p:spPr>
          <a:xfrm>
            <a:off x="8915400" y="1645920"/>
            <a:ext cx="731520" cy="731520"/>
          </a:xfrm>
          <a:prstGeom prst="octagon">
            <a:avLst/>
          </a:prstGeom>
          <a:solidFill>
            <a:schemeClr val="accent2"/>
          </a:solidFill>
          <a:ln w="15875">
            <a:solidFill>
              <a:schemeClr val="accent5"/>
            </a:solidFill>
            <a:prstDash val="solid"/>
          </a:ln>
        </p:spPr>
      </p:sp>
      <p:sp>
        <p:nvSpPr>
          <p:cNvPr id="4" name="Text 2"/>
          <p:cNvSpPr txBox="1"/>
          <p:nvPr/>
        </p:nvSpPr>
        <p:spPr>
          <a:xfrm>
            <a:off x="8915400" y="164592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bg1"/>
                </a:solidFill>
                <a:latin typeface="Arial" pitchFamily="34" charset="0"/>
                <a:ea typeface="Arial" pitchFamily="34" charset="-122"/>
                <a:cs typeface="Arial" pitchFamily="34" charset="-120"/>
              </a:rPr>
              <a:t>٥</a:t>
            </a:r>
            <a:endParaRPr lang="ar-SA" sz="1800" dirty="0"/>
          </a:p>
        </p:txBody>
      </p:sp>
      <p:sp>
        <p:nvSpPr>
          <p:cNvPr id="5" name="Text 3"/>
          <p:cNvSpPr txBox="1"/>
          <p:nvPr/>
        </p:nvSpPr>
        <p:spPr>
          <a:xfrm>
            <a:off x="7269480" y="2606040"/>
            <a:ext cx="4023360" cy="1737360"/>
          </a:xfrm>
          <a:prstGeom prst="rect">
            <a:avLst/>
          </a:prstGeom>
          <a:noFill/>
          <a:ln/>
        </p:spPr>
        <p:txBody>
          <a:bodyPr wrap="square" lIns="0" tIns="0" rIns="0" bIns="0" rtlCol="0" anchor="ctr"/>
          <a:lstStyle/>
          <a:p>
            <a:pPr rtl="1" algn="ctr" indent="0" marL="0">
              <a:buNone/>
            </a:pPr>
            <a:r>
              <a:rPr lang="ar-SA" altLang="en-US" sz="3800" b="1" dirty="0">
                <a:solidFill>
                  <a:schemeClr val="bg1"/>
                </a:solidFill>
                <a:latin typeface="Sakkal Majalla" pitchFamily="34" charset="0"/>
                <a:ea typeface="Sakkal Majalla" pitchFamily="34" charset="-122"/>
                <a:cs typeface="Sakkal Majalla" pitchFamily="34" charset="-120"/>
              </a:rPr>
              <a:t>نِعَم الله على بني إسرائيل</a:t>
            </a:r>
            <a:endParaRPr lang="ar-SA" sz="3800" dirty="0"/>
          </a:p>
        </p:txBody>
      </p:sp>
      <p:sp>
        <p:nvSpPr>
          <p:cNvPr id="6" name="Text 4"/>
          <p:cNvSpPr txBox="1"/>
          <p:nvPr/>
        </p:nvSpPr>
        <p:spPr>
          <a:xfrm>
            <a:off x="7269480" y="4526280"/>
            <a:ext cx="4023360" cy="457200"/>
          </a:xfrm>
          <a:prstGeom prst="rect">
            <a:avLst/>
          </a:prstGeom>
          <a:noFill/>
          <a:ln/>
        </p:spPr>
        <p:txBody>
          <a:bodyPr wrap="square" lIns="0" tIns="0" rIns="0" bIns="0" rtlCol="0" anchor="t"/>
          <a:lstStyle/>
          <a:p>
            <a:pPr rtl="1" algn="ctr" indent="0" marL="0">
              <a:buNone/>
            </a:pPr>
            <a:r>
              <a:rPr lang="ar-SA" altLang="en-US" sz="2000" b="1" dirty="0">
                <a:solidFill>
                  <a:schemeClr val="accent5"/>
                </a:solidFill>
              </a:rPr>
              <a:t>الآيات ٤٠ – ٦٦</a:t>
            </a:r>
            <a:endParaRPr lang="ar-SA" sz="2000" dirty="0"/>
          </a:p>
        </p:txBody>
      </p:sp>
      <p:sp>
        <p:nvSpPr>
          <p:cNvPr id="7" name="Shape 5"/>
          <p:cNvSpPr/>
          <p:nvPr/>
        </p:nvSpPr>
        <p:spPr>
          <a:xfrm>
            <a:off x="685800" y="1783080"/>
            <a:ext cx="5806440" cy="3291840"/>
          </a:xfrm>
          <a:prstGeom prst="roundRect">
            <a:avLst>
              <a:gd name="adj" fmla="val 3333"/>
            </a:avLst>
          </a:prstGeom>
          <a:solidFill>
            <a:schemeClr val="bg2"/>
          </a:solidFill>
          <a:ln w="19050">
            <a:solidFill>
              <a:schemeClr val="accent5"/>
            </a:solidFill>
            <a:prstDash val="solid"/>
          </a:ln>
        </p:spPr>
      </p:sp>
      <p:sp>
        <p:nvSpPr>
          <p:cNvPr id="8" name="Shape 6"/>
          <p:cNvSpPr/>
          <p:nvPr/>
        </p:nvSpPr>
        <p:spPr>
          <a:xfrm>
            <a:off x="4343400" y="2011680"/>
            <a:ext cx="1920240" cy="420624"/>
          </a:xfrm>
          <a:prstGeom prst="roundRect">
            <a:avLst>
              <a:gd name="adj" fmla="val 50000"/>
            </a:avLst>
          </a:prstGeom>
          <a:solidFill>
            <a:schemeClr val="tx2"/>
          </a:solidFill>
          <a:ln/>
        </p:spPr>
      </p:sp>
      <p:sp>
        <p:nvSpPr>
          <p:cNvPr id="9" name="Text 7"/>
          <p:cNvSpPr txBox="1"/>
          <p:nvPr/>
        </p:nvSpPr>
        <p:spPr>
          <a:xfrm>
            <a:off x="4343400" y="201168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مقصد المقطع</a:t>
            </a:r>
            <a:endParaRPr lang="ar-SA" sz="1600" dirty="0"/>
          </a:p>
        </p:txBody>
      </p:sp>
      <p:sp>
        <p:nvSpPr>
          <p:cNvPr id="10" name="Text 8"/>
          <p:cNvSpPr txBox="1"/>
          <p:nvPr/>
        </p:nvSpPr>
        <p:spPr>
          <a:xfrm>
            <a:off x="960120" y="2560320"/>
            <a:ext cx="5257800" cy="23317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تذكير بني إسرائيل بنعم الله عليهم، وبيان مواقفهم من موسى عليه السلام، وعاقبة المخالفة.</a:t>
            </a:r>
            <a:endParaRPr lang="ar-SA"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نِعَم الله على بني إسرائيل</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٤٠ – ٤١</a:t>
            </a:r>
            <a:endParaRPr lang="ar-SA" sz="1400" dirty="0"/>
          </a:p>
        </p:txBody>
      </p:sp>
      <p:sp>
        <p:nvSpPr>
          <p:cNvPr id="6" name="Shape 4"/>
          <p:cNvSpPr/>
          <p:nvPr/>
        </p:nvSpPr>
        <p:spPr>
          <a:xfrm>
            <a:off x="731520" y="14356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563624"/>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563624"/>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٤٠</a:t>
            </a:r>
            <a:endParaRPr lang="ar-SA" sz="1400" dirty="0"/>
          </a:p>
        </p:txBody>
      </p:sp>
      <p:sp>
        <p:nvSpPr>
          <p:cNvPr id="9" name="Text 7"/>
          <p:cNvSpPr txBox="1"/>
          <p:nvPr/>
        </p:nvSpPr>
        <p:spPr>
          <a:xfrm>
            <a:off x="914400" y="15636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يَٰبَنِي إِسْرَـٰءِيلَ اذْكُرُواْ نِعْمَتِيَ الَّتِي أَنْعَمْتُ عَلَيْكُمْ وَأَوْفُواْ بِعَهْدِي أُوفِ بِعَهْدِكُمْ وَإِيَّـٰيَ فَارْهَبُونِ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يا بني إسرائيل -أبناء يعقوب عليه السلام- اذكروا نعمي عليكم، وأوفوا بعهدي بالإيمان بمحمد صلى الله عليه وسلم أُوفِ بعهدكم بدخول الجنة، وإياي وحدي فخافوا.</a:t>
            </a:r>
            <a:endParaRPr lang="ar-SA" sz="2800" dirty="0"/>
          </a:p>
        </p:txBody>
      </p:sp>
      <p:sp>
        <p:nvSpPr>
          <p:cNvPr id="10" name="Shape 8"/>
          <p:cNvSpPr/>
          <p:nvPr/>
        </p:nvSpPr>
        <p:spPr>
          <a:xfrm>
            <a:off x="731520" y="38359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96392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963924"/>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٤١</a:t>
            </a:r>
            <a:endParaRPr lang="ar-SA" sz="1400" dirty="0"/>
          </a:p>
        </p:txBody>
      </p:sp>
      <p:sp>
        <p:nvSpPr>
          <p:cNvPr id="13" name="Text 11"/>
          <p:cNvSpPr txBox="1"/>
          <p:nvPr/>
        </p:nvSpPr>
        <p:spPr>
          <a:xfrm>
            <a:off x="914400" y="39639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وَءَامِنُواْ بِمَآ أَنزَلْتُ مُصَدِّقًا لِّمَا مَعَكُمْ وَلَا تَكُونُواْ أَوَّلَ كَافِرٍ بِهِ وَلَا تَشْتَرُواْ بِـَٔايَٰتِي ثَمَنًا قَلِيلًا وَإِيَّـٰيَ فَاتَّقُونِ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وآمنوا بالقرآن الموافق لما معكم من التوراة، ولا تكونوا أول من يكفر به، ولا تبيعوا آياتي بثمن قليل من الدنيا، وإياي فاتقوا.</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نِعَم الله على بني إسرائيل</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٤٢ – ٤٤</a:t>
            </a:r>
            <a:endParaRPr lang="ar-SA" sz="1400" dirty="0"/>
          </a:p>
        </p:txBody>
      </p:sp>
      <p:sp>
        <p:nvSpPr>
          <p:cNvPr id="6" name="Shape 4"/>
          <p:cNvSpPr/>
          <p:nvPr/>
        </p:nvSpPr>
        <p:spPr>
          <a:xfrm>
            <a:off x="731520" y="1535049"/>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663065"/>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663065"/>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٤٢</a:t>
            </a:r>
            <a:endParaRPr lang="ar-SA" sz="1400" dirty="0"/>
          </a:p>
        </p:txBody>
      </p:sp>
      <p:sp>
        <p:nvSpPr>
          <p:cNvPr id="9" name="Text 7"/>
          <p:cNvSpPr txBox="1"/>
          <p:nvPr/>
        </p:nvSpPr>
        <p:spPr>
          <a:xfrm>
            <a:off x="914400" y="1663065"/>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وَلَا تَلْبِسُواْ الْحَقَّ بِالْبَٰطِلِ وَتَكْتُمُواْ الْحَقَّ وَأَنتُمْ تَعْلَمُونَ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ولا تخلطوا الحق بالباطل، ولا تُخفوا صفة محمد صلى الله عليه وسلم وأنتم تعلمون.</a:t>
            </a:r>
            <a:endParaRPr lang="ar-SA" sz="2800" dirty="0"/>
          </a:p>
        </p:txBody>
      </p:sp>
      <p:sp>
        <p:nvSpPr>
          <p:cNvPr id="10" name="Shape 8"/>
          <p:cNvSpPr/>
          <p:nvPr/>
        </p:nvSpPr>
        <p:spPr>
          <a:xfrm>
            <a:off x="731520" y="306895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19697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196971"/>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٤٣</a:t>
            </a:r>
            <a:endParaRPr lang="ar-SA" sz="1400" dirty="0"/>
          </a:p>
        </p:txBody>
      </p:sp>
      <p:sp>
        <p:nvSpPr>
          <p:cNvPr id="13" name="Text 11"/>
          <p:cNvSpPr txBox="1"/>
          <p:nvPr/>
        </p:nvSpPr>
        <p:spPr>
          <a:xfrm>
            <a:off x="914400" y="319697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وَأَقِيمُواْ الصَّلَوٰةَ وَءَاتُواْ الزَّكَوٰةَ وَارْكَعُواْ مَعَ الرَّـٰكِعِينَ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وأدّوا الصلاة، وأعطوا الزكاة، وصلّوا مع المصلّين من أمة محمد صلى الله عليه وسلم.</a:t>
            </a:r>
            <a:endParaRPr lang="ar-SA" sz="2800" dirty="0"/>
          </a:p>
        </p:txBody>
      </p:sp>
      <p:sp>
        <p:nvSpPr>
          <p:cNvPr id="14" name="Shape 12"/>
          <p:cNvSpPr/>
          <p:nvPr/>
        </p:nvSpPr>
        <p:spPr>
          <a:xfrm>
            <a:off x="731520" y="4602861"/>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5" name="Shape 13"/>
          <p:cNvSpPr/>
          <p:nvPr/>
        </p:nvSpPr>
        <p:spPr>
          <a:xfrm>
            <a:off x="10874959" y="4730877"/>
            <a:ext cx="475488" cy="475488"/>
          </a:xfrm>
          <a:prstGeom prst="octagon">
            <a:avLst/>
          </a:prstGeom>
          <a:solidFill>
            <a:schemeClr val="accent2"/>
          </a:solidFill>
          <a:ln w="15875">
            <a:solidFill>
              <a:schemeClr val="accent5"/>
            </a:solidFill>
            <a:prstDash val="solid"/>
          </a:ln>
        </p:spPr>
      </p:sp>
      <p:sp>
        <p:nvSpPr>
          <p:cNvPr id="16" name="Text 14"/>
          <p:cNvSpPr txBox="1"/>
          <p:nvPr/>
        </p:nvSpPr>
        <p:spPr>
          <a:xfrm>
            <a:off x="10874959" y="4730877"/>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٤٤</a:t>
            </a:r>
            <a:endParaRPr lang="ar-SA" sz="1400" dirty="0"/>
          </a:p>
        </p:txBody>
      </p:sp>
      <p:sp>
        <p:nvSpPr>
          <p:cNvPr id="17" name="Text 15"/>
          <p:cNvSpPr txBox="1"/>
          <p:nvPr/>
        </p:nvSpPr>
        <p:spPr>
          <a:xfrm>
            <a:off x="914400" y="4730877"/>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أَتَأْمُرُونَ النَّاسَ بِالْبِرِّ وَتَنسَوْنَ أَنفُسَكُمْ وَأَنتُمْ تَتْلُونَ الْكِتَٰبَ أَفَلَا تَعْقِلُونَ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أتأمرون الناس بالخير وتتركون أنفسكم، وأنتم تقرؤون التوراة؟ أفلا تعقلون؟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نِعَم الله على بني إسرائيل</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٤٥ – ٤٧</a:t>
            </a:r>
            <a:endParaRPr lang="ar-SA" sz="1400" dirty="0"/>
          </a:p>
        </p:txBody>
      </p:sp>
      <p:sp>
        <p:nvSpPr>
          <p:cNvPr id="6" name="Shape 4"/>
          <p:cNvSpPr/>
          <p:nvPr/>
        </p:nvSpPr>
        <p:spPr>
          <a:xfrm>
            <a:off x="731520" y="1535049"/>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663065"/>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663065"/>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٤٥</a:t>
            </a:r>
            <a:endParaRPr lang="ar-SA" sz="1400" dirty="0"/>
          </a:p>
        </p:txBody>
      </p:sp>
      <p:sp>
        <p:nvSpPr>
          <p:cNvPr id="9" name="Text 7"/>
          <p:cNvSpPr txBox="1"/>
          <p:nvPr/>
        </p:nvSpPr>
        <p:spPr>
          <a:xfrm>
            <a:off x="914400" y="1663065"/>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وَاسْتَعِينُواْ بِالصَّبْرِ وَالصَّلَوٰةِ وَإِنَّهَا لَكَبِيرَةٌ إِلَّا عَلَى الْخَٰشِعِينَ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واستعينوا على أموركم بالصبر والصلاة، وإنها لثقيلة إلا على الخاشعين.</a:t>
            </a:r>
            <a:endParaRPr lang="ar-SA" sz="2800" dirty="0"/>
          </a:p>
        </p:txBody>
      </p:sp>
      <p:sp>
        <p:nvSpPr>
          <p:cNvPr id="10" name="Shape 8"/>
          <p:cNvSpPr/>
          <p:nvPr/>
        </p:nvSpPr>
        <p:spPr>
          <a:xfrm>
            <a:off x="731520" y="306895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19697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196971"/>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٤٦</a:t>
            </a:r>
            <a:endParaRPr lang="ar-SA" sz="1400" dirty="0"/>
          </a:p>
        </p:txBody>
      </p:sp>
      <p:sp>
        <p:nvSpPr>
          <p:cNvPr id="13" name="Text 11"/>
          <p:cNvSpPr txBox="1"/>
          <p:nvPr/>
        </p:nvSpPr>
        <p:spPr>
          <a:xfrm>
            <a:off x="914400" y="319697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الَّذِينَ يَظُنُّونَ أَنَّهُم مُّلَٰقُواْ رَبِّهِمْ وَأَنَّهُمْ إِلَيْهِ رَٰجِعُونَ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الذين يوقنون أنهم سيلقون ربهم، وأنهم إليه راجعون.</a:t>
            </a:r>
            <a:endParaRPr lang="ar-SA" sz="2800" dirty="0"/>
          </a:p>
        </p:txBody>
      </p:sp>
      <p:sp>
        <p:nvSpPr>
          <p:cNvPr id="14" name="Shape 12"/>
          <p:cNvSpPr/>
          <p:nvPr/>
        </p:nvSpPr>
        <p:spPr>
          <a:xfrm>
            <a:off x="731520" y="4602861"/>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5" name="Shape 13"/>
          <p:cNvSpPr/>
          <p:nvPr/>
        </p:nvSpPr>
        <p:spPr>
          <a:xfrm>
            <a:off x="10874959" y="4730877"/>
            <a:ext cx="475488" cy="475488"/>
          </a:xfrm>
          <a:prstGeom prst="octagon">
            <a:avLst/>
          </a:prstGeom>
          <a:solidFill>
            <a:schemeClr val="accent2"/>
          </a:solidFill>
          <a:ln w="15875">
            <a:solidFill>
              <a:schemeClr val="accent5"/>
            </a:solidFill>
            <a:prstDash val="solid"/>
          </a:ln>
        </p:spPr>
      </p:sp>
      <p:sp>
        <p:nvSpPr>
          <p:cNvPr id="16" name="Text 14"/>
          <p:cNvSpPr txBox="1"/>
          <p:nvPr/>
        </p:nvSpPr>
        <p:spPr>
          <a:xfrm>
            <a:off x="10874959" y="4730877"/>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٤٧</a:t>
            </a:r>
            <a:endParaRPr lang="ar-SA" sz="1400" dirty="0"/>
          </a:p>
        </p:txBody>
      </p:sp>
      <p:sp>
        <p:nvSpPr>
          <p:cNvPr id="17" name="Text 15"/>
          <p:cNvSpPr txBox="1"/>
          <p:nvPr/>
        </p:nvSpPr>
        <p:spPr>
          <a:xfrm>
            <a:off x="914400" y="4730877"/>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يَٰبَنِي إِسْرَـٰءِيلَ اذْكُرُواْ نِعْمَتِيَ الَّتِي أَنْعَمْتُ عَلَيْكُمْ وَأَنِّي فَضَّلْتُكُمْ عَلَى الْعَٰلَمِينَ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يا بني إسرائيل، اذكروا نعمتي عليكم، وأني فضّلتكم على أهل زمانكم.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نِعَم الله على بني إسرائيل</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٤٨ – ٤٩</a:t>
            </a:r>
            <a:endParaRPr lang="ar-SA" sz="1400" dirty="0"/>
          </a:p>
        </p:txBody>
      </p:sp>
      <p:sp>
        <p:nvSpPr>
          <p:cNvPr id="6" name="Shape 4"/>
          <p:cNvSpPr/>
          <p:nvPr/>
        </p:nvSpPr>
        <p:spPr>
          <a:xfrm>
            <a:off x="731520" y="1587170"/>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71518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715186"/>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٤٨</a:t>
            </a:r>
            <a:endParaRPr lang="ar-SA" sz="1400" dirty="0"/>
          </a:p>
        </p:txBody>
      </p:sp>
      <p:sp>
        <p:nvSpPr>
          <p:cNvPr id="9" name="Text 7"/>
          <p:cNvSpPr txBox="1"/>
          <p:nvPr/>
        </p:nvSpPr>
        <p:spPr>
          <a:xfrm>
            <a:off x="914400" y="1715186"/>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وَاتَّقُواْ يَوْمًا لَّا تَجْزِي نَفْسٌ عَن نَّفْسٍ شَيْـًٔا وَلَا يُقْبَلُ مِنْهَا شَفَٰعَةٌ وَلَا يُؤْخَذُ مِنْهَا عَدْلٌ وَلَا هُمْ يُنصَرُونَ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واحذروا يومًا لا تغني فيه نفس عن نفس شيئًا، ولا تُقبل منها شفاعة، ولا يُؤخذ منها فداء، ولا ينصرهم أحد.</a:t>
            </a:r>
            <a:endParaRPr lang="ar-SA" sz="2800" dirty="0"/>
          </a:p>
        </p:txBody>
      </p:sp>
      <p:sp>
        <p:nvSpPr>
          <p:cNvPr id="10" name="Shape 8"/>
          <p:cNvSpPr/>
          <p:nvPr/>
        </p:nvSpPr>
        <p:spPr>
          <a:xfrm>
            <a:off x="731520" y="3684346"/>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812362"/>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812362"/>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٤٩</a:t>
            </a:r>
            <a:endParaRPr lang="ar-SA" sz="1400" dirty="0"/>
          </a:p>
        </p:txBody>
      </p:sp>
      <p:sp>
        <p:nvSpPr>
          <p:cNvPr id="13" name="Text 11"/>
          <p:cNvSpPr txBox="1"/>
          <p:nvPr/>
        </p:nvSpPr>
        <p:spPr>
          <a:xfrm>
            <a:off x="914400" y="3812362"/>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 نَجَّيْنَٰكُم مِّنْ ءَالِ فِرْعَوْنَ يَسُومُونَكُمْ سُوءَ الْعَذَابِ يُذَبِّحُونَ أَبْنَآءَكُمْ وَيَسْتَحْيُونَ نِسَآءَكُمْ وَفِي ذَٰلِكُم بَلَآءٌ مِّن رَّبِّكُمْ عَظِيمٌ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واذكروا حين أنجيناكم من فرعون وجنوده، يذيقونكم أشد العذاب: يذبحون أبناءكم، ويتركون بناتكم أحياء للخدمة، وفي ذلك اختبار عظيم من ربكم.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نِعَم الله على بني إسرائيل</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٥٠ – ٥٢</a:t>
            </a:r>
            <a:endParaRPr lang="ar-SA" sz="1400" dirty="0"/>
          </a:p>
        </p:txBody>
      </p:sp>
      <p:sp>
        <p:nvSpPr>
          <p:cNvPr id="6" name="Shape 4"/>
          <p:cNvSpPr/>
          <p:nvPr/>
        </p:nvSpPr>
        <p:spPr>
          <a:xfrm>
            <a:off x="731520" y="1535049"/>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663065"/>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663065"/>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٥٠</a:t>
            </a:r>
            <a:endParaRPr lang="ar-SA" sz="1400" dirty="0"/>
          </a:p>
        </p:txBody>
      </p:sp>
      <p:sp>
        <p:nvSpPr>
          <p:cNvPr id="9" name="Text 7"/>
          <p:cNvSpPr txBox="1"/>
          <p:nvPr/>
        </p:nvSpPr>
        <p:spPr>
          <a:xfrm>
            <a:off x="914400" y="1663065"/>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 فَرَقْنَا بِكُمُ الْبَحْرَ فَأَنجَيْنَٰكُمْ وَأَغْرَقْنَآ ءَالَ فِرْعَوْنَ وَأَنتُمْ تَنظُرُونَ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واذكروا حين شققنا لكم البحر فأنجيناكم، وأغرقنا فرعون وجنوده وأنتم تنظرون.</a:t>
            </a:r>
            <a:endParaRPr lang="ar-SA" sz="2800" dirty="0"/>
          </a:p>
        </p:txBody>
      </p:sp>
      <p:sp>
        <p:nvSpPr>
          <p:cNvPr id="10" name="Shape 8"/>
          <p:cNvSpPr/>
          <p:nvPr/>
        </p:nvSpPr>
        <p:spPr>
          <a:xfrm>
            <a:off x="731520" y="306895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19697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196971"/>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٥١</a:t>
            </a:r>
            <a:endParaRPr lang="ar-SA" sz="1400" dirty="0"/>
          </a:p>
        </p:txBody>
      </p:sp>
      <p:sp>
        <p:nvSpPr>
          <p:cNvPr id="13" name="Text 11"/>
          <p:cNvSpPr txBox="1"/>
          <p:nvPr/>
        </p:nvSpPr>
        <p:spPr>
          <a:xfrm>
            <a:off x="914400" y="319697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 وَٰعَدْنَا مُوسَىٰ أَرْبَعِينَ لَيْلَةً ثُمَّ اتَّخَذْتُمُ الْعِجْلَ مِن بَعْدِهِ وَأَنتُمْ ظَٰلِمُونَ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واذكروا حين واعدنا موسى أربعين ليلة لنعطيه التوراة، فعبدتم العجل في غيابه وأنتم ظالمون.</a:t>
            </a:r>
            <a:endParaRPr lang="ar-SA" sz="2800" dirty="0"/>
          </a:p>
        </p:txBody>
      </p:sp>
      <p:sp>
        <p:nvSpPr>
          <p:cNvPr id="14" name="Shape 12"/>
          <p:cNvSpPr/>
          <p:nvPr/>
        </p:nvSpPr>
        <p:spPr>
          <a:xfrm>
            <a:off x="731520" y="4602861"/>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5" name="Shape 13"/>
          <p:cNvSpPr/>
          <p:nvPr/>
        </p:nvSpPr>
        <p:spPr>
          <a:xfrm>
            <a:off x="10874959" y="4730877"/>
            <a:ext cx="475488" cy="475488"/>
          </a:xfrm>
          <a:prstGeom prst="octagon">
            <a:avLst/>
          </a:prstGeom>
          <a:solidFill>
            <a:schemeClr val="accent2"/>
          </a:solidFill>
          <a:ln w="15875">
            <a:solidFill>
              <a:schemeClr val="accent5"/>
            </a:solidFill>
            <a:prstDash val="solid"/>
          </a:ln>
        </p:spPr>
      </p:sp>
      <p:sp>
        <p:nvSpPr>
          <p:cNvPr id="16" name="Text 14"/>
          <p:cNvSpPr txBox="1"/>
          <p:nvPr/>
        </p:nvSpPr>
        <p:spPr>
          <a:xfrm>
            <a:off x="10874959" y="4730877"/>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٥٢</a:t>
            </a:r>
            <a:endParaRPr lang="ar-SA" sz="1400" dirty="0"/>
          </a:p>
        </p:txBody>
      </p:sp>
      <p:sp>
        <p:nvSpPr>
          <p:cNvPr id="17" name="Text 15"/>
          <p:cNvSpPr txBox="1"/>
          <p:nvPr/>
        </p:nvSpPr>
        <p:spPr>
          <a:xfrm>
            <a:off x="914400" y="4730877"/>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ثُمَّ عَفَوْنَا عَنكُم مِّن بَعْدِ ذَٰلِكَ لَعَلَّكُمْ تَشْكُرُونَ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ثم عفونا عنكم بعد ذلك لعلكم تشكرون.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نِعَم الله على بني إسرائيل</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٥٣ – ٥٤</a:t>
            </a:r>
            <a:endParaRPr lang="ar-SA" sz="1400" dirty="0"/>
          </a:p>
        </p:txBody>
      </p:sp>
      <p:sp>
        <p:nvSpPr>
          <p:cNvPr id="6" name="Shape 4"/>
          <p:cNvSpPr/>
          <p:nvPr/>
        </p:nvSpPr>
        <p:spPr>
          <a:xfrm>
            <a:off x="731520" y="186880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99682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996821"/>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٥٣</a:t>
            </a:r>
            <a:endParaRPr lang="ar-SA" sz="1400" dirty="0"/>
          </a:p>
        </p:txBody>
      </p:sp>
      <p:sp>
        <p:nvSpPr>
          <p:cNvPr id="9" name="Text 7"/>
          <p:cNvSpPr txBox="1"/>
          <p:nvPr/>
        </p:nvSpPr>
        <p:spPr>
          <a:xfrm>
            <a:off x="914400" y="199682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 ءَاتَيْنَا مُوسَى الْكِتَٰبَ وَالْفُرْقَانَ لَعَلَّكُمْ تَهْتَدُونَ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واذكروا حين أعطينا موسى التوراة التي تفرّق بين الحق والباطل لعلكم تهتدون.</a:t>
            </a:r>
            <a:endParaRPr lang="ar-SA" sz="2800" dirty="0"/>
          </a:p>
        </p:txBody>
      </p:sp>
      <p:sp>
        <p:nvSpPr>
          <p:cNvPr id="10" name="Shape 8"/>
          <p:cNvSpPr/>
          <p:nvPr/>
        </p:nvSpPr>
        <p:spPr>
          <a:xfrm>
            <a:off x="731520" y="3402711"/>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530727"/>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530727"/>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٥٤</a:t>
            </a:r>
            <a:endParaRPr lang="ar-SA" sz="1400" dirty="0"/>
          </a:p>
        </p:txBody>
      </p:sp>
      <p:sp>
        <p:nvSpPr>
          <p:cNvPr id="13" name="Text 11"/>
          <p:cNvSpPr txBox="1"/>
          <p:nvPr/>
        </p:nvSpPr>
        <p:spPr>
          <a:xfrm>
            <a:off x="914400" y="3530727"/>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 قَالَ مُوسَىٰ لِقَوْمِهِ يَٰقَوْمِ إِنَّكُمْ ظَلَمْتُمْ أَنفُسَكُم بِاتِّخَاذِكُمُ الْعِجْلَ فَتُوبُواْ إِلَىٰ بَارِئِكُمْ فَاقْتُلُواْ أَنفُسَكُمْ ذَٰلِكُمْ خَيْرٌ لَّكُمْ عِندَ بَارِئِكُمْ فَتَابَ عَلَيْكُمْ إِنَّهُ هُوَ التَّوَّابُ الرَّحِيمُ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وحين قال موسى لقومه: إنكم ظلمتم أنفسكم بعبادة العجل، فتوبوا إلى خالقكم بأن يقتل بعضكم بعضًا، ففعلوا فتاب الله عليهم، إنه هو التواب الرحيم.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نِعَم الله على بني إسرائيل</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٥٥ – ٥٦</a:t>
            </a:r>
            <a:endParaRPr lang="ar-SA" sz="1400" dirty="0"/>
          </a:p>
        </p:txBody>
      </p:sp>
      <p:sp>
        <p:nvSpPr>
          <p:cNvPr id="6" name="Shape 4"/>
          <p:cNvSpPr/>
          <p:nvPr/>
        </p:nvSpPr>
        <p:spPr>
          <a:xfrm>
            <a:off x="731520" y="2302002"/>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430018"/>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430018"/>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٥٥</a:t>
            </a:r>
            <a:endParaRPr lang="ar-SA" sz="1400" dirty="0"/>
          </a:p>
        </p:txBody>
      </p:sp>
      <p:sp>
        <p:nvSpPr>
          <p:cNvPr id="9" name="Text 7"/>
          <p:cNvSpPr txBox="1"/>
          <p:nvPr/>
        </p:nvSpPr>
        <p:spPr>
          <a:xfrm>
            <a:off x="914400" y="2430018"/>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 قُلْتُمْ يَٰمُوسَىٰ لَن نُّؤْمِنَ لَكَ حَتَّىٰ نَرَى اللَّهَ جَهْرَةً فَأَخَذَتْكُمُ الصَّـٰعِقَةُ وَأَنتُمْ تَنظُرُونَ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واذكروا حين قلتم: يا موسى لن نصدّقك حتى نرى الله عيانًا، فأخذتكم الصاعقة وأنتم تنظرون.</a:t>
            </a:r>
            <a:endParaRPr lang="ar-SA" sz="2800" dirty="0"/>
          </a:p>
        </p:txBody>
      </p:sp>
      <p:sp>
        <p:nvSpPr>
          <p:cNvPr id="10" name="Shape 8"/>
          <p:cNvSpPr/>
          <p:nvPr/>
        </p:nvSpPr>
        <p:spPr>
          <a:xfrm>
            <a:off x="731520" y="3835908"/>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96392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963924"/>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٥٦</a:t>
            </a:r>
            <a:endParaRPr lang="ar-SA" sz="1400" dirty="0"/>
          </a:p>
        </p:txBody>
      </p:sp>
      <p:sp>
        <p:nvSpPr>
          <p:cNvPr id="13" name="Text 11"/>
          <p:cNvSpPr txBox="1"/>
          <p:nvPr/>
        </p:nvSpPr>
        <p:spPr>
          <a:xfrm>
            <a:off x="914400" y="3963924"/>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ثُمَّ بَعَثْنَٰكُم مِّن بَعْدِ مَوْتِكُمْ لَعَلَّكُمْ تَشْكُرُونَ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ثم أحييناكم بعد موتكم لعلكم تشكرون.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نِعَم الله على بني إسرائيل</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٥٧ – ٥٨</a:t>
            </a:r>
            <a:endParaRPr lang="ar-SA" sz="1400" dirty="0"/>
          </a:p>
        </p:txBody>
      </p:sp>
      <p:sp>
        <p:nvSpPr>
          <p:cNvPr id="6" name="Shape 4"/>
          <p:cNvSpPr/>
          <p:nvPr/>
        </p:nvSpPr>
        <p:spPr>
          <a:xfrm>
            <a:off x="731520" y="14356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563624"/>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563624"/>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٥٧</a:t>
            </a:r>
            <a:endParaRPr lang="ar-SA" sz="1400" dirty="0"/>
          </a:p>
        </p:txBody>
      </p:sp>
      <p:sp>
        <p:nvSpPr>
          <p:cNvPr id="9" name="Text 7"/>
          <p:cNvSpPr txBox="1"/>
          <p:nvPr/>
        </p:nvSpPr>
        <p:spPr>
          <a:xfrm>
            <a:off x="914400" y="15636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وَظَلَّلْنَا عَلَيْكُمُ الْغَمَامَ وَأَنزَلْنَا عَلَيْكُمُ الْمَنَّ وَالسَّلْوَىٰ كُلُواْ مِن طَيِّبَٰتِ مَا رَزَقْنَٰكُمْ وَمَا ظَلَمُونَا وَلَٰكِن كَانُواْ أَنفُسَهُمْ يَظْلِمُونَ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وجعلنا السحاب يظلّكم في التيه، وأنزلنا عليكم المنّ -وهو طعام حلو- والسلوى -وهو طير يشبه السُّمانى-، وقلنا: كلوا من الطيبات، فما ظلمونا بعصيانهم ولكن ظلموا أنفسهم.</a:t>
            </a:r>
            <a:endParaRPr lang="ar-SA" sz="2800" dirty="0"/>
          </a:p>
        </p:txBody>
      </p:sp>
      <p:sp>
        <p:nvSpPr>
          <p:cNvPr id="10" name="Shape 8"/>
          <p:cNvSpPr/>
          <p:nvPr/>
        </p:nvSpPr>
        <p:spPr>
          <a:xfrm>
            <a:off x="731520" y="38359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96392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963924"/>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٥٨</a:t>
            </a:r>
            <a:endParaRPr lang="ar-SA" sz="1400" dirty="0"/>
          </a:p>
        </p:txBody>
      </p:sp>
      <p:sp>
        <p:nvSpPr>
          <p:cNvPr id="13" name="Text 11"/>
          <p:cNvSpPr txBox="1"/>
          <p:nvPr/>
        </p:nvSpPr>
        <p:spPr>
          <a:xfrm>
            <a:off x="914400" y="39639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 قُلْنَا ادْخُلُواْ هَٰذِهِ الْقَرْيَةَ فَكُلُواْ مِنْهَا حَيْثُ شِئْتُمْ رَغَدًا وَادْخُلُواْ الْبَابَ سُجَّدًا وَقُولُواْ حِطَّةٌ نَّغْفِرْ لَكُمْ خَطَٰيَٰكُمْ وَسَنَزِيدُ الْمُحْسِنِينَ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وحين قلنا: ادخلوا بيت المقدس وكلوا منها هنيئًا حيث شئتم، وادخلوا الباب خاضعين، وقولوا: «حِطّة» أي احطط عنا ذنوبنا، نغفر لكم خطاياكم، وسنزيد المحسنين.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نِعَم الله على بني إسرائيل</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٥٩ – ٦٠</a:t>
            </a:r>
            <a:endParaRPr lang="ar-SA" sz="1400" dirty="0"/>
          </a:p>
        </p:txBody>
      </p:sp>
      <p:sp>
        <p:nvSpPr>
          <p:cNvPr id="6" name="Shape 4"/>
          <p:cNvSpPr/>
          <p:nvPr/>
        </p:nvSpPr>
        <p:spPr>
          <a:xfrm>
            <a:off x="731520" y="14356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563624"/>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563624"/>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٥٩</a:t>
            </a:r>
            <a:endParaRPr lang="ar-SA" sz="1400" dirty="0"/>
          </a:p>
        </p:txBody>
      </p:sp>
      <p:sp>
        <p:nvSpPr>
          <p:cNvPr id="9" name="Text 7"/>
          <p:cNvSpPr txBox="1"/>
          <p:nvPr/>
        </p:nvSpPr>
        <p:spPr>
          <a:xfrm>
            <a:off x="914400" y="15636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فَبَدَّلَ الَّذِينَ ظَلَمُواْ قَوْلًا غَيْرَ الَّذِي قِيلَ لَهُمْ فَأَنزَلْنَا عَلَى الَّذِينَ ظَلَمُواْ رِجْزًا مِّنَ السَّمَآءِ بِمَا كَانُواْ يَفْسُقُونَ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فغيّر الظالمون القول، فدخلوا يزحفون وقالوا: «حبة في شعرة» استهزاءً، كما في البخاري، فأنزلنا عليهم عذابًا من السماء بسبب فسقهم.</a:t>
            </a:r>
            <a:endParaRPr lang="ar-SA" sz="2800" dirty="0"/>
          </a:p>
        </p:txBody>
      </p:sp>
      <p:sp>
        <p:nvSpPr>
          <p:cNvPr id="10" name="Shape 8"/>
          <p:cNvSpPr/>
          <p:nvPr/>
        </p:nvSpPr>
        <p:spPr>
          <a:xfrm>
            <a:off x="731520" y="38359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96392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963924"/>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٦٠</a:t>
            </a:r>
            <a:endParaRPr lang="ar-SA" sz="1400" dirty="0"/>
          </a:p>
        </p:txBody>
      </p:sp>
      <p:sp>
        <p:nvSpPr>
          <p:cNvPr id="13" name="Text 11"/>
          <p:cNvSpPr txBox="1"/>
          <p:nvPr/>
        </p:nvSpPr>
        <p:spPr>
          <a:xfrm>
            <a:off x="914400" y="39639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 اسْتَسْقَىٰ مُوسَىٰ لِقَوْمِهِ فَقُلْنَا اضْرِب بِّعَصَاكَ الْحَجَرَ فَانفَجَرَتْ مِنْهُ اثْنَتَا عَشْرَةَ عَيْنًا قَدْ عَلِمَ كُلُّ أُنَاسٍ مَّشْرَبَهُمْ كُلُواْ وَاشْرَبُواْ مِن رِّزْقِ اللَّهِ وَلَا تَعْثَوْاْ فِي الْأَرْضِ مُفْسِدِينَ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وحين طلب موسى الماء لقومه قلنا: اضرب بعصاك الحجر، فانفجرت منه اثنتا عشرة عينًا، لكل قبيلة عين، وقلنا: كلوا واشربوا من رزق الله ولا تفسدوا في الأرض.</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نِعَم الله على بني إسرائيل</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٦١</a:t>
            </a:r>
            <a:endParaRPr lang="ar-SA" sz="1400" dirty="0"/>
          </a:p>
        </p:txBody>
      </p:sp>
      <p:sp>
        <p:nvSpPr>
          <p:cNvPr id="6" name="Shape 4"/>
          <p:cNvSpPr/>
          <p:nvPr/>
        </p:nvSpPr>
        <p:spPr>
          <a:xfrm>
            <a:off x="731520" y="2233422"/>
            <a:ext cx="10728655" cy="3076956"/>
          </a:xfrm>
          <a:prstGeom prst="roundRect">
            <a:avLst>
              <a:gd name="adj" fmla="val 2972"/>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361438"/>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361438"/>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٦١</a:t>
            </a:r>
            <a:endParaRPr lang="ar-SA" sz="1400" dirty="0"/>
          </a:p>
        </p:txBody>
      </p:sp>
      <p:sp>
        <p:nvSpPr>
          <p:cNvPr id="9" name="Text 7"/>
          <p:cNvSpPr txBox="1"/>
          <p:nvPr/>
        </p:nvSpPr>
        <p:spPr>
          <a:xfrm>
            <a:off x="914400" y="2361438"/>
            <a:ext cx="9677095" cy="2820924"/>
          </a:xfrm>
          <a:prstGeom prst="rect">
            <a:avLst/>
          </a:prstGeom>
          <a:noFill/>
          <a:ln/>
        </p:spPr>
        <p:txBody>
          <a:bodyPr wrap="square" lIns="0" tIns="0" rIns="0" bIns="0" rtlCol="0" anchor="ctr"/>
          <a:lstStyle/>
          <a:p>
            <a:pPr rtl="1" algn="r" indent="0" marL="0">
              <a:spcAft>
                <a:spcPts val="800"/>
              </a:spcAft>
              <a:buNone/>
            </a:pPr>
            <a:r>
              <a:rPr lang="ar-SA" altLang="en-US" sz="2400" b="1" dirty="0">
                <a:solidFill>
                  <a:schemeClr val="tx2"/>
                </a:solidFill>
                <a:latin typeface="Traditional Arabic" pitchFamily="34" charset="0"/>
                <a:ea typeface="Traditional Arabic" pitchFamily="34" charset="-122"/>
                <a:cs typeface="Traditional Arabic" pitchFamily="34" charset="-120"/>
              </a:rPr>
              <a:t>وَإِذْ قُلْتُمْ يَٰمُوسَىٰ لَن نَّصْبِرَ عَلَىٰ طَعَامٍ وَٰحِدٍ فَادْعُ لَنَا رَبَّكَ يُخْرِجْ لَنَا مِمَّا تُنبِتُ الْأَرْضُ مِن بَقْلِهَا وَقِثَّآئِهَا وَفُومِهَا وَعَدَسِهَا وَبَصَلِهَا قَالَ أَتَسْتَبْدِلُونَ الَّذِي هُوَ أَدْنَىٰ بِالَّذِي هُوَ خَيْرٌ اهْبِطُواْ مِصْرًا فَإِنَّ لَكُم مَّا سَأَلْتُمْ وَضُرِبَتْ عَلَيْهِمُ الذِّلَّةُ وَالْمَسْكَنَةُ وَبَآءُو بِغَضَبٍ مِّنَ اللَّهِ ذَٰلِكَ بِأَنَّهُمْ كَانُواْ يَكْفُرُونَ بِـَٔايَٰتِ اللَّهِ وَيَقْتُلُونَ النَّبِيِّـنَ بِغَيْرِ الْحَقِّ ذَٰلِكَ بِمَا عَصَواْ وَّكَانُواْ يَعْتَدُونَ</a:t>
            </a:r>
            <a:endParaRPr lang="ar-SA" sz="24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وحين قلتم: لن نصبر على طعام واحد، فادعُ لنا ربك يُخرج لنا من البقل والقثّاء والثوم والعدس والبصل، قال: أتستبدلون الأدنى بالذي هو خير؟ وضُربت عليهم الذلة بسبب كفرهم وقتلهم الأنبياء.</a:t>
            </a:r>
            <a:endParaRPr lang="ar-SA" sz="24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نِعَم الله على بني إسرائيل</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٦٢ – ٦٣</a:t>
            </a:r>
            <a:endParaRPr lang="ar-SA" sz="1400" dirty="0"/>
          </a:p>
        </p:txBody>
      </p:sp>
      <p:sp>
        <p:nvSpPr>
          <p:cNvPr id="6" name="Shape 4"/>
          <p:cNvSpPr/>
          <p:nvPr/>
        </p:nvSpPr>
        <p:spPr>
          <a:xfrm>
            <a:off x="731520" y="1587170"/>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71518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715186"/>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٦٢</a:t>
            </a:r>
            <a:endParaRPr lang="ar-SA" sz="1400" dirty="0"/>
          </a:p>
        </p:txBody>
      </p:sp>
      <p:sp>
        <p:nvSpPr>
          <p:cNvPr id="9" name="Text 7"/>
          <p:cNvSpPr txBox="1"/>
          <p:nvPr/>
        </p:nvSpPr>
        <p:spPr>
          <a:xfrm>
            <a:off x="914400" y="1715186"/>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إِنَّ الَّذِينَ ءَامَنُواْ وَالَّذِينَ هَادُواْ وَالنَّصَٰرَىٰ وَالصَّـٰبِـِٔينَ مَنْ ءَامَنَ بِاللَّهِ وَالْيَوْمِ الْأخِرِ وَعَمِلَ صَٰلِحًا فَلَهُمْ أَجْرُهُمْ عِندَ رَبِّهِمْ وَلَا خَوْفٌ عَلَيْهِمْ وَلَا هُمْ يَحْزَنُونَ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إن المؤمنين، واليهود والنصارى والصابئين قبل بعثة محمد صلى الله عليه وسلم، من آمن منهم بالله واليوم الآخر وعمل صالحًا فلهم أجرهم عند ربهم. وبعد بعثته لا يُقبل إلا الإيمان به صلى الله عليه وسلم.</a:t>
            </a:r>
            <a:endParaRPr lang="ar-SA" sz="2800" dirty="0"/>
          </a:p>
        </p:txBody>
      </p:sp>
      <p:sp>
        <p:nvSpPr>
          <p:cNvPr id="10" name="Shape 8"/>
          <p:cNvSpPr/>
          <p:nvPr/>
        </p:nvSpPr>
        <p:spPr>
          <a:xfrm>
            <a:off x="731520" y="3987470"/>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115486"/>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115486"/>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٦٣</a:t>
            </a:r>
            <a:endParaRPr lang="ar-SA" sz="1400" dirty="0"/>
          </a:p>
        </p:txBody>
      </p:sp>
      <p:sp>
        <p:nvSpPr>
          <p:cNvPr id="13" name="Text 11"/>
          <p:cNvSpPr txBox="1"/>
          <p:nvPr/>
        </p:nvSpPr>
        <p:spPr>
          <a:xfrm>
            <a:off x="914400" y="4115486"/>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 أَخَذْنَا مِيثَٰقَكُمْ وَرَفَعْنَا فَوْقَكُمُ الطُّورَ خُذُواْ مَآ ءَاتَيْنَٰكُم بِقُوَّةٍ وَاذْكُرُواْ مَا فِيهِ لَعَلَّكُمْ تَتَّقُونَ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واذكروا حين أخذنا عليكم العهد ورفعنا فوقكم جبل الطور، وقلنا: خذوا التوراة بجدّ واعملوا بها لعلكم تتقون.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نِعَم الله على بني إسرائيل</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٦٤ – ٦٦</a:t>
            </a:r>
            <a:endParaRPr lang="ar-SA" sz="1400" dirty="0"/>
          </a:p>
        </p:txBody>
      </p:sp>
      <p:sp>
        <p:nvSpPr>
          <p:cNvPr id="6" name="Shape 4"/>
          <p:cNvSpPr/>
          <p:nvPr/>
        </p:nvSpPr>
        <p:spPr>
          <a:xfrm>
            <a:off x="731520" y="1535049"/>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663065"/>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663065"/>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٦٤</a:t>
            </a:r>
            <a:endParaRPr lang="ar-SA" sz="1400" dirty="0"/>
          </a:p>
        </p:txBody>
      </p:sp>
      <p:sp>
        <p:nvSpPr>
          <p:cNvPr id="9" name="Text 7"/>
          <p:cNvSpPr txBox="1"/>
          <p:nvPr/>
        </p:nvSpPr>
        <p:spPr>
          <a:xfrm>
            <a:off x="914400" y="1663065"/>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ثُمَّ تَوَلَّيْتُم مِّن بَعْدِ ذَٰلِكَ فَلَوْلَا فَضْلُ اللَّهِ عَلَيْكُمْ وَرَحْمَتُهُ لَكُنتُم مِّنَ الْخَٰسِرِينَ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ثم أعرضتم بعد ذلك، فلولا فضل الله عليكم ورحمته لكنتم من الخاسرين.</a:t>
            </a:r>
            <a:endParaRPr lang="ar-SA" sz="2800" dirty="0"/>
          </a:p>
        </p:txBody>
      </p:sp>
      <p:sp>
        <p:nvSpPr>
          <p:cNvPr id="10" name="Shape 8"/>
          <p:cNvSpPr/>
          <p:nvPr/>
        </p:nvSpPr>
        <p:spPr>
          <a:xfrm>
            <a:off x="731520" y="306895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19697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196971"/>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٦٥</a:t>
            </a:r>
            <a:endParaRPr lang="ar-SA" sz="1400" dirty="0"/>
          </a:p>
        </p:txBody>
      </p:sp>
      <p:sp>
        <p:nvSpPr>
          <p:cNvPr id="13" name="Text 11"/>
          <p:cNvSpPr txBox="1"/>
          <p:nvPr/>
        </p:nvSpPr>
        <p:spPr>
          <a:xfrm>
            <a:off x="914400" y="319697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وَلَقَدْ عَلِمْتُمُ الَّذِينَ اعْتَدَوْاْ مِنكُمْ فِي السَّبْتِ فَقُلْنَا لَهُمْ كُونُواْ قِرَدَةً خَٰسِـِٔينَ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ولقد علمتم خبر الذين تجاوزوا الحدّ يوم السبت فاصطادوا فيه بالحيلة، فقلنا لهم: كونوا قردة أذلّاء.</a:t>
            </a:r>
            <a:endParaRPr lang="ar-SA" sz="2800" dirty="0"/>
          </a:p>
        </p:txBody>
      </p:sp>
      <p:sp>
        <p:nvSpPr>
          <p:cNvPr id="14" name="Shape 12"/>
          <p:cNvSpPr/>
          <p:nvPr/>
        </p:nvSpPr>
        <p:spPr>
          <a:xfrm>
            <a:off x="731520" y="4602861"/>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5" name="Shape 13"/>
          <p:cNvSpPr/>
          <p:nvPr/>
        </p:nvSpPr>
        <p:spPr>
          <a:xfrm>
            <a:off x="10874959" y="4730877"/>
            <a:ext cx="475488" cy="475488"/>
          </a:xfrm>
          <a:prstGeom prst="octagon">
            <a:avLst/>
          </a:prstGeom>
          <a:solidFill>
            <a:schemeClr val="accent2"/>
          </a:solidFill>
          <a:ln w="15875">
            <a:solidFill>
              <a:schemeClr val="accent5"/>
            </a:solidFill>
            <a:prstDash val="solid"/>
          </a:ln>
        </p:spPr>
      </p:sp>
      <p:sp>
        <p:nvSpPr>
          <p:cNvPr id="16" name="Text 14"/>
          <p:cNvSpPr txBox="1"/>
          <p:nvPr/>
        </p:nvSpPr>
        <p:spPr>
          <a:xfrm>
            <a:off x="10874959" y="4730877"/>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٦٦</a:t>
            </a:r>
            <a:endParaRPr lang="ar-SA" sz="1400" dirty="0"/>
          </a:p>
        </p:txBody>
      </p:sp>
      <p:sp>
        <p:nvSpPr>
          <p:cNvPr id="17" name="Text 15"/>
          <p:cNvSpPr txBox="1"/>
          <p:nvPr/>
        </p:nvSpPr>
        <p:spPr>
          <a:xfrm>
            <a:off x="914400" y="4730877"/>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فَجَعَلْنَٰهَا نَكَٰلًا لِّمَا بَيْنَ يَدَيْهَا وَمَا خَلْفَهَا وَمَوْعِظَةً لِّلْمُتَّقِينَ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فجعلنا هذه العقوبة عبرة لمن حضرها ومن جاء بعدها، وموعظة للمتقين.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7223760" y="1143000"/>
            <a:ext cx="4114800" cy="411480"/>
          </a:xfrm>
          <a:prstGeom prst="rect">
            <a:avLst/>
          </a:prstGeom>
          <a:noFill/>
          <a:ln/>
        </p:spPr>
        <p:txBody>
          <a:bodyPr wrap="square" lIns="0" tIns="0" rIns="0" bIns="0" rtlCol="0" anchor="t"/>
          <a:lstStyle/>
          <a:p>
            <a:pPr rtl="1" algn="ctr" indent="0" marL="0">
              <a:buNone/>
            </a:pPr>
            <a:r>
              <a:rPr lang="ar-SA" altLang="en-US" sz="1800" b="1" dirty="0">
                <a:solidFill>
                  <a:schemeClr val="accent5"/>
                </a:solidFill>
              </a:rPr>
              <a:t>المقطع</a:t>
            </a:r>
            <a:endParaRPr lang="ar-SA" sz="1800" dirty="0"/>
          </a:p>
        </p:txBody>
      </p:sp>
      <p:sp>
        <p:nvSpPr>
          <p:cNvPr id="3" name="Shape 1"/>
          <p:cNvSpPr/>
          <p:nvPr/>
        </p:nvSpPr>
        <p:spPr>
          <a:xfrm>
            <a:off x="8915400" y="1645920"/>
            <a:ext cx="731520" cy="731520"/>
          </a:xfrm>
          <a:prstGeom prst="octagon">
            <a:avLst/>
          </a:prstGeom>
          <a:solidFill>
            <a:schemeClr val="accent2"/>
          </a:solidFill>
          <a:ln w="15875">
            <a:solidFill>
              <a:schemeClr val="accent5"/>
            </a:solidFill>
            <a:prstDash val="solid"/>
          </a:ln>
        </p:spPr>
      </p:sp>
      <p:sp>
        <p:nvSpPr>
          <p:cNvPr id="4" name="Text 2"/>
          <p:cNvSpPr txBox="1"/>
          <p:nvPr/>
        </p:nvSpPr>
        <p:spPr>
          <a:xfrm>
            <a:off x="8915400" y="164592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bg1"/>
                </a:solidFill>
                <a:latin typeface="Arial" pitchFamily="34" charset="0"/>
                <a:ea typeface="Arial" pitchFamily="34" charset="-122"/>
                <a:cs typeface="Arial" pitchFamily="34" charset="-120"/>
              </a:rPr>
              <a:t>٦</a:t>
            </a:r>
            <a:endParaRPr lang="ar-SA" sz="1800" dirty="0"/>
          </a:p>
        </p:txBody>
      </p:sp>
      <p:sp>
        <p:nvSpPr>
          <p:cNvPr id="5" name="Text 3"/>
          <p:cNvSpPr txBox="1"/>
          <p:nvPr/>
        </p:nvSpPr>
        <p:spPr>
          <a:xfrm>
            <a:off x="7269480" y="2606040"/>
            <a:ext cx="4023360" cy="1737360"/>
          </a:xfrm>
          <a:prstGeom prst="rect">
            <a:avLst/>
          </a:prstGeom>
          <a:noFill/>
          <a:ln/>
        </p:spPr>
        <p:txBody>
          <a:bodyPr wrap="square" lIns="0" tIns="0" rIns="0" bIns="0" rtlCol="0" anchor="ctr"/>
          <a:lstStyle/>
          <a:p>
            <a:pPr rtl="1" algn="ctr" indent="0" marL="0">
              <a:buNone/>
            </a:pPr>
            <a:r>
              <a:rPr lang="ar-SA" altLang="en-US" sz="3800" b="1" dirty="0">
                <a:solidFill>
                  <a:schemeClr val="bg1"/>
                </a:solidFill>
                <a:latin typeface="Sakkal Majalla" pitchFamily="34" charset="0"/>
                <a:ea typeface="Sakkal Majalla" pitchFamily="34" charset="-122"/>
                <a:cs typeface="Sakkal Majalla" pitchFamily="34" charset="-120"/>
              </a:rPr>
              <a:t>قصة البقرة</a:t>
            </a:r>
            <a:endParaRPr lang="ar-SA" sz="3800" dirty="0"/>
          </a:p>
        </p:txBody>
      </p:sp>
      <p:sp>
        <p:nvSpPr>
          <p:cNvPr id="6" name="Text 4"/>
          <p:cNvSpPr txBox="1"/>
          <p:nvPr/>
        </p:nvSpPr>
        <p:spPr>
          <a:xfrm>
            <a:off x="7269480" y="4526280"/>
            <a:ext cx="4023360" cy="457200"/>
          </a:xfrm>
          <a:prstGeom prst="rect">
            <a:avLst/>
          </a:prstGeom>
          <a:noFill/>
          <a:ln/>
        </p:spPr>
        <p:txBody>
          <a:bodyPr wrap="square" lIns="0" tIns="0" rIns="0" bIns="0" rtlCol="0" anchor="t"/>
          <a:lstStyle/>
          <a:p>
            <a:pPr rtl="1" algn="ctr" indent="0" marL="0">
              <a:buNone/>
            </a:pPr>
            <a:r>
              <a:rPr lang="ar-SA" altLang="en-US" sz="2000" b="1" dirty="0">
                <a:solidFill>
                  <a:schemeClr val="accent5"/>
                </a:solidFill>
              </a:rPr>
              <a:t>الآيات ٦٧ – ٧٤</a:t>
            </a:r>
            <a:endParaRPr lang="ar-SA" sz="2000" dirty="0"/>
          </a:p>
        </p:txBody>
      </p:sp>
      <p:sp>
        <p:nvSpPr>
          <p:cNvPr id="7" name="Shape 5"/>
          <p:cNvSpPr/>
          <p:nvPr/>
        </p:nvSpPr>
        <p:spPr>
          <a:xfrm>
            <a:off x="685800" y="1783080"/>
            <a:ext cx="5806440" cy="3291840"/>
          </a:xfrm>
          <a:prstGeom prst="roundRect">
            <a:avLst>
              <a:gd name="adj" fmla="val 3333"/>
            </a:avLst>
          </a:prstGeom>
          <a:solidFill>
            <a:schemeClr val="bg2"/>
          </a:solidFill>
          <a:ln w="19050">
            <a:solidFill>
              <a:schemeClr val="accent5"/>
            </a:solidFill>
            <a:prstDash val="solid"/>
          </a:ln>
        </p:spPr>
      </p:sp>
      <p:sp>
        <p:nvSpPr>
          <p:cNvPr id="8" name="Shape 6"/>
          <p:cNvSpPr/>
          <p:nvPr/>
        </p:nvSpPr>
        <p:spPr>
          <a:xfrm>
            <a:off x="4343400" y="2011680"/>
            <a:ext cx="1920240" cy="420624"/>
          </a:xfrm>
          <a:prstGeom prst="roundRect">
            <a:avLst>
              <a:gd name="adj" fmla="val 50000"/>
            </a:avLst>
          </a:prstGeom>
          <a:solidFill>
            <a:schemeClr val="tx2"/>
          </a:solidFill>
          <a:ln/>
        </p:spPr>
      </p:sp>
      <p:sp>
        <p:nvSpPr>
          <p:cNvPr id="9" name="Text 7"/>
          <p:cNvSpPr txBox="1"/>
          <p:nvPr/>
        </p:nvSpPr>
        <p:spPr>
          <a:xfrm>
            <a:off x="4343400" y="201168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مقصد المقطع</a:t>
            </a:r>
            <a:endParaRPr lang="ar-SA" sz="1600" dirty="0"/>
          </a:p>
        </p:txBody>
      </p:sp>
      <p:sp>
        <p:nvSpPr>
          <p:cNvPr id="10" name="Text 8"/>
          <p:cNvSpPr txBox="1"/>
          <p:nvPr/>
        </p:nvSpPr>
        <p:spPr>
          <a:xfrm>
            <a:off x="960120" y="2560320"/>
            <a:ext cx="5257800" cy="23317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قصة القتيل الذي أحياه الله ليخبر بقاتله، وفيها التحذير من التشدّد والجدال في أوامر الله، ودليل على البعث. وبهذه القصة سُمّيت السورة «سورة البقرة».</a:t>
            </a:r>
            <a:endParaRPr lang="ar-SA" sz="1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قصة البقرة</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٦٧ – ٦٨</a:t>
            </a:r>
            <a:endParaRPr lang="ar-SA" sz="1400" dirty="0"/>
          </a:p>
        </p:txBody>
      </p:sp>
      <p:sp>
        <p:nvSpPr>
          <p:cNvPr id="6" name="Shape 4"/>
          <p:cNvSpPr/>
          <p:nvPr/>
        </p:nvSpPr>
        <p:spPr>
          <a:xfrm>
            <a:off x="731520" y="1587170"/>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71518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715186"/>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٦٧</a:t>
            </a:r>
            <a:endParaRPr lang="ar-SA" sz="1400" dirty="0"/>
          </a:p>
        </p:txBody>
      </p:sp>
      <p:sp>
        <p:nvSpPr>
          <p:cNvPr id="9" name="Text 7"/>
          <p:cNvSpPr txBox="1"/>
          <p:nvPr/>
        </p:nvSpPr>
        <p:spPr>
          <a:xfrm>
            <a:off x="914400" y="1715186"/>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 قَالَ مُوسَىٰ لِقَوْمِهِ إِنَّ اللَّهَ يَأْمُرُكُمْ أَن تَذْبَحُواْ بَقَرَةً قَالُواْ أَتَتَّخِذُنَا هُزُوًا قَالَ أَعُوذُ بِاللَّهِ أَنْ أَكُونَ مِنَ الْجَٰهِلِينَ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وحين قال موسى لقومه: إن الله يأمركم أن تذبحوا بقرة، قالوا: أتستهزئ بنا؟ قال: أعوذ بالله أن أكون من الجاهلين المستهزئين.</a:t>
            </a:r>
            <a:endParaRPr lang="ar-SA" sz="2800" dirty="0"/>
          </a:p>
        </p:txBody>
      </p:sp>
      <p:sp>
        <p:nvSpPr>
          <p:cNvPr id="10" name="Shape 8"/>
          <p:cNvSpPr/>
          <p:nvPr/>
        </p:nvSpPr>
        <p:spPr>
          <a:xfrm>
            <a:off x="731520" y="3987470"/>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115486"/>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115486"/>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٦٨</a:t>
            </a:r>
            <a:endParaRPr lang="ar-SA" sz="1400" dirty="0"/>
          </a:p>
        </p:txBody>
      </p:sp>
      <p:sp>
        <p:nvSpPr>
          <p:cNvPr id="13" name="Text 11"/>
          <p:cNvSpPr txBox="1"/>
          <p:nvPr/>
        </p:nvSpPr>
        <p:spPr>
          <a:xfrm>
            <a:off x="914400" y="4115486"/>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قَالُواْ ادْعُ لَنَا رَبَّكَ يُبَيِّن لَّنَا مَا هِيَ قَالَ إِنَّهُ يَقُولُ إِنَّهَا بَقَرَةٌ لَّا فَارِضٌ وَلَا بِكْرٌ عَوَانٌ بَيْنَ ذَٰلِكَ فَافْعَلُواْ مَا تُؤْمَرُونَ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قالوا: اطلب من ربك أن يبيّن لنا صفتها، قال: إنها بقرة لا كبيرة ولا صغيرة، وسطٌ بين ذلك، فافعلوا ما تؤمرون.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قصة البقرة</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٦٩ – ٧٠</a:t>
            </a:r>
            <a:endParaRPr lang="ar-SA" sz="1400" dirty="0"/>
          </a:p>
        </p:txBody>
      </p:sp>
      <p:sp>
        <p:nvSpPr>
          <p:cNvPr id="6" name="Shape 4"/>
          <p:cNvSpPr/>
          <p:nvPr/>
        </p:nvSpPr>
        <p:spPr>
          <a:xfrm>
            <a:off x="731520" y="2020367"/>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148383"/>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148383"/>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٦٩</a:t>
            </a:r>
            <a:endParaRPr lang="ar-SA" sz="1400" dirty="0"/>
          </a:p>
        </p:txBody>
      </p:sp>
      <p:sp>
        <p:nvSpPr>
          <p:cNvPr id="9" name="Text 7"/>
          <p:cNvSpPr txBox="1"/>
          <p:nvPr/>
        </p:nvSpPr>
        <p:spPr>
          <a:xfrm>
            <a:off x="914400" y="2148383"/>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قَالُواْ ادْعُ لَنَا رَبَّكَ يُبَيِّن لَّنَا مَا لَوْنُهَا قَالَ إِنَّهُ يَقُولُ إِنَّهَا بَقَرَةٌ صَفْرَآءُ فَاقِعٌ لَّوْنُهَا تَسُرُّ النَّـٰظِرِينَ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قالوا: اطلب من ربك أن يبيّن لونها، قال: إنها بقرة صفراء شديدة الصفرة، تُفرح من ينظر إليها.</a:t>
            </a:r>
            <a:endParaRPr lang="ar-SA" sz="2800" dirty="0"/>
          </a:p>
        </p:txBody>
      </p:sp>
      <p:sp>
        <p:nvSpPr>
          <p:cNvPr id="10" name="Shape 8"/>
          <p:cNvSpPr/>
          <p:nvPr/>
        </p:nvSpPr>
        <p:spPr>
          <a:xfrm>
            <a:off x="731520" y="4117543"/>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245559"/>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245559"/>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٧٠</a:t>
            </a:r>
            <a:endParaRPr lang="ar-SA" sz="1400" dirty="0"/>
          </a:p>
        </p:txBody>
      </p:sp>
      <p:sp>
        <p:nvSpPr>
          <p:cNvPr id="13" name="Text 11"/>
          <p:cNvSpPr txBox="1"/>
          <p:nvPr/>
        </p:nvSpPr>
        <p:spPr>
          <a:xfrm>
            <a:off x="914400" y="4245559"/>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قَالُواْ ادْعُ لَنَا رَبَّكَ يُبَيِّن لَّنَا مَا هِيَ إِنَّ الْبَقَرَ تَشَٰبَهَ عَلَيْنَا وَإِنَّآ إِن شَآءَ اللَّهُ لَمُهْتَدُونَ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قالوا: اطلب من ربك أن يبيّن لنا المزيد، فإن البقر تشابه علينا، وإنا إن شاء الله لمهتدون إليها.</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قصة البقرة</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٧١ – ٧٢</a:t>
            </a:r>
            <a:endParaRPr lang="ar-SA" sz="1400" dirty="0"/>
          </a:p>
        </p:txBody>
      </p:sp>
      <p:sp>
        <p:nvSpPr>
          <p:cNvPr id="6" name="Shape 4"/>
          <p:cNvSpPr/>
          <p:nvPr/>
        </p:nvSpPr>
        <p:spPr>
          <a:xfrm>
            <a:off x="731520" y="1868805"/>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99682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996821"/>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٧١</a:t>
            </a:r>
            <a:endParaRPr lang="ar-SA" sz="1400" dirty="0"/>
          </a:p>
        </p:txBody>
      </p:sp>
      <p:sp>
        <p:nvSpPr>
          <p:cNvPr id="9" name="Text 7"/>
          <p:cNvSpPr txBox="1"/>
          <p:nvPr/>
        </p:nvSpPr>
        <p:spPr>
          <a:xfrm>
            <a:off x="914400" y="1996821"/>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قَالَ إِنَّهُ يَقُولُ إِنَّهَا بَقَرَةٌ لَّا ذَلُولٌ تُثِيرُ الْأَرْضَ وَلَا تَسْقِي الْحَرْثَ مُسَلَّمَةٌ لَّا شِيَةَ فِيهَا قَالُواْ الْـَٰٔنَ جِئْتَ بِالْحَقِّ فَذَبَحُوهَا وَمَا كَادُواْ يَفْعَلُونَ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قال: إنها بقرة لم تُستعمل في حرث الأرض ولا في سقي الزرع، سليمة من العيوب، لا لون فيها غير الصفرة، قالوا: الآن جئت بالحق، فذبحوها بعد أن كادوا لا يفعلون لكثرة تشدّدهم.</a:t>
            </a:r>
            <a:endParaRPr lang="ar-SA" sz="2800" dirty="0"/>
          </a:p>
        </p:txBody>
      </p:sp>
      <p:sp>
        <p:nvSpPr>
          <p:cNvPr id="10" name="Shape 8"/>
          <p:cNvSpPr/>
          <p:nvPr/>
        </p:nvSpPr>
        <p:spPr>
          <a:xfrm>
            <a:off x="731520" y="426910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39712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397121"/>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٧٢</a:t>
            </a:r>
            <a:endParaRPr lang="ar-SA" sz="1400" dirty="0"/>
          </a:p>
        </p:txBody>
      </p:sp>
      <p:sp>
        <p:nvSpPr>
          <p:cNvPr id="13" name="Text 11"/>
          <p:cNvSpPr txBox="1"/>
          <p:nvPr/>
        </p:nvSpPr>
        <p:spPr>
          <a:xfrm>
            <a:off x="914400" y="439712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 قَتَلْتُمْ نَفْسًا فَادَّـٰرَ ٰٔتُمْ فِيهَا وَاللَّهُ مُخْرِجٌ مَّا كُنتُمْ تَكْتُمُونَ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واذكروا حين قتلتم رجلًا فتنازعتم واتّهم بعضكم بعضًا، والله مُظهر ما كنتم تخفون.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قصة البقرة</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٧٣ – ٧٤</a:t>
            </a:r>
            <a:endParaRPr lang="ar-SA" sz="1400" dirty="0"/>
          </a:p>
        </p:txBody>
      </p:sp>
      <p:sp>
        <p:nvSpPr>
          <p:cNvPr id="6" name="Shape 4"/>
          <p:cNvSpPr/>
          <p:nvPr/>
        </p:nvSpPr>
        <p:spPr>
          <a:xfrm>
            <a:off x="731520" y="1435608"/>
            <a:ext cx="10728655" cy="1709014"/>
          </a:xfrm>
          <a:prstGeom prst="roundRect">
            <a:avLst>
              <a:gd name="adj" fmla="val 5350"/>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563624"/>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563624"/>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٧٣</a:t>
            </a:r>
            <a:endParaRPr lang="ar-SA" sz="1400" dirty="0"/>
          </a:p>
        </p:txBody>
      </p:sp>
      <p:sp>
        <p:nvSpPr>
          <p:cNvPr id="9" name="Text 7"/>
          <p:cNvSpPr txBox="1"/>
          <p:nvPr/>
        </p:nvSpPr>
        <p:spPr>
          <a:xfrm>
            <a:off x="914400" y="1563624"/>
            <a:ext cx="9677095" cy="145298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فَقُلْنَا اضْرِبُوهُ بِبَعْضِهَا كَذَٰلِكَ يُحْيِ اللَّهُ الْمَوْتَىٰ وَيُرِيكُمْ ءَايَٰتِهِ لَعَلَّكُمْ تَعْقِلُونَ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فقلنا: اضربوا القتيل بجزء من البقرة، فأحياه الله وأخبر بقاتله، كذلك يحيي الله الموتى يوم القيامة، ويريكم آياته لعلكم تعقلون.</a:t>
            </a:r>
            <a:endParaRPr lang="ar-SA" sz="2800" dirty="0"/>
          </a:p>
        </p:txBody>
      </p:sp>
      <p:sp>
        <p:nvSpPr>
          <p:cNvPr id="10" name="Shape 8"/>
          <p:cNvSpPr/>
          <p:nvPr/>
        </p:nvSpPr>
        <p:spPr>
          <a:xfrm>
            <a:off x="731520" y="3272638"/>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40065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400654"/>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٧٤</a:t>
            </a:r>
            <a:endParaRPr lang="ar-SA" sz="1400" dirty="0"/>
          </a:p>
        </p:txBody>
      </p:sp>
      <p:sp>
        <p:nvSpPr>
          <p:cNvPr id="13" name="Text 11"/>
          <p:cNvSpPr txBox="1"/>
          <p:nvPr/>
        </p:nvSpPr>
        <p:spPr>
          <a:xfrm>
            <a:off x="914400" y="3400654"/>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ثُمَّ قَسَتْ قُلُوبُكُم مِّن بَعْدِ ذَٰلِكَ فَهِيَ كَالْحِجَارَةِ أَوْ أَشَدُّ قَسْوَةً وَإِنَّ مِنَ الْحِجَارَةِ لَمَا يَتَفَجَّرُ مِنْهُ الْأَنْهَٰرُ وَإِنَّ مِنْهَا لَمَا يَشَّقَّقُ فَيَخْرُجُ مِنْهُ الْمَآءُ وَإِنَّ مِنْهَا لَمَا يَهْبِطُ مِنْ خَشْيَةِ اللَّهِ وَمَا اللَّهُ بِغَٰفِلٍ عَمَّا تَعْمَلُونَ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ثم قست قلوبكم بعد هذه الآيات، فهي كالحجارة أو أشد قسوة، فإن من الحجارة ما تتفجّر منه الأنهار، ومنها ما يتشقّق فيخرج منه الماء، ومنها ما يسقط من خشية الله.</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7223760" y="1143000"/>
            <a:ext cx="4114800" cy="411480"/>
          </a:xfrm>
          <a:prstGeom prst="rect">
            <a:avLst/>
          </a:prstGeom>
          <a:noFill/>
          <a:ln/>
        </p:spPr>
        <p:txBody>
          <a:bodyPr wrap="square" lIns="0" tIns="0" rIns="0" bIns="0" rtlCol="0" anchor="t"/>
          <a:lstStyle/>
          <a:p>
            <a:pPr rtl="1" algn="ctr" indent="0" marL="0">
              <a:buNone/>
            </a:pPr>
            <a:r>
              <a:rPr lang="ar-SA" altLang="en-US" sz="1800" b="1" dirty="0">
                <a:solidFill>
                  <a:schemeClr val="accent5"/>
                </a:solidFill>
              </a:rPr>
              <a:t>المقطع</a:t>
            </a:r>
            <a:endParaRPr lang="ar-SA" sz="1800" dirty="0"/>
          </a:p>
        </p:txBody>
      </p:sp>
      <p:sp>
        <p:nvSpPr>
          <p:cNvPr id="3" name="Shape 1"/>
          <p:cNvSpPr/>
          <p:nvPr/>
        </p:nvSpPr>
        <p:spPr>
          <a:xfrm>
            <a:off x="8915400" y="1645920"/>
            <a:ext cx="731520" cy="731520"/>
          </a:xfrm>
          <a:prstGeom prst="octagon">
            <a:avLst/>
          </a:prstGeom>
          <a:solidFill>
            <a:schemeClr val="accent2"/>
          </a:solidFill>
          <a:ln w="15875">
            <a:solidFill>
              <a:schemeClr val="accent5"/>
            </a:solidFill>
            <a:prstDash val="solid"/>
          </a:ln>
        </p:spPr>
      </p:sp>
      <p:sp>
        <p:nvSpPr>
          <p:cNvPr id="4" name="Text 2"/>
          <p:cNvSpPr txBox="1"/>
          <p:nvPr/>
        </p:nvSpPr>
        <p:spPr>
          <a:xfrm>
            <a:off x="8915400" y="164592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bg1"/>
                </a:solidFill>
                <a:latin typeface="Arial" pitchFamily="34" charset="0"/>
                <a:ea typeface="Arial" pitchFamily="34" charset="-122"/>
                <a:cs typeface="Arial" pitchFamily="34" charset="-120"/>
              </a:rPr>
              <a:t>٧</a:t>
            </a:r>
            <a:endParaRPr lang="ar-SA" sz="1800" dirty="0"/>
          </a:p>
        </p:txBody>
      </p:sp>
      <p:sp>
        <p:nvSpPr>
          <p:cNvPr id="5" name="Text 3"/>
          <p:cNvSpPr txBox="1"/>
          <p:nvPr/>
        </p:nvSpPr>
        <p:spPr>
          <a:xfrm>
            <a:off x="7269480" y="2606040"/>
            <a:ext cx="4023360" cy="1737360"/>
          </a:xfrm>
          <a:prstGeom prst="rect">
            <a:avLst/>
          </a:prstGeom>
          <a:noFill/>
          <a:ln/>
        </p:spPr>
        <p:txBody>
          <a:bodyPr wrap="square" lIns="0" tIns="0" rIns="0" bIns="0" rtlCol="0" anchor="ctr"/>
          <a:lstStyle/>
          <a:p>
            <a:pPr rtl="1" algn="ctr" indent="0" marL="0">
              <a:buNone/>
            </a:pPr>
            <a:r>
              <a:rPr lang="ar-SA" altLang="en-US" sz="3800" b="1" dirty="0">
                <a:solidFill>
                  <a:schemeClr val="bg1"/>
                </a:solidFill>
                <a:latin typeface="Sakkal Majalla" pitchFamily="34" charset="0"/>
                <a:ea typeface="Sakkal Majalla" pitchFamily="34" charset="-122"/>
                <a:cs typeface="Sakkal Majalla" pitchFamily="34" charset="-120"/>
              </a:rPr>
              <a:t>مواقف اليهود من الوحي</a:t>
            </a:r>
            <a:endParaRPr lang="ar-SA" sz="3800" dirty="0"/>
          </a:p>
        </p:txBody>
      </p:sp>
      <p:sp>
        <p:nvSpPr>
          <p:cNvPr id="6" name="Text 4"/>
          <p:cNvSpPr txBox="1"/>
          <p:nvPr/>
        </p:nvSpPr>
        <p:spPr>
          <a:xfrm>
            <a:off x="7269480" y="4526280"/>
            <a:ext cx="4023360" cy="457200"/>
          </a:xfrm>
          <a:prstGeom prst="rect">
            <a:avLst/>
          </a:prstGeom>
          <a:noFill/>
          <a:ln/>
        </p:spPr>
        <p:txBody>
          <a:bodyPr wrap="square" lIns="0" tIns="0" rIns="0" bIns="0" rtlCol="0" anchor="t"/>
          <a:lstStyle/>
          <a:p>
            <a:pPr rtl="1" algn="ctr" indent="0" marL="0">
              <a:buNone/>
            </a:pPr>
            <a:r>
              <a:rPr lang="ar-SA" altLang="en-US" sz="2000" b="1" dirty="0">
                <a:solidFill>
                  <a:schemeClr val="accent5"/>
                </a:solidFill>
              </a:rPr>
              <a:t>الآيات ٧٥ – ١٠٣</a:t>
            </a:r>
            <a:endParaRPr lang="ar-SA" sz="2000" dirty="0"/>
          </a:p>
        </p:txBody>
      </p:sp>
      <p:sp>
        <p:nvSpPr>
          <p:cNvPr id="7" name="Shape 5"/>
          <p:cNvSpPr/>
          <p:nvPr/>
        </p:nvSpPr>
        <p:spPr>
          <a:xfrm>
            <a:off x="685800" y="685800"/>
            <a:ext cx="5806440" cy="2606040"/>
          </a:xfrm>
          <a:prstGeom prst="roundRect">
            <a:avLst>
              <a:gd name="adj" fmla="val 4211"/>
            </a:avLst>
          </a:prstGeom>
          <a:solidFill>
            <a:schemeClr val="bg2"/>
          </a:solidFill>
          <a:ln w="19050">
            <a:solidFill>
              <a:schemeClr val="accent5"/>
            </a:solidFill>
            <a:prstDash val="solid"/>
          </a:ln>
        </p:spPr>
      </p:sp>
      <p:sp>
        <p:nvSpPr>
          <p:cNvPr id="8" name="Shape 6"/>
          <p:cNvSpPr/>
          <p:nvPr/>
        </p:nvSpPr>
        <p:spPr>
          <a:xfrm>
            <a:off x="4343400" y="914400"/>
            <a:ext cx="1920240" cy="420624"/>
          </a:xfrm>
          <a:prstGeom prst="roundRect">
            <a:avLst>
              <a:gd name="adj" fmla="val 50000"/>
            </a:avLst>
          </a:prstGeom>
          <a:solidFill>
            <a:schemeClr val="accent2"/>
          </a:solidFill>
          <a:ln/>
        </p:spPr>
      </p:sp>
      <p:sp>
        <p:nvSpPr>
          <p:cNvPr id="9" name="Text 7"/>
          <p:cNvSpPr txBox="1"/>
          <p:nvPr/>
        </p:nvSpPr>
        <p:spPr>
          <a:xfrm>
            <a:off x="4343400" y="91440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سبب النزول</a:t>
            </a:r>
            <a:endParaRPr lang="ar-SA" sz="1600" dirty="0"/>
          </a:p>
        </p:txBody>
      </p:sp>
      <p:sp>
        <p:nvSpPr>
          <p:cNvPr id="10" name="Text 8"/>
          <p:cNvSpPr txBox="1"/>
          <p:nvPr/>
        </p:nvSpPr>
        <p:spPr>
          <a:xfrm>
            <a:off x="960120" y="1463040"/>
            <a:ext cx="5257800" cy="16459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قال ابن عباس: كان اليهود قبل بعثة النبي صلى الله عليه وسلم يستنصرون به على العرب ويقولون: سيخرج نبيّ نتبعه، فلما بُعث من العرب كفروا به، فنزل: ﴿وكانوا من قبل يستفتحون على الذين كفروا﴾.</a:t>
            </a:r>
            <a:endParaRPr lang="ar-SA" sz="1700" dirty="0"/>
          </a:p>
        </p:txBody>
      </p:sp>
      <p:sp>
        <p:nvSpPr>
          <p:cNvPr id="11" name="Shape 9"/>
          <p:cNvSpPr/>
          <p:nvPr/>
        </p:nvSpPr>
        <p:spPr>
          <a:xfrm>
            <a:off x="685800" y="3566160"/>
            <a:ext cx="5806440" cy="2606040"/>
          </a:xfrm>
          <a:prstGeom prst="roundRect">
            <a:avLst>
              <a:gd name="adj" fmla="val 4211"/>
            </a:avLst>
          </a:prstGeom>
          <a:solidFill>
            <a:schemeClr val="bg2"/>
          </a:solidFill>
          <a:ln w="19050">
            <a:solidFill>
              <a:schemeClr val="accent5"/>
            </a:solidFill>
            <a:prstDash val="solid"/>
          </a:ln>
        </p:spPr>
      </p:sp>
      <p:sp>
        <p:nvSpPr>
          <p:cNvPr id="12" name="Shape 10"/>
          <p:cNvSpPr/>
          <p:nvPr/>
        </p:nvSpPr>
        <p:spPr>
          <a:xfrm>
            <a:off x="4343400" y="3794760"/>
            <a:ext cx="1920240" cy="420624"/>
          </a:xfrm>
          <a:prstGeom prst="roundRect">
            <a:avLst>
              <a:gd name="adj" fmla="val 50000"/>
            </a:avLst>
          </a:prstGeom>
          <a:solidFill>
            <a:schemeClr val="tx2"/>
          </a:solidFill>
          <a:ln/>
        </p:spPr>
      </p:sp>
      <p:sp>
        <p:nvSpPr>
          <p:cNvPr id="13" name="Text 11"/>
          <p:cNvSpPr txBox="1"/>
          <p:nvPr/>
        </p:nvSpPr>
        <p:spPr>
          <a:xfrm>
            <a:off x="4343400" y="379476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مقصد المقطع</a:t>
            </a:r>
            <a:endParaRPr lang="ar-SA" sz="1600" dirty="0"/>
          </a:p>
        </p:txBody>
      </p:sp>
      <p:sp>
        <p:nvSpPr>
          <p:cNvPr id="14" name="Text 12"/>
          <p:cNvSpPr txBox="1"/>
          <p:nvPr/>
        </p:nvSpPr>
        <p:spPr>
          <a:xfrm>
            <a:off x="960120" y="4343400"/>
            <a:ext cx="5257800" cy="16459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كشف تحريف بعض أهل الكتاب ونقضهم للعهود، وحسدهم للمؤمنين، واتباعهم السحر.</a:t>
            </a:r>
            <a:endParaRPr lang="ar-SA" sz="17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مواقف اليهود من الوحي</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٧٥ – ٧٦</a:t>
            </a:r>
            <a:endParaRPr lang="ar-SA" sz="1400" dirty="0"/>
          </a:p>
        </p:txBody>
      </p:sp>
      <p:sp>
        <p:nvSpPr>
          <p:cNvPr id="6" name="Shape 4"/>
          <p:cNvSpPr/>
          <p:nvPr/>
        </p:nvSpPr>
        <p:spPr>
          <a:xfrm>
            <a:off x="731520" y="14356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563624"/>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563624"/>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٧٥</a:t>
            </a:r>
            <a:endParaRPr lang="ar-SA" sz="1400" dirty="0"/>
          </a:p>
        </p:txBody>
      </p:sp>
      <p:sp>
        <p:nvSpPr>
          <p:cNvPr id="9" name="Text 7"/>
          <p:cNvSpPr txBox="1"/>
          <p:nvPr/>
        </p:nvSpPr>
        <p:spPr>
          <a:xfrm>
            <a:off x="914400" y="15636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أَفَتَطْمَعُونَ أَن يُؤْمِنُواْ لَكُمْ وَقَدْ كَانَ فَرِيقٌ مِّنْهُمْ يَسْمَعُونَ كَلَٰمَ اللَّهِ ثُمَّ يُحَرِّفُونَهُ مِن بَعْدِ مَا عَقَلُوهُ وَهُمْ يَعْلَمُونَ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أتطمعون أيها المؤمنون أن يؤمن لكم اليهود، وقد كان فريق منهم يسمعون التوراة ثم يحرّفونها بعد ما فهموها وهم يعلمون؟</a:t>
            </a:r>
            <a:endParaRPr lang="ar-SA" sz="2800" dirty="0"/>
          </a:p>
        </p:txBody>
      </p:sp>
      <p:sp>
        <p:nvSpPr>
          <p:cNvPr id="10" name="Shape 8"/>
          <p:cNvSpPr/>
          <p:nvPr/>
        </p:nvSpPr>
        <p:spPr>
          <a:xfrm>
            <a:off x="731520" y="38359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96392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963924"/>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٧٦</a:t>
            </a:r>
            <a:endParaRPr lang="ar-SA" sz="1400" dirty="0"/>
          </a:p>
        </p:txBody>
      </p:sp>
      <p:sp>
        <p:nvSpPr>
          <p:cNvPr id="13" name="Text 11"/>
          <p:cNvSpPr txBox="1"/>
          <p:nvPr/>
        </p:nvSpPr>
        <p:spPr>
          <a:xfrm>
            <a:off x="914400" y="39639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وَإِذَا لَقُواْ الَّذِينَ ءَامَنُواْ قَالُواْ ءَامَنَّا وَإِذَا خَلَا بَعْضُهُمْ إِلَىٰ بَعْضٍ قَالُواْ أَتُحَدِّثُونَهُم بِمَا فَتَحَ اللَّهُ عَلَيْكُمْ لِيُحَآجُّوكُم بِهِ عِندَ رَبِّكُمْ أَفَلَا تَعْقِلُونَ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وإذا لقي منافقوهم المؤمنين قالوا: آمنّا، وإذا خلا بعضهم ببعض قالوا: أتخبرون المؤمنين بما في التوراة من صفة محمد صلى الله عليه وسلم ليحتجّوا به عليكم؟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مواقف اليهود من الوحي</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٧٧ – ٧٩</a:t>
            </a:r>
            <a:endParaRPr lang="ar-SA" sz="1400" dirty="0"/>
          </a:p>
        </p:txBody>
      </p:sp>
      <p:sp>
        <p:nvSpPr>
          <p:cNvPr id="6" name="Shape 4"/>
          <p:cNvSpPr/>
          <p:nvPr/>
        </p:nvSpPr>
        <p:spPr>
          <a:xfrm>
            <a:off x="731520" y="1280160"/>
            <a:ext cx="10728655" cy="1287018"/>
          </a:xfrm>
          <a:prstGeom prst="roundRect">
            <a:avLst>
              <a:gd name="adj" fmla="val 710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0817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08176"/>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٧٧</a:t>
            </a:r>
            <a:endParaRPr lang="ar-SA" sz="1400" dirty="0"/>
          </a:p>
        </p:txBody>
      </p:sp>
      <p:sp>
        <p:nvSpPr>
          <p:cNvPr id="9" name="Text 7"/>
          <p:cNvSpPr txBox="1"/>
          <p:nvPr/>
        </p:nvSpPr>
        <p:spPr>
          <a:xfrm>
            <a:off x="914400" y="1408176"/>
            <a:ext cx="9677095" cy="1030986"/>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أَوَلَا يَعْلَمُونَ أَنَّ اللَّهَ يَعْلَمُ مَا يُسِرُّونَ وَمَا يُعْلِنُونَ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أولا يعلمون أن الله يعلم ما يُخفون وما يُظهرون؟</a:t>
            </a:r>
            <a:endParaRPr lang="ar-SA" sz="2800" dirty="0"/>
          </a:p>
        </p:txBody>
      </p:sp>
      <p:sp>
        <p:nvSpPr>
          <p:cNvPr id="10" name="Shape 8"/>
          <p:cNvSpPr/>
          <p:nvPr/>
        </p:nvSpPr>
        <p:spPr>
          <a:xfrm>
            <a:off x="731520" y="2695194"/>
            <a:ext cx="10728655" cy="1287018"/>
          </a:xfrm>
          <a:prstGeom prst="roundRect">
            <a:avLst>
              <a:gd name="adj" fmla="val 710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2823210"/>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2823210"/>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٧٨</a:t>
            </a:r>
            <a:endParaRPr lang="ar-SA" sz="1400" dirty="0"/>
          </a:p>
        </p:txBody>
      </p:sp>
      <p:sp>
        <p:nvSpPr>
          <p:cNvPr id="13" name="Text 11"/>
          <p:cNvSpPr txBox="1"/>
          <p:nvPr/>
        </p:nvSpPr>
        <p:spPr>
          <a:xfrm>
            <a:off x="914400" y="2823210"/>
            <a:ext cx="9677095" cy="1030986"/>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وَمِنْهُمْ أُمِّيُّونَ لَا يَعْلَمُونَ الْكِتَٰبَ إِلَّآ أَمَانِيَّ وَإِنْ هُمْ إِلَّا يَظُنُّونَ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ومنهم أمّيون لا يعرفون من التوراة إلا قراءةً بلا فهم وأمانيّ كاذبة، وما هم إلا يظنّون.</a:t>
            </a:r>
            <a:endParaRPr lang="ar-SA" sz="2800" dirty="0"/>
          </a:p>
        </p:txBody>
      </p:sp>
      <p:sp>
        <p:nvSpPr>
          <p:cNvPr id="14" name="Shape 12"/>
          <p:cNvSpPr/>
          <p:nvPr/>
        </p:nvSpPr>
        <p:spPr>
          <a:xfrm>
            <a:off x="731520" y="4110228"/>
            <a:ext cx="10728655" cy="2153412"/>
          </a:xfrm>
          <a:prstGeom prst="roundRect">
            <a:avLst>
              <a:gd name="adj" fmla="val 4246"/>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5" name="Shape 13"/>
          <p:cNvSpPr/>
          <p:nvPr/>
        </p:nvSpPr>
        <p:spPr>
          <a:xfrm>
            <a:off x="10874959" y="4238244"/>
            <a:ext cx="475488" cy="475488"/>
          </a:xfrm>
          <a:prstGeom prst="octagon">
            <a:avLst/>
          </a:prstGeom>
          <a:solidFill>
            <a:schemeClr val="accent2"/>
          </a:solidFill>
          <a:ln w="15875">
            <a:solidFill>
              <a:schemeClr val="accent5"/>
            </a:solidFill>
            <a:prstDash val="solid"/>
          </a:ln>
        </p:spPr>
      </p:sp>
      <p:sp>
        <p:nvSpPr>
          <p:cNvPr id="16" name="Text 14"/>
          <p:cNvSpPr txBox="1"/>
          <p:nvPr/>
        </p:nvSpPr>
        <p:spPr>
          <a:xfrm>
            <a:off x="10874959" y="4238244"/>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٧٩</a:t>
            </a:r>
            <a:endParaRPr lang="ar-SA" sz="1400" dirty="0"/>
          </a:p>
        </p:txBody>
      </p:sp>
      <p:sp>
        <p:nvSpPr>
          <p:cNvPr id="17" name="Text 15"/>
          <p:cNvSpPr txBox="1"/>
          <p:nvPr/>
        </p:nvSpPr>
        <p:spPr>
          <a:xfrm>
            <a:off x="914400" y="4238244"/>
            <a:ext cx="9677095" cy="1897380"/>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فَوَيْلٌ لِّلَّذِينَ يَكْتُبُونَ الْكِتَٰبَ بِأَيْدِيهِمْ ثُمَّ يَقُولُونَ هَٰذَا مِنْ عِندِ اللَّهِ لِيَشْتَرُواْ بِهِ ثَمَنًا قَلِيلًا فَوَيْلٌ لَّهُم مِّمَّا كَتَبَتْ أَيْدِيهِمْ وَوَيْلٌ لَّهُم مِّمَّا يَكْسِبُونَ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فهلاكٌ للذين يكتبون كتابًا بأيديهم ثم يقولون: هذا من عند الله، ليأخذوا به شيئًا قليلًا من الدنيا، فهلاك لهم مما كتبوا ومما كسبوا.</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مواقف اليهود من الوحي</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٨٠ – ٨٢</a:t>
            </a:r>
            <a:endParaRPr lang="ar-SA" sz="1400" dirty="0"/>
          </a:p>
        </p:txBody>
      </p:sp>
      <p:sp>
        <p:nvSpPr>
          <p:cNvPr id="6" name="Shape 4"/>
          <p:cNvSpPr/>
          <p:nvPr/>
        </p:nvSpPr>
        <p:spPr>
          <a:xfrm>
            <a:off x="731520" y="1280160"/>
            <a:ext cx="10728655" cy="1951330"/>
          </a:xfrm>
          <a:prstGeom prst="roundRect">
            <a:avLst>
              <a:gd name="adj" fmla="val 4686"/>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0817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08176"/>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٨٠</a:t>
            </a:r>
            <a:endParaRPr lang="ar-SA" sz="1400" dirty="0"/>
          </a:p>
        </p:txBody>
      </p:sp>
      <p:sp>
        <p:nvSpPr>
          <p:cNvPr id="9" name="Text 7"/>
          <p:cNvSpPr txBox="1"/>
          <p:nvPr/>
        </p:nvSpPr>
        <p:spPr>
          <a:xfrm>
            <a:off x="914400" y="1408176"/>
            <a:ext cx="9677095" cy="169529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وَقَالُواْ لَن تَمَسَّنَا النَّارُ إِلَّآ أَيَّامًا مَّعْدُودَةً قُلْ أَتَّخَذْتُمْ عِندَ اللَّهِ عَهْدًا فَلَن يُخْلِفَ اللَّهُ عَهْدَهُ أَمْ تَقُولُونَ عَلَى اللَّهِ مَا لَا تَعْلَمُونَ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وقالوا: لن تمسّنا النار إلا أيامًا قليلة، قل: هل أخذتم بذلك عهدًا من الله؟ أم تقولون على الله ما لا تعلمون؟</a:t>
            </a:r>
            <a:endParaRPr lang="ar-SA" sz="2800" dirty="0"/>
          </a:p>
        </p:txBody>
      </p:sp>
      <p:sp>
        <p:nvSpPr>
          <p:cNvPr id="10" name="Shape 8"/>
          <p:cNvSpPr/>
          <p:nvPr/>
        </p:nvSpPr>
        <p:spPr>
          <a:xfrm>
            <a:off x="731520" y="3359506"/>
            <a:ext cx="10728655" cy="1388059"/>
          </a:xfrm>
          <a:prstGeom prst="roundRect">
            <a:avLst>
              <a:gd name="adj" fmla="val 6588"/>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487522"/>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487522"/>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٨١</a:t>
            </a:r>
            <a:endParaRPr lang="ar-SA" sz="1400" dirty="0"/>
          </a:p>
        </p:txBody>
      </p:sp>
      <p:sp>
        <p:nvSpPr>
          <p:cNvPr id="13" name="Text 11"/>
          <p:cNvSpPr txBox="1"/>
          <p:nvPr/>
        </p:nvSpPr>
        <p:spPr>
          <a:xfrm>
            <a:off x="914400" y="3487522"/>
            <a:ext cx="9677095" cy="1132027"/>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بَلَىٰ مَن كَسَبَ سَيِّئَةً وَأَحَٰطَتْ بِهِ خَطِيـَٔتُهُ فَأُوْلَـٰئِكَ أَصْحَٰبُ النَّارِ هُمْ فِيهَا خَٰلِدُونَ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بلى، من عمل السيئات حتى أحاطت به ذنوبه ومات على الكفر، فأولئك أهل النار خالدين فيها.</a:t>
            </a:r>
            <a:endParaRPr lang="ar-SA" sz="2800" dirty="0"/>
          </a:p>
        </p:txBody>
      </p:sp>
      <p:sp>
        <p:nvSpPr>
          <p:cNvPr id="14" name="Shape 12"/>
          <p:cNvSpPr/>
          <p:nvPr/>
        </p:nvSpPr>
        <p:spPr>
          <a:xfrm>
            <a:off x="731520" y="4875581"/>
            <a:ext cx="10728655" cy="1388059"/>
          </a:xfrm>
          <a:prstGeom prst="roundRect">
            <a:avLst>
              <a:gd name="adj" fmla="val 6588"/>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5" name="Shape 13"/>
          <p:cNvSpPr/>
          <p:nvPr/>
        </p:nvSpPr>
        <p:spPr>
          <a:xfrm>
            <a:off x="10874959" y="5003597"/>
            <a:ext cx="475488" cy="475488"/>
          </a:xfrm>
          <a:prstGeom prst="octagon">
            <a:avLst/>
          </a:prstGeom>
          <a:solidFill>
            <a:schemeClr val="accent2"/>
          </a:solidFill>
          <a:ln w="15875">
            <a:solidFill>
              <a:schemeClr val="accent5"/>
            </a:solidFill>
            <a:prstDash val="solid"/>
          </a:ln>
        </p:spPr>
      </p:sp>
      <p:sp>
        <p:nvSpPr>
          <p:cNvPr id="16" name="Text 14"/>
          <p:cNvSpPr txBox="1"/>
          <p:nvPr/>
        </p:nvSpPr>
        <p:spPr>
          <a:xfrm>
            <a:off x="10874959" y="5003597"/>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٨٢</a:t>
            </a:r>
            <a:endParaRPr lang="ar-SA" sz="1400" dirty="0"/>
          </a:p>
        </p:txBody>
      </p:sp>
      <p:sp>
        <p:nvSpPr>
          <p:cNvPr id="17" name="Text 15"/>
          <p:cNvSpPr txBox="1"/>
          <p:nvPr/>
        </p:nvSpPr>
        <p:spPr>
          <a:xfrm>
            <a:off x="914400" y="5003597"/>
            <a:ext cx="9677095" cy="1132027"/>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وَالَّذِينَ ءَامَنُواْ وَعَمِلُواْ الصَّـٰلِحَٰتِ أُوْلَـٰئِكَ أَصْحَٰبُ الْجَنَّةِ هُمْ فِيهَا خَٰلِدُونَ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والذين آمنوا وعملوا الصالحات أولئك أهل الجنة خالدين فيها.</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مواقف اليهود من الوحي</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٨٣ – ٨٤</a:t>
            </a:r>
            <a:endParaRPr lang="ar-SA" sz="1400" dirty="0"/>
          </a:p>
        </p:txBody>
      </p:sp>
      <p:sp>
        <p:nvSpPr>
          <p:cNvPr id="6" name="Shape 4"/>
          <p:cNvSpPr/>
          <p:nvPr/>
        </p:nvSpPr>
        <p:spPr>
          <a:xfrm>
            <a:off x="731520" y="1305535"/>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3355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33551"/>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٨٣</a:t>
            </a:r>
            <a:endParaRPr lang="ar-SA" sz="1400" dirty="0"/>
          </a:p>
        </p:txBody>
      </p:sp>
      <p:sp>
        <p:nvSpPr>
          <p:cNvPr id="9" name="Text 7"/>
          <p:cNvSpPr txBox="1"/>
          <p:nvPr/>
        </p:nvSpPr>
        <p:spPr>
          <a:xfrm>
            <a:off x="914400" y="1433551"/>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 أَخَذْنَا مِيثَٰقَ بَنِي إِسْرَـٰءِيلَ لَا تَعْبُدُونَ إِلَّا اللَّهَ وَبِالْوَٰلِدَيْنِ إِحْسَانًا وَذِي الْقُرْبَىٰ وَالْيَتَٰمَىٰ وَالْمَسَٰكِينِ وَقُولُواْ لِلنَّاسِ حُسْنًا وَأَقِيمُواْ الصَّلَوٰةَ وَءَاتُواْ الزَّكَوٰةَ ثُمَّ تَوَلَّيْتُمْ إِلَّا قَلِيلًا مِّنكُمْ وَأَنتُم مُّعْرِضُونَ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واذكروا حين أخذنا العهد على بني إسرائيل: لا تعبدوا إلا الله، وأحسنوا إلى الوالدين والأقارب واليتامى والمساكين، وقولوا للناس قولًا حسنًا، وأقيموا الصلاة وآتوا الزكاة، ثم أعرضتم إلا قليلًا منكم.</a:t>
            </a:r>
            <a:endParaRPr lang="ar-SA" sz="2800" dirty="0"/>
          </a:p>
        </p:txBody>
      </p:sp>
      <p:sp>
        <p:nvSpPr>
          <p:cNvPr id="10" name="Shape 8"/>
          <p:cNvSpPr/>
          <p:nvPr/>
        </p:nvSpPr>
        <p:spPr>
          <a:xfrm>
            <a:off x="731520" y="4269105"/>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39712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397121"/>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٨٤</a:t>
            </a:r>
            <a:endParaRPr lang="ar-SA" sz="1400" dirty="0"/>
          </a:p>
        </p:txBody>
      </p:sp>
      <p:sp>
        <p:nvSpPr>
          <p:cNvPr id="13" name="Text 11"/>
          <p:cNvSpPr txBox="1"/>
          <p:nvPr/>
        </p:nvSpPr>
        <p:spPr>
          <a:xfrm>
            <a:off x="914400" y="4397121"/>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 أَخَذْنَا مِيثَٰقَكُمْ لَا تَسْفِكُونَ دِمَآءَكُمْ وَلَا تُخْرِجُونَ أَنفُسَكُم مِّن دِيَٰرِكُمْ ثُمَّ أَقْرَرْتُمْ وَأَنتُمْ تَشْهَدُونَ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وحين أخذنا عهدكم: لا يقتل بعضكم بعضًا، ولا يُخرج بعضكم بعضًا من دياره، فأقررتم بذلك وأنتم تشهدون.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مواقف اليهود من الوحي</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٨٥ – ٨٦</a:t>
            </a:r>
            <a:endParaRPr lang="ar-SA" sz="1400" dirty="0"/>
          </a:p>
        </p:txBody>
      </p:sp>
      <p:sp>
        <p:nvSpPr>
          <p:cNvPr id="6" name="Shape 4"/>
          <p:cNvSpPr/>
          <p:nvPr/>
        </p:nvSpPr>
        <p:spPr>
          <a:xfrm>
            <a:off x="731520" y="1466469"/>
            <a:ext cx="10728655" cy="3076956"/>
          </a:xfrm>
          <a:prstGeom prst="roundRect">
            <a:avLst>
              <a:gd name="adj" fmla="val 2972"/>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594485"/>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594485"/>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٨٥</a:t>
            </a:r>
            <a:endParaRPr lang="ar-SA" sz="1400" dirty="0"/>
          </a:p>
        </p:txBody>
      </p:sp>
      <p:sp>
        <p:nvSpPr>
          <p:cNvPr id="9" name="Text 7"/>
          <p:cNvSpPr txBox="1"/>
          <p:nvPr/>
        </p:nvSpPr>
        <p:spPr>
          <a:xfrm>
            <a:off x="914400" y="1594485"/>
            <a:ext cx="9677095" cy="2820924"/>
          </a:xfrm>
          <a:prstGeom prst="rect">
            <a:avLst/>
          </a:prstGeom>
          <a:noFill/>
          <a:ln/>
        </p:spPr>
        <p:txBody>
          <a:bodyPr wrap="square" lIns="0" tIns="0" rIns="0" bIns="0" rtlCol="0" anchor="ctr"/>
          <a:lstStyle/>
          <a:p>
            <a:pPr rtl="1" algn="r" indent="0" marL="0">
              <a:spcAft>
                <a:spcPts val="800"/>
              </a:spcAft>
              <a:buNone/>
            </a:pPr>
            <a:r>
              <a:rPr lang="ar-SA" altLang="en-US" sz="2400" b="1" dirty="0">
                <a:solidFill>
                  <a:schemeClr val="tx2"/>
                </a:solidFill>
                <a:latin typeface="Traditional Arabic" pitchFamily="34" charset="0"/>
                <a:ea typeface="Traditional Arabic" pitchFamily="34" charset="-122"/>
                <a:cs typeface="Traditional Arabic" pitchFamily="34" charset="-120"/>
              </a:rPr>
              <a:t>ثُمَّ أَنتُمْ هَـٰؤُلَآءِ تَقْتُلُونَ أَنفُسَكُمْ وَتُخْرِجُونَ فَرِيقًا مِّنكُم مِّن دِيَٰرِهِمْ تَظَٰهَرُونَ عَلَيْهِم بِالْإِثْمِ وَالْعُدْوَٰنِ وَإِن يَأْتُوكُمْ أُسَٰرَىٰ تُفَٰدُوهُمْ وَهُوَ مُحَرَّمٌ عَلَيْكُمْ إِخْرَاجُهُمْ أَفَتُؤْمِنُونَ بِبَعْضِ الْكِتَٰبِ وَتَكْفُرُونَ بِبَعْضٍ فَمَا جَزَآءُ مَن يَفْعَلُ ذَٰلِكَ مِنكُمْ إِلَّا خِزْيٌ فِي الْحَيَوٰةِ الدُّنْيَا وَيَوْمَ الْقِيَٰمَةِ يُرَدُّونَ إِلَىٰ أَشَدِّ الْعَذَابِ وَمَا اللَّهُ بِغَٰفِلٍ عَمَّا تَعْمَلُونَ</a:t>
            </a:r>
            <a:endParaRPr lang="ar-SA" sz="24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ثم أنتم تقتلون بعضكم، وتُخرجون فريقًا منكم من ديارهم، ثم تفدونهم إذا أُسروا! أفتؤمنون ببعض التوراة وتكفرون ببعض؟ فما جزاء من يفعل ذلك إلا خزيٌ في الدنيا وعذاب شديد يوم القيامة.</a:t>
            </a:r>
            <a:endParaRPr lang="ar-SA" sz="2400" dirty="0"/>
          </a:p>
        </p:txBody>
      </p:sp>
      <p:sp>
        <p:nvSpPr>
          <p:cNvPr id="10" name="Shape 8"/>
          <p:cNvSpPr/>
          <p:nvPr/>
        </p:nvSpPr>
        <p:spPr>
          <a:xfrm>
            <a:off x="731520" y="4671441"/>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799457"/>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799457"/>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٨٦</a:t>
            </a:r>
            <a:endParaRPr lang="ar-SA" sz="1400" dirty="0"/>
          </a:p>
        </p:txBody>
      </p:sp>
      <p:sp>
        <p:nvSpPr>
          <p:cNvPr id="13" name="Text 11"/>
          <p:cNvSpPr txBox="1"/>
          <p:nvPr/>
        </p:nvSpPr>
        <p:spPr>
          <a:xfrm>
            <a:off x="914400" y="4799457"/>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أُوْلَـٰئِكَ الَّذِينَ اشْتَرَوُاْ الْحَيَوٰةَ الدُّنْيَا بِالْأخِرَةِ فَلَا يُخَفَّفُ عَنْهُمُ الْعَذَابُ وَلَا هُمْ يُنصَرُونَ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أولئك الذين اختاروا الدنيا على الآخرة، فلا يُخفّف عنهم العذاب ولا يُنصرون.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مواقف اليهود من الوحي</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٨٧ – ٨٨</a:t>
            </a:r>
            <a:endParaRPr lang="ar-SA" sz="1400" dirty="0"/>
          </a:p>
        </p:txBody>
      </p:sp>
      <p:sp>
        <p:nvSpPr>
          <p:cNvPr id="6" name="Shape 4"/>
          <p:cNvSpPr/>
          <p:nvPr/>
        </p:nvSpPr>
        <p:spPr>
          <a:xfrm>
            <a:off x="731520" y="1587170"/>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71518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715186"/>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٨٧</a:t>
            </a:r>
            <a:endParaRPr lang="ar-SA" sz="1400" dirty="0"/>
          </a:p>
        </p:txBody>
      </p:sp>
      <p:sp>
        <p:nvSpPr>
          <p:cNvPr id="9" name="Text 7"/>
          <p:cNvSpPr txBox="1"/>
          <p:nvPr/>
        </p:nvSpPr>
        <p:spPr>
          <a:xfrm>
            <a:off x="914400" y="1715186"/>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وَلَقَدْ ءَاتَيْنَا مُوسَى الْكِتَٰبَ وَقَفَّيْنَا مِن بَعْدِهِ بِالرُّسُلِ وَءَاتَيْنَا عِيسَى ابْنَ مَرْيَمَ الْبَيِّنَٰتِ وَأَيَّدْنَٰهُ بِرُوحِ الْقُدُسِ أَفَكُلَّمَا جَآءَكُمْ رَسُولٌ بِمَا لَا تَهْوَىٰ أَنفُسُكُمُ اسْتَكْبَرْتُمْ فَفَرِيقًا كَذَّبْتُمْ وَفَرِيقًا تَقْتُلُونَ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ولقد أعطينا موسى التوراة، وأتبعناه بالرسل، وأعطينا عيسى المعجزات وقوّيناه بجبريل، أفكلما جاءكم رسول بما لا تحبون تكبّرتم، ففريقًا كذّبتم وفريقًا تقتلون؟</a:t>
            </a:r>
            <a:endParaRPr lang="ar-SA" sz="2800" dirty="0"/>
          </a:p>
        </p:txBody>
      </p:sp>
      <p:sp>
        <p:nvSpPr>
          <p:cNvPr id="10" name="Shape 8"/>
          <p:cNvSpPr/>
          <p:nvPr/>
        </p:nvSpPr>
        <p:spPr>
          <a:xfrm>
            <a:off x="731520" y="4550740"/>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678756"/>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678756"/>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٨٨</a:t>
            </a:r>
            <a:endParaRPr lang="ar-SA" sz="1400" dirty="0"/>
          </a:p>
        </p:txBody>
      </p:sp>
      <p:sp>
        <p:nvSpPr>
          <p:cNvPr id="13" name="Text 11"/>
          <p:cNvSpPr txBox="1"/>
          <p:nvPr/>
        </p:nvSpPr>
        <p:spPr>
          <a:xfrm>
            <a:off x="914400" y="4678756"/>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وَقَالُواْ قُلُوبُنَا غُلْفٌ بَل لَّعَنَهُمُ اللَّهُ بِكُفْرِهِمْ فَقَلِيلًا مَّا يُؤْمِنُونَ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وقالوا: قلوبنا مغطّاة لا تفهم ما تقول، بل طردهم الله من رحمته بسبب كفرهم، فقليلًا ما يؤمنون.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مواقف اليهود من الوحي</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٨٩ – ٩٠</a:t>
            </a:r>
            <a:endParaRPr lang="ar-SA" sz="1400" dirty="0"/>
          </a:p>
        </p:txBody>
      </p:sp>
      <p:sp>
        <p:nvSpPr>
          <p:cNvPr id="6" name="Shape 4"/>
          <p:cNvSpPr/>
          <p:nvPr/>
        </p:nvSpPr>
        <p:spPr>
          <a:xfrm>
            <a:off x="731520" y="14356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563624"/>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563624"/>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٨٩</a:t>
            </a:r>
            <a:endParaRPr lang="ar-SA" sz="1400" dirty="0"/>
          </a:p>
        </p:txBody>
      </p:sp>
      <p:sp>
        <p:nvSpPr>
          <p:cNvPr id="9" name="Text 7"/>
          <p:cNvSpPr txBox="1"/>
          <p:nvPr/>
        </p:nvSpPr>
        <p:spPr>
          <a:xfrm>
            <a:off x="914400" y="15636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وَلَمَّا جَآءَهُمْ كِتَٰبٌ مِّنْ عِندِ اللَّهِ مُصَدِّقٌ لِّمَا مَعَهُمْ وَكَانُواْ مِن قَبْلُ يَسْتَفْتِحُونَ عَلَى الَّذِينَ كَفَرُواْ فَلَمَّا جَآءَهُم مَّا عَرَفُواْ كَفَرُواْ بِهِ فَلَعْنَةُ اللَّهِ عَلَى الْكَٰفِرِينَ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ولما جاءهم القرآن مصدّقًا لما معهم، وكانوا قبل ذلك يستنصرون بالنبي المنتظر على العرب، فلما جاءهم النبي الذي عرفوه كفروا به حسدًا، فلعنة الله على الكافرين.</a:t>
            </a:r>
            <a:endParaRPr lang="ar-SA" sz="2800" dirty="0"/>
          </a:p>
        </p:txBody>
      </p:sp>
      <p:sp>
        <p:nvSpPr>
          <p:cNvPr id="10" name="Shape 8"/>
          <p:cNvSpPr/>
          <p:nvPr/>
        </p:nvSpPr>
        <p:spPr>
          <a:xfrm>
            <a:off x="731520" y="38359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96392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963924"/>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٩٠</a:t>
            </a:r>
            <a:endParaRPr lang="ar-SA" sz="1400" dirty="0"/>
          </a:p>
        </p:txBody>
      </p:sp>
      <p:sp>
        <p:nvSpPr>
          <p:cNvPr id="13" name="Text 11"/>
          <p:cNvSpPr txBox="1"/>
          <p:nvPr/>
        </p:nvSpPr>
        <p:spPr>
          <a:xfrm>
            <a:off x="914400" y="39639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بِئْسَمَا اشْتَرَوْاْ بِهِ أَنفُسَهُمْ أَن يَكْفُرُواْ بِمَآ أَنزَلَ اللَّهُ بَغْيًا أَن يُنَزِّلَ اللَّهُ مِن فَضْلِهِ عَلَىٰ مَن يَشَآءُ مِنْ عِبَادِهِ فَبَآءُو بِغَضَبٍ عَلَىٰ غَضَبٍ وَلِلْكَٰفِرِينَ عَذَابٌ مُّهِينٌ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بئس ما باعوا به أنفسهم: أن كفروا بالقرآن حسدًا أن ينزّل الله الوحي على من يشاء من عباده، فرجعوا بغضب على غضب، وللكافرين عذاب مُهين.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مواقف اليهود من الوحي</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٩١ – ٩٢</a:t>
            </a:r>
            <a:endParaRPr lang="ar-SA" sz="1400" dirty="0"/>
          </a:p>
        </p:txBody>
      </p:sp>
      <p:sp>
        <p:nvSpPr>
          <p:cNvPr id="6" name="Shape 4"/>
          <p:cNvSpPr/>
          <p:nvPr/>
        </p:nvSpPr>
        <p:spPr>
          <a:xfrm>
            <a:off x="731520" y="1868805"/>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99682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996821"/>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٩١</a:t>
            </a:r>
            <a:endParaRPr lang="ar-SA" sz="1400" dirty="0"/>
          </a:p>
        </p:txBody>
      </p:sp>
      <p:sp>
        <p:nvSpPr>
          <p:cNvPr id="9" name="Text 7"/>
          <p:cNvSpPr txBox="1"/>
          <p:nvPr/>
        </p:nvSpPr>
        <p:spPr>
          <a:xfrm>
            <a:off x="914400" y="1996821"/>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وَإِذَا قِيلَ لَهُمْ ءَامِنُواْ بِمَآ أَنزَلَ اللَّهُ قَالُواْ نُؤْمِنُ بِمَآ أُنزِلَ عَلَيْنَا وَيَكْفُرُونَ بِمَا وَرَآءَهُ وَهُوَ الْحَقُّ مُصَدِّقًا لِّمَا مَعَهُمْ قُلْ فَلِمَ تَقْتُلُونَ أَنبِيَآءَ اللَّهِ مِن قَبْلُ إِن كُنتُم مُّؤْمِنِينَ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وإذا قيل لهم: آمنوا بالقرآن، قالوا: نؤمن بالتوراة فقط، ويكفرون بما بعدها وهو الحق، قل: فلماذا قتلتم أنبياء الله من قبل إن كنتم مؤمنين؟</a:t>
            </a:r>
            <a:endParaRPr lang="ar-SA" sz="2800" dirty="0"/>
          </a:p>
        </p:txBody>
      </p:sp>
      <p:sp>
        <p:nvSpPr>
          <p:cNvPr id="10" name="Shape 8"/>
          <p:cNvSpPr/>
          <p:nvPr/>
        </p:nvSpPr>
        <p:spPr>
          <a:xfrm>
            <a:off x="731520" y="426910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39712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397121"/>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٩٢</a:t>
            </a:r>
            <a:endParaRPr lang="ar-SA" sz="1400" dirty="0"/>
          </a:p>
        </p:txBody>
      </p:sp>
      <p:sp>
        <p:nvSpPr>
          <p:cNvPr id="13" name="Text 11"/>
          <p:cNvSpPr txBox="1"/>
          <p:nvPr/>
        </p:nvSpPr>
        <p:spPr>
          <a:xfrm>
            <a:off x="914400" y="439712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وَلَقَدْ جَآءَكُم مُّوسَىٰ بِالْبَيِّنَٰتِ ثُمَّ اتَّخَذْتُمُ الْعِجْلَ مِن بَعْدِهِ وَأَنتُمْ ظَٰلِمُونَ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ولقد جاءكم موسى بالمعجزات الواضحات، ثم عبدتم العجل في غيابه وأنتم ظالمون.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مواقف اليهود من الوحي</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٩٣ – ٩٤</a:t>
            </a:r>
            <a:endParaRPr lang="ar-SA" sz="1400" dirty="0"/>
          </a:p>
        </p:txBody>
      </p:sp>
      <p:sp>
        <p:nvSpPr>
          <p:cNvPr id="6" name="Shape 4"/>
          <p:cNvSpPr/>
          <p:nvPr/>
        </p:nvSpPr>
        <p:spPr>
          <a:xfrm>
            <a:off x="731520" y="1305535"/>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3355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33551"/>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٩٣</a:t>
            </a:r>
            <a:endParaRPr lang="ar-SA" sz="1400" dirty="0"/>
          </a:p>
        </p:txBody>
      </p:sp>
      <p:sp>
        <p:nvSpPr>
          <p:cNvPr id="9" name="Text 7"/>
          <p:cNvSpPr txBox="1"/>
          <p:nvPr/>
        </p:nvSpPr>
        <p:spPr>
          <a:xfrm>
            <a:off x="914400" y="1433551"/>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 أَخَذْنَا مِيثَٰقَكُمْ وَرَفَعْنَا فَوْقَكُمُ الطُّورَ خُذُواْ مَآ ءَاتَيْنَٰكُم بِقُوَّةٍ وَاسْمَعُواْ قَالُواْ سَمِعْنَا وَعَصَيْنَا وَأُشْرِبُواْ فِي قُلُوبِهِمُ الْعِجْلَ بِكُفْرِهِمْ قُلْ بِئْسَمَا يَأْمُرُكُم بِهِ إِيمَٰنُكُمْ إِن كُنتُم مُّؤْمِنِينَ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وحين أخذنا عهدكم ورفعنا فوقكم الجبل: خذوا التوراة بجدّ واسمعوا، قالوا: سمعنا وعصينا، وامتلأت قلوبهم بحب العجل بسبب كفرهم، قل: بئس ما يأمركم به إيمانكم إن كنتم مؤمنين.</a:t>
            </a:r>
            <a:endParaRPr lang="ar-SA" sz="2800" dirty="0"/>
          </a:p>
        </p:txBody>
      </p:sp>
      <p:sp>
        <p:nvSpPr>
          <p:cNvPr id="10" name="Shape 8"/>
          <p:cNvSpPr/>
          <p:nvPr/>
        </p:nvSpPr>
        <p:spPr>
          <a:xfrm>
            <a:off x="731520" y="4269105"/>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39712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397121"/>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٩٤</a:t>
            </a:r>
            <a:endParaRPr lang="ar-SA" sz="1400" dirty="0"/>
          </a:p>
        </p:txBody>
      </p:sp>
      <p:sp>
        <p:nvSpPr>
          <p:cNvPr id="13" name="Text 11"/>
          <p:cNvSpPr txBox="1"/>
          <p:nvPr/>
        </p:nvSpPr>
        <p:spPr>
          <a:xfrm>
            <a:off x="914400" y="4397121"/>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قُلْ إِن كَانَتْ لَكُمُ الدَّارُ الْأخِرَةُ عِندَ اللَّهِ خَالِصَةً مِّن دُونِ النَّاسِ فَتَمَنَّوُاْ الْمَوْتَ إِن كُنتُمْ صَٰدِقِينَ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قل: إن كانت الجنة لكم وحدكم دون الناس كما تزعمون، فتمنّوا الموت إن كنتم صادقين.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مواقف اليهود من الوحي</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٩٥ – ٩٦</a:t>
            </a:r>
            <a:endParaRPr lang="ar-SA" sz="1400" dirty="0"/>
          </a:p>
        </p:txBody>
      </p:sp>
      <p:sp>
        <p:nvSpPr>
          <p:cNvPr id="6" name="Shape 4"/>
          <p:cNvSpPr/>
          <p:nvPr/>
        </p:nvSpPr>
        <p:spPr>
          <a:xfrm>
            <a:off x="731520" y="186880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99682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996821"/>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٩٥</a:t>
            </a:r>
            <a:endParaRPr lang="ar-SA" sz="1400" dirty="0"/>
          </a:p>
        </p:txBody>
      </p:sp>
      <p:sp>
        <p:nvSpPr>
          <p:cNvPr id="9" name="Text 7"/>
          <p:cNvSpPr txBox="1"/>
          <p:nvPr/>
        </p:nvSpPr>
        <p:spPr>
          <a:xfrm>
            <a:off x="914400" y="199682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وَلَن يَتَمَنَّوْهُ أَبَدًا بِمَا قَدَّمَتْ أَيْدِيهِمْ وَاللَّهُ عَلِيمٌ بِالظَّـٰلِمِينَ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ولن يتمنّوه أبدًا بسبب ما عملوا من الذنوب، والله عليم بالظالمين.</a:t>
            </a:r>
            <a:endParaRPr lang="ar-SA" sz="2800" dirty="0"/>
          </a:p>
        </p:txBody>
      </p:sp>
      <p:sp>
        <p:nvSpPr>
          <p:cNvPr id="10" name="Shape 8"/>
          <p:cNvSpPr/>
          <p:nvPr/>
        </p:nvSpPr>
        <p:spPr>
          <a:xfrm>
            <a:off x="731520" y="3402711"/>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530727"/>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530727"/>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٩٦</a:t>
            </a:r>
            <a:endParaRPr lang="ar-SA" sz="1400" dirty="0"/>
          </a:p>
        </p:txBody>
      </p:sp>
      <p:sp>
        <p:nvSpPr>
          <p:cNvPr id="13" name="Text 11"/>
          <p:cNvSpPr txBox="1"/>
          <p:nvPr/>
        </p:nvSpPr>
        <p:spPr>
          <a:xfrm>
            <a:off x="914400" y="3530727"/>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وَلَتَجِدَنَّهُمْ أَحْرَصَ النَّاسِ عَلَىٰ حَيَوٰةٍ وَمِنَ الَّذِينَ أَشْرَكُواْ يَوَدُّ أَحَدُهُمْ لَوْ يُعَمَّرُ أَلْفَ سَنَةٍ وَمَا هُوَ بِمُزَحْزِحِهِ مِنَ الْعَذَابِ أَن يُعَمَّرَ وَاللَّهُ بَصِيرٌ بِمَا يَعْمَلُونَ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ولتجدنّهم أحرص الناس على الحياة، أشد حرصًا من المشركين، يتمنى أحدهم أن يعيش ألف سنة، وما طول العمر بمُنجيه من العذاب.</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مواقف اليهود من الوحي</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٩٧ – ٩٩</a:t>
            </a:r>
            <a:endParaRPr lang="ar-SA" sz="1400" dirty="0"/>
          </a:p>
        </p:txBody>
      </p:sp>
      <p:sp>
        <p:nvSpPr>
          <p:cNvPr id="6" name="Shape 4"/>
          <p:cNvSpPr/>
          <p:nvPr/>
        </p:nvSpPr>
        <p:spPr>
          <a:xfrm>
            <a:off x="731520" y="1280160"/>
            <a:ext cx="10728655" cy="2153412"/>
          </a:xfrm>
          <a:prstGeom prst="roundRect">
            <a:avLst>
              <a:gd name="adj" fmla="val 4246"/>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0817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08176"/>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٩٧</a:t>
            </a:r>
            <a:endParaRPr lang="ar-SA" sz="1400" dirty="0"/>
          </a:p>
        </p:txBody>
      </p:sp>
      <p:sp>
        <p:nvSpPr>
          <p:cNvPr id="9" name="Text 7"/>
          <p:cNvSpPr txBox="1"/>
          <p:nvPr/>
        </p:nvSpPr>
        <p:spPr>
          <a:xfrm>
            <a:off x="914400" y="1408176"/>
            <a:ext cx="9677095" cy="1897380"/>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قُلْ مَن كَانَ عَدُوًّا لِّـجِبْرِيلَ فَإِنَّهُ نَزَّلَهُ عَلَىٰ قَلْبِكَ بِإِذْنِ اللَّهِ مُصَدِّقًا لِّمَا بَيْنَ يَدَيْهِ وَهُدًى وَبُشْرَىٰ لِلْمُؤْمِنِينَ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قل لليهود الذين قالوا: جبريل عدوّنا: من كان عدوًّا لجبريل فإنه نزّل القرآن على قلبك بأمر الله، مصدّقًا للكتب السابقة، وهدى وبشرى للمؤمنين.</a:t>
            </a:r>
            <a:endParaRPr lang="ar-SA" sz="2800" dirty="0"/>
          </a:p>
        </p:txBody>
      </p:sp>
      <p:sp>
        <p:nvSpPr>
          <p:cNvPr id="10" name="Shape 8"/>
          <p:cNvSpPr/>
          <p:nvPr/>
        </p:nvSpPr>
        <p:spPr>
          <a:xfrm>
            <a:off x="731520" y="3561588"/>
            <a:ext cx="10728655" cy="1287018"/>
          </a:xfrm>
          <a:prstGeom prst="roundRect">
            <a:avLst>
              <a:gd name="adj" fmla="val 710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68960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689604"/>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٩٨</a:t>
            </a:r>
            <a:endParaRPr lang="ar-SA" sz="1400" dirty="0"/>
          </a:p>
        </p:txBody>
      </p:sp>
      <p:sp>
        <p:nvSpPr>
          <p:cNvPr id="13" name="Text 11"/>
          <p:cNvSpPr txBox="1"/>
          <p:nvPr/>
        </p:nvSpPr>
        <p:spPr>
          <a:xfrm>
            <a:off x="914400" y="3689604"/>
            <a:ext cx="9677095" cy="1030986"/>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مَن كَانَ عَدُوًّا لِّلَّهِ وَمَلَـٰئِكَتِهِ وَرُسُلِهِ وَجِبْرِيلَ وَمِيكَىٰلَ فَإِنَّ اللَّهَ عَدُوٌّ لِّلْكَٰفِرِينَ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من عادى الله وملائكته ورسله وجبريل وميكائيل فإن الله عدوّ للكافرين.</a:t>
            </a:r>
            <a:endParaRPr lang="ar-SA" sz="2800" dirty="0"/>
          </a:p>
        </p:txBody>
      </p:sp>
      <p:sp>
        <p:nvSpPr>
          <p:cNvPr id="14" name="Shape 12"/>
          <p:cNvSpPr/>
          <p:nvPr/>
        </p:nvSpPr>
        <p:spPr>
          <a:xfrm>
            <a:off x="731520" y="4976622"/>
            <a:ext cx="10728655" cy="1287018"/>
          </a:xfrm>
          <a:prstGeom prst="roundRect">
            <a:avLst>
              <a:gd name="adj" fmla="val 710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5" name="Shape 13"/>
          <p:cNvSpPr/>
          <p:nvPr/>
        </p:nvSpPr>
        <p:spPr>
          <a:xfrm>
            <a:off x="10874959" y="5104638"/>
            <a:ext cx="475488" cy="475488"/>
          </a:xfrm>
          <a:prstGeom prst="octagon">
            <a:avLst/>
          </a:prstGeom>
          <a:solidFill>
            <a:schemeClr val="accent2"/>
          </a:solidFill>
          <a:ln w="15875">
            <a:solidFill>
              <a:schemeClr val="accent5"/>
            </a:solidFill>
            <a:prstDash val="solid"/>
          </a:ln>
        </p:spPr>
      </p:sp>
      <p:sp>
        <p:nvSpPr>
          <p:cNvPr id="16" name="Text 14"/>
          <p:cNvSpPr txBox="1"/>
          <p:nvPr/>
        </p:nvSpPr>
        <p:spPr>
          <a:xfrm>
            <a:off x="10874959" y="5104638"/>
            <a:ext cx="475488" cy="475488"/>
          </a:xfrm>
          <a:prstGeom prst="rect">
            <a:avLst/>
          </a:prstGeom>
          <a:noFill/>
          <a:ln/>
        </p:spPr>
        <p:txBody>
          <a:bodyPr wrap="square" lIns="0" tIns="0" rIns="0" bIns="0" rtlCol="0" anchor="ctr"/>
          <a:lstStyle/>
          <a:p>
            <a:pPr rtl="1" algn="ctr" indent="0" marL="0">
              <a:buNone/>
            </a:pPr>
            <a:r>
              <a:rPr lang="ar-SA" altLang="en-US" sz="1400" b="1" dirty="0">
                <a:solidFill>
                  <a:schemeClr val="bg1"/>
                </a:solidFill>
                <a:latin typeface="Arial" pitchFamily="34" charset="0"/>
                <a:ea typeface="Arial" pitchFamily="34" charset="-122"/>
                <a:cs typeface="Arial" pitchFamily="34" charset="-120"/>
              </a:rPr>
              <a:t>٩٩</a:t>
            </a:r>
            <a:endParaRPr lang="ar-SA" sz="1400" dirty="0"/>
          </a:p>
        </p:txBody>
      </p:sp>
      <p:sp>
        <p:nvSpPr>
          <p:cNvPr id="17" name="Text 15"/>
          <p:cNvSpPr txBox="1"/>
          <p:nvPr/>
        </p:nvSpPr>
        <p:spPr>
          <a:xfrm>
            <a:off x="914400" y="5104638"/>
            <a:ext cx="9677095" cy="1030986"/>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وَلَقَدْ أَنزَلْنَآ إِلَيْكَ ءَايَٰتٍ بَيِّنَٰتٍ وَمَا يَكْفُرُ بِهَآ إِلَّا الْفَٰسِقُونَ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ولقد أنزلنا إليك يا محمد آيات واضحات، وما يكفر بها إلا الخارجون عن طاعة الله.</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مواقف اليهود من الوحي</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١٠٠ – ١٠١</a:t>
            </a:r>
            <a:endParaRPr lang="ar-SA" sz="1400" dirty="0"/>
          </a:p>
        </p:txBody>
      </p:sp>
      <p:sp>
        <p:nvSpPr>
          <p:cNvPr id="6" name="Shape 4"/>
          <p:cNvSpPr/>
          <p:nvPr/>
        </p:nvSpPr>
        <p:spPr>
          <a:xfrm>
            <a:off x="731520" y="186880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99682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9968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١٠٠</a:t>
            </a:r>
            <a:endParaRPr lang="ar-SA" sz="1200" dirty="0"/>
          </a:p>
        </p:txBody>
      </p:sp>
      <p:sp>
        <p:nvSpPr>
          <p:cNvPr id="9" name="Text 7"/>
          <p:cNvSpPr txBox="1"/>
          <p:nvPr/>
        </p:nvSpPr>
        <p:spPr>
          <a:xfrm>
            <a:off x="914400" y="199682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أَوَكُلَّمَا عَٰهَدُواْ عَهْدًا نَّبَذَهُ فَرِيقٌ مِّنْهُم بَلْ أَكْثَرُهُمْ لَا يُؤْمِنُونَ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أوكلما أعطوا عهدًا نقضه فريق منهم؟ بل أكثرهم لا يؤمنون.</a:t>
            </a:r>
            <a:endParaRPr lang="ar-SA" sz="2800" dirty="0"/>
          </a:p>
        </p:txBody>
      </p:sp>
      <p:sp>
        <p:nvSpPr>
          <p:cNvPr id="10" name="Shape 8"/>
          <p:cNvSpPr/>
          <p:nvPr/>
        </p:nvSpPr>
        <p:spPr>
          <a:xfrm>
            <a:off x="731520" y="3402711"/>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530727"/>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530727"/>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١٠١</a:t>
            </a:r>
            <a:endParaRPr lang="ar-SA" sz="1200" dirty="0"/>
          </a:p>
        </p:txBody>
      </p:sp>
      <p:sp>
        <p:nvSpPr>
          <p:cNvPr id="13" name="Text 11"/>
          <p:cNvSpPr txBox="1"/>
          <p:nvPr/>
        </p:nvSpPr>
        <p:spPr>
          <a:xfrm>
            <a:off x="914400" y="3530727"/>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وَلَمَّا جَآءَهُمْ رَسُولٌ مِّنْ عِندِ اللَّهِ مُصَدِّقٌ لِّمَا مَعَهُمْ نَبَذَ فَرِيقٌ مِّنَ الَّذِينَ أُوتُواْ الْكِتَٰبَ كِتَٰبَ اللَّهِ وَرَآءَ ظُهُورِهِمْ كَأَنَّهُمْ لَا يَعْلَمُونَ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ولما جاءهم محمد صلى الله عليه وسلم مصدّقًا لما معهم، ترك فريق منهم التوراة وراء ظهورهم كأنهم لا يعلمون ما فيها من صفته.</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مواقف اليهود من الوحي</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١٠٢</a:t>
            </a:r>
            <a:endParaRPr lang="ar-SA" sz="1400" dirty="0"/>
          </a:p>
        </p:txBody>
      </p:sp>
      <p:sp>
        <p:nvSpPr>
          <p:cNvPr id="6" name="Shape 4"/>
          <p:cNvSpPr/>
          <p:nvPr/>
        </p:nvSpPr>
        <p:spPr>
          <a:xfrm>
            <a:off x="731520" y="1840459"/>
            <a:ext cx="10728655" cy="3862883"/>
          </a:xfrm>
          <a:prstGeom prst="roundRect">
            <a:avLst>
              <a:gd name="adj" fmla="val 2367"/>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968475"/>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968475"/>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١٠٢</a:t>
            </a:r>
            <a:endParaRPr lang="ar-SA" sz="1200" dirty="0"/>
          </a:p>
        </p:txBody>
      </p:sp>
      <p:sp>
        <p:nvSpPr>
          <p:cNvPr id="9" name="Text 7"/>
          <p:cNvSpPr txBox="1"/>
          <p:nvPr/>
        </p:nvSpPr>
        <p:spPr>
          <a:xfrm>
            <a:off x="914400" y="1968475"/>
            <a:ext cx="9677095" cy="3606851"/>
          </a:xfrm>
          <a:prstGeom prst="rect">
            <a:avLst/>
          </a:prstGeom>
          <a:noFill/>
          <a:ln/>
        </p:spPr>
        <p:txBody>
          <a:bodyPr wrap="square" lIns="0" tIns="0" rIns="0" bIns="0" rtlCol="0" anchor="ctr"/>
          <a:lstStyle/>
          <a:p>
            <a:pPr rtl="1" algn="r" indent="0" marL="0">
              <a:spcAft>
                <a:spcPts val="800"/>
              </a:spcAft>
              <a:buNone/>
            </a:pPr>
            <a:r>
              <a:rPr lang="ar-SA" altLang="en-US" sz="2400" b="1" dirty="0">
                <a:solidFill>
                  <a:schemeClr val="tx2"/>
                </a:solidFill>
                <a:latin typeface="Traditional Arabic" pitchFamily="34" charset="0"/>
                <a:ea typeface="Traditional Arabic" pitchFamily="34" charset="-122"/>
                <a:cs typeface="Traditional Arabic" pitchFamily="34" charset="-120"/>
              </a:rPr>
              <a:t>وَاتَّبَعُواْ مَا تَتْلُواْ الشَّيَٰطِينُ عَلَىٰ مُلْكِ سُلَيْمَٰنَ وَمَا كَفَرَ سُلَيْمَٰنُ وَلَٰكِنَّ الشَّيَٰطِينَ كَفَرُواْ يُعَلِّمُونَ النَّاسَ السِّحْرَ وَمَآ أُنزِلَ عَلَى الْمَلَكَيْنِ بِبَابِلَ هَٰرُوتَ وَمَٰرُوتَ وَمَا يُعَلِّمَانِ مِنْ أَحَدٍ حَتَّىٰ يَقُولَآ إِنَّمَا نَحْنُ فِتْنَةٌ فَلَا تَكْفُرْ فَيَتَعَلَّمُونَ مِنْهُمَا مَا يُفَرِّقُونَ بِهِ بَيْنَ الْمَرْءِ وَزَوْجِهِ وَمَا هُم بِضَآرِّينَ بِهِ مِنْ أَحَدٍ إِلَّا بِإِذْنِ اللَّهِ وَيَتَعَلَّمُونَ مَا يَضُرُّهُمْ وَلَا يَنفَعُهُمْ وَلَقَدْ عَلِمُواْ لَمَنِ اشْتَرَىٰهُ مَا لَهُ فِي الْأخِرَةِ مِنْ خَلَٰقٍ وَلَبِئْسَ مَا شَرَوْاْ بِهِ أَنفُسَهُمْ لَوْ كَانُواْ يَعْلَمُونَ</a:t>
            </a:r>
            <a:endParaRPr lang="ar-SA" sz="24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واتّبع اليهود السحر الذي كانت الشياطين تتحدث به في عهد سليمان، وما كفر سليمان، ولكن الشياطين كفروا يعلّمون الناس السحر، وأنزل الله على الملكين هاروت وماروت ببابل ابتلاءً، فكانا يحذّران من يتعلّمه: إنما نحن اختبار فلا تكفر. والسحر لا يضرّ أحدًا إلا بإذن الله.</a:t>
            </a:r>
            <a:endParaRPr lang="ar-SA" sz="24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مواقف اليهود من الوحي</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١٠٣</a:t>
            </a:r>
            <a:endParaRPr lang="ar-SA" sz="1400" dirty="0"/>
          </a:p>
        </p:txBody>
      </p:sp>
      <p:sp>
        <p:nvSpPr>
          <p:cNvPr id="6" name="Shape 4"/>
          <p:cNvSpPr/>
          <p:nvPr/>
        </p:nvSpPr>
        <p:spPr>
          <a:xfrm>
            <a:off x="731520" y="306895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319697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319697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١٠٣</a:t>
            </a:r>
            <a:endParaRPr lang="ar-SA" sz="1200" dirty="0"/>
          </a:p>
        </p:txBody>
      </p:sp>
      <p:sp>
        <p:nvSpPr>
          <p:cNvPr id="9" name="Text 7"/>
          <p:cNvSpPr txBox="1"/>
          <p:nvPr/>
        </p:nvSpPr>
        <p:spPr>
          <a:xfrm>
            <a:off x="914400" y="319697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وَلَوْ أَنَّهُمْ ءَامَنُواْ وَاتَّقَوْاْ لَمَثُوبَةٌ مِّنْ عِندِ اللَّهِ خَيْرٌ لَّوْ كَانُواْ يَعْلَمُونَ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ولو أنهم آمنوا واتقوا الله لكان ثواب الله خيرًا لهم لو كانوا يعلمون.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txBox="1"/>
          <p:nvPr/>
        </p:nvSpPr>
        <p:spPr>
          <a:xfrm>
            <a:off x="7223760" y="1143000"/>
            <a:ext cx="4114800" cy="411480"/>
          </a:xfrm>
          <a:prstGeom prst="rect">
            <a:avLst/>
          </a:prstGeom>
          <a:noFill/>
          <a:ln/>
        </p:spPr>
        <p:txBody>
          <a:bodyPr wrap="square" lIns="0" tIns="0" rIns="0" bIns="0" rtlCol="0" anchor="t"/>
          <a:lstStyle/>
          <a:p>
            <a:pPr rtl="1" algn="ctr" indent="0" marL="0">
              <a:buNone/>
            </a:pPr>
            <a:r>
              <a:rPr lang="ar-SA" altLang="en-US" sz="1800" b="1" dirty="0">
                <a:solidFill>
                  <a:schemeClr val="accent5"/>
                </a:solidFill>
              </a:rPr>
              <a:t>المقطع</a:t>
            </a:r>
            <a:endParaRPr lang="ar-SA" sz="1800" dirty="0"/>
          </a:p>
        </p:txBody>
      </p:sp>
      <p:sp>
        <p:nvSpPr>
          <p:cNvPr id="3" name="Shape 1"/>
          <p:cNvSpPr/>
          <p:nvPr/>
        </p:nvSpPr>
        <p:spPr>
          <a:xfrm>
            <a:off x="8915400" y="1645920"/>
            <a:ext cx="731520" cy="731520"/>
          </a:xfrm>
          <a:prstGeom prst="octagon">
            <a:avLst/>
          </a:prstGeom>
          <a:solidFill>
            <a:schemeClr val="accent2"/>
          </a:solidFill>
          <a:ln w="15875">
            <a:solidFill>
              <a:schemeClr val="accent5"/>
            </a:solidFill>
            <a:prstDash val="solid"/>
          </a:ln>
        </p:spPr>
      </p:sp>
      <p:sp>
        <p:nvSpPr>
          <p:cNvPr id="4" name="Text 2"/>
          <p:cNvSpPr txBox="1"/>
          <p:nvPr/>
        </p:nvSpPr>
        <p:spPr>
          <a:xfrm>
            <a:off x="8915400" y="164592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bg1"/>
                </a:solidFill>
                <a:latin typeface="Arial" pitchFamily="34" charset="0"/>
                <a:ea typeface="Arial" pitchFamily="34" charset="-122"/>
                <a:cs typeface="Arial" pitchFamily="34" charset="-120"/>
              </a:rPr>
              <a:t>٨</a:t>
            </a:r>
            <a:endParaRPr lang="ar-SA" sz="1800" dirty="0"/>
          </a:p>
        </p:txBody>
      </p:sp>
      <p:sp>
        <p:nvSpPr>
          <p:cNvPr id="5" name="Text 3"/>
          <p:cNvSpPr txBox="1"/>
          <p:nvPr/>
        </p:nvSpPr>
        <p:spPr>
          <a:xfrm>
            <a:off x="7269480" y="2606040"/>
            <a:ext cx="4023360" cy="1737360"/>
          </a:xfrm>
          <a:prstGeom prst="rect">
            <a:avLst/>
          </a:prstGeom>
          <a:noFill/>
          <a:ln/>
        </p:spPr>
        <p:txBody>
          <a:bodyPr wrap="square" lIns="0" tIns="0" rIns="0" bIns="0" rtlCol="0" anchor="ctr"/>
          <a:lstStyle/>
          <a:p>
            <a:pPr rtl="1" algn="ctr" indent="0" marL="0">
              <a:buNone/>
            </a:pPr>
            <a:r>
              <a:rPr lang="ar-SA" altLang="en-US" sz="3800" b="1" dirty="0">
                <a:solidFill>
                  <a:schemeClr val="bg1"/>
                </a:solidFill>
                <a:latin typeface="Sakkal Majalla" pitchFamily="34" charset="0"/>
                <a:ea typeface="Sakkal Majalla" pitchFamily="34" charset="-122"/>
                <a:cs typeface="Sakkal Majalla" pitchFamily="34" charset="-120"/>
              </a:rPr>
              <a:t>توجيهات للمؤمنين والرد على أهل الكتاب</a:t>
            </a:r>
            <a:endParaRPr lang="ar-SA" sz="3800" dirty="0"/>
          </a:p>
        </p:txBody>
      </p:sp>
      <p:sp>
        <p:nvSpPr>
          <p:cNvPr id="6" name="Text 4"/>
          <p:cNvSpPr txBox="1"/>
          <p:nvPr/>
        </p:nvSpPr>
        <p:spPr>
          <a:xfrm>
            <a:off x="7269480" y="4526280"/>
            <a:ext cx="4023360" cy="457200"/>
          </a:xfrm>
          <a:prstGeom prst="rect">
            <a:avLst/>
          </a:prstGeom>
          <a:noFill/>
          <a:ln/>
        </p:spPr>
        <p:txBody>
          <a:bodyPr wrap="square" lIns="0" tIns="0" rIns="0" bIns="0" rtlCol="0" anchor="t"/>
          <a:lstStyle/>
          <a:p>
            <a:pPr rtl="1" algn="ctr" indent="0" marL="0">
              <a:buNone/>
            </a:pPr>
            <a:r>
              <a:rPr lang="ar-SA" altLang="en-US" sz="2000" b="1" dirty="0">
                <a:solidFill>
                  <a:schemeClr val="accent5"/>
                </a:solidFill>
              </a:rPr>
              <a:t>الآيات ١٠٤ – ١٢٣</a:t>
            </a:r>
            <a:endParaRPr lang="ar-SA" sz="2000" dirty="0"/>
          </a:p>
        </p:txBody>
      </p:sp>
      <p:sp>
        <p:nvSpPr>
          <p:cNvPr id="7" name="Shape 5"/>
          <p:cNvSpPr/>
          <p:nvPr/>
        </p:nvSpPr>
        <p:spPr>
          <a:xfrm>
            <a:off x="685800" y="685800"/>
            <a:ext cx="5806440" cy="2606040"/>
          </a:xfrm>
          <a:prstGeom prst="roundRect">
            <a:avLst>
              <a:gd name="adj" fmla="val 4211"/>
            </a:avLst>
          </a:prstGeom>
          <a:solidFill>
            <a:schemeClr val="bg2"/>
          </a:solidFill>
          <a:ln w="19050">
            <a:solidFill>
              <a:schemeClr val="accent5"/>
            </a:solidFill>
            <a:prstDash val="solid"/>
          </a:ln>
        </p:spPr>
      </p:sp>
      <p:sp>
        <p:nvSpPr>
          <p:cNvPr id="8" name="Shape 6"/>
          <p:cNvSpPr/>
          <p:nvPr/>
        </p:nvSpPr>
        <p:spPr>
          <a:xfrm>
            <a:off x="4343400" y="914400"/>
            <a:ext cx="1920240" cy="420624"/>
          </a:xfrm>
          <a:prstGeom prst="roundRect">
            <a:avLst>
              <a:gd name="adj" fmla="val 50000"/>
            </a:avLst>
          </a:prstGeom>
          <a:solidFill>
            <a:schemeClr val="accent2"/>
          </a:solidFill>
          <a:ln/>
        </p:spPr>
      </p:sp>
      <p:sp>
        <p:nvSpPr>
          <p:cNvPr id="9" name="Text 7"/>
          <p:cNvSpPr txBox="1"/>
          <p:nvPr/>
        </p:nvSpPr>
        <p:spPr>
          <a:xfrm>
            <a:off x="4343400" y="91440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سبب النزول</a:t>
            </a:r>
            <a:endParaRPr lang="ar-SA" sz="1600" dirty="0"/>
          </a:p>
        </p:txBody>
      </p:sp>
      <p:sp>
        <p:nvSpPr>
          <p:cNvPr id="10" name="Text 8"/>
          <p:cNvSpPr txBox="1"/>
          <p:nvPr/>
        </p:nvSpPr>
        <p:spPr>
          <a:xfrm>
            <a:off x="960120" y="1463040"/>
            <a:ext cx="5257800" cy="16459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كان المسلمون يقولون للنبي صلى الله عليه وسلم: «راعِنا» أي انتبه لنا، وكان اليهود يقولونها يقصدون بها السبّ، فنهى الله المؤمنين عنها وأمرهم أن يقولوا: «انظُرنا».</a:t>
            </a:r>
            <a:endParaRPr lang="ar-SA" sz="1700" dirty="0"/>
          </a:p>
        </p:txBody>
      </p:sp>
      <p:sp>
        <p:nvSpPr>
          <p:cNvPr id="11" name="Shape 9"/>
          <p:cNvSpPr/>
          <p:nvPr/>
        </p:nvSpPr>
        <p:spPr>
          <a:xfrm>
            <a:off x="685800" y="3566160"/>
            <a:ext cx="5806440" cy="2606040"/>
          </a:xfrm>
          <a:prstGeom prst="roundRect">
            <a:avLst>
              <a:gd name="adj" fmla="val 4211"/>
            </a:avLst>
          </a:prstGeom>
          <a:solidFill>
            <a:schemeClr val="bg2"/>
          </a:solidFill>
          <a:ln w="19050">
            <a:solidFill>
              <a:schemeClr val="accent5"/>
            </a:solidFill>
            <a:prstDash val="solid"/>
          </a:ln>
        </p:spPr>
      </p:sp>
      <p:sp>
        <p:nvSpPr>
          <p:cNvPr id="12" name="Shape 10"/>
          <p:cNvSpPr/>
          <p:nvPr/>
        </p:nvSpPr>
        <p:spPr>
          <a:xfrm>
            <a:off x="4343400" y="3794760"/>
            <a:ext cx="1920240" cy="420624"/>
          </a:xfrm>
          <a:prstGeom prst="roundRect">
            <a:avLst>
              <a:gd name="adj" fmla="val 50000"/>
            </a:avLst>
          </a:prstGeom>
          <a:solidFill>
            <a:schemeClr val="tx2"/>
          </a:solidFill>
          <a:ln/>
        </p:spPr>
      </p:sp>
      <p:sp>
        <p:nvSpPr>
          <p:cNvPr id="13" name="Text 11"/>
          <p:cNvSpPr txBox="1"/>
          <p:nvPr/>
        </p:nvSpPr>
        <p:spPr>
          <a:xfrm>
            <a:off x="4343400" y="379476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مقصد المقطع</a:t>
            </a:r>
            <a:endParaRPr lang="ar-SA" sz="1600" dirty="0"/>
          </a:p>
        </p:txBody>
      </p:sp>
      <p:sp>
        <p:nvSpPr>
          <p:cNvPr id="14" name="Text 12"/>
          <p:cNvSpPr txBox="1"/>
          <p:nvPr/>
        </p:nvSpPr>
        <p:spPr>
          <a:xfrm>
            <a:off x="960120" y="4343400"/>
            <a:ext cx="5257800" cy="16459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تعليم المؤمنين الأدب مع النبي صلى الله عليه وسلم، والتحذير من حسد أهل الكتاب، وبيان أن دخول الجنة بالإخلاص واتباع الرسول.</a:t>
            </a:r>
            <a:endParaRPr lang="ar-SA" sz="17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توجيهات للمؤمنين والرد على أهل الكتاب</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١٠٤ – ١٠٥</a:t>
            </a:r>
            <a:endParaRPr lang="ar-SA" sz="1400" dirty="0"/>
          </a:p>
        </p:txBody>
      </p:sp>
      <p:sp>
        <p:nvSpPr>
          <p:cNvPr id="6" name="Shape 4"/>
          <p:cNvSpPr/>
          <p:nvPr/>
        </p:nvSpPr>
        <p:spPr>
          <a:xfrm>
            <a:off x="731520" y="1717243"/>
            <a:ext cx="10728655" cy="1709014"/>
          </a:xfrm>
          <a:prstGeom prst="roundRect">
            <a:avLst>
              <a:gd name="adj" fmla="val 5350"/>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845259"/>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845259"/>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١٠٤</a:t>
            </a:r>
            <a:endParaRPr lang="ar-SA" sz="1200" dirty="0"/>
          </a:p>
        </p:txBody>
      </p:sp>
      <p:sp>
        <p:nvSpPr>
          <p:cNvPr id="9" name="Text 7"/>
          <p:cNvSpPr txBox="1"/>
          <p:nvPr/>
        </p:nvSpPr>
        <p:spPr>
          <a:xfrm>
            <a:off x="914400" y="1845259"/>
            <a:ext cx="9677095" cy="145298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يَـٰأَيُّهَا الَّذِينَ ءَامَنُواْ لَا تَقُولُواْ رَٰعِنَا وَقُولُواْ انظُرْنَا وَاسْمَعُواْ وَلِلْكَٰفِرِينَ عَذَابٌ أَلِيمٌ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يا أيها المؤمنون، لا تقولوا للنبي صلى الله عليه وسلم: «راعِنا»؛ لأن اليهود كانوا يقولونها يقصدون بها سبّه، وقولوا: «انظُرنا» أي تمهّل علينا، واسمعوا، وللكافرين عذاب مؤلم.</a:t>
            </a:r>
            <a:endParaRPr lang="ar-SA" sz="2800" dirty="0"/>
          </a:p>
        </p:txBody>
      </p:sp>
      <p:sp>
        <p:nvSpPr>
          <p:cNvPr id="10" name="Shape 8"/>
          <p:cNvSpPr/>
          <p:nvPr/>
        </p:nvSpPr>
        <p:spPr>
          <a:xfrm>
            <a:off x="731520" y="3554273"/>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682289"/>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682289"/>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١٠٥</a:t>
            </a:r>
            <a:endParaRPr lang="ar-SA" sz="1200" dirty="0"/>
          </a:p>
        </p:txBody>
      </p:sp>
      <p:sp>
        <p:nvSpPr>
          <p:cNvPr id="13" name="Text 11"/>
          <p:cNvSpPr txBox="1"/>
          <p:nvPr/>
        </p:nvSpPr>
        <p:spPr>
          <a:xfrm>
            <a:off x="914400" y="3682289"/>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مَّا يَوَدُّ الَّذِينَ كَفَرُواْ مِنْ أَهْلِ الْكِتَٰبِ وَلَا الْمُشْرِكِينَ أَن يُنَزَّلَ عَلَيْكُم مِّنْ خَيْرٍ مِّن رَّبِّكُمْ وَاللَّهُ يَخْتَصُّ بِرَحْمَتِهِ مَن يَشَآءُ وَاللَّهُ ذُو الْفَضْلِ الْعَظِيمِ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ما يحب الكفار من أهل الكتاب والمشركين أن ينزل عليكم أيّ خير من ربكم، والله يختصّ برحمته من يشاء، وهو صاحب الفضل العظيم.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توجيهات للمؤمنين والرد على أهل الكتاب</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١٠٦ – ١٠٧</a:t>
            </a:r>
            <a:endParaRPr lang="ar-SA" sz="1400" dirty="0"/>
          </a:p>
        </p:txBody>
      </p:sp>
      <p:sp>
        <p:nvSpPr>
          <p:cNvPr id="6" name="Shape 4"/>
          <p:cNvSpPr/>
          <p:nvPr/>
        </p:nvSpPr>
        <p:spPr>
          <a:xfrm>
            <a:off x="731520" y="2020367"/>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148383"/>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148383"/>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١٠٦</a:t>
            </a:r>
            <a:endParaRPr lang="ar-SA" sz="1200" dirty="0"/>
          </a:p>
        </p:txBody>
      </p:sp>
      <p:sp>
        <p:nvSpPr>
          <p:cNvPr id="9" name="Text 7"/>
          <p:cNvSpPr txBox="1"/>
          <p:nvPr/>
        </p:nvSpPr>
        <p:spPr>
          <a:xfrm>
            <a:off x="914400" y="2148383"/>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مَا نَنسَخْ مِنْ ءَايَةٍ أَوْ نُنسِهَا نَأْتِ بِخَيْرٍ مِّنْهَآ أَوْ مِثْلِهَآ أَلَمْ تَعْلَمْ أَنَّ اللَّهَ عَلَىٰ كُلِّ شَيْءٍ قَدِيرٌ</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ما نرفع حكم آية أو نُنسِها، نأتِ بخير منها أو مثلها، ألم تعلم أن الله على كل شيء قدير؟</a:t>
            </a:r>
            <a:endParaRPr lang="ar-SA" sz="2800" dirty="0"/>
          </a:p>
        </p:txBody>
      </p:sp>
      <p:sp>
        <p:nvSpPr>
          <p:cNvPr id="10" name="Shape 8"/>
          <p:cNvSpPr/>
          <p:nvPr/>
        </p:nvSpPr>
        <p:spPr>
          <a:xfrm>
            <a:off x="731520" y="4117543"/>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245559"/>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245559"/>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١٠٧</a:t>
            </a:r>
            <a:endParaRPr lang="ar-SA" sz="1200" dirty="0"/>
          </a:p>
        </p:txBody>
      </p:sp>
      <p:sp>
        <p:nvSpPr>
          <p:cNvPr id="13" name="Text 11"/>
          <p:cNvSpPr txBox="1"/>
          <p:nvPr/>
        </p:nvSpPr>
        <p:spPr>
          <a:xfrm>
            <a:off x="914400" y="4245559"/>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أَلَمْ تَعْلَمْ أَنَّ اللَّهَ لَهُ مُلْكُ السَّمَٰوَٰتِ وَالْأَرْضِ وَمَا لَكُم مِّن دُونِ اللَّهِ مِن وَلِيٍّ وَلَا نَصِيرٍ</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ألم تعلم أن الله له ملك السماوات والأرض، وما لكم غيره من وليّ ولا نصير؟</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توجيهات للمؤمنين والرد على أهل الكتاب</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١٠٨</a:t>
            </a:r>
            <a:endParaRPr lang="ar-SA" sz="1400" dirty="0"/>
          </a:p>
        </p:txBody>
      </p:sp>
      <p:sp>
        <p:nvSpPr>
          <p:cNvPr id="6" name="Shape 4"/>
          <p:cNvSpPr/>
          <p:nvPr/>
        </p:nvSpPr>
        <p:spPr>
          <a:xfrm>
            <a:off x="731520" y="263575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763774"/>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76377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١٠٨</a:t>
            </a:r>
            <a:endParaRPr lang="ar-SA" sz="1200" dirty="0"/>
          </a:p>
        </p:txBody>
      </p:sp>
      <p:sp>
        <p:nvSpPr>
          <p:cNvPr id="9" name="Text 7"/>
          <p:cNvSpPr txBox="1"/>
          <p:nvPr/>
        </p:nvSpPr>
        <p:spPr>
          <a:xfrm>
            <a:off x="914400" y="276377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أَمْ تُرِيدُونَ أَن تَسْـَٔلُواْ رَسُولَكُمْ كَمَا سُئِلَ مُوسَىٰ مِن قَبْلُ وَمَن يَتَبَدَّلِ الْكُفْرَ بِالْإِيمَٰنِ فَقَدْ ضَلَّ سَوَآءَ السَّبِيلِ</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أم تريدون أن تسألوا رسولكم أسئلة تعنّت كما سأل بنو إسرائيل موسى من قبل؟ ومن يستبدل الكفر بالإيمان فقد ضلّ الطريق المستقيم.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توجيهات للمؤمنين والرد على أهل الكتاب</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١٠٩ – ١١٠</a:t>
            </a:r>
            <a:endParaRPr lang="ar-SA" sz="1400" dirty="0"/>
          </a:p>
        </p:txBody>
      </p:sp>
      <p:sp>
        <p:nvSpPr>
          <p:cNvPr id="6" name="Shape 4"/>
          <p:cNvSpPr/>
          <p:nvPr/>
        </p:nvSpPr>
        <p:spPr>
          <a:xfrm>
            <a:off x="731520" y="1305535"/>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3355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3355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١٠٩</a:t>
            </a:r>
            <a:endParaRPr lang="ar-SA" sz="1200" dirty="0"/>
          </a:p>
        </p:txBody>
      </p:sp>
      <p:sp>
        <p:nvSpPr>
          <p:cNvPr id="9" name="Text 7"/>
          <p:cNvSpPr txBox="1"/>
          <p:nvPr/>
        </p:nvSpPr>
        <p:spPr>
          <a:xfrm>
            <a:off x="914400" y="1433551"/>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وَدَّ كَثِيرٌ مِّنْ أَهْلِ الْكِتَٰبِ لَوْ يَرُدُّونَكُم مِّن بَعْدِ إِيمَٰنِكُمْ كُفَّارًا حَسَدًا مِّنْ عِندِ أَنفُسِهِم مِّن بَعْدِ مَا تَبَيَّنَ لَهُمُ الْحَقُّ فَاعْفُواْ وَاصْفَحُواْ حَتَّىٰ يَأْتِيَ اللَّهُ بِأَمْرِهِ إِنَّ اللَّهَ عَلَىٰ كُلِّ شَيْءٍ قَدِيرٌ</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تمنّى كثير من أهل الكتاب لو يردّونكم كفارًا بعد إيمانكم، حسدًا من عند أنفسهم بعد ما تبيّن لهم الحق، فاعفوا واصفحوا حتى يأتي الله بأمره، إن الله على كل شيء قدير.</a:t>
            </a:r>
            <a:endParaRPr lang="ar-SA" sz="2800" dirty="0"/>
          </a:p>
        </p:txBody>
      </p:sp>
      <p:sp>
        <p:nvSpPr>
          <p:cNvPr id="10" name="Shape 8"/>
          <p:cNvSpPr/>
          <p:nvPr/>
        </p:nvSpPr>
        <p:spPr>
          <a:xfrm>
            <a:off x="731520" y="4269105"/>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39712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3971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١١٠</a:t>
            </a:r>
            <a:endParaRPr lang="ar-SA" sz="1200" dirty="0"/>
          </a:p>
        </p:txBody>
      </p:sp>
      <p:sp>
        <p:nvSpPr>
          <p:cNvPr id="13" name="Text 11"/>
          <p:cNvSpPr txBox="1"/>
          <p:nvPr/>
        </p:nvSpPr>
        <p:spPr>
          <a:xfrm>
            <a:off x="914400" y="4397121"/>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وَأَقِيمُواْ الصَّلَوٰةَ وَءَاتُواْ الزَّكَوٰةَ وَمَا تُقَدِّمُواْ لِأَنفُسِكُم مِّنْ خَيْرٍ تَجِدُوهُ عِندَ اللَّهِ إِنَّ اللَّهَ بِمَا تَعْمَلُونَ بَصِيرٌ</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وأدّوا الصلاة وأعطوا الزكاة، وما تقدّموا لأنفسكم من خير تجدوا ثوابه عند الله، إن الله بصير بأعمالكم.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توجيهات للمؤمنين والرد على أهل الكتاب</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١١١ – ١١٢</a:t>
            </a:r>
            <a:endParaRPr lang="ar-SA" sz="1400" dirty="0"/>
          </a:p>
        </p:txBody>
      </p:sp>
      <p:sp>
        <p:nvSpPr>
          <p:cNvPr id="6" name="Shape 4"/>
          <p:cNvSpPr/>
          <p:nvPr/>
        </p:nvSpPr>
        <p:spPr>
          <a:xfrm>
            <a:off x="731520" y="1587170"/>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71518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71518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١١١</a:t>
            </a:r>
            <a:endParaRPr lang="ar-SA" sz="1200" dirty="0"/>
          </a:p>
        </p:txBody>
      </p:sp>
      <p:sp>
        <p:nvSpPr>
          <p:cNvPr id="9" name="Text 7"/>
          <p:cNvSpPr txBox="1"/>
          <p:nvPr/>
        </p:nvSpPr>
        <p:spPr>
          <a:xfrm>
            <a:off x="914400" y="1715186"/>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وَقَالُواْ لَن يَدْخُلَ الْجَنَّةَ إِلَّا مَن كَانَ هُودًا أَوْ نَصَٰرَىٰ تِلْكَ أَمَانِيُّهُمْ قُلْ هَاتُواْ بُرْهَٰنَكُمْ إِن كُنتُمْ صَٰدِقِينَ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وقال اليهود: لن يدخل الجنة إلا اليهود، وقال النصارى: لن يدخلها إلا النصارى، تلك أمانيهم الباطلة، قل: هاتوا دليلكم إن كنتم صادقين.</a:t>
            </a:r>
            <a:endParaRPr lang="ar-SA" sz="2800" dirty="0"/>
          </a:p>
        </p:txBody>
      </p:sp>
      <p:sp>
        <p:nvSpPr>
          <p:cNvPr id="10" name="Shape 8"/>
          <p:cNvSpPr/>
          <p:nvPr/>
        </p:nvSpPr>
        <p:spPr>
          <a:xfrm>
            <a:off x="731520" y="3987470"/>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115486"/>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11548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١١٢</a:t>
            </a:r>
            <a:endParaRPr lang="ar-SA" sz="1200" dirty="0"/>
          </a:p>
        </p:txBody>
      </p:sp>
      <p:sp>
        <p:nvSpPr>
          <p:cNvPr id="13" name="Text 11"/>
          <p:cNvSpPr txBox="1"/>
          <p:nvPr/>
        </p:nvSpPr>
        <p:spPr>
          <a:xfrm>
            <a:off x="914400" y="4115486"/>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بَلَىٰ مَنْ أَسْلَمَ وَجْهَهُ لِلَّهِ وَهُوَ مُحْسِنٌ فَلَهُ أَجْرُهُ عِندَ رَبِّهِ وَلَا خَوْفٌ عَلَيْهِمْ وَلَا هُمْ يَحْزَنُونَ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بلى، يدخلها من أخلص عمله لله وهو متّبع للرسول، فله أجره عند ربه، ولا خوف عليهم ولا هم يحزنون.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توجيهات للمؤمنين والرد على أهل الكتاب</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١١٣</a:t>
            </a:r>
            <a:endParaRPr lang="ar-SA" sz="1400" dirty="0"/>
          </a:p>
        </p:txBody>
      </p:sp>
      <p:sp>
        <p:nvSpPr>
          <p:cNvPr id="6" name="Shape 4"/>
          <p:cNvSpPr/>
          <p:nvPr/>
        </p:nvSpPr>
        <p:spPr>
          <a:xfrm>
            <a:off x="731520" y="2354123"/>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482139"/>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482139"/>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١١٣</a:t>
            </a:r>
            <a:endParaRPr lang="ar-SA" sz="1200" dirty="0"/>
          </a:p>
        </p:txBody>
      </p:sp>
      <p:sp>
        <p:nvSpPr>
          <p:cNvPr id="9" name="Text 7"/>
          <p:cNvSpPr txBox="1"/>
          <p:nvPr/>
        </p:nvSpPr>
        <p:spPr>
          <a:xfrm>
            <a:off x="914400" y="2482139"/>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وَقَالَتِ الْيَهُودُ لَيْسَتِ النَّصَٰرَىٰ عَلَىٰ شَيْءٍ وَقَالَتِ النَّصَٰرَىٰ لَيْسَتِ الْيَهُودُ عَلَىٰ شَيْءٍ وَهُمْ يَتْلُونَ الْكِتَٰبَ كَذَٰلِكَ قَالَ الَّذِينَ لَا يَعْلَمُونَ مِثْلَ قَوْلِهِمْ فَاللَّهُ يَحْكُمُ بَيْنَهُمْ يَوْمَ الْقِيَٰمَةِ فِيمَا كَانُواْ فِيهِ يَخْتَلِفُونَ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وقال اليهود: ليس النصارى على شيء من الدين، وقال النصارى مثل ذلك عن اليهود، وهم يقرؤون كتبهم، وكذلك قال المشركون الجهلة، فالله يحكم بينهم يوم القيامة.</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توجيهات للمؤمنين والرد على أهل الكتاب</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١١٤ – ١١٥</a:t>
            </a:r>
            <a:endParaRPr lang="ar-SA" sz="1400" dirty="0"/>
          </a:p>
        </p:txBody>
      </p:sp>
      <p:sp>
        <p:nvSpPr>
          <p:cNvPr id="6" name="Shape 4"/>
          <p:cNvSpPr/>
          <p:nvPr/>
        </p:nvSpPr>
        <p:spPr>
          <a:xfrm>
            <a:off x="731520" y="1717243"/>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845259"/>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845259"/>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١١٤</a:t>
            </a:r>
            <a:endParaRPr lang="ar-SA" sz="1200" dirty="0"/>
          </a:p>
        </p:txBody>
      </p:sp>
      <p:sp>
        <p:nvSpPr>
          <p:cNvPr id="9" name="Text 7"/>
          <p:cNvSpPr txBox="1"/>
          <p:nvPr/>
        </p:nvSpPr>
        <p:spPr>
          <a:xfrm>
            <a:off x="914400" y="1845259"/>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وَمَنْ أَظْلَمُ مِمَّن مَّنَعَ مَسَٰجِدَ اللَّهِ أَن يُذْكَرَ فِيهَا اسْمُهُ وَسَعَىٰ فِي خَرَابِهَآ أُوْلَـٰئِكَ مَا كَانَ لَهُمْ أَن يَدْخُلُوهَآ إِلَّا خَآئِفِينَ لَهُمْ فِي الدُّنْيَا خِزْيٌ وَلَهُمْ فِي الْأخِرَةِ عَذَابٌ عَظِيمٌ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ولا أحد أظلم ممن منع الناس من ذكر الله في المساجد وسعى في خرابها، أولئك ما كان لهم أن يدخلوها إلا خائفين، لهم في الدنيا ذلّ ولهم في الآخرة عذاب عظيم.</a:t>
            </a:r>
            <a:endParaRPr lang="ar-SA" sz="2800" dirty="0"/>
          </a:p>
        </p:txBody>
      </p:sp>
      <p:sp>
        <p:nvSpPr>
          <p:cNvPr id="10" name="Shape 8"/>
          <p:cNvSpPr/>
          <p:nvPr/>
        </p:nvSpPr>
        <p:spPr>
          <a:xfrm>
            <a:off x="731520" y="4117543"/>
            <a:ext cx="10728655" cy="1709014"/>
          </a:xfrm>
          <a:prstGeom prst="roundRect">
            <a:avLst>
              <a:gd name="adj" fmla="val 5350"/>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245559"/>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245559"/>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١١٥</a:t>
            </a:r>
            <a:endParaRPr lang="ar-SA" sz="1200" dirty="0"/>
          </a:p>
        </p:txBody>
      </p:sp>
      <p:sp>
        <p:nvSpPr>
          <p:cNvPr id="13" name="Text 11"/>
          <p:cNvSpPr txBox="1"/>
          <p:nvPr/>
        </p:nvSpPr>
        <p:spPr>
          <a:xfrm>
            <a:off x="914400" y="4245559"/>
            <a:ext cx="9677095" cy="145298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وَلِلَّهِ الْمَشْرِقُ وَالْمَغْرِبُ فَأَيْنَمَا تُوَلُّواْ فَثَمَّ وَجْهُ اللَّهِ إِنَّ اللَّهَ وَٰسِعٌ عَلِيمٌ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ولله المشرق والمغرب، فأينما توجّهتم -كما في صلاة النافلة على الراحلة في السفر- فهناك وجه الله، إن الله واسع عليم.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توجيهات للمؤمنين والرد على أهل الكتاب</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١١٦ – ١١٧</a:t>
            </a:r>
            <a:endParaRPr lang="ar-SA" sz="1400" dirty="0"/>
          </a:p>
        </p:txBody>
      </p:sp>
      <p:sp>
        <p:nvSpPr>
          <p:cNvPr id="6" name="Shape 4"/>
          <p:cNvSpPr/>
          <p:nvPr/>
        </p:nvSpPr>
        <p:spPr>
          <a:xfrm>
            <a:off x="731520" y="2302002"/>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430018"/>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430018"/>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١١٦</a:t>
            </a:r>
            <a:endParaRPr lang="ar-SA" sz="1200" dirty="0"/>
          </a:p>
        </p:txBody>
      </p:sp>
      <p:sp>
        <p:nvSpPr>
          <p:cNvPr id="9" name="Text 7"/>
          <p:cNvSpPr txBox="1"/>
          <p:nvPr/>
        </p:nvSpPr>
        <p:spPr>
          <a:xfrm>
            <a:off x="914400" y="2430018"/>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وَقَالُواْ اتَّخَذَ اللَّهُ وَلَدًا سُبْحَٰنَهُ بَل لَّهُ مَا فِي السَّمَٰوَٰتِ وَالْأَرْضِ كُلٌّ لَّهُ قَٰنِتُونَ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وقالوا: اتخذ الله ولدًا، سبحانه! بل له ما في السماوات والأرض، كلٌّ خاضع له.</a:t>
            </a:r>
            <a:endParaRPr lang="ar-SA" sz="2800" dirty="0"/>
          </a:p>
        </p:txBody>
      </p:sp>
      <p:sp>
        <p:nvSpPr>
          <p:cNvPr id="10" name="Shape 8"/>
          <p:cNvSpPr/>
          <p:nvPr/>
        </p:nvSpPr>
        <p:spPr>
          <a:xfrm>
            <a:off x="731520" y="3835908"/>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96392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96392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١١٧</a:t>
            </a:r>
            <a:endParaRPr lang="ar-SA" sz="1200" dirty="0"/>
          </a:p>
        </p:txBody>
      </p:sp>
      <p:sp>
        <p:nvSpPr>
          <p:cNvPr id="13" name="Text 11"/>
          <p:cNvSpPr txBox="1"/>
          <p:nvPr/>
        </p:nvSpPr>
        <p:spPr>
          <a:xfrm>
            <a:off x="914400" y="3963924"/>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بَدِيعُ السَّمَٰوَٰتِ وَالْأَرْضِ وَإِذَا قَضَىٰ أَمْرًا فَإِنَّمَا يَقُولُ لَهُ كُن فَيَكُونُ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هو خالق السماوات والأرض على غير مثال سابق، وإذا أراد شيئًا قال له: كن، فيكون.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توجيهات للمؤمنين والرد على أهل الكتاب</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١١٨ – ١١٩</a:t>
            </a:r>
            <a:endParaRPr lang="ar-SA" sz="1400" dirty="0"/>
          </a:p>
        </p:txBody>
      </p:sp>
      <p:sp>
        <p:nvSpPr>
          <p:cNvPr id="6" name="Shape 4"/>
          <p:cNvSpPr/>
          <p:nvPr/>
        </p:nvSpPr>
        <p:spPr>
          <a:xfrm>
            <a:off x="731520" y="1868805"/>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99682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9968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١١٨</a:t>
            </a:r>
            <a:endParaRPr lang="ar-SA" sz="1200" dirty="0"/>
          </a:p>
        </p:txBody>
      </p:sp>
      <p:sp>
        <p:nvSpPr>
          <p:cNvPr id="9" name="Text 7"/>
          <p:cNvSpPr txBox="1"/>
          <p:nvPr/>
        </p:nvSpPr>
        <p:spPr>
          <a:xfrm>
            <a:off x="914400" y="1996821"/>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وَقَالَ الَّذِينَ لَا يَعْلَمُونَ لَوْلَا يُكَلِّمُنَا اللَّهُ أَوْ تَأْتِينَآ ءَايَةٌ كَذَٰلِكَ قَالَ الَّذِينَ مِن قَبْلِهِم مِّثْلَ قَوْلِهِمْ تَشَٰبَهَتْ قُلُوبُهُمْ قَدْ بَيَّنَّا الْأيَٰتِ لِقَوْمٍ يُوقِنُونَ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وقال الجاهلون من المشركين: هلّا يكلّمنا الله أو تأتينا معجزة! كذلك قال من قبلهم مثل قولهم، تشابهت قلوبهم في الكفر، قد بيّنا الآيات لقوم يوقنون.</a:t>
            </a:r>
            <a:endParaRPr lang="ar-SA" sz="2800" dirty="0"/>
          </a:p>
        </p:txBody>
      </p:sp>
      <p:sp>
        <p:nvSpPr>
          <p:cNvPr id="10" name="Shape 8"/>
          <p:cNvSpPr/>
          <p:nvPr/>
        </p:nvSpPr>
        <p:spPr>
          <a:xfrm>
            <a:off x="731520" y="426910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39712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3971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١١٩</a:t>
            </a:r>
            <a:endParaRPr lang="ar-SA" sz="1200" dirty="0"/>
          </a:p>
        </p:txBody>
      </p:sp>
      <p:sp>
        <p:nvSpPr>
          <p:cNvPr id="13" name="Text 11"/>
          <p:cNvSpPr txBox="1"/>
          <p:nvPr/>
        </p:nvSpPr>
        <p:spPr>
          <a:xfrm>
            <a:off x="914400" y="439712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إِنَّآ أَرْسَلْنَٰكَ بِالْحَقِّ بَشِيرًا وَنَذِيرًا وَلَا تُسْـَٔلُ عَنْ أَصْحَٰبِ الْجَحِيمِ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إنا أرسلناك يا محمد بالحق، مبشّرًا للمؤمنين بالجنة، ومنذرًا للكافرين من النار، ولا تُسأل عن الكفار بعد أن بلّغتهم.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توجيهات للمؤمنين والرد على أهل الكتاب</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١٢٠ – ١٢١</a:t>
            </a:r>
            <a:endParaRPr lang="ar-SA" sz="1400" dirty="0"/>
          </a:p>
        </p:txBody>
      </p:sp>
      <p:sp>
        <p:nvSpPr>
          <p:cNvPr id="6" name="Shape 4"/>
          <p:cNvSpPr/>
          <p:nvPr/>
        </p:nvSpPr>
        <p:spPr>
          <a:xfrm>
            <a:off x="731520" y="14356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563624"/>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56362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١٢٠</a:t>
            </a:r>
            <a:endParaRPr lang="ar-SA" sz="1200" dirty="0"/>
          </a:p>
        </p:txBody>
      </p:sp>
      <p:sp>
        <p:nvSpPr>
          <p:cNvPr id="9" name="Text 7"/>
          <p:cNvSpPr txBox="1"/>
          <p:nvPr/>
        </p:nvSpPr>
        <p:spPr>
          <a:xfrm>
            <a:off x="914400" y="15636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وَلَن تَرْضَىٰ عَنكَ الْيَهُودُ وَلَا النَّصَٰرَىٰ حَتَّىٰ تَتَّبِعَ مِلَّتَهُمْ قُلْ إِنَّ هُدَى اللَّهِ هُوَ الْهُدَىٰ وَلَئِنِ اتَّبَعْتَ أَهْوَآءَهُم بَعْدَ الَّذِي جَآءَكَ مِنَ الْعِلْمِ مَا لَكَ مِنَ اللَّهِ مِن وَلِيٍّ وَلَا نَصِيرٍ</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ولن يرضى عنك اليهود ولا النصارى حتى تتّبع دينهم، قل: إن هدى الله هو الهدى، ولئن اتّبعت أهواءهم بعد ما جاءك من العلم ما لك من الله من وليّ ولا نصير.</a:t>
            </a:r>
            <a:endParaRPr lang="ar-SA" sz="2800" dirty="0"/>
          </a:p>
        </p:txBody>
      </p:sp>
      <p:sp>
        <p:nvSpPr>
          <p:cNvPr id="10" name="Shape 8"/>
          <p:cNvSpPr/>
          <p:nvPr/>
        </p:nvSpPr>
        <p:spPr>
          <a:xfrm>
            <a:off x="731520" y="38359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96392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96392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١٢١</a:t>
            </a:r>
            <a:endParaRPr lang="ar-SA" sz="1200" dirty="0"/>
          </a:p>
        </p:txBody>
      </p:sp>
      <p:sp>
        <p:nvSpPr>
          <p:cNvPr id="13" name="Text 11"/>
          <p:cNvSpPr txBox="1"/>
          <p:nvPr/>
        </p:nvSpPr>
        <p:spPr>
          <a:xfrm>
            <a:off x="914400" y="39639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الَّذِينَ ءَاتَيْنَٰهُمُ الْكِتَٰبَ يَتْلُونَهُ حَقَّ تِلَاوَتِهِ أُوْلَـٰئِكَ يُؤْمِنُونَ بِهِ وَمَن يَكْفُرْ بِهِ فَأُوْلَـٰئِكَ هُمُ الْخَٰسِرُونَ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الذين أعطيناهم الكتاب فيقرؤونه حق قراءته ويعملون به، أولئك يؤمنون بمحمد صلى الله عليه وسلم، ومن يكفر به فأولئك هم الخاسرون.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توجيهات للمؤمنين والرد على أهل الكتاب</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١٢٢ – ١٢٣</a:t>
            </a:r>
            <a:endParaRPr lang="ar-SA" sz="1400" dirty="0"/>
          </a:p>
        </p:txBody>
      </p:sp>
      <p:sp>
        <p:nvSpPr>
          <p:cNvPr id="6" name="Shape 4"/>
          <p:cNvSpPr/>
          <p:nvPr/>
        </p:nvSpPr>
        <p:spPr>
          <a:xfrm>
            <a:off x="731520" y="2020367"/>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148383"/>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148383"/>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١٢٢</a:t>
            </a:r>
            <a:endParaRPr lang="ar-SA" sz="1200" dirty="0"/>
          </a:p>
        </p:txBody>
      </p:sp>
      <p:sp>
        <p:nvSpPr>
          <p:cNvPr id="9" name="Text 7"/>
          <p:cNvSpPr txBox="1"/>
          <p:nvPr/>
        </p:nvSpPr>
        <p:spPr>
          <a:xfrm>
            <a:off x="914400" y="2148383"/>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يَٰبَنِي إِسْرَـٰءِيلَ اذْكُرُواْ نِعْمَتِيَ الَّتِي أَنْعَمْتُ عَلَيْكُمْ وَأَنِّي فَضَّلْتُكُمْ عَلَى الْعَٰلَمِينَ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يا بني إسرائيل، اذكروا نعمتي عليكم، وأني فضّلتكم على أهل زمانكم.</a:t>
            </a:r>
            <a:endParaRPr lang="ar-SA" sz="2800" dirty="0"/>
          </a:p>
        </p:txBody>
      </p:sp>
      <p:sp>
        <p:nvSpPr>
          <p:cNvPr id="10" name="Shape 8"/>
          <p:cNvSpPr/>
          <p:nvPr/>
        </p:nvSpPr>
        <p:spPr>
          <a:xfrm>
            <a:off x="731520" y="3554273"/>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682289"/>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682289"/>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١٢٣</a:t>
            </a:r>
            <a:endParaRPr lang="ar-SA" sz="1200" dirty="0"/>
          </a:p>
        </p:txBody>
      </p:sp>
      <p:sp>
        <p:nvSpPr>
          <p:cNvPr id="13" name="Text 11"/>
          <p:cNvSpPr txBox="1"/>
          <p:nvPr/>
        </p:nvSpPr>
        <p:spPr>
          <a:xfrm>
            <a:off x="914400" y="3682289"/>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وَاتَّقُواْ يَوْمًا لَّا تَجْزِي نَفْسٌ عَن نَّفْسٍ شَيْـًٔا وَلَا يُقْبَلُ مِنْهَا عَدْلٌ وَلَا تَنفَعُهَا شَفَٰعَةٌ وَلَا هُمْ يُنصَرُونَ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واحذروا يومًا لا تغني فيه نفس عن نفس شيئًا، ولا يُقبل منها فداء، ولا تنفعها شفاعة، ولا ينصرهم أحد.</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txBox="1"/>
          <p:nvPr/>
        </p:nvSpPr>
        <p:spPr>
          <a:xfrm>
            <a:off x="7223760" y="1143000"/>
            <a:ext cx="4114800" cy="411480"/>
          </a:xfrm>
          <a:prstGeom prst="rect">
            <a:avLst/>
          </a:prstGeom>
          <a:noFill/>
          <a:ln/>
        </p:spPr>
        <p:txBody>
          <a:bodyPr wrap="square" lIns="0" tIns="0" rIns="0" bIns="0" rtlCol="0" anchor="t"/>
          <a:lstStyle/>
          <a:p>
            <a:pPr rtl="1" algn="ctr" indent="0" marL="0">
              <a:buNone/>
            </a:pPr>
            <a:r>
              <a:rPr lang="ar-SA" altLang="en-US" sz="1800" b="1" dirty="0">
                <a:solidFill>
                  <a:schemeClr val="accent5"/>
                </a:solidFill>
              </a:rPr>
              <a:t>المقطع</a:t>
            </a:r>
            <a:endParaRPr lang="ar-SA" sz="1800" dirty="0"/>
          </a:p>
        </p:txBody>
      </p:sp>
      <p:sp>
        <p:nvSpPr>
          <p:cNvPr id="3" name="Shape 1"/>
          <p:cNvSpPr/>
          <p:nvPr/>
        </p:nvSpPr>
        <p:spPr>
          <a:xfrm>
            <a:off x="8915400" y="1645920"/>
            <a:ext cx="731520" cy="731520"/>
          </a:xfrm>
          <a:prstGeom prst="octagon">
            <a:avLst/>
          </a:prstGeom>
          <a:solidFill>
            <a:schemeClr val="accent2"/>
          </a:solidFill>
          <a:ln w="15875">
            <a:solidFill>
              <a:schemeClr val="accent5"/>
            </a:solidFill>
            <a:prstDash val="solid"/>
          </a:ln>
        </p:spPr>
      </p:sp>
      <p:sp>
        <p:nvSpPr>
          <p:cNvPr id="4" name="Text 2"/>
          <p:cNvSpPr txBox="1"/>
          <p:nvPr/>
        </p:nvSpPr>
        <p:spPr>
          <a:xfrm>
            <a:off x="8915400" y="164592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bg1"/>
                </a:solidFill>
                <a:latin typeface="Arial" pitchFamily="34" charset="0"/>
                <a:ea typeface="Arial" pitchFamily="34" charset="-122"/>
                <a:cs typeface="Arial" pitchFamily="34" charset="-120"/>
              </a:rPr>
              <a:t>٩</a:t>
            </a:r>
            <a:endParaRPr lang="ar-SA" sz="1800" dirty="0"/>
          </a:p>
        </p:txBody>
      </p:sp>
      <p:sp>
        <p:nvSpPr>
          <p:cNvPr id="5" name="Text 3"/>
          <p:cNvSpPr txBox="1"/>
          <p:nvPr/>
        </p:nvSpPr>
        <p:spPr>
          <a:xfrm>
            <a:off x="7269480" y="2606040"/>
            <a:ext cx="4023360" cy="1737360"/>
          </a:xfrm>
          <a:prstGeom prst="rect">
            <a:avLst/>
          </a:prstGeom>
          <a:noFill/>
          <a:ln/>
        </p:spPr>
        <p:txBody>
          <a:bodyPr wrap="square" lIns="0" tIns="0" rIns="0" bIns="0" rtlCol="0" anchor="ctr"/>
          <a:lstStyle/>
          <a:p>
            <a:pPr rtl="1" algn="ctr" indent="0" marL="0">
              <a:buNone/>
            </a:pPr>
            <a:r>
              <a:rPr lang="ar-SA" altLang="en-US" sz="3800" b="1" dirty="0">
                <a:solidFill>
                  <a:schemeClr val="bg1"/>
                </a:solidFill>
                <a:latin typeface="Sakkal Majalla" pitchFamily="34" charset="0"/>
                <a:ea typeface="Sakkal Majalla" pitchFamily="34" charset="-122"/>
                <a:cs typeface="Sakkal Majalla" pitchFamily="34" charset="-120"/>
              </a:rPr>
              <a:t>إبراهيم عليه السلام وبناء الكعبة</a:t>
            </a:r>
            <a:endParaRPr lang="ar-SA" sz="3800" dirty="0"/>
          </a:p>
        </p:txBody>
      </p:sp>
      <p:sp>
        <p:nvSpPr>
          <p:cNvPr id="6" name="Text 4"/>
          <p:cNvSpPr txBox="1"/>
          <p:nvPr/>
        </p:nvSpPr>
        <p:spPr>
          <a:xfrm>
            <a:off x="7269480" y="4526280"/>
            <a:ext cx="4023360" cy="457200"/>
          </a:xfrm>
          <a:prstGeom prst="rect">
            <a:avLst/>
          </a:prstGeom>
          <a:noFill/>
          <a:ln/>
        </p:spPr>
        <p:txBody>
          <a:bodyPr wrap="square" lIns="0" tIns="0" rIns="0" bIns="0" rtlCol="0" anchor="t"/>
          <a:lstStyle/>
          <a:p>
            <a:pPr rtl="1" algn="ctr" indent="0" marL="0">
              <a:buNone/>
            </a:pPr>
            <a:r>
              <a:rPr lang="ar-SA" altLang="en-US" sz="2000" b="1" dirty="0">
                <a:solidFill>
                  <a:schemeClr val="accent5"/>
                </a:solidFill>
              </a:rPr>
              <a:t>الآيات ١٢٤ – ١٤١</a:t>
            </a:r>
            <a:endParaRPr lang="ar-SA" sz="2000" dirty="0"/>
          </a:p>
        </p:txBody>
      </p:sp>
      <p:sp>
        <p:nvSpPr>
          <p:cNvPr id="7" name="Shape 5"/>
          <p:cNvSpPr/>
          <p:nvPr/>
        </p:nvSpPr>
        <p:spPr>
          <a:xfrm>
            <a:off x="685800" y="1783080"/>
            <a:ext cx="5806440" cy="3291840"/>
          </a:xfrm>
          <a:prstGeom prst="roundRect">
            <a:avLst>
              <a:gd name="adj" fmla="val 3333"/>
            </a:avLst>
          </a:prstGeom>
          <a:solidFill>
            <a:schemeClr val="bg2"/>
          </a:solidFill>
          <a:ln w="19050">
            <a:solidFill>
              <a:schemeClr val="accent5"/>
            </a:solidFill>
            <a:prstDash val="solid"/>
          </a:ln>
        </p:spPr>
      </p:sp>
      <p:sp>
        <p:nvSpPr>
          <p:cNvPr id="8" name="Shape 6"/>
          <p:cNvSpPr/>
          <p:nvPr/>
        </p:nvSpPr>
        <p:spPr>
          <a:xfrm>
            <a:off x="4343400" y="2011680"/>
            <a:ext cx="1920240" cy="420624"/>
          </a:xfrm>
          <a:prstGeom prst="roundRect">
            <a:avLst>
              <a:gd name="adj" fmla="val 50000"/>
            </a:avLst>
          </a:prstGeom>
          <a:solidFill>
            <a:schemeClr val="tx2"/>
          </a:solidFill>
          <a:ln/>
        </p:spPr>
      </p:sp>
      <p:sp>
        <p:nvSpPr>
          <p:cNvPr id="9" name="Text 7"/>
          <p:cNvSpPr txBox="1"/>
          <p:nvPr/>
        </p:nvSpPr>
        <p:spPr>
          <a:xfrm>
            <a:off x="4343400" y="201168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مقصد المقطع</a:t>
            </a:r>
            <a:endParaRPr lang="ar-SA" sz="1600" dirty="0"/>
          </a:p>
        </p:txBody>
      </p:sp>
      <p:sp>
        <p:nvSpPr>
          <p:cNvPr id="10" name="Text 8"/>
          <p:cNvSpPr txBox="1"/>
          <p:nvPr/>
        </p:nvSpPr>
        <p:spPr>
          <a:xfrm>
            <a:off x="960120" y="2560320"/>
            <a:ext cx="5257800" cy="23317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بيان مكانة إبراهيم عليه السلام وبنائه الكعبة مع إسماعيل، ودعائه ببعثة النبي صلى الله عليه وسلم، وأن الإسلام دين جميع الأنبياء.</a:t>
            </a:r>
            <a:endParaRPr lang="ar-SA" sz="17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إبراهيم عليه السلام وبناء الكعبة</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١٢٤ – ١٢٥</a:t>
            </a:r>
            <a:endParaRPr lang="ar-SA" sz="1400" dirty="0"/>
          </a:p>
        </p:txBody>
      </p:sp>
      <p:sp>
        <p:nvSpPr>
          <p:cNvPr id="6" name="Shape 4"/>
          <p:cNvSpPr/>
          <p:nvPr/>
        </p:nvSpPr>
        <p:spPr>
          <a:xfrm>
            <a:off x="731520" y="14356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563624"/>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56362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١٢٤</a:t>
            </a:r>
            <a:endParaRPr lang="ar-SA" sz="1200" dirty="0"/>
          </a:p>
        </p:txBody>
      </p:sp>
      <p:sp>
        <p:nvSpPr>
          <p:cNvPr id="9" name="Text 7"/>
          <p:cNvSpPr txBox="1"/>
          <p:nvPr/>
        </p:nvSpPr>
        <p:spPr>
          <a:xfrm>
            <a:off x="914400" y="15636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 ابْتَلَىٰ إِبْرَٰهِـمَ رَبُّهُ بِكَلِمَٰتٍ فَأَتَمَّهُنَّ قَالَ إِنِّي جَاعِلُكَ لِلنَّاسِ إِمَامًا قَالَ وَمِن ذُرِّيَّتِي قَالَ لَا يَنَالُ عَهْدِي الظَّـٰلِمِينَ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واذكر حين اختبر الله إبراهيم بأوامر ونواهٍ فقام بها كاملة، فقال: إني جاعلك للناس قدوة، قال: ومن ذريتي؟ قال: لا ينال عهدي بالإمامة الظالمين.</a:t>
            </a:r>
            <a:endParaRPr lang="ar-SA" sz="2800" dirty="0"/>
          </a:p>
        </p:txBody>
      </p:sp>
      <p:sp>
        <p:nvSpPr>
          <p:cNvPr id="10" name="Shape 8"/>
          <p:cNvSpPr/>
          <p:nvPr/>
        </p:nvSpPr>
        <p:spPr>
          <a:xfrm>
            <a:off x="731520" y="38359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96392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96392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١٢٥</a:t>
            </a:r>
            <a:endParaRPr lang="ar-SA" sz="1200" dirty="0"/>
          </a:p>
        </p:txBody>
      </p:sp>
      <p:sp>
        <p:nvSpPr>
          <p:cNvPr id="13" name="Text 11"/>
          <p:cNvSpPr txBox="1"/>
          <p:nvPr/>
        </p:nvSpPr>
        <p:spPr>
          <a:xfrm>
            <a:off x="914400" y="39639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 جَعَلْنَا الْبَيْتَ مَثَابَةً لِّلنَّاسِ وَأَمْنًا وَاتَّخِذُواْ مِن مَّقَامِ إِبْرَٰهِـمَ مُصَلًّى وَعَهِدْنَآ إِلَىٰ إِبْرَٰهِـمَ وَإِسْمَٰعِيلَ أَن طَهِّرَا بَيْتِيَ لِلطَّآئِفِينَ وَالْعَٰكِفِينَ وَالرُّكَّعِ السُّجُودِ</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وحين جعلنا الكعبة مرجعًا يعود إليه الناس ومكانَ أمن، وقلنا: اتخذوا من مقام إبراهيم مكانًا للصلاة، وأمرنا إبراهيم وإسماعيل أن طهّرا بيتي للطائفين والعاكفين والمصلّين.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إبراهيم عليه السلام وبناء الكعبة</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١٢٦ – ١٢٧</a:t>
            </a:r>
            <a:endParaRPr lang="ar-SA" sz="1400" dirty="0"/>
          </a:p>
        </p:txBody>
      </p:sp>
      <p:sp>
        <p:nvSpPr>
          <p:cNvPr id="6" name="Shape 4"/>
          <p:cNvSpPr/>
          <p:nvPr/>
        </p:nvSpPr>
        <p:spPr>
          <a:xfrm>
            <a:off x="731520" y="1587170"/>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71518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71518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١٢٦</a:t>
            </a:r>
            <a:endParaRPr lang="ar-SA" sz="1200" dirty="0"/>
          </a:p>
        </p:txBody>
      </p:sp>
      <p:sp>
        <p:nvSpPr>
          <p:cNvPr id="9" name="Text 7"/>
          <p:cNvSpPr txBox="1"/>
          <p:nvPr/>
        </p:nvSpPr>
        <p:spPr>
          <a:xfrm>
            <a:off x="914400" y="1715186"/>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 قَالَ إِبْرَٰهِـمُ رَبِّ اجْعَلْ هَٰذَا بَلَدًا ءَامِنًا وَارْزُقْ أَهْلَهُ مِنَ الثَّمَرَٰتِ مَنْ ءَامَنَ مِنْهُم بِاللَّهِ وَالْيَوْمِ الْأخِرِ قَالَ وَمَن كَفَرَ فَأُمَتِّعُهُ قَلِيلًا ثُمَّ أَضْطَرُّهُ إِلَىٰ عَذَابِ النَّارِ وَبِئْسَ الْمَصِيرُ</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وحين قال إبراهيم: ربِّ اجعل مكة بلدًا آمنًا، وارزق المؤمنين من أهلها من الثمرات، قال الله: ومن كفر فأمتّعه قليلًا في الدنيا، ثم أسوقه إلى عذاب النار.</a:t>
            </a:r>
            <a:endParaRPr lang="ar-SA" sz="2800" dirty="0"/>
          </a:p>
        </p:txBody>
      </p:sp>
      <p:sp>
        <p:nvSpPr>
          <p:cNvPr id="10" name="Shape 8"/>
          <p:cNvSpPr/>
          <p:nvPr/>
        </p:nvSpPr>
        <p:spPr>
          <a:xfrm>
            <a:off x="731520" y="4550740"/>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678756"/>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67875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١٢٧</a:t>
            </a:r>
            <a:endParaRPr lang="ar-SA" sz="1200" dirty="0"/>
          </a:p>
        </p:txBody>
      </p:sp>
      <p:sp>
        <p:nvSpPr>
          <p:cNvPr id="13" name="Text 11"/>
          <p:cNvSpPr txBox="1"/>
          <p:nvPr/>
        </p:nvSpPr>
        <p:spPr>
          <a:xfrm>
            <a:off x="914400" y="4678756"/>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 يَرْفَعُ إِبْرَٰهِـمُ الْقَوَاعِدَ مِنَ الْبَيْتِ وَإِسْمَٰعِيلُ رَبَّنَا تَقَبَّلْ مِنَّآ إِنَّكَ أَنتَ السَّمِيعُ الْعَلِيمُ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واذكر حين كان إبراهيم وإسماعيل يرفعان أساس الكعبة وهما يدعوان: ربنا تقبّل منا، إنك أنت السميع العليم.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إبراهيم عليه السلام وبناء الكعبة</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١٢٨ – ١٢٩</a:t>
            </a:r>
            <a:endParaRPr lang="ar-SA" sz="1400" dirty="0"/>
          </a:p>
        </p:txBody>
      </p:sp>
      <p:sp>
        <p:nvSpPr>
          <p:cNvPr id="6" name="Shape 4"/>
          <p:cNvSpPr/>
          <p:nvPr/>
        </p:nvSpPr>
        <p:spPr>
          <a:xfrm>
            <a:off x="731520" y="1587170"/>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71518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71518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١٢٨</a:t>
            </a:r>
            <a:endParaRPr lang="ar-SA" sz="1200" dirty="0"/>
          </a:p>
        </p:txBody>
      </p:sp>
      <p:sp>
        <p:nvSpPr>
          <p:cNvPr id="9" name="Text 7"/>
          <p:cNvSpPr txBox="1"/>
          <p:nvPr/>
        </p:nvSpPr>
        <p:spPr>
          <a:xfrm>
            <a:off x="914400" y="1715186"/>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رَبَّنَا وَاجْعَلْنَا مُسْلِمَيْنِ لَكَ وَمِن ذُرِّيَّتِنَآ أُمَّةً مُّسْلِمَةً لَّكَ وَأَرِنَا مَنَاسِكَنَا وَتُبْ عَلَيْنَآ إِنَّكَ أَنتَ التَّوَّابُ الرَّحِيمُ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ربنا اجعلنا خاضعين لك، ومن ذريتنا أمة خاضعة لك، وعلّمنا مناسك حجّنا، وتب علينا، إنك أنت التواب الرحيم.</a:t>
            </a:r>
            <a:endParaRPr lang="ar-SA" sz="2800" dirty="0"/>
          </a:p>
        </p:txBody>
      </p:sp>
      <p:sp>
        <p:nvSpPr>
          <p:cNvPr id="10" name="Shape 8"/>
          <p:cNvSpPr/>
          <p:nvPr/>
        </p:nvSpPr>
        <p:spPr>
          <a:xfrm>
            <a:off x="731520" y="3684346"/>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812362"/>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812362"/>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١٢٩</a:t>
            </a:r>
            <a:endParaRPr lang="ar-SA" sz="1200" dirty="0"/>
          </a:p>
        </p:txBody>
      </p:sp>
      <p:sp>
        <p:nvSpPr>
          <p:cNvPr id="13" name="Text 11"/>
          <p:cNvSpPr txBox="1"/>
          <p:nvPr/>
        </p:nvSpPr>
        <p:spPr>
          <a:xfrm>
            <a:off x="914400" y="3812362"/>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رَبَّنَا وَابْعَثْ فِيهِمْ رَسُولًا مِّنْهُمْ يَتْلُواْ عَلَيْهِمْ ءَايَٰتِكَ وَيُعَلِّمُهُمُ الْكِتَٰبَ وَالْحِكْمَةَ وَيُزَكِّيهِمْ إِنَّكَ أَنتَ الْعَزِيزُ الْحَكِيمُ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ربنا وأرسل فيهم رسولًا منهم يقرأ عليهم آياتك، ويعلّمهم القرآن والسنة، ويطهّرهم، فاستجاب الله دعاءه ببعثة محمد صلى الله عليه وسلم.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إبراهيم عليه السلام وبناء الكعبة</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١٣٠ – ١٣١</a:t>
            </a:r>
            <a:endParaRPr lang="ar-SA" sz="1400" dirty="0"/>
          </a:p>
        </p:txBody>
      </p:sp>
      <p:sp>
        <p:nvSpPr>
          <p:cNvPr id="6" name="Shape 4"/>
          <p:cNvSpPr/>
          <p:nvPr/>
        </p:nvSpPr>
        <p:spPr>
          <a:xfrm>
            <a:off x="731520" y="2020367"/>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148383"/>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148383"/>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١٣٠</a:t>
            </a:r>
            <a:endParaRPr lang="ar-SA" sz="1200" dirty="0"/>
          </a:p>
        </p:txBody>
      </p:sp>
      <p:sp>
        <p:nvSpPr>
          <p:cNvPr id="9" name="Text 7"/>
          <p:cNvSpPr txBox="1"/>
          <p:nvPr/>
        </p:nvSpPr>
        <p:spPr>
          <a:xfrm>
            <a:off x="914400" y="2148383"/>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وَمَن يَرْغَبُ عَن مِّلَّةِ إِبْرَٰهِـمَ إِلَّا مَن سَفِهَ نَفْسَهُ وَلَقَدِ اصْطَفَيْنَٰهُ فِي الدُّنْيَا وَإِنَّهُ فِي الْأخِرَةِ لَمِنَ الصَّـٰلِحِينَ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ولا يُعرض عن دين إبراهيم إلا من ظلم نفسه وجهلها، ولقد اخترناه في الدنيا، وإنه في الآخرة لمن الصالحين.</a:t>
            </a:r>
            <a:endParaRPr lang="ar-SA" sz="2800" dirty="0"/>
          </a:p>
        </p:txBody>
      </p:sp>
      <p:sp>
        <p:nvSpPr>
          <p:cNvPr id="10" name="Shape 8"/>
          <p:cNvSpPr/>
          <p:nvPr/>
        </p:nvSpPr>
        <p:spPr>
          <a:xfrm>
            <a:off x="731520" y="4117543"/>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245559"/>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245559"/>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١٣١</a:t>
            </a:r>
            <a:endParaRPr lang="ar-SA" sz="1200" dirty="0"/>
          </a:p>
        </p:txBody>
      </p:sp>
      <p:sp>
        <p:nvSpPr>
          <p:cNvPr id="13" name="Text 11"/>
          <p:cNvSpPr txBox="1"/>
          <p:nvPr/>
        </p:nvSpPr>
        <p:spPr>
          <a:xfrm>
            <a:off x="914400" y="4245559"/>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إِذْ قَالَ لَهُ رَبُّهُ أَسْلِمْ قَالَ أَسْلَمْتُ لِرَبِّ الْعَٰلَمِينَ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حين قال له ربه: استسلم وانقد، قال: استسلمتُ لربّ العالمين.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إبراهيم عليه السلام وبناء الكعبة</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١٣٢ – ١٣٣</a:t>
            </a:r>
            <a:endParaRPr lang="ar-SA" sz="1400" dirty="0"/>
          </a:p>
        </p:txBody>
      </p:sp>
      <p:sp>
        <p:nvSpPr>
          <p:cNvPr id="6" name="Shape 4"/>
          <p:cNvSpPr/>
          <p:nvPr/>
        </p:nvSpPr>
        <p:spPr>
          <a:xfrm>
            <a:off x="731520" y="1587170"/>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71518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71518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١٣٢</a:t>
            </a:r>
            <a:endParaRPr lang="ar-SA" sz="1200" dirty="0"/>
          </a:p>
        </p:txBody>
      </p:sp>
      <p:sp>
        <p:nvSpPr>
          <p:cNvPr id="9" name="Text 7"/>
          <p:cNvSpPr txBox="1"/>
          <p:nvPr/>
        </p:nvSpPr>
        <p:spPr>
          <a:xfrm>
            <a:off x="914400" y="1715186"/>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وَوَصَّىٰ بِهَآ إِبْرَٰهِـمُ بَنِيهِ وَيَعْقُوبُ يَٰبَنِيَّ إِنَّ اللَّهَ اصْطَفَىٰ لَكُمُ الدِّينَ فَلَا تَمُوتُنَّ إِلَّا وَأَنتُم مُّسْلِمُونَ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وأوصى إبراهيم أبناءه بهذا الدين، وكذلك يعقوب: يا أبنائي، إن الله اختار لكم الإسلام، فلا تموتنّ إلا وأنتم مسلمون.</a:t>
            </a:r>
            <a:endParaRPr lang="ar-SA" sz="2800" dirty="0"/>
          </a:p>
        </p:txBody>
      </p:sp>
      <p:sp>
        <p:nvSpPr>
          <p:cNvPr id="10" name="Shape 8"/>
          <p:cNvSpPr/>
          <p:nvPr/>
        </p:nvSpPr>
        <p:spPr>
          <a:xfrm>
            <a:off x="731520" y="3684346"/>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812362"/>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812362"/>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١٣٣</a:t>
            </a:r>
            <a:endParaRPr lang="ar-SA" sz="1200" dirty="0"/>
          </a:p>
        </p:txBody>
      </p:sp>
      <p:sp>
        <p:nvSpPr>
          <p:cNvPr id="13" name="Text 11"/>
          <p:cNvSpPr txBox="1"/>
          <p:nvPr/>
        </p:nvSpPr>
        <p:spPr>
          <a:xfrm>
            <a:off x="914400" y="3812362"/>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أَمْ كُنتُمْ شُهَدَآءَ إِذْ حَضَرَ يَعْقُوبَ الْمَوْتُ إِذْ قَالَ لِبَنِيهِ مَا تَعْبُدُونَ مِن بَعْدِي قَالُواْ نَعْبُدُ إِلَٰهَكَ وَإِلَٰهَ ءَابَآئِكَ إِبْرَٰهِـمَ وَإِسْمَٰعِيلَ وَإِسْحَٰقَ إِلَٰهًا وَٰحِدًا وَنَحْنُ لَهُ مُسْلِمُونَ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أكنتم حاضرين حين جاء يعقوبَ الموتُ فقال لأبنائه: ما تعبدون من بعدي؟ قالوا: نعبد إلهك وإله آبائك إبراهيم وإسماعيل وإسحاق إلهًا واحدًا، ونحن له مسلمون.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إبراهيم عليه السلام وبناء الكعبة</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١٣٤ – ١٣٥</a:t>
            </a:r>
            <a:endParaRPr lang="ar-SA" sz="1400" dirty="0"/>
          </a:p>
        </p:txBody>
      </p:sp>
      <p:sp>
        <p:nvSpPr>
          <p:cNvPr id="6" name="Shape 4"/>
          <p:cNvSpPr/>
          <p:nvPr/>
        </p:nvSpPr>
        <p:spPr>
          <a:xfrm>
            <a:off x="731520" y="2150440"/>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27845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27845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١٣٤</a:t>
            </a:r>
            <a:endParaRPr lang="ar-SA" sz="1200" dirty="0"/>
          </a:p>
        </p:txBody>
      </p:sp>
      <p:sp>
        <p:nvSpPr>
          <p:cNvPr id="9" name="Text 7"/>
          <p:cNvSpPr txBox="1"/>
          <p:nvPr/>
        </p:nvSpPr>
        <p:spPr>
          <a:xfrm>
            <a:off x="914400" y="2278456"/>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تِلْكَ أُمَّةٌ قَدْ خَلَتْ لَهَا مَا كَسَبَتْ وَلَكُم مَّا كَسَبْتُمْ وَلَا تُسْـَٔلُونَ عَمَّا كَانُواْ يَعْمَلُونَ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تلك أمة قد مضت، لها ما عملت ولكم ما عملتم، ولا تُسألون عن أعمالهم.</a:t>
            </a:r>
            <a:endParaRPr lang="ar-SA" sz="2800" dirty="0"/>
          </a:p>
        </p:txBody>
      </p:sp>
      <p:sp>
        <p:nvSpPr>
          <p:cNvPr id="10" name="Shape 8"/>
          <p:cNvSpPr/>
          <p:nvPr/>
        </p:nvSpPr>
        <p:spPr>
          <a:xfrm>
            <a:off x="731520" y="3684346"/>
            <a:ext cx="10728655" cy="1709014"/>
          </a:xfrm>
          <a:prstGeom prst="roundRect">
            <a:avLst>
              <a:gd name="adj" fmla="val 5350"/>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812362"/>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812362"/>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١٣٥</a:t>
            </a:r>
            <a:endParaRPr lang="ar-SA" sz="1200" dirty="0"/>
          </a:p>
        </p:txBody>
      </p:sp>
      <p:sp>
        <p:nvSpPr>
          <p:cNvPr id="13" name="Text 11"/>
          <p:cNvSpPr txBox="1"/>
          <p:nvPr/>
        </p:nvSpPr>
        <p:spPr>
          <a:xfrm>
            <a:off x="914400" y="3812362"/>
            <a:ext cx="9677095" cy="145298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وَقَالُواْ كُونُواْ هُودًا أَوْ نَصَٰرَىٰ تَهْتَدُواْ قُلْ بَلْ مِلَّةَ إِبْرَٰهِـمَ حَنِيفًا وَمَا كَانَ مِنَ الْمُشْرِكِينَ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وقالوا: كونوا يهودًا أو نصارى تهتدوا، قل: بل نتّبع دين إبراهيم المائل عن الشرك إلى التوحيد، وما كان من المشركين.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إبراهيم عليه السلام وبناء الكعبة</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١٣٦</a:t>
            </a:r>
            <a:endParaRPr lang="ar-SA" sz="1400" dirty="0"/>
          </a:p>
        </p:txBody>
      </p:sp>
      <p:sp>
        <p:nvSpPr>
          <p:cNvPr id="6" name="Shape 4"/>
          <p:cNvSpPr/>
          <p:nvPr/>
        </p:nvSpPr>
        <p:spPr>
          <a:xfrm>
            <a:off x="731520" y="2354123"/>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482139"/>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482139"/>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١٣٦</a:t>
            </a:r>
            <a:endParaRPr lang="ar-SA" sz="1200" dirty="0"/>
          </a:p>
        </p:txBody>
      </p:sp>
      <p:sp>
        <p:nvSpPr>
          <p:cNvPr id="9" name="Text 7"/>
          <p:cNvSpPr txBox="1"/>
          <p:nvPr/>
        </p:nvSpPr>
        <p:spPr>
          <a:xfrm>
            <a:off x="914400" y="2482139"/>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قُولُواْ ءَامَنَّا بِاللَّهِ وَمَآ أُنزِلَ إِلَيْنَا وَمَآ أُنزِلَ إِلَىٰ إِبْرَٰهِـمَ وَإِسْمَٰعِيلَ وَإِسْحَٰقَ وَيَعْقُوبَ وَالْأَسْبَاطِ وَمَآ أُوتِيَ مُوسَىٰ وَعِيسَىٰ وَمَآ أُوتِيَ النَّبِيُّونَ مِن رَّبِّهِمْ لَا نُفَرِّقُ بَيْنَ أَحَدٍ مِّنْهُمْ وَنَحْنُ لَهُ مُسْلِمُونَ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قولوا: آمنّا بالله، وبالقرآن، وبما أُنزل على إبراهيم وإسماعيل وإسحاق ويعقوب والأسباط، وما أُوتي موسى وعيسى والنبيّون، لا نفرّق بين أحد منهم، ونحن له مسلمون.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إبراهيم عليه السلام وبناء الكعبة</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١٣٧ – ١٣٩</a:t>
            </a:r>
            <a:endParaRPr lang="ar-SA" sz="1400" dirty="0"/>
          </a:p>
        </p:txBody>
      </p:sp>
      <p:sp>
        <p:nvSpPr>
          <p:cNvPr id="6" name="Shape 4"/>
          <p:cNvSpPr/>
          <p:nvPr/>
        </p:nvSpPr>
        <p:spPr>
          <a:xfrm>
            <a:off x="731520" y="1280160"/>
            <a:ext cx="10728655" cy="2153412"/>
          </a:xfrm>
          <a:prstGeom prst="roundRect">
            <a:avLst>
              <a:gd name="adj" fmla="val 4246"/>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0817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0817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١٣٧</a:t>
            </a:r>
            <a:endParaRPr lang="ar-SA" sz="1200" dirty="0"/>
          </a:p>
        </p:txBody>
      </p:sp>
      <p:sp>
        <p:nvSpPr>
          <p:cNvPr id="9" name="Text 7"/>
          <p:cNvSpPr txBox="1"/>
          <p:nvPr/>
        </p:nvSpPr>
        <p:spPr>
          <a:xfrm>
            <a:off x="914400" y="1408176"/>
            <a:ext cx="9677095" cy="1897380"/>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فَإِنْ ءَامَنُواْ بِمِثْلِ مَآ ءَامَنتُم بِهِ فَقَدِ اهْتَدَواْ وَّإِن تَوَلَّوْاْ فَإِنَّمَا هُمْ فِي شِقَاقٍ فَسَيَكْفِيكَهُمُ اللَّهُ وَهُوَ السَّمِيعُ الْعَلِيمُ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فإن آمنوا بمثل ما آمنتم به فقد اهتدوا، وإن أعرضوا فهم في خلاف وعناد، فسيكفيك الله شرّهم، وهو السميع العليم.</a:t>
            </a:r>
            <a:endParaRPr lang="ar-SA" sz="2800" dirty="0"/>
          </a:p>
        </p:txBody>
      </p:sp>
      <p:sp>
        <p:nvSpPr>
          <p:cNvPr id="10" name="Shape 8"/>
          <p:cNvSpPr/>
          <p:nvPr/>
        </p:nvSpPr>
        <p:spPr>
          <a:xfrm>
            <a:off x="731520" y="3561588"/>
            <a:ext cx="10728655" cy="1287018"/>
          </a:xfrm>
          <a:prstGeom prst="roundRect">
            <a:avLst>
              <a:gd name="adj" fmla="val 710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68960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68960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١٣٨</a:t>
            </a:r>
            <a:endParaRPr lang="ar-SA" sz="1200" dirty="0"/>
          </a:p>
        </p:txBody>
      </p:sp>
      <p:sp>
        <p:nvSpPr>
          <p:cNvPr id="13" name="Text 11"/>
          <p:cNvSpPr txBox="1"/>
          <p:nvPr/>
        </p:nvSpPr>
        <p:spPr>
          <a:xfrm>
            <a:off x="914400" y="3689604"/>
            <a:ext cx="9677095" cy="1030986"/>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صِبْغَةَ اللَّهِ وَمَنْ أَحْسَنُ مِنَ اللَّهِ صِبْغَةً وَنَحْنُ لَهُ عَٰبِدُونَ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الزموا دين الله الذي فطركم عليه، ولا أحد أحسن من الله دينًا، ونحن له عابدون.</a:t>
            </a:r>
            <a:endParaRPr lang="ar-SA" sz="2800" dirty="0"/>
          </a:p>
        </p:txBody>
      </p:sp>
      <p:sp>
        <p:nvSpPr>
          <p:cNvPr id="14" name="Shape 12"/>
          <p:cNvSpPr/>
          <p:nvPr/>
        </p:nvSpPr>
        <p:spPr>
          <a:xfrm>
            <a:off x="731520" y="4976622"/>
            <a:ext cx="10728655" cy="1287018"/>
          </a:xfrm>
          <a:prstGeom prst="roundRect">
            <a:avLst>
              <a:gd name="adj" fmla="val 710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5" name="Shape 13"/>
          <p:cNvSpPr/>
          <p:nvPr/>
        </p:nvSpPr>
        <p:spPr>
          <a:xfrm>
            <a:off x="10874959" y="5104638"/>
            <a:ext cx="475488" cy="475488"/>
          </a:xfrm>
          <a:prstGeom prst="octagon">
            <a:avLst/>
          </a:prstGeom>
          <a:solidFill>
            <a:schemeClr val="accent2"/>
          </a:solidFill>
          <a:ln w="15875">
            <a:solidFill>
              <a:schemeClr val="accent5"/>
            </a:solidFill>
            <a:prstDash val="solid"/>
          </a:ln>
        </p:spPr>
      </p:sp>
      <p:sp>
        <p:nvSpPr>
          <p:cNvPr id="16" name="Text 14"/>
          <p:cNvSpPr txBox="1"/>
          <p:nvPr/>
        </p:nvSpPr>
        <p:spPr>
          <a:xfrm>
            <a:off x="10874959" y="5104638"/>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١٣٩</a:t>
            </a:r>
            <a:endParaRPr lang="ar-SA" sz="1200" dirty="0"/>
          </a:p>
        </p:txBody>
      </p:sp>
      <p:sp>
        <p:nvSpPr>
          <p:cNvPr id="17" name="Text 15"/>
          <p:cNvSpPr txBox="1"/>
          <p:nvPr/>
        </p:nvSpPr>
        <p:spPr>
          <a:xfrm>
            <a:off x="914400" y="5104638"/>
            <a:ext cx="9677095" cy="1030986"/>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قُلْ أَتُحَآجُّونَنَا فِي اللَّهِ وَهُوَ رَبُّنَا وَرَبُّكُمْ وَلَنَآ أَعْمَٰلُنَا وَلَكُمْ أَعْمَٰلُكُمْ وَنَحْنُ لَهُ مُخْلِصُونَ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قل: أتجادلوننا في الله وهو ربنا وربكم؟ لنا أعمالنا ولكم أعمالكم، ونحن له مخلصون.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إبراهيم عليه السلام وبناء الكعبة</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١٤٠ – ١٤١</a:t>
            </a:r>
            <a:endParaRPr lang="ar-SA" sz="1400" dirty="0"/>
          </a:p>
        </p:txBody>
      </p:sp>
      <p:sp>
        <p:nvSpPr>
          <p:cNvPr id="6" name="Shape 4"/>
          <p:cNvSpPr/>
          <p:nvPr/>
        </p:nvSpPr>
        <p:spPr>
          <a:xfrm>
            <a:off x="731520" y="1868805"/>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99682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9968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١٤٠</a:t>
            </a:r>
            <a:endParaRPr lang="ar-SA" sz="1200" dirty="0"/>
          </a:p>
        </p:txBody>
      </p:sp>
      <p:sp>
        <p:nvSpPr>
          <p:cNvPr id="9" name="Text 7"/>
          <p:cNvSpPr txBox="1"/>
          <p:nvPr/>
        </p:nvSpPr>
        <p:spPr>
          <a:xfrm>
            <a:off x="914400" y="1996821"/>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أَمْ تَقُولُونَ إِنَّ إِبْرَٰهِـمَ وَإِسْمَٰعِيلَ وَإِسْحَٰقَ وَيَعْقُوبَ وَالْأَسْبَاطَ كَانُواْ هُودًا أَوْ نَصَٰرَىٰ قُلْ ءَأَنتُمْ أَعْلَمُ أَمِ اللَّهُ وَمَنْ أَظْلَمُ مِمَّن كَتَمَ شَهَٰدَةً عِندَهُ مِنَ اللَّهِ وَمَا اللَّهُ بِغَٰفِلٍ عَمَّا تَعْمَلُونَ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أم تقولون: إن إبراهيم وأبناءه كانوا يهودًا أو نصارى؟ قل: أأنتم أعلم أم الله؟ ولا أحد أظلم ممن كتم شهادة يعلمها من الله.</a:t>
            </a:r>
            <a:endParaRPr lang="ar-SA" sz="2800" dirty="0"/>
          </a:p>
        </p:txBody>
      </p:sp>
      <p:sp>
        <p:nvSpPr>
          <p:cNvPr id="10" name="Shape 8"/>
          <p:cNvSpPr/>
          <p:nvPr/>
        </p:nvSpPr>
        <p:spPr>
          <a:xfrm>
            <a:off x="731520" y="426910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39712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3971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١٤١</a:t>
            </a:r>
            <a:endParaRPr lang="ar-SA" sz="1200" dirty="0"/>
          </a:p>
        </p:txBody>
      </p:sp>
      <p:sp>
        <p:nvSpPr>
          <p:cNvPr id="13" name="Text 11"/>
          <p:cNvSpPr txBox="1"/>
          <p:nvPr/>
        </p:nvSpPr>
        <p:spPr>
          <a:xfrm>
            <a:off x="914400" y="439712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تِلْكَ أُمَّةٌ قَدْ خَلَتْ لَهَا مَا كَسَبَتْ وَلَكُم مَّا كَسَبْتُمْ وَلَا تُسْـَٔلُونَ عَمَّا كَانُواْ يَعْمَلُونَ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تلك أمة قد مضت، لها ما عملت ولكم ما عملتم، ولا تُسألون عن أعمالهم.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txBox="1"/>
          <p:nvPr/>
        </p:nvSpPr>
        <p:spPr>
          <a:xfrm>
            <a:off x="7223760" y="1143000"/>
            <a:ext cx="4114800" cy="411480"/>
          </a:xfrm>
          <a:prstGeom prst="rect">
            <a:avLst/>
          </a:prstGeom>
          <a:noFill/>
          <a:ln/>
        </p:spPr>
        <p:txBody>
          <a:bodyPr wrap="square" lIns="0" tIns="0" rIns="0" bIns="0" rtlCol="0" anchor="t"/>
          <a:lstStyle/>
          <a:p>
            <a:pPr rtl="1" algn="ctr" indent="0" marL="0">
              <a:buNone/>
            </a:pPr>
            <a:r>
              <a:rPr lang="ar-SA" altLang="en-US" sz="1800" b="1" dirty="0">
                <a:solidFill>
                  <a:schemeClr val="accent5"/>
                </a:solidFill>
              </a:rPr>
              <a:t>المقطع</a:t>
            </a:r>
            <a:endParaRPr lang="ar-SA" sz="1800" dirty="0"/>
          </a:p>
        </p:txBody>
      </p:sp>
      <p:sp>
        <p:nvSpPr>
          <p:cNvPr id="3" name="Shape 1"/>
          <p:cNvSpPr/>
          <p:nvPr/>
        </p:nvSpPr>
        <p:spPr>
          <a:xfrm>
            <a:off x="8915400" y="1645920"/>
            <a:ext cx="731520" cy="731520"/>
          </a:xfrm>
          <a:prstGeom prst="octagon">
            <a:avLst/>
          </a:prstGeom>
          <a:solidFill>
            <a:schemeClr val="accent2"/>
          </a:solidFill>
          <a:ln w="15875">
            <a:solidFill>
              <a:schemeClr val="accent5"/>
            </a:solidFill>
            <a:prstDash val="solid"/>
          </a:ln>
        </p:spPr>
      </p:sp>
      <p:sp>
        <p:nvSpPr>
          <p:cNvPr id="4" name="Text 2"/>
          <p:cNvSpPr txBox="1"/>
          <p:nvPr/>
        </p:nvSpPr>
        <p:spPr>
          <a:xfrm>
            <a:off x="8915400" y="164592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bg1"/>
                </a:solidFill>
                <a:latin typeface="Arial" pitchFamily="34" charset="0"/>
                <a:ea typeface="Arial" pitchFamily="34" charset="-122"/>
                <a:cs typeface="Arial" pitchFamily="34" charset="-120"/>
              </a:rPr>
              <a:t>١٠</a:t>
            </a:r>
            <a:endParaRPr lang="ar-SA" sz="1800" dirty="0"/>
          </a:p>
        </p:txBody>
      </p:sp>
      <p:sp>
        <p:nvSpPr>
          <p:cNvPr id="5" name="Text 3"/>
          <p:cNvSpPr txBox="1"/>
          <p:nvPr/>
        </p:nvSpPr>
        <p:spPr>
          <a:xfrm>
            <a:off x="7269480" y="2606040"/>
            <a:ext cx="4023360" cy="1737360"/>
          </a:xfrm>
          <a:prstGeom prst="rect">
            <a:avLst/>
          </a:prstGeom>
          <a:noFill/>
          <a:ln/>
        </p:spPr>
        <p:txBody>
          <a:bodyPr wrap="square" lIns="0" tIns="0" rIns="0" bIns="0" rtlCol="0" anchor="ctr"/>
          <a:lstStyle/>
          <a:p>
            <a:pPr rtl="1" algn="ctr" indent="0" marL="0">
              <a:buNone/>
            </a:pPr>
            <a:r>
              <a:rPr lang="ar-SA" altLang="en-US" sz="3800" b="1" dirty="0">
                <a:solidFill>
                  <a:schemeClr val="bg1"/>
                </a:solidFill>
                <a:latin typeface="Sakkal Majalla" pitchFamily="34" charset="0"/>
                <a:ea typeface="Sakkal Majalla" pitchFamily="34" charset="-122"/>
                <a:cs typeface="Sakkal Majalla" pitchFamily="34" charset="-120"/>
              </a:rPr>
              <a:t>تحويل القبلة</a:t>
            </a:r>
            <a:endParaRPr lang="ar-SA" sz="3800" dirty="0"/>
          </a:p>
        </p:txBody>
      </p:sp>
      <p:sp>
        <p:nvSpPr>
          <p:cNvPr id="6" name="Text 4"/>
          <p:cNvSpPr txBox="1"/>
          <p:nvPr/>
        </p:nvSpPr>
        <p:spPr>
          <a:xfrm>
            <a:off x="7269480" y="4526280"/>
            <a:ext cx="4023360" cy="457200"/>
          </a:xfrm>
          <a:prstGeom prst="rect">
            <a:avLst/>
          </a:prstGeom>
          <a:noFill/>
          <a:ln/>
        </p:spPr>
        <p:txBody>
          <a:bodyPr wrap="square" lIns="0" tIns="0" rIns="0" bIns="0" rtlCol="0" anchor="t"/>
          <a:lstStyle/>
          <a:p>
            <a:pPr rtl="1" algn="ctr" indent="0" marL="0">
              <a:buNone/>
            </a:pPr>
            <a:r>
              <a:rPr lang="ar-SA" altLang="en-US" sz="2000" b="1" dirty="0">
                <a:solidFill>
                  <a:schemeClr val="accent5"/>
                </a:solidFill>
              </a:rPr>
              <a:t>الآيات ١٤٢ – ١٥٢</a:t>
            </a:r>
            <a:endParaRPr lang="ar-SA" sz="2000" dirty="0"/>
          </a:p>
        </p:txBody>
      </p:sp>
      <p:sp>
        <p:nvSpPr>
          <p:cNvPr id="7" name="Shape 5"/>
          <p:cNvSpPr/>
          <p:nvPr/>
        </p:nvSpPr>
        <p:spPr>
          <a:xfrm>
            <a:off x="685800" y="685800"/>
            <a:ext cx="5806440" cy="2606040"/>
          </a:xfrm>
          <a:prstGeom prst="roundRect">
            <a:avLst>
              <a:gd name="adj" fmla="val 4211"/>
            </a:avLst>
          </a:prstGeom>
          <a:solidFill>
            <a:schemeClr val="bg2"/>
          </a:solidFill>
          <a:ln w="19050">
            <a:solidFill>
              <a:schemeClr val="accent5"/>
            </a:solidFill>
            <a:prstDash val="solid"/>
          </a:ln>
        </p:spPr>
      </p:sp>
      <p:sp>
        <p:nvSpPr>
          <p:cNvPr id="8" name="Shape 6"/>
          <p:cNvSpPr/>
          <p:nvPr/>
        </p:nvSpPr>
        <p:spPr>
          <a:xfrm>
            <a:off x="4343400" y="914400"/>
            <a:ext cx="1920240" cy="420624"/>
          </a:xfrm>
          <a:prstGeom prst="roundRect">
            <a:avLst>
              <a:gd name="adj" fmla="val 50000"/>
            </a:avLst>
          </a:prstGeom>
          <a:solidFill>
            <a:schemeClr val="accent2"/>
          </a:solidFill>
          <a:ln/>
        </p:spPr>
      </p:sp>
      <p:sp>
        <p:nvSpPr>
          <p:cNvPr id="9" name="Text 7"/>
          <p:cNvSpPr txBox="1"/>
          <p:nvPr/>
        </p:nvSpPr>
        <p:spPr>
          <a:xfrm>
            <a:off x="4343400" y="91440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سبب النزول</a:t>
            </a:r>
            <a:endParaRPr lang="ar-SA" sz="1600" dirty="0"/>
          </a:p>
        </p:txBody>
      </p:sp>
      <p:sp>
        <p:nvSpPr>
          <p:cNvPr id="10" name="Text 8"/>
          <p:cNvSpPr txBox="1"/>
          <p:nvPr/>
        </p:nvSpPr>
        <p:spPr>
          <a:xfrm>
            <a:off x="960120" y="1463040"/>
            <a:ext cx="5257800" cy="16459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قال البراء بن عازب: صلّى النبي صلى الله عليه وسلم نحو بيت المقدس ستة عشر أو سبعة عشر شهرًا، وكان يحب أن يُوجَّه إلى الكعبة، فأنزل الله: ﴿قد نرى تقلّب وجهك في السماء﴾ (رواه البخاري ومسلم).</a:t>
            </a:r>
            <a:endParaRPr lang="ar-SA" sz="1700" dirty="0"/>
          </a:p>
        </p:txBody>
      </p:sp>
      <p:sp>
        <p:nvSpPr>
          <p:cNvPr id="11" name="Shape 9"/>
          <p:cNvSpPr/>
          <p:nvPr/>
        </p:nvSpPr>
        <p:spPr>
          <a:xfrm>
            <a:off x="685800" y="3566160"/>
            <a:ext cx="5806440" cy="2606040"/>
          </a:xfrm>
          <a:prstGeom prst="roundRect">
            <a:avLst>
              <a:gd name="adj" fmla="val 4211"/>
            </a:avLst>
          </a:prstGeom>
          <a:solidFill>
            <a:schemeClr val="bg2"/>
          </a:solidFill>
          <a:ln w="19050">
            <a:solidFill>
              <a:schemeClr val="accent5"/>
            </a:solidFill>
            <a:prstDash val="solid"/>
          </a:ln>
        </p:spPr>
      </p:sp>
      <p:sp>
        <p:nvSpPr>
          <p:cNvPr id="12" name="Shape 10"/>
          <p:cNvSpPr/>
          <p:nvPr/>
        </p:nvSpPr>
        <p:spPr>
          <a:xfrm>
            <a:off x="4343400" y="3794760"/>
            <a:ext cx="1920240" cy="420624"/>
          </a:xfrm>
          <a:prstGeom prst="roundRect">
            <a:avLst>
              <a:gd name="adj" fmla="val 50000"/>
            </a:avLst>
          </a:prstGeom>
          <a:solidFill>
            <a:schemeClr val="tx2"/>
          </a:solidFill>
          <a:ln/>
        </p:spPr>
      </p:sp>
      <p:sp>
        <p:nvSpPr>
          <p:cNvPr id="13" name="Text 11"/>
          <p:cNvSpPr txBox="1"/>
          <p:nvPr/>
        </p:nvSpPr>
        <p:spPr>
          <a:xfrm>
            <a:off x="4343400" y="379476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مقصد المقطع</a:t>
            </a:r>
            <a:endParaRPr lang="ar-SA" sz="1600" dirty="0"/>
          </a:p>
        </p:txBody>
      </p:sp>
      <p:sp>
        <p:nvSpPr>
          <p:cNvPr id="14" name="Text 12"/>
          <p:cNvSpPr txBox="1"/>
          <p:nvPr/>
        </p:nvSpPr>
        <p:spPr>
          <a:xfrm>
            <a:off x="960120" y="4343400"/>
            <a:ext cx="5257800" cy="16459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تحويل القبلة من بيت المقدس إلى الكعبة، وبيان أن هذه الأمة وسط عدول، والأمر بذكر الله وشكره.</a:t>
            </a:r>
            <a:endParaRPr lang="ar-SA" sz="17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تحويل القبلة</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١٤٢ – ١٤٣</a:t>
            </a:r>
            <a:endParaRPr lang="ar-SA" sz="1400" dirty="0"/>
          </a:p>
        </p:txBody>
      </p:sp>
      <p:sp>
        <p:nvSpPr>
          <p:cNvPr id="6" name="Shape 4"/>
          <p:cNvSpPr/>
          <p:nvPr/>
        </p:nvSpPr>
        <p:spPr>
          <a:xfrm>
            <a:off x="731520" y="1280160"/>
            <a:ext cx="10728655" cy="2266798"/>
          </a:xfrm>
          <a:prstGeom prst="roundRect">
            <a:avLst>
              <a:gd name="adj" fmla="val 403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0817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0817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١٤٢</a:t>
            </a:r>
            <a:endParaRPr lang="ar-SA" sz="1200" dirty="0"/>
          </a:p>
        </p:txBody>
      </p:sp>
      <p:sp>
        <p:nvSpPr>
          <p:cNvPr id="9" name="Text 7"/>
          <p:cNvSpPr txBox="1"/>
          <p:nvPr/>
        </p:nvSpPr>
        <p:spPr>
          <a:xfrm>
            <a:off x="914400" y="1408176"/>
            <a:ext cx="9677095" cy="2010766"/>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سَيَقُولُ السُّفَهَآءُ مِنَ النَّاسِ مَا وَلَّىٰهُمْ عَن قِبْلَتِهِمُ الَّتِي كَانُواْ عَلَيْهَا قُل لِّلَّهِ الْمَشْرِقُ وَالْمَغْرِبُ يَهْدِي مَن يَشَآءُ إِلَىٰ صِرَٰطٍ مُّسْتَقِيمٍ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سيقول الجهلاء من اليهود والمنافقين: ما الذي صرف المسلمين عن قبلتهم بيت المقدس؟ قل: لله المشرق والمغرب، يهدي من يشاء إلى الطريق المستقيم.</a:t>
            </a:r>
            <a:endParaRPr lang="ar-SA" sz="2800" dirty="0"/>
          </a:p>
        </p:txBody>
      </p:sp>
      <p:sp>
        <p:nvSpPr>
          <p:cNvPr id="10" name="Shape 8"/>
          <p:cNvSpPr/>
          <p:nvPr/>
        </p:nvSpPr>
        <p:spPr>
          <a:xfrm>
            <a:off x="731520" y="3674974"/>
            <a:ext cx="10728655" cy="2588666"/>
          </a:xfrm>
          <a:prstGeom prst="roundRect">
            <a:avLst>
              <a:gd name="adj" fmla="val 3532"/>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802990"/>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802990"/>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١٤٣</a:t>
            </a:r>
            <a:endParaRPr lang="ar-SA" sz="1200" dirty="0"/>
          </a:p>
        </p:txBody>
      </p:sp>
      <p:sp>
        <p:nvSpPr>
          <p:cNvPr id="13" name="Text 11"/>
          <p:cNvSpPr txBox="1"/>
          <p:nvPr/>
        </p:nvSpPr>
        <p:spPr>
          <a:xfrm>
            <a:off x="914400" y="3802990"/>
            <a:ext cx="9677095" cy="2332634"/>
          </a:xfrm>
          <a:prstGeom prst="rect">
            <a:avLst/>
          </a:prstGeom>
          <a:noFill/>
          <a:ln/>
        </p:spPr>
        <p:txBody>
          <a:bodyPr wrap="square" lIns="0" tIns="0" rIns="0" bIns="0" rtlCol="0" anchor="ctr"/>
          <a:lstStyle/>
          <a:p>
            <a:pPr rtl="1" algn="r" indent="0" marL="0">
              <a:spcAft>
                <a:spcPts val="800"/>
              </a:spcAft>
              <a:buNone/>
            </a:pPr>
            <a:r>
              <a:rPr lang="ar-SA" altLang="en-US" sz="2400" b="1" dirty="0">
                <a:solidFill>
                  <a:schemeClr val="tx2"/>
                </a:solidFill>
                <a:latin typeface="Traditional Arabic" pitchFamily="34" charset="0"/>
                <a:ea typeface="Traditional Arabic" pitchFamily="34" charset="-122"/>
                <a:cs typeface="Traditional Arabic" pitchFamily="34" charset="-120"/>
              </a:rPr>
              <a:t>وَكَذَٰلِكَ جَعَلْنَٰكُمْ أُمَّةً وَسَطًا لِّتَكُونُواْ شُهَدَآءَ عَلَى النَّاسِ وَيَكُونَ الرَّسُولُ عَلَيْكُمْ شَهِيدًا وَمَا جَعَلْنَا الْقِبْلَةَ الَّتِي كُنتَ عَلَيْهَآ إِلَّا لِنَعْلَمَ مَن يَتَّبِعُ الرَّسُولَ مِمَّن يَنقَلِبُ عَلَىٰ عَقِبَيْهِ وَإِن كَانَتْ لَكَبِيرَةً إِلَّا عَلَى الَّذِينَ هَدَى اللَّهُ وَمَا كَانَ اللَّهُ لِيُضِيعَ إِيمَٰنَكُمْ إِنَّ اللَّهَ بِالنَّاسِ لَرَءُوفٌ رَّحِيمٌ</a:t>
            </a:r>
            <a:endParaRPr lang="ar-SA" sz="24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وكذلك جعلناكم أمة عدلًا خيارًا، لتشهدوا على الأمم يوم القيامة، ويكون الرسول شاهدًا عليكم، وما جعلنا القبلة الأولى إلا اختبارًا، وما كان الله ليضيّع صلاتكم إلى بيت المقدس.</a:t>
            </a:r>
            <a:endParaRPr lang="ar-SA" sz="24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تحويل القبلة</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١٤٤</a:t>
            </a:r>
            <a:endParaRPr lang="ar-SA" sz="1400" dirty="0"/>
          </a:p>
        </p:txBody>
      </p:sp>
      <p:sp>
        <p:nvSpPr>
          <p:cNvPr id="6" name="Shape 4"/>
          <p:cNvSpPr/>
          <p:nvPr/>
        </p:nvSpPr>
        <p:spPr>
          <a:xfrm>
            <a:off x="731520" y="2354123"/>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482139"/>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482139"/>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١٤٤</a:t>
            </a:r>
            <a:endParaRPr lang="ar-SA" sz="1200" dirty="0"/>
          </a:p>
        </p:txBody>
      </p:sp>
      <p:sp>
        <p:nvSpPr>
          <p:cNvPr id="9" name="Text 7"/>
          <p:cNvSpPr txBox="1"/>
          <p:nvPr/>
        </p:nvSpPr>
        <p:spPr>
          <a:xfrm>
            <a:off x="914400" y="2482139"/>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قَدْ نَرَىٰ تَقَلُّبَ وَجْهِكَ فِي السَّمَآءِ فَلَنُوَلِّيَنَّكَ قِبْلَةً تَرْضَىٰهَا فَوَلِّ وَجْهَكَ شَطْرَ الْمَسْجِدِ الْحَرَامِ وَحَيْثُ مَا كُنتُمْ فَوَلُّواْ وُجُوهَكُمْ شَطْرَهُ وَإِنَّ الَّذِينَ أُوتُواْ الْكِتَٰبَ لَيَعْلَمُونَ أَنَّهُ الْحَقُّ مِن رَّبِّهِمْ وَمَا اللَّهُ بِغَٰفِلٍ عَمَّا يَعْمَلُونَ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قد نرى تردّد وجهك نحو السماء انتظارًا للوحي، فلنوجّهنّك إلى قبلة تحبّها، فاستقبل المسجد الحرام، وحيثما كنتم فاستقبلوه، وأهل الكتاب يعلمون أنه الحق.</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تحويل القبلة</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١٤٥</a:t>
            </a:r>
            <a:endParaRPr lang="ar-SA" sz="1400" dirty="0"/>
          </a:p>
        </p:txBody>
      </p:sp>
      <p:sp>
        <p:nvSpPr>
          <p:cNvPr id="6" name="Shape 4"/>
          <p:cNvSpPr/>
          <p:nvPr/>
        </p:nvSpPr>
        <p:spPr>
          <a:xfrm>
            <a:off x="731520" y="2354123"/>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482139"/>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482139"/>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١٤٥</a:t>
            </a:r>
            <a:endParaRPr lang="ar-SA" sz="1200" dirty="0"/>
          </a:p>
        </p:txBody>
      </p:sp>
      <p:sp>
        <p:nvSpPr>
          <p:cNvPr id="9" name="Text 7"/>
          <p:cNvSpPr txBox="1"/>
          <p:nvPr/>
        </p:nvSpPr>
        <p:spPr>
          <a:xfrm>
            <a:off x="914400" y="2482139"/>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وَلَئِنْ أَتَيْتَ الَّذِينَ أُوتُواْ الْكِتَٰبَ بِكُلِّ ءَايَةٍ مَّا تَبِعُواْ قِبْلَتَكَ وَمَآ أَنتَ بِتَابِعٍ قِبْلَتَهُمْ وَمَا بَعْضُهُم بِتَابِعٍ قِبْلَةَ بَعْضٍ وَلَئِنِ اتَّبَعْتَ أَهْوَآءَهُم مِّن بَعْدِ مَا جَآءَكَ مِنَ الْعِلْمِ إِنَّكَ إِذًا لَّمِنَ الظَّـٰلِمِينَ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ولئن جئت أهل الكتاب بكل معجزة ما اتّبعوا قبلتك، وما أنت بمتّبع قبلتهم، ولئن اتّبعت أهواءهم بعد ما جاءك من العلم إنك إذًا لمن الظالمين.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تحويل القبلة</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١٤٦ – ١٤٧</a:t>
            </a:r>
            <a:endParaRPr lang="ar-SA" sz="1400" dirty="0"/>
          </a:p>
        </p:txBody>
      </p:sp>
      <p:sp>
        <p:nvSpPr>
          <p:cNvPr id="6" name="Shape 4"/>
          <p:cNvSpPr/>
          <p:nvPr/>
        </p:nvSpPr>
        <p:spPr>
          <a:xfrm>
            <a:off x="731520" y="1868805"/>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99682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9968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١٤٦</a:t>
            </a:r>
            <a:endParaRPr lang="ar-SA" sz="1200" dirty="0"/>
          </a:p>
        </p:txBody>
      </p:sp>
      <p:sp>
        <p:nvSpPr>
          <p:cNvPr id="9" name="Text 7"/>
          <p:cNvSpPr txBox="1"/>
          <p:nvPr/>
        </p:nvSpPr>
        <p:spPr>
          <a:xfrm>
            <a:off x="914400" y="1996821"/>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الَّذِينَ ءَاتَيْنَٰهُمُ الْكِتَٰبَ يَعْرِفُونَهُ كَمَا يَعْرِفُونَ أَبْنَآءَهُمْ وَإِنَّ فَرِيقًا مِّنْهُمْ لَيَكْتُمُونَ الْحَقَّ وَهُمْ يَعْلَمُونَ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علماء أهل الكتاب يعرفون محمدًا صلى الله عليه وسلم بصفاته كما يعرفون أبناءهم، وإن فريقًا منهم ليُخفون الحق وهم يعلمون.</a:t>
            </a:r>
            <a:endParaRPr lang="ar-SA" sz="2800" dirty="0"/>
          </a:p>
        </p:txBody>
      </p:sp>
      <p:sp>
        <p:nvSpPr>
          <p:cNvPr id="10" name="Shape 8"/>
          <p:cNvSpPr/>
          <p:nvPr/>
        </p:nvSpPr>
        <p:spPr>
          <a:xfrm>
            <a:off x="731520" y="426910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39712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3971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١٤٧</a:t>
            </a:r>
            <a:endParaRPr lang="ar-SA" sz="1200" dirty="0"/>
          </a:p>
        </p:txBody>
      </p:sp>
      <p:sp>
        <p:nvSpPr>
          <p:cNvPr id="13" name="Text 11"/>
          <p:cNvSpPr txBox="1"/>
          <p:nvPr/>
        </p:nvSpPr>
        <p:spPr>
          <a:xfrm>
            <a:off x="914400" y="439712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الْحَقُّ مِن رَّبِّكَ فَلَا تَكُونَنَّ مِنَ الْمُمْتَرِينَ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هذا هو الحق من ربك، فلا تكوننّ من الشاكّين.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تحويل القبلة</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١٤٨ – ١٤٩</a:t>
            </a:r>
            <a:endParaRPr lang="ar-SA" sz="1400" dirty="0"/>
          </a:p>
        </p:txBody>
      </p:sp>
      <p:sp>
        <p:nvSpPr>
          <p:cNvPr id="6" name="Shape 4"/>
          <p:cNvSpPr/>
          <p:nvPr/>
        </p:nvSpPr>
        <p:spPr>
          <a:xfrm>
            <a:off x="731520" y="1587170"/>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71518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71518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١٤٨</a:t>
            </a:r>
            <a:endParaRPr lang="ar-SA" sz="1200" dirty="0"/>
          </a:p>
        </p:txBody>
      </p:sp>
      <p:sp>
        <p:nvSpPr>
          <p:cNvPr id="9" name="Text 7"/>
          <p:cNvSpPr txBox="1"/>
          <p:nvPr/>
        </p:nvSpPr>
        <p:spPr>
          <a:xfrm>
            <a:off x="914400" y="1715186"/>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وَلِكُلٍّ وِجْهَةٌ هُوَ مُوَلِّيهَا فَاسْتَبِقُواْ الْخَيْرَٰتِ أَيْنَ مَا تَكُونُواْ يَأْتِ بِكُمُ اللَّهُ جَمِيعًا إِنَّ اللَّهَ عَلَىٰ كُلِّ شَيْءٍ قَدِيرٌ</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ولكل أمة قبلة تتوجّه إليها، فتسابقوا إلى فعل الخيرات، أينما تكونوا يجمعكم الله يوم القيامة، إن الله على كل شيء قدير.</a:t>
            </a:r>
            <a:endParaRPr lang="ar-SA" sz="2800" dirty="0"/>
          </a:p>
        </p:txBody>
      </p:sp>
      <p:sp>
        <p:nvSpPr>
          <p:cNvPr id="10" name="Shape 8"/>
          <p:cNvSpPr/>
          <p:nvPr/>
        </p:nvSpPr>
        <p:spPr>
          <a:xfrm>
            <a:off x="731520" y="3987470"/>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115486"/>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11548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١٤٩</a:t>
            </a:r>
            <a:endParaRPr lang="ar-SA" sz="1200" dirty="0"/>
          </a:p>
        </p:txBody>
      </p:sp>
      <p:sp>
        <p:nvSpPr>
          <p:cNvPr id="13" name="Text 11"/>
          <p:cNvSpPr txBox="1"/>
          <p:nvPr/>
        </p:nvSpPr>
        <p:spPr>
          <a:xfrm>
            <a:off x="914400" y="4115486"/>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وَمِنْ حَيْثُ خَرَجْتَ فَوَلِّ وَجْهَكَ شَطْرَ الْمَسْجِدِ الْحَرَامِ وَإِنَّهُ لَلْحَقُّ مِن رَّبِّكَ وَمَا اللَّهُ بِغَٰفِلٍ عَمَّا تَعْمَلُونَ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ومن أي مكان خرجت فاستقبل المسجد الحرام، وإنه للحق من ربك، وما الله بغافل عن أعمالكم.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تحويل القبلة</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١٥٠</a:t>
            </a:r>
            <a:endParaRPr lang="ar-SA" sz="1400" dirty="0"/>
          </a:p>
        </p:txBody>
      </p:sp>
      <p:sp>
        <p:nvSpPr>
          <p:cNvPr id="6" name="Shape 4"/>
          <p:cNvSpPr/>
          <p:nvPr/>
        </p:nvSpPr>
        <p:spPr>
          <a:xfrm>
            <a:off x="731520" y="2354123"/>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482139"/>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482139"/>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١٥٠</a:t>
            </a:r>
            <a:endParaRPr lang="ar-SA" sz="1200" dirty="0"/>
          </a:p>
        </p:txBody>
      </p:sp>
      <p:sp>
        <p:nvSpPr>
          <p:cNvPr id="9" name="Text 7"/>
          <p:cNvSpPr txBox="1"/>
          <p:nvPr/>
        </p:nvSpPr>
        <p:spPr>
          <a:xfrm>
            <a:off x="914400" y="2482139"/>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وَمِنْ حَيْثُ خَرَجْتَ فَوَلِّ وَجْهَكَ شَطْرَ الْمَسْجِدِ الْحَرَامِ وَحَيْثُ مَا كُنتُمْ فَوَلُّواْ وُجُوهَكُمْ شَطْرَهُ لِئَلَّا يَكُونَ لِلنَّاسِ عَلَيْكُمْ حُجَّةٌ إِلَّا الَّذِينَ ظَلَمُواْ مِنْهُمْ فَلَا تَخْشَوْهُمْ وَاخْشَوْنِي وَلِأُتِمَّ نِعْمَتِي عَلَيْكُمْ وَلَعَلَّكُمْ تَهْتَدُونَ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ومن أي مكان خرجت فاستقبل المسجد الحرام، وحيثما كنتم فاستقبلوه، لئلا يكون للناس حجة عليكم، فلا تخشوهم واخشوني، ولأتمّ نعمتي عليكم ولعلكم تهتدون.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تحويل القبلة</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١٥١ – ١٥٢</a:t>
            </a:r>
            <a:endParaRPr lang="ar-SA" sz="1400" dirty="0"/>
          </a:p>
        </p:txBody>
      </p:sp>
      <p:sp>
        <p:nvSpPr>
          <p:cNvPr id="6" name="Shape 4"/>
          <p:cNvSpPr/>
          <p:nvPr/>
        </p:nvSpPr>
        <p:spPr>
          <a:xfrm>
            <a:off x="731520" y="1868805"/>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99682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9968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١٥١</a:t>
            </a:r>
            <a:endParaRPr lang="ar-SA" sz="1200" dirty="0"/>
          </a:p>
        </p:txBody>
      </p:sp>
      <p:sp>
        <p:nvSpPr>
          <p:cNvPr id="9" name="Text 7"/>
          <p:cNvSpPr txBox="1"/>
          <p:nvPr/>
        </p:nvSpPr>
        <p:spPr>
          <a:xfrm>
            <a:off x="914400" y="1996821"/>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كَمَآ أَرْسَلْنَا فِيكُمْ رَسُولًا مِّنكُمْ يَتْلُواْ عَلَيْكُمْ ءَايَٰتِنَا وَيُزَكِّيكُمْ وَيُعَلِّمُكُمُ الْكِتَٰبَ وَالْحِكْمَةَ وَيُعَلِّمُكُم مَّا لَمْ تَكُونُواْ تَعْلَمُونَ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كما أنعمنا عليكم بإرسال رسول منكم، يقرأ عليكم آياتنا، ويطهّركم، ويعلّمكم القرآن والسنة، ويعلّمكم ما لم تكونوا تعلمون.</a:t>
            </a:r>
            <a:endParaRPr lang="ar-SA" sz="2800" dirty="0"/>
          </a:p>
        </p:txBody>
      </p:sp>
      <p:sp>
        <p:nvSpPr>
          <p:cNvPr id="10" name="Shape 8"/>
          <p:cNvSpPr/>
          <p:nvPr/>
        </p:nvSpPr>
        <p:spPr>
          <a:xfrm>
            <a:off x="731520" y="426910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39712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3971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١٥٢</a:t>
            </a:r>
            <a:endParaRPr lang="ar-SA" sz="1200" dirty="0"/>
          </a:p>
        </p:txBody>
      </p:sp>
      <p:sp>
        <p:nvSpPr>
          <p:cNvPr id="13" name="Text 11"/>
          <p:cNvSpPr txBox="1"/>
          <p:nvPr/>
        </p:nvSpPr>
        <p:spPr>
          <a:xfrm>
            <a:off x="914400" y="439712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فَاذْكُرُونِي أَذْكُرْكُمْ وَاشْكُرُواْ لِي وَلَا تَكْفُرُونِ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فاذكروني بالطاعة أذكركم بالثواب والمغفرة، واشكروا نعمتي ولا تجحدوها.</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txBox="1"/>
          <p:nvPr/>
        </p:nvSpPr>
        <p:spPr>
          <a:xfrm>
            <a:off x="7223760" y="1143000"/>
            <a:ext cx="4114800" cy="411480"/>
          </a:xfrm>
          <a:prstGeom prst="rect">
            <a:avLst/>
          </a:prstGeom>
          <a:noFill/>
          <a:ln/>
        </p:spPr>
        <p:txBody>
          <a:bodyPr wrap="square" lIns="0" tIns="0" rIns="0" bIns="0" rtlCol="0" anchor="t"/>
          <a:lstStyle/>
          <a:p>
            <a:pPr rtl="1" algn="ctr" indent="0" marL="0">
              <a:buNone/>
            </a:pPr>
            <a:r>
              <a:rPr lang="ar-SA" altLang="en-US" sz="1800" b="1" dirty="0">
                <a:solidFill>
                  <a:schemeClr val="accent5"/>
                </a:solidFill>
              </a:rPr>
              <a:t>المقطع</a:t>
            </a:r>
            <a:endParaRPr lang="ar-SA" sz="1800" dirty="0"/>
          </a:p>
        </p:txBody>
      </p:sp>
      <p:sp>
        <p:nvSpPr>
          <p:cNvPr id="3" name="Shape 1"/>
          <p:cNvSpPr/>
          <p:nvPr/>
        </p:nvSpPr>
        <p:spPr>
          <a:xfrm>
            <a:off x="8915400" y="1645920"/>
            <a:ext cx="731520" cy="731520"/>
          </a:xfrm>
          <a:prstGeom prst="octagon">
            <a:avLst/>
          </a:prstGeom>
          <a:solidFill>
            <a:schemeClr val="accent2"/>
          </a:solidFill>
          <a:ln w="15875">
            <a:solidFill>
              <a:schemeClr val="accent5"/>
            </a:solidFill>
            <a:prstDash val="solid"/>
          </a:ln>
        </p:spPr>
      </p:sp>
      <p:sp>
        <p:nvSpPr>
          <p:cNvPr id="4" name="Text 2"/>
          <p:cNvSpPr txBox="1"/>
          <p:nvPr/>
        </p:nvSpPr>
        <p:spPr>
          <a:xfrm>
            <a:off x="8915400" y="164592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bg1"/>
                </a:solidFill>
                <a:latin typeface="Arial" pitchFamily="34" charset="0"/>
                <a:ea typeface="Arial" pitchFamily="34" charset="-122"/>
                <a:cs typeface="Arial" pitchFamily="34" charset="-120"/>
              </a:rPr>
              <a:t>١١</a:t>
            </a:r>
            <a:endParaRPr lang="ar-SA" sz="1800" dirty="0"/>
          </a:p>
        </p:txBody>
      </p:sp>
      <p:sp>
        <p:nvSpPr>
          <p:cNvPr id="5" name="Text 3"/>
          <p:cNvSpPr txBox="1"/>
          <p:nvPr/>
        </p:nvSpPr>
        <p:spPr>
          <a:xfrm>
            <a:off x="7269480" y="2606040"/>
            <a:ext cx="4023360" cy="1737360"/>
          </a:xfrm>
          <a:prstGeom prst="rect">
            <a:avLst/>
          </a:prstGeom>
          <a:noFill/>
          <a:ln/>
        </p:spPr>
        <p:txBody>
          <a:bodyPr wrap="square" lIns="0" tIns="0" rIns="0" bIns="0" rtlCol="0" anchor="ctr"/>
          <a:lstStyle/>
          <a:p>
            <a:pPr rtl="1" algn="ctr" indent="0" marL="0">
              <a:buNone/>
            </a:pPr>
            <a:r>
              <a:rPr lang="ar-SA" altLang="en-US" sz="3800" b="1" dirty="0">
                <a:solidFill>
                  <a:schemeClr val="bg1"/>
                </a:solidFill>
                <a:latin typeface="Sakkal Majalla" pitchFamily="34" charset="0"/>
                <a:ea typeface="Sakkal Majalla" pitchFamily="34" charset="-122"/>
                <a:cs typeface="Sakkal Majalla" pitchFamily="34" charset="-120"/>
              </a:rPr>
              <a:t>الصبر والابتلاء ودلائل التوحيد</a:t>
            </a:r>
            <a:endParaRPr lang="ar-SA" sz="3800" dirty="0"/>
          </a:p>
        </p:txBody>
      </p:sp>
      <p:sp>
        <p:nvSpPr>
          <p:cNvPr id="6" name="Text 4"/>
          <p:cNvSpPr txBox="1"/>
          <p:nvPr/>
        </p:nvSpPr>
        <p:spPr>
          <a:xfrm>
            <a:off x="7269480" y="4526280"/>
            <a:ext cx="4023360" cy="457200"/>
          </a:xfrm>
          <a:prstGeom prst="rect">
            <a:avLst/>
          </a:prstGeom>
          <a:noFill/>
          <a:ln/>
        </p:spPr>
        <p:txBody>
          <a:bodyPr wrap="square" lIns="0" tIns="0" rIns="0" bIns="0" rtlCol="0" anchor="t"/>
          <a:lstStyle/>
          <a:p>
            <a:pPr rtl="1" algn="ctr" indent="0" marL="0">
              <a:buNone/>
            </a:pPr>
            <a:r>
              <a:rPr lang="ar-SA" altLang="en-US" sz="2000" b="1" dirty="0">
                <a:solidFill>
                  <a:schemeClr val="accent5"/>
                </a:solidFill>
              </a:rPr>
              <a:t>الآيات ١٥٣ – ١٦٧</a:t>
            </a:r>
            <a:endParaRPr lang="ar-SA" sz="2000" dirty="0"/>
          </a:p>
        </p:txBody>
      </p:sp>
      <p:sp>
        <p:nvSpPr>
          <p:cNvPr id="7" name="Shape 5"/>
          <p:cNvSpPr/>
          <p:nvPr/>
        </p:nvSpPr>
        <p:spPr>
          <a:xfrm>
            <a:off x="685800" y="685800"/>
            <a:ext cx="5806440" cy="2606040"/>
          </a:xfrm>
          <a:prstGeom prst="roundRect">
            <a:avLst>
              <a:gd name="adj" fmla="val 4211"/>
            </a:avLst>
          </a:prstGeom>
          <a:solidFill>
            <a:schemeClr val="bg2"/>
          </a:solidFill>
          <a:ln w="19050">
            <a:solidFill>
              <a:schemeClr val="accent5"/>
            </a:solidFill>
            <a:prstDash val="solid"/>
          </a:ln>
        </p:spPr>
      </p:sp>
      <p:sp>
        <p:nvSpPr>
          <p:cNvPr id="8" name="Shape 6"/>
          <p:cNvSpPr/>
          <p:nvPr/>
        </p:nvSpPr>
        <p:spPr>
          <a:xfrm>
            <a:off x="4343400" y="914400"/>
            <a:ext cx="1920240" cy="420624"/>
          </a:xfrm>
          <a:prstGeom prst="roundRect">
            <a:avLst>
              <a:gd name="adj" fmla="val 50000"/>
            </a:avLst>
          </a:prstGeom>
          <a:solidFill>
            <a:schemeClr val="accent2"/>
          </a:solidFill>
          <a:ln/>
        </p:spPr>
      </p:sp>
      <p:sp>
        <p:nvSpPr>
          <p:cNvPr id="9" name="Text 7"/>
          <p:cNvSpPr txBox="1"/>
          <p:nvPr/>
        </p:nvSpPr>
        <p:spPr>
          <a:xfrm>
            <a:off x="4343400" y="91440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سبب النزول</a:t>
            </a:r>
            <a:endParaRPr lang="ar-SA" sz="1600" dirty="0"/>
          </a:p>
        </p:txBody>
      </p:sp>
      <p:sp>
        <p:nvSpPr>
          <p:cNvPr id="10" name="Text 8"/>
          <p:cNvSpPr txBox="1"/>
          <p:nvPr/>
        </p:nvSpPr>
        <p:spPr>
          <a:xfrm>
            <a:off x="960120" y="1463040"/>
            <a:ext cx="5257800" cy="16459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قالت عائشة: كان الأنصار قبل الإسلام يتحرّجون أن يسعوا بين الصفا والمروة، فلما أسلموا سألوا النبي صلى الله عليه وسلم عن ذلك، فأنزل الله: ﴿إن الصفا والمروة من شعائر الله﴾ (رواه البخاري ومسلم).</a:t>
            </a:r>
            <a:endParaRPr lang="ar-SA" sz="1700" dirty="0"/>
          </a:p>
        </p:txBody>
      </p:sp>
      <p:sp>
        <p:nvSpPr>
          <p:cNvPr id="11" name="Shape 9"/>
          <p:cNvSpPr/>
          <p:nvPr/>
        </p:nvSpPr>
        <p:spPr>
          <a:xfrm>
            <a:off x="685800" y="3566160"/>
            <a:ext cx="5806440" cy="2606040"/>
          </a:xfrm>
          <a:prstGeom prst="roundRect">
            <a:avLst>
              <a:gd name="adj" fmla="val 4211"/>
            </a:avLst>
          </a:prstGeom>
          <a:solidFill>
            <a:schemeClr val="bg2"/>
          </a:solidFill>
          <a:ln w="19050">
            <a:solidFill>
              <a:schemeClr val="accent5"/>
            </a:solidFill>
            <a:prstDash val="solid"/>
          </a:ln>
        </p:spPr>
      </p:sp>
      <p:sp>
        <p:nvSpPr>
          <p:cNvPr id="12" name="Shape 10"/>
          <p:cNvSpPr/>
          <p:nvPr/>
        </p:nvSpPr>
        <p:spPr>
          <a:xfrm>
            <a:off x="4343400" y="3794760"/>
            <a:ext cx="1920240" cy="420624"/>
          </a:xfrm>
          <a:prstGeom prst="roundRect">
            <a:avLst>
              <a:gd name="adj" fmla="val 50000"/>
            </a:avLst>
          </a:prstGeom>
          <a:solidFill>
            <a:schemeClr val="tx2"/>
          </a:solidFill>
          <a:ln/>
        </p:spPr>
      </p:sp>
      <p:sp>
        <p:nvSpPr>
          <p:cNvPr id="13" name="Text 11"/>
          <p:cNvSpPr txBox="1"/>
          <p:nvPr/>
        </p:nvSpPr>
        <p:spPr>
          <a:xfrm>
            <a:off x="4343400" y="379476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مقصد المقطع</a:t>
            </a:r>
            <a:endParaRPr lang="ar-SA" sz="1600" dirty="0"/>
          </a:p>
        </p:txBody>
      </p:sp>
      <p:sp>
        <p:nvSpPr>
          <p:cNvPr id="14" name="Text 12"/>
          <p:cNvSpPr txBox="1"/>
          <p:nvPr/>
        </p:nvSpPr>
        <p:spPr>
          <a:xfrm>
            <a:off x="960120" y="4343400"/>
            <a:ext cx="5257800" cy="16459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الاستعانة بالصبر والصلاة، والبشارة للصابرين، وبيان شعيرة السعي، ودلائل وحدانية الله في الكون.</a:t>
            </a:r>
            <a:endParaRPr lang="ar-SA" sz="17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الصبر والابتلاء ودلائل التوحيد</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١٥٣ – ١٥٥</a:t>
            </a:r>
            <a:endParaRPr lang="ar-SA" sz="1400" dirty="0"/>
          </a:p>
        </p:txBody>
      </p:sp>
      <p:sp>
        <p:nvSpPr>
          <p:cNvPr id="6" name="Shape 4"/>
          <p:cNvSpPr/>
          <p:nvPr/>
        </p:nvSpPr>
        <p:spPr>
          <a:xfrm>
            <a:off x="731520" y="1280160"/>
            <a:ext cx="10728655" cy="1388059"/>
          </a:xfrm>
          <a:prstGeom prst="roundRect">
            <a:avLst>
              <a:gd name="adj" fmla="val 6588"/>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0817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0817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١٥٣</a:t>
            </a:r>
            <a:endParaRPr lang="ar-SA" sz="1200" dirty="0"/>
          </a:p>
        </p:txBody>
      </p:sp>
      <p:sp>
        <p:nvSpPr>
          <p:cNvPr id="9" name="Text 7"/>
          <p:cNvSpPr txBox="1"/>
          <p:nvPr/>
        </p:nvSpPr>
        <p:spPr>
          <a:xfrm>
            <a:off x="914400" y="1408176"/>
            <a:ext cx="9677095" cy="1132027"/>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يَـٰأَيُّهَا الَّذِينَ ءَامَنُواْ اسْتَعِينُواْ بِالصَّبْرِ وَالصَّلَوٰةِ إِنَّ اللَّهَ مَعَ الصَّـٰبِرِينَ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يا أيها المؤمنون، استعينوا على أموركم بالصبر والصلاة، إن الله مع الصابرين.</a:t>
            </a:r>
            <a:endParaRPr lang="ar-SA" sz="2800" dirty="0"/>
          </a:p>
        </p:txBody>
      </p:sp>
      <p:sp>
        <p:nvSpPr>
          <p:cNvPr id="10" name="Shape 8"/>
          <p:cNvSpPr/>
          <p:nvPr/>
        </p:nvSpPr>
        <p:spPr>
          <a:xfrm>
            <a:off x="731520" y="2796235"/>
            <a:ext cx="10728655" cy="1388059"/>
          </a:xfrm>
          <a:prstGeom prst="roundRect">
            <a:avLst>
              <a:gd name="adj" fmla="val 6588"/>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292425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292425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١٥٤</a:t>
            </a:r>
            <a:endParaRPr lang="ar-SA" sz="1200" dirty="0"/>
          </a:p>
        </p:txBody>
      </p:sp>
      <p:sp>
        <p:nvSpPr>
          <p:cNvPr id="13" name="Text 11"/>
          <p:cNvSpPr txBox="1"/>
          <p:nvPr/>
        </p:nvSpPr>
        <p:spPr>
          <a:xfrm>
            <a:off x="914400" y="2924251"/>
            <a:ext cx="9677095" cy="1132027"/>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وَلَا تَقُولُواْ لِمَن يُقْتَلُ فِي سَبِيلِ اللَّهِ أَمْوَٰتٌ بَلْ أَحْيَآءٌ وَلَٰكِن لَّا تَشْعُرُونَ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ولا تقولوا عن الشهداء: أموات، بل هم أحياء عند ربهم يُرزقون، ولكن لا تشعرون.</a:t>
            </a:r>
            <a:endParaRPr lang="ar-SA" sz="2800" dirty="0"/>
          </a:p>
        </p:txBody>
      </p:sp>
      <p:sp>
        <p:nvSpPr>
          <p:cNvPr id="14" name="Shape 12"/>
          <p:cNvSpPr/>
          <p:nvPr/>
        </p:nvSpPr>
        <p:spPr>
          <a:xfrm>
            <a:off x="731520" y="4312310"/>
            <a:ext cx="10728655" cy="1951330"/>
          </a:xfrm>
          <a:prstGeom prst="roundRect">
            <a:avLst>
              <a:gd name="adj" fmla="val 4686"/>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5" name="Shape 13"/>
          <p:cNvSpPr/>
          <p:nvPr/>
        </p:nvSpPr>
        <p:spPr>
          <a:xfrm>
            <a:off x="10874959" y="4440326"/>
            <a:ext cx="475488" cy="475488"/>
          </a:xfrm>
          <a:prstGeom prst="octagon">
            <a:avLst/>
          </a:prstGeom>
          <a:solidFill>
            <a:schemeClr val="accent2"/>
          </a:solidFill>
          <a:ln w="15875">
            <a:solidFill>
              <a:schemeClr val="accent5"/>
            </a:solidFill>
            <a:prstDash val="solid"/>
          </a:ln>
        </p:spPr>
      </p:sp>
      <p:sp>
        <p:nvSpPr>
          <p:cNvPr id="16" name="Text 14"/>
          <p:cNvSpPr txBox="1"/>
          <p:nvPr/>
        </p:nvSpPr>
        <p:spPr>
          <a:xfrm>
            <a:off x="10874959" y="444032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١٥٥</a:t>
            </a:r>
            <a:endParaRPr lang="ar-SA" sz="1200" dirty="0"/>
          </a:p>
        </p:txBody>
      </p:sp>
      <p:sp>
        <p:nvSpPr>
          <p:cNvPr id="17" name="Text 15"/>
          <p:cNvSpPr txBox="1"/>
          <p:nvPr/>
        </p:nvSpPr>
        <p:spPr>
          <a:xfrm>
            <a:off x="914400" y="4440326"/>
            <a:ext cx="9677095" cy="169529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وَلَنَبْلُوَنَّكُم بِشَيْءٍ مِّنَ الْخَوْفِ وَالْجُوعِ وَنَقْصٍ مِّنَ الْأَمْوَٰلِ وَالْأَنفُسِ وَالثَّمَرَٰتِ وَبَشِّرِ الصَّـٰبِرِينَ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ولنختبرنّكم بشيء من الخوف والجوع، ونقصٍ في الأموال والأنفس والثمار، وبشّر الصابرين.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الصبر والابتلاء ودلائل التوحيد</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١٥٦ – ١٥٨</a:t>
            </a:r>
            <a:endParaRPr lang="ar-SA" sz="1400" dirty="0"/>
          </a:p>
        </p:txBody>
      </p:sp>
      <p:sp>
        <p:nvSpPr>
          <p:cNvPr id="6" name="Shape 4"/>
          <p:cNvSpPr/>
          <p:nvPr/>
        </p:nvSpPr>
        <p:spPr>
          <a:xfrm>
            <a:off x="731520" y="1280160"/>
            <a:ext cx="10728655" cy="1287018"/>
          </a:xfrm>
          <a:prstGeom prst="roundRect">
            <a:avLst>
              <a:gd name="adj" fmla="val 710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0817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0817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١٥٦</a:t>
            </a:r>
            <a:endParaRPr lang="ar-SA" sz="1200" dirty="0"/>
          </a:p>
        </p:txBody>
      </p:sp>
      <p:sp>
        <p:nvSpPr>
          <p:cNvPr id="9" name="Text 7"/>
          <p:cNvSpPr txBox="1"/>
          <p:nvPr/>
        </p:nvSpPr>
        <p:spPr>
          <a:xfrm>
            <a:off x="914400" y="1408176"/>
            <a:ext cx="9677095" cy="1030986"/>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الَّذِينَ إِذَآ أَصَٰبَتْهُم مُّصِيبَةٌ قَالُواْ إِنَّا لِلَّهِ وَإِنَّآ إِلَيْهِ رَٰجِعُونَ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الذين إذا أصابتهم مصيبة قالوا: إنا مُلكٌ لله، وإنا إليه راجعون.</a:t>
            </a:r>
            <a:endParaRPr lang="ar-SA" sz="2800" dirty="0"/>
          </a:p>
        </p:txBody>
      </p:sp>
      <p:sp>
        <p:nvSpPr>
          <p:cNvPr id="10" name="Shape 8"/>
          <p:cNvSpPr/>
          <p:nvPr/>
        </p:nvSpPr>
        <p:spPr>
          <a:xfrm>
            <a:off x="731520" y="2695194"/>
            <a:ext cx="10728655" cy="1287018"/>
          </a:xfrm>
          <a:prstGeom prst="roundRect">
            <a:avLst>
              <a:gd name="adj" fmla="val 710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2823210"/>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2823210"/>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١٥٧</a:t>
            </a:r>
            <a:endParaRPr lang="ar-SA" sz="1200" dirty="0"/>
          </a:p>
        </p:txBody>
      </p:sp>
      <p:sp>
        <p:nvSpPr>
          <p:cNvPr id="13" name="Text 11"/>
          <p:cNvSpPr txBox="1"/>
          <p:nvPr/>
        </p:nvSpPr>
        <p:spPr>
          <a:xfrm>
            <a:off x="914400" y="2823210"/>
            <a:ext cx="9677095" cy="1030986"/>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أُوْلَـٰئِكَ عَلَيْهِمْ صَلَوَٰتٌ مِّن رَّبِّهِمْ وَرَحْمَةٌ وَأُوْلَـٰئِكَ هُمُ الْمُهْتَدُونَ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أولئك عليهم ثناء من ربهم ورحمة، وأولئك هم المهتدون.</a:t>
            </a:r>
            <a:endParaRPr lang="ar-SA" sz="2800" dirty="0"/>
          </a:p>
        </p:txBody>
      </p:sp>
      <p:sp>
        <p:nvSpPr>
          <p:cNvPr id="14" name="Shape 12"/>
          <p:cNvSpPr/>
          <p:nvPr/>
        </p:nvSpPr>
        <p:spPr>
          <a:xfrm>
            <a:off x="731520" y="4110228"/>
            <a:ext cx="10728655" cy="2153412"/>
          </a:xfrm>
          <a:prstGeom prst="roundRect">
            <a:avLst>
              <a:gd name="adj" fmla="val 4246"/>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5" name="Shape 13"/>
          <p:cNvSpPr/>
          <p:nvPr/>
        </p:nvSpPr>
        <p:spPr>
          <a:xfrm>
            <a:off x="10874959" y="4238244"/>
            <a:ext cx="475488" cy="475488"/>
          </a:xfrm>
          <a:prstGeom prst="octagon">
            <a:avLst/>
          </a:prstGeom>
          <a:solidFill>
            <a:schemeClr val="accent2"/>
          </a:solidFill>
          <a:ln w="15875">
            <a:solidFill>
              <a:schemeClr val="accent5"/>
            </a:solidFill>
            <a:prstDash val="solid"/>
          </a:ln>
        </p:spPr>
      </p:sp>
      <p:sp>
        <p:nvSpPr>
          <p:cNvPr id="16" name="Text 14"/>
          <p:cNvSpPr txBox="1"/>
          <p:nvPr/>
        </p:nvSpPr>
        <p:spPr>
          <a:xfrm>
            <a:off x="10874959" y="423824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١٥٨</a:t>
            </a:r>
            <a:endParaRPr lang="ar-SA" sz="1200" dirty="0"/>
          </a:p>
        </p:txBody>
      </p:sp>
      <p:sp>
        <p:nvSpPr>
          <p:cNvPr id="17" name="Text 15"/>
          <p:cNvSpPr txBox="1"/>
          <p:nvPr/>
        </p:nvSpPr>
        <p:spPr>
          <a:xfrm>
            <a:off x="914400" y="4238244"/>
            <a:ext cx="9677095" cy="1897380"/>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إِنَّ الصَّفَا وَالْمَرْوَةَ مِن شَعَآئِرِ اللَّهِ فَمَنْ حَجَّ الْبَيْتَ أَوِ اعْتَمَرَ فَلَا جُنَاحَ عَلَيْهِ أَن يَطَّوَّفَ بِهِمَا وَمَن تَطَوَّعَ خَيْرًا فَإِنَّ اللَّهَ شَاكِرٌ عَلِيمٌ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إن الصفا والمروة من معالم دين الله، فمن حجّ أو اعتمر فلا حرج عليه أن يسعى بينهما، ومن تطوّع خيرًا فإن الله شاكر عليم.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الصبر والابتلاء ودلائل التوحيد</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١٥٩ – ١٦١</a:t>
            </a:r>
            <a:endParaRPr lang="ar-SA" sz="1400" dirty="0"/>
          </a:p>
        </p:txBody>
      </p:sp>
      <p:sp>
        <p:nvSpPr>
          <p:cNvPr id="6" name="Shape 4"/>
          <p:cNvSpPr/>
          <p:nvPr/>
        </p:nvSpPr>
        <p:spPr>
          <a:xfrm>
            <a:off x="731520" y="1280160"/>
            <a:ext cx="10728655" cy="1951330"/>
          </a:xfrm>
          <a:prstGeom prst="roundRect">
            <a:avLst>
              <a:gd name="adj" fmla="val 4686"/>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0817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0817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١٥٩</a:t>
            </a:r>
            <a:endParaRPr lang="ar-SA" sz="1200" dirty="0"/>
          </a:p>
        </p:txBody>
      </p:sp>
      <p:sp>
        <p:nvSpPr>
          <p:cNvPr id="9" name="Text 7"/>
          <p:cNvSpPr txBox="1"/>
          <p:nvPr/>
        </p:nvSpPr>
        <p:spPr>
          <a:xfrm>
            <a:off x="914400" y="1408176"/>
            <a:ext cx="9677095" cy="169529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إِنَّ الَّذِينَ يَكْتُمُونَ مَآ أَنزَلْنَا مِنَ الْبَيِّنَٰتِ وَالْهُدَىٰ مِن بَعْدِ مَا بَيَّنَّـٰهُ لِلنَّاسِ فِي الْكِتَٰبِ أُوْلَـٰئِكَ يَلْعَنُهُمُ اللَّهُ وَيَلْعَنُهُمُ اللَّـٰعِنُونَ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إن الذين يُخفون ما أنزلنا من الحق بعد ما بيّناه للناس في الكتاب، أولئك يلعنهم الله ويلعنهم اللاعنون.</a:t>
            </a:r>
            <a:endParaRPr lang="ar-SA" sz="2800" dirty="0"/>
          </a:p>
        </p:txBody>
      </p:sp>
      <p:sp>
        <p:nvSpPr>
          <p:cNvPr id="10" name="Shape 8"/>
          <p:cNvSpPr/>
          <p:nvPr/>
        </p:nvSpPr>
        <p:spPr>
          <a:xfrm>
            <a:off x="731520" y="3359506"/>
            <a:ext cx="10728655" cy="1388059"/>
          </a:xfrm>
          <a:prstGeom prst="roundRect">
            <a:avLst>
              <a:gd name="adj" fmla="val 6588"/>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487522"/>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487522"/>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١٦٠</a:t>
            </a:r>
            <a:endParaRPr lang="ar-SA" sz="1200" dirty="0"/>
          </a:p>
        </p:txBody>
      </p:sp>
      <p:sp>
        <p:nvSpPr>
          <p:cNvPr id="13" name="Text 11"/>
          <p:cNvSpPr txBox="1"/>
          <p:nvPr/>
        </p:nvSpPr>
        <p:spPr>
          <a:xfrm>
            <a:off x="914400" y="3487522"/>
            <a:ext cx="9677095" cy="1132027"/>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إِلَّا الَّذِينَ تَابُواْ وَأَصْلَحُواْ وَبَيَّنُواْ فَأُوْلَـٰئِكَ أَتُوبُ عَلَيْهِمْ وَأَنَا التَّوَّابُ الرَّحِيمُ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إلا الذين تابوا وأصلحوا أعمالهم وبيّنوا ما أخفوه، فأولئك أتوب عليهم، وأنا التواب الرحيم.</a:t>
            </a:r>
            <a:endParaRPr lang="ar-SA" sz="2800" dirty="0"/>
          </a:p>
        </p:txBody>
      </p:sp>
      <p:sp>
        <p:nvSpPr>
          <p:cNvPr id="14" name="Shape 12"/>
          <p:cNvSpPr/>
          <p:nvPr/>
        </p:nvSpPr>
        <p:spPr>
          <a:xfrm>
            <a:off x="731520" y="4875581"/>
            <a:ext cx="10728655" cy="1388059"/>
          </a:xfrm>
          <a:prstGeom prst="roundRect">
            <a:avLst>
              <a:gd name="adj" fmla="val 6588"/>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5" name="Shape 13"/>
          <p:cNvSpPr/>
          <p:nvPr/>
        </p:nvSpPr>
        <p:spPr>
          <a:xfrm>
            <a:off x="10874959" y="5003597"/>
            <a:ext cx="475488" cy="475488"/>
          </a:xfrm>
          <a:prstGeom prst="octagon">
            <a:avLst/>
          </a:prstGeom>
          <a:solidFill>
            <a:schemeClr val="accent2"/>
          </a:solidFill>
          <a:ln w="15875">
            <a:solidFill>
              <a:schemeClr val="accent5"/>
            </a:solidFill>
            <a:prstDash val="solid"/>
          </a:ln>
        </p:spPr>
      </p:sp>
      <p:sp>
        <p:nvSpPr>
          <p:cNvPr id="16" name="Text 14"/>
          <p:cNvSpPr txBox="1"/>
          <p:nvPr/>
        </p:nvSpPr>
        <p:spPr>
          <a:xfrm>
            <a:off x="10874959" y="5003597"/>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١٦١</a:t>
            </a:r>
            <a:endParaRPr lang="ar-SA" sz="1200" dirty="0"/>
          </a:p>
        </p:txBody>
      </p:sp>
      <p:sp>
        <p:nvSpPr>
          <p:cNvPr id="17" name="Text 15"/>
          <p:cNvSpPr txBox="1"/>
          <p:nvPr/>
        </p:nvSpPr>
        <p:spPr>
          <a:xfrm>
            <a:off x="914400" y="5003597"/>
            <a:ext cx="9677095" cy="1132027"/>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إِنَّ الَّذِينَ كَفَرُواْ وَمَاتُواْ وَهُمْ كُفَّارٌ أُوْلَـٰئِكَ عَلَيْهِمْ لَعْنَةُ اللَّهِ وَالْمَلَـٰئِكَةِ وَالنَّاسِ أَجْمَعِينَ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إن الذين كفروا وماتوا على الكفر عليهم لعنة الله والملائكة والناس أجمعين.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الصبر والابتلاء ودلائل التوحيد</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١٦٢ – ١٦٣</a:t>
            </a:r>
            <a:endParaRPr lang="ar-SA" sz="1400" dirty="0"/>
          </a:p>
        </p:txBody>
      </p:sp>
      <p:sp>
        <p:nvSpPr>
          <p:cNvPr id="6" name="Shape 4"/>
          <p:cNvSpPr/>
          <p:nvPr/>
        </p:nvSpPr>
        <p:spPr>
          <a:xfrm>
            <a:off x="731520" y="2302002"/>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430018"/>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430018"/>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١٦٢</a:t>
            </a:r>
            <a:endParaRPr lang="ar-SA" sz="1200" dirty="0"/>
          </a:p>
        </p:txBody>
      </p:sp>
      <p:sp>
        <p:nvSpPr>
          <p:cNvPr id="9" name="Text 7"/>
          <p:cNvSpPr txBox="1"/>
          <p:nvPr/>
        </p:nvSpPr>
        <p:spPr>
          <a:xfrm>
            <a:off x="914400" y="2430018"/>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خَٰلِدِينَ فِيهَا لَا يُخَفَّفُ عَنْهُمُ الْعَذَابُ وَلَا هُمْ يُنظَرُونَ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خالدين في اللعنة والنار، لا يُخفّف عنهم العذاب ولا يُمهلون.</a:t>
            </a:r>
            <a:endParaRPr lang="ar-SA" sz="2800" dirty="0"/>
          </a:p>
        </p:txBody>
      </p:sp>
      <p:sp>
        <p:nvSpPr>
          <p:cNvPr id="10" name="Shape 8"/>
          <p:cNvSpPr/>
          <p:nvPr/>
        </p:nvSpPr>
        <p:spPr>
          <a:xfrm>
            <a:off x="731520" y="3835908"/>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96392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96392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١٦٣</a:t>
            </a:r>
            <a:endParaRPr lang="ar-SA" sz="1200" dirty="0"/>
          </a:p>
        </p:txBody>
      </p:sp>
      <p:sp>
        <p:nvSpPr>
          <p:cNvPr id="13" name="Text 11"/>
          <p:cNvSpPr txBox="1"/>
          <p:nvPr/>
        </p:nvSpPr>
        <p:spPr>
          <a:xfrm>
            <a:off x="914400" y="3963924"/>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وَإِلَٰهُكُمْ إِلَٰهٌ وَٰحِدٌ لَّآ إِلَٰهَ إِلَّا هُوَ الرَّحْمَٰنُ الرَّحِيمُ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وإلهكم إله واحد، لا معبود بحق إلا هو، الرحمن الرحيم.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الصبر والابتلاء ودلائل التوحيد</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١٦٤ – ١٦٥</a:t>
            </a:r>
            <a:endParaRPr lang="ar-SA" sz="1400" dirty="0"/>
          </a:p>
        </p:txBody>
      </p:sp>
      <p:sp>
        <p:nvSpPr>
          <p:cNvPr id="6" name="Shape 4"/>
          <p:cNvSpPr/>
          <p:nvPr/>
        </p:nvSpPr>
        <p:spPr>
          <a:xfrm>
            <a:off x="731520" y="1280160"/>
            <a:ext cx="10728655" cy="2588666"/>
          </a:xfrm>
          <a:prstGeom prst="roundRect">
            <a:avLst>
              <a:gd name="adj" fmla="val 3532"/>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0817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0817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١٦٤</a:t>
            </a:r>
            <a:endParaRPr lang="ar-SA" sz="1200" dirty="0"/>
          </a:p>
        </p:txBody>
      </p:sp>
      <p:sp>
        <p:nvSpPr>
          <p:cNvPr id="9" name="Text 7"/>
          <p:cNvSpPr txBox="1"/>
          <p:nvPr/>
        </p:nvSpPr>
        <p:spPr>
          <a:xfrm>
            <a:off x="914400" y="1408176"/>
            <a:ext cx="9677095" cy="2332634"/>
          </a:xfrm>
          <a:prstGeom prst="rect">
            <a:avLst/>
          </a:prstGeom>
          <a:noFill/>
          <a:ln/>
        </p:spPr>
        <p:txBody>
          <a:bodyPr wrap="square" lIns="0" tIns="0" rIns="0" bIns="0" rtlCol="0" anchor="ctr"/>
          <a:lstStyle/>
          <a:p>
            <a:pPr rtl="1" algn="r" indent="0" marL="0">
              <a:spcAft>
                <a:spcPts val="800"/>
              </a:spcAft>
              <a:buNone/>
            </a:pPr>
            <a:r>
              <a:rPr lang="ar-SA" altLang="en-US" sz="2400" b="1" dirty="0">
                <a:solidFill>
                  <a:schemeClr val="tx2"/>
                </a:solidFill>
                <a:latin typeface="Traditional Arabic" pitchFamily="34" charset="0"/>
                <a:ea typeface="Traditional Arabic" pitchFamily="34" charset="-122"/>
                <a:cs typeface="Traditional Arabic" pitchFamily="34" charset="-120"/>
              </a:rPr>
              <a:t>إِنَّ فِي خَلْقِ السَّمَٰوَٰتِ وَالْأَرْضِ وَاخْتِلَٰفِ الَّيْلِ وَالنَّهَارِ وَالْفُلْكِ الَّتِي تَجْرِي فِي الْبَحْرِ بِمَا يَنفَعُ النَّاسَ وَمَآ أَنزَلَ اللَّهُ مِنَ السَّمَآءِ مِن مَّآءٍ فَأَحْيَا بِهِ الْأَرْضَ بَعْدَ مَوْتِهَا وَبَثَّ فِيهَا مِن كُلِّ دَآبَّةٍ وَتَصْرِيفِ الرِّيَٰحِ وَالسَّحَابِ الْمُسَخَّرِ بَيْنَ السَّمَآءِ وَالْأَرْضِ لَأيَٰتٍ لِّقَوْمٍ يَعْقِلُونَ</a:t>
            </a:r>
            <a:endParaRPr lang="ar-SA" sz="24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إن في خلق السماوات والأرض، وتعاقب الليل والنهار، والسفن التي تجري في البحر، والمطر الذي يحيي الأرض، وتصريف الرياح، والسحاب المسخّر، لدلائلَ على وحدانية الله لقوم يعقلون.</a:t>
            </a:r>
            <a:endParaRPr lang="ar-SA" sz="2400" dirty="0"/>
          </a:p>
        </p:txBody>
      </p:sp>
      <p:sp>
        <p:nvSpPr>
          <p:cNvPr id="10" name="Shape 8"/>
          <p:cNvSpPr/>
          <p:nvPr/>
        </p:nvSpPr>
        <p:spPr>
          <a:xfrm>
            <a:off x="731520" y="3996842"/>
            <a:ext cx="10728655" cy="2266798"/>
          </a:xfrm>
          <a:prstGeom prst="roundRect">
            <a:avLst>
              <a:gd name="adj" fmla="val 403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124858"/>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124858"/>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١٦٥</a:t>
            </a:r>
            <a:endParaRPr lang="ar-SA" sz="1200" dirty="0"/>
          </a:p>
        </p:txBody>
      </p:sp>
      <p:sp>
        <p:nvSpPr>
          <p:cNvPr id="13" name="Text 11"/>
          <p:cNvSpPr txBox="1"/>
          <p:nvPr/>
        </p:nvSpPr>
        <p:spPr>
          <a:xfrm>
            <a:off x="914400" y="4124858"/>
            <a:ext cx="9677095" cy="2010766"/>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وَمِنَ النَّاسِ مَن يَتَّخِذُ مِن دُونِ اللَّهِ أَندَادًا يُحِبُّونَهُمْ كَحُبِّ اللَّهِ وَالَّذِينَ ءَامَنُواْ أَشَدُّ حُبًّا لِّلَّهِ وَلَوْ يَرَى الَّذِينَ ظَلَمُواْ إِذْ يَرَوْنَ الْعَذَابَ أَنَّ الْقُوَّةَ لِلَّهِ جَمِيعًا وَأَنَّ اللَّهَ شَدِيدُ الْعَذَابِ</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ومن الناس من يتخذ من دون الله شركاء يحبونهم كحبّ الله، والمؤمنون أشدّ حبًّا لله، ولو يرى الظالمون حين يرون العذاب أن القوة لله جميعًا وأن الله شديد العذاب.</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الصبر والابتلاء ودلائل التوحيد</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١٦٦ – ١٦٧</a:t>
            </a:r>
            <a:endParaRPr lang="ar-SA" sz="1400" dirty="0"/>
          </a:p>
        </p:txBody>
      </p:sp>
      <p:sp>
        <p:nvSpPr>
          <p:cNvPr id="6" name="Shape 4"/>
          <p:cNvSpPr/>
          <p:nvPr/>
        </p:nvSpPr>
        <p:spPr>
          <a:xfrm>
            <a:off x="731520" y="186880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99682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9968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١٦٦</a:t>
            </a:r>
            <a:endParaRPr lang="ar-SA" sz="1200" dirty="0"/>
          </a:p>
        </p:txBody>
      </p:sp>
      <p:sp>
        <p:nvSpPr>
          <p:cNvPr id="9" name="Text 7"/>
          <p:cNvSpPr txBox="1"/>
          <p:nvPr/>
        </p:nvSpPr>
        <p:spPr>
          <a:xfrm>
            <a:off x="914400" y="199682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إِذْ تَبَرَّأَ الَّذِينَ اتُّبِعُواْ مِنَ الَّذِينَ اتَّبَعُواْ وَرَأَوُاْ الْعَذَابَ وَتَقَطَّعَتْ بِهِمُ الْأَسْبَابُ</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حين يتبرّأ الرؤساء المتبوعون من أتباعهم، ورأوا العذاب، وانقطعت بينهم الصلات.</a:t>
            </a:r>
            <a:endParaRPr lang="ar-SA" sz="2800" dirty="0"/>
          </a:p>
        </p:txBody>
      </p:sp>
      <p:sp>
        <p:nvSpPr>
          <p:cNvPr id="10" name="Shape 8"/>
          <p:cNvSpPr/>
          <p:nvPr/>
        </p:nvSpPr>
        <p:spPr>
          <a:xfrm>
            <a:off x="731520" y="3402711"/>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530727"/>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530727"/>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١٦٧</a:t>
            </a:r>
            <a:endParaRPr lang="ar-SA" sz="1200" dirty="0"/>
          </a:p>
        </p:txBody>
      </p:sp>
      <p:sp>
        <p:nvSpPr>
          <p:cNvPr id="13" name="Text 11"/>
          <p:cNvSpPr txBox="1"/>
          <p:nvPr/>
        </p:nvSpPr>
        <p:spPr>
          <a:xfrm>
            <a:off x="914400" y="3530727"/>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وَقَالَ الَّذِينَ اتَّبَعُواْ لَوْ أَنَّ لَنَا كَرَّةً فَنَتَبَرَّأَ مِنْهُمْ كَمَا تَبَرَّءُواْ مِنَّا كَذَٰلِكَ يُرِيهِمُ اللَّهُ أَعْمَٰلَهُمْ حَسَرَٰتٍ عَلَيْهِمْ وَمَا هُم بِخَٰرِجِينَ مِنَ النَّارِ</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وقال الأتباع: ليت لنا رجعة إلى الدنيا فنتبرّأ منهم كما تبرّؤوا منا، كذلك يريهم الله أعمالهم حسرات عليهم، وما هم بخارجين من النار.</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txBox="1"/>
          <p:nvPr/>
        </p:nvSpPr>
        <p:spPr>
          <a:xfrm>
            <a:off x="7223760" y="1143000"/>
            <a:ext cx="4114800" cy="411480"/>
          </a:xfrm>
          <a:prstGeom prst="rect">
            <a:avLst/>
          </a:prstGeom>
          <a:noFill/>
          <a:ln/>
        </p:spPr>
        <p:txBody>
          <a:bodyPr wrap="square" lIns="0" tIns="0" rIns="0" bIns="0" rtlCol="0" anchor="t"/>
          <a:lstStyle/>
          <a:p>
            <a:pPr rtl="1" algn="ctr" indent="0" marL="0">
              <a:buNone/>
            </a:pPr>
            <a:r>
              <a:rPr lang="ar-SA" altLang="en-US" sz="1800" b="1" dirty="0">
                <a:solidFill>
                  <a:schemeClr val="accent5"/>
                </a:solidFill>
              </a:rPr>
              <a:t>المقطع</a:t>
            </a:r>
            <a:endParaRPr lang="ar-SA" sz="1800" dirty="0"/>
          </a:p>
        </p:txBody>
      </p:sp>
      <p:sp>
        <p:nvSpPr>
          <p:cNvPr id="3" name="Shape 1"/>
          <p:cNvSpPr/>
          <p:nvPr/>
        </p:nvSpPr>
        <p:spPr>
          <a:xfrm>
            <a:off x="8915400" y="1645920"/>
            <a:ext cx="731520" cy="731520"/>
          </a:xfrm>
          <a:prstGeom prst="octagon">
            <a:avLst/>
          </a:prstGeom>
          <a:solidFill>
            <a:schemeClr val="accent2"/>
          </a:solidFill>
          <a:ln w="15875">
            <a:solidFill>
              <a:schemeClr val="accent5"/>
            </a:solidFill>
            <a:prstDash val="solid"/>
          </a:ln>
        </p:spPr>
      </p:sp>
      <p:sp>
        <p:nvSpPr>
          <p:cNvPr id="4" name="Text 2"/>
          <p:cNvSpPr txBox="1"/>
          <p:nvPr/>
        </p:nvSpPr>
        <p:spPr>
          <a:xfrm>
            <a:off x="8915400" y="164592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bg1"/>
                </a:solidFill>
                <a:latin typeface="Arial" pitchFamily="34" charset="0"/>
                <a:ea typeface="Arial" pitchFamily="34" charset="-122"/>
                <a:cs typeface="Arial" pitchFamily="34" charset="-120"/>
              </a:rPr>
              <a:t>١٢</a:t>
            </a:r>
            <a:endParaRPr lang="ar-SA" sz="1800" dirty="0"/>
          </a:p>
        </p:txBody>
      </p:sp>
      <p:sp>
        <p:nvSpPr>
          <p:cNvPr id="5" name="Text 3"/>
          <p:cNvSpPr txBox="1"/>
          <p:nvPr/>
        </p:nvSpPr>
        <p:spPr>
          <a:xfrm>
            <a:off x="7269480" y="2606040"/>
            <a:ext cx="4023360" cy="1737360"/>
          </a:xfrm>
          <a:prstGeom prst="rect">
            <a:avLst/>
          </a:prstGeom>
          <a:noFill/>
          <a:ln/>
        </p:spPr>
        <p:txBody>
          <a:bodyPr wrap="square" lIns="0" tIns="0" rIns="0" bIns="0" rtlCol="0" anchor="ctr"/>
          <a:lstStyle/>
          <a:p>
            <a:pPr rtl="1" algn="ctr" indent="0" marL="0">
              <a:buNone/>
            </a:pPr>
            <a:r>
              <a:rPr lang="ar-SA" altLang="en-US" sz="3800" b="1" dirty="0">
                <a:solidFill>
                  <a:schemeClr val="bg1"/>
                </a:solidFill>
                <a:latin typeface="Sakkal Majalla" pitchFamily="34" charset="0"/>
                <a:ea typeface="Sakkal Majalla" pitchFamily="34" charset="-122"/>
                <a:cs typeface="Sakkal Majalla" pitchFamily="34" charset="-120"/>
              </a:rPr>
              <a:t>الحلال والطيب، وحقيقة البر</a:t>
            </a:r>
            <a:endParaRPr lang="ar-SA" sz="3800" dirty="0"/>
          </a:p>
        </p:txBody>
      </p:sp>
      <p:sp>
        <p:nvSpPr>
          <p:cNvPr id="6" name="Text 4"/>
          <p:cNvSpPr txBox="1"/>
          <p:nvPr/>
        </p:nvSpPr>
        <p:spPr>
          <a:xfrm>
            <a:off x="7269480" y="4526280"/>
            <a:ext cx="4023360" cy="457200"/>
          </a:xfrm>
          <a:prstGeom prst="rect">
            <a:avLst/>
          </a:prstGeom>
          <a:noFill/>
          <a:ln/>
        </p:spPr>
        <p:txBody>
          <a:bodyPr wrap="square" lIns="0" tIns="0" rIns="0" bIns="0" rtlCol="0" anchor="t"/>
          <a:lstStyle/>
          <a:p>
            <a:pPr rtl="1" algn="ctr" indent="0" marL="0">
              <a:buNone/>
            </a:pPr>
            <a:r>
              <a:rPr lang="ar-SA" altLang="en-US" sz="2000" b="1" dirty="0">
                <a:solidFill>
                  <a:schemeClr val="accent5"/>
                </a:solidFill>
              </a:rPr>
              <a:t>الآيات ١٦٨ – ١٨٢</a:t>
            </a:r>
            <a:endParaRPr lang="ar-SA" sz="2000" dirty="0"/>
          </a:p>
        </p:txBody>
      </p:sp>
      <p:sp>
        <p:nvSpPr>
          <p:cNvPr id="7" name="Shape 5"/>
          <p:cNvSpPr/>
          <p:nvPr/>
        </p:nvSpPr>
        <p:spPr>
          <a:xfrm>
            <a:off x="685800" y="1783080"/>
            <a:ext cx="5806440" cy="3291840"/>
          </a:xfrm>
          <a:prstGeom prst="roundRect">
            <a:avLst>
              <a:gd name="adj" fmla="val 3333"/>
            </a:avLst>
          </a:prstGeom>
          <a:solidFill>
            <a:schemeClr val="bg2"/>
          </a:solidFill>
          <a:ln w="19050">
            <a:solidFill>
              <a:schemeClr val="accent5"/>
            </a:solidFill>
            <a:prstDash val="solid"/>
          </a:ln>
        </p:spPr>
      </p:sp>
      <p:sp>
        <p:nvSpPr>
          <p:cNvPr id="8" name="Shape 6"/>
          <p:cNvSpPr/>
          <p:nvPr/>
        </p:nvSpPr>
        <p:spPr>
          <a:xfrm>
            <a:off x="4343400" y="2011680"/>
            <a:ext cx="1920240" cy="420624"/>
          </a:xfrm>
          <a:prstGeom prst="roundRect">
            <a:avLst>
              <a:gd name="adj" fmla="val 50000"/>
            </a:avLst>
          </a:prstGeom>
          <a:solidFill>
            <a:schemeClr val="tx2"/>
          </a:solidFill>
          <a:ln/>
        </p:spPr>
      </p:sp>
      <p:sp>
        <p:nvSpPr>
          <p:cNvPr id="9" name="Text 7"/>
          <p:cNvSpPr txBox="1"/>
          <p:nvPr/>
        </p:nvSpPr>
        <p:spPr>
          <a:xfrm>
            <a:off x="4343400" y="201168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مقصد المقطع</a:t>
            </a:r>
            <a:endParaRPr lang="ar-SA" sz="1600" dirty="0"/>
          </a:p>
        </p:txBody>
      </p:sp>
      <p:sp>
        <p:nvSpPr>
          <p:cNvPr id="10" name="Text 8"/>
          <p:cNvSpPr txBox="1"/>
          <p:nvPr/>
        </p:nvSpPr>
        <p:spPr>
          <a:xfrm>
            <a:off x="960120" y="2560320"/>
            <a:ext cx="5257800" cy="23317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الأمر بأكل الحلال الطيب، والتحذير من كتمان العلم، وبيان حقيقة البرّ، وأحكام القصاص والوصية.</a:t>
            </a:r>
            <a:endParaRPr lang="ar-SA" sz="17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الحلال والطيب، وحقيقة البر</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١٦٨ – ١٦٩</a:t>
            </a:r>
            <a:endParaRPr lang="ar-SA" sz="1400" dirty="0"/>
          </a:p>
        </p:txBody>
      </p:sp>
      <p:sp>
        <p:nvSpPr>
          <p:cNvPr id="6" name="Shape 4"/>
          <p:cNvSpPr/>
          <p:nvPr/>
        </p:nvSpPr>
        <p:spPr>
          <a:xfrm>
            <a:off x="731520" y="2020367"/>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148383"/>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148383"/>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١٦٨</a:t>
            </a:r>
            <a:endParaRPr lang="ar-SA" sz="1200" dirty="0"/>
          </a:p>
        </p:txBody>
      </p:sp>
      <p:sp>
        <p:nvSpPr>
          <p:cNvPr id="9" name="Text 7"/>
          <p:cNvSpPr txBox="1"/>
          <p:nvPr/>
        </p:nvSpPr>
        <p:spPr>
          <a:xfrm>
            <a:off x="914400" y="2148383"/>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يَـٰأَيُّهَا النَّاسُ كُلُواْ مِمَّا فِي الْأَرْضِ حَلَٰلًا طَيِّبًا وَلَا تَتَّبِعُواْ خُطُوَٰتِ الشَّيْطَٰنِ إِنَّهُ لَكُمْ عَدُوٌّ مُّبِينٌ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يا أيها الناس، كلوا مما في الأرض حلالًا طيبًا، ولا تتّبعوا طرق الشيطان، إنه لكم عدوّ واضح.</a:t>
            </a:r>
            <a:endParaRPr lang="ar-SA" sz="2800" dirty="0"/>
          </a:p>
        </p:txBody>
      </p:sp>
      <p:sp>
        <p:nvSpPr>
          <p:cNvPr id="10" name="Shape 8"/>
          <p:cNvSpPr/>
          <p:nvPr/>
        </p:nvSpPr>
        <p:spPr>
          <a:xfrm>
            <a:off x="731520" y="4117543"/>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245559"/>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245559"/>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١٦٩</a:t>
            </a:r>
            <a:endParaRPr lang="ar-SA" sz="1200" dirty="0"/>
          </a:p>
        </p:txBody>
      </p:sp>
      <p:sp>
        <p:nvSpPr>
          <p:cNvPr id="13" name="Text 11"/>
          <p:cNvSpPr txBox="1"/>
          <p:nvPr/>
        </p:nvSpPr>
        <p:spPr>
          <a:xfrm>
            <a:off x="914400" y="4245559"/>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إِنَّمَا يَأْمُرُكُم بِالسُّوءِ وَالْفَحْشَآءِ وَأَن تَقُولُواْ عَلَى اللَّهِ مَا لَا تَعْلَمُونَ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إنما يأمركم بالشر والقبيح، وأن تقولوا على الله بغير علم.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الحلال والطيب، وحقيقة البر</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١٧٠ – ١٧١</a:t>
            </a:r>
            <a:endParaRPr lang="ar-SA" sz="1400" dirty="0"/>
          </a:p>
        </p:txBody>
      </p:sp>
      <p:sp>
        <p:nvSpPr>
          <p:cNvPr id="6" name="Shape 4"/>
          <p:cNvSpPr/>
          <p:nvPr/>
        </p:nvSpPr>
        <p:spPr>
          <a:xfrm>
            <a:off x="731520" y="1587170"/>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71518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71518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١٧٠</a:t>
            </a:r>
            <a:endParaRPr lang="ar-SA" sz="1200" dirty="0"/>
          </a:p>
        </p:txBody>
      </p:sp>
      <p:sp>
        <p:nvSpPr>
          <p:cNvPr id="9" name="Text 7"/>
          <p:cNvSpPr txBox="1"/>
          <p:nvPr/>
        </p:nvSpPr>
        <p:spPr>
          <a:xfrm>
            <a:off x="914400" y="1715186"/>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وَإِذَا قِيلَ لَهُمُ اتَّبِعُواْ مَآ أَنزَلَ اللَّهُ قَالُواْ بَلْ نَتَّبِعُ مَآ أَلْفَيْنَا عَلَيْهِ ءَابَآءَنَآ أَوَلَوْ كَانَ ءَابَآؤُهُمْ لَا يَعْقِلُونَ شَيْـًٔا وَلَا يَهْتَدُونَ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وإذا قيل للمشركين: اتّبعوا ما أنزل الله، قالوا: بل نتّبع ما وجدنا عليه آباءنا، أيتّبعونهم ولو كان آباؤهم لا يعقلون شيئًا ولا يهتدون؟</a:t>
            </a:r>
            <a:endParaRPr lang="ar-SA" sz="2800" dirty="0"/>
          </a:p>
        </p:txBody>
      </p:sp>
      <p:sp>
        <p:nvSpPr>
          <p:cNvPr id="10" name="Shape 8"/>
          <p:cNvSpPr/>
          <p:nvPr/>
        </p:nvSpPr>
        <p:spPr>
          <a:xfrm>
            <a:off x="731520" y="3987470"/>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115486"/>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11548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١٧١</a:t>
            </a:r>
            <a:endParaRPr lang="ar-SA" sz="1200" dirty="0"/>
          </a:p>
        </p:txBody>
      </p:sp>
      <p:sp>
        <p:nvSpPr>
          <p:cNvPr id="13" name="Text 11"/>
          <p:cNvSpPr txBox="1"/>
          <p:nvPr/>
        </p:nvSpPr>
        <p:spPr>
          <a:xfrm>
            <a:off x="914400" y="4115486"/>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وَمَثَلُ الَّذِينَ كَفَرُواْ كَمَثَلِ الَّذِي يَنْعِقُ بِمَا لَا يَسْمَعُ إِلَّا دُعَآءً وَنِدَآءً صُمٌّ بُكْمٌ عُمْيٌ فَهُمْ لَا يَعْقِلُونَ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ومثل الكفار في عدم فهمهم كمثل البهائم التي يصيح بها راعيها فلا تفهم إلا الصوت، صمٌّ بكمٌ عميٌ فهم لا يعقلون.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الحلال والطيب، وحقيقة البر</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١٧٢ – ١٧٣</a:t>
            </a:r>
            <a:endParaRPr lang="ar-SA" sz="1400" dirty="0"/>
          </a:p>
        </p:txBody>
      </p:sp>
      <p:sp>
        <p:nvSpPr>
          <p:cNvPr id="6" name="Shape 4"/>
          <p:cNvSpPr/>
          <p:nvPr/>
        </p:nvSpPr>
        <p:spPr>
          <a:xfrm>
            <a:off x="731520" y="186880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99682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9968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١٧٢</a:t>
            </a:r>
            <a:endParaRPr lang="ar-SA" sz="1200" dirty="0"/>
          </a:p>
        </p:txBody>
      </p:sp>
      <p:sp>
        <p:nvSpPr>
          <p:cNvPr id="9" name="Text 7"/>
          <p:cNvSpPr txBox="1"/>
          <p:nvPr/>
        </p:nvSpPr>
        <p:spPr>
          <a:xfrm>
            <a:off x="914400" y="199682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يَـٰأَيُّهَا الَّذِينَ ءَامَنُواْ كُلُواْ مِن طَيِّبَٰتِ مَا رَزَقْنَٰكُمْ وَاشْكُرُواْ لِلَّهِ إِن كُنتُمْ إِيَّاهُ تَعْبُدُونَ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يا أيها المؤمنون، كلوا من الطيبات التي رزقناكم، واشكروا الله إن كنتم تعبدونه وحده.</a:t>
            </a:r>
            <a:endParaRPr lang="ar-SA" sz="2800" dirty="0"/>
          </a:p>
        </p:txBody>
      </p:sp>
      <p:sp>
        <p:nvSpPr>
          <p:cNvPr id="10" name="Shape 8"/>
          <p:cNvSpPr/>
          <p:nvPr/>
        </p:nvSpPr>
        <p:spPr>
          <a:xfrm>
            <a:off x="731520" y="3402711"/>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530727"/>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530727"/>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١٧٣</a:t>
            </a:r>
            <a:endParaRPr lang="ar-SA" sz="1200" dirty="0"/>
          </a:p>
        </p:txBody>
      </p:sp>
      <p:sp>
        <p:nvSpPr>
          <p:cNvPr id="13" name="Text 11"/>
          <p:cNvSpPr txBox="1"/>
          <p:nvPr/>
        </p:nvSpPr>
        <p:spPr>
          <a:xfrm>
            <a:off x="914400" y="3530727"/>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إِنَّمَا حَرَّمَ عَلَيْكُمُ الْمَيْتَةَ وَالدَّمَ وَلَحْمَ الْخِنزِيرِ وَمَآ أُهِلَّ بِهِ لِغَيْرِ اللَّهِ فَمَنِ اضْطُرَّ غَيْرَ بَاغٍ وَلَا عَادٍ فَلَآ إِثْمَ عَلَيْهِ إِنَّ اللَّهَ غَفُورٌ رَّحِيمٌ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إنما حرّم عليكم الميتة، والدم، ولحم الخنزير، وما ذُبح لغير الله، فمن اضطُرّ إلى الأكل منها غير ظالم ولا متجاوز للحاجة فلا إثم عليه، إن الله غفور رحيم.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الحلال والطيب، وحقيقة البر</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١٧٤ – ١٧٦</a:t>
            </a:r>
            <a:endParaRPr lang="ar-SA" sz="1400" dirty="0"/>
          </a:p>
        </p:txBody>
      </p:sp>
      <p:sp>
        <p:nvSpPr>
          <p:cNvPr id="6" name="Shape 4"/>
          <p:cNvSpPr/>
          <p:nvPr/>
        </p:nvSpPr>
        <p:spPr>
          <a:xfrm>
            <a:off x="731520" y="1280160"/>
            <a:ext cx="10728655" cy="2153412"/>
          </a:xfrm>
          <a:prstGeom prst="roundRect">
            <a:avLst>
              <a:gd name="adj" fmla="val 4246"/>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0817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0817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١٧٤</a:t>
            </a:r>
            <a:endParaRPr lang="ar-SA" sz="1200" dirty="0"/>
          </a:p>
        </p:txBody>
      </p:sp>
      <p:sp>
        <p:nvSpPr>
          <p:cNvPr id="9" name="Text 7"/>
          <p:cNvSpPr txBox="1"/>
          <p:nvPr/>
        </p:nvSpPr>
        <p:spPr>
          <a:xfrm>
            <a:off x="914400" y="1408176"/>
            <a:ext cx="9677095" cy="1897380"/>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إِنَّ الَّذِينَ يَكْتُمُونَ مَآ أَنزَلَ اللَّهُ مِنَ الْكِتَٰبِ وَيَشْتَرُونَ بِهِ ثَمَنًا قَلِيلًا أُوْلَـٰئِكَ مَا يَأْكُلُونَ فِي بُطُونِهِمْ إِلَّا النَّارَ وَلَا يُكَلِّمُهُمُ اللَّهُ يَوْمَ الْقِيَٰمَةِ وَلَا يُزَكِّيهِمْ وَلَهُمْ عَذَابٌ أَلِيمٌ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إن الذين يُخفون ما أنزل الله من الكتاب ليأخذوا به شيئًا قليلًا من الدنيا، ما يأكلون في بطونهم إلا ما يوصلهم إلى النار، ولا يكلّمهم الله يوم القيامة ولا يطهّرهم، ولهم عذاب مؤلم.</a:t>
            </a:r>
            <a:endParaRPr lang="ar-SA" sz="2800" dirty="0"/>
          </a:p>
        </p:txBody>
      </p:sp>
      <p:sp>
        <p:nvSpPr>
          <p:cNvPr id="10" name="Shape 8"/>
          <p:cNvSpPr/>
          <p:nvPr/>
        </p:nvSpPr>
        <p:spPr>
          <a:xfrm>
            <a:off x="731520" y="3561588"/>
            <a:ext cx="10728655" cy="1287018"/>
          </a:xfrm>
          <a:prstGeom prst="roundRect">
            <a:avLst>
              <a:gd name="adj" fmla="val 710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68960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68960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١٧٥</a:t>
            </a:r>
            <a:endParaRPr lang="ar-SA" sz="1200" dirty="0"/>
          </a:p>
        </p:txBody>
      </p:sp>
      <p:sp>
        <p:nvSpPr>
          <p:cNvPr id="13" name="Text 11"/>
          <p:cNvSpPr txBox="1"/>
          <p:nvPr/>
        </p:nvSpPr>
        <p:spPr>
          <a:xfrm>
            <a:off x="914400" y="3689604"/>
            <a:ext cx="9677095" cy="1030986"/>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أُوْلَـٰئِكَ الَّذِينَ اشْتَرَوُاْ الضَّلَٰلَةَ بِالْهُدَىٰ وَالْعَذَابَ بِالْمَغْفِرَةِ فَمَآ أَصْبَرَهُمْ عَلَى النَّارِ</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أولئك الذين اختاروا الضلال على الهدى، والعذاب على المغفرة، فما أشدّ جرأتهم على عمل أهل النار!</a:t>
            </a:r>
            <a:endParaRPr lang="ar-SA" sz="2800" dirty="0"/>
          </a:p>
        </p:txBody>
      </p:sp>
      <p:sp>
        <p:nvSpPr>
          <p:cNvPr id="14" name="Shape 12"/>
          <p:cNvSpPr/>
          <p:nvPr/>
        </p:nvSpPr>
        <p:spPr>
          <a:xfrm>
            <a:off x="731520" y="4976622"/>
            <a:ext cx="10728655" cy="1287018"/>
          </a:xfrm>
          <a:prstGeom prst="roundRect">
            <a:avLst>
              <a:gd name="adj" fmla="val 710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5" name="Shape 13"/>
          <p:cNvSpPr/>
          <p:nvPr/>
        </p:nvSpPr>
        <p:spPr>
          <a:xfrm>
            <a:off x="10874959" y="5104638"/>
            <a:ext cx="475488" cy="475488"/>
          </a:xfrm>
          <a:prstGeom prst="octagon">
            <a:avLst/>
          </a:prstGeom>
          <a:solidFill>
            <a:schemeClr val="accent2"/>
          </a:solidFill>
          <a:ln w="15875">
            <a:solidFill>
              <a:schemeClr val="accent5"/>
            </a:solidFill>
            <a:prstDash val="solid"/>
          </a:ln>
        </p:spPr>
      </p:sp>
      <p:sp>
        <p:nvSpPr>
          <p:cNvPr id="16" name="Text 14"/>
          <p:cNvSpPr txBox="1"/>
          <p:nvPr/>
        </p:nvSpPr>
        <p:spPr>
          <a:xfrm>
            <a:off x="10874959" y="5104638"/>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١٧٦</a:t>
            </a:r>
            <a:endParaRPr lang="ar-SA" sz="1200" dirty="0"/>
          </a:p>
        </p:txBody>
      </p:sp>
      <p:sp>
        <p:nvSpPr>
          <p:cNvPr id="17" name="Text 15"/>
          <p:cNvSpPr txBox="1"/>
          <p:nvPr/>
        </p:nvSpPr>
        <p:spPr>
          <a:xfrm>
            <a:off x="914400" y="5104638"/>
            <a:ext cx="9677095" cy="1030986"/>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ذَٰلِكَ بِأَنَّ اللَّهَ نَزَّلَ الْكِتَٰبَ بِالْحَقِّ وَإِنَّ الَّذِينَ اخْتَلَفُواْ فِي الْكِتَٰبِ لَفِي شِقَاقٍ بَعِيدٍ</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ذلك العذاب لأن الله نزّل الكتاب بالحق فكفروا به، وإن الذين اختلفوا فيه لفي خلاف بعيد عن الحق.</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الحلال والطيب، وحقيقة البر</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١٧٧</a:t>
            </a:r>
            <a:endParaRPr lang="ar-SA" sz="1400" dirty="0"/>
          </a:p>
        </p:txBody>
      </p:sp>
      <p:sp>
        <p:nvSpPr>
          <p:cNvPr id="6" name="Shape 4"/>
          <p:cNvSpPr/>
          <p:nvPr/>
        </p:nvSpPr>
        <p:spPr>
          <a:xfrm>
            <a:off x="731520" y="2108606"/>
            <a:ext cx="10728655" cy="3326587"/>
          </a:xfrm>
          <a:prstGeom prst="roundRect">
            <a:avLst>
              <a:gd name="adj" fmla="val 2749"/>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236622"/>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236622"/>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١٧٧</a:t>
            </a:r>
            <a:endParaRPr lang="ar-SA" sz="1200" dirty="0"/>
          </a:p>
        </p:txBody>
      </p:sp>
      <p:sp>
        <p:nvSpPr>
          <p:cNvPr id="9" name="Text 7"/>
          <p:cNvSpPr txBox="1"/>
          <p:nvPr/>
        </p:nvSpPr>
        <p:spPr>
          <a:xfrm>
            <a:off x="914400" y="2236622"/>
            <a:ext cx="9677095" cy="3070555"/>
          </a:xfrm>
          <a:prstGeom prst="rect">
            <a:avLst/>
          </a:prstGeom>
          <a:noFill/>
          <a:ln/>
        </p:spPr>
        <p:txBody>
          <a:bodyPr wrap="square" lIns="0" tIns="0" rIns="0" bIns="0" rtlCol="0" anchor="ctr"/>
          <a:lstStyle/>
          <a:p>
            <a:pPr rtl="1" algn="r" indent="0" marL="0">
              <a:spcAft>
                <a:spcPts val="800"/>
              </a:spcAft>
              <a:buNone/>
            </a:pPr>
            <a:r>
              <a:rPr lang="ar-SA" altLang="en-US" sz="2400" b="1" dirty="0">
                <a:solidFill>
                  <a:schemeClr val="tx2"/>
                </a:solidFill>
                <a:latin typeface="Traditional Arabic" pitchFamily="34" charset="0"/>
                <a:ea typeface="Traditional Arabic" pitchFamily="34" charset="-122"/>
                <a:cs typeface="Traditional Arabic" pitchFamily="34" charset="-120"/>
              </a:rPr>
              <a:t>لَّيْسَ الْبِرَّ أَن تُوَلُّواْ وُجُوهَكُمْ قِبَلَ الْمَشْرِقِ وَالْمَغْرِبِ وَلَٰكِنَّ الْبِرَّ مَنْ ءَامَنَ بِاللَّهِ وَالْيَوْمِ الْأخِرِ وَالْمَلَـٰئِكَةِ وَالْكِتَٰبِ وَالنَّبِيِّـنَ وَءَاتَى الْمَالَ عَلَىٰ حُبِّهِ ذَوِي الْقُرْبَىٰ وَالْيَتَٰمَىٰ وَالْمَسَٰكِينَ وَابْنَ السَّبِيلِ وَالسَّآئِلِينَ وَفِي الرِّقَابِ وَأَقَامَ الصَّلَوٰةَ وَءَاتَى الزَّكَوٰةَ وَالْمُوفُونَ بِعَهْدِهِمْ إِذَا عَٰهَدُواْ وَالصَّـٰبِرِينَ فِي الْبَأْسَآءِ وَالضَّرَّآءِ وَحِينَ الْبَأْسِ أُوْلَـٰئِكَ الَّذِينَ صَدَقُواْ وَأُوْلَـٰئِكَ هُمُ الْمُتَّقُونَ</a:t>
            </a:r>
            <a:endParaRPr lang="ar-SA" sz="2400" dirty="0"/>
          </a:p>
          <a:p>
            <a:pPr rtl="1" algn="r" indent="0" marL="0">
              <a:buNone/>
            </a:pPr>
            <a:r>
              <a:rPr lang="ar-SA" altLang="en-US" sz="1600" dirty="0">
                <a:solidFill>
                  <a:schemeClr val="tx1"/>
                </a:solidFill>
                <a:latin typeface="Arial" pitchFamily="34" charset="0"/>
                <a:ea typeface="Arial" pitchFamily="34" charset="-122"/>
                <a:cs typeface="Arial" pitchFamily="34" charset="-120"/>
              </a:rPr>
              <a:t>ليس الخير كله في التوجّه إلى المشرق أو المغرب، ولكن الخير: الإيمان بالله واليوم الآخر والملائكة والكتب والنبيين، وإعطاء المال مع حبه للأقارب واليتامى والمساكين والمحتاجين، وإقامة الصلاة وإيتاء الزكاة، والوفاء بالعهد، والصبر في الشدائد، أولئك هم الصادقون المتقون.</a:t>
            </a:r>
            <a:endParaRPr lang="ar-SA" sz="24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الحلال والطيب، وحقيقة البر</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١٧٨ – ١٧٩</a:t>
            </a:r>
            <a:endParaRPr lang="ar-SA" sz="1400" dirty="0"/>
          </a:p>
        </p:txBody>
      </p:sp>
      <p:sp>
        <p:nvSpPr>
          <p:cNvPr id="6" name="Shape 4"/>
          <p:cNvSpPr/>
          <p:nvPr/>
        </p:nvSpPr>
        <p:spPr>
          <a:xfrm>
            <a:off x="731520" y="1587170"/>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71518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71518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١٧٨</a:t>
            </a:r>
            <a:endParaRPr lang="ar-SA" sz="1200" dirty="0"/>
          </a:p>
        </p:txBody>
      </p:sp>
      <p:sp>
        <p:nvSpPr>
          <p:cNvPr id="9" name="Text 7"/>
          <p:cNvSpPr txBox="1"/>
          <p:nvPr/>
        </p:nvSpPr>
        <p:spPr>
          <a:xfrm>
            <a:off x="914400" y="1715186"/>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يَـٰأَيُّهَا الَّذِينَ ءَامَنُواْ كُتِبَ عَلَيْكُمُ الْقِصَاصُ فِي الْقَتْلَى الْحُرُّ بِالْحُرِّ وَالْعَبْدُ بِالْعَبْدِ وَالْأُنثَىٰ بِالْأُنثَىٰ فَمَنْ عُفِيَ لَهُ مِنْ أَخِيهِ شَيْءٌ فَاتِّبَاعٌ بِالْمَعْرُوفِ وَأَدَآءٌ إِلَيْهِ بِإِحْسَٰنٍ ذَٰلِكَ تَخْفِيفٌ مِّن رَّبِّكُمْ وَرَحْمَةٌ فَمَنِ اعْتَدَىٰ بَعْدَ ذَٰلِكَ فَلَهُ عَذَابٌ أَلِيمٌ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يا أيها المؤمنون، فُرض عليكم القصاص في القتل العمد بالعدل، فمن عفا عنه أولياء المقتول وقبلوا الدية فليطالبوا بالمعروف، وليؤدّها القاتل بإحسان، ذلك تخفيف من ربكم ورحمة.</a:t>
            </a:r>
            <a:endParaRPr lang="ar-SA" sz="2800" dirty="0"/>
          </a:p>
        </p:txBody>
      </p:sp>
      <p:sp>
        <p:nvSpPr>
          <p:cNvPr id="10" name="Shape 8"/>
          <p:cNvSpPr/>
          <p:nvPr/>
        </p:nvSpPr>
        <p:spPr>
          <a:xfrm>
            <a:off x="731520" y="4550740"/>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678756"/>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67875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١٧٩</a:t>
            </a:r>
            <a:endParaRPr lang="ar-SA" sz="1200" dirty="0"/>
          </a:p>
        </p:txBody>
      </p:sp>
      <p:sp>
        <p:nvSpPr>
          <p:cNvPr id="13" name="Text 11"/>
          <p:cNvSpPr txBox="1"/>
          <p:nvPr/>
        </p:nvSpPr>
        <p:spPr>
          <a:xfrm>
            <a:off x="914400" y="4678756"/>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وَلَكُمْ فِي الْقِصَاصِ حَيَوٰةٌ يَـٰأُوْلِي الْأَلْبَٰبِ لَعَلَّكُمْ تَتَّقُونَ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ولكم في القصاص حياة؛ لأنه يمنع الناس من القتل، يا أصحاب العقول لعلكم تتقون.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الحلال والطيب، وحقيقة البر</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١٨٠ – ١٨٢</a:t>
            </a:r>
            <a:endParaRPr lang="ar-SA" sz="1400" dirty="0"/>
          </a:p>
        </p:txBody>
      </p:sp>
      <p:sp>
        <p:nvSpPr>
          <p:cNvPr id="6" name="Shape 4"/>
          <p:cNvSpPr/>
          <p:nvPr/>
        </p:nvSpPr>
        <p:spPr>
          <a:xfrm>
            <a:off x="731520" y="1280160"/>
            <a:ext cx="10728655" cy="2153412"/>
          </a:xfrm>
          <a:prstGeom prst="roundRect">
            <a:avLst>
              <a:gd name="adj" fmla="val 4246"/>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0817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0817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١٨٠</a:t>
            </a:r>
            <a:endParaRPr lang="ar-SA" sz="1200" dirty="0"/>
          </a:p>
        </p:txBody>
      </p:sp>
      <p:sp>
        <p:nvSpPr>
          <p:cNvPr id="9" name="Text 7"/>
          <p:cNvSpPr txBox="1"/>
          <p:nvPr/>
        </p:nvSpPr>
        <p:spPr>
          <a:xfrm>
            <a:off x="914400" y="1408176"/>
            <a:ext cx="9677095" cy="1897380"/>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كُتِبَ عَلَيْكُمْ إِذَا حَضَرَ أَحَدَكُمُ الْمَوْتُ إِن تَرَكَ خَيْرًا الْوَصِيَّةُ لِلْوَٰلِدَيْنِ وَالْأَقْرَبِينَ بِالْمَعْرُوفِ حَقًّا عَلَى الْمُتَّقِينَ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فُرض عليكم إذا حضر أحدكم الموت وترك مالًا كثيرًا أن يوصي للوالدين والأقارب بالعدل. وقد نُسخ ذلك بآيات المواريث، فصارت الوصية لغير الوارثين.</a:t>
            </a:r>
            <a:endParaRPr lang="ar-SA" sz="2800" dirty="0"/>
          </a:p>
        </p:txBody>
      </p:sp>
      <p:sp>
        <p:nvSpPr>
          <p:cNvPr id="10" name="Shape 8"/>
          <p:cNvSpPr/>
          <p:nvPr/>
        </p:nvSpPr>
        <p:spPr>
          <a:xfrm>
            <a:off x="731520" y="3561588"/>
            <a:ext cx="10728655" cy="1287018"/>
          </a:xfrm>
          <a:prstGeom prst="roundRect">
            <a:avLst>
              <a:gd name="adj" fmla="val 710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68960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68960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١٨١</a:t>
            </a:r>
            <a:endParaRPr lang="ar-SA" sz="1200" dirty="0"/>
          </a:p>
        </p:txBody>
      </p:sp>
      <p:sp>
        <p:nvSpPr>
          <p:cNvPr id="13" name="Text 11"/>
          <p:cNvSpPr txBox="1"/>
          <p:nvPr/>
        </p:nvSpPr>
        <p:spPr>
          <a:xfrm>
            <a:off x="914400" y="3689604"/>
            <a:ext cx="9677095" cy="1030986"/>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فَمَن بَدَّلَهُ بَعْدَ مَا سَمِعَهُ فَإِنَّمَآ إِثْمُهُ عَلَى الَّذِينَ يُبَدِّلُونَهُ إِنَّ اللَّهَ سَمِيعٌ عَلِيمٌ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فمن غيّر الوصية بعد ما سمعها فإنما الإثم على من غيّرها، إن الله سميع عليم.</a:t>
            </a:r>
            <a:endParaRPr lang="ar-SA" sz="2800" dirty="0"/>
          </a:p>
        </p:txBody>
      </p:sp>
      <p:sp>
        <p:nvSpPr>
          <p:cNvPr id="14" name="Shape 12"/>
          <p:cNvSpPr/>
          <p:nvPr/>
        </p:nvSpPr>
        <p:spPr>
          <a:xfrm>
            <a:off x="731520" y="4976622"/>
            <a:ext cx="10728655" cy="1287018"/>
          </a:xfrm>
          <a:prstGeom prst="roundRect">
            <a:avLst>
              <a:gd name="adj" fmla="val 710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5" name="Shape 13"/>
          <p:cNvSpPr/>
          <p:nvPr/>
        </p:nvSpPr>
        <p:spPr>
          <a:xfrm>
            <a:off x="10874959" y="5104638"/>
            <a:ext cx="475488" cy="475488"/>
          </a:xfrm>
          <a:prstGeom prst="octagon">
            <a:avLst/>
          </a:prstGeom>
          <a:solidFill>
            <a:schemeClr val="accent2"/>
          </a:solidFill>
          <a:ln w="15875">
            <a:solidFill>
              <a:schemeClr val="accent5"/>
            </a:solidFill>
            <a:prstDash val="solid"/>
          </a:ln>
        </p:spPr>
      </p:sp>
      <p:sp>
        <p:nvSpPr>
          <p:cNvPr id="16" name="Text 14"/>
          <p:cNvSpPr txBox="1"/>
          <p:nvPr/>
        </p:nvSpPr>
        <p:spPr>
          <a:xfrm>
            <a:off x="10874959" y="5104638"/>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١٨٢</a:t>
            </a:r>
            <a:endParaRPr lang="ar-SA" sz="1200" dirty="0"/>
          </a:p>
        </p:txBody>
      </p:sp>
      <p:sp>
        <p:nvSpPr>
          <p:cNvPr id="17" name="Text 15"/>
          <p:cNvSpPr txBox="1"/>
          <p:nvPr/>
        </p:nvSpPr>
        <p:spPr>
          <a:xfrm>
            <a:off x="914400" y="5104638"/>
            <a:ext cx="9677095" cy="1030986"/>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فَمَنْ خَافَ مِن مُّوصٍ جَنَفًا أَوْ إِثْمًا فَأَصْلَحَ بَيْنَهُمْ فَلَآ إِثْمَ عَلَيْهِ إِنَّ اللَّهَ غَفُورٌ رَّحِيمٌ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فمن علم أن الموصي ظلم في وصيته أو أخطأ، فأصلح بين الورثة، فلا إثم عليه، إن الله غفور رحيم.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txBox="1"/>
          <p:nvPr/>
        </p:nvSpPr>
        <p:spPr>
          <a:xfrm>
            <a:off x="7223760" y="1143000"/>
            <a:ext cx="4114800" cy="411480"/>
          </a:xfrm>
          <a:prstGeom prst="rect">
            <a:avLst/>
          </a:prstGeom>
          <a:noFill/>
          <a:ln/>
        </p:spPr>
        <p:txBody>
          <a:bodyPr wrap="square" lIns="0" tIns="0" rIns="0" bIns="0" rtlCol="0" anchor="t"/>
          <a:lstStyle/>
          <a:p>
            <a:pPr rtl="1" algn="ctr" indent="0" marL="0">
              <a:buNone/>
            </a:pPr>
            <a:r>
              <a:rPr lang="ar-SA" altLang="en-US" sz="1800" b="1" dirty="0">
                <a:solidFill>
                  <a:schemeClr val="accent5"/>
                </a:solidFill>
              </a:rPr>
              <a:t>المقطع</a:t>
            </a:r>
            <a:endParaRPr lang="ar-SA" sz="1800" dirty="0"/>
          </a:p>
        </p:txBody>
      </p:sp>
      <p:sp>
        <p:nvSpPr>
          <p:cNvPr id="3" name="Shape 1"/>
          <p:cNvSpPr/>
          <p:nvPr/>
        </p:nvSpPr>
        <p:spPr>
          <a:xfrm>
            <a:off x="8915400" y="1645920"/>
            <a:ext cx="731520" cy="731520"/>
          </a:xfrm>
          <a:prstGeom prst="octagon">
            <a:avLst/>
          </a:prstGeom>
          <a:solidFill>
            <a:schemeClr val="accent2"/>
          </a:solidFill>
          <a:ln w="15875">
            <a:solidFill>
              <a:schemeClr val="accent5"/>
            </a:solidFill>
            <a:prstDash val="solid"/>
          </a:ln>
        </p:spPr>
      </p:sp>
      <p:sp>
        <p:nvSpPr>
          <p:cNvPr id="4" name="Text 2"/>
          <p:cNvSpPr txBox="1"/>
          <p:nvPr/>
        </p:nvSpPr>
        <p:spPr>
          <a:xfrm>
            <a:off x="8915400" y="164592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bg1"/>
                </a:solidFill>
                <a:latin typeface="Arial" pitchFamily="34" charset="0"/>
                <a:ea typeface="Arial" pitchFamily="34" charset="-122"/>
                <a:cs typeface="Arial" pitchFamily="34" charset="-120"/>
              </a:rPr>
              <a:t>١٣</a:t>
            </a:r>
            <a:endParaRPr lang="ar-SA" sz="1800" dirty="0"/>
          </a:p>
        </p:txBody>
      </p:sp>
      <p:sp>
        <p:nvSpPr>
          <p:cNvPr id="5" name="Text 3"/>
          <p:cNvSpPr txBox="1"/>
          <p:nvPr/>
        </p:nvSpPr>
        <p:spPr>
          <a:xfrm>
            <a:off x="7269480" y="2606040"/>
            <a:ext cx="4023360" cy="1737360"/>
          </a:xfrm>
          <a:prstGeom prst="rect">
            <a:avLst/>
          </a:prstGeom>
          <a:noFill/>
          <a:ln/>
        </p:spPr>
        <p:txBody>
          <a:bodyPr wrap="square" lIns="0" tIns="0" rIns="0" bIns="0" rtlCol="0" anchor="ctr"/>
          <a:lstStyle/>
          <a:p>
            <a:pPr rtl="1" algn="ctr" indent="0" marL="0">
              <a:buNone/>
            </a:pPr>
            <a:r>
              <a:rPr lang="ar-SA" altLang="en-US" sz="3800" b="1" dirty="0">
                <a:solidFill>
                  <a:schemeClr val="bg1"/>
                </a:solidFill>
                <a:latin typeface="Sakkal Majalla" pitchFamily="34" charset="0"/>
                <a:ea typeface="Sakkal Majalla" pitchFamily="34" charset="-122"/>
                <a:cs typeface="Sakkal Majalla" pitchFamily="34" charset="-120"/>
              </a:rPr>
              <a:t>الصيام</a:t>
            </a:r>
            <a:endParaRPr lang="ar-SA" sz="3800" dirty="0"/>
          </a:p>
        </p:txBody>
      </p:sp>
      <p:sp>
        <p:nvSpPr>
          <p:cNvPr id="6" name="Text 4"/>
          <p:cNvSpPr txBox="1"/>
          <p:nvPr/>
        </p:nvSpPr>
        <p:spPr>
          <a:xfrm>
            <a:off x="7269480" y="4526280"/>
            <a:ext cx="4023360" cy="457200"/>
          </a:xfrm>
          <a:prstGeom prst="rect">
            <a:avLst/>
          </a:prstGeom>
          <a:noFill/>
          <a:ln/>
        </p:spPr>
        <p:txBody>
          <a:bodyPr wrap="square" lIns="0" tIns="0" rIns="0" bIns="0" rtlCol="0" anchor="t"/>
          <a:lstStyle/>
          <a:p>
            <a:pPr rtl="1" algn="ctr" indent="0" marL="0">
              <a:buNone/>
            </a:pPr>
            <a:r>
              <a:rPr lang="ar-SA" altLang="en-US" sz="2000" b="1" dirty="0">
                <a:solidFill>
                  <a:schemeClr val="accent5"/>
                </a:solidFill>
              </a:rPr>
              <a:t>الآيات ١٨٣ – ١٨٨</a:t>
            </a:r>
            <a:endParaRPr lang="ar-SA" sz="2000" dirty="0"/>
          </a:p>
        </p:txBody>
      </p:sp>
      <p:sp>
        <p:nvSpPr>
          <p:cNvPr id="7" name="Shape 5"/>
          <p:cNvSpPr/>
          <p:nvPr/>
        </p:nvSpPr>
        <p:spPr>
          <a:xfrm>
            <a:off x="685800" y="685800"/>
            <a:ext cx="5806440" cy="2606040"/>
          </a:xfrm>
          <a:prstGeom prst="roundRect">
            <a:avLst>
              <a:gd name="adj" fmla="val 4211"/>
            </a:avLst>
          </a:prstGeom>
          <a:solidFill>
            <a:schemeClr val="bg2"/>
          </a:solidFill>
          <a:ln w="19050">
            <a:solidFill>
              <a:schemeClr val="accent5"/>
            </a:solidFill>
            <a:prstDash val="solid"/>
          </a:ln>
        </p:spPr>
      </p:sp>
      <p:sp>
        <p:nvSpPr>
          <p:cNvPr id="8" name="Shape 6"/>
          <p:cNvSpPr/>
          <p:nvPr/>
        </p:nvSpPr>
        <p:spPr>
          <a:xfrm>
            <a:off x="4343400" y="914400"/>
            <a:ext cx="1920240" cy="420624"/>
          </a:xfrm>
          <a:prstGeom prst="roundRect">
            <a:avLst>
              <a:gd name="adj" fmla="val 50000"/>
            </a:avLst>
          </a:prstGeom>
          <a:solidFill>
            <a:schemeClr val="accent2"/>
          </a:solidFill>
          <a:ln/>
        </p:spPr>
      </p:sp>
      <p:sp>
        <p:nvSpPr>
          <p:cNvPr id="9" name="Text 7"/>
          <p:cNvSpPr txBox="1"/>
          <p:nvPr/>
        </p:nvSpPr>
        <p:spPr>
          <a:xfrm>
            <a:off x="4343400" y="91440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سبب النزول</a:t>
            </a:r>
            <a:endParaRPr lang="ar-SA" sz="1600" dirty="0"/>
          </a:p>
        </p:txBody>
      </p:sp>
      <p:sp>
        <p:nvSpPr>
          <p:cNvPr id="10" name="Text 8"/>
          <p:cNvSpPr txBox="1"/>
          <p:nvPr/>
        </p:nvSpPr>
        <p:spPr>
          <a:xfrm>
            <a:off x="960120" y="1463040"/>
            <a:ext cx="5257800" cy="16459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قال البراء بن عازب: كان الصحابي إذا نام قبل أن يُفطر لم يأكل حتى الليلة التالية، فنام قيس بن صِرمة الأنصاري قبل أن يأكل، فغُشي عليه في النهار من التعب، فنزلت: ﴿أُحلّ لكم ليلة الصيام...﴾ إلى قوله: ﴿وكلوا واشربوا﴾ (رواه البخاري).</a:t>
            </a:r>
            <a:endParaRPr lang="ar-SA" sz="1700" dirty="0"/>
          </a:p>
        </p:txBody>
      </p:sp>
      <p:sp>
        <p:nvSpPr>
          <p:cNvPr id="11" name="Shape 9"/>
          <p:cNvSpPr/>
          <p:nvPr/>
        </p:nvSpPr>
        <p:spPr>
          <a:xfrm>
            <a:off x="685800" y="3566160"/>
            <a:ext cx="5806440" cy="2606040"/>
          </a:xfrm>
          <a:prstGeom prst="roundRect">
            <a:avLst>
              <a:gd name="adj" fmla="val 4211"/>
            </a:avLst>
          </a:prstGeom>
          <a:solidFill>
            <a:schemeClr val="bg2"/>
          </a:solidFill>
          <a:ln w="19050">
            <a:solidFill>
              <a:schemeClr val="accent5"/>
            </a:solidFill>
            <a:prstDash val="solid"/>
          </a:ln>
        </p:spPr>
      </p:sp>
      <p:sp>
        <p:nvSpPr>
          <p:cNvPr id="12" name="Shape 10"/>
          <p:cNvSpPr/>
          <p:nvPr/>
        </p:nvSpPr>
        <p:spPr>
          <a:xfrm>
            <a:off x="4343400" y="3794760"/>
            <a:ext cx="1920240" cy="420624"/>
          </a:xfrm>
          <a:prstGeom prst="roundRect">
            <a:avLst>
              <a:gd name="adj" fmla="val 50000"/>
            </a:avLst>
          </a:prstGeom>
          <a:solidFill>
            <a:schemeClr val="tx2"/>
          </a:solidFill>
          <a:ln/>
        </p:spPr>
      </p:sp>
      <p:sp>
        <p:nvSpPr>
          <p:cNvPr id="13" name="Text 11"/>
          <p:cNvSpPr txBox="1"/>
          <p:nvPr/>
        </p:nvSpPr>
        <p:spPr>
          <a:xfrm>
            <a:off x="4343400" y="379476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مقصد المقطع</a:t>
            </a:r>
            <a:endParaRPr lang="ar-SA" sz="1600" dirty="0"/>
          </a:p>
        </p:txBody>
      </p:sp>
      <p:sp>
        <p:nvSpPr>
          <p:cNvPr id="14" name="Text 12"/>
          <p:cNvSpPr txBox="1"/>
          <p:nvPr/>
        </p:nvSpPr>
        <p:spPr>
          <a:xfrm>
            <a:off x="960120" y="4343400"/>
            <a:ext cx="5257800" cy="16459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فرض صيام رمضان وأحكامه، والتيسير على المريض والمسافر، وقرب الله من عباده واستجابته للدعاء.</a:t>
            </a:r>
            <a:endParaRPr lang="ar-SA" sz="17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الصيام</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١٨٣ – ١٨٤</a:t>
            </a:r>
            <a:endParaRPr lang="ar-SA" sz="1400" dirty="0"/>
          </a:p>
        </p:txBody>
      </p:sp>
      <p:sp>
        <p:nvSpPr>
          <p:cNvPr id="6" name="Shape 4"/>
          <p:cNvSpPr/>
          <p:nvPr/>
        </p:nvSpPr>
        <p:spPr>
          <a:xfrm>
            <a:off x="731520" y="1587170"/>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71518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71518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١٨٣</a:t>
            </a:r>
            <a:endParaRPr lang="ar-SA" sz="1200" dirty="0"/>
          </a:p>
        </p:txBody>
      </p:sp>
      <p:sp>
        <p:nvSpPr>
          <p:cNvPr id="9" name="Text 7"/>
          <p:cNvSpPr txBox="1"/>
          <p:nvPr/>
        </p:nvSpPr>
        <p:spPr>
          <a:xfrm>
            <a:off x="914400" y="1715186"/>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يَـٰأَيُّهَا الَّذِينَ ءَامَنُواْ كُتِبَ عَلَيْكُمُ الصِّيَامُ كَمَا كُتِبَ عَلَى الَّذِينَ مِن قَبْلِكُمْ لَعَلَّكُمْ تَتَّقُونَ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يا أيها المؤمنون، فُرض عليكم الصيام كما فُرض على الأمم قبلكم، لعلكم تتقون الله.</a:t>
            </a:r>
            <a:endParaRPr lang="ar-SA" sz="2800" dirty="0"/>
          </a:p>
        </p:txBody>
      </p:sp>
      <p:sp>
        <p:nvSpPr>
          <p:cNvPr id="10" name="Shape 8"/>
          <p:cNvSpPr/>
          <p:nvPr/>
        </p:nvSpPr>
        <p:spPr>
          <a:xfrm>
            <a:off x="731520" y="3121076"/>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249092"/>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249092"/>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١٨٤</a:t>
            </a:r>
            <a:endParaRPr lang="ar-SA" sz="1200" dirty="0"/>
          </a:p>
        </p:txBody>
      </p:sp>
      <p:sp>
        <p:nvSpPr>
          <p:cNvPr id="13" name="Text 11"/>
          <p:cNvSpPr txBox="1"/>
          <p:nvPr/>
        </p:nvSpPr>
        <p:spPr>
          <a:xfrm>
            <a:off x="914400" y="3249092"/>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أَيَّامًا مَّعْدُودَٰتٍ فَمَن كَانَ مِنكُم مَّرِيضًا أَوْ عَلَىٰ سَفَرٍ فَعِدَّةٌ مِّنْ أَيَّامٍ أُخَرَ وَعَلَى الَّذِينَ يُطِيقُونَهُ فِدْيَةٌ طَعَامُ مِسْكِينٍ فَمَن تَطَوَّعَ خَيْرًا فَهُوَ خَيْرٌ لَّهُ وَأَن تَصُومُواْ خَيْرٌ لَّكُمْ إِن كُنتُمْ تَعْلَمُونَ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أيامًا قليلة معدودة، فمن كان مريضًا أو مسافرًا فأفطر فليقضِ أيامًا أخرى، وعلى الذين يستطيعونه بمشقة شديدة كالشيخ الكبير فديةٌ: إطعام مسكين عن كل يوم، وأن تصوموا خير لكم.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الصيام</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١٨٥ – ١٨٦</a:t>
            </a:r>
            <a:endParaRPr lang="ar-SA" sz="1400" dirty="0"/>
          </a:p>
        </p:txBody>
      </p:sp>
      <p:sp>
        <p:nvSpPr>
          <p:cNvPr id="6" name="Shape 4"/>
          <p:cNvSpPr/>
          <p:nvPr/>
        </p:nvSpPr>
        <p:spPr>
          <a:xfrm>
            <a:off x="731520" y="1426235"/>
            <a:ext cx="10728655" cy="2594153"/>
          </a:xfrm>
          <a:prstGeom prst="roundRect">
            <a:avLst>
              <a:gd name="adj" fmla="val 35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55425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55425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١٨٥</a:t>
            </a:r>
            <a:endParaRPr lang="ar-SA" sz="1200" dirty="0"/>
          </a:p>
        </p:txBody>
      </p:sp>
      <p:sp>
        <p:nvSpPr>
          <p:cNvPr id="9" name="Text 7"/>
          <p:cNvSpPr txBox="1"/>
          <p:nvPr/>
        </p:nvSpPr>
        <p:spPr>
          <a:xfrm>
            <a:off x="914400" y="1554251"/>
            <a:ext cx="9677095" cy="2338121"/>
          </a:xfrm>
          <a:prstGeom prst="rect">
            <a:avLst/>
          </a:prstGeom>
          <a:noFill/>
          <a:ln/>
        </p:spPr>
        <p:txBody>
          <a:bodyPr wrap="square" lIns="0" tIns="0" rIns="0" bIns="0" rtlCol="0" anchor="ctr"/>
          <a:lstStyle/>
          <a:p>
            <a:pPr rtl="1" algn="r" indent="0" marL="0">
              <a:spcAft>
                <a:spcPts val="800"/>
              </a:spcAft>
              <a:buNone/>
            </a:pPr>
            <a:r>
              <a:rPr lang="ar-SA" altLang="en-US" sz="2400" b="1" dirty="0">
                <a:solidFill>
                  <a:schemeClr val="tx2"/>
                </a:solidFill>
                <a:latin typeface="Traditional Arabic" pitchFamily="34" charset="0"/>
                <a:ea typeface="Traditional Arabic" pitchFamily="34" charset="-122"/>
                <a:cs typeface="Traditional Arabic" pitchFamily="34" charset="-120"/>
              </a:rPr>
              <a:t>شَهْرُ رَمَضَانَ الَّذِي أُنزِلَ فِيهِ الْقُرْءَانُ هُدًى لِّلنَّاسِ وَبَيِّنَٰتٍ مِّنَ الْهُدَىٰ وَالْفُرْقَانِ فَمَن شَهِدَ مِنكُمُ الشَّهْرَ فَلْيَصُمْهُ وَمَن كَانَ مَرِيضًا أَوْ عَلَىٰ سَفَرٍ فَعِدَّةٌ مِّنْ أَيَّامٍ أُخَرَ يُرِيدُ اللَّهُ بِكُمُ الْيُسْرَ وَلَا يُرِيدُ بِكُمُ الْعُسْرَ وَلِتُكْمِلُواْ الْعِدَّةَ وَلِتُكَبِّرُواْ اللَّهَ عَلَىٰ مَا هَدَىٰكُمْ وَلَعَلَّكُمْ تَشْكُرُونَ</a:t>
            </a:r>
            <a:endParaRPr lang="ar-SA" sz="24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شهر رمضان الذي أُنزل فيه القرآن هدايةً للناس، فمن حضر الشهر فليصمه، ومن كان مريضًا أو مسافرًا فليقضِ، يريد الله بكم اليسر ولا يريد بكم العسر، ولتكبّروا الله على ما هداكم ولعلكم تشكرون.</a:t>
            </a:r>
            <a:endParaRPr lang="ar-SA" sz="2400" dirty="0"/>
          </a:p>
        </p:txBody>
      </p:sp>
      <p:sp>
        <p:nvSpPr>
          <p:cNvPr id="10" name="Shape 8"/>
          <p:cNvSpPr/>
          <p:nvPr/>
        </p:nvSpPr>
        <p:spPr>
          <a:xfrm>
            <a:off x="731520" y="4148404"/>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276420"/>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276420"/>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١٨٦</a:t>
            </a:r>
            <a:endParaRPr lang="ar-SA" sz="1200" dirty="0"/>
          </a:p>
        </p:txBody>
      </p:sp>
      <p:sp>
        <p:nvSpPr>
          <p:cNvPr id="13" name="Text 11"/>
          <p:cNvSpPr txBox="1"/>
          <p:nvPr/>
        </p:nvSpPr>
        <p:spPr>
          <a:xfrm>
            <a:off x="914400" y="4276420"/>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وَإِذَا سَأَلَكَ عِبَادِي عَنِّي فَإِنِّي قَرِيبٌ أُجِيبُ دَعْوَةَ الدَّاعِ إِذَا دَعَانِ فَلْيَسْتَجِيبُواْ لِي وَلْيُؤْمِنُواْ بِي لَعَلَّهُمْ يَرْشُدُونَ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وإذا سألك عبادي عني فإني قريب منهم، أجيب دعوة الداعي إذا دعاني، فليستجيبوا لي وليؤمنوا بي لعلهم يهتدون.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الصيام</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١٨٧</a:t>
            </a:r>
            <a:endParaRPr lang="ar-SA" sz="1400" dirty="0"/>
          </a:p>
        </p:txBody>
      </p:sp>
      <p:sp>
        <p:nvSpPr>
          <p:cNvPr id="6" name="Shape 4"/>
          <p:cNvSpPr/>
          <p:nvPr/>
        </p:nvSpPr>
        <p:spPr>
          <a:xfrm>
            <a:off x="731520" y="1992020"/>
            <a:ext cx="10728655" cy="3559759"/>
          </a:xfrm>
          <a:prstGeom prst="roundRect">
            <a:avLst>
              <a:gd name="adj" fmla="val 2569"/>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12003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12003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١٨٧</a:t>
            </a:r>
            <a:endParaRPr lang="ar-SA" sz="1200" dirty="0"/>
          </a:p>
        </p:txBody>
      </p:sp>
      <p:sp>
        <p:nvSpPr>
          <p:cNvPr id="9" name="Text 7"/>
          <p:cNvSpPr txBox="1"/>
          <p:nvPr/>
        </p:nvSpPr>
        <p:spPr>
          <a:xfrm>
            <a:off x="914400" y="2120036"/>
            <a:ext cx="9677095" cy="3303727"/>
          </a:xfrm>
          <a:prstGeom prst="rect">
            <a:avLst/>
          </a:prstGeom>
          <a:noFill/>
          <a:ln/>
        </p:spPr>
        <p:txBody>
          <a:bodyPr wrap="square" lIns="0" tIns="0" rIns="0" bIns="0" rtlCol="0" anchor="ctr"/>
          <a:lstStyle/>
          <a:p>
            <a:pPr rtl="1" algn="r" indent="0" marL="0">
              <a:spcAft>
                <a:spcPts val="800"/>
              </a:spcAft>
              <a:buNone/>
            </a:pPr>
            <a:r>
              <a:rPr lang="ar-SA" altLang="en-US" sz="2400" b="1" dirty="0">
                <a:solidFill>
                  <a:schemeClr val="tx2"/>
                </a:solidFill>
                <a:latin typeface="Traditional Arabic" pitchFamily="34" charset="0"/>
                <a:ea typeface="Traditional Arabic" pitchFamily="34" charset="-122"/>
                <a:cs typeface="Traditional Arabic" pitchFamily="34" charset="-120"/>
              </a:rPr>
              <a:t>أُحِلَّ لَكُمْ لَيْلَةَ الصِّيَامِ الرَّفَثُ إِلَىٰ نِسَآئِكُمْ هُنَّ لِبَاسٌ لَّكُمْ وَأَنتُمْ لِبَاسٌ لَّهُنَّ عَلِمَ اللَّهُ أَنَّكُمْ كُنتُمْ تَخْتَانُونَ أَنفُسَكُمْ فَتَابَ عَلَيْكُمْ وَعَفَا عَنكُمْ فَالْـَٰٔنَ بَٰشِرُوهُنَّ وَابْتَغُواْ مَا كَتَبَ اللَّهُ لَكُمْ وَكُلُواْ وَاشْرَبُواْ حَتَّىٰ يَتَبَيَّنَ لَكُمُ الْخَيْطُ الْأَبْيَضُ مِنَ الْخَيْطِ الْأَسْوَدِ مِنَ الْفَجْرِ ثُمَّ أَتِمُّواْ الصِّيَامَ إِلَى الَّيْلِ وَلَا تُبَٰشِرُوهُنَّ وَأَنتُمْ عَٰكِفُونَ فِي الْمَسَٰجِدِ تِلْكَ حُدُودُ اللَّهِ فَلَا تَقْرَبُوهَا كَذَٰلِكَ يُبَيِّنُ اللَّهُ ءَايَٰتِهِ لِلنَّاسِ لَعَلَّهُمْ يَتَّقُونَ</a:t>
            </a:r>
            <a:endParaRPr lang="ar-SA" sz="24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أباح الله لكم في ليالي رمضان ما كان ممنوعًا بعد النوم من الأكل والشرب ومعاشرة الزوجات، فكلوا واشربوا حتى يظهر ضوء الفجر من ظلمة الليل، ثم أتمّوا الصيام إلى غروب الشمس، تلك حدود الله فلا تقربوها.</a:t>
            </a:r>
            <a:endParaRPr lang="ar-SA" sz="24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الصيام</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١٨٨</a:t>
            </a:r>
            <a:endParaRPr lang="ar-SA" sz="1400" dirty="0"/>
          </a:p>
        </p:txBody>
      </p:sp>
      <p:sp>
        <p:nvSpPr>
          <p:cNvPr id="6" name="Shape 4"/>
          <p:cNvSpPr/>
          <p:nvPr/>
        </p:nvSpPr>
        <p:spPr>
          <a:xfrm>
            <a:off x="731520" y="2787320"/>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91533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91533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١٨٨</a:t>
            </a:r>
            <a:endParaRPr lang="ar-SA" sz="1200" dirty="0"/>
          </a:p>
        </p:txBody>
      </p:sp>
      <p:sp>
        <p:nvSpPr>
          <p:cNvPr id="9" name="Text 7"/>
          <p:cNvSpPr txBox="1"/>
          <p:nvPr/>
        </p:nvSpPr>
        <p:spPr>
          <a:xfrm>
            <a:off x="914400" y="2915336"/>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وَلَا تَأْكُلُواْ أَمْوَٰلَكُم بَيْنَكُم بِالْبَٰطِلِ وَتُدْلُواْ بِهَآ إِلَى الْحُكَّامِ لِتَأْكُلُواْ فَرِيقًا مِّنْ أَمْوَٰلِ النَّاسِ بِالْإِثْمِ وَأَنتُمْ تَعْلَمُونَ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ولا يأكل بعضكم مال بعض بغير حق، ولا تتحاكموا إلى القضاة بالباطل لتأخذوا أموال الناس ظلمًا وأنتم تعلمون.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txBox="1"/>
          <p:nvPr/>
        </p:nvSpPr>
        <p:spPr>
          <a:xfrm>
            <a:off x="7223760" y="1143000"/>
            <a:ext cx="4114800" cy="411480"/>
          </a:xfrm>
          <a:prstGeom prst="rect">
            <a:avLst/>
          </a:prstGeom>
          <a:noFill/>
          <a:ln/>
        </p:spPr>
        <p:txBody>
          <a:bodyPr wrap="square" lIns="0" tIns="0" rIns="0" bIns="0" rtlCol="0" anchor="t"/>
          <a:lstStyle/>
          <a:p>
            <a:pPr rtl="1" algn="ctr" indent="0" marL="0">
              <a:buNone/>
            </a:pPr>
            <a:r>
              <a:rPr lang="ar-SA" altLang="en-US" sz="1800" b="1" dirty="0">
                <a:solidFill>
                  <a:schemeClr val="accent5"/>
                </a:solidFill>
              </a:rPr>
              <a:t>المقطع</a:t>
            </a:r>
            <a:endParaRPr lang="ar-SA" sz="1800" dirty="0"/>
          </a:p>
        </p:txBody>
      </p:sp>
      <p:sp>
        <p:nvSpPr>
          <p:cNvPr id="3" name="Shape 1"/>
          <p:cNvSpPr/>
          <p:nvPr/>
        </p:nvSpPr>
        <p:spPr>
          <a:xfrm>
            <a:off x="8915400" y="1645920"/>
            <a:ext cx="731520" cy="731520"/>
          </a:xfrm>
          <a:prstGeom prst="octagon">
            <a:avLst/>
          </a:prstGeom>
          <a:solidFill>
            <a:schemeClr val="accent2"/>
          </a:solidFill>
          <a:ln w="15875">
            <a:solidFill>
              <a:schemeClr val="accent5"/>
            </a:solidFill>
            <a:prstDash val="solid"/>
          </a:ln>
        </p:spPr>
      </p:sp>
      <p:sp>
        <p:nvSpPr>
          <p:cNvPr id="4" name="Text 2"/>
          <p:cNvSpPr txBox="1"/>
          <p:nvPr/>
        </p:nvSpPr>
        <p:spPr>
          <a:xfrm>
            <a:off x="8915400" y="164592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bg1"/>
                </a:solidFill>
                <a:latin typeface="Arial" pitchFamily="34" charset="0"/>
                <a:ea typeface="Arial" pitchFamily="34" charset="-122"/>
                <a:cs typeface="Arial" pitchFamily="34" charset="-120"/>
              </a:rPr>
              <a:t>١٤</a:t>
            </a:r>
            <a:endParaRPr lang="ar-SA" sz="1800" dirty="0"/>
          </a:p>
        </p:txBody>
      </p:sp>
      <p:sp>
        <p:nvSpPr>
          <p:cNvPr id="5" name="Text 3"/>
          <p:cNvSpPr txBox="1"/>
          <p:nvPr/>
        </p:nvSpPr>
        <p:spPr>
          <a:xfrm>
            <a:off x="7269480" y="2606040"/>
            <a:ext cx="4023360" cy="1737360"/>
          </a:xfrm>
          <a:prstGeom prst="rect">
            <a:avLst/>
          </a:prstGeom>
          <a:noFill/>
          <a:ln/>
        </p:spPr>
        <p:txBody>
          <a:bodyPr wrap="square" lIns="0" tIns="0" rIns="0" bIns="0" rtlCol="0" anchor="ctr"/>
          <a:lstStyle/>
          <a:p>
            <a:pPr rtl="1" algn="ctr" indent="0" marL="0">
              <a:buNone/>
            </a:pPr>
            <a:r>
              <a:rPr lang="ar-SA" altLang="en-US" sz="3800" b="1" dirty="0">
                <a:solidFill>
                  <a:schemeClr val="bg1"/>
                </a:solidFill>
                <a:latin typeface="Sakkal Majalla" pitchFamily="34" charset="0"/>
                <a:ea typeface="Sakkal Majalla" pitchFamily="34" charset="-122"/>
                <a:cs typeface="Sakkal Majalla" pitchFamily="34" charset="-120"/>
              </a:rPr>
              <a:t>الأهلّة والقتال والحج</a:t>
            </a:r>
            <a:endParaRPr lang="ar-SA" sz="3800" dirty="0"/>
          </a:p>
        </p:txBody>
      </p:sp>
      <p:sp>
        <p:nvSpPr>
          <p:cNvPr id="6" name="Text 4"/>
          <p:cNvSpPr txBox="1"/>
          <p:nvPr/>
        </p:nvSpPr>
        <p:spPr>
          <a:xfrm>
            <a:off x="7269480" y="4526280"/>
            <a:ext cx="4023360" cy="457200"/>
          </a:xfrm>
          <a:prstGeom prst="rect">
            <a:avLst/>
          </a:prstGeom>
          <a:noFill/>
          <a:ln/>
        </p:spPr>
        <p:txBody>
          <a:bodyPr wrap="square" lIns="0" tIns="0" rIns="0" bIns="0" rtlCol="0" anchor="t"/>
          <a:lstStyle/>
          <a:p>
            <a:pPr rtl="1" algn="ctr" indent="0" marL="0">
              <a:buNone/>
            </a:pPr>
            <a:r>
              <a:rPr lang="ar-SA" altLang="en-US" sz="2000" b="1" dirty="0">
                <a:solidFill>
                  <a:schemeClr val="accent5"/>
                </a:solidFill>
              </a:rPr>
              <a:t>الآيات ١٨٩ – ٢٠٣</a:t>
            </a:r>
            <a:endParaRPr lang="ar-SA" sz="2000" dirty="0"/>
          </a:p>
        </p:txBody>
      </p:sp>
      <p:sp>
        <p:nvSpPr>
          <p:cNvPr id="7" name="Shape 5"/>
          <p:cNvSpPr/>
          <p:nvPr/>
        </p:nvSpPr>
        <p:spPr>
          <a:xfrm>
            <a:off x="685800" y="685800"/>
            <a:ext cx="5806440" cy="2606040"/>
          </a:xfrm>
          <a:prstGeom prst="roundRect">
            <a:avLst>
              <a:gd name="adj" fmla="val 4211"/>
            </a:avLst>
          </a:prstGeom>
          <a:solidFill>
            <a:schemeClr val="bg2"/>
          </a:solidFill>
          <a:ln w="19050">
            <a:solidFill>
              <a:schemeClr val="accent5"/>
            </a:solidFill>
            <a:prstDash val="solid"/>
          </a:ln>
        </p:spPr>
      </p:sp>
      <p:sp>
        <p:nvSpPr>
          <p:cNvPr id="8" name="Shape 6"/>
          <p:cNvSpPr/>
          <p:nvPr/>
        </p:nvSpPr>
        <p:spPr>
          <a:xfrm>
            <a:off x="4343400" y="914400"/>
            <a:ext cx="1920240" cy="420624"/>
          </a:xfrm>
          <a:prstGeom prst="roundRect">
            <a:avLst>
              <a:gd name="adj" fmla="val 50000"/>
            </a:avLst>
          </a:prstGeom>
          <a:solidFill>
            <a:schemeClr val="accent2"/>
          </a:solidFill>
          <a:ln/>
        </p:spPr>
      </p:sp>
      <p:sp>
        <p:nvSpPr>
          <p:cNvPr id="9" name="Text 7"/>
          <p:cNvSpPr txBox="1"/>
          <p:nvPr/>
        </p:nvSpPr>
        <p:spPr>
          <a:xfrm>
            <a:off x="4343400" y="91440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سبب النزول</a:t>
            </a:r>
            <a:endParaRPr lang="ar-SA" sz="1600" dirty="0"/>
          </a:p>
        </p:txBody>
      </p:sp>
      <p:sp>
        <p:nvSpPr>
          <p:cNvPr id="10" name="Text 8"/>
          <p:cNvSpPr txBox="1"/>
          <p:nvPr/>
        </p:nvSpPr>
        <p:spPr>
          <a:xfrm>
            <a:off x="960120" y="1463040"/>
            <a:ext cx="5257800" cy="16459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سأل الصحابة النبي صلى الله عليه وسلم عن الأهلّة فنزل: ﴿يسألونك عن الأهلّة﴾. وقال أبو أيوب الأنصاري: نزلت ﴿ولا تُلقوا بأيديكم إلى التهلكة﴾ فينا معشر الأنصار لمّا أردنا أن نترك الجهاد ونقيم في أموالنا (رواه أبو داود والترمذي).</a:t>
            </a:r>
            <a:endParaRPr lang="ar-SA" sz="1700" dirty="0"/>
          </a:p>
        </p:txBody>
      </p:sp>
      <p:sp>
        <p:nvSpPr>
          <p:cNvPr id="11" name="Shape 9"/>
          <p:cNvSpPr/>
          <p:nvPr/>
        </p:nvSpPr>
        <p:spPr>
          <a:xfrm>
            <a:off x="685800" y="3566160"/>
            <a:ext cx="5806440" cy="2606040"/>
          </a:xfrm>
          <a:prstGeom prst="roundRect">
            <a:avLst>
              <a:gd name="adj" fmla="val 4211"/>
            </a:avLst>
          </a:prstGeom>
          <a:solidFill>
            <a:schemeClr val="bg2"/>
          </a:solidFill>
          <a:ln w="19050">
            <a:solidFill>
              <a:schemeClr val="accent5"/>
            </a:solidFill>
            <a:prstDash val="solid"/>
          </a:ln>
        </p:spPr>
      </p:sp>
      <p:sp>
        <p:nvSpPr>
          <p:cNvPr id="12" name="Shape 10"/>
          <p:cNvSpPr/>
          <p:nvPr/>
        </p:nvSpPr>
        <p:spPr>
          <a:xfrm>
            <a:off x="4343400" y="3794760"/>
            <a:ext cx="1920240" cy="420624"/>
          </a:xfrm>
          <a:prstGeom prst="roundRect">
            <a:avLst>
              <a:gd name="adj" fmla="val 50000"/>
            </a:avLst>
          </a:prstGeom>
          <a:solidFill>
            <a:schemeClr val="tx2"/>
          </a:solidFill>
          <a:ln/>
        </p:spPr>
      </p:sp>
      <p:sp>
        <p:nvSpPr>
          <p:cNvPr id="13" name="Text 11"/>
          <p:cNvSpPr txBox="1"/>
          <p:nvPr/>
        </p:nvSpPr>
        <p:spPr>
          <a:xfrm>
            <a:off x="4343400" y="379476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مقصد المقطع</a:t>
            </a:r>
            <a:endParaRPr lang="ar-SA" sz="1600" dirty="0"/>
          </a:p>
        </p:txBody>
      </p:sp>
      <p:sp>
        <p:nvSpPr>
          <p:cNvPr id="14" name="Text 12"/>
          <p:cNvSpPr txBox="1"/>
          <p:nvPr/>
        </p:nvSpPr>
        <p:spPr>
          <a:xfrm>
            <a:off x="960120" y="4343400"/>
            <a:ext cx="5257800" cy="16459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بيان حكمة الأهلّة، وأحكام القتال في سبيل الله، والأمر بالإنفاق، ومناسك الحج وآدابه.</a:t>
            </a:r>
            <a:endParaRPr lang="ar-SA" sz="17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الأهلّة والقتال والحج</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١٨٩ – ١٩٠</a:t>
            </a:r>
            <a:endParaRPr lang="ar-SA" sz="1400" dirty="0"/>
          </a:p>
        </p:txBody>
      </p:sp>
      <p:sp>
        <p:nvSpPr>
          <p:cNvPr id="6" name="Shape 4"/>
          <p:cNvSpPr/>
          <p:nvPr/>
        </p:nvSpPr>
        <p:spPr>
          <a:xfrm>
            <a:off x="731520" y="1868805"/>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99682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9968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١٨٩</a:t>
            </a:r>
            <a:endParaRPr lang="ar-SA" sz="1200" dirty="0"/>
          </a:p>
        </p:txBody>
      </p:sp>
      <p:sp>
        <p:nvSpPr>
          <p:cNvPr id="9" name="Text 7"/>
          <p:cNvSpPr txBox="1"/>
          <p:nvPr/>
        </p:nvSpPr>
        <p:spPr>
          <a:xfrm>
            <a:off x="914400" y="1996821"/>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يَسْـَٔلُونَكَ عَنِ الْأَهِلَّةِ قُلْ هِيَ مَوَٰقِيتُ لِلنَّاسِ وَالْحَجِّ وَلَيْسَ الْبِرُّ بِأَن تَأْتُواْ الْبُيُوتَ مِن ظُهُورِهَا وَلَٰكِنَّ الْبِرَّ مَنِ اتَّقَىٰ وَأْتُواْ الْبُيُوتَ مِنْ أَبْوَٰبِهَا وَاتَّقُواْ اللَّهَ لَعَلَّكُمْ تُفْلِحُونَ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يسألونك عن الأهلّة وتغيّرها، قل: هي مواقيت يعرف بها الناس أوقات عباداتهم ومعاملاتهم والحج، وليس الخير في دخول البيوت من ظهورها كما كانوا يفعلون في الإحرام، ولكن الخير في التقوى، وادخلوا البيوت من أبوابها.</a:t>
            </a:r>
            <a:endParaRPr lang="ar-SA" sz="2800" dirty="0"/>
          </a:p>
        </p:txBody>
      </p:sp>
      <p:sp>
        <p:nvSpPr>
          <p:cNvPr id="10" name="Shape 8"/>
          <p:cNvSpPr/>
          <p:nvPr/>
        </p:nvSpPr>
        <p:spPr>
          <a:xfrm>
            <a:off x="731520" y="426910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39712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3971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١٩٠</a:t>
            </a:r>
            <a:endParaRPr lang="ar-SA" sz="1200" dirty="0"/>
          </a:p>
        </p:txBody>
      </p:sp>
      <p:sp>
        <p:nvSpPr>
          <p:cNvPr id="13" name="Text 11"/>
          <p:cNvSpPr txBox="1"/>
          <p:nvPr/>
        </p:nvSpPr>
        <p:spPr>
          <a:xfrm>
            <a:off x="914400" y="439712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وَقَٰتِلُواْ فِي سَبِيلِ اللَّهِ الَّذِينَ يُقَٰتِلُونَكُمْ وَلَا تَعْتَدُواْ إِنَّ اللَّهَ لَا يُحِبُّ الْمُعْتَدِينَ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وقاتلوا في سبيل الله الذين يقاتلونكم، ولا تتجاوزوا الحدّ بقتل النساء والصبيان والشيوخ، إن الله لا يحب المعتدين.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الأهلّة والقتال والحج</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١٩١ – ١٩٢</a:t>
            </a:r>
            <a:endParaRPr lang="ar-SA" sz="1400" dirty="0"/>
          </a:p>
        </p:txBody>
      </p:sp>
      <p:sp>
        <p:nvSpPr>
          <p:cNvPr id="6" name="Shape 4"/>
          <p:cNvSpPr/>
          <p:nvPr/>
        </p:nvSpPr>
        <p:spPr>
          <a:xfrm>
            <a:off x="731520" y="1587170"/>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71518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71518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١٩١</a:t>
            </a:r>
            <a:endParaRPr lang="ar-SA" sz="1200" dirty="0"/>
          </a:p>
        </p:txBody>
      </p:sp>
      <p:sp>
        <p:nvSpPr>
          <p:cNvPr id="9" name="Text 7"/>
          <p:cNvSpPr txBox="1"/>
          <p:nvPr/>
        </p:nvSpPr>
        <p:spPr>
          <a:xfrm>
            <a:off x="914400" y="1715186"/>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وَاقْتُلُوهُمْ حَيْثُ ثَقِفْتُمُوهُمْ وَأَخْرِجُوهُم مِّنْ حَيْثُ أَخْرَجُوكُمْ وَالْفِتْنَةُ أَشَدُّ مِنَ الْقَتْلِ وَلَا تُقَٰتِلُوهُمْ عِندَ الْمَسْجِدِ الْحَرَامِ حَتَّىٰ يُقَٰتِلُوكُمْ فِيهِ فَإِن قَٰتَلُوكُمْ فَاقْتُلُوهُمْ كَذَٰلِكَ جَزَآءُ الْكَٰفِرِينَ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واقتلوا المقاتلين منهم حيث وجدتموهم، وأخرجوهم من مكة كما أخرجوكم، والشرك أشد من القتل، ولا تقاتلوهم عند المسجد الحرام حتى يقاتلوكم فيه.</a:t>
            </a:r>
            <a:endParaRPr lang="ar-SA" sz="2800" dirty="0"/>
          </a:p>
        </p:txBody>
      </p:sp>
      <p:sp>
        <p:nvSpPr>
          <p:cNvPr id="10" name="Shape 8"/>
          <p:cNvSpPr/>
          <p:nvPr/>
        </p:nvSpPr>
        <p:spPr>
          <a:xfrm>
            <a:off x="731520" y="4550740"/>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678756"/>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67875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١٩٢</a:t>
            </a:r>
            <a:endParaRPr lang="ar-SA" sz="1200" dirty="0"/>
          </a:p>
        </p:txBody>
      </p:sp>
      <p:sp>
        <p:nvSpPr>
          <p:cNvPr id="13" name="Text 11"/>
          <p:cNvSpPr txBox="1"/>
          <p:nvPr/>
        </p:nvSpPr>
        <p:spPr>
          <a:xfrm>
            <a:off x="914400" y="4678756"/>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فَإِنِ انتَهَوْاْ فَإِنَّ اللَّهَ غَفُورٌ رَّحِيمٌ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فإن تركوا الكفر والقتال فإن الله غفور رحيم.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الأهلّة والقتال والحج</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١٩٣ – ١٩٤</a:t>
            </a:r>
            <a:endParaRPr lang="ar-SA" sz="1400" dirty="0"/>
          </a:p>
        </p:txBody>
      </p:sp>
      <p:sp>
        <p:nvSpPr>
          <p:cNvPr id="6" name="Shape 4"/>
          <p:cNvSpPr/>
          <p:nvPr/>
        </p:nvSpPr>
        <p:spPr>
          <a:xfrm>
            <a:off x="731520" y="186880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99682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9968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١٩٣</a:t>
            </a:r>
            <a:endParaRPr lang="ar-SA" sz="1200" dirty="0"/>
          </a:p>
        </p:txBody>
      </p:sp>
      <p:sp>
        <p:nvSpPr>
          <p:cNvPr id="9" name="Text 7"/>
          <p:cNvSpPr txBox="1"/>
          <p:nvPr/>
        </p:nvSpPr>
        <p:spPr>
          <a:xfrm>
            <a:off x="914400" y="199682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وَقَٰتِلُوهُمْ حَتَّىٰ لَا تَكُونَ فِتْنَةٌ وَيَكُونَ الدِّينُ لِلَّهِ فَإِنِ انتَهَوْاْ فَلَا عُدْوَٰنَ إِلَّا عَلَى الظَّـٰلِمِينَ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وقاتلوهم حتى لا يكون شرك، ويكون الدين لله، فإن انتهوا فلا عدوان إلا على الظالمين.</a:t>
            </a:r>
            <a:endParaRPr lang="ar-SA" sz="2800" dirty="0"/>
          </a:p>
        </p:txBody>
      </p:sp>
      <p:sp>
        <p:nvSpPr>
          <p:cNvPr id="10" name="Shape 8"/>
          <p:cNvSpPr/>
          <p:nvPr/>
        </p:nvSpPr>
        <p:spPr>
          <a:xfrm>
            <a:off x="731520" y="3402711"/>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530727"/>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530727"/>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١٩٤</a:t>
            </a:r>
            <a:endParaRPr lang="ar-SA" sz="1200" dirty="0"/>
          </a:p>
        </p:txBody>
      </p:sp>
      <p:sp>
        <p:nvSpPr>
          <p:cNvPr id="13" name="Text 11"/>
          <p:cNvSpPr txBox="1"/>
          <p:nvPr/>
        </p:nvSpPr>
        <p:spPr>
          <a:xfrm>
            <a:off x="914400" y="3530727"/>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الشَّهْرُ الْحَرَامُ بِالشَّهْرِ الْحَرَامِ وَالْحُرُمَٰتُ قِصَاصٌ فَمَنِ اعْتَدَىٰ عَلَيْكُمْ فَاعْتَدُواْ عَلَيْهِ بِمِثْلِ مَا اعْتَدَىٰ عَلَيْكُمْ وَاتَّقُواْ اللَّهَ وَاعْلَمُواْ أَنَّ اللَّهَ مَعَ الْمُتَّقِينَ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قتالكم في الشهر الحرام مقابل قتالهم لكم فيه، ومن اعتدى عليكم فردّوا عليه بمثل اعتدائه، واتقوا الله، واعلموا أن الله مع المتقين.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الأهلّة والقتال والحج</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١٩٥ – ١٩٦</a:t>
            </a:r>
            <a:endParaRPr lang="ar-SA" sz="1400" dirty="0"/>
          </a:p>
        </p:txBody>
      </p:sp>
      <p:sp>
        <p:nvSpPr>
          <p:cNvPr id="6" name="Shape 4"/>
          <p:cNvSpPr/>
          <p:nvPr/>
        </p:nvSpPr>
        <p:spPr>
          <a:xfrm>
            <a:off x="731520" y="1280160"/>
            <a:ext cx="10728655" cy="1350797"/>
          </a:xfrm>
          <a:prstGeom prst="roundRect">
            <a:avLst>
              <a:gd name="adj" fmla="val 6769"/>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0817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0817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١٩٥</a:t>
            </a:r>
            <a:endParaRPr lang="ar-SA" sz="1200" dirty="0"/>
          </a:p>
        </p:txBody>
      </p:sp>
      <p:sp>
        <p:nvSpPr>
          <p:cNvPr id="9" name="Text 7"/>
          <p:cNvSpPr txBox="1"/>
          <p:nvPr/>
        </p:nvSpPr>
        <p:spPr>
          <a:xfrm>
            <a:off x="914400" y="1408176"/>
            <a:ext cx="9677095" cy="1094765"/>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وَأَنفِقُواْ فِي سَبِيلِ اللَّهِ وَلَا تُلْقُواْ بِأَيْدِيكُمْ إِلَى التَّهْلُكَةِ وَأَحْسِنُواْ إِنَّ اللَّهَ يُحِبُّ الْمُحْسِنِينَ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وأنفقوا في سبيل الله، ولا توقعوا أنفسكم في الهلاك بترك الجهاد والإنفاق، وأحسنوا إن الله يحب المحسنين.</a:t>
            </a:r>
            <a:endParaRPr lang="ar-SA" sz="2800" dirty="0"/>
          </a:p>
        </p:txBody>
      </p:sp>
      <p:sp>
        <p:nvSpPr>
          <p:cNvPr id="10" name="Shape 8"/>
          <p:cNvSpPr/>
          <p:nvPr/>
        </p:nvSpPr>
        <p:spPr>
          <a:xfrm>
            <a:off x="731520" y="2758973"/>
            <a:ext cx="10728655" cy="3504667"/>
          </a:xfrm>
          <a:prstGeom prst="roundRect">
            <a:avLst>
              <a:gd name="adj" fmla="val 2609"/>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2886989"/>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2886989"/>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١٩٦</a:t>
            </a:r>
            <a:endParaRPr lang="ar-SA" sz="1200" dirty="0"/>
          </a:p>
        </p:txBody>
      </p:sp>
      <p:sp>
        <p:nvSpPr>
          <p:cNvPr id="13" name="Text 11"/>
          <p:cNvSpPr txBox="1"/>
          <p:nvPr/>
        </p:nvSpPr>
        <p:spPr>
          <a:xfrm>
            <a:off x="914400" y="2886989"/>
            <a:ext cx="9677095" cy="3248635"/>
          </a:xfrm>
          <a:prstGeom prst="rect">
            <a:avLst/>
          </a:prstGeom>
          <a:noFill/>
          <a:ln/>
        </p:spPr>
        <p:txBody>
          <a:bodyPr wrap="square" lIns="0" tIns="0" rIns="0" bIns="0" rtlCol="0" anchor="ctr"/>
          <a:lstStyle/>
          <a:p>
            <a:pPr rtl="1" algn="r" indent="0" marL="0">
              <a:spcAft>
                <a:spcPts val="800"/>
              </a:spcAft>
              <a:buNone/>
            </a:pPr>
            <a:r>
              <a:rPr lang="ar-SA" altLang="en-US" sz="2400" b="1" dirty="0">
                <a:solidFill>
                  <a:schemeClr val="tx2"/>
                </a:solidFill>
                <a:latin typeface="Traditional Arabic" pitchFamily="34" charset="0"/>
                <a:ea typeface="Traditional Arabic" pitchFamily="34" charset="-122"/>
                <a:cs typeface="Traditional Arabic" pitchFamily="34" charset="-120"/>
              </a:rPr>
              <a:t>وَأَتِمُّواْ الْحَجَّ وَالْعُمْرَةَ لِلَّهِ فَإِنْ أُحْصِرْتُمْ فَمَا اسْتَيْسَرَ مِنَ الْهَدْيِ وَلَا تَحْلِقُواْ رُءُوسَكُمْ حَتَّىٰ يَبْلُغَ الْهَدْيُ مَحِلَّهُ فَمَن كَانَ مِنكُم مَّرِيضًا أَوْ بِهِ أَذًى مِّن رَّأْسِهِ فَفِدْيَةٌ مِّن صِيَامٍ أَوْ صَدَقَةٍ أَوْ نُسُكٍ فَإِذَآ أَمِنتُمْ فَمَن تَمَتَّعَ بِالْعُمْرَةِ إِلَى الْحَجِّ فَمَا اسْتَيْسَرَ مِنَ الْهَدْيِ فَمَن لَّمْ يَجِدْ فَصِيَامُ ثَلَٰثَةِ أَيَّامٍ فِي الْحَجِّ وَسَبْعَةٍ إِذَا رَجَعْتُمْ تِلْكَ عَشَرَةٌ كَامِلَةٌ ذَٰلِكَ لِمَن لَّمْ يَكُنْ أَهْلُهُ حَاضِرِي الْمَسْجِدِ الْحَرَامِ وَاتَّقُواْ اللَّهَ وَاعْلَمُواْ أَنَّ اللَّهَ شَدِيدُ الْعِقَابِ</a:t>
            </a:r>
            <a:endParaRPr lang="ar-SA" sz="24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وأتمّوا الحج والعمرة لله، فإن مُنعتم فاذبحوا ما تيسّر من الهدي، ومن كان مريضًا أو به أذى في رأسه فحلق فعليه فدية: صيام أو صدقة أو ذبيحة، ومن تمتّع بالعمرة إلى الحج فعليه هدي، فمن لم يجد فصيام عشرة أيام.</a:t>
            </a:r>
            <a:endParaRPr lang="ar-SA" sz="24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الأهلّة والقتال والحج</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١٩٧ – ١٩٨</a:t>
            </a:r>
            <a:endParaRPr lang="ar-SA" sz="1400" dirty="0"/>
          </a:p>
        </p:txBody>
      </p:sp>
      <p:sp>
        <p:nvSpPr>
          <p:cNvPr id="6" name="Shape 4"/>
          <p:cNvSpPr/>
          <p:nvPr/>
        </p:nvSpPr>
        <p:spPr>
          <a:xfrm>
            <a:off x="731520" y="14356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563624"/>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56362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١٩٧</a:t>
            </a:r>
            <a:endParaRPr lang="ar-SA" sz="1200" dirty="0"/>
          </a:p>
        </p:txBody>
      </p:sp>
      <p:sp>
        <p:nvSpPr>
          <p:cNvPr id="9" name="Text 7"/>
          <p:cNvSpPr txBox="1"/>
          <p:nvPr/>
        </p:nvSpPr>
        <p:spPr>
          <a:xfrm>
            <a:off x="914400" y="15636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الْحَجُّ أَشْهُرٌ مَّعْلُومَٰتٌ فَمَن فَرَضَ فِيهِنَّ الْحَجَّ فَلَا رَفَثَ وَلَا فُسُوقَ وَلَا جِدَالَ فِي الْحَجِّ وَمَا تَفْعَلُواْ مِنْ خَيْرٍ يَعْلَمْهُ اللَّهُ وَتَزَوَّدُواْ فَإِنَّ خَيْرَ الزَّادِ التَّقْوَىٰ وَاتَّقُونِ يَـٰأُوْلِي الْأَلْبَٰبِ</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الحج في أشهر معلومة: شوال وذو القعدة وعشر ذي الحجة، فمن أحرم فيها بالحج فلا جماع ولا معاصي ولا خصام في الحج، وتزوّدوا للسفر، وخير الزاد التقوى.</a:t>
            </a:r>
            <a:endParaRPr lang="ar-SA" sz="2800" dirty="0"/>
          </a:p>
        </p:txBody>
      </p:sp>
      <p:sp>
        <p:nvSpPr>
          <p:cNvPr id="10" name="Shape 8"/>
          <p:cNvSpPr/>
          <p:nvPr/>
        </p:nvSpPr>
        <p:spPr>
          <a:xfrm>
            <a:off x="731520" y="38359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96392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96392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١٩٨</a:t>
            </a:r>
            <a:endParaRPr lang="ar-SA" sz="1200" dirty="0"/>
          </a:p>
        </p:txBody>
      </p:sp>
      <p:sp>
        <p:nvSpPr>
          <p:cNvPr id="13" name="Text 11"/>
          <p:cNvSpPr txBox="1"/>
          <p:nvPr/>
        </p:nvSpPr>
        <p:spPr>
          <a:xfrm>
            <a:off x="914400" y="39639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لَيْسَ عَلَيْكُمْ جُنَاحٌ أَن تَبْتَغُواْ فَضْلًا مِّن رَّبِّكُمْ فَإِذَآ أَفَضْتُم مِّنْ عَرَفَٰتٍ فَاذْكُرُواْ اللَّهَ عِندَ الْمَشْعَرِ الْحَرَامِ وَاذْكُرُوهُ كَمَا هَدَىٰكُمْ وَإِن كُنتُم مِّن قَبْلِهِ لَمِنَ الضَّآلِّينَ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ليس عليكم حرج أن تطلبوا الرزق بالتجارة في موسم الحج، فإذا رجعتم من عرفات فاذكروا الله عند المشعر الحرام بمزدلفة، واذكروه كما هداكم.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الأهلّة والقتال والحج</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١٩٩ – ٢٠٠</a:t>
            </a:r>
            <a:endParaRPr lang="ar-SA" sz="1400" dirty="0"/>
          </a:p>
        </p:txBody>
      </p:sp>
      <p:sp>
        <p:nvSpPr>
          <p:cNvPr id="6" name="Shape 4"/>
          <p:cNvSpPr/>
          <p:nvPr/>
        </p:nvSpPr>
        <p:spPr>
          <a:xfrm>
            <a:off x="731520" y="186880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99682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9968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١٩٩</a:t>
            </a:r>
            <a:endParaRPr lang="ar-SA" sz="1200" dirty="0"/>
          </a:p>
        </p:txBody>
      </p:sp>
      <p:sp>
        <p:nvSpPr>
          <p:cNvPr id="9" name="Text 7"/>
          <p:cNvSpPr txBox="1"/>
          <p:nvPr/>
        </p:nvSpPr>
        <p:spPr>
          <a:xfrm>
            <a:off x="914400" y="199682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ثُمَّ أَفِيضُواْ مِنْ حَيْثُ أَفَاضَ النَّاسُ وَاسْتَغْفِرُواْ اللَّهَ إِنَّ اللَّهَ غَفُورٌ رَّحِيمٌ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ثم انصرفوا من عرفات كما ينصرف الناس، لا كما كانت قريش تقف بمزدلفة، واستغفروا الله، إن الله غفور رحيم.</a:t>
            </a:r>
            <a:endParaRPr lang="ar-SA" sz="2800" dirty="0"/>
          </a:p>
        </p:txBody>
      </p:sp>
      <p:sp>
        <p:nvSpPr>
          <p:cNvPr id="10" name="Shape 8"/>
          <p:cNvSpPr/>
          <p:nvPr/>
        </p:nvSpPr>
        <p:spPr>
          <a:xfrm>
            <a:off x="731520" y="3402711"/>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530727"/>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530727"/>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٢٠٠</a:t>
            </a:r>
            <a:endParaRPr lang="ar-SA" sz="1200" dirty="0"/>
          </a:p>
        </p:txBody>
      </p:sp>
      <p:sp>
        <p:nvSpPr>
          <p:cNvPr id="13" name="Text 11"/>
          <p:cNvSpPr txBox="1"/>
          <p:nvPr/>
        </p:nvSpPr>
        <p:spPr>
          <a:xfrm>
            <a:off x="914400" y="3530727"/>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فَإِذَا قَضَيْتُم مَّنَٰسِكَكُمْ فَاذْكُرُواْ اللَّهَ كَذِكْرِكُمْ ءَابَآءَكُمْ أَوْ أَشَدَّ ذِكْرًا فَمِنَ النَّاسِ مَن يَقُولُ رَبَّنَآ ءَاتِنَا فِي الدُّنْيَا وَمَا لَهُ فِي الْأخِرَةِ مِنْ خَلَٰقٍ</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فإذا أتممتم مناسك الحج فاذكروا الله كما كنتم تذكرون مفاخر آبائكم أو أكثر، فمن الناس من لا يطلب إلا الدنيا، وما له في الآخرة من نصيب.</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الأهلّة والقتال والحج</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٢٠١ – ٢٠٢</a:t>
            </a:r>
            <a:endParaRPr lang="ar-SA" sz="1400" dirty="0"/>
          </a:p>
        </p:txBody>
      </p:sp>
      <p:sp>
        <p:nvSpPr>
          <p:cNvPr id="6" name="Shape 4"/>
          <p:cNvSpPr/>
          <p:nvPr/>
        </p:nvSpPr>
        <p:spPr>
          <a:xfrm>
            <a:off x="731520" y="2150440"/>
            <a:ext cx="10728655" cy="1709014"/>
          </a:xfrm>
          <a:prstGeom prst="roundRect">
            <a:avLst>
              <a:gd name="adj" fmla="val 5350"/>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27845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27845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٢٠١</a:t>
            </a:r>
            <a:endParaRPr lang="ar-SA" sz="1200" dirty="0"/>
          </a:p>
        </p:txBody>
      </p:sp>
      <p:sp>
        <p:nvSpPr>
          <p:cNvPr id="9" name="Text 7"/>
          <p:cNvSpPr txBox="1"/>
          <p:nvPr/>
        </p:nvSpPr>
        <p:spPr>
          <a:xfrm>
            <a:off x="914400" y="2278456"/>
            <a:ext cx="9677095" cy="145298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وَمِنْهُم مَّن يَقُولُ رَبَّنَآ ءَاتِنَا فِي الدُّنْيَا حَسَنَةً وَفِي الْأخِرَةِ حَسَنَةً وَقِنَا عَذَابَ النَّارِ</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ومنهم من يقول: ربنا آتنا في الدنيا حسنة وفي الآخرة حسنة وقنا عذاب النار. وكان هذا أكثر دعاء النبي صلى الله عليه وسلم (البخاري).</a:t>
            </a:r>
            <a:endParaRPr lang="ar-SA" sz="2800" dirty="0"/>
          </a:p>
        </p:txBody>
      </p:sp>
      <p:sp>
        <p:nvSpPr>
          <p:cNvPr id="10" name="Shape 8"/>
          <p:cNvSpPr/>
          <p:nvPr/>
        </p:nvSpPr>
        <p:spPr>
          <a:xfrm>
            <a:off x="731520" y="3987470"/>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115486"/>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11548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٢٠٢</a:t>
            </a:r>
            <a:endParaRPr lang="ar-SA" sz="1200" dirty="0"/>
          </a:p>
        </p:txBody>
      </p:sp>
      <p:sp>
        <p:nvSpPr>
          <p:cNvPr id="13" name="Text 11"/>
          <p:cNvSpPr txBox="1"/>
          <p:nvPr/>
        </p:nvSpPr>
        <p:spPr>
          <a:xfrm>
            <a:off x="914400" y="4115486"/>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أُوْلَـٰئِكَ لَهُمْ نَصِيبٌ مِّمَّا كَسَبُواْ وَاللَّهُ سَرِيعُ الْحِسَابِ</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أولئك لهم نصيب من الثواب بسبب أعمالهم، والله سريع الحساب.</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الأهلّة والقتال والحج</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٢٠٣</a:t>
            </a:r>
            <a:endParaRPr lang="ar-SA" sz="1400" dirty="0"/>
          </a:p>
        </p:txBody>
      </p:sp>
      <p:sp>
        <p:nvSpPr>
          <p:cNvPr id="6" name="Shape 4"/>
          <p:cNvSpPr/>
          <p:nvPr/>
        </p:nvSpPr>
        <p:spPr>
          <a:xfrm>
            <a:off x="731520" y="263575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763774"/>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76377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٢٠٣</a:t>
            </a:r>
            <a:endParaRPr lang="ar-SA" sz="1200" dirty="0"/>
          </a:p>
        </p:txBody>
      </p:sp>
      <p:sp>
        <p:nvSpPr>
          <p:cNvPr id="9" name="Text 7"/>
          <p:cNvSpPr txBox="1"/>
          <p:nvPr/>
        </p:nvSpPr>
        <p:spPr>
          <a:xfrm>
            <a:off x="914400" y="276377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وَاذْكُرُواْ اللَّهَ فِي أَيَّامٍ مَّعْدُودَٰتٍ فَمَن تَعَجَّلَ فِي يَوْمَيْنِ فَلَآ إِثْمَ عَلَيْهِ وَمَن تَأَخَّرَ فَلَآ إِثْمَ عَلَيْهِ لِمَنِ اتَّقَىٰ وَاتَّقُواْ اللَّهَ وَاعْلَمُواْ أَنَّكُمْ إِلَيْهِ تُحْشَرُونَ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واذكروا الله بالتكبير في أيام التشريق، فمن خرج من منى في اليوم الثاني فلا إثم عليه، ومن تأخر إلى الثالث فلا إثم عليه لمن اتقى الله، واعلموا أنكم إليه تُحشرون.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txBox="1"/>
          <p:nvPr/>
        </p:nvSpPr>
        <p:spPr>
          <a:xfrm>
            <a:off x="7223760" y="1143000"/>
            <a:ext cx="4114800" cy="411480"/>
          </a:xfrm>
          <a:prstGeom prst="rect">
            <a:avLst/>
          </a:prstGeom>
          <a:noFill/>
          <a:ln/>
        </p:spPr>
        <p:txBody>
          <a:bodyPr wrap="square" lIns="0" tIns="0" rIns="0" bIns="0" rtlCol="0" anchor="t"/>
          <a:lstStyle/>
          <a:p>
            <a:pPr rtl="1" algn="ctr" indent="0" marL="0">
              <a:buNone/>
            </a:pPr>
            <a:r>
              <a:rPr lang="ar-SA" altLang="en-US" sz="1800" b="1" dirty="0">
                <a:solidFill>
                  <a:schemeClr val="accent5"/>
                </a:solidFill>
              </a:rPr>
              <a:t>المقطع</a:t>
            </a:r>
            <a:endParaRPr lang="ar-SA" sz="1800" dirty="0"/>
          </a:p>
        </p:txBody>
      </p:sp>
      <p:sp>
        <p:nvSpPr>
          <p:cNvPr id="3" name="Shape 1"/>
          <p:cNvSpPr/>
          <p:nvPr/>
        </p:nvSpPr>
        <p:spPr>
          <a:xfrm>
            <a:off x="8915400" y="1645920"/>
            <a:ext cx="731520" cy="731520"/>
          </a:xfrm>
          <a:prstGeom prst="octagon">
            <a:avLst/>
          </a:prstGeom>
          <a:solidFill>
            <a:schemeClr val="accent2"/>
          </a:solidFill>
          <a:ln w="15875">
            <a:solidFill>
              <a:schemeClr val="accent5"/>
            </a:solidFill>
            <a:prstDash val="solid"/>
          </a:ln>
        </p:spPr>
      </p:sp>
      <p:sp>
        <p:nvSpPr>
          <p:cNvPr id="4" name="Text 2"/>
          <p:cNvSpPr txBox="1"/>
          <p:nvPr/>
        </p:nvSpPr>
        <p:spPr>
          <a:xfrm>
            <a:off x="8915400" y="164592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bg1"/>
                </a:solidFill>
                <a:latin typeface="Arial" pitchFamily="34" charset="0"/>
                <a:ea typeface="Arial" pitchFamily="34" charset="-122"/>
                <a:cs typeface="Arial" pitchFamily="34" charset="-120"/>
              </a:rPr>
              <a:t>١٥</a:t>
            </a:r>
            <a:endParaRPr lang="ar-SA" sz="1800" dirty="0"/>
          </a:p>
        </p:txBody>
      </p:sp>
      <p:sp>
        <p:nvSpPr>
          <p:cNvPr id="5" name="Text 3"/>
          <p:cNvSpPr txBox="1"/>
          <p:nvPr/>
        </p:nvSpPr>
        <p:spPr>
          <a:xfrm>
            <a:off x="7269480" y="2606040"/>
            <a:ext cx="4023360" cy="1737360"/>
          </a:xfrm>
          <a:prstGeom prst="rect">
            <a:avLst/>
          </a:prstGeom>
          <a:noFill/>
          <a:ln/>
        </p:spPr>
        <p:txBody>
          <a:bodyPr wrap="square" lIns="0" tIns="0" rIns="0" bIns="0" rtlCol="0" anchor="ctr"/>
          <a:lstStyle/>
          <a:p>
            <a:pPr rtl="1" algn="ctr" indent="0" marL="0">
              <a:buNone/>
            </a:pPr>
            <a:r>
              <a:rPr lang="ar-SA" altLang="en-US" sz="3800" b="1" dirty="0">
                <a:solidFill>
                  <a:schemeClr val="bg1"/>
                </a:solidFill>
                <a:latin typeface="Sakkal Majalla" pitchFamily="34" charset="0"/>
                <a:ea typeface="Sakkal Majalla" pitchFamily="34" charset="-122"/>
                <a:cs typeface="Sakkal Majalla" pitchFamily="34" charset="-120"/>
              </a:rPr>
              <a:t>بين المنافق والمؤمن</a:t>
            </a:r>
            <a:endParaRPr lang="ar-SA" sz="3800" dirty="0"/>
          </a:p>
        </p:txBody>
      </p:sp>
      <p:sp>
        <p:nvSpPr>
          <p:cNvPr id="6" name="Text 4"/>
          <p:cNvSpPr txBox="1"/>
          <p:nvPr/>
        </p:nvSpPr>
        <p:spPr>
          <a:xfrm>
            <a:off x="7269480" y="4526280"/>
            <a:ext cx="4023360" cy="457200"/>
          </a:xfrm>
          <a:prstGeom prst="rect">
            <a:avLst/>
          </a:prstGeom>
          <a:noFill/>
          <a:ln/>
        </p:spPr>
        <p:txBody>
          <a:bodyPr wrap="square" lIns="0" tIns="0" rIns="0" bIns="0" rtlCol="0" anchor="t"/>
          <a:lstStyle/>
          <a:p>
            <a:pPr rtl="1" algn="ctr" indent="0" marL="0">
              <a:buNone/>
            </a:pPr>
            <a:r>
              <a:rPr lang="ar-SA" altLang="en-US" sz="2000" b="1" dirty="0">
                <a:solidFill>
                  <a:schemeClr val="accent5"/>
                </a:solidFill>
              </a:rPr>
              <a:t>الآيات ٢٠٤ – ٢١٨</a:t>
            </a:r>
            <a:endParaRPr lang="ar-SA" sz="2000" dirty="0"/>
          </a:p>
        </p:txBody>
      </p:sp>
      <p:sp>
        <p:nvSpPr>
          <p:cNvPr id="7" name="Shape 5"/>
          <p:cNvSpPr/>
          <p:nvPr/>
        </p:nvSpPr>
        <p:spPr>
          <a:xfrm>
            <a:off x="685800" y="685800"/>
            <a:ext cx="5806440" cy="2606040"/>
          </a:xfrm>
          <a:prstGeom prst="roundRect">
            <a:avLst>
              <a:gd name="adj" fmla="val 4211"/>
            </a:avLst>
          </a:prstGeom>
          <a:solidFill>
            <a:schemeClr val="bg2"/>
          </a:solidFill>
          <a:ln w="19050">
            <a:solidFill>
              <a:schemeClr val="accent5"/>
            </a:solidFill>
            <a:prstDash val="solid"/>
          </a:ln>
        </p:spPr>
      </p:sp>
      <p:sp>
        <p:nvSpPr>
          <p:cNvPr id="8" name="Shape 6"/>
          <p:cNvSpPr/>
          <p:nvPr/>
        </p:nvSpPr>
        <p:spPr>
          <a:xfrm>
            <a:off x="4343400" y="914400"/>
            <a:ext cx="1920240" cy="420624"/>
          </a:xfrm>
          <a:prstGeom prst="roundRect">
            <a:avLst>
              <a:gd name="adj" fmla="val 50000"/>
            </a:avLst>
          </a:prstGeom>
          <a:solidFill>
            <a:schemeClr val="accent2"/>
          </a:solidFill>
          <a:ln/>
        </p:spPr>
      </p:sp>
      <p:sp>
        <p:nvSpPr>
          <p:cNvPr id="9" name="Text 7"/>
          <p:cNvSpPr txBox="1"/>
          <p:nvPr/>
        </p:nvSpPr>
        <p:spPr>
          <a:xfrm>
            <a:off x="4343400" y="91440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سبب النزول</a:t>
            </a:r>
            <a:endParaRPr lang="ar-SA" sz="1600" dirty="0"/>
          </a:p>
        </p:txBody>
      </p:sp>
      <p:sp>
        <p:nvSpPr>
          <p:cNvPr id="10" name="Text 8"/>
          <p:cNvSpPr txBox="1"/>
          <p:nvPr/>
        </p:nvSpPr>
        <p:spPr>
          <a:xfrm>
            <a:off x="960120" y="1463040"/>
            <a:ext cx="5257800" cy="16459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قتلت سرية الصحابي عبد الله بن جحش رجلًا من المشركين في آخر يوم من شهر رجب -وهو من الأشهر الحرم-، فعيّرهم المشركون بذلك، فنزلت: ﴿يسألونك عن الشهر الحرام قتالٍ فيه﴾.</a:t>
            </a:r>
            <a:endParaRPr lang="ar-SA" sz="1700" dirty="0"/>
          </a:p>
        </p:txBody>
      </p:sp>
      <p:sp>
        <p:nvSpPr>
          <p:cNvPr id="11" name="Shape 9"/>
          <p:cNvSpPr/>
          <p:nvPr/>
        </p:nvSpPr>
        <p:spPr>
          <a:xfrm>
            <a:off x="685800" y="3566160"/>
            <a:ext cx="5806440" cy="2606040"/>
          </a:xfrm>
          <a:prstGeom prst="roundRect">
            <a:avLst>
              <a:gd name="adj" fmla="val 4211"/>
            </a:avLst>
          </a:prstGeom>
          <a:solidFill>
            <a:schemeClr val="bg2"/>
          </a:solidFill>
          <a:ln w="19050">
            <a:solidFill>
              <a:schemeClr val="accent5"/>
            </a:solidFill>
            <a:prstDash val="solid"/>
          </a:ln>
        </p:spPr>
      </p:sp>
      <p:sp>
        <p:nvSpPr>
          <p:cNvPr id="12" name="Shape 10"/>
          <p:cNvSpPr/>
          <p:nvPr/>
        </p:nvSpPr>
        <p:spPr>
          <a:xfrm>
            <a:off x="4343400" y="3794760"/>
            <a:ext cx="1920240" cy="420624"/>
          </a:xfrm>
          <a:prstGeom prst="roundRect">
            <a:avLst>
              <a:gd name="adj" fmla="val 50000"/>
            </a:avLst>
          </a:prstGeom>
          <a:solidFill>
            <a:schemeClr val="tx2"/>
          </a:solidFill>
          <a:ln/>
        </p:spPr>
      </p:sp>
      <p:sp>
        <p:nvSpPr>
          <p:cNvPr id="13" name="Text 11"/>
          <p:cNvSpPr txBox="1"/>
          <p:nvPr/>
        </p:nvSpPr>
        <p:spPr>
          <a:xfrm>
            <a:off x="4343400" y="379476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مقصد المقطع</a:t>
            </a:r>
            <a:endParaRPr lang="ar-SA" sz="1600" dirty="0"/>
          </a:p>
        </p:txBody>
      </p:sp>
      <p:sp>
        <p:nvSpPr>
          <p:cNvPr id="14" name="Text 12"/>
          <p:cNvSpPr txBox="1"/>
          <p:nvPr/>
        </p:nvSpPr>
        <p:spPr>
          <a:xfrm>
            <a:off x="960120" y="4343400"/>
            <a:ext cx="5257800" cy="16459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مقارنة بين المنافق المفسد والمؤمن الذي يبيع نفسه لله، والأمر بالدخول في الإسلام كله، والصبر على الابتلاء.</a:t>
            </a:r>
            <a:endParaRPr lang="ar-SA" sz="17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بين المنافق والمؤمن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٢٠٤ – ٢٠٦</a:t>
            </a:r>
            <a:endParaRPr lang="ar-SA" sz="1400" dirty="0"/>
          </a:p>
        </p:txBody>
      </p:sp>
      <p:sp>
        <p:nvSpPr>
          <p:cNvPr id="6" name="Shape 4"/>
          <p:cNvSpPr/>
          <p:nvPr/>
        </p:nvSpPr>
        <p:spPr>
          <a:xfrm>
            <a:off x="731520" y="1280160"/>
            <a:ext cx="10728655" cy="1951330"/>
          </a:xfrm>
          <a:prstGeom prst="roundRect">
            <a:avLst>
              <a:gd name="adj" fmla="val 4686"/>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0817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0817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٢٠٤</a:t>
            </a:r>
            <a:endParaRPr lang="ar-SA" sz="1200" dirty="0"/>
          </a:p>
        </p:txBody>
      </p:sp>
      <p:sp>
        <p:nvSpPr>
          <p:cNvPr id="9" name="Text 7"/>
          <p:cNvSpPr txBox="1"/>
          <p:nvPr/>
        </p:nvSpPr>
        <p:spPr>
          <a:xfrm>
            <a:off x="914400" y="1408176"/>
            <a:ext cx="9677095" cy="169529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وَمِنَ النَّاسِ مَن يُعْجِبُكَ قَوْلُهُ فِي الْحَيَوٰةِ الدُّنْيَا وَيُشْهِدُ اللَّهَ عَلَىٰ مَا فِي قَلْبِهِ وَهُوَ أَلَدُّ الْخِصَامِ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ومن الناس منافق يعجبك كلامه، ويحلف بالله أن قلبه موافق لقوله، وهو شديد الخصومة.</a:t>
            </a:r>
            <a:endParaRPr lang="ar-SA" sz="2800" dirty="0"/>
          </a:p>
        </p:txBody>
      </p:sp>
      <p:sp>
        <p:nvSpPr>
          <p:cNvPr id="10" name="Shape 8"/>
          <p:cNvSpPr/>
          <p:nvPr/>
        </p:nvSpPr>
        <p:spPr>
          <a:xfrm>
            <a:off x="731520" y="3359506"/>
            <a:ext cx="10728655" cy="1388059"/>
          </a:xfrm>
          <a:prstGeom prst="roundRect">
            <a:avLst>
              <a:gd name="adj" fmla="val 6588"/>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487522"/>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487522"/>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٢٠٥</a:t>
            </a:r>
            <a:endParaRPr lang="ar-SA" sz="1200" dirty="0"/>
          </a:p>
        </p:txBody>
      </p:sp>
      <p:sp>
        <p:nvSpPr>
          <p:cNvPr id="13" name="Text 11"/>
          <p:cNvSpPr txBox="1"/>
          <p:nvPr/>
        </p:nvSpPr>
        <p:spPr>
          <a:xfrm>
            <a:off x="914400" y="3487522"/>
            <a:ext cx="9677095" cy="1132027"/>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وَإِذَا تَوَلَّىٰ سَعَىٰ فِي الْأَرْضِ لِيُفْسِدَ فِيهَا وَيُهْلِكَ الْحَرْثَ وَالنَّسْلَ وَاللَّهُ لَا يُحِبُّ الْفَسَادَ</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وإذا انصرف عنك سعى في الأرض بالفساد، وأتلف الزروع والحيوانات، والله لا يحب الفساد.</a:t>
            </a:r>
            <a:endParaRPr lang="ar-SA" sz="2800" dirty="0"/>
          </a:p>
        </p:txBody>
      </p:sp>
      <p:sp>
        <p:nvSpPr>
          <p:cNvPr id="14" name="Shape 12"/>
          <p:cNvSpPr/>
          <p:nvPr/>
        </p:nvSpPr>
        <p:spPr>
          <a:xfrm>
            <a:off x="731520" y="4875581"/>
            <a:ext cx="10728655" cy="1388059"/>
          </a:xfrm>
          <a:prstGeom prst="roundRect">
            <a:avLst>
              <a:gd name="adj" fmla="val 6588"/>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5" name="Shape 13"/>
          <p:cNvSpPr/>
          <p:nvPr/>
        </p:nvSpPr>
        <p:spPr>
          <a:xfrm>
            <a:off x="10874959" y="5003597"/>
            <a:ext cx="475488" cy="475488"/>
          </a:xfrm>
          <a:prstGeom prst="octagon">
            <a:avLst/>
          </a:prstGeom>
          <a:solidFill>
            <a:schemeClr val="accent2"/>
          </a:solidFill>
          <a:ln w="15875">
            <a:solidFill>
              <a:schemeClr val="accent5"/>
            </a:solidFill>
            <a:prstDash val="solid"/>
          </a:ln>
        </p:spPr>
      </p:sp>
      <p:sp>
        <p:nvSpPr>
          <p:cNvPr id="16" name="Text 14"/>
          <p:cNvSpPr txBox="1"/>
          <p:nvPr/>
        </p:nvSpPr>
        <p:spPr>
          <a:xfrm>
            <a:off x="10874959" y="5003597"/>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٢٠٦</a:t>
            </a:r>
            <a:endParaRPr lang="ar-SA" sz="1200" dirty="0"/>
          </a:p>
        </p:txBody>
      </p:sp>
      <p:sp>
        <p:nvSpPr>
          <p:cNvPr id="17" name="Text 15"/>
          <p:cNvSpPr txBox="1"/>
          <p:nvPr/>
        </p:nvSpPr>
        <p:spPr>
          <a:xfrm>
            <a:off x="914400" y="5003597"/>
            <a:ext cx="9677095" cy="1132027"/>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وَإِذَا قِيلَ لَهُ اتَّقِ اللَّهَ أَخَذَتْهُ الْعِزَّةُ بِالْإِثْمِ فَحَسْبُهُ جَهَنَّمُ وَلَبِئْسَ الْمِهَادُ</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وإذا قيل له: اتقِ الله، حمله الكبر على مزيد من الإثم، فحسبه جهنم، وبئس الفراش.</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بين المنافق والمؤمن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٢٠٧ – ٢٠٩</a:t>
            </a:r>
            <a:endParaRPr lang="ar-SA" sz="1400" dirty="0"/>
          </a:p>
        </p:txBody>
      </p:sp>
      <p:sp>
        <p:nvSpPr>
          <p:cNvPr id="6" name="Shape 4"/>
          <p:cNvSpPr/>
          <p:nvPr/>
        </p:nvSpPr>
        <p:spPr>
          <a:xfrm>
            <a:off x="731520" y="1280160"/>
            <a:ext cx="10728655" cy="1590142"/>
          </a:xfrm>
          <a:prstGeom prst="roundRect">
            <a:avLst>
              <a:gd name="adj" fmla="val 5750"/>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0817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0817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٢٠٧</a:t>
            </a:r>
            <a:endParaRPr lang="ar-SA" sz="1200" dirty="0"/>
          </a:p>
        </p:txBody>
      </p:sp>
      <p:sp>
        <p:nvSpPr>
          <p:cNvPr id="9" name="Text 7"/>
          <p:cNvSpPr txBox="1"/>
          <p:nvPr/>
        </p:nvSpPr>
        <p:spPr>
          <a:xfrm>
            <a:off x="914400" y="1408176"/>
            <a:ext cx="9677095" cy="1334110"/>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وَمِنَ النَّاسِ مَن يَشْرِي نَفْسَهُ ابْتِغَآءَ مَرْضَاتِ اللَّهِ وَاللَّهُ رَءُوفٌ بِالْعِبَادِ</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ومن الناس مؤمن يبيع نفسه في طاعة الله طلبًا لرضاه، والله رؤوف بعباده. وذُكر أنها نزلت في صهيب الرومي رضي الله عنه.</a:t>
            </a:r>
            <a:endParaRPr lang="ar-SA" sz="2800" dirty="0"/>
          </a:p>
        </p:txBody>
      </p:sp>
      <p:sp>
        <p:nvSpPr>
          <p:cNvPr id="10" name="Shape 8"/>
          <p:cNvSpPr/>
          <p:nvPr/>
        </p:nvSpPr>
        <p:spPr>
          <a:xfrm>
            <a:off x="731520" y="2998318"/>
            <a:ext cx="10728655" cy="1850288"/>
          </a:xfrm>
          <a:prstGeom prst="roundRect">
            <a:avLst>
              <a:gd name="adj" fmla="val 4942"/>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12633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12633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٢٠٨</a:t>
            </a:r>
            <a:endParaRPr lang="ar-SA" sz="1200" dirty="0"/>
          </a:p>
        </p:txBody>
      </p:sp>
      <p:sp>
        <p:nvSpPr>
          <p:cNvPr id="13" name="Text 11"/>
          <p:cNvSpPr txBox="1"/>
          <p:nvPr/>
        </p:nvSpPr>
        <p:spPr>
          <a:xfrm>
            <a:off x="914400" y="3126334"/>
            <a:ext cx="9677095" cy="1594256"/>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يَـٰأَيُّهَا الَّذِينَ ءَامَنُواْ ادْخُلُواْ فِي السِّلْمِ كَآفَّةً وَلَا تَتَّبِعُواْ خُطُوَٰتِ الشَّيْطَٰنِ إِنَّهُ لَكُمْ عَدُوٌّ مُّبِينٌ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يا أيها المؤمنون، ادخلوا في الإسلام كله، واعملوا بجميع شرائعه، ولا تتّبعوا طرق الشيطان، إنه لكم عدوّ واضح.</a:t>
            </a:r>
            <a:endParaRPr lang="ar-SA" sz="2800" dirty="0"/>
          </a:p>
        </p:txBody>
      </p:sp>
      <p:sp>
        <p:nvSpPr>
          <p:cNvPr id="14" name="Shape 12"/>
          <p:cNvSpPr/>
          <p:nvPr/>
        </p:nvSpPr>
        <p:spPr>
          <a:xfrm>
            <a:off x="731520" y="4976622"/>
            <a:ext cx="10728655" cy="1287018"/>
          </a:xfrm>
          <a:prstGeom prst="roundRect">
            <a:avLst>
              <a:gd name="adj" fmla="val 710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5" name="Shape 13"/>
          <p:cNvSpPr/>
          <p:nvPr/>
        </p:nvSpPr>
        <p:spPr>
          <a:xfrm>
            <a:off x="10874959" y="5104638"/>
            <a:ext cx="475488" cy="475488"/>
          </a:xfrm>
          <a:prstGeom prst="octagon">
            <a:avLst/>
          </a:prstGeom>
          <a:solidFill>
            <a:schemeClr val="accent2"/>
          </a:solidFill>
          <a:ln w="15875">
            <a:solidFill>
              <a:schemeClr val="accent5"/>
            </a:solidFill>
            <a:prstDash val="solid"/>
          </a:ln>
        </p:spPr>
      </p:sp>
      <p:sp>
        <p:nvSpPr>
          <p:cNvPr id="16" name="Text 14"/>
          <p:cNvSpPr txBox="1"/>
          <p:nvPr/>
        </p:nvSpPr>
        <p:spPr>
          <a:xfrm>
            <a:off x="10874959" y="5104638"/>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٢٠٩</a:t>
            </a:r>
            <a:endParaRPr lang="ar-SA" sz="1200" dirty="0"/>
          </a:p>
        </p:txBody>
      </p:sp>
      <p:sp>
        <p:nvSpPr>
          <p:cNvPr id="17" name="Text 15"/>
          <p:cNvSpPr txBox="1"/>
          <p:nvPr/>
        </p:nvSpPr>
        <p:spPr>
          <a:xfrm>
            <a:off x="914400" y="5104638"/>
            <a:ext cx="9677095" cy="1030986"/>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فَإِن زَلَلْتُم مِّن بَعْدِ مَا جَآءَتْكُمُ الْبَيِّنَٰتُ فَاعْلَمُواْ أَنَّ اللَّهَ عَزِيزٌ حَكِيمٌ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فإن انحرفتم بعد ما جاءتكم الحجج الواضحة، فاعلموا أن الله عزيز في انتقامه، حكيم في أمره.</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بين المنافق والمؤمن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٢١٠ – ٢١١</a:t>
            </a:r>
            <a:endParaRPr lang="ar-SA" sz="1400" dirty="0"/>
          </a:p>
        </p:txBody>
      </p:sp>
      <p:sp>
        <p:nvSpPr>
          <p:cNvPr id="6" name="Shape 4"/>
          <p:cNvSpPr/>
          <p:nvPr/>
        </p:nvSpPr>
        <p:spPr>
          <a:xfrm>
            <a:off x="731520" y="1587170"/>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71518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71518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٢١٠</a:t>
            </a:r>
            <a:endParaRPr lang="ar-SA" sz="1200" dirty="0"/>
          </a:p>
        </p:txBody>
      </p:sp>
      <p:sp>
        <p:nvSpPr>
          <p:cNvPr id="9" name="Text 7"/>
          <p:cNvSpPr txBox="1"/>
          <p:nvPr/>
        </p:nvSpPr>
        <p:spPr>
          <a:xfrm>
            <a:off x="914400" y="1715186"/>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هَلْ يَنظُرُونَ إِلَّآ أَن يَأْتِيَهُمُ اللَّهُ فِي ظُلَلٍ مِّنَ الْغَمَامِ وَالْمَلَـٰئِكَةُ وَقُضِيَ الْأَمْرُ وَإِلَى اللَّهِ تُرْجَعُ الْأُمُورُ</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ما ينتظر المكذّبون إلا أن يأتيهم الله يوم القيامة في ظلل من السحاب كما يليق بجلاله، والملائكة، ويُقضى الأمر، وإلى الله ترجع الأمور.</a:t>
            </a:r>
            <a:endParaRPr lang="ar-SA" sz="2800" dirty="0"/>
          </a:p>
        </p:txBody>
      </p:sp>
      <p:sp>
        <p:nvSpPr>
          <p:cNvPr id="10" name="Shape 8"/>
          <p:cNvSpPr/>
          <p:nvPr/>
        </p:nvSpPr>
        <p:spPr>
          <a:xfrm>
            <a:off x="731520" y="3987470"/>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115486"/>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11548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٢١١</a:t>
            </a:r>
            <a:endParaRPr lang="ar-SA" sz="1200" dirty="0"/>
          </a:p>
        </p:txBody>
      </p:sp>
      <p:sp>
        <p:nvSpPr>
          <p:cNvPr id="13" name="Text 11"/>
          <p:cNvSpPr txBox="1"/>
          <p:nvPr/>
        </p:nvSpPr>
        <p:spPr>
          <a:xfrm>
            <a:off x="914400" y="4115486"/>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سَلْ بَنِي إِسْرَـٰءِيلَ كَمْ ءَاتَيْنَٰهُم مِّنْ ءَايَةٍ بَيِّنَةٍ وَمَن يُبَدِّلْ نِعْمَةَ اللَّهِ مِن بَعْدِ مَا جَآءَتْهُ فَإِنَّ اللَّهَ شَدِيدُ الْعِقَابِ</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سل بني إسرائيل: كم أعطيناهم من معجزة واضحة فكفروا بها؟ ومن يبدّل نعمة الله بالكفر فإن الله شديد العقاب.</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بين المنافق والمؤمن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٢١٢ – ٢١٣</a:t>
            </a:r>
            <a:endParaRPr lang="ar-SA" sz="1400" dirty="0"/>
          </a:p>
        </p:txBody>
      </p:sp>
      <p:sp>
        <p:nvSpPr>
          <p:cNvPr id="6" name="Shape 4"/>
          <p:cNvSpPr/>
          <p:nvPr/>
        </p:nvSpPr>
        <p:spPr>
          <a:xfrm>
            <a:off x="731520" y="1426235"/>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55425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55425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٢١٢</a:t>
            </a:r>
            <a:endParaRPr lang="ar-SA" sz="1200" dirty="0"/>
          </a:p>
        </p:txBody>
      </p:sp>
      <p:sp>
        <p:nvSpPr>
          <p:cNvPr id="9" name="Text 7"/>
          <p:cNvSpPr txBox="1"/>
          <p:nvPr/>
        </p:nvSpPr>
        <p:spPr>
          <a:xfrm>
            <a:off x="914400" y="1554251"/>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زُيِّنَ لِلَّذِينَ كَفَرُواْ الْحَيَوٰةُ الدُّنْيَا وَيَسْخَرُونَ مِنَ الَّذِينَ ءَامَنُواْ وَالَّذِينَ اتَّقَوْاْ فَوْقَهُمْ يَوْمَ الْقِيَٰمَةِ وَاللَّهُ يَرْزُقُ مَن يَشَآءُ بِغَيْرِ حِسَابٍ</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زُيّنت للكفار الحياة الدنيا، ويسخرون من المؤمنين، والمتقون فوقهم يوم القيامة، والله يرزق من يشاء بغير حساب.</a:t>
            </a:r>
            <a:endParaRPr lang="ar-SA" sz="2800" dirty="0"/>
          </a:p>
        </p:txBody>
      </p:sp>
      <p:sp>
        <p:nvSpPr>
          <p:cNvPr id="10" name="Shape 8"/>
          <p:cNvSpPr/>
          <p:nvPr/>
        </p:nvSpPr>
        <p:spPr>
          <a:xfrm>
            <a:off x="731520" y="3523412"/>
            <a:ext cx="10728655" cy="2594153"/>
          </a:xfrm>
          <a:prstGeom prst="roundRect">
            <a:avLst>
              <a:gd name="adj" fmla="val 35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651428"/>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651428"/>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٢١٣</a:t>
            </a:r>
            <a:endParaRPr lang="ar-SA" sz="1200" dirty="0"/>
          </a:p>
        </p:txBody>
      </p:sp>
      <p:sp>
        <p:nvSpPr>
          <p:cNvPr id="13" name="Text 11"/>
          <p:cNvSpPr txBox="1"/>
          <p:nvPr/>
        </p:nvSpPr>
        <p:spPr>
          <a:xfrm>
            <a:off x="914400" y="3651428"/>
            <a:ext cx="9677095" cy="2338121"/>
          </a:xfrm>
          <a:prstGeom prst="rect">
            <a:avLst/>
          </a:prstGeom>
          <a:noFill/>
          <a:ln/>
        </p:spPr>
        <p:txBody>
          <a:bodyPr wrap="square" lIns="0" tIns="0" rIns="0" bIns="0" rtlCol="0" anchor="ctr"/>
          <a:lstStyle/>
          <a:p>
            <a:pPr rtl="1" algn="r" indent="0" marL="0">
              <a:spcAft>
                <a:spcPts val="800"/>
              </a:spcAft>
              <a:buNone/>
            </a:pPr>
            <a:r>
              <a:rPr lang="ar-SA" altLang="en-US" sz="2400" b="1" dirty="0">
                <a:solidFill>
                  <a:schemeClr val="tx2"/>
                </a:solidFill>
                <a:latin typeface="Traditional Arabic" pitchFamily="34" charset="0"/>
                <a:ea typeface="Traditional Arabic" pitchFamily="34" charset="-122"/>
                <a:cs typeface="Traditional Arabic" pitchFamily="34" charset="-120"/>
              </a:rPr>
              <a:t>كَانَ النَّاسُ أُمَّةً وَٰحِدَةً فَبَعَثَ اللَّهُ النَّبِيِّـنَ مُبَشِّرِينَ وَمُنذِرِينَ وَأَنزَلَ مَعَهُمُ الْكِتَٰبَ بِالْحَقِّ لِيَحْكُمَ بَيْنَ النَّاسِ فِيمَا اخْتَلَفُواْ فِيهِ وَمَا اخْتَلَفَ فِيهِ إِلَّا الَّذِينَ أُوتُوهُ مِن بَعْدِ مَا جَآءَتْهُمُ الْبَيِّنَٰتُ بَغْيًا بَيْنَهُمْ فَهَدَى اللَّهُ الَّذِينَ ءَامَنُواْ لِمَا اخْتَلَفُواْ فِيهِ مِنَ الْحَقِّ بِإِذْنِهِ وَاللَّهُ يَهْدِي مَن يَشَآءُ إِلَىٰ صِرَٰطٍ مُّسْتَقِيمٍ</a:t>
            </a:r>
            <a:endParaRPr lang="ar-SA" sz="24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كان الناس من آدم إلى نوح على التوحيد ثم اختلفوا، فبعث الله النبيين مبشّرين ومنذرين، وأنزل معهم الكتب ليحكموا بين الناس، فهدى الله المؤمنين للحق بإذنه.</a:t>
            </a:r>
            <a:endParaRPr lang="ar-SA" sz="24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بين المنافق والمؤمن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٢١٤</a:t>
            </a:r>
            <a:endParaRPr lang="ar-SA" sz="1400" dirty="0"/>
          </a:p>
        </p:txBody>
      </p:sp>
      <p:sp>
        <p:nvSpPr>
          <p:cNvPr id="6" name="Shape 4"/>
          <p:cNvSpPr/>
          <p:nvPr/>
        </p:nvSpPr>
        <p:spPr>
          <a:xfrm>
            <a:off x="731520" y="2354123"/>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482139"/>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482139"/>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٢١٤</a:t>
            </a:r>
            <a:endParaRPr lang="ar-SA" sz="1200" dirty="0"/>
          </a:p>
        </p:txBody>
      </p:sp>
      <p:sp>
        <p:nvSpPr>
          <p:cNvPr id="9" name="Text 7"/>
          <p:cNvSpPr txBox="1"/>
          <p:nvPr/>
        </p:nvSpPr>
        <p:spPr>
          <a:xfrm>
            <a:off x="914400" y="2482139"/>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أَمْ حَسِبْتُمْ أَن تَدْخُلُواْ الْجَنَّةَ وَلَمَّا يَأْتِكُم مَّثَلُ الَّذِينَ خَلَوْاْ مِن قَبْلِكُم مَّسَّتْهُمُ الْبَأْسَآءُ وَالضَّرَّآءُ وَزُلْزِلُواْ حَتَّىٰ يَقُولَ الرَّسُولُ وَالَّذِينَ ءَامَنُواْ مَعَهُ مَتَىٰ نَصْرُ اللَّهِ أَلَآ إِنَّ نَصْرَ اللَّهِ قَرِيبٌ</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أم ظننتم أن تدخلوا الجنة ولم يُصبكم مثل ما أصاب من قبلكم من الفقر والمرض والخوف، حتى قال الرسول والمؤمنون: متى نصر الله؟ ألا إن نصر الله قريب.</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بين المنافق والمؤمن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٢١٥ – ٢١٦</a:t>
            </a:r>
            <a:endParaRPr lang="ar-SA" sz="1400" dirty="0"/>
          </a:p>
        </p:txBody>
      </p:sp>
      <p:sp>
        <p:nvSpPr>
          <p:cNvPr id="6" name="Shape 4"/>
          <p:cNvSpPr/>
          <p:nvPr/>
        </p:nvSpPr>
        <p:spPr>
          <a:xfrm>
            <a:off x="731520" y="14356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563624"/>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56362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٢١٥</a:t>
            </a:r>
            <a:endParaRPr lang="ar-SA" sz="1200" dirty="0"/>
          </a:p>
        </p:txBody>
      </p:sp>
      <p:sp>
        <p:nvSpPr>
          <p:cNvPr id="9" name="Text 7"/>
          <p:cNvSpPr txBox="1"/>
          <p:nvPr/>
        </p:nvSpPr>
        <p:spPr>
          <a:xfrm>
            <a:off x="914400" y="15636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يَسْـَٔلُونَكَ مَاذَا يُنفِقُونَ قُلْ مَآ أَنفَقْتُم مِّنْ خَيْرٍ فَلِلْوَٰلِدَيْنِ وَالْأَقْرَبِينَ وَالْيَتَٰمَىٰ وَالْمَسَٰكِينِ وَابْنِ السَّبِيلِ وَمَا تَفْعَلُواْ مِنْ خَيْرٍ فَإِنَّ اللَّهَ بِهِ عَلِيمٌ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يسألونك: ماذا ينفقون؟ قل: ما أنفقتم من خير فأعطوه للوالدين والأقارب واليتامى والمساكين والمسافر المحتاج، وما تفعلوا من خير فإن الله به عليم.</a:t>
            </a:r>
            <a:endParaRPr lang="ar-SA" sz="2800" dirty="0"/>
          </a:p>
        </p:txBody>
      </p:sp>
      <p:sp>
        <p:nvSpPr>
          <p:cNvPr id="10" name="Shape 8"/>
          <p:cNvSpPr/>
          <p:nvPr/>
        </p:nvSpPr>
        <p:spPr>
          <a:xfrm>
            <a:off x="731520" y="38359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96392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96392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٢١٦</a:t>
            </a:r>
            <a:endParaRPr lang="ar-SA" sz="1200" dirty="0"/>
          </a:p>
        </p:txBody>
      </p:sp>
      <p:sp>
        <p:nvSpPr>
          <p:cNvPr id="13" name="Text 11"/>
          <p:cNvSpPr txBox="1"/>
          <p:nvPr/>
        </p:nvSpPr>
        <p:spPr>
          <a:xfrm>
            <a:off x="914400" y="39639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كُتِبَ عَلَيْكُمُ الْقِتَالُ وَهُوَ كُرْهٌ لَّكُمْ وَعَسَىٰ أَن تَكْرَهُواْ شَيْـًٔا وَهُوَ خَيْرٌ لَّكُمْ وَعَسَىٰ أَن تُحِبُّواْ شَيْـًٔا وَهُوَ شَرٌّ لَّكُمْ وَاللَّهُ يَعْلَمُ وَأَنتُمْ لَا تَعْلَمُونَ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فُرض عليكم القتال في سبيل الله وهو شاقّ عليكم، وعسى أن تكرهوا شيئًا وهو خير لكم، وعسى أن تحبوا شيئًا وهو شرّ لكم، والله يعلم وأنتم لا تعلمون.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بين المنافق والمؤمن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٢١٧ – ٢١٨</a:t>
            </a:r>
            <a:endParaRPr lang="ar-SA" sz="1400" dirty="0"/>
          </a:p>
        </p:txBody>
      </p:sp>
      <p:sp>
        <p:nvSpPr>
          <p:cNvPr id="6" name="Shape 4"/>
          <p:cNvSpPr/>
          <p:nvPr/>
        </p:nvSpPr>
        <p:spPr>
          <a:xfrm>
            <a:off x="731520" y="1280160"/>
            <a:ext cx="10728655" cy="2981630"/>
          </a:xfrm>
          <a:prstGeom prst="roundRect">
            <a:avLst>
              <a:gd name="adj" fmla="val 3067"/>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0817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0817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٢١٧</a:t>
            </a:r>
            <a:endParaRPr lang="ar-SA" sz="1200" dirty="0"/>
          </a:p>
        </p:txBody>
      </p:sp>
      <p:sp>
        <p:nvSpPr>
          <p:cNvPr id="9" name="Text 7"/>
          <p:cNvSpPr txBox="1"/>
          <p:nvPr/>
        </p:nvSpPr>
        <p:spPr>
          <a:xfrm>
            <a:off x="914400" y="1408176"/>
            <a:ext cx="9677095" cy="2725598"/>
          </a:xfrm>
          <a:prstGeom prst="rect">
            <a:avLst/>
          </a:prstGeom>
          <a:noFill/>
          <a:ln/>
        </p:spPr>
        <p:txBody>
          <a:bodyPr wrap="square" lIns="0" tIns="0" rIns="0" bIns="0" rtlCol="0" anchor="ctr"/>
          <a:lstStyle/>
          <a:p>
            <a:pPr rtl="1" algn="r" indent="0" marL="0">
              <a:spcAft>
                <a:spcPts val="800"/>
              </a:spcAft>
              <a:buNone/>
            </a:pPr>
            <a:r>
              <a:rPr lang="ar-SA" altLang="en-US" sz="2400" b="1" dirty="0">
                <a:solidFill>
                  <a:schemeClr val="tx2"/>
                </a:solidFill>
                <a:latin typeface="Traditional Arabic" pitchFamily="34" charset="0"/>
                <a:ea typeface="Traditional Arabic" pitchFamily="34" charset="-122"/>
                <a:cs typeface="Traditional Arabic" pitchFamily="34" charset="-120"/>
              </a:rPr>
              <a:t>يَسْـَٔلُونَكَ عَنِ الشَّهْرِ الْحَرَامِ قِتَالٍ فِيهِ قُلْ قِتَالٌ فِيهِ كَبِيرٌ وَصَدٌّ عَن سَبِيلِ اللَّهِ وَكُفْرٌ بِهِ وَالْمَسْجِدِ الْحَرَامِ وَإِخْرَاجُ أَهْلِهِ مِنْهُ أَكْبَرُ عِندَ اللَّهِ وَالْفِتْنَةُ أَكْبَرُ مِنَ الْقَتْلِ وَلَا يَزَالُونَ يُقَٰتِلُونَكُمْ حَتَّىٰ يَرُدُّوكُمْ عَن دِينِكُمْ إِنِ اسْتَطَٰعُواْ وَمَن يَرْتَدِدْ مِنكُمْ عَن دِينِهِ فَيَمُتْ وَهُوَ كَافِرٌ فَأُوْلَـٰئِكَ حَبِطَتْ أَعْمَٰلُهُمْ فِي الدُّنْيَا وَالْأخِرَةِ وَأُوْلَـٰئِكَ أَصْحَٰبُ النَّارِ هُمْ فِيهَا خَٰلِدُونَ</a:t>
            </a:r>
            <a:endParaRPr lang="ar-SA" sz="24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يسألونك عن القتال في الشهر الحرام، قل: القتال فيه ذنب كبير، ولكن صدّ المشركين عن دين الله وكفرهم، ومنعهم الناس من المسجد الحرام، وإخراج أهله منه أكبر عند الله، والشرك أكبر من القتل.</a:t>
            </a:r>
            <a:endParaRPr lang="ar-SA" sz="2400" dirty="0"/>
          </a:p>
        </p:txBody>
      </p:sp>
      <p:sp>
        <p:nvSpPr>
          <p:cNvPr id="10" name="Shape 8"/>
          <p:cNvSpPr/>
          <p:nvPr/>
        </p:nvSpPr>
        <p:spPr>
          <a:xfrm>
            <a:off x="731520" y="4389806"/>
            <a:ext cx="10728655" cy="1873834"/>
          </a:xfrm>
          <a:prstGeom prst="roundRect">
            <a:avLst>
              <a:gd name="adj" fmla="val 4880"/>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517822"/>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517822"/>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٢١٨</a:t>
            </a:r>
            <a:endParaRPr lang="ar-SA" sz="1200" dirty="0"/>
          </a:p>
        </p:txBody>
      </p:sp>
      <p:sp>
        <p:nvSpPr>
          <p:cNvPr id="13" name="Text 11"/>
          <p:cNvSpPr txBox="1"/>
          <p:nvPr/>
        </p:nvSpPr>
        <p:spPr>
          <a:xfrm>
            <a:off x="914400" y="4517822"/>
            <a:ext cx="9677095" cy="161780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إِنَّ الَّذِينَ ءَامَنُواْ وَالَّذِينَ هَاجَرُواْ وَجَٰهَدُواْ فِي سَبِيلِ اللَّهِ أُوْلَـٰئِكَ يَرْجُونَ رَحْمَتَ اللَّهِ وَاللَّهُ غَفُورٌ رَّحِيمٌ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إن المؤمنين والمهاجرين والمجاهدين في سبيل الله، أولئك يرجون رحمة الله، والله غفور رحيم.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txBox="1"/>
          <p:nvPr/>
        </p:nvSpPr>
        <p:spPr>
          <a:xfrm>
            <a:off x="7223760" y="1143000"/>
            <a:ext cx="4114800" cy="411480"/>
          </a:xfrm>
          <a:prstGeom prst="rect">
            <a:avLst/>
          </a:prstGeom>
          <a:noFill/>
          <a:ln/>
        </p:spPr>
        <p:txBody>
          <a:bodyPr wrap="square" lIns="0" tIns="0" rIns="0" bIns="0" rtlCol="0" anchor="t"/>
          <a:lstStyle/>
          <a:p>
            <a:pPr rtl="1" algn="ctr" indent="0" marL="0">
              <a:buNone/>
            </a:pPr>
            <a:r>
              <a:rPr lang="ar-SA" altLang="en-US" sz="1800" b="1" dirty="0">
                <a:solidFill>
                  <a:schemeClr val="accent5"/>
                </a:solidFill>
              </a:rPr>
              <a:t>المقطع</a:t>
            </a:r>
            <a:endParaRPr lang="ar-SA" sz="1800" dirty="0"/>
          </a:p>
        </p:txBody>
      </p:sp>
      <p:sp>
        <p:nvSpPr>
          <p:cNvPr id="3" name="Shape 1"/>
          <p:cNvSpPr/>
          <p:nvPr/>
        </p:nvSpPr>
        <p:spPr>
          <a:xfrm>
            <a:off x="8915400" y="1645920"/>
            <a:ext cx="731520" cy="731520"/>
          </a:xfrm>
          <a:prstGeom prst="octagon">
            <a:avLst/>
          </a:prstGeom>
          <a:solidFill>
            <a:schemeClr val="accent2"/>
          </a:solidFill>
          <a:ln w="15875">
            <a:solidFill>
              <a:schemeClr val="accent5"/>
            </a:solidFill>
            <a:prstDash val="solid"/>
          </a:ln>
        </p:spPr>
      </p:sp>
      <p:sp>
        <p:nvSpPr>
          <p:cNvPr id="4" name="Text 2"/>
          <p:cNvSpPr txBox="1"/>
          <p:nvPr/>
        </p:nvSpPr>
        <p:spPr>
          <a:xfrm>
            <a:off x="8915400" y="164592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bg1"/>
                </a:solidFill>
                <a:latin typeface="Arial" pitchFamily="34" charset="0"/>
                <a:ea typeface="Arial" pitchFamily="34" charset="-122"/>
                <a:cs typeface="Arial" pitchFamily="34" charset="-120"/>
              </a:rPr>
              <a:t>١٦</a:t>
            </a:r>
            <a:endParaRPr lang="ar-SA" sz="1800" dirty="0"/>
          </a:p>
        </p:txBody>
      </p:sp>
      <p:sp>
        <p:nvSpPr>
          <p:cNvPr id="5" name="Text 3"/>
          <p:cNvSpPr txBox="1"/>
          <p:nvPr/>
        </p:nvSpPr>
        <p:spPr>
          <a:xfrm>
            <a:off x="7269480" y="2606040"/>
            <a:ext cx="4023360" cy="1737360"/>
          </a:xfrm>
          <a:prstGeom prst="rect">
            <a:avLst/>
          </a:prstGeom>
          <a:noFill/>
          <a:ln/>
        </p:spPr>
        <p:txBody>
          <a:bodyPr wrap="square" lIns="0" tIns="0" rIns="0" bIns="0" rtlCol="0" anchor="ctr"/>
          <a:lstStyle/>
          <a:p>
            <a:pPr rtl="1" algn="ctr" indent="0" marL="0">
              <a:buNone/>
            </a:pPr>
            <a:r>
              <a:rPr lang="ar-SA" altLang="en-US" sz="3800" b="1" dirty="0">
                <a:solidFill>
                  <a:schemeClr val="bg1"/>
                </a:solidFill>
                <a:latin typeface="Sakkal Majalla" pitchFamily="34" charset="0"/>
                <a:ea typeface="Sakkal Majalla" pitchFamily="34" charset="-122"/>
                <a:cs typeface="Sakkal Majalla" pitchFamily="34" charset="-120"/>
              </a:rPr>
              <a:t>أحكام الأسرة والمجتمع</a:t>
            </a:r>
            <a:endParaRPr lang="ar-SA" sz="3800" dirty="0"/>
          </a:p>
        </p:txBody>
      </p:sp>
      <p:sp>
        <p:nvSpPr>
          <p:cNvPr id="6" name="Text 4"/>
          <p:cNvSpPr txBox="1"/>
          <p:nvPr/>
        </p:nvSpPr>
        <p:spPr>
          <a:xfrm>
            <a:off x="7269480" y="4526280"/>
            <a:ext cx="4023360" cy="457200"/>
          </a:xfrm>
          <a:prstGeom prst="rect">
            <a:avLst/>
          </a:prstGeom>
          <a:noFill/>
          <a:ln/>
        </p:spPr>
        <p:txBody>
          <a:bodyPr wrap="square" lIns="0" tIns="0" rIns="0" bIns="0" rtlCol="0" anchor="t"/>
          <a:lstStyle/>
          <a:p>
            <a:pPr rtl="1" algn="ctr" indent="0" marL="0">
              <a:buNone/>
            </a:pPr>
            <a:r>
              <a:rPr lang="ar-SA" altLang="en-US" sz="2000" b="1" dirty="0">
                <a:solidFill>
                  <a:schemeClr val="accent5"/>
                </a:solidFill>
              </a:rPr>
              <a:t>الآيات ٢١٩ – ٢٤٢</a:t>
            </a:r>
            <a:endParaRPr lang="ar-SA" sz="2000" dirty="0"/>
          </a:p>
        </p:txBody>
      </p:sp>
      <p:sp>
        <p:nvSpPr>
          <p:cNvPr id="7" name="Shape 5"/>
          <p:cNvSpPr/>
          <p:nvPr/>
        </p:nvSpPr>
        <p:spPr>
          <a:xfrm>
            <a:off x="685800" y="685800"/>
            <a:ext cx="5806440" cy="2606040"/>
          </a:xfrm>
          <a:prstGeom prst="roundRect">
            <a:avLst>
              <a:gd name="adj" fmla="val 4211"/>
            </a:avLst>
          </a:prstGeom>
          <a:solidFill>
            <a:schemeClr val="bg2"/>
          </a:solidFill>
          <a:ln w="19050">
            <a:solidFill>
              <a:schemeClr val="accent5"/>
            </a:solidFill>
            <a:prstDash val="solid"/>
          </a:ln>
        </p:spPr>
      </p:sp>
      <p:sp>
        <p:nvSpPr>
          <p:cNvPr id="8" name="Shape 6"/>
          <p:cNvSpPr/>
          <p:nvPr/>
        </p:nvSpPr>
        <p:spPr>
          <a:xfrm>
            <a:off x="4343400" y="914400"/>
            <a:ext cx="1920240" cy="420624"/>
          </a:xfrm>
          <a:prstGeom prst="roundRect">
            <a:avLst>
              <a:gd name="adj" fmla="val 50000"/>
            </a:avLst>
          </a:prstGeom>
          <a:solidFill>
            <a:schemeClr val="accent2"/>
          </a:solidFill>
          <a:ln/>
        </p:spPr>
      </p:sp>
      <p:sp>
        <p:nvSpPr>
          <p:cNvPr id="9" name="Text 7"/>
          <p:cNvSpPr txBox="1"/>
          <p:nvPr/>
        </p:nvSpPr>
        <p:spPr>
          <a:xfrm>
            <a:off x="4343400" y="91440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سبب النزول</a:t>
            </a:r>
            <a:endParaRPr lang="ar-SA" sz="1600" dirty="0"/>
          </a:p>
        </p:txBody>
      </p:sp>
      <p:sp>
        <p:nvSpPr>
          <p:cNvPr id="10" name="Text 8"/>
          <p:cNvSpPr txBox="1"/>
          <p:nvPr/>
        </p:nvSpPr>
        <p:spPr>
          <a:xfrm>
            <a:off x="960120" y="1463040"/>
            <a:ext cx="5257800" cy="16459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قال عمر بن الخطاب: اللهم بيّن لنا في الخمر بيانًا شافيًا، فنزلت آية البقرة ﴿يسألونك عن الخمر والميسر﴾، ثم نزل تحريمها نهائيًا في سورة المائدة (رواه أبو داود والترمذي).</a:t>
            </a:r>
            <a:endParaRPr lang="ar-SA" sz="1700" dirty="0"/>
          </a:p>
        </p:txBody>
      </p:sp>
      <p:sp>
        <p:nvSpPr>
          <p:cNvPr id="11" name="Shape 9"/>
          <p:cNvSpPr/>
          <p:nvPr/>
        </p:nvSpPr>
        <p:spPr>
          <a:xfrm>
            <a:off x="685800" y="3566160"/>
            <a:ext cx="5806440" cy="2606040"/>
          </a:xfrm>
          <a:prstGeom prst="roundRect">
            <a:avLst>
              <a:gd name="adj" fmla="val 4211"/>
            </a:avLst>
          </a:prstGeom>
          <a:solidFill>
            <a:schemeClr val="bg2"/>
          </a:solidFill>
          <a:ln w="19050">
            <a:solidFill>
              <a:schemeClr val="accent5"/>
            </a:solidFill>
            <a:prstDash val="solid"/>
          </a:ln>
        </p:spPr>
      </p:sp>
      <p:sp>
        <p:nvSpPr>
          <p:cNvPr id="12" name="Shape 10"/>
          <p:cNvSpPr/>
          <p:nvPr/>
        </p:nvSpPr>
        <p:spPr>
          <a:xfrm>
            <a:off x="4343400" y="3794760"/>
            <a:ext cx="1920240" cy="420624"/>
          </a:xfrm>
          <a:prstGeom prst="roundRect">
            <a:avLst>
              <a:gd name="adj" fmla="val 50000"/>
            </a:avLst>
          </a:prstGeom>
          <a:solidFill>
            <a:schemeClr val="tx2"/>
          </a:solidFill>
          <a:ln/>
        </p:spPr>
      </p:sp>
      <p:sp>
        <p:nvSpPr>
          <p:cNvPr id="13" name="Text 11"/>
          <p:cNvSpPr txBox="1"/>
          <p:nvPr/>
        </p:nvSpPr>
        <p:spPr>
          <a:xfrm>
            <a:off x="4343400" y="379476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مقصد المقطع</a:t>
            </a:r>
            <a:endParaRPr lang="ar-SA" sz="1600" dirty="0"/>
          </a:p>
        </p:txBody>
      </p:sp>
      <p:sp>
        <p:nvSpPr>
          <p:cNvPr id="14" name="Text 12"/>
          <p:cNvSpPr txBox="1"/>
          <p:nvPr/>
        </p:nvSpPr>
        <p:spPr>
          <a:xfrm>
            <a:off x="960120" y="4343400"/>
            <a:ext cx="5257800" cy="16459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بيان حكم الخمر والميسر، ورعاية اليتامى، وأحكام الزواج والطلاق والرضاع والعدة، والمحافظة على الصلاة.</a:t>
            </a:r>
            <a:endParaRPr lang="ar-SA" sz="17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أحكام الأسرة والمجتمع</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٢١٩ – ٢٢٠</a:t>
            </a:r>
            <a:endParaRPr lang="ar-SA" sz="1400" dirty="0"/>
          </a:p>
        </p:txBody>
      </p:sp>
      <p:sp>
        <p:nvSpPr>
          <p:cNvPr id="6" name="Shape 4"/>
          <p:cNvSpPr/>
          <p:nvPr/>
        </p:nvSpPr>
        <p:spPr>
          <a:xfrm>
            <a:off x="731520" y="14356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563624"/>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56362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٢١٩</a:t>
            </a:r>
            <a:endParaRPr lang="ar-SA" sz="1200" dirty="0"/>
          </a:p>
        </p:txBody>
      </p:sp>
      <p:sp>
        <p:nvSpPr>
          <p:cNvPr id="9" name="Text 7"/>
          <p:cNvSpPr txBox="1"/>
          <p:nvPr/>
        </p:nvSpPr>
        <p:spPr>
          <a:xfrm>
            <a:off x="914400" y="15636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يَسْـَٔلُونَكَ عَنِ الْخَمْرِ وَالْمَيْسِرِ قُلْ فِيهِمَآ إِثْمٌ كَبِيرٌ وَمَنَٰفِعُ لِلنَّاسِ وَإِثْمُهُمَآ أَكْبَرُ مِن نَّفْعِهِمَا وَيَسْـَٔلُونَكَ مَاذَا يُنفِقُونَ قُلِ الْعَفْوَ كَذَٰلِكَ يُبَيِّنُ اللَّهُ لَكُمُ الْأيَٰتِ لَعَلَّكُمْ تَتَفَكَّرُونَ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يسألونك عن الخمر والقمار، قل: فيهما إثم كبير ومنافع دنيوية قليلة، وإثمهما أكبر من نفعهما -وكان هذا تمهيدًا لتحريمهما-، ويسألونك: ماذا ينفقون؟ قل: ما زاد عن حاجتكم.</a:t>
            </a:r>
            <a:endParaRPr lang="ar-SA" sz="2800" dirty="0"/>
          </a:p>
        </p:txBody>
      </p:sp>
      <p:sp>
        <p:nvSpPr>
          <p:cNvPr id="10" name="Shape 8"/>
          <p:cNvSpPr/>
          <p:nvPr/>
        </p:nvSpPr>
        <p:spPr>
          <a:xfrm>
            <a:off x="731520" y="38359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96392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96392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٢٢٠</a:t>
            </a:r>
            <a:endParaRPr lang="ar-SA" sz="1200" dirty="0"/>
          </a:p>
        </p:txBody>
      </p:sp>
      <p:sp>
        <p:nvSpPr>
          <p:cNvPr id="13" name="Text 11"/>
          <p:cNvSpPr txBox="1"/>
          <p:nvPr/>
        </p:nvSpPr>
        <p:spPr>
          <a:xfrm>
            <a:off x="914400" y="39639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فِي الدُّنْيَا وَالْأخِرَةِ وَيَسْـَٔلُونَكَ عَنِ الْيَتَٰمَىٰ قُلْ إِصْلَاحٌ لَّهُمْ خَيْرٌ وَإِن تُخَالِطُوهُمْ فَإِخْوَٰنُكُمْ وَاللَّهُ يَعْلَمُ الْمُفْسِدَ مِنَ الْمُصْلِحِ وَلَوْ شَآءَ اللَّهُ لَأَعْنَتَكُمْ إِنَّ اللَّهَ عَزِيزٌ حَكِيمٌ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لتتفكّروا في أمور الدنيا والآخرة، ويسألونك عن اليتامى، قل: إصلاح أموالهم خير، وإن تخلطوا طعامكم بطعامهم فهم إخوانكم، والله يعلم المفسد من المصلح.</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أحكام الأسرة والمجتمع</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٢٢١</a:t>
            </a:r>
            <a:endParaRPr lang="ar-SA" sz="1400" dirty="0"/>
          </a:p>
        </p:txBody>
      </p:sp>
      <p:sp>
        <p:nvSpPr>
          <p:cNvPr id="6" name="Shape 4"/>
          <p:cNvSpPr/>
          <p:nvPr/>
        </p:nvSpPr>
        <p:spPr>
          <a:xfrm>
            <a:off x="731520" y="2474824"/>
            <a:ext cx="10728655" cy="2594153"/>
          </a:xfrm>
          <a:prstGeom prst="roundRect">
            <a:avLst>
              <a:gd name="adj" fmla="val 35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602840"/>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602840"/>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٢٢١</a:t>
            </a:r>
            <a:endParaRPr lang="ar-SA" sz="1200" dirty="0"/>
          </a:p>
        </p:txBody>
      </p:sp>
      <p:sp>
        <p:nvSpPr>
          <p:cNvPr id="9" name="Text 7"/>
          <p:cNvSpPr txBox="1"/>
          <p:nvPr/>
        </p:nvSpPr>
        <p:spPr>
          <a:xfrm>
            <a:off x="914400" y="2602840"/>
            <a:ext cx="9677095" cy="2338121"/>
          </a:xfrm>
          <a:prstGeom prst="rect">
            <a:avLst/>
          </a:prstGeom>
          <a:noFill/>
          <a:ln/>
        </p:spPr>
        <p:txBody>
          <a:bodyPr wrap="square" lIns="0" tIns="0" rIns="0" bIns="0" rtlCol="0" anchor="ctr"/>
          <a:lstStyle/>
          <a:p>
            <a:pPr rtl="1" algn="r" indent="0" marL="0">
              <a:spcAft>
                <a:spcPts val="800"/>
              </a:spcAft>
              <a:buNone/>
            </a:pPr>
            <a:r>
              <a:rPr lang="ar-SA" altLang="en-US" sz="2400" b="1" dirty="0">
                <a:solidFill>
                  <a:schemeClr val="tx2"/>
                </a:solidFill>
                <a:latin typeface="Traditional Arabic" pitchFamily="34" charset="0"/>
                <a:ea typeface="Traditional Arabic" pitchFamily="34" charset="-122"/>
                <a:cs typeface="Traditional Arabic" pitchFamily="34" charset="-120"/>
              </a:rPr>
              <a:t>وَلَا تَنكِحُواْ الْمُشْرِكَٰتِ حَتَّىٰ يُؤْمِنَّ وَلَأَمَةٌ مُّؤْمِنَةٌ خَيْرٌ مِّن مُّشْرِكَةٍ وَلَوْ أَعْجَبَتْكُمْ وَلَا تُنكِحُواْ الْمُشْرِكِينَ حَتَّىٰ يُؤْمِنُواْ وَلَعَبْدٌ مُّؤْمِنٌ خَيْرٌ مِّن مُّشْرِكٍ وَلَوْ أَعْجَبَكُمْ أُوْلَـٰئِكَ يَدْعُونَ إِلَى النَّارِ وَاللَّهُ يَدْعُواْ إِلَى الْجَنَّةِ وَالْمَغْفِرَةِ بِإِذْنِهِ وَيُبَيِّنُ ءَايَٰتِهِ لِلنَّاسِ لَعَلَّهُمْ يَتَذَكَّرُونَ</a:t>
            </a:r>
            <a:endParaRPr lang="ar-SA" sz="24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ولا تتزوّجوا المشركات حتى يؤمنّ، ولأمةٌ مؤمنة خير من مشركة ولو أعجبتكم، ولا تزوّجوا المشركين المؤمنات حتى يؤمنوا؛ أولئك يدعون إلى النار، والله يدعو إلى الجنة والمغفرة.</a:t>
            </a:r>
            <a:endParaRPr lang="ar-SA" sz="24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أحكام الأسرة والمجتمع</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٢٢٢</a:t>
            </a:r>
            <a:endParaRPr lang="ar-SA" sz="1400" dirty="0"/>
          </a:p>
        </p:txBody>
      </p:sp>
      <p:sp>
        <p:nvSpPr>
          <p:cNvPr id="6" name="Shape 4"/>
          <p:cNvSpPr/>
          <p:nvPr/>
        </p:nvSpPr>
        <p:spPr>
          <a:xfrm>
            <a:off x="731520" y="2354123"/>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482139"/>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482139"/>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٢٢٢</a:t>
            </a:r>
            <a:endParaRPr lang="ar-SA" sz="1200" dirty="0"/>
          </a:p>
        </p:txBody>
      </p:sp>
      <p:sp>
        <p:nvSpPr>
          <p:cNvPr id="9" name="Text 7"/>
          <p:cNvSpPr txBox="1"/>
          <p:nvPr/>
        </p:nvSpPr>
        <p:spPr>
          <a:xfrm>
            <a:off x="914400" y="2482139"/>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وَيَسْـَٔلُونَكَ عَنِ الْمَحِيضِ قُلْ هُوَ أَذًى فَاعْتَزِلُواْ النِّسَآءَ فِي الْمَحِيضِ وَلَا تَقْرَبُوهُنَّ حَتَّىٰ يَطْهُرْنَ فَإِذَا تَطَهَّرْنَ فَأْتُوهُنَّ مِنْ حَيْثُ أَمَرَكُمُ اللَّهُ إِنَّ اللَّهَ يُحِبُّ التَّوَّـٰبِينَ وَيُحِبُّ الْمُتَطَهِّرِينَ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ويسألونك عن الحيض، قل: هو أذى، فاجتنبوا معاشرة الزوجات فيه حتى يطهرن، إن الله يحب التوابين ويحب المتطهّرين.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أحكام الأسرة والمجتمع</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٢٢٣ – ٢٢٤</a:t>
            </a:r>
            <a:endParaRPr lang="ar-SA" sz="1400" dirty="0"/>
          </a:p>
        </p:txBody>
      </p:sp>
      <p:sp>
        <p:nvSpPr>
          <p:cNvPr id="6" name="Shape 4"/>
          <p:cNvSpPr/>
          <p:nvPr/>
        </p:nvSpPr>
        <p:spPr>
          <a:xfrm>
            <a:off x="731520" y="1868805"/>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99682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9968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٢٢٣</a:t>
            </a:r>
            <a:endParaRPr lang="ar-SA" sz="1200" dirty="0"/>
          </a:p>
        </p:txBody>
      </p:sp>
      <p:sp>
        <p:nvSpPr>
          <p:cNvPr id="9" name="Text 7"/>
          <p:cNvSpPr txBox="1"/>
          <p:nvPr/>
        </p:nvSpPr>
        <p:spPr>
          <a:xfrm>
            <a:off x="914400" y="1996821"/>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نِسَآؤُكُمْ حَرْثٌ لَّكُمْ فَأْتُواْ حَرْثَكُمْ أَنَّىٰ شِئْتُمْ وَقَدِّمُواْ لِأَنفُسِكُمْ وَاتَّقُواْ اللَّهَ وَاعْلَمُواْ أَنَّكُم مُّلَٰقُوهُ وَبَشِّرِ الْمُؤْمِنِينَ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زوجاتكم موضع الذرية لكم، فعاشروهن كما أحلّ الله، وقدّموا لأنفسكم الأعمال الصالحة، واتقوا الله، واعلموا أنكم ملاقوه، وبشّر المؤمنين.</a:t>
            </a:r>
            <a:endParaRPr lang="ar-SA" sz="2800" dirty="0"/>
          </a:p>
        </p:txBody>
      </p:sp>
      <p:sp>
        <p:nvSpPr>
          <p:cNvPr id="10" name="Shape 8"/>
          <p:cNvSpPr/>
          <p:nvPr/>
        </p:nvSpPr>
        <p:spPr>
          <a:xfrm>
            <a:off x="731520" y="426910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39712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3971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٢٢٤</a:t>
            </a:r>
            <a:endParaRPr lang="ar-SA" sz="1200" dirty="0"/>
          </a:p>
        </p:txBody>
      </p:sp>
      <p:sp>
        <p:nvSpPr>
          <p:cNvPr id="13" name="Text 11"/>
          <p:cNvSpPr txBox="1"/>
          <p:nvPr/>
        </p:nvSpPr>
        <p:spPr>
          <a:xfrm>
            <a:off x="914400" y="439712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وَلَا تَجْعَلُواْ اللَّهَ عُرْضَةً لِّأَيْمَٰنِكُمْ أَن تَبَرُّواْ وَتَتَّقُواْ وَتُصْلِحُواْ بَيْنَ النَّاسِ وَاللَّهُ سَمِيعٌ عَلِيمٌ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ولا تجعلوا الحلف بالله مانعًا لكم من فعل الخير والإصلاح بين الناس، بل افعلوا الخير وكفّروا عن أيمانكم.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130</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أحكام الأسرة والمجتمع</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٢٢٥ – ٢٢٦</a:t>
            </a:r>
            <a:endParaRPr lang="ar-SA" sz="1400" dirty="0"/>
          </a:p>
        </p:txBody>
      </p:sp>
      <p:sp>
        <p:nvSpPr>
          <p:cNvPr id="6" name="Shape 4"/>
          <p:cNvSpPr/>
          <p:nvPr/>
        </p:nvSpPr>
        <p:spPr>
          <a:xfrm>
            <a:off x="731520" y="1868805"/>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99682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9968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٢٢٥</a:t>
            </a:r>
            <a:endParaRPr lang="ar-SA" sz="1200" dirty="0"/>
          </a:p>
        </p:txBody>
      </p:sp>
      <p:sp>
        <p:nvSpPr>
          <p:cNvPr id="9" name="Text 7"/>
          <p:cNvSpPr txBox="1"/>
          <p:nvPr/>
        </p:nvSpPr>
        <p:spPr>
          <a:xfrm>
            <a:off x="914400" y="1996821"/>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لَّا يُؤَاخِذُكُمُ اللَّهُ بِاللَّغْوِ فِي أَيْمَٰنِكُمْ وَلَٰكِن يُؤَاخِذُكُم بِمَا كَسَبَتْ قُلُوبُكُمْ وَاللَّهُ غَفُورٌ حَلِيمٌ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لا يعاقبكم الله على اليمين التي تجري على اللسان بلا قصد، كقول: لا والله، وبلى والله، ولكن يعاقبكم على ما قصدتموه بقلوبكم.</a:t>
            </a:r>
            <a:endParaRPr lang="ar-SA" sz="2800" dirty="0"/>
          </a:p>
        </p:txBody>
      </p:sp>
      <p:sp>
        <p:nvSpPr>
          <p:cNvPr id="10" name="Shape 8"/>
          <p:cNvSpPr/>
          <p:nvPr/>
        </p:nvSpPr>
        <p:spPr>
          <a:xfrm>
            <a:off x="731520" y="426910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39712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3971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٢٢٦</a:t>
            </a:r>
            <a:endParaRPr lang="ar-SA" sz="1200" dirty="0"/>
          </a:p>
        </p:txBody>
      </p:sp>
      <p:sp>
        <p:nvSpPr>
          <p:cNvPr id="13" name="Text 11"/>
          <p:cNvSpPr txBox="1"/>
          <p:nvPr/>
        </p:nvSpPr>
        <p:spPr>
          <a:xfrm>
            <a:off x="914400" y="439712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لِّلَّذِينَ يُؤْلُونَ مِن نِّسَآئِهِمْ تَرَبُّصُ أَرْبَعَةِ أَشْهُرٍ فَإِن فَآءُو فَإِنَّ اللَّهَ غَفُورٌ رَّحِيمٌ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للذين يحلفون ألّا يقربوا زوجاتهم مهلةُ أربعة أشهر، فإن رجعوا فإن الله غفور رحيم.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أحكام الأسرة والمجتمع</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٢٢٧ – ٢٢٨</a:t>
            </a:r>
            <a:endParaRPr lang="ar-SA" sz="1400" dirty="0"/>
          </a:p>
        </p:txBody>
      </p:sp>
      <p:sp>
        <p:nvSpPr>
          <p:cNvPr id="6" name="Shape 4"/>
          <p:cNvSpPr/>
          <p:nvPr/>
        </p:nvSpPr>
        <p:spPr>
          <a:xfrm>
            <a:off x="731520" y="1587170"/>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71518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71518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٢٢٧</a:t>
            </a:r>
            <a:endParaRPr lang="ar-SA" sz="1200" dirty="0"/>
          </a:p>
        </p:txBody>
      </p:sp>
      <p:sp>
        <p:nvSpPr>
          <p:cNvPr id="9" name="Text 7"/>
          <p:cNvSpPr txBox="1"/>
          <p:nvPr/>
        </p:nvSpPr>
        <p:spPr>
          <a:xfrm>
            <a:off x="914400" y="1715186"/>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وَإِنْ عَزَمُواْ الطَّلَٰقَ فَإِنَّ اللَّهَ سَمِيعٌ عَلِيمٌ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وإن عزموا على الطلاق فإن الله سميع لأقوالهم، عليم بنياتهم.</a:t>
            </a:r>
            <a:endParaRPr lang="ar-SA" sz="2800" dirty="0"/>
          </a:p>
        </p:txBody>
      </p:sp>
      <p:sp>
        <p:nvSpPr>
          <p:cNvPr id="10" name="Shape 8"/>
          <p:cNvSpPr/>
          <p:nvPr/>
        </p:nvSpPr>
        <p:spPr>
          <a:xfrm>
            <a:off x="731520" y="3121076"/>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249092"/>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249092"/>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٢٢٨</a:t>
            </a:r>
            <a:endParaRPr lang="ar-SA" sz="1200" dirty="0"/>
          </a:p>
        </p:txBody>
      </p:sp>
      <p:sp>
        <p:nvSpPr>
          <p:cNvPr id="13" name="Text 11"/>
          <p:cNvSpPr txBox="1"/>
          <p:nvPr/>
        </p:nvSpPr>
        <p:spPr>
          <a:xfrm>
            <a:off x="914400" y="3249092"/>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وَالْمُطَلَّقَٰتُ يَتَرَبَّصْنَ بِأَنفُسِهِنَّ ثَلَٰثَةَ قُرُوءٍ وَلَا يَحِلُّ لَهُنَّ أَن يَكْتُمْنَ مَا خَلَقَ اللَّهُ فِي أَرْحَامِهِنَّ إِن كُنَّ يُؤْمِنَّ بِاللَّهِ وَالْيَوْمِ الْأخِرِ وَبُعُولَتُهُنَّ أَحَقُّ بِرَدِّهِنَّ فِي ذَٰلِكَ إِنْ أَرَادُواْ إِصْلَٰحًا وَلَهُنَّ مِثْلُ الَّذِي عَلَيْهِنَّ بِالْمَعْرُوفِ وَلِلرِّجَالِ عَلَيْهِنَّ دَرَجَةٌ وَاللَّهُ عَزِيزٌ حَكِيمٌ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والمطلّقات ينتظرن ثلاث حيضات قبل الزواج من غيره، ولا يحلّ لهن كتمان الحمل، وأزواجهن أحقّ بإرجاعهن في العدة إن أرادوا الإصلاح، ولهن من الحقوق مثل ما عليهن بالمعروف، وللرجال عليهن درجة القوامة.</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132</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أحكام الأسرة والمجتمع</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٢٢٩ – ٢٣٠</a:t>
            </a:r>
            <a:endParaRPr lang="ar-SA" sz="1400" dirty="0"/>
          </a:p>
        </p:txBody>
      </p:sp>
      <p:sp>
        <p:nvSpPr>
          <p:cNvPr id="6" name="Shape 4"/>
          <p:cNvSpPr/>
          <p:nvPr/>
        </p:nvSpPr>
        <p:spPr>
          <a:xfrm>
            <a:off x="731520" y="1280160"/>
            <a:ext cx="10728655" cy="2588666"/>
          </a:xfrm>
          <a:prstGeom prst="roundRect">
            <a:avLst>
              <a:gd name="adj" fmla="val 3532"/>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0817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0817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٢٢٩</a:t>
            </a:r>
            <a:endParaRPr lang="ar-SA" sz="1200" dirty="0"/>
          </a:p>
        </p:txBody>
      </p:sp>
      <p:sp>
        <p:nvSpPr>
          <p:cNvPr id="9" name="Text 7"/>
          <p:cNvSpPr txBox="1"/>
          <p:nvPr/>
        </p:nvSpPr>
        <p:spPr>
          <a:xfrm>
            <a:off x="914400" y="1408176"/>
            <a:ext cx="9677095" cy="2332634"/>
          </a:xfrm>
          <a:prstGeom prst="rect">
            <a:avLst/>
          </a:prstGeom>
          <a:noFill/>
          <a:ln/>
        </p:spPr>
        <p:txBody>
          <a:bodyPr wrap="square" lIns="0" tIns="0" rIns="0" bIns="0" rtlCol="0" anchor="ctr"/>
          <a:lstStyle/>
          <a:p>
            <a:pPr rtl="1" algn="r" indent="0" marL="0">
              <a:spcAft>
                <a:spcPts val="800"/>
              </a:spcAft>
              <a:buNone/>
            </a:pPr>
            <a:r>
              <a:rPr lang="ar-SA" altLang="en-US" sz="2400" b="1" dirty="0">
                <a:solidFill>
                  <a:schemeClr val="tx2"/>
                </a:solidFill>
                <a:latin typeface="Traditional Arabic" pitchFamily="34" charset="0"/>
                <a:ea typeface="Traditional Arabic" pitchFamily="34" charset="-122"/>
                <a:cs typeface="Traditional Arabic" pitchFamily="34" charset="-120"/>
              </a:rPr>
              <a:t>الطَّلَٰقُ مَرَّتَانِ فَإِمْسَاكٌ بِمَعْرُوفٍ أَوْ تَسْرِيحٌ بِإِحْسَٰنٍ وَلَا يَحِلُّ لَكُمْ أَن تَأْخُذُواْ مِمَّآ ءَاتَيْتُمُوهُنَّ شَيْـًٔا إِلَّآ أَن يَخَافَآ أَلَّا يُقِيمَا حُدُودَ اللَّهِ فَإِنْ خِفْتُمْ أَلَّا يُقِيمَا حُدُودَ اللَّهِ فَلَا جُنَاحَ عَلَيْهِمَا فِيمَا افْتَدَتْ بِهِ تِلْكَ حُدُودُ اللَّهِ فَلَا تَعْتَدُوهَا وَمَن يَتَعَدَّ حُدُودَ اللَّهِ فَأُوْلَـٰئِكَ هُمُ الظَّـٰلِمُونَ</a:t>
            </a:r>
            <a:endParaRPr lang="ar-SA" sz="24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الطلاق الذي يملك فيه الزوج الرجعة مرتان، فإما إمساك بمعروف أو فراق بإحسان، ولا يحلّ لكم أن تأخذوا مما أعطيتموهن شيئًا إلا إذا خافا ألّا يقيما حدود الله فتفتدي المرأة نفسها بمال، تلك حدود الله فلا تتجاوزوها.</a:t>
            </a:r>
            <a:endParaRPr lang="ar-SA" sz="2400" dirty="0"/>
          </a:p>
        </p:txBody>
      </p:sp>
      <p:sp>
        <p:nvSpPr>
          <p:cNvPr id="10" name="Shape 8"/>
          <p:cNvSpPr/>
          <p:nvPr/>
        </p:nvSpPr>
        <p:spPr>
          <a:xfrm>
            <a:off x="731520" y="3996842"/>
            <a:ext cx="10728655" cy="2266798"/>
          </a:xfrm>
          <a:prstGeom prst="roundRect">
            <a:avLst>
              <a:gd name="adj" fmla="val 403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124858"/>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124858"/>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٢٣٠</a:t>
            </a:r>
            <a:endParaRPr lang="ar-SA" sz="1200" dirty="0"/>
          </a:p>
        </p:txBody>
      </p:sp>
      <p:sp>
        <p:nvSpPr>
          <p:cNvPr id="13" name="Text 11"/>
          <p:cNvSpPr txBox="1"/>
          <p:nvPr/>
        </p:nvSpPr>
        <p:spPr>
          <a:xfrm>
            <a:off x="914400" y="4124858"/>
            <a:ext cx="9677095" cy="2010766"/>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فَإِن طَلَّقَهَا فَلَا تَحِلُّ لَهُ مِن بَعْدُ حَتَّىٰ تَنكِحَ زَوْجًا غَيْرَهُ فَإِن طَلَّقَهَا فَلَا جُنَاحَ عَلَيْهِمَآ أَن يَتَرَاجَعَآ إِن ظَنَّآ أَن يُقِيمَا حُدُودَ اللَّهِ وَتِلْكَ حُدُودُ اللَّهِ يُبَيِّنُهَا لِقَوْمٍ يَعْلَمُونَ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فإن طلّقها الطلقة الثالثة فلا تحلّ له حتى تتزوّج زوجًا غيره زواجًا صحيحًا، فإن طلّقها الثاني فلا حرج أن يتراجعا إن ظنّا أن يقيما حدود الله.</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133</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أحكام الأسرة والمجتمع</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٢٣١</a:t>
            </a:r>
            <a:endParaRPr lang="ar-SA" sz="1400" dirty="0"/>
          </a:p>
        </p:txBody>
      </p:sp>
      <p:sp>
        <p:nvSpPr>
          <p:cNvPr id="6" name="Shape 4"/>
          <p:cNvSpPr/>
          <p:nvPr/>
        </p:nvSpPr>
        <p:spPr>
          <a:xfrm>
            <a:off x="731520" y="2474824"/>
            <a:ext cx="10728655" cy="2594153"/>
          </a:xfrm>
          <a:prstGeom prst="roundRect">
            <a:avLst>
              <a:gd name="adj" fmla="val 35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602840"/>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602840"/>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٢٣١</a:t>
            </a:r>
            <a:endParaRPr lang="ar-SA" sz="1200" dirty="0"/>
          </a:p>
        </p:txBody>
      </p:sp>
      <p:sp>
        <p:nvSpPr>
          <p:cNvPr id="9" name="Text 7"/>
          <p:cNvSpPr txBox="1"/>
          <p:nvPr/>
        </p:nvSpPr>
        <p:spPr>
          <a:xfrm>
            <a:off x="914400" y="2602840"/>
            <a:ext cx="9677095" cy="2338121"/>
          </a:xfrm>
          <a:prstGeom prst="rect">
            <a:avLst/>
          </a:prstGeom>
          <a:noFill/>
          <a:ln/>
        </p:spPr>
        <p:txBody>
          <a:bodyPr wrap="square" lIns="0" tIns="0" rIns="0" bIns="0" rtlCol="0" anchor="ctr"/>
          <a:lstStyle/>
          <a:p>
            <a:pPr rtl="1" algn="r" indent="0" marL="0">
              <a:spcAft>
                <a:spcPts val="800"/>
              </a:spcAft>
              <a:buNone/>
            </a:pPr>
            <a:r>
              <a:rPr lang="ar-SA" altLang="en-US" sz="2400" b="1" dirty="0">
                <a:solidFill>
                  <a:schemeClr val="tx2"/>
                </a:solidFill>
                <a:latin typeface="Traditional Arabic" pitchFamily="34" charset="0"/>
                <a:ea typeface="Traditional Arabic" pitchFamily="34" charset="-122"/>
                <a:cs typeface="Traditional Arabic" pitchFamily="34" charset="-120"/>
              </a:rPr>
              <a:t>وَإِذَا طَلَّقْتُمُ النِّسَآءَ فَبَلَغْنَ أَجَلَهُنَّ فَأَمْسِكُوهُنَّ بِمَعْرُوفٍ أَوْ سَرِّحُوهُنَّ بِمَعْرُوفٍ وَلَا تُمْسِكُوهُنَّ ضِرَارًا لِّتَعْتَدُواْ وَمَن يَفْعَلْ ذَٰلِكَ فَقَدْ ظَلَمَ نَفْسَهُ وَلَا تَتَّخِذُواْ ءَايَٰتِ اللَّهِ هُزُوًا وَاذْكُرُواْ نِعْمَتَ اللَّهِ عَلَيْكُمْ وَمَآ أَنزَلَ عَلَيْكُم مِّنَ الْكِتَٰبِ وَالْحِكْمَةِ يَعِظُكُم بِهِ وَاتَّقُواْ اللَّهَ وَاعْلَمُواْ أَنَّ اللَّهَ بِكُلِّ شَيْءٍ عَلِيمٌ</a:t>
            </a:r>
            <a:endParaRPr lang="ar-SA" sz="24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وإذا طلّقتم النساء فقاربت عدّتهن نهايتها، فأمسكوهن بمعروف أو فارقوهن بمعروف، ولا تُرجعوهن بقصد الإضرار بهن، ولا تتخذوا آيات الله هزوًا، واذكروا نعمة الله عليكم.</a:t>
            </a:r>
            <a:endParaRPr lang="ar-SA" sz="24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134</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أحكام الأسرة والمجتمع</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٢٣٢</a:t>
            </a:r>
            <a:endParaRPr lang="ar-SA" sz="1400" dirty="0"/>
          </a:p>
        </p:txBody>
      </p:sp>
      <p:sp>
        <p:nvSpPr>
          <p:cNvPr id="6" name="Shape 4"/>
          <p:cNvSpPr/>
          <p:nvPr/>
        </p:nvSpPr>
        <p:spPr>
          <a:xfrm>
            <a:off x="731520" y="2354123"/>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482139"/>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482139"/>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٢٣٢</a:t>
            </a:r>
            <a:endParaRPr lang="ar-SA" sz="1200" dirty="0"/>
          </a:p>
        </p:txBody>
      </p:sp>
      <p:sp>
        <p:nvSpPr>
          <p:cNvPr id="9" name="Text 7"/>
          <p:cNvSpPr txBox="1"/>
          <p:nvPr/>
        </p:nvSpPr>
        <p:spPr>
          <a:xfrm>
            <a:off x="914400" y="2482139"/>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وَإِذَا طَلَّقْتُمُ النِّسَآءَ فَبَلَغْنَ أَجَلَهُنَّ فَلَا تَعْضُلُوهُنَّ أَن يَنكِحْنَ أَزْوَٰجَهُنَّ إِذَا تَرَٰضَوْاْ بَيْنَهُم بِالْمَعْرُوفِ ذَٰلِكَ يُوعَظُ بِهِ مَن كَانَ مِنكُمْ يُؤْمِنُ بِاللَّهِ وَالْيَوْمِ الْأخِرِ ذَٰلِكُمْ أَزْكَىٰ لَكُمْ وَأَطْهَرُ وَاللَّهُ يَعْلَمُ وَأَنتُمْ لَا تَعْلَمُونَ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وإذا انتهت عدة المطلّقات فلا تمنعوهن -أيها الأولياء- من الرجوع إلى أزواجهن إذا تراضوا بالمعروف، ذلك أزكى لكم وأطهر. ونزلت في معقل بن يسار حين منع أخته من الرجوع إلى زوجها (البخاري).</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135</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أحكام الأسرة والمجتمع</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٢٣٣</a:t>
            </a:r>
            <a:endParaRPr lang="ar-SA" sz="1400" dirty="0"/>
          </a:p>
        </p:txBody>
      </p:sp>
      <p:sp>
        <p:nvSpPr>
          <p:cNvPr id="6" name="Shape 4"/>
          <p:cNvSpPr/>
          <p:nvPr/>
        </p:nvSpPr>
        <p:spPr>
          <a:xfrm>
            <a:off x="731520" y="2233422"/>
            <a:ext cx="10728655" cy="3076956"/>
          </a:xfrm>
          <a:prstGeom prst="roundRect">
            <a:avLst>
              <a:gd name="adj" fmla="val 2972"/>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361438"/>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361438"/>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٢٣٣</a:t>
            </a:r>
            <a:endParaRPr lang="ar-SA" sz="1200" dirty="0"/>
          </a:p>
        </p:txBody>
      </p:sp>
      <p:sp>
        <p:nvSpPr>
          <p:cNvPr id="9" name="Text 7"/>
          <p:cNvSpPr txBox="1"/>
          <p:nvPr/>
        </p:nvSpPr>
        <p:spPr>
          <a:xfrm>
            <a:off x="914400" y="2361438"/>
            <a:ext cx="9677095" cy="2820924"/>
          </a:xfrm>
          <a:prstGeom prst="rect">
            <a:avLst/>
          </a:prstGeom>
          <a:noFill/>
          <a:ln/>
        </p:spPr>
        <p:txBody>
          <a:bodyPr wrap="square" lIns="0" tIns="0" rIns="0" bIns="0" rtlCol="0" anchor="ctr"/>
          <a:lstStyle/>
          <a:p>
            <a:pPr rtl="1" algn="r" indent="0" marL="0">
              <a:spcAft>
                <a:spcPts val="800"/>
              </a:spcAft>
              <a:buNone/>
            </a:pPr>
            <a:r>
              <a:rPr lang="ar-SA" altLang="en-US" sz="2400" b="1" dirty="0">
                <a:solidFill>
                  <a:schemeClr val="tx2"/>
                </a:solidFill>
                <a:latin typeface="Traditional Arabic" pitchFamily="34" charset="0"/>
                <a:ea typeface="Traditional Arabic" pitchFamily="34" charset="-122"/>
                <a:cs typeface="Traditional Arabic" pitchFamily="34" charset="-120"/>
              </a:rPr>
              <a:t>وَالْوَٰلِدَٰتُ يُرْضِعْنَ أَوْلَٰدَهُنَّ حَوْلَيْنِ كَامِلَيْنِ لِمَنْ أَرَادَ أَن يُتِمَّ الرَّضَاعَةَ وَعَلَى الْمَوْلُودِ لَهُ رِزْقُهُنَّ وَكِسْوَتُهُنَّ بِالْمَعْرُوفِ لَا تُكَلَّفُ نَفْسٌ إِلَّا وُسْعَهَا لَا تُضَآرَّ وَٰلِدَةٌ بِوَلَدِهَا وَلَا مَوْلُودٌ لَّهُ بِوَلَدِهِ وَعَلَى الْوَارِثِ مِثْلُ ذَٰلِكَ فَإِنْ أَرَادَا فِصَالًا عَن تَرَاضٍ مِّنْهُمَا وَتَشَاوُرٍ فَلَا جُنَاحَ عَلَيْهِمَا وَإِنْ أَرَدتُّمْ أَن تَسْتَرْضِعُواْ أَوْلَٰدَكُمْ فَلَا جُنَاحَ عَلَيْكُمْ إِذَا سَلَّمْتُم مَّآ ءَاتَيْتُم بِالْمَعْرُوفِ وَاتَّقُواْ اللَّهَ وَاعْلَمُواْ أَنَّ اللَّهَ بِمَا تَعْمَلُونَ بَصِيرٌ</a:t>
            </a:r>
            <a:endParaRPr lang="ar-SA" sz="24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والأمهات يُرضعن أولادهن سنتين كاملتين لمن أراد إتمام الرضاعة، وعلى الأب نفقتهن وكسوتهن بالمعروف، لا تُكلّف نفس إلا وسعها، ولا يُضارّ أحد الوالدين بسبب الولد، وإن أرادا الفطام قبل ذلك بالتشاور فلا حرج.</a:t>
            </a:r>
            <a:endParaRPr lang="ar-SA" sz="24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أحكام الأسرة والمجتمع</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٢٣٤ – ٢٣٥</a:t>
            </a:r>
            <a:endParaRPr lang="ar-SA" sz="1400" dirty="0"/>
          </a:p>
        </p:txBody>
      </p:sp>
      <p:sp>
        <p:nvSpPr>
          <p:cNvPr id="6" name="Shape 4"/>
          <p:cNvSpPr/>
          <p:nvPr/>
        </p:nvSpPr>
        <p:spPr>
          <a:xfrm>
            <a:off x="731520" y="1280160"/>
            <a:ext cx="10728655" cy="2266798"/>
          </a:xfrm>
          <a:prstGeom prst="roundRect">
            <a:avLst>
              <a:gd name="adj" fmla="val 403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0817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0817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٢٣٤</a:t>
            </a:r>
            <a:endParaRPr lang="ar-SA" sz="1200" dirty="0"/>
          </a:p>
        </p:txBody>
      </p:sp>
      <p:sp>
        <p:nvSpPr>
          <p:cNvPr id="9" name="Text 7"/>
          <p:cNvSpPr txBox="1"/>
          <p:nvPr/>
        </p:nvSpPr>
        <p:spPr>
          <a:xfrm>
            <a:off x="914400" y="1408176"/>
            <a:ext cx="9677095" cy="2010766"/>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وَالَّذِينَ يُتَوَفَّوْنَ مِنكُمْ وَيَذَرُونَ أَزْوَٰجًا يَتَرَبَّصْنَ بِأَنفُسِهِنَّ أَرْبَعَةَ أَشْهُرٍ وَعَشْرًا فَإِذَا بَلَغْنَ أَجَلَهُنَّ فَلَا جُنَاحَ عَلَيْكُمْ فِيمَا فَعَلْنَ فِي أَنفُسِهِنَّ بِالْمَعْرُوفِ وَاللَّهُ بِمَا تَعْمَلُونَ خَبِيرٌ</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والذين يموتون ويتركون زوجات، تنتظر الزوجة أربعة أشهر وعشرة أيام عدّةً، فإذا انتهت فلا حرج عليها أن تتزيّن وتتزوّج بالمعروف.</a:t>
            </a:r>
            <a:endParaRPr lang="ar-SA" sz="2800" dirty="0"/>
          </a:p>
        </p:txBody>
      </p:sp>
      <p:sp>
        <p:nvSpPr>
          <p:cNvPr id="10" name="Shape 8"/>
          <p:cNvSpPr/>
          <p:nvPr/>
        </p:nvSpPr>
        <p:spPr>
          <a:xfrm>
            <a:off x="731520" y="3674974"/>
            <a:ext cx="10728655" cy="2588666"/>
          </a:xfrm>
          <a:prstGeom prst="roundRect">
            <a:avLst>
              <a:gd name="adj" fmla="val 3532"/>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802990"/>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802990"/>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٢٣٥</a:t>
            </a:r>
            <a:endParaRPr lang="ar-SA" sz="1200" dirty="0"/>
          </a:p>
        </p:txBody>
      </p:sp>
      <p:sp>
        <p:nvSpPr>
          <p:cNvPr id="13" name="Text 11"/>
          <p:cNvSpPr txBox="1"/>
          <p:nvPr/>
        </p:nvSpPr>
        <p:spPr>
          <a:xfrm>
            <a:off x="914400" y="3802990"/>
            <a:ext cx="9677095" cy="2332634"/>
          </a:xfrm>
          <a:prstGeom prst="rect">
            <a:avLst/>
          </a:prstGeom>
          <a:noFill/>
          <a:ln/>
        </p:spPr>
        <p:txBody>
          <a:bodyPr wrap="square" lIns="0" tIns="0" rIns="0" bIns="0" rtlCol="0" anchor="ctr"/>
          <a:lstStyle/>
          <a:p>
            <a:pPr rtl="1" algn="r" indent="0" marL="0">
              <a:spcAft>
                <a:spcPts val="800"/>
              </a:spcAft>
              <a:buNone/>
            </a:pPr>
            <a:r>
              <a:rPr lang="ar-SA" altLang="en-US" sz="2400" b="1" dirty="0">
                <a:solidFill>
                  <a:schemeClr val="tx2"/>
                </a:solidFill>
                <a:latin typeface="Traditional Arabic" pitchFamily="34" charset="0"/>
                <a:ea typeface="Traditional Arabic" pitchFamily="34" charset="-122"/>
                <a:cs typeface="Traditional Arabic" pitchFamily="34" charset="-120"/>
              </a:rPr>
              <a:t>وَلَا جُنَاحَ عَلَيْكُمْ فِيمَا عَرَّضْتُم بِهِ مِنْ خِطْبَةِ النِّسَآءِ أَوْ أَكْنَنتُمْ فِي أَنفُسِكُمْ عَلِمَ اللَّهُ أَنَّكُمْ سَتَذْكُرُونَهُنَّ وَلَٰكِن لَّا تُوَاعِدُوهُنَّ سِرًّا إِلَّآ أَن تَقُولُواْ قَوْلًا مَّعْرُوفًا وَلَا تَعْزِمُواْ عُقْدَةَ النِّكَاحِ حَتَّىٰ يَبْلُغَ الْكِتَٰبُ أَجَلَهُ وَاعْلَمُواْ أَنَّ اللَّهَ يَعْلَمُ مَا فِي أَنفُسِكُمْ فَاحْذَرُوهُ وَاعْلَمُواْ أَنَّ اللَّهَ غَفُورٌ حَلِيمٌ</a:t>
            </a:r>
            <a:endParaRPr lang="ar-SA" sz="24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ولا حرج عليكم أن تلمّحوا برغبتكم في الزواج من المعتدّة بعد وفاة زوجها دون تصريح، ولا تعقدوا عليها حتى تنتهي العدة، واعلموا أن الله يعلم ما في أنفسكم فاحذروه.</a:t>
            </a:r>
            <a:endParaRPr lang="ar-SA" sz="24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أحكام الأسرة والمجتمع</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٢٣٦</a:t>
            </a:r>
            <a:endParaRPr lang="ar-SA" sz="1400" dirty="0"/>
          </a:p>
        </p:txBody>
      </p:sp>
      <p:sp>
        <p:nvSpPr>
          <p:cNvPr id="6" name="Shape 4"/>
          <p:cNvSpPr/>
          <p:nvPr/>
        </p:nvSpPr>
        <p:spPr>
          <a:xfrm>
            <a:off x="731520" y="263575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763774"/>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76377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٢٣٦</a:t>
            </a:r>
            <a:endParaRPr lang="ar-SA" sz="1200" dirty="0"/>
          </a:p>
        </p:txBody>
      </p:sp>
      <p:sp>
        <p:nvSpPr>
          <p:cNvPr id="9" name="Text 7"/>
          <p:cNvSpPr txBox="1"/>
          <p:nvPr/>
        </p:nvSpPr>
        <p:spPr>
          <a:xfrm>
            <a:off x="914400" y="276377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لَّا جُنَاحَ عَلَيْكُمْ إِن طَلَّقْتُمُ النِّسَآءَ مَا لَمْ تَمَسُّوهُنَّ أَوْ تَفْرِضُواْ لَهُنَّ فَرِيضَةً وَمَتِّعُوهُنَّ عَلَى الْمُوسِعِ قَدَرُهُ وَعَلَى الْمُقْتِرِ قَدَرُهُ مَتَٰعًا بِالْمَعْرُوفِ حَقًّا عَلَى الْمُحْسِنِينَ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لا إثم عليكم إن طلّقتم النساء قبل الدخول وقبل تحديد المهر، وأعطوهن هدية تطيّب خاطرهن: الغني بقدر غناه، والفقير بقدر حاله، حقًا على المحسنين.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138</a:t>
            </a:fld>
            <a:endParaRPr 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أحكام الأسرة والمجتمع</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٢٣٧ – ٢٣٨</a:t>
            </a:r>
            <a:endParaRPr lang="ar-SA" sz="1400" dirty="0"/>
          </a:p>
        </p:txBody>
      </p:sp>
      <p:sp>
        <p:nvSpPr>
          <p:cNvPr id="6" name="Shape 4"/>
          <p:cNvSpPr/>
          <p:nvPr/>
        </p:nvSpPr>
        <p:spPr>
          <a:xfrm>
            <a:off x="731520" y="1435608"/>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563624"/>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56362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٢٣٧</a:t>
            </a:r>
            <a:endParaRPr lang="ar-SA" sz="1200" dirty="0"/>
          </a:p>
        </p:txBody>
      </p:sp>
      <p:sp>
        <p:nvSpPr>
          <p:cNvPr id="9" name="Text 7"/>
          <p:cNvSpPr txBox="1"/>
          <p:nvPr/>
        </p:nvSpPr>
        <p:spPr>
          <a:xfrm>
            <a:off x="914400" y="1563624"/>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وَإِن طَلَّقْتُمُوهُنَّ مِن قَبْلِ أَن تَمَسُّوهُنَّ وَقَدْ فَرَضْتُمْ لَهُنَّ فَرِيضَةً فَنِصْفُ مَا فَرَضْتُمْ إِلَّآ أَن يَعْفُونَ أَوْ يَعْفُوَاْ الَّذِي بِيَدِهِ عُقْدَةُ النِّكَاحِ وَأَن تَعْفُواْ أَقْرَبُ لِلتَّقْوَىٰ وَلَا تَنسَوُاْ الْفَضْلَ بَيْنَكُمْ إِنَّ اللَّهَ بِمَا تَعْمَلُونَ بَصِيرٌ</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وإن طلّقتموهن قبل الدخول وقد حدّدتم المهر فلهن نصفه، إلا أن يعفين، أو يعفو الزوج فيعطيها كاملًا، والعفو أقرب للتقوى، ولا تنسوا الإحسان بينكم.</a:t>
            </a:r>
            <a:endParaRPr lang="ar-SA" sz="2800" dirty="0"/>
          </a:p>
        </p:txBody>
      </p:sp>
      <p:sp>
        <p:nvSpPr>
          <p:cNvPr id="10" name="Shape 8"/>
          <p:cNvSpPr/>
          <p:nvPr/>
        </p:nvSpPr>
        <p:spPr>
          <a:xfrm>
            <a:off x="731520" y="4399178"/>
            <a:ext cx="10728655" cy="1709014"/>
          </a:xfrm>
          <a:prstGeom prst="roundRect">
            <a:avLst>
              <a:gd name="adj" fmla="val 5350"/>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52719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52719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٢٣٨</a:t>
            </a:r>
            <a:endParaRPr lang="ar-SA" sz="1200" dirty="0"/>
          </a:p>
        </p:txBody>
      </p:sp>
      <p:sp>
        <p:nvSpPr>
          <p:cNvPr id="13" name="Text 11"/>
          <p:cNvSpPr txBox="1"/>
          <p:nvPr/>
        </p:nvSpPr>
        <p:spPr>
          <a:xfrm>
            <a:off x="914400" y="4527194"/>
            <a:ext cx="9677095" cy="145298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حَٰفِظُواْ عَلَى الصَّلَوَٰتِ وَالصَّلَوٰةِ الْوُسْطَىٰ وَقُومُواْ لِلَّهِ قَٰنِتِينَ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حافظوا على الصلوات الخمس، وخاصة الصلاة الوسطى -وهي صلاة العصر كما في الصحيحين-، وقوموا لله في صلاتكم خاشعين.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139</a:t>
            </a:fld>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أحكام الأسرة والمجتمع</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٢٣٩ – ٢٤٠</a:t>
            </a:r>
            <a:endParaRPr lang="ar-SA" sz="1400" dirty="0"/>
          </a:p>
        </p:txBody>
      </p:sp>
      <p:sp>
        <p:nvSpPr>
          <p:cNvPr id="6" name="Shape 4"/>
          <p:cNvSpPr/>
          <p:nvPr/>
        </p:nvSpPr>
        <p:spPr>
          <a:xfrm>
            <a:off x="731520" y="186880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99682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9968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٢٣٩</a:t>
            </a:r>
            <a:endParaRPr lang="ar-SA" sz="1200" dirty="0"/>
          </a:p>
        </p:txBody>
      </p:sp>
      <p:sp>
        <p:nvSpPr>
          <p:cNvPr id="9" name="Text 7"/>
          <p:cNvSpPr txBox="1"/>
          <p:nvPr/>
        </p:nvSpPr>
        <p:spPr>
          <a:xfrm>
            <a:off x="914400" y="199682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فَإِنْ خِفْتُمْ فَرِجَالًا أَوْ رُكْبَانًا فَإِذَآ أَمِنتُمْ فَاذْكُرُواْ اللَّهَ كَمَا عَلَّمَكُم مَّا لَمْ تَكُونُواْ تَعْلَمُونَ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فإن خفتم من عدوّ فصلّوا ماشين أو راكبين، فإذا زال الخوف فصلّوا كما علّمكم الله.</a:t>
            </a:r>
            <a:endParaRPr lang="ar-SA" sz="2800" dirty="0"/>
          </a:p>
        </p:txBody>
      </p:sp>
      <p:sp>
        <p:nvSpPr>
          <p:cNvPr id="10" name="Shape 8"/>
          <p:cNvSpPr/>
          <p:nvPr/>
        </p:nvSpPr>
        <p:spPr>
          <a:xfrm>
            <a:off x="731520" y="3402711"/>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530727"/>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530727"/>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٢٤٠</a:t>
            </a:r>
            <a:endParaRPr lang="ar-SA" sz="1200" dirty="0"/>
          </a:p>
        </p:txBody>
      </p:sp>
      <p:sp>
        <p:nvSpPr>
          <p:cNvPr id="13" name="Text 11"/>
          <p:cNvSpPr txBox="1"/>
          <p:nvPr/>
        </p:nvSpPr>
        <p:spPr>
          <a:xfrm>
            <a:off x="914400" y="3530727"/>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وَالَّذِينَ يُتَوَفَّوْنَ مِنكُمْ وَيَذَرُونَ أَزْوَٰجًا وَصِيَّةً لِّأَزْوَٰجِهِم مَّتَٰعًا إِلَى الْحَوْلِ غَيْرَ إِخْرَاجٍ فَإِنْ خَرَجْنَ فَلَا جُنَاحَ عَلَيْكُمْ فِي مَا فَعَلْنَ فِي أَنفُسِهِنَّ مِن مَّعْرُوفٍ وَاللَّهُ عَزِيزٌ حَكِيمٌ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والذين يموتون ويتركون زوجات، كانوا يوصون لهن بالسكن والنفقة سنة كاملة، وقد نُسخ ذلك بعدة أربعة أشهر وعشرة أيام عند جمهور العلماء.</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140</a:t>
            </a:fld>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أحكام الأسرة والمجتمع</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٢٤١ – ٢٤٢</a:t>
            </a:r>
            <a:endParaRPr lang="ar-SA" sz="1400" dirty="0"/>
          </a:p>
        </p:txBody>
      </p:sp>
      <p:sp>
        <p:nvSpPr>
          <p:cNvPr id="6" name="Shape 4"/>
          <p:cNvSpPr/>
          <p:nvPr/>
        </p:nvSpPr>
        <p:spPr>
          <a:xfrm>
            <a:off x="731520" y="2302002"/>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430018"/>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430018"/>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٢٤١</a:t>
            </a:r>
            <a:endParaRPr lang="ar-SA" sz="1200" dirty="0"/>
          </a:p>
        </p:txBody>
      </p:sp>
      <p:sp>
        <p:nvSpPr>
          <p:cNvPr id="9" name="Text 7"/>
          <p:cNvSpPr txBox="1"/>
          <p:nvPr/>
        </p:nvSpPr>
        <p:spPr>
          <a:xfrm>
            <a:off x="914400" y="2430018"/>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وَلِلْمُطَلَّقَٰتِ مَتَٰعٌ بِالْمَعْرُوفِ حَقًّا عَلَى الْمُتَّقِينَ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وللمطلّقات هديّةٌ مالية بالمعروف، حقًا على المتقين.</a:t>
            </a:r>
            <a:endParaRPr lang="ar-SA" sz="2800" dirty="0"/>
          </a:p>
        </p:txBody>
      </p:sp>
      <p:sp>
        <p:nvSpPr>
          <p:cNvPr id="10" name="Shape 8"/>
          <p:cNvSpPr/>
          <p:nvPr/>
        </p:nvSpPr>
        <p:spPr>
          <a:xfrm>
            <a:off x="731520" y="3835908"/>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96392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96392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٢٤٢</a:t>
            </a:r>
            <a:endParaRPr lang="ar-SA" sz="1200" dirty="0"/>
          </a:p>
        </p:txBody>
      </p:sp>
      <p:sp>
        <p:nvSpPr>
          <p:cNvPr id="13" name="Text 11"/>
          <p:cNvSpPr txBox="1"/>
          <p:nvPr/>
        </p:nvSpPr>
        <p:spPr>
          <a:xfrm>
            <a:off x="914400" y="3963924"/>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كَذَٰلِكَ يُبَيِّنُ اللَّهُ لَكُمْ ءَايَٰتِهِ لَعَلَّكُمْ تَعْقِلُونَ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كذلك يبيّن الله لكم أحكامه لعلكم تعقلون.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141</a:t>
            </a:fld>
            <a:endParaRPr 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0"/>
          <p:cNvSpPr txBox="1"/>
          <p:nvPr/>
        </p:nvSpPr>
        <p:spPr>
          <a:xfrm>
            <a:off x="7223760" y="1143000"/>
            <a:ext cx="4114800" cy="411480"/>
          </a:xfrm>
          <a:prstGeom prst="rect">
            <a:avLst/>
          </a:prstGeom>
          <a:noFill/>
          <a:ln/>
        </p:spPr>
        <p:txBody>
          <a:bodyPr wrap="square" lIns="0" tIns="0" rIns="0" bIns="0" rtlCol="0" anchor="t"/>
          <a:lstStyle/>
          <a:p>
            <a:pPr rtl="1" algn="ctr" indent="0" marL="0">
              <a:buNone/>
            </a:pPr>
            <a:r>
              <a:rPr lang="ar-SA" altLang="en-US" sz="1800" b="1" dirty="0">
                <a:solidFill>
                  <a:schemeClr val="accent5"/>
                </a:solidFill>
              </a:rPr>
              <a:t>المقطع</a:t>
            </a:r>
            <a:endParaRPr lang="ar-SA" sz="1800" dirty="0"/>
          </a:p>
        </p:txBody>
      </p:sp>
      <p:sp>
        <p:nvSpPr>
          <p:cNvPr id="3" name="Shape 1"/>
          <p:cNvSpPr/>
          <p:nvPr/>
        </p:nvSpPr>
        <p:spPr>
          <a:xfrm>
            <a:off x="8915400" y="1645920"/>
            <a:ext cx="731520" cy="731520"/>
          </a:xfrm>
          <a:prstGeom prst="octagon">
            <a:avLst/>
          </a:prstGeom>
          <a:solidFill>
            <a:schemeClr val="accent2"/>
          </a:solidFill>
          <a:ln w="15875">
            <a:solidFill>
              <a:schemeClr val="accent5"/>
            </a:solidFill>
            <a:prstDash val="solid"/>
          </a:ln>
        </p:spPr>
      </p:sp>
      <p:sp>
        <p:nvSpPr>
          <p:cNvPr id="4" name="Text 2"/>
          <p:cNvSpPr txBox="1"/>
          <p:nvPr/>
        </p:nvSpPr>
        <p:spPr>
          <a:xfrm>
            <a:off x="8915400" y="164592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bg1"/>
                </a:solidFill>
                <a:latin typeface="Arial" pitchFamily="34" charset="0"/>
                <a:ea typeface="Arial" pitchFamily="34" charset="-122"/>
                <a:cs typeface="Arial" pitchFamily="34" charset="-120"/>
              </a:rPr>
              <a:t>١٧</a:t>
            </a:r>
            <a:endParaRPr lang="ar-SA" sz="1800" dirty="0"/>
          </a:p>
        </p:txBody>
      </p:sp>
      <p:sp>
        <p:nvSpPr>
          <p:cNvPr id="5" name="Text 3"/>
          <p:cNvSpPr txBox="1"/>
          <p:nvPr/>
        </p:nvSpPr>
        <p:spPr>
          <a:xfrm>
            <a:off x="7269480" y="2606040"/>
            <a:ext cx="4023360" cy="1737360"/>
          </a:xfrm>
          <a:prstGeom prst="rect">
            <a:avLst/>
          </a:prstGeom>
          <a:noFill/>
          <a:ln/>
        </p:spPr>
        <p:txBody>
          <a:bodyPr wrap="square" lIns="0" tIns="0" rIns="0" bIns="0" rtlCol="0" anchor="ctr"/>
          <a:lstStyle/>
          <a:p>
            <a:pPr rtl="1" algn="ctr" indent="0" marL="0">
              <a:buNone/>
            </a:pPr>
            <a:r>
              <a:rPr lang="ar-SA" altLang="en-US" sz="3800" b="1" dirty="0">
                <a:solidFill>
                  <a:schemeClr val="bg1"/>
                </a:solidFill>
                <a:latin typeface="Sakkal Majalla" pitchFamily="34" charset="0"/>
                <a:ea typeface="Sakkal Majalla" pitchFamily="34" charset="-122"/>
                <a:cs typeface="Sakkal Majalla" pitchFamily="34" charset="-120"/>
              </a:rPr>
              <a:t>قصة طالوت وجالوت</a:t>
            </a:r>
            <a:endParaRPr lang="ar-SA" sz="3800" dirty="0"/>
          </a:p>
        </p:txBody>
      </p:sp>
      <p:sp>
        <p:nvSpPr>
          <p:cNvPr id="6" name="Text 4"/>
          <p:cNvSpPr txBox="1"/>
          <p:nvPr/>
        </p:nvSpPr>
        <p:spPr>
          <a:xfrm>
            <a:off x="7269480" y="4526280"/>
            <a:ext cx="4023360" cy="457200"/>
          </a:xfrm>
          <a:prstGeom prst="rect">
            <a:avLst/>
          </a:prstGeom>
          <a:noFill/>
          <a:ln/>
        </p:spPr>
        <p:txBody>
          <a:bodyPr wrap="square" lIns="0" tIns="0" rIns="0" bIns="0" rtlCol="0" anchor="t"/>
          <a:lstStyle/>
          <a:p>
            <a:pPr rtl="1" algn="ctr" indent="0" marL="0">
              <a:buNone/>
            </a:pPr>
            <a:r>
              <a:rPr lang="ar-SA" altLang="en-US" sz="2000" b="1" dirty="0">
                <a:solidFill>
                  <a:schemeClr val="accent5"/>
                </a:solidFill>
              </a:rPr>
              <a:t>الآيات ٢٤٣ – ٢٥٢</a:t>
            </a:r>
            <a:endParaRPr lang="ar-SA" sz="2000" dirty="0"/>
          </a:p>
        </p:txBody>
      </p:sp>
      <p:sp>
        <p:nvSpPr>
          <p:cNvPr id="7" name="Shape 5"/>
          <p:cNvSpPr/>
          <p:nvPr/>
        </p:nvSpPr>
        <p:spPr>
          <a:xfrm>
            <a:off x="685800" y="1783080"/>
            <a:ext cx="5806440" cy="3291840"/>
          </a:xfrm>
          <a:prstGeom prst="roundRect">
            <a:avLst>
              <a:gd name="adj" fmla="val 3333"/>
            </a:avLst>
          </a:prstGeom>
          <a:solidFill>
            <a:schemeClr val="bg2"/>
          </a:solidFill>
          <a:ln w="19050">
            <a:solidFill>
              <a:schemeClr val="accent5"/>
            </a:solidFill>
            <a:prstDash val="solid"/>
          </a:ln>
        </p:spPr>
      </p:sp>
      <p:sp>
        <p:nvSpPr>
          <p:cNvPr id="8" name="Shape 6"/>
          <p:cNvSpPr/>
          <p:nvPr/>
        </p:nvSpPr>
        <p:spPr>
          <a:xfrm>
            <a:off x="4343400" y="2011680"/>
            <a:ext cx="1920240" cy="420624"/>
          </a:xfrm>
          <a:prstGeom prst="roundRect">
            <a:avLst>
              <a:gd name="adj" fmla="val 50000"/>
            </a:avLst>
          </a:prstGeom>
          <a:solidFill>
            <a:schemeClr val="tx2"/>
          </a:solidFill>
          <a:ln/>
        </p:spPr>
      </p:sp>
      <p:sp>
        <p:nvSpPr>
          <p:cNvPr id="9" name="Text 7"/>
          <p:cNvSpPr txBox="1"/>
          <p:nvPr/>
        </p:nvSpPr>
        <p:spPr>
          <a:xfrm>
            <a:off x="4343400" y="201168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مقصد المقطع</a:t>
            </a:r>
            <a:endParaRPr lang="ar-SA" sz="1600" dirty="0"/>
          </a:p>
        </p:txBody>
      </p:sp>
      <p:sp>
        <p:nvSpPr>
          <p:cNvPr id="10" name="Text 8"/>
          <p:cNvSpPr txBox="1"/>
          <p:nvPr/>
        </p:nvSpPr>
        <p:spPr>
          <a:xfrm>
            <a:off x="960120" y="2560320"/>
            <a:ext cx="5257800" cy="23317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قصة بني إسرائيل مع الملك طالوت وانتصار الفئة القليلة المؤمنة الصابرة، وقتل داود عليه السلام لجالوت.</a:t>
            </a:r>
            <a:endParaRPr lang="ar-SA" sz="17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قصة طالوت وجالوت</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٢٤٣ – ٢٤٤</a:t>
            </a:r>
            <a:endParaRPr lang="ar-SA" sz="1400" dirty="0"/>
          </a:p>
        </p:txBody>
      </p:sp>
      <p:sp>
        <p:nvSpPr>
          <p:cNvPr id="6" name="Shape 4"/>
          <p:cNvSpPr/>
          <p:nvPr/>
        </p:nvSpPr>
        <p:spPr>
          <a:xfrm>
            <a:off x="731520" y="1868805"/>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99682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9968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٢٤٣</a:t>
            </a:r>
            <a:endParaRPr lang="ar-SA" sz="1200" dirty="0"/>
          </a:p>
        </p:txBody>
      </p:sp>
      <p:sp>
        <p:nvSpPr>
          <p:cNvPr id="9" name="Text 7"/>
          <p:cNvSpPr txBox="1"/>
          <p:nvPr/>
        </p:nvSpPr>
        <p:spPr>
          <a:xfrm>
            <a:off x="914400" y="1996821"/>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أَلَمْ تَرَ إِلَى الَّذِينَ خَرَجُواْ مِن دِيَٰرِهِمْ وَهُمْ أُلُوفٌ حَذَرَ الْمَوْتِ فَقَالَ لَهُمُ اللَّهُ مُوتُواْ ثُمَّ أَحْيَٰهُمْ إِنَّ اللَّهَ لَذُو فَضْلٍ عَلَى النَّاسِ وَلَٰكِنَّ أَكْثَرَ النَّاسِ لَا يَشْكُرُونَ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ألم ترَ إلى قوم خرجوا من ديارهم -وهم ألوف- هربًا من الموت، فأماتهم الله ثم أحياهم، ليعلموا أن الفرار لا ينجي من قدر الله؟ إن الله لذو فضل على الناس.</a:t>
            </a:r>
            <a:endParaRPr lang="ar-SA" sz="2800" dirty="0"/>
          </a:p>
        </p:txBody>
      </p:sp>
      <p:sp>
        <p:nvSpPr>
          <p:cNvPr id="10" name="Shape 8"/>
          <p:cNvSpPr/>
          <p:nvPr/>
        </p:nvSpPr>
        <p:spPr>
          <a:xfrm>
            <a:off x="731520" y="426910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39712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3971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٢٤٤</a:t>
            </a:r>
            <a:endParaRPr lang="ar-SA" sz="1200" dirty="0"/>
          </a:p>
        </p:txBody>
      </p:sp>
      <p:sp>
        <p:nvSpPr>
          <p:cNvPr id="13" name="Text 11"/>
          <p:cNvSpPr txBox="1"/>
          <p:nvPr/>
        </p:nvSpPr>
        <p:spPr>
          <a:xfrm>
            <a:off x="914400" y="439712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وَقَٰتِلُواْ فِي سَبِيلِ اللَّهِ وَاعْلَمُواْ أَنَّ اللَّهَ سَمِيعٌ عَلِيمٌ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وقاتلوا في سبيل الله، واعلموا أن الله سميع عليم.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143</a:t>
            </a:fld>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قصة طالوت وجالوت</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٢٤٥ – ٢٤٦</a:t>
            </a:r>
            <a:endParaRPr lang="ar-SA" sz="1400" dirty="0"/>
          </a:p>
        </p:txBody>
      </p:sp>
      <p:sp>
        <p:nvSpPr>
          <p:cNvPr id="6" name="Shape 4"/>
          <p:cNvSpPr/>
          <p:nvPr/>
        </p:nvSpPr>
        <p:spPr>
          <a:xfrm>
            <a:off x="731520" y="1426235"/>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55425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55425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٢٤٥</a:t>
            </a:r>
            <a:endParaRPr lang="ar-SA" sz="1200" dirty="0"/>
          </a:p>
        </p:txBody>
      </p:sp>
      <p:sp>
        <p:nvSpPr>
          <p:cNvPr id="9" name="Text 7"/>
          <p:cNvSpPr txBox="1"/>
          <p:nvPr/>
        </p:nvSpPr>
        <p:spPr>
          <a:xfrm>
            <a:off x="914400" y="1554251"/>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مَّن ذَا الَّذِي يُقْرِضُ اللَّهَ قَرْضًا حَسَنًا فَيُضَٰعِفَهُ لَهُ أَضْعَافًا كَثِيرَةً وَاللَّهُ يَقْبِضُ وَيَبْصُطُ وَإِلَيْهِ تُرْجَعُونَ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من الذي ينفق في سبيل الله نفقة طيبة فيضاعفها الله له أضعافًا كثيرة؟ والله يضيّق الرزق ويوسّعه، وإليه ترجعون.</a:t>
            </a:r>
            <a:endParaRPr lang="ar-SA" sz="2800" dirty="0"/>
          </a:p>
        </p:txBody>
      </p:sp>
      <p:sp>
        <p:nvSpPr>
          <p:cNvPr id="10" name="Shape 8"/>
          <p:cNvSpPr/>
          <p:nvPr/>
        </p:nvSpPr>
        <p:spPr>
          <a:xfrm>
            <a:off x="731520" y="3523412"/>
            <a:ext cx="10728655" cy="2594153"/>
          </a:xfrm>
          <a:prstGeom prst="roundRect">
            <a:avLst>
              <a:gd name="adj" fmla="val 35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651428"/>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651428"/>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٢٤٦</a:t>
            </a:r>
            <a:endParaRPr lang="ar-SA" sz="1200" dirty="0"/>
          </a:p>
        </p:txBody>
      </p:sp>
      <p:sp>
        <p:nvSpPr>
          <p:cNvPr id="13" name="Text 11"/>
          <p:cNvSpPr txBox="1"/>
          <p:nvPr/>
        </p:nvSpPr>
        <p:spPr>
          <a:xfrm>
            <a:off x="914400" y="3651428"/>
            <a:ext cx="9677095" cy="2338121"/>
          </a:xfrm>
          <a:prstGeom prst="rect">
            <a:avLst/>
          </a:prstGeom>
          <a:noFill/>
          <a:ln/>
        </p:spPr>
        <p:txBody>
          <a:bodyPr wrap="square" lIns="0" tIns="0" rIns="0" bIns="0" rtlCol="0" anchor="ctr"/>
          <a:lstStyle/>
          <a:p>
            <a:pPr rtl="1" algn="r" indent="0" marL="0">
              <a:spcAft>
                <a:spcPts val="800"/>
              </a:spcAft>
              <a:buNone/>
            </a:pPr>
            <a:r>
              <a:rPr lang="ar-SA" altLang="en-US" sz="2400" b="1" dirty="0">
                <a:solidFill>
                  <a:schemeClr val="tx2"/>
                </a:solidFill>
                <a:latin typeface="Traditional Arabic" pitchFamily="34" charset="0"/>
                <a:ea typeface="Traditional Arabic" pitchFamily="34" charset="-122"/>
                <a:cs typeface="Traditional Arabic" pitchFamily="34" charset="-120"/>
              </a:rPr>
              <a:t>أَلَمْ تَرَ إِلَى الْمَلَإِ مِن بَنِي إِسْرَـٰءِيلَ مِن بَعْدِ مُوسَىٰ إِذْ قَالُواْ لِنَبِيٍّ لَّهُمُ ابْعَثْ لَنَا مَلِكًا نُّقَٰتِلْ فِي سَبِيلِ اللَّهِ قَالَ هَلْ عَسَيْتُمْ إِن كُتِبَ عَلَيْكُمُ الْقِتَالُ أَلَّا تُقَٰتِلُواْ قَالُواْ وَمَا لَنَآ أَلَّا نُقَٰتِلَ فِي سَبِيلِ اللَّهِ وَقَدْ أُخْرِجْنَا مِن دِيَٰرِنَا وَأَبْنَآئِنَا فَلَمَّا كُتِبَ عَلَيْهِمُ الْقِتَالُ تَوَلَّوْاْ إِلَّا قَلِيلًا مِّنْهُمْ وَاللَّهُ عَلِيمٌ بِالظَّـٰلِمِينَ</a:t>
            </a:r>
            <a:endParaRPr lang="ar-SA" sz="24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ألم ترَ إلى أشراف بني إسرائيل بعد موسى حين قالوا لنبيّهم: اختر لنا ملكًا نقاتل معه في سبيل الله، قال: لعلكم إن فُرض عليكم القتال لا تقاتلون؟ فلما فُرض عليهم تولّوا إلا قليلًا منهم.</a:t>
            </a:r>
            <a:endParaRPr lang="ar-SA" sz="24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144</a:t>
            </a:fld>
            <a:endParaRPr 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قصة طالوت وجالوت</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٢٤٧</a:t>
            </a:r>
            <a:endParaRPr lang="ar-SA" sz="1400" dirty="0"/>
          </a:p>
        </p:txBody>
      </p:sp>
      <p:sp>
        <p:nvSpPr>
          <p:cNvPr id="6" name="Shape 4"/>
          <p:cNvSpPr/>
          <p:nvPr/>
        </p:nvSpPr>
        <p:spPr>
          <a:xfrm>
            <a:off x="731520" y="2354123"/>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482139"/>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482139"/>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٢٤٧</a:t>
            </a:r>
            <a:endParaRPr lang="ar-SA" sz="1200" dirty="0"/>
          </a:p>
        </p:txBody>
      </p:sp>
      <p:sp>
        <p:nvSpPr>
          <p:cNvPr id="9" name="Text 7"/>
          <p:cNvSpPr txBox="1"/>
          <p:nvPr/>
        </p:nvSpPr>
        <p:spPr>
          <a:xfrm>
            <a:off x="914400" y="2482139"/>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وَقَالَ لَهُمْ نَبِيُّهُمْ إِنَّ اللَّهَ قَدْ بَعَثَ لَكُمْ طَالُوتَ مَلِكًا قَالُواْ أَنَّىٰ يَكُونُ لَهُ الْمُلْكُ عَلَيْنَا وَنَحْنُ أَحَقُّ بِالْمُلْكِ مِنْهُ وَلَمْ يُؤْتَ سَعَةً مِّنَ الْمَالِ قَالَ إِنَّ اللَّهَ اصْطَفَىٰهُ عَلَيْكُمْ وَزَادَهُ بَسْطَةً فِي الْعِلْمِ وَالْجِسْمِ وَاللَّهُ يُؤْتِي مُلْكَهُ مَن يَشَآءُ وَاللَّهُ وَٰسِعٌ عَلِيمٌ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وقال لهم نبيهم: إن الله اختار لكم طالوت ملكًا، قالوا: كيف يكون ملكًا علينا ونحن أحقّ منه وهو فقير؟ قال: إن الله اختاره وزاده سعةً في العلم وقوةً في الجسم، والله يؤتي ملكه من يشاء.</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145</a:t>
            </a:fld>
            <a:endParaRPr lang="en-US"/>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قصة طالوت وجالوت</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٢٤٨</a:t>
            </a:r>
            <a:endParaRPr lang="ar-SA" sz="1400" dirty="0"/>
          </a:p>
        </p:txBody>
      </p:sp>
      <p:sp>
        <p:nvSpPr>
          <p:cNvPr id="6" name="Shape 4"/>
          <p:cNvSpPr/>
          <p:nvPr/>
        </p:nvSpPr>
        <p:spPr>
          <a:xfrm>
            <a:off x="731520" y="263575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763774"/>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76377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٢٤٨</a:t>
            </a:r>
            <a:endParaRPr lang="ar-SA" sz="1200" dirty="0"/>
          </a:p>
        </p:txBody>
      </p:sp>
      <p:sp>
        <p:nvSpPr>
          <p:cNvPr id="9" name="Text 7"/>
          <p:cNvSpPr txBox="1"/>
          <p:nvPr/>
        </p:nvSpPr>
        <p:spPr>
          <a:xfrm>
            <a:off x="914400" y="276377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وَقَالَ لَهُمْ نَبِيُّهُمْ إِنَّ ءَايَةَ مُلْكِهِ أَن يَأْتِيَكُمُ التَّابُوتُ فِيهِ سَكِينَةٌ مِّن رَّبِّكُمْ وَبَقِيَّةٌ مِّمَّا تَرَكَ ءَالُ مُوسَىٰ وَءَالُ هَٰرُونَ تَحْمِلُهُ الْمَلَـٰئِكَةُ إِنَّ فِي ذَٰلِكَ لَأيَةً لَّكُمْ إِن كُنتُم مُّؤْمِنِينَ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وقال لهم نبيهم: علامة ملكه أن يعود إليكم التابوت الذي فيه طمأنينة من ربكم وبقية من آثار آل موسى وهارون، تحمله الملائكة.</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146</a:t>
            </a:fld>
            <a:endParaRPr lang="en-US"/>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قصة طالوت وجالوت</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٢٤٩ – ٢٥٠</a:t>
            </a:r>
            <a:endParaRPr lang="ar-SA" sz="1400" dirty="0"/>
          </a:p>
        </p:txBody>
      </p:sp>
      <p:sp>
        <p:nvSpPr>
          <p:cNvPr id="6" name="Shape 4"/>
          <p:cNvSpPr/>
          <p:nvPr/>
        </p:nvSpPr>
        <p:spPr>
          <a:xfrm>
            <a:off x="731520" y="1280160"/>
            <a:ext cx="10728655" cy="2981630"/>
          </a:xfrm>
          <a:prstGeom prst="roundRect">
            <a:avLst>
              <a:gd name="adj" fmla="val 3067"/>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0817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0817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٢٤٩</a:t>
            </a:r>
            <a:endParaRPr lang="ar-SA" sz="1200" dirty="0"/>
          </a:p>
        </p:txBody>
      </p:sp>
      <p:sp>
        <p:nvSpPr>
          <p:cNvPr id="9" name="Text 7"/>
          <p:cNvSpPr txBox="1"/>
          <p:nvPr/>
        </p:nvSpPr>
        <p:spPr>
          <a:xfrm>
            <a:off x="914400" y="1408176"/>
            <a:ext cx="9677095" cy="2725598"/>
          </a:xfrm>
          <a:prstGeom prst="rect">
            <a:avLst/>
          </a:prstGeom>
          <a:noFill/>
          <a:ln/>
        </p:spPr>
        <p:txBody>
          <a:bodyPr wrap="square" lIns="0" tIns="0" rIns="0" bIns="0" rtlCol="0" anchor="ctr"/>
          <a:lstStyle/>
          <a:p>
            <a:pPr rtl="1" algn="r" indent="0" marL="0">
              <a:spcAft>
                <a:spcPts val="800"/>
              </a:spcAft>
              <a:buNone/>
            </a:pPr>
            <a:r>
              <a:rPr lang="ar-SA" altLang="en-US" sz="2400" b="1" dirty="0">
                <a:solidFill>
                  <a:schemeClr val="tx2"/>
                </a:solidFill>
                <a:latin typeface="Traditional Arabic" pitchFamily="34" charset="0"/>
                <a:ea typeface="Traditional Arabic" pitchFamily="34" charset="-122"/>
                <a:cs typeface="Traditional Arabic" pitchFamily="34" charset="-120"/>
              </a:rPr>
              <a:t>فَلَمَّا فَصَلَ طَالُوتُ بِالْجُنُودِ قَالَ إِنَّ اللَّهَ مُبْتَلِيكُم بِنَهَرٍ فَمَن شَرِبَ مِنْهُ فَلَيْسَ مِنِّي وَمَن لَّمْ يَطْعَمْهُ فَإِنَّهُ مِنِّي إِلَّا مَنِ اغْتَرَفَ غُرْفَةً بِيَدِهِ فَشَرِبُواْ مِنْهُ إِلَّا قَلِيلًا مِّنْهُمْ فَلَمَّا جَاوَزَهُ هُوَ وَالَّذِينَ ءَامَنُواْ مَعَهُ قَالُواْ لَا طَاقَةَ لَنَا الْيَوْمَ بِجَالُوتَ وَجُنُودِهِ قَالَ الَّذِينَ يَظُنُّونَ أَنَّهُم مُّلَٰقُواْ اللَّهِ كَم مِّن فِئَةٍ قَلِيلَةٍ غَلَبَتْ فِئَةً كَثِيرَةً بِإِذْنِ اللَّهِ وَاللَّهُ مَعَ الصَّـٰبِرِينَ</a:t>
            </a:r>
            <a:endParaRPr lang="ar-SA" sz="24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فلما خرج طالوت بالجنود قال: إن الله مختبركم بنهر، فمن شرب منه فليس مني إلا غرفةً بيده، فشربوا منه إلا قليلًا، فلما جاوزه المؤمنون قالوا: كم من جماعة قليلة غلبت جماعة كثيرة بإذن الله، والله مع الصابرين.</a:t>
            </a:r>
            <a:endParaRPr lang="ar-SA" sz="2400" dirty="0"/>
          </a:p>
        </p:txBody>
      </p:sp>
      <p:sp>
        <p:nvSpPr>
          <p:cNvPr id="10" name="Shape 8"/>
          <p:cNvSpPr/>
          <p:nvPr/>
        </p:nvSpPr>
        <p:spPr>
          <a:xfrm>
            <a:off x="731520" y="4389806"/>
            <a:ext cx="10728655" cy="1873834"/>
          </a:xfrm>
          <a:prstGeom prst="roundRect">
            <a:avLst>
              <a:gd name="adj" fmla="val 4880"/>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517822"/>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517822"/>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٢٥٠</a:t>
            </a:r>
            <a:endParaRPr lang="ar-SA" sz="1200" dirty="0"/>
          </a:p>
        </p:txBody>
      </p:sp>
      <p:sp>
        <p:nvSpPr>
          <p:cNvPr id="13" name="Text 11"/>
          <p:cNvSpPr txBox="1"/>
          <p:nvPr/>
        </p:nvSpPr>
        <p:spPr>
          <a:xfrm>
            <a:off x="914400" y="4517822"/>
            <a:ext cx="9677095" cy="161780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وَلَمَّا بَرَزُواْ لِجَالُوتَ وَجُنُودِهِ قَالُواْ رَبَّنَآ أَفْرِغْ عَلَيْنَا صَبْرًا وَثَبِّتْ أَقْدَامَنَا وَانصُرْنَا عَلَى الْقَوْمِ الْكَٰفِرِينَ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ولما واجهوا جالوت وجنوده دعوا: ربنا أنزل علينا صبرًا، وثبّت أقدامنا، وانصرنا على القوم الكافرين.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147</a:t>
            </a:fld>
            <a:endParaRPr lang="en-US"/>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قصة طالوت وجالوت</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٢٥١ – ٢٥٢</a:t>
            </a:r>
            <a:endParaRPr lang="ar-SA" sz="1400" dirty="0"/>
          </a:p>
        </p:txBody>
      </p:sp>
      <p:sp>
        <p:nvSpPr>
          <p:cNvPr id="6" name="Shape 4"/>
          <p:cNvSpPr/>
          <p:nvPr/>
        </p:nvSpPr>
        <p:spPr>
          <a:xfrm>
            <a:off x="731520" y="1587170"/>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71518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71518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٢٥١</a:t>
            </a:r>
            <a:endParaRPr lang="ar-SA" sz="1200" dirty="0"/>
          </a:p>
        </p:txBody>
      </p:sp>
      <p:sp>
        <p:nvSpPr>
          <p:cNvPr id="9" name="Text 7"/>
          <p:cNvSpPr txBox="1"/>
          <p:nvPr/>
        </p:nvSpPr>
        <p:spPr>
          <a:xfrm>
            <a:off x="914400" y="1715186"/>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فَهَزَمُوهُم بِإِذْنِ اللَّهِ وَقَتَلَ دَاوُدُ جَالُوتَ وَءَاتَىٰهُ اللَّهُ الْمُلْكَ وَالْحِكْمَةَ وَعَلَّمَهُ مِمَّا يَشَآءُ وَلَوْلَا دَفْعُ اللَّهِ النَّاسَ بَعْضَهُم بِبَعْضٍ لَّفَسَدَتِ الْأَرْضُ وَلَٰكِنَّ اللَّهَ ذُو فَضْلٍ عَلَى الْعَٰلَمِينَ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فهزموهم بإذن الله، وقتل داود جالوت، وأعطاه الله الملك والنبوة والعلم، ولولا أن يدفع الله شرّ الأشرار بالأخيار لفسدت الأرض.</a:t>
            </a:r>
            <a:endParaRPr lang="ar-SA" sz="2800" dirty="0"/>
          </a:p>
        </p:txBody>
      </p:sp>
      <p:sp>
        <p:nvSpPr>
          <p:cNvPr id="10" name="Shape 8"/>
          <p:cNvSpPr/>
          <p:nvPr/>
        </p:nvSpPr>
        <p:spPr>
          <a:xfrm>
            <a:off x="731520" y="4550740"/>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678756"/>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67875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٢٥٢</a:t>
            </a:r>
            <a:endParaRPr lang="ar-SA" sz="1200" dirty="0"/>
          </a:p>
        </p:txBody>
      </p:sp>
      <p:sp>
        <p:nvSpPr>
          <p:cNvPr id="13" name="Text 11"/>
          <p:cNvSpPr txBox="1"/>
          <p:nvPr/>
        </p:nvSpPr>
        <p:spPr>
          <a:xfrm>
            <a:off x="914400" y="4678756"/>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تِلْكَ ءَايَٰتُ اللَّهِ نَتْلُوهَا عَلَيْكَ بِالْحَقِّ وَإِنَّكَ لَمِنَ الْمُرْسَلِينَ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تلك آيات الله نقرؤها عليك بالحق، وإنك لمن المرسلين.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148</a:t>
            </a:fld>
            <a:endParaRPr lang="en-US"/>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Text 0"/>
          <p:cNvSpPr txBox="1"/>
          <p:nvPr/>
        </p:nvSpPr>
        <p:spPr>
          <a:xfrm>
            <a:off x="7223760" y="1143000"/>
            <a:ext cx="4114800" cy="411480"/>
          </a:xfrm>
          <a:prstGeom prst="rect">
            <a:avLst/>
          </a:prstGeom>
          <a:noFill/>
          <a:ln/>
        </p:spPr>
        <p:txBody>
          <a:bodyPr wrap="square" lIns="0" tIns="0" rIns="0" bIns="0" rtlCol="0" anchor="t"/>
          <a:lstStyle/>
          <a:p>
            <a:pPr rtl="1" algn="ctr" indent="0" marL="0">
              <a:buNone/>
            </a:pPr>
            <a:r>
              <a:rPr lang="ar-SA" altLang="en-US" sz="1800" b="1" dirty="0">
                <a:solidFill>
                  <a:schemeClr val="accent5"/>
                </a:solidFill>
              </a:rPr>
              <a:t>المقطع</a:t>
            </a:r>
            <a:endParaRPr lang="ar-SA" sz="1800" dirty="0"/>
          </a:p>
        </p:txBody>
      </p:sp>
      <p:sp>
        <p:nvSpPr>
          <p:cNvPr id="3" name="Shape 1"/>
          <p:cNvSpPr/>
          <p:nvPr/>
        </p:nvSpPr>
        <p:spPr>
          <a:xfrm>
            <a:off x="8915400" y="1645920"/>
            <a:ext cx="731520" cy="731520"/>
          </a:xfrm>
          <a:prstGeom prst="octagon">
            <a:avLst/>
          </a:prstGeom>
          <a:solidFill>
            <a:schemeClr val="accent2"/>
          </a:solidFill>
          <a:ln w="15875">
            <a:solidFill>
              <a:schemeClr val="accent5"/>
            </a:solidFill>
            <a:prstDash val="solid"/>
          </a:ln>
        </p:spPr>
      </p:sp>
      <p:sp>
        <p:nvSpPr>
          <p:cNvPr id="4" name="Text 2"/>
          <p:cNvSpPr txBox="1"/>
          <p:nvPr/>
        </p:nvSpPr>
        <p:spPr>
          <a:xfrm>
            <a:off x="8915400" y="164592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bg1"/>
                </a:solidFill>
                <a:latin typeface="Arial" pitchFamily="34" charset="0"/>
                <a:ea typeface="Arial" pitchFamily="34" charset="-122"/>
                <a:cs typeface="Arial" pitchFamily="34" charset="-120"/>
              </a:rPr>
              <a:t>١٨</a:t>
            </a:r>
            <a:endParaRPr lang="ar-SA" sz="1800" dirty="0"/>
          </a:p>
        </p:txBody>
      </p:sp>
      <p:sp>
        <p:nvSpPr>
          <p:cNvPr id="5" name="Text 3"/>
          <p:cNvSpPr txBox="1"/>
          <p:nvPr/>
        </p:nvSpPr>
        <p:spPr>
          <a:xfrm>
            <a:off x="7269480" y="2606040"/>
            <a:ext cx="4023360" cy="1737360"/>
          </a:xfrm>
          <a:prstGeom prst="rect">
            <a:avLst/>
          </a:prstGeom>
          <a:noFill/>
          <a:ln/>
        </p:spPr>
        <p:txBody>
          <a:bodyPr wrap="square" lIns="0" tIns="0" rIns="0" bIns="0" rtlCol="0" anchor="ctr"/>
          <a:lstStyle/>
          <a:p>
            <a:pPr rtl="1" algn="ctr" indent="0" marL="0">
              <a:buNone/>
            </a:pPr>
            <a:r>
              <a:rPr lang="ar-SA" altLang="en-US" sz="3800" b="1" dirty="0">
                <a:solidFill>
                  <a:schemeClr val="bg1"/>
                </a:solidFill>
                <a:latin typeface="Sakkal Majalla" pitchFamily="34" charset="0"/>
                <a:ea typeface="Sakkal Majalla" pitchFamily="34" charset="-122"/>
                <a:cs typeface="Sakkal Majalla" pitchFamily="34" charset="-120"/>
              </a:rPr>
              <a:t>آية الكرسي ولا إكراه في الدين</a:t>
            </a:r>
            <a:endParaRPr lang="ar-SA" sz="3800" dirty="0"/>
          </a:p>
        </p:txBody>
      </p:sp>
      <p:sp>
        <p:nvSpPr>
          <p:cNvPr id="6" name="Text 4"/>
          <p:cNvSpPr txBox="1"/>
          <p:nvPr/>
        </p:nvSpPr>
        <p:spPr>
          <a:xfrm>
            <a:off x="7269480" y="4526280"/>
            <a:ext cx="4023360" cy="457200"/>
          </a:xfrm>
          <a:prstGeom prst="rect">
            <a:avLst/>
          </a:prstGeom>
          <a:noFill/>
          <a:ln/>
        </p:spPr>
        <p:txBody>
          <a:bodyPr wrap="square" lIns="0" tIns="0" rIns="0" bIns="0" rtlCol="0" anchor="t"/>
          <a:lstStyle/>
          <a:p>
            <a:pPr rtl="1" algn="ctr" indent="0" marL="0">
              <a:buNone/>
            </a:pPr>
            <a:r>
              <a:rPr lang="ar-SA" altLang="en-US" sz="2000" b="1" dirty="0">
                <a:solidFill>
                  <a:schemeClr val="accent5"/>
                </a:solidFill>
              </a:rPr>
              <a:t>الآيات ٢٥٣ – ٢٥٧</a:t>
            </a:r>
            <a:endParaRPr lang="ar-SA" sz="2000" dirty="0"/>
          </a:p>
        </p:txBody>
      </p:sp>
      <p:sp>
        <p:nvSpPr>
          <p:cNvPr id="7" name="Shape 5"/>
          <p:cNvSpPr/>
          <p:nvPr/>
        </p:nvSpPr>
        <p:spPr>
          <a:xfrm>
            <a:off x="685800" y="685800"/>
            <a:ext cx="5806440" cy="2606040"/>
          </a:xfrm>
          <a:prstGeom prst="roundRect">
            <a:avLst>
              <a:gd name="adj" fmla="val 4211"/>
            </a:avLst>
          </a:prstGeom>
          <a:solidFill>
            <a:schemeClr val="bg2"/>
          </a:solidFill>
          <a:ln w="19050">
            <a:solidFill>
              <a:schemeClr val="accent5"/>
            </a:solidFill>
            <a:prstDash val="solid"/>
          </a:ln>
        </p:spPr>
      </p:sp>
      <p:sp>
        <p:nvSpPr>
          <p:cNvPr id="8" name="Shape 6"/>
          <p:cNvSpPr/>
          <p:nvPr/>
        </p:nvSpPr>
        <p:spPr>
          <a:xfrm>
            <a:off x="4343400" y="914400"/>
            <a:ext cx="1920240" cy="420624"/>
          </a:xfrm>
          <a:prstGeom prst="roundRect">
            <a:avLst>
              <a:gd name="adj" fmla="val 50000"/>
            </a:avLst>
          </a:prstGeom>
          <a:solidFill>
            <a:schemeClr val="accent2"/>
          </a:solidFill>
          <a:ln/>
        </p:spPr>
      </p:sp>
      <p:sp>
        <p:nvSpPr>
          <p:cNvPr id="9" name="Text 7"/>
          <p:cNvSpPr txBox="1"/>
          <p:nvPr/>
        </p:nvSpPr>
        <p:spPr>
          <a:xfrm>
            <a:off x="4343400" y="91440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سبب النزول</a:t>
            </a:r>
            <a:endParaRPr lang="ar-SA" sz="1600" dirty="0"/>
          </a:p>
        </p:txBody>
      </p:sp>
      <p:sp>
        <p:nvSpPr>
          <p:cNvPr id="10" name="Text 8"/>
          <p:cNvSpPr txBox="1"/>
          <p:nvPr/>
        </p:nvSpPr>
        <p:spPr>
          <a:xfrm>
            <a:off x="960120" y="1463040"/>
            <a:ext cx="5257800" cy="16459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قال ابن عباس: كانت المرأة من الأنصار لا يعيش لها ولد فتنذر إن عاش أن تجعله يهوديًا، فلما أُجلي بنو النضير كان فيهم من أبناء الأنصار، فقالوا: لا ندع أبناءنا، فأنزل الله: ﴿لا إكراه في الدين﴾ (رواه أبو داود).</a:t>
            </a:r>
            <a:endParaRPr lang="ar-SA" sz="1700" dirty="0"/>
          </a:p>
        </p:txBody>
      </p:sp>
      <p:sp>
        <p:nvSpPr>
          <p:cNvPr id="11" name="Shape 9"/>
          <p:cNvSpPr/>
          <p:nvPr/>
        </p:nvSpPr>
        <p:spPr>
          <a:xfrm>
            <a:off x="685800" y="3566160"/>
            <a:ext cx="5806440" cy="2606040"/>
          </a:xfrm>
          <a:prstGeom prst="roundRect">
            <a:avLst>
              <a:gd name="adj" fmla="val 4211"/>
            </a:avLst>
          </a:prstGeom>
          <a:solidFill>
            <a:schemeClr val="bg2"/>
          </a:solidFill>
          <a:ln w="19050">
            <a:solidFill>
              <a:schemeClr val="accent5"/>
            </a:solidFill>
            <a:prstDash val="solid"/>
          </a:ln>
        </p:spPr>
      </p:sp>
      <p:sp>
        <p:nvSpPr>
          <p:cNvPr id="12" name="Shape 10"/>
          <p:cNvSpPr/>
          <p:nvPr/>
        </p:nvSpPr>
        <p:spPr>
          <a:xfrm>
            <a:off x="4343400" y="3794760"/>
            <a:ext cx="1920240" cy="420624"/>
          </a:xfrm>
          <a:prstGeom prst="roundRect">
            <a:avLst>
              <a:gd name="adj" fmla="val 50000"/>
            </a:avLst>
          </a:prstGeom>
          <a:solidFill>
            <a:schemeClr val="tx2"/>
          </a:solidFill>
          <a:ln/>
        </p:spPr>
      </p:sp>
      <p:sp>
        <p:nvSpPr>
          <p:cNvPr id="13" name="Text 11"/>
          <p:cNvSpPr txBox="1"/>
          <p:nvPr/>
        </p:nvSpPr>
        <p:spPr>
          <a:xfrm>
            <a:off x="4343400" y="379476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مقصد المقطع</a:t>
            </a:r>
            <a:endParaRPr lang="ar-SA" sz="1600" dirty="0"/>
          </a:p>
        </p:txBody>
      </p:sp>
      <p:sp>
        <p:nvSpPr>
          <p:cNvPr id="14" name="Text 12"/>
          <p:cNvSpPr txBox="1"/>
          <p:nvPr/>
        </p:nvSpPr>
        <p:spPr>
          <a:xfrm>
            <a:off x="960120" y="4343400"/>
            <a:ext cx="5257800" cy="16459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تفاضل الرسل، والأمر بالإنفاق، وآية الكرسي أعظم آية في القرآن، وأنه لا إكراه في الدين.</a:t>
            </a:r>
            <a:endParaRPr lang="ar-SA" sz="17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آية الكرسي ولا إكراه في الدين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٢٥٣</a:t>
            </a:r>
            <a:endParaRPr lang="ar-SA" sz="1400" dirty="0"/>
          </a:p>
        </p:txBody>
      </p:sp>
      <p:sp>
        <p:nvSpPr>
          <p:cNvPr id="6" name="Shape 4"/>
          <p:cNvSpPr/>
          <p:nvPr/>
        </p:nvSpPr>
        <p:spPr>
          <a:xfrm>
            <a:off x="731520" y="2233422"/>
            <a:ext cx="10728655" cy="3076956"/>
          </a:xfrm>
          <a:prstGeom prst="roundRect">
            <a:avLst>
              <a:gd name="adj" fmla="val 2972"/>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361438"/>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361438"/>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٢٥٣</a:t>
            </a:r>
            <a:endParaRPr lang="ar-SA" sz="1200" dirty="0"/>
          </a:p>
        </p:txBody>
      </p:sp>
      <p:sp>
        <p:nvSpPr>
          <p:cNvPr id="9" name="Text 7"/>
          <p:cNvSpPr txBox="1"/>
          <p:nvPr/>
        </p:nvSpPr>
        <p:spPr>
          <a:xfrm>
            <a:off x="914400" y="2361438"/>
            <a:ext cx="9677095" cy="2820924"/>
          </a:xfrm>
          <a:prstGeom prst="rect">
            <a:avLst/>
          </a:prstGeom>
          <a:noFill/>
          <a:ln/>
        </p:spPr>
        <p:txBody>
          <a:bodyPr wrap="square" lIns="0" tIns="0" rIns="0" bIns="0" rtlCol="0" anchor="ctr"/>
          <a:lstStyle/>
          <a:p>
            <a:pPr rtl="1" algn="r" indent="0" marL="0">
              <a:spcAft>
                <a:spcPts val="800"/>
              </a:spcAft>
              <a:buNone/>
            </a:pPr>
            <a:r>
              <a:rPr lang="ar-SA" altLang="en-US" sz="2400" b="1" dirty="0">
                <a:solidFill>
                  <a:schemeClr val="tx2"/>
                </a:solidFill>
                <a:latin typeface="Traditional Arabic" pitchFamily="34" charset="0"/>
                <a:ea typeface="Traditional Arabic" pitchFamily="34" charset="-122"/>
                <a:cs typeface="Traditional Arabic" pitchFamily="34" charset="-120"/>
              </a:rPr>
              <a:t>تِلْكَ الرُّسُلُ فَضَّلْنَا بَعْضَهُمْ عَلَىٰ بَعْضٍ مِّنْهُم مَّن كَلَّمَ اللَّهُ وَرَفَعَ بَعْضَهُمْ دَرَجَٰتٍ وَءَاتَيْنَا عِيسَى ابْنَ مَرْيَمَ الْبَيِّنَٰتِ وَأَيَّدْنَٰهُ بِرُوحِ الْقُدُسِ وَلَوْ شَآءَ اللَّهُ مَا اقْتَتَلَ الَّذِينَ مِن بَعْدِهِم مِّن بَعْدِ مَا جَآءَتْهُمُ الْبَيِّنَٰتُ وَلَٰكِنِ اخْتَلَفُواْ فَمِنْهُم مَّنْ ءَامَنَ وَمِنْهُم مَّن كَفَرَ وَلَوْ شَآءَ اللَّهُ مَا اقْتَتَلُواْ وَلَٰكِنَّ اللَّهَ يَفْعَلُ مَا يُرِيدُ</a:t>
            </a:r>
            <a:endParaRPr lang="ar-SA" sz="24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أولئك الرسل فضّلنا بعضهم على بعض: منهم من كلّمه الله كموسى، ورفع بعضهم درجات كمحمد صلى الله عليه وسلم، وأعطينا عيسى المعجزات وقوّيناه بجبريل، ولو شاء الله ما اقتتل الناس من بعدهم، ولكن الله يفعل ما يريد.</a:t>
            </a:r>
            <a:endParaRPr lang="ar-SA" sz="24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150</a:t>
            </a:fld>
            <a:endParaRPr lang="en-US"/>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آية الكرسي ولا إكراه في الدين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٢٥٤ – ٢٥٥</a:t>
            </a:r>
            <a:endParaRPr lang="ar-SA" sz="1400" dirty="0"/>
          </a:p>
        </p:txBody>
      </p:sp>
      <p:sp>
        <p:nvSpPr>
          <p:cNvPr id="6" name="Shape 4"/>
          <p:cNvSpPr/>
          <p:nvPr/>
        </p:nvSpPr>
        <p:spPr>
          <a:xfrm>
            <a:off x="731520" y="1280160"/>
            <a:ext cx="10728655" cy="1963674"/>
          </a:xfrm>
          <a:prstGeom prst="roundRect">
            <a:avLst>
              <a:gd name="adj" fmla="val 4657"/>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0817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0817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٢٥٤</a:t>
            </a:r>
            <a:endParaRPr lang="ar-SA" sz="1200" dirty="0"/>
          </a:p>
        </p:txBody>
      </p:sp>
      <p:sp>
        <p:nvSpPr>
          <p:cNvPr id="9" name="Text 7"/>
          <p:cNvSpPr txBox="1"/>
          <p:nvPr/>
        </p:nvSpPr>
        <p:spPr>
          <a:xfrm>
            <a:off x="914400" y="1408176"/>
            <a:ext cx="9677095" cy="170764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يَـٰأَيُّهَا الَّذِينَ ءَامَنُواْ أَنفِقُواْ مِمَّا رَزَقْنَٰكُم مِّن قَبْلِ أَن يَأْتِيَ يَوْمٌ لَّا بَيْعٌ فِيهِ وَلَا خُلَّةٌ وَلَا شَفَٰعَةٌ وَالْكَٰفِرُونَ هُمُ الظَّـٰلِمُونَ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يا أيها المؤمنون، أنفقوا مما رزقناكم قبل أن يأتي يوم لا بيع فيه ولا صداقة ولا شفاعة، والكافرون هم الظالمون.</a:t>
            </a:r>
            <a:endParaRPr lang="ar-SA" sz="2800" dirty="0"/>
          </a:p>
        </p:txBody>
      </p:sp>
      <p:sp>
        <p:nvSpPr>
          <p:cNvPr id="10" name="Shape 8"/>
          <p:cNvSpPr/>
          <p:nvPr/>
        </p:nvSpPr>
        <p:spPr>
          <a:xfrm>
            <a:off x="731520" y="3371850"/>
            <a:ext cx="10728655" cy="2891790"/>
          </a:xfrm>
          <a:prstGeom prst="roundRect">
            <a:avLst>
              <a:gd name="adj" fmla="val 3162"/>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499866"/>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49986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٢٥٥</a:t>
            </a:r>
            <a:endParaRPr lang="ar-SA" sz="1200" dirty="0"/>
          </a:p>
        </p:txBody>
      </p:sp>
      <p:sp>
        <p:nvSpPr>
          <p:cNvPr id="13" name="Text 11"/>
          <p:cNvSpPr txBox="1"/>
          <p:nvPr/>
        </p:nvSpPr>
        <p:spPr>
          <a:xfrm>
            <a:off x="914400" y="3499866"/>
            <a:ext cx="9677095" cy="2635758"/>
          </a:xfrm>
          <a:prstGeom prst="rect">
            <a:avLst/>
          </a:prstGeom>
          <a:noFill/>
          <a:ln/>
        </p:spPr>
        <p:txBody>
          <a:bodyPr wrap="square" lIns="0" tIns="0" rIns="0" bIns="0" rtlCol="0" anchor="ctr"/>
          <a:lstStyle/>
          <a:p>
            <a:pPr rtl="1" algn="r" indent="0" marL="0">
              <a:spcAft>
                <a:spcPts val="800"/>
              </a:spcAft>
              <a:buNone/>
            </a:pPr>
            <a:r>
              <a:rPr lang="ar-SA" altLang="en-US" sz="2400" b="1" dirty="0">
                <a:solidFill>
                  <a:schemeClr val="tx2"/>
                </a:solidFill>
                <a:latin typeface="Traditional Arabic" pitchFamily="34" charset="0"/>
                <a:ea typeface="Traditional Arabic" pitchFamily="34" charset="-122"/>
                <a:cs typeface="Traditional Arabic" pitchFamily="34" charset="-120"/>
              </a:rPr>
              <a:t>اللَّهُ لَآ إِلَٰهَ إِلَّا هُوَ الْحَيُّ الْقَيُّومُ لَا تَأْخُذُهُ سِنَةٌ وَلَا نَوْمٌ لَّهُ مَا فِي السَّمَٰوَٰتِ وَمَا فِي الْأَرْضِ مَن ذَا الَّذِي يَشْفَعُ عِندَهُ إِلَّا بِإِذْنِهِ يَعْلَمُ مَا بَيْنَ أَيْدِيهِمْ وَمَا خَلْفَهُمْ وَلَا يُحِيطُونَ بِشَيْءٍ مِّنْ عِلْمِهِ إِلَّا بِمَا شَآءَ وَسِعَ كُرْسِيُّهُ السَّمَٰوَٰتِ وَالْأَرْضَ وَلَا يَـُٔودُهُ حِفْظُهُمَا وَهُوَ الْعَلِيُّ الْعَظِيمُ</a:t>
            </a:r>
            <a:endParaRPr lang="ar-SA" sz="24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الله لا معبود بحق إلا هو، الحيّ الدائم، القائم بتدبير خلقه، لا يأخذه نعاس ولا نوم، له ما في السماوات والأرض، لا يشفع أحد عنده إلا بإذنه، يعلم ما مضى وما سيأتي، وسع كرسيّه السماوات والأرض، ولا يُتعبه حفظهما، وهو العلي العظيم. وهي أعظم آية في كتاب الله (مسلم).</a:t>
            </a:r>
            <a:endParaRPr lang="ar-SA" sz="24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151</a:t>
            </a:fld>
            <a:endParaRPr lang="en-US"/>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آية الكرسي ولا إكراه في الدين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٢٥٦ – ٢٥٧</a:t>
            </a:r>
            <a:endParaRPr lang="ar-SA" sz="1400" dirty="0"/>
          </a:p>
        </p:txBody>
      </p:sp>
      <p:sp>
        <p:nvSpPr>
          <p:cNvPr id="6" name="Shape 4"/>
          <p:cNvSpPr/>
          <p:nvPr/>
        </p:nvSpPr>
        <p:spPr>
          <a:xfrm>
            <a:off x="731520" y="14356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563624"/>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56362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٢٥٦</a:t>
            </a:r>
            <a:endParaRPr lang="ar-SA" sz="1200" dirty="0"/>
          </a:p>
        </p:txBody>
      </p:sp>
      <p:sp>
        <p:nvSpPr>
          <p:cNvPr id="9" name="Text 7"/>
          <p:cNvSpPr txBox="1"/>
          <p:nvPr/>
        </p:nvSpPr>
        <p:spPr>
          <a:xfrm>
            <a:off x="914400" y="15636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لَآ إِكْرَاهَ فِي الدِّينِ قَد تَّبَيَّنَ الرُّشْدُ مِنَ الْغَيِّ فَمَن يَكْفُرْ بِالطَّـٰغُوتِ وَيُؤْمِن بِاللَّهِ فَقَدِ اسْتَمْسَكَ بِالْعُرْوَةِ الْوُثْقَىٰ لَا انفِصَامَ لَهَا وَاللَّهُ سَمِيعٌ عَلِيمٌ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لا تُكرهوا أحدًا على الدخول في الإسلام؛ فقد ظهر الحق من الباطل، فمن كفر بكل ما يُعبد من دون الله وآمن بالله فقد تمسّك بأقوى سبب لا ينقطع، والله سميع عليم.</a:t>
            </a:r>
            <a:endParaRPr lang="ar-SA" sz="2800" dirty="0"/>
          </a:p>
        </p:txBody>
      </p:sp>
      <p:sp>
        <p:nvSpPr>
          <p:cNvPr id="10" name="Shape 8"/>
          <p:cNvSpPr/>
          <p:nvPr/>
        </p:nvSpPr>
        <p:spPr>
          <a:xfrm>
            <a:off x="731520" y="38359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96392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96392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٢٥٧</a:t>
            </a:r>
            <a:endParaRPr lang="ar-SA" sz="1200" dirty="0"/>
          </a:p>
        </p:txBody>
      </p:sp>
      <p:sp>
        <p:nvSpPr>
          <p:cNvPr id="13" name="Text 11"/>
          <p:cNvSpPr txBox="1"/>
          <p:nvPr/>
        </p:nvSpPr>
        <p:spPr>
          <a:xfrm>
            <a:off x="914400" y="39639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اللَّهُ وَلِيُّ الَّذِينَ ءَامَنُواْ يُخْرِجُهُم مِّنَ الظُّلُمَٰتِ إِلَى النُّورِ وَالَّذِينَ كَفَرُواْ أَوْلِيَآؤُهُمُ الطَّـٰغُوتُ يُخْرِجُونَهُم مِّنَ النُّورِ إِلَى الظُّلُمَٰتِ أُوْلَـٰئِكَ أَصْحَٰبُ النَّارِ هُمْ فِيهَا خَٰلِدُونَ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الله ناصر المؤمنين، يُخرجهم من ظلمات الكفر إلى نور الإيمان، والكفار أولياؤهم الشياطين يُخرجونهم من النور إلى الظلمات، أولئك أصحاب النار.</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152</a:t>
            </a:fld>
            <a:endParaRPr lang="en-US"/>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sp>
        <p:nvSpPr>
          <p:cNvPr id="2" name="Text 0"/>
          <p:cNvSpPr txBox="1"/>
          <p:nvPr/>
        </p:nvSpPr>
        <p:spPr>
          <a:xfrm>
            <a:off x="7223760" y="1143000"/>
            <a:ext cx="4114800" cy="411480"/>
          </a:xfrm>
          <a:prstGeom prst="rect">
            <a:avLst/>
          </a:prstGeom>
          <a:noFill/>
          <a:ln/>
        </p:spPr>
        <p:txBody>
          <a:bodyPr wrap="square" lIns="0" tIns="0" rIns="0" bIns="0" rtlCol="0" anchor="t"/>
          <a:lstStyle/>
          <a:p>
            <a:pPr rtl="1" algn="ctr" indent="0" marL="0">
              <a:buNone/>
            </a:pPr>
            <a:r>
              <a:rPr lang="ar-SA" altLang="en-US" sz="1800" b="1" dirty="0">
                <a:solidFill>
                  <a:schemeClr val="accent5"/>
                </a:solidFill>
              </a:rPr>
              <a:t>المقطع</a:t>
            </a:r>
            <a:endParaRPr lang="ar-SA" sz="1800" dirty="0"/>
          </a:p>
        </p:txBody>
      </p:sp>
      <p:sp>
        <p:nvSpPr>
          <p:cNvPr id="3" name="Shape 1"/>
          <p:cNvSpPr/>
          <p:nvPr/>
        </p:nvSpPr>
        <p:spPr>
          <a:xfrm>
            <a:off x="8915400" y="1645920"/>
            <a:ext cx="731520" cy="731520"/>
          </a:xfrm>
          <a:prstGeom prst="octagon">
            <a:avLst/>
          </a:prstGeom>
          <a:solidFill>
            <a:schemeClr val="accent2"/>
          </a:solidFill>
          <a:ln w="15875">
            <a:solidFill>
              <a:schemeClr val="accent5"/>
            </a:solidFill>
            <a:prstDash val="solid"/>
          </a:ln>
        </p:spPr>
      </p:sp>
      <p:sp>
        <p:nvSpPr>
          <p:cNvPr id="4" name="Text 2"/>
          <p:cNvSpPr txBox="1"/>
          <p:nvPr/>
        </p:nvSpPr>
        <p:spPr>
          <a:xfrm>
            <a:off x="8915400" y="164592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bg1"/>
                </a:solidFill>
                <a:latin typeface="Arial" pitchFamily="34" charset="0"/>
                <a:ea typeface="Arial" pitchFamily="34" charset="-122"/>
                <a:cs typeface="Arial" pitchFamily="34" charset="-120"/>
              </a:rPr>
              <a:t>١٩</a:t>
            </a:r>
            <a:endParaRPr lang="ar-SA" sz="1800" dirty="0"/>
          </a:p>
        </p:txBody>
      </p:sp>
      <p:sp>
        <p:nvSpPr>
          <p:cNvPr id="5" name="Text 3"/>
          <p:cNvSpPr txBox="1"/>
          <p:nvPr/>
        </p:nvSpPr>
        <p:spPr>
          <a:xfrm>
            <a:off x="7269480" y="2606040"/>
            <a:ext cx="4023360" cy="1737360"/>
          </a:xfrm>
          <a:prstGeom prst="rect">
            <a:avLst/>
          </a:prstGeom>
          <a:noFill/>
          <a:ln/>
        </p:spPr>
        <p:txBody>
          <a:bodyPr wrap="square" lIns="0" tIns="0" rIns="0" bIns="0" rtlCol="0" anchor="ctr"/>
          <a:lstStyle/>
          <a:p>
            <a:pPr rtl="1" algn="ctr" indent="0" marL="0">
              <a:buNone/>
            </a:pPr>
            <a:r>
              <a:rPr lang="ar-SA" altLang="en-US" sz="3800" b="1" dirty="0">
                <a:solidFill>
                  <a:schemeClr val="bg1"/>
                </a:solidFill>
                <a:latin typeface="Sakkal Majalla" pitchFamily="34" charset="0"/>
                <a:ea typeface="Sakkal Majalla" pitchFamily="34" charset="-122"/>
                <a:cs typeface="Sakkal Majalla" pitchFamily="34" charset="-120"/>
              </a:rPr>
              <a:t>دلائل قدرة الله على الإحياء</a:t>
            </a:r>
            <a:endParaRPr lang="ar-SA" sz="3800" dirty="0"/>
          </a:p>
        </p:txBody>
      </p:sp>
      <p:sp>
        <p:nvSpPr>
          <p:cNvPr id="6" name="Text 4"/>
          <p:cNvSpPr txBox="1"/>
          <p:nvPr/>
        </p:nvSpPr>
        <p:spPr>
          <a:xfrm>
            <a:off x="7269480" y="4526280"/>
            <a:ext cx="4023360" cy="457200"/>
          </a:xfrm>
          <a:prstGeom prst="rect">
            <a:avLst/>
          </a:prstGeom>
          <a:noFill/>
          <a:ln/>
        </p:spPr>
        <p:txBody>
          <a:bodyPr wrap="square" lIns="0" tIns="0" rIns="0" bIns="0" rtlCol="0" anchor="t"/>
          <a:lstStyle/>
          <a:p>
            <a:pPr rtl="1" algn="ctr" indent="0" marL="0">
              <a:buNone/>
            </a:pPr>
            <a:r>
              <a:rPr lang="ar-SA" altLang="en-US" sz="2000" b="1" dirty="0">
                <a:solidFill>
                  <a:schemeClr val="accent5"/>
                </a:solidFill>
              </a:rPr>
              <a:t>الآيات ٢٥٨ – ٢٦٠</a:t>
            </a:r>
            <a:endParaRPr lang="ar-SA" sz="2000" dirty="0"/>
          </a:p>
        </p:txBody>
      </p:sp>
      <p:sp>
        <p:nvSpPr>
          <p:cNvPr id="7" name="Shape 5"/>
          <p:cNvSpPr/>
          <p:nvPr/>
        </p:nvSpPr>
        <p:spPr>
          <a:xfrm>
            <a:off x="685800" y="1783080"/>
            <a:ext cx="5806440" cy="3291840"/>
          </a:xfrm>
          <a:prstGeom prst="roundRect">
            <a:avLst>
              <a:gd name="adj" fmla="val 3333"/>
            </a:avLst>
          </a:prstGeom>
          <a:solidFill>
            <a:schemeClr val="bg2"/>
          </a:solidFill>
          <a:ln w="19050">
            <a:solidFill>
              <a:schemeClr val="accent5"/>
            </a:solidFill>
            <a:prstDash val="solid"/>
          </a:ln>
        </p:spPr>
      </p:sp>
      <p:sp>
        <p:nvSpPr>
          <p:cNvPr id="8" name="Shape 6"/>
          <p:cNvSpPr/>
          <p:nvPr/>
        </p:nvSpPr>
        <p:spPr>
          <a:xfrm>
            <a:off x="4343400" y="2011680"/>
            <a:ext cx="1920240" cy="420624"/>
          </a:xfrm>
          <a:prstGeom prst="roundRect">
            <a:avLst>
              <a:gd name="adj" fmla="val 50000"/>
            </a:avLst>
          </a:prstGeom>
          <a:solidFill>
            <a:schemeClr val="tx2"/>
          </a:solidFill>
          <a:ln/>
        </p:spPr>
      </p:sp>
      <p:sp>
        <p:nvSpPr>
          <p:cNvPr id="9" name="Text 7"/>
          <p:cNvSpPr txBox="1"/>
          <p:nvPr/>
        </p:nvSpPr>
        <p:spPr>
          <a:xfrm>
            <a:off x="4343400" y="201168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مقصد المقطع</a:t>
            </a:r>
            <a:endParaRPr lang="ar-SA" sz="1600" dirty="0"/>
          </a:p>
        </p:txBody>
      </p:sp>
      <p:sp>
        <p:nvSpPr>
          <p:cNvPr id="10" name="Text 8"/>
          <p:cNvSpPr txBox="1"/>
          <p:nvPr/>
        </p:nvSpPr>
        <p:spPr>
          <a:xfrm>
            <a:off x="960120" y="2560320"/>
            <a:ext cx="5257800" cy="23317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ثلاث قصص تدل على قدرة الله على إحياء الموتى: مناظرة إبراهيم للملك، والذي مرّ على قرية، وإحياء الطير لإبراهيم.</a:t>
            </a:r>
            <a:endParaRPr lang="ar-SA" sz="17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دلائل قدرة الله على الإحياء</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٢٥٨</a:t>
            </a:r>
            <a:endParaRPr lang="ar-SA" sz="1400" dirty="0"/>
          </a:p>
        </p:txBody>
      </p:sp>
      <p:sp>
        <p:nvSpPr>
          <p:cNvPr id="6" name="Shape 4"/>
          <p:cNvSpPr/>
          <p:nvPr/>
        </p:nvSpPr>
        <p:spPr>
          <a:xfrm>
            <a:off x="731520" y="2354123"/>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482139"/>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482139"/>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٢٥٨</a:t>
            </a:r>
            <a:endParaRPr lang="ar-SA" sz="1200" dirty="0"/>
          </a:p>
        </p:txBody>
      </p:sp>
      <p:sp>
        <p:nvSpPr>
          <p:cNvPr id="9" name="Text 7"/>
          <p:cNvSpPr txBox="1"/>
          <p:nvPr/>
        </p:nvSpPr>
        <p:spPr>
          <a:xfrm>
            <a:off x="914400" y="2482139"/>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أَلَمْ تَرَ إِلَى الَّذِي حَآجَّ إِبْرَٰهِـمَ فِي رَبِّهِ أَنْ ءَاتَىٰهُ اللَّهُ الْمُلْكَ إِذْ قَالَ إِبْرَٰهِـمُ رَبِّيَ الَّذِي يُحْيِ وَيُمِيتُ قَالَ أَنَا أُحْيِ وَأُمِيتُ قَالَ إِبْرَٰهِـمُ فَإِنَّ اللَّهَ يَأْتِي بِالشَّمْسِ مِنَ الْمَشْرِقِ فَأْتِ بِهَا مِنَ الْمَغْرِبِ فَبُهِتَ الَّذِي كَفَرَ وَاللَّهُ لَا يَهْدِي الْقَوْمَ الظَّـٰلِمِينَ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ألم ترَ إلى الملك الذي جادل إبراهيم في ربه متكبّرًا بملكه؟ قال إبراهيم: ربي يحيي ويميت، قال: أنا أحيي وأميت، قال إبراهيم: إن الله يأتي بالشمس من المشرق فأتِ بها من المغرب، فانقطع الكافر وتحيّر.</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154</a:t>
            </a:fld>
            <a:endParaRPr lang="en-US"/>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دلائل قدرة الله على الإحياء</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٢٥٩</a:t>
            </a:r>
            <a:endParaRPr lang="ar-SA" sz="1400" dirty="0"/>
          </a:p>
        </p:txBody>
      </p:sp>
      <p:sp>
        <p:nvSpPr>
          <p:cNvPr id="6" name="Shape 4"/>
          <p:cNvSpPr/>
          <p:nvPr/>
        </p:nvSpPr>
        <p:spPr>
          <a:xfrm>
            <a:off x="731520" y="2233422"/>
            <a:ext cx="10728655" cy="3076956"/>
          </a:xfrm>
          <a:prstGeom prst="roundRect">
            <a:avLst>
              <a:gd name="adj" fmla="val 2972"/>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361438"/>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361438"/>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٢٥٩</a:t>
            </a:r>
            <a:endParaRPr lang="ar-SA" sz="1200" dirty="0"/>
          </a:p>
        </p:txBody>
      </p:sp>
      <p:sp>
        <p:nvSpPr>
          <p:cNvPr id="9" name="Text 7"/>
          <p:cNvSpPr txBox="1"/>
          <p:nvPr/>
        </p:nvSpPr>
        <p:spPr>
          <a:xfrm>
            <a:off x="914400" y="2361438"/>
            <a:ext cx="9677095" cy="2820924"/>
          </a:xfrm>
          <a:prstGeom prst="rect">
            <a:avLst/>
          </a:prstGeom>
          <a:noFill/>
          <a:ln/>
        </p:spPr>
        <p:txBody>
          <a:bodyPr wrap="square" lIns="0" tIns="0" rIns="0" bIns="0" rtlCol="0" anchor="ctr"/>
          <a:lstStyle/>
          <a:p>
            <a:pPr rtl="1" algn="r" indent="0" marL="0">
              <a:spcAft>
                <a:spcPts val="800"/>
              </a:spcAft>
              <a:buNone/>
            </a:pPr>
            <a:r>
              <a:rPr lang="ar-SA" altLang="en-US" sz="2400" b="1" dirty="0">
                <a:solidFill>
                  <a:schemeClr val="tx2"/>
                </a:solidFill>
                <a:latin typeface="Traditional Arabic" pitchFamily="34" charset="0"/>
                <a:ea typeface="Traditional Arabic" pitchFamily="34" charset="-122"/>
                <a:cs typeface="Traditional Arabic" pitchFamily="34" charset="-120"/>
              </a:rPr>
              <a:t>أَوْ كَالَّذِي مَرَّ عَلَىٰ قَرْيَةٍ وَهِيَ خَاوِيَةٌ عَلَىٰ عُرُوشِهَا قَالَ أَنَّىٰ يُحْيِ هَٰذِهِ اللَّهُ بَعْدَ مَوْتِهَا فَأَمَاتَهُ اللَّهُ مِاْئَةَ عَامٍ ثُمَّ بَعَثَهُ قَالَ كَمْ لَبِثْتَ قَالَ لَبِثْتُ يَوْمًا أَوْ بَعْضَ يَوْمٍ قَالَ بَل لَّبِثْتَ مِاْئَةَ عَامٍ فَانظُرْ إِلَىٰ طَعَامِكَ وَشَرَابِكَ لَمْ يَتَسَنَّهْ وَانظُرْ إِلَىٰ حِمَارِكَ وَلِنَجْعَلَكَ ءَايَةً لِّلنَّاسِ وَانظُرْ إِلَى الْعِظَامِ كَيْفَ نُنشِزُهَا ثُمَّ نَكْسُوهَا لَحْمًا فَلَمَّا تَبَيَّنَ لَهُ قَالَ أَعْلَمُ أَنَّ اللَّهَ عَلَىٰ كُلِّ شَيْءٍ قَدِيرٌ</a:t>
            </a:r>
            <a:endParaRPr lang="ar-SA" sz="24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أو كالذي مرّ على قرية خربة فقال: كيف يحيي الله هذه بعد موتها؟ فأماته الله مائة عام ثم أحياه، فرأى طعامه لم يتغيّر، ورأى حماره عظامًا فأحياه الله أمامه، فقال: أعلم أن الله على كل شيء قدير.</a:t>
            </a:r>
            <a:endParaRPr lang="ar-SA" sz="24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155</a:t>
            </a:fld>
            <a:endParaRPr lang="en-US"/>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دلائل قدرة الله على الإحياء</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٢٦٠</a:t>
            </a:r>
            <a:endParaRPr lang="ar-SA" sz="1400" dirty="0"/>
          </a:p>
        </p:txBody>
      </p:sp>
      <p:sp>
        <p:nvSpPr>
          <p:cNvPr id="6" name="Shape 4"/>
          <p:cNvSpPr/>
          <p:nvPr/>
        </p:nvSpPr>
        <p:spPr>
          <a:xfrm>
            <a:off x="731520" y="2354123"/>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482139"/>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482139"/>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٢٦٠</a:t>
            </a:r>
            <a:endParaRPr lang="ar-SA" sz="1200" dirty="0"/>
          </a:p>
        </p:txBody>
      </p:sp>
      <p:sp>
        <p:nvSpPr>
          <p:cNvPr id="9" name="Text 7"/>
          <p:cNvSpPr txBox="1"/>
          <p:nvPr/>
        </p:nvSpPr>
        <p:spPr>
          <a:xfrm>
            <a:off x="914400" y="2482139"/>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وَإِذْ قَالَ إِبْرَٰهِـمُ رَبِّ أَرِنِي كَيْفَ تُحْيِ الْمَوْتَىٰ قَالَ أَوَلَمْ تُؤْمِن قَالَ بَلَىٰ وَلَٰكِن لِّيَطْمَئِنَّ قَلْبِي قَالَ فَخُذْ أَرْبَعَةً مِّنَ الطَّيْرِ فَصُرْهُنَّ إِلَيْكَ ثُمَّ اجْعَلْ عَلَىٰ كُلِّ جَبَلٍ مِّنْهُنَّ جُزْءًا ثُمَّ ادْعُهُنَّ يَأْتِينَكَ سَعْيًا وَاعْلَمْ أَنَّ اللَّهَ عَزِيزٌ حَكِيمٌ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وحين قال إبراهيم: ربِّ أرني كيف تحيي الموتى، قال: أولم تؤمن؟ قال: بلى ولكن ليطمئن قلبي، قال: خذ أربعة من الطير فقطّعهن واجعل على كل جبل جزءًا منهن، ثم ادعهن يأتينك مسرعات، واعلم أن الله عزيز حكيم.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156</a:t>
            </a:fld>
            <a:endParaRPr lang="en-US"/>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Text 0"/>
          <p:cNvSpPr txBox="1"/>
          <p:nvPr/>
        </p:nvSpPr>
        <p:spPr>
          <a:xfrm>
            <a:off x="7223760" y="1143000"/>
            <a:ext cx="4114800" cy="411480"/>
          </a:xfrm>
          <a:prstGeom prst="rect">
            <a:avLst/>
          </a:prstGeom>
          <a:noFill/>
          <a:ln/>
        </p:spPr>
        <p:txBody>
          <a:bodyPr wrap="square" lIns="0" tIns="0" rIns="0" bIns="0" rtlCol="0" anchor="t"/>
          <a:lstStyle/>
          <a:p>
            <a:pPr rtl="1" algn="ctr" indent="0" marL="0">
              <a:buNone/>
            </a:pPr>
            <a:r>
              <a:rPr lang="ar-SA" altLang="en-US" sz="1800" b="1" dirty="0">
                <a:solidFill>
                  <a:schemeClr val="accent5"/>
                </a:solidFill>
              </a:rPr>
              <a:t>المقطع</a:t>
            </a:r>
            <a:endParaRPr lang="ar-SA" sz="1800" dirty="0"/>
          </a:p>
        </p:txBody>
      </p:sp>
      <p:sp>
        <p:nvSpPr>
          <p:cNvPr id="3" name="Shape 1"/>
          <p:cNvSpPr/>
          <p:nvPr/>
        </p:nvSpPr>
        <p:spPr>
          <a:xfrm>
            <a:off x="8915400" y="1645920"/>
            <a:ext cx="731520" cy="731520"/>
          </a:xfrm>
          <a:prstGeom prst="octagon">
            <a:avLst/>
          </a:prstGeom>
          <a:solidFill>
            <a:schemeClr val="accent2"/>
          </a:solidFill>
          <a:ln w="15875">
            <a:solidFill>
              <a:schemeClr val="accent5"/>
            </a:solidFill>
            <a:prstDash val="solid"/>
          </a:ln>
        </p:spPr>
      </p:sp>
      <p:sp>
        <p:nvSpPr>
          <p:cNvPr id="4" name="Text 2"/>
          <p:cNvSpPr txBox="1"/>
          <p:nvPr/>
        </p:nvSpPr>
        <p:spPr>
          <a:xfrm>
            <a:off x="8915400" y="164592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bg1"/>
                </a:solidFill>
                <a:latin typeface="Arial" pitchFamily="34" charset="0"/>
                <a:ea typeface="Arial" pitchFamily="34" charset="-122"/>
                <a:cs typeface="Arial" pitchFamily="34" charset="-120"/>
              </a:rPr>
              <a:t>٢٠</a:t>
            </a:r>
            <a:endParaRPr lang="ar-SA" sz="1800" dirty="0"/>
          </a:p>
        </p:txBody>
      </p:sp>
      <p:sp>
        <p:nvSpPr>
          <p:cNvPr id="5" name="Text 3"/>
          <p:cNvSpPr txBox="1"/>
          <p:nvPr/>
        </p:nvSpPr>
        <p:spPr>
          <a:xfrm>
            <a:off x="7269480" y="2606040"/>
            <a:ext cx="4023360" cy="1737360"/>
          </a:xfrm>
          <a:prstGeom prst="rect">
            <a:avLst/>
          </a:prstGeom>
          <a:noFill/>
          <a:ln/>
        </p:spPr>
        <p:txBody>
          <a:bodyPr wrap="square" lIns="0" tIns="0" rIns="0" bIns="0" rtlCol="0" anchor="ctr"/>
          <a:lstStyle/>
          <a:p>
            <a:pPr rtl="1" algn="ctr" indent="0" marL="0">
              <a:buNone/>
            </a:pPr>
            <a:r>
              <a:rPr lang="ar-SA" altLang="en-US" sz="3800" b="1" dirty="0">
                <a:solidFill>
                  <a:schemeClr val="bg1"/>
                </a:solidFill>
                <a:latin typeface="Sakkal Majalla" pitchFamily="34" charset="0"/>
                <a:ea typeface="Sakkal Majalla" pitchFamily="34" charset="-122"/>
                <a:cs typeface="Sakkal Majalla" pitchFamily="34" charset="-120"/>
              </a:rPr>
              <a:t>فضل الإنفاق وآدابه</a:t>
            </a:r>
            <a:endParaRPr lang="ar-SA" sz="3800" dirty="0"/>
          </a:p>
        </p:txBody>
      </p:sp>
      <p:sp>
        <p:nvSpPr>
          <p:cNvPr id="6" name="Text 4"/>
          <p:cNvSpPr txBox="1"/>
          <p:nvPr/>
        </p:nvSpPr>
        <p:spPr>
          <a:xfrm>
            <a:off x="7269480" y="4526280"/>
            <a:ext cx="4023360" cy="457200"/>
          </a:xfrm>
          <a:prstGeom prst="rect">
            <a:avLst/>
          </a:prstGeom>
          <a:noFill/>
          <a:ln/>
        </p:spPr>
        <p:txBody>
          <a:bodyPr wrap="square" lIns="0" tIns="0" rIns="0" bIns="0" rtlCol="0" anchor="t"/>
          <a:lstStyle/>
          <a:p>
            <a:pPr rtl="1" algn="ctr" indent="0" marL="0">
              <a:buNone/>
            </a:pPr>
            <a:r>
              <a:rPr lang="ar-SA" altLang="en-US" sz="2000" b="1" dirty="0">
                <a:solidFill>
                  <a:schemeClr val="accent5"/>
                </a:solidFill>
              </a:rPr>
              <a:t>الآيات ٢٦١ – ٢٧٤</a:t>
            </a:r>
            <a:endParaRPr lang="ar-SA" sz="2000" dirty="0"/>
          </a:p>
        </p:txBody>
      </p:sp>
      <p:sp>
        <p:nvSpPr>
          <p:cNvPr id="7" name="Shape 5"/>
          <p:cNvSpPr/>
          <p:nvPr/>
        </p:nvSpPr>
        <p:spPr>
          <a:xfrm>
            <a:off x="685800" y="1783080"/>
            <a:ext cx="5806440" cy="3291840"/>
          </a:xfrm>
          <a:prstGeom prst="roundRect">
            <a:avLst>
              <a:gd name="adj" fmla="val 3333"/>
            </a:avLst>
          </a:prstGeom>
          <a:solidFill>
            <a:schemeClr val="bg2"/>
          </a:solidFill>
          <a:ln w="19050">
            <a:solidFill>
              <a:schemeClr val="accent5"/>
            </a:solidFill>
            <a:prstDash val="solid"/>
          </a:ln>
        </p:spPr>
      </p:sp>
      <p:sp>
        <p:nvSpPr>
          <p:cNvPr id="8" name="Shape 6"/>
          <p:cNvSpPr/>
          <p:nvPr/>
        </p:nvSpPr>
        <p:spPr>
          <a:xfrm>
            <a:off x="4343400" y="2011680"/>
            <a:ext cx="1920240" cy="420624"/>
          </a:xfrm>
          <a:prstGeom prst="roundRect">
            <a:avLst>
              <a:gd name="adj" fmla="val 50000"/>
            </a:avLst>
          </a:prstGeom>
          <a:solidFill>
            <a:schemeClr val="tx2"/>
          </a:solidFill>
          <a:ln/>
        </p:spPr>
      </p:sp>
      <p:sp>
        <p:nvSpPr>
          <p:cNvPr id="9" name="Text 7"/>
          <p:cNvSpPr txBox="1"/>
          <p:nvPr/>
        </p:nvSpPr>
        <p:spPr>
          <a:xfrm>
            <a:off x="4343400" y="201168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مقصد المقطع</a:t>
            </a:r>
            <a:endParaRPr lang="ar-SA" sz="1600" dirty="0"/>
          </a:p>
        </p:txBody>
      </p:sp>
      <p:sp>
        <p:nvSpPr>
          <p:cNvPr id="10" name="Text 8"/>
          <p:cNvSpPr txBox="1"/>
          <p:nvPr/>
        </p:nvSpPr>
        <p:spPr>
          <a:xfrm>
            <a:off x="960120" y="2560320"/>
            <a:ext cx="5257800" cy="23317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مضاعفة ثواب الصدقة، والتحذير من إبطالها بالمنّ والأذى والرياء، والإنفاق من الطيّب، وفضل صدقة السر.</a:t>
            </a:r>
            <a:endParaRPr lang="ar-SA" sz="17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فضل الإنفاق وآدابه</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٢٦١ – ٢٦٢</a:t>
            </a:r>
            <a:endParaRPr lang="ar-SA" sz="1400" dirty="0"/>
          </a:p>
        </p:txBody>
      </p:sp>
      <p:sp>
        <p:nvSpPr>
          <p:cNvPr id="6" name="Shape 4"/>
          <p:cNvSpPr/>
          <p:nvPr/>
        </p:nvSpPr>
        <p:spPr>
          <a:xfrm>
            <a:off x="731520" y="14356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563624"/>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56362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٢٦١</a:t>
            </a:r>
            <a:endParaRPr lang="ar-SA" sz="1200" dirty="0"/>
          </a:p>
        </p:txBody>
      </p:sp>
      <p:sp>
        <p:nvSpPr>
          <p:cNvPr id="9" name="Text 7"/>
          <p:cNvSpPr txBox="1"/>
          <p:nvPr/>
        </p:nvSpPr>
        <p:spPr>
          <a:xfrm>
            <a:off x="914400" y="15636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مَّثَلُ الَّذِينَ يُنفِقُونَ أَمْوَٰلَهُمْ فِي سَبِيلِ اللَّهِ كَمَثَلِ حَبَّةٍ أَنبَتَتْ سَبْعَ سَنَابِلَ فِي كُلِّ سُنبُلَةٍ مِّاْئَةُ حَبَّةٍ وَاللَّهُ يُضَٰعِفُ لِمَن يَشَآءُ وَاللَّهُ وَٰسِعٌ عَلِيمٌ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مثل المنفقين في سبيل الله كمثل حبة زُرعت فأنبتت سبع سنابل، في كل سنبلة مائة حبة، فالحسنة بسبعمائة ضعف، والله يضاعف لمن يشاء.</a:t>
            </a:r>
            <a:endParaRPr lang="ar-SA" sz="2800" dirty="0"/>
          </a:p>
        </p:txBody>
      </p:sp>
      <p:sp>
        <p:nvSpPr>
          <p:cNvPr id="10" name="Shape 8"/>
          <p:cNvSpPr/>
          <p:nvPr/>
        </p:nvSpPr>
        <p:spPr>
          <a:xfrm>
            <a:off x="731520" y="38359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96392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96392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٢٦٢</a:t>
            </a:r>
            <a:endParaRPr lang="ar-SA" sz="1200" dirty="0"/>
          </a:p>
        </p:txBody>
      </p:sp>
      <p:sp>
        <p:nvSpPr>
          <p:cNvPr id="13" name="Text 11"/>
          <p:cNvSpPr txBox="1"/>
          <p:nvPr/>
        </p:nvSpPr>
        <p:spPr>
          <a:xfrm>
            <a:off x="914400" y="39639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الَّذِينَ يُنفِقُونَ أَمْوَٰلَهُمْ فِي سَبِيلِ اللَّهِ ثُمَّ لَا يُتْبِعُونَ مَآ أَنفَقُواْ مَنًّا وَلَآ أَذًى لَّهُمْ أَجْرُهُمْ عِندَ رَبِّهِمْ وَلَا خَوْفٌ عَلَيْهِمْ وَلَا هُمْ يَحْزَنُونَ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الذين ينفقون في سبيل الله ثم لا يُتبعون نفقتهم بالمنّ على الفقير ولا بأذيّته، لهم أجرهم عند ربهم، ولا خوف عليهم ولا هم يحزنون.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158</a:t>
            </a:fld>
            <a:endParaRPr lang="en-US"/>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فضل الإنفاق وآدابه</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٢٦٣ – ٢٦٤</a:t>
            </a:r>
            <a:endParaRPr lang="ar-SA" sz="1400" dirty="0"/>
          </a:p>
        </p:txBody>
      </p:sp>
      <p:sp>
        <p:nvSpPr>
          <p:cNvPr id="6" name="Shape 4"/>
          <p:cNvSpPr/>
          <p:nvPr/>
        </p:nvSpPr>
        <p:spPr>
          <a:xfrm>
            <a:off x="731520" y="1587170"/>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71518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71518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٢٦٣</a:t>
            </a:r>
            <a:endParaRPr lang="ar-SA" sz="1200" dirty="0"/>
          </a:p>
        </p:txBody>
      </p:sp>
      <p:sp>
        <p:nvSpPr>
          <p:cNvPr id="9" name="Text 7"/>
          <p:cNvSpPr txBox="1"/>
          <p:nvPr/>
        </p:nvSpPr>
        <p:spPr>
          <a:xfrm>
            <a:off x="914400" y="1715186"/>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قَوْلٌ مَّعْرُوفٌ وَمَغْفِرَةٌ خَيْرٌ مِّن صَدَقَةٍ يَتْبَعُهَآ أَذًى وَاللَّهُ غَنِيٌّ حَلِيمٌ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كلمة طيبة وعفو عن السائل خير من صدقة يتبعها أذى، والله غني حليم.</a:t>
            </a:r>
            <a:endParaRPr lang="ar-SA" sz="2800" dirty="0"/>
          </a:p>
        </p:txBody>
      </p:sp>
      <p:sp>
        <p:nvSpPr>
          <p:cNvPr id="10" name="Shape 8"/>
          <p:cNvSpPr/>
          <p:nvPr/>
        </p:nvSpPr>
        <p:spPr>
          <a:xfrm>
            <a:off x="731520" y="3121076"/>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249092"/>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249092"/>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٢٦٤</a:t>
            </a:r>
            <a:endParaRPr lang="ar-SA" sz="1200" dirty="0"/>
          </a:p>
        </p:txBody>
      </p:sp>
      <p:sp>
        <p:nvSpPr>
          <p:cNvPr id="13" name="Text 11"/>
          <p:cNvSpPr txBox="1"/>
          <p:nvPr/>
        </p:nvSpPr>
        <p:spPr>
          <a:xfrm>
            <a:off x="914400" y="3249092"/>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يَـٰأَيُّهَا الَّذِينَ ءَامَنُواْ لَا تُبْطِلُواْ صَدَقَٰتِكُم بِالْمَنِّ وَالْأَذَىٰ كَالَّذِي يُنفِقُ مَالَهُ رِئَآءَ النَّاسِ وَلَا يُؤْمِنُ بِاللَّهِ وَالْيَوْمِ الْأخِرِ فَمَثَلُهُ كَمَثَلِ صَفْوَانٍ عَلَيْهِ تُرَابٌ فَأَصَابَهُ وَابِلٌ فَتَرَكَهُ صَلْدًا لَّا يَقْدِرُونَ عَلَىٰ شَيْءٍ مِّمَّا كَسَبُواْ وَاللَّهُ لَا يَهْدِي الْقَوْمَ الْكَٰفِرِينَ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يا أيها المؤمنون، لا تُبطلوا ثواب صدقاتكم بالمنّ والأذى، كالذي ينفق ماله رياءً، فمثله كحجر أملس عليه تراب نزل عليه مطر شديد فتركه أملس لا شيء عليه، كذلك تذهب أعمالهم.</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159</a:t>
            </a:fld>
            <a:endParaRPr lang="en-US"/>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فضل الإنفاق وآدابه</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٢٦٥</a:t>
            </a:r>
            <a:endParaRPr lang="ar-SA" sz="1400" dirty="0"/>
          </a:p>
        </p:txBody>
      </p:sp>
      <p:sp>
        <p:nvSpPr>
          <p:cNvPr id="6" name="Shape 4"/>
          <p:cNvSpPr/>
          <p:nvPr/>
        </p:nvSpPr>
        <p:spPr>
          <a:xfrm>
            <a:off x="731520" y="263575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763774"/>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76377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٢٦٥</a:t>
            </a:r>
            <a:endParaRPr lang="ar-SA" sz="1200" dirty="0"/>
          </a:p>
        </p:txBody>
      </p:sp>
      <p:sp>
        <p:nvSpPr>
          <p:cNvPr id="9" name="Text 7"/>
          <p:cNvSpPr txBox="1"/>
          <p:nvPr/>
        </p:nvSpPr>
        <p:spPr>
          <a:xfrm>
            <a:off x="914400" y="276377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وَمَثَلُ الَّذِينَ يُنفِقُونَ أَمْوَٰلَهُمُ ابْتِغَآءَ مَرْضَاتِ اللَّهِ وَتَثْبِيتًا مِّنْ أَنفُسِهِمْ كَمَثَلِ جَنَّةٍ بِرَبْوَةٍ أَصَابَهَا وَابِلٌ فَـَٔاتَتْ أُكُلَهَا ضِعْفَيْنِ فَإِن لَّمْ يُصِبْهَا وَابِلٌ فَطَلٌّ وَاللَّهُ بِمَا تَعْمَلُونَ بَصِيرٌ</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ومثل المنفقين طلبًا لرضا الله ويقينًا بثوابه كمثل بستان على مكان مرتفع، أصابه مطر غزير فأثمر ضعفين، فإن لم يصبه مطر غزير فمطرٌ خفيف يكفيه.</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160</a:t>
            </a:fld>
            <a:endParaRPr lang="en-US"/>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فضل الإنفاق وآدابه</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٢٦٦</a:t>
            </a:r>
            <a:endParaRPr lang="ar-SA" sz="1400" dirty="0"/>
          </a:p>
        </p:txBody>
      </p:sp>
      <p:sp>
        <p:nvSpPr>
          <p:cNvPr id="6" name="Shape 4"/>
          <p:cNvSpPr/>
          <p:nvPr/>
        </p:nvSpPr>
        <p:spPr>
          <a:xfrm>
            <a:off x="731520" y="2354123"/>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482139"/>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482139"/>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٢٦٦</a:t>
            </a:r>
            <a:endParaRPr lang="ar-SA" sz="1200" dirty="0"/>
          </a:p>
        </p:txBody>
      </p:sp>
      <p:sp>
        <p:nvSpPr>
          <p:cNvPr id="9" name="Text 7"/>
          <p:cNvSpPr txBox="1"/>
          <p:nvPr/>
        </p:nvSpPr>
        <p:spPr>
          <a:xfrm>
            <a:off x="914400" y="2482139"/>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أَيَوَدُّ أَحَدُكُمْ أَن تَكُونَ لَهُ جَنَّةٌ مِّن نَّخِيلٍ وَأَعْنَابٍ تَجْرِي مِن تَحْتِهَا الْأَنْهَٰرُ لَهُ فِيهَا مِن كُلِّ الثَّمَرَٰتِ وَأَصَابَهُ الْكِبَرُ وَلَهُ ذُرِّيَّةٌ ضُعَفَآءُ فَأَصَابَهَآ إِعْصَارٌ فِيهِ نَارٌ فَاحْتَرَقَتْ كَذَٰلِكَ يُبَيِّنُ اللَّهُ لَكُمُ الْأيَٰتِ لَعَلَّكُمْ تَتَفَكَّرُونَ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أيحب أحدكم أن يكون له بستان من نخيل وأعناب، وأصابه الكبر وله أولاد ضعفاء، فأصاب البستانَ ريحٌ شديدة فيها نار فاحترق؟ كذلك من عمل الصالحات ثم أفسدها بالمعاصي والرياء.</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161</a:t>
            </a:fld>
            <a:endParaRPr lang="en-US"/>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فضل الإنفاق وآدابه</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٢٦٧ – ٢٦٨</a:t>
            </a:r>
            <a:endParaRPr lang="ar-SA" sz="1400" dirty="0"/>
          </a:p>
        </p:txBody>
      </p:sp>
      <p:sp>
        <p:nvSpPr>
          <p:cNvPr id="6" name="Shape 4"/>
          <p:cNvSpPr/>
          <p:nvPr/>
        </p:nvSpPr>
        <p:spPr>
          <a:xfrm>
            <a:off x="731520" y="1305535"/>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3355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3355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٢٦٧</a:t>
            </a:r>
            <a:endParaRPr lang="ar-SA" sz="1200" dirty="0"/>
          </a:p>
        </p:txBody>
      </p:sp>
      <p:sp>
        <p:nvSpPr>
          <p:cNvPr id="9" name="Text 7"/>
          <p:cNvSpPr txBox="1"/>
          <p:nvPr/>
        </p:nvSpPr>
        <p:spPr>
          <a:xfrm>
            <a:off x="914400" y="1433551"/>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يَـٰأَيُّهَا الَّذِينَ ءَامَنُواْ أَنفِقُواْ مِن طَيِّبَٰتِ مَا كَسَبْتُمْ وَمِمَّآ أَخْرَجْنَا لَكُم مِّنَ الْأَرْضِ وَلَا تَيَمَّمُواْ الْخَبِيثَ مِنْهُ تُنفِقُونَ وَلَسْتُم بِـَٔاخِذِيهِ إِلَّآ أَن تُغْمِضُواْ فِيهِ وَاعْلَمُواْ أَنَّ اللَّهَ غَنِيٌّ حَمِيدٌ</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يا أيها المؤمنون، أنفقوا من أطيب أموالكم ومما أخرجنا لكم من الأرض، ولا تقصدوا الرديء فتنفقوا منه، وأنتم لا تقبلونه لو أُعطي لكم.</a:t>
            </a:r>
            <a:endParaRPr lang="ar-SA" sz="2800" dirty="0"/>
          </a:p>
        </p:txBody>
      </p:sp>
      <p:sp>
        <p:nvSpPr>
          <p:cNvPr id="10" name="Shape 8"/>
          <p:cNvSpPr/>
          <p:nvPr/>
        </p:nvSpPr>
        <p:spPr>
          <a:xfrm>
            <a:off x="731520" y="4269105"/>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39712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3971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٢٦٨</a:t>
            </a:r>
            <a:endParaRPr lang="ar-SA" sz="1200" dirty="0"/>
          </a:p>
        </p:txBody>
      </p:sp>
      <p:sp>
        <p:nvSpPr>
          <p:cNvPr id="13" name="Text 11"/>
          <p:cNvSpPr txBox="1"/>
          <p:nvPr/>
        </p:nvSpPr>
        <p:spPr>
          <a:xfrm>
            <a:off x="914400" y="4397121"/>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الشَّيْطَٰنُ يَعِدُكُمُ الْفَقْرَ وَيَأْمُرُكُم بِالْفَحْشَآءِ وَاللَّهُ يَعِدُكُم مَّغْفِرَةً مِّنْهُ وَفَضْلًا وَاللَّهُ وَٰسِعٌ عَلِيمٌ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الشيطان يخوّفكم من الفقر إذا أنفقتم، ويأمركم بالبخل والمعاصي، والله يعدكم مغفرة منه ورزقًا واسعًا.</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162</a:t>
            </a:fld>
            <a:endParaRPr lang="en-US"/>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فضل الإنفاق وآدابه</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٢٦٩ – ٢٧٠</a:t>
            </a:r>
            <a:endParaRPr lang="ar-SA" sz="1400" dirty="0"/>
          </a:p>
        </p:txBody>
      </p:sp>
      <p:sp>
        <p:nvSpPr>
          <p:cNvPr id="6" name="Shape 4"/>
          <p:cNvSpPr/>
          <p:nvPr/>
        </p:nvSpPr>
        <p:spPr>
          <a:xfrm>
            <a:off x="731520" y="2020367"/>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148383"/>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148383"/>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٢٦٩</a:t>
            </a:r>
            <a:endParaRPr lang="ar-SA" sz="1200" dirty="0"/>
          </a:p>
        </p:txBody>
      </p:sp>
      <p:sp>
        <p:nvSpPr>
          <p:cNvPr id="9" name="Text 7"/>
          <p:cNvSpPr txBox="1"/>
          <p:nvPr/>
        </p:nvSpPr>
        <p:spPr>
          <a:xfrm>
            <a:off x="914400" y="2148383"/>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يُؤْتِي الْحِكْمَةَ مَن يَشَآءُ وَمَن يُؤْتَ الْحِكْمَةَ فَقَدْ أُوتِيَ خَيْرًا كَثِيرًا وَمَا يَذَّكَّرُ إِلَّآ أُوْلُواْ الْأَلْبَٰبِ</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يعطي الله العلم النافع والفهم والإصابة في القول والعمل من يشاء، ومن أُعطي ذلك فقد أُعطي خيرًا كثيرًا.</a:t>
            </a:r>
            <a:endParaRPr lang="ar-SA" sz="2800" dirty="0"/>
          </a:p>
        </p:txBody>
      </p:sp>
      <p:sp>
        <p:nvSpPr>
          <p:cNvPr id="10" name="Shape 8"/>
          <p:cNvSpPr/>
          <p:nvPr/>
        </p:nvSpPr>
        <p:spPr>
          <a:xfrm>
            <a:off x="731520" y="4117543"/>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245559"/>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245559"/>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٢٧٠</a:t>
            </a:r>
            <a:endParaRPr lang="ar-SA" sz="1200" dirty="0"/>
          </a:p>
        </p:txBody>
      </p:sp>
      <p:sp>
        <p:nvSpPr>
          <p:cNvPr id="13" name="Text 11"/>
          <p:cNvSpPr txBox="1"/>
          <p:nvPr/>
        </p:nvSpPr>
        <p:spPr>
          <a:xfrm>
            <a:off x="914400" y="4245559"/>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وَمَآ أَنفَقْتُم مِّن نَّفَقَةٍ أَوْ نَذَرْتُم مِّن نَّذْرٍ فَإِنَّ اللَّهَ يَعْلَمُهُ وَمَا لِلظَّـٰلِمِينَ مِنْ أَنصَارٍ</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وما أنفقتم من نفقة أو نذرتم من نذر فإن الله يعلمه ويجازيكم عليه، وما للظالمين من أنصار.</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163</a:t>
            </a:fld>
            <a:endParaRPr lang="en-US"/>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فضل الإنفاق وآدابه</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٢٧١ – ٢٧٢</a:t>
            </a:r>
            <a:endParaRPr lang="ar-SA" sz="1400" dirty="0"/>
          </a:p>
        </p:txBody>
      </p:sp>
      <p:sp>
        <p:nvSpPr>
          <p:cNvPr id="6" name="Shape 4"/>
          <p:cNvSpPr/>
          <p:nvPr/>
        </p:nvSpPr>
        <p:spPr>
          <a:xfrm>
            <a:off x="731520" y="1738732"/>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866748"/>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866748"/>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٢٧١</a:t>
            </a:r>
            <a:endParaRPr lang="ar-SA" sz="1200" dirty="0"/>
          </a:p>
        </p:txBody>
      </p:sp>
      <p:sp>
        <p:nvSpPr>
          <p:cNvPr id="9" name="Text 7"/>
          <p:cNvSpPr txBox="1"/>
          <p:nvPr/>
        </p:nvSpPr>
        <p:spPr>
          <a:xfrm>
            <a:off x="914400" y="1866748"/>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إِن تُبْدُواْ الصَّدَقَٰتِ فَنِعِمَّا هِيَ وَإِن تُخْفُوهَا وَتُؤْتُوهَا الْفُقَرَآءَ فَهُوَ خَيْرٌ لَّكُمْ وَيُكَفِّرُ عَنكُم مِّن سَيِّـَٔاتِكُمْ وَاللَّهُ بِمَا تَعْمَلُونَ خَبِيرٌ</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إن تُظهروا صدقاتكم فنِعمَ ما فعلتم، وإن تُخفوها وتعطوها الفقراء فهو أفضل لكم، ويمحو الله عنكم من سيئاتكم.</a:t>
            </a:r>
            <a:endParaRPr lang="ar-SA" sz="2800" dirty="0"/>
          </a:p>
        </p:txBody>
      </p:sp>
      <p:sp>
        <p:nvSpPr>
          <p:cNvPr id="10" name="Shape 8"/>
          <p:cNvSpPr/>
          <p:nvPr/>
        </p:nvSpPr>
        <p:spPr>
          <a:xfrm>
            <a:off x="731520" y="3835908"/>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96392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96392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٢٧٢</a:t>
            </a:r>
            <a:endParaRPr lang="ar-SA" sz="1200" dirty="0"/>
          </a:p>
        </p:txBody>
      </p:sp>
      <p:sp>
        <p:nvSpPr>
          <p:cNvPr id="13" name="Text 11"/>
          <p:cNvSpPr txBox="1"/>
          <p:nvPr/>
        </p:nvSpPr>
        <p:spPr>
          <a:xfrm>
            <a:off x="914400" y="3963924"/>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لَّيْسَ عَلَيْكَ هُدَىٰهُمْ وَلَٰكِنَّ اللَّهَ يَهْدِي مَن يَشَآءُ وَمَا تُنفِقُواْ مِنْ خَيْرٍ فَلِأَنفُسِكُمْ وَمَا تُنفِقُونَ إِلَّا ابْتِغَآءَ وَجْهِ اللَّهِ وَمَا تُنفِقُواْ مِنْ خَيْرٍ يُوَفَّ إِلَيْكُمْ وَأَنتُمْ لَا تُظْلَمُونَ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ليس عليك يا محمد هداية الناس، ولكن الله يهدي من يشاء، وما تنفقوا من خير فثوابه لكم، وتُوفَّون أجره كاملًا.</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164</a:t>
            </a:fld>
            <a:endParaRPr lang="en-US"/>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فضل الإنفاق وآدابه</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٢٧٣ – ٢٧٤</a:t>
            </a:r>
            <a:endParaRPr lang="ar-SA" sz="1400" dirty="0"/>
          </a:p>
        </p:txBody>
      </p:sp>
      <p:sp>
        <p:nvSpPr>
          <p:cNvPr id="6" name="Shape 4"/>
          <p:cNvSpPr/>
          <p:nvPr/>
        </p:nvSpPr>
        <p:spPr>
          <a:xfrm>
            <a:off x="731520" y="1305535"/>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3355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3355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٢٧٣</a:t>
            </a:r>
            <a:endParaRPr lang="ar-SA" sz="1200" dirty="0"/>
          </a:p>
        </p:txBody>
      </p:sp>
      <p:sp>
        <p:nvSpPr>
          <p:cNvPr id="9" name="Text 7"/>
          <p:cNvSpPr txBox="1"/>
          <p:nvPr/>
        </p:nvSpPr>
        <p:spPr>
          <a:xfrm>
            <a:off x="914400" y="1433551"/>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لِلْفُقَرَآءِ الَّذِينَ أُحْصِرُواْ فِي سَبِيلِ اللَّهِ لَا يَسْتَطِيعُونَ ضَرْبًا فِي الْأَرْضِ يَحْسَبُهُمُ الْجَاهِلُ أَغْنِيَآءَ مِنَ التَّعَفُّفِ تَعْرِفُهُم بِسِيمَٰهُمْ لَا يَسْـَٔلُونَ النَّاسَ إِلْحَافًا وَمَا تُنفِقُواْ مِنْ خَيْرٍ فَإِنَّ اللَّهَ بِهِ عَلِيمٌ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اجعلوا صدقاتكم للفقراء الذين حبسهم الجهاد عن طلب الرزق، يظنّهم من لا يعرفهم أغنياء من تعفّفهم، تعرفهم بعلاماتهم، لا يسألون الناس إلحاحًا.</a:t>
            </a:r>
            <a:endParaRPr lang="ar-SA" sz="2800" dirty="0"/>
          </a:p>
        </p:txBody>
      </p:sp>
      <p:sp>
        <p:nvSpPr>
          <p:cNvPr id="10" name="Shape 8"/>
          <p:cNvSpPr/>
          <p:nvPr/>
        </p:nvSpPr>
        <p:spPr>
          <a:xfrm>
            <a:off x="731520" y="4269105"/>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4397121"/>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43971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٢٧٤</a:t>
            </a:r>
            <a:endParaRPr lang="ar-SA" sz="1200" dirty="0"/>
          </a:p>
        </p:txBody>
      </p:sp>
      <p:sp>
        <p:nvSpPr>
          <p:cNvPr id="13" name="Text 11"/>
          <p:cNvSpPr txBox="1"/>
          <p:nvPr/>
        </p:nvSpPr>
        <p:spPr>
          <a:xfrm>
            <a:off x="914400" y="4397121"/>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الَّذِينَ يُنفِقُونَ أَمْوَٰلَهُم بِالَّيْلِ وَالنَّهَارِ سِرًّا وَعَلَانِيَةً فَلَهُمْ أَجْرُهُمْ عِندَ رَبِّهِمْ وَلَا خَوْفٌ عَلَيْهِمْ وَلَا هُمْ يَحْزَنُونَ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الذين ينفقون أموالهم في الليل والنهار، سرًّا وعلانية، لهم أجرهم عند ربهم، ولا خوف عليهم ولا هم يحزنون.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165</a:t>
            </a:fld>
            <a:endParaRPr lang="en-US"/>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spTree>
      <p:nvGrpSpPr>
        <p:cNvPr id="1" name=""/>
        <p:cNvGrpSpPr/>
        <p:nvPr/>
      </p:nvGrpSpPr>
      <p:grpSpPr>
        <a:xfrm>
          <a:off x="0" y="0"/>
          <a:ext cx="0" cy="0"/>
          <a:chOff x="0" y="0"/>
          <a:chExt cx="0" cy="0"/>
        </a:xfrm>
      </p:grpSpPr>
      <p:sp>
        <p:nvSpPr>
          <p:cNvPr id="2" name="Text 0"/>
          <p:cNvSpPr txBox="1"/>
          <p:nvPr/>
        </p:nvSpPr>
        <p:spPr>
          <a:xfrm>
            <a:off x="7223760" y="1143000"/>
            <a:ext cx="4114800" cy="411480"/>
          </a:xfrm>
          <a:prstGeom prst="rect">
            <a:avLst/>
          </a:prstGeom>
          <a:noFill/>
          <a:ln/>
        </p:spPr>
        <p:txBody>
          <a:bodyPr wrap="square" lIns="0" tIns="0" rIns="0" bIns="0" rtlCol="0" anchor="t"/>
          <a:lstStyle/>
          <a:p>
            <a:pPr rtl="1" algn="ctr" indent="0" marL="0">
              <a:buNone/>
            </a:pPr>
            <a:r>
              <a:rPr lang="ar-SA" altLang="en-US" sz="1800" b="1" dirty="0">
                <a:solidFill>
                  <a:schemeClr val="accent5"/>
                </a:solidFill>
              </a:rPr>
              <a:t>المقطع</a:t>
            </a:r>
            <a:endParaRPr lang="ar-SA" sz="1800" dirty="0"/>
          </a:p>
        </p:txBody>
      </p:sp>
      <p:sp>
        <p:nvSpPr>
          <p:cNvPr id="3" name="Shape 1"/>
          <p:cNvSpPr/>
          <p:nvPr/>
        </p:nvSpPr>
        <p:spPr>
          <a:xfrm>
            <a:off x="8915400" y="1645920"/>
            <a:ext cx="731520" cy="731520"/>
          </a:xfrm>
          <a:prstGeom prst="octagon">
            <a:avLst/>
          </a:prstGeom>
          <a:solidFill>
            <a:schemeClr val="accent2"/>
          </a:solidFill>
          <a:ln w="15875">
            <a:solidFill>
              <a:schemeClr val="accent5"/>
            </a:solidFill>
            <a:prstDash val="solid"/>
          </a:ln>
        </p:spPr>
      </p:sp>
      <p:sp>
        <p:nvSpPr>
          <p:cNvPr id="4" name="Text 2"/>
          <p:cNvSpPr txBox="1"/>
          <p:nvPr/>
        </p:nvSpPr>
        <p:spPr>
          <a:xfrm>
            <a:off x="8915400" y="164592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bg1"/>
                </a:solidFill>
                <a:latin typeface="Arial" pitchFamily="34" charset="0"/>
                <a:ea typeface="Arial" pitchFamily="34" charset="-122"/>
                <a:cs typeface="Arial" pitchFamily="34" charset="-120"/>
              </a:rPr>
              <a:t>٢١</a:t>
            </a:r>
            <a:endParaRPr lang="ar-SA" sz="1800" dirty="0"/>
          </a:p>
        </p:txBody>
      </p:sp>
      <p:sp>
        <p:nvSpPr>
          <p:cNvPr id="5" name="Text 3"/>
          <p:cNvSpPr txBox="1"/>
          <p:nvPr/>
        </p:nvSpPr>
        <p:spPr>
          <a:xfrm>
            <a:off x="7269480" y="2606040"/>
            <a:ext cx="4023360" cy="1737360"/>
          </a:xfrm>
          <a:prstGeom prst="rect">
            <a:avLst/>
          </a:prstGeom>
          <a:noFill/>
          <a:ln/>
        </p:spPr>
        <p:txBody>
          <a:bodyPr wrap="square" lIns="0" tIns="0" rIns="0" bIns="0" rtlCol="0" anchor="ctr"/>
          <a:lstStyle/>
          <a:p>
            <a:pPr rtl="1" algn="ctr" indent="0" marL="0">
              <a:buNone/>
            </a:pPr>
            <a:r>
              <a:rPr lang="ar-SA" altLang="en-US" sz="3800" b="1" dirty="0">
                <a:solidFill>
                  <a:schemeClr val="bg1"/>
                </a:solidFill>
                <a:latin typeface="Sakkal Majalla" pitchFamily="34" charset="0"/>
                <a:ea typeface="Sakkal Majalla" pitchFamily="34" charset="-122"/>
                <a:cs typeface="Sakkal Majalla" pitchFamily="34" charset="-120"/>
              </a:rPr>
              <a:t>تحريم الربا</a:t>
            </a:r>
            <a:endParaRPr lang="ar-SA" sz="3800" dirty="0"/>
          </a:p>
        </p:txBody>
      </p:sp>
      <p:sp>
        <p:nvSpPr>
          <p:cNvPr id="6" name="Text 4"/>
          <p:cNvSpPr txBox="1"/>
          <p:nvPr/>
        </p:nvSpPr>
        <p:spPr>
          <a:xfrm>
            <a:off x="7269480" y="4526280"/>
            <a:ext cx="4023360" cy="457200"/>
          </a:xfrm>
          <a:prstGeom prst="rect">
            <a:avLst/>
          </a:prstGeom>
          <a:noFill/>
          <a:ln/>
        </p:spPr>
        <p:txBody>
          <a:bodyPr wrap="square" lIns="0" tIns="0" rIns="0" bIns="0" rtlCol="0" anchor="t"/>
          <a:lstStyle/>
          <a:p>
            <a:pPr rtl="1" algn="ctr" indent="0" marL="0">
              <a:buNone/>
            </a:pPr>
            <a:r>
              <a:rPr lang="ar-SA" altLang="en-US" sz="2000" b="1" dirty="0">
                <a:solidFill>
                  <a:schemeClr val="accent5"/>
                </a:solidFill>
              </a:rPr>
              <a:t>الآيات ٢٧٥ – ٢٨١</a:t>
            </a:r>
            <a:endParaRPr lang="ar-SA" sz="2000" dirty="0"/>
          </a:p>
        </p:txBody>
      </p:sp>
      <p:sp>
        <p:nvSpPr>
          <p:cNvPr id="7" name="Shape 5"/>
          <p:cNvSpPr/>
          <p:nvPr/>
        </p:nvSpPr>
        <p:spPr>
          <a:xfrm>
            <a:off x="685800" y="1783080"/>
            <a:ext cx="5806440" cy="3291840"/>
          </a:xfrm>
          <a:prstGeom prst="roundRect">
            <a:avLst>
              <a:gd name="adj" fmla="val 3333"/>
            </a:avLst>
          </a:prstGeom>
          <a:solidFill>
            <a:schemeClr val="bg2"/>
          </a:solidFill>
          <a:ln w="19050">
            <a:solidFill>
              <a:schemeClr val="accent5"/>
            </a:solidFill>
            <a:prstDash val="solid"/>
          </a:ln>
        </p:spPr>
      </p:sp>
      <p:sp>
        <p:nvSpPr>
          <p:cNvPr id="8" name="Shape 6"/>
          <p:cNvSpPr/>
          <p:nvPr/>
        </p:nvSpPr>
        <p:spPr>
          <a:xfrm>
            <a:off x="4343400" y="2011680"/>
            <a:ext cx="1920240" cy="420624"/>
          </a:xfrm>
          <a:prstGeom prst="roundRect">
            <a:avLst>
              <a:gd name="adj" fmla="val 50000"/>
            </a:avLst>
          </a:prstGeom>
          <a:solidFill>
            <a:schemeClr val="tx2"/>
          </a:solidFill>
          <a:ln/>
        </p:spPr>
      </p:sp>
      <p:sp>
        <p:nvSpPr>
          <p:cNvPr id="9" name="Text 7"/>
          <p:cNvSpPr txBox="1"/>
          <p:nvPr/>
        </p:nvSpPr>
        <p:spPr>
          <a:xfrm>
            <a:off x="4343400" y="201168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مقصد المقطع</a:t>
            </a:r>
            <a:endParaRPr lang="ar-SA" sz="1600" dirty="0"/>
          </a:p>
        </p:txBody>
      </p:sp>
      <p:sp>
        <p:nvSpPr>
          <p:cNvPr id="10" name="Text 8"/>
          <p:cNvSpPr txBox="1"/>
          <p:nvPr/>
        </p:nvSpPr>
        <p:spPr>
          <a:xfrm>
            <a:off x="960120" y="2560320"/>
            <a:ext cx="5257800" cy="23317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تحريم الربا والتحذير الشديد منه، والأمر بإمهال المدين المعسر، والتذكير بيوم الرجوع إلى الله.</a:t>
            </a:r>
            <a:endParaRPr lang="ar-SA" sz="170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تحريم الربا</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٢٧٥</a:t>
            </a:r>
            <a:endParaRPr lang="ar-SA" sz="1400" dirty="0"/>
          </a:p>
        </p:txBody>
      </p:sp>
      <p:sp>
        <p:nvSpPr>
          <p:cNvPr id="6" name="Shape 4"/>
          <p:cNvSpPr/>
          <p:nvPr/>
        </p:nvSpPr>
        <p:spPr>
          <a:xfrm>
            <a:off x="731520" y="2474824"/>
            <a:ext cx="10728655" cy="2594153"/>
          </a:xfrm>
          <a:prstGeom prst="roundRect">
            <a:avLst>
              <a:gd name="adj" fmla="val 35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602840"/>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602840"/>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٢٧٥</a:t>
            </a:r>
            <a:endParaRPr lang="ar-SA" sz="1200" dirty="0"/>
          </a:p>
        </p:txBody>
      </p:sp>
      <p:sp>
        <p:nvSpPr>
          <p:cNvPr id="9" name="Text 7"/>
          <p:cNvSpPr txBox="1"/>
          <p:nvPr/>
        </p:nvSpPr>
        <p:spPr>
          <a:xfrm>
            <a:off x="914400" y="2602840"/>
            <a:ext cx="9677095" cy="2338121"/>
          </a:xfrm>
          <a:prstGeom prst="rect">
            <a:avLst/>
          </a:prstGeom>
          <a:noFill/>
          <a:ln/>
        </p:spPr>
        <p:txBody>
          <a:bodyPr wrap="square" lIns="0" tIns="0" rIns="0" bIns="0" rtlCol="0" anchor="ctr"/>
          <a:lstStyle/>
          <a:p>
            <a:pPr rtl="1" algn="r" indent="0" marL="0">
              <a:spcAft>
                <a:spcPts val="800"/>
              </a:spcAft>
              <a:buNone/>
            </a:pPr>
            <a:r>
              <a:rPr lang="ar-SA" altLang="en-US" sz="2400" b="1" dirty="0">
                <a:solidFill>
                  <a:schemeClr val="tx2"/>
                </a:solidFill>
                <a:latin typeface="Traditional Arabic" pitchFamily="34" charset="0"/>
                <a:ea typeface="Traditional Arabic" pitchFamily="34" charset="-122"/>
                <a:cs typeface="Traditional Arabic" pitchFamily="34" charset="-120"/>
              </a:rPr>
              <a:t>الَّذِينَ يَأْكُلُونَ الرِّبَوٰاْ لَا يَقُومُونَ إِلَّا كَمَا يَقُومُ الَّذِي يَتَخَبَّطُهُ الشَّيْطَٰنُ مِنَ الْمَسِّ ذَٰلِكَ بِأَنَّهُمْ قَالُواْ إِنَّمَا الْبَيْعُ مِثْلُ الرِّبَوٰاْ وَأَحَلَّ اللَّهُ الْبَيْعَ وَحَرَّمَ الرِّبَوٰاْ فَمَن جَآءَهُ مَوْعِظَةٌ مِّن رَّبِّهِ فَانتَهَىٰ فَلَهُ مَا سَلَفَ وَأَمْرُهُ إِلَى اللَّهِ وَمَنْ عَادَ فَأُوْلَـٰئِكَ أَصْحَٰبُ النَّارِ هُمْ فِيهَا خَٰلِدُونَ</a:t>
            </a:r>
            <a:endParaRPr lang="ar-SA" sz="24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الذين يتعاملون بالربا لا يقومون من قبورهم يوم القيامة إلا كما يقوم المصروع من مسّ الشيطان؛ لأنهم قالوا: البيع مثل الربا، وقد أحلّ الله البيع وحرّم الربا، فمن انتهى فله ما سبق، ومن عاد فأولئك أصحاب النار.</a:t>
            </a:r>
            <a:endParaRPr lang="ar-SA" sz="24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167</a:t>
            </a:fld>
            <a:endParaRPr lang="en-US"/>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تحريم الربا</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٢٧٦ – ٢٧٧</a:t>
            </a:r>
            <a:endParaRPr lang="ar-SA" sz="1400" dirty="0"/>
          </a:p>
        </p:txBody>
      </p:sp>
      <p:sp>
        <p:nvSpPr>
          <p:cNvPr id="6" name="Shape 4"/>
          <p:cNvSpPr/>
          <p:nvPr/>
        </p:nvSpPr>
        <p:spPr>
          <a:xfrm>
            <a:off x="731520" y="2020367"/>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148383"/>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148383"/>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٢٧٦</a:t>
            </a:r>
            <a:endParaRPr lang="ar-SA" sz="1200" dirty="0"/>
          </a:p>
        </p:txBody>
      </p:sp>
      <p:sp>
        <p:nvSpPr>
          <p:cNvPr id="9" name="Text 7"/>
          <p:cNvSpPr txBox="1"/>
          <p:nvPr/>
        </p:nvSpPr>
        <p:spPr>
          <a:xfrm>
            <a:off x="914400" y="2148383"/>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يَمْحَقُ اللَّهُ الرِّبَوٰاْ وَيُرْبِي الصَّدَقَٰتِ وَاللَّهُ لَا يُحِبُّ كُلَّ كَفَّارٍ أَثِيمٍ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يُذهب الله بركة مال الربا، ويزيد الصدقات وينمّيها، والله لا يحب كل كفور كثير الإثم.</a:t>
            </a:r>
            <a:endParaRPr lang="ar-SA" sz="2800" dirty="0"/>
          </a:p>
        </p:txBody>
      </p:sp>
      <p:sp>
        <p:nvSpPr>
          <p:cNvPr id="10" name="Shape 8"/>
          <p:cNvSpPr/>
          <p:nvPr/>
        </p:nvSpPr>
        <p:spPr>
          <a:xfrm>
            <a:off x="731520" y="3554273"/>
            <a:ext cx="10728655" cy="1969160"/>
          </a:xfrm>
          <a:prstGeom prst="roundRect">
            <a:avLst>
              <a:gd name="adj" fmla="val 464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682289"/>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682289"/>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٢٧٧</a:t>
            </a:r>
            <a:endParaRPr lang="ar-SA" sz="1200" dirty="0"/>
          </a:p>
        </p:txBody>
      </p:sp>
      <p:sp>
        <p:nvSpPr>
          <p:cNvPr id="13" name="Text 11"/>
          <p:cNvSpPr txBox="1"/>
          <p:nvPr/>
        </p:nvSpPr>
        <p:spPr>
          <a:xfrm>
            <a:off x="914400" y="3682289"/>
            <a:ext cx="9677095" cy="171312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إِنَّ الَّذِينَ ءَامَنُواْ وَعَمِلُواْ الصَّـٰلِحَٰتِ وَأَقَامُواْ الصَّلَوٰةَ وَءَاتَوُاْ الزَّكَوٰةَ لَهُمْ أَجْرُهُمْ عِندَ رَبِّهِمْ وَلَا خَوْفٌ عَلَيْهِمْ وَلَا هُمْ يَحْزَنُونَ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إن الذين آمنوا وعملوا الصالحات وأقاموا الصلاة وآتوا الزكاة لهم أجرهم عند ربهم، ولا خوف عليهم ولا هم يحزنون.</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168</a:t>
            </a:fld>
            <a:endParaRPr lang="en-US"/>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تحريم الربا</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٢٧٨ – ٢٧٩</a:t>
            </a:r>
            <a:endParaRPr lang="ar-SA" sz="1400" dirty="0"/>
          </a:p>
        </p:txBody>
      </p:sp>
      <p:sp>
        <p:nvSpPr>
          <p:cNvPr id="6" name="Shape 4"/>
          <p:cNvSpPr/>
          <p:nvPr/>
        </p:nvSpPr>
        <p:spPr>
          <a:xfrm>
            <a:off x="731520" y="1868805"/>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996821"/>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996821"/>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٢٧٨</a:t>
            </a:r>
            <a:endParaRPr lang="ar-SA" sz="1200" dirty="0"/>
          </a:p>
        </p:txBody>
      </p:sp>
      <p:sp>
        <p:nvSpPr>
          <p:cNvPr id="9" name="Text 7"/>
          <p:cNvSpPr txBox="1"/>
          <p:nvPr/>
        </p:nvSpPr>
        <p:spPr>
          <a:xfrm>
            <a:off x="914400" y="1996821"/>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يَـٰأَيُّهَا الَّذِينَ ءَامَنُواْ اتَّقُواْ اللَّهَ وَذَرُواْ مَا بَقِيَ مِنَ الرِّبَوٰاْ إِن كُنتُم مُّؤْمِنِينَ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يا أيها المؤمنون، اتقوا الله، واتركوا ما بقي لكم من الربا عند الناس إن كنتم مؤمنين.</a:t>
            </a:r>
            <a:endParaRPr lang="ar-SA" sz="2800" dirty="0"/>
          </a:p>
        </p:txBody>
      </p:sp>
      <p:sp>
        <p:nvSpPr>
          <p:cNvPr id="10" name="Shape 8"/>
          <p:cNvSpPr/>
          <p:nvPr/>
        </p:nvSpPr>
        <p:spPr>
          <a:xfrm>
            <a:off x="731520" y="3402711"/>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530727"/>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530727"/>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٢٧٩</a:t>
            </a:r>
            <a:endParaRPr lang="ar-SA" sz="1200" dirty="0"/>
          </a:p>
        </p:txBody>
      </p:sp>
      <p:sp>
        <p:nvSpPr>
          <p:cNvPr id="13" name="Text 11"/>
          <p:cNvSpPr txBox="1"/>
          <p:nvPr/>
        </p:nvSpPr>
        <p:spPr>
          <a:xfrm>
            <a:off x="914400" y="3530727"/>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فَإِن لَّمْ تَفْعَلُواْ فَأْذَنُواْ بِحَرْبٍ مِّنَ اللَّهِ وَرَسُولِهِ وَإِن تُبْتُمْ فَلَكُمْ رُءُوسُ أَمْوَٰلِكُمْ لَا تَظْلِمُونَ وَلَا تُظْلَمُونَ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فإن لم تفعلوا فاعلموا أنكم في حرب مع الله ورسوله، وإن تبتم فلكم أصل أموالكم، لا تَظلمون بأخذ الزيادة، ولا تُظلمون بالنقص.</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169</a:t>
            </a:fld>
            <a:endParaRPr lang="en-US"/>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تحريم الربا</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٢٨٠ – ٢٨١</a:t>
            </a:r>
            <a:endParaRPr lang="ar-SA" sz="1400" dirty="0"/>
          </a:p>
        </p:txBody>
      </p:sp>
      <p:sp>
        <p:nvSpPr>
          <p:cNvPr id="6" name="Shape 4"/>
          <p:cNvSpPr/>
          <p:nvPr/>
        </p:nvSpPr>
        <p:spPr>
          <a:xfrm>
            <a:off x="731520" y="2150440"/>
            <a:ext cx="10728655" cy="1405890"/>
          </a:xfrm>
          <a:prstGeom prst="roundRect">
            <a:avLst>
              <a:gd name="adj" fmla="val 650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27845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27845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٢٨٠</a:t>
            </a:r>
            <a:endParaRPr lang="ar-SA" sz="1200" dirty="0"/>
          </a:p>
        </p:txBody>
      </p:sp>
      <p:sp>
        <p:nvSpPr>
          <p:cNvPr id="9" name="Text 7"/>
          <p:cNvSpPr txBox="1"/>
          <p:nvPr/>
        </p:nvSpPr>
        <p:spPr>
          <a:xfrm>
            <a:off x="914400" y="2278456"/>
            <a:ext cx="9677095" cy="1149858"/>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وَإِن كَانَ ذُو عُسْرَةٍ فَنَظِرَةٌ إِلَىٰ مَيْسَرَةٍ وَأَن تَصَدَّقُواْ خَيْرٌ لَّكُمْ إِن كُنتُمْ تَعْلَمُونَ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وإن كان المدين فقيرًا فأمهلوه حتى يتيسّر له السداد، وأن تتصدّقوا عليه بالدَّين كله أو بعضه خير لكم.</a:t>
            </a:r>
            <a:endParaRPr lang="ar-SA" sz="2800" dirty="0"/>
          </a:p>
        </p:txBody>
      </p:sp>
      <p:sp>
        <p:nvSpPr>
          <p:cNvPr id="10" name="Shape 8"/>
          <p:cNvSpPr/>
          <p:nvPr/>
        </p:nvSpPr>
        <p:spPr>
          <a:xfrm>
            <a:off x="731520" y="3684346"/>
            <a:ext cx="10728655" cy="1709014"/>
          </a:xfrm>
          <a:prstGeom prst="roundRect">
            <a:avLst>
              <a:gd name="adj" fmla="val 5350"/>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812362"/>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812362"/>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٢٨١</a:t>
            </a:r>
            <a:endParaRPr lang="ar-SA" sz="1200" dirty="0"/>
          </a:p>
        </p:txBody>
      </p:sp>
      <p:sp>
        <p:nvSpPr>
          <p:cNvPr id="13" name="Text 11"/>
          <p:cNvSpPr txBox="1"/>
          <p:nvPr/>
        </p:nvSpPr>
        <p:spPr>
          <a:xfrm>
            <a:off x="914400" y="3812362"/>
            <a:ext cx="9677095" cy="145298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وَاتَّقُواْ يَوْمًا تُرْجَعُونَ فِيهِ إِلَى اللَّهِ ثُمَّ تُوَفَّىٰ كُلُّ نَفْسٍ مَّا كَسَبَتْ وَهُمْ لَا يُظْلَمُونَ</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واحذروا يومًا ترجعون فيه إلى الله، ثم تُجزى كل نفس بعملها وهم لا يُظلمون. وهي من آخر ما نزل من القرآن كما قال ابن عباس.</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170</a:t>
            </a:fld>
            <a:endParaRPr lang="en-US"/>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spTree>
      <p:nvGrpSpPr>
        <p:cNvPr id="1" name=""/>
        <p:cNvGrpSpPr/>
        <p:nvPr/>
      </p:nvGrpSpPr>
      <p:grpSpPr>
        <a:xfrm>
          <a:off x="0" y="0"/>
          <a:ext cx="0" cy="0"/>
          <a:chOff x="0" y="0"/>
          <a:chExt cx="0" cy="0"/>
        </a:xfrm>
      </p:grpSpPr>
      <p:sp>
        <p:nvSpPr>
          <p:cNvPr id="2" name="Text 0"/>
          <p:cNvSpPr txBox="1"/>
          <p:nvPr/>
        </p:nvSpPr>
        <p:spPr>
          <a:xfrm>
            <a:off x="7223760" y="1143000"/>
            <a:ext cx="4114800" cy="411480"/>
          </a:xfrm>
          <a:prstGeom prst="rect">
            <a:avLst/>
          </a:prstGeom>
          <a:noFill/>
          <a:ln/>
        </p:spPr>
        <p:txBody>
          <a:bodyPr wrap="square" lIns="0" tIns="0" rIns="0" bIns="0" rtlCol="0" anchor="t"/>
          <a:lstStyle/>
          <a:p>
            <a:pPr rtl="1" algn="ctr" indent="0" marL="0">
              <a:buNone/>
            </a:pPr>
            <a:r>
              <a:rPr lang="ar-SA" altLang="en-US" sz="1800" b="1" dirty="0">
                <a:solidFill>
                  <a:schemeClr val="accent5"/>
                </a:solidFill>
              </a:rPr>
              <a:t>المقطع</a:t>
            </a:r>
            <a:endParaRPr lang="ar-SA" sz="1800" dirty="0"/>
          </a:p>
        </p:txBody>
      </p:sp>
      <p:sp>
        <p:nvSpPr>
          <p:cNvPr id="3" name="Shape 1"/>
          <p:cNvSpPr/>
          <p:nvPr/>
        </p:nvSpPr>
        <p:spPr>
          <a:xfrm>
            <a:off x="8915400" y="1645920"/>
            <a:ext cx="731520" cy="731520"/>
          </a:xfrm>
          <a:prstGeom prst="octagon">
            <a:avLst/>
          </a:prstGeom>
          <a:solidFill>
            <a:schemeClr val="accent2"/>
          </a:solidFill>
          <a:ln w="15875">
            <a:solidFill>
              <a:schemeClr val="accent5"/>
            </a:solidFill>
            <a:prstDash val="solid"/>
          </a:ln>
        </p:spPr>
      </p:sp>
      <p:sp>
        <p:nvSpPr>
          <p:cNvPr id="4" name="Text 2"/>
          <p:cNvSpPr txBox="1"/>
          <p:nvPr/>
        </p:nvSpPr>
        <p:spPr>
          <a:xfrm>
            <a:off x="8915400" y="164592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bg1"/>
                </a:solidFill>
                <a:latin typeface="Arial" pitchFamily="34" charset="0"/>
                <a:ea typeface="Arial" pitchFamily="34" charset="-122"/>
                <a:cs typeface="Arial" pitchFamily="34" charset="-120"/>
              </a:rPr>
              <a:t>٢٢</a:t>
            </a:r>
            <a:endParaRPr lang="ar-SA" sz="1800" dirty="0"/>
          </a:p>
        </p:txBody>
      </p:sp>
      <p:sp>
        <p:nvSpPr>
          <p:cNvPr id="5" name="Text 3"/>
          <p:cNvSpPr txBox="1"/>
          <p:nvPr/>
        </p:nvSpPr>
        <p:spPr>
          <a:xfrm>
            <a:off x="7269480" y="2606040"/>
            <a:ext cx="4023360" cy="1737360"/>
          </a:xfrm>
          <a:prstGeom prst="rect">
            <a:avLst/>
          </a:prstGeom>
          <a:noFill/>
          <a:ln/>
        </p:spPr>
        <p:txBody>
          <a:bodyPr wrap="square" lIns="0" tIns="0" rIns="0" bIns="0" rtlCol="0" anchor="ctr"/>
          <a:lstStyle/>
          <a:p>
            <a:pPr rtl="1" algn="ctr" indent="0" marL="0">
              <a:buNone/>
            </a:pPr>
            <a:r>
              <a:rPr lang="ar-SA" altLang="en-US" sz="3800" b="1" dirty="0">
                <a:solidFill>
                  <a:schemeClr val="bg1"/>
                </a:solidFill>
                <a:latin typeface="Sakkal Majalla" pitchFamily="34" charset="0"/>
                <a:ea typeface="Sakkal Majalla" pitchFamily="34" charset="-122"/>
                <a:cs typeface="Sakkal Majalla" pitchFamily="34" charset="-120"/>
              </a:rPr>
              <a:t>آية الدَّين</a:t>
            </a:r>
            <a:endParaRPr lang="ar-SA" sz="3800" dirty="0"/>
          </a:p>
        </p:txBody>
      </p:sp>
      <p:sp>
        <p:nvSpPr>
          <p:cNvPr id="6" name="Text 4"/>
          <p:cNvSpPr txBox="1"/>
          <p:nvPr/>
        </p:nvSpPr>
        <p:spPr>
          <a:xfrm>
            <a:off x="7269480" y="4526280"/>
            <a:ext cx="4023360" cy="457200"/>
          </a:xfrm>
          <a:prstGeom prst="rect">
            <a:avLst/>
          </a:prstGeom>
          <a:noFill/>
          <a:ln/>
        </p:spPr>
        <p:txBody>
          <a:bodyPr wrap="square" lIns="0" tIns="0" rIns="0" bIns="0" rtlCol="0" anchor="t"/>
          <a:lstStyle/>
          <a:p>
            <a:pPr rtl="1" algn="ctr" indent="0" marL="0">
              <a:buNone/>
            </a:pPr>
            <a:r>
              <a:rPr lang="ar-SA" altLang="en-US" sz="2000" b="1" dirty="0">
                <a:solidFill>
                  <a:schemeClr val="accent5"/>
                </a:solidFill>
              </a:rPr>
              <a:t>الآيات ٢٨٢ – ٢٨٣</a:t>
            </a:r>
            <a:endParaRPr lang="ar-SA" sz="2000" dirty="0"/>
          </a:p>
        </p:txBody>
      </p:sp>
      <p:sp>
        <p:nvSpPr>
          <p:cNvPr id="7" name="Shape 5"/>
          <p:cNvSpPr/>
          <p:nvPr/>
        </p:nvSpPr>
        <p:spPr>
          <a:xfrm>
            <a:off x="685800" y="1783080"/>
            <a:ext cx="5806440" cy="3291840"/>
          </a:xfrm>
          <a:prstGeom prst="roundRect">
            <a:avLst>
              <a:gd name="adj" fmla="val 3333"/>
            </a:avLst>
          </a:prstGeom>
          <a:solidFill>
            <a:schemeClr val="bg2"/>
          </a:solidFill>
          <a:ln w="19050">
            <a:solidFill>
              <a:schemeClr val="accent5"/>
            </a:solidFill>
            <a:prstDash val="solid"/>
          </a:ln>
        </p:spPr>
      </p:sp>
      <p:sp>
        <p:nvSpPr>
          <p:cNvPr id="8" name="Shape 6"/>
          <p:cNvSpPr/>
          <p:nvPr/>
        </p:nvSpPr>
        <p:spPr>
          <a:xfrm>
            <a:off x="4343400" y="2011680"/>
            <a:ext cx="1920240" cy="420624"/>
          </a:xfrm>
          <a:prstGeom prst="roundRect">
            <a:avLst>
              <a:gd name="adj" fmla="val 50000"/>
            </a:avLst>
          </a:prstGeom>
          <a:solidFill>
            <a:schemeClr val="tx2"/>
          </a:solidFill>
          <a:ln/>
        </p:spPr>
      </p:sp>
      <p:sp>
        <p:nvSpPr>
          <p:cNvPr id="9" name="Text 7"/>
          <p:cNvSpPr txBox="1"/>
          <p:nvPr/>
        </p:nvSpPr>
        <p:spPr>
          <a:xfrm>
            <a:off x="4343400" y="201168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مقصد المقطع</a:t>
            </a:r>
            <a:endParaRPr lang="ar-SA" sz="1600" dirty="0"/>
          </a:p>
        </p:txBody>
      </p:sp>
      <p:sp>
        <p:nvSpPr>
          <p:cNvPr id="10" name="Text 8"/>
          <p:cNvSpPr txBox="1"/>
          <p:nvPr/>
        </p:nvSpPr>
        <p:spPr>
          <a:xfrm>
            <a:off x="960120" y="2560320"/>
            <a:ext cx="5257800" cy="23317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توثيق الديون بالكتابة والشهود والرهن حفظًا للحقوق، وهي أطول آية في القرآن الكريم.</a:t>
            </a:r>
            <a:endParaRPr lang="ar-SA" sz="17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آية الدَّين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٢٨٢</a:t>
            </a:r>
            <a:endParaRPr lang="ar-SA" sz="1400" dirty="0"/>
          </a:p>
        </p:txBody>
      </p:sp>
      <p:sp>
        <p:nvSpPr>
          <p:cNvPr id="6" name="Shape 4"/>
          <p:cNvSpPr/>
          <p:nvPr/>
        </p:nvSpPr>
        <p:spPr>
          <a:xfrm>
            <a:off x="731520" y="1280160"/>
            <a:ext cx="10728655" cy="4983480"/>
          </a:xfrm>
          <a:prstGeom prst="roundRect">
            <a:avLst>
              <a:gd name="adj" fmla="val 183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408176"/>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408176"/>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٢٨٢</a:t>
            </a:r>
            <a:endParaRPr lang="ar-SA" sz="1200" dirty="0"/>
          </a:p>
        </p:txBody>
      </p:sp>
      <p:sp>
        <p:nvSpPr>
          <p:cNvPr id="9" name="Text 7"/>
          <p:cNvSpPr txBox="1"/>
          <p:nvPr/>
        </p:nvSpPr>
        <p:spPr>
          <a:xfrm>
            <a:off x="914400" y="1408176"/>
            <a:ext cx="9677095" cy="4727448"/>
          </a:xfrm>
          <a:prstGeom prst="rect">
            <a:avLst/>
          </a:prstGeom>
          <a:noFill/>
          <a:ln/>
        </p:spPr>
        <p:txBody>
          <a:bodyPr wrap="square" lIns="0" tIns="0" rIns="0" bIns="0" rtlCol="0" anchor="ctr"/>
          <a:lstStyle/>
          <a:p>
            <a:pPr rtl="1" algn="r" indent="0" marL="0">
              <a:spcAft>
                <a:spcPts val="800"/>
              </a:spcAft>
              <a:buNone/>
            </a:pPr>
            <a:r>
              <a:rPr lang="ar-SA" altLang="en-US" sz="2400" b="1" dirty="0">
                <a:solidFill>
                  <a:schemeClr val="tx2"/>
                </a:solidFill>
                <a:latin typeface="Traditional Arabic" pitchFamily="34" charset="0"/>
                <a:ea typeface="Traditional Arabic" pitchFamily="34" charset="-122"/>
                <a:cs typeface="Traditional Arabic" pitchFamily="34" charset="-120"/>
              </a:rPr>
              <a:t>يَـٰأَيُّهَا الَّذِينَ ءَامَنُواْ إِذَا تَدَايَنتُم بِدَيْنٍ إِلَىٰ أَجَلٍ مُّسَمًّى فَاكْتُبُوهُ وَلْيَكْتُب بَّيْنَكُمْ كَاتِبٌ بِالْعَدْلِ وَلَا يَأْبَ كَاتِبٌ أَن يَكْتُبَ كَمَا عَلَّمَهُ اللَّهُ فَلْيَكْتُبْ وَلْيُمْلِلِ الَّذِي عَلَيْهِ الْحَقُّ وَلْيَتَّقِ اللَّهَ رَبَّهُ وَلَا يَبْخَسْ مِنْهُ شَيْـًٔا فَإِن كَانَ الَّذِي عَلَيْهِ الْحَقُّ سَفِيهًا أَوْ ضَعِيفًا أَوْ لَا يَسْتَطِيعُ أَن يُمِلَّ هُوَ فَلْيُمْلِلْ وَلِيُّهُ بِالْعَدْلِ وَاسْتَشْهِدُواْ شَهِيدَيْنِ مِن رِّجَالِكُمْ فَإِن لَّمْ يَكُونَا رَجُلَيْنِ فَرَجُلٌ وَامْرَأَتَانِ مِمَّن تَرْضَوْنَ مِنَ الشُّهَدَآءِ أَن تَضِلَّ إِحْدَىٰهُمَا فَتُذَكِّرَ إِحْدَىٰهُمَا الْأُخْرَىٰ وَلَا يَأْبَ الشُّهَدَآءُ إِذَا مَا دُعُواْ وَلَا تَسْـَٔمُواْ أَن تَكْتُبُوهُ صَغِيرًا أَوْ كَبِيرًا إِلَىٰ أَجَلِهِ ذَٰلِكُمْ أَقْسَطُ عِندَ اللَّهِ وَأَقْوَمُ لِلشَّهَٰدَةِ وَأَدْنَىٰ أَلَّا تَرْتَابُواْ إِلَّآ أَن تَكُونَ تِجَٰرَةً حَاضِرَةً تُدِيرُونَهَا بَيْنَكُمْ فَلَيْسَ عَلَيْكُمْ جُنَاحٌ أَلَّا تَكْتُبُوهَا وَأَشْهِدُواْ إِذَا تَبَايَعْتُمْ وَلَا يُضَآرَّ كَاتِبٌ وَلَا شَهِيدٌ وَإِن تَفْعَلُواْ فَإِنَّهُ فُسُوقٌ بِكُمْ وَاتَّقُواْ اللَّهَ وَيُعَلِّمُكُمُ اللَّهُ وَاللَّهُ بِكُلِّ شَيْءٍ عَلِيمٌ</a:t>
            </a:r>
            <a:endParaRPr lang="ar-SA" sz="24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يا أيها المؤمنون، إذا تعاملتم بالدَّين إلى وقت محدد فاكتبوه، وليكتب بينكم كاتب بالعدل، وليُملِ المدين ما عليه، واستشهدوا شاهدين من رجالكم، فإن لم يكونا رجلين فرجل وامرأتان، ولا تملّوا أن تكتبوه صغيرًا أو كبيرًا، ذلك أعدل عند الله وأبعد عن الشك.</a:t>
            </a:r>
            <a:endParaRPr lang="ar-SA" sz="24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172</a:t>
            </a:fld>
            <a:endParaRPr lang="en-US"/>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آية الدَّين</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٢٨٣</a:t>
            </a:r>
            <a:endParaRPr lang="ar-SA" sz="1400" dirty="0"/>
          </a:p>
        </p:txBody>
      </p:sp>
      <p:sp>
        <p:nvSpPr>
          <p:cNvPr id="6" name="Shape 4"/>
          <p:cNvSpPr/>
          <p:nvPr/>
        </p:nvSpPr>
        <p:spPr>
          <a:xfrm>
            <a:off x="731520" y="2354123"/>
            <a:ext cx="10728655" cy="2835554"/>
          </a:xfrm>
          <a:prstGeom prst="roundRect">
            <a:avLst>
              <a:gd name="adj" fmla="val 3225"/>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482139"/>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482139"/>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٢٨٣</a:t>
            </a:r>
            <a:endParaRPr lang="ar-SA" sz="1200" dirty="0"/>
          </a:p>
        </p:txBody>
      </p:sp>
      <p:sp>
        <p:nvSpPr>
          <p:cNvPr id="9" name="Text 7"/>
          <p:cNvSpPr txBox="1"/>
          <p:nvPr/>
        </p:nvSpPr>
        <p:spPr>
          <a:xfrm>
            <a:off x="914400" y="2482139"/>
            <a:ext cx="9677095" cy="257952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وَإِن كُنتُمْ عَلَىٰ سَفَرٍ وَلَمْ تَجِدُواْ كَاتِبًا فَرِهَٰنٌ مَّقْبُوضَةٌ فَإِنْ أَمِنَ بَعْضُكُم بَعْضًا فَلْيُؤَدِّ الَّذِي اؤْتُمِنَ أَمَٰنَتَهُ وَلْيَتَّقِ اللَّهَ رَبَّهُ وَلَا تَكْتُمُواْ الشَّهَٰدَةَ وَمَن يَكْتُمْهَا فَإِنَّهُ ءَاثِمٌ قَلْبُهُ وَاللَّهُ بِمَا تَعْمَلُونَ عَلِيمٌ</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وإن كنتم مسافرين ولم تجدوا كاتبًا فخذوا رهنًا يقبضه صاحب الحق، فإن أمن بعضكم بعضًا فليؤدِّ الأمين أمانته وليتقِ الله، ولا تكتموا الشهادة، ومن يكتمها فإنه آثم قلبه.</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173</a:t>
            </a:fld>
            <a:endParaRPr lang="en-US"/>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spTree>
      <p:nvGrpSpPr>
        <p:cNvPr id="1" name=""/>
        <p:cNvGrpSpPr/>
        <p:nvPr/>
      </p:nvGrpSpPr>
      <p:grpSpPr>
        <a:xfrm>
          <a:off x="0" y="0"/>
          <a:ext cx="0" cy="0"/>
          <a:chOff x="0" y="0"/>
          <a:chExt cx="0" cy="0"/>
        </a:xfrm>
      </p:grpSpPr>
      <p:sp>
        <p:nvSpPr>
          <p:cNvPr id="2" name="Text 0"/>
          <p:cNvSpPr txBox="1"/>
          <p:nvPr/>
        </p:nvSpPr>
        <p:spPr>
          <a:xfrm>
            <a:off x="7223760" y="1143000"/>
            <a:ext cx="4114800" cy="411480"/>
          </a:xfrm>
          <a:prstGeom prst="rect">
            <a:avLst/>
          </a:prstGeom>
          <a:noFill/>
          <a:ln/>
        </p:spPr>
        <p:txBody>
          <a:bodyPr wrap="square" lIns="0" tIns="0" rIns="0" bIns="0" rtlCol="0" anchor="t"/>
          <a:lstStyle/>
          <a:p>
            <a:pPr rtl="1" algn="ctr" indent="0" marL="0">
              <a:buNone/>
            </a:pPr>
            <a:r>
              <a:rPr lang="ar-SA" altLang="en-US" sz="1800" b="1" dirty="0">
                <a:solidFill>
                  <a:schemeClr val="accent5"/>
                </a:solidFill>
              </a:rPr>
              <a:t>المقطع</a:t>
            </a:r>
            <a:endParaRPr lang="ar-SA" sz="1800" dirty="0"/>
          </a:p>
        </p:txBody>
      </p:sp>
      <p:sp>
        <p:nvSpPr>
          <p:cNvPr id="3" name="Shape 1"/>
          <p:cNvSpPr/>
          <p:nvPr/>
        </p:nvSpPr>
        <p:spPr>
          <a:xfrm>
            <a:off x="8915400" y="1645920"/>
            <a:ext cx="731520" cy="731520"/>
          </a:xfrm>
          <a:prstGeom prst="octagon">
            <a:avLst/>
          </a:prstGeom>
          <a:solidFill>
            <a:schemeClr val="accent2"/>
          </a:solidFill>
          <a:ln w="15875">
            <a:solidFill>
              <a:schemeClr val="accent5"/>
            </a:solidFill>
            <a:prstDash val="solid"/>
          </a:ln>
        </p:spPr>
      </p:sp>
      <p:sp>
        <p:nvSpPr>
          <p:cNvPr id="4" name="Text 2"/>
          <p:cNvSpPr txBox="1"/>
          <p:nvPr/>
        </p:nvSpPr>
        <p:spPr>
          <a:xfrm>
            <a:off x="8915400" y="164592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bg1"/>
                </a:solidFill>
                <a:latin typeface="Arial" pitchFamily="34" charset="0"/>
                <a:ea typeface="Arial" pitchFamily="34" charset="-122"/>
                <a:cs typeface="Arial" pitchFamily="34" charset="-120"/>
              </a:rPr>
              <a:t>٢٣</a:t>
            </a:r>
            <a:endParaRPr lang="ar-SA" sz="1800" dirty="0"/>
          </a:p>
        </p:txBody>
      </p:sp>
      <p:sp>
        <p:nvSpPr>
          <p:cNvPr id="5" name="Text 3"/>
          <p:cNvSpPr txBox="1"/>
          <p:nvPr/>
        </p:nvSpPr>
        <p:spPr>
          <a:xfrm>
            <a:off x="7269480" y="2606040"/>
            <a:ext cx="4023360" cy="1737360"/>
          </a:xfrm>
          <a:prstGeom prst="rect">
            <a:avLst/>
          </a:prstGeom>
          <a:noFill/>
          <a:ln/>
        </p:spPr>
        <p:txBody>
          <a:bodyPr wrap="square" lIns="0" tIns="0" rIns="0" bIns="0" rtlCol="0" anchor="ctr"/>
          <a:lstStyle/>
          <a:p>
            <a:pPr rtl="1" algn="ctr" indent="0" marL="0">
              <a:buNone/>
            </a:pPr>
            <a:r>
              <a:rPr lang="ar-SA" altLang="en-US" sz="3800" b="1" dirty="0">
                <a:solidFill>
                  <a:schemeClr val="bg1"/>
                </a:solidFill>
                <a:latin typeface="Sakkal Majalla" pitchFamily="34" charset="0"/>
                <a:ea typeface="Sakkal Majalla" pitchFamily="34" charset="-122"/>
                <a:cs typeface="Sakkal Majalla" pitchFamily="34" charset="-120"/>
              </a:rPr>
              <a:t>خواتيم سورة البقرة</a:t>
            </a:r>
            <a:endParaRPr lang="ar-SA" sz="3800" dirty="0"/>
          </a:p>
        </p:txBody>
      </p:sp>
      <p:sp>
        <p:nvSpPr>
          <p:cNvPr id="6" name="Text 4"/>
          <p:cNvSpPr txBox="1"/>
          <p:nvPr/>
        </p:nvSpPr>
        <p:spPr>
          <a:xfrm>
            <a:off x="7269480" y="4526280"/>
            <a:ext cx="4023360" cy="457200"/>
          </a:xfrm>
          <a:prstGeom prst="rect">
            <a:avLst/>
          </a:prstGeom>
          <a:noFill/>
          <a:ln/>
        </p:spPr>
        <p:txBody>
          <a:bodyPr wrap="square" lIns="0" tIns="0" rIns="0" bIns="0" rtlCol="0" anchor="t"/>
          <a:lstStyle/>
          <a:p>
            <a:pPr rtl="1" algn="ctr" indent="0" marL="0">
              <a:buNone/>
            </a:pPr>
            <a:r>
              <a:rPr lang="ar-SA" altLang="en-US" sz="2000" b="1" dirty="0">
                <a:solidFill>
                  <a:schemeClr val="accent5"/>
                </a:solidFill>
              </a:rPr>
              <a:t>الآيات ٢٨٤ – ٢٨٦</a:t>
            </a:r>
            <a:endParaRPr lang="ar-SA" sz="2000" dirty="0"/>
          </a:p>
        </p:txBody>
      </p:sp>
      <p:sp>
        <p:nvSpPr>
          <p:cNvPr id="7" name="Shape 5"/>
          <p:cNvSpPr/>
          <p:nvPr/>
        </p:nvSpPr>
        <p:spPr>
          <a:xfrm>
            <a:off x="685800" y="685800"/>
            <a:ext cx="5806440" cy="2606040"/>
          </a:xfrm>
          <a:prstGeom prst="roundRect">
            <a:avLst>
              <a:gd name="adj" fmla="val 4211"/>
            </a:avLst>
          </a:prstGeom>
          <a:solidFill>
            <a:schemeClr val="bg2"/>
          </a:solidFill>
          <a:ln w="19050">
            <a:solidFill>
              <a:schemeClr val="accent5"/>
            </a:solidFill>
            <a:prstDash val="solid"/>
          </a:ln>
        </p:spPr>
      </p:sp>
      <p:sp>
        <p:nvSpPr>
          <p:cNvPr id="8" name="Shape 6"/>
          <p:cNvSpPr/>
          <p:nvPr/>
        </p:nvSpPr>
        <p:spPr>
          <a:xfrm>
            <a:off x="4343400" y="914400"/>
            <a:ext cx="1920240" cy="420624"/>
          </a:xfrm>
          <a:prstGeom prst="roundRect">
            <a:avLst>
              <a:gd name="adj" fmla="val 50000"/>
            </a:avLst>
          </a:prstGeom>
          <a:solidFill>
            <a:schemeClr val="accent2"/>
          </a:solidFill>
          <a:ln/>
        </p:spPr>
      </p:sp>
      <p:sp>
        <p:nvSpPr>
          <p:cNvPr id="9" name="Text 7"/>
          <p:cNvSpPr txBox="1"/>
          <p:nvPr/>
        </p:nvSpPr>
        <p:spPr>
          <a:xfrm>
            <a:off x="4343400" y="91440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سبب النزول</a:t>
            </a:r>
            <a:endParaRPr lang="ar-SA" sz="1600" dirty="0"/>
          </a:p>
        </p:txBody>
      </p:sp>
      <p:sp>
        <p:nvSpPr>
          <p:cNvPr id="10" name="Text 8"/>
          <p:cNvSpPr txBox="1"/>
          <p:nvPr/>
        </p:nvSpPr>
        <p:spPr>
          <a:xfrm>
            <a:off x="960120" y="1463040"/>
            <a:ext cx="5257800" cy="16459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قال أبو هريرة: لما نزلت ﴿وإن تُبدوا ما في أنفسكم أو تُخفوه يحاسبكم به الله﴾ اشتدّ ذلك على الصحابة، فقال لهم النبي صلى الله عليه وسلم: «قولوا: سمعنا وأطعنا»، فلما قالوها أنزل الله: ﴿لا يكلّف الله نفسًا إلا وسعها﴾ (رواه مسلم).</a:t>
            </a:r>
            <a:endParaRPr lang="ar-SA" sz="1700" dirty="0"/>
          </a:p>
        </p:txBody>
      </p:sp>
      <p:sp>
        <p:nvSpPr>
          <p:cNvPr id="11" name="Shape 9"/>
          <p:cNvSpPr/>
          <p:nvPr/>
        </p:nvSpPr>
        <p:spPr>
          <a:xfrm>
            <a:off x="685800" y="3566160"/>
            <a:ext cx="5806440" cy="2606040"/>
          </a:xfrm>
          <a:prstGeom prst="roundRect">
            <a:avLst>
              <a:gd name="adj" fmla="val 4211"/>
            </a:avLst>
          </a:prstGeom>
          <a:solidFill>
            <a:schemeClr val="bg2"/>
          </a:solidFill>
          <a:ln w="19050">
            <a:solidFill>
              <a:schemeClr val="accent5"/>
            </a:solidFill>
            <a:prstDash val="solid"/>
          </a:ln>
        </p:spPr>
      </p:sp>
      <p:sp>
        <p:nvSpPr>
          <p:cNvPr id="12" name="Shape 10"/>
          <p:cNvSpPr/>
          <p:nvPr/>
        </p:nvSpPr>
        <p:spPr>
          <a:xfrm>
            <a:off x="4343400" y="3794760"/>
            <a:ext cx="1920240" cy="420624"/>
          </a:xfrm>
          <a:prstGeom prst="roundRect">
            <a:avLst>
              <a:gd name="adj" fmla="val 50000"/>
            </a:avLst>
          </a:prstGeom>
          <a:solidFill>
            <a:schemeClr val="tx2"/>
          </a:solidFill>
          <a:ln/>
        </p:spPr>
      </p:sp>
      <p:sp>
        <p:nvSpPr>
          <p:cNvPr id="13" name="Text 11"/>
          <p:cNvSpPr txBox="1"/>
          <p:nvPr/>
        </p:nvSpPr>
        <p:spPr>
          <a:xfrm>
            <a:off x="4343400" y="3794760"/>
            <a:ext cx="1920240" cy="420624"/>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مقصد المقطع</a:t>
            </a:r>
            <a:endParaRPr lang="ar-SA" sz="1600" dirty="0"/>
          </a:p>
        </p:txBody>
      </p:sp>
      <p:sp>
        <p:nvSpPr>
          <p:cNvPr id="14" name="Text 12"/>
          <p:cNvSpPr txBox="1"/>
          <p:nvPr/>
        </p:nvSpPr>
        <p:spPr>
          <a:xfrm>
            <a:off x="960120" y="4343400"/>
            <a:ext cx="5257800" cy="1645920"/>
          </a:xfrm>
          <a:prstGeom prst="rect">
            <a:avLst/>
          </a:prstGeom>
          <a:noFill/>
          <a:ln/>
        </p:spPr>
        <p:txBody>
          <a:bodyPr wrap="square" lIns="0" tIns="0" rIns="0" bIns="0" rtlCol="0" anchor="ctr"/>
          <a:lstStyle/>
          <a:p>
            <a:pPr rtl="1" algn="r" indent="0" marL="0">
              <a:lnSpc>
                <a:spcPct val="110000"/>
              </a:lnSpc>
              <a:buNone/>
            </a:pPr>
            <a:r>
              <a:rPr lang="ar-SA" altLang="en-US" sz="1700" dirty="0">
                <a:solidFill>
                  <a:schemeClr val="tx1"/>
                </a:solidFill>
              </a:rPr>
              <a:t>بيان ملك الله وعلمه، وإيمان الرسول والمؤمنين، ورحمة الله بعباده أنه لا يكلّف نفسًا إلا وسعها.</a:t>
            </a:r>
            <a:endParaRPr lang="ar-SA" sz="170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خواتيم سورة البقرة</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الآيات ٢٨٤ – ٢٨٥</a:t>
            </a:r>
            <a:endParaRPr lang="ar-SA" sz="1400" dirty="0"/>
          </a:p>
        </p:txBody>
      </p:sp>
      <p:sp>
        <p:nvSpPr>
          <p:cNvPr id="6" name="Shape 4"/>
          <p:cNvSpPr/>
          <p:nvPr/>
        </p:nvSpPr>
        <p:spPr>
          <a:xfrm>
            <a:off x="731520" y="14356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1563624"/>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156362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٢٨٤</a:t>
            </a:r>
            <a:endParaRPr lang="ar-SA" sz="1200" dirty="0"/>
          </a:p>
        </p:txBody>
      </p:sp>
      <p:sp>
        <p:nvSpPr>
          <p:cNvPr id="9" name="Text 7"/>
          <p:cNvSpPr txBox="1"/>
          <p:nvPr/>
        </p:nvSpPr>
        <p:spPr>
          <a:xfrm>
            <a:off x="914400" y="15636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لِّلَّهِ مَا فِي السَّمَٰوَٰتِ وَمَا فِي الْأَرْضِ وَإِن تُبْدُواْ مَا فِي أَنفُسِكُمْ أَوْ تُخْفُوهُ يُحَاسِبْكُم بِهِ اللَّهُ فَيَغْفِرُ لِمَن يَشَآءُ وَيُعَذِّبُ مَن يَشَآءُ وَاللَّهُ عَلَىٰ كُلِّ شَيْءٍ قَدِيرٌ</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لله ما في السماوات وما في الأرض، وإن تُظهروا ما في أنفسكم أو تُخفوه يحاسبكم به الله، فيغفر لمن يشاء ويعذّب من يشاء، والله على كل شيء قدير.</a:t>
            </a:r>
            <a:endParaRPr lang="ar-SA" sz="2800" dirty="0"/>
          </a:p>
        </p:txBody>
      </p:sp>
      <p:sp>
        <p:nvSpPr>
          <p:cNvPr id="10" name="Shape 8"/>
          <p:cNvSpPr/>
          <p:nvPr/>
        </p:nvSpPr>
        <p:spPr>
          <a:xfrm>
            <a:off x="731520" y="3835908"/>
            <a:ext cx="10728655" cy="2272284"/>
          </a:xfrm>
          <a:prstGeom prst="roundRect">
            <a:avLst>
              <a:gd name="adj" fmla="val 4024"/>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11" name="Shape 9"/>
          <p:cNvSpPr/>
          <p:nvPr/>
        </p:nvSpPr>
        <p:spPr>
          <a:xfrm>
            <a:off x="10874959" y="3963924"/>
            <a:ext cx="475488" cy="475488"/>
          </a:xfrm>
          <a:prstGeom prst="octagon">
            <a:avLst/>
          </a:prstGeom>
          <a:solidFill>
            <a:schemeClr val="accent2"/>
          </a:solidFill>
          <a:ln w="15875">
            <a:solidFill>
              <a:schemeClr val="accent5"/>
            </a:solidFill>
            <a:prstDash val="solid"/>
          </a:ln>
        </p:spPr>
      </p:sp>
      <p:sp>
        <p:nvSpPr>
          <p:cNvPr id="12" name="Text 10"/>
          <p:cNvSpPr txBox="1"/>
          <p:nvPr/>
        </p:nvSpPr>
        <p:spPr>
          <a:xfrm>
            <a:off x="10874959" y="3963924"/>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٢٨٥</a:t>
            </a:r>
            <a:endParaRPr lang="ar-SA" sz="1200" dirty="0"/>
          </a:p>
        </p:txBody>
      </p:sp>
      <p:sp>
        <p:nvSpPr>
          <p:cNvPr id="13" name="Text 11"/>
          <p:cNvSpPr txBox="1"/>
          <p:nvPr/>
        </p:nvSpPr>
        <p:spPr>
          <a:xfrm>
            <a:off x="914400" y="3963924"/>
            <a:ext cx="9677095" cy="2016252"/>
          </a:xfrm>
          <a:prstGeom prst="rect">
            <a:avLst/>
          </a:prstGeom>
          <a:noFill/>
          <a:ln/>
        </p:spPr>
        <p:txBody>
          <a:bodyPr wrap="square" lIns="0" tIns="0" rIns="0" bIns="0" rtlCol="0" anchor="ctr"/>
          <a:lstStyle/>
          <a:p>
            <a:pPr rtl="1" algn="r" indent="0" marL="0">
              <a:spcAft>
                <a:spcPts val="800"/>
              </a:spcAft>
              <a:buNone/>
            </a:pPr>
            <a:r>
              <a:rPr lang="ar-SA" altLang="en-US" sz="2800" b="1" dirty="0">
                <a:solidFill>
                  <a:schemeClr val="tx2"/>
                </a:solidFill>
                <a:latin typeface="Traditional Arabic" pitchFamily="34" charset="0"/>
                <a:ea typeface="Traditional Arabic" pitchFamily="34" charset="-122"/>
                <a:cs typeface="Traditional Arabic" pitchFamily="34" charset="-120"/>
              </a:rPr>
              <a:t>ءَامَنَ الرَّسُولُ بِمَآ أُنزِلَ إِلَيْهِ مِن رَّبِّهِ وَالْمُؤْمِنُونَ كُلٌّ ءَامَنَ بِاللَّهِ وَمَلَـٰئِكَتِهِ وَكُتُبِهِ وَرُسُلِهِ لَا نُفَرِّقُ بَيْنَ أَحَدٍ مِّن رُّسُلِهِ وَقَالُواْ سَمِعْنَا وَأَطَعْنَا غُفْرَانَكَ رَبَّنَا وَإِلَيْكَ الْمَصِيرُ</a:t>
            </a:r>
            <a:endParaRPr lang="ar-SA" sz="2800" dirty="0"/>
          </a:p>
          <a:p>
            <a:pPr rtl="1" algn="r" indent="0" marL="0">
              <a:buNone/>
            </a:pPr>
            <a:r>
              <a:rPr lang="ar-SA" altLang="en-US" sz="1700" dirty="0">
                <a:solidFill>
                  <a:schemeClr val="tx1"/>
                </a:solidFill>
                <a:latin typeface="Arial" pitchFamily="34" charset="0"/>
                <a:ea typeface="Arial" pitchFamily="34" charset="-122"/>
                <a:cs typeface="Arial" pitchFamily="34" charset="-120"/>
              </a:rPr>
              <a:t>آمن الرسول صلى الله عليه وسلم بما أُنزل إليه من ربه، والمؤمنون كذلك، كلٌّ آمن بالله وملائكته وكتبه ورسله، لا نفرّق بين أحد من رسله، وقالوا: سمعنا وأطعنا، غفرانك ربنا وإليك المصير.</a:t>
            </a:r>
            <a:endParaRPr lang="ar-SA" sz="28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175</a:t>
            </a:fld>
            <a:endParaRPr lang="en-US"/>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spTree>
      <p:nvGrpSpPr>
        <p:cNvPr id="1" name=""/>
        <p:cNvGrpSpPr/>
        <p:nvPr/>
      </p:nvGrpSpPr>
      <p:grpSpPr>
        <a:xfrm>
          <a:off x="0" y="0"/>
          <a:ext cx="0" cy="0"/>
          <a:chOff x="0" y="0"/>
          <a:chExt cx="0" cy="0"/>
        </a:xfrm>
      </p:grpSpPr>
      <p:sp>
        <p:nvSpPr>
          <p:cNvPr id="2" name="Text 0"/>
          <p:cNvSpPr txBox="1"/>
          <p:nvPr/>
        </p:nvSpPr>
        <p:spPr>
          <a:xfrm>
            <a:off x="3809848" y="310896"/>
            <a:ext cx="4572000" cy="292608"/>
          </a:xfrm>
          <a:prstGeom prst="rect">
            <a:avLst/>
          </a:prstGeom>
          <a:noFill/>
          <a:ln/>
        </p:spPr>
        <p:txBody>
          <a:bodyPr wrap="square" lIns="0" tIns="0" rIns="0" bIns="0" rtlCol="0" anchor="t"/>
          <a:lstStyle/>
          <a:p>
            <a:pPr rtl="1" algn="ctr" indent="0" marL="0">
              <a:buNone/>
            </a:pPr>
            <a:r>
              <a:rPr lang="ar-SA" altLang="en-US" sz="1400" b="1" dirty="0">
                <a:solidFill>
                  <a:schemeClr val="accent2"/>
                </a:solidFill>
              </a:rPr>
              <a:t>سورة البقرة</a:t>
            </a:r>
            <a:endParaRPr lang="ar-SA" sz="1400" dirty="0"/>
          </a:p>
        </p:txBody>
      </p:sp>
      <p:sp>
        <p:nvSpPr>
          <p:cNvPr id="3" name="Text 1"/>
          <p:cNvSpPr txBox="1"/>
          <p:nvPr/>
        </p:nvSpPr>
        <p:spPr>
          <a:xfrm>
            <a:off x="2804008" y="603504"/>
            <a:ext cx="6583680" cy="5029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Sakkal Majalla" pitchFamily="34" charset="0"/>
                <a:ea typeface="Sakkal Majalla" pitchFamily="34" charset="-122"/>
                <a:cs typeface="Sakkal Majalla" pitchFamily="34" charset="-120"/>
              </a:rPr>
              <a:t>خواتيم سورة البقرة</a:t>
            </a:r>
            <a:endParaRPr lang="ar-SA" sz="2600" dirty="0"/>
          </a:p>
        </p:txBody>
      </p:sp>
      <p:sp>
        <p:nvSpPr>
          <p:cNvPr id="4" name="Shape 2"/>
          <p:cNvSpPr/>
          <p:nvPr/>
        </p:nvSpPr>
        <p:spPr>
          <a:xfrm>
            <a:off x="9646920" y="384048"/>
            <a:ext cx="1965960" cy="420624"/>
          </a:xfrm>
          <a:prstGeom prst="roundRect">
            <a:avLst>
              <a:gd name="adj" fmla="val 50000"/>
            </a:avLst>
          </a:prstGeom>
          <a:solidFill>
            <a:schemeClr val="tx2"/>
          </a:solidFill>
          <a:ln w="12700">
            <a:solidFill>
              <a:schemeClr val="accent5"/>
            </a:solidFill>
            <a:prstDash val="solid"/>
          </a:ln>
        </p:spPr>
      </p:sp>
      <p:sp>
        <p:nvSpPr>
          <p:cNvPr id="5" name="Text 3"/>
          <p:cNvSpPr txBox="1"/>
          <p:nvPr/>
        </p:nvSpPr>
        <p:spPr>
          <a:xfrm>
            <a:off x="9646920" y="384048"/>
            <a:ext cx="1965960" cy="420624"/>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الآية ٢٨٦</a:t>
            </a:r>
            <a:endParaRPr lang="ar-SA" sz="1400" dirty="0"/>
          </a:p>
        </p:txBody>
      </p:sp>
      <p:sp>
        <p:nvSpPr>
          <p:cNvPr id="6" name="Shape 4"/>
          <p:cNvSpPr/>
          <p:nvPr/>
        </p:nvSpPr>
        <p:spPr>
          <a:xfrm>
            <a:off x="731520" y="2323262"/>
            <a:ext cx="10728655" cy="2897276"/>
          </a:xfrm>
          <a:prstGeom prst="roundRect">
            <a:avLst>
              <a:gd name="adj" fmla="val 3156"/>
            </a:avLst>
          </a:prstGeom>
          <a:solidFill>
            <a:schemeClr val="bg1"/>
          </a:solidFill>
          <a:ln w="12700">
            <a:solidFill>
              <a:schemeClr val="accent6"/>
            </a:solidFill>
            <a:prstDash val="solid"/>
          </a:ln>
          <a:effectLst>
            <a:outerShdw sx="100000" sy="100000" kx="0" ky="0" algn="bl" rotWithShape="0" blurRad="76200" dist="19050" dir="5400000">
              <a:srgbClr val="6E665C">
                <a:alpha val="18000"/>
              </a:srgbClr>
            </a:outerShdw>
          </a:effectLst>
        </p:spPr>
      </p:sp>
      <p:sp>
        <p:nvSpPr>
          <p:cNvPr id="7" name="Shape 5"/>
          <p:cNvSpPr/>
          <p:nvPr/>
        </p:nvSpPr>
        <p:spPr>
          <a:xfrm>
            <a:off x="10874959" y="2451278"/>
            <a:ext cx="475488" cy="475488"/>
          </a:xfrm>
          <a:prstGeom prst="octagon">
            <a:avLst/>
          </a:prstGeom>
          <a:solidFill>
            <a:schemeClr val="accent2"/>
          </a:solidFill>
          <a:ln w="15875">
            <a:solidFill>
              <a:schemeClr val="accent5"/>
            </a:solidFill>
            <a:prstDash val="solid"/>
          </a:ln>
        </p:spPr>
      </p:sp>
      <p:sp>
        <p:nvSpPr>
          <p:cNvPr id="8" name="Text 6"/>
          <p:cNvSpPr txBox="1"/>
          <p:nvPr/>
        </p:nvSpPr>
        <p:spPr>
          <a:xfrm>
            <a:off x="10874959" y="2451278"/>
            <a:ext cx="475488" cy="475488"/>
          </a:xfrm>
          <a:prstGeom prst="rect">
            <a:avLst/>
          </a:prstGeom>
          <a:noFill/>
          <a:ln/>
        </p:spPr>
        <p:txBody>
          <a:bodyPr wrap="square" lIns="0" tIns="0" rIns="0" bIns="0" rtlCol="0" anchor="ctr"/>
          <a:lstStyle/>
          <a:p>
            <a:pPr rtl="1" algn="ctr" indent="0" marL="0">
              <a:buNone/>
            </a:pPr>
            <a:r>
              <a:rPr lang="ar-SA" altLang="en-US" sz="1200" b="1" dirty="0">
                <a:solidFill>
                  <a:schemeClr val="bg1"/>
                </a:solidFill>
                <a:latin typeface="Arial" pitchFamily="34" charset="0"/>
                <a:ea typeface="Arial" pitchFamily="34" charset="-122"/>
                <a:cs typeface="Arial" pitchFamily="34" charset="-120"/>
              </a:rPr>
              <a:t>٢٨٦</a:t>
            </a:r>
            <a:endParaRPr lang="ar-SA" sz="1200" dirty="0"/>
          </a:p>
        </p:txBody>
      </p:sp>
      <p:sp>
        <p:nvSpPr>
          <p:cNvPr id="9" name="Text 7"/>
          <p:cNvSpPr txBox="1"/>
          <p:nvPr/>
        </p:nvSpPr>
        <p:spPr>
          <a:xfrm>
            <a:off x="914400" y="2451278"/>
            <a:ext cx="9677095" cy="2641244"/>
          </a:xfrm>
          <a:prstGeom prst="rect">
            <a:avLst/>
          </a:prstGeom>
          <a:noFill/>
          <a:ln/>
        </p:spPr>
        <p:txBody>
          <a:bodyPr wrap="square" lIns="0" tIns="0" rIns="0" bIns="0" rtlCol="0" anchor="ctr"/>
          <a:lstStyle/>
          <a:p>
            <a:pPr rtl="1" algn="r" indent="0" marL="0">
              <a:spcAft>
                <a:spcPts val="800"/>
              </a:spcAft>
              <a:buNone/>
            </a:pPr>
            <a:r>
              <a:rPr lang="ar-SA" altLang="en-US" sz="2400" b="1" dirty="0">
                <a:solidFill>
                  <a:schemeClr val="tx2"/>
                </a:solidFill>
                <a:latin typeface="Traditional Arabic" pitchFamily="34" charset="0"/>
                <a:ea typeface="Traditional Arabic" pitchFamily="34" charset="-122"/>
                <a:cs typeface="Traditional Arabic" pitchFamily="34" charset="-120"/>
              </a:rPr>
              <a:t>لَا يُكَلِّفُ اللَّهُ نَفْسًا إِلَّا وُسْعَهَا لَهَا مَا كَسَبَتْ وَعَلَيْهَا مَا اكْتَسَبَتْ رَبَّنَا لَا تُؤَاخِذْنَآ إِن نَّسِينَآ أَوْ أَخْطَأْنَا رَبَّنَا وَلَا تَحْمِلْ عَلَيْنَآ إِصْرًا كَمَا حَمَلْتَهُ عَلَى الَّذِينَ مِن قَبْلِنَا رَبَّنَا وَلَا تُحَمِّلْنَا مَا لَا طَاقَةَ لَنَا بِهِ وَاعْفُ عَنَّا وَاغْفِرْ لَنَا وَارْحَمْنَآ أَنتَ مَوْلَىٰنَا فَانصُرْنَا عَلَى الْقَوْمِ الْكَٰفِرِينَ</a:t>
            </a:r>
            <a:endParaRPr lang="ar-SA" sz="2400" dirty="0"/>
          </a:p>
          <a:p>
            <a:pPr rtl="1" algn="r" indent="0" marL="0">
              <a:buNone/>
            </a:pPr>
            <a:r>
              <a:rPr lang="ar-SA" altLang="en-US" sz="1700" dirty="0">
                <a:solidFill>
                  <a:schemeClr val="tx1"/>
                </a:solidFill>
                <a:latin typeface="Arial" pitchFamily="34" charset="0"/>
                <a:ea typeface="Arial" pitchFamily="34" charset="-122"/>
                <a:cs typeface="Arial" pitchFamily="34" charset="-120"/>
              </a:rPr>
              <a:t>لا يكلّف الله نفسًا إلا ما تطيقه، لها ثواب ما عملت، وعليها عقاب ما عملت. ربنا لا تؤاخذنا إن نسينا أو أخطأنا، ولا تحمّل علينا ثقلًا، واعفُ عنا واغفر لنا وارحمنا. وقال صلى الله عليه وسلم: «من قرأ الآيتين من آخر سورة البقرة في ليلة كفتاه» (متفق عليه).</a:t>
            </a:r>
            <a:endParaRPr lang="ar-SA" sz="2400" dirty="0"/>
          </a:p>
        </p:txBody>
      </p:sp>
      <p:sp>
        <p:nvSpPr>
          <p:cNvPr id="25" name="Slide Number Placeholder 0"/>
          <p:cNvSpPr>
            <a:spLocks noGrp="1"/>
          </p:cNvSpPr>
          <p:nvPr>
            <p:ph type="sldNum" sz="quarter" idx="4294967295"/>
          </p:nvPr>
        </p:nvSpPr>
        <p:spPr>
          <a:xfrm>
            <a:off x="548640" y="635508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176</a:t>
            </a:fld>
            <a:endParaRPr lang="en-US"/>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spTree>
      <p:nvGrpSpPr>
        <p:cNvPr id="1" name=""/>
        <p:cNvGrpSpPr/>
        <p:nvPr/>
      </p:nvGrpSpPr>
      <p:grpSpPr>
        <a:xfrm>
          <a:off x="0" y="0"/>
          <a:ext cx="0" cy="0"/>
          <a:chOff x="0" y="0"/>
          <a:chExt cx="0" cy="0"/>
        </a:xfrm>
      </p:grpSpPr>
      <p:sp>
        <p:nvSpPr>
          <p:cNvPr id="2" name="Shape 0"/>
          <p:cNvSpPr/>
          <p:nvPr/>
        </p:nvSpPr>
        <p:spPr>
          <a:xfrm>
            <a:off x="5730088" y="1234440"/>
            <a:ext cx="731520" cy="731520"/>
          </a:xfrm>
          <a:prstGeom prst="octagon">
            <a:avLst/>
          </a:prstGeom>
          <a:solidFill>
            <a:schemeClr val="accent2"/>
          </a:solidFill>
          <a:ln w="15875">
            <a:solidFill>
              <a:schemeClr val="accent5"/>
            </a:solidFill>
            <a:prstDash val="solid"/>
          </a:ln>
        </p:spPr>
      </p:sp>
      <p:sp>
        <p:nvSpPr>
          <p:cNvPr id="3" name="Text 1"/>
          <p:cNvSpPr txBox="1"/>
          <p:nvPr/>
        </p:nvSpPr>
        <p:spPr>
          <a:xfrm>
            <a:off x="5730088" y="1234440"/>
            <a:ext cx="731520" cy="731520"/>
          </a:xfrm>
          <a:prstGeom prst="rect">
            <a:avLst/>
          </a:prstGeom>
          <a:noFill/>
          <a:ln/>
        </p:spPr>
        <p:txBody>
          <a:bodyPr wrap="square" lIns="0" tIns="0" rIns="0" bIns="0" rtlCol="0" anchor="ctr"/>
          <a:lstStyle/>
          <a:p>
            <a:pPr rtl="1" algn="ctr" indent="0" marL="0">
              <a:buNone/>
            </a:pPr>
            <a:r>
              <a:rPr lang="ar-SA" altLang="en-US" sz="2000" b="1" dirty="0">
                <a:solidFill>
                  <a:schemeClr val="bg1"/>
                </a:solidFill>
                <a:latin typeface="Arial" pitchFamily="34" charset="0"/>
                <a:ea typeface="Arial" pitchFamily="34" charset="-122"/>
                <a:cs typeface="Arial" pitchFamily="34" charset="-120"/>
              </a:rPr>
              <a:t>٢</a:t>
            </a:r>
            <a:endParaRPr lang="ar-SA" sz="2000" dirty="0"/>
          </a:p>
        </p:txBody>
      </p:sp>
      <p:sp>
        <p:nvSpPr>
          <p:cNvPr id="4" name="Text 2"/>
          <p:cNvSpPr txBox="1"/>
          <p:nvPr/>
        </p:nvSpPr>
        <p:spPr>
          <a:xfrm>
            <a:off x="3291840" y="2240280"/>
            <a:ext cx="5605272" cy="1005840"/>
          </a:xfrm>
          <a:prstGeom prst="rect">
            <a:avLst/>
          </a:prstGeom>
          <a:noFill/>
          <a:ln/>
        </p:spPr>
        <p:txBody>
          <a:bodyPr wrap="square" lIns="0" tIns="0" rIns="0" bIns="0" rtlCol="0" anchor="ctr"/>
          <a:lstStyle/>
          <a:p>
            <a:pPr rtl="1" algn="ctr" indent="0" marL="0">
              <a:buNone/>
            </a:pPr>
            <a:r>
              <a:rPr lang="ar-SA" altLang="en-US" sz="5200" b="1" dirty="0">
                <a:solidFill>
                  <a:schemeClr val="bg1"/>
                </a:solidFill>
                <a:latin typeface="Sakkal Majalla" pitchFamily="34" charset="0"/>
                <a:ea typeface="Sakkal Majalla" pitchFamily="34" charset="-122"/>
                <a:cs typeface="Sakkal Majalla" pitchFamily="34" charset="-120"/>
              </a:rPr>
              <a:t>جزاكم الله خيرًا</a:t>
            </a:r>
            <a:endParaRPr lang="ar-SA" sz="5200" dirty="0"/>
          </a:p>
        </p:txBody>
      </p:sp>
      <p:sp>
        <p:nvSpPr>
          <p:cNvPr id="5" name="Text 3"/>
          <p:cNvSpPr txBox="1"/>
          <p:nvPr/>
        </p:nvSpPr>
        <p:spPr>
          <a:xfrm>
            <a:off x="3291840" y="3429000"/>
            <a:ext cx="5605272" cy="731520"/>
          </a:xfrm>
          <a:prstGeom prst="rect">
            <a:avLst/>
          </a:prstGeom>
          <a:noFill/>
          <a:ln/>
        </p:spPr>
        <p:txBody>
          <a:bodyPr wrap="square" lIns="0" tIns="0" rIns="0" bIns="0" rtlCol="0" anchor="t"/>
          <a:lstStyle/>
          <a:p>
            <a:pPr rtl="1" algn="ctr" indent="0" marL="0">
              <a:buNone/>
            </a:pPr>
            <a:r>
              <a:rPr lang="ar-SA" altLang="en-US" sz="3000" b="1" dirty="0">
                <a:solidFill>
                  <a:schemeClr val="accent5"/>
                </a:solidFill>
                <a:latin typeface="Traditional Arabic" pitchFamily="34" charset="0"/>
                <a:ea typeface="Traditional Arabic" pitchFamily="34" charset="-122"/>
                <a:cs typeface="Traditional Arabic" pitchFamily="34" charset="-120"/>
              </a:rPr>
              <a:t>﴿ربنا لا تؤاخذنا إن نسينا أو أخطأنا﴾</a:t>
            </a:r>
            <a:endParaRPr lang="ar-SA" sz="3000" dirty="0"/>
          </a:p>
        </p:txBody>
      </p:sp>
      <p:sp>
        <p:nvSpPr>
          <p:cNvPr id="6" name="Text 4"/>
          <p:cNvSpPr txBox="1"/>
          <p:nvPr/>
        </p:nvSpPr>
        <p:spPr>
          <a:xfrm>
            <a:off x="3291840" y="4572000"/>
            <a:ext cx="5605272" cy="365760"/>
          </a:xfrm>
          <a:prstGeom prst="rect">
            <a:avLst/>
          </a:prstGeom>
          <a:noFill/>
          <a:ln/>
        </p:spPr>
        <p:txBody>
          <a:bodyPr wrap="square" lIns="0" tIns="0" rIns="0" bIns="0" rtlCol="0" anchor="t"/>
          <a:lstStyle/>
          <a:p>
            <a:pPr rtl="1" algn="ctr" indent="0" marL="0">
              <a:buNone/>
            </a:pPr>
            <a:r>
              <a:rPr lang="ar-SA" altLang="en-US" sz="1400" dirty="0">
                <a:solidFill>
                  <a:schemeClr val="bg2"/>
                </a:solidFill>
              </a:rPr>
              <a:t>المرجع: تفسير القرآن العظيم، للحافظ ابن كثير رحمه الله</a:t>
            </a:r>
            <a:endParaRPr lang="ar-SA" sz="1400" dirty="0"/>
          </a:p>
        </p:txBody>
      </p:sp>
    </p:spTree>
  </p:cSld>
  <p:clrMapOvr>
    <a:masterClrMapping/>
  </p:clrMapOvr>
</p:sld>
</file>

<file path=ppt/theme/theme1.xml><?xml version="1.0" encoding="utf-8"?>
<a:theme xmlns:a="http://schemas.openxmlformats.org/drawingml/2006/main" name="Al-Baqarah Arch">
  <a:themeElements>
    <a:clrScheme name="Al-Baqarah Arch">
      <a:dk1>
        <a:srgbClr val="2A2622"/>
      </a:dk1>
      <a:lt1>
        <a:srgbClr val="FFFFFF"/>
      </a:lt1>
      <a:dk2>
        <a:srgbClr val="0E4F55"/>
      </a:dk2>
      <a:lt2>
        <a:srgbClr val="F8F3EA"/>
      </a:lt2>
      <a:accent1>
        <a:srgbClr val="0E4F55"/>
      </a:accent1>
      <a:accent2>
        <a:srgbClr val="B5653A"/>
      </a:accent2>
      <a:accent3>
        <a:srgbClr val="16676E"/>
      </a:accent3>
      <a:accent4>
        <a:srgbClr val="6E665C"/>
      </a:accent4>
      <a:accent5>
        <a:srgbClr val="D9A27A"/>
      </a:accent5>
      <a:accent6>
        <a:srgbClr val="E8F0EF"/>
      </a:accent6>
      <a:hlink>
        <a:srgbClr val="16676E"/>
      </a:hlink>
      <a:folHlink>
        <a:srgbClr val="6E665C"/>
      </a:folHlink>
    </a:clrScheme>
    <a:fontScheme name="Al-Baqarah Arch">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177</Slides>
  <Notes>177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177</vt:i4>
      </vt:variant>
    </vt:vector>
  </HeadingPairs>
  <TitlesOfParts>
    <vt:vector size="18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سورة البقرة — مبسّط من تفسير ابن كثير</dc:title>
  <dc:subject>PptxGenJS Presentation</dc:subject>
  <dc:creator>معلم القرآن الكريم</dc:creator>
  <cp:lastModifiedBy>معلم القرآن الكريم</cp:lastModifiedBy>
  <cp:revision>1</cp:revision>
  <dcterms:created xsi:type="dcterms:W3CDTF">2026-10-03T20:30:10Z</dcterms:created>
  <dcterms:modified xsi:type="dcterms:W3CDTF">2026-10-03T20:30:10Z</dcterms:modified>
</cp:coreProperties>
</file>