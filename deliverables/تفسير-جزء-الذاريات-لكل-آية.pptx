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Lst>
  <p:notesMasterIdLst>
    <p:notesMasterId r:id="rId1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5cc0173b-f92a-7d1c-f612-ef004ef472dd}">
          <p14:sldIdLst>
            <p14:sldId id="256"/>
            <p14:sldId id="257"/>
            <p14:sldId id="258"/>
          </p14:sldIdLst>
        </p14:section>
        <p14:section name="سورة الحديد" id="{304d24d1-8db8-57f0-71b7-ca80a740e1db}">
          <p14:sldIdLst>
            <p14:sldId id="259"/>
            <p14:sldId id="260"/>
            <p14:sldId id="261"/>
            <p14:sldId id="262"/>
            <p14:sldId id="263"/>
            <p14:sldId id="264"/>
            <p14:sldId id="265"/>
            <p14:sldId id="266"/>
            <p14:sldId id="267"/>
            <p14:sldId id="268"/>
            <p14:sldId id="269"/>
            <p14:sldId id="270"/>
            <p14:sldId id="271"/>
            <p14:sldId id="272"/>
            <p14:sldId id="273"/>
            <p14:sldId id="274"/>
          </p14:sldIdLst>
        </p14:section>
        <p14:section name="سورة الواقعة" id="{2efc684e-5dd6-0469-46e5-6f880123bd5a}">
          <p14:sldIdLst>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Lst>
        </p14:section>
        <p14:section name="سورة الرحمن" id="{d9254a8b-b577-5be3-c3d9-27035892bf74}">
          <p14:sldIdLst>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Lst>
        </p14:section>
        <p14:section name="سورة القمر" id="{3bcb7424-f710-5c8e-e3c7-f4ca3d01b29c}">
          <p14:sldIdLst>
            <p14:sldId id="322"/>
            <p14:sldId id="323"/>
            <p14:sldId id="324"/>
            <p14:sldId id="325"/>
            <p14:sldId id="326"/>
            <p14:sldId id="327"/>
            <p14:sldId id="328"/>
            <p14:sldId id="329"/>
            <p14:sldId id="330"/>
            <p14:sldId id="331"/>
            <p14:sldId id="332"/>
            <p14:sldId id="333"/>
            <p14:sldId id="334"/>
            <p14:sldId id="335"/>
            <p14:sldId id="336"/>
          </p14:sldIdLst>
        </p14:section>
        <p14:section name="سورة النجم" id="{64e88713-1096-c301-e3a7-660176b87b47}">
          <p14:sldIdLst>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Lst>
        </p14:section>
        <p14:section name="سورة الطور" id="{462f7cd3-9d01-64e7-c197-aeab663f2143}">
          <p14:sldIdLst>
            <p14:sldId id="356"/>
            <p14:sldId id="357"/>
            <p14:sldId id="358"/>
            <p14:sldId id="359"/>
            <p14:sldId id="360"/>
            <p14:sldId id="361"/>
            <p14:sldId id="362"/>
            <p14:sldId id="363"/>
            <p14:sldId id="364"/>
            <p14:sldId id="365"/>
            <p14:sldId id="366"/>
            <p14:sldId id="367"/>
            <p14:sldId id="368"/>
            <p14:sldId id="369"/>
          </p14:sldIdLst>
        </p14:section>
        <p14:section name="سورة الذاريات" id="{52788614-d04e-dba2-63b1-8e7503e0a838}">
          <p14:sldIdLst>
            <p14:sldId id="370"/>
            <p14:sldId id="371"/>
            <p14:sldId id="372"/>
            <p14:sldId id="373"/>
            <p14:sldId id="374"/>
            <p14:sldId id="375"/>
            <p14:sldId id="376"/>
            <p14:sldId id="377"/>
            <p14:sldId id="378"/>
          </p14:sldIdLst>
        </p14:section>
        <p14:section name="الخاتمة" id="{6b3084a3-14ee-83b4-e99a-76dbe416521a}">
          <p14:sldIdLst>
            <p14:sldId id="3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notesMaster" Target="notesMasters/notesMaster1.xml"/><Relationship Id="rId127" Type="http://schemas.openxmlformats.org/officeDocument/2006/relationships/presProps" Target="presProps.xml"/><Relationship Id="rId128" Type="http://schemas.openxmlformats.org/officeDocument/2006/relationships/viewProps" Target="viewProps.xml"/><Relationship Id="rId129" Type="http://schemas.openxmlformats.org/officeDocument/2006/relationships/theme" Target="theme/theme1.xml"/><Relationship Id="rId1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الحديد ثم نصعد سورةً سورة حتى نصل إلى سورة الذاريات،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شبّه الله الحياة الدنيا في الآية 20؟ وما الدرس من 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الأصناف الثلاثة للناس يوم القيامة كما في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خمس نعم ذكرتها سورة الرحمن، وماذا نقول عند سماع ﴿فبأي آلاء ربكما تكذبان﴾؟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الآية التي تكررت أربع مرات في السورة؟ وماذا تعني لنا؟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رأى النبي ﷺ عند سدرة المنتهى؟ وما معنى ﴿وما ينطق عن الهوى﴾؟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ردّت الآيات 35–36 على من ينكر وجود الخالق؟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الحكمة من خلق الجن والإنس كما في الآية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7/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7/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7/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image" Target="../media/image-124-2.png"/><Relationship Id="rId3" Type="http://schemas.openxmlformats.org/officeDocument/2006/relationships/slideLayout" Target="../slideLayouts/slideLayout4.xml"/><Relationship Id="rId4" Type="http://schemas.openxmlformats.org/officeDocument/2006/relationships/notesSlide" Target="../notesSlides/notesSlide1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7/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الذاريات</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7/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الحديد إلى سورة الذاريات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البنفسجي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الذاريات</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الحديد صعودًا إلى سورة الذاريات</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الحديد</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الواقعة</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الرحمن</a:t>
            </a:r>
            <a:endParaRPr lang="ar-SA" sz="1500" dirty="0"/>
          </a:p>
        </p:txBody>
      </p:sp>
      <p:sp>
        <p:nvSpPr>
          <p:cNvPr id="10" name="Shape 8"/>
          <p:cNvSpPr/>
          <p:nvPr/>
        </p:nvSpPr>
        <p:spPr>
          <a:xfrm>
            <a:off x="6127852" y="1920240"/>
            <a:ext cx="1298448" cy="530352"/>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27852"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٤  </a:t>
            </a:r>
            <a:pPr rtl="1" algn="ctr" indent="0" marL="0">
              <a:buNone/>
            </a:pPr>
            <a:r>
              <a:rPr lang="ar-SA" altLang="en-US" sz="1500" b="1" dirty="0">
                <a:solidFill>
                  <a:schemeClr val="tx2"/>
                </a:solidFill>
              </a:rPr>
              <a:t>القمر</a:t>
            </a:r>
            <a:endParaRPr lang="ar-SA" sz="1500" dirty="0"/>
          </a:p>
        </p:txBody>
      </p:sp>
      <p:sp>
        <p:nvSpPr>
          <p:cNvPr id="12" name="Shape 10"/>
          <p:cNvSpPr/>
          <p:nvPr/>
        </p:nvSpPr>
        <p:spPr>
          <a:xfrm>
            <a:off x="4765396" y="1920240"/>
            <a:ext cx="1298448" cy="530352"/>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4765396"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٥  </a:t>
            </a:r>
            <a:pPr rtl="1" algn="ctr" indent="0" marL="0">
              <a:buNone/>
            </a:pPr>
            <a:r>
              <a:rPr lang="ar-SA" altLang="en-US" sz="1500" b="1" dirty="0">
                <a:solidFill>
                  <a:schemeClr val="tx2"/>
                </a:solidFill>
              </a:rPr>
              <a:t>النجم</a:t>
            </a:r>
            <a:endParaRPr lang="ar-SA" sz="1500" dirty="0"/>
          </a:p>
        </p:txBody>
      </p:sp>
      <p:sp>
        <p:nvSpPr>
          <p:cNvPr id="14" name="Shape 12"/>
          <p:cNvSpPr/>
          <p:nvPr/>
        </p:nvSpPr>
        <p:spPr>
          <a:xfrm>
            <a:off x="3402940" y="1920240"/>
            <a:ext cx="1298448" cy="530352"/>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340294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٦  </a:t>
            </a:r>
            <a:pPr rtl="1" algn="ctr" indent="0" marL="0">
              <a:buNone/>
            </a:pPr>
            <a:r>
              <a:rPr lang="ar-SA" altLang="en-US" sz="1500" b="1" dirty="0">
                <a:solidFill>
                  <a:schemeClr val="tx2"/>
                </a:solidFill>
              </a:rPr>
              <a:t>الطور</a:t>
            </a:r>
            <a:endParaRPr lang="ar-SA" sz="1500" dirty="0"/>
          </a:p>
        </p:txBody>
      </p:sp>
      <p:sp>
        <p:nvSpPr>
          <p:cNvPr id="16" name="Shape 14"/>
          <p:cNvSpPr/>
          <p:nvPr/>
        </p:nvSpPr>
        <p:spPr>
          <a:xfrm>
            <a:off x="2040484" y="1920240"/>
            <a:ext cx="1298448" cy="530352"/>
          </a:xfrm>
          <a:prstGeom prst="roundRect">
            <a:avLst>
              <a:gd name="adj" fmla="val 50000"/>
            </a:avLst>
          </a:prstGeom>
          <a:solidFill>
            <a:schemeClr val="bg1"/>
          </a:solidFill>
          <a:ln w="12700">
            <a:solidFill>
              <a:schemeClr val="accent2"/>
            </a:solidFill>
            <a:prstDash val="solid"/>
          </a:ln>
        </p:spPr>
      </p:sp>
      <p:sp>
        <p:nvSpPr>
          <p:cNvPr id="17" name="Text 15"/>
          <p:cNvSpPr txBox="1"/>
          <p:nvPr/>
        </p:nvSpPr>
        <p:spPr>
          <a:xfrm>
            <a:off x="204048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٧  </a:t>
            </a:r>
            <a:pPr rtl="1" algn="ctr" indent="0" marL="0">
              <a:buNone/>
            </a:pPr>
            <a:r>
              <a:rPr lang="ar-SA" altLang="en-US" sz="1500" b="1" dirty="0">
                <a:solidFill>
                  <a:schemeClr val="tx2"/>
                </a:solidFill>
              </a:rPr>
              <a:t>الذاريات</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الحديد</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٢٩</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مسعود رضي الله عنه: ما كان بين إسلامنا وبين أن عاتبنا الله بهذه الآية ﴿ألم يأنِ للذين آمنوا أن تخشع قلوبهم لذكر الله﴾ إلا أربع سنين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الحثّ على الإيمان والإنفاق في سبيل الله، وبيان حقيقة الدنيا، والدعوة إلى خشوع القلوب.</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 لِلَّهِ مَا فِي السَّمَٰوَٰتِ وَالْأَرْضِ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نزّه الله كل ما في السماوات والأرض، وهو العزيز الحكيم.</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0266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 مُلْكُ السَّمَٰوَٰتِ وَالْأَرْضِ يُحْيِ وَيُمِيتُ وَهُوَ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 ملك السماوات والأرض، يحيي ويميت، وهو على كل شيء قدير.</a:t>
            </a:r>
            <a:endParaRPr lang="ar-SA" sz="3200" dirty="0"/>
          </a:p>
        </p:txBody>
      </p:sp>
      <p:sp>
        <p:nvSpPr>
          <p:cNvPr id="14" name="Shape 12"/>
          <p:cNvSpPr/>
          <p:nvPr/>
        </p:nvSpPr>
        <p:spPr>
          <a:xfrm>
            <a:off x="2103120" y="4210812"/>
            <a:ext cx="8641080" cy="0"/>
          </a:xfrm>
          <a:prstGeom prst="line">
            <a:avLst/>
          </a:prstGeom>
          <a:noFill/>
          <a:ln w="9525">
            <a:solidFill>
              <a:schemeClr val="accent2"/>
            </a:solidFill>
            <a:prstDash val="dash"/>
          </a:ln>
        </p:spPr>
      </p:sp>
      <p:sp>
        <p:nvSpPr>
          <p:cNvPr id="15" name="Shape 13"/>
          <p:cNvSpPr/>
          <p:nvPr/>
        </p:nvSpPr>
        <p:spPr>
          <a:xfrm>
            <a:off x="10927080" y="4471416"/>
            <a:ext cx="548640" cy="548640"/>
          </a:xfrm>
          <a:prstGeom prst="star8">
            <a:avLst/>
          </a:prstGeom>
          <a:solidFill>
            <a:schemeClr val="accent2"/>
          </a:solidFill>
          <a:ln/>
        </p:spPr>
      </p:sp>
      <p:sp>
        <p:nvSpPr>
          <p:cNvPr id="16" name="Shape 14"/>
          <p:cNvSpPr/>
          <p:nvPr/>
        </p:nvSpPr>
        <p:spPr>
          <a:xfrm>
            <a:off x="11036808" y="4581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71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45312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الْأَوَّلُ وَالْأخِرُ وَالظَّـٰهِرُ وَالْبَاطِنُ وَهُوَ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الأول الذي ليس قبله شيء، والآخر الذي ليس بعده شيء، والظاهر الذي ليس فوقه شيء، والباطن الذي ليس دونه شيء، كما فسّرها النبي صلى الله عليه وسلم (مسلم).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خَلَقَ السَّمَٰوَٰتِ وَالْأَرْضَ فِي سِتَّةِ أَيَّامٍ ثُمَّ اسْتَوَىٰ عَلَى الْعَرْشِ يَعْلَمُ مَا يَلِجُ فِي الْأَرْضِ وَمَا يَخْرُجُ مِنْهَا وَمَا يَنزِلُ مِنَ السَّمَآءِ وَمَا يَعْرُجُ فِيهَا وَهُوَ مَعَكُمْ أَيْنَ مَا كُنتُمْ وَاللَّهُ بِمَا تَعْمَلُونَ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خلق السماوات والأرض في ستة أيام، ثم علا على العرش علوًّا يليق بجلاله، يعلم ما يدخل في الأرض وما يخرج منها، وما ينزل من السماء وما يصعد فيها، وهو معكم بعلمه أينما كنتم.</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 مُلْكُ السَّمَٰوَٰتِ وَالْأَرْضِ وَإِلَى اللَّهِ تُرْجَعُ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 ملك السماوات والأرض، وإليه ترجع الأمور كلها.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يُولِجُ الَّيْلَ فِي النَّهَارِ وَيُولِجُ النَّهَارَ فِي الَّيْلِ وَهُوَ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يُدخل الليل في النهار فيطول، ويُدخل النهار في الليل فيطول، وهو عليم بما في القلوب.</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ءَامِنُواْ بِاللَّهِ وَرَسُولِهِ وَأَنفِقُواْ مِمَّا جَعَلَكُم مُّسْتَخْلَفِينَ فِيهِ فَالَّذِينَ ءَامَنُواْ مِنكُمْ وَأَنفَقُواْ لَهُمْ أَجْرٌ 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آمنوا بالله ورسوله، وأنفقوا من المال الذي جعلكم الله مستخلفين فيه، فالذين آمنوا وأنفقوا لهم أجر كبير.</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لَكُمْ لَا تُؤْمِنُونَ بِاللَّهِ وَالرَّسُولُ يَدْعُوكُمْ لِتُؤْمِنُواْ بِرَبِّكُمْ وَقَدْ أَخَذَ مِيثَٰقَكُمْ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الذي يمنعكم من الإيمان بالله والرسول يدعوكم إليه، وقد أخذ الله عليكم العهد بذلك؟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يُنَزِّلُ عَلَىٰ عَبْدِهِ ءَايَٰتٍ بَيِّنَٰتٍ لِّيُخْرِجَكُم مِّنَ الظُّلُمَٰتِ إِلَى النُّورِ وَإِنَّ اللَّهَ بِكُمْ لَرَءُوفٌ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ينزّل على محمد صلى الله عليه وسلم آيات واضحات، ليُخرجكم من ظلمات الكفر إلى نور الإيمان، وإن الله بكم لرؤوف رحيم.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لَكُمْ أَلَّا تُنفِقُواْ فِي سَبِيلِ اللَّهِ وَلِلَّهِ مِيرَٰثُ السَّمَٰوَٰتِ وَالْأَرْضِ لَا يَسْتَوِي مِنكُم مَّنْ أَنفَقَ مِن قَبْلِ الْفَتْحِ وَقَٰتَلَ أُوْلَـٰئِكَ أَعْظَمُ دَرَجَةً مِّنَ الَّذِينَ أَنفَقُواْ مِن بَعْدُ وَقَٰتَلُواْ وَكُلًّا وَعَدَ اللَّهُ الْحُسْنَىٰ وَاللَّهُ بِمَا تَعْمَلُونَ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لكم لا تنفقون في سبيل الله، وكل ما في السماوات والأرض يرجع إليه؟ لا يستوي من أنفق وقاتل قبل فتح مكة مع من فعل ذلك بعده، فالأولون أعظم درجة، وكلًّا وعد الله الجنة.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ذَا الَّذِي يُقْرِضُ اللَّهَ قَرْضًا حَسَنًا فَيُضَٰعِفَهُ لَهُ وَلَهُ أَجْرٌ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الذي ينفق في سبيل الله نفقة طيبة فيضاعفها الله له، وله أجر كريم في الجنة؟</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تَرَى الْمُؤْمِنِينَ وَالْمُؤْمِنَٰتِ يَسْعَىٰ نُورُهُم بَيْنَ أَيْدِيهِمْ وَبِأَيْمَٰنِهِم بُشْرَىٰكُمُ الْيَوْمَ جَنَّـٰتٌ تَجْرِي مِن تَحْتِهَا الْأَنْهَٰرُ خَٰلِدِينَ فِيهَا ذَٰلِكَ هُوَ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القيامة ترى المؤمنين والمؤمنات يسير نورهم أمامهم وعن أيمانهم، ويُقال لهم: أبشروا بجنات تجري من تحتها الأنهار، ذلك هو الفوز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يَقُولُ الْمُنَٰفِقُونَ وَالْمُنَٰفِقَٰتُ لِلَّذِينَ ءَامَنُواْ انظُرُونَا نَقْتَبِسْ مِن نُّورِكُمْ قِيلَ ارْجِعُواْ وَرَآءَكُمْ فَالْتَمِسُواْ نُورًا فَضُرِبَ بَيْنَهُم بِسُورٍ لَّهُ بَابٌ بَاطِنُهُ فِيهِ الرَّحْمَةُ وَظَٰهِرُهُ مِن قِبَلِهِ الْعَذَابُ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يقول المنافقون للمؤمنين: انتظرونا نأخذ من نوركم، فيُقال لهم: ارجعوا وراءكم فاطلبوا نورًا، فيُضرب بينهم سور له باب، داخله الرحمة وخارجه العذاب.</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يُنَادُونَهُمْ أَلَمْ نَكُن مَّعَكُمْ قَالُواْ بَلَىٰ وَلَٰكِنَّكُمْ فَتَنتُمْ أَنفُسَكُمْ وَتَرَبَّصْتُمْ وَارْتَبْتُمْ وَغَرَّتْكُمُ الْأَمَانِيُّ حَتَّىٰ جَآءَ أَمْرُ اللَّهِ وَغَرَّكُم بِاللَّهِ الْغَرُورُ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ينادي المنافقون المؤمنين: ألم نكن معكم في الدنيا؟ قالوا: بلى، ولكنكم أهلكتم أنفسكم بالنفاق، وانتظرتم بالمؤمنين السوء، وشككتم، وخدعتكم الأماني حتى جاء الموت، وخدعكم الشيطان.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فَالْيَوْمَ لَا يُؤْخَذُ مِنكُمْ فِدْيَةٌ وَلَا مِنَ الَّذِينَ كَفَرُواْ مَأْوَىٰكُمُ النَّارُ هِيَ مَوْلَىٰكُمْ وَبِئْسَ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فاليوم لا يُقبل منكم فداء ولا من الكفار، مسكنكم النار، هي أولى بكم، وبئس المصير.</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يَأْنِ لِلَّذِينَ ءَامَنُواْ أَن تَخْشَعَ قُلُوبُهُمْ لِذِكْرِ اللَّهِ وَمَا نَزَلَ مِنَ الْحَقِّ وَلَا يَكُونُواْ كَالَّذِينَ أُوتُواْ الْكِتَٰبَ مِن قَبْلُ فَطَالَ عَلَيْهِمُ الْأَمَدُ فَقَسَتْ قُلُوبُهُمْ وَكَثِيرٌ مِّنْهُمْ 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يحِن الوقت للمؤمنين أن تخشع قلوبهم عند ذكر الله والقرآن، ولا يكونوا كأهل الكتاب الذين طال عليهم الزمن فقست قلوبهم؟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85166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اعْلَمُواْ أَنَّ اللَّهَ يُحْيِ الْأَرْضَ بَعْدَ مَوْتِهَا قَدْ بَيَّنَّا لَكُمُ الْأيَٰتِ لَعَلَّكُمْ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اعلموا أن الله يحيي الأرض بالمطر بعد جفافها، فكذلك يُليّن القلوب القاسية بالإيمان، قد بيّنا لكم الآيات لعلكم تعقلون.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6164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الْمُصَّدِّقِينَ وَالْمُصَّدِّقَٰتِ وَأَقْرَضُواْ اللَّهَ قَرْضًا حَسَنًا يُضَٰعَفُ لَهُمْ وَلَهُمْ أَجْرٌ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المتصدقين والمتصدقات، والذين أنفقوا في سبيل الله نفقة طيبة، يُضاعف لهم الثواب، ولهم أجر كريم.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بِاللَّهِ وَرُسُلِهِ أُوْلَـٰئِكَ هُمُ الصِّدِّيقُونَ وَالشُّهَدَآءُ عِندَ رَبِّهِمْ لَهُمْ أَجْرُهُمْ وَنُورُهُمْ وَالَّذِينَ كَفَرُواْ وَكَذَّبُواْ بِـَٔايَٰتِنَآ أُوْلَـٰئِكَ أَصْحَٰبُ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آمنوا بالله ورسله أولئك هم الصدّيقون، والشهداء عند ربهم لهم أجرهم ونورهم، والذين كفروا وكذّبوا بآياتنا أولئك أصحاب الجحيم.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اعْلَمُواْ أَنَّمَا الْحَيَوٰةُ الدُّنْيَا لَعِبٌ وَلَهْوٌ وَزِينَةٌ وَتَفَاخُرٌ بَيْنَكُمْ وَتَكَاثُرٌ فِي الْأَمْوَٰلِ وَالْأَوْلَٰدِ كَمَثَلِ غَيْثٍ أَعْجَبَ الْكُفَّارَ نَبَاتُهُ ثُمَّ يَهِيجُ فَتَرَىٰهُ مُصْفَرًّا ثُمَّ يَكُونُ حُطَٰمًا وَفِي الْأخِرَةِ عَذَابٌ شَدِيدٌ وَمَغْفِرَةٌ مِّنَ اللَّهِ وَرِضْوَٰنٌ وَمَا الْحَيَوٰةُ الدُّنْيَآ إِلَّا مَتَٰعُ الْغُرُورِ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اعلموا أن الدنيا لعب ولهو وزينة وتفاخر وتكاثر في الأموال والأولاد، مثلها كمطر أنبت زرعًا أعجب الزرّاع، ثم يجفّ فتراه أصفر ثم يصير حطامًا، وفي الآخرة عذاب شديد أو مغفرة من الله ورضوان.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سَابِقُواْ إِلَىٰ مَغْفِرَةٍ مِّن رَّبِّكُمْ وَجَنَّةٍ عَرْضُهَا كَعَرْضِ السَّمَآءِ وَالْأَرْضِ أُعِدَّتْ لِلَّذِينَ ءَامَنُواْ بِاللَّهِ وَرُسُلِهِ ذَٰلِكَ فَضْلُ اللَّهِ يُؤْتِيهِ مَن يَشَآءُ وَاللَّهُ ذُو الْفَضْلِ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تسابقوا إلى أسباب المغفرة، وإلى جنة عرضها كعرض السماء والأرض، أُعدّت للمؤمنين، ذلك فضل الله يؤتيه من يشاء.</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أَصَابَ مِن مُّصِيبَةٍ فِي الْأَرْضِ وَلَا فِي أَنفُسِكُمْ إِلَّا فِي كِتَٰبٍ مِّن قَبْلِ أَن نَّبْرَأَهَآ إِنَّ ذَٰلِكَ عَلَى اللَّهِ يَسِيرٌ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أصاب من مصيبة في الأرض ولا في أنفسكم إلا وهي مكتوبة في اللوح المحفوظ قبل أن يخلقها الله، إن ذلك على الله سهل.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لِّكَيْلَا تَأْسَوْاْ عَلَىٰ مَا فَاتَكُمْ وَلَا تَفْرَحُواْ بِمَآ ءَاتَىٰكُمْ وَاللَّهُ لَا يُحِبُّ كُلَّ مُخْتَالٍ فَخُورٍ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لكي لا تحزنوا حزنًا شديدًا على ما فاتكم، ولا تفرحوا فرح بطر بما أعطاكم، والله لا يحب كل متكبّر فخور.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يَبْخَلُونَ وَيَأْمُرُونَ النَّاسَ بِالْبُخْلِ وَمَن يَتَوَلَّ فَإِنَّ اللَّهَ هُوَ الْغَنِيُّ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يبخلون ويأمرون الناس بالبخل، ومن يُعرض فإن الله هو الغني الحميد.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أَرْسَلْنَا رُسُلَنَا بِالْبَيِّنَٰتِ وَأَنزَلْنَا مَعَهُمُ الْكِتَٰبَ وَالْمِيزَانَ لِيَقُومَ النَّاسُ بِالْقِسْطِ وَأَنزَلْنَا الْحَدِيدَ فِيهِ بَأْسٌ شَدِيدٌ وَمَنَٰفِعُ لِلنَّاسِ وَلِيَعْلَمَ اللَّهُ مَن يَنصُرُهُ وَرُسُلَهُ بِالْغَيْبِ إِنَّ اللَّهَ قَوِيٌّ 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أرسلنا رسلنا بالحجج الواضحة، وأنزلنا معهم الكتب والعدل ليقوم الناس بالعدل، وأنزلنا الحديد فيه قوة شديدة ومنافع للناس، وليعلم الله من ينصر دينه ورسله.</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نُوحًا وَإِبْرَٰهِيمَ وَجَعَلْنَا فِي ذُرِّيَّتِهِمَا النُّبُوَّةَ وَالْكِتَٰبَ فَمِنْهُم مُّهْتَدٍ وَكَثِيرٌ مِّنْهُمْ 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نوحًا وإبراهيم، وجعلنا في ذريتهما النبوة والكتب، فمنهم مهتدٍ، وكثير منهم خارجون عن طاعة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قَفَّيْنَا عَلَىٰ ءَاثَٰرِهِم بِرُسُلِنَا وَقَفَّيْنَا بِعِيسَى ابْنِ مَرْيَمَ وَءَاتَيْنَٰهُ الْإِنجِيلَ وَجَعَلْنَا فِي قُلُوبِ الَّذِينَ اتَّبَعُوهُ رَأْفَةً وَرَحْمَةً وَرَهْبَانِيَّةً ابْتَدَعُوهَا مَا كَتَبْنَٰهَا عَلَيْهِمْ إِلَّا ابْتِغَآءَ رِضْوَٰنِ اللَّهِ فَمَا رَعَوْهَا حَقَّ رِعَايَتِهَا فَـَٔاتَيْنَا الَّذِينَ ءَامَنُواْ مِنْهُمْ أَجْرَهُمْ وَكَثِيرٌ مِّنْهُمْ 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أتبعناهم برسل آخرين، وأرسلنا عيسى وأعطيناه الإنجيل، وجعلنا في قلوب أتباعه رحمة، وابتدعوا الرهبانية من عند أنفسهم ولم نفرضها عليهم، فما حافظوا عليها حق المحافظة.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الحديد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وَءَامِنُواْ بِرَسُولِهِ يُؤْتِكُمْ كِفْلَيْنِ مِن رَّحْمَتِهِ وَيَجْعَل لَّكُمْ نُورًا تَمْشُونَ بِهِ وَيَغْفِرْ لَكُمْ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الذين آمنوا من أهل الكتاب، اتقوا الله وآمنوا بمحمد صلى الله عليه وسلم، يُعطكم أجرين من رحمته، ويجعل لكم نورًا تمشون به، ويغفر لكم.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لِّئَلَّا يَعْلَمَ أَهْلُ الْكِتَٰبِ أَلَّا يَقْدِرُونَ عَلَىٰ شَيْءٍ مِّن فَضْلِ اللَّهِ وَأَنَّ الْفَضْلَ بِيَدِ اللَّهِ يُؤْتِيهِ مَن يَشَآءُ وَاللَّهُ ذُو الْفَضْلِ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ليعلم أهل الكتاب أنهم لا يملكون شيئًا من فضل الله، وأن الفضل بيد الله يعطيه من يشاء، والله ذو الفضل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الواقعة</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٩٦</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لها سبب نزول خاص مشهور. ومن شأنها قول النبي صلى الله عليه وسلم: «شيّبتني هود والواقعة والمرسلات وعمّ يتساءلون وإذا الشمس كُوّرت» (رواه 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أهوال القيامة، وانقسام الناس إلى ثلاثة أصناف: السابقين، وأصحاب اليمين، وأصحاب الشمال، وإقامة الأدلة على البعث.</a:t>
            </a:r>
            <a:endParaRPr lang="ar-SA"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وَقَعَتِ الْوَاقِعَةُ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قامت القيامة، وسُمّيت «الواقعة» لتحقّق وقوعها.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لِوَقْعَتِهَا كَاذِبَةٌ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لوقوعها أحد يكذّب به حينئذ.</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خَافِضَةٌ رَّافِعَةٌ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تخفض الكفار إلى النار، وترفع المؤمنين إلى الجنة.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رُجَّتِ الْأَرْضُ رَجًّا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حُرّكت الأرض تحريكًا شديدًا.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وَبُسَّتِ الْجِبَالُ بَسًّا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وفُتّتت الجبال تفتيتًا.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فَكَانَتْ هَبَآءً مُّنبَثًّا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فصارت غبارًا متطايرًا.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وَكُنتُمْ أَزْوَٰجًا ثَلَٰثَةً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وكنتم يومئذ ثلاثة أصناف.</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فَأَصْحَٰبُ الْمَيْمَنَةِ مَآ أَصْحَٰبُ الْمَيْمَنَةِ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فأصحاب اليمين، ما أعظم منزلتهم!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وَأَصْحَٰبُ الْمَشْـَٔمَةِ مَآ أَصْحَٰبُ الْمَشْـَٔمَةِ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وأصحاب الشمال، ما أسوأ حالهم!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وَالسَّـٰبِقُونَ السَّـٰبِقُونَ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والسابقون إلى الخيرات في الدنيا هم السابقون إلى الجنة في الآخرة.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الْمُقَرَّبُونَ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هم المقرّبون من الله.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جَنَّـٰتِ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جنات النعيم.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ثُلَّةٌ مِّنَ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جماعة كثيرة من أوائل هذه الأمة.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وَقَلِيلٌ مِّنَ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وقليل من المتأخرين منها.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عَلَىٰ سُرُرٍ مَّوْضُونَةٍ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على أسرّة منسوجة بالذهب.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مُّتَّكِـِٔينَ عَلَيْهَا مُتَقَٰبِلِينَ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متكئين عليها، وجوه بعضهم إلى بعض.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يَطُوفُ عَلَيْهِمْ وِلْدَٰنٌ مُّخَلَّدُونَ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يدور عليهم للخدمة غلمان باقون على شبابهم.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بِأَكْوَابٍ وَأَبَارِيقَ وَكَأْسٍ مِّن 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بأكواب وأباريق، وكأسٍ من شراب جارٍ.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يُصَدَّعُونَ عَنْهَا وَلَا يُنزِفُونَ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يصيبهم منه صداع، ولا تذهب عقولهم.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وَفَٰكِهَةٍ مِّمَّا يَتَخَيَّرُونَ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وفاكهة مما يختارون.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وَلَحْمِ طَيْرٍ مِّمَّا يَشْتَهُونَ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ولحم طير مما يشتهون.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وَحُورٌ 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وزوجات حسان واسعات العيون.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كَأَمْثَٰلِ اللُّؤْلُوِٕ الْمَكْنُونِ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كأنهن اللؤلؤ المصون في صفائه.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جَزَآءً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جزاءً لهم بما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يَسْمَعُونَ فِيهَا لَغْوًا وَلَا تَأْثِيمًا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يسمعون في الجنة كلامًا باطلًا، ولا ما فيه إثم.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قِيلًا سَلَٰمًا سَلَٰمًا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قولًا طيبًا، وتحية سلام.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وَأَصْحَٰبُ الْيَمِينِ مَآ أَصْحَٰبُ الْيَمِينِ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وأصحاب اليمين، ما أعظم منزلتهم!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سِدْرٍ مَّخْضُودٍ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شجر سدر منزوع الشوك.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وَطَلْحٍ مَّنضُودٍ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وشجر موز متراكب الثمر.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وَظِلٍّ مَّمْدُودٍ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وظلّ دائم ممتد.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وَمَآءٍ مَّسْكُوبٍ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وماء جارٍ لا ينقطع.</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وَفَٰكِهَةٍ كَثِيرَةٍ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وفاكهة كثيرة.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مَقْطُوعَةٍ وَلَا مَمْنُوعَةٍ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تنقطع في وقت، ولا يُمنع منها أحد.</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وَفُرُشٍ مَّرْفُوعَةٍ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وفُرش عالية.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أَنشَأْنَٰهُنَّ إِنشَآءً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خلقنا نساء الجنة خلقًا جديدًا.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فَجَعَلْنَٰهُنَّ أَبْكَارًا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فجعلناهن أبكارًا.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عُرُبًا أَتْرَابًا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محبّبات إلى أزواجهن، متساويات في السن.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لِّأَصْحَٰبِ الْيَمِينِ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لأصحاب اليمين.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ثُلَّةٌ مِّنَ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جماعة كثيرة من أوائل هذه الأمة.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وَثُلَّةٌ مِّنَ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وجماعة كثيرة من آخرها.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وَأَصْحَٰبُ الشِّمَالِ مَآ أَصْحَٰبُ الشِّمَالِ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وأصحاب الشمال، ما أسوأ حالهم!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سَمُومٍ وَحَمِيمٍ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ريح حارة، وماء شديد الحرارة.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وَظِلٍّ مِّن يَحْمُومٍ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وظلّ من دخان أسود.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بَارِدٍ وَلَا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بارد، ولا حسن المنظر.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كَانُواْ قَبْلَ ذَٰلِكَ مُتْرَفِينَ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 كانوا في الدنيا منغمسين في الشهوات.</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وَكَانُواْ يُصِرُّونَ عَلَى الْحِنثِ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وكانوا مصرّين على الذنب العظيم، وهو الشرك.</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وَكَانُواْ يَقُولُونَ أَئِذَا مِتْنَا وَكُنَّا تُرَابًا وَعِظَٰمًا أَءِنَّا لَمَبْعُوثُونَ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وكانوا يقولون: أإذا متنا وصرنا ترابًا وعظامًا نُبعث؟</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أَوَءَابَآؤُنَا الْأَوَّلُونَ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وآباؤنا الأولون كذلك؟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الْأَوَّلِينَ وَالْأخِرِينَ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الأولين والآخرين.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لَمَجْمُوعُونَ إِلَىٰ مِيقَٰتِ يَوْمٍ 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سيُجمعون في وقت يوم معلوم، وهو يوم القيامة.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إِنَّكُمْ أَيُّهَا الضَّآلُّونَ الْمُكَذِّبُونَ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إنكم أيها الضالون المكذّبون بالبعث.</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لَأكِلُونَ مِن شَجَرٍ مِّن زَقُّومٍ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لآكلون من شجر الزقوم.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فَمَالِـُٔونَ مِنْهَا الْبُطُونَ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فمالئون منها بطونكم.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فَشَٰرِبُونَ عَلَيْهِ مِنَ الْحَمِيمِ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فشاربون عليه ماءً شديد الحرارة.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فَشَٰرِبُونَ شُرْبَ الْهِيمِ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فشاربون كما تشرب الإبل العطشى التي لا ترتوي.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نُزُلُهُمْ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هذه ضيافتهم يوم الجزاء.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خَلَقْنَٰكُمْ فَلَوْلَا تُصَدِّقُونَ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خلقناكم، فهلّا تصدّقون بالبعث؟</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أَفَرَءَيْتُم مَّا تُمْنُونَ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أفرأيتم الماء الذي يكون منه الولد؟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ءَأَنتُمْ تَخْلُقُونَهُ أَمْ نَحْنُ الْخَٰلِقُونَ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أأنتم تخلقونه بشرًا أم نحن الخالقون؟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قَدَّرْنَا بَيْنَكُمُ الْمَوْتَ وَمَا نَحْنُ بِمَسْبُوقِينَ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قدّرنا بينكم الموت، وما نحن بعاجزين.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عَلَىٰ أَن نُّبَدِّلَ أَمْثَٰلَكُمْ وَنُنشِئَكُمْ فِي مَا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عن أن نأتي بخلق مثلكم، ونخلقكم في صور لا تعلمونها.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عَلِمْتُمُ النَّشْأَةَ الْأُولَىٰ فَلَوْلَا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علمتم الخلق الأول، فهلّا تتذكرون أن من خلقكم أول مرة قادر على إعادتكم؟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أَفَرَءَيْتُم مَّا تَحْرُثُونَ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أفرأيتم الحَبّ الذي تزرعونه؟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ءَأَنتُمْ تَزْرَعُونَهُ أَمْ نَحْنُ الزَّـٰرِعُونَ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أأنتم تُنبتونه أم نحن المُنبتون؟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نَشَآءُ لَجَعَلْنَٰهُ حُطَٰمًا فَظَلْتُمْ تَفَكَّهُونَ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نشاء لجعلناه يابسًا متكسّرًا، فصرتم تتعجّبون وتندمون.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لَمُغْرَمُونَ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تقولون: إنا لخاسرون.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نَحْنُ مَحْرُومُونَ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نحن محرومون من الرزق.</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أَفَرَءَيْتُمُ الْمَآءَ الَّذِي تَشْرَبُونَ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أفرأيتم الماء الذي تشربونه؟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ءَأَنتُمْ أَنزَلْتُمُوهُ مِنَ الْمُزْنِ أَمْ نَحْنُ الْمُنزِلُونَ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أأنتم أنزلتموه من السحاب أم نحن المنزلون؟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نَشَآءُ جَعَلْنَٰهُ أُجَاجًا فَلَوْلَا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نشاء جعلناه ملحًا لا يُشرب، فهلّا تشكرون؟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أَفَرَءَيْتُمُ النَّارَ الَّتِي تُورُونَ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أفرأيتم النار التي توقدونها؟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ءَأَنتُمْ أَنشَأْتُمْ شَجَرَتَهَآ أَمْ نَحْنُ الْمُنشِـُٔونَ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أأنتم خلقتم شجرتها أم نحن الخالقون؟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جَعَلْنَٰهَا تَذْكِرَةً وَمَتَٰعًا لِّلْمُقْوِينَ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جعلناها تذكيرًا بنار جهنم، ومنفعة للمسافرين.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فَسَبِّحْ بِاسْمِ رَبِّكَ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فنزّه ربك العظيم. ولما نزلت قال صلى الله عليه وسلم: «اجعلوها في ركوعكم».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أُقْسِمُ بِمَوَٰقِعِ النُّجُومِ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فأقسم بمواقع النجوم في السماء.</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لَقَسَمٌ لَّوْ تَعْلَمُونَ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وإنه لقسم عظيم لو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لَقُرْءَانٌ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لقرآن كريم كثير الخير.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كِتَٰبٍ مَّكْنُونٍ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كتاب مصون، وهو اللوح المحفوظ.</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يَمَسُّهُ إِلَّا الْمُطَهَّرُونَ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يمسّه إلا الملائكة المطهّرون.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 مِّن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منزّل من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أَفَبِهَٰذَا الْحَدِيثِ أَنتُم مُّدْهِنُونَ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أفبهذا القرآن أنتم مكذّبون متهاونون؟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وَتَجْعَلُونَ رِزْقَكُمْ أَنَّكُمْ تُكَذِّبُونَ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وتجعلون شكر رزقكم أنكم تكذّبون، كقولهم: مُطرنا بنجم كذا.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فَلَوْلَآ إِذَا بَلَغَتِ الْحُلْقُومَ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 إذا وصلت الروح إلى الحلق عند الموت.</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وَأَنتُمْ حِينَئِذٍ تَنظُرُونَ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وأنتم حاضرون تنظرون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وَنَحْنُ أَقْرَبُ إِلَيْهِ مِنكُمْ وَلَٰكِن لَّا تُبْصِرُونَ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ونحن أقرب إليه منكم بملائكتنا، ولكن لا ترونهم.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فَلَوْلَآ إِن كُنتُمْ غَيْرَ مَدِينِينَ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 إن كنتم غير مبعوثين ولا محاسبين.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تَرْجِعُونَهَآ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تُرجعون الروح إلى الجسد إن كنتم صادقين!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إِن كَانَ مِنَ الْمُقَرَّبِينَ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إن كان الميت من المقرّبين.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٨٩ – 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فَرَوْحٌ وَرَيْحَانٌ وَجَنَّتُ 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فله راحة ورحمة، ورزق طيب، وجنة نعيم.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إِن كَانَ مِنْ أَصْحَٰبِ الْيَمِينِ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إن كان من أصحاب اليمين.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فَسَلَٰمٌ لَّكَ مِنْ أَصْحَٰبِ الْيَمِينِ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فيُقال له: سلامٌ لك، أنت من أصحاب اليمين.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إِن كَانَ مِنَ الْمُكَذِّبِينَ الضَّآلِّينَ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إن كان من المكذّبين الضالّين.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الواقعة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٩٣ – 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فَنُزُلٌ مِّنْ 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فضيافته ماء شديد الحرارة.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وَتَصْلِيَةُ 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ودخول النار.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لَهُوَ حَقُّ الْيَقِينِ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الخبر لهو الحق اليقين.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فَسَبِّحْ بِاسْمِ رَبِّكَ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فنزّه ربك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الرحمن</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٧٨</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لها سبب نزول خاص مشهور. وقرأها النبي صلى الله عليه وسلم على أصحابه وقال: «لقد قرأتها على الجن فكانوا أحسن مردودًا منكم، كنت كلما أتيت على قوله: ﴿فبأي آلاء ربكما تكذبان﴾ قالوا: لا بشيء من نعمك ربنا نكذّب فلك الحمد» (رواه 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تعداد نعم الله على الجن والإنس، وتذكيرهم بها، وبيان جزاء المكذّبين ونعيم المتقين.</a:t>
            </a:r>
            <a:endParaRPr lang="ar-SA"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الرَّحْمَٰنُ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الرحمن: واسع الرحمة.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 الْقُرْءَانَ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علّم القرآن.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الْإِنسَٰنَ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الإنسان.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عَلَّمَهُ الْبَيَانَ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علّمه النطق والبيان والفهم.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الشَّمْسُ وَالْقَمَرُ بِحُسْبَانٍ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الشمس والقمر يجريان بحساب دقيق لا يختلّ.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وَالنَّجْمُ وَالشَّجَرُ يَسْجُدَانِ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والنبات الذي لا ساق له والشجر يسجدان لله.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وَالسَّمَآءَ رَفَعَهَا وَوَضَعَ الْمِيزَانَ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والسماء رفعها، ووضع العدل بين الخلق.</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تَطْغَوْاْ فِي الْمِيزَانِ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لئلا تظلموا وتتجاوزوا العدل.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وَأَقِيمُواْ الْوَزْنَ بِالْقِسْطِ وَلَا تُخْسِرُواْ الْمِيزَانَ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وأقيموا الوزن بالعدل، ولا تُنقصوا الميزان.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وَالْأَرْضَ وَضَعَهَا لِلْأَنَامِ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والأرض بسطها للخلق.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فِيهَا فَٰكِهَةٌ وَالنَّخْلُ ذَاتُ الْأَكْمَامِ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فيها فاكهة، والنخل ذات الأوعية التي يخرج منها الثمر.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وَالْحَبُّ ذُو الْعَصْفِ وَالرَّيْحَانُ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والحبّ ذو الورق، والنبات الطيب الرائحة.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60020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 وتكررت هذه الآية ٣١ مرة، وكان الجن إذا سمعوها قالوا: «لا بشيء من نعمك ربنا نكذّب، فلك الحمد» (الترمذي).</a:t>
            </a:r>
            <a:endParaRPr lang="ar-SA" sz="3200" dirty="0"/>
          </a:p>
        </p:txBody>
      </p:sp>
      <p:sp>
        <p:nvSpPr>
          <p:cNvPr id="9" name="Shape 7"/>
          <p:cNvSpPr/>
          <p:nvPr/>
        </p:nvSpPr>
        <p:spPr>
          <a:xfrm>
            <a:off x="2103120" y="3122676"/>
            <a:ext cx="8641080" cy="0"/>
          </a:xfrm>
          <a:prstGeom prst="line">
            <a:avLst/>
          </a:prstGeom>
          <a:noFill/>
          <a:ln w="9525">
            <a:solidFill>
              <a:schemeClr val="accent2"/>
            </a:solidFill>
            <a:prstDash val="dash"/>
          </a:ln>
        </p:spPr>
      </p:sp>
      <p:sp>
        <p:nvSpPr>
          <p:cNvPr id="10" name="Shape 8"/>
          <p:cNvSpPr/>
          <p:nvPr/>
        </p:nvSpPr>
        <p:spPr>
          <a:xfrm>
            <a:off x="10927080" y="3383280"/>
            <a:ext cx="548640" cy="548640"/>
          </a:xfrm>
          <a:prstGeom prst="star8">
            <a:avLst/>
          </a:prstGeom>
          <a:solidFill>
            <a:schemeClr val="accent2"/>
          </a:solidFill>
          <a:ln/>
        </p:spPr>
      </p:sp>
      <p:sp>
        <p:nvSpPr>
          <p:cNvPr id="11" name="Shape 9"/>
          <p:cNvSpPr/>
          <p:nvPr/>
        </p:nvSpPr>
        <p:spPr>
          <a:xfrm>
            <a:off x="11036808" y="34930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832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3649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الْإِنسَٰنَ مِن صَلْصَٰلٍ كَالْفَخَّارِ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آدم من طين يابس كالفخار.</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وَخَلَقَ الْجَآنَّ مِن مَّارِجٍ مِّن 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وخلق أبا الجن من لهب النار الصافي.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الْمَشْرِقَيْنِ وَرَبُّ الْمَغْرِبَيْنِ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مشرقَي الشمس في الشتاء والصيف، وربّ مغربيها.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مَرَجَ الْبَحْرَيْنِ يَلْتَقِيَانِ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أرسل البحرين: العذب والمالح، يلتقيان.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بَيْنَهُمَا بَرْزَخٌ لَّا يَبْغِيَانِ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بينهما حاجز لا يطغى أحدهما على الآخر.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يَخْرُجُ مِنْهُمَا اللُّؤْلُؤُ وَالْمَرْجَانُ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يخرج منهما اللؤلؤ والمرجان.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 الْجَوَارِ الْمُنشَـَٔاتُ فِي الْبَحْرِ كَالْأَعْلَٰمِ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 السفن المرفوعة الأشرعة في البحر كالجبال.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 مَنْ عَلَيْهَا فَانٍ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 من على الأرض هالك.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وَيَبْقَىٰ وَجْهُ رَبِّكَ ذُو الْجَلَٰلِ وَالْإِكْرَامِ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ويبقى وجه ربك صاحب العظمة والإكرام.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02666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يَسْـَٔلُهُ مَن فِي السَّمَٰوَٰتِ وَالْأَرْضِ كُلَّ يَوْمٍ هُوَ فِي شَأْنٍ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يسأله كل من في السماوات والأرض حاجاتهم، كل يوم هو في شأن: يغفر ذنبًا، ويفرّج كربًا، ويرفع قومًا ويضع آخرين.</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سَنَفْرُغُ لَكُمْ أَيُّهَ الثَّقَلَانِ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سنفرغ لحسابكم يا معشر الجن والإنس. وهذا تهديد.</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يَٰمَعْشَرَ الْجِنِّ وَالْإِنسِ إِنِ اسْتَطَعْتُمْ أَن تَنفُذُواْ مِنْ أَقْطَارِ السَّمَٰوَٰتِ وَالْأَرْضِ فَانفُذُواْ لَا تَنفُذُونَ إِلَّا بِسُلْطَٰنٍ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معشر الجن والإنس، إن استطعتم أن تهربوا من أطراف السماوات والأرض فاهربوا، ولن تستطيعوا إلا بقوة وأمر من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يُرْسَلُ عَلَيْكُمَا شُوَاظٌ مِّن نَّارٍ وَنُحَاسٌ فَلَا تَنتَصِرَانِ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يُرسل عليكما لهب من نار ودخان، فلا تنتصران.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انشَقَّتِ السَّمَآءُ فَكَانَتْ وَرْدَةً كَالدِّهَانِ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انشقت السماء يوم القيامة فصارت حمراء كالوردة، تذوب كالدهن.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فَيَوْمَئِذٍ لَّا يُسْـَٔلُ عَن ذَنبِهِ إِنسٌ وَلَا جَآنٌّ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فيومئذ لا يُسأل عن ذنبه إنس ولا جان سؤال استعلام؛ لأن الله يعلمه.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يُعْرَفُ الْمُجْرِمُونَ بِسِيمَٰهُمْ فَيُؤْخَذُ بِالنَّوَٰصِي وَالْأَقْدَامِ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يُعرف المجرمون بعلاماتهم، فيؤخذون بمقدمة رؤوسهم وأقدامهم إلى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هَٰذِهِ جَهَنَّمُ الَّتِي يُكَذِّبُ بِهَا الْمُجْرِمُونَ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هذه جهنم التي كان يكذّب بها المجرمون.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يَطُوفُونَ بَيْنَهَا وَبَيْنَ حَمِيمٍ ءَانٍ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يتردّدون بين النار وبين ماء شديد الحرارة.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وَلِمَنْ خَافَ مَقَامَ رَبِّهِ جَنَّتَانِ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ولمن خاف وقوفه بين يدي ربه جنتان.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ذَوَاتَآ أَفْنَانٍ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ذواتا أغصان كثيرة.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فِيهِمَا عَيْنَانِ تَجْرِيَانِ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فيهما عينان تجريان.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فِيهِمَا مِن كُلِّ فَٰكِهَةٍ زَوْجَانِ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فيهما من كل فاكهة صنفان.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مُتَّكِـِٔينَ عَلَىٰ فُرُشٍ بَطَآئِنُهَا مِنْ إِسْتَبْرَقٍ وَجَنَى الْجَنَّتَيْنِ دَانٍ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متكئين على فرش بطانتها من الحرير الغليظ، وثمر الجنتين قريب.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فِيهِنَّ قَٰصِرَٰتُ الطَّرْفِ لَمْ يَطْمِثْهُنَّ إِنسٌ قَبْلَهُمْ وَلَا جَآنٌّ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فيهن زوجات لا ينظرن إلى غير أزواجهن، لم يمسّهن أحد قبلهم.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كَأَنَّهُنَّ الْيَاقُوتُ وَالْمَرْجَانُ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كأنهن الياقوت والمرجان في صفائهن.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جَزَآءُ الْإِحْسَٰنِ إِلَّا الْإِحْسَٰنُ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جزاء من أحسن العمل في الدنيا إلا الإحسان إليه في الآخرة؟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دُونِهِمَا جَنَّتَانِ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دون هاتين الجنتين جنتان أخريان.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مُدْهَآمَّتَانِ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خضراوان شديدتا الخضرة.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٦٦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فِيهِمَا عَيْنَانِ نَضَّاخَتَانِ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فيهما عينان فوّارتان بالماء.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فِيهِمَا فَٰكِهَةٌ وَنَخْلٌ وَرُمَّانٌ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فيهما فاكهة ونخل ورمّان.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٧٠ – 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فِيهِنَّ خَيْرَٰتٌ حِسَانٌ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فيهن زوجات خيّرات الأخلاق، حسان الوجوه.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حُورٌ مَّقْصُورَٰتٌ فِي الْخِيَامِ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حور مستورات في الخيام.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٧٤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لَمْ يَطْمِثْهُنَّ إِنسٌ قَبْلَهُمْ وَلَا جَآنٌّ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لم يمسّهن أحد قبلهم.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مُتَّكِـِٔينَ عَلَىٰ رَفْرَفٍ خُضْرٍ وَعَبْقَرِيٍّ حِسَانٍ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متكئين على وسائد خضر، وبُسط جميلة.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ربكما -يا معشر الجن والإنس- تكذّبان؟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الرحمن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3214116"/>
            <a:ext cx="548640" cy="548640"/>
          </a:xfrm>
          <a:prstGeom prst="star8">
            <a:avLst/>
          </a:prstGeom>
          <a:solidFill>
            <a:schemeClr val="accent2"/>
          </a:solidFill>
          <a:ln/>
        </p:spPr>
      </p:sp>
      <p:sp>
        <p:nvSpPr>
          <p:cNvPr id="6" name="Shape 4"/>
          <p:cNvSpPr/>
          <p:nvPr/>
        </p:nvSpPr>
        <p:spPr>
          <a:xfrm>
            <a:off x="11036808" y="33238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تَبَٰرَكَ اسْمُ رَبِّكَ ذِي الْجَلَٰلِ وَالْإِكْرَامِ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تعاظم وكثرت بركة اسم ربك صاحب العظمة والإكرام.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القمر</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٥٥</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أنس بن مالك: سأل أهل مكة النبي صلى الله عليه وسلم أن يريهم آية، فأراهم انشقاق القمر فرقتين، فنزلت: ﴿اقتربت الساعة وانشقّ القمر﴾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قرب الساعة، ومعجزة انشقاق القمر، وقصص الأمم المكذّبة، وتيسير القرآن للذكر.</a:t>
            </a:r>
            <a:endParaRPr lang="ar-SA"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اقْتَرَبَتِ السَّاعَةُ وَانشَقَّ الْقَمَرُ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قربت القيامة، وانشقّ القمر فلقتين معجزةً للنبي صلى الله عليه وسلم، كما في الصحيحين.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يَرَوْاْ ءَايَةً يُعْرِضُواْ وَيَقُولُواْ سِحْرٌ مُّسْتَمِرٌّ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يرَ المشركون معجزة يُعرضوا، ويقولوا: سحر ذاهب باطل.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وَكَذَّبُواْ وَاتَّبَعُواْ أَهْوَآءَهُمْ وَكُلُّ أَمْرٍ مُّسْتَقِرٌّ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وكذّبوا واتبعوا أهواءهم، وكل أمر ينتهي إلى غاية ثابتة.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جَآءَهُم مِّنَ الْأَنبَآءِ مَا فِيهِ مُزْدَجَرٌ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جاءهم من أخبار الأمم المهلكة ما فيه زجر 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حِكْمَةٌ بَٰلِغَةٌ فَمَا تُغْنِ النُّذُرُ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حكمة تامة، فما تنفع النذر المعرضين.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فَتَوَلَّ عَنْهُمْ يَوْمَ يَدْعُ الدَّاعِ إِلَىٰ شَيْءٍ نُّكُرٍ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 عنهم يا محمد، يوم يدعو الداعي إلى أمر فظيع، وهو موقف الحساب.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خُشَّعًا أَبْصَٰرُهُمْ يَخْرُجُونَ مِنَ الْأَجْدَاثِ كَأَنَّهُمْ جَرَادٌ مُّنتَشِرٌ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أبصارهم ذليلة، يخرجون من القبور كأنهم جراد منتشر.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مُّهْطِعِينَ إِلَى الدَّاعِ يَقُولُ الْكَٰفِرُونَ هَٰذَا يَوْمٌ عَسِرٌ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مسرعين إلى الداعي، يقول الكافرون: هذا يوم صعب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قَبْلَهُمْ قَوْمُ نُوحٍ فَكَذَّبُواْ عَبْدَنَا وَقَالُواْ مَجْنُونٌ وَازْدُجِرَ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قبلهم قوم نوح، فكذّبوا نوحًا وقالوا: مجنون، وزجروه وهدّدوه.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فَدَعَا رَبَّهُ أَنِّي مَغْلُوبٌ فَانتَصِرْ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فدعا ربه: إني مغلوب فانتصر لي.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فَفَتَحْنَآ أَبْوَٰبَ السَّمَآءِ بِمَآءٍ مُّنْهَمِرٍ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ففتحنا أبواب السماء بماء غزير.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وَفَجَّرْنَا الْأَرْضَ عُيُونًا فَالْتَقَى الْمَآءُ عَلَىٰ أَمْرٍ قَدْ قُدِرَ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وشققنا الأرض عيونًا، فالتقى ماء السماء وماء الأرض على أمر قدّره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وَحَمَلْنَٰهُ عَلَىٰ ذَاتِ أَلْوَٰحٍ وَدُسُرٍ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وحملنا نوحًا على سفينة ذات ألواح ومسامير.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تَجْرِي بِأَعْيُنِنَا جَزَآءً لِّمَن كَانَ كُفِرَ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تجري بحفظنا ورعايتنا، جزاءً لنوح الذي كُذّب.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تَّرَكْنَٰهَآ ءَايَةً فَهَلْ مِن مُّدَّكِرٍ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تركنا هذه الحادثة عبرة، فهل من متّعظ؟</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فَكَيْفَ كَانَ عَذَابِي وَنُذُرِ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فكيف كان عذابي وإنذاري لمن كذّب؟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يَسَّرْنَا الْقُرْءَانَ لِلذِّكْرِ فَهَلْ مِن مُّدَّكِرٍ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سهّلنا القرآن للحفظ والفهم والاتعاظ، فهل من متّعظ؟ وتكررت هذه الآية أربع مرات في السورة.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عَادٌ فَكَيْفَ كَانَ عَذَابِي وَنُذُرِ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قبيلة عاد نبيّها هودًا، فكيف كان عذابي وإنذاري؟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أَرْسَلْنَا عَلَيْهِمْ رِيحًا صَرْصَرًا فِي يَوْمِ نَحْسٍ مُّسْتَمِرٍّ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أرسلنا عليهم ريحًا شديدة البرد، في يوم شؤم مستمر عليهم.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تَنزِعُ النَّاسَ كَأَنَّهُمْ أَعْجَازُ نَخْلٍ مُّنقَعِرٍ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تقتلع الناس وترميهم كأنهم أصول نخل مقلوعة.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فَكَيْفَ كَانَ عَذَابِي وَنُذُرِ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فكيف كان عذابي وإنذاري؟</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يَسَّرْنَا الْقُرْءَانَ لِلذِّكْرِ فَهَلْ مِن مُّدَّكِرٍ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سهّلنا القرآن للحفظ والفهم والاتعاظ، فهل من متّعظ؟</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ثَمُودُ بِالنُّذُرِ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ثمود بالرسل.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فَقَالُواْ أَبَشَرًا مِّنَّا وَٰحِدًا نَّتَّبِعُهُ إِنَّآ إِذًا لَّفِي ضَلَٰلٍ وَسُعُرٍ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فقالوا: أنتّبع بشرًا واحدًا منا؟ إنا إذًا لفي خطأ وجنون.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أَءُلْقِيَ الذِّكْرُ عَلَيْهِ مِن بَيْنِنَا بَلْ هُوَ كَذَّابٌ أَشِرٌ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أخُصّ بالوحي من بيننا؟ بل هو كذّاب متكبّر.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سَيَعْلَمُونَ غَدًا مَّنِ الْكَذَّابُ الْأَشِرُ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سيعلمون عند العذاب من الكذّاب المتكبّر.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مُرْسِلُواْ النَّاقَةِ فِتْنَةً لَّهُمْ فَارْتَقِبْهُمْ وَاصْطَبِرْ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مخرجو الناقة من الصخرة اختبارًا لهم، فانتظر يا صالح واصبر.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وَنَبِّئْهُمْ أَنَّ الْمَآءَ قِسْمَةٌ بَيْنَهُمْ كُلُّ شِرْبٍ مُّحْتَضَرٌ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وأخبرهم أن الماء مقسوم بينهم وبين الناقة، لكلٍّ يومه.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فَنَادَوْاْ صَاحِبَهُمْ فَتَعَاطَىٰ فَعَقَرَ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فنادوا صاحبهم فتناول السيف فعقر الناقة.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فَكَيْفَ كَانَ عَذَابِي وَنُذُرِ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فكيف كان عذابي وإنذاري؟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أَرْسَلْنَا عَلَيْهِمْ صَيْحَةً وَٰحِدَةً فَكَانُواْ كَهَشِيمِ الْمُحْتَظِرِ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أرسلنا عليهم صيحة واحدة، فصاروا كالحشيش اليابس المتكسّر.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يَسَّرْنَا الْقُرْءَانَ لِلذِّكْرِ فَهَلْ مِن مُّدَّكِرٍ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سهّلنا القرآن للحفظ والفهم والاتعاظ، فهل من متّعظ؟</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قَوْمُ لُوطٍ بِالنُّذُرِ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قوم لوط بالرسل.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أَرْسَلْنَا عَلَيْهِمْ حَاصِبًا إِلَّآ ءَالَ لُوطٍ نَّجَّيْنَٰهُم بِسَحَرٍ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أرسلنا عليهم ريحًا ترميهم بالحجارة، إلا أهل لوط المؤمنين أنجيناهم آخر الليل.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نِّعْمَةً مِّنْ عِندِنَا كَذَٰلِكَ نَجْزِي مَن شَكَرَ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إنعامًا منا عليهم، كذلك نجزي من شكر.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أَنذَرَهُم بَطْشَتَنَا فَتَمَارَوْاْ بِالنُّذُرِ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خوّفهم لوط عقوبتنا، فشكّوا في الإنذار وكذّبوا.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رَٰوَدُوهُ عَن ضَيْفِهِ فَطَمَسْنَآ أَعْيُنَهُمْ فَذُوقُواْ عَذَابِي وَنُذُرِ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طلبوا منه أن يسلّمهم ضيوفه -وهم ملائكة- فأعمينا أعينهم، فذوقوا عذابي وإنذاري.</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صَبَّحَهُم بُكْرَةً عَذَابٌ مُّسْتَقِرٌّ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جاءهم وقت الصباح عذاب دائم.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فَذُوقُواْ عَذَابِي وَنُذُرِ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فذوقوا عذابي وإنذاري.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يَسَّرْنَا الْقُرْءَانَ لِلذِّكْرِ فَهَلْ مِن مُّدَّكِرٍ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سهّلنا القرآن للحفظ والفهم والاتعاظ، فهل من متّعظ؟</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جَآءَ ءَالَ فِرْعَوْنَ النُّذُرُ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جاء فرعون وقومه الإنذار على لسان موسى وهارون.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كَذَّبُواْ بِـَٔايَٰتِنَا كُلِّهَا فَأَخَذْنَٰهُمْ أَخْذَ عَزِيزٍ مُّقْتَدِرٍ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كذّبوا بآياتنا كلها، فأهلكناهم إهلاك عزيز قادر.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أَكُفَّارُكُمْ خَيْرٌ مِّنْ أُوْلَـٰئِكُمْ أَمْ لَكُم بَرَآءَةٌ فِي الزُّبُرِ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أكفاركم يا أهل مكة خير من أولئك المهلَكين؟ أم لكم براءة من العذاب في الكتب؟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نَحْنُ جَمِيعٌ مُّنتَصِرٌ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يقولون: نحن جماعة قوية منتصرة؟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سَيُهْزَمُ الْجَمْعُ وَيُوَلُّونَ الدُّبُرَ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سيُهزم جمعهم ويولّون الأدبار، وقد كان ذلك يوم بدر.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السَّاعَةُ مَوْعِدُهُمْ وَالسَّاعَةُ أَدْهَىٰ وَأَمَرُّ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القيامة موعد عذابهم، والقيامة أعظم وأشدّ مرارة.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الْمُجْرِمِينَ فِي ضَلَٰلٍ وَسُعُرٍ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المجرمين في ضلال في الدنيا، ونار مشتعلة في الآخرة.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يُسْحَبُونَ فِي النَّارِ عَلَىٰ وُجُوهِهِمْ ذُوقُواْ مَسَّ سَقَرَ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يُجرّون في النار على وجوههم، ويُقال لهم: ذوقوا حرّ جهنم.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كُلَّ شَيْءٍ خَلَقْنَٰهُ بِقَدَرٍ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كل شيء خلقناه بتقدير سابق.</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أَمْرُنَآ إِلَّا وَٰحِدَةٌ كَلَمْحٍ بِالْبَصَرِ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أمرنا إذا أردنا شيئًا إلا كلمة واحدة: كن، فيكون كلمح البصر.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أَهْلَكْنَآ أَشْيَاعَكُمْ فَهَلْ مِن مُّدَّكِرٍ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أهلكنا أمثالكم من الأمم الكافرة، فهل من متّعظ؟</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وَكُلُّ شَيْءٍ فَعَلُوهُ فِي الزُّبُرِ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وكل شيء عملوه مكتوب في كتب الملائكة.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وَكُلُّ صَغِيرٍ وَكَبِيرٍ مُّسْتَطَرٌ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وكل صغير وكبير من أعمالهم مكتوب.</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الْمُتَّقِينَ فِي جَنَّـٰتٍ وَنَهَرٍ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المتقين في جنات وأنهار.</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مَقْعَدِ صِدْقٍ عِندَ مَلِيكٍ مُّقْتَدِرٍ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مجلس حق، عند الله الملك القادر.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النجم</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٦٢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لها سبب نزول خاص مشهور. وهي أول سورة نزلت فيها سجدة، قرأها النبي صلى الله عليه وسلم بمكة فسجد، وسجد من كان معه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صدق الوحي ونزول جبريل على النبي صلى الله عليه وسلم، وقصة المعراج، وإبطال عبادة الأصنام، وأن الجزاء بحسب العمل.</a:t>
            </a:r>
            <a:endParaRPr lang="ar-SA"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وَالنَّجْمِ إِذَا هَوَىٰ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بالنجم إذا غاب.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ضَلَّ صَاحِبُكُمْ وَمَا غَوَىٰ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ضلّ محمد صلى الله عليه وسلم عن الحق، وما خرج عن الرشد.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يَنطِقُ عَنِ الْهَوَىٰ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يتكلم عن هوى نفسه.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هُوَ إِلَّا وَحْيٌ يُوحَىٰ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هو إلا وحي من الله يُوحى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عَلَّمَهُ شَدِيدُ الْقُوَىٰ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علّمه جبريل الشديد القوة.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ذُو مِرَّةٍ فَاسْتَوَىٰ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صاحب قوة وخلق حسن، فظهر على صورته الحقيقية.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بِالْأُفُقِ الْأَعْلَىٰ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في الأفق الأعلى من السماء.</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دَنَا فَتَدَلَّىٰ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اقترب جبريل من النبي صلى الله عليه وسلم فنزل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فَكَانَ قَابَ قَوْسَيْنِ أَوْ أَدْنَىٰ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فكان قريبًا منه مقدار قوسين أو أقرب.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فَأَوْحَىٰ إِلَىٰ عَبْدِهِ مَآ أَوْحَىٰ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فأوحى الله إلى عبده محمد صلى الله عليه وسلم بواسطة جبريل ما أوحى.</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كَذَبَ الْفُؤَادُ مَا رَأَىٰ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كذّب قلب محمد صلى الله عليه وسلم ما رآه ببصره.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أَفَتُمَٰرُونَهُ عَلَىٰ مَا يَرَىٰ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أفتجادلونه على ما رآه؟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رَءَاهُ نَزْلَةً أُخْرَىٰ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رأى جبريل على صورته مرة أخرى ليلة المعراج.</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عِندَ سِدْرَةِ الْمُنتَهَىٰ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عند سدرة المنتهى في السماء السابعة.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عِندَهَا جَنَّةُ الْمَأْوَىٰ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عندها جنة المأوى.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يَغْشَى السِّدْرَةَ مَا يَغْشَىٰ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يغطّي السدرة من أمر الله أمر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زَاغَ الْبَصَرُ وَمَا طَغَىٰ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مال بصره صلى الله عليه وسلم يمينًا ولا شمالًا، وما تجاوز ما أُمر به.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رَأَىٰ مِنْ ءَايَٰتِ رَبِّهِ الْكُبْرَىٰ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رأى من آيات ربه العظيمة.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أَفَرَءَيْتُمُ اللَّـٰتَ وَالْعُزَّىٰ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أخبروني أيها المشركون عن أصنامكم: اللات والعزّى.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وَمَنَوٰةَ الثَّالِثَةَ الْأُخْرَىٰ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ومناة الثالثة، هل تنفع أو تضر؟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أَلَكُمُ الذَّكَرُ وَلَهُ الْأُنثَىٰ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أتجعلون لكم الذكور، ولله البنات؟</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إِذًا قِسْمَةٌ ضِيزَىٰ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إذًا قسمة جائرة.</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هِيَ إِلَّآ أَسْمَآءٌ سَمَّيْتُمُوهَآ أَنتُمْ وَءَابَآؤُكُم مَّآ أَنزَلَ اللَّهُ بِهَا مِن سُلْطَٰنٍ إِن يَتَّبِعُونَ إِلَّا الظَّنَّ وَمَا تَهْوَى الْأَنفُسُ وَلَقَدْ جَآءَهُم مِّن رَّبِّهِمُ الْهُدَىٰ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هذه الأصنام إلا أسماء سمّيتموها أنتم وآباؤكم، ما أنزل الله بها من حجة، إن يتّبعون إلا الظن وما تهواه الأنفس، ولقد جاءهم الهدى من ربهم.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لِلْإِنسَٰنِ مَا تَمَنَّىٰ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للإنسان كل ما يتمنّى؟</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فَلِلَّهِ الْأخِرَةُ وَالْأُولَىٰ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فلله الآخرة والدنيا.</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وَكَم مِّن مَّلَكٍ فِي السَّمَٰوَٰتِ لَا تُغْنِي شَفَٰعَتُهُمْ شَيْـًٔا إِلَّا مِن بَعْدِ أَن يَأْذَنَ اللَّهُ لِمَن يَشَآءُ وَيَرْضَىٰ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من ملك في السماوات لا تنفع شفاعتهم شيئًا، إلا بعد أن يأذن الله لمن يشاء ويرضى.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لَا يُؤْمِنُونَ بِالْأخِرَةِ لَيُسَمُّونَ الْمَلَـٰئِكَةَ تَسْمِيَةَ الْأُنثَىٰ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لا يؤمنون بالآخرة يسمّون الملائكة بنات الله.</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لَهُم بِهِ مِنْ عِلْمٍ إِن يَتَّبِعُونَ إِلَّا الظَّنَّ وَإِنَّ الظَّنَّ لَا يُغْنِي مِنَ الْحَقِّ شَيْـًٔا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لهم بذلك علم، إن يتّبعون إلا الظن، والظن لا يقوم مقام الحق.</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فَأَعْرِضْ عَن مَّن تَوَلَّىٰ عَن ذِكْرِنَا وَلَمْ يُرِدْ إِلَّا الْحَيَوٰةَ الدُّنْيَا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 عمن أعرض عن القرآن ولم يُرد إلا الدنيا.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مَبْلَغُهُم مِّنَ الْعِلْمِ إِنَّ رَبَّكَ هُوَ أَعْلَمُ بِمَن ضَلَّ عَن سَبِيلِهِ وَهُوَ أَعْلَمُ بِمَنِ اهْتَدَىٰ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منتهى علمهم، إن ربك أعلم بمن ضلّ ومن اهتدى.</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لِيَجْزِيَ الَّذِينَ أَسَـٰـُٔواْ بِمَا عَمِلُواْ وَيَجْزِيَ الَّذِينَ أَحْسَنُواْ بِالْحُسْنَى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ما في السماوات والأرض، ليجزي المسيئين بعملهم، ويجزي المحسنين بالجنة.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يَجْتَنِبُونَ كَبَـٰئِرَ الْإِثْمِ وَالْفَوَٰحِشَ إِلَّا اللَّمَمَ إِنَّ رَبَّكَ وَٰسِعُ الْمَغْفِرَةِ هُوَ أَعْلَمُ بِكُمْ إِذْ أَنشَأَكُم مِّنَ الْأَرْضِ وَإِذْ أَنتُمْ أَجِنَّةٌ فِي بُطُونِ أُمَّهَٰتِكُمْ فَلَا تُزَكُّواْ أَنفُسَكُمْ هُوَ أَعْلَمُ بِمَنِ اتَّقَىٰ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يجتنبون كبائر الذنوب والفواحش إلا صغائر الذنوب، إن ربك واسع المغفرة، فلا تمدحوا أنفسكم، هو أعلم بمن اتقى.</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أَفَرَءَيْتَ الَّذِي تَوَلَّىٰ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أفرأيت الذي أعرض عن الطاعة؟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وَأَعْطَىٰ قَلِيلًا وَأَكْدَىٰ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وأعطى قليلًا من المال ثم قطع العطاء.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أَعِندَهُ عِلْمُ الْغَيْبِ فَهُوَ يَرَىٰ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أعنده علم الغيب فهو يرى ما ينتظره؟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لَمْ يُنَبَّأْ بِمَا فِي صُحُفِ 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لم يُخبَر بما في صحف موسى؟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وَإِبْرَٰهِيمَ الَّذِي وَفَّىٰ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وصحف إبراهيم الذي وفّى بما أُمر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تَزِرُ وَازِرَةٌ وِزْرَ أُخْرَىٰ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أنه لا تحمل نفس ذنب نفس أخرى.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لَّيْسَ لِلْإِنسَٰنِ إِلَّا مَا سَعَىٰ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وأنه ليس للإنسان إلا ثواب عمله.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سَعْيَهُ سَوْفَ يُرَىٰ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عمله سوف يُرى يوم القيامة.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يُجْزَىٰهُ الْجَزَآءَ الْأَوْفَىٰ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يُجزى عليه الجزاء الكامل.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إِلَىٰ رَبِّكَ الْمُنتَهَىٰ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إلى ربك المرجع والمصير.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هُوَ أَضْحَكَ وَأَبْكَىٰ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وأنه هو أضحك من شاء وأبكى من شاء.</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هُوَ أَمَاتَ وَأَحْيَا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وأنه هو أمات وأحيا.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خَلَقَ الزَّوْجَيْنِ الذَّكَرَ وَالْأُنثَىٰ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وأنه خلق الصنفين: الذكر والأنثى.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نُّطْفَةٍ إِذَا تُمْنَىٰ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نطفة إذا صُبّت في الرحم.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عَلَيْهِ النَّشْأَةَ الْأُخْرَىٰ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عليه إعادة الخلق للبعث.</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هُوَ أَغْنَىٰ وَأَقْنَىٰ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وأنه هو أغنى من شاء، وأعطاه ما يدّخره.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هُوَ رَبُّ الشِّعْرَىٰ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وأنه هو ربّ الشِّعرى، وهي نجم كان بعض العرب يعبده.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أَهْلَكَ عَادًا 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وأنه أهلك عادًا الأولى.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وَثَمُودَاْ فَمَآ أَبْقَىٰ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وثمود فما أبقى منهم أحدًا.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وَقَوْمَ نُوحٍ مِّن قَبْلُ إِنَّهُمْ كَانُواْ هُمْ أَظْلَمَ وَأَطْغَىٰ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وقوم نوح من قبلهم، إنهم كانوا أشدّ ظلمًا وطغيانًا.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وَالْمُؤْتَفِكَةَ أَهْوَىٰ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وقرى قوم لوط قلبها وأسقطها.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فَغَشَّىٰهَا مَا غَشَّىٰ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فغطّاها من الحجارة ما غطّاها.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ءَالَآءِ رَبِّكَ تَتَمَارَىٰ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فبأيّ نعم ربك أيها الإنسان تشكّ؟</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نَذِيرٌ مِّنَ النُّذُرِ 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محمد صلى الله عليه وسلم منذر كالرسل السابقين.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أَزِفَتِ الْأزِفَةُ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قربت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لَهَا مِن دُونِ اللَّهِ كَاشِفَةٌ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يكشف وقتها ولا يدفعها إلا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هَٰذَا الْحَدِيثِ تَعْجَبُونَ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هذا القرآن تتعجّبون؟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وَتَضْحَكُونَ وَلَا تَبْكُونَ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وتضحكون استهزاءً ولا تبكون خوفًا؟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وَأَنتُمْ سَٰمِدُونَ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وأنتم لاهون غافلون.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النجم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3214116"/>
            <a:ext cx="548640" cy="548640"/>
          </a:xfrm>
          <a:prstGeom prst="star8">
            <a:avLst/>
          </a:prstGeom>
          <a:solidFill>
            <a:schemeClr val="accent2"/>
          </a:solidFill>
          <a:ln/>
        </p:spPr>
      </p:sp>
      <p:sp>
        <p:nvSpPr>
          <p:cNvPr id="6" name="Shape 4"/>
          <p:cNvSpPr/>
          <p:nvPr/>
        </p:nvSpPr>
        <p:spPr>
          <a:xfrm>
            <a:off x="11036808" y="33238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فَاسْجُدُواْ لِلَّهِ وَاعْبُدُواْ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فاسجدوا لله واعبدوه وحده. (وهنا موضع سجدة)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الطور</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٤٩</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لها سبب نزول خاص مشهور. وقال جبير بن مطعم: سمعت النبي صلى الله عليه وسلم يقرأ في المغرب بالطور، فلما بلغ ﴿أم خُلقوا من غير شيء أم هم الخالقون﴾ كاد قلبي أن يطير، وكان ذلك أول ما وقر الإيمان في قلبي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وقوع العذاب على المكذّبين، ووصف نعيم المتقين، والردّ على شبهات المشركين بأسئلة تقيم الحجة عليهم.</a:t>
            </a:r>
            <a:endParaRPr lang="ar-SA" sz="1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وَالطُّورِ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بجبل الطور الذي كلّم عليه موسى.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وَكِتَٰبٍ مَّسْطُورٍ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وبكتاب مكتوب.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رَقٍّ مَّنشُورٍ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صحف منشورة.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وَالْبَيْتِ الْمَعْمُورِ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وبالبيت المعمور في السماء السابعة، يدخله كل يوم سبعون ألف ملك (الصحيحين).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وَالسَّقْفِ الْمَرْفُوعِ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وبالسماء المرفوعة.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وَالْبَحْرِ الْمَسْجُورِ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وبالبحر الموقَد يوم القيامة نارًا.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عَذَابَ رَبِّكَ لَوَٰقِعٌ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عذاب ربك للكفار لواقع.</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لَهُ مِن دَافِعٍ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له من يدفعه.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تَمُورُ السَّمَآءُ مَوْرًا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تضطرب السماء وتتحرك.</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وَتَسِيرُ الْجِبَالُ 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وتسير الجبال عن أماكنها.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فهلاكٌ يومئذ للمكذّبين.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هُمْ فِي خَوْضٍ يَلْعَبُونَ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هم في الباطل يلهون.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يُدَعُّونَ إِلَىٰ نَارِ جَهَنَّمَ دَعًّا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يُدفعون إلى نار جهنم دفعًا شديدًا.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هَٰذِهِ النَّارُ الَّتِي كُنتُم بِهَا تُكَذِّبُونَ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هذه النار التي كنتم تكذّبون بها.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أَفَسِحْرٌ هَٰذَآ أَمْ أَنتُمْ لَا تُبْصِرُونَ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أفسحرٌ هذا الذي ترونه؟ أم أنتم لا تبصرون؟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اصْلَوْهَا فَاصْبِرُواْ أَوْ لَا تَصْبِرُواْ سَوَآءٌ عَلَيْكُمْ إِنَّمَا تُجْزَوْنَ 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ادخلوها، فاصبروا أو لا تصبروا، سواء عليكم، إنما تُجزون بأعمالكم.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الْمُتَّقِينَ فِي جَنَّـٰتٍ وَنَعِيمٍ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المتقين في جنات ونعيم.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فَٰكِهِينَ بِمَآ ءَاتَىٰهُمْ رَبُّهُمْ وَوَقَىٰهُمْ رَبُّهُمْ عَذَابَ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متنعّمين بما أعطاهم ربهم، ووقاهم عذاب النار.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كُلُواْ وَاشْرَبُواْ هَنِيـًٔا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كلوا واشربوا هنيئًا بما كنتم تعملون.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مُتَّكِـِٔينَ عَلَىٰ سُرُرٍ مَّصْفُوفَةٍ وَزَوَّجْنَٰهُم بِحُورٍ 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متكئين على أسرّة مصفوفة، وزوّجناهم بنساء حسان واسعات العيون.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وَاتَّبَعَتْهُمْ ذُرِّيَّتُهُم بِإِيمَٰنٍ أَلْحَقْنَا بِهِمْ ذُرِّيَّتَهُمْ وَمَآ أَلَتْنَٰهُم مِّنْ عَمَلِهِم مِّن شَيْءٍ كُلُّ امْرِيٍٕ بِمَا كَسَبَ رَهِينٌ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والمؤمنون الذين اتّبعتهم ذريتهم في الإيمان، نُلحق بهم ذريتهم في منزلتهم في الجنة وإن قصّر عملهم، وما نقصنا الآباء من أجرهم شيئًا.</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وَأَمْدَدْنَٰهُم بِفَٰكِهَةٍ وَلَحْمٍ مِّمَّا يَشْتَهُونَ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وزدناهم فاكهة ولحمًا مما يشتهون.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يَتَنَٰزَعُونَ فِيهَا كَأْسًا لَّا لَغْوٌ فِيهَا وَلَا تَأْثِيمٌ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يتناولون فيها كأسًا، لا كلام باطل في شربها ولا إثم.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وَيَطُوفُ عَلَيْهِمْ غِلْمَانٌ لَّهُمْ كَأَنَّهُمْ لُؤْلُؤٌ مَّكْنُونٌ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ويدور عليهم غلمان لخدمتهم، كأنهم لؤلؤ مصون.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وَأَقْبَلَ بَعْضُهُمْ عَلَىٰ بَعْضٍ يَتَسَآءَلُونَ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وأقبل بعضهم على بعض يتحدّثون.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إِنَّا كُنَّا قَبْلُ فِي أَهْلِنَا مُشْفِقِينَ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إنا كنا في الدنيا بين أهلنا خائفين من الله.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اللَّهُ عَلَيْنَا وَوَقَىٰنَا عَذَابَ السَّمُومِ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فتفضّل الله علينا، ونجّانا من عذاب النار الحارّة.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كُنَّا مِن قَبْلُ نَدْعُوهُ إِنَّهُ هُوَ الْبَرُّ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كنا من قبل ندعوه، إنه هو المحسن الرحيم.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فَذَكِّرْ فَمَآ أَنتَ بِنِعْمَتِ رَبِّكَ بِكَاهِنٍ وَلَا 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فذكّر الناس يا محمد، فما أنت -بفضل ربك- بكاهن ولا مجنون.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شَاعِرٌ نَّتَرَبَّصُ بِهِ رَيْبَ الْمَنُونِ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يقولون: شاعر ننتظر به حوادث الموت؟</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تَرَبَّصُواْ فَإِنِّي مَعَكُم مِّنَ الْمُتَرَبِّصِينَ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انتظروا، فإني منتظر معكم.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تَأْمُرُهُمْ أَحْلَٰمُهُم بِهَٰذَآ أَمْ هُمْ قَوْمٌ طَاغُونَ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تأمرهم عقولهم بهذا القول؟ بل هم قوم متجاوزون للحد.</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تَقَوَّلَهُ بَل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يقولون: اختلق القرآن؟ بل لا يؤمنون.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فَلْيَأْتُواْ بِحَدِيثٍ مِّثْلِهِ إِن كَانُواْ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فليأتوا بكلام مثله إن كانوا صادقين.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خُلِقُواْ مِنْ غَيْرِ شَيْءٍ أَمْ هُمُ الْخَٰلِقُونَ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خُلقوا من غير خالق؟ أم هم الخالقون لأنفسهم؟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خَلَقُواْ السَّمَٰوَٰتِ وَالْأَرْضَ بَل لَّا يُوقِنُونَ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خلقوا السماوات والأرض؟ بل لا يوقنون.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عِندَهُمْ خَزَآئِنُ رَبِّكَ أَمْ هُمُ الْمُصَيْطِرُونَ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عندهم خزائن ربك؟ أم هم المتسلّطون؟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لَهُمْ سُلَّمٌ يَسْتَمِعُونَ فِيهِ فَلْيَأْتِ مُسْتَمِعُهُم بِسُلْطَٰنٍ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لهم سُلّم يصعدون به إلى السماء فيستمعون الوحي؟ فليأتِ مستمعهم بحجة واضحة.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لَهُ الْبَنَٰتُ وَلَكُمُ الْبَنُونَ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لله البنات ولكم البنون؟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تَسْـَٔلُهُمْ أَجْرًا فَهُم مِّن مَّغْرَمٍ مُّثْقَلُونَ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تطلب منهم أجرًا فهم مثقلون به؟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عِندَهُمُ الْغَيْبُ فَهُمْ يَكْتُبُونَ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عندهم علم الغيب فهم يكتبونه؟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يُرِيدُونَ كَيْدًا فَالَّذِينَ كَفَرُواْ هُمُ الْمَكِيدُونَ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يريدون مكرًا بك؟ فالكفار هم الذين يعود عليهم المكر.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لَهُمْ إِلَٰهٌ غَيْرُ اللَّهِ سُبْحَٰنَ اللَّهِ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لهم إله غير الله؟ سبحان الله عما يشركون.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يَرَوْاْ كِسْفًا مِّنَ السَّمَآءِ سَاقِطًا يَقُولُواْ سَحَابٌ مَّرْكُومٌ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يروا قطعة من السماء ساقطة عليهم عذابًا يقولوا: هذا سحاب متراكم.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فَذَرْهُمْ حَتَّىٰ يُلَٰقُواْ يَوْمَهُمُ الَّذِي فِيهِ يُصْعَقُونَ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فاتركهم حتى يلاقوا يوم القيامة الذي يُهلكون فيه.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لَا يُغْنِي عَنْهُمْ كَيْدُهُمْ شَيْـًٔا وَلَا هُمْ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لا ينفعهم مكرهم شيئًا، ولا يُنصرون.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لِلَّذِينَ ظَلَمُواْ عَذَابًا دُونَ ذَٰلِكَ وَلَٰكِنَّ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للظالمين عذابًا قبل ذلك في الدنيا والقبر، ولكن أكثرهم لا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الطور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وَاصْبِرْ لِحُكْمِ رَبِّكَ فَإِنَّكَ بِأَعْيُنِنَا وَسَبِّحْ بِحَمْدِ رَبِّكَ حِينَ تَقُومُ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واصبر لحكم ربك، فإنك بحفظنا ورعايتنا، وسبّح بحمد ربك حين تقوم من مجلسك أو نومك.</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الَّيْلِ فَسَبِّحْهُ وَإِدْبَٰرَ النُّجُومِ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الليل فسبّحه، ووقت غياب النجوم آخر الليل، وهما ركعتا الفجر.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الذاريات</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٣١ – ٦٠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يبدأ هذا الجزء من الآية ٣١: قصة ضيف إبراهيم وهلاك قوم لوط، وعِبَر الأمم المكذّبة، وبيان أن الحكمة من خلق الجن والإنس عبادة الله وحده.</a:t>
            </a:r>
            <a:endParaRPr lang="ar-SA" sz="1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فَمَا خَطْبُكُمْ أَيُّهَا الْمُرْسَلُونَ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إبراهيم للملائكة: ما شأنكم أيها المرسلون؟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إِنَّآ أُرْسِلْنَآ إِلَىٰ قَوْمٍ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إنا أُرسلنا إلى قوم مجرمين، وهم قوم لوط.</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لِنُرْسِلَ عَلَيْهِمْ حِجَارَةً مِّن 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لنرسل عليهم حجارة من طين متحجّر.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مُّسَوَّمَةً عِندَ رَبِّكَ لِلْمُسْرِفِينَ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معلَّمة عند ربك للمتجاوزين للحد.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فَأَخْرَجْنَا مَن كَانَ فِيهَا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فأخرجنا من كان في قرى قوم لوط من المؤمنين.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وَجَدْنَا فِيهَا غَيْرَ بَيْتٍ مِّنَ الْمُسْلِمِينَ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وجدنا فيها غير بيت واحد من المسلمين، وهو بيت لوط.</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وَتَرَكْنَا فِيهَآ ءَايَةً لِّلَّذِينَ يَخَافُونَ الْعَذَابَ الْأَلِيمَ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وتركنا فيها علامة على هلاكهم، لمن يخاف العذاب المؤلم.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وَفِي مُوسَىٰ إِذْ أَرْسَلْنَٰهُ إِلَىٰ فِرْعَوْنَ بِسُلْطَٰنٍ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قصة موسى عبرة، إذ أرسلناه إلى فرعون بحجة واضحة.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فَتَوَلَّىٰ بِرُكْنِهِ وَقَالَ سَٰحِرٌ أَوْ 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 فرعون معتمدًا على جنوده، وقال: ساحر أو مجنون.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فَأَخَذْنَٰهُ وَجُنُودَهُ فَنَبَذْنَٰهُمْ فِي الْيَمِّ وَهُوَ مُلِيمٌ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فأخذناه وجنوده فألقيناهم في البحر، وهو آتٍ بما يُلام عليه.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وَفِي عَادٍ إِذْ أَرْسَلْنَا عَلَيْهِمُ الرِّيحَ الْعَقِيمَ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قوم عاد عبرة، إذ أرسلنا عليهم الريح التي لا خير فيها.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تَذَرُ مِن شَيْءٍ أَتَتْ عَلَيْهِ إِلَّا جَعَلَتْهُ كَالرَّمِيمِ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تترك شيئًا تمرّ عليه إلا جعلته كالشيء البالي.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وَفِي ثَمُودَ إِذْ قِيلَ لَهُمْ تَمَتَّعُواْ حَتَّىٰ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ثمود عبرة، إذ قيل لهم: تمتّعوا إلى وقت انتهاء آجالكم.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فَعَتَوْاْ عَنْ أَمْرِ رَبِّهِمْ فَأَخَذَتْهُمُ الصَّـٰعِقَةُ وَهُمْ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فتكبّروا عن أمر ربهم، فأخذتهم الصاعقة وهم ينظرون.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اسْتَطَٰعُواْ مِن قِيَامٍ وَمَا كَانُواْ مُنتَصِرِينَ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استطاعوا أن يقوموا، وما كانوا منتصرين.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وَقَوْمَ نُوحٍ مِّن قَبْلُ إِنَّهُمْ كَانُواْ قَوْمًا 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وأهلكنا قوم نوح من قبلهم، إنهم كانوا قومًا خارجين عن طاعة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وَالسَّمَآءَ بَنَيْنَٰهَا بِأَيْيْدٍ وَإِنَّا لَمُوسِعُونَ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والسماء بنيناها بقوة، وإنا لموسّعون لها.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وَالْأَرْضَ فَرَشْنَٰهَا فَنِعْمَ الْمَٰهِدُونَ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والأرض بسطناها، فنعم الماهدون نحن.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كُلِّ شَيْءٍ خَلَقْنَا زَوْجَيْنِ لَعَلَّكُمْ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كل شيء خلقنا صنفين، لعلكم تتذكرون.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فَفِرُّواْ إِلَى اللَّهِ إِنِّي لَكُم مِّنْهُ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فاهربوا من عذاب الله إلى رحمته بطاعته، إني لكم منذر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تَجْعَلُواْ مَعَ اللَّهِ إِلَٰهًا ءَاخَرَ إِنِّي لَكُم مِّنْهُ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تعبدوا مع الله إلهًا آخر، إني لكم منذر واضح.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مَآ أَتَى الَّذِينَ مِن قَبْلِهِم مِّن رَّسُولٍ إِلَّا قَالُواْ سَاحِرٌ أَوْ 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ما جاء الأمم السابقة رسول إلا قالوا: ساحر أو مجنون.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أَتَوَاصَوْاْ بِهِ بَلْ هُمْ قَوْمٌ طَاغُونَ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أأوصى بعضهم بعضًا بهذا القول؟ بل هم قوم متجاوزون للحد.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فَتَوَلَّ عَنْهُمْ فَمَآ أَنتَ بِمَلُومٍ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 عنهم، فما أنت بملوم.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وَذَكِّرْ فَإِنَّ الذِّكْرَىٰ تَنفَعُ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وذكّر، فإن التذكير ينفع المؤمنين.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خَلَقْتُ الْجِنَّ وَالْإِنسَ إِلَّا لِيَعْبُدُونِ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خلقت الجن والإنس إلا لعبادتي وحدي.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أُرِيدُ مِنْهُم مِّن رِّزْقٍ وَمَآ أُرِيدُ أَن يُطْعِمُونِ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أريد منهم رزقًا، ولا أريد أن يطعموني.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هُوَ الرَّزَّاقُ ذُو الْقُوَّةِ الْمَتِينُ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هو الرزّاق، صاحب القوة الشديدة.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لِلَّذِينَ ظَلَمُواْ ذَنُوبًا مِّثْلَ ذَنُوبِ أَصْحَٰبِهِمْ فَلَا يَسْتَعْجِلُونِ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للظالمين نصيبًا من العذاب مثل نصيب أمثالهم السابقين، فلا يستعجلوه.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فَوَيْلٌ لِّلَّذِينَ كَفَرُواْ مِن يَوْمِهِمُ الَّذِي يُوعَدُونَ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فهلاكٌ للكافرين من يوم القيامة الذي يوعدون.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pic>
        <p:nvPicPr>
          <p:cNvPr id="2" name="Image 0" descr="assets27/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7/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Adh-Dhariyat Tafsir">
  <a:themeElements>
    <a:clrScheme name="Juz Adh-Dhariyat Tafsir">
      <a:dk1>
        <a:srgbClr val="2A2430"/>
      </a:dk1>
      <a:lt1>
        <a:srgbClr val="FFFFFF"/>
      </a:lt1>
      <a:dk2>
        <a:srgbClr val="4B2A66"/>
      </a:dk2>
      <a:lt2>
        <a:srgbClr val="FAF7FB"/>
      </a:lt2>
      <a:accent1>
        <a:srgbClr val="4B2A66"/>
      </a:accent1>
      <a:accent2>
        <a:srgbClr val="C9A04A"/>
      </a:accent2>
      <a:accent3>
        <a:srgbClr val="6A3D8F"/>
      </a:accent3>
      <a:accent4>
        <a:srgbClr val="6A6272"/>
      </a:accent4>
      <a:accent5>
        <a:srgbClr val="EEE8F3"/>
      </a:accent5>
      <a:accent6>
        <a:srgbClr val="2F6B5E"/>
      </a:accent6>
      <a:hlink>
        <a:srgbClr val="6A3D8F"/>
      </a:hlink>
      <a:folHlink>
        <a:srgbClr val="6A6272"/>
      </a:folHlink>
    </a:clrScheme>
    <a:fontScheme name="Juz Adh-Dhariyat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124</Slides>
  <Notes>124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124</vt:i4>
      </vt:variant>
    </vt:vector>
  </HeadingPairs>
  <TitlesOfParts>
    <vt:vector size="1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الذاريات — مبسّط من تفسير ابن كثير</dc:title>
  <dc:subject>PptxGenJS Presentation</dc:subject>
  <dc:creator>معلم القرآن الكريم</dc:creator>
  <cp:lastModifiedBy>معلم القرآن الكريم</cp:lastModifiedBy>
  <cp:revision>1</cp:revision>
  <dcterms:created xsi:type="dcterms:W3CDTF">2026-10-03T20:48:25Z</dcterms:created>
  <dcterms:modified xsi:type="dcterms:W3CDTF">2026-10-03T20:48:25Z</dcterms:modified>
</cp:coreProperties>
</file>