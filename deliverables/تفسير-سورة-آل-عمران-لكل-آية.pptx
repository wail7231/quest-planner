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Lst>
  <p:notesMasterIdLst>
    <p:notesMasterId r:id="rId10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9a9a7a24-c42c-ff5a-874d-0b7edd7e630e}">
          <p14:sldIdLst>
            <p14:sldId id="256"/>
            <p14:sldId id="257"/>
            <p14:sldId id="258"/>
            <p14:sldId id="259"/>
          </p14:sldIdLst>
        </p14:section>
        <p14:section name="1. التوحيد والإيمان بالكتاب" id="{e6459415-efc3-69eb-4c65-7349c21e627a}">
          <p14:sldIdLst>
            <p14:sldId id="260"/>
            <p14:sldId id="261"/>
            <p14:sldId id="262"/>
            <p14:sldId id="263"/>
            <p14:sldId id="264"/>
          </p14:sldIdLst>
        </p14:section>
        <p14:section name="2. عاقبة الكافرين وزينة الدنيا" id="{ba8a32d9-6a1d-f244-39e2-791b12018015}">
          <p14:sldIdLst>
            <p14:sldId id="265"/>
            <p14:sldId id="266"/>
            <p14:sldId id="267"/>
            <p14:sldId id="268"/>
            <p14:sldId id="269"/>
            <p14:sldId id="270"/>
          </p14:sldIdLst>
        </p14:section>
        <p14:section name="3. الرد على أهل الكتاب واتباع الرسول" id="{118e9bcb-ceae-6ef5-c8a8-e000330040dc}">
          <p14:sldIdLst>
            <p14:sldId id="271"/>
            <p14:sldId id="272"/>
            <p14:sldId id="273"/>
            <p14:sldId id="274"/>
            <p14:sldId id="275"/>
            <p14:sldId id="276"/>
            <p14:sldId id="277"/>
          </p14:sldIdLst>
        </p14:section>
        <p14:section name="4. قصة آل عمران: مريم وزكريا وعيسى" id="{2017b6e4-c418-dfa9-e464-8e68275913b6}">
          <p14:sldIdLst>
            <p14:sldId id="278"/>
            <p14:sldId id="279"/>
            <p14:sldId id="280"/>
            <p14:sldId id="281"/>
            <p14:sldId id="282"/>
            <p14:sldId id="283"/>
            <p14:sldId id="284"/>
            <p14:sldId id="285"/>
            <p14:sldId id="286"/>
            <p14:sldId id="287"/>
            <p14:sldId id="288"/>
            <p14:sldId id="289"/>
            <p14:sldId id="290"/>
            <p14:sldId id="291"/>
            <p14:sldId id="292"/>
          </p14:sldIdLst>
        </p14:section>
        <p14:section name="5. دعوة أهل الكتاب إلى كلمة سواء" id="{d35fe1b8-495a-9958-6a20-453a936bffb2}">
          <p14:sldIdLst>
            <p14:sldId id="293"/>
            <p14:sldId id="294"/>
            <p14:sldId id="295"/>
            <p14:sldId id="296"/>
            <p14:sldId id="297"/>
            <p14:sldId id="298"/>
            <p14:sldId id="299"/>
            <p14:sldId id="300"/>
            <p14:sldId id="301"/>
            <p14:sldId id="302"/>
            <p14:sldId id="303"/>
            <p14:sldId id="304"/>
            <p14:sldId id="305"/>
            <p14:sldId id="306"/>
            <p14:sldId id="307"/>
            <p14:sldId id="308"/>
            <p14:sldId id="309"/>
          </p14:sldIdLst>
        </p14:section>
        <p14:section name="6. وحدة المسلمين وخير أمة" id="{50a77a6a-df02-5503-a5db-108b1ed65a38}">
          <p14:sldIdLst>
            <p14:sldId id="310"/>
            <p14:sldId id="311"/>
            <p14:sldId id="312"/>
            <p14:sldId id="313"/>
            <p14:sldId id="314"/>
            <p14:sldId id="315"/>
            <p14:sldId id="316"/>
            <p14:sldId id="317"/>
            <p14:sldId id="318"/>
            <p14:sldId id="319"/>
            <p14:sldId id="320"/>
          </p14:sldIdLst>
        </p14:section>
        <p14:section name="7. غزوة أُحُد والتذكير ببدر" id="{c667d54d-900c-674d-1832-9176a47bff54}">
          <p14:sldIdLst>
            <p14:sldId id="321"/>
            <p14:sldId id="322"/>
            <p14:sldId id="323"/>
            <p14:sldId id="324"/>
          </p14:sldIdLst>
        </p14:section>
        <p14:section name="8. صفات المتقين ودروس أُحُد" id="{a6b2a5be-6be6-ee02-771a-7f8c63f426d1}">
          <p14:sldIdLst>
            <p14:sldId id="325"/>
            <p14:sldId id="326"/>
            <p14:sldId id="327"/>
            <p14:sldId id="328"/>
            <p14:sldId id="329"/>
            <p14:sldId id="330"/>
            <p14:sldId id="331"/>
            <p14:sldId id="332"/>
            <p14:sldId id="333"/>
          </p14:sldIdLst>
        </p14:section>
        <p14:section name="9. أسباب الهزيمة وفضل الشهداء" id="{a6fbba76-b56a-5a48-6290-a9b6d9a322e6}">
          <p14:sldIdLst>
            <p14:sldId id="334"/>
            <p14:sldId id="335"/>
            <p14:sldId id="336"/>
            <p14:sldId id="337"/>
            <p14:sldId id="338"/>
            <p14:sldId id="339"/>
            <p14:sldId id="340"/>
            <p14:sldId id="341"/>
            <p14:sldId id="342"/>
            <p14:sldId id="343"/>
            <p14:sldId id="344"/>
            <p14:sldId id="345"/>
            <p14:sldId id="346"/>
            <p14:sldId id="347"/>
            <p14:sldId id="348"/>
          </p14:sldIdLst>
        </p14:section>
        <p14:section name="10. التفكّر في الخلق وخاتمة السورة" id="{e5aadbd9-7a76-07c4-286b-875ada2775c7}">
          <p14:sldIdLst>
            <p14:sldId id="349"/>
            <p14:sldId id="350"/>
            <p14:sldId id="351"/>
            <p14:sldId id="352"/>
            <p14:sldId id="353"/>
            <p14:sldId id="354"/>
            <p14:sldId id="355"/>
            <p14:sldId id="356"/>
            <p14:sldId id="357"/>
            <p14:sldId id="358"/>
            <p14:sldId id="359"/>
            <p14:sldId id="360"/>
            <p14:sldId id="361"/>
          </p14:sldIdLst>
        </p14:section>
        <p14:section name="الخاتمة" id="{bf23c037-898e-d473-f8de-d1ca9be9e37f}">
          <p14:sldIdLst>
            <p14:sldId id="3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notesMaster" Target="notesMasters/notesMaster1.xml"/><Relationship Id="rId110" Type="http://schemas.openxmlformats.org/officeDocument/2006/relationships/presProps" Target="presProps.xml"/><Relationship Id="rId111" Type="http://schemas.openxmlformats.org/officeDocument/2006/relationships/viewProps" Target="viewProps.xml"/><Relationship Id="rId112" Type="http://schemas.openxmlformats.org/officeDocument/2006/relationships/theme" Target="theme/theme1.xml"/><Relationship Id="rId1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قسّمنا السورة إلى عشرة مقاطع موضوعية، في أول كل مقطع شريحة فيها سبب النزول ومقصد المقطع، ثم تفسير آياته بالترتيب.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الدعاء الذي يدعو به الراسخون في العلم في الآية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صفات المتقين التي ذكرتها الآيتان 16 و17؟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علامة محبة الله الصادقة كما في الآية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كيف رزق الله مريم في المحراب؟ وما الذي تعلّمه زكريا من ذلك؟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«الكلمة السواء» التي دُعي إليها أهل الكتاب؟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لماذا كانت هذه الأمة «خير أمة أُخرجت للناس»؟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بكم من الملائكة أمدّ الله المؤمنين يوم بدر كما في الآيات؟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عدّد صفات المتقين في الآيتين 134 و135.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سبب ما أصاب المسلمين يوم أُحُد؟ وما الدرس لنا؟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يقول أولو الألباب حين يتفكرون في خلق السماوات والأرض؟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3/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rtl="1" algn="ctr" indent="0" marL="0">
              <a:buNone/>
              <a:defRPr lang="en-US" sz="30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3/bg_intro.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3626968" y="603504"/>
            <a:ext cx="4937760" cy="987552"/>
          </a:xfrm>
          <a:prstGeom prst="rect">
            <a:avLst/>
          </a:prstGeom>
          <a:noFill/>
          <a:ln/>
        </p:spPr>
        <p:txBody>
          <a:bodyPr wrap="square" rtlCol="0"/>
          <a:lstStyle>
            <a:lvl1pPr rtl="1" algn="ctr" indent="0" marL="0">
              <a:buNone/>
              <a:defRPr lang="en-US" sz="4800" b="1" dirty="0">
                <a:solidFill>
                  <a:schemeClr val="accent2"/>
                </a:solidFill>
                <a:latin typeface="Sakkal Majalla" pitchFamily="34" charset="0"/>
                <a:ea typeface="Sakkal Majalla" pitchFamily="34" charset="-122"/>
                <a:cs typeface="Sakkal Majalla" pitchFamily="34" charset="-120"/>
              </a:defRPr>
            </a:lvl1pPr>
          </a:lstStyle>
          <a:p>
            <a:pPr algn="ctr"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3/bg_dark.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rtlCol="0"/>
          <a:lstStyle>
            <a:lvl1pPr rtl="1" algn="ctr" indent="0" marL="0">
              <a:buNone/>
              <a:defRPr lang="en-US" sz="64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image" Target="../media/image-107-2.png"/><Relationship Id="rId3" Type="http://schemas.openxmlformats.org/officeDocument/2006/relationships/slideLayout" Target="../slideLayouts/slideLayout4.xml"/><Relationship Id="rId4" Type="http://schemas.openxmlformats.org/officeDocument/2006/relationships/notesSlide" Target="../notesSlides/notesSlide10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3/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تفسير سورة آل عمران</a:t>
            </a:r>
            <a:endParaRPr lang="en-US" sz="6400" dirty="0"/>
          </a:p>
        </p:txBody>
      </p:sp>
      <p:sp>
        <p:nvSpPr>
          <p:cNvPr id="4" name="Text 1"/>
          <p:cNvSpPr txBox="1"/>
          <p:nvPr/>
        </p:nvSpPr>
        <p:spPr>
          <a:xfrm>
            <a:off x="1097280" y="3657600"/>
            <a:ext cx="9997135" cy="502920"/>
          </a:xfrm>
          <a:prstGeom prst="rect">
            <a:avLst/>
          </a:prstGeom>
          <a:noFill/>
          <a:ln/>
        </p:spPr>
        <p:txBody>
          <a:bodyPr wrap="square" lIns="0" tIns="0" rIns="0" bIns="0" rtlCol="0" anchor="t"/>
          <a:lstStyle/>
          <a:p>
            <a:pPr rtl="1" algn="ctr" indent="0" marL="0">
              <a:buNone/>
            </a:pPr>
            <a:r>
              <a:rPr lang="ar-SA" altLang="en-US" sz="2400" b="1" dirty="0">
                <a:solidFill>
                  <a:schemeClr val="accent2"/>
                </a:solidFill>
              </a:rPr>
              <a:t>تفسيرٌ مبسّط لكل آية، مستفاد من تفسير الحافظ ابن كثير رحمه الله</a:t>
            </a:r>
            <a:endParaRPr lang="ar-SA" sz="2400" dirty="0"/>
          </a:p>
        </p:txBody>
      </p:sp>
      <p:pic>
        <p:nvPicPr>
          <p:cNvPr id="5" name="Image 1" descr="assets3/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rtl="1" algn="ctr" indent="0" marL="0">
              <a:buNone/>
            </a:pPr>
            <a:r>
              <a:rPr lang="ar-SA" altLang="en-US" sz="1800" dirty="0">
                <a:solidFill>
                  <a:schemeClr val="bg2"/>
                </a:solidFill>
              </a:rPr>
              <a:t>٢٠٠ آية  •  مدنية  •  ١٠ مقاطع مع أسباب النزول</a:t>
            </a:r>
            <a:endParaRPr lang="ar-SA"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الدرس</a:t>
            </a:r>
            <a:endParaRPr lang="en-US" sz="3000" dirty="0"/>
          </a:p>
        </p:txBody>
      </p:sp>
      <p:sp>
        <p:nvSpPr>
          <p:cNvPr id="3" name="Shape 1"/>
          <p:cNvSpPr/>
          <p:nvPr/>
        </p:nvSpPr>
        <p:spPr>
          <a:xfrm>
            <a:off x="626364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6492240" y="1645920"/>
            <a:ext cx="48463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الإمام ابن كثير رحمه الله</a:t>
            </a:r>
            <a:endParaRPr lang="ar-SA" sz="2400" dirty="0"/>
          </a:p>
        </p:txBody>
      </p:sp>
      <p:sp>
        <p:nvSpPr>
          <p:cNvPr id="5" name="Text 3"/>
          <p:cNvSpPr txBox="1"/>
          <p:nvPr/>
        </p:nvSpPr>
        <p:spPr>
          <a:xfrm>
            <a:off x="6492240" y="2286000"/>
            <a:ext cx="4846320" cy="3566160"/>
          </a:xfrm>
          <a:prstGeom prst="rect">
            <a:avLst/>
          </a:prstGeom>
          <a:noFill/>
          <a:ln/>
        </p:spPr>
        <p:txBody>
          <a:bodyPr wrap="square" lIns="0" tIns="0" rIns="0" bIns="0" rtlCol="0" anchor="t"/>
          <a:lstStyle/>
          <a:p>
            <a:pPr rtl="1" algn="r" indent="0" marL="0">
              <a:spcAft>
                <a:spcPts val="1000"/>
              </a:spcAft>
              <a:buNone/>
            </a:pPr>
            <a:r>
              <a:rPr lang="ar-SA" altLang="en-US" sz="1600" b="1" dirty="0">
                <a:solidFill>
                  <a:schemeClr val="tx2"/>
                </a:solidFill>
              </a:rPr>
              <a:t>اسمه: </a:t>
            </a:r>
            <a:pPr rtl="1" algn="r" indent="0" marL="0">
              <a:spcAft>
                <a:spcPts val="1000"/>
              </a:spcAft>
              <a:buNone/>
            </a:pPr>
            <a:r>
              <a:rPr lang="ar-SA" altLang="en-US" sz="1600" dirty="0">
                <a:solidFill>
                  <a:schemeClr val="tx1"/>
                </a:solidFill>
              </a:rPr>
              <a:t>إسماعيل بن عمر بن كثير الدمشقي</a:t>
            </a:r>
            <a:endParaRPr lang="ar-SA" sz="1600" dirty="0"/>
          </a:p>
          <a:p>
            <a:pPr rtl="1" algn="r" indent="0" marL="0">
              <a:spcAft>
                <a:spcPts val="1000"/>
              </a:spcAft>
              <a:buNone/>
            </a:pPr>
            <a:r>
              <a:rPr lang="ar-SA" altLang="en-US" sz="1600" b="1" dirty="0">
                <a:solidFill>
                  <a:schemeClr val="tx2"/>
                </a:solidFill>
              </a:rPr>
              <a:t>عاش: </a:t>
            </a:r>
            <a:pPr rtl="1" algn="r" indent="0" marL="0">
              <a:spcAft>
                <a:spcPts val="1000"/>
              </a:spcAft>
              <a:buNone/>
            </a:pPr>
            <a:r>
              <a:rPr lang="ar-SA" altLang="en-US" sz="1600" dirty="0">
                <a:solidFill>
                  <a:schemeClr val="tx1"/>
                </a:solidFill>
              </a:rPr>
              <a:t>نحو ٧٠١ – ٧٧٤ هـ في بلاد الشام</a:t>
            </a:r>
            <a:endParaRPr lang="ar-SA" sz="1600" dirty="0"/>
          </a:p>
          <a:p>
            <a:pPr rtl="1" algn="r" indent="0" marL="0">
              <a:spcAft>
                <a:spcPts val="1000"/>
              </a:spcAft>
              <a:buNone/>
            </a:pPr>
            <a:r>
              <a:rPr lang="ar-SA" altLang="en-US" sz="1600" b="1" dirty="0">
                <a:solidFill>
                  <a:schemeClr val="tx2"/>
                </a:solidFill>
              </a:rPr>
              <a:t>من شيوخه: </a:t>
            </a:r>
            <a:pPr rtl="1" algn="r" indent="0" marL="0">
              <a:spcAft>
                <a:spcPts val="1000"/>
              </a:spcAft>
              <a:buNone/>
            </a:pPr>
            <a:r>
              <a:rPr lang="ar-SA" altLang="en-US" sz="1600" dirty="0">
                <a:solidFill>
                  <a:schemeClr val="tx1"/>
                </a:solidFill>
              </a:rPr>
              <a:t>ابن تيمية، والمِزّي، والذهبي</a:t>
            </a:r>
            <a:endParaRPr lang="ar-SA" sz="1600" dirty="0"/>
          </a:p>
          <a:p>
            <a:pPr rtl="1" algn="r" indent="0" marL="0">
              <a:spcAft>
                <a:spcPts val="1000"/>
              </a:spcAft>
              <a:buNone/>
            </a:pPr>
            <a:r>
              <a:rPr lang="ar-SA" altLang="en-US" sz="1600" b="1" dirty="0">
                <a:solidFill>
                  <a:schemeClr val="tx2"/>
                </a:solidFill>
              </a:rPr>
              <a:t>كتابه: </a:t>
            </a:r>
            <a:pPr rtl="1" algn="r" indent="0" marL="0">
              <a:spcAft>
                <a:spcPts val="1000"/>
              </a:spcAft>
              <a:buNone/>
            </a:pPr>
            <a:r>
              <a:rPr lang="ar-SA" altLang="en-US" sz="1600" dirty="0">
                <a:solidFill>
                  <a:schemeClr val="tx1"/>
                </a:solidFill>
              </a:rPr>
              <a:t>«تفسير القرآن العظيم» من أشهر كتب التفسير</a:t>
            </a:r>
            <a:endParaRPr lang="ar-SA" sz="1600" dirty="0"/>
          </a:p>
          <a:p>
            <a:pPr rtl="1" algn="r" indent="0" marL="0">
              <a:spcAft>
                <a:spcPts val="1000"/>
              </a:spcAft>
              <a:buNone/>
            </a:pPr>
            <a:r>
              <a:rPr lang="ar-SA" altLang="en-US" sz="1600" b="1" dirty="0">
                <a:solidFill>
                  <a:schemeClr val="tx2"/>
                </a:solidFill>
              </a:rPr>
              <a:t>منهجه: </a:t>
            </a:r>
            <a:pPr rtl="1" algn="r" indent="0" marL="0">
              <a:spcAft>
                <a:spcPts val="1000"/>
              </a:spcAft>
              <a:buNone/>
            </a:pPr>
            <a:r>
              <a:rPr lang="ar-SA" altLang="en-US" sz="1600" dirty="0">
                <a:solidFill>
                  <a:schemeClr val="tx1"/>
                </a:solidFill>
              </a:rPr>
              <a:t>يفسّر القرآن بالقرآن، ثم بالسنة، ثم بأقوال الصحابة والتابعين</a:t>
            </a:r>
            <a:endParaRPr lang="ar-SA" sz="1600" dirty="0"/>
          </a:p>
        </p:txBody>
      </p:sp>
      <p:sp>
        <p:nvSpPr>
          <p:cNvPr id="6" name="Text 4"/>
          <p:cNvSpPr txBox="1"/>
          <p:nvPr/>
        </p:nvSpPr>
        <p:spPr>
          <a:xfrm>
            <a:off x="685800" y="1600200"/>
            <a:ext cx="53035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كيف نقرأ الشرائح؟</a:t>
            </a:r>
            <a:endParaRPr lang="ar-SA" sz="2400" dirty="0"/>
          </a:p>
        </p:txBody>
      </p:sp>
      <p:sp>
        <p:nvSpPr>
          <p:cNvPr id="7" name="Shape 5"/>
          <p:cNvSpPr/>
          <p:nvPr/>
        </p:nvSpPr>
        <p:spPr>
          <a:xfrm>
            <a:off x="5349240" y="2331720"/>
            <a:ext cx="566928" cy="566928"/>
          </a:xfrm>
          <a:prstGeom prst="star8">
            <a:avLst/>
          </a:prstGeom>
          <a:solidFill>
            <a:schemeClr val="accent2"/>
          </a:solidFill>
          <a:ln/>
        </p:spPr>
      </p:sp>
      <p:sp>
        <p:nvSpPr>
          <p:cNvPr id="8" name="Shape 6"/>
          <p:cNvSpPr/>
          <p:nvPr/>
        </p:nvSpPr>
        <p:spPr>
          <a:xfrm>
            <a:off x="54626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5349240" y="2331720"/>
            <a:ext cx="566928" cy="566928"/>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10" name="Text 8"/>
          <p:cNvSpPr txBox="1"/>
          <p:nvPr/>
        </p:nvSpPr>
        <p:spPr>
          <a:xfrm>
            <a:off x="685800" y="2386584"/>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رقم الآية داخل النجمة الذهبية</a:t>
            </a:r>
            <a:endParaRPr lang="ar-SA" sz="1700" dirty="0"/>
          </a:p>
        </p:txBody>
      </p:sp>
      <p:sp>
        <p:nvSpPr>
          <p:cNvPr id="11" name="Shape 9"/>
          <p:cNvSpPr/>
          <p:nvPr/>
        </p:nvSpPr>
        <p:spPr>
          <a:xfrm>
            <a:off x="54223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685800" y="3319272"/>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نص الآية باللون النبيتي</a:t>
            </a:r>
            <a:endParaRPr lang="ar-SA" sz="1700" dirty="0"/>
          </a:p>
        </p:txBody>
      </p:sp>
      <p:sp>
        <p:nvSpPr>
          <p:cNvPr id="13" name="Shape 11"/>
          <p:cNvSpPr/>
          <p:nvPr/>
        </p:nvSpPr>
        <p:spPr>
          <a:xfrm>
            <a:off x="54223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685800" y="4251960"/>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تفسير الآية بلغة سهلة تحتها مباشرة</a:t>
            </a:r>
            <a:endParaRPr lang="ar-SA" sz="1700" dirty="0"/>
          </a:p>
        </p:txBody>
      </p:sp>
      <p:sp>
        <p:nvSpPr>
          <p:cNvPr id="15" name="Shape 13"/>
          <p:cNvSpPr/>
          <p:nvPr/>
        </p:nvSpPr>
        <p:spPr>
          <a:xfrm>
            <a:off x="54223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685800" y="5184648"/>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في أول كل سورة: سبب النزول ومقصد السورة</a:t>
            </a:r>
            <a:endParaRPr lang="ar-SA" sz="17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فضل سورة آل عمران</a:t>
            </a:r>
            <a:endParaRPr lang="en-US" sz="3000" dirty="0"/>
          </a:p>
        </p:txBody>
      </p:sp>
      <p:sp>
        <p:nvSpPr>
          <p:cNvPr id="3" name="Shape 1"/>
          <p:cNvSpPr/>
          <p:nvPr/>
        </p:nvSpPr>
        <p:spPr>
          <a:xfrm>
            <a:off x="8031175" y="1463040"/>
            <a:ext cx="3474720" cy="4572000"/>
          </a:xfrm>
          <a:prstGeom prst="roundRect">
            <a:avLst>
              <a:gd name="adj" fmla="val 3947"/>
            </a:avLst>
          </a:prstGeom>
          <a:solidFill>
            <a:schemeClr val="accent5"/>
          </a:solidFill>
          <a:ln w="15875">
            <a:solidFill>
              <a:schemeClr val="accent2"/>
            </a:solidFill>
            <a:prstDash val="solid"/>
          </a:ln>
        </p:spPr>
      </p:sp>
      <p:sp>
        <p:nvSpPr>
          <p:cNvPr id="4" name="Shape 2"/>
          <p:cNvSpPr/>
          <p:nvPr/>
        </p:nvSpPr>
        <p:spPr>
          <a:xfrm>
            <a:off x="9402775" y="1737360"/>
            <a:ext cx="731520" cy="731520"/>
          </a:xfrm>
          <a:prstGeom prst="star8">
            <a:avLst/>
          </a:prstGeom>
          <a:solidFill>
            <a:schemeClr val="accent2"/>
          </a:solidFill>
          <a:ln/>
        </p:spPr>
      </p:sp>
      <p:sp>
        <p:nvSpPr>
          <p:cNvPr id="5" name="Shape 3"/>
          <p:cNvSpPr/>
          <p:nvPr/>
        </p:nvSpPr>
        <p:spPr>
          <a:xfrm>
            <a:off x="9549079" y="1883664"/>
            <a:ext cx="438912" cy="438912"/>
          </a:xfrm>
          <a:prstGeom prst="ellipse">
            <a:avLst/>
          </a:prstGeom>
          <a:solidFill>
            <a:schemeClr val="bg2"/>
          </a:solidFill>
          <a:ln w="19050">
            <a:solidFill>
              <a:schemeClr val="tx2"/>
            </a:solidFill>
            <a:prstDash val="solid"/>
          </a:ln>
        </p:spPr>
      </p:sp>
      <p:sp>
        <p:nvSpPr>
          <p:cNvPr id="6" name="Text 4"/>
          <p:cNvSpPr txBox="1"/>
          <p:nvPr/>
        </p:nvSpPr>
        <p:spPr>
          <a:xfrm>
            <a:off x="9402775" y="173736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tx2"/>
                </a:solidFill>
                <a:latin typeface="Arial" pitchFamily="34" charset="0"/>
                <a:ea typeface="Arial" pitchFamily="34" charset="-122"/>
                <a:cs typeface="Arial" pitchFamily="34" charset="-120"/>
              </a:rPr>
              <a:t>١</a:t>
            </a:r>
            <a:endParaRPr lang="ar-SA" sz="1800" dirty="0"/>
          </a:p>
        </p:txBody>
      </p:sp>
      <p:sp>
        <p:nvSpPr>
          <p:cNvPr id="7" name="Text 5"/>
          <p:cNvSpPr txBox="1"/>
          <p:nvPr/>
        </p:nvSpPr>
        <p:spPr>
          <a:xfrm>
            <a:off x="8259775" y="2651760"/>
            <a:ext cx="3017520" cy="548640"/>
          </a:xfrm>
          <a:prstGeom prst="rect">
            <a:avLst/>
          </a:prstGeom>
          <a:noFill/>
          <a:ln/>
        </p:spPr>
        <p:txBody>
          <a:bodyPr wrap="square" lIns="0" tIns="0" rIns="0" bIns="0" rtlCol="0" anchor="t"/>
          <a:lstStyle/>
          <a:p>
            <a:pPr rtl="1" algn="ct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الزهراوان</a:t>
            </a:r>
            <a:endParaRPr lang="ar-SA" sz="2400" dirty="0"/>
          </a:p>
        </p:txBody>
      </p:sp>
      <p:sp>
        <p:nvSpPr>
          <p:cNvPr id="8" name="Text 6"/>
          <p:cNvSpPr txBox="1"/>
          <p:nvPr/>
        </p:nvSpPr>
        <p:spPr>
          <a:xfrm>
            <a:off x="8305495" y="3291840"/>
            <a:ext cx="2926080" cy="2560320"/>
          </a:xfrm>
          <a:prstGeom prst="rect">
            <a:avLst/>
          </a:prstGeom>
          <a:noFill/>
          <a:ln/>
        </p:spPr>
        <p:txBody>
          <a:bodyPr wrap="square" lIns="0" tIns="0" rIns="0" bIns="0" rtlCol="0" anchor="t"/>
          <a:lstStyle/>
          <a:p>
            <a:pPr rtl="1" algn="ctr" indent="0" marL="0">
              <a:lnSpc>
                <a:spcPct val="115000"/>
              </a:lnSpc>
              <a:buNone/>
            </a:pPr>
            <a:r>
              <a:rPr lang="ar-SA" altLang="en-US" sz="1600" dirty="0">
                <a:solidFill>
                  <a:schemeClr val="tx1"/>
                </a:solidFill>
              </a:rPr>
              <a:t>«اقرؤوا الزهراوين: البقرة وسورة آل عمران، فإنهما تأتيان يوم القيامة كأنهما غمامتان، أو كأنهما فِرقان من طير صوافّ، تحاجّان عن أصحابهما» (رواه مسلم).</a:t>
            </a:r>
            <a:endParaRPr lang="ar-SA" sz="1600" dirty="0"/>
          </a:p>
        </p:txBody>
      </p:sp>
      <p:sp>
        <p:nvSpPr>
          <p:cNvPr id="9" name="Shape 7"/>
          <p:cNvSpPr/>
          <p:nvPr/>
        </p:nvSpPr>
        <p:spPr>
          <a:xfrm>
            <a:off x="4282135" y="1463040"/>
            <a:ext cx="3474720" cy="4572000"/>
          </a:xfrm>
          <a:prstGeom prst="roundRect">
            <a:avLst>
              <a:gd name="adj" fmla="val 3947"/>
            </a:avLst>
          </a:prstGeom>
          <a:solidFill>
            <a:schemeClr val="accent5"/>
          </a:solidFill>
          <a:ln w="15875">
            <a:solidFill>
              <a:schemeClr val="accent2"/>
            </a:solidFill>
            <a:prstDash val="solid"/>
          </a:ln>
        </p:spPr>
      </p:sp>
      <p:sp>
        <p:nvSpPr>
          <p:cNvPr id="10" name="Shape 8"/>
          <p:cNvSpPr/>
          <p:nvPr/>
        </p:nvSpPr>
        <p:spPr>
          <a:xfrm>
            <a:off x="5653735" y="1737360"/>
            <a:ext cx="731520" cy="731520"/>
          </a:xfrm>
          <a:prstGeom prst="star8">
            <a:avLst/>
          </a:prstGeom>
          <a:solidFill>
            <a:schemeClr val="accent2"/>
          </a:solidFill>
          <a:ln/>
        </p:spPr>
      </p:sp>
      <p:sp>
        <p:nvSpPr>
          <p:cNvPr id="11" name="Shape 9"/>
          <p:cNvSpPr/>
          <p:nvPr/>
        </p:nvSpPr>
        <p:spPr>
          <a:xfrm>
            <a:off x="5800039" y="1883664"/>
            <a:ext cx="438912" cy="438912"/>
          </a:xfrm>
          <a:prstGeom prst="ellipse">
            <a:avLst/>
          </a:prstGeom>
          <a:solidFill>
            <a:schemeClr val="bg2"/>
          </a:solidFill>
          <a:ln w="19050">
            <a:solidFill>
              <a:schemeClr val="tx2"/>
            </a:solidFill>
            <a:prstDash val="solid"/>
          </a:ln>
        </p:spPr>
      </p:sp>
      <p:sp>
        <p:nvSpPr>
          <p:cNvPr id="12" name="Text 10"/>
          <p:cNvSpPr txBox="1"/>
          <p:nvPr/>
        </p:nvSpPr>
        <p:spPr>
          <a:xfrm>
            <a:off x="5653735" y="173736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tx2"/>
                </a:solidFill>
                <a:latin typeface="Arial" pitchFamily="34" charset="0"/>
                <a:ea typeface="Arial" pitchFamily="34" charset="-122"/>
                <a:cs typeface="Arial" pitchFamily="34" charset="-120"/>
              </a:rPr>
              <a:t>٢</a:t>
            </a:r>
            <a:endParaRPr lang="ar-SA" sz="1800" dirty="0"/>
          </a:p>
        </p:txBody>
      </p:sp>
      <p:sp>
        <p:nvSpPr>
          <p:cNvPr id="13" name="Text 11"/>
          <p:cNvSpPr txBox="1"/>
          <p:nvPr/>
        </p:nvSpPr>
        <p:spPr>
          <a:xfrm>
            <a:off x="4510735" y="2651760"/>
            <a:ext cx="3017520" cy="548640"/>
          </a:xfrm>
          <a:prstGeom prst="rect">
            <a:avLst/>
          </a:prstGeom>
          <a:noFill/>
          <a:ln/>
        </p:spPr>
        <p:txBody>
          <a:bodyPr wrap="square" lIns="0" tIns="0" rIns="0" bIns="0" rtlCol="0" anchor="t"/>
          <a:lstStyle/>
          <a:p>
            <a:pPr rtl="1" algn="ct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تشفع لأهلها</a:t>
            </a:r>
            <a:endParaRPr lang="ar-SA" sz="2400" dirty="0"/>
          </a:p>
        </p:txBody>
      </p:sp>
      <p:sp>
        <p:nvSpPr>
          <p:cNvPr id="14" name="Text 12"/>
          <p:cNvSpPr txBox="1"/>
          <p:nvPr/>
        </p:nvSpPr>
        <p:spPr>
          <a:xfrm>
            <a:off x="4556455" y="3291840"/>
            <a:ext cx="2926080" cy="2560320"/>
          </a:xfrm>
          <a:prstGeom prst="rect">
            <a:avLst/>
          </a:prstGeom>
          <a:noFill/>
          <a:ln/>
        </p:spPr>
        <p:txBody>
          <a:bodyPr wrap="square" lIns="0" tIns="0" rIns="0" bIns="0" rtlCol="0" anchor="t"/>
          <a:lstStyle/>
          <a:p>
            <a:pPr rtl="1" algn="ctr" indent="0" marL="0">
              <a:lnSpc>
                <a:spcPct val="115000"/>
              </a:lnSpc>
              <a:buNone/>
            </a:pPr>
            <a:r>
              <a:rPr lang="ar-SA" altLang="en-US" sz="1600" dirty="0">
                <a:solidFill>
                  <a:schemeClr val="tx1"/>
                </a:solidFill>
              </a:rPr>
              <a:t>«يُؤتى بالقرآن يوم القيامة وأهله الذين كانوا يعملون به، تقدُمه سورة البقرة وآل عمران تحاجّان عن صاحبهما» (رواه مسلم).</a:t>
            </a:r>
            <a:endParaRPr lang="ar-SA" sz="1600" dirty="0"/>
          </a:p>
        </p:txBody>
      </p:sp>
      <p:sp>
        <p:nvSpPr>
          <p:cNvPr id="15" name="Shape 13"/>
          <p:cNvSpPr/>
          <p:nvPr/>
        </p:nvSpPr>
        <p:spPr>
          <a:xfrm>
            <a:off x="533095" y="1463040"/>
            <a:ext cx="3474720" cy="4572000"/>
          </a:xfrm>
          <a:prstGeom prst="roundRect">
            <a:avLst>
              <a:gd name="adj" fmla="val 3947"/>
            </a:avLst>
          </a:prstGeom>
          <a:solidFill>
            <a:schemeClr val="accent5"/>
          </a:solidFill>
          <a:ln w="15875">
            <a:solidFill>
              <a:schemeClr val="accent2"/>
            </a:solidFill>
            <a:prstDash val="solid"/>
          </a:ln>
        </p:spPr>
      </p:sp>
      <p:sp>
        <p:nvSpPr>
          <p:cNvPr id="16" name="Shape 14"/>
          <p:cNvSpPr/>
          <p:nvPr/>
        </p:nvSpPr>
        <p:spPr>
          <a:xfrm>
            <a:off x="1904695" y="1737360"/>
            <a:ext cx="731520" cy="731520"/>
          </a:xfrm>
          <a:prstGeom prst="star8">
            <a:avLst/>
          </a:prstGeom>
          <a:solidFill>
            <a:schemeClr val="accent2"/>
          </a:solidFill>
          <a:ln/>
        </p:spPr>
      </p:sp>
      <p:sp>
        <p:nvSpPr>
          <p:cNvPr id="17" name="Shape 15"/>
          <p:cNvSpPr/>
          <p:nvPr/>
        </p:nvSpPr>
        <p:spPr>
          <a:xfrm>
            <a:off x="2050999" y="1883664"/>
            <a:ext cx="438912" cy="438912"/>
          </a:xfrm>
          <a:prstGeom prst="ellipse">
            <a:avLst/>
          </a:prstGeom>
          <a:solidFill>
            <a:schemeClr val="bg2"/>
          </a:solidFill>
          <a:ln w="19050">
            <a:solidFill>
              <a:schemeClr val="tx2"/>
            </a:solidFill>
            <a:prstDash val="solid"/>
          </a:ln>
        </p:spPr>
      </p:sp>
      <p:sp>
        <p:nvSpPr>
          <p:cNvPr id="18" name="Text 16"/>
          <p:cNvSpPr txBox="1"/>
          <p:nvPr/>
        </p:nvSpPr>
        <p:spPr>
          <a:xfrm>
            <a:off x="1904695" y="173736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tx2"/>
                </a:solidFill>
                <a:latin typeface="Arial" pitchFamily="34" charset="0"/>
                <a:ea typeface="Arial" pitchFamily="34" charset="-122"/>
                <a:cs typeface="Arial" pitchFamily="34" charset="-120"/>
              </a:rPr>
              <a:t>٣</a:t>
            </a:r>
            <a:endParaRPr lang="ar-SA" sz="1800" dirty="0"/>
          </a:p>
        </p:txBody>
      </p:sp>
      <p:sp>
        <p:nvSpPr>
          <p:cNvPr id="19" name="Text 17"/>
          <p:cNvSpPr txBox="1"/>
          <p:nvPr/>
        </p:nvSpPr>
        <p:spPr>
          <a:xfrm>
            <a:off x="761695" y="2651760"/>
            <a:ext cx="3017520" cy="548640"/>
          </a:xfrm>
          <a:prstGeom prst="rect">
            <a:avLst/>
          </a:prstGeom>
          <a:noFill/>
          <a:ln/>
        </p:spPr>
        <p:txBody>
          <a:bodyPr wrap="square" lIns="0" tIns="0" rIns="0" bIns="0" rtlCol="0" anchor="t"/>
          <a:lstStyle/>
          <a:p>
            <a:pPr rtl="1" algn="ct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السورة في سطور</a:t>
            </a:r>
            <a:endParaRPr lang="ar-SA" sz="2400" dirty="0"/>
          </a:p>
        </p:txBody>
      </p:sp>
      <p:sp>
        <p:nvSpPr>
          <p:cNvPr id="20" name="Text 18"/>
          <p:cNvSpPr txBox="1"/>
          <p:nvPr/>
        </p:nvSpPr>
        <p:spPr>
          <a:xfrm>
            <a:off x="807415" y="3291840"/>
            <a:ext cx="2926080" cy="2560320"/>
          </a:xfrm>
          <a:prstGeom prst="rect">
            <a:avLst/>
          </a:prstGeom>
          <a:noFill/>
          <a:ln/>
        </p:spPr>
        <p:txBody>
          <a:bodyPr wrap="square" lIns="0" tIns="0" rIns="0" bIns="0" rtlCol="0" anchor="t"/>
          <a:lstStyle/>
          <a:p>
            <a:pPr rtl="1" algn="ctr" indent="0" marL="0">
              <a:lnSpc>
                <a:spcPct val="115000"/>
              </a:lnSpc>
              <a:buNone/>
            </a:pPr>
            <a:r>
              <a:rPr lang="ar-SA" altLang="en-US" sz="1600" dirty="0">
                <a:solidFill>
                  <a:schemeClr val="tx1"/>
                </a:solidFill>
              </a:rPr>
              <a:t>٢٠٠ آية، مدنية، وهي الثالثة في ترتيب المصحف. سُمّيت «آل عمران» لذكر قصة أسرة عمران: امرأته، ومريم، وعيسى عليهم السلام.</a:t>
            </a:r>
            <a:endParaRPr lang="ar-SA" sz="16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مقاطع السورة</a:t>
            </a:r>
            <a:endParaRPr lang="en-US" sz="30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rtl="1" algn="ctr" indent="0" marL="0">
              <a:buNone/>
            </a:pPr>
            <a:r>
              <a:rPr lang="ar-SA" altLang="en-US" sz="1700" dirty="0">
                <a:solidFill>
                  <a:schemeClr val="accent4"/>
                </a:solidFill>
              </a:rPr>
              <a:t>قسّمنا السورة إلى عشرة مقاطع بحسب موضوعاتها، لنفهمها خطوة خطوة</a:t>
            </a:r>
            <a:endParaRPr lang="ar-SA" sz="1700" dirty="0"/>
          </a:p>
        </p:txBody>
      </p:sp>
      <p:sp>
        <p:nvSpPr>
          <p:cNvPr id="4" name="Shape 2"/>
          <p:cNvSpPr/>
          <p:nvPr/>
        </p:nvSpPr>
        <p:spPr>
          <a:xfrm>
            <a:off x="6233008" y="1828800"/>
            <a:ext cx="5257800" cy="749808"/>
          </a:xfrm>
          <a:prstGeom prst="roundRect">
            <a:avLst>
              <a:gd name="adj" fmla="val 14634"/>
            </a:avLst>
          </a:prstGeom>
          <a:solidFill>
            <a:schemeClr val="bg1"/>
          </a:solidFill>
          <a:ln w="12700">
            <a:solidFill>
              <a:schemeClr val="accent2"/>
            </a:solidFill>
            <a:prstDash val="solid"/>
          </a:ln>
        </p:spPr>
      </p:sp>
      <p:sp>
        <p:nvSpPr>
          <p:cNvPr id="5" name="Shape 3"/>
          <p:cNvSpPr/>
          <p:nvPr/>
        </p:nvSpPr>
        <p:spPr>
          <a:xfrm>
            <a:off x="10805008" y="1938528"/>
            <a:ext cx="530352" cy="530352"/>
          </a:xfrm>
          <a:prstGeom prst="star8">
            <a:avLst/>
          </a:prstGeom>
          <a:solidFill>
            <a:schemeClr val="accent2"/>
          </a:solidFill>
          <a:ln/>
        </p:spPr>
      </p:sp>
      <p:sp>
        <p:nvSpPr>
          <p:cNvPr id="6" name="Shape 4"/>
          <p:cNvSpPr/>
          <p:nvPr/>
        </p:nvSpPr>
        <p:spPr>
          <a:xfrm>
            <a:off x="10911078" y="2044598"/>
            <a:ext cx="318211" cy="318211"/>
          </a:xfrm>
          <a:prstGeom prst="ellipse">
            <a:avLst/>
          </a:prstGeom>
          <a:solidFill>
            <a:schemeClr val="bg2"/>
          </a:solidFill>
          <a:ln w="19050">
            <a:solidFill>
              <a:schemeClr val="tx2"/>
            </a:solidFill>
            <a:prstDash val="solid"/>
          </a:ln>
        </p:spPr>
      </p:sp>
      <p:sp>
        <p:nvSpPr>
          <p:cNvPr id="7" name="Text 5"/>
          <p:cNvSpPr txBox="1"/>
          <p:nvPr/>
        </p:nvSpPr>
        <p:spPr>
          <a:xfrm>
            <a:off x="10805008" y="193852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١</a:t>
            </a:r>
            <a:endParaRPr lang="ar-SA" sz="1400" dirty="0"/>
          </a:p>
        </p:txBody>
      </p:sp>
      <p:sp>
        <p:nvSpPr>
          <p:cNvPr id="8" name="Text 6"/>
          <p:cNvSpPr txBox="1"/>
          <p:nvPr/>
        </p:nvSpPr>
        <p:spPr>
          <a:xfrm>
            <a:off x="6415888" y="190195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التوحيد والإيمان بالكتاب</a:t>
            </a:r>
            <a:endParaRPr lang="ar-SA" sz="1700" dirty="0"/>
          </a:p>
        </p:txBody>
      </p:sp>
      <p:sp>
        <p:nvSpPr>
          <p:cNvPr id="9" name="Text 7"/>
          <p:cNvSpPr txBox="1"/>
          <p:nvPr/>
        </p:nvSpPr>
        <p:spPr>
          <a:xfrm>
            <a:off x="6415888" y="226771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١ – ٩</a:t>
            </a:r>
            <a:endParaRPr lang="ar-SA" sz="1300" dirty="0"/>
          </a:p>
        </p:txBody>
      </p:sp>
      <p:sp>
        <p:nvSpPr>
          <p:cNvPr id="10" name="Shape 8"/>
          <p:cNvSpPr/>
          <p:nvPr/>
        </p:nvSpPr>
        <p:spPr>
          <a:xfrm>
            <a:off x="700888" y="1828800"/>
            <a:ext cx="5257800" cy="749808"/>
          </a:xfrm>
          <a:prstGeom prst="roundRect">
            <a:avLst>
              <a:gd name="adj" fmla="val 14634"/>
            </a:avLst>
          </a:prstGeom>
          <a:solidFill>
            <a:schemeClr val="accent5"/>
          </a:solidFill>
          <a:ln w="12700">
            <a:solidFill>
              <a:schemeClr val="accent2"/>
            </a:solidFill>
            <a:prstDash val="solid"/>
          </a:ln>
        </p:spPr>
      </p:sp>
      <p:sp>
        <p:nvSpPr>
          <p:cNvPr id="11" name="Shape 9"/>
          <p:cNvSpPr/>
          <p:nvPr/>
        </p:nvSpPr>
        <p:spPr>
          <a:xfrm>
            <a:off x="5272888" y="1938528"/>
            <a:ext cx="530352" cy="530352"/>
          </a:xfrm>
          <a:prstGeom prst="star8">
            <a:avLst/>
          </a:prstGeom>
          <a:solidFill>
            <a:schemeClr val="accent2"/>
          </a:solidFill>
          <a:ln/>
        </p:spPr>
      </p:sp>
      <p:sp>
        <p:nvSpPr>
          <p:cNvPr id="12" name="Shape 10"/>
          <p:cNvSpPr/>
          <p:nvPr/>
        </p:nvSpPr>
        <p:spPr>
          <a:xfrm>
            <a:off x="5378958" y="2044598"/>
            <a:ext cx="318211" cy="318211"/>
          </a:xfrm>
          <a:prstGeom prst="ellipse">
            <a:avLst/>
          </a:prstGeom>
          <a:solidFill>
            <a:schemeClr val="bg2"/>
          </a:solidFill>
          <a:ln w="19050">
            <a:solidFill>
              <a:schemeClr val="tx2"/>
            </a:solidFill>
            <a:prstDash val="solid"/>
          </a:ln>
        </p:spPr>
      </p:sp>
      <p:sp>
        <p:nvSpPr>
          <p:cNvPr id="13" name="Text 11"/>
          <p:cNvSpPr txBox="1"/>
          <p:nvPr/>
        </p:nvSpPr>
        <p:spPr>
          <a:xfrm>
            <a:off x="5272888" y="193852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٢</a:t>
            </a:r>
            <a:endParaRPr lang="ar-SA" sz="1400" dirty="0"/>
          </a:p>
        </p:txBody>
      </p:sp>
      <p:sp>
        <p:nvSpPr>
          <p:cNvPr id="14" name="Text 12"/>
          <p:cNvSpPr txBox="1"/>
          <p:nvPr/>
        </p:nvSpPr>
        <p:spPr>
          <a:xfrm>
            <a:off x="883768" y="190195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عاقبة الكافرين وزينة الدنيا</a:t>
            </a:r>
            <a:endParaRPr lang="ar-SA" sz="1700" dirty="0"/>
          </a:p>
        </p:txBody>
      </p:sp>
      <p:sp>
        <p:nvSpPr>
          <p:cNvPr id="15" name="Text 13"/>
          <p:cNvSpPr txBox="1"/>
          <p:nvPr/>
        </p:nvSpPr>
        <p:spPr>
          <a:xfrm>
            <a:off x="883768" y="226771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١٠ – ٢٠</a:t>
            </a:r>
            <a:endParaRPr lang="ar-SA" sz="1300" dirty="0"/>
          </a:p>
        </p:txBody>
      </p:sp>
      <p:sp>
        <p:nvSpPr>
          <p:cNvPr id="16" name="Shape 14"/>
          <p:cNvSpPr/>
          <p:nvPr/>
        </p:nvSpPr>
        <p:spPr>
          <a:xfrm>
            <a:off x="6233008" y="2697480"/>
            <a:ext cx="5257800" cy="749808"/>
          </a:xfrm>
          <a:prstGeom prst="roundRect">
            <a:avLst>
              <a:gd name="adj" fmla="val 14634"/>
            </a:avLst>
          </a:prstGeom>
          <a:solidFill>
            <a:schemeClr val="bg1"/>
          </a:solidFill>
          <a:ln w="12700">
            <a:solidFill>
              <a:schemeClr val="accent2"/>
            </a:solidFill>
            <a:prstDash val="solid"/>
          </a:ln>
        </p:spPr>
      </p:sp>
      <p:sp>
        <p:nvSpPr>
          <p:cNvPr id="17" name="Shape 15"/>
          <p:cNvSpPr/>
          <p:nvPr/>
        </p:nvSpPr>
        <p:spPr>
          <a:xfrm>
            <a:off x="10805008" y="2807208"/>
            <a:ext cx="530352" cy="530352"/>
          </a:xfrm>
          <a:prstGeom prst="star8">
            <a:avLst/>
          </a:prstGeom>
          <a:solidFill>
            <a:schemeClr val="accent2"/>
          </a:solidFill>
          <a:ln/>
        </p:spPr>
      </p:sp>
      <p:sp>
        <p:nvSpPr>
          <p:cNvPr id="18" name="Shape 16"/>
          <p:cNvSpPr/>
          <p:nvPr/>
        </p:nvSpPr>
        <p:spPr>
          <a:xfrm>
            <a:off x="10911078" y="2913278"/>
            <a:ext cx="318211" cy="318211"/>
          </a:xfrm>
          <a:prstGeom prst="ellipse">
            <a:avLst/>
          </a:prstGeom>
          <a:solidFill>
            <a:schemeClr val="bg2"/>
          </a:solidFill>
          <a:ln w="19050">
            <a:solidFill>
              <a:schemeClr val="tx2"/>
            </a:solidFill>
            <a:prstDash val="solid"/>
          </a:ln>
        </p:spPr>
      </p:sp>
      <p:sp>
        <p:nvSpPr>
          <p:cNvPr id="19" name="Text 17"/>
          <p:cNvSpPr txBox="1"/>
          <p:nvPr/>
        </p:nvSpPr>
        <p:spPr>
          <a:xfrm>
            <a:off x="10805008" y="280720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٣</a:t>
            </a:r>
            <a:endParaRPr lang="ar-SA" sz="1400" dirty="0"/>
          </a:p>
        </p:txBody>
      </p:sp>
      <p:sp>
        <p:nvSpPr>
          <p:cNvPr id="20" name="Text 18"/>
          <p:cNvSpPr txBox="1"/>
          <p:nvPr/>
        </p:nvSpPr>
        <p:spPr>
          <a:xfrm>
            <a:off x="6415888" y="277063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الرد على أهل الكتاب واتباع الرسول</a:t>
            </a:r>
            <a:endParaRPr lang="ar-SA" sz="1700" dirty="0"/>
          </a:p>
        </p:txBody>
      </p:sp>
      <p:sp>
        <p:nvSpPr>
          <p:cNvPr id="21" name="Text 19"/>
          <p:cNvSpPr txBox="1"/>
          <p:nvPr/>
        </p:nvSpPr>
        <p:spPr>
          <a:xfrm>
            <a:off x="6415888" y="313639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٢١ – ٣٢</a:t>
            </a:r>
            <a:endParaRPr lang="ar-SA" sz="1300" dirty="0"/>
          </a:p>
        </p:txBody>
      </p:sp>
      <p:sp>
        <p:nvSpPr>
          <p:cNvPr id="22" name="Shape 20"/>
          <p:cNvSpPr/>
          <p:nvPr/>
        </p:nvSpPr>
        <p:spPr>
          <a:xfrm>
            <a:off x="700888" y="2697480"/>
            <a:ext cx="5257800" cy="749808"/>
          </a:xfrm>
          <a:prstGeom prst="roundRect">
            <a:avLst>
              <a:gd name="adj" fmla="val 14634"/>
            </a:avLst>
          </a:prstGeom>
          <a:solidFill>
            <a:schemeClr val="accent5"/>
          </a:solidFill>
          <a:ln w="12700">
            <a:solidFill>
              <a:schemeClr val="accent2"/>
            </a:solidFill>
            <a:prstDash val="solid"/>
          </a:ln>
        </p:spPr>
      </p:sp>
      <p:sp>
        <p:nvSpPr>
          <p:cNvPr id="23" name="Shape 21"/>
          <p:cNvSpPr/>
          <p:nvPr/>
        </p:nvSpPr>
        <p:spPr>
          <a:xfrm>
            <a:off x="5272888" y="2807208"/>
            <a:ext cx="530352" cy="530352"/>
          </a:xfrm>
          <a:prstGeom prst="star8">
            <a:avLst/>
          </a:prstGeom>
          <a:solidFill>
            <a:schemeClr val="accent2"/>
          </a:solidFill>
          <a:ln/>
        </p:spPr>
      </p:sp>
      <p:sp>
        <p:nvSpPr>
          <p:cNvPr id="24" name="Shape 22"/>
          <p:cNvSpPr/>
          <p:nvPr/>
        </p:nvSpPr>
        <p:spPr>
          <a:xfrm>
            <a:off x="5378958" y="2913278"/>
            <a:ext cx="318211" cy="318211"/>
          </a:xfrm>
          <a:prstGeom prst="ellipse">
            <a:avLst/>
          </a:prstGeom>
          <a:solidFill>
            <a:schemeClr val="bg2"/>
          </a:solidFill>
          <a:ln w="19050">
            <a:solidFill>
              <a:schemeClr val="tx2"/>
            </a:solidFill>
            <a:prstDash val="solid"/>
          </a:ln>
        </p:spPr>
      </p:sp>
      <p:sp>
        <p:nvSpPr>
          <p:cNvPr id="25" name="Text 23"/>
          <p:cNvSpPr txBox="1"/>
          <p:nvPr/>
        </p:nvSpPr>
        <p:spPr>
          <a:xfrm>
            <a:off x="5272888" y="280720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٤</a:t>
            </a:r>
            <a:endParaRPr lang="ar-SA" sz="1400" dirty="0"/>
          </a:p>
        </p:txBody>
      </p:sp>
      <p:sp>
        <p:nvSpPr>
          <p:cNvPr id="26" name="Text 24"/>
          <p:cNvSpPr txBox="1"/>
          <p:nvPr/>
        </p:nvSpPr>
        <p:spPr>
          <a:xfrm>
            <a:off x="883768" y="277063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قصة آل عمران: مريم وزكريا وعيسى</a:t>
            </a:r>
            <a:endParaRPr lang="ar-SA" sz="1700" dirty="0"/>
          </a:p>
        </p:txBody>
      </p:sp>
      <p:sp>
        <p:nvSpPr>
          <p:cNvPr id="27" name="Text 25"/>
          <p:cNvSpPr txBox="1"/>
          <p:nvPr/>
        </p:nvSpPr>
        <p:spPr>
          <a:xfrm>
            <a:off x="883768" y="313639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٣٣ – ٦٣</a:t>
            </a:r>
            <a:endParaRPr lang="ar-SA" sz="1300" dirty="0"/>
          </a:p>
        </p:txBody>
      </p:sp>
      <p:sp>
        <p:nvSpPr>
          <p:cNvPr id="28" name="Shape 26"/>
          <p:cNvSpPr/>
          <p:nvPr/>
        </p:nvSpPr>
        <p:spPr>
          <a:xfrm>
            <a:off x="6233008" y="3566160"/>
            <a:ext cx="5257800" cy="749808"/>
          </a:xfrm>
          <a:prstGeom prst="roundRect">
            <a:avLst>
              <a:gd name="adj" fmla="val 14634"/>
            </a:avLst>
          </a:prstGeom>
          <a:solidFill>
            <a:schemeClr val="bg1"/>
          </a:solidFill>
          <a:ln w="12700">
            <a:solidFill>
              <a:schemeClr val="accent2"/>
            </a:solidFill>
            <a:prstDash val="solid"/>
          </a:ln>
        </p:spPr>
      </p:sp>
      <p:sp>
        <p:nvSpPr>
          <p:cNvPr id="29" name="Shape 27"/>
          <p:cNvSpPr/>
          <p:nvPr/>
        </p:nvSpPr>
        <p:spPr>
          <a:xfrm>
            <a:off x="10805008" y="3675888"/>
            <a:ext cx="530352" cy="530352"/>
          </a:xfrm>
          <a:prstGeom prst="star8">
            <a:avLst/>
          </a:prstGeom>
          <a:solidFill>
            <a:schemeClr val="accent2"/>
          </a:solidFill>
          <a:ln/>
        </p:spPr>
      </p:sp>
      <p:sp>
        <p:nvSpPr>
          <p:cNvPr id="30" name="Shape 28"/>
          <p:cNvSpPr/>
          <p:nvPr/>
        </p:nvSpPr>
        <p:spPr>
          <a:xfrm>
            <a:off x="10911078" y="3781958"/>
            <a:ext cx="318211" cy="318211"/>
          </a:xfrm>
          <a:prstGeom prst="ellipse">
            <a:avLst/>
          </a:prstGeom>
          <a:solidFill>
            <a:schemeClr val="bg2"/>
          </a:solidFill>
          <a:ln w="19050">
            <a:solidFill>
              <a:schemeClr val="tx2"/>
            </a:solidFill>
            <a:prstDash val="solid"/>
          </a:ln>
        </p:spPr>
      </p:sp>
      <p:sp>
        <p:nvSpPr>
          <p:cNvPr id="31" name="Text 29"/>
          <p:cNvSpPr txBox="1"/>
          <p:nvPr/>
        </p:nvSpPr>
        <p:spPr>
          <a:xfrm>
            <a:off x="10805008" y="367588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٥</a:t>
            </a:r>
            <a:endParaRPr lang="ar-SA" sz="1400" dirty="0"/>
          </a:p>
        </p:txBody>
      </p:sp>
      <p:sp>
        <p:nvSpPr>
          <p:cNvPr id="32" name="Text 30"/>
          <p:cNvSpPr txBox="1"/>
          <p:nvPr/>
        </p:nvSpPr>
        <p:spPr>
          <a:xfrm>
            <a:off x="6415888" y="363931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دعوة أهل الكتاب إلى كلمة سواء</a:t>
            </a:r>
            <a:endParaRPr lang="ar-SA" sz="1700" dirty="0"/>
          </a:p>
        </p:txBody>
      </p:sp>
      <p:sp>
        <p:nvSpPr>
          <p:cNvPr id="33" name="Text 31"/>
          <p:cNvSpPr txBox="1"/>
          <p:nvPr/>
        </p:nvSpPr>
        <p:spPr>
          <a:xfrm>
            <a:off x="6415888" y="400507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٦٤ – ٩٩</a:t>
            </a:r>
            <a:endParaRPr lang="ar-SA" sz="1300" dirty="0"/>
          </a:p>
        </p:txBody>
      </p:sp>
      <p:sp>
        <p:nvSpPr>
          <p:cNvPr id="34" name="Shape 32"/>
          <p:cNvSpPr/>
          <p:nvPr/>
        </p:nvSpPr>
        <p:spPr>
          <a:xfrm>
            <a:off x="700888" y="3566160"/>
            <a:ext cx="5257800" cy="749808"/>
          </a:xfrm>
          <a:prstGeom prst="roundRect">
            <a:avLst>
              <a:gd name="adj" fmla="val 14634"/>
            </a:avLst>
          </a:prstGeom>
          <a:solidFill>
            <a:schemeClr val="accent5"/>
          </a:solidFill>
          <a:ln w="12700">
            <a:solidFill>
              <a:schemeClr val="accent2"/>
            </a:solidFill>
            <a:prstDash val="solid"/>
          </a:ln>
        </p:spPr>
      </p:sp>
      <p:sp>
        <p:nvSpPr>
          <p:cNvPr id="35" name="Shape 33"/>
          <p:cNvSpPr/>
          <p:nvPr/>
        </p:nvSpPr>
        <p:spPr>
          <a:xfrm>
            <a:off x="5272888" y="3675888"/>
            <a:ext cx="530352" cy="530352"/>
          </a:xfrm>
          <a:prstGeom prst="star8">
            <a:avLst/>
          </a:prstGeom>
          <a:solidFill>
            <a:schemeClr val="accent2"/>
          </a:solidFill>
          <a:ln/>
        </p:spPr>
      </p:sp>
      <p:sp>
        <p:nvSpPr>
          <p:cNvPr id="36" name="Shape 34"/>
          <p:cNvSpPr/>
          <p:nvPr/>
        </p:nvSpPr>
        <p:spPr>
          <a:xfrm>
            <a:off x="5378958" y="3781958"/>
            <a:ext cx="318211" cy="318211"/>
          </a:xfrm>
          <a:prstGeom prst="ellipse">
            <a:avLst/>
          </a:prstGeom>
          <a:solidFill>
            <a:schemeClr val="bg2"/>
          </a:solidFill>
          <a:ln w="19050">
            <a:solidFill>
              <a:schemeClr val="tx2"/>
            </a:solidFill>
            <a:prstDash val="solid"/>
          </a:ln>
        </p:spPr>
      </p:sp>
      <p:sp>
        <p:nvSpPr>
          <p:cNvPr id="37" name="Text 35"/>
          <p:cNvSpPr txBox="1"/>
          <p:nvPr/>
        </p:nvSpPr>
        <p:spPr>
          <a:xfrm>
            <a:off x="5272888" y="367588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٦</a:t>
            </a:r>
            <a:endParaRPr lang="ar-SA" sz="1400" dirty="0"/>
          </a:p>
        </p:txBody>
      </p:sp>
      <p:sp>
        <p:nvSpPr>
          <p:cNvPr id="38" name="Text 36"/>
          <p:cNvSpPr txBox="1"/>
          <p:nvPr/>
        </p:nvSpPr>
        <p:spPr>
          <a:xfrm>
            <a:off x="883768" y="363931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وحدة المسلمين وخير أمة</a:t>
            </a:r>
            <a:endParaRPr lang="ar-SA" sz="1700" dirty="0"/>
          </a:p>
        </p:txBody>
      </p:sp>
      <p:sp>
        <p:nvSpPr>
          <p:cNvPr id="39" name="Text 37"/>
          <p:cNvSpPr txBox="1"/>
          <p:nvPr/>
        </p:nvSpPr>
        <p:spPr>
          <a:xfrm>
            <a:off x="883768" y="400507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١٠٠ – ١٢٠</a:t>
            </a:r>
            <a:endParaRPr lang="ar-SA" sz="1300" dirty="0"/>
          </a:p>
        </p:txBody>
      </p:sp>
      <p:sp>
        <p:nvSpPr>
          <p:cNvPr id="40" name="Shape 38"/>
          <p:cNvSpPr/>
          <p:nvPr/>
        </p:nvSpPr>
        <p:spPr>
          <a:xfrm>
            <a:off x="6233008" y="4434840"/>
            <a:ext cx="5257800" cy="749808"/>
          </a:xfrm>
          <a:prstGeom prst="roundRect">
            <a:avLst>
              <a:gd name="adj" fmla="val 14634"/>
            </a:avLst>
          </a:prstGeom>
          <a:solidFill>
            <a:schemeClr val="bg1"/>
          </a:solidFill>
          <a:ln w="12700">
            <a:solidFill>
              <a:schemeClr val="accent2"/>
            </a:solidFill>
            <a:prstDash val="solid"/>
          </a:ln>
        </p:spPr>
      </p:sp>
      <p:sp>
        <p:nvSpPr>
          <p:cNvPr id="41" name="Shape 39"/>
          <p:cNvSpPr/>
          <p:nvPr/>
        </p:nvSpPr>
        <p:spPr>
          <a:xfrm>
            <a:off x="10805008" y="4544568"/>
            <a:ext cx="530352" cy="530352"/>
          </a:xfrm>
          <a:prstGeom prst="star8">
            <a:avLst/>
          </a:prstGeom>
          <a:solidFill>
            <a:schemeClr val="accent2"/>
          </a:solidFill>
          <a:ln/>
        </p:spPr>
      </p:sp>
      <p:sp>
        <p:nvSpPr>
          <p:cNvPr id="42" name="Shape 40"/>
          <p:cNvSpPr/>
          <p:nvPr/>
        </p:nvSpPr>
        <p:spPr>
          <a:xfrm>
            <a:off x="10911078" y="4650638"/>
            <a:ext cx="318211" cy="318211"/>
          </a:xfrm>
          <a:prstGeom prst="ellipse">
            <a:avLst/>
          </a:prstGeom>
          <a:solidFill>
            <a:schemeClr val="bg2"/>
          </a:solidFill>
          <a:ln w="19050">
            <a:solidFill>
              <a:schemeClr val="tx2"/>
            </a:solidFill>
            <a:prstDash val="solid"/>
          </a:ln>
        </p:spPr>
      </p:sp>
      <p:sp>
        <p:nvSpPr>
          <p:cNvPr id="43" name="Text 41"/>
          <p:cNvSpPr txBox="1"/>
          <p:nvPr/>
        </p:nvSpPr>
        <p:spPr>
          <a:xfrm>
            <a:off x="10805008" y="454456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٧</a:t>
            </a:r>
            <a:endParaRPr lang="ar-SA" sz="1400" dirty="0"/>
          </a:p>
        </p:txBody>
      </p:sp>
      <p:sp>
        <p:nvSpPr>
          <p:cNvPr id="44" name="Text 42"/>
          <p:cNvSpPr txBox="1"/>
          <p:nvPr/>
        </p:nvSpPr>
        <p:spPr>
          <a:xfrm>
            <a:off x="6415888" y="450799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غزوة أُحُد والتذكير ببدر</a:t>
            </a:r>
            <a:endParaRPr lang="ar-SA" sz="1700" dirty="0"/>
          </a:p>
        </p:txBody>
      </p:sp>
      <p:sp>
        <p:nvSpPr>
          <p:cNvPr id="45" name="Text 43"/>
          <p:cNvSpPr txBox="1"/>
          <p:nvPr/>
        </p:nvSpPr>
        <p:spPr>
          <a:xfrm>
            <a:off x="6415888" y="487375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١٢١ – ١٢٩</a:t>
            </a:r>
            <a:endParaRPr lang="ar-SA" sz="1300" dirty="0"/>
          </a:p>
        </p:txBody>
      </p:sp>
      <p:sp>
        <p:nvSpPr>
          <p:cNvPr id="46" name="Shape 44"/>
          <p:cNvSpPr/>
          <p:nvPr/>
        </p:nvSpPr>
        <p:spPr>
          <a:xfrm>
            <a:off x="700888" y="4434840"/>
            <a:ext cx="5257800" cy="749808"/>
          </a:xfrm>
          <a:prstGeom prst="roundRect">
            <a:avLst>
              <a:gd name="adj" fmla="val 14634"/>
            </a:avLst>
          </a:prstGeom>
          <a:solidFill>
            <a:schemeClr val="accent5"/>
          </a:solidFill>
          <a:ln w="12700">
            <a:solidFill>
              <a:schemeClr val="accent2"/>
            </a:solidFill>
            <a:prstDash val="solid"/>
          </a:ln>
        </p:spPr>
      </p:sp>
      <p:sp>
        <p:nvSpPr>
          <p:cNvPr id="47" name="Shape 45"/>
          <p:cNvSpPr/>
          <p:nvPr/>
        </p:nvSpPr>
        <p:spPr>
          <a:xfrm>
            <a:off x="5272888" y="4544568"/>
            <a:ext cx="530352" cy="530352"/>
          </a:xfrm>
          <a:prstGeom prst="star8">
            <a:avLst/>
          </a:prstGeom>
          <a:solidFill>
            <a:schemeClr val="accent2"/>
          </a:solidFill>
          <a:ln/>
        </p:spPr>
      </p:sp>
      <p:sp>
        <p:nvSpPr>
          <p:cNvPr id="48" name="Shape 46"/>
          <p:cNvSpPr/>
          <p:nvPr/>
        </p:nvSpPr>
        <p:spPr>
          <a:xfrm>
            <a:off x="5378958" y="4650638"/>
            <a:ext cx="318211" cy="318211"/>
          </a:xfrm>
          <a:prstGeom prst="ellipse">
            <a:avLst/>
          </a:prstGeom>
          <a:solidFill>
            <a:schemeClr val="bg2"/>
          </a:solidFill>
          <a:ln w="19050">
            <a:solidFill>
              <a:schemeClr val="tx2"/>
            </a:solidFill>
            <a:prstDash val="solid"/>
          </a:ln>
        </p:spPr>
      </p:sp>
      <p:sp>
        <p:nvSpPr>
          <p:cNvPr id="49" name="Text 47"/>
          <p:cNvSpPr txBox="1"/>
          <p:nvPr/>
        </p:nvSpPr>
        <p:spPr>
          <a:xfrm>
            <a:off x="5272888" y="454456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٨</a:t>
            </a:r>
            <a:endParaRPr lang="ar-SA" sz="1400" dirty="0"/>
          </a:p>
        </p:txBody>
      </p:sp>
      <p:sp>
        <p:nvSpPr>
          <p:cNvPr id="50" name="Text 48"/>
          <p:cNvSpPr txBox="1"/>
          <p:nvPr/>
        </p:nvSpPr>
        <p:spPr>
          <a:xfrm>
            <a:off x="883768" y="450799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صفات المتقين ودروس أُحُد</a:t>
            </a:r>
            <a:endParaRPr lang="ar-SA" sz="1700" dirty="0"/>
          </a:p>
        </p:txBody>
      </p:sp>
      <p:sp>
        <p:nvSpPr>
          <p:cNvPr id="51" name="Text 49"/>
          <p:cNvSpPr txBox="1"/>
          <p:nvPr/>
        </p:nvSpPr>
        <p:spPr>
          <a:xfrm>
            <a:off x="883768" y="487375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١٣٠ – ١٤٨</a:t>
            </a:r>
            <a:endParaRPr lang="ar-SA" sz="1300" dirty="0"/>
          </a:p>
        </p:txBody>
      </p:sp>
      <p:sp>
        <p:nvSpPr>
          <p:cNvPr id="52" name="Shape 50"/>
          <p:cNvSpPr/>
          <p:nvPr/>
        </p:nvSpPr>
        <p:spPr>
          <a:xfrm>
            <a:off x="6233008" y="5303520"/>
            <a:ext cx="5257800" cy="749808"/>
          </a:xfrm>
          <a:prstGeom prst="roundRect">
            <a:avLst>
              <a:gd name="adj" fmla="val 14634"/>
            </a:avLst>
          </a:prstGeom>
          <a:solidFill>
            <a:schemeClr val="bg1"/>
          </a:solidFill>
          <a:ln w="12700">
            <a:solidFill>
              <a:schemeClr val="accent2"/>
            </a:solidFill>
            <a:prstDash val="solid"/>
          </a:ln>
        </p:spPr>
      </p:sp>
      <p:sp>
        <p:nvSpPr>
          <p:cNvPr id="53" name="Shape 51"/>
          <p:cNvSpPr/>
          <p:nvPr/>
        </p:nvSpPr>
        <p:spPr>
          <a:xfrm>
            <a:off x="10805008" y="5413248"/>
            <a:ext cx="530352" cy="530352"/>
          </a:xfrm>
          <a:prstGeom prst="star8">
            <a:avLst/>
          </a:prstGeom>
          <a:solidFill>
            <a:schemeClr val="accent2"/>
          </a:solidFill>
          <a:ln/>
        </p:spPr>
      </p:sp>
      <p:sp>
        <p:nvSpPr>
          <p:cNvPr id="54" name="Shape 52"/>
          <p:cNvSpPr/>
          <p:nvPr/>
        </p:nvSpPr>
        <p:spPr>
          <a:xfrm>
            <a:off x="10911078" y="5519318"/>
            <a:ext cx="318211" cy="318211"/>
          </a:xfrm>
          <a:prstGeom prst="ellipse">
            <a:avLst/>
          </a:prstGeom>
          <a:solidFill>
            <a:schemeClr val="bg2"/>
          </a:solidFill>
          <a:ln w="19050">
            <a:solidFill>
              <a:schemeClr val="tx2"/>
            </a:solidFill>
            <a:prstDash val="solid"/>
          </a:ln>
        </p:spPr>
      </p:sp>
      <p:sp>
        <p:nvSpPr>
          <p:cNvPr id="55" name="Text 53"/>
          <p:cNvSpPr txBox="1"/>
          <p:nvPr/>
        </p:nvSpPr>
        <p:spPr>
          <a:xfrm>
            <a:off x="10805008" y="541324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٩</a:t>
            </a:r>
            <a:endParaRPr lang="ar-SA" sz="1400" dirty="0"/>
          </a:p>
        </p:txBody>
      </p:sp>
      <p:sp>
        <p:nvSpPr>
          <p:cNvPr id="56" name="Text 54"/>
          <p:cNvSpPr txBox="1"/>
          <p:nvPr/>
        </p:nvSpPr>
        <p:spPr>
          <a:xfrm>
            <a:off x="6415888" y="537667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أسباب الهزيمة وفضل الشهداء</a:t>
            </a:r>
            <a:endParaRPr lang="ar-SA" sz="1700" dirty="0"/>
          </a:p>
        </p:txBody>
      </p:sp>
      <p:sp>
        <p:nvSpPr>
          <p:cNvPr id="57" name="Text 55"/>
          <p:cNvSpPr txBox="1"/>
          <p:nvPr/>
        </p:nvSpPr>
        <p:spPr>
          <a:xfrm>
            <a:off x="6415888" y="574243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١٤٩ – ١٧٥</a:t>
            </a:r>
            <a:endParaRPr lang="ar-SA" sz="1300" dirty="0"/>
          </a:p>
        </p:txBody>
      </p:sp>
      <p:sp>
        <p:nvSpPr>
          <p:cNvPr id="58" name="Shape 56"/>
          <p:cNvSpPr/>
          <p:nvPr/>
        </p:nvSpPr>
        <p:spPr>
          <a:xfrm>
            <a:off x="700888" y="5303520"/>
            <a:ext cx="5257800" cy="749808"/>
          </a:xfrm>
          <a:prstGeom prst="roundRect">
            <a:avLst>
              <a:gd name="adj" fmla="val 14634"/>
            </a:avLst>
          </a:prstGeom>
          <a:solidFill>
            <a:schemeClr val="accent5"/>
          </a:solidFill>
          <a:ln w="12700">
            <a:solidFill>
              <a:schemeClr val="accent2"/>
            </a:solidFill>
            <a:prstDash val="solid"/>
          </a:ln>
        </p:spPr>
      </p:sp>
      <p:sp>
        <p:nvSpPr>
          <p:cNvPr id="59" name="Shape 57"/>
          <p:cNvSpPr/>
          <p:nvPr/>
        </p:nvSpPr>
        <p:spPr>
          <a:xfrm>
            <a:off x="5272888" y="5413248"/>
            <a:ext cx="530352" cy="530352"/>
          </a:xfrm>
          <a:prstGeom prst="star8">
            <a:avLst/>
          </a:prstGeom>
          <a:solidFill>
            <a:schemeClr val="accent2"/>
          </a:solidFill>
          <a:ln/>
        </p:spPr>
      </p:sp>
      <p:sp>
        <p:nvSpPr>
          <p:cNvPr id="60" name="Shape 58"/>
          <p:cNvSpPr/>
          <p:nvPr/>
        </p:nvSpPr>
        <p:spPr>
          <a:xfrm>
            <a:off x="5378958" y="5519318"/>
            <a:ext cx="318211" cy="318211"/>
          </a:xfrm>
          <a:prstGeom prst="ellipse">
            <a:avLst/>
          </a:prstGeom>
          <a:solidFill>
            <a:schemeClr val="bg2"/>
          </a:solidFill>
          <a:ln w="19050">
            <a:solidFill>
              <a:schemeClr val="tx2"/>
            </a:solidFill>
            <a:prstDash val="solid"/>
          </a:ln>
        </p:spPr>
      </p:sp>
      <p:sp>
        <p:nvSpPr>
          <p:cNvPr id="61" name="Text 59"/>
          <p:cNvSpPr txBox="1"/>
          <p:nvPr/>
        </p:nvSpPr>
        <p:spPr>
          <a:xfrm>
            <a:off x="5272888" y="541324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١٠</a:t>
            </a:r>
            <a:endParaRPr lang="ar-SA" sz="1400" dirty="0"/>
          </a:p>
        </p:txBody>
      </p:sp>
      <p:sp>
        <p:nvSpPr>
          <p:cNvPr id="62" name="Text 60"/>
          <p:cNvSpPr txBox="1"/>
          <p:nvPr/>
        </p:nvSpPr>
        <p:spPr>
          <a:xfrm>
            <a:off x="883768" y="537667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التفكّر في الخلق وخاتمة السورة</a:t>
            </a:r>
            <a:endParaRPr lang="ar-SA" sz="1700" dirty="0"/>
          </a:p>
        </p:txBody>
      </p:sp>
      <p:sp>
        <p:nvSpPr>
          <p:cNvPr id="63" name="Text 61"/>
          <p:cNvSpPr txBox="1"/>
          <p:nvPr/>
        </p:nvSpPr>
        <p:spPr>
          <a:xfrm>
            <a:off x="883768" y="574243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١٧٦ – ٢٠٠</a:t>
            </a:r>
            <a:endParaRPr lang="ar-SA" sz="13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التوحيد والإيمان بالكتاب</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١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 – 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آل عمران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ذكر ابن كثير أن صدر هذه السورة نزل في وفد نصارى نجران، لما قدموا على النبي صلى الله عليه وسلم في المدينة يجادلونه في شأن عيسى عليه السلام.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تقرير وحدانية الله الحيّ القيوم، وأنه أنزل الكتب هدى للناس، وبيان المحكم والمتشابه، ودعاء الراسخين في العلم.</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«الم» حروف مقطّعة، والله أعلم بمرادها.</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لَآ إِلَٰهَ إِلَّا هُوَ الْحَيُّ الْقَيُّومُ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لا معبود بحق إلا هو، الحيّ الدائم، القائم بتدبير خلقه.</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نَزَّلَ عَلَيْكَ الْكِتَٰبَ بِالْحَقِّ مُصَدِّقًا لِّمَا بَيْنَ يَدَيْهِ وَأَنزَلَ التَّوْرَىٰةَ وَالْإِنجِيلَ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نزّل عليك القرآن بالحق، مصدّقًا لما قبله من الكتب، وأنزل التوراة والإنجيل.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قَبْلُ هُدًى لِّلنَّاسِ وَأَنزَلَ الْفُرْقَانَ إِنَّ الَّذِينَ كَفَرُواْ بِـَٔايَٰتِ اللَّهِ لَهُمْ عَذَابٌ شَدِيدٌ وَاللَّهُ عَزِيزٌ ذُو انتِقَامٍ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قبل القرآن هدايةً للناس، وأنزل القرآن الفارق بين الحق والباطل، إن الذين كفروا بآيات الله لهم عذاب شديد، والله عزيز ذو انتقام.</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اللَّهَ لَا يَخْفَىٰ عَلَيْهِ شَيْءٌ فِي الْأَرْضِ وَلَا فِي السَّمَآءِ</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الله لا يخفى عليه شيء في الأرض ولا في السماء.</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 – 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8" name="Text 6"/>
          <p:cNvSpPr txBox="1"/>
          <p:nvPr/>
        </p:nvSpPr>
        <p:spPr>
          <a:xfrm>
            <a:off x="731520" y="1353312"/>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الَّذِي يُصَوِّرُكُمْ فِي الْأَرْحَامِ كَيْفَ يَشَآءُ لَآ إِلَٰهَ إِلَّا هُوَ الْعَزِيزُ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الذي يصوّركم في بطون أمهاتكم كيف يشاء: ذكرًا أو أنثى، وعلى أي صورة شاء، لا إله إلا هو العزيز الحكيم.</a:t>
            </a:r>
            <a:endParaRPr lang="ar-SA" sz="3200" dirty="0"/>
          </a:p>
        </p:txBody>
      </p:sp>
      <p:sp>
        <p:nvSpPr>
          <p:cNvPr id="9" name="Shape 7"/>
          <p:cNvSpPr/>
          <p:nvPr/>
        </p:nvSpPr>
        <p:spPr>
          <a:xfrm>
            <a:off x="2103120" y="2788920"/>
            <a:ext cx="8641080" cy="0"/>
          </a:xfrm>
          <a:prstGeom prst="line">
            <a:avLst/>
          </a:prstGeom>
          <a:noFill/>
          <a:ln w="9525">
            <a:solidFill>
              <a:schemeClr val="accent2"/>
            </a:solidFill>
            <a:prstDash val="dash"/>
          </a:ln>
        </p:spPr>
      </p:sp>
      <p:sp>
        <p:nvSpPr>
          <p:cNvPr id="10" name="Shape 8"/>
          <p:cNvSpPr/>
          <p:nvPr/>
        </p:nvSpPr>
        <p:spPr>
          <a:xfrm>
            <a:off x="10927080" y="2962656"/>
            <a:ext cx="548640" cy="548640"/>
          </a:xfrm>
          <a:prstGeom prst="star8">
            <a:avLst/>
          </a:prstGeom>
          <a:solidFill>
            <a:schemeClr val="accent2"/>
          </a:solidFill>
          <a:ln/>
        </p:spPr>
      </p:sp>
      <p:sp>
        <p:nvSpPr>
          <p:cNvPr id="11" name="Shape 9"/>
          <p:cNvSpPr/>
          <p:nvPr/>
        </p:nvSpPr>
        <p:spPr>
          <a:xfrm>
            <a:off x="11036808" y="30723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626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3" name="Text 11"/>
          <p:cNvSpPr txBox="1"/>
          <p:nvPr/>
        </p:nvSpPr>
        <p:spPr>
          <a:xfrm>
            <a:off x="731520" y="2944368"/>
            <a:ext cx="10012680" cy="306324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الَّذِي أَنزَلَ عَلَيْكَ الْكِتَٰبَ مِنْهُ ءَايَٰتٌ مُّحْكَمَٰتٌ هُنَّ أُمُّ الْكِتَٰبِ وَأُخَرُ مُتَشَٰبِهَٰتٌ فَأَمَّا الَّذِينَ فِي قُلُوبِهِمْ زَيْغٌ فَيَتَّبِعُونَ مَا تَشَٰبَهَ مِنْهُ ابْتِغَآءَ الْفِتْنَةِ وَابْتِغَآءَ تَأْوِيلِهِ وَمَا يَعْلَمُ تَأْوِيلَهُ إِلَّا اللَّهُ وَالرَّـٰسِخُونَ فِي الْعِلْمِ يَقُولُونَ ءَامَنَّا بِهِ كُلٌّ مِّنْ عِندِ رَبِّنَا وَمَا يَذَّكَّرُ إِلَّآ أُوْلُواْ الْأَلْبَٰبِ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الذي أنزل عليك القرآن، منه آيات واضحات المعنى هي أصله، وأُخر يشتبه معناها على بعض الناس، فأما أهل الزيغ فيتّبعون المتشابه طلبًا للفتنة، والراسخون في العلم يقولون: آمنّا به، كلٌّ من عند ربنا.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 – 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00884"/>
            <a:ext cx="548640" cy="548640"/>
          </a:xfrm>
          <a:prstGeom prst="star8">
            <a:avLst/>
          </a:prstGeom>
          <a:solidFill>
            <a:schemeClr val="accent2"/>
          </a:solidFill>
          <a:ln/>
        </p:spPr>
      </p:sp>
      <p:sp>
        <p:nvSpPr>
          <p:cNvPr id="6" name="Shape 4"/>
          <p:cNvSpPr/>
          <p:nvPr/>
        </p:nvSpPr>
        <p:spPr>
          <a:xfrm>
            <a:off x="11036808" y="261061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008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8" name="Text 6"/>
          <p:cNvSpPr txBox="1"/>
          <p:nvPr/>
        </p:nvSpPr>
        <p:spPr>
          <a:xfrm>
            <a:off x="731520" y="248259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رَبَّنَا لَا تُزِغْ قُلُوبَنَا بَعْدَ إِذْ هَدَيْتَنَا وَهَبْ لَنَا مِن لَّدُنكَ رَحْمَةً إِنَّكَ أَنتَ الْوَهَّابُ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يدعون: ربنا لا تُمِل قلوبنا عن الحق بعد إذ هديتنا، وهب لنا من عندك رحمة، إنك أنت الوهاب.</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3" name="Text 11"/>
          <p:cNvSpPr txBox="1"/>
          <p:nvPr/>
        </p:nvSpPr>
        <p:spPr>
          <a:xfrm>
            <a:off x="731520" y="390906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رَبَّنَآ إِنَّكَ جَامِعُ النَّاسِ لِيَوْمٍ لَّا رَيْبَ فِيهِ إِنَّ اللَّهَ لَا يُخْلِفُ الْمِيعَادَ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ربنا إنك جامع الناس ليوم القيامة الذي لا شك فيه، إن الله لا يخلف الميعاد.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400" b="1" dirty="0">
                <a:solidFill>
                  <a:schemeClr val="accent2"/>
                </a:solidFill>
                <a:latin typeface="Sakkal Majalla" pitchFamily="34" charset="0"/>
                <a:ea typeface="Sakkal Majalla" pitchFamily="34" charset="-122"/>
                <a:cs typeface="Sakkal Majalla" pitchFamily="34" charset="-120"/>
              </a:rPr>
              <a:t>عاقبة الكافرين وزينة الدنيا</a:t>
            </a:r>
            <a:endParaRPr lang="ar-SA" sz="2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٢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١٠ – ٢٠</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آل عمران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بيان أن الأموال والأولاد لا تنفع الكافرين، والعبرة من غزوة بدر، وحقيقة شهوات الدنيا، وصفات المتقين، وأن الدين عند الله الإسلام.</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كَفَرُواْ لَن تُغْنِيَ عَنْهُمْ أَمْوَٰلُهُمْ وَلَآ أَوْلَٰدُهُم مِّنَ اللَّهِ شَيْـًٔا وَأُوْلَـٰئِكَ هُمْ وَقُودُ النَّارِ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الكفار لن تنفعهم أموالهم ولا أولادهم عند الله شيئًا، وأولئك هم وقود النار.</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3" name="Text 11"/>
          <p:cNvSpPr txBox="1"/>
          <p:nvPr/>
        </p:nvSpPr>
        <p:spPr>
          <a:xfrm>
            <a:off x="731520" y="319582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كَدَأْبِ ءَالِ فِرْعَوْنَ وَالَّذِينَ مِن قَبْلِهِمْ كَذَّبُواْ بِـَٔايَٰتِنَا فَأَخَذَهُمُ اللَّهُ بِذُنُوبِهِمْ وَاللَّهُ شَدِيدُ الْعِقَابِ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حالهم كحال فرعون ومن قبله، كذّبوا بآياتنا فأهلكهم الله بذنوبهم، والله شديد العقاب.</a:t>
            </a:r>
            <a:endParaRPr lang="ar-SA" sz="3200" dirty="0"/>
          </a:p>
        </p:txBody>
      </p:sp>
      <p:sp>
        <p:nvSpPr>
          <p:cNvPr id="14" name="Shape 12"/>
          <p:cNvSpPr/>
          <p:nvPr/>
        </p:nvSpPr>
        <p:spPr>
          <a:xfrm>
            <a:off x="2103120" y="4879848"/>
            <a:ext cx="8641080" cy="0"/>
          </a:xfrm>
          <a:prstGeom prst="line">
            <a:avLst/>
          </a:prstGeom>
          <a:noFill/>
          <a:ln w="9525">
            <a:solidFill>
              <a:schemeClr val="accent2"/>
            </a:solidFill>
            <a:prstDash val="dash"/>
          </a:ln>
        </p:spPr>
      </p:sp>
      <p:sp>
        <p:nvSpPr>
          <p:cNvPr id="15" name="Shape 13"/>
          <p:cNvSpPr/>
          <p:nvPr/>
        </p:nvSpPr>
        <p:spPr>
          <a:xfrm>
            <a:off x="10927080" y="5055108"/>
            <a:ext cx="548640" cy="548640"/>
          </a:xfrm>
          <a:prstGeom prst="star8">
            <a:avLst/>
          </a:prstGeom>
          <a:solidFill>
            <a:schemeClr val="accent2"/>
          </a:solidFill>
          <a:ln/>
        </p:spPr>
      </p:sp>
      <p:sp>
        <p:nvSpPr>
          <p:cNvPr id="16" name="Shape 14"/>
          <p:cNvSpPr/>
          <p:nvPr/>
        </p:nvSpPr>
        <p:spPr>
          <a:xfrm>
            <a:off x="11036808" y="516483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551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8" name="Text 16"/>
          <p:cNvSpPr txBox="1"/>
          <p:nvPr/>
        </p:nvSpPr>
        <p:spPr>
          <a:xfrm>
            <a:off x="731520" y="50368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لِّلَّذِينَ كَفَرُواْ سَتُغْلَبُونَ وَتُحْشَرُونَ إِلَىٰ جَهَنَّمَ وَبِئْسَ الْمِهَادُ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للكفار: ستُهزمون في الدنيا، وتُجمعون إلى جهنم، وبئس الفراش.</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قَدْ كَانَ لَكُمْ ءَايَةٌ فِي فِئَتَيْنِ الْتَقَتَا فِئَةٌ تُقَٰتِلُ فِي سَبِيلِ اللَّهِ وَأُخْرَىٰ كَافِرَةٌ يَرَوْنَهُم مِّثْلَيْهِمْ رَأْيَ الْعَيْنِ وَاللَّهُ يُؤَيِّدُ بِنَصْرِهِ مَن يَشَآءُ إِنَّ فِي ذَٰلِكَ لَعِبْرَةً لِّأُوْلِي الْأَبْصَٰرِ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قد كان لكم عبرة في الجماعتين اللتين التقتا يوم بدر: جماعة مؤمنة تقاتل في سبيل الله، وأخرى كافرة كثيرة، فنصر الله القليلة المؤمنة، والله يؤيّد بنصره من يشاء.</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زُيِّنَ لِلنَّاسِ حُبُّ الشَّهَوَٰتِ مِنَ النِّسَآءِ وَالْبَنِينَ وَالْقَنَٰطِيرِ الْمُقَنطَرَةِ مِنَ الذَّهَبِ وَالْفِضَّةِ وَالْخَيْلِ الْمُسَوَّمَةِ وَالْأَنْعَٰمِ وَالْحَرْثِ ذَٰلِكَ مَتَٰعُ الْحَيَوٰةِ الدُّنْيَا وَاللَّهُ عِندَهُ حُسْنُ الْمَـَٔابِ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زُيّن للناس حبّ الشهوات: النساء والأولاد، والأموال الكثيرة من الذهب والفضة، والخيل الحسان، والأنعام، والزروع، ذلك متاع الدنيا الزائل، والله عنده حسن المرجع.</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أَؤُنَبِّئُكُم بِخَيْرٍ مِّن ذَٰلِكُمْ لِلَّذِينَ اتَّقَوْاْ عِندَ رَبِّهِمْ جَنَّـٰتٌ تَجْرِي مِن تَحْتِهَا الْأَنْهَٰرُ خَٰلِدِينَ فِيهَا وَأَزْوَٰجٌ مُّطَهَّرَةٌ وَرِضْوَٰنٌ مِّنَ اللَّهِ وَاللَّهُ بَصِيرٌ بِالْعِبَادِ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أأخبركم بخير من ذلك؟ للمتقين عند ربهم جنات تجري من تحتها الأنهار خالدين فيها، وأزواج مطهّرة، ورضوان من الله، والله بصير بالعباد.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يَقُولُونَ رَبَّنَآ إِنَّنَآ ءَامَنَّا فَاغْفِرْ لَنَا ذُنُوبَنَا وَقِنَا عَذَابَ النَّارِ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يقولون: ربنا إننا آمنّا، فاغفر لنا ذنوبنا، وقنا عذاب النار.</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الصَّـٰبِرِينَ وَالصَّـٰدِقِينَ وَالْقَٰنِتِينَ وَالْمُنفِقِينَ وَالْمُسْتَغْفِرِينَ بِالْأَسْحَارِ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الصابرين، والصادقين، والمطيعين لله، والمنفقين، والمستغفرين في آخر الليل.</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شَهِدَ اللَّهُ أَنَّهُ لَآ إِلَٰهَ إِلَّا هُوَ وَالْمَلَـٰئِكَةُ وَأُوْلُواْ الْعِلْمِ قَآئِمًا بِالْقِسْطِ لَآ إِلَٰهَ إِلَّا هُوَ الْعَزِيزُ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شهد الله أنه لا معبود بحق إلا هو، وشهدت بذلك الملائكة وأهل العلم، وهو قائم بالعدل، لا إله إلا هو العزيز الحكيم.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الدِّينَ عِندَ اللَّهِ الْإِسْلَٰمُ وَمَا اخْتَلَفَ الَّذِينَ أُوتُواْ الْكِتَٰبَ إِلَّا مِن بَعْدِ مَا جَآءَهُمُ الْعِلْمُ بَغْيًا بَيْنَهُمْ وَمَن يَكْفُرْ بِـَٔايَٰتِ اللَّهِ فَإِنَّ اللَّهَ سَرِيعُ الْحِسَابِ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الدين المقبول عند الله هو الإسلام، وما اختلف أهل الكتاب إلا بعد ما جاءهم العلم حسدًا بينهم، ومن يكفر بآيات الله فإن الله سريع الحساب.</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 حَآجُّوكَ فَقُلْ أَسْلَمْتُ وَجْهِيَ لِلَّهِ وَمَنِ اتَّبَعَنِ وَقُل لِّلَّذِينَ أُوتُواْ الْكِتَٰبَ وَالْأُمِّيِّـنَ ءَأَسْلَمْتُمْ فَإِنْ أَسْلَمُواْ فَقَدِ اهْتَدَواْ وَّإِن تَوَلَّوْاْ فَإِنَّمَا عَلَيْكَ الْبَلَٰغُ وَاللَّهُ بَصِيرٌ بِالْعِبَادِ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 جادلوك فقل: أخلصت عبادتي لله أنا ومن اتبعني، وقل لأهل الكتاب والعرب: أأسلمتم؟ فإن أسلموا فقد اهتدوا، وإن أعرضوا فإنما عليك البلاغ.</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400" b="1" dirty="0">
                <a:solidFill>
                  <a:schemeClr val="accent2"/>
                </a:solidFill>
                <a:latin typeface="Sakkal Majalla" pitchFamily="34" charset="0"/>
                <a:ea typeface="Sakkal Majalla" pitchFamily="34" charset="-122"/>
                <a:cs typeface="Sakkal Majalla" pitchFamily="34" charset="-120"/>
              </a:rPr>
              <a:t>الرد على أهل الكتاب واتباع الرسول</a:t>
            </a:r>
            <a:endParaRPr lang="ar-SA" sz="2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٣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٢١ – ٣٢</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آل عمران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تهديد من يقتل الأنبياء والآمرين بالعدل، وبيان أن الملك بيد الله، وأن علامة محبة الله اتباع رسوله صلى الله عليه وسلم.</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يَكْفُرُونَ بِـَٔايَٰتِ اللَّهِ وَيَقْتُلُونَ النَّبِيِّـنَ بِغَيْرِ حَقٍّ وَيَقْتُلُونَ الَّذِينَ يَأْمُرُونَ بِالْقِسْطِ مِنَ النَّاسِ فَبَشِّرْهُم بِعَذَابٍ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يكفرون بآيات الله، ويقتلون الأنبياء ظلمًا، ويقتلون الذين يأمرون بالعدل من الناس، فبشّرهم بعذاب مؤلم.</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الَّذِينَ حَبِطَتْ أَعْمَٰلُهُمْ فِي الدُّنْيَا وَالْأخِرَةِ وَمَا لَهُم مِّن نَّـٰصِرِينَ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الذين بطلت أعمالهم في الدنيا والآخرة، وما لهم من ناصرين.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٢٣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 إِلَى الَّذِينَ أُوتُواْ نَصِيبًا مِّنَ الْكِتَٰبِ يُدْعَوْنَ إِلَىٰ كِتَٰبِ اللَّهِ لِيَحْكُمَ بَيْنَهُمْ ثُمَّ يَتَوَلَّىٰ فَرِيقٌ مِّنْهُمْ وَهُم مُّعْرِضُونَ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ترَ إلى أهل الكتاب يُدعون إلى كتاب الله ليحكم بينهم، ثم يُعرض فريق منهم وهم معرضون؟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بِأَنَّهُمْ قَالُواْ لَن تَمَسَّنَا النَّارُ إِلَّآ أَيَّامًا مَّعْدُودَٰتٍ وَغَرَّهُمْ فِي دِينِهِم مَّا كَانُواْ يَفْتَرُونَ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لأنهم قالوا: لن تمسّنا النار إلا أيامًا قليلة، وخدعهم ما كانوا يكذبون.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فَكَيْفَ إِذَا جَمَعْنَٰهُمْ لِيَوْمٍ لَّا رَيْبَ فِيهِ وَوُفِّيَتْ كُلُّ نَفْسٍ مَّا كَسَبَتْ وَهُمْ لَا يُظْلَمُونَ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فكيف حالهم إذا جمعناهم ليوم القيامة الذي لا شك فيه، وجُزيت كل نفس بعملها وهم لا يُظلمون؟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اللَّهُمَّ مَٰلِكَ الْمُلْكِ تُؤْتِي الْمُلْكَ مَن تَشَآءُ وَتَنزِعُ الْمُلْكَ مِمَّن تَشَآءُ وَتُعِزُّ مَن تَشَآءُ وَتُذِلُّ مَن تَشَآءُ بِيَدِكَ الْخَيْرُ إِنَّكَ عَلَىٰ كُلِّ شَيْءٍ 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اللهم يا مالك الملك، تعطي الملك من تشاء، وتنزعه ممن تشاء، وتُعزّ من تشاء، وتُذلّ من تشاء، بيدك الخير، إنك على كل شيء قدير.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٢٧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تُولِجُ الَّيْلَ فِي النَّهَارِ وَتُولِجُ النَّهَارَ فِي الَّيْلِ وَتُخْرِجُ الْحَيَّ مِنَ الْمَيِّتِ وَتُخْرِجُ الْمَيِّتَ مِنَ الْحَيِّ وَتَرْزُقُ مَن تَشَآءُ بِغَيْرِ حِسَابٍ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تُدخل الليل في النهار والنهار في الليل، وتُخرج الحيّ من الميت كالنبات من الحَبّ، والميت من الحيّ، وترزق من تشاء بغير حساب.</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يَتَّخِذِ الْمُؤْمِنُونَ الْكَٰفِرِينَ أَوْلِيَآءَ مِن دُونِ الْمُؤْمِنِينَ وَمَن يَفْعَلْ ذَٰلِكَ فَلَيْسَ مِنَ اللَّهِ فِي شَيْءٍ إِلَّآ أَن تَتَّقُواْ مِنْهُمْ تُقَىٰةً وَيُحَذِّرُكُمُ اللَّهُ نَفْسَهُ وَإِلَى اللَّهِ الْمَصِيرُ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يتخذ المؤمنون الكفار أنصارًا وأحبّاء من دون المؤمنين، ومن يفعل ذلك فليس من الله في شيء، إلا أن تخافوا منهم أذى فتداروهم بألسنتكم، ويحذّركم الله نفسه.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 تُخْفُواْ مَا فِي صُدُورِكُمْ أَوْ تُبْدُوهُ يَعْلَمْهُ اللَّهُ وَيَعْلَمُ مَا فِي السَّمَٰوَٰتِ وَمَا فِي الْأَرْضِ وَاللَّهُ عَلَىٰ كُلِّ شَيْءٍ 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إن تُخفوا ما في صدوركم أو تُظهروه يعلمه الله، ويعلم ما في السماوات والأرض، والله على كل شيء قدير.</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تَجِدُ كُلُّ نَفْسٍ مَّا عَمِلَتْ مِنْ خَيْرٍ مُّحْضَرًا وَمَا عَمِلَتْ مِن سُوءٍ تَوَدُّ لَوْ أَنَّ بَيْنَهَا وَبَيْنَهُ أَمَدًا بَعِيدًا وَيُحَذِّرُكُمُ اللَّهُ نَفْسَهُ وَاللَّهُ رَءُوفٌ بِالْعِبَادِ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تجد كل نفس ما عملت من خير حاضرًا، وما عملت من سوء تتمنّى لو أن بينها وبينه مسافة بعيدة، ويحذّركم الله نفسه، والله رؤوف بالعباد.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٣١ – 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 كُنتُمْ تُحِبُّونَ اللَّهَ فَاتَّبِعُونِي يُحْبِبْكُمُ اللَّهُ وَيَغْفِرْ لَكُمْ ذُنُوبَكُمْ وَاللَّهُ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إن كنتم تحبون الله حقًا فاتبعوني، يحببكم الله ويغفر لكم ذنوبكم. قال ابن كثير: هذه الآية حاكمة على كل من ادّعى محبة الله وليس على طريقة محمد صلى الله عليه وسلم.</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أَطِيعُواْ اللَّهَ وَالرَّسُولَ فَإِن تَوَلَّوْاْ فَإِنَّ اللَّهَ لَا يُحِبُّ الْكَٰفِرِينَ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أطيعوا الله والرسول، فإن أعرضوا فإن الله لا يحب الكافرين.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400" b="1" dirty="0">
                <a:solidFill>
                  <a:schemeClr val="accent2"/>
                </a:solidFill>
                <a:latin typeface="Sakkal Majalla" pitchFamily="34" charset="0"/>
                <a:ea typeface="Sakkal Majalla" pitchFamily="34" charset="-122"/>
                <a:cs typeface="Sakkal Majalla" pitchFamily="34" charset="-120"/>
              </a:rPr>
              <a:t>قصة آل عمران: مريم وزكريا وعيسى</a:t>
            </a:r>
            <a:endParaRPr lang="ar-SA" sz="2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٤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٣٣ – ٦٣</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آل عمران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قدم وفد نصارى نجران على النبي صلى الله عليه وسلم فجادلوه في عيسى، فنزلت هذه الآيات، ودعاهم النبي صلى الله عليه وسلم إلى المباهلة، فخافوا وامتنعوا، وصالحوه على الجزية (أصل القصة في البخاري).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قصة امرأة عمران ومريم، ودعاء زكريا وولادة يحيى، وبشارة مريم بعيسى ومعجزاته، وأن خلق عيسى كخلق آدم، ثم المباهلة. وبهذه القصة سُمّيت السورة «آل عمران».</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٣٣ – ٣٥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اللَّهَ اصْطَفَىٰ ءَادَمَ وَنُوحًا وَءَالَ إِبْرَٰهِيمَ وَءَالَ عِمْرَٰنَ عَلَى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الله اختار آدم ونوحًا وآل إبراهيم وآل عمران، وفضّلهم على أهل زمانهم.</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ذُرِّيَّةً بَعْضُهَا مِن بَعْضٍ وَاللَّهُ سَمِيعٌ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ذرية متناسلة بعضها من بعض في الإيمان والصلاح، والله سميع عليم.</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قَالَتِ امْرَأَتُ عِمْرَٰنَ رَبِّ إِنِّي نَذَرْتُ لَكَ مَا فِي بَطْنِي مُحَرَّرًا فَتَقَبَّلْ مِنِّي إِنَّكَ أَنتَ السَّمِيعُ الْعَلِيمُ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حين قالت امرأة عمران -أم مريم-: ربِّ إني نذرت لك ما في بطني خالصًا لخدمة بيت المقدس، فتقبّل مني إنك أنت السميع العليم.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٣٦ – ٣٧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وَضَعَتْهَا قَالَتْ رَبِّ إِنِّي وَضَعْتُهَآ أُنثَىٰ وَاللَّهُ أَعْلَمُ بِمَا وَضَعَتْ وَلَيْسَ الذَّكَرُ كَالْأُنثَىٰ وَإِنِّي سَمَّيْتُهَا مَرْيَمَ وَإِنِّي أُعِيذُهَا بِكَ وَذُرِّيَّتَهَا مِنَ الشَّيْطَٰنِ الرَّجِيمِ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ولدتها قالت: ربِّ إني ولدتها أنثى، وليس الذكر كالأنثى في خدمة المعبد، وإني سمّيتها مريم، وإني أُعيذها بك وذريتها من الشيطان الرجيم.</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فَتَقَبَّلَهَا رَبُّهَا بِقَبُولٍ حَسَنٍ وَأَنبَتَهَا نَبَاتًا حَسَنًا وَكَفَّلَهَا زَكَرِيَّا كُلَّمَا دَخَلَ عَلَيْهَا زَكَرِيَّا الْمِحْرَابَ وَجَدَ عِندَهَا رِزْقًا قَالَ يَٰمَرْيَمُ أَنَّىٰ لَكِ هَٰذَا قَالَتْ هُوَ مِنْ عِندِ اللَّهِ إِنَّ اللَّهَ يَرْزُقُ مَن يَشَآءُ بِغَيْرِ حِسَابٍ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فتقبّلها ربها قبولًا حسنًا، ونشّأها تنشئة حسنة، وجعل زكريا كافلًا لها، كلما دخل عليها مكان عبادتها وجد عندها رزقًا، قال: يا مريم من أين لك هذا؟ قالت: هو من عند الله، إن الله يرزق من يشاء بغير حساب.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٣٨ – ٣٩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هُنَالِكَ دَعَا زَكَرِيَّا رَبَّهُ قَالَ رَبِّ هَبْ لِي مِن لَّدُنكَ ذُرِّيَّةً طَيِّبَةً إِنَّكَ سَمِيعُ الدُّعَآءِ</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عند ذلك دعا زكريا ربه: ربِّ هب لي من عندك ولدًا صالحًا، إنك سميع الدعاء.</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فَنَادَتْهُ الْمَلَـٰئِكَةُ وَهُوَ قَآئِمٌ يُصَلِّي فِي الْمِحْرَابِ أَنَّ اللَّهَ يُبَشِّرُكَ بِيَحْيَىٰ مُصَدِّقًا بِكَلِمَةٍ مِّنَ اللَّهِ وَسَيِّدًا وَحَصُورًا وَنَبِيًّا مِّنَ الصَّـٰلِحِينَ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فنادته الملائكة وهو قائم يصلّي: إن الله يبشّرك بيحيى، مصدّقًا بعيسى، وسيدًا، وحافظًا لنفسه عن الشهوات، ونبيًّا من الصالحين.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٤٠ – ٤١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 أَنَّىٰ يَكُونُ لِي غُلَٰمٌ وَقَدْ بَلَغَنِيَ الْكِبَرُ وَامْرَأَتِي عَاقِرٌ قَالَ كَذَٰلِكَ اللَّهُ يَفْعَلُ مَا يَشَآءُ</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ربِّ كيف يكون لي ولد وقد كبرت وامرأتي عقيم؟ قال: كذلك الله يفعل ما يشاء.</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 اجْعَل لِّي ءَايَةً قَالَ ءَايَتُكَ أَلَّا تُكَلِّمَ النَّاسَ ثَلَٰثَةَ أَيَّامٍ إِلَّا رَمْزًا وَاذْكُر رَّبَّكَ كَثِيرًا وَسَبِّحْ بِالْعَشِيِّ وَالْإِبْكَٰرِ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ربِّ اجعل لي علامة، قال: علامتك ألّا تستطيع كلام الناس ثلاثة أيام إلا بالإشارة، واذكر ربك كثيرًا، وسبّح في آخر النهار وأوله.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٤٢ – ٤٣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قَالَتِ الْمَلَـٰئِكَةُ يَٰمَرْيَمُ إِنَّ اللَّهَ اصْطَفَىٰكِ وَطَهَّرَكِ وَاصْطَفَىٰكِ عَلَىٰ نِسَآءِ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حين قالت الملائكة: يا مريم، إن الله اختارك وطهّرك، وفضّلك على نساء العالمين.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يَٰمَرْيَمُ اقْنُتِي لِرَبِّكِ وَاسْجُدِي وَارْكَعِي مَعَ الرَّـٰكِعِينَ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مريم، أطيعي ربك، واسجدي واركعي مع الراكعين.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٤٤ – ٤٥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مِنْ أَنبَآءِ الْغَيْبِ نُوحِيهِ إِلَيْكَ وَمَا كُنتَ لَدَيْهِمْ إِذْ يُلْقُونَ أَقْلَٰمَهُمْ أَيُّهُمْ يَكْفُلُ مَرْيَمَ وَمَا كُنتَ لَدَيْهِمْ إِذْ يَخْتَصِمُونَ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من أخبار الغيب نوحيه إليك يا محمد، وما كنت حاضرًا عندهم حين ألقوا أقلامهم ليقترعوا أيّهم يكفل مريم، وما كنت عندهم حين يختصمون.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قَالَتِ الْمَلَـٰئِكَةُ يَٰمَرْيَمُ إِنَّ اللَّهَ يُبَشِّرُكِ بِكَلِمَةٍ مِّنْهُ اسْمُهُ الْمَسِيحُ عِيسَى ابْنُ مَرْيَمَ وَجِيهًا فِي الدُّنْيَا وَالْأخِرَةِ وَمِنَ الْمُقَرَّبِينَ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حين قالت الملائكة: يا مريم، إن الله يبشّرك بولد يُخلق بكلمة «كن»، اسمه المسيح عيسى ابن مريم، صاحب مكانة في الدنيا والآخرة، ومن المقرّبين.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٤٦ – ٤٨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وَيُكَلِّمُ النَّاسَ فِي الْمَهْدِ وَكَهْلًا وَمِنَ الصَّـٰلِحِينَ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ويكلّم الناس وهو رضيع في المهد، وكبيرًا، ومن الصالحين.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قَالَتْ رَبِّ أَنَّىٰ يَكُونُ لِي وَلَدٌ وَلَمْ يَمْسَسْنِي بَشَرٌ قَالَ كَذَٰلِكِ اللَّهُ يَخْلُقُ مَا يَشَآءُ إِذَا قَضَىٰ أَمْرًا فَإِنَّمَا يَقُولُ لَهُ كُن فَيَكُونُ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قالت: ربِّ كيف يكون لي ولد ولم يمسّني بشر؟ قال: كذلك الله يخلق ما يشاء، إذا أراد أمرًا قال له: كن فيكون.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وَيُعَلِّمُهُ الْكِتَٰبَ وَالْحِكْمَةَ وَالتَّوْرَىٰةَ وَالْإِنجِيلَ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ويعلّمه الكتابة، والحكمة، والتوراة، والإنجيل.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٤٩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وَرَسُولًا إِلَىٰ بَنِي إِسْرَـٰءِيلَ أَنِّي قَدْ جِئْتُكُم بِـَٔايَةٍ مِّن رَّبِّكُمْ أَنِّي أَخْلُقُ لَكُم مِّنَ الطِّينِ كَهَيْـَٔةِ الطَّيْرِ فَأَنفُخُ فِيهِ فَيَكُونُ طَيْرًا بِإِذْنِ اللَّهِ وَأُبْرِئُ الْأَكْمَهَ وَالْأَبْرَصَ وَأُحْيِ الْمَوْتَىٰ بِإِذْنِ اللَّهِ وَأُنَبِّئُكُم بِمَا تَأْكُلُونَ وَمَا تَدَّخِرُونَ فِي بُيُوتِكُمْ إِنَّ فِي ذَٰلِكَ لَأيَةً لَّكُمْ إِن كُنتُم 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ويجعله رسولًا إلى بني إسرائيل يقول: جئتكم بمعجزة من ربكم: أصنع لكم من الطين شكل الطير فأنفخ فيه فيصير طيرًا بإذن الله، وأشفي الأعمى والأبرص، وأحيي الموتى بإذن الله، وأخبركم بما تأكلون وما تدّخرون في بيوتكم.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٥٠ – ٥١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وَمُصَدِّقًا لِّمَا بَيْنَ يَدَيَّ مِنَ التَّوْرَىٰةِ وَلِأُحِلَّ لَكُم بَعْضَ الَّذِي حُرِّمَ عَلَيْكُمْ وَجِئْتُكُم بِـَٔايَةٍ مِّن رَّبِّكُمْ فَاتَّقُواْ اللَّهَ وَأَطِيعُونِ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وجئتكم مصدّقًا بالتوراة، ولأُحلّ لكم بعض ما حُرّم عليكم، وجئتكم بمعجزة من ربكم، فاتقوا الله وأطيعون.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اللَّهَ رَبِّي وَرَبُّكُمْ فَاعْبُدُوهُ هَٰذَا صِرَٰطٌ مُّسْتَقِيمٌ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الله ربي وربكم فاعبدوه وحده، هذا هو الطريق المستقيم.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٥٢ – ٥٤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أَحَسَّ عِيسَىٰ مِنْهُمُ الْكُفْرَ قَالَ مَنْ أَنصَارِي إِلَى اللَّهِ قَالَ الْحَوَارِيُّونَ نَحْنُ أَنصَارُ اللَّهِ ءَامَنَّا بِاللَّهِ وَاشْهَدْ بِأَنَّا مُسْلِمُونَ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علم عيسى منهم الإصرار على الكفر قال: من ينصرني في الدعوة إلى الله؟ قال أصحابه المخلصون: نحن أنصار دين الله، آمنّا بالله، واشهد بأنا مسلمون.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رَبَّنَآ ءَامَنَّا بِمَآ أَنزَلْتَ وَاتَّبَعْنَا الرَّسُولَ فَاكْتُبْنَا مَعَ الشَّـٰهِدِينَ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ربنا آمنّا بما أنزلت، واتّبعنا رسولك عيسى، فاكتبنا مع الشاهدين بالحق.</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وَمَكَرُواْ وَمَكَرَ اللَّهُ وَاللَّهُ خَيْرُ الْمَٰكِرِينَ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ودبّر الكفار قتل عيسى، فدبّر الله نجاته، والله خير المدبّرين.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٥٥ – ٥٦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قَالَ اللَّهُ يَٰعِيسَىٰ إِنِّي مُتَوَفِّيكَ وَرَافِعُكَ إِلَيَّ وَمُطَهِّرُكَ مِنَ الَّذِينَ كَفَرُواْ وَجَاعِلُ الَّذِينَ اتَّبَعُوكَ فَوْقَ الَّذِينَ كَفَرُواْ إِلَىٰ يَوْمِ الْقِيَٰمَةِ ثُمَّ إِلَيَّ مَرْجِعُكُمْ فَأَحْكُمُ بَيْنَكُمْ فِيمَا كُنتُمْ فِيهِ تَخْتَلِفُونَ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حين قال الله: يا عيسى إني قابضك ورافعك إليّ حيًّا، ومنجّيك من الكفار، وجاعل الذين اتبعوك فوق الذين كفروا إلى يوم القيامة، ثم إليّ مرجعكم فأحكم بينكم.</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فَأَمَّا الَّذِينَ كَفَرُواْ فَأُعَذِّبُهُمْ عَذَابًا شَدِيدًا فِي الدُّنْيَا وَالْأخِرَةِ وَمَا لَهُم مِّن نَّـٰصِرِينَ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فأما الكفار فأعذّبهم عذابًا شديدًا في الدنيا والآخرة، وما لهم من ناصرين.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٥٧ – ٦٠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وَأَمَّا الَّذِينَ ءَامَنُواْ وَعَمِلُواْ الصَّـٰلِحَٰتِ فَيُوَفِّيهِمْ أُجُورَهُمْ وَاللَّهُ لَا يُحِبُّ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وأما المؤمنون العاملون للصالحات فيعطيهم أجورهم كاملة، والله لا يحب الظالمين.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نَتْلُوهُ عَلَيْكَ مِنَ الْأيَٰتِ وَالذِّكْرِ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نقرؤه عليك من الآيات والقرآن المحكم.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مَثَلَ عِيسَىٰ عِندَ اللَّهِ كَمَثَلِ ءَادَمَ خَلَقَهُ مِن تُرَابٍ ثُمَّ قَالَ لَهُ كُن فَيَكُونُ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شأن عيسى في خلقه بلا أب كشأن آدم، خلقه الله من تراب بلا أب ولا أم، ثم قال له: كن، فكان.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الْحَقُّ مِن رَّبِّكَ فَلَا تَكُن مِّنَ الْمُمْتَرِينَ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هذا هو الحق من ربك في شأن عيسى، فلا تكن من الشاكّين.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٦١ – ٦٢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فَمَنْ حَآجَّكَ فِيهِ مِن بَعْدِ مَا جَآءَكَ مِنَ الْعِلْمِ فَقُلْ تَعَالَوْاْ نَدْعُ أَبْنَآءَنَا وَأَبْنَآءَكُمْ وَنِسَآءَنَا وَنِسَآءَكُمْ وَأَنفُسَنَا وَأَنفُسَكُمْ ثُمَّ نَبْتَهِلْ فَنَجْعَل لَّعْنَتَ اللَّهِ عَلَى الْكَٰذِبِينَ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فمن جادلك في عيسى بعد ما جاءك العلم فقل: تعالوا ندعُ أبناءنا وأبناءكم، ونساءنا ونساءكم، وأنفسنا وأنفسكم، ثم ندعو الله أن يجعل لعنته على الكاذبين. وهذه هي «المباهلة».</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هَٰذَا لَهُوَ الْقَصَصُ الْحَقُّ وَمَا مِنْ إِلَٰهٍ إِلَّا اللَّهُ وَإِنَّ اللَّهَ لَهُوَ الْعَزِيزُ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هذا لهو الخبر الحق عن عيسى، وما من معبود بحق إلا الله، وإن الله لهو العزيز الحكيم.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٦٣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3214116"/>
            <a:ext cx="548640" cy="548640"/>
          </a:xfrm>
          <a:prstGeom prst="star8">
            <a:avLst/>
          </a:prstGeom>
          <a:solidFill>
            <a:schemeClr val="accent2"/>
          </a:solidFill>
          <a:ln/>
        </p:spPr>
      </p:sp>
      <p:sp>
        <p:nvSpPr>
          <p:cNvPr id="6" name="Shape 4"/>
          <p:cNvSpPr/>
          <p:nvPr/>
        </p:nvSpPr>
        <p:spPr>
          <a:xfrm>
            <a:off x="11036808" y="33238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8" name="Text 6"/>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 تَوَلَّوْاْ فَإِنَّ اللَّهَ عَلِيمٌ بِالْمُفْسِدِينَ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 أعرضوا فإن الله عليم بالمفسدين.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400" b="1" dirty="0">
                <a:solidFill>
                  <a:schemeClr val="accent2"/>
                </a:solidFill>
                <a:latin typeface="Sakkal Majalla" pitchFamily="34" charset="0"/>
                <a:ea typeface="Sakkal Majalla" pitchFamily="34" charset="-122"/>
                <a:cs typeface="Sakkal Majalla" pitchFamily="34" charset="-120"/>
              </a:rPr>
              <a:t>دعوة أهل الكتاب إلى كلمة سواء</a:t>
            </a:r>
            <a:endParaRPr lang="ar-SA" sz="2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٥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٦٤ – ٩٩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آل عمران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كتب النبي صلى الله عليه وسلم بالآية ٦٤ ﴿قل يا أهل الكتاب تعالوا إلى كلمة سواء﴾ في رسالته إلى هرقل ملك الروم يدعوه إلى الإسلام (رواه البخاري).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دعوة أهل الكتاب إلى التوحيد، وبيان أن إبراهيم كان حنيفًا مسلمًا، وكشف بعض أفعالهم، وأن الإسلام هو الدين المقبول، وفريضة الحج.</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٦٤ – ٦٥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يَـٰأَهْلَ الْكِتَٰبِ تَعَالَوْاْ إِلَىٰ كَلِمَةٍ سَوَآءٍ بَيْنَنَا وَبَيْنَكُمْ أَلَّا نَعْبُدَ إِلَّا اللَّهَ وَلَا نُشْرِكَ بِهِ شَيْـًٔا وَلَا يَتَّخِذَ بَعْضُنَا بَعْضًا أَرْبَابًا مِّن دُونِ اللَّهِ فَإِن تَوَلَّوْاْ فَقُولُواْ اشْهَدُواْ بِأَنَّا مُسْلِمُونَ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يا أهل الكتاب، تعالوا إلى كلمة عدل نتفق عليها: ألّا نعبد إلا الله، ولا نشرك به شيئًا، ولا يتخذ بعضنا بعضًا أربابًا من دون الله، فإن أعرضوا فقولوا: اشهدوا بأنا مسلمون.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يَـٰأَهْلَ الْكِتَٰبِ لِمَ تُحَآجُّونَ فِي إِبْرَٰهِيمَ وَمَآ أُنزِلَتِ التَّوْرَىٰةُ وَالْإِنجِيلُ إِلَّا مِن بَعْدِهِ أَفَلَا تَعْقِلُونَ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أهل الكتاب، لماذا تتجادلون في إبراهيم وكلٌّ يدّعيه، وما أُنزلت التوراة والإنجيل إلا من بعده؟ أفلا تعقلون؟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٦٦ – ٦٧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هَـٰأَنتُمْ هَـٰؤُلَآءِ حَٰجَجْتُمْ فِيمَا لَكُم بِهِ عِلْمٌ فَلِمَ تُحَآجُّونَ فِيمَا لَيْسَ لَكُم بِهِ عِلْمٌ وَاللَّهُ يَعْلَمُ وَأَنتُمْ لَا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ها أنتم جادلتم فيما لكم به علم، فلماذا تجادلون فيما ليس لكم به علم؟ والله يعلم وأنتم لا تعلمون.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كَانَ إِبْرَٰهِيمُ يَهُودِيًّا وَلَا نَصْرَانِيًّا وَلَٰكِن كَانَ حَنِيفًا مُّسْلِمًا وَمَا كَانَ مِنَ الْمُشْرِكِينَ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كان إبراهيم يهوديًا ولا نصرانيًا، ولكن كان مائلًا عن الشرك إلى التوحيد، مسلمًا، وما كان من المشركين.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٦٨ – ٦٩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أَوْلَى النَّاسِ بِإِبْرَٰهِيمَ لَلَّذِينَ اتَّبَعُوهُ وَهَٰذَا النَّبِيُّ وَالَّذِينَ ءَامَنُواْ وَاللَّهُ وَلِيُّ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أحقّ الناس بإبراهيم الذين اتّبعوه في زمانه، وهذا النبي محمد صلى الله عليه وسلم، والمؤمنون، والله ناصر المؤمنين.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وَدَّت طَّآئِفَةٌ مِّنْ أَهْلِ الْكِتَٰبِ لَوْ يُضِلُّونَكُمْ وَمَا يُضِلُّونَ إِلَّآ أَنفُسَهُمْ وَمَا يَشْعُرُونَ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تمنّت جماعة من أهل الكتاب لو يُضلّونكم، وما يُضلّون إلا أنفسهم وما يشعرون.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٧٠ – ٧٢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يَـٰأَهْلَ الْكِتَٰبِ لِمَ تَكْفُرُونَ بِـَٔايَٰتِ اللَّهِ وَأَنتُمْ تَشْهَدُونَ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أهل الكتاب، لماذا تكفرون بآيات الله وأنتم تعلمون أنها حق؟</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يَـٰأَهْلَ الْكِتَٰبِ لِمَ تَلْبِسُونَ الْحَقَّ بِالْبَٰطِلِ وَتَكْتُمُونَ الْحَقَّ وَأَنتُمْ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أهل الكتاب، لماذا تخلطون الحق بالباطل، وتُخفون الحق وأنتم تعلمون؟</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وَقَالَت طَّآئِفَةٌ مِّنْ أَهْلِ الْكِتَٰبِ ءَامِنُواْ بِالَّذِي أُنزِلَ عَلَى الَّذِينَ ءَامَنُواْ وَجْهَ النَّهَارِ وَاكْفُرُواْ ءَاخِرَهُ لَعَلَّهُمْ يَرْجِعُونَ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وقالت جماعة منهم: آمنوا بالقرآن أول النهار واكفروا آخره، لعل المسلمين يشكّون فيرجعون عن دينهم.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٧٣ – ٧٤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تُؤْمِنُواْ إِلَّا لِمَن تَبِعَ دِينَكُمْ قُلْ إِنَّ الْهُدَىٰ هُدَى اللَّهِ أَن يُؤْتَىٰ أَحَدٌ مِّثْلَ مَآ أُوتِيتُمْ أَوْ يُحَآجُّوكُمْ عِندَ رَبِّكُمْ قُلْ إِنَّ الْفَضْلَ بِيَدِ اللَّهِ يُؤْتِيهِ مَن يَشَآءُ وَاللَّهُ وَٰسِعٌ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تصدّقوا إلا من اتّبع دينكم، قل: إن الهدى هدى الله، وإن الفضل بيد الله يؤتيه من يشاء، والله واسع عليم.</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يَخْتَصُّ بِرَحْمَتِهِ مَن يَشَآءُ وَاللَّهُ ذُو الْفَضْلِ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يختصّ برحمته من يشاء، والله صاحب الفضل العظيم.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٧٥ – ٧٦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أَهْلِ الْكِتَٰبِ مَنْ إِن تَأْمَنْهُ بِقِنطَارٍ يُؤَدِّهِ إِلَيْكَ وَمِنْهُم مَّنْ إِن تَأْمَنْهُ بِدِينَارٍ لَّا يُؤَدِّهِ إِلَيْكَ إِلَّا مَا دُمْتَ عَلَيْهِ قَآئِمًا ذَٰلِكَ بِأَنَّهُمْ قَالُواْ لَيْسَ عَلَيْنَا فِي الْأُمِّيِّـنَ سَبِيلٌ وَيَقُولُونَ عَلَى اللَّهِ الْكَذِبَ وَهُمْ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أهل الكتاب من إن أمّنته على مال كثير يردّه إليك، ومنهم من إن أمّنته على دينار واحد لا يردّه إلا إذا ألححت عليه؛ لأنهم قالوا: ليس علينا في أموال العرب إثم، ويكذبون على الله وهم يعلمون.</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٧٦</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بَلَىٰ مَنْ أَوْفَىٰ بِعَهْدِهِ وَاتَّقَىٰ فَإِنَّ اللَّهَ يُحِبُّ الْمُتَّقِينَ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بلى، من أوفى بعهده واتقى الله، فإن الله يحب المتقين.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٧٧ – ٧٨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٧٧</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يَشْتَرُونَ بِعَهْدِ اللَّهِ وَأَيْمَٰنِهِمْ ثَمَنًا قَلِيلًا أُوْلَـٰئِكَ لَا خَلَٰقَ لَهُمْ فِي الْأخِرَةِ وَلَا يُكَلِّمُهُمُ اللَّهُ وَلَا يَنظُرُ إِلَيْهِمْ يَوْمَ الْقِيَٰمَةِ وَلَا يُزَكِّيهِمْ وَلَهُمْ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يستبدلون بعهد الله وأيمانهم شيئًا قليلًا من الدنيا، لا نصيب لهم في الآخرة، ولا يكلّمهم الله ولا ينظر إليهم يوم القيامة ولا يطهّرهم، ولهم عذاب مؤلم.</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٧٨</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مِنْهُمْ لَفَرِيقًا يَلْوُنَ أَلْسِنَتَهُم بِالْكِتَٰبِ لِتَحْسَبُوهُ مِنَ الْكِتَٰبِ وَمَا هُوَ مِنَ الْكِتَٰبِ وَيَقُولُونَ هُوَ مِنْ عِندِ اللَّهِ وَمَا هُوَ مِنْ عِندِ اللَّهِ وَيَقُولُونَ عَلَى اللَّهِ الْكَذِبَ وَهُمْ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منهم لفريقًا يُحرّفون الكلام بألسنتهم لتظنوه من التوراة وما هو منها، ويقولون: هو من عند الله وما هو من عند الله، ويكذبون على الله وهم يعلمون.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٧٩ – ٨٠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٧٩</a:t>
            </a:r>
            <a:endParaRPr lang="ar-SA" sz="16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كَانَ لِبَشَرٍ أَن يُؤْتِيَهُ اللَّهُ الْكِتَٰبَ وَالْحُكْمَ وَالنُّبُوَّةَ ثُمَّ يَقُولَ لِلنَّاسِ كُونُواْ عِبَادًا لِّي مِن دُونِ اللَّهِ وَلَٰكِن كُونُواْ رَبَّـٰنِيِّـنَ بِمَا كُنتُمْ تُعَلِّمُونَ الْكِتَٰبَ وَبِمَا كُنتُمْ تَدْرُسُونَ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ينبغي لبشر آتاه الله الكتاب والحكمة والنبوة أن يقول للناس: اعبدوني من دون الله، ولكن يقول: كونوا علماء عاملين بما تعلّمون من الكتاب وتدرسونه.</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٨٠</a:t>
            </a:r>
            <a:endParaRPr lang="ar-SA" sz="16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يَأْمُرَكُمْ أَن تَتَّخِذُواْ الْمَلَـٰئِكَةَ وَالنَّبِيِّـنَ أَرْبَابًا أَيَأْمُرُكُم بِالْكُفْرِ بَعْدَ إِذْ أَنتُم مُّسْلِمُونَ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يأمركم أن تتخذوا الملائكة والأنبياء آلهة، أيأمركم بالكفر بعد أن أسلمتم؟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٨١ – ٨٢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٨١</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أَخَذَ اللَّهُ مِيثَٰقَ النَّبِيِّـنَ لَمَآ ءَاتَيْتُكُم مِّن كِتَٰبٍ وَحِكْمَةٍ ثُمَّ جَآءَكُمْ رَسُولٌ مُّصَدِّقٌ لِّمَا مَعَكُمْ لَتُؤْمِنُنَّ بِهِ وَلَتَنصُرُنَّهُ قَالَ ءَأَقْرَرْتُمْ وَأَخَذْتُمْ عَلَىٰ ذَٰلِكُمْ إِصْرِي قَالُواْ أَقْرَرْنَا قَالَ فَاشْهَدُواْ وَأَنَا مَعَكُم مِّنَ الشَّـٰهِدِينَ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حين أخذ الله العهد على الأنبياء: لئن جاءكم رسول -وهو محمد صلى الله عليه وسلم- مصدّق لما معكم لتؤمنُنّ به ولتنصرُنّه، فأقرّوا بذلك، قال: فاشهدوا وأنا معكم من الشاهدين.</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٨٢</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فَمَن تَوَلَّىٰ بَعْدَ ذَٰلِكَ فَأُوْلَـٰئِكَ هُمُ الْفَٰسِقُونَ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فمن أعرض بعد ذلك فأولئك هم الخارجون عن طاعة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٨٣ – ٨٤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٨٣</a:t>
            </a:r>
            <a:endParaRPr lang="ar-SA" sz="1600" dirty="0"/>
          </a:p>
        </p:txBody>
      </p:sp>
      <p:sp>
        <p:nvSpPr>
          <p:cNvPr id="8" name="Text 6"/>
          <p:cNvSpPr txBox="1"/>
          <p:nvPr/>
        </p:nvSpPr>
        <p:spPr>
          <a:xfrm>
            <a:off x="731520" y="143789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أَفَغَيْرَ دِينِ اللَّهِ يَبْغُونَ وَلَهُ أَسْلَمَ مَن فِي السَّمَٰوَٰتِ وَالْأَرْضِ طَوْعًا وَكَرْهًا وَإِلَيْهِ يُرْجَعُونَ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أيطلبون دينًا غير دين الله، وله استسلم من في السماوات والأرض طوعًا وكرهًا، وإليه يرجعون؟</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3290"/>
            <a:ext cx="548640" cy="548640"/>
          </a:xfrm>
          <a:prstGeom prst="star8">
            <a:avLst/>
          </a:prstGeom>
          <a:solidFill>
            <a:schemeClr val="accent2"/>
          </a:solidFill>
          <a:ln/>
        </p:spPr>
      </p:sp>
      <p:sp>
        <p:nvSpPr>
          <p:cNvPr id="11" name="Shape 9"/>
          <p:cNvSpPr/>
          <p:nvPr/>
        </p:nvSpPr>
        <p:spPr>
          <a:xfrm>
            <a:off x="11036808" y="3573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329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٨٤</a:t>
            </a:r>
            <a:endParaRPr lang="ar-SA" sz="1600" dirty="0"/>
          </a:p>
        </p:txBody>
      </p:sp>
      <p:sp>
        <p:nvSpPr>
          <p:cNvPr id="13" name="Text 11"/>
          <p:cNvSpPr txBox="1"/>
          <p:nvPr/>
        </p:nvSpPr>
        <p:spPr>
          <a:xfrm>
            <a:off x="731520" y="344500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ءَامَنَّا بِاللَّهِ وَمَآ أُنزِلَ عَلَيْنَا وَمَآ أُنزِلَ عَلَىٰ إِبْرَٰهِيمَ وَإِسْمَٰعِيلَ وَإِسْحَٰقَ وَيَعْقُوبَ وَالْأَسْبَاطِ وَمَآ أُوتِيَ مُوسَىٰ وَعِيسَىٰ وَالنَّبِيُّونَ مِن رَّبِّهِمْ لَا نُفَرِّقُ بَيْنَ أَحَدٍ مِّنْهُمْ وَنَحْنُ لَهُ مُسْلِمُونَ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آمنّا بالله، وبما أُنزل علينا، وبما أُنزل على إبراهيم وإسماعيل وإسحاق ويعقوب والأسباط، وما أُوتي موسى وعيسى والنبيّون، لا نفرّق بين أحد منهم، ونحن له مسلمون.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٨٥ – ٨٧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٨٥</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يَبْتَغِ غَيْرَ الْإِسْلَٰمِ دِينًا فَلَن يُقْبَلَ مِنْهُ وَهُوَ فِي الْأخِرَةِ مِنَ الْخَٰسِرِينَ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يطلب دينًا غير الإسلام فلن يُقبل منه، وهو في الآخرة من الخاسرين.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٨٦</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كَيْفَ يَهْدِي اللَّهُ قَوْمًا كَفَرُواْ بَعْدَ إِيمَٰنِهِمْ وَشَهِدُواْ أَنَّ الرَّسُولَ حَقٌّ وَجَآءَهُمُ الْبَيِّنَٰتُ وَاللَّهُ لَا يَهْدِي الْقَوْمَ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كيف يوفّق الله للهداية قومًا كفروا بعد إيمانهم، وشهدوا أن الرسول حق، وجاءتهم الحجج الواضحة؟ والله لا يهدي القوم الظالمين.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٨٧</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جَزَآؤُهُمْ أَنَّ عَلَيْهِمْ لَعْنَةَ اللَّهِ وَالْمَلَـٰئِكَةِ وَالنَّاسِ أَجْمَعِينَ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جزاؤهم أن عليهم لعنة الله والملائكة والناس أجمعين.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٨٨ – ٩٠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٨٨</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خَٰلِدِينَ فِيهَا لَا يُخَفَّفُ عَنْهُمُ الْعَذَابُ وَلَا هُمْ يُنظَرُونَ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خالدين فيها، لا يُخفّف عنهم العذاب ولا يُمهلون.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٨٩</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الَّذِينَ تَابُواْ مِن بَعْدِ ذَٰلِكَ وَأَصْلَحُواْ فَإِنَّ اللَّهَ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الذين تابوا بعد ذلك وأصلحوا أعمالهم، فإن الله غفور رحيم.</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٩٠</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كَفَرُواْ بَعْدَ إِيمَٰنِهِمْ ثُمَّ ازْدَادُواْ كُفْرًا لَّن تُقْبَلَ تَوْبَتُهُمْ وَأُوْلَـٰئِكَ هُمُ الضَّآلُّونَ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كفروا بعد إيمانهم ثم استمرّوا على الكفر حتى الموت لن تُقبل توبتهم عند الموت، وأولئك هم الضالّون.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٩١ – ٩٢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69948"/>
            <a:ext cx="548640" cy="548640"/>
          </a:xfrm>
          <a:prstGeom prst="star8">
            <a:avLst/>
          </a:prstGeom>
          <a:solidFill>
            <a:schemeClr val="accent2"/>
          </a:solidFill>
          <a:ln/>
        </p:spPr>
      </p:sp>
      <p:sp>
        <p:nvSpPr>
          <p:cNvPr id="6" name="Shape 4"/>
          <p:cNvSpPr/>
          <p:nvPr/>
        </p:nvSpPr>
        <p:spPr>
          <a:xfrm>
            <a:off x="11036808" y="197967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699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٩١</a:t>
            </a:r>
            <a:endParaRPr lang="ar-SA" sz="1600" dirty="0"/>
          </a:p>
        </p:txBody>
      </p:sp>
      <p:sp>
        <p:nvSpPr>
          <p:cNvPr id="8" name="Text 6"/>
          <p:cNvSpPr txBox="1"/>
          <p:nvPr/>
        </p:nvSpPr>
        <p:spPr>
          <a:xfrm>
            <a:off x="731520" y="18516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كَفَرُواْ وَمَاتُواْ وَهُمْ كُفَّارٌ فَلَن يُقْبَلَ مِنْ أَحَدِهِم مِّلْءُ الْأَرْضِ ذَهَبًا وَلَوِ افْتَدَىٰ بِهِ أُوْلَـٰئِكَ لَهُمْ عَذَابٌ أَلِيمٌ وَمَا لَهُم مِّن نَّـٰصِرِينَ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كفروا وماتوا على الكفر لن يُقبل من أحدهم ملء الأرض ذهبًا لو افتدى به نفسه، أولئك لهم عذاب مؤلم، وما لهم من ناصرين.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٩٢</a:t>
            </a:r>
            <a:endParaRPr lang="ar-SA" sz="1600" dirty="0"/>
          </a:p>
        </p:txBody>
      </p:sp>
      <p:sp>
        <p:nvSpPr>
          <p:cNvPr id="13" name="Text 11"/>
          <p:cNvSpPr txBox="1"/>
          <p:nvPr/>
        </p:nvSpPr>
        <p:spPr>
          <a:xfrm>
            <a:off x="731520" y="4201668"/>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لَن تَنَالُواْ الْبِرَّ حَتَّىٰ تُنفِقُواْ مِمَّا تُحِبُّونَ وَمَا تُنفِقُواْ مِن شَيْءٍ فَإِنَّ اللَّهَ بِهِ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لن تنالوا الخير الكامل والجنة حتى تنفقوا مما تحبون، وما تنفقوا من شيء فإن الله به عليم. ولما نزلت تصدّق أبو طلحة بأحبّ أمواله إليه: بستان «بيرحاء» (البخاري).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٩٣ – ٩٥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٩٣</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 الطَّعَامِ كَانَ حِلًّا لِّبَنِي إِسْرَـٰءِيلَ إِلَّا مَا حَرَّمَ إِسْرَـٰءِيلُ عَلَىٰ نَفْسِهِ مِن قَبْلِ أَن تُنَزَّلَ التَّوْرَىٰةُ قُلْ فَأْتُواْ بِالتَّوْرَىٰةِ فَاتْلُوهَآ إِن كُنتُمْ صَٰدِقِينَ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 الطعام كان حلالًا لبني إسرائيل إلا ما حرّمه يعقوب على نفسه قبل نزول التوراة، قل: فأتوا بالتوراة فاقرؤوها إن كنتم صادقين.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٩٤</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فَمَنِ افْتَرَىٰ عَلَى اللَّهِ الْكَذِبَ مِن بَعْدِ ذَٰلِكَ فَأُوْلَـٰئِكَ هُمُ الظَّـٰلِمُونَ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فمن كذب على الله بعد ذلك فأولئك هم الظالمون.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٩٥</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صَدَقَ اللَّهُ فَاتَّبِعُواْ مِلَّةَ إِبْرَٰهِيمَ حَنِيفًا وَمَا كَانَ مِنَ الْمُشْرِكِينَ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صدق الله، فاتّبعوا دين إبراهيم المائل عن الشرك إلى التوحيد، وما كان من المشركين.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٩٦ – ٩٨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٩٦</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أَوَّلَ بَيْتٍ وُضِعَ لِلنَّاسِ لَلَّذِي بِبَكَّةَ مُبَارَكًا وَهُدًى لِّلْعَٰلَمِينَ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أول بيت وُضع لعبادة الناس هو الكعبة في مكة، مباركًا وهدايةً للعالمين.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٩٧</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فِيهِ ءَايَٰتٌ بَيِّنَٰتٌ مَّقَامُ إِبْرَٰهِيمَ وَمَن دَخَلَهُ كَانَ ءَامِنًا وَلِلَّهِ عَلَى النَّاسِ حِجُّ الْبَيْتِ مَنِ اسْتَطَاعَ إِلَيْهِ سَبِيلًا وَمَن كَفَرَ فَإِنَّ اللَّهَ غَنِيٌّ عَنِ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فيه علامات واضحات منها مقام إبراهيم، ومن دخله كان آمنًا، ولله على الناس حجّ البيت لمن استطاع إليه سبيلًا، ومن كفر فإن الله غني عن العالمين.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٩٨</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يَـٰأَهْلَ الْكِتَٰبِ لِمَ تَكْفُرُونَ بِـَٔايَٰتِ اللَّهِ وَاللَّهُ شَهِيدٌ عَلَىٰ مَا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يا أهل الكتاب، لماذا تكفرون بآيات الله، والله شاهد على أعمالكم؟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٩٩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٩٩</a:t>
            </a:r>
            <a:endParaRPr lang="ar-SA" sz="16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يَـٰأَهْلَ الْكِتَٰبِ لِمَ تَصُدُّونَ عَن سَبِيلِ اللَّهِ مَنْ ءَامَنَ تَبْغُونَهَا عِوَجًا وَأَنتُمْ شُهَدَآءُ وَمَا اللَّهُ بِغَٰفِلٍ عَمَّا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يا أهل الكتاب، لماذا تصدّون المؤمنين عن دين الله، تريدونه معوجًّا وأنتم تعلمون أنه الحق؟ وما الله بغافل عما تعملون.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وحدة المسلمين وخير أمة</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٦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١٠٠ – ١٢٠</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آل عمران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ذكر ابن كثير أن رجلًا من اليهود اسمه شاس بن قيس مرّ على الأوس والخزرج وهم مجتمعون متآلفون، فغاظه ذلك، فذكّرهم بحروبهم في الجاهلية حتى كادوا يقتتلون، فخرج إليهم النبي صلى الله عليه وسلم فذكّرهم بالله فتصالحوا، فنزلت هذه الآيات.</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الأمر بتقوى الله حق تقواه، والاعتصام بحبل الله وعدم التفرّق، والأمر بالمعروف والنهي عن المنكر، وأن هذه الأمة خير أمة.</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١٠٠ – ١٠١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١٠٠</a:t>
            </a:r>
            <a:endParaRPr lang="ar-SA" sz="13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إِن تُطِيعُواْ فَرِيقًا مِّنَ الَّذِينَ أُوتُواْ الْكِتَٰبَ يَرُدُّوكُم بَعْدَ إِيمَٰنِكُمْ 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إن تطيعوا جماعة من أهل الكتاب يردّوكم بعد إيمانكم كافرين.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١٠١</a:t>
            </a:r>
            <a:endParaRPr lang="ar-SA" sz="13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وَكَيْفَ تَكْفُرُونَ وَأَنتُمْ تُتْلَىٰ عَلَيْكُمْ ءَايَٰتُ اللَّهِ وَفِيكُمْ رَسُولُهُ وَمَن يَعْتَصِم بِاللَّهِ فَقَدْ هُدِيَ إِلَىٰ صِرَٰطٍ مُّسْتَقِيمٍ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وكيف تكفرون وأنتم تُقرأ عليكم آيات الله وفيكم رسوله؟ ومن يتمسّك بالله فقد هُدي إلى الطريق المستقيم.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١٠٢ – ١٠٣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١٠٢</a:t>
            </a:r>
            <a:endParaRPr lang="ar-SA" sz="1300" dirty="0"/>
          </a:p>
        </p:txBody>
      </p:sp>
      <p:sp>
        <p:nvSpPr>
          <p:cNvPr id="8" name="Text 6"/>
          <p:cNvSpPr txBox="1"/>
          <p:nvPr/>
        </p:nvSpPr>
        <p:spPr>
          <a:xfrm>
            <a:off x="731520" y="1559052"/>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اتَّقُواْ اللَّهَ حَقَّ تُقَاتِهِ وَلَا تَمُوتُنَّ إِلَّا وَأَنتُم مُّسْلِمُونَ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اتقوا الله حقّ تقواه: بأن يُطاع فلا يُعصى، ويُذكر فلا يُنسى، ويُشكر فلا يُكفر، كما قال ابن مسعود، ولا تموتُنّ إلا وأنتم مسلمون.</a:t>
            </a:r>
            <a:endParaRPr lang="ar-SA" sz="3200" dirty="0"/>
          </a:p>
        </p:txBody>
      </p:sp>
      <p:sp>
        <p:nvSpPr>
          <p:cNvPr id="9" name="Shape 7"/>
          <p:cNvSpPr/>
          <p:nvPr/>
        </p:nvSpPr>
        <p:spPr>
          <a:xfrm>
            <a:off x="2103120" y="3081528"/>
            <a:ext cx="8641080" cy="0"/>
          </a:xfrm>
          <a:prstGeom prst="line">
            <a:avLst/>
          </a:prstGeom>
          <a:noFill/>
          <a:ln w="9525">
            <a:solidFill>
              <a:schemeClr val="accent2"/>
            </a:solidFill>
            <a:prstDash val="dash"/>
          </a:ln>
        </p:spPr>
      </p:sp>
      <p:sp>
        <p:nvSpPr>
          <p:cNvPr id="10" name="Shape 8"/>
          <p:cNvSpPr/>
          <p:nvPr/>
        </p:nvSpPr>
        <p:spPr>
          <a:xfrm>
            <a:off x="10927080" y="3342132"/>
            <a:ext cx="548640" cy="548640"/>
          </a:xfrm>
          <a:prstGeom prst="star8">
            <a:avLst/>
          </a:prstGeom>
          <a:solidFill>
            <a:schemeClr val="accent2"/>
          </a:solidFill>
          <a:ln/>
        </p:spPr>
      </p:sp>
      <p:sp>
        <p:nvSpPr>
          <p:cNvPr id="11" name="Shape 9"/>
          <p:cNvSpPr/>
          <p:nvPr/>
        </p:nvSpPr>
        <p:spPr>
          <a:xfrm>
            <a:off x="11036808" y="345186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34213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١٠٣</a:t>
            </a:r>
            <a:endParaRPr lang="ar-SA" sz="1300" dirty="0"/>
          </a:p>
        </p:txBody>
      </p:sp>
      <p:sp>
        <p:nvSpPr>
          <p:cNvPr id="13" name="Text 11"/>
          <p:cNvSpPr txBox="1"/>
          <p:nvPr/>
        </p:nvSpPr>
        <p:spPr>
          <a:xfrm>
            <a:off x="731520" y="332384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وَاعْتَصِمُواْ بِحَبْلِ اللَّهِ جَمِيعًا وَلَا تَفَرَّقُواْ وَاذْكُرُواْ نِعْمَتَ اللَّهِ عَلَيْكُمْ إِذْ كُنتُمْ أَعْدَآءً فَأَلَّفَ بَيْنَ قُلُوبِكُمْ فَأَصْبَحْتُم بِنِعْمَتِهِ إِخْوَٰنًا وَكُنتُمْ عَلَىٰ شَفَا حُفْرَةٍ مِّنَ النَّارِ فَأَنقَذَكُم مِّنْهَا كَذَٰلِكَ يُبَيِّنُ اللَّهُ لَكُمْ ءَايَٰتِهِ لَعَلَّكُمْ تَهْتَدُونَ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وتمسّكوا جميعًا بدين الله وكتابه ولا تتفرّقوا، واذكروا نعمة الله عليكم إذ كنتم أعداء -كالأوس والخزرج- فألّف بين قلوبكم فأصبحتم بنعمته إخوانًا، وكنتم على حافة النار فأنقذكم منها.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١٠٤ – ١٠٥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١٠٤</a:t>
            </a:r>
            <a:endParaRPr lang="ar-SA" sz="13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وَلْتَكُن مِّنكُمْ أُمَّةٌ يَدْعُونَ إِلَى الْخَيْرِ وَيَأْمُرُونَ بِالْمَعْرُوفِ وَيَنْهَوْنَ عَنِ الْمُنكَرِ وَأُوْلَـٰئِكَ هُمُ الْمُفْلِحُونَ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ولتكن منكم جماعة يدعون إلى الخير، ويأمرون بالمعروف، وينهون عن المنكر، وأولئك هم الفائزون.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١٠٥</a:t>
            </a:r>
            <a:endParaRPr lang="ar-SA" sz="13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تَكُونُواْ كَالَّذِينَ تَفَرَّقُواْ وَاخْتَلَفُواْ مِن بَعْدِ مَا جَآءَهُمُ الْبَيِّنَٰتُ وَأُوْلَـٰئِكَ لَهُمْ عَذَابٌ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تكونوا كأهل الكتاب الذين تفرّقوا واختلفوا بعد ما جاءتهم الحجج الواضحة، وأولئك لهم عذاب عظيم.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١٠٦ – ١٠٨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١٠٦</a:t>
            </a:r>
            <a:endParaRPr lang="ar-SA" sz="13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تَبْيَضُّ وُجُوهٌ وَتَسْوَدُّ وُجُوهٌ فَأَمَّا الَّذِينَ اسْوَدَّتْ وُجُوهُهُمْ أَكَفَرْتُم بَعْدَ إِيمَٰنِكُمْ فَذُوقُواْ الْعَذَابَ بِمَا كُنتُمْ تَكْفُرُونَ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تبيضّ وجوه أهل الإيمان والاجتماع، وتسودّ وجوه أهل الفرقة والضلال، فأما الذين اسودّت وجوههم فيُقال لهم: أكفرتم بعد إيمانكم؟ فذوقوا العذاب بكفركم.</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١٠٧</a:t>
            </a:r>
            <a:endParaRPr lang="ar-SA" sz="13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وَأَمَّا الَّذِينَ ابْيَضَّتْ وُجُوهُهُمْ فَفِي رَحْمَةِ اللَّهِ هُمْ فِيهَا خَٰلِدُونَ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وأما الذين ابيضّت وجوههم ففي الجنة، هم فيها خالدون.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١٠٨</a:t>
            </a:r>
            <a:endParaRPr lang="ar-SA" sz="13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تِلْكَ ءَايَٰتُ اللَّهِ نَتْلُوهَا عَلَيْكَ بِالْحَقِّ وَمَا اللَّهُ يُرِيدُ ظُلْمًا لِّلْعَٰلَمِينَ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تلك آيات الله نقرؤها عليك بالحق، وما الله يريد ظلمًا للعالمين.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١٠٩ – ١١١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١٠٩</a:t>
            </a:r>
            <a:endParaRPr lang="ar-SA" sz="13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وَلِلَّهِ مَا فِي السَّمَٰوَٰتِ وَمَا فِي الْأَرْضِ وَإِلَى اللَّهِ تُرْجَعُ الْأُمُورُ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ولله ما في السماوات وما في الأرض، وإليه ترجع الأمور.</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١١٠</a:t>
            </a:r>
            <a:endParaRPr lang="ar-SA" sz="13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كُنتُمْ خَيْرَ أُمَّةٍ أُخْرِجَتْ لِلنَّاسِ تَأْمُرُونَ بِالْمَعْرُوفِ وَتَنْهَوْنَ عَنِ الْمُنكَرِ وَتُؤْمِنُونَ بِاللَّهِ وَلَوْ ءَامَنَ أَهْلُ الْكِتَٰبِ لَكَانَ خَيْرًا لَّهُم مِّنْهُمُ الْمُؤْمِنُونَ وَأَكْثَرُهُمُ الْفَٰسِقُونَ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كنتم خير الأمم وأنفعها للناس، تأمرون بالمعروف، وتنهون عن المنكر، وتؤمنون بالله، ولو آمن أهل الكتاب لكان خيرًا لهم، منهم المؤمنون، وأكثرهم الخارجون عن طاعة الله.</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١١١</a:t>
            </a:r>
            <a:endParaRPr lang="ar-SA" sz="13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لَن يَضُرُّوكُمْ إِلَّآ أَذًى وَإِن يُقَٰتِلُوكُمْ يُوَلُّوكُمُ الْأَدْبَارَ ثُمَّ لَا يُنصَرُونَ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لن يضرّوكم إلا أذى بالكلام، وإن يقاتلوكم يهربوا منهزمين، ثم لا يُنصرون.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١١٢ – ١١٣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١١٢</a:t>
            </a:r>
            <a:endParaRPr lang="ar-SA" sz="13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ضُرِبَتْ عَلَيْهِمُ الذِّلَّةُ أَيْنَ مَا ثُقِفُواْ إِلَّا بِحَبْلٍ مِّنَ اللَّهِ وَحَبْلٍ مِّنَ النَّاسِ وَبَآءُو بِغَضَبٍ مِّنَ اللَّهِ وَضُرِبَتْ عَلَيْهِمُ الْمَسْكَنَةُ ذَٰلِكَ بِأَنَّهُمْ كَانُواْ يَكْفُرُونَ بِـَٔايَٰتِ اللَّهِ وَيَقْتُلُونَ الْأَنبِيَآءَ بِغَيْرِ حَقٍّ ذَٰلِكَ بِمَا عَصَواْ وَّكَانُواْ يَعْتَدُونَ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أُلزموا الذلّة أينما وُجدوا، إلا بعهد من الله أو عهد من الناس، ورجعوا بغضب من الله، بسبب كفرهم بآيات الله وقتلهم الأنبياء بغير حق.</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١١٣</a:t>
            </a:r>
            <a:endParaRPr lang="ar-SA" sz="13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لَيْسُواْ سَوَآءً مِّنْ أَهْلِ الْكِتَٰبِ أُمَّةٌ قَآئِمَةٌ يَتْلُونَ ءَايَٰتِ اللَّهِ ءَانَآءَ الَّيْلِ وَهُمْ يَسْجُدُونَ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ليس أهل الكتاب متساوين، منهم جماعة مستقيمة على أمر الله، يقرؤون آيات الله في ساعات الليل وهم يصلّون.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١١٤ – ١١٥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١١٤</a:t>
            </a:r>
            <a:endParaRPr lang="ar-SA" sz="13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يُؤْمِنُونَ بِاللَّهِ وَالْيَوْمِ الْأخِرِ وَيَأْمُرُونَ بِالْمَعْرُوفِ وَيَنْهَوْنَ عَنِ الْمُنكَرِ وَيُسَٰرِعُونَ فِي الْخَيْرَٰتِ وَأُوْلَـٰئِكَ مِنَ الصَّـٰلِحِينَ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يؤمنون بالله واليوم الآخر، ويأمرون بالمعروف، وينهون عن المنكر، ويسارعون في الخيرات، وأولئك من الصالحين، كعبد الله بن سلام.</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١١٥</a:t>
            </a:r>
            <a:endParaRPr lang="ar-SA" sz="13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يَفْعَلُواْ مِنْ خَيْرٍ فَلَن يُكْفَرُوهُ وَاللَّهُ عَلِيمٌ بِالْمُتَّقِينَ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يفعلوا من خير فلن يضيع ثوابه، والله عليم بالمتقين.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١١٦ – ١١٧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١١٦</a:t>
            </a:r>
            <a:endParaRPr lang="ar-SA" sz="13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كَفَرُواْ لَن تُغْنِيَ عَنْهُمْ أَمْوَٰلُهُمْ وَلَآ أَوْلَٰدُهُم مِّنَ اللَّهِ شَيْـًٔا وَأُوْلَـٰئِكَ أَصْحَٰبُ النَّارِ هُمْ فِيهَا خَٰلِدُونَ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الكفار لن تنفعهم أموالهم ولا أولادهم عند الله شيئًا، وأولئك أصحاب النار هم فيها خالدون.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١١٧</a:t>
            </a:r>
            <a:endParaRPr lang="ar-SA" sz="13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مَثَلُ مَا يُنفِقُونَ فِي هَٰذِهِ الْحَيَوٰةِ الدُّنْيَا كَمَثَلِ رِيحٍ فِيهَا صِرٌّ أَصَابَتْ حَرْثَ قَوْمٍ ظَلَمُواْ أَنفُسَهُمْ فَأَهْلَكَتْهُ وَمَا ظَلَمَهُمُ اللَّهُ وَلَٰكِنْ أَنفُسَهُمْ يَظْلِمُونَ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مثل ما ينفقه الكفار في الدنيا كمثل ريح شديدة البرد أصابت زرع قوم ظالمين فأهلكته، فلا ينفعهم إنفاقهم، وما ظلمهم الله ولكن ظلموا أنفسهم.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١١٨</a:t>
            </a:r>
            <a:endParaRPr lang="ar-SA" sz="13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لَا تَتَّخِذُواْ بِطَانَةً مِّن دُونِكُمْ لَا يَأْلُونَكُمْ خَبَالًا وَدُّواْ مَا عَنِتُّمْ قَدْ بَدَتِ الْبَغْضَآءُ مِنْ أَفْوَٰهِهِمْ وَمَا تُخْفِي صُدُورُهُمْ أَكْبَرُ قَدْ بَيَّنَّا لَكُمُ الْأيَٰتِ إِن كُنتُمْ تَعْقِلُونَ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لا تتخذوا من غير المؤمنين أصدقاء مقرّبين تُطلعونهم على أسراركم، لا يقصّرون في إفسادكم، يتمنّون مشقّتكم، قد ظهرت العداوة من كلامهم، وما تخفي صدورهم أكبر.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١١٩ – ١٢٠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١١٩</a:t>
            </a:r>
            <a:endParaRPr lang="ar-SA" sz="13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هَـٰأَنتُمْ أُوْلَآءِ تُحِبُّونَهُمْ وَلَا يُحِبُّونَكُمْ وَتُؤْمِنُونَ بِالْكِتَٰبِ كُلِّهِ وَإِذَا لَقُوكُمْ قَالُواْ ءَامَنَّا وَإِذَا خَلَوْاْ عَضُّواْ عَلَيْكُمُ الْأَنَامِلَ مِنَ الْغَيْظِ قُلْ مُوتُواْ بِغَيْظِكُمْ إِنَّ اللَّهَ عَلِيمٌ بِذَاتِ الصُّدُورِ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ها أنتم تحبونهم ولا يحبونكم، وتؤمنون بالكتب كلها، وإذا لقوكم قالوا: آمنّا، وإذا خلوا عضّوا عليكم أطراف الأصابع من الغيظ، قل: موتوا بغيظكم، إن الله عليم بما في الصدور.</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١٢٠</a:t>
            </a:r>
            <a:endParaRPr lang="ar-SA" sz="13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تَمْسَسْكُمْ حَسَنَةٌ تَسُؤْهُمْ وَإِن تُصِبْكُمْ سَيِّئَةٌ يَفْرَحُواْ بِهَا وَإِن تَصْبِرُواْ وَتَتَّقُواْ لَا يَضُرُّكُمْ كَيْدُهُمْ شَيْـًٔا إِنَّ اللَّهَ بِمَا يَعْمَلُونَ مُحِيطٌ</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أصابكم خير ساءهم، وإن أصابكم شر فرحوا به، وإن تصبروا وتتقوا لا يضرّكم مكرهم شيئًا، إن الله محيط بما يعملون.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غزوة أُحُد والتذكير ببدر</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٧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١٢١ – ١٢٩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آل عمران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شُجّ وجه النبي صلى الله عليه وسلم وكُسرت سنّه يوم أُحُد، فجعل يمسح الدم ويقول: «كيف يفلح قوم شجّوا نبيهم؟» فأنزل الله: ﴿ليس لك من الأمر شيء﴾ (رواه 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بداية الحديث عن غزوة أُحُد، والتذكير بنصر الله للمؤمنين في بدر وإمدادهم بالملائكة، وأن النصر من عند الله وحده.</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١٢١ – ١٢٣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618488"/>
            <a:ext cx="548640" cy="548640"/>
          </a:xfrm>
          <a:prstGeom prst="star8">
            <a:avLst/>
          </a:prstGeom>
          <a:solidFill>
            <a:schemeClr val="accent2"/>
          </a:solidFill>
          <a:ln/>
        </p:spPr>
      </p:sp>
      <p:sp>
        <p:nvSpPr>
          <p:cNvPr id="6" name="Shape 4"/>
          <p:cNvSpPr/>
          <p:nvPr/>
        </p:nvSpPr>
        <p:spPr>
          <a:xfrm>
            <a:off x="11036808" y="172821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6184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١٢١</a:t>
            </a:r>
            <a:endParaRPr lang="ar-SA" sz="1300" dirty="0"/>
          </a:p>
        </p:txBody>
      </p:sp>
      <p:sp>
        <p:nvSpPr>
          <p:cNvPr id="8" name="Text 6"/>
          <p:cNvSpPr txBox="1"/>
          <p:nvPr/>
        </p:nvSpPr>
        <p:spPr>
          <a:xfrm>
            <a:off x="731520" y="16002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غَدَوْتَ مِنْ أَهْلِكَ تُبَوِّئُ الْمُؤْمِنِينَ مَقَٰعِدَ لِلْقِتَالِ وَاللَّهُ سَمِيعٌ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يا محمد حين خرجت من بيتك صباحًا يوم أُحُد تُنزل المؤمنين أماكنهم للقتال، والله سميع عليم.</a:t>
            </a:r>
            <a:endParaRPr lang="ar-SA" sz="3200" dirty="0"/>
          </a:p>
        </p:txBody>
      </p:sp>
      <p:sp>
        <p:nvSpPr>
          <p:cNvPr id="9" name="Shape 7"/>
          <p:cNvSpPr/>
          <p:nvPr/>
        </p:nvSpPr>
        <p:spPr>
          <a:xfrm>
            <a:off x="2103120" y="2784348"/>
            <a:ext cx="8641080" cy="0"/>
          </a:xfrm>
          <a:prstGeom prst="line">
            <a:avLst/>
          </a:prstGeom>
          <a:noFill/>
          <a:ln w="9525">
            <a:solidFill>
              <a:schemeClr val="accent2"/>
            </a:solidFill>
            <a:prstDash val="dash"/>
          </a:ln>
        </p:spPr>
      </p:sp>
      <p:sp>
        <p:nvSpPr>
          <p:cNvPr id="10" name="Shape 8"/>
          <p:cNvSpPr/>
          <p:nvPr/>
        </p:nvSpPr>
        <p:spPr>
          <a:xfrm>
            <a:off x="10927080" y="3044952"/>
            <a:ext cx="548640" cy="548640"/>
          </a:xfrm>
          <a:prstGeom prst="star8">
            <a:avLst/>
          </a:prstGeom>
          <a:solidFill>
            <a:schemeClr val="accent2"/>
          </a:solidFill>
          <a:ln/>
        </p:spPr>
      </p:sp>
      <p:sp>
        <p:nvSpPr>
          <p:cNvPr id="11" name="Shape 9"/>
          <p:cNvSpPr/>
          <p:nvPr/>
        </p:nvSpPr>
        <p:spPr>
          <a:xfrm>
            <a:off x="11036808" y="315468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04495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١٢٢</a:t>
            </a:r>
            <a:endParaRPr lang="ar-SA" sz="1300" dirty="0"/>
          </a:p>
        </p:txBody>
      </p:sp>
      <p:sp>
        <p:nvSpPr>
          <p:cNvPr id="13" name="Text 11"/>
          <p:cNvSpPr txBox="1"/>
          <p:nvPr/>
        </p:nvSpPr>
        <p:spPr>
          <a:xfrm>
            <a:off x="731520" y="3026664"/>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هَمَّت طَّآئِفَتَانِ مِنكُمْ أَن تَفْشَلَا وَاللَّهُ وَلِيُّهُمَا وَعَلَى اللَّهِ فَلْيَتَوَكَّلِ الْمُؤْمِنُونَ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حين همّت طائفتان منكم -بنو سلمة وبنو حارثة- أن تضعفا وترجعا، والله ناصرهما فثبّتهما، وعلى الله فليتوكّل المؤمنون.</a:t>
            </a:r>
            <a:endParaRPr lang="ar-SA" sz="3200" dirty="0"/>
          </a:p>
        </p:txBody>
      </p:sp>
      <p:sp>
        <p:nvSpPr>
          <p:cNvPr id="14" name="Shape 12"/>
          <p:cNvSpPr/>
          <p:nvPr/>
        </p:nvSpPr>
        <p:spPr>
          <a:xfrm>
            <a:off x="2103120" y="4549140"/>
            <a:ext cx="8641080" cy="0"/>
          </a:xfrm>
          <a:prstGeom prst="line">
            <a:avLst/>
          </a:prstGeom>
          <a:noFill/>
          <a:ln w="9525">
            <a:solidFill>
              <a:schemeClr val="accent2"/>
            </a:solidFill>
            <a:prstDash val="dash"/>
          </a:ln>
        </p:spPr>
      </p:sp>
      <p:sp>
        <p:nvSpPr>
          <p:cNvPr id="15" name="Shape 13"/>
          <p:cNvSpPr/>
          <p:nvPr/>
        </p:nvSpPr>
        <p:spPr>
          <a:xfrm>
            <a:off x="10927080" y="4809744"/>
            <a:ext cx="548640" cy="548640"/>
          </a:xfrm>
          <a:prstGeom prst="star8">
            <a:avLst/>
          </a:prstGeom>
          <a:solidFill>
            <a:schemeClr val="accent2"/>
          </a:solidFill>
          <a:ln/>
        </p:spPr>
      </p:sp>
      <p:sp>
        <p:nvSpPr>
          <p:cNvPr id="16" name="Shape 14"/>
          <p:cNvSpPr/>
          <p:nvPr/>
        </p:nvSpPr>
        <p:spPr>
          <a:xfrm>
            <a:off x="11036808" y="491947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8097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١٢٣</a:t>
            </a:r>
            <a:endParaRPr lang="ar-SA" sz="1300" dirty="0"/>
          </a:p>
        </p:txBody>
      </p:sp>
      <p:sp>
        <p:nvSpPr>
          <p:cNvPr id="18" name="Text 16"/>
          <p:cNvSpPr txBox="1"/>
          <p:nvPr/>
        </p:nvSpPr>
        <p:spPr>
          <a:xfrm>
            <a:off x="731520" y="47914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نَصَرَكُمُ اللَّهُ بِبَدْرٍ وَأَنتُمْ أَذِلَّةٌ فَاتَّقُواْ اللَّهَ لَعَلَّكُمْ تَشْكُرُونَ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نصركم الله في غزوة بدر وأنتم قليلون ضعفاء، فاتقوا الله لعلكم تشكرون.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١٢٤ – ١٢٦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١٢٤</a:t>
            </a:r>
            <a:endParaRPr lang="ar-SA" sz="1300" dirty="0"/>
          </a:p>
        </p:txBody>
      </p:sp>
      <p:sp>
        <p:nvSpPr>
          <p:cNvPr id="8" name="Text 6"/>
          <p:cNvSpPr txBox="1"/>
          <p:nvPr/>
        </p:nvSpPr>
        <p:spPr>
          <a:xfrm>
            <a:off x="731520" y="13548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تَقُولُ لِلْمُؤْمِنِينَ أَلَن يَكْفِيَكُمْ أَن يُمِدَّكُمْ رَبُّكُم بِثَلَٰثَةِ ءَالَٰفٍ مِّنَ الْمَلَـٰئِكَةِ مُنزَلِينَ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حين تقول للمؤمنين يوم بدر: ألن يكفيكم أن يمدّكم ربكم بثلاثة آلاف من الملائكة منزلين؟</a:t>
            </a:r>
            <a:endParaRPr lang="ar-SA" sz="3200" dirty="0"/>
          </a:p>
        </p:txBody>
      </p:sp>
      <p:sp>
        <p:nvSpPr>
          <p:cNvPr id="9" name="Shape 7"/>
          <p:cNvSpPr/>
          <p:nvPr/>
        </p:nvSpPr>
        <p:spPr>
          <a:xfrm>
            <a:off x="2103120" y="2453640"/>
            <a:ext cx="8641080" cy="0"/>
          </a:xfrm>
          <a:prstGeom prst="line">
            <a:avLst/>
          </a:prstGeom>
          <a:noFill/>
          <a:ln w="9525">
            <a:solidFill>
              <a:schemeClr val="accent2"/>
            </a:solidFill>
            <a:prstDash val="dash"/>
          </a:ln>
        </p:spPr>
      </p:sp>
      <p:sp>
        <p:nvSpPr>
          <p:cNvPr id="10" name="Shape 8"/>
          <p:cNvSpPr/>
          <p:nvPr/>
        </p:nvSpPr>
        <p:spPr>
          <a:xfrm>
            <a:off x="10927080" y="2628900"/>
            <a:ext cx="548640" cy="548640"/>
          </a:xfrm>
          <a:prstGeom prst="star8">
            <a:avLst/>
          </a:prstGeom>
          <a:solidFill>
            <a:schemeClr val="accent2"/>
          </a:solidFill>
          <a:ln/>
        </p:spPr>
      </p:sp>
      <p:sp>
        <p:nvSpPr>
          <p:cNvPr id="11" name="Shape 9"/>
          <p:cNvSpPr/>
          <p:nvPr/>
        </p:nvSpPr>
        <p:spPr>
          <a:xfrm>
            <a:off x="11036808" y="273862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2890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١٢٥</a:t>
            </a:r>
            <a:endParaRPr lang="ar-SA" sz="1300" dirty="0"/>
          </a:p>
        </p:txBody>
      </p:sp>
      <p:sp>
        <p:nvSpPr>
          <p:cNvPr id="13" name="Text 11"/>
          <p:cNvSpPr txBox="1"/>
          <p:nvPr/>
        </p:nvSpPr>
        <p:spPr>
          <a:xfrm>
            <a:off x="731520" y="261061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بَلَىٰ إِن تَصْبِرُواْ وَتَتَّقُواْ وَيَأْتُوكُم مِّن فَوْرِهِمْ هَٰذَا يُمْدِدْكُمْ رَبُّكُم بِخَمْسَةِ ءَالَٰفٍ مِّنَ الْمَلَـٰئِكَةِ مُسَوِّمِينَ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بلى، إن تصبروا وتتقوا ويأتكم العدو مسرعًا، يمددكم ربكم بخمسة آلاف من الملائكة معلَّمين بعلامات.</a:t>
            </a:r>
            <a:endParaRPr lang="ar-SA" sz="3200" dirty="0"/>
          </a:p>
        </p:txBody>
      </p:sp>
      <p:sp>
        <p:nvSpPr>
          <p:cNvPr id="14" name="Shape 12"/>
          <p:cNvSpPr/>
          <p:nvPr/>
        </p:nvSpPr>
        <p:spPr>
          <a:xfrm>
            <a:off x="2103120" y="4294632"/>
            <a:ext cx="8641080" cy="0"/>
          </a:xfrm>
          <a:prstGeom prst="line">
            <a:avLst/>
          </a:prstGeom>
          <a:noFill/>
          <a:ln w="9525">
            <a:solidFill>
              <a:schemeClr val="accent2"/>
            </a:solidFill>
            <a:prstDash val="dash"/>
          </a:ln>
        </p:spPr>
      </p:sp>
      <p:sp>
        <p:nvSpPr>
          <p:cNvPr id="15" name="Shape 13"/>
          <p:cNvSpPr/>
          <p:nvPr/>
        </p:nvSpPr>
        <p:spPr>
          <a:xfrm>
            <a:off x="10927080" y="4469892"/>
            <a:ext cx="548640" cy="548640"/>
          </a:xfrm>
          <a:prstGeom prst="star8">
            <a:avLst/>
          </a:prstGeom>
          <a:solidFill>
            <a:schemeClr val="accent2"/>
          </a:solidFill>
          <a:ln/>
        </p:spPr>
      </p:sp>
      <p:sp>
        <p:nvSpPr>
          <p:cNvPr id="16" name="Shape 14"/>
          <p:cNvSpPr/>
          <p:nvPr/>
        </p:nvSpPr>
        <p:spPr>
          <a:xfrm>
            <a:off x="11036808" y="45796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6989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١٢٦</a:t>
            </a:r>
            <a:endParaRPr lang="ar-SA" sz="1300" dirty="0"/>
          </a:p>
        </p:txBody>
      </p:sp>
      <p:sp>
        <p:nvSpPr>
          <p:cNvPr id="18" name="Text 16"/>
          <p:cNvSpPr txBox="1"/>
          <p:nvPr/>
        </p:nvSpPr>
        <p:spPr>
          <a:xfrm>
            <a:off x="731520" y="44516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جَعَلَهُ اللَّهُ إِلَّا بُشْرَىٰ لَكُمْ وَلِتَطْمَئِنَّ قُلُوبُكُم بِهِ وَمَا النَّصْرُ إِلَّا مِنْ عِندِ اللَّهِ الْعَزِيزِ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جعل الله هذا الإمداد إلا بشرى لكم، ولتطمئن قلوبكم، وما النصر إلا من عند الله العزيز الحكيم.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١٢٧ – ١٢٩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١٢٧</a:t>
            </a:r>
            <a:endParaRPr lang="ar-SA" sz="13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لِيَقْطَعَ طَرَفًا مِّنَ الَّذِينَ كَفَرُواْ أَوْ يَكْبِتَهُمْ فَيَنقَلِبُواْ خَآئِبِينَ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ليُهلك طائفة من الكفار، أو يُذلّهم فيرجعوا خائبين.</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١٢٨</a:t>
            </a:r>
            <a:endParaRPr lang="ar-SA" sz="13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لَيْسَ لَكَ مِنَ الْأَمْرِ شَيْءٌ أَوْ يَتُوبَ عَلَيْهِمْ أَوْ يُعَذِّبَهُمْ فَإِنَّهُمْ ظَٰلِمُونَ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ليس لك من أمر العباد شيء يا محمد، بل الأمر لله: إما أن يتوب عليهم، أو يعذّبهم فإنهم ظالمون.</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١٢٩</a:t>
            </a:r>
            <a:endParaRPr lang="ar-SA" sz="13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وَلِلَّهِ مَا فِي السَّمَٰوَٰتِ وَمَا فِي الْأَرْضِ يَغْفِرُ لِمَن يَشَآءُ وَيُعَذِّبُ مَن يَشَآءُ وَاللَّهُ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ولله ما في السماوات وما في الأرض، يغفر لمن يشاء ويعذّب من يشاء، والله غفور رحيم.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صفات المتقين ودروس أُحُد</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٨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١٣٠ – ١٤٨</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آل عمران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لما شاع يوم أُحُد أن النبي صلى الله عليه وسلم قُتل ضعف بعض المسلمين، فأنزل الله: ﴿وما محمد إلا رسول قد خلت من قبله الرسل﴾، وتلاها أبو بكر رضي الله عنه يوم وفاة النبي صلى الله عليه وسلم فثبّت الله بها المسلمين (البخاري).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تحريم الربا، وصفات المتقين المسارعين إلى الجنة، وتسلية المؤمنين بعد أُحُد، وأن الأيام دول بين الناس، والثبات بعد موت النبي صلى الله عليه وسلم.</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١٣٠ – ١٣٢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١٣٠</a:t>
            </a:r>
            <a:endParaRPr lang="ar-SA" sz="13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لَا تَأْكُلُواْ الرِّبَوٰاْ أَضْعَٰفًا مُّضَٰعَفَةً وَاتَّقُواْ اللَّهَ لَعَلَّكُمْ تُفْلِحُونَ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لا تأكلوا الربا أضعافًا مضاعفة كما كانوا يفعلون في الجاهلية، واتقوا الله لعلكم تفوزون.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١٣١</a:t>
            </a:r>
            <a:endParaRPr lang="ar-SA" sz="13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وَاتَّقُواْ النَّارَ الَّتِي أُعِدَّتْ لِلْكَٰفِرِينَ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واحذروا النار التي أُعدّت للكافرين.</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١٣٢</a:t>
            </a:r>
            <a:endParaRPr lang="ar-SA" sz="13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وَأَطِيعُواْ اللَّهَ وَالرَّسُولَ لَعَلَّكُمْ تُرْحَمُونَ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وأطيعوا الله والرسول لعلكم تُرحمون.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١٣٣ – ١٣٤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١٣٣</a:t>
            </a:r>
            <a:endParaRPr lang="ar-SA" sz="13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وَسَارِعُواْ إِلَىٰ مَغْفِرَةٍ مِّن رَّبِّكُمْ وَجَنَّةٍ عَرْضُهَا السَّمَٰوَٰتُ وَالْأَرْضُ أُعِدَّتْ لِلْمُتَّقِينَ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وبادروا إلى أسباب المغفرة، وإلى جنة عرضها السماوات والأرض، أُعدّت للمتقين.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١٣٤</a:t>
            </a:r>
            <a:endParaRPr lang="ar-SA" sz="13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يُنفِقُونَ فِي السَّرَّآءِ وَالضَّرَّآءِ وَالْكَٰظِمِينَ الْغَيْظَ وَالْعَافِينَ عَنِ النَّاسِ وَاللَّهُ يُحِبُّ الْمُحْسِنِينَ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ينفقون في الرخاء والشدة، ويكتمون غضبهم، ويعفون عمّن أساء إليهم، والله يحب المحسنين.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١٣٥ – ١٣٦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١٣٥</a:t>
            </a:r>
            <a:endParaRPr lang="ar-SA" sz="13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إِذَا فَعَلُواْ فَٰحِشَةً أَوْ ظَلَمُواْ أَنفُسَهُمْ ذَكَرُواْ اللَّهَ فَاسْتَغْفَرُواْ لِذُنُوبِهِمْ وَمَن يَغْفِرُ الذُّنُوبَ إِلَّا اللَّهُ وَلَمْ يُصِرُّواْ عَلَىٰ مَا فَعَلُواْ وَهُمْ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إذا فعلوا ذنبًا كبيرًا أو ظلموا أنفسهم بالمعاصي ذكروا الله فاستغفروا لذنوبهم، ومن يغفر الذنوب إلا الله؟ ولم يستمرّوا على الذنب وهم يعلمون.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١٣٦</a:t>
            </a:r>
            <a:endParaRPr lang="ar-SA" sz="13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جَزَآؤُهُم مَّغْفِرَةٌ مِّن رَّبِّهِمْ وَجَنَّـٰتٌ تَجْرِي مِن تَحْتِهَا الْأَنْهَٰرُ خَٰلِدِينَ فِيهَا وَنِعْمَ أَجْرُ الْعَٰمِلِينَ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جزاؤهم مغفرة من ربهم، وجنات تجري من تحتها الأنهار خالدين فيها، ونِعم أجر العاملين.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١٣٧ – ١٣٩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١٣٧</a:t>
            </a:r>
            <a:endParaRPr lang="ar-SA" sz="13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قَدْ خَلَتْ مِن قَبْلِكُمْ سُنَنٌ فَسِيرُواْ فِي الْأَرْضِ فَانظُرُواْ كَيْفَ كَانَ عَٰقِبَةُ الْمُكَذِّبِينَ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قد مضت من قبلكم سنن الله في الأمم، فسيروا في الأرض فانظروا كيف كانت عاقبة المكذّبين.</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١٣٨</a:t>
            </a:r>
            <a:endParaRPr lang="ar-SA" sz="13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هَٰذَا بَيَانٌ لِّلنَّاسِ وَهُدًى وَمَوْعِظَةٌ لِّلْمُتَّقِينَ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هذا القرآن بيان للناس، وهدى، وموعظة للمتقين.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١٣٩</a:t>
            </a:r>
            <a:endParaRPr lang="ar-SA" sz="13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تَهِنُواْ وَلَا تَحْزَنُواْ وَأَنتُمُ الْأَعْلَوْنَ إِن كُنتُم 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تضعفوا ولا تحزنوا لما أصابكم يوم أُحُد، وأنتم الأعلون إن كنتم مؤمنين.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١٤٠ – ١٤٢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١٤٠</a:t>
            </a:r>
            <a:endParaRPr lang="ar-SA" sz="13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يَمْسَسْكُمْ قَرْحٌ فَقَدْ مَسَّ الْقَوْمَ قَرْحٌ مِّثْلُهُ وَتِلْكَ الْأَيَّامُ نُدَاوِلُهَا بَيْنَ النَّاسِ وَلِيَعْلَمَ اللَّهُ الَّذِينَ ءَامَنُواْ وَيَتَّخِذَ مِنكُمْ شُهَدَآءَ وَاللَّهُ لَا يُحِبُّ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أصابكم جرح وقتل يوم أُحُد فقد أصاب الكفار مثله يوم بدر، وتلك الأيام نُصرّفها بين الناس، وليعلم الله المؤمنين، ويُكرم منكم من يشاء بالشهادة.</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١٤١</a:t>
            </a:r>
            <a:endParaRPr lang="ar-SA" sz="13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وَلِيُمَحِّصَ اللَّهُ الَّذِينَ ءَامَنُواْ وَيَمْحَقَ الْكَٰفِرِينَ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وليطهّر الله المؤمنين من ذنوبهم، ويُهلك الكافرين.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١٤٢</a:t>
            </a:r>
            <a:endParaRPr lang="ar-SA" sz="13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حَسِبْتُمْ أَن تَدْخُلُواْ الْجَنَّةَ وَلَمَّا يَعْلَمِ اللَّهُ الَّذِينَ جَٰهَدُواْ مِنكُمْ وَيَعْلَمَ الصَّـٰبِرِينَ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ظننتم أن تدخلوا الجنة ولم تُختبروا بالجهاد والصبر؟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١٤٣ – ١٤٤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١٤٣</a:t>
            </a:r>
            <a:endParaRPr lang="ar-SA" sz="13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كُنتُمْ تَمَنَّوْنَ الْمَوْتَ مِن قَبْلِ أَن تَلْقَوْهُ فَقَدْ رَأَيْتُمُوهُ وَأَنتُمْ تَنظُرُونَ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كنتم تتمنّون لقاء العدو والشهادة قبل أُحُد، فقد رأيتم ذلك بأعينكم.</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١٤٤</a:t>
            </a:r>
            <a:endParaRPr lang="ar-SA" sz="13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مُحَمَّدٌ إِلَّا رَسُولٌ قَدْ خَلَتْ مِن قَبْلِهِ الرُّسُلُ أَفَإِيْن مَّاتَ أَوْ قُتِلَ انقَلَبْتُمْ عَلَىٰ أَعْقَٰبِكُمْ وَمَن يَنقَلِبْ عَلَىٰ عَقِبَيْهِ فَلَن يَضُرَّ اللَّهَ شَيْـًٔا وَسَيَجْزِي اللَّهُ الشَّـٰكِرِينَ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محمد إلا رسول قد مضت قبله الرسل، أفإن مات أو قُتل رجعتم عن دينكم؟ ومن يرجع فلن يضرّ الله شيئًا، وسيجزي الله الشاكرين.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١٤٥ – ١٤٦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١٤٥</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كَانَ لِنَفْسٍ أَن تَمُوتَ إِلَّا بِإِذْنِ اللَّهِ كِتَٰبًا مُّؤَجَّلًا وَمَن يُرِدْ ثَوَابَ الدُّنْيَا نُؤْتِهِ مِنْهَا وَمَن يُرِدْ ثَوَابَ الْأخِرَةِ نُؤْتِهِ مِنْهَا وَسَنَجْزِي الشَّـٰكِرِينَ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كان لنفس أن تموت إلا بإذن الله في الوقت المكتوب، ومن يُرد ثواب الدنيا نؤته منها، ومن يُرد ثواب الآخرة نؤته منها، وسنجزي الشاكرين.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١٤٦</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وَكَأَيِّن مِّن نَّبِيٍّ قَٰتَلَ مَعَهُ رِبِّيُّونَ كَثِيرٌ فَمَا وَهَنُواْ لِمَآ أَصَابَهُمْ فِي سَبِيلِ اللَّهِ وَمَا ضَعُفُواْ وَمَا اسْتَكَانُواْ وَاللَّهُ يُحِبُّ الصَّـٰبِرِينَ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وكم من نبي قاتل معه علماء وجماعات كثيرة، فما ضعفوا لما أصابهم في سبيل الله وما استسلموا، والله يحب الصابرين.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١٤٧ – ١٤٨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١٤٧</a:t>
            </a:r>
            <a:endParaRPr lang="ar-SA" sz="13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كَانَ قَوْلَهُمْ إِلَّآ أَن قَالُواْ رَبَّنَا اغْفِرْ لَنَا ذُنُوبَنَا وَإِسْرَافَنَا فِي أَمْرِنَا وَثَبِّتْ أَقْدَامَنَا وَانصُرْنَا عَلَى الْقَوْمِ الْكَٰفِرِينَ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كان قولهم إلا: ربنا اغفر لنا ذنوبنا وتجاوزنا للحد في أمرنا، وثبّت أقدامنا، وانصرنا على القوم الكافرين.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١٤٨</a:t>
            </a:r>
            <a:endParaRPr lang="ar-SA" sz="13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فَـَٔاتَىٰهُمُ اللَّهُ ثَوَابَ الدُّنْيَا وَحُسْنَ ثَوَابِ الْأخِرَةِ وَاللَّهُ يُحِبُّ الْمُحْسِنِينَ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فأعطاهم الله النصر في الدنيا، وحسن الثواب في الآخرة، والله يحب المحسنين.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أسباب الهزيمة وفضل الشهداء</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٩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١٤٩ – ١٧٥</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آل عمران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قالت عائشة رضي الله عنها في قوله: ﴿الذين استجابوا لله والرسول من بعد ما أصابهم القرح﴾: لما انصرف المشركون من أُحُد قال النبي صلى الله عليه وسلم: «من يذهب في إثرهم؟» فانتدب سبعون رجلًا منهم أبو بكر والزبير (رواه البخاري).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بيان سبب الهزيمة يوم أُحُد وهو مخالفة الرماة، وعفو الله، ولين النبي صلى الله عليه وسلم ومشاورته لأصحابه، وفضل الشهداء، وثبات المؤمنين في حمراء الأسد.</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١٤٩ – ١٥٠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١٤٩</a:t>
            </a:r>
            <a:endParaRPr lang="ar-SA" sz="13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إِن تُطِيعُواْ الَّذِينَ كَفَرُواْ يَرُدُّوكُمْ عَلَىٰ أَعْقَٰبِكُمْ فَتَنقَلِبُواْ خَٰسِرِينَ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إن تطيعوا الكفار يردّوكم عن دينكم، فترجعوا خاسرين.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١٥٠</a:t>
            </a:r>
            <a:endParaRPr lang="ar-SA" sz="13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اللَّهُ مَوْلَىٰكُمْ وَهُوَ خَيْرُ النَّـٰصِرِينَ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الله ناصركم، وهو خير الناصرين.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١٥١ – ١٥٢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١٥١</a:t>
            </a:r>
            <a:endParaRPr lang="ar-SA" sz="13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سَنُلْقِي فِي قُلُوبِ الَّذِينَ كَفَرُواْ الرُّعْبَ بِمَآ أَشْرَكُواْ بِاللَّهِ مَا لَمْ يُنَزِّلْ بِهِ سُلْطَٰنًا وَمَأْوَىٰهُمُ النَّارُ وَبِئْسَ مَثْوَى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سنُلقي في قلوب الكفار الخوف بسبب شركهم بالله ما لم ينزل به حجة، ومسكنهم النار، وبئس مسكن الظالمين.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١٥٢</a:t>
            </a:r>
            <a:endParaRPr lang="ar-SA" sz="13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صَدَقَكُمُ اللَّهُ وَعْدَهُ إِذْ تَحُسُّونَهُم بِإِذْنِهِ حَتَّىٰ إِذَا فَشِلْتُمْ وَتَنَٰزَعْتُمْ فِي الْأَمْرِ وَعَصَيْتُم مِّن بَعْدِ مَآ أَرَىٰكُم مَّا تُحِبُّونَ مِنكُم مَّن يُرِيدُ الدُّنْيَا وَمِنكُم مَّن يُرِيدُ الْأخِرَةَ ثُمَّ صَرَفَكُمْ عَنْهُمْ لِيَبْتَلِيَكُمْ وَلَقَدْ عَفَا عَنكُمْ وَاللَّهُ ذُو فَضْلٍ عَلَى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صدقكم الله وعده بالنصر أول المعركة يوم أُحُد، حتى إذا ضعفتم واختلفتم وعصى الرماة أمر الرسول بترك الجبل طمعًا في الغنيمة، تحوّل النصر هزيمة ليختبركم، ولقد عفا عنكم.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١٥٣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١٥٣</a:t>
            </a:r>
            <a:endParaRPr lang="ar-SA" sz="13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تُصْعِدُونَ وَلَا تَلْوُنَ عَلَىٰ أَحَدٍ وَالرَّسُولُ يَدْعُوكُمْ فِي أُخْرَىٰكُمْ فَأَثَٰبَكُمْ غَمًّا بِغَمٍّ لِّكَيْلَا تَحْزَنُواْ عَلَىٰ مَا فَاتَكُمْ وَلَا مَآ أَصَٰبَكُمْ وَاللَّهُ خَبِيرٌ بِمَا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حين كنتم تصعدون الجبل هاربين لا تلتفتون إلى أحد، والرسول يناديكم من خلفكم، فجازاكم غمًّا بعد غم، لكيلا تحزنوا على ما فاتكم من الغنيمة ولا على ما أصابكم.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١٥٤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2748"/>
            <a:ext cx="548640" cy="548640"/>
          </a:xfrm>
          <a:prstGeom prst="star8">
            <a:avLst/>
          </a:prstGeom>
          <a:solidFill>
            <a:schemeClr val="accent2"/>
          </a:solidFill>
          <a:ln/>
        </p:spPr>
      </p:sp>
      <p:sp>
        <p:nvSpPr>
          <p:cNvPr id="6" name="Shape 4"/>
          <p:cNvSpPr/>
          <p:nvPr/>
        </p:nvSpPr>
        <p:spPr>
          <a:xfrm>
            <a:off x="11036808" y="152247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27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١٥٤</a:t>
            </a:r>
            <a:endParaRPr lang="ar-SA" sz="1300" dirty="0"/>
          </a:p>
        </p:txBody>
      </p:sp>
      <p:sp>
        <p:nvSpPr>
          <p:cNvPr id="8" name="Text 6"/>
          <p:cNvSpPr txBox="1"/>
          <p:nvPr/>
        </p:nvSpPr>
        <p:spPr>
          <a:xfrm>
            <a:off x="731520" y="1394460"/>
            <a:ext cx="10012680" cy="457200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أَنزَلَ عَلَيْكُم مِّن بَعْدِ الْغَمِّ أَمَنَةً نُّعَاسًا يَغْشَىٰ طَآئِفَةً مِّنكُمْ وَطَآئِفَةٌ قَدْ أَهَمَّتْهُمْ أَنفُسُهُمْ يَظُنُّونَ بِاللَّهِ غَيْرَ الْحَقِّ ظَنَّ الْجَٰهِلِيَّةِ يَقُولُونَ هَل لَّنَا مِنَ الْأَمْرِ مِن شَيْءٍ قُلْ إِنَّ الْأَمْرَ كُلَّهُ لِلَّهِ يُخْفُونَ فِي أَنفُسِهِم مَّا لَا يُبْدُونَ لَكَ يَقُولُونَ لَوْ كَانَ لَنَا مِنَ الْأَمْرِ شَيْءٌ مَّا قُتِلْنَا هَٰهُنَا قُل لَّوْ كُنتُمْ فِي بُيُوتِكُمْ لَبَرَزَ الَّذِينَ كُتِبَ عَلَيْهِمُ الْقَتْلُ إِلَىٰ مَضَاجِعِهِمْ وَلِيَبْتَلِيَ اللَّهُ مَا فِي صُدُورِكُمْ وَلِيُمَحِّصَ مَا فِي قُلُوبِكُمْ وَاللَّهُ عَلِيمٌ بِذَاتِ الصُّدُورِ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أنزل عليكم بعد الغمّ طمأنينة ونعاسًا يغشى المؤمنين الصادقين، وطائفة -وهم المنافقون- أهمّتهم أنفسهم يظنون بالله غير الحق، قل: إن الأمر كله لله، ولو كنتم في بيوتكم لخرج الذين كُتب عليهم القتل إلى مصارعهم.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١٥٥ – ١٥٦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١٥٥</a:t>
            </a:r>
            <a:endParaRPr lang="ar-SA" sz="13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تَوَلَّوْاْ مِنكُمْ يَوْمَ الْتَقَى الْجَمْعَانِ إِنَّمَا اسْتَزَلَّهُمُ الشَّيْطَٰنُ بِبَعْضِ مَا كَسَبُواْ وَلَقَدْ عَفَا اللَّهُ عَنْهُمْ إِنَّ اللَّهَ غَفُورٌ حَلِيمٌ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انهزموا منكم يوم أُحُد إنما أوقعهم الشيطان بسبب بعض ذنوبهم، ولقد عفا الله عنهم، إن الله غفور حليم.</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١٥٦</a:t>
            </a:r>
            <a:endParaRPr lang="ar-SA" sz="13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لَا تَكُونُواْ كَالَّذِينَ كَفَرُواْ وَقَالُواْ لِإِخْوَٰنِهِمْ إِذَا ضَرَبُواْ فِي الْأَرْضِ أَوْ كَانُواْ غُزًّى لَّوْ كَانُواْ عِندَنَا مَا مَاتُواْ وَمَا قُتِلُواْ لِيَجْعَلَ اللَّهُ ذَٰلِكَ حَسْرَةً فِي قُلُوبِهِمْ وَاللَّهُ يُحْيِ وَيُمِيتُ وَاللَّهُ بِمَا تَعْمَلُونَ بَصِيرٌ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لا تكونوا كالمنافقين الذين قالوا عن إخوانهم الذين ماتوا في سفر أو قُتلوا في غزو: لو كانوا عندنا ما ماتوا، ليجعل الله ذلك حسرة في قلوبهم، والله يحيي ويميت.</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١٥٧ – ١٥٨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00884"/>
            <a:ext cx="548640" cy="548640"/>
          </a:xfrm>
          <a:prstGeom prst="star8">
            <a:avLst/>
          </a:prstGeom>
          <a:solidFill>
            <a:schemeClr val="accent2"/>
          </a:solidFill>
          <a:ln/>
        </p:spPr>
      </p:sp>
      <p:sp>
        <p:nvSpPr>
          <p:cNvPr id="6" name="Shape 4"/>
          <p:cNvSpPr/>
          <p:nvPr/>
        </p:nvSpPr>
        <p:spPr>
          <a:xfrm>
            <a:off x="11036808" y="261061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0088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١٥٧</a:t>
            </a:r>
            <a:endParaRPr lang="ar-SA" sz="1300" dirty="0"/>
          </a:p>
        </p:txBody>
      </p:sp>
      <p:sp>
        <p:nvSpPr>
          <p:cNvPr id="8" name="Text 6"/>
          <p:cNvSpPr txBox="1"/>
          <p:nvPr/>
        </p:nvSpPr>
        <p:spPr>
          <a:xfrm>
            <a:off x="731520" y="248259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وَلَئِن قُتِلْتُمْ فِي سَبِيلِ اللَّهِ أَوْ مُتُّمْ لَمَغْفِرَةٌ مِّنَ اللَّهِ وَرَحْمَةٌ خَيْرٌ مِّمَّا يَجْمَعُونَ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ولئن قُتلتم في سبيل الله أو متّم، لمغفرة من الله ورحمة خير مما يجمعون من الدنيا.</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١٥٨</a:t>
            </a:r>
            <a:endParaRPr lang="ar-SA" sz="1300" dirty="0"/>
          </a:p>
        </p:txBody>
      </p:sp>
      <p:sp>
        <p:nvSpPr>
          <p:cNvPr id="13" name="Text 11"/>
          <p:cNvSpPr txBox="1"/>
          <p:nvPr/>
        </p:nvSpPr>
        <p:spPr>
          <a:xfrm>
            <a:off x="731520" y="390906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وَلَئِن مُّتُّمْ أَوْ قُتِلْتُمْ لَإِلَى اللَّهِ تُحْشَرُونَ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ولئن متّم أو قُتلتم فإلى الله تُجمعون.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١٥٩ – ١٦٠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١٥٩</a:t>
            </a:r>
            <a:endParaRPr lang="ar-SA" sz="13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فَبِمَا رَحْمَةٍ مِّنَ اللَّهِ لِنتَ لَهُمْ وَلَوْ كُنتَ فَظًّا غَلِيظَ الْقَلْبِ لَانفَضُّواْ مِنْ حَوْلِكَ فَاعْفُ عَنْهُمْ وَاسْتَغْفِرْ لَهُمْ وَشَاوِرْهُمْ فِي الْأَمْرِ فَإِذَا عَزَمْتَ فَتَوَكَّلْ عَلَى اللَّهِ إِنَّ اللَّهَ يُحِبُّ الْمُتَوَكِّلِينَ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فبرحمة من الله كنت ليّنًا مع أصحابك، ولو كنت سيّئ الخلق قاسي القلب لتفرّقوا عنك، فاعفُ عنهم واستغفر لهم وشاورهم في الأمر، فإذا عزمت فتوكّل على الله، إن الله يحب المتوكلين.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١٦٠</a:t>
            </a:r>
            <a:endParaRPr lang="ar-SA" sz="13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يَنصُرْكُمُ اللَّهُ فَلَا غَالِبَ لَكُمْ وَإِن يَخْذُلْكُمْ فَمَن ذَا الَّذِي يَنصُرُكُم مِّن بَعْدِهِ وَعَلَى اللَّهِ فَلْيَتَوَكَّلِ الْمُؤْمِنُونَ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ينصركم الله فلا غالب لكم، وإن يتخلَّ عنكم فمن ذا الذي ينصركم بعده؟ وعلى الله فليتوكّل المؤمنون.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١٦١ – ١٦٣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١٦١</a:t>
            </a:r>
            <a:endParaRPr lang="ar-SA" sz="13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كَانَ لِنَبِيٍّ أَن يَغُلَّ وَمَن يَغْلُلْ يَأْتِ بِمَا غَلَّ يَوْمَ الْقِيَٰمَةِ ثُمَّ تُوَفَّىٰ كُلُّ نَفْسٍ مَّا كَسَبَتْ وَهُمْ لَا يُظْلَمُونَ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كان لنبي أن يخون في الغنيمة، ومن يخن يأتِ بما خان يحمله يوم القيامة، ثم تُجزى كل نفس بعملها وهم لا يُظلمون.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١٦٢</a:t>
            </a:r>
            <a:endParaRPr lang="ar-SA" sz="13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أَفَمَنِ اتَّبَعَ رِضْوَٰنَ اللَّهِ كَمَن بَآءَ بِسَخَطٍ مِّنَ اللَّهِ وَمَأْوَىٰهُ جَهَنَّمُ وَبِئْسَ الْمَصِيرُ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أفمن اتّبع ما يرضي الله كمن رجع بغضب من الله ومسكنه جهنم؟ وبئس المصير.</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١٦٣</a:t>
            </a:r>
            <a:endParaRPr lang="ar-SA" sz="13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هُمْ دَرَجَٰتٌ عِندَ اللَّهِ وَاللَّهُ بَصِيرٌ بِمَا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هم درجات متفاوتة عند الله، والله بصير بأعمالهم.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١٦٤ – ١٦٥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١٦٤</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مَنَّ اللَّهُ عَلَى الْمُؤْمِنِينَ إِذْ بَعَثَ فِيهِمْ رَسُولًا مِّنْ أَنفُسِهِمْ يَتْلُواْ عَلَيْهِمْ ءَايَٰتِهِ وَيُزَكِّيهِمْ وَيُعَلِّمُهُمُ الْكِتَٰبَ وَالْحِكْمَةَ وَإِن كَانُواْ مِن قَبْلُ لَفِي ضَلَٰلٍ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أنعم الله على المؤمنين إذ أرسل فيهم رسولًا منهم، يقرأ عليهم آياته ويطهّرهم، ويعلّمهم القرآن والسنة، وقد كانوا قبله في ضلال واضح.</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١٦٥</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أَوَلَمَّآ أَصَٰبَتْكُم مُّصِيبَةٌ قَدْ أَصَبْتُم مِّثْلَيْهَا قُلْتُمْ أَنَّىٰ هَٰذَا قُلْ هُوَ مِنْ عِندِ أَنفُسِكُمْ إِنَّ اللَّهَ عَلَىٰ كُلِّ شَيْءٍ 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أولمّا أصابتكم مصيبة يوم أُحُد -وقد أصبتم ضعفها من المشركين يوم بدر- قلتم: من أين هذا؟ قل: هو من عند أنفسكم بمخالفة الرماة، إن الله على كل شيء قدير.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١٦٦ – ١٦٧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١٦٦</a:t>
            </a:r>
            <a:endParaRPr lang="ar-SA" sz="13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أَصَٰبَكُمْ يَوْمَ الْتَقَى الْجَمْعَانِ فَبِإِذْنِ اللَّهِ وَلِيَعْلَمَ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أصابكم يوم أُحُد فبإذن الله وقدره، وليظهر المؤمنون الصادقون.</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١٦٧</a:t>
            </a:r>
            <a:endParaRPr lang="ar-SA" sz="13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وَلِيَعْلَمَ الَّذِينَ نَافَقُواْ وَقِيلَ لَهُمْ تَعَالَوْاْ قَٰتِلُواْ فِي سَبِيلِ اللَّهِ أَوِ ادْفَعُواْ قَالُواْ لَوْ نَعْلَمُ قِتَالًا لَّاتَّبَعْنَٰكُمْ هُمْ لِلْكُفْرِ يَوْمَئِذٍ أَقْرَبُ مِنْهُمْ لِلْإِيمَٰنِ يَقُولُونَ بِأَفْوَٰهِهِم مَّا لَيْسَ فِي قُلُوبِهِمْ وَاللَّهُ أَعْلَمُ بِمَا يَكْتُمُونَ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وليظهر المنافقون الذين قيل لهم: قاتلوا أو دافعوا، قالوا: لو نعلم أن هناك قتالًا لاتّبعناكم، هم للكفر يومئذ أقرب منهم للإيمان، يقولون بأفواههم ما ليس في قلوبهم.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١٦٨ – ١٦٩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69948"/>
            <a:ext cx="548640" cy="548640"/>
          </a:xfrm>
          <a:prstGeom prst="star8">
            <a:avLst/>
          </a:prstGeom>
          <a:solidFill>
            <a:schemeClr val="accent2"/>
          </a:solidFill>
          <a:ln/>
        </p:spPr>
      </p:sp>
      <p:sp>
        <p:nvSpPr>
          <p:cNvPr id="6" name="Shape 4"/>
          <p:cNvSpPr/>
          <p:nvPr/>
        </p:nvSpPr>
        <p:spPr>
          <a:xfrm>
            <a:off x="11036808" y="197967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699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١٦٨</a:t>
            </a:r>
            <a:endParaRPr lang="ar-SA" sz="1300" dirty="0"/>
          </a:p>
        </p:txBody>
      </p:sp>
      <p:sp>
        <p:nvSpPr>
          <p:cNvPr id="8" name="Text 6"/>
          <p:cNvSpPr txBox="1"/>
          <p:nvPr/>
        </p:nvSpPr>
        <p:spPr>
          <a:xfrm>
            <a:off x="731520" y="18516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قَالُواْ لِإِخْوَٰنِهِمْ وَقَعَدُواْ لَوْ أَطَاعُونَا مَا قُتِلُواْ قُلْ فَادْرَءُواْ عَنْ أَنفُسِكُمُ الْمَوْتَ إِن كُنتُمْ صَٰدِقِينَ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قالوا وقد قعدوا عن القتال: لو أطاعنا إخواننا ما قُتلوا، قل: فادفعوا عن أنفسكم الموت إن كنتم صادقين.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١٦٩</a:t>
            </a:r>
            <a:endParaRPr lang="ar-SA" sz="1300" dirty="0"/>
          </a:p>
        </p:txBody>
      </p:sp>
      <p:sp>
        <p:nvSpPr>
          <p:cNvPr id="13" name="Text 11"/>
          <p:cNvSpPr txBox="1"/>
          <p:nvPr/>
        </p:nvSpPr>
        <p:spPr>
          <a:xfrm>
            <a:off x="731520" y="4201668"/>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تَحْسَبَنَّ الَّذِينَ قُتِلُواْ فِي سَبِيلِ اللَّهِ أَمْوَٰتًا بَلْ أَحْيَآءٌ عِندَ رَبِّهِمْ يُرْزَقُونَ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تظنّنّ الذين قُتلوا في سبيل الله أمواتًا، بل هم أحياء عند ربهم يُرزقون، أرواحهم في أجواف طير خضر تسرح في الجنة (مسلم).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١٧٠ – ١٧١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١٧٠</a:t>
            </a:r>
            <a:endParaRPr lang="ar-SA" sz="13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فَرِحِينَ بِمَآ ءَاتَىٰهُمُ اللَّهُ مِن فَضْلِهِ وَيَسْتَبْشِرُونَ بِالَّذِينَ لَمْ يَلْحَقُواْ بِهِم مِّنْ خَلْفِهِمْ أَلَّا خَوْفٌ عَلَيْهِمْ وَلَا هُمْ يَحْزَنُونَ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فرحين بما أعطاهم الله من فضله، ويستبشرون بإخوانهم الذين لم يلحقوا بهم بعد، أنه لا خوف عليهم ولا هم يحزنون.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١٧١</a:t>
            </a:r>
            <a:endParaRPr lang="ar-SA" sz="13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يَسْتَبْشِرُونَ بِنِعْمَةٍ مِّنَ اللَّهِ وَفَضْلٍ وَأَنَّ اللَّهَ لَا يُضِيعُ أَجْرَ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يفرحون بنعمة من الله وفضل، وبأن الله لا يُضيّع أجر المؤمنين.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١٧٢ – ١٧٣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١٧٢</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اسْتَجَابُواْ لِلَّهِ وَالرَّسُولِ مِن بَعْدِ مَآ أَصَابَهُمُ الْقَرْحُ لِلَّذِينَ أَحْسَنُواْ مِنْهُمْ وَاتَّقَوْاْ أَجْرٌ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لبّوا نداء الله والرسول بالخروج إلى «حمراء الأسد» في اليوم التالي لأُحُد مع جراحهم، للمحسنين منهم والمتقين أجر عظيم.</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١٧٣</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قَالَ لَهُمُ النَّاسُ إِنَّ النَّاسَ قَدْ جَمَعُواْ لَكُمْ فَاخْشَوْهُمْ فَزَادَهُمْ إِيمَٰنًا وَقَالُواْ حَسْبُنَا اللَّهُ وَنِعْمَ الْوَكِيلُ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قال لهم بعض الناس: إن قريشًا قد جمعوا لكم فخافوهم، فزادهم ذلك إيمانًا وقالوا: حسبنا الله ونعم الوكيل. وقالها إبراهيم حين أُلقي في النار (البخاري).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١٧٤ – ١٧٥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١٧٤</a:t>
            </a:r>
            <a:endParaRPr lang="ar-SA" sz="13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فَانقَلَبُواْ بِنِعْمَةٍ مِّنَ اللَّهِ وَفَضْلٍ لَّمْ يَمْسَسْهُمْ سُوءٌ وَاتَّبَعُواْ رِضْوَٰنَ اللَّهِ وَاللَّهُ ذُو فَضْلٍ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فرجعوا بنعمة من الله وفضل، لم يصبهم سوء، واتّبعوا رضوان الله، والله ذو فضل عظيم.</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١٧٥</a:t>
            </a:r>
            <a:endParaRPr lang="ar-SA" sz="13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ذَٰلِكُمُ الشَّيْطَٰنُ يُخَوِّفُ أَوْلِيَآءَهُ فَلَا تَخَافُوهُمْ وَخَافُونِ إِن كُنتُم 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ذلكم الشيطان يخوّفكم من أوليائه الكفار، فلا تخافوهم وخافوني إن كنتم مؤمنين.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400" b="1" dirty="0">
                <a:solidFill>
                  <a:schemeClr val="accent2"/>
                </a:solidFill>
                <a:latin typeface="Sakkal Majalla" pitchFamily="34" charset="0"/>
                <a:ea typeface="Sakkal Majalla" pitchFamily="34" charset="-122"/>
                <a:cs typeface="Sakkal Majalla" pitchFamily="34" charset="-120"/>
              </a:rPr>
              <a:t>التفكّر في الخلق وخاتمة السورة</a:t>
            </a:r>
            <a:endParaRPr lang="ar-SA" sz="2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١٠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١٧٦ – ٢٠٠</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آل عمران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قالت أم سلمة رضي الله عنها: يا رسول الله، لا أسمع الله ذكر النساء في الهجرة بشيء، فأنزل الله: ﴿فاستجاب لهم ربهم أني لا أضيع عمل عامل منكم من ذكر أو أنثى﴾ (رواه الترمذي والحاكم).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تسلية النبي صلى الله عليه وسلم، والتحذير من البخل، وأن كل نفس ذائقة الموت، والتفكّر في خلق السماوات والأرض، ودعاء أولي الألباب، والأمر بالصبر والمرابطة.</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١٧٦ – ١٧٧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١٧٦</a:t>
            </a:r>
            <a:endParaRPr lang="ar-SA" sz="13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يَحْزُنكَ الَّذِينَ يُسَٰرِعُونَ فِي الْكُفْرِ إِنَّهُمْ لَن يَضُرُّواْ اللَّهَ شَيْـًٔا يُرِيدُ اللَّهُ أَلَّا يَجْعَلَ لَهُمْ حَظًّا فِي الْأخِرَةِ وَلَهُمْ عَذَابٌ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يُحزنك الذين يسارعون في الكفر، إنهم لن يضرّوا الله شيئًا، يريد الله ألّا يجعل لهم نصيبًا في الآخرة، ولهم عذاب عظيم.</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١٧٧</a:t>
            </a:r>
            <a:endParaRPr lang="ar-SA" sz="13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اشْتَرَوُاْ الْكُفْرَ بِالْإِيمَٰنِ لَن يَضُرُّواْ اللَّهَ شَيْـًٔا وَلَهُمْ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استبدلوا الكفر بالإيمان لن يضرّوا الله شيئًا، ولهم عذاب مؤلم.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١٧٨ – ١٧٩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١٧٨</a:t>
            </a:r>
            <a:endParaRPr lang="ar-SA" sz="1300" dirty="0"/>
          </a:p>
        </p:txBody>
      </p:sp>
      <p:sp>
        <p:nvSpPr>
          <p:cNvPr id="8" name="Text 6"/>
          <p:cNvSpPr txBox="1"/>
          <p:nvPr/>
        </p:nvSpPr>
        <p:spPr>
          <a:xfrm>
            <a:off x="731520" y="143789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يَحْسَبَنَّ الَّذِينَ كَفَرُواْ أَنَّمَا نُمْلِي لَهُمْ خَيْرٌ لِّأَنفُسِهِمْ إِنَّمَا نُمْلِي لَهُمْ لِيَزْدَادُواْ إِثْمًا وَلَهُمْ عَذَابٌ مُّهِينٌ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يظنّنّ الكفار أن إمهالنا لهم خير لأنفسهم، إنما نمهلهم ليزدادوا إثمًا، ولهم عذاب مُهين.</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3290"/>
            <a:ext cx="548640" cy="548640"/>
          </a:xfrm>
          <a:prstGeom prst="star8">
            <a:avLst/>
          </a:prstGeom>
          <a:solidFill>
            <a:schemeClr val="accent2"/>
          </a:solidFill>
          <a:ln/>
        </p:spPr>
      </p:sp>
      <p:sp>
        <p:nvSpPr>
          <p:cNvPr id="11" name="Shape 9"/>
          <p:cNvSpPr/>
          <p:nvPr/>
        </p:nvSpPr>
        <p:spPr>
          <a:xfrm>
            <a:off x="11036808" y="3573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329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١٧٩</a:t>
            </a:r>
            <a:endParaRPr lang="ar-SA" sz="1300" dirty="0"/>
          </a:p>
        </p:txBody>
      </p:sp>
      <p:sp>
        <p:nvSpPr>
          <p:cNvPr id="13" name="Text 11"/>
          <p:cNvSpPr txBox="1"/>
          <p:nvPr/>
        </p:nvSpPr>
        <p:spPr>
          <a:xfrm>
            <a:off x="731520" y="344500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كَانَ اللَّهُ لِيَذَرَ الْمُؤْمِنِينَ عَلَىٰ مَآ أَنتُمْ عَلَيْهِ حَتَّىٰ يَمِيزَ الْخَبِيثَ مِنَ الطَّيِّبِ وَمَا كَانَ اللَّهُ لِيُطْلِعَكُمْ عَلَى الْغَيْبِ وَلَٰكِنَّ اللَّهَ يَجْتَبِي مِن رُّسُلِهِ مَن يَشَآءُ فَـَٔامِنُواْ بِاللَّهِ وَرُسُلِهِ وَإِن تُؤْمِنُواْ وَتَتَّقُواْ فَلَكُمْ أَجْرٌ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كان الله ليترك المؤمنين مختلطين بالمنافقين حتى يميّز الخبيث من الطيب بالاختبار، وما كان الله ليُطلعكم على الغيب، ولكن يختار من رسله من يشاء، فآمنوا بالله ورسله.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١٨٠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١٨٠</a:t>
            </a:r>
            <a:endParaRPr lang="ar-SA" sz="13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يَحْسَبَنَّ الَّذِينَ يَبْخَلُونَ بِمَآ ءَاتَىٰهُمُ اللَّهُ مِن فَضْلِهِ هُوَ خَيْرًا لَّهُم بَلْ هُوَ شَرٌّ لَّهُمْ سَيُطَوَّقُونَ مَا بَخِلُواْ بِهِ يَوْمَ الْقِيَٰمَةِ وَلِلَّهِ مِيرَٰثُ السَّمَٰوَٰتِ وَالْأَرْضِ وَاللَّهُ بِمَا تَعْمَلُونَ خَبِيرٌ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يظنّنّ الذين يبخلون بما أعطاهم الله أن ذلك خير لهم، بل هو شر لهم، سيُجعل ما بخلوا به طوقًا في أعناقهم يوم القيامة، ولله ميراث السماوات والأرض.</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١٨١ – ١٨٢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١٨١</a:t>
            </a:r>
            <a:endParaRPr lang="ar-SA" sz="13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سَمِعَ اللَّهُ قَوْلَ الَّذِينَ قَالُواْ إِنَّ اللَّهَ فَقِيرٌ وَنَحْنُ أَغْنِيَآءُ سَنَكْتُبُ مَا قَالُواْ وَقَتْلَهُمُ الْأَنبِيَآءَ بِغَيْرِ حَقٍّ وَنَقُولُ ذُوقُواْ عَذَابَ الْحَرِيقِ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سمع الله قول اليهود الذين قالوا: إن الله فقير ونحن أغنياء، سنكتب ما قالوا وقتلَهم الأنبياء بغير حق، ونقول: ذوقوا عذاب النار المحرقة.</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١٨٢</a:t>
            </a:r>
            <a:endParaRPr lang="ar-SA" sz="13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بِمَا قَدَّمَتْ أَيْدِيكُمْ وَأَنَّ اللَّهَ لَيْسَ بِظَلَّامٍ لِّلْعَبِيدِ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بما قدّمت أيديكم، وأن الله ليس بظالم للعباد.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١٨٣ – ١٨٤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١٨٣</a:t>
            </a:r>
            <a:endParaRPr lang="ar-SA" sz="13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قَالُواْ إِنَّ اللَّهَ عَهِدَ إِلَيْنَآ أَلَّا نُؤْمِنَ لِرَسُولٍ حَتَّىٰ يَأْتِيَنَا بِقُرْبَانٍ تَأْكُلُهُ النَّارُ قُلْ قَدْ جَآءَكُمْ رُسُلٌ مِّن قَبْلِي بِالْبَيِّنَٰتِ وَبِالَّذِي قُلْتُمْ فَلِمَ قَتَلْتُمُوهُمْ إِن كُنتُمْ صَٰدِقِينَ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قالوا: إن الله أوصانا ألّا نؤمن لرسول حتى يأتينا بقربان تأكله نار من السماء، قل: قد جاءكم رسل قبلي بالمعجزات وبالذي قلتم، فلماذا قتلتموهم إن كنتم صادقين؟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١٨٤</a:t>
            </a:r>
            <a:endParaRPr lang="ar-SA" sz="13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 كَذَّبُوكَ فَقَدْ كُذِّبَ رُسُلٌ مِّن قَبْلِكَ جَآءُو بِالْبَيِّنَٰتِ وَالزُّبُرِ وَالْكِتَٰبِ الْمُنِيرِ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 كذّبوك فقد كُذّب رسل قبلك جاؤوا بالمعجزات والكتب والكتاب المنير.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١٨٥ – ١٨٦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١٨٥</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 نَفْسٍ ذَآئِقَةُ الْمَوْتِ وَإِنَّمَا تُوَفَّوْنَ أُجُورَكُمْ يَوْمَ الْقِيَٰمَةِ فَمَن زُحْزِحَ عَنِ النَّارِ وَأُدْخِلَ الْجَنَّةَ فَقَدْ فَازَ وَمَا الْحَيَوٰةُ الدُّنْيَآ إِلَّا مَتَٰعُ الْغُرُورِ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 نفس ستذوق الموت، وإنما تُعطَون أجوركم كاملة يوم القيامة، فمن أُبعد عن النار وأُدخل الجنة فقد فاز، وما الحياة الدنيا إلا متاع زائل يخدع صاحبه.</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١٨٦</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لَتُبْلَوُنَّ فِي أَمْوَٰلِكُمْ وَأَنفُسِكُمْ وَلَتَسْمَعُنَّ مِنَ الَّذِينَ أُوتُواْ الْكِتَٰبَ مِن قَبْلِكُمْ وَمِنَ الَّذِينَ أَشْرَكُواْ أَذًى كَثِيرًا وَإِن تَصْبِرُواْ وَتَتَّقُواْ فَإِنَّ ذَٰلِكَ مِنْ عَزْمِ الْأُمُورِ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لتُختبرُنّ في أموالكم وأنفسكم، ولتسمعُنّ من أهل الكتاب والمشركين أذى كثيرًا، وإن تصبروا وتتقوا فإن ذلك من الأمور التي تحتاج إلى عزيمة قوية.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١٨٧ – ١٨٨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١٨٧</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أَخَذَ اللَّهُ مِيثَٰقَ الَّذِينَ أُوتُواْ الْكِتَٰبَ لَتُبَيِّنُنَّهُ لِلنَّاسِ وَلَا تَكْتُمُونَهُ فَنَبَذُوهُ وَرَآءَ ظُهُورِهِمْ وَاشْتَرَوْاْ بِهِ ثَمَنًا قَلِيلًا فَبِئْسَ مَا يَشْتَرُونَ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حين أخذ الله العهد على أهل الكتاب: لتبيّنُنّ الكتاب للناس ولا تكتمونه، فتركوه وراء ظهورهم، واستبدلوا به شيئًا قليلًا من الدنيا، فبئس ما يأخذون.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١٨٨</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تَحْسَبَنَّ الَّذِينَ يَفْرَحُونَ بِمَآ أَتَواْ وَّيُحِبُّونَ أَن يُحْمَدُواْ بِمَا لَمْ يَفْعَلُواْ فَلَا تَحْسَبَنَّهُم بِمَفَازَةٍ مِّنَ الْعَذَابِ وَلَهُمْ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تظنّنّ الذين يفرحون بما فعلوا من الشر، ويحبون أن يُمدحوا بما لم يفعلوا، ناجين من العذاب، ولهم عذاب مؤلم.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١٨٩ – ١٩١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١٨٩</a:t>
            </a:r>
            <a:endParaRPr lang="ar-SA" sz="13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وَلِلَّهِ مُلْكُ السَّمَٰوَٰتِ وَالْأَرْضِ وَاللَّهُ عَلَىٰ كُلِّ شَيْءٍ 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ولله ملك السماوات والأرض، والله على كل شيء قدير.</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١٩٠</a:t>
            </a:r>
            <a:endParaRPr lang="ar-SA" sz="13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فِي خَلْقِ السَّمَٰوَٰتِ وَالْأَرْضِ وَاخْتِلَٰفِ الَّيْلِ وَالنَّهَارِ لَأيَٰتٍ لِّأُوْلِي الْأَلْبَٰبِ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في خلق السماوات والأرض، وتعاقب الليل والنهار، لدلائل على قدرة الله لأصحاب العقول.</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١٩١</a:t>
            </a:r>
            <a:endParaRPr lang="ar-SA" sz="13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يَذْكُرُونَ اللَّهَ قِيَٰمًا وَقُعُودًا وَعَلَىٰ جُنُوبِهِمْ وَيَتَفَكَّرُونَ فِي خَلْقِ السَّمَٰوَٰتِ وَالْأَرْضِ رَبَّنَا مَا خَلَقْتَ هَٰذَا بَٰطِلًا سُبْحَٰنَكَ فَقِنَا عَذَابَ النَّارِ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يذكرون الله قائمين وقاعدين ومضطجعين، ويتفكّرون في خلق السماوات والأرض قائلين: ربنا ما خلقت هذا عبثًا، سبحانك فقنا عذاب النار.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١٩٢ – ١٩٤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١٩٢</a:t>
            </a:r>
            <a:endParaRPr lang="ar-SA" sz="13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رَبَّنَآ إِنَّكَ مَن تُدْخِلِ النَّارَ فَقَدْ أَخْزَيْتَهُ وَمَا لِلظَّـٰلِمِينَ مِنْ أَنصَارٍ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ربنا إنك من تُدخله النار فقد أذللته، وما للظالمين من أنصار.</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١٩٣</a:t>
            </a:r>
            <a:endParaRPr lang="ar-SA" sz="13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رَّبَّنَآ إِنَّنَا سَمِعْنَا مُنَادِيًا يُنَادِي لِلْإِيمَٰنِ أَنْ ءَامِنُواْ بِرَبِّكُمْ فَـَٔامَنَّا رَبَّنَا فَاغْفِرْ لَنَا ذُنُوبَنَا وَكَفِّرْ عَنَّا سَيِّـَٔاتِنَا وَتَوَفَّنَا مَعَ الْأَبْرَارِ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ربنا إننا سمعنا النبي صلى الله عليه وسلم يدعو إلى الإيمان: أن آمنوا بربكم فآمنّا، ربنا فاغفر لنا ذنوبنا، وامحُ عنا سيئاتنا، وتوفّنا مع الأبرار.</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١٩٤</a:t>
            </a:r>
            <a:endParaRPr lang="ar-SA" sz="13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رَبَّنَا وَءَاتِنَا مَا وَعَدتَّنَا عَلَىٰ رُسُلِكَ وَلَا تُخْزِنَا يَوْمَ الْقِيَٰمَةِ إِنَّكَ لَا تُخْلِفُ الْمِيعَادَ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ربنا وأعطنا ما وعدتنا على ألسنة رسلك، ولا تُذلّنا يوم القيامة، إنك لا تخلف الميعاد.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١٩٥ – ١٩٦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١٩٥</a:t>
            </a:r>
            <a:endParaRPr lang="ar-SA" sz="1300" dirty="0"/>
          </a:p>
        </p:txBody>
      </p:sp>
      <p:sp>
        <p:nvSpPr>
          <p:cNvPr id="8" name="Text 6"/>
          <p:cNvSpPr txBox="1"/>
          <p:nvPr/>
        </p:nvSpPr>
        <p:spPr>
          <a:xfrm>
            <a:off x="731520" y="1437894"/>
            <a:ext cx="10012680" cy="306324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فَاسْتَجَابَ لَهُمْ رَبُّهُمْ أَنِّي لَآ أُضِيعُ عَمَلَ عَٰمِلٍ مِّنكُم مِّن ذَكَرٍ أَوْ أُنثَىٰ بَعْضُكُم مِّن بَعْضٍ فَالَّذِينَ هَاجَرُواْ وَأُخْرِجُواْ مِن دِيَٰرِهِمْ وَأُوذُواْ فِي سَبِيلِي وَقَٰتَلُواْ وَقُتِلُواْ لَأُكَفِّرَنَّ عَنْهُمْ سَيِّـَٔاتِهِمْ وَلَأُدْخِلَنَّهُمْ جَنَّـٰتٍ تَجْرِي مِن تَحْتِهَا الْأَنْهَٰرُ ثَوَابًا مِّنْ عِندِ اللَّهِ وَاللَّهُ عِندَهُ حُسْنُ الثَّوَابِ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فاستجاب لهم ربهم: أني لا أُضيّع عمل عامل منكم ذكرًا كان أو أنثى، فالذين هاجروا وأُخرجوا من ديارهم وأُوذوا في سبيلي وقاتلوا وقُتلوا لأمحونّ عنهم سيئاتهم، ولأُدخلنّهم جنات تجري من تحتها الأنهار.</a:t>
            </a:r>
            <a:endParaRPr lang="ar-SA" sz="3200" dirty="0"/>
          </a:p>
        </p:txBody>
      </p:sp>
      <p:sp>
        <p:nvSpPr>
          <p:cNvPr id="9" name="Shape 7"/>
          <p:cNvSpPr/>
          <p:nvPr/>
        </p:nvSpPr>
        <p:spPr>
          <a:xfrm>
            <a:off x="2103120" y="4713732"/>
            <a:ext cx="8641080" cy="0"/>
          </a:xfrm>
          <a:prstGeom prst="line">
            <a:avLst/>
          </a:prstGeom>
          <a:noFill/>
          <a:ln w="9525">
            <a:solidFill>
              <a:schemeClr val="accent2"/>
            </a:solidFill>
            <a:prstDash val="dash"/>
          </a:ln>
        </p:spPr>
      </p:sp>
      <p:sp>
        <p:nvSpPr>
          <p:cNvPr id="10" name="Shape 8"/>
          <p:cNvSpPr/>
          <p:nvPr/>
        </p:nvSpPr>
        <p:spPr>
          <a:xfrm>
            <a:off x="10927080" y="4972050"/>
            <a:ext cx="548640" cy="548640"/>
          </a:xfrm>
          <a:prstGeom prst="star8">
            <a:avLst/>
          </a:prstGeom>
          <a:solidFill>
            <a:schemeClr val="accent2"/>
          </a:solidFill>
          <a:ln/>
        </p:spPr>
      </p:sp>
      <p:sp>
        <p:nvSpPr>
          <p:cNvPr id="11" name="Shape 9"/>
          <p:cNvSpPr/>
          <p:nvPr/>
        </p:nvSpPr>
        <p:spPr>
          <a:xfrm>
            <a:off x="11036808" y="508177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97205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١٩٦</a:t>
            </a:r>
            <a:endParaRPr lang="ar-SA" sz="1300" dirty="0"/>
          </a:p>
        </p:txBody>
      </p:sp>
      <p:sp>
        <p:nvSpPr>
          <p:cNvPr id="13" name="Text 11"/>
          <p:cNvSpPr txBox="1"/>
          <p:nvPr/>
        </p:nvSpPr>
        <p:spPr>
          <a:xfrm>
            <a:off x="731520" y="495376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يَغُرَّنَّكَ تَقَلُّبُ الَّذِينَ كَفَرُواْ فِي الْبِلَٰدِ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يخدعنّك تنقّل الكفار في البلاد بالتجارة والنعيم.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١٩٧ – ١٩٨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١٩٧</a:t>
            </a:r>
            <a:endParaRPr lang="ar-SA" sz="13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مَتَٰعٌ قَلِيلٌ ثُمَّ مَأْوَىٰهُمْ جَهَنَّمُ وَبِئْسَ الْمِهَادُ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متاع قليل، ثم مسكنهم جهنم، وبئس الفراش.</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١٩٨</a:t>
            </a:r>
            <a:endParaRPr lang="ar-SA" sz="13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لَٰكِنِ الَّذِينَ اتَّقَوْاْ رَبَّهُمْ لَهُمْ جَنَّـٰتٌ تَجْرِي مِن تَحْتِهَا الْأَنْهَٰرُ خَٰلِدِينَ فِيهَا نُزُلًا مِّنْ عِندِ اللَّهِ وَمَا عِندَ اللَّهِ خَيْرٌ لِّلْأَبْرَارِ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لكن الذين اتقوا ربهم لهم جنات تجري من تحتها الأنهار خالدين فيها، ضيافةً من عند الله، وما عند الله خير للأبرار.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آل عمران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١٩٩ – ٢٠٠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١٩٩</a:t>
            </a:r>
            <a:endParaRPr lang="ar-SA" sz="1300" dirty="0"/>
          </a:p>
        </p:txBody>
      </p:sp>
      <p:sp>
        <p:nvSpPr>
          <p:cNvPr id="8" name="Text 6"/>
          <p:cNvSpPr txBox="1"/>
          <p:nvPr/>
        </p:nvSpPr>
        <p:spPr>
          <a:xfrm>
            <a:off x="731520" y="155905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مِنْ أَهْلِ الْكِتَٰبِ لَمَن يُؤْمِنُ بِاللَّهِ وَمَآ أُنزِلَ إِلَيْكُمْ وَمَآ أُنزِلَ إِلَيْهِمْ خَٰشِعِينَ لِلَّهِ لَا يَشْتَرُونَ بِـَٔايَٰتِ اللَّهِ ثَمَنًا قَلِيلًا أُوْلَـٰئِكَ لَهُمْ أَجْرُهُمْ عِندَ رَبِّهِمْ إِنَّ اللَّهَ سَرِيعُ الْحِسَابِ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من أهل الكتاب من يؤمن بالله وبالقرآن وبما أُنزل إليهم، خاشعين لله، لا يبيعون آيات الله بثمن قليل، أولئك لهم أجرهم عند ربهم. وذكر ابن كثير أنها نزلت في النجاشي وأمثاله.</a:t>
            </a:r>
            <a:endParaRPr lang="ar-SA" sz="3200" dirty="0"/>
          </a:p>
        </p:txBody>
      </p:sp>
      <p:sp>
        <p:nvSpPr>
          <p:cNvPr id="9" name="Shape 7"/>
          <p:cNvSpPr/>
          <p:nvPr/>
        </p:nvSpPr>
        <p:spPr>
          <a:xfrm>
            <a:off x="2103120" y="4251960"/>
            <a:ext cx="8641080" cy="0"/>
          </a:xfrm>
          <a:prstGeom prst="line">
            <a:avLst/>
          </a:prstGeom>
          <a:noFill/>
          <a:ln w="9525">
            <a:solidFill>
              <a:schemeClr val="accent2"/>
            </a:solidFill>
            <a:prstDash val="dash"/>
          </a:ln>
        </p:spPr>
      </p:sp>
      <p:sp>
        <p:nvSpPr>
          <p:cNvPr id="10" name="Shape 8"/>
          <p:cNvSpPr/>
          <p:nvPr/>
        </p:nvSpPr>
        <p:spPr>
          <a:xfrm>
            <a:off x="10927080" y="4512564"/>
            <a:ext cx="548640" cy="548640"/>
          </a:xfrm>
          <a:prstGeom prst="star8">
            <a:avLst/>
          </a:prstGeom>
          <a:solidFill>
            <a:schemeClr val="accent2"/>
          </a:solidFill>
          <a:ln/>
        </p:spPr>
      </p:sp>
      <p:sp>
        <p:nvSpPr>
          <p:cNvPr id="11" name="Shape 9"/>
          <p:cNvSpPr/>
          <p:nvPr/>
        </p:nvSpPr>
        <p:spPr>
          <a:xfrm>
            <a:off x="11036808" y="462229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51256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٢٠٠</a:t>
            </a:r>
            <a:endParaRPr lang="ar-SA" sz="1300" dirty="0"/>
          </a:p>
        </p:txBody>
      </p:sp>
      <p:sp>
        <p:nvSpPr>
          <p:cNvPr id="13" name="Text 11"/>
          <p:cNvSpPr txBox="1"/>
          <p:nvPr/>
        </p:nvSpPr>
        <p:spPr>
          <a:xfrm>
            <a:off x="731520" y="4494276"/>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اصْبِرُواْ وَصَابِرُواْ وَرَابِطُواْ وَاتَّقُواْ اللَّهَ لَعَلَّكُمْ تُفْلِحُونَ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اصبروا على الطاعة وعن المعصية، وغالبوا أعداءكم في الصبر، وداوموا على حراسة الثغور والطاعة، واتقوا الله لعلكم تفوزون.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pic>
        <p:nvPicPr>
          <p:cNvPr id="2" name="Image 0" descr="assets3/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جزاكم الله خيرًا</a:t>
            </a:r>
            <a:endParaRPr lang="en-US" sz="6400" dirty="0"/>
          </a:p>
        </p:txBody>
      </p:sp>
      <p:sp>
        <p:nvSpPr>
          <p:cNvPr id="4" name="Text 1"/>
          <p:cNvSpPr txBox="1"/>
          <p:nvPr/>
        </p:nvSpPr>
        <p:spPr>
          <a:xfrm>
            <a:off x="1371600" y="3794760"/>
            <a:ext cx="9448495" cy="91440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Traditional Arabic" pitchFamily="34" charset="0"/>
                <a:ea typeface="Traditional Arabic" pitchFamily="34" charset="-122"/>
                <a:cs typeface="Traditional Arabic" pitchFamily="34" charset="-120"/>
              </a:rPr>
              <a:t>«اللهم اجعل القرآن العظيم ربيع قلوبنا، ونور صدورنا، وجلاء أحزاننا، وذهاب همومنا»</a:t>
            </a:r>
            <a:endParaRPr lang="ar-SA" sz="2600" dirty="0"/>
          </a:p>
        </p:txBody>
      </p:sp>
      <p:pic>
        <p:nvPicPr>
          <p:cNvPr id="5" name="Image 1" descr="assets3/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rtl="1" algn="ctr" indent="0" marL="0">
              <a:buNone/>
            </a:pPr>
            <a:r>
              <a:rPr lang="ar-SA" altLang="en-US" sz="1500" dirty="0">
                <a:solidFill>
                  <a:schemeClr val="bg2"/>
                </a:solidFill>
              </a:rPr>
              <a:t>المرجع: تفسير القرآن العظيم، للحافظ ابن كثير رحمه الله</a:t>
            </a:r>
            <a:endParaRPr lang="ar-SA" sz="1500" dirty="0"/>
          </a:p>
        </p:txBody>
      </p:sp>
    </p:spTree>
  </p:cSld>
  <p:clrMapOvr>
    <a:masterClrMapping/>
  </p:clrMapOvr>
</p:sld>
</file>

<file path=ppt/theme/theme1.xml><?xml version="1.0" encoding="utf-8"?>
<a:theme xmlns:a="http://schemas.openxmlformats.org/drawingml/2006/main" name="Al Imran Tafsir">
  <a:themeElements>
    <a:clrScheme name="Al Imran Tafsir">
      <a:dk1>
        <a:srgbClr val="2B2224"/>
      </a:dk1>
      <a:lt1>
        <a:srgbClr val="FFFFFF"/>
      </a:lt1>
      <a:dk2>
        <a:srgbClr val="741026"/>
      </a:dk2>
      <a:lt2>
        <a:srgbClr val="FCF8F5"/>
      </a:lt2>
      <a:accent1>
        <a:srgbClr val="741026"/>
      </a:accent1>
      <a:accent2>
        <a:srgbClr val="C9A04A"/>
      </a:accent2>
      <a:accent3>
        <a:srgbClr val="93203A"/>
      </a:accent3>
      <a:accent4>
        <a:srgbClr val="6E6264"/>
      </a:accent4>
      <a:accent5>
        <a:srgbClr val="F6E9E7"/>
      </a:accent5>
      <a:accent6>
        <a:srgbClr val="1F3A5F"/>
      </a:accent6>
      <a:hlink>
        <a:srgbClr val="93203A"/>
      </a:hlink>
      <a:folHlink>
        <a:srgbClr val="6E6264"/>
      </a:folHlink>
    </a:clrScheme>
    <a:fontScheme name="Al Imran Tafsir">
      <a:majorFont>
        <a:latin typeface="Sakkal Majal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107</Slides>
  <Notes>107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107</vt:i4>
      </vt:variant>
    </vt:vector>
  </HeadingPairs>
  <TitlesOfParts>
    <vt:vector size="11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تفسير سورة آل عمران — مبسّط من تفسير ابن كثير</dc:title>
  <dc:subject>PptxGenJS Presentation</dc:subject>
  <dc:creator>معلم القرآن الكريم</dc:creator>
  <cp:lastModifiedBy>معلم القرآن الكريم</cp:lastModifiedBy>
  <cp:revision>1</cp:revision>
  <dcterms:created xsi:type="dcterms:W3CDTF">2026-10-03T20:58:19Z</dcterms:created>
  <dcterms:modified xsi:type="dcterms:W3CDTF">2026-10-03T20:58:19Z</dcterms:modified>
</cp:coreProperties>
</file>