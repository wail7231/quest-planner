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Lst>
  <p:notesMasterIdLst>
    <p:notesMasterId r:id="rId1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466f477d-5d1a-d271-8d8f-b1dff0af8964}">
          <p14:sldIdLst>
            <p14:sldId id="256"/>
            <p14:sldId id="257"/>
            <p14:sldId id="258"/>
            <p14:sldId id="259"/>
          </p14:sldIdLst>
        </p14:section>
        <p14:section name="1. القرآن وقصة آدم وإبليس" id="{47d013a4-f98a-3662-40a1-d1c833354d3e}">
          <p14:sldIdLst>
            <p14:sldId id="260"/>
            <p14:sldId id="261"/>
            <p14:sldId id="262"/>
            <p14:sldId id="263"/>
            <p14:sldId id="264"/>
            <p14:sldId id="265"/>
            <p14:sldId id="266"/>
            <p14:sldId id="267"/>
            <p14:sldId id="268"/>
            <p14:sldId id="269"/>
          </p14:sldIdLst>
        </p14:section>
        <p14:section name="2. يا بني آدم: اللباس وأهل الأعراف" id="{338b0988-2929-1218-24bc-a17dfefee839}">
          <p14:sldIdLst>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 name="3. نوح وهود عليهما السلام" id="{c8e08693-81eb-29aa-5fe5-cdbf9ceb34f9}">
          <p14:sldIdLst>
            <p14:sldId id="289"/>
            <p14:sldId id="290"/>
            <p14:sldId id="291"/>
            <p14:sldId id="292"/>
            <p14:sldId id="293"/>
            <p14:sldId id="294"/>
            <p14:sldId id="295"/>
          </p14:sldIdLst>
        </p14:section>
        <p14:section name="4. صالح ولوط وشعيب عليهم السلام" id="{3ced412e-683a-ed88-3404-464bfd39480c}">
          <p14:sldIdLst>
            <p14:sldId id="296"/>
            <p14:sldId id="297"/>
            <p14:sldId id="298"/>
            <p14:sldId id="299"/>
            <p14:sldId id="300"/>
            <p14:sldId id="301"/>
            <p14:sldId id="302"/>
            <p14:sldId id="303"/>
            <p14:sldId id="304"/>
            <p14:sldId id="305"/>
            <p14:sldId id="306"/>
          </p14:sldIdLst>
        </p14:section>
        <p14:section name="5. سنن الله في الأمم" id="{a213ea33-8dbb-d693-0f85-8a2bc594c30d}">
          <p14:sldIdLst>
            <p14:sldId id="307"/>
            <p14:sldId id="308"/>
            <p14:sldId id="309"/>
            <p14:sldId id="310"/>
            <p14:sldId id="311"/>
          </p14:sldIdLst>
        </p14:section>
        <p14:section name="6. موسى وفرعون والسحرة" id="{8314286c-e12b-b3de-e606-7b5fa31f4cb9}">
          <p14:sldIdLst>
            <p14:sldId id="312"/>
            <p14:sldId id="313"/>
            <p14:sldId id="314"/>
            <p14:sldId id="315"/>
            <p14:sldId id="316"/>
            <p14:sldId id="317"/>
            <p14:sldId id="318"/>
            <p14:sldId id="319"/>
            <p14:sldId id="320"/>
            <p14:sldId id="321"/>
            <p14:sldId id="322"/>
            <p14:sldId id="323"/>
            <p14:sldId id="324"/>
            <p14:sldId id="325"/>
          </p14:sldIdLst>
        </p14:section>
        <p14:section name="7. الميقات وفتنة العجل" id="{8615ebbd-03c9-4637-9a4b-a8da0aeb17ac}">
          <p14:sldIdLst>
            <p14:sldId id="326"/>
            <p14:sldId id="327"/>
            <p14:sldId id="328"/>
            <p14:sldId id="329"/>
            <p14:sldId id="330"/>
            <p14:sldId id="331"/>
            <p14:sldId id="332"/>
            <p14:sldId id="333"/>
            <p14:sldId id="334"/>
            <p14:sldId id="335"/>
            <p14:sldId id="336"/>
            <p14:sldId id="337"/>
            <p14:sldId id="338"/>
          </p14:sldIdLst>
        </p14:section>
        <p14:section name="8. الرسالة العامة وأصحاب السبت" id="{a8c1611a-fde0-ed61-7ba0-d5d18125f5af}">
          <p14:sldIdLst>
            <p14:sldId id="339"/>
            <p14:sldId id="340"/>
            <p14:sldId id="341"/>
            <p14:sldId id="342"/>
            <p14:sldId id="343"/>
            <p14:sldId id="344"/>
            <p14:sldId id="345"/>
            <p14:sldId id="346"/>
            <p14:sldId id="347"/>
          </p14:sldIdLst>
        </p14:section>
        <p14:section name="9. الميثاق والعالِم المنسلخ" id="{5779010c-b057-c86b-9a2e-076f17e058d8}">
          <p14:sldIdLst>
            <p14:sldId id="348"/>
            <p14:sldId id="349"/>
            <p14:sldId id="350"/>
            <p14:sldId id="351"/>
            <p14:sldId id="352"/>
            <p14:sldId id="353"/>
            <p14:sldId id="354"/>
            <p14:sldId id="355"/>
          </p14:sldIdLst>
        </p14:section>
        <p14:section name="10. الساعة وآداب الذكر" id="{a5961136-23ab-2d2a-2969-454870d523eb}">
          <p14:sldIdLst>
            <p14:sldId id="356"/>
            <p14:sldId id="357"/>
            <p14:sldId id="358"/>
            <p14:sldId id="359"/>
            <p14:sldId id="360"/>
            <p14:sldId id="361"/>
            <p14:sldId id="362"/>
            <p14:sldId id="363"/>
            <p14:sldId id="364"/>
          </p14:sldIdLst>
        </p14:section>
        <p14:section name="الخاتمة" id="{10152247-9362-712e-bc6d-f9f11cd789fd}">
          <p14:sldIdLst>
            <p14:sldId id="3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notesMaster" Target="notesMasters/notesMaster1.xml"/><Relationship Id="rId113" Type="http://schemas.openxmlformats.org/officeDocument/2006/relationships/presProps" Target="presProps.xml"/><Relationship Id="rId114" Type="http://schemas.openxmlformats.org/officeDocument/2006/relationships/viewProps" Target="viewProps.xml"/><Relationship Id="rId115" Type="http://schemas.openxmlformats.org/officeDocument/2006/relationships/theme" Target="theme/theme1.xml"/><Relationship Id="rId1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السورة إلى عشرة مقاطع موضوعية، في أول كل مقطع شريحة فيها سبب النزول ومقصد المقطع، ثم تفسير آياته بالترتيب.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الذي منع إبليس من السجود؟ وماذا قال آدم وحواء بعد الخطأ (الآية 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من هم أصحاب الأعراف؟ وما الأدب الذي تعلّمه الآية 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الصفات التي وصف بها نوح وهود أنفسهما وهما يدعوان قومهما؟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أمر شعيب قومه في المعاملات (الآية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يحدث لأهل القرى لو آمنوا واتقوا (الآية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السحرة حين هدّدهم فرعون (الآيتان 125–126)؟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حدث للجبل حين تجلّى له الله؟ وماذا قال موسى (الآية 143)؟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أيّ الفرق نجت في قصة أصحاب السبت (الآية 165)؟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بماذا شُبّه من ترك آيات الله واتّبع هواه (الآية 176)؟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الأخلاق الثلاثة التي أمرت بها الآية 199؟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7/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7/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7/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image" Target="../media/image-110-1.png"/><Relationship Id="rId2" Type="http://schemas.openxmlformats.org/officeDocument/2006/relationships/image" Target="../media/image-110-2.png"/><Relationship Id="rId3" Type="http://schemas.openxmlformats.org/officeDocument/2006/relationships/slideLayout" Target="../slideLayouts/slideLayout4.xml"/><Relationship Id="rId4" Type="http://schemas.openxmlformats.org/officeDocument/2006/relationships/notesSlide" Target="../notesSlides/notesSlide1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7/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سورة الأعراف</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7/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٢٠٦ آيات  •  مكية  •  ١٠ مقاطع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البنفسجي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سورة الأعراف</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من السبع الطوال</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النبي صلى الله عليه وسلم: «من أخذ السبع الأُوَل من القرآن فهو حَبر» (رواه أحمد)، والأعراف من هذه السبع الطوال، وهي أطول السور المكية.</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في صلاة المغرب</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زيد بن ثابت رضي الله عنه: كان النبي صلى الله عليه وسلم يقرأ في المغرب بطولى الطُّوليين، يعني الأعراف (رواه البخاري).</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السورة في سطور</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٢٠٦ آيات، مكية، وهي السابعة في ترتيب المصحف. سُمّيت بالأعراف وهو السور العالي بين الجنة والنار، وفيها قصص كثير من الأنبياء.</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السورة</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قسّمنا السورة إلى عشرة مقاطع بحسب موضوعاتها، لنفهمها خطوة خطوة</a:t>
            </a:r>
            <a:endParaRPr lang="ar-SA" sz="1700" dirty="0"/>
          </a:p>
        </p:txBody>
      </p:sp>
      <p:sp>
        <p:nvSpPr>
          <p:cNvPr id="4" name="Shape 2"/>
          <p:cNvSpPr/>
          <p:nvPr/>
        </p:nvSpPr>
        <p:spPr>
          <a:xfrm>
            <a:off x="6233008" y="1828800"/>
            <a:ext cx="5257800" cy="749808"/>
          </a:xfrm>
          <a:prstGeom prst="roundRect">
            <a:avLst>
              <a:gd name="adj" fmla="val 14634"/>
            </a:avLst>
          </a:prstGeom>
          <a:solidFill>
            <a:schemeClr val="bg1"/>
          </a:solidFill>
          <a:ln w="12700">
            <a:solidFill>
              <a:schemeClr val="accent2"/>
            </a:solidFill>
            <a:prstDash val="solid"/>
          </a:ln>
        </p:spPr>
      </p:sp>
      <p:sp>
        <p:nvSpPr>
          <p:cNvPr id="5" name="Shape 3"/>
          <p:cNvSpPr/>
          <p:nvPr/>
        </p:nvSpPr>
        <p:spPr>
          <a:xfrm>
            <a:off x="10805008" y="1938528"/>
            <a:ext cx="530352" cy="530352"/>
          </a:xfrm>
          <a:prstGeom prst="star8">
            <a:avLst/>
          </a:prstGeom>
          <a:solidFill>
            <a:schemeClr val="accent2"/>
          </a:solidFill>
          <a:ln/>
        </p:spPr>
      </p:sp>
      <p:sp>
        <p:nvSpPr>
          <p:cNvPr id="6" name="Shape 4"/>
          <p:cNvSpPr/>
          <p:nvPr/>
        </p:nvSpPr>
        <p:spPr>
          <a:xfrm>
            <a:off x="1091107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1080500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a:t>
            </a:r>
            <a:endParaRPr lang="ar-SA" sz="1400" dirty="0"/>
          </a:p>
        </p:txBody>
      </p:sp>
      <p:sp>
        <p:nvSpPr>
          <p:cNvPr id="8" name="Text 6"/>
          <p:cNvSpPr txBox="1"/>
          <p:nvPr/>
        </p:nvSpPr>
        <p:spPr>
          <a:xfrm>
            <a:off x="6370168" y="186537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القرآن وقصة آدم وإبليس</a:t>
            </a:r>
            <a:endParaRPr lang="ar-SA" sz="1700" dirty="0"/>
          </a:p>
        </p:txBody>
      </p:sp>
      <p:sp>
        <p:nvSpPr>
          <p:cNvPr id="9" name="Text 7"/>
          <p:cNvSpPr txBox="1"/>
          <p:nvPr/>
        </p:nvSpPr>
        <p:spPr>
          <a:xfrm>
            <a:off x="6370168" y="224869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 – ٢٥</a:t>
            </a:r>
            <a:endParaRPr lang="ar-SA" sz="1300" dirty="0"/>
          </a:p>
        </p:txBody>
      </p:sp>
      <p:sp>
        <p:nvSpPr>
          <p:cNvPr id="10" name="Shape 8"/>
          <p:cNvSpPr/>
          <p:nvPr/>
        </p:nvSpPr>
        <p:spPr>
          <a:xfrm>
            <a:off x="700888" y="1828800"/>
            <a:ext cx="5257800" cy="749808"/>
          </a:xfrm>
          <a:prstGeom prst="roundRect">
            <a:avLst>
              <a:gd name="adj" fmla="val 14634"/>
            </a:avLst>
          </a:prstGeom>
          <a:solidFill>
            <a:schemeClr val="accent5"/>
          </a:solidFill>
          <a:ln w="12700">
            <a:solidFill>
              <a:schemeClr val="accent2"/>
            </a:solidFill>
            <a:prstDash val="solid"/>
          </a:ln>
        </p:spPr>
      </p:sp>
      <p:sp>
        <p:nvSpPr>
          <p:cNvPr id="11" name="Shape 9"/>
          <p:cNvSpPr/>
          <p:nvPr/>
        </p:nvSpPr>
        <p:spPr>
          <a:xfrm>
            <a:off x="5272888" y="1938528"/>
            <a:ext cx="530352" cy="530352"/>
          </a:xfrm>
          <a:prstGeom prst="star8">
            <a:avLst/>
          </a:prstGeom>
          <a:solidFill>
            <a:schemeClr val="accent2"/>
          </a:solidFill>
          <a:ln/>
        </p:spPr>
      </p:sp>
      <p:sp>
        <p:nvSpPr>
          <p:cNvPr id="12" name="Shape 10"/>
          <p:cNvSpPr/>
          <p:nvPr/>
        </p:nvSpPr>
        <p:spPr>
          <a:xfrm>
            <a:off x="537895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527288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٢</a:t>
            </a:r>
            <a:endParaRPr lang="ar-SA" sz="1400" dirty="0"/>
          </a:p>
        </p:txBody>
      </p:sp>
      <p:sp>
        <p:nvSpPr>
          <p:cNvPr id="14" name="Text 12"/>
          <p:cNvSpPr txBox="1"/>
          <p:nvPr/>
        </p:nvSpPr>
        <p:spPr>
          <a:xfrm>
            <a:off x="838048" y="186537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يا بني آدم: اللباس وأهل الأعراف</a:t>
            </a:r>
            <a:endParaRPr lang="ar-SA" sz="1700" dirty="0"/>
          </a:p>
        </p:txBody>
      </p:sp>
      <p:sp>
        <p:nvSpPr>
          <p:cNvPr id="15" name="Text 13"/>
          <p:cNvSpPr txBox="1"/>
          <p:nvPr/>
        </p:nvSpPr>
        <p:spPr>
          <a:xfrm>
            <a:off x="838048" y="224869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٢٦ – ٥٨</a:t>
            </a:r>
            <a:endParaRPr lang="ar-SA" sz="1300" dirty="0"/>
          </a:p>
        </p:txBody>
      </p:sp>
      <p:sp>
        <p:nvSpPr>
          <p:cNvPr id="16" name="Shape 14"/>
          <p:cNvSpPr/>
          <p:nvPr/>
        </p:nvSpPr>
        <p:spPr>
          <a:xfrm>
            <a:off x="6233008" y="2697480"/>
            <a:ext cx="5257800" cy="749808"/>
          </a:xfrm>
          <a:prstGeom prst="roundRect">
            <a:avLst>
              <a:gd name="adj" fmla="val 14634"/>
            </a:avLst>
          </a:prstGeom>
          <a:solidFill>
            <a:schemeClr val="bg1"/>
          </a:solidFill>
          <a:ln w="12700">
            <a:solidFill>
              <a:schemeClr val="accent2"/>
            </a:solidFill>
            <a:prstDash val="solid"/>
          </a:ln>
        </p:spPr>
      </p:sp>
      <p:sp>
        <p:nvSpPr>
          <p:cNvPr id="17" name="Shape 15"/>
          <p:cNvSpPr/>
          <p:nvPr/>
        </p:nvSpPr>
        <p:spPr>
          <a:xfrm>
            <a:off x="10805008" y="2807208"/>
            <a:ext cx="530352" cy="530352"/>
          </a:xfrm>
          <a:prstGeom prst="star8">
            <a:avLst/>
          </a:prstGeom>
          <a:solidFill>
            <a:schemeClr val="accent2"/>
          </a:solidFill>
          <a:ln/>
        </p:spPr>
      </p:sp>
      <p:sp>
        <p:nvSpPr>
          <p:cNvPr id="18" name="Shape 16"/>
          <p:cNvSpPr/>
          <p:nvPr/>
        </p:nvSpPr>
        <p:spPr>
          <a:xfrm>
            <a:off x="1091107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1080500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٣</a:t>
            </a:r>
            <a:endParaRPr lang="ar-SA" sz="1400" dirty="0"/>
          </a:p>
        </p:txBody>
      </p:sp>
      <p:sp>
        <p:nvSpPr>
          <p:cNvPr id="20" name="Text 18"/>
          <p:cNvSpPr txBox="1"/>
          <p:nvPr/>
        </p:nvSpPr>
        <p:spPr>
          <a:xfrm>
            <a:off x="6370168" y="273405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نوح وهود عليهما السلام</a:t>
            </a:r>
            <a:endParaRPr lang="ar-SA" sz="1700" dirty="0"/>
          </a:p>
        </p:txBody>
      </p:sp>
      <p:sp>
        <p:nvSpPr>
          <p:cNvPr id="21" name="Text 19"/>
          <p:cNvSpPr txBox="1"/>
          <p:nvPr/>
        </p:nvSpPr>
        <p:spPr>
          <a:xfrm>
            <a:off x="6370168" y="311737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٥٩ – ٧٢</a:t>
            </a:r>
            <a:endParaRPr lang="ar-SA" sz="1300" dirty="0"/>
          </a:p>
        </p:txBody>
      </p:sp>
      <p:sp>
        <p:nvSpPr>
          <p:cNvPr id="22" name="Shape 20"/>
          <p:cNvSpPr/>
          <p:nvPr/>
        </p:nvSpPr>
        <p:spPr>
          <a:xfrm>
            <a:off x="700888" y="2697480"/>
            <a:ext cx="5257800" cy="749808"/>
          </a:xfrm>
          <a:prstGeom prst="roundRect">
            <a:avLst>
              <a:gd name="adj" fmla="val 14634"/>
            </a:avLst>
          </a:prstGeom>
          <a:solidFill>
            <a:schemeClr val="accent5"/>
          </a:solidFill>
          <a:ln w="12700">
            <a:solidFill>
              <a:schemeClr val="accent2"/>
            </a:solidFill>
            <a:prstDash val="solid"/>
          </a:ln>
        </p:spPr>
      </p:sp>
      <p:sp>
        <p:nvSpPr>
          <p:cNvPr id="23" name="Shape 21"/>
          <p:cNvSpPr/>
          <p:nvPr/>
        </p:nvSpPr>
        <p:spPr>
          <a:xfrm>
            <a:off x="5272888" y="2807208"/>
            <a:ext cx="530352" cy="530352"/>
          </a:xfrm>
          <a:prstGeom prst="star8">
            <a:avLst/>
          </a:prstGeom>
          <a:solidFill>
            <a:schemeClr val="accent2"/>
          </a:solidFill>
          <a:ln/>
        </p:spPr>
      </p:sp>
      <p:sp>
        <p:nvSpPr>
          <p:cNvPr id="24" name="Shape 22"/>
          <p:cNvSpPr/>
          <p:nvPr/>
        </p:nvSpPr>
        <p:spPr>
          <a:xfrm>
            <a:off x="537895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527288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٤</a:t>
            </a:r>
            <a:endParaRPr lang="ar-SA" sz="1400" dirty="0"/>
          </a:p>
        </p:txBody>
      </p:sp>
      <p:sp>
        <p:nvSpPr>
          <p:cNvPr id="26" name="Text 24"/>
          <p:cNvSpPr txBox="1"/>
          <p:nvPr/>
        </p:nvSpPr>
        <p:spPr>
          <a:xfrm>
            <a:off x="838048" y="273405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صالح ولوط وشعيب عليهم السلام</a:t>
            </a:r>
            <a:endParaRPr lang="ar-SA" sz="1700" dirty="0"/>
          </a:p>
        </p:txBody>
      </p:sp>
      <p:sp>
        <p:nvSpPr>
          <p:cNvPr id="27" name="Text 25"/>
          <p:cNvSpPr txBox="1"/>
          <p:nvPr/>
        </p:nvSpPr>
        <p:spPr>
          <a:xfrm>
            <a:off x="838048" y="311737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٧٣ – ٩٣</a:t>
            </a:r>
            <a:endParaRPr lang="ar-SA" sz="1300" dirty="0"/>
          </a:p>
        </p:txBody>
      </p:sp>
      <p:sp>
        <p:nvSpPr>
          <p:cNvPr id="28" name="Shape 26"/>
          <p:cNvSpPr/>
          <p:nvPr/>
        </p:nvSpPr>
        <p:spPr>
          <a:xfrm>
            <a:off x="6233008" y="3566160"/>
            <a:ext cx="5257800" cy="749808"/>
          </a:xfrm>
          <a:prstGeom prst="roundRect">
            <a:avLst>
              <a:gd name="adj" fmla="val 14634"/>
            </a:avLst>
          </a:prstGeom>
          <a:solidFill>
            <a:schemeClr val="bg1"/>
          </a:solidFill>
          <a:ln w="12700">
            <a:solidFill>
              <a:schemeClr val="accent2"/>
            </a:solidFill>
            <a:prstDash val="solid"/>
          </a:ln>
        </p:spPr>
      </p:sp>
      <p:sp>
        <p:nvSpPr>
          <p:cNvPr id="29" name="Shape 27"/>
          <p:cNvSpPr/>
          <p:nvPr/>
        </p:nvSpPr>
        <p:spPr>
          <a:xfrm>
            <a:off x="10805008" y="3675888"/>
            <a:ext cx="530352" cy="530352"/>
          </a:xfrm>
          <a:prstGeom prst="star8">
            <a:avLst/>
          </a:prstGeom>
          <a:solidFill>
            <a:schemeClr val="accent2"/>
          </a:solidFill>
          <a:ln/>
        </p:spPr>
      </p:sp>
      <p:sp>
        <p:nvSpPr>
          <p:cNvPr id="30" name="Shape 28"/>
          <p:cNvSpPr/>
          <p:nvPr/>
        </p:nvSpPr>
        <p:spPr>
          <a:xfrm>
            <a:off x="1091107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1080500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٥</a:t>
            </a:r>
            <a:endParaRPr lang="ar-SA" sz="1400" dirty="0"/>
          </a:p>
        </p:txBody>
      </p:sp>
      <p:sp>
        <p:nvSpPr>
          <p:cNvPr id="32" name="Text 30"/>
          <p:cNvSpPr txBox="1"/>
          <p:nvPr/>
        </p:nvSpPr>
        <p:spPr>
          <a:xfrm>
            <a:off x="6370168" y="360273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سنن الله في الأمم</a:t>
            </a:r>
            <a:endParaRPr lang="ar-SA" sz="1700" dirty="0"/>
          </a:p>
        </p:txBody>
      </p:sp>
      <p:sp>
        <p:nvSpPr>
          <p:cNvPr id="33" name="Text 31"/>
          <p:cNvSpPr txBox="1"/>
          <p:nvPr/>
        </p:nvSpPr>
        <p:spPr>
          <a:xfrm>
            <a:off x="6370168" y="398605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٩٤ – ١٠٢</a:t>
            </a:r>
            <a:endParaRPr lang="ar-SA" sz="1300" dirty="0"/>
          </a:p>
        </p:txBody>
      </p:sp>
      <p:sp>
        <p:nvSpPr>
          <p:cNvPr id="34" name="Shape 32"/>
          <p:cNvSpPr/>
          <p:nvPr/>
        </p:nvSpPr>
        <p:spPr>
          <a:xfrm>
            <a:off x="700888" y="3566160"/>
            <a:ext cx="5257800" cy="749808"/>
          </a:xfrm>
          <a:prstGeom prst="roundRect">
            <a:avLst>
              <a:gd name="adj" fmla="val 14634"/>
            </a:avLst>
          </a:prstGeom>
          <a:solidFill>
            <a:schemeClr val="accent5"/>
          </a:solidFill>
          <a:ln w="12700">
            <a:solidFill>
              <a:schemeClr val="accent2"/>
            </a:solidFill>
            <a:prstDash val="solid"/>
          </a:ln>
        </p:spPr>
      </p:sp>
      <p:sp>
        <p:nvSpPr>
          <p:cNvPr id="35" name="Shape 33"/>
          <p:cNvSpPr/>
          <p:nvPr/>
        </p:nvSpPr>
        <p:spPr>
          <a:xfrm>
            <a:off x="5272888" y="3675888"/>
            <a:ext cx="530352" cy="530352"/>
          </a:xfrm>
          <a:prstGeom prst="star8">
            <a:avLst/>
          </a:prstGeom>
          <a:solidFill>
            <a:schemeClr val="accent2"/>
          </a:solidFill>
          <a:ln/>
        </p:spPr>
      </p:sp>
      <p:sp>
        <p:nvSpPr>
          <p:cNvPr id="36" name="Shape 34"/>
          <p:cNvSpPr/>
          <p:nvPr/>
        </p:nvSpPr>
        <p:spPr>
          <a:xfrm>
            <a:off x="537895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527288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٦</a:t>
            </a:r>
            <a:endParaRPr lang="ar-SA" sz="1400" dirty="0"/>
          </a:p>
        </p:txBody>
      </p:sp>
      <p:sp>
        <p:nvSpPr>
          <p:cNvPr id="38" name="Text 36"/>
          <p:cNvSpPr txBox="1"/>
          <p:nvPr/>
        </p:nvSpPr>
        <p:spPr>
          <a:xfrm>
            <a:off x="838048" y="360273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موسى وفرعون والسحرة</a:t>
            </a:r>
            <a:endParaRPr lang="ar-SA" sz="1700" dirty="0"/>
          </a:p>
        </p:txBody>
      </p:sp>
      <p:sp>
        <p:nvSpPr>
          <p:cNvPr id="39" name="Text 37"/>
          <p:cNvSpPr txBox="1"/>
          <p:nvPr/>
        </p:nvSpPr>
        <p:spPr>
          <a:xfrm>
            <a:off x="838048" y="398605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١٠٣ – ١٣٧</a:t>
            </a:r>
            <a:endParaRPr lang="ar-SA" sz="1300" dirty="0"/>
          </a:p>
        </p:txBody>
      </p:sp>
      <p:sp>
        <p:nvSpPr>
          <p:cNvPr id="40" name="Shape 38"/>
          <p:cNvSpPr/>
          <p:nvPr/>
        </p:nvSpPr>
        <p:spPr>
          <a:xfrm>
            <a:off x="6233008" y="4434840"/>
            <a:ext cx="5257800" cy="749808"/>
          </a:xfrm>
          <a:prstGeom prst="roundRect">
            <a:avLst>
              <a:gd name="adj" fmla="val 14634"/>
            </a:avLst>
          </a:prstGeom>
          <a:solidFill>
            <a:schemeClr val="bg1"/>
          </a:solidFill>
          <a:ln w="12700">
            <a:solidFill>
              <a:schemeClr val="accent2"/>
            </a:solidFill>
            <a:prstDash val="solid"/>
          </a:ln>
        </p:spPr>
      </p:sp>
      <p:sp>
        <p:nvSpPr>
          <p:cNvPr id="41" name="Shape 39"/>
          <p:cNvSpPr/>
          <p:nvPr/>
        </p:nvSpPr>
        <p:spPr>
          <a:xfrm>
            <a:off x="10805008" y="4544568"/>
            <a:ext cx="530352" cy="530352"/>
          </a:xfrm>
          <a:prstGeom prst="star8">
            <a:avLst/>
          </a:prstGeom>
          <a:solidFill>
            <a:schemeClr val="accent2"/>
          </a:solidFill>
          <a:ln/>
        </p:spPr>
      </p:sp>
      <p:sp>
        <p:nvSpPr>
          <p:cNvPr id="42" name="Shape 40"/>
          <p:cNvSpPr/>
          <p:nvPr/>
        </p:nvSpPr>
        <p:spPr>
          <a:xfrm>
            <a:off x="1091107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1080500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٧</a:t>
            </a:r>
            <a:endParaRPr lang="ar-SA" sz="1400" dirty="0"/>
          </a:p>
        </p:txBody>
      </p:sp>
      <p:sp>
        <p:nvSpPr>
          <p:cNvPr id="44" name="Text 42"/>
          <p:cNvSpPr txBox="1"/>
          <p:nvPr/>
        </p:nvSpPr>
        <p:spPr>
          <a:xfrm>
            <a:off x="6370168" y="447141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الميقات وفتنة العجل</a:t>
            </a:r>
            <a:endParaRPr lang="ar-SA" sz="1700" dirty="0"/>
          </a:p>
        </p:txBody>
      </p:sp>
      <p:sp>
        <p:nvSpPr>
          <p:cNvPr id="45" name="Text 43"/>
          <p:cNvSpPr txBox="1"/>
          <p:nvPr/>
        </p:nvSpPr>
        <p:spPr>
          <a:xfrm>
            <a:off x="6370168" y="485473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١٣٨ – ١٥٧</a:t>
            </a:r>
            <a:endParaRPr lang="ar-SA" sz="1300" dirty="0"/>
          </a:p>
        </p:txBody>
      </p:sp>
      <p:sp>
        <p:nvSpPr>
          <p:cNvPr id="46" name="Shape 44"/>
          <p:cNvSpPr/>
          <p:nvPr/>
        </p:nvSpPr>
        <p:spPr>
          <a:xfrm>
            <a:off x="700888" y="4434840"/>
            <a:ext cx="5257800" cy="749808"/>
          </a:xfrm>
          <a:prstGeom prst="roundRect">
            <a:avLst>
              <a:gd name="adj" fmla="val 14634"/>
            </a:avLst>
          </a:prstGeom>
          <a:solidFill>
            <a:schemeClr val="accent5"/>
          </a:solidFill>
          <a:ln w="12700">
            <a:solidFill>
              <a:schemeClr val="accent2"/>
            </a:solidFill>
            <a:prstDash val="solid"/>
          </a:ln>
        </p:spPr>
      </p:sp>
      <p:sp>
        <p:nvSpPr>
          <p:cNvPr id="47" name="Shape 45"/>
          <p:cNvSpPr/>
          <p:nvPr/>
        </p:nvSpPr>
        <p:spPr>
          <a:xfrm>
            <a:off x="5272888" y="4544568"/>
            <a:ext cx="530352" cy="530352"/>
          </a:xfrm>
          <a:prstGeom prst="star8">
            <a:avLst/>
          </a:prstGeom>
          <a:solidFill>
            <a:schemeClr val="accent2"/>
          </a:solidFill>
          <a:ln/>
        </p:spPr>
      </p:sp>
      <p:sp>
        <p:nvSpPr>
          <p:cNvPr id="48" name="Shape 46"/>
          <p:cNvSpPr/>
          <p:nvPr/>
        </p:nvSpPr>
        <p:spPr>
          <a:xfrm>
            <a:off x="537895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527288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٨</a:t>
            </a:r>
            <a:endParaRPr lang="ar-SA" sz="1400" dirty="0"/>
          </a:p>
        </p:txBody>
      </p:sp>
      <p:sp>
        <p:nvSpPr>
          <p:cNvPr id="50" name="Text 48"/>
          <p:cNvSpPr txBox="1"/>
          <p:nvPr/>
        </p:nvSpPr>
        <p:spPr>
          <a:xfrm>
            <a:off x="838048" y="447141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الرسالة العامة وأصحاب السبت</a:t>
            </a:r>
            <a:endParaRPr lang="ar-SA" sz="1700" dirty="0"/>
          </a:p>
        </p:txBody>
      </p:sp>
      <p:sp>
        <p:nvSpPr>
          <p:cNvPr id="51" name="Text 49"/>
          <p:cNvSpPr txBox="1"/>
          <p:nvPr/>
        </p:nvSpPr>
        <p:spPr>
          <a:xfrm>
            <a:off x="838048" y="485473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١٥٨ – ١٧١</a:t>
            </a:r>
            <a:endParaRPr lang="ar-SA" sz="1300" dirty="0"/>
          </a:p>
        </p:txBody>
      </p:sp>
      <p:sp>
        <p:nvSpPr>
          <p:cNvPr id="52" name="Shape 50"/>
          <p:cNvSpPr/>
          <p:nvPr/>
        </p:nvSpPr>
        <p:spPr>
          <a:xfrm>
            <a:off x="6233008" y="5303520"/>
            <a:ext cx="5257800" cy="749808"/>
          </a:xfrm>
          <a:prstGeom prst="roundRect">
            <a:avLst>
              <a:gd name="adj" fmla="val 14634"/>
            </a:avLst>
          </a:prstGeom>
          <a:solidFill>
            <a:schemeClr val="bg1"/>
          </a:solidFill>
          <a:ln w="12700">
            <a:solidFill>
              <a:schemeClr val="accent2"/>
            </a:solidFill>
            <a:prstDash val="solid"/>
          </a:ln>
        </p:spPr>
      </p:sp>
      <p:sp>
        <p:nvSpPr>
          <p:cNvPr id="53" name="Shape 51"/>
          <p:cNvSpPr/>
          <p:nvPr/>
        </p:nvSpPr>
        <p:spPr>
          <a:xfrm>
            <a:off x="10805008" y="5413248"/>
            <a:ext cx="530352" cy="530352"/>
          </a:xfrm>
          <a:prstGeom prst="star8">
            <a:avLst/>
          </a:prstGeom>
          <a:solidFill>
            <a:schemeClr val="accent2"/>
          </a:solidFill>
          <a:ln/>
        </p:spPr>
      </p:sp>
      <p:sp>
        <p:nvSpPr>
          <p:cNvPr id="54" name="Shape 52"/>
          <p:cNvSpPr/>
          <p:nvPr/>
        </p:nvSpPr>
        <p:spPr>
          <a:xfrm>
            <a:off x="1091107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1080500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٩</a:t>
            </a:r>
            <a:endParaRPr lang="ar-SA" sz="1400" dirty="0"/>
          </a:p>
        </p:txBody>
      </p:sp>
      <p:sp>
        <p:nvSpPr>
          <p:cNvPr id="56" name="Text 54"/>
          <p:cNvSpPr txBox="1"/>
          <p:nvPr/>
        </p:nvSpPr>
        <p:spPr>
          <a:xfrm>
            <a:off x="6370168" y="534009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الميثاق والعالِم المنسلخ</a:t>
            </a:r>
            <a:endParaRPr lang="ar-SA" sz="1700" dirty="0"/>
          </a:p>
        </p:txBody>
      </p:sp>
      <p:sp>
        <p:nvSpPr>
          <p:cNvPr id="57" name="Text 55"/>
          <p:cNvSpPr txBox="1"/>
          <p:nvPr/>
        </p:nvSpPr>
        <p:spPr>
          <a:xfrm>
            <a:off x="6370168" y="572341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١٧٢ – ١٨٦</a:t>
            </a:r>
            <a:endParaRPr lang="ar-SA" sz="1300" dirty="0"/>
          </a:p>
        </p:txBody>
      </p:sp>
      <p:sp>
        <p:nvSpPr>
          <p:cNvPr id="58" name="Shape 56"/>
          <p:cNvSpPr/>
          <p:nvPr/>
        </p:nvSpPr>
        <p:spPr>
          <a:xfrm>
            <a:off x="700888" y="5303520"/>
            <a:ext cx="5257800" cy="749808"/>
          </a:xfrm>
          <a:prstGeom prst="roundRect">
            <a:avLst>
              <a:gd name="adj" fmla="val 14634"/>
            </a:avLst>
          </a:prstGeom>
          <a:solidFill>
            <a:schemeClr val="accent5"/>
          </a:solidFill>
          <a:ln w="12700">
            <a:solidFill>
              <a:schemeClr val="accent2"/>
            </a:solidFill>
            <a:prstDash val="solid"/>
          </a:ln>
        </p:spPr>
      </p:sp>
      <p:sp>
        <p:nvSpPr>
          <p:cNvPr id="59" name="Shape 57"/>
          <p:cNvSpPr/>
          <p:nvPr/>
        </p:nvSpPr>
        <p:spPr>
          <a:xfrm>
            <a:off x="5272888" y="5413248"/>
            <a:ext cx="530352" cy="530352"/>
          </a:xfrm>
          <a:prstGeom prst="star8">
            <a:avLst/>
          </a:prstGeom>
          <a:solidFill>
            <a:schemeClr val="accent2"/>
          </a:solidFill>
          <a:ln/>
        </p:spPr>
      </p:sp>
      <p:sp>
        <p:nvSpPr>
          <p:cNvPr id="60" name="Shape 58"/>
          <p:cNvSpPr/>
          <p:nvPr/>
        </p:nvSpPr>
        <p:spPr>
          <a:xfrm>
            <a:off x="537895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527288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١٠</a:t>
            </a:r>
            <a:endParaRPr lang="ar-SA" sz="1400" dirty="0"/>
          </a:p>
        </p:txBody>
      </p:sp>
      <p:sp>
        <p:nvSpPr>
          <p:cNvPr id="62" name="Text 60"/>
          <p:cNvSpPr txBox="1"/>
          <p:nvPr/>
        </p:nvSpPr>
        <p:spPr>
          <a:xfrm>
            <a:off x="838048" y="5340096"/>
            <a:ext cx="4270248" cy="412394"/>
          </a:xfrm>
          <a:prstGeom prst="rect">
            <a:avLst/>
          </a:prstGeom>
          <a:noFill/>
          <a:ln/>
        </p:spPr>
        <p:txBody>
          <a:bodyPr wrap="square" lIns="0" tIns="0" rIns="0" bIns="0" rtlCol="0" anchor="ctr">
            <a:normAutofit/>
          </a:bodyPr>
          <a:lstStyle/>
          <a:p>
            <a:pPr rtl="1" algn="r" indent="0" marL="0">
              <a:buNone/>
            </a:pPr>
            <a:r>
              <a:rPr lang="ar-SA" altLang="en-US" sz="1700" b="1" dirty="0">
                <a:solidFill>
                  <a:schemeClr val="tx2"/>
                </a:solidFill>
              </a:rPr>
              <a:t>الساعة وآداب الذكر</a:t>
            </a:r>
            <a:endParaRPr lang="ar-SA" sz="1700" dirty="0"/>
          </a:p>
        </p:txBody>
      </p:sp>
      <p:sp>
        <p:nvSpPr>
          <p:cNvPr id="63" name="Text 61"/>
          <p:cNvSpPr txBox="1"/>
          <p:nvPr/>
        </p:nvSpPr>
        <p:spPr>
          <a:xfrm>
            <a:off x="838048" y="5723412"/>
            <a:ext cx="4270248" cy="284927"/>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١٨٧ – ٢٠٦</a:t>
            </a:r>
            <a:endParaRPr lang="ar-SA" sz="13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القرآن وقصة آدم وإبليس</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٢٥</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باتّباع القرآن، والتذكير بالحساب ووزن الأعمال، وقصة خلق آدم وتكبّر إبليس ووسوسته حتى أُخرج آدم وزوجه من الجنة، ثم توبتهما.</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6002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المص</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حروف مقطّعة، تشير إلى إعجاز القرآن.</a:t>
            </a:r>
            <a:endParaRPr lang="ar-SA" sz="3200" dirty="0"/>
          </a:p>
        </p:txBody>
      </p:sp>
      <p:sp>
        <p:nvSpPr>
          <p:cNvPr id="9" name="Shape 7"/>
          <p:cNvSpPr/>
          <p:nvPr/>
        </p:nvSpPr>
        <p:spPr>
          <a:xfrm>
            <a:off x="2103120" y="2784348"/>
            <a:ext cx="8641080" cy="0"/>
          </a:xfrm>
          <a:prstGeom prst="line">
            <a:avLst/>
          </a:prstGeom>
          <a:noFill/>
          <a:ln w="9525">
            <a:solidFill>
              <a:schemeClr val="accent2"/>
            </a:solidFill>
            <a:prstDash val="dash"/>
          </a:ln>
        </p:spPr>
      </p:sp>
      <p:sp>
        <p:nvSpPr>
          <p:cNvPr id="10" name="Shape 8"/>
          <p:cNvSpPr/>
          <p:nvPr/>
        </p:nvSpPr>
        <p:spPr>
          <a:xfrm>
            <a:off x="10927080" y="3044952"/>
            <a:ext cx="548640" cy="548640"/>
          </a:xfrm>
          <a:prstGeom prst="star8">
            <a:avLst/>
          </a:prstGeom>
          <a:solidFill>
            <a:schemeClr val="accent2"/>
          </a:solidFill>
          <a:ln/>
        </p:spPr>
      </p:sp>
      <p:sp>
        <p:nvSpPr>
          <p:cNvPr id="11" name="Shape 9"/>
          <p:cNvSpPr/>
          <p:nvPr/>
        </p:nvSpPr>
        <p:spPr>
          <a:xfrm>
            <a:off x="11036808" y="315468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449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02666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كِتَٰبٌ أُنزِلَ إِلَيْكَ فَلَا يَكُن فِي صَدْرِكَ حَرَجٌ مِّنْهُ لِتُنذِرَ بِهِ وَذِكْرَىٰ لِلْمُؤْمِنِينَ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القرآن كتاب أنزله الله إليك، فلا يكن في صدرك ضيق من تبليغه، لتُنذر به الكافرين، وتذكّر به المؤمنين.</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اتَّبِعُواْ مَآ أُنزِلَ إِلَيْكُم مِّن رَّبِّكُمْ وَلَا تَتَّبِعُواْ مِن دُونِهِ أَوْلِيَآءَ قَلِيلًا مَّا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اتّبعوا أيها الناس ما أُنزل إليكم من ربكم، ولا تتّبعوا من دونه أولياء تطيعونهم، قليلًا ما تتّعظون.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وَكَم مِّن قَرْيَةٍ أَهْلَكْنَٰهَا فَجَآءَهَا بَأْسُنَا بَيَٰتًا أَوْ هُمْ قَآئِلُونَ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وكم من قرية أهلكناها، فجاءها عذابنا ليلًا وهم نائمون، أو في وقت القيلولة نهارًا.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كَانَ دَعْوَىٰهُمْ إِذْ جَآءَهُم بَأْسُنَآ إِلَّآ أَن قَالُواْ إِنَّا كُنَّا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كان قولهم حين جاءهم العذاب إلا أن اعترفوا: إنا كنا ظالمين.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فَلَنَسْـَٔلَنَّ الَّذِينَ أُرْسِلَ إِلَيْهِمْ وَلَنَسْـَٔلَنَّ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فلنسألنّ الأمم يوم القيامة: ماذا أجبتم الرسل؟ ولنسألنّ الرسل: هل بلّغتم؟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فَلَنَقُصَّنَّ عَلَيْهِم بِعِلْمٍ وَمَا كُنَّا غَآئِبِينَ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فلنُخبرنّهم بما عملوا عن علم كامل، وما كنا غائبين عنهم في أي وقت.</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وَالْوَزْنُ يَوْمَئِذٍ الْحَقُّ فَمَن ثَقُلَتْ مَوَٰزِينُهُ فَأُوْلَـٰئِكَ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ووزن الأعمال يوم القيامة حق وعدل، فمن ثقلت حسناته فأولئك هم الفائزون.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خَفَّتْ مَوَٰزِينُهُ فَأُوْلَـٰئِكَ الَّذِينَ خَسِرُواْ أَنفُسَهُم بِمَا كَانُواْ بِـَٔايَٰتِنَا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خفّت حسناته فأولئك الذين خسروا أنفسهم بسبب جحودهم بآياتنا.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مَكَّنَّـٰكُمْ فِي الْأَرْضِ وَجَعَلْنَا لَكُمْ فِيهَا مَعَٰيِشَ قَلِيلًا مَّا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مكّنّاكم في الأرض، وجعلنا لكم فيها ما تعيشون به، قليلًا ما تشكرون.</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خَلَقْنَٰكُمْ ثُمَّ صَوَّرْنَٰكُمْ ثُمَّ قُلْنَا لِلْمَلَـٰئِكَةِ اسْجُدُواْ لِأدَمَ فَسَجَدُواْ إِلَّآ إِبْلِيسَ لَمْ يَكُن مِّنَ السَّـٰجِدِينَ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خلقنا أباكم آدم ثم صوّرناه، ثم قلنا للملائكة: اسجدوا لآدم، فسجدوا إلا إبليس لم يكن من الساجدين.</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مَا مَنَعَكَ أَلَّا تَسْجُدَ إِذْ أَمَرْتُكَ قَالَ أَنَا خَيْرٌ مِّنْهُ خَلَقْتَنِي مِن نَّارٍ وَخَلَقْتَهُ مِن طِينٍ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ما منعك أن تسجد إذ أمرتك؟ قال: أنا خير منه، خلقتني من نار وخلقته من طين.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فَاهْبِطْ مِنْهَا فَمَا يَكُونُ لَكَ أَن تَتَكَبَّرَ فِيهَا فَاخْرُجْ إِنَّكَ مِنَ الصَّـٰغِرِينَ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فاهبط من الجنة، فما ينبغي لك أن تتكبّر فيها، فاخرج إنك من الأذلّاء.</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أَنظِرْنِي إِلَىٰ يَوْمِ يُبْعَثُونَ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إبليس: أمهلني إلى يوم يبعثون.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إِنَّكَ مِنَ الْمُنظَرِينَ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إنك من المُمهَلين.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فَبِمَآ أَغْوَيْتَنِي لَأَقْعُدَنَّ لَهُمْ صِرَٰطَكَ الْمُسْتَقِيمَ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إبليس: فبسبب إغوائك لي لأقعدنّ لبني آدم على طريقك المستقيم لأصدّهم عنه.</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لَأتِيَنَّهُم مِّن بَيْنِ أَيْدِيهِمْ وَمِنْ خَلْفِهِمْ وَعَنْ أَيْمَٰنِهِمْ وَعَن شَمَآئِلِهِمْ وَلَا تَجِدُ أَكْثَرَهُمْ شَٰكِرِينَ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لآتينّهم من كل الجهات: من أمامهم ومن خلفهم وعن أيمانهم وعن شمائلهم، ولا تجد أكثرهم شاكرين.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اخْرُجْ مِنْهَا مَذْءُومًا مَّدْحُورًا لَّمَن تَبِعَكَ مِنْهُمْ لَأَمْلَأَنَّ جَهَنَّمَ مِنكُمْ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اخرج منها مذمومًا مطرودًا، لمن تبعك منهم لأملأنّ جهنم منكم أجمعين.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وَيَـٰـَٔادَمُ اسْكُنْ أَنتَ وَزَوْجُكَ الْجَنَّةَ فَكُلَا مِنْ حَيْثُ شِئْتُمَا وَلَا تَقْرَبَا هَٰذِهِ الشَّجَرَةَ فَتَكُونَا مِنَ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ويا آدم اسكن أنت وزوجك الجنة، فكلا من حيث شئتما، ولا تقربا هذه الشجرة فتكونا من الظالمين.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فَوَسْوَسَ لَهُمَا الشَّيْطَٰنُ لِيُبْدِيَ لَهُمَا مَا وُرِيَ عَنْهُمَا مِن سَوْءَٰتِهِمَا وَقَالَ مَا نَهَىٰكُمَا رَبُّكُمَا عَنْ هَٰذِهِ الشَّجَرَةِ إِلَّآ أَن تَكُونَا مَلَكَيْنِ أَوْ تَكُونَا مِنَ الْخَٰلِدِينَ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فوسوس لهما الشيطان ليكشف لهما ما سُتر من عوراتهما، وقال: ما نهاكما ربكما عن هذه الشجرة إلا لئلّا تكونا ملكين أو تكونا من الخالدين.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وَقَاسَمَهُمَآ إِنِّي لَكُمَا لَمِنَ النَّـٰصِحِينَ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وحلف لهما بالله: إني لكما لمن الناصحين.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فَدَلَّىٰهُمَا بِغُرُورٍ فَلَمَّا ذَاقَا الشَّجَرَةَ بَدَتْ لَهُمَا سَوْءَٰتُهُمَا وَطَفِقَا يَخْصِفَانِ عَلَيْهِمَا مِن وَرَقِ الْجَنَّةِ وَنَادَىٰهُمَا رَبُّهُمَآ أَلَمْ أَنْهَكُمَا عَن تِلْكُمَا الشَّجَرَةِ وَأَقُل لَّكُمَآ إِنَّ الشَّيْطَٰنَ لَكُمَا عَدُوٌّ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فخدعهما بكذبه، فلما أكلا من الشجرة انكشفت لهما عوراتهما، وأخذا يُلصقان عليهما من ورق الجنة، وناداهما ربهما: ألم أنهكما عن تلكما الشجرة، وأقل لكما: إن الشيطان لكما عدو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قَالَا رَبَّنَا ظَلَمْنَآ أَنفُسَنَا وَإِن لَّمْ تَغْفِرْ لَنَا وَتَرْحَمْنَا لَنَكُونَنَّ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قالا: ربنا ظلمنا أنفسنا، وإن لم تغفر لنا وترحمنا لنكوننّ من الخاسرين. فتاب الله عليهما.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اهْبِطُواْ بَعْضُكُمْ لِبَعْضٍ عَدُوٌّ وَلَكُمْ فِي الْأَرْضِ مُسْتَقَرٌّ وَمَتَٰعٌ إِلَىٰ 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اهبطوا إلى الأرض، بعضكم لبعض عدو، ولكم في الأرض استقرار ومتاع إلى وقت انتهاء آجالكم.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فِيهَا تَحْيَوْنَ وَفِيهَا تَمُوتُونَ وَمِنْهَا تُخْرَجُونَ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في الأرض تحيون، وفيها تموتون، ومنها تُخرجون يوم البعث.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يا بني آدم: اللباس وأهل الأعراف</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٢٦ – ٥٨</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رضي الله عنهما: كانت المرأة في الجاهلية تطوف بالبيت عريانة، فنزلت: ﴿يا بني آدم خذوا زينتكم عند كل مسجد﴾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نداءات لبني آدم بالستر والزينة وعدم الإسراف، وتحذير من فتنة الشيطان، ومشهد حوار أهل الجنة وأهل النار وأصحاب الأعراف، ثم دلائل قدرة الله في الخلق.</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ءَادَمَ قَدْ أَنزَلْنَا عَلَيْكُمْ لِبَاسًا يُوَٰرِي سَوْءَٰتِكُمْ وَرِيشًا وَلِبَاسُ التَّقْوَىٰ ذَٰلِكَ خَيْرٌ ذَٰلِكَ مِنْ ءَايَٰتِ اللَّهِ لَعَلَّهُمْ يَذَّكَّرُونَ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آدم، قد أنعمنا عليكم بلباس يستر عوراتكم، ولباس للزينة، ولباس التقوى خير من ذلك كله، ذلك من آيات الله لعلهم يتذكّرون.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ءَادَمَ لَا يَفْتِنَنَّكُمُ الشَّيْطَٰنُ كَمَآ أَخْرَجَ أَبَوَيْكُم مِّنَ الْجَنَّةِ يَنزِعُ عَنْهُمَا لِبَاسَهُمَا لِيُرِيَهُمَا سَوْءَٰتِهِمَآ إِنَّهُ يَرَىٰكُمْ هُوَ وَقَبِيلُهُ مِنْ حَيْثُ لَا تَرَوْنَهُمْ إِنَّا جَعَلْنَا الشَّيَٰطِينَ أَوْلِيَآءَ لِلَّذِينَ لَا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آدم، لا يخدعنّكم الشيطان كما أخرج أبويكم من الجنة، ينزع عنهما لباسهما، إنه يراكم هو وجنوده من حيث لا ترونهم، إنا جعلنا الشياطين أولياء للذين لا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فَعَلُواْ فَٰحِشَةً قَالُواْ وَجَدْنَا عَلَيْهَآ ءَابَآءَنَا وَاللَّهُ أَمَرَنَا بِهَا قُلْ إِنَّ اللَّهَ لَا يَأْمُرُ بِالْفَحْشَآءِ أَتَقُولُونَ عَلَى اللَّهِ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فعل المشركون فاحشة كالطواف بالبيت عراة قالوا: وجدنا عليها آباءنا والله أمرنا بها، قل: إن الله لا يأمر بالفحشاء، أتقولون على الله ما لا تعلمون؟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أَمَرَ رَبِّي بِالْقِسْطِ وَأَقِيمُواْ وُجُوهَكُمْ عِندَ كُلِّ مَسْجِدٍ وَادْعُوهُ مُخْلِصِينَ لَهُ الدِّينَ كَمَا بَدَأَكُمْ تَعُودُونَ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أمر ربي بالعدل، وأن تتوجّهوا إليه في كل صلاة، وادعوه مخلصين له الدين، كما بدأ خلقكم تعودون إليه.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فَرِيقًا هَدَىٰ وَفَرِيقًا حَقَّ عَلَيْهِمُ الضَّلَٰلَةُ إِنَّهُمُ اتَّخَذُواْ الشَّيَٰطِينَ أَوْلِيَآءَ مِن دُونِ اللَّهِ وَيَحْسَبُونَ أَنَّهُم مُّهْتَدُونَ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فريقًا منكم هداه الله، وفريقًا وجبت عليهم الضلالة، لأنهم اتخذوا الشياطين أولياء من دون الله، ويظنون أنهم مهتدون.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ءَادَمَ خُذُواْ زِينَتَكُمْ عِندَ كُلِّ مَسْجِدٍ وَكُلُواْ وَاشْرَبُواْ وَلَا تُسْرِفُواْ إِنَّهُ لَا يُحِبُّ الْمُسْرِفِينَ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آدم، البسوا أحسن ثيابكم عند كل صلاة، وكلوا واشربوا ولا تُسرفوا، إنه لا يحب المسرفين.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مَنْ حَرَّمَ زِينَةَ اللَّهِ الَّتِي أَخْرَجَ لِعِبَادِهِ وَالطَّيِّبَٰتِ مِنَ الرِّزْقِ قُلْ هِيَ لِلَّذِينَ ءَامَنُواْ فِي الْحَيَوٰةِ الدُّنْيَا خَالِصَةً يَوْمَ الْقِيَٰمَةِ كَذَٰلِكَ نُفَصِّلُ الْأيَٰتِ لِقَوْمٍ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من حرّم الزينة التي أخرجها الله لعباده، والطيبات من الرزق؟ قل: هي للمؤمنين في الدنيا، وخالصة لهم يوم القيامة، كذلك نبيّن الآيات لقوم يعلمون.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حَرَّمَ رَبِّيَ الْفَوَٰحِشَ مَا ظَهَرَ مِنْهَا وَمَا بَطَنَ وَالْإِثْمَ وَالْبَغْيَ بِغَيْرِ الْحَقِّ وَأَن تُشْرِكُواْ بِاللَّهِ مَا لَمْ يُنَزِّلْ بِهِ سُلْطَٰنًا وَأَن تَقُولُواْ عَلَى اللَّهِ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حرّم ربي الفواحش الظاهرة والخفية، والمعاصي، والظلم بغير حق، وأن تشركوا بالله ما لا حجة لكم فيه، وأن تقولوا على الله ما لا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٣٤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وَلِكُلِّ أُمَّةٍ أَجَلٌ فَإِذَا جَآءَ أَجَلُهُمْ لَا يَسْتَأْخِرُونَ سَاعَةً وَلَا يَسْتَقْدِمُونَ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ولكل أمة وقت محدد لهلاكها، فإذا جاء وقتهم لا يتأخّرون عنه ساعة ولا يتقدّمون.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يَٰبَنِي ءَادَمَ إِمَّا يَأْتِيَنَّكُمْ رُسُلٌ مِّنكُمْ يَقُصُّونَ عَلَيْكُمْ ءَايَٰتِي فَمَنِ اتَّقَىٰ وَأَصْلَحَ فَلَا خَوْفٌ عَلَيْهِمْ وَلَا هُمْ يَحْزَنُونَ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بني آدم، إن جاءكم رسل منكم يقرؤون عليكم آياتي، فمن اتقى وأصلح عمله فلا خوف عليهم ولا هم يحزنون.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كَذَّبُواْ بِـَٔايَٰتِنَا وَاسْتَكْبَرُواْ عَنْهَآ أُوْلَـٰئِكَ أَصْحَٰبُ النَّارِ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كذّبوا بآياتنا وتكبّروا عنها أولئك أصحاب النار هم فيها خالدون.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أَظْلَمُ مِمَّنِ افْتَرَىٰ عَلَى اللَّهِ كَذِبًا أَوْ كَذَّبَ بِـَٔايَٰتِهِ أُوْلَـٰئِكَ يَنَالُهُمْ نَصِيبُهُم مِّنَ الْكِتَٰبِ حَتَّىٰ إِذَا جَآءَتْهُمْ رُسُلُنَا يَتَوَفَّوْنَهُمْ قَالُواْ أَيْنَ مَا كُنتُمْ تَدْعُونَ مِن دُونِ اللَّهِ قَالُواْ ضَلُّواْ عَنَّا وَشَهِدُواْ عَلَىٰ أَنفُسِهِمْ أَنَّهُمْ كَانُواْ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أحد أظلم ممن كذب على الله أو كذّب بآياته، أولئك ينالهم نصيبهم المكتوب من الرزق والعمر، حتى إذا جاءتهم الملائكة لقبض أرواحهم قالوا: أين آلهتكم؟ قالوا: غابوا عنا، واعترفوا أنهم كانوا 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ادْخُلُواْ فِي أُمَمٍ قَدْ خَلَتْ مِن قَبْلِكُم مِّنَ الْجِنِّ وَالْإِنسِ فِي النَّارِ كُلَّمَا دَخَلَتْ أُمَّةٌ لَّعَنَتْ أُخْتَهَا حَتَّىٰ إِذَا ادَّارَكُواْ فِيهَا جَمِيعًا قَالَتْ أُخْرَىٰهُمْ لِأُولَىٰهُمْ رَبَّنَا هَـٰؤُلَآءِ أَضَلُّونَا فَـَٔاتِهِمْ عَذَابًا ضِعْفًا مِّنَ النَّارِ قَالَ لِكُلٍّ ضِعْفٌ وَلَٰكِن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ادخلوا النار مع أمم سبقتكم من الجن والإنس، كلما دخلت أمة لعنت التي قبلها، حتى إذا اجتمعوا قالت الأتباع عن رؤسائهم: ربنا هؤلاء أضلّونا فضاعف لهم العذاب، قال: لكلٍّ عذاب مضاعف، ولكن لا تعلمون.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وَقَالَتْ أُولَىٰهُمْ لِأُخْرَىٰهُمْ فَمَا كَانَ لَكُمْ عَلَيْنَا مِن فَضْلٍ فَذُوقُواْ الْعَذَابَ بِمَا كُنتُمْ تَكْسِبُونَ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الرؤساء للأتباع: ما كان لكم علينا من فضل، فذوقوا العذاب بما كنتم تعملون.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كَذَّبُواْ بِـَٔايَٰتِنَا وَاسْتَكْبَرُواْ عَنْهَا لَا تُفَتَّحُ لَهُمْ أَبْوَٰبُ السَّمَآءِ وَلَا يَدْخُلُونَ الْجَنَّةَ حَتَّىٰ يَلِجَ الْجَمَلُ فِي سَمِّ الْخِيَاطِ وَكَذَٰلِكَ نَجْزِي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كذّبوا بآياتنا وتكبّروا عنها لا تُفتح لأرواحهم أبواب السماء، ولا يدخلون الجنة حتى يدخل الجمل في ثقب الإبرة، وهذا مستحيل، وكذلك نجزي المجرمين.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لَهُم مِّن جَهَنَّمَ مِهَادٌ وَمِن فَوْقِهِمْ غَوَاشٍ وَكَذَٰلِكَ نَجْزِي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لهم من جهنم فراش، ومن فوقهم أغطية من النار، وكذلك نجزي الظالمين.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لَا نُكَلِّفُ نَفْسًا إِلَّا وُسْعَهَآ أُوْلَـٰئِكَ أَصْحَٰبُ الْجَنَّةِ هُمْ فِيهَا خَٰلِدُونَ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والمؤمنون الصالحون، ولا نكلّف نفسًا إلا ما تطيق، أولئك أصحاب الجنة هم فيها خالدون.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وَنَزَعْنَا مَا فِي صُدُورِهِم مِّنْ غِلٍّ تَجْرِي مِن تَحْتِهِمُ الْأَنْهَٰرُ وَقَالُواْ الْحَمْدُ لِلَّهِ الَّذِي هَدَىٰنَا لِهَٰذَا وَمَا كُنَّا لِنَهْتَدِيَ لَوْلَآ أَنْ هَدَىٰنَا اللَّهُ لَقَدْ جَآءَتْ رُسُلُ رَبِّنَا بِالْحَقِّ وَنُودُواْ أَن تِلْكُمُ الْجَنَّةُ أُورِثْتُمُوهَا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وأزلنا ما في صدورهم من حقد، تجري من تحتهم الأنهار، وقالوا: الحمد لله الذي هدانا لهذا، وما كنا لنهتدي لولا أن هدانا الله، لقد جاءت رسل ربنا بالحق، ونُودوا: تلكم الجنة أُعطيتموها بأعمالكم.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وَنَادَىٰ أَصْحَٰبُ الْجَنَّةِ أَصْحَٰبَ النَّارِ أَن قَدْ وَجَدْنَا مَا وَعَدَنَا رَبُّنَا حَقًّا فَهَلْ وَجَدتُّم مَّا وَعَدَ رَبُّكُمْ حَقًّا قَالُواْ نَعَمْ فَأَذَّنَ مُؤَذِّنٌ بَيْنَهُمْ أَن لَّعْنَةُ اللَّهِ عَلَى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ونادى أهل الجنة أهل النار: قد وجدنا ما وعدنا ربنا حقًّا، فهل وجدتم ما وعد ربكم حقًّا؟ قالوا: نعم، فنادى منادٍ بينهم: أن لعنة الله على الظالمين.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يَصُدُّونَ عَن سَبِيلِ اللَّهِ وَيَبْغُونَهَا عِوَجًا وَهُم بِالْأخِرَةِ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يمنعون الناس عن دين الله، ويريدونه معوجًّا، وهم بالآخرة كافرون.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٤٦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وَبَيْنَهُمَا حِجَابٌ وَعَلَى الْأَعْرَافِ رِجَالٌ يَعْرِفُونَ كُلًّا بِسِيمَىٰهُمْ وَنَادَوْاْ أَصْحَٰبَ الْجَنَّةِ أَن سَلَٰمٌ عَلَيْكُمْ لَمْ يَدْخُلُوهَا وَهُمْ يَطْمَعُونَ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وبين الجنة والنار سور، وعلى أعالي السور رجال تساوت حسناتهم وسيئاتهم يعرفون أهل الجنة وأهل النار بعلاماتهم، ونادوا أهل الجنة: سلام عليكم، لم يدخلوها وهم يطمعون في دخولها.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صُرِفَتْ أَبْصَٰرُهُمْ تِلْقَآءَ أَصْحَٰبِ النَّارِ قَالُواْ رَبَّنَا لَا تَجْعَلْنَا مَعَ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صُرفت أبصارهم نحو أهل النار قالوا: ربنا لا تجعلنا مع القوم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وَنَادَىٰ أَصْحَٰبُ الْأَعْرَافِ رِجَالًا يَعْرِفُونَهُم بِسِيمَىٰهُمْ قَالُواْ مَآ أَغْنَىٰ عَنكُمْ جَمْعُكُمْ وَمَا كُنتُمْ تَسْتَكْبِرُونَ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ونادى أصحاب الأعراف رجالًا من رؤساء الكفار يعرفونهم بعلاماتهم: ما نفعكم جمعكم للأموال، ولا تكبّركم.</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أَهَـٰؤُلَآءِ الَّذِينَ أَقْسَمْتُمْ لَا يَنَالُهُمُ اللَّهُ بِرَحْمَةٍ ادْخُلُواْ الْجَنَّةَ لَا خَوْفٌ عَلَيْكُمْ وَلَآ أَنتُمْ تَحْزَنُونَ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أهؤلاء المؤمنون الضعفاء الذين حلفتم أن الله لا يرحمهم؟ قد قيل لهم: ادخلوا الجنة لا خوف عليكم ولا أنتم تحزنون.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وَنَادَىٰ أَصْحَٰبُ النَّارِ أَصْحَٰبَ الْجَنَّةِ أَنْ أَفِيضُواْ عَلَيْنَا مِنَ الْمَآءِ أَوْ مِمَّا رَزَقَكُمُ اللَّهُ قَالُواْ إِنَّ اللَّهَ حَرَّمَهُمَا عَلَى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ونادى أهل النار أهل الجنة: صبّوا علينا من الماء أو مما رزقكم الله من الطعام، قالوا: إن الله حرّمهما على الكافرين.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اتَّخَذُواْ دِينَهُمْ لَهْوًا وَلَعِبًا وَغَرَّتْهُمُ الْحَيَوٰةُ الدُّنْيَا فَالْيَوْمَ نَنسَىٰهُمْ كَمَا نَسُواْ لِقَآءَ يَوْمِهِمْ هَٰذَا وَمَا كَانُواْ بِـَٔايَٰتِنَا يَجْحَدُونَ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جعلوا دينهم لهوًا ولعبًا، وخدعتهم الحياة الدنيا، فاليوم نتركهم في العذاب كما تركوا العمل للقاء هذا اليوم، وكما كانوا بآياتنا يجحدون.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٥٢ – 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جِئْنَٰهُم بِكِتَٰبٍ فَصَّلْنَٰهُ عَلَىٰ عِلْمٍ هُدًى وَرَحْمَةً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جئناهم بكتاب بيّنّاه عن علم، هدى ورحمة لقوم يؤمنون.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يَنظُرُونَ إِلَّا تَأْوِيلَهُ يَوْمَ يَأْتِي تَأْوِيلُهُ يَقُولُ الَّذِينَ نَسُوهُ مِن قَبْلُ قَدْ جَآءَتْ رُسُلُ رَبِّنَا بِالْحَقِّ فَهَل لَّنَا مِن شُفَعَآءَ فَيَشْفَعُواْ لَنَآ أَوْ نُرَدُّ فَنَعْمَلَ غَيْرَ الَّذِي كُنَّا نَعْمَلُ قَدْ خَسِرُواْ أَنفُسَهُمْ وَضَلَّ عَنْهُم مَّا كَانُواْ يَفْتَرُونَ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 ينتظرون إلا وقوع ما وعدهم به؟ يوم يقع يقول الذين نسوه من قبل: قد جاءت رسل ربنا بالحق، فهل لنا من شفعاء، أو نُرَدّ إلى الدنيا فنعمل غير الذي كنا نعمل؟ قد خسروا أنفسهم، وغاب عنهم ما كانوا يختلقون.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٥٤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8" name="Text 6"/>
          <p:cNvSpPr txBox="1"/>
          <p:nvPr/>
        </p:nvSpPr>
        <p:spPr>
          <a:xfrm>
            <a:off x="731520" y="1559052"/>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رَبَّكُمُ اللَّهُ الَّذِي خَلَقَ السَّمَٰوَٰتِ وَالْأَرْضَ فِي سِتَّةِ أَيَّامٍ ثُمَّ اسْتَوَىٰ عَلَى الْعَرْشِ يُغْشِي الَّيْلَ النَّهَارَ يَطْلُبُهُ حَثِيثًا وَالشَّمْسَ وَالْقَمَرَ وَالنُّجُومَ مُسَخَّرَٰتٍ بِأَمْرِهِ أَلَا لَهُ الْخَلْقُ وَالْأَمْرُ تَبَارَكَ اللَّهُ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ربكم الله الذي خلق السماوات والأرض في ستة أيام، ثم علا على العرش علوًّا يليق بجلاله، يُدخل الليل على النهار يطلبه سريعًا، والشمس والقمر والنجوم مذلّلات بأمره، ألا له الخلق والأمر، تبارك الله رب العالمين.</a:t>
            </a:r>
            <a:endParaRPr lang="ar-SA" sz="3200" dirty="0"/>
          </a:p>
        </p:txBody>
      </p:sp>
      <p:sp>
        <p:nvSpPr>
          <p:cNvPr id="9" name="Shape 7"/>
          <p:cNvSpPr/>
          <p:nvPr/>
        </p:nvSpPr>
        <p:spPr>
          <a:xfrm>
            <a:off x="2103120" y="4590288"/>
            <a:ext cx="8641080" cy="0"/>
          </a:xfrm>
          <a:prstGeom prst="line">
            <a:avLst/>
          </a:prstGeom>
          <a:noFill/>
          <a:ln w="9525">
            <a:solidFill>
              <a:schemeClr val="accent2"/>
            </a:solidFill>
            <a:prstDash val="dash"/>
          </a:ln>
        </p:spPr>
      </p:sp>
      <p:sp>
        <p:nvSpPr>
          <p:cNvPr id="10" name="Shape 8"/>
          <p:cNvSpPr/>
          <p:nvPr/>
        </p:nvSpPr>
        <p:spPr>
          <a:xfrm>
            <a:off x="10927080" y="4850892"/>
            <a:ext cx="548640" cy="548640"/>
          </a:xfrm>
          <a:prstGeom prst="star8">
            <a:avLst/>
          </a:prstGeom>
          <a:solidFill>
            <a:schemeClr val="accent2"/>
          </a:solidFill>
          <a:ln/>
        </p:spPr>
      </p:sp>
      <p:sp>
        <p:nvSpPr>
          <p:cNvPr id="11" name="Shape 9"/>
          <p:cNvSpPr/>
          <p:nvPr/>
        </p:nvSpPr>
        <p:spPr>
          <a:xfrm>
            <a:off x="11036808" y="496062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850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3" name="Text 11"/>
          <p:cNvSpPr txBox="1"/>
          <p:nvPr/>
        </p:nvSpPr>
        <p:spPr>
          <a:xfrm>
            <a:off x="731520" y="483260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ادْعُواْ رَبَّكُمْ تَضَرُّعًا وَخُفْيَةً إِنَّهُ لَا يُحِبُّ الْمُعْتَدِينَ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ادعوا ربكم متذلّلين خاشعين وفي السرّ، إنه لا يحب المعتدين في الدعاء وغيره.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تُفْسِدُواْ فِي الْأَرْضِ بَعْدَ إِصْلَٰحِهَا وَادْعُوهُ خَوْفًا وَطَمَعًا إِنَّ رَحْمَتَ اللَّهِ قَرِيبٌ مِّنَ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تفسدوا في الأرض بالمعاصي بعد أن أصلحها الله بالرسل، وادعوه خوفًا من عقابه وطمعًا في ثوابه، إن رحمة الله قريب من المحسنين.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وَهُوَ الَّذِي يُرْسِلُ الرِّيَٰحَ بُشْرًا بَيْنَ يَدَيْ رَحْمَتِهِ حَتَّىٰ إِذَآ أَقَلَّتْ سَحَابًا ثِقَالًا سُقْنَٰهُ لِبَلَدٍ مَّيِّتٍ فَأَنزَلْنَا بِهِ الْمَآءَ فَأَخْرَجْنَا بِهِ مِن كُلِّ الثَّمَرَٰتِ كَذَٰلِكَ نُخْرِجُ الْمَوْتَىٰ لَعَلَّكُمْ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وهو الذي يرسل الرياح مبشّرة بالمطر، حتى إذا حملت سحابًا ثقيلًا بالماء سقناه إلى أرض يابسة، فأنزلنا به المطر فأخرجنا به من كل الثمرات، كذلك نُخرج الموتى من قبورهم لعلكم تتذكّرون.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وَالْبَلَدُ الطَّيِّبُ يَخْرُجُ نَبَاتُهُ بِإِذْنِ رَبِّهِ وَالَّذِي خَبُثَ لَا يَخْرُجُ إِلَّا نَكِدًا كَذَٰلِكَ نُصَرِّفُ الْأيَٰتِ لِقَوْمٍ يَشْكُرُونَ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والأرض الطيبة يخرج نباتها حسنًا بإذن ربها، والأرض الخبيثة لا يخرج نباتها إلا قليلًا عسيرًا، كذلك قلب المؤمن والكافر، كذلك نبيّن الآيات لقوم يشكرون.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نوح وهود عليهما السلام</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٥٩ – ٧٢</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دعوة نوح لقومه وإغراق المكذبين، ثم دعوة هود لقبيلة عاد القوية، وهلاكهم لما تكبّروا.</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٥٩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لَقَدْ أَرْسَلْنَا نُوحًا إِلَىٰ قَوْمِهِ فَقَالَ يَٰقَوْمِ اعْبُدُواْ اللَّهَ مَا لَكُم مِّنْ إِلَٰهٍ غَيْرُهُ إِنِّي أَخَافُ عَلَيْكُمْ عَذَابَ يَوْمٍ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لقد أرسلنا نوحًا إلى قومه، فقال: يا قوم اعبدوا الله ما لكم من إله غيره، إني أخاف عليكم عذاب يوم عظيم.</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الْمَلَأُ مِن قَوْمِهِ إِنَّا لَنَرَىٰكَ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الكبراء من قومه: إنا لنراك في ضلال واضح.</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لَيْسَ بِي ضَلَٰلَةٌ وَلَٰكِنِّي رَسُولٌ مِّن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نوح: يا قوم ليس بي ضلال، ولكني رسول من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أُبَلِّغُكُمْ رِسَٰلَٰتِ رَبِّي وَأَنصَحُ لَكُمْ وَأَعْلَمُ مِنَ اللَّهِ مَا لَا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أُبلّغكم رسالات ربي، وأنصح لكم، وأعلم من الله ما لا تعلمون.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أَوَعَجِبْتُمْ أَن جَآءَكُمْ ذِكْرٌ مِّن رَّبِّكُمْ عَلَىٰ رَجُلٍ مِّنكُمْ لِيُنذِرَكُمْ وَلِتَتَّقُواْ وَلَعَلَّكُمْ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أوعجبتم أن جاءكم وحي وتذكير من ربكم على رجل منكم، لينذركم ولتتقوا الله ولعلكم تُرحمون؟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فَكَذَّبُوهُ فَأَنجَيْنَٰهُ وَالَّذِينَ مَعَهُ فِي الْفُلْكِ وَأَغْرَقْنَا الَّذِينَ كَذَّبُواْ بِـَٔايَٰتِنَآ إِنَّهُمْ كَانُواْ قَوْمًا عَمِينَ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فكذّبوه، فأنجيناه والمؤمنين معه في السفينة، وأغرقنا المكذّبين بآياتنا، إنهم كانوا قومًا عُميَ القلوب عن الحق.</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عَادٍ أَخَاهُمْ هُودًا قَالَ يَٰقَوْمِ اعْبُدُواْ اللَّهَ مَا لَكُم مِّنْ إِلَٰهٍ غَيْرُهُ أَفَلَا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إلى قبيلة عاد أخاهم هودًا، قال: يا قوم اعبدوا الله ما لكم من إله غيره، أفلا تتقون؟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الْمَلَأُ الَّذِينَ كَفَرُواْ مِن قَوْمِهِ إِنَّا لَنَرَىٰكَ فِي سَفَاهَةٍ وَإِنَّا لَنَظُنُّكَ مِنَ الْكَٰذِبِينَ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الكبراء الكافرون من قومه: إنا لنراك في خفّة عقل، وإنا لنظنّك من الكاذبين.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لَيْسَ بِي سَفَاهَةٌ وَلَٰكِنِّي رَسُولٌ مِّن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يا قوم ليس بي خفّة عقل، ولكني رسول من رب العالمين.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أُبَلِّغُكُمْ رِسَٰلَٰتِ رَبِّي وَأَنَا لَكُمْ نَاصِحٌ أَمِينٌ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أُبلّغكم رسالات ربي، وأنا لكم ناصح أمين.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أَوَعَجِبْتُمْ أَن جَآءَكُمْ ذِكْرٌ مِّن رَّبِّكُمْ عَلَىٰ رَجُلٍ مِّنكُمْ لِيُنذِرَكُمْ وَاذْكُرُواْ إِذْ جَعَلَكُمْ خُلَفَآءَ مِن بَعْدِ قَوْمِ نُوحٍ وَزَادَكُمْ فِي الْخَلْقِ بَصْطَةً فَاذْكُرُواْ ءَالَآءَ اللَّهِ لَعَلَّكُمْ تُفْلِحُونَ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أوعجبتم أن جاءكم تذكير من ربكم على رجل منكم لينذركم؟ واذكروا إذ جعلكم خلفاء في الأرض بعد قوم نوح، وزادكم في الأجسام قوة وطولًا، فاذكروا نعم الله لعلكم تفلحون.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أَجِئْتَنَا لِنَعْبُدَ اللَّهَ وَحْدَهُ وَنَذَرَ مَا كَانَ يَعْبُدُ ءَابَآؤُنَا فَأْتِنَا بِمَا تَعِدُنَآ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أجئتنا لنعبد الله وحده، ونترك ما كان يعبد آباؤنا؟ فأتنا بالعذاب الذي تعدنا إن كنت من الصادقين.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قَدْ وَقَعَ عَلَيْكُم مِّن رَّبِّكُمْ رِجْسٌ وَغَضَبٌ أَتُجَٰدِلُونَنِي فِي أَسْمَآءٍ سَمَّيْتُمُوهَآ أَنتُمْ وَءَابَآؤُكُم مَّا نَزَّلَ اللَّهُ بِهَا مِن سُلْطَٰنٍ فَانتَظِرُواْ إِنِّي مَعَكُم مِّنَ الْمُنتَظِرِينَ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قد وجب عليكم من ربكم عذاب وغضب، أتجادلونني في أصنام سمّيتموها آلهة أنتم وآباؤكم، ما أنزل الله بها من حجة؟ فانتظروا العذاب، إني معكم من المنتظرين.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فَأَنجَيْنَٰهُ وَالَّذِينَ مَعَهُ بِرَحْمَةٍ مِّنَّا وَقَطَعْنَا دَابِرَ الَّذِينَ كَذَّبُواْ بِـَٔايَٰتِنَا وَمَا كَانُواْ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فأنجيناه والمؤمنين معه برحمة منا، وأهلكنا المكذّبين بآياتنا عن آخرهم، وما كانوا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صالح ولوط وشعيب عليهم السلام</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٤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٧٣ – ٩٣</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قصة ناقة صالح وعقر ثمود لها، وقوم لوط وفاحشتهم، ودعوة شعيب لأهل مدين إلى العدل في الكيل والميزان.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ثَمُودَ أَخَاهُمْ صَٰلِحًا قَالَ يَٰقَوْمِ اعْبُدُواْ اللَّهَ مَا لَكُم مِّنْ إِلَٰهٍ غَيْرُهُ قَدْ جَآءَتْكُم بَيِّنَةٌ مِّن رَّبِّكُمْ هَٰذِهِ نَاقَةُ اللَّهِ لَكُمْ ءَايَةً فَذَرُوهَا تَأْكُلْ فِي أَرْضِ اللَّهِ وَلَا تَمَسُّوهَا بِسُوءٍ فَيَأْخُذَكُمْ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إلى ثمود أخاهم صالحًا، قال: يا قوم اعبدوا الله ما لكم من إله غيره، قد جاءتكم معجزة من ربكم: هذه ناقة الله لكم آية، فاتركوها تأكل في أرض الله، ولا تؤذوها فيصيبكم عذاب موجع.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وَاذْكُرُواْ إِذْ جَعَلَكُمْ خُلَفَآءَ مِن بَعْدِ عَادٍ وَبَوَّأَكُمْ فِي الْأَرْضِ تَتَّخِذُونَ مِن سُهُولِهَا قُصُورًا وَتَنْحِتُونَ الْجِبَالَ بُيُوتًا فَاذْكُرُواْ ءَالَآءَ اللَّهِ وَلَا تَعْثَوْاْ فِي الْأَرْضِ 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واذكروا إذ جعلكم خلفاء في الأرض بعد عاد، وأسكنكم فيها، تبنون في سهولها القصور، وتنحتون الجبال بيوتًا، فاذكروا نعم الله، ولا تسعوا في الأرض مفسدين.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الْمَلَأُ الَّذِينَ اسْتَكْبَرُواْ مِن قَوْمِهِ لِلَّذِينَ اسْتُضْعِفُواْ لِمَنْ ءَامَنَ مِنْهُمْ أَتَعْلَمُونَ أَنَّ صَٰلِحًا مُّرْسَلٌ مِّن رَّبِّهِ قَالُواْ إِنَّا بِمَآ أُرْسِلَ بِهِ مُؤْمِنُونَ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الكبراء المتكبّرون من قومه للمؤمنين الضعفاء: أتعلمون أن صالحًا مرسل من ربه؟ قالوا: إنا بما أُرسل به مؤمنون.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٧٦ – ٧٨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الَّذِينَ اسْتَكْبَرُواْ إِنَّا بِالَّذِي ءَامَنتُم بِهِ كَٰفِرُونَ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المتكبّرون: إنا بالذي آمنتم به كافرون.</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13" name="Text 11"/>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فَعَقَرُواْ النَّاقَةَ وَعَتَوْاْ عَنْ أَمْرِ رَبِّهِمْ وَقَالُواْ يَٰصَٰلِحُ ائْتِنَا بِمَا تَعِدُنَآ إِن كُنتَ مِنَ الْمُرْسَلِينَ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فذبحوا الناقة، وتكبّروا عن أمر ربهم، وقالوا: يا صالح ائتنا بالعذاب الذي تعدنا إن كنت من المرسلين.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فَأَخَذَتْهُمُ الرَّجْفَةُ فَأَصْبَحُواْ فِي دَارِهِمْ جَٰثِمِينَ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فأخذتهم الزلزلة الشديدة، فأصبحوا في ديارهم ميّتين على رُكَبهم.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٧٩ – 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فَتَوَلَّىٰ عَنْهُمْ وَقَالَ يَٰقَوْمِ لَقَدْ أَبْلَغْتُكُمْ رِسَالَةَ رَبِّي وَنَصَحْتُ لَكُمْ وَلَٰكِن لَّا تُحِبُّونَ النَّـٰصِحِينَ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عنهم صالح وقال: يا قوم لقد أبلغتكم رسالة ربي ونصحت لكم، ولكن لا تحبون الناصحين.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وَلُوطًا إِذْ قَالَ لِقَوْمِهِ أَتَأْتُونَ الْفَٰحِشَةَ مَا سَبَقَكُم بِهَا مِنْ أَحَدٍ مِّنَ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لوطًا حين قال لقومه: أتفعلون الفاحشة القبيحة التي لم يفعلها أحد قبلكم من العالمين؟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إِنَّكُمْ لَتَأْتُونَ الرِّجَالَ شَهْوَةً مِّن دُونِ النِّسَآءِ بَلْ أَنتُمْ قَوْمٌ مُّسْرِفُونَ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إنكم لتأتون الرجال شهوة وتتركون النساء، بل أنتم قوم متجاوزون الحد.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٨٢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جَوَابَ قَوْمِهِ إِلَّآ أَن قَالُواْ أَخْرِجُوهُم مِّن قَرْيَتِكُمْ إِنَّهُمْ أُنَاسٌ يَتَطَهَّرُونَ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كان جواب قومه إلا أن قالوا: أخرجوا لوطًا وأهله من قريتكم، إنهم أناس يتنزّهون عن فعلنا.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فَأَنجَيْنَٰهُ وَأَهْلَهُ إِلَّا امْرَأَتَهُ كَانَتْ مِنَ الْغَٰبِرِينَ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فأنجيناه وأهله إلا امرأته كانت من الهالكين.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وَأَمْطَرْنَا عَلَيْهِم مَّطَرًا فَانظُرْ كَيْفَ كَانَ عَٰقِبَةُ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وأمطرنا عليهم حجارة من السماء، فانظر كيف كانت عاقبة المجرمين.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٨٥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وَإِلَىٰ مَدْيَنَ أَخَاهُمْ شُعَيْبًا قَالَ يَٰقَوْمِ اعْبُدُواْ اللَّهَ مَا لَكُم مِّنْ إِلَٰهٍ غَيْرُهُ قَدْ جَآءَتْكُم بَيِّنَةٌ مِّن رَّبِّكُمْ فَأَوْفُواْ الْكَيْلَ وَالْمِيزَانَ وَلَا تَبْخَسُواْ النَّاسَ أَشْيَآءَهُمْ وَلَا تُفْسِدُواْ فِي الْأَرْضِ بَعْدَ إِصْلَٰحِهَا ذَٰلِكُمْ خَيْرٌ لَّكُمْ إِن كُنتُم 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وأرسلنا إلى مدين أخاهم شعيبًا، قال: يا قوم اعبدوا الله، قد جاءتكم حجة من ربكم، فأتمّوا الكيل والميزان، ولا تُنقصوا الناس حقوقهم، ولا تفسدوا في الأرض بعد إصلاحها، ذلكم خير لكم إن كنتم 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٨٦ – 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تَقْعُدُواْ بِكُلِّ صِرَٰطٍ تُوعِدُونَ وَتَصُدُّونَ عَن سَبِيلِ اللَّهِ مَنْ ءَامَنَ بِهِ وَتَبْغُونَهَا عِوَجًا وَاذْكُرُواْ إِذْ كُنتُمْ قَلِيلًا فَكَثَّرَكُمْ وَانظُرُواْ كَيْفَ كَانَ عَٰقِبَةُ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تقعدوا بكل طريق تهدّدون الناس، وتمنعون المؤمنين عن دين الله، وتريدونه معوجًّا، واذكروا إذ كنتم قليلًا فكثّركم، وانظروا كيف كانت عاقبة المفسدين.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كَانَ طَآئِفَةٌ مِّنكُمْ ءَامَنُواْ بِالَّذِي أُرْسِلْتُ بِهِ وَطَآئِفَةٌ لَّمْ يُؤْمِنُواْ فَاصْبِرُواْ حَتَّىٰ يَحْكُمَ اللَّهُ بَيْنَنَا وَهُوَ خَيْرُ الْحَٰكِمِينَ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كانت طائفة منكم آمنت بما أُرسلت به وطائفة لم تؤمن، فاصبروا حتى يحكم الله بيننا، وهو خير الحاكمين.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٨٨ –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الْمَلَأُ الَّذِينَ اسْتَكْبَرُواْ مِن قَوْمِهِ لَنُخْرِجَنَّكَ يَٰشُعَيْبُ وَالَّذِينَ ءَامَنُواْ مَعَكَ مِن قَرْيَتِنَآ أَوْ لَتَعُودُنَّ فِي مِلَّتِنَا قَالَ أَوَلَوْ كُنَّا كَٰرِهِينَ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الكبراء المتكبّرون: لنُخرجنّك يا شعيب والذين آمنوا معك من قريتنا، أو لترجعُنّ إلى ديننا، قال: أترجعوننا إليه ولو كنا كارهين له؟</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قَدِ افْتَرَيْنَا عَلَى اللَّهِ كَذِبًا إِنْ عُدْنَا فِي مِلَّتِكُم بَعْدَ إِذْ نَجَّىٰنَا اللَّهُ مِنْهَا وَمَا يَكُونُ لَنَآ أَن نَّعُودَ فِيهَآ إِلَّآ أَن يَشَآءَ اللَّهُ رَبُّنَا وَسِعَ رَبُّنَا كُلَّ شَيْءٍ عِلْمًا عَلَى اللَّهِ تَوَكَّلْنَا رَبَّنَا افْتَحْ بَيْنَنَا وَبَيْنَ قَوْمِنَا بِالْحَقِّ وَأَنتَ خَيْرُ الْفَٰتِحِينَ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كذبنا على الله إن رجعنا إلى دينكم بعد أن نجّانا الله منه، وما ينبغي لنا أن نعود فيه إلا أن يشاء الله ربنا، وسع ربنا كل شيء علمًا، على الله توكّلنا، ربنا احكم بيننا وبين قومنا بالحق وأنت خير الحاكمين.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٩٠ –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الْمَلَأُ الَّذِينَ كَفَرُواْ مِن قَوْمِهِ لَئِنِ اتَّبَعْتُمْ شُعَيْبًا إِنَّكُمْ إِذًا 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الكبراء الكافرون من قومه: لئن اتّبعتم شعيبًا إنكم إذًا لخاسرون.</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فَأَخَذَتْهُمُ الرَّجْفَةُ فَأَصْبَحُواْ فِي دَارِهِمْ جَٰثِمِينَ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فأخذتهم الزلزلة الشديدة، فأصبحوا في ديارهم ميّتين.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كَذَّبُواْ شُعَيْبًا كَأَن لَّمْ يَغْنَوْاْ فِيهَا الَّذِينَ كَذَّبُواْ شُعَيْبًا كَانُواْ هُمُ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كذّبوا شعيبًا هلكوا كأنهم لم يقيموا في ديارهم، الذين كذّبوا شعيبًا كانوا هم الخاسرين.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921508"/>
            <a:ext cx="548640" cy="548640"/>
          </a:xfrm>
          <a:prstGeom prst="star8">
            <a:avLst/>
          </a:prstGeom>
          <a:solidFill>
            <a:schemeClr val="accent2"/>
          </a:solidFill>
          <a:ln/>
        </p:spPr>
      </p:sp>
      <p:sp>
        <p:nvSpPr>
          <p:cNvPr id="6" name="Shape 4"/>
          <p:cNvSpPr/>
          <p:nvPr/>
        </p:nvSpPr>
        <p:spPr>
          <a:xfrm>
            <a:off x="11036808" y="303123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290322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فَتَوَلَّىٰ عَنْهُمْ وَقَالَ يَٰقَوْمِ لَقَدْ أَبْلَغْتُكُمْ رِسَٰلَٰتِ رَبِّي وَنَصَحْتُ لَكُمْ فَكَيْفَ ءَاسَىٰ عَلَىٰ قَوْمٍ 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فأعرض عنهم شعيب وقال: يا قوم لقد أبلغتكم رسالات ربي ونصحت لكم، فكيف أحزن على قوم 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سنن الله في الأمم</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٥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٩٤ – ١٠٢</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سنة الله في الأمم: يبتليهم بالشدة ثم بالرخاء، فإن آمنوا فُتحت عليهم البركات، وإن كذّبوا أُخذوا فجأة.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٩٤ – ٩٥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فِي قَرْيَةٍ مِّن نَّبِيٍّ إِلَّآ أَخَذْنَآ أَهْلَهَا بِالْبَأْسَآءِ وَالضَّرَّآءِ لَعَلَّهُمْ يَضَّرَّعُونَ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في قرية من نبي فكذّبوه إلا ابتليناهم بالفقر والمرض، لعلهم يتضرّعون إلى الله.</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بَدَّلْنَا مَكَانَ السَّيِّئَةِ الْحَسَنَةَ حَتَّىٰ عَفَواْ وَّقَالُواْ قَدْ مَسَّ ءَابَآءَنَا الضَّرَّآءُ وَالسَّرَّآءُ فَأَخَذْنَٰهُم بَغْتَةً وَهُمْ لَا يَشْعُرُونَ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بدّلنا مكان الشدة الرخاء، حتى كثروا وكثرت أموالهم، وقالوا: هذه عادة الدهر، قد أصاب آباءنا الشدة والرخاء، فأهلكناهم فجأة وهم لا يشعرون.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٩٦ – 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 أَهْلَ الْقُرَىٰ ءَامَنُواْ وَاتَّقَوْاْ لَفَتَحْنَا عَلَيْهِم بَرَكَٰتٍ مِّنَ السَّمَآءِ وَالْأَرْضِ وَلَٰكِن كَذَّبُواْ فَأَخَذْنَٰهُم بِمَا كَانُواْ يَكْسِبُونَ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أن أهل القرى آمنوا واتقوا لفتحنا عليهم بركات من السماء والأرض، ولكن كذّبوا فأهلكناهم بأعمالهم.</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أَفَأَمِنَ أَهْلُ الْقُرَىٰ أَن يَأْتِيَهُم بَأْسُنَا بَيَٰتًا وَهُمْ نَآئِمُونَ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أفأمن أهل القرى أن يأتيهم عذابنا ليلًا وهم نائمون؟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أَوَأَمِنَ أَهْلُ الْقُرَىٰ أَن يَأْتِيَهُم بَأْسُنَا ضُحًى وَهُمْ يَلْعَبُونَ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أوأمن أهل القرى أن يأتيهم عذابنا ضحى وهم لاهون؟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٩٩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أَفَأَمِنُواْ مَكْرَ اللَّهِ فَلَا يَأْمَنُ مَكْرَ اللَّهِ إِلَّا الْقَوْمُ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أفأمنوا عقوبة الله المفاجئة واستدراجه لهم؟ فلا يأمن عقوبة الله إلا القوم الخاسرون.</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يَهْدِ لِلَّذِينَ يَرِثُونَ الْأَرْضَ مِن بَعْدِ أَهْلِهَآ أَن لَّوْ نَشَآءُ أَصَبْنَٰهُم بِذُنُوبِهِمْ وَنَطْبَعُ عَلَىٰ قُلُوبِهِمْ فَهُمْ لَا يَسْمَعُونَ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يتبيّن للذين يرثون الأرض بعد أهلها الهالكين أنا لو شئنا عاقبناهم بذنوبهم، وختمنا على قلوبهم فهم لا يسمعون؟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١٠١ –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الْقُرَىٰ نَقُصُّ عَلَيْكَ مِنْ أَنبَآئِهَا وَلَقَدْ جَآءَتْهُمْ رُسُلُهُم بِالْبَيِّنَٰتِ فَمَا كَانُواْ لِيُؤْمِنُواْ بِمَا كَذَّبُواْ مِن قَبْلُ كَذَٰلِكَ يَطْبَعُ اللَّهُ عَلَىٰ قُلُوبِ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القرى نقصّ عليك من أخبارها، ولقد جاءتهم رسلهم بالمعجزات، فما كانوا ليؤمنوا بما كذّبوا به من قبل، كذلك يختم الله على قلوب الكافرين.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وَجَدْنَا لِأَكْثَرِهِم مِّنْ عَهْدٍ وَإِن وَجَدْنَآ أَكْثَرَهُمْ 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وجدنا لأكثرهم وفاءً بالعهد، وإنما وجدنا أكثرهم خارجين عن الطاعة.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موسى وفرعون والسحرة</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٦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١٠٣ – ١٣٧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دعوة موسى لفرعون، ومواجهة السحرة الذين آمنوا وثبتوا أمام التهديد، والآيات التي أُرسلت على آل فرعون، ثم إغراقهم ونصر المستضعفين.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بَعَثْنَا مِن بَعْدِهِم مُّوسَىٰ بِـَٔايَٰتِنَآ إِلَىٰ فِرْعَوْنَ وَمَلَإِيْهِ فَظَلَمُواْ بِهَا فَانظُرْ كَيْفَ كَانَ عَٰقِبَةُ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بعثنا من بعد هؤلاء الرسل موسى بمعجزاتنا إلى فرعون وكبار قومه، فكفروا بها، فانظر كيف كانت عاقبة المفسدين.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مُوسَىٰ يَٰفِرْعَوْنُ إِنِّي رَسُولٌ مِّن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موسى: يا فرعون إني رسول من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١٠٥ – ١٠٧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حَقِيقٌ عَلَىٰ أَن لَّآ أَقُولَ عَلَى اللَّهِ إِلَّا الْحَقَّ قَدْ جِئْتُكُم بِبَيِّنَةٍ مِّن رَّبِّكُمْ فَأَرْسِلْ مَعِيَ 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جدير بي ألّا أقول على الله إلا الحق، قد جئتكم بمعجزة من ربكم، فأطلق معي بني إسرائيل.</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إِن كُنتَ جِئْتَ بِـَٔايَةٍ فَأْتِ بِهَآ إِن كُنتَ مِنَ الصَّـٰدِقِينَ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إن كنت جئت بمعجزة فأظهرها إن كنت من الصادقين.</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فَأَلْقَىٰ عَصَاهُ فَإِذَا هِيَ ثُعْبَانٌ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فألقى عصاه فإذا هي حيّة عظيمة ظاهرة.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١٠٨ – ١١١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وَنَزَعَ يَدَهُ فَإِذَا هِيَ بَيْضَآءُ لِلنَّـٰظِرِينَ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وأخرج يده من جيبه فإذا هي بيضاء تلمع للناظرين.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الْمَلَأُ مِن قَوْمِ فِرْعَوْنَ إِنَّ هَٰذَا لَسَٰحِرٌ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الكبراء من قوم فرعون: إن هذا لساحر ماهر.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يُرِيدُ أَن يُخْرِجَكُم مِّنْ أَرْضِكُمْ فَمَاذَا تَأْمُرُونَ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يريد أن يُخرجكم من أرضكم بسحره، فماذا تشيرون؟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أَرْجِهْ وَأَخَاهُ وَأَرْسِلْ فِي الْمَدَآئِنِ حَٰشِرِينَ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أخّر أمره وأمر أخيه، وأرسل في المدن جامعين للسحرة.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١١٢ – ١١٥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يَأْتُوكَ بِكُلِّ سَٰحِرٍ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يأتوك بكل ساحر ماهر.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السَّحَرَةُ فِرْعَوْنَ قَالُواْ إِنَّ لَنَا لَأَجْرًا إِن كُنَّا نَحْنُ الْغَٰلِبِينَ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السحرة فرعون، قالوا: هل لنا أجر إن غلبنا موسى؟</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نَعَمْ وَإِنَّكُمْ لَمِنَ الْمُقَرَّبِينَ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نعم، وإنكم لمن المقرّبين عندي.</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يَٰمُوسَىٰ إِمَّآ أَن تُلْقِيَ وَإِمَّآ أَن نَّكُونَ نَحْنُ الْمُلْقِينَ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موسى، إما أن تُلقي أنت أولًا، وإما أن نكون نحن الملقين.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١١٦ – ١١٩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أَلْقُواْ فَلَمَّآ أَلْقَوْاْ سَحَرُواْ أَعْيُنَ النَّاسِ وَاسْتَرْهَبُوهُمْ وَجَآءُو بِسِحْرٍ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ألقوا، فلما ألقوا حبالهم وعصيّهم سحروا أعين الناس وأخافوهم، وجاؤوا بسحر عظيم.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وَأَوْحَيْنَآ إِلَىٰ مُوسَىٰ أَنْ أَلْقِ عَصَاكَ فَإِذَا هِيَ تَلْقَفُ مَا يَأْفِكُونَ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وأوحينا إلى موسى: أن ألقِ عصاك، فإذا هي تبتلع ما يزوّرونه من الكذب.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فَوَقَعَ الْحَقُّ وَبَطَلَ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فظهر الحق، وبطل ما كانوا يعملون من السحر.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فَغُلِبُواْ هُنَالِكَ وَانقَلَبُواْ صَٰغِرِينَ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فغُلبوا هنالك، ورجعوا أذلّاء.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١٢٠ – ١٢٢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وَأُلْقِيَ السَّحَرَةُ سَٰجِدِينَ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وخرّ السحرة ساجدين لله.</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ءَامَنَّا بِرَبِّ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آمنّا برب العالمين.</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مُوسَىٰ وَهَٰرُونَ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موسى وهارون.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١٢٣ – ١٢٥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فِرْعَوْنُ ءَامَنتُم بِهِ قَبْلَ أَنْ ءَاذَنَ لَكُمْ إِنَّ هَٰذَا لَمَكْرٌ مَّكَرْتُمُوهُ فِي الْمَدِينَةِ لِتُخْرِجُواْ مِنْهَآ أَهْلَهَا فَسَوْفَ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فرعون: آمنتم به قبل أن آذن لكم؟ إن هذا لمكر دبّرتموه في المدينة لتُخرجوا منها أهلها، فسوف تعلمون.</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لَأُقَطِّعَنَّ أَيْدِيَكُمْ وَأَرْجُلَكُم مِّنْ خِلَٰفٍ ثُمَّ لَأُصَلِّبَنَّكُمْ أَجْمَعِينَ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لأقطعنّ أيديكم وأرجلكم من خلاف: يدًا من جهة ورجلًا من الجهة الأخرى، ثم لأصلبنّكم أجمعين.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إِنَّآ إِلَىٰ رَبِّنَا مُنقَلِبُونَ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إنا إلى ربنا راجعون، فلا نبالي بتهديدك.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١٢٦ – ١٢٧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تَنقِمُ مِنَّآ إِلَّآ أَنْ ءَامَنَّا بِـَٔايَٰتِ رَبِّنَا لَمَّا جَآءَتْنَا رَبَّنَآ أَفْرِغْ عَلَيْنَا صَبْرًا وَتَوَفَّنَا مُسْلِمِينَ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تعيب علينا إلا أن آمنّا بآيات ربنا لما جاءتنا، ربنا أفرغ علينا صبرًا، وتوفّنا مسلمين.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الْمَلَأُ مِن قَوْمِ فِرْعَوْنَ أَتَذَرُ مُوسَىٰ وَقَوْمَهُ لِيُفْسِدُواْ فِي الْأَرْضِ وَيَذَرَكَ وَءَالِهَتَكَ قَالَ سَنُقَتِّلُ أَبْنَآءَهُمْ وَنَسْتَحْيِ نِسَآءَهُمْ وَإِنَّا فَوْقَهُمْ قَٰهِرُونَ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الكبراء من قوم فرعون: أتترك موسى وقومه ليفسدوا في الأرض، ويتركك وآلهتك؟ قال: سنقتل أبناءهم، ونترك نساءهم أحياء، وإنا فوقهم غالبون.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١٢٨ – ١٢٩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مُوسَىٰ لِقَوْمِهِ اسْتَعِينُواْ بِاللَّهِ وَاصْبِرُواْ إِنَّ الْأَرْضَ لِلَّهِ يُورِثُهَا مَن يَشَآءُ مِنْ عِبَادِهِ وَالْعَٰقِبَةُ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لقومه: استعينوا بالله واصبروا، إن الأرض لله يورثها من يشاء من عباده، والعاقبة للمتقين.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أُوذِينَا مِن قَبْلِ أَن تَأْتِيَنَا وَمِن بَعْدِ مَا جِئْتَنَا قَالَ عَسَىٰ رَبُّكُمْ أَن يُهْلِكَ عَدُوَّكُمْ وَيَسْتَخْلِفَكُمْ فِي الْأَرْضِ فَيَنظُرَ كَيْفَ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أُوذينا من قبل أن تأتينا ومن بعد ما جئتنا، قال: عسى ربكم أن يُهلك عدوّكم، ويجعلكم خلفاء في الأرض، فينظر كيف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١٣٠ – ١٣٢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١٣٠</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أَخَذْنَآ ءَالَ فِرْعَوْنَ بِالسِّنِينَ وَنَقْصٍ مِّنَ الثَّمَرَٰتِ لَعَلَّهُمْ يَذَّكَّرُونَ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عاقبنا آل فرعون بسنين القحط ونقص الثمرات، لعلهم يتّعظون.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١٣١</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جَآءَتْهُمُ الْحَسَنَةُ قَالُواْ لَنَا هَٰذِهِ وَإِن تُصِبْهُمْ سَيِّئَةٌ يَطَّيَّرُواْ بِمُوسَىٰ وَمَن مَّعَهُ أَلَآ إِنَّمَا طَـٰئِرُهُمْ عِندَ اللَّهِ وَلَٰكِنَّ أَكْثَرَهُمْ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جاءهم الخصب والرخاء قالوا: هذا لنا لأننا نستحقه، وإن أصابهم قحط تشاءموا بموسى ومن معه، ألا إنما ما أصابهم بقضاء الله وبسبب ذنوبهم، ولكن أكثرهم لا يعلمون.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١٣٢</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مَهْمَا تَأْتِنَا بِهِ مِنْ ءَايَةٍ لِّتَسْحَرَنَا بِهَا فَمَا نَحْنُ لَكَ بِمُؤْمِنِينَ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أيّ معجزة تأتينا بها لتسحرنا فلن نؤمن 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١٣٣ – ١٣٤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١٣٣</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فَأَرْسَلْنَا عَلَيْهِمُ الطُّوفَانَ وَالْجَرَادَ وَالْقُمَّلَ وَالضَّفَادِعَ وَالدَّمَ ءَايَٰتٍ مُّفَصَّلَٰتٍ فَاسْتَكْبَرُواْ وَكَانُواْ قَوْمًا 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فأرسلنا عليهم الطوفان، والجراد، والقمّل، والضفادع، والدم، آيات واضحات متتابعات، فتكبّروا وكانوا قومًا مجرمين.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١٣٤</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وَقَعَ عَلَيْهِمُ الرِّجْزُ قَالُواْ يَٰمُوسَى ادْعُ لَنَا رَبَّكَ بِمَا عَهِدَ عِندَكَ لَئِن كَشَفْتَ عَنَّا الرِّجْزَ لَنُؤْمِنَنَّ لَكَ وَلَنُرْسِلَنَّ مَعَكَ بَنِي إِسْرَـٰءِيلَ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نزل بهم العذاب قالوا: يا موسى ادعُ لنا ربك بما عهد عندك، لئن كشفت عنا العذاب لنؤمننّ لك، ولنُطلقنّ معك بني إسرائيل.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١٣٥ – ١٣٦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00884"/>
            <a:ext cx="548640" cy="548640"/>
          </a:xfrm>
          <a:prstGeom prst="star8">
            <a:avLst/>
          </a:prstGeom>
          <a:solidFill>
            <a:schemeClr val="accent2"/>
          </a:solidFill>
          <a:ln/>
        </p:spPr>
      </p:sp>
      <p:sp>
        <p:nvSpPr>
          <p:cNvPr id="6" name="Shape 4"/>
          <p:cNvSpPr/>
          <p:nvPr/>
        </p:nvSpPr>
        <p:spPr>
          <a:xfrm>
            <a:off x="11036808" y="2610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008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١٣٥</a:t>
            </a:r>
            <a:endParaRPr lang="ar-SA" sz="1300" dirty="0"/>
          </a:p>
        </p:txBody>
      </p:sp>
      <p:sp>
        <p:nvSpPr>
          <p:cNvPr id="8" name="Text 6"/>
          <p:cNvSpPr txBox="1"/>
          <p:nvPr/>
        </p:nvSpPr>
        <p:spPr>
          <a:xfrm>
            <a:off x="731520" y="248259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كَشَفْنَا عَنْهُمُ الرِّجْزَ إِلَىٰ أَجَلٍ هُم بَٰلِغُوهُ إِذَا هُمْ يَنكُثُونَ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كشفنا عنهم العذاب إلى وقت محدد إذا هم ينقضون العهد.</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١٣٦</a:t>
            </a:r>
            <a:endParaRPr lang="ar-SA" sz="1300" dirty="0"/>
          </a:p>
        </p:txBody>
      </p:sp>
      <p:sp>
        <p:nvSpPr>
          <p:cNvPr id="13" name="Text 11"/>
          <p:cNvSpPr txBox="1"/>
          <p:nvPr/>
        </p:nvSpPr>
        <p:spPr>
          <a:xfrm>
            <a:off x="731520" y="390906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فَانتَقَمْنَا مِنْهُمْ فَأَغْرَقْنَٰهُمْ فِي الْيَمِّ بِأَنَّهُمْ كَذَّبُواْ بِـَٔايَٰتِنَا وَكَانُواْ عَنْهَا 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فانتقمنا منهم فأغرقناهم في البحر، لأنهم كذّبوا بآياتنا وكانوا عنها غافلين.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١٣٧</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وَأَوْرَثْنَا الْقَوْمَ الَّذِينَ كَانُواْ يُسْتَضْعَفُونَ مَشَٰرِقَ الْأَرْضِ وَمَغَٰرِبَهَا الَّتِي بَٰرَكْنَا فِيهَا وَتَمَّتْ كَلِمَتُ رَبِّكَ الْحُسْنَىٰ عَلَىٰ بَنِي إِسْرَـٰءِيلَ بِمَا صَبَرُواْ وَدَمَّرْنَا مَا كَانَ يَصْنَعُ فِرْعَوْنُ وَقَوْمُهُ وَمَا كَانُواْ يَعْرِشُونَ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وأورثنا بني إسرائيل الذين كانوا مستضعفين مشارق الأرض المباركة في الشام ومغاربها، وتمّ وعد ربك الحسن لهم بسبب صبرهم، ودمّرنا ما كان يصنع فرعون وقومه من القصور والبناء.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الميقات وفتنة العجل</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٧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١٣٨ – ١٥٧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طلب بني إسرائيل إلهًا كالأصنام، وموعد موسى مع ربه وطلبه الرؤية، والألواح، وفتنة عبادة العجل، ثم البشارة بالنبي الأمي صلى الله عليه وسلم في التوراة والإنجيل.</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١٣٨ – ١٤٠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١٣٨</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وَجَٰوَزْنَا بِبَنِي إِسْرَـٰءِيلَ الْبَحْرَ فَأَتَوْاْ عَلَىٰ قَوْمٍ يَعْكُفُونَ عَلَىٰ أَصْنَامٍ لَّهُمْ قَالُواْ يَٰمُوسَى اجْعَل لَّنَآ إِلَٰهًا كَمَا لَهُمْ ءَالِهَةٌ قَالَ إِنَّكُمْ قَوْمٌ تَجْهَلُونَ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وعبرنا ببني إسرائيل البحر، فمرّوا على قوم يعبدون أصنامًا لهم، قالوا: يا موسى اجعل لنا إلهًا كما لهم آلهة، قال: إنكم قوم تجهلون عظمة الله.</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١٣٩</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هَـٰؤُلَآءِ مُتَبَّرٌ مَّا هُمْ فِيهِ وَبَٰطِلٌ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هؤلاء هالك ما هم فيه من الشرك، وباطل ما كانوا يعملون.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١٤٠</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أَغَيْرَ اللَّهِ أَبْغِيكُمْ إِلَٰهًا وَهُوَ فَضَّلَكُمْ عَلَى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أأطلب لكم معبودًا غير الله، وهو الذي فضّلكم على عالمي زمانكم؟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١٤١ – ١٤٢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١٤١</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أَنجَيْنَٰكُم مِّنْ ءَالِ فِرْعَوْنَ يَسُومُونَكُمْ سُوءَ الْعَذَابِ يُقَتِّلُونَ أَبْنَآءَكُمْ وَيَسْتَحْيُونَ نِسَآءَكُمْ وَفِي ذَٰلِكُم بَلَآءٌ مِّن رَّبِّكُمْ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واذكروا إذ أنجيناكم من آل فرعون يُذيقونكم أسوأ العذاب، يقتلون أبناءكم ويتركون نساءكم أحياء، وفي ذلك اختبار عظيم من ربكم.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١٤٢</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وَوَٰعَدْنَا مُوسَىٰ ثَلَٰثِينَ لَيْلَةً وَأَتْمَمْنَٰهَا بِعَشْرٍ فَتَمَّ مِيقَٰتُ رَبِّهِ أَرْبَعِينَ لَيْلَةً وَقَالَ مُوسَىٰ لِأَخِيهِ هَٰرُونَ اخْلُفْنِي فِي قَوْمِي وَأَصْلِحْ وَلَا تَتَّبِعْ سَبِيلَ الْمُفْسِدِينَ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وواعدنا موسى لمناجاة ربه ثلاثين ليلة، وأتممناها بعشر، فتمّ الموعد أربعين ليلة، وقال موسى لأخيه هارون: كن خليفتي في قومي، وأصلح، ولا تتّبع طريق المفسدين.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١٤٣</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جَآءَ مُوسَىٰ لِمِيقَٰتِنَا وَكَلَّمَهُ رَبُّهُ قَالَ رَبِّ أَرِنِي أَنظُرْ إِلَيْكَ قَالَ لَن تَرَىٰنِي وَلَٰكِنِ انظُرْ إِلَى الْجَبَلِ فَإِنِ اسْتَقَرَّ مَكَانَهُ فَسَوْفَ تَرَىٰنِي فَلَمَّا تَجَلَّىٰ رَبُّهُ لِلْجَبَلِ جَعَلَهُ دَكًّا وَخَرَّ مُوسَىٰ صَعِقًا فَلَمَّآ أَفَاقَ قَالَ سُبْحَٰنَكَ تُبْتُ إِلَيْكَ وَأَنَا أَوَّلُ الْمُؤْمِنِينَ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جاء موسى للموعد وكلّمه ربه، قال: رب أرني أنظر إليك، قال: لن تراني في الدنيا، ولكن انظر إلى الجبل فإن ثبت مكانه فسوف تراني، فلما تجلّى ربه للجبل جعله مستويًا بالأرض، وسقط موسى مغشيًّا عليه، فلما أفاق قال: سبحانك، تبت إليك، وأنا أول المؤمنين.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١٤٤ – ١٤٥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١٤٤</a:t>
            </a:r>
            <a:endParaRPr lang="ar-SA" sz="13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يَٰمُوسَىٰ إِنِّي اصْطَفَيْتُكَ عَلَى النَّاسِ بِرِسَٰلَٰتِي وَبِكَلَٰمِي فَخُذْ مَآ ءَاتَيْتُكَ وَكُن مِّنَ 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الله: يا موسى، إني اخترتك على الناس برسالاتي وبكلامي، فخذ ما أعطيتك، وكن من الشاكرين.</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١٤٥</a:t>
            </a:r>
            <a:endParaRPr lang="ar-SA" sz="13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وَكَتَبْنَا لَهُ فِي الْأَلْوَاحِ مِن كُلِّ شَيْءٍ مَّوْعِظَةً وَتَفْصِيلًا لِّكُلِّ شَيْءٍ فَخُذْهَا بِقُوَّةٍ وَأْمُرْ قَوْمَكَ يَأْخُذُواْ بِأَحْسَنِهَا سَأُوْرِيكُمْ دَارَ الْفَٰسِقِينَ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وكتبنا له في ألواح التوراة من كل شيء يحتاجونه موعظة وتفصيلًا، فخذها بجدّ، وأمر قومك يأخذوا بأحسنها، سأريكم مصير الفاسقين.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١٤٦ – ١٤٧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١٤٦</a:t>
            </a:r>
            <a:endParaRPr lang="ar-SA" sz="13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سَأَصْرِفُ عَنْ ءَايَٰتِيَ الَّذِينَ يَتَكَبَّرُونَ فِي الْأَرْضِ بِغَيْرِ الْحَقِّ وَإِن يَرَوْاْ كُلَّ ءَايَةٍ لَّا يُؤْمِنُواْ بِهَا وَإِن يَرَوْاْ سَبِيلَ الرُّشْدِ لَا يَتَّخِذُوهُ سَبِيلًا وَإِن يَرَوْاْ سَبِيلَ الْغَيِّ يَتَّخِذُوهُ سَبِيلًا ذَٰلِكَ بِأَنَّهُمْ كَذَّبُواْ بِـَٔايَٰتِنَا وَكَانُواْ عَنْهَا 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سأصرف عن فهم آياتي الذين يتكبّرون في الأرض بغير حق، وإن يروا كل آية لا يؤمنوا بها، وإن يروا طريق الهدى لا يسلكوه، وإن يروا طريق الضلال يسلكوه، ذلك بأنهم كذّبوا بآياتنا وكانوا عنها غافلين.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١٤٧</a:t>
            </a:r>
            <a:endParaRPr lang="ar-SA" sz="13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كَذَّبُواْ بِـَٔايَٰتِنَا وَلِقَآءِ الْأخِرَةِ حَبِطَتْ أَعْمَٰلُهُمْ هَلْ يُجْزَوْنَ إِلَّا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كذّبوا بآياتنا ولقاء الآخرة بطلت أعمالهم، هل يُجزون إلا بما كانوا يعملون؟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١٤٨ – ١٤٩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١٤٨</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وَاتَّخَذَ قَوْمُ مُوسَىٰ مِن بَعْدِهِ مِنْ حُلِيِّهِمْ عِجْلًا جَسَدًا لَّهُ خُوَارٌ أَلَمْ يَرَوْاْ أَنَّهُ لَا يُكَلِّمُهُمْ وَلَا يَهْدِيهِمْ سَبِيلًا اتَّخَذُوهُ وَكَانُواْ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واتخذ قوم موسى بعد ذهابه للمناجاة من حُليّهم عجلًا جسدًا له صوت كصوت البقر فعبدوه، ألم يروا أنه لا يكلّمهم ولا يهديهم طريقًا؟ عبدوه وكانوا ظالمين.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١٤٩</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سُقِطَ فِي أَيْدِيهِمْ وَرَأَوْاْ أَنَّهُمْ قَدْ ضَلُّواْ قَالُواْ لَئِن لَّمْ يَرْحَمْنَا رَبُّنَا وَيَغْفِرْ لَنَا لَنَكُونَنَّ مِنَ الْخَٰسِرِينَ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ندموا ورأوا أنهم قد ضلّوا قالوا: لئن لم يرحمنا ربنا ويغفر لنا لنكوننّ من الخاسرين.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١٥٠</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رَجَعَ مُوسَىٰ إِلَىٰ قَوْمِهِ غَضْبَٰنَ أَسِفًا قَالَ بِئْسَمَا خَلَفْتُمُونِي مِن بَعْدِي أَعَجِلْتُمْ أَمْرَ رَبِّكُمْ وَأَلْقَى الْأَلْوَاحَ وَأَخَذَ بِرَأْسِ أَخِيهِ يَجُرُّهُ إِلَيْهِ قَالَ ابْنَ أُمَّ إِنَّ الْقَوْمَ اسْتَضْعَفُونِي وَكَادُواْ يَقْتُلُونَنِي فَلَا تُشْمِتْ بِيَ الْأَعْدَآءَ وَلَا تَجْعَلْنِي مَعَ الْقَوْمِ الظَّـٰلِمِينَ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رجع موسى إلى قومه غضبان حزينًا قال: بئس ما فعلتموه بعدي، أعجلتم أمر ربكم؟ وألقى الألواح، وأخذ برأس أخيه يجرّه إليه، قال هارون: يا ابن أمي، إن القوم استضعفوني وكادوا يقتلونني، فلا تُفرح بي الأعداء، ولا تجعلني مع الظالمين.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١٥١ – ١٥٢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١٥١</a:t>
            </a:r>
            <a:endParaRPr lang="ar-SA" sz="13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اغْفِرْ لِي وَلِأَخِي وَأَدْخِلْنَا فِي رَحْمَتِكَ وَأَنتَ أَرْحَمُ الرَّـٰحِمِينَ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موسى: رب اغفر لي ولأخي، وأدخلنا في رحمتك، وأنت أرحم الراحمين.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١٥٢</a:t>
            </a:r>
            <a:endParaRPr lang="ar-SA" sz="13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اتَّخَذُواْ الْعِجْلَ سَيَنَالُهُمْ غَضَبٌ مِّن رَّبِّهِمْ وَذِلَّةٌ فِي الْحَيَوٰةِ الدُّنْيَا وَكَذَٰلِكَ نَجْزِي الْمُفْتَرِينَ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عبدوا العجل سينالهم غضب من ربهم وذلّ في الحياة الدنيا، وكذلك نجزي الكاذبين على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١٥٣ – ١٥٤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١٥٣</a:t>
            </a:r>
            <a:endParaRPr lang="ar-SA" sz="13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عَمِلُواْ السَّيِّـَٔاتِ ثُمَّ تَابُواْ مِن بَعْدِهَا وَءَامَنُواْ إِنَّ رَبَّكَ مِن بَعْدِهَا لَغَفُورٌ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عملوا السيئات ثم تابوا وآمنوا، إن ربك من بعد التوبة لغفور رحيم.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١٥٤</a:t>
            </a:r>
            <a:endParaRPr lang="ar-SA" sz="13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وَلَمَّا سَكَتَ عَن مُّوسَى الْغَضَبُ أَخَذَ الْأَلْوَاحَ وَفِي نُسْخَتِهَا هُدًى وَرَحْمَةٌ لِّلَّذِينَ هُمْ لِرَبِّهِمْ يَرْهَبُونَ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سكن عن موسى الغضب أخذ الألواح، وفيما كُتب فيها هدى ورحمة للذين يخافون ربهم.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١٥٥</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وَاخْتَارَ مُوسَىٰ قَوْمَهُ سَبْعِينَ رَجُلًا لِّمِيقَٰتِنَا فَلَمَّآ أَخَذَتْهُمُ الرَّجْفَةُ قَالَ رَبِّ لَوْ شِئْتَ أَهْلَكْتَهُم مِّن قَبْلُ وَإِيَّـٰيَ أَتُهْلِكُنَا بِمَا فَعَلَ السُّفَهَآءُ مِنَّآ إِنْ هِيَ إِلَّا فِتْنَتُكَ تُضِلُّ بِهَا مَن تَشَآءُ وَتَهْدِي مَن تَشَآءُ أَنتَ وَلِيُّنَا فَاغْفِرْ لَنَا وَارْحَمْنَا وَأَنتَ خَيْرُ الْغَٰفِرِينَ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واختار موسى من قومه سبعين رجلًا للموعد يعتذرون إلى الله، فلما أخذتهم الزلزلة قال: رب لو شئت أهلكتهم من قبل وإياي، أتهلكنا بما فعل السفهاء منا؟ ما هي إلا اختبارك تُضل بها من تشاء وتهدي من تشاء، أنت ولينا فاغفر لنا وارحمنا وأنت خير الغافرين.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١٥٦</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وَاكْتُبْ لَنَا فِي هَٰذِهِ الدُّنْيَا حَسَنَةً وَفِي الْأخِرَةِ إِنَّا هُدْنَآ إِلَيْكَ قَالَ عَذَابِي أُصِيبُ بِهِ مَنْ أَشَآءُ وَرَحْمَتِي وَسِعَتْ كُلَّ شَيْءٍ فَسَأَكْتُبُهَا لِلَّذِينَ يَتَّقُونَ وَيُؤْتُونَ الزَّكَوٰةَ وَالَّذِينَ هُم بِـَٔايَٰتِنَا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واكتب لنا في هذه الدنيا حسنة وفي الآخرة، إنا رجعنا إليك تائبين، قال الله: عذابي أصيب به من أشاء، ورحمتي وسعت كل شيء، فسأكتبها للذين يتقون ويؤتون الزكاة والذين هم بآياتنا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١٥٧</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يَتَّبِعُونَ الرَّسُولَ النَّبِيَّ الْأُمِّيَّ الَّذِي يَجِدُونَهُ مَكْتُوبًا عِندَهُمْ فِي التَّوْرَىٰةِ وَالْإِنجِيلِ يَأْمُرُهُم بِالْمَعْرُوفِ وَيَنْهَىٰهُمْ عَنِ الْمُنكَرِ وَيُحِلُّ لَهُمُ الطَّيِّبَٰتِ وَيُحَرِّمُ عَلَيْهِمُ الْخَبَـٰئِثَ وَيَضَعُ عَنْهُمْ إِصْرَهُمْ وَالْأَغْلَٰلَ الَّتِي كَانَتْ عَلَيْهِمْ فَالَّذِينَ ءَامَنُواْ بِهِ وَعَزَّرُوهُ وَنَصَرُوهُ وَاتَّبَعُواْ النُّورَ الَّذِي أُنزِلَ مَعَهُ أُوْلَـٰئِكَ هُمُ الْمُفْلِحُونَ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يتّبعون الرسول محمدًا صلى الله عليه وسلم النبي الذي لا يقرأ ولا يكتب، يجدون صفته مكتوبة في التوراة والإنجيل، يأمرهم بالمعروف، وينهاهم عن المنكر، ويُحل لهم الطيبات، ويحرّم عليهم الخبائث، ويرفع عنهم الأحكام الشاقة، فالذين آمنوا به ووقّروه ونصروه واتّبعوا القرآن أولئك هم المفلحون.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الرسالة العامة وأصحاب السبت</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٨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١٥٨ – ١٧١</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عموم رسالة النبي صلى الله عليه وسلم لكل الناس، ونعم الله على بني إسرائيل، وقصة أصحاب السبت الذين تحايلوا على أمر الله، وفضل الذين ينهون عن السوء.</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١٥٨ – ١٥٩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١٥٨</a:t>
            </a:r>
            <a:endParaRPr lang="ar-SA" sz="13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يَـٰأَيُّهَا النَّاسُ إِنِّي رَسُولُ اللَّهِ إِلَيْكُمْ جَمِيعًا الَّذِي لَهُ مُلْكُ السَّمَٰوَٰتِ وَالْأَرْضِ لَآ إِلَٰهَ إِلَّا هُوَ يُحْيِ وَيُمِيتُ فَـَٔامِنُواْ بِاللَّهِ وَرَسُولِهِ النَّبِيِّ الْأُمِّيِّ الَّذِي يُؤْمِنُ بِاللَّهِ وَكَلِمَٰتِهِ وَاتَّبِعُوهُ لَعَلَّكُمْ تَهْتَدُونَ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أيها الناس إني رسول الله إليكم جميعًا، الذي له ملك السماوات والأرض، لا إله إلا هو، يُحيي ويُميت، فآمنوا بالله ورسوله النبي الأمي الذي يؤمن بالله وكلماته، واتّبعوه لعلكم تهتدون.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١٥٩</a:t>
            </a:r>
            <a:endParaRPr lang="ar-SA" sz="13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قَوْمِ مُوسَىٰ أُمَّةٌ يَهْدُونَ بِالْحَقِّ وَبِهِ يَعْدِلُونَ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قوم موسى جماعة يهدون الناس بالحق، وبه يعدلون في أحكامهم.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١٦٠</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وَقَطَّعْنَٰهُمُ اثْنَتَيْ عَشْرَةَ أَسْبَاطًا أُمَمًا وَأَوْحَيْنَآ إِلَىٰ مُوسَىٰ إِذِ اسْتَسْقَىٰهُ قَوْمُهُ أَنِ اضْرِب بِّعَصَاكَ الْحَجَرَ فَانبَجَسَتْ مِنْهُ اثْنَتَا عَشْرَةَ عَيْنًا قَدْ عَلِمَ كُلُّ أُنَاسٍ مَّشْرَبَهُمْ وَظَلَّلْنَا عَلَيْهِمُ الْغَمَٰمَ وَأَنزَلْنَا عَلَيْهِمُ الْمَنَّ وَالسَّلْوَىٰ كُلُواْ مِن طَيِّبَٰتِ مَا رَزَقْنَٰكُمْ وَمَا ظَلَمُونَا وَلَٰكِن كَانُواْ أَنفُسَهُمْ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وقسّمنا بني إسرائيل اثنتي عشرة قبيلة، وأوحينا إلى موسى حين طلب قومه الماء: أن اضرب بعصاك الحجر، فانفجرت منه اثنتا عشرة عينًا، قد عرفت كل قبيلة مكان شربها، وظلّلنا عليهم السحاب، وأنزلنا عليهم المنّ والسلوى، كلوا من طيبات ما رزقناكم، وما ظلمونا ولكن ظلموا أنفسهم.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١٦١ – ١٦٢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١٦١</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قِيلَ لَهُمُ اسْكُنُواْ هَٰذِهِ الْقَرْيَةَ وَكُلُواْ مِنْهَا حَيْثُ شِئْتُمْ وَقُولُواْ حِطَّةٌ وَادْخُلُواْ الْبَابَ سُجَّدًا نَّغْفِرْ لَكُمْ خَطِيـَٰٔتِكُمْ سَنَزِيدُ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قيل لهم: اسكنوا بيت المقدس، وكلوا منها حيث شئتم، وقولوا: احطط عنا ذنوبنا، وادخلوا الباب ساجدين، نغفر لكم خطاياكم، وسنزيد المحسنين.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١٦٢</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فَبَدَّلَ الَّذِينَ ظَلَمُواْ مِنْهُمْ قَوْلًا غَيْرَ الَّذِي قِيلَ لَهُمْ فَأَرْسَلْنَا عَلَيْهِمْ رِجْزًا مِّنَ السَّمَآءِ بِمَا كَانُواْ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فبدّل الظالمون منهم القول الذي قيل لهم بقول آخر استهزاءً، فأرسلنا عليهم عذابًا من السماء بسبب ظلمهم.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١٦٣ – ١٦٤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١٦٣</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وَسْـَٔلْهُمْ عَنِ الْقَرْيَةِ الَّتِي كَانَتْ حَاضِرَةَ الْبَحْرِ إِذْ يَعْدُونَ فِي السَّبْتِ إِذْ تَأْتِيهِمْ حِيتَانُهُمْ يَوْمَ سَبْتِهِمْ شُرَّعًا وَيَوْمَ لَا يَسْبِتُونَ لَا تَأْتِيهِمْ كَذَٰلِكَ نَبْلُوهُم بِمَا كَانُواْ يَفْسُقُونَ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واسألهم عن القرية التي كانت قريبة من البحر، حين يعتدون يوم السبت بالصيد المحرّم عليهم، إذ تأتيهم الأسماك يوم السبت ظاهرة على الماء، ويوم لا يسبتون لا تأتيهم، كذلك نختبرهم بسبب فسقهم.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١٦٤</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قَالَتْ أُمَّةٌ مِّنْهُمْ لِمَ تَعِظُونَ قَوْمًا اللَّهُ مُهْلِكُهُمْ أَوْ مُعَذِّبُهُمْ عَذَابًا شَدِيدًا قَالُواْ مَعْذِرَةً إِلَىٰ رَبِّكُمْ وَلَعَلَّهُمْ يَتَّقُونَ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قالت جماعة منهم للناصحين: لِمَ تعظون قومًا الله مُهلكهم أو معذّبهم؟ قالوا: نعظهم إعذارًا إلى ربكم، ولعلهم يتقون.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١٦٥ – ١٦٦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١٦٥</a:t>
            </a:r>
            <a:endParaRPr lang="ar-SA" sz="13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نَسُواْ مَا ذُكِّرُواْ بِهِ أَنجَيْنَا الَّذِينَ يَنْهَوْنَ عَنِ السُّوءِ وَأَخَذْنَا الَّذِينَ ظَلَمُواْ بِعَذَابٍ بَـِٔيسٍ بِمَا كَانُواْ يَفْسُقُونَ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تركوا ما ذُكّروا به أنجينا الذين ينهون عن السوء، وأخذنا الظالمين بعذاب شديد بسبب فسقهم.</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١٦٦</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عَتَوْاْ عَن مَّا نُهُواْ عَنْهُ قُلْنَا لَهُمْ كُونُواْ قِرَدَةً خَٰسِـِٔينَ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تمادوا فيما نُهوا عنه قلنا لهم: كونوا قردة أذلّاء.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١٦٧ – ١٦٨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١٦٧</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تَأَذَّنَ رَبُّكَ لَيَبْعَثَنَّ عَلَيْهِمْ إِلَىٰ يَوْمِ الْقِيَٰمَةِ مَن يَسُومُهُمْ سُوءَ الْعَذَابِ إِنَّ رَبَّكَ لَسَرِيعُ الْعِقَابِ وَإِنَّهُ لَغَفُورٌ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أعلن ربك أنه سيبعث على اليهود إلى يوم القيامة من يُذيقهم سوء العذاب بسبب عصيانهم، إن ربك لسريع العقاب، وإنه لغفور رحيم لمن تاب.</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١٦٨</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وَقَطَّعْنَٰهُمْ فِي الْأَرْضِ أُمَمًا مِّنْهُمُ الصَّـٰلِحُونَ وَمِنْهُمْ دُونَ ذَٰلِكَ وَبَلَوْنَٰهُم بِالْحَسَنَٰتِ وَالسَّيِّـَٔاتِ 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وفرّقناهم في الأرض جماعات: منهم الصالحون ومنهم دون ذلك، واختبرناهم بالرخاء والشدة لعلهم يرجعون.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١٦٩ – ١٧٠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١٦٩</a:t>
            </a:r>
            <a:endParaRPr lang="ar-SA" sz="1300" dirty="0"/>
          </a:p>
        </p:txBody>
      </p:sp>
      <p:sp>
        <p:nvSpPr>
          <p:cNvPr id="8" name="Text 6"/>
          <p:cNvSpPr txBox="1"/>
          <p:nvPr/>
        </p:nvSpPr>
        <p:spPr>
          <a:xfrm>
            <a:off x="731520" y="1353312"/>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فَخَلَفَ مِن بَعْدِهِمْ خَلْفٌ وَرِثُواْ الْكِتَٰبَ يَأْخُذُونَ عَرَضَ هَٰذَا الْأَدْنَىٰ وَيَقُولُونَ سَيُغْفَرُ لَنَا وَإِن يَأْتِهِمْ عَرَضٌ مِّثْلُهُ يَأْخُذُوهُ أَلَمْ يُؤْخَذْ عَلَيْهِم مِّيثَٰقُ الْكِتَٰبِ أَن لَّا يَقُولُواْ عَلَى اللَّهِ إِلَّا الْحَقَّ وَدَرَسُواْ مَا فِيهِ وَالدَّارُ الْأخِرَةُ خَيْرٌ لِّلَّذِينَ يَتَّقُونَ أَفَلَا تَعْقِلُونَ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فجاء من بعدهم جيل سيئ ورثوا التوراة، يأخذون متاع الدنيا الحرام كالرشوة، ويقولون: سيغفر الله لنا، وإن يأتهم مثله يأخذوه، ألم يُؤخذ عليهم العهد ألّا يقولوا على الله إلا الحق وقد قرؤوا ما فيه؟ والدار الآخرة خير للمتقين، أفلا تعقلون؟</a:t>
            </a:r>
            <a:endParaRPr lang="ar-SA" sz="3200" dirty="0"/>
          </a:p>
        </p:txBody>
      </p:sp>
      <p:sp>
        <p:nvSpPr>
          <p:cNvPr id="9" name="Shape 7"/>
          <p:cNvSpPr/>
          <p:nvPr/>
        </p:nvSpPr>
        <p:spPr>
          <a:xfrm>
            <a:off x="2103120" y="4882896"/>
            <a:ext cx="8641080" cy="0"/>
          </a:xfrm>
          <a:prstGeom prst="line">
            <a:avLst/>
          </a:prstGeom>
          <a:noFill/>
          <a:ln w="9525">
            <a:solidFill>
              <a:schemeClr val="accent2"/>
            </a:solidFill>
            <a:prstDash val="dash"/>
          </a:ln>
        </p:spPr>
      </p:sp>
      <p:sp>
        <p:nvSpPr>
          <p:cNvPr id="10" name="Shape 8"/>
          <p:cNvSpPr/>
          <p:nvPr/>
        </p:nvSpPr>
        <p:spPr>
          <a:xfrm>
            <a:off x="10927080" y="5056632"/>
            <a:ext cx="548640" cy="548640"/>
          </a:xfrm>
          <a:prstGeom prst="star8">
            <a:avLst/>
          </a:prstGeom>
          <a:solidFill>
            <a:schemeClr val="accent2"/>
          </a:solidFill>
          <a:ln/>
        </p:spPr>
      </p:sp>
      <p:sp>
        <p:nvSpPr>
          <p:cNvPr id="11" name="Shape 9"/>
          <p:cNvSpPr/>
          <p:nvPr/>
        </p:nvSpPr>
        <p:spPr>
          <a:xfrm>
            <a:off x="11036808" y="516636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505663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١٧٠</a:t>
            </a:r>
            <a:endParaRPr lang="ar-SA" sz="1300" dirty="0"/>
          </a:p>
        </p:txBody>
      </p:sp>
      <p:sp>
        <p:nvSpPr>
          <p:cNvPr id="13" name="Text 11"/>
          <p:cNvSpPr txBox="1"/>
          <p:nvPr/>
        </p:nvSpPr>
        <p:spPr>
          <a:xfrm>
            <a:off x="731520" y="503834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يُمَسِّكُونَ بِالْكِتَٰبِ وَأَقَامُواْ الصَّلَوٰةَ إِنَّا لَا نُضِيعُ أَجْرَ الْمُصْلِحِينَ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يتمسّكون بالكتاب ويعملون به وأقاموا الصلاة، إنا لا نُضيع أجر المصلحين.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١٧١</a:t>
            </a:r>
            <a:endParaRPr lang="ar-SA" sz="13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نَتَقْنَا الْجَبَلَ فَوْقَهُمْ كَأَنَّهُ ظُلَّةٌ وَظَنُّواْ أَنَّهُ وَاقِعٌ بِهِمْ خُذُواْ مَآ ءَاتَيْنَٰكُم بِقُوَّةٍ وَاذْكُرُواْ مَا فِيهِ لَعَلَّكُمْ تَتَّقُونَ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رفعنا الجبل فوق بني إسرائيل كأنه سحابة، وظنّوا أنه ساقط عليهم، وقلنا: خذوا ما آتيناكم بجدّ، واذكروا ما فيه لعلكم تتقون.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الميثاق والعالِم المنسلخ</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٩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١٧٢ – ١٨٦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لهذا المقطع سبب نزول خاص مشهور، وقد نزل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أخذ الميثاق على بني آدم بالتوحيد، ومثَل العالِم الذي ترك آيات الله واتّبع هواه، والأسماء الحسنى، والتحذير من الغفلة.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١٧٢ – ١٧٣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١٧٢</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 أَخَذَ رَبُّكَ مِن بَنِي ءَادَمَ مِن ظُهُورِهِمْ ذُرِّيَّتَهُمْ وَأَشْهَدَهُمْ عَلَىٰ أَنفُسِهِمْ أَلَسْتُ بِرَبِّكُمْ قَالُواْ بَلَىٰ شَهِدْنَآ أَن تَقُولُواْ يَوْمَ الْقِيَٰمَةِ إِنَّا كُنَّا عَنْ هَٰذَا 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حين أخرج ربك من ظهور بني آدم ذريتهم، وأشهدهم على أنفسهم: ألست بربكم؟ قالوا: بلى شهدنا، لئلّا تقولوا يوم القيامة: إنا كنا عن هذا غافلين.</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١٧٣</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تَقُولُواْ إِنَّمَآ أَشْرَكَ ءَابَآؤُنَا مِن قَبْلُ وَكُنَّا ذُرِّيَّةً مِّن بَعْدِهِمْ أَفَتُهْلِكُنَا بِمَا فَعَلَ الْمُبْطِلُونَ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تقولوا: إنما أشرك آباؤنا من قبل، وكنا ذرية بعدهم فقلّدناهم، أفتهلكنا بما فعل المبطلون؟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١٧٤ – ١٧٥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١٧٤</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وَكَذَٰلِكَ نُفَصِّلُ الْأيَٰتِ وَلَعَلَّهُمْ يَرْجِعُونَ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وكذلك نبيّن الآيات، ولعلهم يرجعون عن الشرك.</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١٧٥</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وَاتْلُ عَلَيْهِمْ نَبَأَ الَّذِي ءَاتَيْنَٰهُ ءَايَٰتِنَا فَانسَلَخَ مِنْهَا فَأَتْبَعَهُ الشَّيْطَٰنُ فَكَانَ مِنَ الْغَاوِينَ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واقرأ عليهم خبر رجل من بني إسرائيل آتيناه علم آياتنا، فتركها وخرج منها، فلحقه الشيطان فكان من الضالّين.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١٧٦ – ١٧٧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١٧٦</a:t>
            </a:r>
            <a:endParaRPr lang="ar-SA" sz="13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شِئْنَا لَرَفَعْنَٰهُ بِهَا وَلَٰكِنَّهُ أَخْلَدَ إِلَى الْأَرْضِ وَاتَّبَعَ هَوَىٰهُ فَمَثَلُهُ كَمَثَلِ الْكَلْبِ إِن تَحْمِلْ عَلَيْهِ يَلْهَثْ أَوْ تَتْرُكْهُ يَلْهَث ذَّـٰلِكَ مَثَلُ الْقَوْمِ الَّذِينَ كَذَّبُواْ بِـَٔايَٰتِنَا فَاقْصُصِ الْقَصَصَ لَعَلَّهُمْ يَتَفَكَّرُونَ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شئنا لرفعنا منزلته بها، ولكنه مال إلى الدنيا واتّبع هواه، فمثله كمثل الكلب يلهث في كل حال، إن طردته لهث وإن تركته لهث، ذلك مثل المكذّبين، فاقصص القصص لعلهم يتفكرون.</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١٧٧</a:t>
            </a:r>
            <a:endParaRPr lang="ar-SA" sz="13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سَآءَ مَثَلًا الْقَوْمُ الَّذِينَ كَذَّبُواْ بِـَٔايَٰتِنَا وَأَنفُسَهُمْ كَانُواْ يَظْلِمُونَ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بئس مثلًا مثل القوم الذين كذّبوا بآياتنا، وأنفسهم كانوا يظلمون.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١٧٨ – ١٧٩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١٧٨</a:t>
            </a:r>
            <a:endParaRPr lang="ar-SA" sz="13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يَهْدِ اللَّهُ فَهُوَ الْمُهْتَدِي وَمَن يُضْلِلْ فَأُوْلَـٰئِكَ هُمُ الْخَٰسِرُونَ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يهده الله فهو المهتدي، ومن يُضلله فأولئك هم الخاسرون.</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١٧٩</a:t>
            </a:r>
            <a:endParaRPr lang="ar-SA" sz="13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ذَرَأْنَا لِجَهَنَّمَ كَثِيرًا مِّنَ الْجِنِّ وَالْإِنسِ لَهُمْ قُلُوبٌ لَّا يَفْقَهُونَ بِهَا وَلَهُمْ أَعْيُنٌ لَّا يُبْصِرُونَ بِهَا وَلَهُمْ ءَاذَانٌ لَّا يَسْمَعُونَ بِهَآ أُوْلَـٰئِكَ كَالْأَنْعَٰمِ بَلْ هُمْ أَضَلُّ أُوْلَـٰئِكَ هُمُ الْغَٰفِلُونَ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خلقنا لجهنم كثيرًا من الجن والإنس لعلمنا بأعمالهم، لهم قلوب لا يفهمون بها الحق، وأعين لا يبصرون بها الآيات، وآذان لا يسمعون بها المواعظ، أولئك كالبهائم بل هم أضل، أولئك هم الغافلون.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١٨٠ – ١٨١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١٨٠</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الْأَسْمَآءُ الْحُسْنَىٰ فَادْعُوهُ بِهَا وَذَرُواْ الَّذِينَ يُلْحِدُونَ فِي أَسْمَـٰئِهِ سَيُجْزَوْنَ مَا كَانُواْ يَعْمَلُونَ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الأسماء الحسنى فادعوه بها، واتركوا الذين يحرّفونها ويميلون بها عن الحق، سيُجزون بما كانوا يعملون. قال النبي صلى الله عليه وسلم: «إن لله تسعة وتسعين اسمًا، من أحصاها دخل الجنة» (البخاري ومسلم).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١٨١</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وَمِمَّنْ خَلَقْنَآ أُمَّةٌ يَهْدُونَ بِالْحَقِّ وَبِهِ يَعْدِلُونَ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خلقنا جماعة يهدون بالحق وبه يعدلون، وهم هذه الأمة.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١٨٢ – ١٨٤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١٨٢</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كَذَّبُواْ بِـَٔايَٰتِنَا سَنَسْتَدْرِجُهُم مِّنْ حَيْثُ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كذّبوا بآياتنا سنأخذهم بالتدريج من حيث لا يشعرون، بكثرة النعم مع المعاصي.</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١٨٣</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وَأُمْلِي لَهُمْ إِنَّ كَيْدِي مَتِينٌ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وأُمهلهم، إن كيدي قوي محكم.</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١٨٤</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يَتَفَكَّرُواْ مَا بِصَاحِبِهِم مِّن جِنَّةٍ إِنْ هُوَ إِلَّا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يتفكّروا أن صاحبهم محمدًا ليس به جنون؟ ما هو إلا نذير واضح.</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١٨٥ – ١٨٦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١٨٥</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يَنظُرُواْ فِي مَلَكُوتِ السَّمَٰوَٰتِ وَالْأَرْضِ وَمَا خَلَقَ اللَّهُ مِن شَيْءٍ وَأَنْ عَسَىٰ أَن يَكُونَ قَدِ اقْتَرَبَ أَجَلُهُمْ فَبِأَيِّ حَدِيثٍ بَعْدَهُ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ينظروا في ملك السماوات والأرض وما خلق الله من شيء، وأن عسى أن يكون قد اقترب أجلهم؟ فبأي كلام بعد القرآن يؤمنون؟</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١٨٦</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يُضْلِلِ اللَّهُ فَلَا هَادِيَ لَهُ وَيَذَرُهُمْ فِي طُغْيَٰنِهِمْ يَعْمَهُونَ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يُضلله الله فلا هادي له، ويتركهم في طغيانهم يتحيّرون.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الساعة وآداب الذكر</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١٠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١٨٧ – ٢٠٦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الأعراف • مكية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قريشًا قالت للنبي صلى الله عليه وسلم: أخبرنا متى الساعة؟ فنزلت: ﴿يسألونك عن الساعة أيّان مُرساها﴾. وقال أبو هريرة: كانوا يتكلمون في الصلاة، فنزلت: ﴿وإذا قُرئ القرآن فاستمعوا له وأنصتوا﴾.</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علم الساعة عند الله وحده، وإبطال عبادة الأصنام العاجزة، ومكارم الأخلاق، والإنصات للقرآن، وذكر الله في كل وقت.</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١٨٧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١٨٧</a:t>
            </a:r>
            <a:endParaRPr lang="ar-SA" sz="13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يَسْـَٔلُونَكَ عَنِ السَّاعَةِ أَيَّانَ مُرْسَىٰهَا قُلْ إِنَّمَا عِلْمُهَا عِندَ رَبِّي لَا يُجَلِّيهَا لِوَقْتِهَآ إِلَّا هُوَ ثَقُلَتْ فِي السَّمَٰوَٰتِ وَالْأَرْضِ لَا تَأْتِيكُمْ إِلَّا بَغْتَةً يَسْـَٔلُونَكَ كَأَنَّكَ حَفِيٌّ عَنْهَا قُلْ إِنَّمَا عِلْمُهَا عِندَ اللَّهِ وَلَٰكِنَّ أَكْثَرَ النَّاسِ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يسألونك عن القيامة: متى وقتها؟ قل: إنما علمها عند ربي، لا يُظهرها في وقتها إلا هو، عظُم أمرها على أهل السماوات والأرض، لا تأتيكم إلا فجأة، يسألونك كأنك عالم بها، قل: إنما علمها عند الله، ولكن أكثر الناس لا يعلمون.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١٨٨ – ١٨٩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١٨٨</a:t>
            </a:r>
            <a:endParaRPr lang="ar-SA" sz="13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لَّآ أَمْلِكُ لِنَفْسِي نَفْعًا وَلَا ضَرًّا إِلَّا مَا شَآءَ اللَّهُ وَلَوْ كُنتُ أَعْلَمُ الْغَيْبَ لَاسْتَكْثَرْتُ مِنَ الْخَيْرِ وَمَا مَسَّنِيَ السُّوءُ إِنْ أَنَا إِلَّا نَذِيرٌ وَبَشِيرٌ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أملك لنفسي نفعًا ولا ضرًّا إلا ما شاء الله، ولو كنت أعلم الغيب لاستكثرت من الخير، وما أصابني السوء، ما أنا إلا نذير وبشير لقوم يؤمنون.</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١٨٩</a:t>
            </a:r>
            <a:endParaRPr lang="ar-SA" sz="13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خَلَقَكُم مِّن نَّفْسٍ وَٰحِدَةٍ وَجَعَلَ مِنْهَا زَوْجَهَا لِيَسْكُنَ إِلَيْهَا فَلَمَّا تَغَشَّىٰهَا حَمَلَتْ حَمْلًا خَفِيفًا فَمَرَّتْ بِهِ فَلَمَّآ أَثْقَلَت دَّعَوَا اللَّهَ رَبَّهُمَا لَئِنْ ءَاتَيْتَنَا صَٰلِحًا لَّنَكُونَنَّ مِنَ الشَّـٰكِرِينَ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خلقكم من نفس واحدة هي آدم، وجعل منها زوجها ليطمئنّ إليها، فلما جامع الرجل زوجته حملت حملًا خفيفًا، فاستمرّت به، فلما ثقل دعوا الله ربهما: لئن أعطيتنا ولدًا صالحًا لنكوننّ من الشاكرين.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١٩٠ – ١٩٢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18488"/>
            <a:ext cx="548640" cy="548640"/>
          </a:xfrm>
          <a:prstGeom prst="star8">
            <a:avLst/>
          </a:prstGeom>
          <a:solidFill>
            <a:schemeClr val="accent2"/>
          </a:solidFill>
          <a:ln/>
        </p:spPr>
      </p:sp>
      <p:sp>
        <p:nvSpPr>
          <p:cNvPr id="6" name="Shape 4"/>
          <p:cNvSpPr/>
          <p:nvPr/>
        </p:nvSpPr>
        <p:spPr>
          <a:xfrm>
            <a:off x="11036808" y="17282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184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١٩٠</a:t>
            </a:r>
            <a:endParaRPr lang="ar-SA" sz="1300" dirty="0"/>
          </a:p>
        </p:txBody>
      </p:sp>
      <p:sp>
        <p:nvSpPr>
          <p:cNvPr id="8" name="Text 6"/>
          <p:cNvSpPr txBox="1"/>
          <p:nvPr/>
        </p:nvSpPr>
        <p:spPr>
          <a:xfrm>
            <a:off x="731520" y="160020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ءَاتَىٰهُمَا صَٰلِحًا جَعَلَا لَهُ شُرَكَآءَ فِيمَآ ءَاتَىٰهُمَا فَتَعَٰلَى اللَّهُ عَمَّا يُشْرِكُونَ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أعطاهما ولدًا صالحًا جعل المشركون من ذرية آدم لله شركاء فيما أعطاهم، فتعالى الله عما يشركون. وهذا في المشركين لا في آدم وحواء، كما رجّح ابن كثير.</a:t>
            </a:r>
            <a:endParaRPr lang="ar-SA" sz="3200" dirty="0"/>
          </a:p>
        </p:txBody>
      </p:sp>
      <p:sp>
        <p:nvSpPr>
          <p:cNvPr id="9" name="Shape 7"/>
          <p:cNvSpPr/>
          <p:nvPr/>
        </p:nvSpPr>
        <p:spPr>
          <a:xfrm>
            <a:off x="2103120" y="3122676"/>
            <a:ext cx="8641080" cy="0"/>
          </a:xfrm>
          <a:prstGeom prst="line">
            <a:avLst/>
          </a:prstGeom>
          <a:noFill/>
          <a:ln w="9525">
            <a:solidFill>
              <a:schemeClr val="accent2"/>
            </a:solidFill>
            <a:prstDash val="dash"/>
          </a:ln>
        </p:spPr>
      </p:sp>
      <p:sp>
        <p:nvSpPr>
          <p:cNvPr id="10" name="Shape 8"/>
          <p:cNvSpPr/>
          <p:nvPr/>
        </p:nvSpPr>
        <p:spPr>
          <a:xfrm>
            <a:off x="10927080" y="3383280"/>
            <a:ext cx="548640" cy="548640"/>
          </a:xfrm>
          <a:prstGeom prst="star8">
            <a:avLst/>
          </a:prstGeom>
          <a:solidFill>
            <a:schemeClr val="accent2"/>
          </a:solidFill>
          <a:ln/>
        </p:spPr>
      </p:sp>
      <p:sp>
        <p:nvSpPr>
          <p:cNvPr id="11" name="Shape 9"/>
          <p:cNvSpPr/>
          <p:nvPr/>
        </p:nvSpPr>
        <p:spPr>
          <a:xfrm>
            <a:off x="11036808" y="349300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3832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١٩١</a:t>
            </a:r>
            <a:endParaRPr lang="ar-SA" sz="1300" dirty="0"/>
          </a:p>
        </p:txBody>
      </p:sp>
      <p:sp>
        <p:nvSpPr>
          <p:cNvPr id="13" name="Text 11"/>
          <p:cNvSpPr txBox="1"/>
          <p:nvPr/>
        </p:nvSpPr>
        <p:spPr>
          <a:xfrm>
            <a:off x="731520" y="33649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أَيُشْرِكُونَ مَا لَا يَخْلُقُ شَيْـًٔا وَهُمْ يُخْلَقُونَ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أيُشركون بالله أصنامًا لا تخلق شيئًا، وهي مخلوقة؟</a:t>
            </a:r>
            <a:endParaRPr lang="ar-SA" sz="3200" dirty="0"/>
          </a:p>
        </p:txBody>
      </p:sp>
      <p:sp>
        <p:nvSpPr>
          <p:cNvPr id="14" name="Shape 12"/>
          <p:cNvSpPr/>
          <p:nvPr/>
        </p:nvSpPr>
        <p:spPr>
          <a:xfrm>
            <a:off x="2103120" y="4549140"/>
            <a:ext cx="8641080" cy="0"/>
          </a:xfrm>
          <a:prstGeom prst="line">
            <a:avLst/>
          </a:prstGeom>
          <a:noFill/>
          <a:ln w="9525">
            <a:solidFill>
              <a:schemeClr val="accent2"/>
            </a:solidFill>
            <a:prstDash val="dash"/>
          </a:ln>
        </p:spPr>
      </p:sp>
      <p:sp>
        <p:nvSpPr>
          <p:cNvPr id="15" name="Shape 13"/>
          <p:cNvSpPr/>
          <p:nvPr/>
        </p:nvSpPr>
        <p:spPr>
          <a:xfrm>
            <a:off x="10927080" y="4809744"/>
            <a:ext cx="548640" cy="548640"/>
          </a:xfrm>
          <a:prstGeom prst="star8">
            <a:avLst/>
          </a:prstGeom>
          <a:solidFill>
            <a:schemeClr val="accent2"/>
          </a:solidFill>
          <a:ln/>
        </p:spPr>
      </p:sp>
      <p:sp>
        <p:nvSpPr>
          <p:cNvPr id="16" name="Shape 14"/>
          <p:cNvSpPr/>
          <p:nvPr/>
        </p:nvSpPr>
        <p:spPr>
          <a:xfrm>
            <a:off x="11036808" y="4919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097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١٩٢</a:t>
            </a:r>
            <a:endParaRPr lang="ar-SA" sz="1300" dirty="0"/>
          </a:p>
        </p:txBody>
      </p:sp>
      <p:sp>
        <p:nvSpPr>
          <p:cNvPr id="18" name="Text 16"/>
          <p:cNvSpPr txBox="1"/>
          <p:nvPr/>
        </p:nvSpPr>
        <p:spPr>
          <a:xfrm>
            <a:off x="731520" y="47914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يَسْتَطِيعُونَ لَهُمْ نَصْرًا وَلَآ أَنفُسَهُمْ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تستطيع نصر عابديها، ولا تنصر نفسها.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١٩٣ – ١٩٤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١٩٣</a:t>
            </a:r>
            <a:endParaRPr lang="ar-SA" sz="13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تَدْعُوهُمْ إِلَى الْهُدَىٰ لَا يَتَّبِعُوكُمْ سَوَآءٌ عَلَيْكُمْ أَدَعَوْتُمُوهُمْ أَمْ أَنتُمْ صَٰمِتُونَ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تدعوا الأصنام إلى الهدى لا تتّبعكم، يستوي عندها دعاؤكم وسكوتكم.</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١٩٤</a:t>
            </a:r>
            <a:endParaRPr lang="ar-SA" sz="13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تَدْعُونَ مِن دُونِ اللَّهِ عِبَادٌ أَمْثَالُكُمْ فَادْعُوهُمْ فَلْيَسْتَجِيبُواْ لَكُمْ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تعبدون من دون الله مخلوقون مثلكم، فادعوهم فليستجيبوا لكم إن كنتم صادقين.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١٩٥ – ١٩٧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١٩٥</a:t>
            </a:r>
            <a:endParaRPr lang="ar-SA" sz="13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أَلَهُمْ أَرْجُلٌ يَمْشُونَ بِهَآ أَمْ لَهُمْ أَيْدٍ يَبْطِشُونَ بِهَآ أَمْ لَهُمْ أَعْيُنٌ يُبْصِرُونَ بِهَآ أَمْ لَهُمْ ءَاذَانٌ يَسْمَعُونَ بِهَا قُلِ ادْعُواْ شُرَكَآءَكُمْ ثُمَّ كِيدُونِ فَلَا تُنظِرُونِ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ألهم أرجل يمشون بها؟ أم لهم أيدٍ يبطشون بها؟ أم لهم أعين يبصرون بها؟ أم لهم آذان يسمعون بها؟ قل: ادعوا شركاءكم ثم دبّروا لي الكيد ولا تُمهلوني.</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١٩٦</a:t>
            </a:r>
            <a:endParaRPr lang="ar-SA" sz="13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وَلِـِّيَ اللَّهُ الَّذِي نَزَّلَ الْكِتَٰبَ وَهُوَ يَتَوَلَّى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ناصري الله الذي نزّل القرآن، وهو يتولّى الصالحين وينصرهم.</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١٩٧</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تَدْعُونَ مِن دُونِهِ لَا يَسْتَطِيعُونَ نَصْرَكُمْ وَلَآ أَنفُسَهُمْ يَنصُرُونَ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تعبدون من دونه لا يستطيعون نصركم، ولا أنفسهم ينصرون.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١٩٨ – ٢٠١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2456"/>
            <a:ext cx="548640" cy="548640"/>
          </a:xfrm>
          <a:prstGeom prst="star8">
            <a:avLst/>
          </a:prstGeom>
          <a:solidFill>
            <a:schemeClr val="accent2"/>
          </a:solidFill>
          <a:ln/>
        </p:spPr>
      </p:sp>
      <p:sp>
        <p:nvSpPr>
          <p:cNvPr id="6" name="Shape 4"/>
          <p:cNvSpPr/>
          <p:nvPr/>
        </p:nvSpPr>
        <p:spPr>
          <a:xfrm>
            <a:off x="11036808" y="14721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24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١٩٨</a:t>
            </a:r>
            <a:endParaRPr lang="ar-SA" sz="1300" dirty="0"/>
          </a:p>
        </p:txBody>
      </p:sp>
      <p:sp>
        <p:nvSpPr>
          <p:cNvPr id="8" name="Text 6"/>
          <p:cNvSpPr txBox="1"/>
          <p:nvPr/>
        </p:nvSpPr>
        <p:spPr>
          <a:xfrm>
            <a:off x="731520" y="13441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تَدْعُوهُمْ إِلَى الْهُدَىٰ لَا يَسْمَعُواْ وَتَرَىٰهُمْ يَنظُرُونَ إِلَيْكَ وَهُمْ لَا 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تدعوهم إلى الهدى لا يسمعوا، وتراهم كأنهم ينظرون إليك بأعين مصنوعة وهم لا يبصرون.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596896"/>
            <a:ext cx="548640" cy="548640"/>
          </a:xfrm>
          <a:prstGeom prst="star8">
            <a:avLst/>
          </a:prstGeom>
          <a:solidFill>
            <a:schemeClr val="accent2"/>
          </a:solidFill>
          <a:ln/>
        </p:spPr>
      </p:sp>
      <p:sp>
        <p:nvSpPr>
          <p:cNvPr id="11" name="Shape 9"/>
          <p:cNvSpPr/>
          <p:nvPr/>
        </p:nvSpPr>
        <p:spPr>
          <a:xfrm>
            <a:off x="11036808" y="270662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9689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١٩٩</a:t>
            </a:r>
            <a:endParaRPr lang="ar-SA" sz="1300" dirty="0"/>
          </a:p>
        </p:txBody>
      </p:sp>
      <p:sp>
        <p:nvSpPr>
          <p:cNvPr id="13" name="Text 11"/>
          <p:cNvSpPr txBox="1"/>
          <p:nvPr/>
        </p:nvSpPr>
        <p:spPr>
          <a:xfrm>
            <a:off x="731520" y="257860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خُذِ الْعَفْوَ وَأْمُرْ بِالْعُرْفِ وَأَعْرِضْ عَنِ الْجَٰهِلِينَ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خذ ما سهل من أخلاق الناس وأعمالهم، وأمر بالمعروف، وأعرض عن الجاهلين.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31336"/>
            <a:ext cx="548640" cy="548640"/>
          </a:xfrm>
          <a:prstGeom prst="star8">
            <a:avLst/>
          </a:prstGeom>
          <a:solidFill>
            <a:schemeClr val="accent2"/>
          </a:solidFill>
          <a:ln/>
        </p:spPr>
      </p:sp>
      <p:sp>
        <p:nvSpPr>
          <p:cNvPr id="16" name="Shape 14"/>
          <p:cNvSpPr/>
          <p:nvPr/>
        </p:nvSpPr>
        <p:spPr>
          <a:xfrm>
            <a:off x="11036808" y="394106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313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٢٠٠</a:t>
            </a:r>
            <a:endParaRPr lang="ar-SA" sz="1300" dirty="0"/>
          </a:p>
        </p:txBody>
      </p:sp>
      <p:sp>
        <p:nvSpPr>
          <p:cNvPr id="18" name="Text 16"/>
          <p:cNvSpPr txBox="1"/>
          <p:nvPr/>
        </p:nvSpPr>
        <p:spPr>
          <a:xfrm>
            <a:off x="731520" y="381304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وَإِمَّا يَنزَغَنَّكَ مِنَ الشَّيْطَٰنِ نَزْغٌ فَاسْتَعِذْ بِاللَّهِ إِنَّهُ سَمِيعٌ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أصابك من الشيطان وسوسة تُغضبك فاستعذ بالله، إنه سميع عليم.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65776"/>
            <a:ext cx="548640" cy="548640"/>
          </a:xfrm>
          <a:prstGeom prst="star8">
            <a:avLst/>
          </a:prstGeom>
          <a:solidFill>
            <a:schemeClr val="accent2"/>
          </a:solidFill>
          <a:ln/>
        </p:spPr>
      </p:sp>
      <p:sp>
        <p:nvSpPr>
          <p:cNvPr id="21" name="Shape 19"/>
          <p:cNvSpPr/>
          <p:nvPr/>
        </p:nvSpPr>
        <p:spPr>
          <a:xfrm>
            <a:off x="11036808" y="5175504"/>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657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٢٠١</a:t>
            </a:r>
            <a:endParaRPr lang="ar-SA" sz="1300" dirty="0"/>
          </a:p>
        </p:txBody>
      </p:sp>
      <p:sp>
        <p:nvSpPr>
          <p:cNvPr id="23" name="Text 21"/>
          <p:cNvSpPr txBox="1"/>
          <p:nvPr/>
        </p:nvSpPr>
        <p:spPr>
          <a:xfrm>
            <a:off x="731520" y="50474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اتَّقَوْاْ إِذَا مَسَّهُمْ طَـٰئِفٌ مِّنَ الشَّيْطَٰنِ تَذَكَّرُواْ فَإِذَا هُم مُّبْصِرُونَ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المتقين إذا أصابهم وسوسة من الشيطان تذكّروا عقاب الله وثوابه، فإذا هم مُبصرون للحق فيرجعون.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٢٠٢ – ٢٠٤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٢٠٢</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وَإِخْوَٰنُهُمْ يَمُدُّونَهُمْ فِي الْغَيِّ ثُمَّ لَا يُقْصِرُونَ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وإخوان الشياطين من الكفار تزيدهم الشياطين في الضلال، ثم لا يتوقّفون.</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٢٠٣</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لَمْ تَأْتِهِم بِـَٔايَةٍ قَالُواْ لَوْلَا اجْتَبَيْتَهَا قُلْ إِنَّمَآ أَتَّبِعُ مَا يُوحَىٰ إِلَيَّ مِن رَّبِّي هَٰذَا بَصَآئِرُ مِن رَّبِّكُمْ وَهُدًى وَرَحْمَةٌ لِّقَوْمٍ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لم تأتهم بمعجزة طلبوها قالوا: هلّا اختلقتها! قل: إنما أتّبع ما يوحى إليّ من ربي، هذا القرآن بصائر من ربكم وهدى ورحمة لقوم يؤمنون.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٢٠٤</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قُرِئَ الْقُرْءَانُ فَاسْتَمِعُواْ لَهُ وَأَنصِتُواْ لَعَلَّكُمْ تُرْحَمُونَ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قُرئ القرآن فاستمعوا له وأنصتوا لعلكم تُرحمون.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الأعراف</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٢٠٥ – ٢٠٦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٢٠٥</a:t>
            </a:r>
            <a:endParaRPr lang="ar-SA" sz="13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رَّبَّكَ فِي نَفْسِكَ تَضَرُّعًا وَخِيفَةً وَدُونَ الْجَهْرِ مِنَ الْقَوْلِ بِالْغُدُوِّ وَالْأصَالِ وَلَا تَكُن مِّنَ الْغَٰفِلِينَ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ربك في نفسك متذلّلًا خائفًا، وبصوت ليس بالعالي، في الصباح والمساء، ولا تكن من الغافلين.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٢٠٦</a:t>
            </a:r>
            <a:endParaRPr lang="ar-SA" sz="13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عِندَ رَبِّكَ لَا يَسْتَكْبِرُونَ عَنْ عِبَادَتِهِ وَيُسَبِّحُونَهُ وَلَهُ يَسْجُدُونَ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الملائكة الذين عند ربك لا يتكبّرون عن عبادته، ويسبّحونه، وله يسجدون. وهنا موضع سجدة تلاوة.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pic>
        <p:nvPicPr>
          <p:cNvPr id="2" name="Image 0" descr="assets7/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7/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Al-Araf Tafsir">
  <a:themeElements>
    <a:clrScheme name="Al-Araf Tafsir">
      <a:dk1>
        <a:srgbClr val="29232F"/>
      </a:dk1>
      <a:lt1>
        <a:srgbClr val="FFFFFF"/>
      </a:lt1>
      <a:dk2>
        <a:srgbClr val="5B2C83"/>
      </a:dk2>
      <a:lt2>
        <a:srgbClr val="FAF7FC"/>
      </a:lt2>
      <a:accent1>
        <a:srgbClr val="5B2C83"/>
      </a:accent1>
      <a:accent2>
        <a:srgbClr val="C9A04A"/>
      </a:accent2>
      <a:accent3>
        <a:srgbClr val="7440A3"/>
      </a:accent3>
      <a:accent4>
        <a:srgbClr val="675F6E"/>
      </a:accent4>
      <a:accent5>
        <a:srgbClr val="EFE8F5"/>
      </a:accent5>
      <a:accent6>
        <a:srgbClr val="2F6B5E"/>
      </a:accent6>
      <a:hlink>
        <a:srgbClr val="7440A3"/>
      </a:hlink>
      <a:folHlink>
        <a:srgbClr val="675F6E"/>
      </a:folHlink>
    </a:clrScheme>
    <a:fontScheme name="Al-Araf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110</Slides>
  <Notes>110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110</vt:i4>
      </vt:variant>
    </vt:vector>
  </HeadingPairs>
  <TitlesOfParts>
    <vt:vector size="1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سورة الأعراف — مبسّط من تفسير ابن كثير</dc:title>
  <dc:subject>PptxGenJS Presentation</dc:subject>
  <dc:creator>معلم القرآن الكريم</dc:creator>
  <cp:lastModifiedBy>معلم القرآن الكريم</cp:lastModifiedBy>
  <cp:revision>1</cp:revision>
  <dcterms:created xsi:type="dcterms:W3CDTF">2026-10-03T22:09:25Z</dcterms:created>
  <dcterms:modified xsi:type="dcterms:W3CDTF">2026-10-03T22:09:25Z</dcterms:modified>
</cp:coreProperties>
</file>