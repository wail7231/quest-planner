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notesMasterIdLst>
    <p:notesMasterId r:id="rId8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021bee93-14fa-344a-96e7-862949e7abb8}">
          <p14:sldIdLst>
            <p14:sldId id="256"/>
            <p14:sldId id="257"/>
            <p14:sldId id="258"/>
            <p14:sldId id="259"/>
          </p14:sldIdLst>
        </p14:section>
        <p14:section name="1. الوفاء بالعقود وكمال الدين" id="{7ba0e34a-4510-cc95-1888-a71174d123ae}">
          <p14:sldIdLst>
            <p14:sldId id="260"/>
            <p14:sldId id="261"/>
            <p14:sldId id="262"/>
            <p14:sldId id="263"/>
            <p14:sldId id="264"/>
            <p14:sldId id="265"/>
          </p14:sldIdLst>
        </p14:section>
        <p14:section name="2. الطهارة والعدل" id="{d3bd5ac5-4b1a-606d-4075-04d658ee4ca6}">
          <p14:sldIdLst>
            <p14:sldId id="266"/>
            <p14:sldId id="267"/>
            <p14:sldId id="268"/>
            <p14:sldId id="269"/>
          </p14:sldIdLst>
        </p14:section>
        <p14:section name="3. مواثيق بني إسرائيل والأرض المقدّسة" id="{eea78e9d-c25d-baff-e5b3-3339888b2e7e}">
          <p14:sldIdLst>
            <p14:sldId id="270"/>
            <p14:sldId id="271"/>
            <p14:sldId id="272"/>
            <p14:sldId id="273"/>
            <p14:sldId id="274"/>
            <p14:sldId id="275"/>
            <p14:sldId id="276"/>
            <p14:sldId id="277"/>
            <p14:sldId id="278"/>
          </p14:sldIdLst>
        </p14:section>
        <p14:section name="4. قصة ابني آدم وحرمة النفس" id="{81b57380-53a4-9360-cacf-f5d1ade46154}">
          <p14:sldIdLst>
            <p14:sldId id="279"/>
            <p14:sldId id="280"/>
            <p14:sldId id="281"/>
            <p14:sldId id="282"/>
            <p14:sldId id="283"/>
            <p14:sldId id="284"/>
            <p14:sldId id="285"/>
            <p14:sldId id="286"/>
          </p14:sldIdLst>
        </p14:section>
        <p14:section name="5. الحكم بما أنزل الله" id="{b1c5b2a4-ce21-3634-2e73-d6d139065898}">
          <p14:sldIdLst>
            <p14:sldId id="287"/>
            <p14:sldId id="288"/>
            <p14:sldId id="289"/>
            <p14:sldId id="290"/>
            <p14:sldId id="291"/>
            <p14:sldId id="292"/>
            <p14:sldId id="293"/>
            <p14:sldId id="294"/>
          </p14:sldIdLst>
        </p14:section>
        <p14:section name="6. الولاء للمؤمنين" id="{100f97b6-f5bf-bc75-c65d-ffa1c460e166}">
          <p14:sldIdLst>
            <p14:sldId id="295"/>
            <p14:sldId id="296"/>
            <p14:sldId id="297"/>
            <p14:sldId id="298"/>
            <p14:sldId id="299"/>
            <p14:sldId id="300"/>
            <p14:sldId id="301"/>
            <p14:sldId id="302"/>
            <p14:sldId id="303"/>
            <p14:sldId id="304"/>
          </p14:sldIdLst>
        </p14:section>
        <p14:section name="7. تبليغ الرسالة وأحوال أهل الكتاب" id="{fc081943-a894-8144-e14c-4c2b19ab7431}">
          <p14:sldIdLst>
            <p14:sldId id="305"/>
            <p14:sldId id="306"/>
            <p14:sldId id="307"/>
            <p14:sldId id="308"/>
            <p14:sldId id="309"/>
            <p14:sldId id="310"/>
            <p14:sldId id="311"/>
            <p14:sldId id="312"/>
            <p14:sldId id="313"/>
            <p14:sldId id="314"/>
          </p14:sldIdLst>
        </p14:section>
        <p14:section name="8. الطيبات والأيمان وتحريم الخمر" id="{0a509055-89e9-788e-64ba-9595dce069cd}">
          <p14:sldIdLst>
            <p14:sldId id="315"/>
            <p14:sldId id="316"/>
            <p14:sldId id="317"/>
            <p14:sldId id="318"/>
            <p14:sldId id="319"/>
          </p14:sldIdLst>
        </p14:section>
        <p14:section name="9. الصيد في الإحرام وآداب السؤال" id="{eeca2a16-1ac7-76d2-db45-05626f7b2aa5}">
          <p14:sldIdLst>
            <p14:sldId id="320"/>
            <p14:sldId id="321"/>
            <p14:sldId id="322"/>
            <p14:sldId id="323"/>
            <p14:sldId id="324"/>
            <p14:sldId id="325"/>
            <p14:sldId id="326"/>
            <p14:sldId id="327"/>
            <p14:sldId id="328"/>
            <p14:sldId id="329"/>
          </p14:sldIdLst>
        </p14:section>
        <p14:section name="10. معجزات عيسى وقصة المائدة" id="{6dab409d-8bb0-6a0a-8d9f-a4fc75cf4056}">
          <p14:sldIdLst>
            <p14:sldId id="330"/>
            <p14:sldId id="331"/>
            <p14:sldId id="332"/>
            <p14:sldId id="333"/>
            <p14:sldId id="334"/>
            <p14:sldId id="335"/>
            <p14:sldId id="336"/>
            <p14:sldId id="337"/>
          </p14:sldIdLst>
        </p14:section>
        <p14:section name="الخاتمة" id="{3f093e3e-1365-2820-29d3-761327d410d4}">
          <p14:sldIdLst>
            <p14:sldId id="33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notesMaster" Target="notesMasters/notesMaster1.xml"/><Relationship Id="rId86" Type="http://schemas.openxmlformats.org/officeDocument/2006/relationships/presProps" Target="presProps.xml"/><Relationship Id="rId87" Type="http://schemas.openxmlformats.org/officeDocument/2006/relationships/viewProps" Target="viewProps.xml"/><Relationship Id="rId88" Type="http://schemas.openxmlformats.org/officeDocument/2006/relationships/theme" Target="theme/theme1.xml"/><Relationship Id="rId8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قسّمنا السورة إلى عشرة مقاطع موضوعية، في أول كل مقطع شريحة فيها سبب النزول ومقصد المقطع، ثم تفسير آياته بالترتيب.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الأمر العظيم الذي أُعلن في الآية 3 يوم عرفة؟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عدّد أعضاء الوضوء كما ذكرتها الآية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قال بنو إسرائيل لموسى حين أمرهم بدخول الأرض المقدّسة؟ وما عقوبتهم؟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الدرس الذي تعلّمه ابن آدم من الغراب؟ وما معنى الآية 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معنى أن القرآن «مهيمن» على الكتب السابقة؟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اذكر صفات القوم الذين يحبهم الله ويحبونه كما في الآية 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كان يحدث لأعين النجاشي وأصحابه عند سماع القرآن كما في الآية 83؟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كفّارة اليمين كما في الآية 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لماذا نهى الله عن كثرة السؤال في الآية 101؟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لماذا طلب الحواريون المائدة؟ وماذا قال عيسى يوم القيامة؟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5/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rtl="1" algn="ctr" indent="0" marL="0">
              <a:buNone/>
              <a:defRPr lang="en-US" sz="30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5/bg_intro.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3626968" y="603504"/>
            <a:ext cx="4937760" cy="987552"/>
          </a:xfrm>
          <a:prstGeom prst="rect">
            <a:avLst/>
          </a:prstGeom>
          <a:noFill/>
          <a:ln/>
        </p:spPr>
        <p:txBody>
          <a:bodyPr wrap="square" rtlCol="0"/>
          <a:lstStyle>
            <a:lvl1pPr rtl="1" algn="ctr" indent="0" marL="0">
              <a:buNone/>
              <a:defRPr lang="en-US" sz="4800" b="1" dirty="0">
                <a:solidFill>
                  <a:schemeClr val="accent2"/>
                </a:solidFill>
                <a:latin typeface="Sakkal Majalla" pitchFamily="34" charset="0"/>
                <a:ea typeface="Sakkal Majalla" pitchFamily="34" charset="-122"/>
                <a:cs typeface="Sakkal Majalla" pitchFamily="34" charset="-120"/>
              </a:defRPr>
            </a:lvl1pPr>
          </a:lstStyle>
          <a:p>
            <a:pPr algn="ctr"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5/bg_dark.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rtlCol="0"/>
          <a:lstStyle>
            <a:lvl1pPr rtl="1" algn="ctr" indent="0" marL="0">
              <a:buNone/>
              <a:defRPr lang="en-US" sz="64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image" Target="../media/image-83-2.png"/><Relationship Id="rId3" Type="http://schemas.openxmlformats.org/officeDocument/2006/relationships/slideLayout" Target="../slideLayouts/slideLayout4.xml"/><Relationship Id="rId4" Type="http://schemas.openxmlformats.org/officeDocument/2006/relationships/notesSlide" Target="../notesSlides/notesSlide8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5/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تفسير سورة المائدة</a:t>
            </a:r>
            <a:endParaRPr lang="en-US" sz="6400" dirty="0"/>
          </a:p>
        </p:txBody>
      </p:sp>
      <p:sp>
        <p:nvSpPr>
          <p:cNvPr id="4" name="Text 1"/>
          <p:cNvSpPr txBox="1"/>
          <p:nvPr/>
        </p:nvSpPr>
        <p:spPr>
          <a:xfrm>
            <a:off x="1097280" y="3657600"/>
            <a:ext cx="9997135" cy="502920"/>
          </a:xfrm>
          <a:prstGeom prst="rect">
            <a:avLst/>
          </a:prstGeom>
          <a:noFill/>
          <a:ln/>
        </p:spPr>
        <p:txBody>
          <a:bodyPr wrap="square" lIns="0" tIns="0" rIns="0" bIns="0" rtlCol="0" anchor="t"/>
          <a:lstStyle/>
          <a:p>
            <a:pPr rtl="1" algn="ctr" indent="0" marL="0">
              <a:buNone/>
            </a:pPr>
            <a:r>
              <a:rPr lang="ar-SA" altLang="en-US" sz="2400" b="1" dirty="0">
                <a:solidFill>
                  <a:schemeClr val="accent2"/>
                </a:solidFill>
              </a:rPr>
              <a:t>تفسيرٌ مبسّط لكل آية، مستفاد من تفسير الحافظ ابن كثير رحمه الله</a:t>
            </a:r>
            <a:endParaRPr lang="ar-SA" sz="2400" dirty="0"/>
          </a:p>
        </p:txBody>
      </p:sp>
      <p:pic>
        <p:nvPicPr>
          <p:cNvPr id="5" name="Image 1" descr="assets5/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rtl="1" algn="ctr" indent="0" marL="0">
              <a:buNone/>
            </a:pPr>
            <a:r>
              <a:rPr lang="ar-SA" altLang="en-US" sz="1800" dirty="0">
                <a:solidFill>
                  <a:schemeClr val="bg2"/>
                </a:solidFill>
              </a:rPr>
              <a:t>١٢٠ آية  •  مدنية  •  ١٠ مقاطع مع أسباب النزول</a:t>
            </a:r>
            <a:endParaRPr lang="ar-SA"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الدرس</a:t>
            </a:r>
            <a:endParaRPr lang="en-US" sz="3000" dirty="0"/>
          </a:p>
        </p:txBody>
      </p:sp>
      <p:sp>
        <p:nvSpPr>
          <p:cNvPr id="3" name="Shape 1"/>
          <p:cNvSpPr/>
          <p:nvPr/>
        </p:nvSpPr>
        <p:spPr>
          <a:xfrm>
            <a:off x="626364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6492240" y="1645920"/>
            <a:ext cx="48463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الإمام ابن كثير رحمه الله</a:t>
            </a:r>
            <a:endParaRPr lang="ar-SA" sz="2400" dirty="0"/>
          </a:p>
        </p:txBody>
      </p:sp>
      <p:sp>
        <p:nvSpPr>
          <p:cNvPr id="5" name="Text 3"/>
          <p:cNvSpPr txBox="1"/>
          <p:nvPr/>
        </p:nvSpPr>
        <p:spPr>
          <a:xfrm>
            <a:off x="6492240" y="2286000"/>
            <a:ext cx="4846320" cy="3566160"/>
          </a:xfrm>
          <a:prstGeom prst="rect">
            <a:avLst/>
          </a:prstGeom>
          <a:noFill/>
          <a:ln/>
        </p:spPr>
        <p:txBody>
          <a:bodyPr wrap="square" lIns="0" tIns="0" rIns="0" bIns="0" rtlCol="0" anchor="t"/>
          <a:lstStyle/>
          <a:p>
            <a:pPr rtl="1" algn="r" indent="0" marL="0">
              <a:spcAft>
                <a:spcPts val="1000"/>
              </a:spcAft>
              <a:buNone/>
            </a:pPr>
            <a:r>
              <a:rPr lang="ar-SA" altLang="en-US" sz="1600" b="1" dirty="0">
                <a:solidFill>
                  <a:schemeClr val="tx2"/>
                </a:solidFill>
              </a:rPr>
              <a:t>اسمه: </a:t>
            </a:r>
            <a:pPr rtl="1" algn="r" indent="0" marL="0">
              <a:spcAft>
                <a:spcPts val="1000"/>
              </a:spcAft>
              <a:buNone/>
            </a:pPr>
            <a:r>
              <a:rPr lang="ar-SA" altLang="en-US" sz="1600" dirty="0">
                <a:solidFill>
                  <a:schemeClr val="tx1"/>
                </a:solidFill>
              </a:rPr>
              <a:t>إسماعيل بن عمر بن كثير الدمشقي</a:t>
            </a:r>
            <a:endParaRPr lang="ar-SA" sz="1600" dirty="0"/>
          </a:p>
          <a:p>
            <a:pPr rtl="1" algn="r" indent="0" marL="0">
              <a:spcAft>
                <a:spcPts val="1000"/>
              </a:spcAft>
              <a:buNone/>
            </a:pPr>
            <a:r>
              <a:rPr lang="ar-SA" altLang="en-US" sz="1600" b="1" dirty="0">
                <a:solidFill>
                  <a:schemeClr val="tx2"/>
                </a:solidFill>
              </a:rPr>
              <a:t>عاش: </a:t>
            </a:r>
            <a:pPr rtl="1" algn="r" indent="0" marL="0">
              <a:spcAft>
                <a:spcPts val="1000"/>
              </a:spcAft>
              <a:buNone/>
            </a:pPr>
            <a:r>
              <a:rPr lang="ar-SA" altLang="en-US" sz="1600" dirty="0">
                <a:solidFill>
                  <a:schemeClr val="tx1"/>
                </a:solidFill>
              </a:rPr>
              <a:t>نحو ٧٠١ – ٧٧٤ هـ في بلاد الشام</a:t>
            </a:r>
            <a:endParaRPr lang="ar-SA" sz="1600" dirty="0"/>
          </a:p>
          <a:p>
            <a:pPr rtl="1" algn="r" indent="0" marL="0">
              <a:spcAft>
                <a:spcPts val="1000"/>
              </a:spcAft>
              <a:buNone/>
            </a:pPr>
            <a:r>
              <a:rPr lang="ar-SA" altLang="en-US" sz="1600" b="1" dirty="0">
                <a:solidFill>
                  <a:schemeClr val="tx2"/>
                </a:solidFill>
              </a:rPr>
              <a:t>من شيوخه: </a:t>
            </a:r>
            <a:pPr rtl="1" algn="r" indent="0" marL="0">
              <a:spcAft>
                <a:spcPts val="1000"/>
              </a:spcAft>
              <a:buNone/>
            </a:pPr>
            <a:r>
              <a:rPr lang="ar-SA" altLang="en-US" sz="1600" dirty="0">
                <a:solidFill>
                  <a:schemeClr val="tx1"/>
                </a:solidFill>
              </a:rPr>
              <a:t>ابن تيمية، والمِزّي، والذهبي</a:t>
            </a:r>
            <a:endParaRPr lang="ar-SA" sz="1600" dirty="0"/>
          </a:p>
          <a:p>
            <a:pPr rtl="1" algn="r" indent="0" marL="0">
              <a:spcAft>
                <a:spcPts val="1000"/>
              </a:spcAft>
              <a:buNone/>
            </a:pPr>
            <a:r>
              <a:rPr lang="ar-SA" altLang="en-US" sz="1600" b="1" dirty="0">
                <a:solidFill>
                  <a:schemeClr val="tx2"/>
                </a:solidFill>
              </a:rPr>
              <a:t>كتابه: </a:t>
            </a:r>
            <a:pPr rtl="1" algn="r" indent="0" marL="0">
              <a:spcAft>
                <a:spcPts val="1000"/>
              </a:spcAft>
              <a:buNone/>
            </a:pPr>
            <a:r>
              <a:rPr lang="ar-SA" altLang="en-US" sz="1600" dirty="0">
                <a:solidFill>
                  <a:schemeClr val="tx1"/>
                </a:solidFill>
              </a:rPr>
              <a:t>«تفسير القرآن العظيم» من أشهر كتب التفسير</a:t>
            </a:r>
            <a:endParaRPr lang="ar-SA" sz="1600" dirty="0"/>
          </a:p>
          <a:p>
            <a:pPr rtl="1" algn="r" indent="0" marL="0">
              <a:spcAft>
                <a:spcPts val="1000"/>
              </a:spcAft>
              <a:buNone/>
            </a:pPr>
            <a:r>
              <a:rPr lang="ar-SA" altLang="en-US" sz="1600" b="1" dirty="0">
                <a:solidFill>
                  <a:schemeClr val="tx2"/>
                </a:solidFill>
              </a:rPr>
              <a:t>منهجه: </a:t>
            </a:r>
            <a:pPr rtl="1" algn="r" indent="0" marL="0">
              <a:spcAft>
                <a:spcPts val="1000"/>
              </a:spcAft>
              <a:buNone/>
            </a:pPr>
            <a:r>
              <a:rPr lang="ar-SA" altLang="en-US" sz="1600" dirty="0">
                <a:solidFill>
                  <a:schemeClr val="tx1"/>
                </a:solidFill>
              </a:rPr>
              <a:t>يفسّر القرآن بالقرآن، ثم بالسنة، ثم بأقوال الصحابة والتابعين</a:t>
            </a:r>
            <a:endParaRPr lang="ar-SA" sz="1600" dirty="0"/>
          </a:p>
        </p:txBody>
      </p:sp>
      <p:sp>
        <p:nvSpPr>
          <p:cNvPr id="6" name="Text 4"/>
          <p:cNvSpPr txBox="1"/>
          <p:nvPr/>
        </p:nvSpPr>
        <p:spPr>
          <a:xfrm>
            <a:off x="685800" y="1600200"/>
            <a:ext cx="53035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كيف نقرأ الشرائح؟</a:t>
            </a:r>
            <a:endParaRPr lang="ar-SA" sz="2400" dirty="0"/>
          </a:p>
        </p:txBody>
      </p:sp>
      <p:sp>
        <p:nvSpPr>
          <p:cNvPr id="7" name="Shape 5"/>
          <p:cNvSpPr/>
          <p:nvPr/>
        </p:nvSpPr>
        <p:spPr>
          <a:xfrm>
            <a:off x="5349240" y="2331720"/>
            <a:ext cx="566928" cy="566928"/>
          </a:xfrm>
          <a:prstGeom prst="star8">
            <a:avLst/>
          </a:prstGeom>
          <a:solidFill>
            <a:schemeClr val="accent2"/>
          </a:solidFill>
          <a:ln/>
        </p:spPr>
      </p:sp>
      <p:sp>
        <p:nvSpPr>
          <p:cNvPr id="8" name="Shape 6"/>
          <p:cNvSpPr/>
          <p:nvPr/>
        </p:nvSpPr>
        <p:spPr>
          <a:xfrm>
            <a:off x="54626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5349240" y="2331720"/>
            <a:ext cx="566928" cy="566928"/>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10" name="Text 8"/>
          <p:cNvSpPr txBox="1"/>
          <p:nvPr/>
        </p:nvSpPr>
        <p:spPr>
          <a:xfrm>
            <a:off x="685800" y="2386584"/>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رقم الآية داخل النجمة الذهبية</a:t>
            </a:r>
            <a:endParaRPr lang="ar-SA" sz="1700" dirty="0"/>
          </a:p>
        </p:txBody>
      </p:sp>
      <p:sp>
        <p:nvSpPr>
          <p:cNvPr id="11" name="Shape 9"/>
          <p:cNvSpPr/>
          <p:nvPr/>
        </p:nvSpPr>
        <p:spPr>
          <a:xfrm>
            <a:off x="54223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685800" y="3319272"/>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نص الآية باللون الأصفر العسلي</a:t>
            </a:r>
            <a:endParaRPr lang="ar-SA" sz="1700" dirty="0"/>
          </a:p>
        </p:txBody>
      </p:sp>
      <p:sp>
        <p:nvSpPr>
          <p:cNvPr id="13" name="Shape 11"/>
          <p:cNvSpPr/>
          <p:nvPr/>
        </p:nvSpPr>
        <p:spPr>
          <a:xfrm>
            <a:off x="54223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685800" y="4251960"/>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تفسير الآية بلغة سهلة تحتها مباشرة</a:t>
            </a:r>
            <a:endParaRPr lang="ar-SA" sz="1700" dirty="0"/>
          </a:p>
        </p:txBody>
      </p:sp>
      <p:sp>
        <p:nvSpPr>
          <p:cNvPr id="15" name="Shape 13"/>
          <p:cNvSpPr/>
          <p:nvPr/>
        </p:nvSpPr>
        <p:spPr>
          <a:xfrm>
            <a:off x="54223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685800" y="5184648"/>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في أول كل سورة: سبب النزول ومقصد السورة</a:t>
            </a:r>
            <a:endParaRPr lang="ar-SA" sz="17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سورة المائدة</a:t>
            </a:r>
            <a:endParaRPr lang="en-US" sz="3000" dirty="0"/>
          </a:p>
        </p:txBody>
      </p:sp>
      <p:sp>
        <p:nvSpPr>
          <p:cNvPr id="3" name="Shape 1"/>
          <p:cNvSpPr/>
          <p:nvPr/>
        </p:nvSpPr>
        <p:spPr>
          <a:xfrm>
            <a:off x="8031175" y="1463040"/>
            <a:ext cx="3474720" cy="4572000"/>
          </a:xfrm>
          <a:prstGeom prst="roundRect">
            <a:avLst>
              <a:gd name="adj" fmla="val 3947"/>
            </a:avLst>
          </a:prstGeom>
          <a:solidFill>
            <a:schemeClr val="accent5"/>
          </a:solidFill>
          <a:ln w="15875">
            <a:solidFill>
              <a:schemeClr val="accent2"/>
            </a:solidFill>
            <a:prstDash val="solid"/>
          </a:ln>
        </p:spPr>
      </p:sp>
      <p:sp>
        <p:nvSpPr>
          <p:cNvPr id="4" name="Shape 2"/>
          <p:cNvSpPr/>
          <p:nvPr/>
        </p:nvSpPr>
        <p:spPr>
          <a:xfrm>
            <a:off x="9402775" y="1737360"/>
            <a:ext cx="731520" cy="731520"/>
          </a:xfrm>
          <a:prstGeom prst="star8">
            <a:avLst/>
          </a:prstGeom>
          <a:solidFill>
            <a:schemeClr val="accent2"/>
          </a:solidFill>
          <a:ln/>
        </p:spPr>
      </p:sp>
      <p:sp>
        <p:nvSpPr>
          <p:cNvPr id="5" name="Shape 3"/>
          <p:cNvSpPr/>
          <p:nvPr/>
        </p:nvSpPr>
        <p:spPr>
          <a:xfrm>
            <a:off x="9549079" y="1883664"/>
            <a:ext cx="438912" cy="438912"/>
          </a:xfrm>
          <a:prstGeom prst="ellipse">
            <a:avLst/>
          </a:prstGeom>
          <a:solidFill>
            <a:schemeClr val="bg2"/>
          </a:solidFill>
          <a:ln w="19050">
            <a:solidFill>
              <a:schemeClr val="tx2"/>
            </a:solidFill>
            <a:prstDash val="solid"/>
          </a:ln>
        </p:spPr>
      </p:sp>
      <p:sp>
        <p:nvSpPr>
          <p:cNvPr id="6" name="Text 4"/>
          <p:cNvSpPr txBox="1"/>
          <p:nvPr/>
        </p:nvSpPr>
        <p:spPr>
          <a:xfrm>
            <a:off x="9402775" y="173736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tx2"/>
                </a:solidFill>
                <a:latin typeface="Arial" pitchFamily="34" charset="0"/>
                <a:ea typeface="Arial" pitchFamily="34" charset="-122"/>
                <a:cs typeface="Arial" pitchFamily="34" charset="-120"/>
              </a:rPr>
              <a:t>١</a:t>
            </a:r>
            <a:endParaRPr lang="ar-SA" sz="1800" dirty="0"/>
          </a:p>
        </p:txBody>
      </p:sp>
      <p:sp>
        <p:nvSpPr>
          <p:cNvPr id="7" name="Text 5"/>
          <p:cNvSpPr txBox="1"/>
          <p:nvPr/>
        </p:nvSpPr>
        <p:spPr>
          <a:xfrm>
            <a:off x="8259775" y="2651760"/>
            <a:ext cx="3017520" cy="548640"/>
          </a:xfrm>
          <a:prstGeom prst="rect">
            <a:avLst/>
          </a:prstGeom>
          <a:noFill/>
          <a:ln/>
        </p:spPr>
        <p:txBody>
          <a:bodyPr wrap="square" lIns="0" tIns="0" rIns="0" bIns="0" rtlCol="0" anchor="t"/>
          <a:lstStyle/>
          <a:p>
            <a:pPr rtl="1" algn="ct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آخر ما نزل</a:t>
            </a:r>
            <a:endParaRPr lang="ar-SA" sz="2400" dirty="0"/>
          </a:p>
        </p:txBody>
      </p:sp>
      <p:sp>
        <p:nvSpPr>
          <p:cNvPr id="8" name="Text 6"/>
          <p:cNvSpPr txBox="1"/>
          <p:nvPr/>
        </p:nvSpPr>
        <p:spPr>
          <a:xfrm>
            <a:off x="8305495" y="3291840"/>
            <a:ext cx="2926080" cy="2560320"/>
          </a:xfrm>
          <a:prstGeom prst="rect">
            <a:avLst/>
          </a:prstGeom>
          <a:noFill/>
          <a:ln/>
        </p:spPr>
        <p:txBody>
          <a:bodyPr wrap="square" lIns="0" tIns="0" rIns="0" bIns="0" rtlCol="0" anchor="t"/>
          <a:lstStyle/>
          <a:p>
            <a:pPr rtl="1" algn="ctr" indent="0" marL="0">
              <a:lnSpc>
                <a:spcPct val="115000"/>
              </a:lnSpc>
              <a:buNone/>
            </a:pPr>
            <a:r>
              <a:rPr lang="ar-SA" altLang="en-US" sz="1600" dirty="0">
                <a:solidFill>
                  <a:schemeClr val="tx1"/>
                </a:solidFill>
              </a:rPr>
              <a:t>قالت عائشة رضي الله عنها: «إنّ المائدة آخر سورة نزلت، فما وجدتم فيها من حلال فاستحِلّوه، وما وجدتم فيها من حرام فحرّموه» (رواه أحمد والحاكم).</a:t>
            </a:r>
            <a:endParaRPr lang="ar-SA" sz="1600" dirty="0"/>
          </a:p>
        </p:txBody>
      </p:sp>
      <p:sp>
        <p:nvSpPr>
          <p:cNvPr id="9" name="Shape 7"/>
          <p:cNvSpPr/>
          <p:nvPr/>
        </p:nvSpPr>
        <p:spPr>
          <a:xfrm>
            <a:off x="4282135" y="1463040"/>
            <a:ext cx="3474720" cy="4572000"/>
          </a:xfrm>
          <a:prstGeom prst="roundRect">
            <a:avLst>
              <a:gd name="adj" fmla="val 3947"/>
            </a:avLst>
          </a:prstGeom>
          <a:solidFill>
            <a:schemeClr val="accent5"/>
          </a:solidFill>
          <a:ln w="15875">
            <a:solidFill>
              <a:schemeClr val="accent2"/>
            </a:solidFill>
            <a:prstDash val="solid"/>
          </a:ln>
        </p:spPr>
      </p:sp>
      <p:sp>
        <p:nvSpPr>
          <p:cNvPr id="10" name="Shape 8"/>
          <p:cNvSpPr/>
          <p:nvPr/>
        </p:nvSpPr>
        <p:spPr>
          <a:xfrm>
            <a:off x="5653735" y="1737360"/>
            <a:ext cx="731520" cy="731520"/>
          </a:xfrm>
          <a:prstGeom prst="star8">
            <a:avLst/>
          </a:prstGeom>
          <a:solidFill>
            <a:schemeClr val="accent2"/>
          </a:solidFill>
          <a:ln/>
        </p:spPr>
      </p:sp>
      <p:sp>
        <p:nvSpPr>
          <p:cNvPr id="11" name="Shape 9"/>
          <p:cNvSpPr/>
          <p:nvPr/>
        </p:nvSpPr>
        <p:spPr>
          <a:xfrm>
            <a:off x="5800039" y="1883664"/>
            <a:ext cx="438912" cy="438912"/>
          </a:xfrm>
          <a:prstGeom prst="ellipse">
            <a:avLst/>
          </a:prstGeom>
          <a:solidFill>
            <a:schemeClr val="bg2"/>
          </a:solidFill>
          <a:ln w="19050">
            <a:solidFill>
              <a:schemeClr val="tx2"/>
            </a:solidFill>
            <a:prstDash val="solid"/>
          </a:ln>
        </p:spPr>
      </p:sp>
      <p:sp>
        <p:nvSpPr>
          <p:cNvPr id="12" name="Text 10"/>
          <p:cNvSpPr txBox="1"/>
          <p:nvPr/>
        </p:nvSpPr>
        <p:spPr>
          <a:xfrm>
            <a:off x="5653735" y="173736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tx2"/>
                </a:solidFill>
                <a:latin typeface="Arial" pitchFamily="34" charset="0"/>
                <a:ea typeface="Arial" pitchFamily="34" charset="-122"/>
                <a:cs typeface="Arial" pitchFamily="34" charset="-120"/>
              </a:rPr>
              <a:t>٢</a:t>
            </a:r>
            <a:endParaRPr lang="ar-SA" sz="1800" dirty="0"/>
          </a:p>
        </p:txBody>
      </p:sp>
      <p:sp>
        <p:nvSpPr>
          <p:cNvPr id="13" name="Text 11"/>
          <p:cNvSpPr txBox="1"/>
          <p:nvPr/>
        </p:nvSpPr>
        <p:spPr>
          <a:xfrm>
            <a:off x="4510735" y="2651760"/>
            <a:ext cx="3017520" cy="548640"/>
          </a:xfrm>
          <a:prstGeom prst="rect">
            <a:avLst/>
          </a:prstGeom>
          <a:noFill/>
          <a:ln/>
        </p:spPr>
        <p:txBody>
          <a:bodyPr wrap="square" lIns="0" tIns="0" rIns="0" bIns="0" rtlCol="0" anchor="t"/>
          <a:lstStyle/>
          <a:p>
            <a:pPr rtl="1" algn="ct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يوم اكتمل الدين</a:t>
            </a:r>
            <a:endParaRPr lang="ar-SA" sz="2400" dirty="0"/>
          </a:p>
        </p:txBody>
      </p:sp>
      <p:sp>
        <p:nvSpPr>
          <p:cNvPr id="14" name="Text 12"/>
          <p:cNvSpPr txBox="1"/>
          <p:nvPr/>
        </p:nvSpPr>
        <p:spPr>
          <a:xfrm>
            <a:off x="4556455" y="3291840"/>
            <a:ext cx="2926080" cy="2560320"/>
          </a:xfrm>
          <a:prstGeom prst="rect">
            <a:avLst/>
          </a:prstGeom>
          <a:noFill/>
          <a:ln/>
        </p:spPr>
        <p:txBody>
          <a:bodyPr wrap="square" lIns="0" tIns="0" rIns="0" bIns="0" rtlCol="0" anchor="t"/>
          <a:lstStyle/>
          <a:p>
            <a:pPr rtl="1" algn="ctr" indent="0" marL="0">
              <a:lnSpc>
                <a:spcPct val="115000"/>
              </a:lnSpc>
              <a:buNone/>
            </a:pPr>
            <a:r>
              <a:rPr lang="ar-SA" altLang="en-US" sz="1600" dirty="0">
                <a:solidFill>
                  <a:schemeClr val="tx1"/>
                </a:solidFill>
              </a:rPr>
              <a:t>فيها قوله تعالى: ﴿اليوم أكملت لكم دينكم﴾ نزلت يوم عرفة في حجة الوداع، والنبي صلى الله عليه وسلم واقف بعرفة (رواه البخاري ومسلم).</a:t>
            </a:r>
            <a:endParaRPr lang="ar-SA" sz="1600" dirty="0"/>
          </a:p>
        </p:txBody>
      </p:sp>
      <p:sp>
        <p:nvSpPr>
          <p:cNvPr id="15" name="Shape 13"/>
          <p:cNvSpPr/>
          <p:nvPr/>
        </p:nvSpPr>
        <p:spPr>
          <a:xfrm>
            <a:off x="533095" y="1463040"/>
            <a:ext cx="3474720" cy="4572000"/>
          </a:xfrm>
          <a:prstGeom prst="roundRect">
            <a:avLst>
              <a:gd name="adj" fmla="val 3947"/>
            </a:avLst>
          </a:prstGeom>
          <a:solidFill>
            <a:schemeClr val="accent5"/>
          </a:solidFill>
          <a:ln w="15875">
            <a:solidFill>
              <a:schemeClr val="accent2"/>
            </a:solidFill>
            <a:prstDash val="solid"/>
          </a:ln>
        </p:spPr>
      </p:sp>
      <p:sp>
        <p:nvSpPr>
          <p:cNvPr id="16" name="Shape 14"/>
          <p:cNvSpPr/>
          <p:nvPr/>
        </p:nvSpPr>
        <p:spPr>
          <a:xfrm>
            <a:off x="1904695" y="1737360"/>
            <a:ext cx="731520" cy="731520"/>
          </a:xfrm>
          <a:prstGeom prst="star8">
            <a:avLst/>
          </a:prstGeom>
          <a:solidFill>
            <a:schemeClr val="accent2"/>
          </a:solidFill>
          <a:ln/>
        </p:spPr>
      </p:sp>
      <p:sp>
        <p:nvSpPr>
          <p:cNvPr id="17" name="Shape 15"/>
          <p:cNvSpPr/>
          <p:nvPr/>
        </p:nvSpPr>
        <p:spPr>
          <a:xfrm>
            <a:off x="2050999" y="1883664"/>
            <a:ext cx="438912" cy="438912"/>
          </a:xfrm>
          <a:prstGeom prst="ellipse">
            <a:avLst/>
          </a:prstGeom>
          <a:solidFill>
            <a:schemeClr val="bg2"/>
          </a:solidFill>
          <a:ln w="19050">
            <a:solidFill>
              <a:schemeClr val="tx2"/>
            </a:solidFill>
            <a:prstDash val="solid"/>
          </a:ln>
        </p:spPr>
      </p:sp>
      <p:sp>
        <p:nvSpPr>
          <p:cNvPr id="18" name="Text 16"/>
          <p:cNvSpPr txBox="1"/>
          <p:nvPr/>
        </p:nvSpPr>
        <p:spPr>
          <a:xfrm>
            <a:off x="1904695" y="173736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tx2"/>
                </a:solidFill>
                <a:latin typeface="Arial" pitchFamily="34" charset="0"/>
                <a:ea typeface="Arial" pitchFamily="34" charset="-122"/>
                <a:cs typeface="Arial" pitchFamily="34" charset="-120"/>
              </a:rPr>
              <a:t>٣</a:t>
            </a:r>
            <a:endParaRPr lang="ar-SA" sz="1800" dirty="0"/>
          </a:p>
        </p:txBody>
      </p:sp>
      <p:sp>
        <p:nvSpPr>
          <p:cNvPr id="19" name="Text 17"/>
          <p:cNvSpPr txBox="1"/>
          <p:nvPr/>
        </p:nvSpPr>
        <p:spPr>
          <a:xfrm>
            <a:off x="761695" y="2651760"/>
            <a:ext cx="3017520" cy="548640"/>
          </a:xfrm>
          <a:prstGeom prst="rect">
            <a:avLst/>
          </a:prstGeom>
          <a:noFill/>
          <a:ln/>
        </p:spPr>
        <p:txBody>
          <a:bodyPr wrap="square" lIns="0" tIns="0" rIns="0" bIns="0" rtlCol="0" anchor="t"/>
          <a:lstStyle/>
          <a:p>
            <a:pPr rtl="1" algn="ct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السورة في سطور</a:t>
            </a:r>
            <a:endParaRPr lang="ar-SA" sz="2400" dirty="0"/>
          </a:p>
        </p:txBody>
      </p:sp>
      <p:sp>
        <p:nvSpPr>
          <p:cNvPr id="20" name="Text 18"/>
          <p:cNvSpPr txBox="1"/>
          <p:nvPr/>
        </p:nvSpPr>
        <p:spPr>
          <a:xfrm>
            <a:off x="807415" y="3291840"/>
            <a:ext cx="2926080" cy="2560320"/>
          </a:xfrm>
          <a:prstGeom prst="rect">
            <a:avLst/>
          </a:prstGeom>
          <a:noFill/>
          <a:ln/>
        </p:spPr>
        <p:txBody>
          <a:bodyPr wrap="square" lIns="0" tIns="0" rIns="0" bIns="0" rtlCol="0" anchor="t"/>
          <a:lstStyle/>
          <a:p>
            <a:pPr rtl="1" algn="ctr" indent="0" marL="0">
              <a:lnSpc>
                <a:spcPct val="115000"/>
              </a:lnSpc>
              <a:buNone/>
            </a:pPr>
            <a:r>
              <a:rPr lang="ar-SA" altLang="en-US" sz="1600" dirty="0">
                <a:solidFill>
                  <a:schemeClr val="tx1"/>
                </a:solidFill>
              </a:rPr>
              <a:t>١٢٠ آية، مدنية، وهي الخامسة في ترتيب المصحف. سُمّيت «المائدة» لقصة المائدة التي طلبها الحواريون من عيسى عليه السلام.</a:t>
            </a:r>
            <a:endParaRPr lang="ar-SA" sz="16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مقاطع السورة</a:t>
            </a:r>
            <a:endParaRPr lang="en-US" sz="30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rtl="1" algn="ctr" indent="0" marL="0">
              <a:buNone/>
            </a:pPr>
            <a:r>
              <a:rPr lang="ar-SA" altLang="en-US" sz="1700" dirty="0">
                <a:solidFill>
                  <a:schemeClr val="accent4"/>
                </a:solidFill>
              </a:rPr>
              <a:t>قسّمنا السورة إلى عشرة مقاطع بحسب موضوعاتها، لنفهمها خطوة خطوة</a:t>
            </a:r>
            <a:endParaRPr lang="ar-SA" sz="1700" dirty="0"/>
          </a:p>
        </p:txBody>
      </p:sp>
      <p:sp>
        <p:nvSpPr>
          <p:cNvPr id="4" name="Shape 2"/>
          <p:cNvSpPr/>
          <p:nvPr/>
        </p:nvSpPr>
        <p:spPr>
          <a:xfrm>
            <a:off x="6233008" y="1828800"/>
            <a:ext cx="5257800" cy="749808"/>
          </a:xfrm>
          <a:prstGeom prst="roundRect">
            <a:avLst>
              <a:gd name="adj" fmla="val 14634"/>
            </a:avLst>
          </a:prstGeom>
          <a:solidFill>
            <a:schemeClr val="bg1"/>
          </a:solidFill>
          <a:ln w="12700">
            <a:solidFill>
              <a:schemeClr val="accent2"/>
            </a:solidFill>
            <a:prstDash val="solid"/>
          </a:ln>
        </p:spPr>
      </p:sp>
      <p:sp>
        <p:nvSpPr>
          <p:cNvPr id="5" name="Shape 3"/>
          <p:cNvSpPr/>
          <p:nvPr/>
        </p:nvSpPr>
        <p:spPr>
          <a:xfrm>
            <a:off x="10805008" y="1938528"/>
            <a:ext cx="530352" cy="530352"/>
          </a:xfrm>
          <a:prstGeom prst="star8">
            <a:avLst/>
          </a:prstGeom>
          <a:solidFill>
            <a:schemeClr val="accent2"/>
          </a:solidFill>
          <a:ln/>
        </p:spPr>
      </p:sp>
      <p:sp>
        <p:nvSpPr>
          <p:cNvPr id="6" name="Shape 4"/>
          <p:cNvSpPr/>
          <p:nvPr/>
        </p:nvSpPr>
        <p:spPr>
          <a:xfrm>
            <a:off x="10911078" y="2044598"/>
            <a:ext cx="318211" cy="318211"/>
          </a:xfrm>
          <a:prstGeom prst="ellipse">
            <a:avLst/>
          </a:prstGeom>
          <a:solidFill>
            <a:schemeClr val="bg2"/>
          </a:solidFill>
          <a:ln w="19050">
            <a:solidFill>
              <a:schemeClr val="tx2"/>
            </a:solidFill>
            <a:prstDash val="solid"/>
          </a:ln>
        </p:spPr>
      </p:sp>
      <p:sp>
        <p:nvSpPr>
          <p:cNvPr id="7" name="Text 5"/>
          <p:cNvSpPr txBox="1"/>
          <p:nvPr/>
        </p:nvSpPr>
        <p:spPr>
          <a:xfrm>
            <a:off x="10805008" y="193852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١</a:t>
            </a:r>
            <a:endParaRPr lang="ar-SA" sz="1400" dirty="0"/>
          </a:p>
        </p:txBody>
      </p:sp>
      <p:sp>
        <p:nvSpPr>
          <p:cNvPr id="8" name="Text 6"/>
          <p:cNvSpPr txBox="1"/>
          <p:nvPr/>
        </p:nvSpPr>
        <p:spPr>
          <a:xfrm>
            <a:off x="6415888" y="190195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الوفاء بالعقود وكمال الدين</a:t>
            </a:r>
            <a:endParaRPr lang="ar-SA" sz="1700" dirty="0"/>
          </a:p>
        </p:txBody>
      </p:sp>
      <p:sp>
        <p:nvSpPr>
          <p:cNvPr id="9" name="Text 7"/>
          <p:cNvSpPr txBox="1"/>
          <p:nvPr/>
        </p:nvSpPr>
        <p:spPr>
          <a:xfrm>
            <a:off x="6415888" y="226771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١ – ٥</a:t>
            </a:r>
            <a:endParaRPr lang="ar-SA" sz="1300" dirty="0"/>
          </a:p>
        </p:txBody>
      </p:sp>
      <p:sp>
        <p:nvSpPr>
          <p:cNvPr id="10" name="Shape 8"/>
          <p:cNvSpPr/>
          <p:nvPr/>
        </p:nvSpPr>
        <p:spPr>
          <a:xfrm>
            <a:off x="700888" y="1828800"/>
            <a:ext cx="5257800" cy="749808"/>
          </a:xfrm>
          <a:prstGeom prst="roundRect">
            <a:avLst>
              <a:gd name="adj" fmla="val 14634"/>
            </a:avLst>
          </a:prstGeom>
          <a:solidFill>
            <a:schemeClr val="accent5"/>
          </a:solidFill>
          <a:ln w="12700">
            <a:solidFill>
              <a:schemeClr val="accent2"/>
            </a:solidFill>
            <a:prstDash val="solid"/>
          </a:ln>
        </p:spPr>
      </p:sp>
      <p:sp>
        <p:nvSpPr>
          <p:cNvPr id="11" name="Shape 9"/>
          <p:cNvSpPr/>
          <p:nvPr/>
        </p:nvSpPr>
        <p:spPr>
          <a:xfrm>
            <a:off x="5272888" y="1938528"/>
            <a:ext cx="530352" cy="530352"/>
          </a:xfrm>
          <a:prstGeom prst="star8">
            <a:avLst/>
          </a:prstGeom>
          <a:solidFill>
            <a:schemeClr val="accent2"/>
          </a:solidFill>
          <a:ln/>
        </p:spPr>
      </p:sp>
      <p:sp>
        <p:nvSpPr>
          <p:cNvPr id="12" name="Shape 10"/>
          <p:cNvSpPr/>
          <p:nvPr/>
        </p:nvSpPr>
        <p:spPr>
          <a:xfrm>
            <a:off x="5378958" y="2044598"/>
            <a:ext cx="318211" cy="318211"/>
          </a:xfrm>
          <a:prstGeom prst="ellipse">
            <a:avLst/>
          </a:prstGeom>
          <a:solidFill>
            <a:schemeClr val="bg2"/>
          </a:solidFill>
          <a:ln w="19050">
            <a:solidFill>
              <a:schemeClr val="tx2"/>
            </a:solidFill>
            <a:prstDash val="solid"/>
          </a:ln>
        </p:spPr>
      </p:sp>
      <p:sp>
        <p:nvSpPr>
          <p:cNvPr id="13" name="Text 11"/>
          <p:cNvSpPr txBox="1"/>
          <p:nvPr/>
        </p:nvSpPr>
        <p:spPr>
          <a:xfrm>
            <a:off x="5272888" y="193852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٢</a:t>
            </a:r>
            <a:endParaRPr lang="ar-SA" sz="1400" dirty="0"/>
          </a:p>
        </p:txBody>
      </p:sp>
      <p:sp>
        <p:nvSpPr>
          <p:cNvPr id="14" name="Text 12"/>
          <p:cNvSpPr txBox="1"/>
          <p:nvPr/>
        </p:nvSpPr>
        <p:spPr>
          <a:xfrm>
            <a:off x="883768" y="190195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الطهارة والعدل</a:t>
            </a:r>
            <a:endParaRPr lang="ar-SA" sz="1700" dirty="0"/>
          </a:p>
        </p:txBody>
      </p:sp>
      <p:sp>
        <p:nvSpPr>
          <p:cNvPr id="15" name="Text 13"/>
          <p:cNvSpPr txBox="1"/>
          <p:nvPr/>
        </p:nvSpPr>
        <p:spPr>
          <a:xfrm>
            <a:off x="883768" y="226771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٦ – ١١</a:t>
            </a:r>
            <a:endParaRPr lang="ar-SA" sz="1300" dirty="0"/>
          </a:p>
        </p:txBody>
      </p:sp>
      <p:sp>
        <p:nvSpPr>
          <p:cNvPr id="16" name="Shape 14"/>
          <p:cNvSpPr/>
          <p:nvPr/>
        </p:nvSpPr>
        <p:spPr>
          <a:xfrm>
            <a:off x="6233008" y="2697480"/>
            <a:ext cx="5257800" cy="749808"/>
          </a:xfrm>
          <a:prstGeom prst="roundRect">
            <a:avLst>
              <a:gd name="adj" fmla="val 14634"/>
            </a:avLst>
          </a:prstGeom>
          <a:solidFill>
            <a:schemeClr val="bg1"/>
          </a:solidFill>
          <a:ln w="12700">
            <a:solidFill>
              <a:schemeClr val="accent2"/>
            </a:solidFill>
            <a:prstDash val="solid"/>
          </a:ln>
        </p:spPr>
      </p:sp>
      <p:sp>
        <p:nvSpPr>
          <p:cNvPr id="17" name="Shape 15"/>
          <p:cNvSpPr/>
          <p:nvPr/>
        </p:nvSpPr>
        <p:spPr>
          <a:xfrm>
            <a:off x="10805008" y="2807208"/>
            <a:ext cx="530352" cy="530352"/>
          </a:xfrm>
          <a:prstGeom prst="star8">
            <a:avLst/>
          </a:prstGeom>
          <a:solidFill>
            <a:schemeClr val="accent2"/>
          </a:solidFill>
          <a:ln/>
        </p:spPr>
      </p:sp>
      <p:sp>
        <p:nvSpPr>
          <p:cNvPr id="18" name="Shape 16"/>
          <p:cNvSpPr/>
          <p:nvPr/>
        </p:nvSpPr>
        <p:spPr>
          <a:xfrm>
            <a:off x="10911078" y="2913278"/>
            <a:ext cx="318211" cy="318211"/>
          </a:xfrm>
          <a:prstGeom prst="ellipse">
            <a:avLst/>
          </a:prstGeom>
          <a:solidFill>
            <a:schemeClr val="bg2"/>
          </a:solidFill>
          <a:ln w="19050">
            <a:solidFill>
              <a:schemeClr val="tx2"/>
            </a:solidFill>
            <a:prstDash val="solid"/>
          </a:ln>
        </p:spPr>
      </p:sp>
      <p:sp>
        <p:nvSpPr>
          <p:cNvPr id="19" name="Text 17"/>
          <p:cNvSpPr txBox="1"/>
          <p:nvPr/>
        </p:nvSpPr>
        <p:spPr>
          <a:xfrm>
            <a:off x="10805008" y="280720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٣</a:t>
            </a:r>
            <a:endParaRPr lang="ar-SA" sz="1400" dirty="0"/>
          </a:p>
        </p:txBody>
      </p:sp>
      <p:sp>
        <p:nvSpPr>
          <p:cNvPr id="20" name="Text 18"/>
          <p:cNvSpPr txBox="1"/>
          <p:nvPr/>
        </p:nvSpPr>
        <p:spPr>
          <a:xfrm>
            <a:off x="6415888" y="277063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مواثيق بني إسرائيل والأرض المقدّسة</a:t>
            </a:r>
            <a:endParaRPr lang="ar-SA" sz="1700" dirty="0"/>
          </a:p>
        </p:txBody>
      </p:sp>
      <p:sp>
        <p:nvSpPr>
          <p:cNvPr id="21" name="Text 19"/>
          <p:cNvSpPr txBox="1"/>
          <p:nvPr/>
        </p:nvSpPr>
        <p:spPr>
          <a:xfrm>
            <a:off x="6415888" y="313639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١٢ – ٢٦</a:t>
            </a:r>
            <a:endParaRPr lang="ar-SA" sz="1300" dirty="0"/>
          </a:p>
        </p:txBody>
      </p:sp>
      <p:sp>
        <p:nvSpPr>
          <p:cNvPr id="22" name="Shape 20"/>
          <p:cNvSpPr/>
          <p:nvPr/>
        </p:nvSpPr>
        <p:spPr>
          <a:xfrm>
            <a:off x="700888" y="2697480"/>
            <a:ext cx="5257800" cy="749808"/>
          </a:xfrm>
          <a:prstGeom prst="roundRect">
            <a:avLst>
              <a:gd name="adj" fmla="val 14634"/>
            </a:avLst>
          </a:prstGeom>
          <a:solidFill>
            <a:schemeClr val="accent5"/>
          </a:solidFill>
          <a:ln w="12700">
            <a:solidFill>
              <a:schemeClr val="accent2"/>
            </a:solidFill>
            <a:prstDash val="solid"/>
          </a:ln>
        </p:spPr>
      </p:sp>
      <p:sp>
        <p:nvSpPr>
          <p:cNvPr id="23" name="Shape 21"/>
          <p:cNvSpPr/>
          <p:nvPr/>
        </p:nvSpPr>
        <p:spPr>
          <a:xfrm>
            <a:off x="5272888" y="2807208"/>
            <a:ext cx="530352" cy="530352"/>
          </a:xfrm>
          <a:prstGeom prst="star8">
            <a:avLst/>
          </a:prstGeom>
          <a:solidFill>
            <a:schemeClr val="accent2"/>
          </a:solidFill>
          <a:ln/>
        </p:spPr>
      </p:sp>
      <p:sp>
        <p:nvSpPr>
          <p:cNvPr id="24" name="Shape 22"/>
          <p:cNvSpPr/>
          <p:nvPr/>
        </p:nvSpPr>
        <p:spPr>
          <a:xfrm>
            <a:off x="5378958" y="2913278"/>
            <a:ext cx="318211" cy="318211"/>
          </a:xfrm>
          <a:prstGeom prst="ellipse">
            <a:avLst/>
          </a:prstGeom>
          <a:solidFill>
            <a:schemeClr val="bg2"/>
          </a:solidFill>
          <a:ln w="19050">
            <a:solidFill>
              <a:schemeClr val="tx2"/>
            </a:solidFill>
            <a:prstDash val="solid"/>
          </a:ln>
        </p:spPr>
      </p:sp>
      <p:sp>
        <p:nvSpPr>
          <p:cNvPr id="25" name="Text 23"/>
          <p:cNvSpPr txBox="1"/>
          <p:nvPr/>
        </p:nvSpPr>
        <p:spPr>
          <a:xfrm>
            <a:off x="5272888" y="280720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٤</a:t>
            </a:r>
            <a:endParaRPr lang="ar-SA" sz="1400" dirty="0"/>
          </a:p>
        </p:txBody>
      </p:sp>
      <p:sp>
        <p:nvSpPr>
          <p:cNvPr id="26" name="Text 24"/>
          <p:cNvSpPr txBox="1"/>
          <p:nvPr/>
        </p:nvSpPr>
        <p:spPr>
          <a:xfrm>
            <a:off x="883768" y="277063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قصة ابني آدم وحرمة النفس</a:t>
            </a:r>
            <a:endParaRPr lang="ar-SA" sz="1700" dirty="0"/>
          </a:p>
        </p:txBody>
      </p:sp>
      <p:sp>
        <p:nvSpPr>
          <p:cNvPr id="27" name="Text 25"/>
          <p:cNvSpPr txBox="1"/>
          <p:nvPr/>
        </p:nvSpPr>
        <p:spPr>
          <a:xfrm>
            <a:off x="883768" y="313639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٢٧ – ٤٠</a:t>
            </a:r>
            <a:endParaRPr lang="ar-SA" sz="1300" dirty="0"/>
          </a:p>
        </p:txBody>
      </p:sp>
      <p:sp>
        <p:nvSpPr>
          <p:cNvPr id="28" name="Shape 26"/>
          <p:cNvSpPr/>
          <p:nvPr/>
        </p:nvSpPr>
        <p:spPr>
          <a:xfrm>
            <a:off x="6233008" y="3566160"/>
            <a:ext cx="5257800" cy="749808"/>
          </a:xfrm>
          <a:prstGeom prst="roundRect">
            <a:avLst>
              <a:gd name="adj" fmla="val 14634"/>
            </a:avLst>
          </a:prstGeom>
          <a:solidFill>
            <a:schemeClr val="bg1"/>
          </a:solidFill>
          <a:ln w="12700">
            <a:solidFill>
              <a:schemeClr val="accent2"/>
            </a:solidFill>
            <a:prstDash val="solid"/>
          </a:ln>
        </p:spPr>
      </p:sp>
      <p:sp>
        <p:nvSpPr>
          <p:cNvPr id="29" name="Shape 27"/>
          <p:cNvSpPr/>
          <p:nvPr/>
        </p:nvSpPr>
        <p:spPr>
          <a:xfrm>
            <a:off x="10805008" y="3675888"/>
            <a:ext cx="530352" cy="530352"/>
          </a:xfrm>
          <a:prstGeom prst="star8">
            <a:avLst/>
          </a:prstGeom>
          <a:solidFill>
            <a:schemeClr val="accent2"/>
          </a:solidFill>
          <a:ln/>
        </p:spPr>
      </p:sp>
      <p:sp>
        <p:nvSpPr>
          <p:cNvPr id="30" name="Shape 28"/>
          <p:cNvSpPr/>
          <p:nvPr/>
        </p:nvSpPr>
        <p:spPr>
          <a:xfrm>
            <a:off x="10911078" y="3781958"/>
            <a:ext cx="318211" cy="318211"/>
          </a:xfrm>
          <a:prstGeom prst="ellipse">
            <a:avLst/>
          </a:prstGeom>
          <a:solidFill>
            <a:schemeClr val="bg2"/>
          </a:solidFill>
          <a:ln w="19050">
            <a:solidFill>
              <a:schemeClr val="tx2"/>
            </a:solidFill>
            <a:prstDash val="solid"/>
          </a:ln>
        </p:spPr>
      </p:sp>
      <p:sp>
        <p:nvSpPr>
          <p:cNvPr id="31" name="Text 29"/>
          <p:cNvSpPr txBox="1"/>
          <p:nvPr/>
        </p:nvSpPr>
        <p:spPr>
          <a:xfrm>
            <a:off x="10805008" y="367588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٥</a:t>
            </a:r>
            <a:endParaRPr lang="ar-SA" sz="1400" dirty="0"/>
          </a:p>
        </p:txBody>
      </p:sp>
      <p:sp>
        <p:nvSpPr>
          <p:cNvPr id="32" name="Text 30"/>
          <p:cNvSpPr txBox="1"/>
          <p:nvPr/>
        </p:nvSpPr>
        <p:spPr>
          <a:xfrm>
            <a:off x="6415888" y="363931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الحكم بما أنزل الله</a:t>
            </a:r>
            <a:endParaRPr lang="ar-SA" sz="1700" dirty="0"/>
          </a:p>
        </p:txBody>
      </p:sp>
      <p:sp>
        <p:nvSpPr>
          <p:cNvPr id="33" name="Text 31"/>
          <p:cNvSpPr txBox="1"/>
          <p:nvPr/>
        </p:nvSpPr>
        <p:spPr>
          <a:xfrm>
            <a:off x="6415888" y="400507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٤١ – ٥٠</a:t>
            </a:r>
            <a:endParaRPr lang="ar-SA" sz="1300" dirty="0"/>
          </a:p>
        </p:txBody>
      </p:sp>
      <p:sp>
        <p:nvSpPr>
          <p:cNvPr id="34" name="Shape 32"/>
          <p:cNvSpPr/>
          <p:nvPr/>
        </p:nvSpPr>
        <p:spPr>
          <a:xfrm>
            <a:off x="700888" y="3566160"/>
            <a:ext cx="5257800" cy="749808"/>
          </a:xfrm>
          <a:prstGeom prst="roundRect">
            <a:avLst>
              <a:gd name="adj" fmla="val 14634"/>
            </a:avLst>
          </a:prstGeom>
          <a:solidFill>
            <a:schemeClr val="accent5"/>
          </a:solidFill>
          <a:ln w="12700">
            <a:solidFill>
              <a:schemeClr val="accent2"/>
            </a:solidFill>
            <a:prstDash val="solid"/>
          </a:ln>
        </p:spPr>
      </p:sp>
      <p:sp>
        <p:nvSpPr>
          <p:cNvPr id="35" name="Shape 33"/>
          <p:cNvSpPr/>
          <p:nvPr/>
        </p:nvSpPr>
        <p:spPr>
          <a:xfrm>
            <a:off x="5272888" y="3675888"/>
            <a:ext cx="530352" cy="530352"/>
          </a:xfrm>
          <a:prstGeom prst="star8">
            <a:avLst/>
          </a:prstGeom>
          <a:solidFill>
            <a:schemeClr val="accent2"/>
          </a:solidFill>
          <a:ln/>
        </p:spPr>
      </p:sp>
      <p:sp>
        <p:nvSpPr>
          <p:cNvPr id="36" name="Shape 34"/>
          <p:cNvSpPr/>
          <p:nvPr/>
        </p:nvSpPr>
        <p:spPr>
          <a:xfrm>
            <a:off x="5378958" y="3781958"/>
            <a:ext cx="318211" cy="318211"/>
          </a:xfrm>
          <a:prstGeom prst="ellipse">
            <a:avLst/>
          </a:prstGeom>
          <a:solidFill>
            <a:schemeClr val="bg2"/>
          </a:solidFill>
          <a:ln w="19050">
            <a:solidFill>
              <a:schemeClr val="tx2"/>
            </a:solidFill>
            <a:prstDash val="solid"/>
          </a:ln>
        </p:spPr>
      </p:sp>
      <p:sp>
        <p:nvSpPr>
          <p:cNvPr id="37" name="Text 35"/>
          <p:cNvSpPr txBox="1"/>
          <p:nvPr/>
        </p:nvSpPr>
        <p:spPr>
          <a:xfrm>
            <a:off x="5272888" y="367588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٦</a:t>
            </a:r>
            <a:endParaRPr lang="ar-SA" sz="1400" dirty="0"/>
          </a:p>
        </p:txBody>
      </p:sp>
      <p:sp>
        <p:nvSpPr>
          <p:cNvPr id="38" name="Text 36"/>
          <p:cNvSpPr txBox="1"/>
          <p:nvPr/>
        </p:nvSpPr>
        <p:spPr>
          <a:xfrm>
            <a:off x="883768" y="363931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الولاء للمؤمنين</a:t>
            </a:r>
            <a:endParaRPr lang="ar-SA" sz="1700" dirty="0"/>
          </a:p>
        </p:txBody>
      </p:sp>
      <p:sp>
        <p:nvSpPr>
          <p:cNvPr id="39" name="Text 37"/>
          <p:cNvSpPr txBox="1"/>
          <p:nvPr/>
        </p:nvSpPr>
        <p:spPr>
          <a:xfrm>
            <a:off x="883768" y="400507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٥١ – ٦٦</a:t>
            </a:r>
            <a:endParaRPr lang="ar-SA" sz="1300" dirty="0"/>
          </a:p>
        </p:txBody>
      </p:sp>
      <p:sp>
        <p:nvSpPr>
          <p:cNvPr id="40" name="Shape 38"/>
          <p:cNvSpPr/>
          <p:nvPr/>
        </p:nvSpPr>
        <p:spPr>
          <a:xfrm>
            <a:off x="6233008" y="4434840"/>
            <a:ext cx="5257800" cy="749808"/>
          </a:xfrm>
          <a:prstGeom prst="roundRect">
            <a:avLst>
              <a:gd name="adj" fmla="val 14634"/>
            </a:avLst>
          </a:prstGeom>
          <a:solidFill>
            <a:schemeClr val="bg1"/>
          </a:solidFill>
          <a:ln w="12700">
            <a:solidFill>
              <a:schemeClr val="accent2"/>
            </a:solidFill>
            <a:prstDash val="solid"/>
          </a:ln>
        </p:spPr>
      </p:sp>
      <p:sp>
        <p:nvSpPr>
          <p:cNvPr id="41" name="Shape 39"/>
          <p:cNvSpPr/>
          <p:nvPr/>
        </p:nvSpPr>
        <p:spPr>
          <a:xfrm>
            <a:off x="10805008" y="4544568"/>
            <a:ext cx="530352" cy="530352"/>
          </a:xfrm>
          <a:prstGeom prst="star8">
            <a:avLst/>
          </a:prstGeom>
          <a:solidFill>
            <a:schemeClr val="accent2"/>
          </a:solidFill>
          <a:ln/>
        </p:spPr>
      </p:sp>
      <p:sp>
        <p:nvSpPr>
          <p:cNvPr id="42" name="Shape 40"/>
          <p:cNvSpPr/>
          <p:nvPr/>
        </p:nvSpPr>
        <p:spPr>
          <a:xfrm>
            <a:off x="10911078" y="4650638"/>
            <a:ext cx="318211" cy="318211"/>
          </a:xfrm>
          <a:prstGeom prst="ellipse">
            <a:avLst/>
          </a:prstGeom>
          <a:solidFill>
            <a:schemeClr val="bg2"/>
          </a:solidFill>
          <a:ln w="19050">
            <a:solidFill>
              <a:schemeClr val="tx2"/>
            </a:solidFill>
            <a:prstDash val="solid"/>
          </a:ln>
        </p:spPr>
      </p:sp>
      <p:sp>
        <p:nvSpPr>
          <p:cNvPr id="43" name="Text 41"/>
          <p:cNvSpPr txBox="1"/>
          <p:nvPr/>
        </p:nvSpPr>
        <p:spPr>
          <a:xfrm>
            <a:off x="10805008" y="454456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٧</a:t>
            </a:r>
            <a:endParaRPr lang="ar-SA" sz="1400" dirty="0"/>
          </a:p>
        </p:txBody>
      </p:sp>
      <p:sp>
        <p:nvSpPr>
          <p:cNvPr id="44" name="Text 42"/>
          <p:cNvSpPr txBox="1"/>
          <p:nvPr/>
        </p:nvSpPr>
        <p:spPr>
          <a:xfrm>
            <a:off x="6415888" y="450799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تبليغ الرسالة وأحوال أهل الكتاب</a:t>
            </a:r>
            <a:endParaRPr lang="ar-SA" sz="1700" dirty="0"/>
          </a:p>
        </p:txBody>
      </p:sp>
      <p:sp>
        <p:nvSpPr>
          <p:cNvPr id="45" name="Text 43"/>
          <p:cNvSpPr txBox="1"/>
          <p:nvPr/>
        </p:nvSpPr>
        <p:spPr>
          <a:xfrm>
            <a:off x="6415888" y="487375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٦٧ – ٨٦</a:t>
            </a:r>
            <a:endParaRPr lang="ar-SA" sz="1300" dirty="0"/>
          </a:p>
        </p:txBody>
      </p:sp>
      <p:sp>
        <p:nvSpPr>
          <p:cNvPr id="46" name="Shape 44"/>
          <p:cNvSpPr/>
          <p:nvPr/>
        </p:nvSpPr>
        <p:spPr>
          <a:xfrm>
            <a:off x="700888" y="4434840"/>
            <a:ext cx="5257800" cy="749808"/>
          </a:xfrm>
          <a:prstGeom prst="roundRect">
            <a:avLst>
              <a:gd name="adj" fmla="val 14634"/>
            </a:avLst>
          </a:prstGeom>
          <a:solidFill>
            <a:schemeClr val="accent5"/>
          </a:solidFill>
          <a:ln w="12700">
            <a:solidFill>
              <a:schemeClr val="accent2"/>
            </a:solidFill>
            <a:prstDash val="solid"/>
          </a:ln>
        </p:spPr>
      </p:sp>
      <p:sp>
        <p:nvSpPr>
          <p:cNvPr id="47" name="Shape 45"/>
          <p:cNvSpPr/>
          <p:nvPr/>
        </p:nvSpPr>
        <p:spPr>
          <a:xfrm>
            <a:off x="5272888" y="4544568"/>
            <a:ext cx="530352" cy="530352"/>
          </a:xfrm>
          <a:prstGeom prst="star8">
            <a:avLst/>
          </a:prstGeom>
          <a:solidFill>
            <a:schemeClr val="accent2"/>
          </a:solidFill>
          <a:ln/>
        </p:spPr>
      </p:sp>
      <p:sp>
        <p:nvSpPr>
          <p:cNvPr id="48" name="Shape 46"/>
          <p:cNvSpPr/>
          <p:nvPr/>
        </p:nvSpPr>
        <p:spPr>
          <a:xfrm>
            <a:off x="5378958" y="4650638"/>
            <a:ext cx="318211" cy="318211"/>
          </a:xfrm>
          <a:prstGeom prst="ellipse">
            <a:avLst/>
          </a:prstGeom>
          <a:solidFill>
            <a:schemeClr val="bg2"/>
          </a:solidFill>
          <a:ln w="19050">
            <a:solidFill>
              <a:schemeClr val="tx2"/>
            </a:solidFill>
            <a:prstDash val="solid"/>
          </a:ln>
        </p:spPr>
      </p:sp>
      <p:sp>
        <p:nvSpPr>
          <p:cNvPr id="49" name="Text 47"/>
          <p:cNvSpPr txBox="1"/>
          <p:nvPr/>
        </p:nvSpPr>
        <p:spPr>
          <a:xfrm>
            <a:off x="5272888" y="454456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٨</a:t>
            </a:r>
            <a:endParaRPr lang="ar-SA" sz="1400" dirty="0"/>
          </a:p>
        </p:txBody>
      </p:sp>
      <p:sp>
        <p:nvSpPr>
          <p:cNvPr id="50" name="Text 48"/>
          <p:cNvSpPr txBox="1"/>
          <p:nvPr/>
        </p:nvSpPr>
        <p:spPr>
          <a:xfrm>
            <a:off x="883768" y="450799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الطيبات والأيمان وتحريم الخمر</a:t>
            </a:r>
            <a:endParaRPr lang="ar-SA" sz="1700" dirty="0"/>
          </a:p>
        </p:txBody>
      </p:sp>
      <p:sp>
        <p:nvSpPr>
          <p:cNvPr id="51" name="Text 49"/>
          <p:cNvSpPr txBox="1"/>
          <p:nvPr/>
        </p:nvSpPr>
        <p:spPr>
          <a:xfrm>
            <a:off x="883768" y="487375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٨٧ – ٩٣</a:t>
            </a:r>
            <a:endParaRPr lang="ar-SA" sz="1300" dirty="0"/>
          </a:p>
        </p:txBody>
      </p:sp>
      <p:sp>
        <p:nvSpPr>
          <p:cNvPr id="52" name="Shape 50"/>
          <p:cNvSpPr/>
          <p:nvPr/>
        </p:nvSpPr>
        <p:spPr>
          <a:xfrm>
            <a:off x="6233008" y="5303520"/>
            <a:ext cx="5257800" cy="749808"/>
          </a:xfrm>
          <a:prstGeom prst="roundRect">
            <a:avLst>
              <a:gd name="adj" fmla="val 14634"/>
            </a:avLst>
          </a:prstGeom>
          <a:solidFill>
            <a:schemeClr val="bg1"/>
          </a:solidFill>
          <a:ln w="12700">
            <a:solidFill>
              <a:schemeClr val="accent2"/>
            </a:solidFill>
            <a:prstDash val="solid"/>
          </a:ln>
        </p:spPr>
      </p:sp>
      <p:sp>
        <p:nvSpPr>
          <p:cNvPr id="53" name="Shape 51"/>
          <p:cNvSpPr/>
          <p:nvPr/>
        </p:nvSpPr>
        <p:spPr>
          <a:xfrm>
            <a:off x="10805008" y="5413248"/>
            <a:ext cx="530352" cy="530352"/>
          </a:xfrm>
          <a:prstGeom prst="star8">
            <a:avLst/>
          </a:prstGeom>
          <a:solidFill>
            <a:schemeClr val="accent2"/>
          </a:solidFill>
          <a:ln/>
        </p:spPr>
      </p:sp>
      <p:sp>
        <p:nvSpPr>
          <p:cNvPr id="54" name="Shape 52"/>
          <p:cNvSpPr/>
          <p:nvPr/>
        </p:nvSpPr>
        <p:spPr>
          <a:xfrm>
            <a:off x="10911078" y="5519318"/>
            <a:ext cx="318211" cy="318211"/>
          </a:xfrm>
          <a:prstGeom prst="ellipse">
            <a:avLst/>
          </a:prstGeom>
          <a:solidFill>
            <a:schemeClr val="bg2"/>
          </a:solidFill>
          <a:ln w="19050">
            <a:solidFill>
              <a:schemeClr val="tx2"/>
            </a:solidFill>
            <a:prstDash val="solid"/>
          </a:ln>
        </p:spPr>
      </p:sp>
      <p:sp>
        <p:nvSpPr>
          <p:cNvPr id="55" name="Text 53"/>
          <p:cNvSpPr txBox="1"/>
          <p:nvPr/>
        </p:nvSpPr>
        <p:spPr>
          <a:xfrm>
            <a:off x="10805008" y="541324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٩</a:t>
            </a:r>
            <a:endParaRPr lang="ar-SA" sz="1400" dirty="0"/>
          </a:p>
        </p:txBody>
      </p:sp>
      <p:sp>
        <p:nvSpPr>
          <p:cNvPr id="56" name="Text 54"/>
          <p:cNvSpPr txBox="1"/>
          <p:nvPr/>
        </p:nvSpPr>
        <p:spPr>
          <a:xfrm>
            <a:off x="6415888" y="537667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الصيد في الإحرام وآداب السؤال</a:t>
            </a:r>
            <a:endParaRPr lang="ar-SA" sz="1700" dirty="0"/>
          </a:p>
        </p:txBody>
      </p:sp>
      <p:sp>
        <p:nvSpPr>
          <p:cNvPr id="57" name="Text 55"/>
          <p:cNvSpPr txBox="1"/>
          <p:nvPr/>
        </p:nvSpPr>
        <p:spPr>
          <a:xfrm>
            <a:off x="6415888" y="574243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٩٤ – ١٠٨</a:t>
            </a:r>
            <a:endParaRPr lang="ar-SA" sz="1300" dirty="0"/>
          </a:p>
        </p:txBody>
      </p:sp>
      <p:sp>
        <p:nvSpPr>
          <p:cNvPr id="58" name="Shape 56"/>
          <p:cNvSpPr/>
          <p:nvPr/>
        </p:nvSpPr>
        <p:spPr>
          <a:xfrm>
            <a:off x="700888" y="5303520"/>
            <a:ext cx="5257800" cy="749808"/>
          </a:xfrm>
          <a:prstGeom prst="roundRect">
            <a:avLst>
              <a:gd name="adj" fmla="val 14634"/>
            </a:avLst>
          </a:prstGeom>
          <a:solidFill>
            <a:schemeClr val="accent5"/>
          </a:solidFill>
          <a:ln w="12700">
            <a:solidFill>
              <a:schemeClr val="accent2"/>
            </a:solidFill>
            <a:prstDash val="solid"/>
          </a:ln>
        </p:spPr>
      </p:sp>
      <p:sp>
        <p:nvSpPr>
          <p:cNvPr id="59" name="Shape 57"/>
          <p:cNvSpPr/>
          <p:nvPr/>
        </p:nvSpPr>
        <p:spPr>
          <a:xfrm>
            <a:off x="5272888" y="5413248"/>
            <a:ext cx="530352" cy="530352"/>
          </a:xfrm>
          <a:prstGeom prst="star8">
            <a:avLst/>
          </a:prstGeom>
          <a:solidFill>
            <a:schemeClr val="accent2"/>
          </a:solidFill>
          <a:ln/>
        </p:spPr>
      </p:sp>
      <p:sp>
        <p:nvSpPr>
          <p:cNvPr id="60" name="Shape 58"/>
          <p:cNvSpPr/>
          <p:nvPr/>
        </p:nvSpPr>
        <p:spPr>
          <a:xfrm>
            <a:off x="5378958" y="5519318"/>
            <a:ext cx="318211" cy="318211"/>
          </a:xfrm>
          <a:prstGeom prst="ellipse">
            <a:avLst/>
          </a:prstGeom>
          <a:solidFill>
            <a:schemeClr val="bg2"/>
          </a:solidFill>
          <a:ln w="19050">
            <a:solidFill>
              <a:schemeClr val="tx2"/>
            </a:solidFill>
            <a:prstDash val="solid"/>
          </a:ln>
        </p:spPr>
      </p:sp>
      <p:sp>
        <p:nvSpPr>
          <p:cNvPr id="61" name="Text 59"/>
          <p:cNvSpPr txBox="1"/>
          <p:nvPr/>
        </p:nvSpPr>
        <p:spPr>
          <a:xfrm>
            <a:off x="5272888" y="541324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١٠</a:t>
            </a:r>
            <a:endParaRPr lang="ar-SA" sz="1400" dirty="0"/>
          </a:p>
        </p:txBody>
      </p:sp>
      <p:sp>
        <p:nvSpPr>
          <p:cNvPr id="62" name="Text 60"/>
          <p:cNvSpPr txBox="1"/>
          <p:nvPr/>
        </p:nvSpPr>
        <p:spPr>
          <a:xfrm>
            <a:off x="883768" y="537667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معجزات عيسى وقصة المائدة</a:t>
            </a:r>
            <a:endParaRPr lang="ar-SA" sz="1700" dirty="0"/>
          </a:p>
        </p:txBody>
      </p:sp>
      <p:sp>
        <p:nvSpPr>
          <p:cNvPr id="63" name="Text 61"/>
          <p:cNvSpPr txBox="1"/>
          <p:nvPr/>
        </p:nvSpPr>
        <p:spPr>
          <a:xfrm>
            <a:off x="883768" y="574243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١٠٩ – ١٢٠</a:t>
            </a:r>
            <a:endParaRPr lang="ar-SA" sz="13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الوفاء بالعقود وكمال الدين</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١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 – ٥</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المائدة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رجل من اليهود لعمر: آية في كتابكم لو علينا نزلت لاتخذنا ذلك اليوم عيدًا: ﴿اليوم أكملت لكم دينكم﴾، فقال عمر: قد عرفنا ذلك اليوم والمكان؛ نزلت على النبي صلى الله عليه وسلم وهو قائم بعرفة يوم جمعة (رواه البخاري ومسلم).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الأمر بالوفاء بالعهود، وبيان ما أحلّ الله وما حرّم من الأطعمة، والتعاون على البر والتقوى، وإعلان كمال الدين وتمام النعمة.</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أَوْفُواْ بِالْعُقُودِ أُحِلَّتْ لَكُم بَهِيمَةُ الْأَنْعَٰمِ إِلَّا مَا يُتْلَىٰ عَلَيْكُمْ غَيْرَ مُحِلِّي الصَّيْدِ وَأَنتُمْ حُرُمٌ إِنَّ اللَّهَ يَحْكُمُ مَا يُرِيدُ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أوفوا بالعهود والعقود، أُحلّت لكم الإبل والبقر والغنم إلا ما يُبيَّن لكم تحريمه، ولا تصطادوا وأنتم مُحرمون بالحج أو العمرة، إن الله يحكم ما يريد.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74520"/>
            <a:ext cx="548640" cy="548640"/>
          </a:xfrm>
          <a:prstGeom prst="star8">
            <a:avLst/>
          </a:prstGeom>
          <a:solidFill>
            <a:schemeClr val="accent2"/>
          </a:solidFill>
          <a:ln/>
        </p:spPr>
      </p:sp>
      <p:sp>
        <p:nvSpPr>
          <p:cNvPr id="6" name="Shape 4"/>
          <p:cNvSpPr/>
          <p:nvPr/>
        </p:nvSpPr>
        <p:spPr>
          <a:xfrm>
            <a:off x="11036808" y="198424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745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8" name="Text 6"/>
          <p:cNvSpPr txBox="1"/>
          <p:nvPr/>
        </p:nvSpPr>
        <p:spPr>
          <a:xfrm>
            <a:off x="731520" y="1856232"/>
            <a:ext cx="10012680" cy="364845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لَا تُحِلُّواْ شَعَـٰئِرَ اللَّهِ وَلَا الشَّهْرَ الْحَرَامَ وَلَا الْهَدْيَ وَلَا الْقَلَـٰئِدَ وَلَآ ءَآمِّينَ الْبَيْتَ الْحَرَامَ يَبْتَغُونَ فَضْلًا مِّن رَّبِّهِمْ وَرِضْوَٰنًا وَإِذَا حَلَلْتُمْ فَاصْطَادُواْ وَلَا يَجْرِمَنَّكُمْ شَنَـَٔانُ قَوْمٍ أَن صَدُّوكُمْ عَنِ الْمَسْجِدِ الْحَرَامِ أَن تَعْتَدُواْ وَتَعَاوَنُواْ عَلَى الْبِرِّ وَالتَّقْوَىٰ وَلَا تَعَاوَنُواْ عَلَى الْإِثْمِ وَالْعُدْوَٰنِ وَاتَّقُواْ اللَّهَ إِنَّ اللَّهَ شَدِيدُ الْعِقَابِ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لا تستحلّوا معالم دين الله، ولا القتال في الشهر الحرام، ولا الهدي، ولا قاصدي البيت الحرام، ولا يحملنّكم بغض قوم على الظلم، وتعاونوا على البر والتقوى، ولا تعاونوا على الإثم والعدوان.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2748"/>
            <a:ext cx="548640" cy="548640"/>
          </a:xfrm>
          <a:prstGeom prst="star8">
            <a:avLst/>
          </a:prstGeom>
          <a:solidFill>
            <a:schemeClr val="accent2"/>
          </a:solidFill>
          <a:ln/>
        </p:spPr>
      </p:sp>
      <p:sp>
        <p:nvSpPr>
          <p:cNvPr id="6" name="Shape 4"/>
          <p:cNvSpPr/>
          <p:nvPr/>
        </p:nvSpPr>
        <p:spPr>
          <a:xfrm>
            <a:off x="11036808" y="152247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27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8" name="Text 6"/>
          <p:cNvSpPr txBox="1"/>
          <p:nvPr/>
        </p:nvSpPr>
        <p:spPr>
          <a:xfrm>
            <a:off x="731520" y="1394460"/>
            <a:ext cx="10012680" cy="457200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حُرِّمَتْ عَلَيْكُمُ الْمَيْتَةُ وَالدَّمُ وَلَحْمُ الْخِنزِيرِ وَمَآ أُهِلَّ لِغَيْرِ اللَّهِ بِهِ وَالْمُنْخَنِقَةُ وَالْمَوْقُوذَةُ وَالْمُتَرَدِّيَةُ وَالنَّطِيحَةُ وَمَآ أَكَلَ السَّبُعُ إِلَّا مَا ذَكَّيْتُمْ وَمَا ذُبِحَ عَلَى النُّصُبِ وَأَن تَسْتَقْسِمُواْ بِالْأَزْلَٰمِ ذَٰلِكُمْ فِسْقٌ الْيَوْمَ يَئِسَ الَّذِينَ كَفَرُواْ مِن دِينِكُمْ فَلَا تَخْشَوْهُمْ وَاخْشَوْنِ الْيَوْمَ أَكْمَلْتُ لَكُمْ دِينَكُمْ وَأَتْمَمْتُ عَلَيْكُمْ نِعْمَتِي وَرَضِيتُ لَكُمُ الْإِسْلَٰمَ دِينًا فَمَنِ اضْطُرَّ فِي مَخْمَصَةٍ غَيْرَ مُتَجَانِفٍ لِّإِثْمٍ فَإِنَّ اللَّهَ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حُرّم عليكم: الميتة، والدم، ولحم الخنزير، وما ذُبح لغير الله، والمخنوقة، والمضروبة حتى ماتت، والساقطة، والنطيحة، وما أكل السبع إلا ما أدركتم ذبحه، وما ذُبح على الأصنام. اليوم أكملت لكم دينكم، وأتممت عليكم نعمتي، ورضيت لكم الإسلام دينًا.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يَسْـَٔلُونَكَ مَاذَآ أُحِلَّ لَهُمْ قُلْ أُحِلَّ لَكُمُ الطَّيِّبَٰتُ وَمَا عَلَّمْتُم مِّنَ الْجَوَارِحِ مُكَلِّبِينَ تُعَلِّمُونَهُنَّ مِمَّا عَلَّمَكُمُ اللَّهُ فَكُلُواْ مِمَّآ أَمْسَكْنَ عَلَيْكُمْ وَاذْكُرُواْ اسْمَ اللَّهِ عَلَيْهِ وَاتَّقُواْ اللَّهَ إِنَّ اللَّهَ سَرِيعُ الْحِسَابِ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يسألونك: ماذا أُحلّ لهم؟ قل: أُحلّ لكم الطيبات، وصيد الكلاب والطيور المعلَّمة التي تصطاد لكم، فكلوا مما أمسكن عليكم، واذكروا اسم الله عليه.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167128"/>
            <a:ext cx="548640" cy="548640"/>
          </a:xfrm>
          <a:prstGeom prst="star8">
            <a:avLst/>
          </a:prstGeom>
          <a:solidFill>
            <a:schemeClr val="accent2"/>
          </a:solidFill>
          <a:ln/>
        </p:spPr>
      </p:sp>
      <p:sp>
        <p:nvSpPr>
          <p:cNvPr id="6" name="Shape 4"/>
          <p:cNvSpPr/>
          <p:nvPr/>
        </p:nvSpPr>
        <p:spPr>
          <a:xfrm>
            <a:off x="11036808" y="227685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1671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2148840"/>
            <a:ext cx="10012680" cy="306324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الْيَوْمَ أُحِلَّ لَكُمُ الطَّيِّبَٰتُ وَطَعَامُ الَّذِينَ أُوتُواْ الْكِتَٰبَ حِلٌّ لَّكُمْ وَطَعَامُكُمْ حِلٌّ لَّهُمْ وَالْمُحْصَنَٰتُ مِنَ الْمُؤْمِنَٰتِ وَالْمُحْصَنَٰتُ مِنَ الَّذِينَ أُوتُواْ الْكِتَٰبَ مِن قَبْلِكُمْ إِذَآ ءَاتَيْتُمُوهُنَّ أُجُورَهُنَّ مُحْصِنِينَ غَيْرَ مُسَٰفِحِينَ وَلَا مُتَّخِذِي أَخْدَانٍ وَمَن يَكْفُرْ بِالْإِيمَٰنِ فَقَدْ حَبِطَ عَمَلُهُ وَهُوَ فِي الْأخِرَةِ مِنَ الْخَٰسِرِينَ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اليوم أُحلّت لكم الطيبات، وذبائح أهل الكتاب حلال لكم، وطعامكم حلال لهم، وأُحلّ لكم الزواج من العفيفات من المؤمنات ومن أهل الكتاب، ومن يكفر بالإيمان فقد بطل عمله.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4400" b="1" dirty="0">
                <a:solidFill>
                  <a:schemeClr val="accent2"/>
                </a:solidFill>
                <a:latin typeface="Sakkal Majalla" pitchFamily="34" charset="0"/>
                <a:ea typeface="Sakkal Majalla" pitchFamily="34" charset="-122"/>
                <a:cs typeface="Sakkal Majalla" pitchFamily="34" charset="-120"/>
              </a:rPr>
              <a:t>الطهارة والعدل</a:t>
            </a:r>
            <a:endParaRPr lang="ar-SA" sz="4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٢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٦ – ١١</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المائدة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قالت عائشة: انقطع عقد لي ونحن مع النبي صلى الله عليه وسلم في سفر، فأقام الناس على التماسه وليسوا على ماء، فنزلت: ﴿يا أيها الذين آمنوا إذا قمتم إلى الصلاة...﴾ إلى آية التيمّم (رواه البخاري).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بيان صفة الوضوء والغسل والتيمّم، والتذكير بنعمة الله وعهده، والأمر بالعدل حتى مع من نبغضه.</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2748"/>
            <a:ext cx="548640" cy="548640"/>
          </a:xfrm>
          <a:prstGeom prst="star8">
            <a:avLst/>
          </a:prstGeom>
          <a:solidFill>
            <a:schemeClr val="accent2"/>
          </a:solidFill>
          <a:ln/>
        </p:spPr>
      </p:sp>
      <p:sp>
        <p:nvSpPr>
          <p:cNvPr id="6" name="Shape 4"/>
          <p:cNvSpPr/>
          <p:nvPr/>
        </p:nvSpPr>
        <p:spPr>
          <a:xfrm>
            <a:off x="11036808" y="152247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27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8" name="Text 6"/>
          <p:cNvSpPr txBox="1"/>
          <p:nvPr/>
        </p:nvSpPr>
        <p:spPr>
          <a:xfrm>
            <a:off x="731520" y="1394460"/>
            <a:ext cx="10012680" cy="457200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إِذَا قُمْتُمْ إِلَى الصَّلَوٰةِ فَاغْسِلُواْ وُجُوهَكُمْ وَأَيْدِيَكُمْ إِلَى الْمَرَافِقِ وَامْسَحُواْ بِرُءُوسِكُمْ وَأَرْجُلَكُمْ إِلَى الْكَعْبَيْنِ وَإِن كُنتُمْ جُنُبًا فَاطَّهَّرُواْ وَإِن كُنتُم مَّرْضَىٰ أَوْ عَلَىٰ سَفَرٍ أَوْ جَآءَ أَحَدٌ مِّنكُم مِّنَ الْغَآئِطِ أَوْ لَٰمَسْتُمُ النِّسَآءَ فَلَمْ تَجِدُواْ مَآءً فَتَيَمَّمُواْ صَعِيدًا طَيِّبًا فَامْسَحُواْ بِوُجُوهِكُمْ وَأَيْدِيكُم مِّنْهُ مَا يُرِيدُ اللَّهُ لِيَجْعَلَ عَلَيْكُم مِّنْ حَرَجٍ وَلَٰكِن يُرِيدُ لِيُطَهِّرَكُمْ وَلِيُتِمَّ نِعْمَتَهُ عَلَيْكُمْ لَعَلَّكُمْ تَشْكُرُونَ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إذا أردتم الصلاة فتوضّؤوا: اغسلوا وجوهكم، وأيديكم إلى المرفقين، وامسحوا رؤوسكم، واغسلوا أرجلكم إلى الكعبين، وإن كنتم على جنابة فاغتسلوا، فإن لم تجدوا ماءً فتيمّموا، ما يريد الله ليجعل عليكم من حرج.</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وَاذْكُرُواْ نِعْمَةَ اللَّهِ عَلَيْكُمْ وَمِيثَٰقَهُ الَّذِي وَاثَقَكُم بِهِ إِذْ قُلْتُمْ سَمِعْنَا وَأَطَعْنَا وَاتَّقُواْ اللَّهَ إِنَّ اللَّهَ عَلِيمٌ بِذَاتِ الصُّدُورِ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واذكروا نعمة الله عليكم وعهده الذي أخذه عليكم حين قلتم: سمعنا وأطعنا، واتقوا الله، إن الله عليم بما في الصدور.</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كُونُواْ قَوَّـٰمِينَ لِلَّهِ شُهَدَآءَ بِالْقِسْطِ وَلَا يَجْرِمَنَّكُمْ شَنَـَٔانُ قَوْمٍ عَلَىٰ أَلَّا تَعْدِلُواْ اعْدِلُواْ هُوَ أَقْرَبُ لِلتَّقْوَىٰ وَاتَّقُواْ اللَّهَ إِنَّ اللَّهَ خَبِيرٌ بِمَا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كونوا قائمين بالحق لله، شاهدين بالعدل، ولا يحملنّكم بغض قوم على ترك العدل، اعدلوا هو أقرب للتقوى.</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وَعَدَ اللَّهُ الَّذِينَ ءَامَنُواْ وَعَمِلُواْ الصَّـٰلِحَٰتِ لَهُم مَّغْفِرَةٌ وَأَجْرٌ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وعد الله المؤمنين العاملين للصالحات بمغفرة وأجر عظيم.</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كَفَرُواْ وَكَذَّبُواْ بِـَٔايَٰتِنَآ أُوْلَـٰئِكَ أَصْحَٰبُ الْجَحِيمِ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كفروا وكذّبوا بآياتنا أولئك أهل النار.</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اذْكُرُواْ نِعْمَتَ اللَّهِ عَلَيْكُمْ إِذْ هَمَّ قَوْمٌ أَن يَبْسُطُواْ إِلَيْكُمْ أَيْدِيَهُمْ فَكَفَّ أَيْدِيَهُمْ عَنكُمْ وَاتَّقُواْ اللَّهَ وَعَلَى اللَّهِ فَلْيَتَوَكَّلِ الْمُؤْمِنُونَ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اذكروا نعمة الله عليكم حين أراد قوم أن يبطشوا بكم فمنعهم الله عنكم، واتقوا الله، وعلى الله فليتوكّل المؤمنون.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400" b="1" dirty="0">
                <a:solidFill>
                  <a:schemeClr val="accent2"/>
                </a:solidFill>
                <a:latin typeface="Sakkal Majalla" pitchFamily="34" charset="0"/>
                <a:ea typeface="Sakkal Majalla" pitchFamily="34" charset="-122"/>
                <a:cs typeface="Sakkal Majalla" pitchFamily="34" charset="-120"/>
              </a:rPr>
              <a:t>مواثيق بني إسرائيل والأرض المقدّسة</a:t>
            </a:r>
            <a:endParaRPr lang="ar-SA" sz="2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٣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١٢ – ٢٦</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المائدة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بيان نقض بني إسرائيل للعهود، والردّ على من غلا في المسيح، وقصة امتناعهم عن دخول الأرض المقدّسة فعاقبهم الله بالتيه أربعين سنة.</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167128"/>
            <a:ext cx="548640" cy="548640"/>
          </a:xfrm>
          <a:prstGeom prst="star8">
            <a:avLst/>
          </a:prstGeom>
          <a:solidFill>
            <a:schemeClr val="accent2"/>
          </a:solidFill>
          <a:ln/>
        </p:spPr>
      </p:sp>
      <p:sp>
        <p:nvSpPr>
          <p:cNvPr id="6" name="Shape 4"/>
          <p:cNvSpPr/>
          <p:nvPr/>
        </p:nvSpPr>
        <p:spPr>
          <a:xfrm>
            <a:off x="11036808" y="227685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1671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8" name="Text 6"/>
          <p:cNvSpPr txBox="1"/>
          <p:nvPr/>
        </p:nvSpPr>
        <p:spPr>
          <a:xfrm>
            <a:off x="731520" y="2148840"/>
            <a:ext cx="10012680" cy="306324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أَخَذَ اللَّهُ مِيثَٰقَ بَنِي إِسْرَـٰءِيلَ وَبَعَثْنَا مِنْهُمُ اثْنَيْ عَشَرَ نَقِيبًا وَقَالَ اللَّهُ إِنِّي مَعَكُمْ لَئِنْ أَقَمْتُمُ الصَّلَوٰةَ وَءَاتَيْتُمُ الزَّكَوٰةَ وَءَامَنتُم بِرُسُلِي وَعَزَّرْتُمُوهُمْ وَأَقْرَضْتُمُ اللَّهَ قَرْضًا حَسَنًا لَّأُكَفِّرَنَّ عَنكُمْ سَيِّـَٔاتِكُمْ وَلَأُدْخِلَنَّكُمْ جَنَّـٰتٍ تَجْرِي مِن تَحْتِهَا الْأَنْهَٰرُ فَمَن كَفَرَ بَعْدَ ذَٰلِكَ مِنكُمْ فَقَدْ ضَلَّ سَوَآءَ السَّبِيلِ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أخذ الله العهد على بني إسرائيل، وجعلنا منهم اثني عشر رئيسًا، وقال الله: إني معكم لئن أقمتم الصلاة وآتيتم الزكاة وآمنتم برسلي ونصرتموهم لأمحونّ عنكم سيئاتكم ولأُدخلنّكم الجنة.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فَبِمَا نَقْضِهِم مِّيثَٰقَهُمْ لَعَنَّـٰهُمْ وَجَعَلْنَا قُلُوبَهُمْ قَٰسِيَةً يُحَرِّفُونَ الْكَلِمَ عَن مَّوَاضِعِهِ وَنَسُواْ حَظًّا مِّمَّا ذُكِّرُواْ بِهِ وَلَا تَزَالُ تَطَّلِعُ عَلَىٰ خَآئِنَةٍ مِّنْهُمْ إِلَّا قَلِيلًا مِّنْهُمْ فَاعْفُ عَنْهُمْ وَاصْفَحْ إِنَّ اللَّهَ يُحِبُّ الْمُحْسِنِينَ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فبسبب نقضهم العهد طردناهم من رحمتنا، وجعلنا قلوبهم قاسية، يغيّرون كلام الله، وتركوا نصيبًا مما ذُكّروا به، فاعفُ عنهم واصفح، إن الله يحب المحسنين.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الَّذِينَ قَالُواْ إِنَّا نَصَٰرَىٰ أَخَذْنَا مِيثَٰقَهُمْ فَنَسُواْ حَظًّا مِّمَّا ذُكِّرُواْ بِهِ فَأَغْرَيْنَا بَيْنَهُمُ الْعَدَاوَةَ وَالْبَغْضَآءَ إِلَىٰ يَوْمِ الْقِيَٰمَةِ وَسَوْفَ يُنَبِّئُهُمُ اللَّهُ بِمَا كَانُواْ يَصْنَعُونَ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الذين قالوا: إنا نصارى أخذنا عهدهم، فتركوا نصيبًا مما ذُكّروا به، فأوقعنا بينهم العداوة والبغضاء إلى يوم القيامة.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يَـٰأَهْلَ الْكِتَٰبِ قَدْ جَآءَكُمْ رَسُولُنَا يُبَيِّنُ لَكُمْ كَثِيرًا مِّمَّا كُنتُمْ تُخْفُونَ مِنَ الْكِتَٰبِ وَيَعْفُواْ عَن كَثِيرٍ قَدْ جَآءَكُم مِّنَ اللَّهِ نُورٌ وَكِتَٰبٌ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أهل الكتاب، قد جاءكم رسولنا محمد صلى الله عليه وسلم يبيّن لكم كثيرًا مما كنتم تُخفونه من الكتاب، ويترك كثيرًا، قد جاءكم من الله نور وكتاب واضح.</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يَهْدِي بِهِ اللَّهُ مَنِ اتَّبَعَ رِضْوَٰنَهُ سُبُلَ السَّلَٰمِ وَيُخْرِجُهُم مِّنَ الظُّلُمَٰتِ إِلَى النُّورِ بِإِذْنِهِ وَيَهْدِيهِمْ إِلَىٰ صِرَٰطٍ مُّسْتَقِيمٍ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يهدي الله بهذا الكتاب من اتّبع رضاه طرق السلامة، ويُخرجهم من الظلمات إلى النور، ويهديهم إلى طريق مستقيم.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كَفَرَ الَّذِينَ قَالُواْ إِنَّ اللَّهَ هُوَ الْمَسِيحُ ابْنُ مَرْيَمَ قُلْ فَمَن يَمْلِكُ مِنَ اللَّهِ شَيْـًٔا إِنْ أَرَادَ أَن يُهْلِكَ الْمَسِيحَ ابْنَ مَرْيَمَ وَأُمَّهُ وَمَن فِي الْأَرْضِ جَمِيعًا وَلِلَّهِ مُلْكُ السَّمَٰوَٰتِ وَالْأَرْضِ وَمَا بَيْنَهُمَا يَخْلُقُ مَا يَشَآءُ وَاللَّهُ عَلَىٰ كُلِّ شَيْءٍ 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كفر الذين قالوا: إن الله هو المسيح ابن مريم، قل: فمن يملك أن يمنع الله إن أراد أن يُهلك المسيح وأمه ومن في الأرض جميعًا؟ ولله ملك السماوات والأرض.</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١٨ – 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وَقَالَتِ الْيَهُودُ وَالنَّصَٰرَىٰ نَحْنُ أَبْنَـٰؤُاْ اللَّهِ وَأَحِبَّـٰؤُهُ قُلْ فَلِمَ يُعَذِّبُكُم بِذُنُوبِكُم بَلْ أَنتُم بَشَرٌ مِّمَّنْ خَلَقَ يَغْفِرُ لِمَن يَشَآءُ وَيُعَذِّبُ مَن يَشَآءُ وَلِلَّهِ مُلْكُ السَّمَٰوَٰتِ وَالْأَرْضِ وَمَا بَيْنَهُمَا وَإِلَيْهِ الْمَصِيرُ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اليهود والنصارى: نحن أبناء الله وأحبّاؤه، قل: فلماذا يعذّبكم بذنوبكم؟ بل أنتم بشر ممن خلق، يغفر لمن يشاء ويعذّب من يشاء.</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يَـٰأَهْلَ الْكِتَٰبِ قَدْ جَآءَكُمْ رَسُولُنَا يُبَيِّنُ لَكُمْ عَلَىٰ فَتْرَةٍ مِّنَ الرُّسُلِ أَن تَقُولُواْ مَا جَآءَنَا مِن بَشِيرٍ وَلَا نَذِيرٍ فَقَدْ جَآءَكُم بَشِيرٌ وَنَذِيرٌ وَاللَّهُ عَلَىٰ كُلِّ شَيْءٍ 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أهل الكتاب، قد جاءكم رسولنا يبيّن لكم بعد انقطاع من الرسل، لئلا تقولوا: ما جاءنا من بشير ولا نذير، فقد جاءكم بشير ونذير.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٢٠ – 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قَالَ مُوسَىٰ لِقَوْمِهِ يَٰقَوْمِ اذْكُرُواْ نِعْمَةَ اللَّهِ عَلَيْكُمْ إِذْ جَعَلَ فِيكُمْ أَنبِيَآءَ وَجَعَلَكُم مُّلُوكًا وَءَاتَىٰكُم مَّا لَمْ يُؤْتِ أَحَدًا مِّنَ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حين قال موسى لقومه: يا قوم اذكروا نعمة الله عليكم إذ جعل فيكم أنبياء، وجعلكم ملوكًا، وأعطاكم ما لم يُعطِ أحدًا من أهل زمانكم.</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يَٰقَوْمِ ادْخُلُواْ الْأَرْضَ الْمُقَدَّسَةَ الَّتِي كَتَبَ اللَّهُ لَكُمْ وَلَا تَرْتَدُّواْ عَلَىٰ أَدْبَارِكُمْ فَتَنقَلِبُواْ خَٰسِرِينَ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قوم، ادخلوا الأرض المقدّسة -بيت المقدس- التي كتبها الله لكم، ولا ترجعوا هاربين فتصيروا خاسرين.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٢٢ – ٢٣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يَٰمُوسَىٰ إِنَّ فِيهَا قَوْمًا جَبَّارِينَ وَإِنَّا لَن نَّدْخُلَهَا حَتَّىٰ يَخْرُجُواْ مِنْهَا فَإِن يَخْرُجُواْ مِنْهَا فَإِنَّا دَٰخِلُونَ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يا موسى، إن فيها قومًا أقوياء جبّارين، وإنا لن ندخلها حتى يخرجوا منها، فإن يخرجوا منها فإنا داخلون.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رَجُلَانِ مِنَ الَّذِينَ يَخَافُونَ أَنْعَمَ اللَّهُ عَلَيْهِمَا ادْخُلُواْ عَلَيْهِمُ الْبَابَ فَإِذَا دَخَلْتُمُوهُ فَإِنَّكُمْ غَٰلِبُونَ وَعَلَى اللَّهِ فَتَوَكَّلُواْ إِن كُنتُم 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رجلان من الذين يخافون الله أنعم الله عليهما بالإيمان: ادخلوا عليهم الباب، فإذا دخلتموه فإنكم غالبون، وعلى الله فتوكّلوا إن كنتم مؤمنين.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٢٤ – 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يَٰمُوسَىٰ إِنَّا لَن نَّدْخُلَهَآ أَبَدًا مَّا دَامُواْ فِيهَا فَاذْهَبْ أَنتَ وَرَبُّكَ فَقَٰتِلَآ إِنَّا هَٰهُنَا قَٰعِدُونَ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يا موسى إنا لن ندخلها أبدًا ما داموا فيها، فاذهب أنت وربك فقاتلا، إنا هاهنا قاعدون.</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 إِنِّي لَآ أَمْلِكُ إِلَّا نَفْسِي وَأَخِي فَافْرُقْ بَيْنَنَا وَبَيْنَ الْقَوْمِ الْفَٰسِقِينَ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موسى: ربِّ إني لا أملك إلا نفسي وأخي هارون، فافصل بيننا وبين القوم الخارجين عن طاعتك.</a:t>
            </a:r>
            <a:endParaRPr lang="ar-SA" sz="3200" dirty="0"/>
          </a:p>
        </p:txBody>
      </p:sp>
      <p:sp>
        <p:nvSpPr>
          <p:cNvPr id="14" name="Shape 12"/>
          <p:cNvSpPr/>
          <p:nvPr/>
        </p:nvSpPr>
        <p:spPr>
          <a:xfrm>
            <a:off x="2103120" y="4294632"/>
            <a:ext cx="8641080" cy="0"/>
          </a:xfrm>
          <a:prstGeom prst="line">
            <a:avLst/>
          </a:prstGeom>
          <a:noFill/>
          <a:ln w="9525">
            <a:solidFill>
              <a:schemeClr val="accent2"/>
            </a:solidFill>
            <a:prstDash val="dash"/>
          </a:ln>
        </p:spPr>
      </p:sp>
      <p:sp>
        <p:nvSpPr>
          <p:cNvPr id="15" name="Shape 13"/>
          <p:cNvSpPr/>
          <p:nvPr/>
        </p:nvSpPr>
        <p:spPr>
          <a:xfrm>
            <a:off x="10927080" y="4469892"/>
            <a:ext cx="548640" cy="548640"/>
          </a:xfrm>
          <a:prstGeom prst="star8">
            <a:avLst/>
          </a:prstGeom>
          <a:solidFill>
            <a:schemeClr val="accent2"/>
          </a:solidFill>
          <a:ln/>
        </p:spPr>
      </p:sp>
      <p:sp>
        <p:nvSpPr>
          <p:cNvPr id="16" name="Shape 14"/>
          <p:cNvSpPr/>
          <p:nvPr/>
        </p:nvSpPr>
        <p:spPr>
          <a:xfrm>
            <a:off x="11036808" y="45796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69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8" name="Text 16"/>
          <p:cNvSpPr txBox="1"/>
          <p:nvPr/>
        </p:nvSpPr>
        <p:spPr>
          <a:xfrm>
            <a:off x="731520" y="44516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فَإِنَّهَا مُحَرَّمَةٌ عَلَيْهِمْ أَرْبَعِينَ سَنَةً يَتِيهُونَ فِي الْأَرْضِ فَلَا تَأْسَ عَلَى الْقَوْمِ الْفَٰسِقِينَ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الله: فإنها محرّمة عليهم أربعين سنة، يتيهون في الأرض حائرين، فلا تحزن على القوم الفاسقين.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قصة ابني آدم وحرمة النفس</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٤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٢٧ – ٤٠</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المائدة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قدم أناس من قبيلتي عُكل وعُرينة إلى المدينة فأسلموا، ثم مرضوا، فأمرهم النبي صلى الله عليه وسلم أن يخرجوا إلى إبل الصدقة فصحّوا، فقتلوا الراعي وسرقوا الإبل، فنزلت آية عقوبة المحاربين (رواه البخاري ومسلم).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قصة ابني آدم وأول جريمة قتل، وبيان عِظَم حرمة النفس، وعقوبة المفسدين في الأرض والسارق، وفتح باب التوبة.</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٢٧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وَاتْلُ عَلَيْهِمْ نَبَأَ ابْنَيْ ءَادَمَ بِالْحَقِّ إِذْ قَرَّبَا قُرْبَانًا فَتُقُبِّلَ مِنْ أَحَدِهِمَا وَلَمْ يُتَقَبَّلْ مِنَ الْأخَرِ قَالَ لَأَقْتُلَنَّكَ قَالَ إِنَّمَا يَتَقَبَّلُ اللَّهُ مِنَ الْمُتَّقِينَ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واقرأ عليهم خبر ابني آدم بالحق، حين قدّم كلٌّ منهما قربانًا، فتُقبّل من أحدهما ولم يُتقبّل من الآخر، فقال الحاسد: لأقتلنّك، قال الآخر: إنما يتقبّل الله من المتقين.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لَئِن بَسَطتَ إِلَيَّ يَدَكَ لِتَقْتُلَنِي مَآ أَنَا بِبَاسِطٍ يَدِيَ إِلَيْكَ لِأَقْتُلَكَ إِنِّي أَخَافُ اللَّهَ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لئن مددت إليّ يدك لتقتلني ما أنا بمادٍّ يدي إليك لأقتلك، إني أخاف الله ربّ العالمين.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إِنِّي أُرِيدُ أَن تَبُوأَ بِإِثْمِي وَإِثْمِكَ فَتَكُونَ مِنْ أَصْحَٰبِ النَّارِ وَذَٰلِكَ جَزَـٰؤُاْ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إني أريد أن ترجع بإثم قتلي مع إثمك، فتكون من أصحاب النار، وذلك جزاء الظالمين.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فَطَوَّعَتْ لَهُ نَفْسُهُ قَتْلَ أَخِيهِ فَقَتَلَهُ فَأَصْبَحَ مِنَ الْخَٰسِرِينَ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فزيّنت له نفسه قتل أخيه فقتله، فأصبح من الخاسرين.</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فَبَعَثَ اللَّهُ غُرَابًا يَبْحَثُ فِي الْأَرْضِ لِيُرِيَهُ كَيْفَ يُوَٰرِي سَوْءَةَ أَخِيهِ قَالَ يَٰوَيْلَتَىٰ أَعَجَزْتُ أَنْ أَكُونَ مِثْلَ هَٰذَا الْغُرَابِ فَأُوَٰرِيَ سَوْءَةَ أَخِي فَأَصْبَحَ مِنَ النَّـٰدِمِينَ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فأرسل الله غرابًا يحفر في الأرض ليريه كيف يدفن جثة أخيه، قال: يا ويلتا، أعجزت أن أكون مثل هذا الغراب فأدفن أخي؟ فأصبح من النادمين.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167128"/>
            <a:ext cx="548640" cy="548640"/>
          </a:xfrm>
          <a:prstGeom prst="star8">
            <a:avLst/>
          </a:prstGeom>
          <a:solidFill>
            <a:schemeClr val="accent2"/>
          </a:solidFill>
          <a:ln/>
        </p:spPr>
      </p:sp>
      <p:sp>
        <p:nvSpPr>
          <p:cNvPr id="6" name="Shape 4"/>
          <p:cNvSpPr/>
          <p:nvPr/>
        </p:nvSpPr>
        <p:spPr>
          <a:xfrm>
            <a:off x="11036808" y="227685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1671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8" name="Text 6"/>
          <p:cNvSpPr txBox="1"/>
          <p:nvPr/>
        </p:nvSpPr>
        <p:spPr>
          <a:xfrm>
            <a:off x="731520" y="2148840"/>
            <a:ext cx="10012680" cy="306324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أَجْلِ ذَٰلِكَ كَتَبْنَا عَلَىٰ بَنِي إِسْرَـٰءِيلَ أَنَّهُ مَن قَتَلَ نَفْسًا بِغَيْرِ نَفْسٍ أَوْ فَسَادٍ فِي الْأَرْضِ فَكَأَنَّمَا قَتَلَ النَّاسَ جَمِيعًا وَمَنْ أَحْيَاهَا فَكَأَنَّمَآ أَحْيَا النَّاسَ جَمِيعًا وَلَقَدْ جَآءَتْهُمْ رُسُلُنَا بِالْبَيِّنَٰتِ ثُمَّ إِنَّ كَثِيرًا مِّنْهُم بَعْدَ ذَٰلِكَ فِي الْأَرْضِ لَمُسْرِفُونَ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أجل ذلك شرعنا لبني إسرائيل أنه من قتل نفسًا بغير حق فكأنما قتل الناس جميعًا، ومن كان سببًا في إنقاذ نفس فكأنما أحيا الناس جميعًا.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٣٣ – ٣٤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جَزَـٰؤُاْ الَّذِينَ يُحَارِبُونَ اللَّهَ وَرَسُولَهُ وَيَسْعَوْنَ فِي الْأَرْضِ فَسَادًا أَن يُقَتَّلُواْ أَوْ يُصَلَّبُواْ أَوْ تُقَطَّعَ أَيْدِيهِمْ وَأَرْجُلُهُم مِّنْ خِلَٰفٍ أَوْ يُنفَوْاْ مِنَ الْأَرْضِ ذَٰلِكَ لَهُمْ خِزْيٌ فِي الدُّنْيَا وَلَهُمْ فِي الْأخِرَةِ عَذَابٌ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جزاء الذين يحاربون الله ورسوله، ويقطعون الطريق، ويسعون في الأرض فسادًا، أن يُقتلوا أو يُصلبوا أو تُقطع أيديهم وأرجلهم من خلاف أو يُنفوا من الأرض، ذلك لهم خزي في الدنيا، ولهم في الآخرة عذاب عظيم.</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الَّذِينَ تَابُواْ مِن قَبْلِ أَن تَقْدِرُواْ عَلَيْهِمْ فَاعْلَمُواْ أَنَّ اللَّهَ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الذين تابوا من قبل أن تقدروا عليهم، فاعلموا أن الله غفور رحيم.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٣٥ –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اتَّقُواْ اللَّهَ وَابْتَغُواْ إِلَيْهِ الْوَسِيلَةَ وَجَٰهِدُواْ فِي سَبِيلِهِ لَعَلَّكُمْ تُفْلِحُونَ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اتقوا الله، واطلبوا القرب إليه بطاعته، وجاهدوا في سبيله لعلكم تفوزون.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كَفَرُواْ لَوْ أَنَّ لَهُم مَّا فِي الْأَرْضِ جَمِيعًا وَمِثْلَهُ مَعَهُ لِيَفْتَدُواْ بِهِ مِنْ عَذَابِ يَوْمِ الْقِيَٰمَةِ مَا تُقُبِّلَ مِنْهُمْ وَلَهُمْ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الكفار لو أن لهم ما في الأرض جميعًا ومثله معه ليفتدوا به أنفسهم من عذاب يوم القيامة ما قُبل منهم، ولهم عذاب مؤلم.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٣٧ – ٣٩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يُرِيدُونَ أَن يَخْرُجُواْ مِنَ النَّارِ وَمَا هُم بِخَٰرِجِينَ مِنْهَا وَلَهُمْ عَذَابٌ مُّقِيمٌ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يريدون أن يخرجوا من النار وما هم بخارجين منها، ولهم عذاب دائم.</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وَالسَّارِقُ وَالسَّارِقَةُ فَاقْطَعُواْ أَيْدِيَهُمَا جَزَآءً بِمَا كَسَبَا نَكَٰلًا مِّنَ اللَّهِ وَاللَّهُ عَزِيزٌ 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والسارق والسارقة فاقطعوا أيديهما جزاءً على سرقتهما، وعقوبةً رادعة من الله، والله عزيز حكيم.</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فَمَن تَابَ مِن بَعْدِ ظُلْمِهِ وَأَصْلَحَ فَإِنَّ اللَّهَ يَتُوبُ عَلَيْهِ إِنَّ اللَّهَ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فمن تاب بعد سرقته وأصلح عمله فإن الله يتوب عليه، إن الله غفور رحيم.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921508"/>
            <a:ext cx="548640" cy="548640"/>
          </a:xfrm>
          <a:prstGeom prst="star8">
            <a:avLst/>
          </a:prstGeom>
          <a:solidFill>
            <a:schemeClr val="accent2"/>
          </a:solidFill>
          <a:ln/>
        </p:spPr>
      </p:sp>
      <p:sp>
        <p:nvSpPr>
          <p:cNvPr id="6" name="Shape 4"/>
          <p:cNvSpPr/>
          <p:nvPr/>
        </p:nvSpPr>
        <p:spPr>
          <a:xfrm>
            <a:off x="11036808" y="303123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8" name="Text 6"/>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تَعْلَمْ أَنَّ اللَّهَ لَهُ مُلْكُ السَّمَٰوَٰتِ وَالْأَرْضِ يُعَذِّبُ مَن يَشَآءُ وَيَغْفِرُ لِمَن يَشَآءُ وَاللَّهُ عَلَىٰ كُلِّ شَيْءٍ 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تعلم أن الله له ملك السماوات والأرض، يعذّب من يشاء ويغفر لمن يشاء، والله على كل شيء قدير؟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3400" b="1" dirty="0">
                <a:solidFill>
                  <a:schemeClr val="accent2"/>
                </a:solidFill>
                <a:latin typeface="Sakkal Majalla" pitchFamily="34" charset="0"/>
                <a:ea typeface="Sakkal Majalla" pitchFamily="34" charset="-122"/>
                <a:cs typeface="Sakkal Majalla" pitchFamily="34" charset="-120"/>
              </a:rPr>
              <a:t>الحكم بما أنزل الله</a:t>
            </a:r>
            <a:endParaRPr lang="ar-SA" sz="3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٥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٤١ – ٥٠</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المائدة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جاء اليهود إلى النبي صلى الله عليه وسلم يتحاكمون إليه في قضية، وكانوا يريدون حكمًا أخفّ مما في التوراة، فحكم بينهم بحكم الله، فنزلت: ﴿يا أيها الرسول لا يُحزنك الذين يسارعون في الكفر﴾ (رواه 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تسلية النبي صلى الله عليه وسلم، وبيان أن التوراة والإنجيل فيهما هدى ونور، وأن القرآن مهيمن على الكتب السابقة، والأمر بالحكم بما أنزل الله.</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٤١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81912"/>
            <a:ext cx="548640" cy="548640"/>
          </a:xfrm>
          <a:prstGeom prst="star8">
            <a:avLst/>
          </a:prstGeom>
          <a:solidFill>
            <a:schemeClr val="accent2"/>
          </a:solidFill>
          <a:ln/>
        </p:spPr>
      </p:sp>
      <p:sp>
        <p:nvSpPr>
          <p:cNvPr id="6" name="Shape 4"/>
          <p:cNvSpPr/>
          <p:nvPr/>
        </p:nvSpPr>
        <p:spPr>
          <a:xfrm>
            <a:off x="11036808" y="16916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819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8" name="Text 6"/>
          <p:cNvSpPr txBox="1"/>
          <p:nvPr/>
        </p:nvSpPr>
        <p:spPr>
          <a:xfrm>
            <a:off x="731520" y="1563624"/>
            <a:ext cx="10012680" cy="423367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الرَّسُولُ لَا يَحْزُنكَ الَّذِينَ يُسَٰرِعُونَ فِي الْكُفْرِ مِنَ الَّذِينَ قَالُواْ ءَامَنَّا بِأَفْوَٰهِهِمْ وَلَمْ تُؤْمِن قُلُوبُهُمْ وَمِنَ الَّذِينَ هَادُواْ سَمَّـٰعُونَ لِلْكَذِبِ سَمَّـٰعُونَ لِقَوْمٍ ءَاخَرِينَ لَمْ يَأْتُوكَ يُحَرِّفُونَ الْكَلِمَ مِن بَعْدِ مَوَاضِعِهِ يَقُولُونَ إِنْ أُوتِيتُمْ هَٰذَا فَخُذُوهُ وَإِن لَّمْ تُؤْتَوْهُ فَاحْذَرُواْ وَمَن يُرِدِ اللَّهُ فِتْنَتَهُ فَلَن تَمْلِكَ لَهُ مِنَ اللَّهِ شَيْـًٔا أُوْلَـٰئِكَ الَّذِينَ لَمْ يُرِدِ اللَّهُ أَن يُطَهِّرَ قُلُوبَهُمْ لَهُمْ فِي الدُّنْيَا خِزْيٌ وَلَهُمْ فِي الْأخِرَةِ عَذَابٌ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الرسول، لا يُحزنك الذين يسارعون في الكفر من المنافقين واليهود، الذين يسمعون الكذب، ويحرّفون الكلام، ويقولون: إن أُعطيتم هذا الحكم فخذوه وإلا فاحذروا، أولئك لم يُرد الله أن يطهّر قلوبهم.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٤٢ – ٤٣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سَمَّـٰعُونَ لِلْكَذِبِ أَكَّـٰلُونَ لِلسُّحْتِ فَإِن جَآءُوكَ فَاحْكُم بَيْنَهُمْ أَوْ أَعْرِضْ عَنْهُمْ وَإِن تُعْرِضْ عَنْهُمْ فَلَن يَضُرُّوكَ شَيْـًٔا وَإِنْ حَكَمْتَ فَاحْكُم بَيْنَهُم بِالْقِسْطِ إِنَّ اللَّهَ يُحِبُّ الْمُقْسِطِينَ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كثيرو السماع للكذب، كثيرو الأكل للحرام كالرشوة، فإن جاؤوك فاحكم بينهم أو أعرض عنهم، وإن حكمت فاحكم بينهم بالعدل، إن الله يحب العادلين.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وَكَيْفَ يُحَكِّمُونَكَ وَعِندَهُمُ التَّوْرَىٰةُ فِيهَا حُكْمُ اللَّهِ ثُمَّ يَتَوَلَّوْنَ مِن بَعْدِ ذَٰلِكَ وَمَآ أُوْلَـٰئِكَ بِالْمُؤْمِنِينَ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وكيف يجعلونك حكمًا وعندهم التوراة فيها حكم الله، ثم يُعرضون عنه بعد ذلك؟ وما أولئك بالمؤمنين.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٤٤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167128"/>
            <a:ext cx="548640" cy="548640"/>
          </a:xfrm>
          <a:prstGeom prst="star8">
            <a:avLst/>
          </a:prstGeom>
          <a:solidFill>
            <a:schemeClr val="accent2"/>
          </a:solidFill>
          <a:ln/>
        </p:spPr>
      </p:sp>
      <p:sp>
        <p:nvSpPr>
          <p:cNvPr id="6" name="Shape 4"/>
          <p:cNvSpPr/>
          <p:nvPr/>
        </p:nvSpPr>
        <p:spPr>
          <a:xfrm>
            <a:off x="11036808" y="227685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1671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8" name="Text 6"/>
          <p:cNvSpPr txBox="1"/>
          <p:nvPr/>
        </p:nvSpPr>
        <p:spPr>
          <a:xfrm>
            <a:off x="731520" y="2148840"/>
            <a:ext cx="10012680" cy="306324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أَنزَلْنَا التَّوْرَىٰةَ فِيهَا هُدًى وَنُورٌ يَحْكُمُ بِهَا النَّبِيُّونَ الَّذِينَ أَسْلَمُواْ لِلَّذِينَ هَادُواْ وَالرَّبَّـٰنِيُّونَ وَالْأَحْبَارُ بِمَا اسْتُحْفِظُواْ مِن كِتَٰبِ اللَّهِ وَكَانُواْ عَلَيْهِ شُهَدَآءَ فَلَا تَخْشَوُاْ النَّاسَ وَاخْشَوْنِ وَلَا تَشْتَرُواْ بِـَٔايَٰتِي ثَمَنًا قَلِيلًا وَمَن لَّمْ يَحْكُم بِمَآ أَنزَلَ اللَّهُ فَأُوْلَـٰئِكَ هُمُ الْكَٰفِرُونَ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أنزلنا التوراة فيها هدى ونور، يحكم بها الأنبياء والعلماء، فلا تخشوا الناس واخشوني، ولا تبيعوا آياتي بثمن قليل، ومن لم يحكم بما أنزل الله فأولئك هم الكافرون.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٤٥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وَكَتَبْنَا عَلَيْهِمْ فِيهَآ أَنَّ النَّفْسَ بِالنَّفْسِ وَالْعَيْنَ بِالْعَيْنِ وَالْأَنفَ بِالْأَنفِ وَالْأُذُنَ بِالْأُذُنِ وَالسِّنَّ بِالسِّنِّ وَالْجُرُوحَ قِصَاصٌ فَمَن تَصَدَّقَ بِهِ فَهُوَ كَفَّارَةٌ لَّهُ وَمَن لَّمْ يَحْكُم بِمَآ أَنزَلَ اللَّهُ فَأُوْلَـٰئِكَ هُمُ الظَّـٰلِمُونَ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وفرضنا عليهم في التوراة أن النفس بالنفس، والعين بالعين، والأنف بالأنف، والأذن بالأذن، والسنّ بالسنّ، والجروح قصاص، فمن عفا كان كفّارة له، ومن لم يحكم بما أنزل الله فأولئك هم الظالمون.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٤٦ – ٤٧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623060"/>
            <a:ext cx="548640" cy="548640"/>
          </a:xfrm>
          <a:prstGeom prst="star8">
            <a:avLst/>
          </a:prstGeom>
          <a:solidFill>
            <a:schemeClr val="accent2"/>
          </a:solidFill>
          <a:ln/>
        </p:spPr>
      </p:sp>
      <p:sp>
        <p:nvSpPr>
          <p:cNvPr id="6" name="Shape 4"/>
          <p:cNvSpPr/>
          <p:nvPr/>
        </p:nvSpPr>
        <p:spPr>
          <a:xfrm>
            <a:off x="11036808" y="17327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6230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8" name="Text 6"/>
          <p:cNvSpPr txBox="1"/>
          <p:nvPr/>
        </p:nvSpPr>
        <p:spPr>
          <a:xfrm>
            <a:off x="731520" y="1604772"/>
            <a:ext cx="10012680" cy="213969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وَقَفَّيْنَا عَلَىٰ ءَاثَٰرِهِم بِعِيسَى ابْنِ مَرْيَمَ مُصَدِّقًا لِّمَا بَيْنَ يَدَيْهِ مِنَ التَّوْرَىٰةِ وَءَاتَيْنَٰهُ الْإِنجِيلَ فِيهِ هُدًى وَنُورٌ وَمُصَدِّقًا لِّمَا بَيْنَ يَدَيْهِ مِنَ التَّوْرَىٰةِ وَهُدًى وَمَوْعِظَةً لِّلْمُتَّقِينَ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وأتبعنا الأنبياء بعيسى ابن مريم مصدّقًا للتوراة، وأعطيناه الإنجيل فيه هدى ونور، وموعظة للمتقين.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13" name="Text 11"/>
          <p:cNvSpPr txBox="1"/>
          <p:nvPr/>
        </p:nvSpPr>
        <p:spPr>
          <a:xfrm>
            <a:off x="731520" y="420166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وَلْيَحْكُمْ أَهْلُ الْإِنجِيلِ بِمَآ أَنزَلَ اللَّهُ فِيهِ وَمَن لَّمْ يَحْكُم بِمَآ أَنزَلَ اللَّهُ فَأُوْلَـٰئِكَ هُمُ الْفَٰسِقُونَ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وليحكم أهل الإنجيل بما أنزل الله فيه، ومن لم يحكم بما أنزل الله فأولئك هم الخارجون عن طاعته.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٤٨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74520"/>
            <a:ext cx="548640" cy="548640"/>
          </a:xfrm>
          <a:prstGeom prst="star8">
            <a:avLst/>
          </a:prstGeom>
          <a:solidFill>
            <a:schemeClr val="accent2"/>
          </a:solidFill>
          <a:ln/>
        </p:spPr>
      </p:sp>
      <p:sp>
        <p:nvSpPr>
          <p:cNvPr id="6" name="Shape 4"/>
          <p:cNvSpPr/>
          <p:nvPr/>
        </p:nvSpPr>
        <p:spPr>
          <a:xfrm>
            <a:off x="11036808" y="198424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745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8" name="Text 6"/>
          <p:cNvSpPr txBox="1"/>
          <p:nvPr/>
        </p:nvSpPr>
        <p:spPr>
          <a:xfrm>
            <a:off x="731520" y="1856232"/>
            <a:ext cx="10012680" cy="364845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وَأَنزَلْنَآ إِلَيْكَ الْكِتَٰبَ بِالْحَقِّ مُصَدِّقًا لِّمَا بَيْنَ يَدَيْهِ مِنَ الْكِتَٰبِ وَمُهَيْمِنًا عَلَيْهِ فَاحْكُم بَيْنَهُم بِمَآ أَنزَلَ اللَّهُ وَلَا تَتَّبِعْ أَهْوَآءَهُمْ عَمَّا جَآءَكَ مِنَ الْحَقِّ لِكُلٍّ جَعَلْنَا مِنكُمْ شِرْعَةً وَمِنْهَاجًا وَلَوْ شَآءَ اللَّهُ لَجَعَلَكُمْ أُمَّةً وَٰحِدَةً وَلَٰكِن لِّيَبْلُوَكُمْ فِي مَآ ءَاتَىٰكُمْ فَاسْتَبِقُواْ الْخَيْرَٰتِ إِلَى اللَّهِ مَرْجِعُكُمْ جَمِيعًا فَيُنَبِّئُكُم بِمَا كُنتُمْ فِيهِ تَخْتَلِفُونَ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وأنزلنا إليك القرآن بالحق، مصدّقًا لما قبله من الكتب وحاكمًا عليها، فاحكم بينهم بما أنزل الله، لكل أمة جعلنا شريعة وطريقًا، فتسابقوا إلى الخيرات، إلى الله مرجعكم جميعًا.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٤٩ – ٥٠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8" name="Text 6"/>
          <p:cNvSpPr txBox="1"/>
          <p:nvPr/>
        </p:nvSpPr>
        <p:spPr>
          <a:xfrm>
            <a:off x="731520" y="1897380"/>
            <a:ext cx="10012680" cy="213969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 احْكُم بَيْنَهُم بِمَآ أَنزَلَ اللَّهُ وَلَا تَتَّبِعْ أَهْوَآءَهُمْ وَاحْذَرْهُمْ أَن يَفْتِنُوكَ عَن بَعْضِ مَآ أَنزَلَ اللَّهُ إِلَيْكَ فَإِن تَوَلَّوْاْ فَاعْلَمْ أَنَّمَا يُرِيدُ اللَّهُ أَن يُصِيبَهُم بِبَعْضِ ذُنُوبِهِمْ وَإِنَّ كَثِيرًا مِّنَ النَّاسِ لَفَٰسِقُونَ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 احكم بينهم بما أنزل الله، ولا تتّبع أهواءهم، واحذرهم أن يصرفوك عن بعض ما أنزل الله إليك.</a:t>
            </a:r>
            <a:endParaRPr lang="ar-SA" sz="3200" dirty="0"/>
          </a:p>
        </p:txBody>
      </p:sp>
      <p:sp>
        <p:nvSpPr>
          <p:cNvPr id="9" name="Shape 7"/>
          <p:cNvSpPr/>
          <p:nvPr/>
        </p:nvSpPr>
        <p:spPr>
          <a:xfrm>
            <a:off x="2103120" y="4251960"/>
            <a:ext cx="8641080" cy="0"/>
          </a:xfrm>
          <a:prstGeom prst="line">
            <a:avLst/>
          </a:prstGeom>
          <a:noFill/>
          <a:ln w="9525">
            <a:solidFill>
              <a:schemeClr val="accent2"/>
            </a:solidFill>
            <a:prstDash val="dash"/>
          </a:ln>
        </p:spPr>
      </p:sp>
      <p:sp>
        <p:nvSpPr>
          <p:cNvPr id="10" name="Shape 8"/>
          <p:cNvSpPr/>
          <p:nvPr/>
        </p:nvSpPr>
        <p:spPr>
          <a:xfrm>
            <a:off x="10927080" y="4512564"/>
            <a:ext cx="548640" cy="548640"/>
          </a:xfrm>
          <a:prstGeom prst="star8">
            <a:avLst/>
          </a:prstGeom>
          <a:solidFill>
            <a:schemeClr val="accent2"/>
          </a:solidFill>
          <a:ln/>
        </p:spPr>
      </p:sp>
      <p:sp>
        <p:nvSpPr>
          <p:cNvPr id="11" name="Shape 9"/>
          <p:cNvSpPr/>
          <p:nvPr/>
        </p:nvSpPr>
        <p:spPr>
          <a:xfrm>
            <a:off x="11036808" y="462229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5125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13" name="Text 11"/>
          <p:cNvSpPr txBox="1"/>
          <p:nvPr/>
        </p:nvSpPr>
        <p:spPr>
          <a:xfrm>
            <a:off x="731520" y="449427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أَفَحُكْمَ الْجَٰهِلِيَّةِ يَبْغُونَ وَمَنْ أَحْسَنُ مِنَ اللَّهِ حُكْمًا لِّقَوْمٍ يُوقِنُونَ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أيطلبون حكم الجاهلية؟ ومن أحسن من الله حكمًا لقوم يوقنون؟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3400" b="1" dirty="0">
                <a:solidFill>
                  <a:schemeClr val="accent2"/>
                </a:solidFill>
                <a:latin typeface="Sakkal Majalla" pitchFamily="34" charset="0"/>
                <a:ea typeface="Sakkal Majalla" pitchFamily="34" charset="-122"/>
                <a:cs typeface="Sakkal Majalla" pitchFamily="34" charset="-120"/>
              </a:rPr>
              <a:t>الولاء للمؤمنين</a:t>
            </a:r>
            <a:endParaRPr lang="ar-SA" sz="3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٦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٥١ – ٦٦</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المائدة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ذكر ابن كثير أن عبادة بن الصامت رضي الله عنه تبرّأ من حلفه مع يهود بني قينقاع لما حاربوا المسلمين، وتمسّك به عبد الله بن أُبيّ المنافق وقال: إني أخاف الدوائر، فنزلت: ﴿يا أيها الذين آمنوا لا تتخذوا اليهود والنصارى أولياء﴾.</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النهي عن موالاة أعداء الدين، وصفات القوم الذين يحبهم الله ويحبونه، وأن حزب الله هم الغالبون، وكشف أقوال بعض أهل الكتاب.</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٥١ – ٥٢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لَا تَتَّخِذُواْ الْيَهُودَ وَالنَّصَٰرَىٰ أَوْلِيَآءَ بَعْضُهُمْ أَوْلِيَآءُ بَعْضٍ وَمَن يَتَوَلَّهُم مِّنكُمْ فَإِنَّهُ مِنْهُمْ إِنَّ اللَّهَ لَا يَهْدِي الْقَوْمَ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لا تتخذوا اليهود والنصارى أنصارًا وأحبّاء من دون المؤمنين، بعضهم أولياء بعض، ومن يتولّهم منكم فإنه منهم.</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فَتَرَى الَّذِينَ فِي قُلُوبِهِم مَّرَضٌ يُسَٰرِعُونَ فِيهِمْ يَقُولُونَ نَخْشَىٰ أَن تُصِيبَنَا دَآئِرَةٌ فَعَسَى اللَّهُ أَن يَأْتِيَ بِالْفَتْحِ أَوْ أَمْرٍ مِّنْ عِندِهِ فَيُصْبِحُواْ عَلَىٰ مَآ أَسَرُّواْ فِي أَنفُسِهِمْ نَٰدِمِينَ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فترى المنافقين يسارعون في موالاتهم، يقولون: نخشى أن تصيبنا مصيبة، فعسى الله أن يأتي بالفتح، فيصبحوا نادمين على ما أخفوا.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٥٣ – ٥٤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وَيَقُولُ الَّذِينَ ءَامَنُواْ أَهَـٰؤُلَآءِ الَّذِينَ أَقْسَمُواْ بِاللَّهِ جَهْدَ أَيْمَٰنِهِمْ إِنَّهُمْ لَمَعَكُمْ حَبِطَتْ أَعْمَٰلُهُمْ فَأَصْبَحُواْ خَٰسِرِينَ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ويقول المؤمنون متعجّبين: أهؤلاء الذين حلفوا بالله أشدّ الأيمان إنهم لمعكم؟ بطلت أعمالهم فأصبحوا خاسرين.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مَن يَرْتَدَّ مِنكُمْ عَن دِينِهِ فَسَوْفَ يَأْتِي اللَّهُ بِقَوْمٍ يُحِبُّهُمْ وَيُحِبُّونَهُ أَذِلَّةٍ عَلَى الْمُؤْمِنِينَ أَعِزَّةٍ عَلَى الْكَٰفِرِينَ يُجَٰهِدُونَ فِي سَبِيلِ اللَّهِ وَلَا يَخَافُونَ لَوْمَةَ لَآئِمٍ ذَٰلِكَ فَضْلُ اللَّهِ يُؤْتِيهِ مَن يَشَآءُ وَاللَّهُ وَٰسِعٌ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من يرجع منكم عن دينه فسوف يأتي الله بقوم يحبهم ويحبونه، رحماء بالمؤمنين، أشدّاء على الكافرين، يجاهدون في سبيل الله ولا يخافون لوم لائم، ذلك فضل الله يؤتيه من يشاء.</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٥٥ – ٥٦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وَلِيُّكُمُ اللَّهُ وَرَسُولُهُ وَالَّذِينَ ءَامَنُواْ الَّذِينَ يُقِيمُونَ الصَّلَوٰةَ وَيُؤْتُونَ الزَّكَوٰةَ وَهُمْ رَٰكِعُونَ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ناصركم الله ورسوله والمؤمنون الذين يقيمون الصلاة، ويؤتون الزكاة، وهم خاضعون لله.</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يَتَوَلَّ اللَّهَ وَرَسُولَهُ وَالَّذِينَ ءَامَنُواْ فَإِنَّ حِزْبَ اللَّهِ هُمُ الْغَٰلِبُونَ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يتولَّ الله ورسوله والمؤمنين فإن حزب الله هم الغالبون.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٥٧ – ٥٨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لَا تَتَّخِذُواْ الَّذِينَ اتَّخَذُواْ دِينَكُمْ هُزُوًا وَلَعِبًا مِّنَ الَّذِينَ أُوتُواْ الْكِتَٰبَ مِن قَبْلِكُمْ وَالْكُفَّارَ أَوْلِيَآءَ وَاتَّقُواْ اللَّهَ إِن كُنتُم 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لا تتخذوا الذين جعلوا دينكم سخرية ولعبًا من أهل الكتاب والكفار أولياء، واتقوا الله إن كنتم مؤمنين.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نَادَيْتُمْ إِلَى الصَّلَوٰةِ اتَّخَذُوهَا هُزُوًا وَلَعِبًا ذَٰلِكَ بِأَنَّهُمْ قَوْمٌ لَّا يَعْقِلُونَ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أذّنتم للصلاة اتخذوها سخرية ولعبًا، ذلك لأنهم قوم لا يعقلون.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٥٩ – ٦٠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يَـٰأَهْلَ الْكِتَٰبِ هَلْ تَنقِمُونَ مِنَّآ إِلَّآ أَنْ ءَامَنَّا بِاللَّهِ وَمَآ أُنزِلَ إِلَيْنَا وَمَآ أُنزِلَ مِن قَبْلُ وَأَنَّ أَكْثَرَكُمْ فَٰسِقُونَ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يا أهل الكتاب، هل تعيبون علينا إلا أن آمنّا بالله، وبما أُنزل إلينا، وما أُنزل من قبل، وأن أكثركم خارجون عن طاعة الله؟</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هَلْ أُنَبِّئُكُم بِشَرٍّ مِّن ذَٰلِكَ مَثُوبَةً عِندَ اللَّهِ مَن لَّعَنَهُ اللَّهُ وَغَضِبَ عَلَيْهِ وَجَعَلَ مِنْهُمُ الْقِرَدَةَ وَالْخَنَازِيرَ وَعَبَدَ الطَّـٰغُوتَ أُوْلَـٰئِكَ شَرٌّ مَّكَانًا وَأَضَلُّ عَن سَوَآءِ السَّبِيلِ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هل أخبركم بمن هو أسوأ جزاءً عند الله؟ من لعنه الله وغضب عليه، وجعل منهم القردة والخنازير، وعبد الطاغوت، أولئك شرّ مكانًا وأضلّ عن الطريق.</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٦١ – ٦٢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جَآءُوكُمْ قَالُواْ ءَامَنَّا وَقَد دَّخَلُواْ بِالْكُفْرِ وَهُمْ قَدْ خَرَجُواْ بِهِ وَاللَّهُ أَعْلَمُ بِمَا كَانُواْ يَكْتُمُونَ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جاؤوكم قالوا: آمنّا، وقد دخلوا عندكم بالكفر وخرجوا به، والله أعلم بما كانوا يُخفون.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وَتَرَىٰ كَثِيرًا مِّنْهُمْ يُسَٰرِعُونَ فِي الْإِثْمِ وَالْعُدْوَٰنِ وَأَكْلِهِمُ السُّحْتَ لَبِئْسَ مَا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وترى كثيرًا منهم يسارعون في الإثم والظلم وأكل الحرام، لبئس ما كانوا يعملون.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٦٣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921508"/>
            <a:ext cx="548640" cy="548640"/>
          </a:xfrm>
          <a:prstGeom prst="star8">
            <a:avLst/>
          </a:prstGeom>
          <a:solidFill>
            <a:schemeClr val="accent2"/>
          </a:solidFill>
          <a:ln/>
        </p:spPr>
      </p:sp>
      <p:sp>
        <p:nvSpPr>
          <p:cNvPr id="6" name="Shape 4"/>
          <p:cNvSpPr/>
          <p:nvPr/>
        </p:nvSpPr>
        <p:spPr>
          <a:xfrm>
            <a:off x="11036808" y="303123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8" name="Text 6"/>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لَوْلَا يَنْهَىٰهُمُ الرَّبَّـٰنِيُّونَ وَالْأَحْبَارُ عَن قَوْلِهِمُ الْإِثْمَ وَأَكْلِهِمُ السُّحْتَ لَبِئْسَ مَا كَانُواْ يَصْنَعُونَ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هلّا ينهاهم علماؤهم عن قولهم الإثم وأكلهم الحرام؟ لبئس ما كانوا يصنعون.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٦٤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167128"/>
            <a:ext cx="548640" cy="548640"/>
          </a:xfrm>
          <a:prstGeom prst="star8">
            <a:avLst/>
          </a:prstGeom>
          <a:solidFill>
            <a:schemeClr val="accent2"/>
          </a:solidFill>
          <a:ln/>
        </p:spPr>
      </p:sp>
      <p:sp>
        <p:nvSpPr>
          <p:cNvPr id="6" name="Shape 4"/>
          <p:cNvSpPr/>
          <p:nvPr/>
        </p:nvSpPr>
        <p:spPr>
          <a:xfrm>
            <a:off x="11036808" y="227685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1671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8" name="Text 6"/>
          <p:cNvSpPr txBox="1"/>
          <p:nvPr/>
        </p:nvSpPr>
        <p:spPr>
          <a:xfrm>
            <a:off x="731520" y="2148840"/>
            <a:ext cx="10012680" cy="306324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وَقَالَتِ الْيَهُودُ يَدُ اللَّهِ مَغْلُولَةٌ غُلَّتْ أَيْدِيهِمْ وَلُعِنُواْ بِمَا قَالُواْ بَلْ يَدَاهُ مَبْسُوطَتَانِ يُنفِقُ كَيْفَ يَشَآءُ وَلَيَزِيدَنَّ كَثِيرًا مِّنْهُم مَّآ أُنزِلَ إِلَيْكَ مِن رَّبِّكَ طُغْيَٰنًا وَكُفْرًا وَأَلْقَيْنَا بَيْنَهُمُ الْعَدَٰوَةَ وَالْبَغْضَآءَ إِلَىٰ يَوْمِ الْقِيَٰمَةِ كُلَّمَآ أَوْقَدُواْ نَارًا لِّلْحَرْبِ أَطْفَأَهَا اللَّهُ وَيَسْعَوْنَ فِي الْأَرْضِ فَسَادًا وَاللَّهُ لَا يُحِبُّ الْمُفْسِدِينَ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اليهود: يد الله مقبوضة عن العطاء، قُبضت أيديهم ولُعنوا بما قالوا، بل يداه مبسوطتان ينفق كيف يشاء، وأوقعنا بينهم العداوة والبغضاء، كلما أشعلوا نارًا للحرب أطفأها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٦٥ – ٦٦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أَنَّ أَهْلَ الْكِتَٰبِ ءَامَنُواْ وَاتَّقَوْاْ لَكَفَّرْنَا عَنْهُمْ سَيِّـَٔاتِهِمْ وَلَأَدْخَلْنَٰهُمْ جَنَّـٰتِ النَّعِيمِ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أن أهل الكتاب آمنوا واتقوا لمحونا عنهم سيئاتهم، ولأدخلناهم جنات النعيم.</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أَنَّهُمْ أَقَامُواْ التَّوْرَىٰةَ وَالْإِنجِيلَ وَمَآ أُنزِلَ إِلَيْهِم مِّن رَّبِّهِمْ لَأَكَلُواْ مِن فَوْقِهِمْ وَمِن تَحْتِ أَرْجُلِهِم مِّنْهُمْ أُمَّةٌ مُّقْتَصِدَةٌ وَكَثِيرٌ مِّنْهُمْ سَآءَ مَا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أنهم عملوا بالتوراة والإنجيل والقرآن لوسّع الله عليهم الرزق من فوقهم ومن تحت أرجلهم، منهم جماعة معتدلة، وكثير منهم ساء ما يعملون.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400" b="1" dirty="0">
                <a:solidFill>
                  <a:schemeClr val="accent2"/>
                </a:solidFill>
                <a:latin typeface="Sakkal Majalla" pitchFamily="34" charset="0"/>
                <a:ea typeface="Sakkal Majalla" pitchFamily="34" charset="-122"/>
                <a:cs typeface="Sakkal Majalla" pitchFamily="34" charset="-120"/>
              </a:rPr>
              <a:t>تبليغ الرسالة وأحوال أهل الكتاب</a:t>
            </a:r>
            <a:endParaRPr lang="ar-SA" sz="2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٧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٦٧ – ٨٦</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المائدة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قالت عائشة: كان النبي صلى الله عليه وسلم يُحرس، حتى نزلت: ﴿والله يعصمك من الناس﴾، فأخرج رأسه من القبّة فقال: «يا أيها الناس انصرفوا فقد عصمني الله» (رواه الترمذي).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أمر النبي صلى الله عليه وسلم بتبليغ الرسالة كاملة ووعد الله بحمايته، ودعوة أهل الكتاب إلى العمل بكتبهم، والردّ على القول بألوهية المسيح، وثناء على من آمن منهم.</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٦٧ – ٦٨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الرَّسُولُ بَلِّغْ مَآ أُنزِلَ إِلَيْكَ مِن رَّبِّكَ وَإِن لَّمْ تَفْعَلْ فَمَا بَلَّغْتَ رِسَالَتَهُ وَاللَّهُ يَعْصِمُكَ مِنَ النَّاسِ إِنَّ اللَّهَ لَا يَهْدِي الْقَوْمَ الْكَٰفِرِينَ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الرسول، بلّغ ما أُنزل إليك من ربك كاملًا، وإن لم تفعل فما بلّغت رسالته، والله يحميك من الناس، إن الله لا يهدي القوم الكافرين.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يَـٰأَهْلَ الْكِتَٰبِ لَسْتُمْ عَلَىٰ شَيْءٍ حَتَّىٰ تُقِيمُواْ التَّوْرَىٰةَ وَالْإِنجِيلَ وَمَآ أُنزِلَ إِلَيْكُم مِّن رَّبِّكُمْ وَلَيَزِيدَنَّ كَثِيرًا مِّنْهُم مَّآ أُنزِلَ إِلَيْكَ مِن رَّبِّكَ طُغْيَٰنًا وَكُفْرًا فَلَا تَأْسَ عَلَى الْقَوْمِ الْكَٰفِرِينَ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يا أهل الكتاب، لستم على شيء من الدين حتى تعملوا بالتوراة والإنجيل والقرآن، وليزيدنّ كثيرًا منهم ما أُنزل إليك طغيانًا وكفرًا، فلا تحزن على القوم الكافرين.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٦٩ – ٧٠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ءَامَنُواْ وَالَّذِينَ هَادُواْ وَالصَّـٰبِـُٔونَ وَالنَّصَٰرَىٰ مَنْ ءَامَنَ بِاللَّهِ وَالْيَوْمِ الْأخِرِ وَعَمِلَ صَٰلِحًا فَلَا خَوْفٌ عَلَيْهِمْ وَلَا هُمْ يَحْزَنُونَ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المؤمنين، واليهود والصابئين والنصارى، من آمن منهم بالله واليوم الآخر -ومن ذلك الإيمان بمحمد صلى الله عليه وسلم بعد بعثته- وعمل صالحًا، فلا خوف عليهم ولا هم يحزنون.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أَخَذْنَا مِيثَٰقَ بَنِي إِسْرَـٰءِيلَ وَأَرْسَلْنَآ إِلَيْهِمْ رُسُلًا كُلَّمَا جَآءَهُمْ رَسُولٌ بِمَا لَا تَهْوَىٰ أَنفُسُهُمْ فَرِيقًا كَذَّبُواْ وَفَرِيقًا يَقْتُلُونَ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أخذنا عهد بني إسرائيل، وأرسلنا إليهم رسلًا، كلما جاءهم رسول بما لا تحبه أنفسهم كذّبوا فريقًا وقتلوا فريقًا.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٧١ – ٧٢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وَحَسِبُواْ أَلَّا تَكُونَ فِتْنَةٌ فَعَمُواْ وَصَمُّواْ ثُمَّ تَابَ اللَّهُ عَلَيْهِمْ ثُمَّ عَمُواْ وَصَمُّواْ كَثِيرٌ مِّنْهُمْ وَاللَّهُ بَصِيرٌ بِمَا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وظنّوا أنه لا عقوبة تصيبهم، فعَموا عن الحق وصَمّوا، ثم تاب الله عليهم، ثم عمي وصمّ كثير منهم، والله بصير بما يعملون.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كَفَرَ الَّذِينَ قَالُواْ إِنَّ اللَّهَ هُوَ الْمَسِيحُ ابْنُ مَرْيَمَ وَقَالَ الْمَسِيحُ يَٰبَنِي إِسْرَـٰءِيلَ اعْبُدُواْ اللَّهَ رَبِّي وَرَبَّكُمْ إِنَّهُ مَن يُشْرِكْ بِاللَّهِ فَقَدْ حَرَّمَ اللَّهُ عَلَيْهِ الْجَنَّةَ وَمَأْوَىٰهُ النَّارُ وَمَا لِلظَّـٰلِمِينَ مِنْ أَنصَارٍ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كفر الذين قالوا: إن الله هو المسيح ابن مريم، وقال المسيح نفسه: يا بني إسرائيل اعبدوا الله ربي وربكم، إنه من يشرك بالله فقد حرّم الله عليه الجنة، ومأواه النار.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٧٣ – ٧٤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كَفَرَ الَّذِينَ قَالُواْ إِنَّ اللَّهَ ثَالِثُ ثَلَٰثَةٍ وَمَا مِنْ إِلَٰهٍ إِلَّآ إِلَٰهٌ وَٰحِدٌ وَإِن لَّمْ يَنتَهُواْ عَمَّا يَقُولُونَ لَيَمَسَّنَّ الَّذِينَ كَفَرُواْ مِنْهُمْ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كفر الذين قالوا: إن الله ثالث ثلاثة، وما من معبود بحق إلا إله واحد، وإن لم ينتهوا عما يقولون ليصيبنّ الكافرين منهم عذاب مؤلم.</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أَفَلَا يَتُوبُونَ إِلَى اللَّهِ وَيَسْتَغْفِرُونَهُ وَاللَّهُ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أفلا يتوبون إلى الله ويستغفرونه؟ والله غفور رحيم.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٧٥ – ٧٦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الْمَسِيحُ ابْنُ مَرْيَمَ إِلَّا رَسُولٌ قَدْ خَلَتْ مِن قَبْلِهِ الرُّسُلُ وَأُمُّهُ صِدِّيقَةٌ كَانَا يَأْكُلَانِ الطَّعَامَ انظُرْ كَيْفَ نُبَيِّنُ لَهُمُ الْأيَٰتِ ثُمَّ انظُرْ أَنَّىٰ يُؤْفَكُونَ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المسيح ابن مريم إلا رسول قد مضت قبله الرسل، وأمه صدّيقة مؤمنة، كانا يأكلان الطعام كسائر البشر، انظر كيف نبيّن لهم الدلائل ثم انظر كيف يُصرفون عن الحق.</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٧٦</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أَتَعْبُدُونَ مِن دُونِ اللَّهِ مَا لَا يَمْلِكُ لَكُمْ ضَرًّا وَلَا نَفْعًا وَاللَّهُ هُوَ السَّمِيعُ الْعَلِيمُ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أتعبدون من دون الله ما لا يملك لكم ضرًّا ولا نفعًا؟ والله هو السميع العليم.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٧٧ – ٧٩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٧٧</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يَـٰأَهْلَ الْكِتَٰبِ لَا تَغْلُواْ فِي دِينِكُمْ غَيْرَ الْحَقِّ وَلَا تَتَّبِعُواْ أَهْوَآءَ قَوْمٍ قَدْ ضَلُّواْ مِن قَبْلُ وَأَضَلُّواْ كَثِيرًا وَضَلُّواْ عَن سَوَآءِ السَّبِيلِ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يا أهل الكتاب، لا تتجاوزوا الحدّ في دينكم بغير الحق، ولا تتّبعوا أهواء قوم ضلّوا من قبل وأضلّوا كثيرًا.</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٧٨</a:t>
            </a:r>
            <a:endParaRPr lang="ar-SA" sz="1600" dirty="0"/>
          </a:p>
        </p:txBody>
      </p:sp>
      <p:sp>
        <p:nvSpPr>
          <p:cNvPr id="13" name="Text 11"/>
          <p:cNvSpPr txBox="1"/>
          <p:nvPr/>
        </p:nvSpPr>
        <p:spPr>
          <a:xfrm>
            <a:off x="731520" y="319582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لُعِنَ الَّذِينَ كَفَرُواْ مِن بَنِي إِسْرَـٰءِيلَ عَلَىٰ لِسَانِ دَاوُدَ وَعِيسَى ابْنِ مَرْيَمَ ذَٰلِكَ بِمَا عَصَواْ وَّكَانُواْ يَعْتَدُونَ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لُعن الكفار من بني إسرائيل على لسان داود وعيسى ابن مريم، بسبب عصيانهم واعتدائهم.</a:t>
            </a:r>
            <a:endParaRPr lang="ar-SA" sz="3200" dirty="0"/>
          </a:p>
        </p:txBody>
      </p:sp>
      <p:sp>
        <p:nvSpPr>
          <p:cNvPr id="14" name="Shape 12"/>
          <p:cNvSpPr/>
          <p:nvPr/>
        </p:nvSpPr>
        <p:spPr>
          <a:xfrm>
            <a:off x="2103120" y="4879848"/>
            <a:ext cx="8641080" cy="0"/>
          </a:xfrm>
          <a:prstGeom prst="line">
            <a:avLst/>
          </a:prstGeom>
          <a:noFill/>
          <a:ln w="9525">
            <a:solidFill>
              <a:schemeClr val="accent2"/>
            </a:solidFill>
            <a:prstDash val="dash"/>
          </a:ln>
        </p:spPr>
      </p:sp>
      <p:sp>
        <p:nvSpPr>
          <p:cNvPr id="15" name="Shape 13"/>
          <p:cNvSpPr/>
          <p:nvPr/>
        </p:nvSpPr>
        <p:spPr>
          <a:xfrm>
            <a:off x="10927080" y="5055108"/>
            <a:ext cx="548640" cy="548640"/>
          </a:xfrm>
          <a:prstGeom prst="star8">
            <a:avLst/>
          </a:prstGeom>
          <a:solidFill>
            <a:schemeClr val="accent2"/>
          </a:solidFill>
          <a:ln/>
        </p:spPr>
      </p:sp>
      <p:sp>
        <p:nvSpPr>
          <p:cNvPr id="16" name="Shape 14"/>
          <p:cNvSpPr/>
          <p:nvPr/>
        </p:nvSpPr>
        <p:spPr>
          <a:xfrm>
            <a:off x="11036808" y="516483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551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٧٩</a:t>
            </a:r>
            <a:endParaRPr lang="ar-SA" sz="1600" dirty="0"/>
          </a:p>
        </p:txBody>
      </p:sp>
      <p:sp>
        <p:nvSpPr>
          <p:cNvPr id="18" name="Text 16"/>
          <p:cNvSpPr txBox="1"/>
          <p:nvPr/>
        </p:nvSpPr>
        <p:spPr>
          <a:xfrm>
            <a:off x="731520" y="50368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كَانُواْ لَا يَتَنَاهَوْنَ عَن مُّنكَرٍ فَعَلُوهُ لَبِئْسَ مَا كَانُواْ يَفْعَلُونَ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كانوا لا ينهى بعضهم بعضًا عن المنكر، لبئس ما كانوا يفعلون.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٨٠ – ٨١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٨٠</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تَرَىٰ كَثِيرًا مِّنْهُمْ يَتَوَلَّوْنَ الَّذِينَ كَفَرُواْ لَبِئْسَ مَا قَدَّمَتْ لَهُمْ أَنفُسُهُمْ أَن سَخِطَ اللَّهُ عَلَيْهِمْ وَفِي الْعَذَابِ هُمْ خَٰلِدُونَ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ترى كثيرًا منهم يتولّون المشركين، لبئس ما قدّموا لأنفسهم أن سخط الله عليهم، وفي العذاب هم خالدون.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٨١</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كَانُواْ يُؤْمِنُونَ بِاللَّهِ وَالنَّبِيِّ وَمَآ أُنزِلَ إِلَيْهِ مَا اتَّخَذُوهُمْ أَوْلِيَآءَ وَلَٰكِنَّ كَثِيرًا مِّنْهُمْ فَٰسِقُونَ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كانوا يؤمنون بالله والنبي وما أُنزل إليه ما اتخذوهم أولياء، ولكن كثيرًا منهم خارجون عن طاعة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٨٢ – ٨٣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٨٢</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لَتَجِدَنَّ أَشَدَّ النَّاسِ عَدَٰوَةً لِّلَّذِينَ ءَامَنُواْ الْيَهُودَ وَالَّذِينَ أَشْرَكُواْ وَلَتَجِدَنَّ أَقْرَبَهُم مَّوَدَّةً لِّلَّذِينَ ءَامَنُواْ الَّذِينَ قَالُواْ إِنَّا نَصَٰرَىٰ ذَٰلِكَ بِأَنَّ مِنْهُمْ قِسِّيسِينَ وَرُهْبَانًا وَأَنَّهُمْ لَا يَسْتَكْبِرُونَ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لتجدنّ أشد الناس عداوة للمؤمنين اليهود والمشركين، ولتجدنّ أقربهم محبة للمؤمنين الذين قالوا: إنا نصارى؛ لأن منهم علماء وعُبّادًا، وأنهم لا يتكبّرون.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٨٣</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سَمِعُواْ مَآ أُنزِلَ إِلَى الرَّسُولِ تَرَىٰ أَعْيُنَهُمْ تَفِيضُ مِنَ الدَّمْعِ مِمَّا عَرَفُواْ مِنَ الْحَقِّ يَقُولُونَ رَبَّنَآ ءَامَنَّا فَاكْتُبْنَا مَعَ الشَّـٰهِدِينَ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سمعوا القرآن ترى أعينهم تفيض بالدموع مما عرفوا من الحق، يقولون: ربنا آمنّا فاكتبنا مع الشاهدين. وذكر ابن كثير أنها نزلت في النجاشي وأصحابه.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٨٤ – ٨٦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٨٤</a:t>
            </a:r>
            <a:endParaRPr lang="ar-SA" sz="1600" dirty="0"/>
          </a:p>
        </p:txBody>
      </p:sp>
      <p:sp>
        <p:nvSpPr>
          <p:cNvPr id="8" name="Text 6"/>
          <p:cNvSpPr txBox="1"/>
          <p:nvPr/>
        </p:nvSpPr>
        <p:spPr>
          <a:xfrm>
            <a:off x="731520" y="135483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لَنَا لَا نُؤْمِنُ بِاللَّهِ وَمَا جَآءَنَا مِنَ الْحَقِّ وَنَطْمَعُ أَن يُدْخِلَنَا رَبُّنَا مَعَ الْقَوْمِ الصَّـٰلِحِينَ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الذي يمنعنا من الإيمان بالله وبما جاءنا من الحق، ونحن نطمع أن يُدخلنا ربنا مع القوم الصالحين؟</a:t>
            </a:r>
            <a:endParaRPr lang="ar-SA" sz="3200" dirty="0"/>
          </a:p>
        </p:txBody>
      </p:sp>
      <p:sp>
        <p:nvSpPr>
          <p:cNvPr id="9" name="Shape 7"/>
          <p:cNvSpPr/>
          <p:nvPr/>
        </p:nvSpPr>
        <p:spPr>
          <a:xfrm>
            <a:off x="2103120" y="3038856"/>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٨٥</a:t>
            </a:r>
            <a:endParaRPr lang="ar-SA" sz="1600" dirty="0"/>
          </a:p>
        </p:txBody>
      </p:sp>
      <p:sp>
        <p:nvSpPr>
          <p:cNvPr id="13" name="Text 11"/>
          <p:cNvSpPr txBox="1"/>
          <p:nvPr/>
        </p:nvSpPr>
        <p:spPr>
          <a:xfrm>
            <a:off x="731520" y="319582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فَأَثَٰبَهُمُ اللَّهُ بِمَا قَالُواْ جَنَّـٰتٍ تَجْرِي مِن تَحْتِهَا الْأَنْهَٰرُ خَٰلِدِينَ فِيهَا وَذَٰلِكَ جَزَآءُ الْمُحْسِنِينَ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فجزاهم الله بما قالوا جنات تجري من تحتها الأنهار خالدين فيها، وذلك جزاء المحسنين.</a:t>
            </a:r>
            <a:endParaRPr lang="ar-SA" sz="3200" dirty="0"/>
          </a:p>
        </p:txBody>
      </p:sp>
      <p:sp>
        <p:nvSpPr>
          <p:cNvPr id="14" name="Shape 12"/>
          <p:cNvSpPr/>
          <p:nvPr/>
        </p:nvSpPr>
        <p:spPr>
          <a:xfrm>
            <a:off x="2103120" y="4879848"/>
            <a:ext cx="8641080" cy="0"/>
          </a:xfrm>
          <a:prstGeom prst="line">
            <a:avLst/>
          </a:prstGeom>
          <a:noFill/>
          <a:ln w="9525">
            <a:solidFill>
              <a:schemeClr val="accent2"/>
            </a:solidFill>
            <a:prstDash val="dash"/>
          </a:ln>
        </p:spPr>
      </p:sp>
      <p:sp>
        <p:nvSpPr>
          <p:cNvPr id="15" name="Shape 13"/>
          <p:cNvSpPr/>
          <p:nvPr/>
        </p:nvSpPr>
        <p:spPr>
          <a:xfrm>
            <a:off x="10927080" y="5055108"/>
            <a:ext cx="548640" cy="548640"/>
          </a:xfrm>
          <a:prstGeom prst="star8">
            <a:avLst/>
          </a:prstGeom>
          <a:solidFill>
            <a:schemeClr val="accent2"/>
          </a:solidFill>
          <a:ln/>
        </p:spPr>
      </p:sp>
      <p:sp>
        <p:nvSpPr>
          <p:cNvPr id="16" name="Shape 14"/>
          <p:cNvSpPr/>
          <p:nvPr/>
        </p:nvSpPr>
        <p:spPr>
          <a:xfrm>
            <a:off x="11036808" y="516483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551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٨٦</a:t>
            </a:r>
            <a:endParaRPr lang="ar-SA" sz="1600" dirty="0"/>
          </a:p>
        </p:txBody>
      </p:sp>
      <p:sp>
        <p:nvSpPr>
          <p:cNvPr id="18" name="Text 16"/>
          <p:cNvSpPr txBox="1"/>
          <p:nvPr/>
        </p:nvSpPr>
        <p:spPr>
          <a:xfrm>
            <a:off x="731520" y="50368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كَفَرُواْ وَكَذَّبُواْ بِـَٔايَٰتِنَآ أُوْلَـٰئِكَ أَصْحَٰبُ الْجَحِيمِ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كفروا وكذّبوا بآياتنا أولئك أهل النار.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400" b="1" dirty="0">
                <a:solidFill>
                  <a:schemeClr val="accent2"/>
                </a:solidFill>
                <a:latin typeface="Sakkal Majalla" pitchFamily="34" charset="0"/>
                <a:ea typeface="Sakkal Majalla" pitchFamily="34" charset="-122"/>
                <a:cs typeface="Sakkal Majalla" pitchFamily="34" charset="-120"/>
              </a:rPr>
              <a:t>الطيبات والأيمان وتحريم الخمر</a:t>
            </a:r>
            <a:endParaRPr lang="ar-SA" sz="2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٨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٨٧ – ٩٣</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المائدة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أنس: كنت ساقي القوم في بيت أبي طلحة، فنزل تحريم الخمر، فأُريقت حتى جرت في طرق المدينة، فقال بعضهم: قُتل قوم وهي في بطونهم! فأنزل الله: ﴿ليس على الذين آمنوا وعملوا الصالحات جناح فيما طعموا﴾ (رواه البخاري ومسلم).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النهي عن تحريم الطيبات، وكفّارة اليمين، والتحريم النهائي للخمر والقمار، وبيان أنهما سبب العداوة والصدّ عن ذكر الله.</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٨٧ – ٨٨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٨٧</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لَا تُحَرِّمُواْ طَيِّبَٰتِ مَآ أَحَلَّ اللَّهُ لَكُمْ وَلَا تَعْتَدُواْ إِنَّ اللَّهَ لَا يُحِبُّ الْمُعْتَدِينَ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لا تحرّموا على أنفسكم الطيبات التي أحلّها الله لكم، ولا تتجاوزوا حدوده، إن الله لا يحب المعتدين.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٨٨</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وَكُلُواْ مِمَّا رَزَقَكُمُ اللَّهُ حَلَٰلًا طَيِّبًا وَاتَّقُواْ اللَّهَ الَّذِي أَنتُم بِهِ مُؤْمِنُونَ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وكلوا مما رزقكم الله حلالًا طيبًا، واتقوا الله الذي أنتم به مؤمنون.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٨٩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٨٩</a:t>
            </a:r>
            <a:endParaRPr lang="ar-SA" sz="16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يُؤَاخِذُكُمُ اللَّهُ بِاللَّغْوِ فِي أَيْمَٰنِكُمْ وَلَٰكِن يُؤَاخِذُكُم بِمَا عَقَّدتُّمُ الْأَيْمَٰنَ فَكَفَّـٰرَتُهُ إِطْعَامُ عَشَرَةِ مَسَٰكِينَ مِنْ أَوْسَطِ مَا تُطْعِمُونَ أَهْلِيكُمْ أَوْ كِسْوَتُهُمْ أَوْ تَحْرِيرُ رَقَبَةٍ فَمَن لَّمْ يَجِدْ فَصِيَامُ ثَلَٰثَةِ أَيَّامٍ ذَٰلِكَ كَفَّـٰرَةُ أَيْمَٰنِكُمْ إِذَا حَلَفْتُمْ وَاحْفَظُواْ أَيْمَٰنَكُمْ كَذَٰلِكَ يُبَيِّنُ اللَّهُ لَكُمْ ءَايَٰتِهِ لَعَلَّكُمْ تَشْكُرُونَ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يعاقبكم الله على اليمين التي تجري على اللسان بلا قصد، ولكن على اليمين التي قصدتموها ثم حنثتم فيها، فكفّارتها: إطعام عشرة مساكين، أو كسوتهم، أو عتق رقبة، فمن لم يجد فصيام ثلاثة أيام، واحفظوا أيمانكم.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٩٠ – ٩١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٩٠</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إِنَّمَا الْخَمْرُ وَالْمَيْسِرُ وَالْأَنصَابُ وَالْأَزْلَٰمُ رِجْسٌ مِّنْ عَمَلِ الشَّيْطَٰنِ فَاجْتَنِبُوهُ لَعَلَّكُمْ تُفْلِحُونَ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إنما الخمر، والقمار، والأصنام، وقِداح الاستقسام، نجسٌ وإثم من تزيين الشيطان، فاجتنبوه لعلكم تفوزون.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٩١</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يُرِيدُ الشَّيْطَٰنُ أَن يُوقِعَ بَيْنَكُمُ الْعَدَٰوَةَ وَالْبَغْضَآءَ فِي الْخَمْرِ وَالْمَيْسِرِ وَيَصُدَّكُمْ عَن ذِكْرِ اللَّهِ وَعَنِ الصَّلَوٰةِ فَهَلْ أَنتُم مُّنتَهُونَ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يريد الشيطان أن يوقع بينكم العداوة والبغضاء بالخمر والقمار، ويصدّكم عن ذكر الله وعن الصلاة، فهل أنتم منتهون؟ فقال الصحابة: انتهينا ربنا.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٩٢ – ٩٣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٩٢</a:t>
            </a:r>
            <a:endParaRPr lang="ar-SA" sz="1600" dirty="0"/>
          </a:p>
        </p:txBody>
      </p:sp>
      <p:sp>
        <p:nvSpPr>
          <p:cNvPr id="8" name="Text 6"/>
          <p:cNvSpPr txBox="1"/>
          <p:nvPr/>
        </p:nvSpPr>
        <p:spPr>
          <a:xfrm>
            <a:off x="731520" y="143789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وَأَطِيعُواْ اللَّهَ وَأَطِيعُواْ الرَّسُولَ وَاحْذَرُواْ فَإِن تَوَلَّيْتُمْ فَاعْلَمُواْ أَنَّمَا عَلَىٰ رَسُولِنَا الْبَلَٰغُ الْمُبِينُ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وأطيعوا الله وأطيعوا الرسول واحذروا مخالفتهما، فإن أعرضتم فاعلموا أنما على رسولنا التبليغ الواضح.</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3290"/>
            <a:ext cx="548640" cy="548640"/>
          </a:xfrm>
          <a:prstGeom prst="star8">
            <a:avLst/>
          </a:prstGeom>
          <a:solidFill>
            <a:schemeClr val="accent2"/>
          </a:solidFill>
          <a:ln/>
        </p:spPr>
      </p:sp>
      <p:sp>
        <p:nvSpPr>
          <p:cNvPr id="11" name="Shape 9"/>
          <p:cNvSpPr/>
          <p:nvPr/>
        </p:nvSpPr>
        <p:spPr>
          <a:xfrm>
            <a:off x="11036808" y="3573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329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٩٣</a:t>
            </a:r>
            <a:endParaRPr lang="ar-SA" sz="1600" dirty="0"/>
          </a:p>
        </p:txBody>
      </p:sp>
      <p:sp>
        <p:nvSpPr>
          <p:cNvPr id="13" name="Text 11"/>
          <p:cNvSpPr txBox="1"/>
          <p:nvPr/>
        </p:nvSpPr>
        <p:spPr>
          <a:xfrm>
            <a:off x="731520" y="344500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لَيْسَ عَلَى الَّذِينَ ءَامَنُواْ وَعَمِلُواْ الصَّـٰلِحَٰتِ جُنَاحٌ فِيمَا طَعِمُواْ إِذَا مَا اتَّقَواْ وَّءَامَنُواْ وَعَمِلُواْ الصَّـٰلِحَٰتِ ثُمَّ اتَّقَواْ وَّءَامَنُواْ ثُمَّ اتَّقَواْ وَّأَحْسَنُواْ وَاللَّهُ يُحِبُّ الْمُحْسِنِينَ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ليس على المؤمنين الذين ماتوا قبل تحريم الخمر إثم فيما شربوه، إذا ما اتقوا الله وآمنوا وعملوا الصالحات، والله يحب المحسنين.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400" b="1" dirty="0">
                <a:solidFill>
                  <a:schemeClr val="accent2"/>
                </a:solidFill>
                <a:latin typeface="Sakkal Majalla" pitchFamily="34" charset="0"/>
                <a:ea typeface="Sakkal Majalla" pitchFamily="34" charset="-122"/>
                <a:cs typeface="Sakkal Majalla" pitchFamily="34" charset="-120"/>
              </a:rPr>
              <a:t>الصيد في الإحرام وآداب السؤال</a:t>
            </a:r>
            <a:endParaRPr lang="ar-SA" sz="2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٩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٩٤ – ١٠٨</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المائدة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خطب النبي صلى الله عليه وسلم يومًا فقال رجل: من أبي؟ قال: «فلان»، فنزلت: ﴿يا أيها الذين آمنوا لا تسألوا عن أشياء إن تُبدَ لكم تسؤكم﴾ (رواه البخاري).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تحريم الصيد على المُحرم، ومكانة الكعبة، والنهي عن كثرة السؤال فيما لا ينفع، وإبطال عادات الجاهلية، وأحكام الشهادة على الوصية في السفر.</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٩٤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٩٤</a:t>
            </a:r>
            <a:endParaRPr lang="ar-SA" sz="16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لَيَبْلُوَنَّكُمُ اللَّهُ بِشَيْءٍ مِّنَ الصَّيْدِ تَنَالُهُ أَيْدِيكُمْ وَرِمَاحُكُمْ لِيَعْلَمَ اللَّهُ مَن يَخَافُهُ بِالْغَيْبِ فَمَنِ اعْتَدَىٰ بَعْدَ ذَٰلِكَ فَلَهُ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ليختبرنّكم الله وأنتم مُحرمون بشيء من الصيد قريبًا منكم تناله أيديكم ورماحكم، ليعلم من يخافه بالغيب، فمن اعتدى بعد ذلك فله عذاب مؤلم.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٩٥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167128"/>
            <a:ext cx="548640" cy="548640"/>
          </a:xfrm>
          <a:prstGeom prst="star8">
            <a:avLst/>
          </a:prstGeom>
          <a:solidFill>
            <a:schemeClr val="accent2"/>
          </a:solidFill>
          <a:ln/>
        </p:spPr>
      </p:sp>
      <p:sp>
        <p:nvSpPr>
          <p:cNvPr id="6" name="Shape 4"/>
          <p:cNvSpPr/>
          <p:nvPr/>
        </p:nvSpPr>
        <p:spPr>
          <a:xfrm>
            <a:off x="11036808" y="227685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1671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٩٥</a:t>
            </a:r>
            <a:endParaRPr lang="ar-SA" sz="1600" dirty="0"/>
          </a:p>
        </p:txBody>
      </p:sp>
      <p:sp>
        <p:nvSpPr>
          <p:cNvPr id="8" name="Text 6"/>
          <p:cNvSpPr txBox="1"/>
          <p:nvPr/>
        </p:nvSpPr>
        <p:spPr>
          <a:xfrm>
            <a:off x="731520" y="2148840"/>
            <a:ext cx="10012680" cy="306324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لَا تَقْتُلُواْ الصَّيْدَ وَأَنتُمْ حُرُمٌ وَمَن قَتَلَهُ مِنكُم مُّتَعَمِّدًا فَجَزَآءٌ مِّثْلُ مَا قَتَلَ مِنَ النَّعَمِ يَحْكُمُ بِهِ ذَوَا عَدْلٍ مِّنكُمْ هَدْيًا بَٰلِغَ الْكَعْبَةِ أَوْ كَفَّـٰرَةٌ طَعَامُ مَسَٰكِينَ أَوْ عَدْلُ ذَٰلِكَ صِيَامًا لِّيَذُوقَ وَبَالَ أَمْرِهِ عَفَا اللَّهُ عَمَّا سَلَفَ وَمَنْ عَادَ فَيَنتَقِمُ اللَّهُ مِنْهُ وَاللَّهُ عَزِيزٌ ذُو انتِقَامٍ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لا تقتلوا الصيد وأنتم مُحرمون، ومن قتله متعمّدًا فعليه ذبح مثله من الإبل أو البقر أو الغنم يحكم به رجلان عدلان، أو إطعام مساكين، أو صيام، ليذوق عاقبة فعله.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٩٦ – ٩٧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٩٦</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أُحِلَّ لَكُمْ صَيْدُ الْبَحْرِ وَطَعَامُهُ مَتَٰعًا لَّكُمْ وَلِلسَّيَّارَةِ وَحُرِّمَ عَلَيْكُمْ صَيْدُ الْبَرِّ مَا دُمْتُمْ حُرُمًا وَاتَّقُواْ اللَّهَ الَّذِي إِلَيْهِ تُحْشَرُونَ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أُحلّ لكم صيد البحر وطعامه منفعةً لكم وللمسافرين، وحُرّم عليكم صيد البرّ ما دمتم مُحرمين، واتقوا الله الذي إليه تُحشرون.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٩٧</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جَعَلَ اللَّهُ الْكَعْبَةَ الْبَيْتَ الْحَرَامَ قِيَٰمًا لِّلنَّاسِ وَالشَّهْرَ الْحَرَامَ وَالْهَدْيَ وَالْقَلَـٰئِدَ ذَٰلِكَ لِتَعْلَمُواْ أَنَّ اللَّهَ يَعْلَمُ مَا فِي السَّمَٰوَٰتِ وَمَا فِي الْأَرْضِ وَأَنَّ اللَّهَ بِكُلِّ شَيْءٍ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جعل الله الكعبة البيت الحرام قوامًا لمصالح الناس في دينهم ودنياهم، وكذلك الشهر الحرام والهدي، ذلك لتعلموا أن الله يعلم ما في السماوات وما في الأرض.</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٩٨ – ١٠٠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٩٨</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اعْلَمُواْ أَنَّ اللَّهَ شَدِيدُ الْعِقَابِ وَأَنَّ اللَّهَ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اعلموا أن الله شديد العقاب لمن عصاه، وأن الله غفور رحيم لمن تاب.</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٩٩</a:t>
            </a:r>
            <a:endParaRPr lang="ar-SA" sz="16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عَلَى الرَّسُولِ إِلَّا الْبَلَٰغُ وَاللَّهُ يَعْلَمُ مَا تُبْدُونَ وَمَا تَكْتُمُونَ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على الرسول إلا التبليغ، والله يعلم ما تُظهرون وما تُخفون.</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١٠٠</a:t>
            </a:r>
            <a:endParaRPr lang="ar-SA" sz="13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لَّا يَسْتَوِي الْخَبِيثُ وَالطَّيِّبُ وَلَوْ أَعْجَبَكَ كَثْرَةُ الْخَبِيثِ فَاتَّقُواْ اللَّهَ يَـٰأُوْلِي الْأَلْبَٰبِ لَعَلَّكُمْ تُفْلِحُونَ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لا يستوي الحرام والحلال، ولا الرديء والجيد، ولو أعجبك كثرة الحرام، فاتقوا الله يا أصحاب العقول لعلكم تفوزون.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١٠١ – ١٠٢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١٠١</a:t>
            </a:r>
            <a:endParaRPr lang="ar-SA" sz="13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لَا تَسْـَٔلُواْ عَنْ أَشْيَآءَ إِن تُبْدَ لَكُمْ تَسُؤْكُمْ وَإِن تَسْـَٔلُواْ عَنْهَا حِينَ يُنَزَّلُ الْقُرْءَانُ تُبْدَ لَكُمْ عَفَا اللَّهُ عَنْهَا وَاللَّهُ غَفُورٌ حَلِيمٌ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لا تسألوا عن أشياء لم تُذكر لكم، إن تظهر لكم تسؤكم، وإن تسألوا عنها حين ينزل القرآن تُبيَّن لكم، عفا الله عنها، والله غفور حليم.</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١٠٢</a:t>
            </a:r>
            <a:endParaRPr lang="ar-SA" sz="13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قَدْ سَأَلَهَا قَوْمٌ مِّن قَبْلِكُمْ ثُمَّ أَصْبَحُواْ بِهَا 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قد سأل مثلها قوم قبلكم، فلما أُجيبوا لم يعملوا بها فأصبحوا كافرين.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١٠٣ – ١٠٤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١٠٣</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جَعَلَ اللَّهُ مِن بَحِيرَةٍ وَلَا سَآئِبَةٍ وَلَا وَصِيلَةٍ وَلَا حَامٍ وَلَٰكِنَّ الَّذِينَ كَفَرُواْ يَفْتَرُونَ عَلَى اللَّهِ الْكَذِبَ وَأَكْثَرُهُمْ لَا يَعْقِلُونَ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شرع الله تحريم «البحيرة» ولا «السائبة» ولا «الوصيلة» ولا «الحام» -وهي أنعام كان المشركون يحرّمونها ويتركونها لأصنامهم-، ولكن الكفار يكذبون على الله، وأكثرهم لا يعقلون.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١٠٤</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قِيلَ لَهُمْ تَعَالَوْاْ إِلَىٰ مَآ أَنزَلَ اللَّهُ وَإِلَى الرَّسُولِ قَالُواْ حَسْبُنَا مَا وَجَدْنَا عَلَيْهِ ءَابَآءَنَآ أَوَلَوْ كَانَ ءَابَآؤُهُمْ لَا يَعْلَمُونَ شَيْـًٔا وَلَا يَهْتَدُونَ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قيل لهم: تعالوا إلى ما أنزل الله وإلى الرسول، قالوا: يكفينا ما وجدنا عليه آباءنا، أيكفيهم ذلك ولو كان آباؤهم لا يعلمون شيئًا ولا يهتدون؟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١٠٥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١٠٥</a:t>
            </a:r>
            <a:endParaRPr lang="ar-SA" sz="13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عَلَيْكُمْ أَنفُسَكُمْ لَا يَضُرُّكُم مَّن ضَلَّ إِذَا اهْتَدَيْتُمْ إِلَى اللَّهِ مَرْجِعُكُمْ جَمِيعًا فَيُنَبِّئُكُم بِمَا كُنتُمْ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احفظوا أنفسكم بطاعة الله، لا يضرّكم من ضلّ إذا اهتديتم وأمرتم بالمعروف ونهيتم عن المنكر، إلى الله مرجعكم جميعًا فيخبركم بأعمالكم.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١٠٦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167128"/>
            <a:ext cx="548640" cy="548640"/>
          </a:xfrm>
          <a:prstGeom prst="star8">
            <a:avLst/>
          </a:prstGeom>
          <a:solidFill>
            <a:schemeClr val="accent2"/>
          </a:solidFill>
          <a:ln/>
        </p:spPr>
      </p:sp>
      <p:sp>
        <p:nvSpPr>
          <p:cNvPr id="6" name="Shape 4"/>
          <p:cNvSpPr/>
          <p:nvPr/>
        </p:nvSpPr>
        <p:spPr>
          <a:xfrm>
            <a:off x="11036808" y="227685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16712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١٠٦</a:t>
            </a:r>
            <a:endParaRPr lang="ar-SA" sz="1300" dirty="0"/>
          </a:p>
        </p:txBody>
      </p:sp>
      <p:sp>
        <p:nvSpPr>
          <p:cNvPr id="8" name="Text 6"/>
          <p:cNvSpPr txBox="1"/>
          <p:nvPr/>
        </p:nvSpPr>
        <p:spPr>
          <a:xfrm>
            <a:off x="731520" y="2148840"/>
            <a:ext cx="10012680" cy="306324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شَهَٰدَةُ بَيْنِكُمْ إِذَا حَضَرَ أَحَدَكُمُ الْمَوْتُ حِينَ الْوَصِيَّةِ اثْنَانِ ذَوَا عَدْلٍ مِّنكُمْ أَوْ ءَاخَرَانِ مِنْ غَيْرِكُمْ إِنْ أَنتُمْ ضَرَبْتُمْ فِي الْأَرْضِ فَأَصَٰبَتْكُم مُّصِيبَةُ الْمَوْتِ تَحْبِسُونَهُمَا مِن بَعْدِ الصَّلَوٰةِ فَيُقْسِمَانِ بِاللَّهِ إِنِ ارْتَبْتُمْ لَا نَشْتَرِي بِهِ ثَمَنًا وَلَوْ كَانَ ذَا قُرْبَىٰ وَلَا نَكْتُمُ شَهَٰدَةَ اللَّهِ إِنَّآ إِذًا لَّمِنَ الْأثِمِينَ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إذا حضر أحدكم الموت وأراد الوصية فليُشهد رجلين عدلين من المسلمين، أو رجلين من غيركم إن كنتم مسافرين، فإن شككتم في صدقهما فاحبسوهما بعد الصلاة فيحلفان بالله.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١٠٧ – ١٠٨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١٠٧</a:t>
            </a:r>
            <a:endParaRPr lang="ar-SA" sz="13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 عُثِرَ عَلَىٰ أَنَّهُمَا اسْتَحَقَّآ إِثْمًا فَـَٔاخَرَانِ يَقُومَانِ مَقَامَهُمَا مِنَ الَّذِينَ اسْتَحَقَّ عَلَيْهِمُ الْأَوْلَيَٰنِ فَيُقْسِمَانِ بِاللَّهِ لَشَهَٰدَتُنَآ أَحَقُّ مِن شَهَٰدَتِهِمَا وَمَا اعْتَدَيْنَآ إِنَّآ إِذًا لَّمِنَ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 ظهر أنهما كذبا أو خانا، يقوم رجلان من أقارب الميت فيحلفان بالله: لشهادتنا أحقّ من شهادتهما، وما اعتدينا.</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١٠٨</a:t>
            </a:r>
            <a:endParaRPr lang="ar-SA" sz="13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أَدْنَىٰ أَن يَأْتُواْ بِالشَّهَٰدَةِ عَلَىٰ وَجْهِهَآ أَوْ يَخَافُواْ أَن تُرَدَّ أَيْمَٰنٌ بَعْدَ أَيْمَٰنِهِمْ وَاتَّقُواْ اللَّهَ وَاسْمَعُواْ وَاللَّهُ لَا يَهْدِي الْقَوْمَ الْفَٰسِقِينَ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أقرب أن يؤدّوا الشهادة على وجهها الصحيح، أو يخافوا أن تُردّ أيمانهم، واتقوا الله واسمعوا، والله لا يهدي القوم الفاسقين.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معجزات عيسى وقصة المائدة</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١٠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١٠٩ – ١٢٠</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المائدة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تذكير عيسى عليه السلام بنعم الله عليه ومعجزاته، وقصة المائدة التي نزلت من السماء، وبراءة عيسى يوم القيامة ممن عبده. وبقصة المائدة سُمّيت السورة «سورة المائدة».</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١٠٩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921508"/>
            <a:ext cx="548640" cy="548640"/>
          </a:xfrm>
          <a:prstGeom prst="star8">
            <a:avLst/>
          </a:prstGeom>
          <a:solidFill>
            <a:schemeClr val="accent2"/>
          </a:solidFill>
          <a:ln/>
        </p:spPr>
      </p:sp>
      <p:sp>
        <p:nvSpPr>
          <p:cNvPr id="6" name="Shape 4"/>
          <p:cNvSpPr/>
          <p:nvPr/>
        </p:nvSpPr>
        <p:spPr>
          <a:xfrm>
            <a:off x="11036808" y="303123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١٠٩</a:t>
            </a:r>
            <a:endParaRPr lang="ar-SA" sz="1300" dirty="0"/>
          </a:p>
        </p:txBody>
      </p:sp>
      <p:sp>
        <p:nvSpPr>
          <p:cNvPr id="8" name="Text 6"/>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يَجْمَعُ اللَّهُ الرُّسُلَ فَيَقُولُ مَاذَآ أُجِبْتُمْ قَالُواْ لَا عِلْمَ لَنَآ إِنَّكَ أَنتَ عَلَّـٰمُ الْغُيُوبِ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يجمع الله الرسل فيقول: بماذا أجابتكم أممكم؟ قالوا: لا علم لنا إلا ما علّمتنا، إنك أنت علّام الغيوب.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2748"/>
            <a:ext cx="548640" cy="548640"/>
          </a:xfrm>
          <a:prstGeom prst="star8">
            <a:avLst/>
          </a:prstGeom>
          <a:solidFill>
            <a:schemeClr val="accent2"/>
          </a:solidFill>
          <a:ln/>
        </p:spPr>
      </p:sp>
      <p:sp>
        <p:nvSpPr>
          <p:cNvPr id="6" name="Shape 4"/>
          <p:cNvSpPr/>
          <p:nvPr/>
        </p:nvSpPr>
        <p:spPr>
          <a:xfrm>
            <a:off x="11036808" y="152247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27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١١٠</a:t>
            </a:r>
            <a:endParaRPr lang="ar-SA" sz="1300" dirty="0"/>
          </a:p>
        </p:txBody>
      </p:sp>
      <p:sp>
        <p:nvSpPr>
          <p:cNvPr id="8" name="Text 6"/>
          <p:cNvSpPr txBox="1"/>
          <p:nvPr/>
        </p:nvSpPr>
        <p:spPr>
          <a:xfrm>
            <a:off x="731520" y="1394460"/>
            <a:ext cx="10012680" cy="457200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قَالَ اللَّهُ يَٰعِيسَى ابْنَ مَرْيَمَ اذْكُرْ نِعْمَتِي عَلَيْكَ وَعَلَىٰ وَٰلِدَتِكَ إِذْ أَيَّدتُّكَ بِرُوحِ الْقُدُسِ تُكَلِّمُ النَّاسَ فِي الْمَهْدِ وَكَهْلًا وَإِذْ عَلَّمْتُكَ الْكِتَٰبَ وَالْحِكْمَةَ وَالتَّوْرَىٰةَ وَالْإِنجِيلَ وَإِذْ تَخْلُقُ مِنَ الطِّينِ كَهَيْـَٔةِ الطَّيْرِ بِإِذْنِي فَتَنفُخُ فِيهَا فَتَكُونُ طَيْرًا بِإِذْنِي وَتُبْرِئُ الْأَكْمَهَ وَالْأَبْرَصَ بِإِذْنِي وَإِذْ تُخْرِجُ الْمَوْتَىٰ بِإِذْنِي وَإِذْ كَفَفْتُ بَنِي إِسْرَـٰءِيلَ عَنكَ إِذْ جِئْتَهُم بِالْبَيِّنَٰتِ فَقَالَ الَّذِينَ كَفَرُواْ مِنْهُمْ إِنْ هَٰذَآ إِلَّا سِحْرٌ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 قال الله: يا عيسى ابن مريم، اذكر نعمتي عليك وعلى أمك، إذ قوّيتك بجبريل، تكلّم الناس في المهد وكبيرًا، وعلّمتك الكتابة والحكمة والتوراة والإنجيل، وتصنع من الطين كهيئة الطير بإذني، وتشفي الأعمى والأبرص بإذني، وتُخرج الموتى أحياءً بإذني.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١١١ – ١١٢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١١١</a:t>
            </a:r>
            <a:endParaRPr lang="ar-SA" sz="13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أَوْحَيْتُ إِلَى الْحَوَارِيِّـنَ أَنْ ءَامِنُواْ بِي وَبِرَسُولِي قَالُواْ ءَامَنَّا وَاشْهَدْ بِأَنَّنَا مُسْلِمُونَ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 ألهمت الحواريين أن آمنوا بي وبرسولي عيسى، قالوا: آمنّا واشهد بأننا مسلمون.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١١٢</a:t>
            </a:r>
            <a:endParaRPr lang="ar-SA" sz="13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 قَالَ الْحَوَارِيُّونَ يَٰعِيسَى ابْنَ مَرْيَمَ هَلْ يَسْتَطِيعُ رَبُّكَ أَن يُنَزِّلَ عَلَيْنَا مَآئِدَةً مِّنَ السَّمَآءِ قَالَ اتَّقُواْ اللَّهَ إِن كُنتُم 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حين قال الحواريون: يا عيسى ابن مريم، هل يستجيب ربك فيُنزل علينا مائدة من السماء؟ قال: اتقوا الله إن كنتم مؤمنين.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١١٣ – ١١٤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١١٣</a:t>
            </a:r>
            <a:endParaRPr lang="ar-SA" sz="13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نُرِيدُ أَن نَّأْكُلَ مِنْهَا وَتَطْمَئِنَّ قُلُوبُنَا وَنَعْلَمَ أَن قَدْ صَدَقْتَنَا وَنَكُونَ عَلَيْهَا مِنَ الشَّـٰهِدِينَ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نريد أن نأكل منها، وتطمئن قلوبنا، ونعلم أنك صدقتنا، ونكون عليها من الشاهدين.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١١٤</a:t>
            </a:r>
            <a:endParaRPr lang="ar-SA" sz="13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عِيسَى ابْنُ مَرْيَمَ اللَّهُمَّ رَبَّنَآ أَنزِلْ عَلَيْنَا مَآئِدَةً مِّنَ السَّمَآءِ تَكُونُ لَنَا عِيدًا لِّأَوَّلِنَا وَءَاخِرِنَا وَءَايَةً مِّنكَ وَارْزُقْنَا وَأَنتَ خَيْرُ الرَّـٰزِقِينَ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عيسى ابن مريم: اللهم ربنا أنزل علينا مائدة من السماء تكون لنا عيدًا لأولنا وآخرنا، وآية منك، وارزقنا وأنت خير الرازقين.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١١٥ – ١١٦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١١٥</a:t>
            </a:r>
            <a:endParaRPr lang="ar-SA" sz="1300" dirty="0"/>
          </a:p>
        </p:txBody>
      </p:sp>
      <p:sp>
        <p:nvSpPr>
          <p:cNvPr id="8" name="Text 6"/>
          <p:cNvSpPr txBox="1"/>
          <p:nvPr/>
        </p:nvSpPr>
        <p:spPr>
          <a:xfrm>
            <a:off x="731520" y="135331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اللَّهُ إِنِّي مُنَزِّلُهَا عَلَيْكُمْ فَمَن يَكْفُرْ بَعْدُ مِنكُمْ فَإِنِّي أُعَذِّبُهُ عَذَابًا لَّآ أُعَذِّبُهُ أَحَدًا مِّنَ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الله: إني منزّلها عليكم، فمن يكفر بعد ذلك منكم فإني أعذّبه عذابًا لا أعذّبه أحدًا من العالمين.</a:t>
            </a:r>
            <a:endParaRPr lang="ar-SA" sz="3200" dirty="0"/>
          </a:p>
        </p:txBody>
      </p:sp>
      <p:sp>
        <p:nvSpPr>
          <p:cNvPr id="9" name="Shape 7"/>
          <p:cNvSpPr/>
          <p:nvPr/>
        </p:nvSpPr>
        <p:spPr>
          <a:xfrm>
            <a:off x="2103120" y="3035808"/>
            <a:ext cx="8641080" cy="0"/>
          </a:xfrm>
          <a:prstGeom prst="line">
            <a:avLst/>
          </a:prstGeom>
          <a:noFill/>
          <a:ln w="9525">
            <a:solidFill>
              <a:schemeClr val="accent2"/>
            </a:solidFill>
            <a:prstDash val="dash"/>
          </a:ln>
        </p:spPr>
      </p:sp>
      <p:sp>
        <p:nvSpPr>
          <p:cNvPr id="10" name="Shape 8"/>
          <p:cNvSpPr/>
          <p:nvPr/>
        </p:nvSpPr>
        <p:spPr>
          <a:xfrm>
            <a:off x="10927080" y="3209544"/>
            <a:ext cx="548640" cy="548640"/>
          </a:xfrm>
          <a:prstGeom prst="star8">
            <a:avLst/>
          </a:prstGeom>
          <a:solidFill>
            <a:schemeClr val="accent2"/>
          </a:solidFill>
          <a:ln/>
        </p:spPr>
      </p:sp>
      <p:sp>
        <p:nvSpPr>
          <p:cNvPr id="11" name="Shape 9"/>
          <p:cNvSpPr/>
          <p:nvPr/>
        </p:nvSpPr>
        <p:spPr>
          <a:xfrm>
            <a:off x="11036808" y="33192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095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١١٦</a:t>
            </a:r>
            <a:endParaRPr lang="ar-SA" sz="1300" dirty="0"/>
          </a:p>
        </p:txBody>
      </p:sp>
      <p:sp>
        <p:nvSpPr>
          <p:cNvPr id="13" name="Text 11"/>
          <p:cNvSpPr txBox="1"/>
          <p:nvPr/>
        </p:nvSpPr>
        <p:spPr>
          <a:xfrm>
            <a:off x="731520" y="3191256"/>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قَالَ اللَّهُ يَٰعِيسَى ابْنَ مَرْيَمَ ءَأَنتَ قُلْتَ لِلنَّاسِ اتَّخِذُونِي وَأُمِّيَ إِلَٰهَيْنِ مِن دُونِ اللَّهِ قَالَ سُبْحَٰنَكَ مَا يَكُونُ لِي أَنْ أَقُولَ مَا لَيْسَ لِي بِحَقٍّ إِن كُنتُ قُلْتُهُ فَقَدْ عَلِمْتَهُ تَعْلَمُ مَا فِي نَفْسِي وَلَآ أَعْلَمُ مَا فِي نَفْسِكَ إِنَّكَ أَنتَ عَلَّـٰمُ الْغُيُوبِ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 يقول الله يوم القيامة: يا عيسى ابن مريم، أأنت قلت للناس: اتخذوني وأمي إلهين من دون الله؟ قال: سبحانك، ما يكون لي أن أقول ما ليس لي بحق، إن كنت قلته فقد علمته، تعلم ما في نفسي ولا أعلم ما في نفسك.</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١١٧ – ١١٨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١١٧</a:t>
            </a:r>
            <a:endParaRPr lang="ar-SA" sz="1300" dirty="0"/>
          </a:p>
        </p:txBody>
      </p:sp>
      <p:sp>
        <p:nvSpPr>
          <p:cNvPr id="8" name="Text 6"/>
          <p:cNvSpPr txBox="1"/>
          <p:nvPr/>
        </p:nvSpPr>
        <p:spPr>
          <a:xfrm>
            <a:off x="731520" y="155905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قُلْتُ لَهُمْ إِلَّا مَآ أَمَرْتَنِي بِهِ أَنِ اعْبُدُواْ اللَّهَ رَبِّي وَرَبَّكُمْ وَكُنتُ عَلَيْهِمْ شَهِيدًا مَّا دُمْتُ فِيهِمْ فَلَمَّا تَوَفَّيْتَنِي كُنتَ أَنتَ الرَّقِيبَ عَلَيْهِمْ وَأَنتَ عَلَىٰ كُلِّ شَيْءٍ شَهِيدٌ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قلت لهم إلا ما أمرتني به: أن اعبدوا الله ربي وربكم، وكنت عليهم شهيدًا ما دمت فيهم، فلما رفعتني إليك كنت أنت الرقيب عليهم، وأنت على كل شيء شهيد.</a:t>
            </a:r>
            <a:endParaRPr lang="ar-SA" sz="3200" dirty="0"/>
          </a:p>
        </p:txBody>
      </p:sp>
      <p:sp>
        <p:nvSpPr>
          <p:cNvPr id="9" name="Shape 7"/>
          <p:cNvSpPr/>
          <p:nvPr/>
        </p:nvSpPr>
        <p:spPr>
          <a:xfrm>
            <a:off x="2103120" y="4251960"/>
            <a:ext cx="8641080" cy="0"/>
          </a:xfrm>
          <a:prstGeom prst="line">
            <a:avLst/>
          </a:prstGeom>
          <a:noFill/>
          <a:ln w="9525">
            <a:solidFill>
              <a:schemeClr val="accent2"/>
            </a:solidFill>
            <a:prstDash val="dash"/>
          </a:ln>
        </p:spPr>
      </p:sp>
      <p:sp>
        <p:nvSpPr>
          <p:cNvPr id="10" name="Shape 8"/>
          <p:cNvSpPr/>
          <p:nvPr/>
        </p:nvSpPr>
        <p:spPr>
          <a:xfrm>
            <a:off x="10927080" y="4512564"/>
            <a:ext cx="548640" cy="548640"/>
          </a:xfrm>
          <a:prstGeom prst="star8">
            <a:avLst/>
          </a:prstGeom>
          <a:solidFill>
            <a:schemeClr val="accent2"/>
          </a:solidFill>
          <a:ln/>
        </p:spPr>
      </p:sp>
      <p:sp>
        <p:nvSpPr>
          <p:cNvPr id="11" name="Shape 9"/>
          <p:cNvSpPr/>
          <p:nvPr/>
        </p:nvSpPr>
        <p:spPr>
          <a:xfrm>
            <a:off x="11036808" y="462229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51256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١١٨</a:t>
            </a:r>
            <a:endParaRPr lang="ar-SA" sz="1300" dirty="0"/>
          </a:p>
        </p:txBody>
      </p:sp>
      <p:sp>
        <p:nvSpPr>
          <p:cNvPr id="13" name="Text 11"/>
          <p:cNvSpPr txBox="1"/>
          <p:nvPr/>
        </p:nvSpPr>
        <p:spPr>
          <a:xfrm>
            <a:off x="731520" y="4494276"/>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تُعَذِّبْهُمْ فَإِنَّهُمْ عِبَادُكَ وَإِن تَغْفِرْ لَهُمْ فَإِنَّكَ أَنتَ الْعَزِيزُ الْحَكِيمُ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تعذّبهم فإنهم عبادك، وإن تغفر لهم فإنك أنت العزيز الحكيم. وقام النبي صلى الله عليه وسلم ليلة يردّد هذه الآية حتى أصبح (رواه النسائي).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المائدة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١١٩ – ١٢٠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١١٩</a:t>
            </a:r>
            <a:endParaRPr lang="ar-SA" sz="13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اللَّهُ هَٰذَا يَوْمُ يَنفَعُ الصَّـٰدِقِينَ صِدْقُهُمْ لَهُمْ جَنَّـٰتٌ تَجْرِي مِن تَحْتِهَا الْأَنْهَٰرُ خَٰلِدِينَ فِيهَآ أَبَدًا رَّضِيَ اللَّهُ عَنْهُمْ وَرَضُواْ عَنْهُ ذَٰلِكَ الْفَوْزُ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الله: هذا يوم ينفع الصادقين صدقهم، لهم جنات تجري من تحتها الأنهار خالدين فيها أبدًا، رضي الله عنهم ورضوا عنه، ذلك الفوز العظيم.</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١٢٠</a:t>
            </a:r>
            <a:endParaRPr lang="ar-SA" sz="13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لِلَّهِ مُلْكُ السَّمَٰوَٰتِ وَالْأَرْضِ وَمَا فِيهِنَّ وَهُوَ عَلَىٰ كُلِّ شَيْءٍ 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لله ملك السماوات والأرض وما فيهن، وهو على كل شيء قدير.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pic>
        <p:nvPicPr>
          <p:cNvPr id="2" name="Image 0" descr="assets5/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جزاكم الله خيرًا</a:t>
            </a:r>
            <a:endParaRPr lang="en-US" sz="6400" dirty="0"/>
          </a:p>
        </p:txBody>
      </p:sp>
      <p:sp>
        <p:nvSpPr>
          <p:cNvPr id="4" name="Text 1"/>
          <p:cNvSpPr txBox="1"/>
          <p:nvPr/>
        </p:nvSpPr>
        <p:spPr>
          <a:xfrm>
            <a:off x="1371600" y="3794760"/>
            <a:ext cx="9448495" cy="91440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Traditional Arabic" pitchFamily="34" charset="0"/>
                <a:ea typeface="Traditional Arabic" pitchFamily="34" charset="-122"/>
                <a:cs typeface="Traditional Arabic" pitchFamily="34" charset="-120"/>
              </a:rPr>
              <a:t>«اللهم اجعل القرآن العظيم ربيع قلوبنا، ونور صدورنا، وجلاء أحزاننا، وذهاب همومنا»</a:t>
            </a:r>
            <a:endParaRPr lang="ar-SA" sz="2600" dirty="0"/>
          </a:p>
        </p:txBody>
      </p:sp>
      <p:pic>
        <p:nvPicPr>
          <p:cNvPr id="5" name="Image 1" descr="assets5/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rtl="1" algn="ctr" indent="0" marL="0">
              <a:buNone/>
            </a:pPr>
            <a:r>
              <a:rPr lang="ar-SA" altLang="en-US" sz="1500" dirty="0">
                <a:solidFill>
                  <a:schemeClr val="bg2"/>
                </a:solidFill>
              </a:rPr>
              <a:t>المرجع: تفسير القرآن العظيم، للحافظ ابن كثير رحمه الله</a:t>
            </a:r>
            <a:endParaRPr lang="ar-SA" sz="1500" dirty="0"/>
          </a:p>
        </p:txBody>
      </p:sp>
    </p:spTree>
  </p:cSld>
  <p:clrMapOvr>
    <a:masterClrMapping/>
  </p:clrMapOvr>
</p:sld>
</file>

<file path=ppt/theme/theme1.xml><?xml version="1.0" encoding="utf-8"?>
<a:theme xmlns:a="http://schemas.openxmlformats.org/drawingml/2006/main" name="Al-Maida Tafsir">
  <a:themeElements>
    <a:clrScheme name="Al-Maida Tafsir">
      <a:dk1>
        <a:srgbClr val="2E2A20"/>
      </a:dk1>
      <a:lt1>
        <a:srgbClr val="FFFFFF"/>
      </a:lt1>
      <a:dk2>
        <a:srgbClr val="8C6A10"/>
      </a:dk2>
      <a:lt2>
        <a:srgbClr val="FFFAEA"/>
      </a:lt2>
      <a:accent1>
        <a:srgbClr val="8C6A10"/>
      </a:accent1>
      <a:accent2>
        <a:srgbClr val="D4A73A"/>
      </a:accent2>
      <a:accent3>
        <a:srgbClr val="B8891E"/>
      </a:accent3>
      <a:accent4>
        <a:srgbClr val="6F6756"/>
      </a:accent4>
      <a:accent5>
        <a:srgbClr val="FBF1D2"/>
      </a:accent5>
      <a:accent6>
        <a:srgbClr val="2F6B5E"/>
      </a:accent6>
      <a:hlink>
        <a:srgbClr val="B8891E"/>
      </a:hlink>
      <a:folHlink>
        <a:srgbClr val="6F6756"/>
      </a:folHlink>
    </a:clrScheme>
    <a:fontScheme name="Al-Maida Tafsir">
      <a:majorFont>
        <a:latin typeface="Sakkal Majal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83</Slides>
  <Notes>83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83</vt:i4>
      </vt:variant>
    </vt:vector>
  </HeadingPairs>
  <TitlesOfParts>
    <vt:vector size="8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تفسير سورة المائدة — مبسّط من تفسير ابن كثير</dc:title>
  <dc:subject>PptxGenJS Presentation</dc:subject>
  <dc:creator>معلم القرآن الكريم</dc:creator>
  <cp:lastModifiedBy>معلم القرآن الكريم</cp:lastModifiedBy>
  <cp:revision>1</cp:revision>
  <dcterms:created xsi:type="dcterms:W3CDTF">2026-10-03T21:15:40Z</dcterms:created>
  <dcterms:modified xsi:type="dcterms:W3CDTF">2026-10-03T21:15:40Z</dcterms:modified>
</cp:coreProperties>
</file>