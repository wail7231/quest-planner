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notesMasterIdLst>
    <p:notesMasterId r:id="rId10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d6fcccf6-3a8e-4663-65e5-261a5e2ff743}">
          <p14:sldIdLst>
            <p14:sldId id="256"/>
            <p14:sldId id="257"/>
            <p14:sldId id="258"/>
          </p14:sldIdLst>
        </p14:section>
        <p14:section name="سورة النمل" id="{7645d3b3-9fad-ed1c-16cd-2472fa5e6337}">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سورة الشعراء" id="{835abd8f-008c-053f-56e6-c182a6bc0372}">
          <p14:sldIdLst>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Lst>
        </p14:section>
        <p14:section name="سورة الفرقان" id="{5ac059bd-8df4-c073-7036-f9e84144d31a}">
          <p14:sldIdLst>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Lst>
        </p14:section>
        <p14:section name="الخاتمة" id="{0d17dcdf-db2e-780b-7aa7-16378186efa2}">
          <p14:sldIdLst>
            <p14:sldId id="3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notesMaster" Target="notesMasters/notesMaster1.xml"/><Relationship Id="rId108" Type="http://schemas.openxmlformats.org/officeDocument/2006/relationships/presProps" Target="presProps.xml"/><Relationship Id="rId109" Type="http://schemas.openxmlformats.org/officeDocument/2006/relationships/viewProps" Target="viewProps.xml"/><Relationship Id="rId110" Type="http://schemas.openxmlformats.org/officeDocument/2006/relationships/theme" Target="theme/theme1.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النمل ثم نصعد سورةً سورة حتى نصل إلى سورة الفرقان،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دعا سليمان حين سمع كلام النملة (الآية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موسى لأصحابه حين قالوا: إنا لمدركون (الآية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خمسًا من صفات عباد الرحمن في الآيات 63–74.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9/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9/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9/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slideLayout" Target="../slideLayouts/slideLayout4.xml"/><Relationship Id="rId4"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9/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وقال الذين</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9/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النمل إلى سورة الفرقان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العنّابي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وقال الذين</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النمل صعودًا إلى سورة الفرقان</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النمل</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الشعراء</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الفرقان</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النمل</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٥٥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٥٥: القرآن هدى وبشرى للمؤمنين، ومعجزات موسى، وملك سليمان العظيم وقصة النملة والهدهد وملكة سبأ التي أسلمت، ثم مكر قوم صالح وهلاكهم.</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طس تِلْكَ ءَايَٰتُ الْقُرْءَانِ وَكِتَابٍ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تلك آيات القرآن، وكتاب 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هُدًى وَبُشْرَىٰ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هدى وبشرى للمؤمنين.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يُقِيمُونَ الصَّلَوٰةَ وَيُؤْتُونَ الزَّكَوٰةَ وَهُم بِالْأخِرَةِ هُمْ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يقيمون الصلاة، ويؤتون الزكاة، وهم بالآخرة موقنون.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لَا يُؤْمِنُونَ بِالْأخِرَةِ زَيَّنَّا لَهُمْ أَعْمَٰلَهُمْ فَهُمْ يَعْمَهُونَ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لا يؤمنون بالآخرة زيّنّا لهم أعمالهم السيئة، فهم يتحيّرون.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لَهُمْ سُوءُ الْعَذَابِ وَهُمْ فِي الْأخِرَةِ هُمُ الْأَخْسَرُونَ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لهم أسوأ العذاب، وهم في الآخرة أشد الناس خسارة.</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وَإِنَّكَ لَتُلَقَّى الْقُرْءَانَ مِن لَّدُنْ حَكِيمٍ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وإنك لتتلقّى القرآن من عند حكيم عليم.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مُوسَىٰ لِأَهْلِهِ إِنِّي ءَانَسْتُ نَارًا سَـَٔاتِيكُم مِّنْهَا بِخَبَرٍ أَوْ ءَاتِيكُم بِشِهَابٍ قَبَسٍ لَّعَلَّكُمْ تَصْطَلُونَ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اذكر حين قال موسى لأهله في طريقه من مدين: إني رأيت نارًا، سآتيكم منها بخبر عن الطريق، أو آتيكم بشعلة لعلكم تستدفئون.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جَآءَهَا نُودِيَ أَن بُورِكَ مَن فِي النَّارِ وَمَنْ حَوْلَهَا وَسُبْحَٰنَ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جاءها نُودي: أن بورك من في مكان النار ومن حولها من الملائكة، وتنزّه الله رب العالمين.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يَٰمُوسَىٰ إِنَّهُ أَنَا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موسى، إنه أنا الله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وَأَلْقِ عَصَاكَ فَلَمَّا رَءَاهَا تَهْتَزُّ كَأَنَّهَا جَآنٌّ وَلَّىٰ مُدْبِرًا وَلَمْ يُعَقِّبْ يَٰمُوسَىٰ لَا تَخَفْ إِنِّي لَا يَخَافُ لَدَيَّ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وألقِ عصاك، فلما رآها تتحرّك كأنها حيّة سريعة ولّى هاربًا ولم يرجع، يا موسى لا تخف، إني لا يخاف عندي المرسلون.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ظَلَمَ ثُمَّ بَدَّلَ حُسْنًا بَعْدَ سُوءٍ فَإِنِّي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أخطأ ثم بدّل حسنًا بعد سوء بالتوبة، فإني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وَأَدْخِلْ يَدَكَ فِي جَيْبِكَ تَخْرُجْ بَيْضَآءَ مِنْ غَيْرِ سُوءٍ فِي تِسْعِ ءَايَٰتٍ إِلَىٰ فِرْعَوْنَ وَقَوْمِهِ إِنَّهُمْ كَانُواْ قَوْمًا 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وأدخل يدك في فتحة ثوبك تخرج بيضاء من غير مرض، ضمن تسع معجزات إلى فرعون وقومه، إنهم كانوا قومًا فاسقين.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جَآءَتْهُمْ ءَايَٰتُنَا مُبْصِرَةً قَالُواْ هَٰذَا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جاءتهم معجزاتنا واضحة قالوا: هذا سحر واضح.</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وَجَحَدُواْ بِهَا وَاسْتَيْقَنَتْهَآ أَنفُسُهُمْ ظُلْمًا وَعُلُوًّا فَانظُرْ كَيْفَ كَانَ عَٰقِبَةُ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وجحدوا بها بألسنتهم، وقد أيقنت قلوبهم أنها حق، ظلمًا وتكبّرًا، فانظر كيف كانت عاقبة المفسدين.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دَاوُدَ وَسُلَيْمَٰنَ عِلْمًا وَقَالَا الْحَمْدُ لِلَّهِ الَّذِي فَضَّلَنَا عَلَىٰ كَثِيرٍ مِّنْ عِبَادِهِ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داود وسليمان علمًا، وقالا: الحمد لله الذي فضّلنا على كثير من عباده المؤمنين.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وَوَرِثَ سُلَيْمَٰنُ دَاوُدَ وَقَالَ يَـٰأَيُّهَا النَّاسُ عُلِّمْنَا مَنطِقَ الطَّيْرِ وَأُوتِينَا مِن كُلِّ شَيْءٍ إِنَّ هَٰذَا لَهُوَ الْفَضْلُ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وورث سليمان أباه داود في النبوة والملك، وقال: يا أيها الناس، عُلّمنا لغة الطير، وأُعطينا من كل شيء، إن هذا لهو الفضل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وَحُشِرَ لِسُلَيْمَٰنَ جُنُودُهُ مِنَ الْجِنِّ وَالْإِنسِ وَالطَّيْرِ فَهُمْ يُوزَعُونَ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وجُمع لسليمان جنوده من الجن والإنس والطير، فهم يُنظّمون ويُردّ أولهم على آخرهم.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أَتَوْاْ عَلَىٰ وَادِ النَّمْلِ قَالَتْ نَمْلَةٌ يَـٰأَيُّهَا النَّمْلُ ادْخُلُواْ مَسَٰكِنَكُمْ لَا يَحْطِمَنَّكُمْ سُلَيْمَٰنُ وَجُنُودُهُ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أتوا على وادي النمل، قالت نملة: يا أيها النمل ادخلوا مساكنكم، لا يُحطّمنّكم سليمان وجنوده وهم لا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فَتَبَسَّمَ ضَاحِكًا مِّن قَوْلِهَا وَقَالَ رَبِّ أَوْزِعْنِي أَنْ أَشْكُرَ نِعْمَتَكَ الَّتِي أَنْعَمْتَ عَلَيَّ وَعَلَىٰ وَٰلِدَيَّ وَأَنْ أَعْمَلَ صَٰلِحًا تَرْضَىٰهُ وَأَدْخِلْنِي بِرَحْمَتِكَ فِي عِبَادِكَ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فتبسّم سليمان ضاحكًا من قولها، وقال: رب ألهمني أن أشكر نعمتك التي أنعمت عليّ وعلى والديّ، وأن أعمل صالحًا ترضاه، وأدخلني برحمتك في عبادك الصالحين.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وَتَفَقَّدَ الطَّيْرَ فَقَالَ مَالِيَ لَآ أَرَى الْهُدْهُدَ أَمْ كَانَ مِنَ الْغَآئِبِينَ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وتفقّد الطير، فقال: ما لي لا أرى الهدهد؟ أم كان من الغائبين؟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لَأُعَذِّبَنَّهُ عَذَابًا شَدِيدًا أَوْ لَأَاْذْبَحَنَّهُ أَوْ لَيَأْتِيَنِّي بِسُلْطَٰنٍ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لأعذّبنّه عذابًا شديدًا، أو لأذبحنّه، أو ليأتيني بعذر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فَمَكَثَ غَيْرَ بَعِيدٍ فَقَالَ أَحَطتُ بِمَا لَمْ تُحِطْ بِهِ وَجِئْتُكَ مِن سَبَإٍ بِنَبَإٍ 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فبقي الهدهد زمنًا غير طويل، ثم جاء فقال: علمت ما لم تعلمه، وجئتك من مملكة سبأ بخبر يقين.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وَجَدتُّ امْرَأَةً تَمْلِكُهُمْ وَأُوتِيَتْ مِن كُلِّ شَيْءٍ وَلَهَا عَرْشٌ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وجدت امرأة تحكمهم، وأُعطيت من كل شيء، ولها سرير ملك عظيم.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وَجَدتُّهَا وَقَوْمَهَا يَسْجُدُونَ لِلشَّمْسِ مِن دُونِ اللَّهِ وَزَيَّنَ لَهُمُ الشَّيْطَٰنُ أَعْمَٰلَهُمْ فَصَدَّهُمْ عَنِ السَّبِيلِ فَهُمْ لَا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وجدتها وقومها يسجدون للشمس من دون الله، وزيّن لهم الشيطان أعمالهم، فصدّهم عن طريق الحق، فهم لا يهتدون.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يَسْجُدُواْ لِلَّهِ الَّذِي يُخْرِجُ الْخَبْءَ فِي السَّمَٰوَٰتِ وَالْأَرْضِ وَيَعْلَمُ مَا تُخْفُونَ وَمَا تُعْلِنُونَ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يسجدوا لله الذي يُخرج المخبوء في السماوات كالمطر والأرض كالنبات، ويعلم ما تُخفون وما تُعلنون.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لَآ إِلَٰهَ إِلَّا هُوَ رَبُّ الْعَرْشِ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لا إله إلا هو رب العرش العظيم. وهنا موضع سجدة تلاوة.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سَنَنظُرُ أَصَدَقْتَ أَمْ كُنتَ 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سليمان: سننظر أصدقت أم كنت من الكاذبين.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اذْهَب بِّكِتَٰبِي هَٰذَا فَأَلْقِهْ إِلَيْهِمْ ثُمَّ تَوَلَّ عَنْهُمْ فَانظُرْ مَاذَا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 بكتابي هذا فألقه إليهم، ثم ابتعد عنهم قليلًا، فانظر ماذا يردّون.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يَـٰأَيُّهَا الْمَلَؤُاْ إِنِّي أُلْقِيَ إِلَيَّ كِتَٰبٌ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الملكة: يا أيها الكبراء، إني أُلقي إليّ كتاب كريم.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مِن سُلَيْمَٰنَ وَإِنَّهُ بِسْمِ اللَّهِ الرَّحْمَٰنِ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من سليمان، وإنه مبدوء بـ«بسم الله الرحمن الرحيم».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تَعْلُواْ عَلَيَّ وَأْتُونِي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تتكبّروا عليّ، وأتوني مستسلمين منقادين.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يَـٰأَيُّهَا الْمَلَؤُاْ أَفْتُونِي فِي أَمْرِي مَا كُنتُ قَاطِعَةً أَمْرًا حَتَّىٰ تَشْهَدُونِ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يا أيها الكبراء، أشيروا عليّ في أمري، ما كنت أقطع أمرًا حتى تحضروا وتشيروا.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نَحْنُ أُوْلُواْ قُوَّةٍ وَأُوْلُواْ بَأْسٍ شَدِيدٍ وَالْأَمْرُ إِلَيْكِ فَانظُرِي مَاذَا تَأْمُرِينَ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نحن أصحاب قوة وشجاعة شديدة في الحرب، والأمر إليك فانظري ماذا تأمرين.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إِنَّ الْمُلُوكَ إِذَا دَخَلُواْ قَرْيَةً أَفْسَدُوهَا وَجَعَلُواْ أَعِزَّةَ أَهْلِهَآ أَذِلَّةً وَكَذَٰلِكَ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إن الملوك إذا دخلوا قرية بالقوة أفسدوها، وجعلوا أعزّة أهلها أذلّة، وكذلك يفعلون.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وَإِنِّي مُرْسِلَةٌ إِلَيْهِم بِهَدِيَّةٍ فَنَاظِرَةٌ بِمَ يَرْجِعُ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وإني مرسلة إليهم بهدية، فناظرة بماذا يرجع الرسل.</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 سُلَيْمَٰنَ قَالَ أَتُمِدُّونَنِ بِمَالٍ فَمَآ ءَاتَىٰنَِ اللَّهُ خَيْرٌ مِّمَّآ ءَاتَىٰكُم بَلْ أَنتُم بِهَدِيَّتِكُمْ تَفْرَحُونَ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رسولها سليمان قال: أتمدّونني بمال؟ فما أعطاني الله من النبوة والملك خير مما أعطاكم، بل أنتم بهديتكم تفرحون.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ارْجِعْ إِلَيْهِمْ فَلَنَأْتِيَنَّهُم بِجُنُودٍ لَّا قِبَلَ لَهُم بِهَا وَلَنُخْرِجَنَّهُم مِّنْهَآ أَذِلَّةً وَهُمْ صَٰغِرُونَ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ارجع إليهم، فلنأتينّهم بجنود لا طاقة لهم بها، ولنُخرجنّهم من بلادهم أذلّة وهم صاغرون إن لم يُسلموا.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يَـٰأَيُّهَا الْمَلَؤُاْ أَيُّكُمْ يَأْتِينِي بِعَرْشِهَا قَبْلَ أَن يَأْتُونِي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سليمان: يا أيها الكبراء، أيّكم يأتيني بعرشها قبل أن يأتوني مسلمين؟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عِفْرِيتٌ مِّنَ الْجِنِّ أَنَا ءَاتِيكَ بِهِ قَبْلَ أَن تَقُومَ مِن مَّقَامِكَ وَإِنِّي عَلَيْهِ لَقَوِيٌّ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عفريت من الجن: أنا آتيك به قبل أن تقوم من مجلسك، وإني عليه لقوي أمين.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الَّذِي عِندَهُ عِلْمٌ مِّنَ الْكِتَٰبِ أَنَا ءَاتِيكَ بِهِ قَبْلَ أَن يَرْتَدَّ إِلَيْكَ طَرْفُكَ فَلَمَّا رَءَاهُ مُسْتَقِرًّا عِندَهُ قَالَ هَٰذَا مِن فَضْلِ رَبِّي لِيَبْلُوَنِي ءَأَشْكُرُ أَمْ أَكْفُرُ وَمَن شَكَرَ فَإِنَّمَا يَشْكُرُ لِنَفْسِهِ وَمَن كَفَرَ فَإِنَّ رَبِّي غَنِيٌّ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الذي عنده علم من الكتاب: أنا آتيك به قبل أن ترمش عينك، فلما رآه مستقرًّا عنده قال: هذا من فضل ربي، ليختبرني أأشكر أم أكفر، ومن شكر فإنما يشكر لنفسه، ومن كفر فإن ربي غني كريم.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نَكِّرُواْ لَهَا عَرْشَهَا نَنظُرْ أَتَهْتَدِي أَمْ تَكُونُ مِنَ الَّذِينَ لَا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غيّروا لها شكل عرشها، ننظر أتعرفه أم تكون من الذين لا يهتدون.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جَآءَتْ قِيلَ أَهَٰكَذَا عَرْشُكِ قَالَتْ كَأَنَّهُ هُوَ وَأُوتِينَا الْعِلْمَ مِن قَبْلِهَا وَكُنَّا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جاءت قيل: أهكذا عرشك؟ قالت: كأنه هو، وقال سليمان: وأُوتينا العلم بالله من قبلها، وكنا مسلمين.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وَصَدَّهَا مَا كَانَت تَّعْبُدُ مِن دُونِ اللَّهِ إِنَّهَا كَانَتْ مِن قَوْمٍ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ومنعها من عبادة الله ما كانت تعبده من دونه، إنها كانت من قوم 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قِيلَ لَهَا ادْخُلِي الصَّرْحَ فَلَمَّا رَأَتْهُ حَسِبَتْهُ لُجَّةً وَكَشَفَتْ عَن سَاقَيْهَا قَالَ إِنَّهُ صَرْحٌ مُّمَرَّدٌ مِّن قَوَارِيرَ قَالَتْ رَبِّ إِنِّي ظَلَمْتُ نَفْسِي وَأَسْلَمْتُ مَعَ سُلَيْمَٰنَ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قيل لها: ادخلي القصر، فلما رأت أرضه حسبته ماءً عميقًا، فكشفت عن ساقيها، قال سليمان: إنه قصر أملس مصنوع من الزجاج، قالت: رب إني ظلمت نفسي بالشرك، وأسلمت مع سليمان لله رب العالمين.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إِلَىٰ ثَمُودَ أَخَاهُمْ صَٰلِحًا أَنِ اعْبُدُواْ اللَّهَ فَإِذَا هُمْ فَرِيقَانِ يَخْتَصِمُونَ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إلى ثمود أخاهم صالحًا: أن اعبدوا الله، فإذا هم فريقان: مؤمنون وكافرون يتخاصمون.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لِمَ تَسْتَعْجِلُونَ بِالسَّيِّئَةِ قَبْلَ الْحَسَنَةِ لَوْلَا تَسْتَغْفِرُونَ اللَّهَ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يا قوم لِمَ تستعجلون بالعذاب قبل الرحمة؟ هلّا تستغفرون الله لعلكم تُرحمون.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اطَّيَّرْنَا بِكَ وَبِمَن مَّعَكَ قَالَ طَـٰئِرُكُمْ عِندَ اللَّهِ بَلْ أَنتُمْ قَوْمٌ تُفْتَنُونَ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تشاءمنا بك وبمن معك، قال: شؤمكم عند الله بسبب ذنوبكم، بل أنتم قوم تُختبرون.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وَكَانَ فِي الْمَدِينَةِ تِسْعَةُ رَهْطٍ يُفْسِدُونَ فِي الْأَرْضِ وَلَا يُصْلِحُونَ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في مدينة ثمود تسعة رجال يفسدون في الأرض ولا يُصلحون.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تَقَاسَمُواْ بِاللَّهِ لَنُبَيِّتَنَّهُ وَأَهْلَهُ ثُمَّ لَنَقُولَنَّ لِوَلِيِّهِ مَا شَهِدْنَا مَهْلِكَ أَهْلِهِ وَإِنَّا لَصَٰدِقُونَ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تحالفوا بالله لنهجمنّ على صالح وأهله ليلًا فنقتلهم، ثم لنقولنّ لوليّه: ما حضرنا هلاك أهله، وإنا لصادقون.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وَمَكَرُواْ مَكْرًا وَمَكَرْنَا مَكْرًا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ودبّروا مكيدة، ودبّرنا لهم عقوبة وهم لا يشعرون.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فَانظُرْ كَيْفَ كَانَ عَٰقِبَةُ مَكْرِهِمْ أَنَّا دَمَّرْنَٰهُمْ وَقَوْمَهُمْ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فانظر كيف كانت عاقبة مكرهم: أنا أهلكناهم وقومهم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فَتِلْكَ بُيُوتُهُمْ خَاوِيَةً بِمَا ظَلَمُواْ إِنَّ فِي ذَٰلِكَ لَأيَةً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فتلك بيوتهم خالية بسبب ظلمهم، إن في ذلك لعبرة لقوم يعلمون.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وَأَنجَيْنَا الَّذِينَ ءَامَنُواْ وَكَانُواْ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وأنجينا المؤمنين الذين كانوا يتقون.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وَلُوطًا إِذْ قَالَ لِقَوْمِهِ أَتَأْتُونَ الْفَٰحِشَةَ وَأَنتُمْ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لوطًا حين قال لقومه: أتفعلون الفاحشة وأنتم تعلمون قبحها؟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أَئِنَّكُمْ لَتَأْتُونَ الرِّجَالَ شَهْوَةً مِّن دُونِ النِّسَآءِ بَلْ أَنتُمْ قَوْمٌ تَجْهَلُونَ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أإنكم لتأتون الرجال شهوة وتتركون النساء؟ بل أنتم قوم تجهلون.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الشعراء</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٢٢٧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نزلت: ﴿وأنذر عشيرتك الأقربين﴾ صعد النبي صلى الله عليه وسلم على الصفا فنادى: «يا بني فهر، يا بني عدي» لبطون قريش، حتى اجتمعوا، فقال: «أرأيتكم لو أخبرتكم أن خيلًا بالوادي تريد أن تُغير عليكم أكنتم مصدّقيّ؟» قالوا: ما جرّبنا عليك إلا صدقًا، قال: «فإني نذير لكم بين يدي عذاب شديد»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تسلية النبي صلى الله عليه وسلم بقصص الأنبياء: موسى مع فرعون، وإبراهيم مع قومه، ونوح وهود وصالح ولوط وشعيب، ويتكرّر بعد كل قصة: ﴿إن في ذلك لآية وما كان أكثرهم مؤمنين، وإن ربك لهو العزيز الرحيم﴾، ثم إثبات أن القرآن تنزيل رب العالمين.</a:t>
            </a:r>
            <a:endParaRPr lang="ar-SA"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طسم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ءَايَٰتُ الْكِتَٰبِ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آيات القرآن الواضح.</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لَعَلَّكَ بَٰخِعٌ نَّفْسَكَ أَلَّا يَكُونُواْ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لعلك مُهلك نفسك حزنًا لأنهم لم يكونوا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نَّشَأْ نُنَزِّلْ عَلَيْهِم مِّنَ السَّمَآءِ ءَايَةً فَظَلَّتْ أَعْنَٰقُهُمْ لَهَا خَٰضِعِينَ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نشأ ننزّل عليهم من السماء آية تُجبرهم على الإيمان، فتصير أعناقهم لها خاضعة، ولكن لم نشأ ذلك ليكون إيمانهم اختيارًا.</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يَأْتِيهِم مِّن ذِكْرٍ مِّنَ الرَّحْمَٰنِ مُحْدَثٍ إِلَّا كَانُواْ عَنْهُ مُعْرِضِينَ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يأتيهم من قرآن جديد من الرحمن إلا كانوا عنه معرضين.</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فَقَدْ كَذَّبُواْ فَسَيَأْتِيهِمْ أَنبَـٰؤُاْ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فقد كذّبوا، فسيأتيهم عاقبة ما كانوا يستهزئون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إِلَى الْأَرْضِ كَمْ أَنبَتْنَا فِيهَا مِن كُلِّ زَوْجٍ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ينظروا إلى الأرض كم أنبتنا فيها من كل صنف حسن نافع؟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لدلالة على قدرة الله، وما كان أكثرهم 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المنتقم من أعدائه، الرحيم بأوليائه.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نَادَىٰ رَبُّكَ مُوسَىٰ أَنِ ائْتِ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نادى ربك موسى: أن ائتِ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قَوْمَ فِرْعَوْنَ أَلَا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قوم فرعون، ألا يتقون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أَخَافُ أَن يُكَذِّبُونِ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 إني أخاف أن يكذّبوني.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وَيَضِيقُ صَدْرِي وَلَا يَنطَلِقُ لِسَانِي فَأَرْسِلْ إِلَىٰ 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ويضيق صدري، ولا ينطلق لساني بالكلام، فأرسل جبريل إلى أخي هارون ليكون معي.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وَلَهُمْ عَلَيَّ ذَنبٌ فَأَخَافُ أَن يَقْتُلُونِ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ولهم عليّ دعوى ذنب بقتلي القبطي، فأخاف أن يقتلوني.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كَلَّا فَاذْهَبَا بِـَٔايَٰتِنَآ إِنَّا مَعَكُم مُّسْتَمِعُونَ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كلا لن يقتلوك، فاذهبا بمعجزاتنا، إنا معكم مستمعون.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فَأْتِيَا فِرْعَوْنَ فَقُولَآ إِنَّا رَسُولُ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فأتيا فرعون فقولا: إنا رسول رب العالمين.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أَرْسِلْ مَعَنَا 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أطلق معنا بني إسرائيل.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أَلَمْ نُرَبِّكَ فِينَا وَلِيدًا وَلَبِثْتَ فِينَا مِنْ عُمُرِكَ 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لموسى: ألم نربّك فينا صغيرًا، وبقيت فينا من عمرك 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وَفَعَلْتَ فَعْلَتَكَ الَّتِي فَعَلْتَ وَأَنتَ مِنَ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وفعلت فعلتك وهي قتل القبطي، وأنت من الجاحدين لنعمتنا.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فَعَلْتُهَآ إِذًا وَأَنَا مِنَ الضَّآلِّينَ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فعلتها حينئذ وأنا من المخطئين قبل أن يوحى إليّ.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فَفَرَرْتُ مِنكُمْ لَمَّا خِفْتُكُمْ فَوَهَبَ لِي رَبِّي حُكْمًا وَجَعَلَنِي 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فهربت منكم لما خفتكم، فوهب لي ربي علمًا وفهمًا، وجعلني من المرسلين.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وَتِلْكَ نِعْمَةٌ تَمُنُّهَا عَلَيَّ أَنْ عَبَّدتَّ 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وتلك التربية نعمة تمنّها عليّ، وقد استعبدت بني إسرائيل؟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فِرْعَوْنُ وَمَا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منكرًا: وما رب العالمين؟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السَّمَٰوَٰتِ وَالْأَرْضِ وَمَا بَيْنَهُمَآ إِن كُنتُم مُّوقِنِينَ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 السماوات والأرض وما بينهما إن كنتم موقنين.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لِمَنْ حَوْلَهُ أَلَا تَسْتَمِعُونَ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لمن حوله متعجّبًا: ألا تستمعون ما يقول؟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رَبُّكُمْ وَرَبُّ ءَابَآئِكُمُ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ربكم ورب آبائكم الأولين.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 رَسُولَكُمُ الَّذِي أُرْسِلَ إِلَيْكُمْ لَمَجْنُونٌ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إن رسولكم الذي أُرسل إليكم لمجنون.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الْمَشْرِقِ وَالْمَغْرِبِ وَمَا بَيْنَهُمَآ إِن كُنتُمْ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 المشرق والمغرب وما بينهما إن كنتم تعقلون.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لَئِنِ اتَّخَذْتَ إِلَٰهًا غَيْرِي لَأَجْعَلَنَّكَ مِنَ الْمَسْجُونِينَ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مهدّدًا: لئن اتّخذت إلهًا غيري لأجعلنّك من المسجونين.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أَوَلَوْ جِئْتُكَ بِشَيْءٍ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أتسجنني ولو جئتك بشيء واضح يدل على صدقي؟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فَأْتِ بِهِ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فأت به إن كنت من الصادقين.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فَأَلْقَىٰ عَصَاهُ فَإِذَا هِيَ ثُعْبَانٌ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فألقى عصاه فإذا هي حيّة عظيمة ظاهرة.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وَنَزَعَ يَدَهُ فَإِذَا هِيَ بَيْضَآءُ لِلنَّـٰظِرِينَ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وأخرج يده من جيبه فإذا هي بيضاء تلمع للناظرين.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لِلْمَلَإِ حَوْلَهُ إِنَّ هَٰذَا لَسَٰحِرٌ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لكبار قومه: إن هذا لساحر ماهر.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 أَن يُخْرِجَكُم مِّنْ أَرْضِكُم بِسِحْرِهِ فَمَاذَا تَأْمُرُونَ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 أن يُخرجكم من أرضكم بسحره، فماذا تشيرون؟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أَرْجِهْ وَأَخَاهُ وَابْعَثْ فِي الْمَدَآئِنِ حَٰشِرِينَ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أخّر أمره وأمر أخيه، وأرسل في المدن جامعين للسحرة.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يَأْتُوكَ بِكُلِّ سَحَّارٍ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يأتوك بكل ساحر ماهر.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فَجُمِعَ السَّحَرَةُ لِمِيقَٰتِ يَوْمٍ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فجُمع السحرة لموعد يوم معلوم وهو يوم العيد.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لِلنَّاسِ هَلْ أَنتُم مُّجْتَمِعُونَ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وقيل للناس: هل أنتم مجتمعون لتشهدوا؟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لَعَلَّنَا نَتَّبِعُ السَّحَرَةَ إِن كَانُواْ هُمُ الْغَٰلِبِينَ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لعلنا نتّبع السحرة إن كانوا هم الغالبين.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 السَّحَرَةُ قَالُواْ لِفِرْعَوْنَ أَئِنَّ لَنَا لَأَجْرًا إِن كُنَّا نَحْنُ الْغَٰلِبِينَ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السحرة قالوا لفرعون: أإن لنا لأجرًا إن كنا نحن الغالبين؟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نَعَمْ وَإِنَّكُمْ إِذًا لَّمِنَ الْمُقَرَّبِينَ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نعم، وإنكم إذًا لمن المقرّبين عندي.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لَهُم مُّوسَىٰ أَلْقُواْ مَآ أَنتُم مُّلْقُونَ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لهم موسى: ألقوا ما أنتم ملقون.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فَأَلْقَوْاْ حِبَالَهُمْ وَعِصِيَّهُمْ وَقَالُواْ بِعِزَّةِ فِرْعَوْنَ إِنَّا لَنَحْنُ الْغَٰلِبُونَ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فألقوا حبالهم وعصيّهم، وقالوا: بعزة فرعون إنا لنحن الغالبون.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فَأَلْقَىٰ مُوسَىٰ عَصَاهُ فَإِذَا هِيَ تَلْقَفُ مَا يَأْفِكُونَ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فألقى موسى عصاه فإذا هي تبتلع ما يزوّرونه من السحر.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فَأُلْقِيَ السَّحَرَةُ سَٰجِدِينَ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فخرّ السحرة ساجدين 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ءَامَنَّا بِرَبِّ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آمنّا برب العالمين.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مُوسَىٰ وَهَٰرُونَ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موسى وهارون.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ءَامَنتُمْ لَهُ قَبْلَ أَنْ ءَاذَنَ لَكُمْ إِنَّهُ لَكَبِيرُكُمُ الَّذِي عَلَّمَكُمُ السِّحْرَ فَلَسَوْفَ تَعْلَمُونَ لَأُقَطِّعَنَّ أَيْدِيَكُمْ وَأَرْجُلَكُم مِّنْ خِلَٰفٍ وَلَأُصَلِّبَنَّكُمْ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آمنتم له قبل أن آذن لكم؟ إنه لكبيركم الذي علّمكم السحر، فلسوف تعلمون، لأقطعنّ أيديكم وأرجلكم من خلاف، ولأصلبنّكم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لَا ضَيْرَ إِنَّآ إِلَىٰ رَبِّنَا مُنقَلِبُونَ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لا ضرر علينا، إنا إلى ربنا راجعون.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نَطْمَعُ أَن يَغْفِرَ لَنَا رَبُّنَا خَطَٰيَٰنَآ أَن كُنَّآ أَوَّلَ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نطمع أن يغفر لنا ربنا خطايانا، لأننا كنا أول المؤمنين من قوم فرعون.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وَأَوْحَيْنَآ إِلَىٰ مُوسَىٰ أَنْ أَسْرِ بِعِبَادِي إِنَّكُم مُّتَّبَعُونَ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وأوحينا إلى موسى: أن اخرج بعبادي ليلًا، إنكم متّبَعون من فرعون وجنوده.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فَأَرْسَلَ فِرْعَوْنُ فِي الْمَدَآئِنِ حَٰشِرِينَ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فأرسل فرعون في المدن من يجمع الجنود.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هَـٰؤُلَآءِ لَشِرْذِمَةٌ قَلِيلُونَ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إن هؤلاء لجماعة قليلة.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وَإِنَّهُمْ لَنَا لَغَآئِظُونَ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وإنهم لنا لمُغضبون بخروجهم.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لَجَمِيعٌ حَٰذِرُونَ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لجميع مستعدّون حذرون.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فَأَخْرَجْنَٰهُم مِّن 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فأخرجنا فرعون وقومه من بساتين وعيون جارية.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وَكُنُوزٍ وَمَقَامٍ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وكنوز ومنازل حسنة.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وَأَوْرَثْنَٰهَا 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أخرجناهم، وأورثنا تلك النعم بني إسرائيل.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فَأَتْبَعُوهُم مُّشْرِقِينَ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فلحق فرعون وجنوده بني إسرائيل وقت شروق الشمس.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تَرَـٰءَا الْجَمْعَانِ قَالَ أَصْحَٰبُ مُوسَىٰ إِنَّا لَمُدْرَكُونَ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رأى كل فريق الآخر قال أصحاب موسى: إنا لمُدرَكون!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كَلَّآ إِنَّ مَعِيَ رَبِّي سَيَهْدِينِ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بثقة: كلا، إن معي ربي سيهديني طريق النجاة.</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فَأَوْحَيْنَآ إِلَىٰ مُوسَىٰ أَنِ اضْرِب بِّعَصَاكَ الْبَحْرَ فَانفَلَقَ فَكَانَ كُلُّ فِرْقٍ كَالطَّوْدِ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فأوحينا إلى موسى: أن اضرب بعصاك البحر، فانشقّ اثني عشر طريقًا، فكان كل جزء كالجبل العظيم.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وَأَزْلَفْنَا ثَمَّ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وقرّبنا هنالك فرعون وجنوده إلى البحر.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وَأَنجَيْنَا مُوسَىٰ وَمَن مَّعَهُ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وأنجينا موسى ومن معه أجمعين.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أَغْرَقْنَا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أغرقنا فرعون وجنوده.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وما كان أكثرهم مؤمنين.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وَاتْلُ عَلَيْهِمْ نَبَأَ 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واقرأ عليهم خبر إبراهيم.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لِأَبِيهِ وَقَوْمِهِ مَا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لأبيه وقومه: ما تعبدون؟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نَعْبُدُ أَصْنَامًا فَنَظَلُّ لَهَا عَٰكِفِينَ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نعبد أصنامًا فنبقى على عبادتها مقيمين.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هَلْ يَسْمَعُونَكُمْ إِذْ تَدْعُونَ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هل يسمعون دعاءكم إذ تدعونهم؟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يَنفَعُونَكُمْ أَوْ يَضُرُّونَ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ينفعونكم إن عبدتموهم، أو يضرّونكم إن تركتموهم؟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بَلْ وَجَدْنَآ ءَابَآءَنَا كَذَٰلِكَ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بل وجدنا آباءنا كذلك يفعلون فقلّدناهم.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أَفَرَءَيْتُم مَّا كُنتُمْ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أفرأيتم ما كنتم تعبدون.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أَنتُمْ وَءَابَآؤُكُمُ الْأَقْدَمُونَ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أنتم وآباؤكم الأقدمون.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فَإِنَّهُمْ عَدُوٌّ لِّي إِلَّا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فإنهم أعداء لي، إلا رب العالمين فإني أعبده.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خَلَقَنِي فَهُوَ يَهْدِينِ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خلقني، فهو يهديني لمصالح ديني ودنياي.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هُوَ يُطْعِمُنِي وَيَسْقِينِ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هو يطعمني ويسقيني.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مَرِضْتُ فَهُوَ يَشْفِينِ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مرضت فهو يشفيني.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يُمِيتُنِي ثُمَّ يُحْيِينِ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يُميتني ثم يُحييني.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أَطْمَعُ أَن يَغْفِرَ لِي خَطِيـَٔتِي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أطمع أن يغفر لي خطيئتي يوم القيامة.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هَبْ لِي حُكْمًا وَأَلْحِقْنِي بِالصَّـٰلِحِينَ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هب لي علمًا وفهمًا، وألحقني بالصالحين.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وَاجْعَل لِّي لِسَانَ صِدْقٍ فِي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واجعل لي ذكرًا حسنًا في الأمم بعدي.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وَاجْعَلْنِي مِن وَرَثَةِ جَنَّةِ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واجعلني من ورثة جنة النعيم.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وَاغْفِرْ لِأَبِي إِنَّهُ كَانَ مِنَ الضَّآلِّينَ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واغفر لأبي إنه كان من الضالين. وكان ذلك قبل أن يتبيّن له أنه عدو 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تُخْزِنِي يَوْمَ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تفضحني يوم يُبعث الناس.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لَا يَنفَعُ مَالٌ وَلَا بَنُونَ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لا ينفع مال ولا بنون.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أَتَى اللَّهَ بِقَلْبٍ سَلِيمٍ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أتى الله بقلب سليم من الشرك والشك.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وَأُزْلِفَتِ الْجَنَّةُ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وقُرّبت الجنة للمتقين.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وَبُرِّزَتِ الْجَحِيمُ لِلْغَاوِينَ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وأُظهرت الجحيم للضالّين.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لَهُمْ أَيْنَ مَا كُنتُمْ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وقيل لهم: أين ما كنتم تعبدون.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دُونِ اللَّهِ هَلْ يَنصُرُونَكُمْ أَوْ يَنتَصِرُونَ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دون الله؟ هل ينصرونكم أو ينصرون أنفسهم؟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فَكُبْكِبُواْ فِيهَا هُمْ وَالْغَاوُنَ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فأُلقوا فيها على وجوههم، هم والضالّون.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وَجُنُودُ إِبْلِيسَ أَجْمَعُونَ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وجنود إبليس أجمعون.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وَهُمْ فِيهَا يَخْتَصِمُونَ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وهم في النار يتخاصمون مع آلهتهم: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تَاللَّهِ إِن كُنَّا لَفِي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إن كنا لفي ضلال 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نُسَوِّيكُم بِرَبِّ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نساويكم برب العالمين في العبادة.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أَضَلَّنَآ إِلَّا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أضلّنا إلا المجرمون.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لَنَا مِن شَٰفِعِينَ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لنا من شافعين.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صَدِيقٍ 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صديق قريب يهتمّ بأمرنا.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 أَنَّ لَنَا كَرَّةً فَنَكُونَ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فلو أن لنا رجعة إلى الدنيا فنكون من المؤمنين!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وما كان أكثرهم مؤمنين.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١٠٥ – ١٠٨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قَوْمُ نُوحٍ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قوم نوح المرسلين؛ فمن كذّب رسولًا فقد كذّب الجميع.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لَهُمْ أَخُوهُمْ نُوحٌ أَلَا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لهم أخوهم نوح: ألا تتقون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لكم رسول أمين.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١٠٩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أطلب منكم عليه من أجر، ما أجري إلا على رب العالمين.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أَنُؤْمِنُ لَكَ وَاتَّبَعَكَ الْأَرْذَلُونَ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أنؤمن لك وقد اتّبعك الضعفاء الفقراء؟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وَمَا عِلْمِي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وما علمي بما كانوا يعملون؟ إنما عليّ قبول إيمانهم الظاهر.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١١٣ – ١١٦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حِسَابُهُمْ إِلَّا عَلَىٰ رَبِّي لَوْ تَشْعُرُونَ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حسابهم إلا على ربي لو تعلمون.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أَنَا بِطَارِدِ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أنا بطارد المؤمنين لإرضائكم.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أَنَا إِلَّا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أنا إلا نذير واضح.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لَئِن لَّمْ تَنتَهِ يَٰنُوحُ لَتَكُونَنَّ مِنَ الْمَرْجُومِينَ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لئن لم تتوقّف يا نوح عن دعوتك لتكوننّ من المقتولين رجمًا بالحجارة.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١١٧ – ١٢٠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 قَوْمِي 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إن قومي كذّبوني.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فَافْتَحْ بَيْنِي وَبَيْنَهُمْ فَتْحًا وَنَجِّنِي وَمَن مَّعِيَ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فاحكم بيني وبينهم حكمًا، ونجّني ومن معي من المؤمنين.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فَأَنجَيْنَٰهُ وَمَن مَّعَهُ فِي الْفُلْكِ الْمَشْحُونِ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فأنجيناه ومن معه في السفينة المملوءة.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أَغْرَقْنَا بَعْدُ الْبَاقِينَ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أغرقنا بعد ذلك الباقين المكذّبين.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١٢١ – ١٢٤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وما كان أكثرهم مؤمنين.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عَادٌ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قبيلة عاد المرسلين.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لَهُمْ أَخُوهُمْ هُودٌ أَلَا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لهم أخوهم هود: ألا تتقون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١٢٥ – ١٢٨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لكم رسول أمين.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أطلب منكم عليه من أجر، ما أجري إلا على رب العالمين.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أَتَبْنُونَ بِكُلِّ رِيعٍ ءَايَةً تَعْبَثُونَ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أتبنون بكل مكان مرتفع بناءً عاليًا للعبث والتفاخر؟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١٢٩ – ١٣٢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وَتَتَّخِذُونَ مَصَانِعَ لَعَلَّكُمْ تَخْلُدُونَ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وتتّخذون قصورًا وحصونًا كأنكم تخلدون في الدنيا؟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بَطَشْتُم بَطَشْتُمْ جَبَّارِينَ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بطشتم بأحد بطشتم بقسوة كالجبابرة.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وَاتَّقُواْ الَّذِي أَمَدَّكُم بِمَا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واتقوا الذي أمدّكم بما تعلمون من النعم.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١٣٣ – ١٣٦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أَمَدَّكُم بِأَنْعَٰمٍ وَبَنِينَ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أمدّكم بأنعام وبنين.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وبساتين وعيون جارية.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أَخَافُ عَلَيْكُمْ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أخاف عليكم عذاب يوم عظيم.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١٣٦</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سَوَآءٌ عَلَيْنَآ أَوَعَظْتَ أَمْ لَمْ تَكُن مِّنَ الْوَٰعِظِينَ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سواء علينا أوعظتنا أم لم تكن من الواعظين، فلن نترك ما نحن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١٣٧ – ١٤٠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١٣٧</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إِلَّا خُلُقُ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هذا الذي نحن فيه إلا عادة الأولين.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١٣٨</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نَحْنُ بِمُعَذَّبِينَ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نحن بمعذَّبين.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١٣٩</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فَأَهْلَكْنَٰهُمْ 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فأهلكناهم بالريح، إن في ذلك لعبرة، وما كان أكثرهم مؤمنين.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١٤١ – ١٤٤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١٤١</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ثَمُودُ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ثمود المرسلين.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١٤٢</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لَهُمْ أَخُوهُمْ صَٰلِحٌ أَلَا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لهم أخوهم صالح: ألا تتقون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١٤٣</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لكم رسول أمين.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١٤٤</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١٤٥ – ١٤٨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١٤٥</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أطلب منكم عليه من أجر، ما أجري إلا على رب العالمين.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١٤٦</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أَتُتْرَكُونَ فِي مَا هَٰهُنَآ ءَامِنِينَ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أتظنون أنكم تُتركون في هذا النعيم آمنين؟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١٤٧</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بساتين وعيون.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١٤٨</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وَزُرُوعٍ وَنَخْلٍ طَلْعُهَا هَضِيمٌ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وزروع ونخل ثمرها ناضج 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١٤٩ – ١٥٢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وَتَنْحِتُونَ مِنَ الْجِبَالِ بُيُوتًا فَٰرِهِينَ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وتنحتون من الجبال بيوتًا ماهرين متفاخرين.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تُطِيعُواْ أَمْرَ الْمُسْرِفِينَ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تطيعوا أمر المسرفين المتجاوزين الحد.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يُفْسِدُونَ فِي الْأَرْضِ وَلَا يُصْلِحُونَ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يفسدون في الأرض ولا يُصلحون.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١٥٣ – ١٥٦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١٥٣</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إِنَّمَآ أَنتَ مِنَ الْمُسَحَّرِينَ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إنما أنت من المسحورين.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١٥٤</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أَنتَ إِلَّا بَشَرٌ مِّثْلُنَا فَأْتِ بِـَٔايَةٍ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أنت إلا بشر مثلنا، فأت بمعجزة إن كنت من الصادقين.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١٥٥</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هَٰذِهِ نَاقَةٌ لَّهَا شِرْبٌ وَلَكُمْ شِرْبُ يَوْمٍ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هذه ناقة معجزة، لها نصيب من الماء يومًا، ولكم نصيب يوم معلوم.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١٥٦</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تَمَسُّوهَا بِسُوءٍ فَيَأْخُذَكُمْ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تؤذوها فيصيبكم عذاب يوم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١٥٧ – ١٦٠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١٥٧</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فَعَقَرُوهَا فَأَصْبَحُواْ نَٰدِمِينَ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فذبحوها فأصبحوا نادمين حين لا ينفع الندم.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١٥٨</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فَأَخَذَهُمُ الْعَذَابُ 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فأخذهم العذاب، إن في ذلك لعبرة، وما كان أكثرهم 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١٥٩</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قَوْمُ لُوطٍ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قوم لوط المرسلين.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١٦١ – ١٦٤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١٦١</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لَهُمْ أَخُوهُمْ لُوطٌ أَلَا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لهم أخوهم لوط: ألا تتقون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١٦٢</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لكم رسول أمين.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١٦٣</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١٦٤</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أطلب منكم عليه من أجر، ما أجري إلا على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١٦٥ – ١٦٨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١٦٥</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أَتَأْتُونَ الذُّكْرَانَ مِنَ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أتأتون الذكور من الناس بالفاحشة؟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١٦٦</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وَتَذَرُونَ مَا خَلَقَ لَكُمْ رَبُّكُم مِّنْ أَزْوَٰجِكُم بَلْ أَنتُمْ قَوْمٌ عَادُونَ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وتتركون ما خلق لكم ربكم من أزواجكم؟ بل أنتم قوم متجاوزون الحد.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١٦٧</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لَئِن لَّمْ تَنتَهِ يَٰلُوطُ لَتَكُونَنَّ مِنَ الْمُخْرَجِينَ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لئن لم تتوقّف يا لوط لتكوننّ من المطرودين من قريتنا.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١٦٨</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إِنِّي لِعَمَلِكُم مِّنَ الْقَالِينَ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إني لعملكم من المبغضين الكارهين.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١٦٩ – ١٧٢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نَجِّنِي وَأَهْلِي مِمَّا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نجّني وأهلي من عقوبة ما يعملون.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فَنَجَّيْنَٰهُ وَأَهْلَهُ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فنجّيناه وأهله أجمعين.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عَجُوزًا فِي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امرأته العجوز كانت من الهالكين.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دَمَّرْنَا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أهلكنا الآخرين.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١٧٣ – ١٧٦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١٧٣</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وَأَمْطَرْنَا عَلَيْهِم مَّطَرًا فَسَآءَ مَطَرُ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وأمطرنا عليهم حجارة من السماء، فبئس المطر مطر المُنذَرين.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١٧٤</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وما كان أكثرهم 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١٧٥</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١٧٦</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 أَصْحَٰبُ لْـَٔيْكَةِ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 أصحاب الأشجار الكثيفة المرسلين.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١٧٧ – ١٨٠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١٧٧</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لَهُمْ شُعَيْبٌ أَلَا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لهم شعيب: ألا تتقون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١٧٨</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لَكُمْ رَسُولٌ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لكم رسول أمين.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١٧٩</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وأطيعون.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أَسْـَٔلُكُمْ عَلَيْهِ مِنْ أَجْرٍ إِنْ أَجْرِيَ إِلَّا عَلَىٰ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أطلب منكم عليه من أجر، ما أجري إلا على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١٨١ – ١٨٤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١٨١</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أَوْفُواْ الْكَيْلَ وَلَا تَكُونُواْ مِنَ الْمُخْسِرِينَ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أتمّوا الكيل، ولا تكونوا ممن يُنقصون الناس حقوقهم.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١٨٢</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وَزِنُواْ بِالْقِسْطَاسِ الْمُسْتَقِيمِ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وزنوا بالميزان العادل المستقيم.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١٨٣</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تَبْخَسُواْ النَّاسَ أَشْيَآءَهُمْ وَلَا تَعْثَوْاْ فِي الْأَرْضِ 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تُنقصوا الناس حقوقهم، ولا تسعوا في الأرض مفسدين.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١٨٤</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وَاتَّقُواْ الَّذِي خَلَقَكُمْ وَالْجِبِلَّةَ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واتقوا الذي خلقكم وخلق الأمم السابقة.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١٨٥ – ١٨٨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١٨٥</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إِنَّمَآ أَنتَ مِنَ الْمُسَحَّرِينَ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إنما أنت من المسحورين.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١٨٦</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أَنتَ إِلَّا بَشَرٌ مِّثْلُنَا وَإِن نَّظُنُّكَ لَمِنَ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أنت إلا بشر مثلنا، وإنا لنظنك من الكاذبين.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١٨٧</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فَأَسْقِطْ عَلَيْنَا كِسَفًا مِّنَ السَّمَآءِ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فأسقط علينا قطعًا من السماء إن كنت من الصادقين.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١٨٨</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رَبِّي أَعْلَمُ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ربي أعلم بما تعملون، وهو يجازيكم.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١٨٩ – ١٩٢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فَأَخَذَهُمْ عَذَابُ يَوْمِ الظُّلَّةِ إِنَّهُ كَانَ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فأخذهم عذاب يوم السحابة، أظلّتهم فأمطرت عليهم نارًا، إنه كان عذاب يوم عظيم.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وَمَا كَانَ أَكْثَرُهُم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وما كان أكثرهم مؤمنين.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لَهُوَ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لهو العزيز الرحيم.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لَتَنزِيلُ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هذا القرآن لتنزيل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١٩٣ – ١٩٦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١٩٣</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نَزَلَ بِهِ الرُّوحُ الْأَمِينُ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نزل به جبريل الأمين.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١٩٤</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قَلْبِكَ لِتَكُونَ مِنَ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قلبك لتكون من المنذرين.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١٩٥</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بِلِسَانٍ عَرَبِيٍّ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بلسان عربي واضح.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١٩٦</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لَفِي زُبُرِ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ذكره والبشارة به لفي كتب الأنبياء السابقين.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١٩٧ – ٢٠٠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١٩٧</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يَكُن لَّهُمْ ءَايَةً أَن يَعْلَمَهُ عُلَمَـٰؤُاْ 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يكن دليلًا لهم على صدقه أن يعلمه علماء بني إسرائيل كعبد الله بن سلام؟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١٩٨</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نَزَّلْنَٰهُ عَلَىٰ بَعْضِ الْأَعْجَمِينَ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نزّلناه على بعض الأعاجم.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١٩٩</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فَقَرَأَهُ عَلَيْهِم مَّا كَانُواْ بِهِ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فقرأه عليهم ما كانوا به مؤمنين، عنادًا.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سَلَكْنَٰهُ فِي قُلُوبِ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أدخلنا التكذيب في قلوب المجرمين.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٢٠١ – ٢٠٤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٢٠١</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يُؤْمِنُونَ بِهِ حَتَّىٰ يَرَوُاْ الْعَذَابَ الْأَلِيمَ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يؤمنون به حتى يروا العذاب الموجع.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٢٠٢</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فَيَأْتِيَهُم بَغْتَةً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فيأتيهم فجأة وهم لا يشعرون.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٢٠٣</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فَيَقُولُواْ هَلْ نَحْنُ مُنظَرُونَ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فيقولوا: هل نحن مُمهَلون؟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٢٠٤</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أَفَبِعَذَابِنَا يَسْتَعْجِلُونَ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أفبعذابنا يستعجلون؟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٢٠٥ – ٢٠٨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٢٠٥</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 إِن مَّتَّعْنَٰهُمْ 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 إن متّعناهم سنين طويلة.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٢٠٦</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جَآءَهُم مَّا كَانُواْ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جاءهم ما كانوا يوعدون من العذاب.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٢٠٧</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أَغْنَىٰ عَنْهُم مَّا كَانُواْ يُمَتَّعُونَ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نفعهم ما كانوا يتمتّعون 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٢٠٨</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أَهْلَكْنَا مِن قَرْيَةٍ إِلَّا لَهَا مُنذِرُونَ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أهلكنا من قرية إلا لها رسل منذرون.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٢٠٩ – ٢١٢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ذِكْرَىٰ وَمَا كُنَّا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تذكيرًا لهم، وما كنا ظالمين.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تَنَزَّلَتْ بِهِ الشَّيَٰطِينُ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تنزّلت بالقرآن الشياطين كما يزعم المشركون.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يَنبَغِي لَهُمْ وَمَا يَسْتَطِيعُونَ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يليق بهم، وما يستطيعون ذلك.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عَنِ السَّمْعِ لَمَعْزُولُونَ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عن سماع الوحي من السماء لممنوعون.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٢١٣ – ٢١٥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٢١٣</a:t>
            </a:r>
            <a:endParaRPr lang="ar-SA" sz="13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تَدْعُ مَعَ اللَّهِ إِلَٰهًا ءَاخَرَ فَتَكُونَ مِنَ الْمُعَذَّبِينَ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تعبد مع الله إلهًا آخر فتكون من المعذَّبين.</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٢١٤</a:t>
            </a:r>
            <a:endParaRPr lang="ar-SA" sz="1300" dirty="0"/>
          </a:p>
        </p:txBody>
      </p:sp>
      <p:sp>
        <p:nvSpPr>
          <p:cNvPr id="13" name="Text 11"/>
          <p:cNvSpPr txBox="1"/>
          <p:nvPr/>
        </p:nvSpPr>
        <p:spPr>
          <a:xfrm>
            <a:off x="731520" y="302666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وَأَنذِرْ عَشِيرَتَكَ الْأَقْرَبِينَ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وأنذر أقاربك الأقربين. فصعد النبي صلى الله عليه وسلم على الصفا ونادى بطون قريش وأنذرهم (البخاري ومسلم).</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٢١٥</a:t>
            </a:r>
            <a:endParaRPr lang="ar-SA" sz="13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وَاخْفِضْ جَنَاحَكَ لِمَنِ اتَّبَعَكَ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وتواضع ولِن لمن اتّبعك من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٢١٦ – ٢١٩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عَصَوْكَ فَقُلْ إِنِّي بَرِيءٌ مِّمَّا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عصوك فقل: إني بريء مما تعملون.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وَتَوَكَّلْ عَلَى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وتوكّل على العزيز الرحيم.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يَرَىٰكَ حِينَ تَقُومُ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يراك حين تقوم للصلاة.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٢١٩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وَتَقَلُّبَكَ فِي السَّـٰجِدِينَ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ويرى تنقّلك مع الساجدين في صلاتك.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٢٢٠ – ٢٢٣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٢٢٠</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هو السميع العليم.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٢٢١</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أُنَبِّئُكُمْ عَلَىٰ مَن تَنَزَّلُ الشَّيَٰطِينُ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أخبركم على من تتنزّل الشياطين؟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٢٢٢</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تَنَزَّلُ عَلَىٰ كُلِّ أَفَّاكٍ أَثِيمٍ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تتنزّل على كل كذّاب كثير الآثام كالكهنة.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٢٢٣</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يُلْقُونَ السَّمْعَ وَأَكْثَرُهُمْ 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يسترقون السمع فيُلقونه إليهم، وأكثرهم 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٢٢٤ – ٢٢٦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٢٢٤</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وَالشُّعَرَآءُ يَتَّبِعُهُمُ الْغَاوُنَ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والشعراء الذين يقولون الباطل يتّبعهم الضالّون.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٢٢٥</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أَنَّهُمْ فِي كُلِّ وَادٍ يَهِيمُونَ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أنهم في كل فنّ من الكلام يخوضون بلا هدف؟</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٢٢٦</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وَأَنَّهُمْ يَقُولُونَ مَا لَا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وأنهم يقولون ما لا يفعلون.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الشعراء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٢٢٧</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وَذَكَرُواْ اللَّهَ كَثِيرًا وَانتَصَرُواْ مِن بَعْدِ مَا ظُلِمُواْ وَسَيَعْلَمُ الَّذِينَ ظَلَمُواْ أَيَّ مُنقَلَبٍ يَنقَلِبُونَ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الشعراء الذين آمنوا وعملوا الصالحات، وذكروا الله كثيرًا، ودافعوا عن الإسلام بشعرهم بعد ما ظُلموا كحسّان بن ثابت، وسيعلم الظالمون إلى أي مرجع 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الفرقان</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٢١ – ٧٧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عقبة بن أبي معيط كان يجالس النبي صلى الله عليه وسلم، فلامه صديقه أُبيّ بن خلف، فارتدّ وآذى النبي صلى الله عليه وسلم، فنزل فيه: ﴿ويوم يعضّ الظالم على يديه يقول يا ليتني اتخذت مع الرسول سبيلًا، يا ويلتى ليتني لم أتخذ فلانًا خليلًا﴾.</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٢١: ندم الظالم يوم القيامة على صحبة السوء، وحكمة نزول القرآن مفرّقًا، ودلائل قدرة الله في الظل والرياح والماء، ثم صفات عباد الرحمن.</a:t>
            </a:r>
            <a:endParaRPr lang="ar-SA" sz="1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395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لَا يَرْجُونَ لِقَآءَنَا لَوْلَآ أُنزِلَ عَلَيْنَا الْمَلَـٰئِكَةُ أَوْ نَرَىٰ رَبَّنَا لَقَدِ اسْتَكْبَرُواْ فِي أَنفُسِهِمْ وَعَتَوْ عُتُوًّا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الذين لا يخافون لقاءنا: هلّا أُنزلت علينا الملائكة فتخبرنا بصدق محمد، أو نرى ربنا! لقد تكبّروا في أنفسهم، وتجاوزوا الحد تجاوزًا كبيرًا.</a:t>
            </a:r>
            <a:endParaRPr lang="ar-SA" sz="3200" dirty="0"/>
          </a:p>
        </p:txBody>
      </p:sp>
      <p:sp>
        <p:nvSpPr>
          <p:cNvPr id="9" name="Shape 7"/>
          <p:cNvSpPr/>
          <p:nvPr/>
        </p:nvSpPr>
        <p:spPr>
          <a:xfrm>
            <a:off x="2103120" y="3346704"/>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48843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يَرَوْنَ الْمَلَـٰئِكَةَ لَا بُشْرَىٰ يَوْمَئِذٍ لِّلْمُجْرِمِينَ وَيَقُولُونَ حِجْرًا مَّحْجُورًا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يرون الملائكة عند الموت ويوم القيامة لا بشرى يومئذ للمجرمين، وتقول لهم الملائكة: حرامًا محرّمًا عليكم الجنة.</a:t>
            </a:r>
            <a:endParaRPr lang="ar-SA" sz="3200" dirty="0"/>
          </a:p>
        </p:txBody>
      </p:sp>
      <p:sp>
        <p:nvSpPr>
          <p:cNvPr id="14" name="Shape 12"/>
          <p:cNvSpPr/>
          <p:nvPr/>
        </p:nvSpPr>
        <p:spPr>
          <a:xfrm>
            <a:off x="2103120" y="4910328"/>
            <a:ext cx="8641080" cy="0"/>
          </a:xfrm>
          <a:prstGeom prst="line">
            <a:avLst/>
          </a:prstGeom>
          <a:noFill/>
          <a:ln w="9525">
            <a:solidFill>
              <a:schemeClr val="accent2"/>
            </a:solidFill>
            <a:prstDash val="dash"/>
          </a:ln>
        </p:spPr>
      </p:sp>
      <p:sp>
        <p:nvSpPr>
          <p:cNvPr id="15" name="Shape 13"/>
          <p:cNvSpPr/>
          <p:nvPr/>
        </p:nvSpPr>
        <p:spPr>
          <a:xfrm>
            <a:off x="10927080" y="5070348"/>
            <a:ext cx="548640" cy="548640"/>
          </a:xfrm>
          <a:prstGeom prst="star8">
            <a:avLst/>
          </a:prstGeom>
          <a:solidFill>
            <a:schemeClr val="accent2"/>
          </a:solidFill>
          <a:ln/>
        </p:spPr>
      </p:sp>
      <p:sp>
        <p:nvSpPr>
          <p:cNvPr id="16" name="Shape 14"/>
          <p:cNvSpPr/>
          <p:nvPr/>
        </p:nvSpPr>
        <p:spPr>
          <a:xfrm>
            <a:off x="11036808" y="518007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70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5052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وَقَدِمْنَآ إِلَىٰ مَا عَمِلُواْ مِنْ عَمَلٍ فَجَعَلْنَٰهُ هَبَآءً مَّنثُورًا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وقصدنا إلى ما عملوا من أعمال الخير في الدنيا، فجعلناها كالغبار المتفرّق لا قيمة له، لأنها بغير إيمان.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أَصْحَٰبُ الْجَنَّةِ يَوْمَئِذٍ خَيْرٌ مُّسْتَقَرًّا وَأَحْسَنُ مَقِيلًا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أهل الجنة يومئذ خير مستقرًّا، وأحسن مكانًا للراحة.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تَشَقَّقُ السَّمَآءُ بِالْغَمَٰمِ وَنُزِّلَ الْمَلَـٰئِكَةُ تَنزِيلًا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تتشقّق السماء ويظهر من فوقها غمام، وتنزل الملائكة تنزيلًا.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الْمُلْكُ يَوْمَئِذٍ الْحَقُّ لِلرَّحْمَٰنِ وَكَانَ يَوْمًا عَلَى الْكَٰفِرِينَ عَسِيرًا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الملك الحق يومئذ للرحمن وحده، وكان يومًا على الكافرين شديدًا عسيرًا.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يَعَضُّ الظَّالِمُ عَلَىٰ يَدَيْهِ يَقُولُ يَٰلَيْتَنِي اتَّخَذْتُ مَعَ الرَّسُولِ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يعضّ الظالم على يديه ندمًا، يقول: يا ليتني اتّخذت مع الرسول طريقًا إلى الهدى.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يَٰوَيْلَتَىٰ لَيْتَنِي لَمْ أَتَّخِذْ فُلَانًا خَلِيلًا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هلاكي! ليتني لم أتّخذ فلانًا الذي أضلّني صديقًا.</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0266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أَضَلَّنِي عَنِ الذِّكْرِ بَعْدَ إِذْ جَآءَنِي وَكَانَ الشَّيْطَٰنُ لِلْإِنسَٰنِ خَذُولًا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أضلّني عن القرآن بعد إذ جاءني، وكان الشيطان للإنسان كثير الخذلان.</a:t>
            </a:r>
            <a:endParaRPr lang="ar-SA" sz="3200" dirty="0"/>
          </a:p>
        </p:txBody>
      </p:sp>
      <p:sp>
        <p:nvSpPr>
          <p:cNvPr id="14" name="Shape 12"/>
          <p:cNvSpPr/>
          <p:nvPr/>
        </p:nvSpPr>
        <p:spPr>
          <a:xfrm>
            <a:off x="2103120" y="4210812"/>
            <a:ext cx="8641080" cy="0"/>
          </a:xfrm>
          <a:prstGeom prst="line">
            <a:avLst/>
          </a:prstGeom>
          <a:noFill/>
          <a:ln w="9525">
            <a:solidFill>
              <a:schemeClr val="accent2"/>
            </a:solidFill>
            <a:prstDash val="dash"/>
          </a:ln>
        </p:spPr>
      </p:sp>
      <p:sp>
        <p:nvSpPr>
          <p:cNvPr id="15" name="Shape 13"/>
          <p:cNvSpPr/>
          <p:nvPr/>
        </p:nvSpPr>
        <p:spPr>
          <a:xfrm>
            <a:off x="10927080" y="4471416"/>
            <a:ext cx="548640" cy="548640"/>
          </a:xfrm>
          <a:prstGeom prst="star8">
            <a:avLst/>
          </a:prstGeom>
          <a:solidFill>
            <a:schemeClr val="accent2"/>
          </a:solidFill>
          <a:ln/>
        </p:spPr>
      </p:sp>
      <p:sp>
        <p:nvSpPr>
          <p:cNvPr id="16" name="Shape 14"/>
          <p:cNvSpPr/>
          <p:nvPr/>
        </p:nvSpPr>
        <p:spPr>
          <a:xfrm>
            <a:off x="11036808" y="4581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45312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الرَّسُولُ يَٰرَبِّ إِنَّ قَوْمِي اتَّخَذُواْ هَٰذَا الْقُرْءَانَ مَهْجُورًا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الرسول شاكيًا: يا رب، إن قومي تركوا هذا القرآن وأعرضوا عنه. وهجر القرآن يكون بترك تلاوته وتدبّره والعمل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جَعَلْنَا لِكُلِّ نَبِيٍّ عَدُوًّا مِّنَ الْمُجْرِمِينَ وَكَفَىٰ بِرَبِّكَ هَادِيًا وَنَصِيرًا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جعلنا لك أعداء جعلنا لكل نبي عدوًّا من المجرمين، وكفى بربك هاديًا وناصرًا.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لَوْلَا نُزِّلَ عَلَيْهِ الْقُرْءَانُ جُمْلَةً وَٰحِدَةً كَذَٰلِكَ لِنُثَبِّتَ بِهِ فُؤَادَكَ وَرَتَّلْنَٰهُ تَرْتِيلًا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هلّا نُزّل عليه القرآن مرة واحدة! كذلك أنزلناه مفرّقًا لنثبّت به قلبك، وقرأناه عليك شيئًا بعد شيء بتمهّل.</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يَأْتُونَكَ بِمَثَلٍ إِلَّا جِئْنَٰكَ بِالْحَقِّ وَأَحْسَنَ تَفْسِيرًا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يأتونك بمثل أو اعتراض إلا جئناك بالجواب الحق، وأحسن بيانًا.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يُحْشَرُونَ عَلَىٰ وُجُوهِهِمْ إِلَىٰ جَهَنَّمَ أُوْلَـٰئِكَ شَرٌّ مَّكَانًا وَأَضَلُّ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يُحشرون على وجوههم إلى جهنم أولئك شرّ منزلًا، وأضلّ طريقًا.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الْكِتَٰبَ وَجَعَلْنَا مَعَهُ أَخَاهُ هَٰرُونَ وَزِيرًا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التوراة، وجعلنا معه أخاه هارون معينًا.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فَقُلْنَا اذْهَبَآ إِلَى الْقَوْمِ الَّذِينَ كَذَّبُواْ بِـَٔايَٰتِنَا فَدَمَّرْنَٰهُمْ تَدْمِيرًا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فقلنا: اذهبا إلى فرعون وقومه الذين كذّبوا بآياتنا، فكذّبوهما فأهلكناهم إهلاكًا تامًّا.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وَقَوْمَ نُوحٍ لَّمَّا كَذَّبُواْ الرُّسُلَ أَغْرَقْنَٰهُمْ وَجَعَلْنَٰهُمْ لِلنَّاسِ ءَايَةً وَأَعْتَدْنَا لِلظَّـٰلِمِينَ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وقوم نوح لما كذّبوا الرسل أغرقناهم، وجعلناهم للناس عبرة، وأعددنا للظالمين عذابًا موجعًا.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وَعَادًا وَثَمُودَاْ وَأَصْحَٰبَ الرَّسِّ وَقُرُونًا بَيْنَ ذَٰلِكَ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وأهلكنا عادًا وثمود وأصحاب البئر، وأممًا كثيرة بين ذلك.</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وَكُلًّا ضَرَبْنَا لَهُ الْأَمْثَٰلَ وَكُلًّا تَبَّرْنَا تَتْبِيرًا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وكلًّا بيّنّا له الأمثال والعبر، وكلًّا أهلكناه إهلاكًا.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أَتَوْاْ عَلَى الْقَرْيَةِ الَّتِي أُمْطِرَتْ مَطَرَ السَّوْءِ أَفَلَمْ يَكُونُواْ يَرَوْنَهَا بَلْ كَانُواْ لَا يَرْجُونَ نُشُورًا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مرّ كفار قريش في أسفارهم على قرية قوم لوط التي أُمطرت حجارة، أفلم يكونوا يرونها فيعتبروا؟ بل كانوا لا يرجون بعثًا.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رَأَوْكَ إِن يَتَّخِذُونَكَ إِلَّا هُزُوًا أَهَٰذَا الَّذِي بَعَثَ اللَّهُ 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رأوك ما يتّخذونك إلا سخرية، يقولون: أهذا الذي بعثه الله رسولًا؟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كَادَ لَيُضِلُّنَا عَنْ ءَالِهَتِنَا لَوْلَآ أَن صَبَرْنَا عَلَيْهَا وَسَوْفَ يَعْلَمُونَ حِينَ يَرَوْنَ الْعَذَابَ مَنْ أَضَلُّ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كاد ليصرفنا عن آلهتنا لولا أن صبرنا عليها، وسوف يعلمون حين يرون العذاب من أضلّ طريقًا.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أَرَءَيْتَ مَنِ اتَّخَذَ إِلَٰهَهُ هَوَىٰهُ أَفَأَنتَ تَكُونُ عَلَيْهِ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أرأيت من جعل هواه إلهًا يطيعه في كل ما يريد؟ أفأنت تكون عليه حفيظًا تردّه عن ذلك؟</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تَحْسَبُ أَنَّ أَكْثَرَهُمْ يَسْمَعُونَ أَوْ يَعْقِلُونَ إِنْ هُمْ إِلَّا كَالْأَنْعَٰمِ بَلْ هُمْ أَضَلُّ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تظن أن أكثرهم يسمعون أو يعقلون؟ ما هم إلا كالبهائم، بل هم أضلّ طريقًا.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رَبِّكَ كَيْفَ مَدَّ الظِّلَّ وَلَوْ شَآءَ لَجَعَلَهُ سَاكِنًا ثُمَّ جَعَلْنَا الشَّمْسَ عَلَيْهِ دَلِيلًا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صنع ربك كيف مدّ الظل من الفجر إلى طلوع الشمس؟ ولو شاء لجعله ثابتًا، ثم جعلنا الشمس علامة عليه.</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قَبَضْنَٰهُ إِلَيْنَا قَبْضًا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قبضنا الظل إلينا شيئًا فشيئًا بارتفاع الشمس.</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جَعَلَ لَكُمُ الَّيْلَ لِبَاسًا وَالنَّوْمَ سُبَاتًا وَجَعَلَ النَّهَارَ نُشُورًا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جعل لكم الليل ساترًا كاللباس، والنوم راحة لأبدانكم، وجعل النهار للانتشار في طلب الرزق.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أَرْسَلَ الرِّيَٰحَ بُشْرًا بَيْنَ يَدَيْ رَحْمَتِهِ وَأَنزَلْنَا مِنَ السَّمَآءِ مَآءً طَهُورًا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أرسل الرياح مبشّرة بالمطر، وأنزلنا من السماء ماءً طاهرًا مطهّرًا.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لِّنُحْـِيَ بِهِ بَلْدَةً مَّيْتًا وَنُسْقِيَهُ مِمَّا خَلَقْنَآ أَنْعَٰمًا وَأَنَاسِيَّ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لنُحيي به أرضًا يابسة، ونسقيه مما خلقنا أنعامًا وأناسًا كثيرين.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صَرَّفْنَٰهُ بَيْنَهُمْ لِيَذَّكَّرُواْ فَأَبَىٰ أَكْثَرُ النَّاسِ إِلَّا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صرّفنا المطر بينهم وكرّرنا الآيات ليتذكّروا، فأبى أكثر الناس إلا الجحود.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شِئْنَا لَبَعَثْنَا فِي كُلِّ قَرْيَةٍ 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شئنا لبعثنا في كل قرية نذيرًا، ولكن جعلناك رسولًا إلى الناس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تُطِعِ الْكَٰفِرِينَ وَجَٰهِدْهُم بِهِ جِهَادًا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تطع الكافرين، وجاهدهم بالقرآن جهادًا كبيرًا.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مَرَجَ الْبَحْرَيْنِ هَٰذَا عَذْبٌ فُرَاتٌ وَهَٰذَا مِلْحٌ أُجَاجٌ وَجَعَلَ بَيْنَهُمَا بَرْزَخًا وَحِجْرًا مَّحْجُورًا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أرسل البحرين متجاورين: هذا عذب حلو، وهذا ملح شديد الملوحة، وجعل بينهما حاجزًا يمنع اختلاطهما.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خَلَقَ مِنَ الْمَآءِ بَشَرًا فَجَعَلَهُ نَسَبًا وَصِهْرًا وَكَانَ رَبُّكَ 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خلق من الماء بشرًا، فجعله ذا نسب وقرابة بالزواج، وكان ربك قديرًا.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وَيَعْبُدُونَ مِن دُونِ اللَّهِ مَا لَا يَنفَعُهُمْ وَلَا يَضُرُّهُمْ وَكَانَ الْكَافِرُ عَلَىٰ رَبِّهِ ظَهِيرًا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ويعبدون من دون الله ما لا ينفعهم ولا يضرّهم، وكان الكافر معينًا للشيطان على معصية ربه.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أَرْسَلْنَٰكَ إِلَّا مُبَشِّرًا وَنَذِيرًا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أرسلناك إلا مبشّرًا للمؤمنين ومنذرًا للكافرين.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مَآ أَسْـَٔلُكُمْ عَلَيْهِ مِنْ أَجْرٍ إِلَّا مَن شَآءَ أَن يَتَّخِذَ إِلَىٰ رَبِّهِ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ما أطلب منكم على التبليغ أجرًا، إلا أن يتّخذ من شاء إلى ربه طريقًا بالإيمان والطاعة.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وَتَوَكَّلْ عَلَى الْحَيِّ الَّذِي لَا يَمُوتُ وَسَبِّحْ بِحَمْدِهِ وَكَفَىٰ بِهِ بِذُنُوبِ عِبَادِهِ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وتوكّل على الحي الذي لا يموت، وسبّح بحمده، وكفى به بذنوب عباده خبيرًا.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3395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خَلَقَ السَّمَٰوَٰتِ وَالْأَرْضَ وَمَا بَيْنَهُمَا فِي سِتَّةِ أَيَّامٍ ثُمَّ اسْتَوَىٰ عَلَى الْعَرْشِ الرَّحْمَٰنُ فَسْـَٔلْ بِهِ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خلق السماوات والأرض وما بينهما في ستة أيام، ثم علا على العرش علوًّا يليق بجلاله، الرحمن، فاسأل به خبيرًا عالمًا.</a:t>
            </a:r>
            <a:endParaRPr lang="ar-SA" sz="3200" dirty="0"/>
          </a:p>
        </p:txBody>
      </p:sp>
      <p:sp>
        <p:nvSpPr>
          <p:cNvPr id="9" name="Shape 7"/>
          <p:cNvSpPr/>
          <p:nvPr/>
        </p:nvSpPr>
        <p:spPr>
          <a:xfrm>
            <a:off x="2103120" y="3346704"/>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48843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اسْجُدُواْ لِلرَّحْمَٰنِ قَالُواْ وَمَا الرَّحْمَٰنُ أَنَسْجُدُ لِمَا تَأْمُرُنَا وَزَادَهُمْ نُفُورًا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للمشركين: اسجدوا للرحمن، قالوا: وما الرحمن؟ أنسجد لما تأمرنا؟ وزادهم ذلك نفورًا. وهنا موضع سجدة تلاوة.</a:t>
            </a:r>
            <a:endParaRPr lang="ar-SA" sz="3200" dirty="0"/>
          </a:p>
        </p:txBody>
      </p:sp>
      <p:sp>
        <p:nvSpPr>
          <p:cNvPr id="14" name="Shape 12"/>
          <p:cNvSpPr/>
          <p:nvPr/>
        </p:nvSpPr>
        <p:spPr>
          <a:xfrm>
            <a:off x="2103120" y="4910328"/>
            <a:ext cx="8641080" cy="0"/>
          </a:xfrm>
          <a:prstGeom prst="line">
            <a:avLst/>
          </a:prstGeom>
          <a:noFill/>
          <a:ln w="9525">
            <a:solidFill>
              <a:schemeClr val="accent2"/>
            </a:solidFill>
            <a:prstDash val="dash"/>
          </a:ln>
        </p:spPr>
      </p:sp>
      <p:sp>
        <p:nvSpPr>
          <p:cNvPr id="15" name="Shape 13"/>
          <p:cNvSpPr/>
          <p:nvPr/>
        </p:nvSpPr>
        <p:spPr>
          <a:xfrm>
            <a:off x="10927080" y="5070348"/>
            <a:ext cx="548640" cy="548640"/>
          </a:xfrm>
          <a:prstGeom prst="star8">
            <a:avLst/>
          </a:prstGeom>
          <a:solidFill>
            <a:schemeClr val="accent2"/>
          </a:solidFill>
          <a:ln/>
        </p:spPr>
      </p:sp>
      <p:sp>
        <p:nvSpPr>
          <p:cNvPr id="16" name="Shape 14"/>
          <p:cNvSpPr/>
          <p:nvPr/>
        </p:nvSpPr>
        <p:spPr>
          <a:xfrm>
            <a:off x="11036808" y="518007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70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5052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تَبَارَكَ الَّذِي جَعَلَ فِي السَّمَآءِ بُرُوجًا وَجَعَلَ فِيهَا سِرَٰجًا وَقَمَرًا مُّنِيرًا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تعاظمت بركة الله الذي جعل في السماء منازل للكواكب، وجعل فيها شمسًا كالسراج، وقمرًا منيرًا.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3959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جَعَلَ الَّيْلَ وَالنَّهَارَ خِلْفَةً لِّمَنْ أَرَادَ أَن يَذَّكَّرَ أَوْ أَرَادَ شُكُورًا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جعل الليل والنهار يخلف أحدهما الآخر، لمن أراد أن يتذكّر، أو أراد أن يشكر، فمن فاته عمل في أحدهما قضاه في الآخر.</a:t>
            </a:r>
            <a:endParaRPr lang="ar-SA" sz="3200" dirty="0"/>
          </a:p>
        </p:txBody>
      </p:sp>
      <p:sp>
        <p:nvSpPr>
          <p:cNvPr id="9" name="Shape 7"/>
          <p:cNvSpPr/>
          <p:nvPr/>
        </p:nvSpPr>
        <p:spPr>
          <a:xfrm>
            <a:off x="2103120" y="2761488"/>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90322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وَعِبَادُ الرَّحْمَٰنِ الَّذِينَ يَمْشُونَ عَلَى الْأَرْضِ هَوْنًا وَإِذَا خَاطَبَهُمُ الْجَٰهِلُونَ قَالُواْ سَلَٰمًا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وعباد الرحمن الذين يمشون على الأرض بتواضع وسكينة، وإذا خاطبهم الجاهلون بالسوء قالوا قولًا سليمًا من الإثم.</a:t>
            </a:r>
            <a:endParaRPr lang="ar-SA" sz="3200" dirty="0"/>
          </a:p>
        </p:txBody>
      </p:sp>
      <p:sp>
        <p:nvSpPr>
          <p:cNvPr id="14" name="Shape 12"/>
          <p:cNvSpPr/>
          <p:nvPr/>
        </p:nvSpPr>
        <p:spPr>
          <a:xfrm>
            <a:off x="2103120" y="4910328"/>
            <a:ext cx="8641080" cy="0"/>
          </a:xfrm>
          <a:prstGeom prst="line">
            <a:avLst/>
          </a:prstGeom>
          <a:noFill/>
          <a:ln w="9525">
            <a:solidFill>
              <a:schemeClr val="accent2"/>
            </a:solidFill>
            <a:prstDash val="dash"/>
          </a:ln>
        </p:spPr>
      </p:sp>
      <p:sp>
        <p:nvSpPr>
          <p:cNvPr id="15" name="Shape 13"/>
          <p:cNvSpPr/>
          <p:nvPr/>
        </p:nvSpPr>
        <p:spPr>
          <a:xfrm>
            <a:off x="10927080" y="5070348"/>
            <a:ext cx="548640" cy="548640"/>
          </a:xfrm>
          <a:prstGeom prst="star8">
            <a:avLst/>
          </a:prstGeom>
          <a:solidFill>
            <a:schemeClr val="accent2"/>
          </a:solidFill>
          <a:ln/>
        </p:spPr>
      </p:sp>
      <p:sp>
        <p:nvSpPr>
          <p:cNvPr id="16" name="Shape 14"/>
          <p:cNvSpPr/>
          <p:nvPr/>
        </p:nvSpPr>
        <p:spPr>
          <a:xfrm>
            <a:off x="11036808" y="518007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70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5052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يَبِيتُونَ لِرَبِّهِمْ سُجَّدًا وَقِيَٰمًا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يقضون الليل لربهم ساجدين وقائمين في الصلاة.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يَقُولُونَ رَبَّنَا اصْرِفْ عَنَّا عَذَابَ جَهَنَّمَ إِنَّ عَذَابَهَا كَانَ غَرَامًا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يقولون: ربنا اصرف عنا عذاب جهنم، إن عذابها كان ملازمًا لأهلها.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إِنَّهَا سَآءَتْ مُسْتَقَرًّا وَمُقَامًا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إنها بئست المستقرّ والمقام.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إِذَآ أَنفَقُواْ لَمْ يُسْرِفُواْ وَلَمْ يَقْتُرُواْ وَكَانَ بَيْنَ ذَٰلِكَ قَوَامًا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إذا أنفقوا لم يُسرفوا، ولم يبخلوا، وكان إنفاقهم وسطًا معتدلًا.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لَا يَدْعُونَ مَعَ اللَّهِ إِلَٰهًا ءَاخَرَ وَلَا يَقْتُلُونَ النَّفْسَ الَّتِي حَرَّمَ اللَّهُ إِلَّا بِالْحَقِّ وَلَا يَزْنُونَ وَمَن يَفْعَلْ ذَٰلِكَ يَلْقَ أَثَامًا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لا يعبدون مع الله إلهًا آخر، ولا يقتلون النفس التي حرّم الله إلا بالحق، ولا يزنون، ومن يفعل ذلك يلقَ عقوبة.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يُضَٰعَفْ لَهُ الْعَذَابُ يَوْمَ الْقِيَٰمَةِ وَيَخْلُدْ فِيهِ مُهَانًا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يُضاعف له العذاب يوم القيامة، ويخلد فيه ذليلًا.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تَابَ وَءَامَنَ وَعَمِلَ عَمَلًا صَٰلِحًا فَأُوْلَـٰئِكَ يُبَدِّلُ اللَّهُ سَيِّـَٔاتِهِمْ حَسَنَٰتٍ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تاب وآمن وعمل عملًا صالحًا، فأولئك يبدّل الله سيئاتهم حسنات، وكان الله غفورًا رحيمًا.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تَابَ وَعَمِلَ صَٰلِحًا فَإِنَّهُ يَتُوبُ إِلَى اللَّهِ مَتَابًا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تاب وعمل صالحًا فإنه يرجع إلى الله رجوعًا صادقًا مقبولًا.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لَا يَشْهَدُونَ الزُّورَ وَإِذَا مَرُّواْ بِاللَّغْوِ مَرُّواْ كِرَامًا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لا يحضرون مجالس الباطل والكذب، وإذا مرّوا بالكلام الفارغ مرّوا مُعرضين مكرمين 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إِذَا ذُكِّرُواْ بِـَٔايَٰتِ رَبِّهِمْ لَمْ يَخِرُّواْ عَلَيْهَا صُمًّا وَعُمْيَانًا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إذا ذُكّروا بآيات ربهم لم يُعرضوا عنها كالصمّ والعميان، بل يتدبّرونها.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يَقُولُونَ رَبَّنَا هَبْ لَنَا مِنْ أَزْوَٰجِنَا وَذُرِّيَّـٰتِنَا قُرَّةَ أَعْيُنٍ وَاجْعَلْنَا لِلْمُتَّقِينَ إِمَامًا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يقولون: ربنا هب لنا من أزواجنا وذرياتنا ما تقرّ به أعيننا من الصلاح، واجعلنا قدوة للمتقين.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يُجْزَوْنَ الْغُرْفَةَ بِمَا صَبَرُواْ وَيُلَقَّوْنَ فِيهَا تَحِيَّةً وَسَلَٰمًا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يُجزون المنازل العالية في الجنة بصبرهم، ويُستقبلون فيها بالتحية والسلام.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الفرقان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حَسُنَتْ مُسْتَقَرًّا وَمُقَامًا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حسُنت مستقرًّا ومقامًا.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مَا يَعْبَؤُاْ بِكُمْ رَبِّي لَوْلَا دُعَآؤُكُمْ فَقَدْ كَذَّبْتُمْ فَسَوْفَ يَكُونُ لِزَامًا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ما يبالي بكم ربي لولا دعاؤكم وعبادتكم، فقد كذّبتم أيها الكفار، فسوف يكون العذاب لازمًا 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Image 0" descr="assets19/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9/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19 Tafsir">
  <a:themeElements>
    <a:clrScheme name="Juz 19 Tafsir">
      <a:dk1>
        <a:srgbClr val="2D2224"/>
      </a:dk1>
      <a:lt1>
        <a:srgbClr val="FFFFFF"/>
      </a:lt1>
      <a:dk2>
        <a:srgbClr val="7A2E3A"/>
      </a:dk2>
      <a:lt2>
        <a:srgbClr val="FCF7F7"/>
      </a:lt2>
      <a:accent1>
        <a:srgbClr val="7A2E3A"/>
      </a:accent1>
      <a:accent2>
        <a:srgbClr val="C9A04A"/>
      </a:accent2>
      <a:accent3>
        <a:srgbClr val="943F4D"/>
      </a:accent3>
      <a:accent4>
        <a:srgbClr val="6B5F61"/>
      </a:accent4>
      <a:accent5>
        <a:srgbClr val="F3E5E7"/>
      </a:accent5>
      <a:accent6>
        <a:srgbClr val="2F6B5E"/>
      </a:accent6>
      <a:hlink>
        <a:srgbClr val="943F4D"/>
      </a:hlink>
      <a:folHlink>
        <a:srgbClr val="6B5F61"/>
      </a:folHlink>
    </a:clrScheme>
    <a:fontScheme name="Juz 19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105</Slides>
  <Notes>105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105</vt:i4>
      </vt:variant>
    </vt:vector>
  </HeadingPairs>
  <TitlesOfParts>
    <vt:vector size="10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وقال الذين — مبسّط من تفسير ابن كثير</dc:title>
  <dc:subject>PptxGenJS Presentation</dc:subject>
  <dc:creator>معلم القرآن الكريم</dc:creator>
  <cp:lastModifiedBy>معلم القرآن الكريم</cp:lastModifiedBy>
  <cp:revision>1</cp:revision>
  <dcterms:created xsi:type="dcterms:W3CDTF">2026-10-03T22:39:14Z</dcterms:created>
  <dcterms:modified xsi:type="dcterms:W3CDTF">2026-10-03T22:39:14Z</dcterms:modified>
</cp:coreProperties>
</file>