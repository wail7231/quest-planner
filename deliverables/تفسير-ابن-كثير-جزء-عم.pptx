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a00e2271-3c71-5e59-32a5-d6b1247a724a}">
          <p14:sldIdLst>
            <p14:sldId id="256"/>
            <p14:sldId id="257"/>
            <p14:sldId id="258"/>
            <p14:sldId id="259"/>
            <p14:sldId id="260"/>
            <p14:sldId id="261"/>
          </p14:sldIdLst>
        </p14:section>
        <p14:section name="الوحدة الأولى: النبأ – الانشقاق" id="{655de40e-7055-a666-1269-0908eaaa9404}">
          <p14:sldIdLst>
            <p14:sldId id="262"/>
            <p14:sldId id="263"/>
            <p14:sldId id="264"/>
            <p14:sldId id="265"/>
            <p14:sldId id="266"/>
            <p14:sldId id="267"/>
            <p14:sldId id="268"/>
            <p14:sldId id="269"/>
          </p14:sldIdLst>
        </p14:section>
        <p14:section name="الوحدة الثانية: البروج – الشمس" id="{4db0a089-8e24-9213-38c0-3ca6a2a84638}">
          <p14:sldIdLst>
            <p14:sldId id="270"/>
            <p14:sldId id="271"/>
            <p14:sldId id="272"/>
            <p14:sldId id="273"/>
            <p14:sldId id="274"/>
            <p14:sldId id="275"/>
            <p14:sldId id="276"/>
            <p14:sldId id="277"/>
          </p14:sldIdLst>
        </p14:section>
        <p14:section name="الوحدة الثالثة: الليل – الزلزلة" id="{34716378-0139-e654-042b-be0203ae0e5c}">
          <p14:sldIdLst>
            <p14:sldId id="278"/>
            <p14:sldId id="279"/>
            <p14:sldId id="280"/>
            <p14:sldId id="281"/>
            <p14:sldId id="282"/>
            <p14:sldId id="283"/>
            <p14:sldId id="284"/>
            <p14:sldId id="285"/>
            <p14:sldId id="286"/>
          </p14:sldIdLst>
        </p14:section>
        <p14:section name="الوحدة الرابعة: العاديات – الماعون" id="{8bf1aba9-894e-0bf9-4abd-a5596c54a08c}">
          <p14:sldIdLst>
            <p14:sldId id="287"/>
            <p14:sldId id="288"/>
            <p14:sldId id="289"/>
            <p14:sldId id="290"/>
            <p14:sldId id="291"/>
            <p14:sldId id="292"/>
            <p14:sldId id="293"/>
            <p14:sldId id="294"/>
            <p14:sldId id="295"/>
          </p14:sldIdLst>
        </p14:section>
        <p14:section name="الوحدة الخامسة: الكوثر – الناس" id="{e856510e-8563-7be6-5345-fcaec1632013}">
          <p14:sldIdLst>
            <p14:sldId id="296"/>
            <p14:sldId id="297"/>
            <p14:sldId id="298"/>
            <p14:sldId id="299"/>
            <p14:sldId id="300"/>
            <p14:sldId id="301"/>
            <p14:sldId id="302"/>
            <p14:sldId id="303"/>
          </p14:sldIdLst>
        </p14:section>
        <p14:section name="الخاتمة" id="{b4def1cb-2e16-cd5b-8748-cc956f2cd451}">
          <p14:sldIdLst>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افتتح الدرس بالبسملة والحمد، واسأل الطلاب: ما السور التي تحفظونها من جزء عمّ؟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نبّه الطلاب إلى أن تفسير ابن كثير من أشهر كتب التفسير بالمأثور وأكثرها قبولًا عند العلماء.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اذكر ثلاثًا من نعم الله التي عددتها السورة دليلًا على البعث.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بماذا وصف الله من يكون مأواه الجنة؟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لماذا عاتب الله نبيه ﷺ في بداية السورة؟ وما الدرس لنا؟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اذكر مشهدين من مشاهد يوم القيامة في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من هم «الكرام الكاتبون»؟ وما أثر معرفتهم على سلوكك؟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معنى «ران على قلوبهم»؟ وكيف نحمي قلوبنا منه؟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الفرق بين من يأخذ كتابه بيمينه ومن يأخذه وراء ظهره؟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ماذا فعل الغلام ليؤمن الناس بالله؟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معنى «يوم تبلى السرائر»؟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الذكر الذي نقوله في السجود؟ ومن أين أُخذ؟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اذكر أربعة مخلوقات دعت السورة إلى التفكر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هل كثرة المال دليل على محبة الله؟ ولماذا؟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الأعمال التي يقتحم بها المؤمن العقبة؟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الدعاء النبوي المناسب لموضوع هذه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الصفات الثلاث لمن ييسره الله لليسرى؟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الأوامر الثلاثة في آخر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كيف رفع الله ذكر نبيه ﷺ؟ اذكر مثالًا.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الأماكن الثلاثة التي أقسم الله بها على قول بعض الأئمة؟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أين نزلت أول آيات القرآن؟ وما هي؟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لماذا كانت ليلة القدر خيرًا من ألف شهر؟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الأمر الذي اجتمعت عليه دعوة جميع الرسل كما في الآية؟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كيف تشهد الأرض على الإنسان يوم القيامة؟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معنى «كنود»؟ وكيف نتجنب هذه الصفة؟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شبّهت السورة الناس والجبال بشيئين، ما 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عن أي شيء سيُسأل الإنسان في آخر السورة؟ اذكر أمثلة.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الشروط الأربعة للنجاة من الخسارة؟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الفرق بين الهمز واللمز؟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ماذا أراد أبرهة؟ وكيف أهلكه الله؟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رحلتا قريش؟ وإلى أين كانت كل منهما؟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اذكر صفتين من صفات من يكذّب بالدين.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الكوثر؟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متى كان النبي ﷺ يقرأ هذه السورة مع سورة الإخلاص؟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الذي أمر الله به نبيه ﷺ عند مجيء النصر؟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لماذا تُعدّ هذه السورة من دلائل صدق النبوة؟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ما معنى «الصمد»؟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اذكر ثلاثة شرور نستعيذ منها في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بأي صفات الله نستعيذ في هذه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الإجابات:
1) «اقرأ باسم ربك الذي خلق» في غار حراء.
2) سورة الإخلاص.
3) الإيمان، والعمل الصالح، والتواصي بالحق، والتواصي بالصبر.
4) عشر ذي الحجة.
5) نهر في الجنة وعده الله نبيه ﷺ، عليه خير كثير.
6) ما يتعاوره الناس بينهم من أدوات كالقدر والدلو والفأس.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97280" y="2377440"/>
            <a:ext cx="9997135" cy="1280160"/>
          </a:xfrm>
          <a:prstGeom prst="rect">
            <a:avLst/>
          </a:prstGeom>
          <a:noFill/>
          <a:ln/>
        </p:spPr>
        <p:txBody>
          <a:bodyPr wrap="square" rtlCol="0"/>
          <a:lstStyle>
            <a:lvl1pPr rtl="1" algn="ctr" indent="0" marL="0">
              <a:buNone/>
              <a:defRPr lang="en-US" sz="6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rtl="1" algn="r" indent="0" marL="0">
              <a:buNone/>
              <a:defRPr lang="en-US" sz="4000" b="1" dirty="0">
                <a:solidFill>
                  <a:schemeClr val="tx2"/>
                </a:solidFill>
                <a:latin typeface="Sakkal Majalla" pitchFamily="34" charset="0"/>
                <a:ea typeface="Sakkal Majalla" pitchFamily="34" charset="-122"/>
                <a:cs typeface="Sakkal Majalla" pitchFamily="34" charset="-120"/>
              </a:defRPr>
            </a:lvl1pPr>
          </a:lstStyle>
          <a:p>
            <a:pPr algn="r" indent="0" marL="0">
              <a:buNone/>
            </a:pPr>
            <a:endParaRPr lang="en-US" sz="40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RAH">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chemeClr val="tx2"/>
          </a:solidFill>
          <a:ln/>
        </p:spPr>
      </p:sp>
      <p:sp>
        <p:nvSpPr>
          <p:cNvPr id="3" name="Text 1"/>
          <p:cNvSpPr/>
          <p:nvPr>
            <p:ph idx="101" type="title" hasCustomPrompt="1"/>
          </p:nvPr>
        </p:nvSpPr>
        <p:spPr>
          <a:xfrm>
            <a:off x="8503920" y="1691640"/>
            <a:ext cx="3410712" cy="914400"/>
          </a:xfrm>
          <a:prstGeom prst="rect">
            <a:avLst/>
          </a:prstGeom>
          <a:noFill/>
          <a:ln/>
        </p:spPr>
        <p:txBody>
          <a:bodyPr wrap="square" rtlCol="0"/>
          <a:lstStyle>
            <a:lvl1pPr rtl="1" algn="ctr" indent="0" marL="0">
              <a:buNone/>
              <a:defRPr lang="en-US" sz="4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44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3.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Shape 2"/>
          <p:cNvSpPr/>
          <p:nvPr/>
        </p:nvSpPr>
        <p:spPr>
          <a:xfrm>
            <a:off x="5684368" y="1143000"/>
            <a:ext cx="822960" cy="822960"/>
          </a:xfrm>
          <a:prstGeom prst="star8">
            <a:avLst/>
          </a:prstGeom>
          <a:solidFill>
            <a:schemeClr val="accent2"/>
          </a:solidFill>
          <a:ln/>
        </p:spPr>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قبسات من تفسير ابن كثير</a:t>
            </a:r>
            <a:endParaRPr lang="en-US" sz="6000" dirty="0"/>
          </a:p>
        </p:txBody>
      </p:sp>
      <p:sp>
        <p:nvSpPr>
          <p:cNvPr id="6" name="Text 4"/>
          <p:cNvSpPr txBox="1"/>
          <p:nvPr/>
        </p:nvSpPr>
        <p:spPr>
          <a:xfrm>
            <a:off x="1097280" y="3703320"/>
            <a:ext cx="9997135" cy="640080"/>
          </a:xfrm>
          <a:prstGeom prst="rect">
            <a:avLst/>
          </a:prstGeom>
          <a:noFill/>
          <a:ln/>
        </p:spPr>
        <p:txBody>
          <a:bodyPr wrap="square" lIns="0" tIns="0" rIns="0" bIns="0" rtlCol="0" anchor="t"/>
          <a:lstStyle/>
          <a:p>
            <a:pPr rtl="1" algn="ctr" indent="0" marL="0">
              <a:buNone/>
            </a:pPr>
            <a:r>
              <a:rPr lang="ar-SA" altLang="en-US" sz="2800" b="1" dirty="0">
                <a:solidFill>
                  <a:schemeClr val="accent2"/>
                </a:solidFill>
              </a:rPr>
              <a:t>وقفات مع سور جزء عمّ</a:t>
            </a:r>
            <a:endParaRPr lang="ar-SA" sz="2800" dirty="0"/>
          </a:p>
        </p:txBody>
      </p:sp>
      <p:sp>
        <p:nvSpPr>
          <p:cNvPr id="7" name="Text 5"/>
          <p:cNvSpPr txBox="1"/>
          <p:nvPr/>
        </p:nvSpPr>
        <p:spPr>
          <a:xfrm>
            <a:off x="1097280" y="443484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النبأ إلى سورة الناس  •  ٣٧ سورة</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محطات رحلتنا</a:t>
            </a:r>
            <a:endParaRPr lang="en-US" sz="4000" dirty="0"/>
          </a:p>
        </p:txBody>
      </p:sp>
      <p:sp>
        <p:nvSpPr>
          <p:cNvPr id="3" name="card0"/>
          <p:cNvSpPr/>
          <p:nvPr/>
        </p:nvSpPr>
        <p:spPr>
          <a:xfrm>
            <a:off x="9585655" y="1737360"/>
            <a:ext cx="2057400" cy="3840480"/>
          </a:xfrm>
          <a:prstGeom prst="roundRect">
            <a:avLst>
              <a:gd name="adj" fmla="val 5333"/>
            </a:avLst>
          </a:prstGeom>
          <a:solidFill>
            <a:schemeClr val="bg2"/>
          </a:solidFill>
          <a:ln/>
        </p:spPr>
      </p:sp>
      <p:sp>
        <p:nvSpPr>
          <p:cNvPr id="4" name="Shape 2"/>
          <p:cNvSpPr/>
          <p:nvPr/>
        </p:nvSpPr>
        <p:spPr>
          <a:xfrm>
            <a:off x="10157155" y="2057400"/>
            <a:ext cx="914400" cy="91440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10385755" y="2286000"/>
            <a:ext cx="457200" cy="457200"/>
          </a:xfrm>
          <a:prstGeom prst="rect">
            <a:avLst/>
          </a:prstGeom>
        </p:spPr>
      </p:pic>
      <p:sp>
        <p:nvSpPr>
          <p:cNvPr id="6" name="Text 3"/>
          <p:cNvSpPr txBox="1"/>
          <p:nvPr/>
        </p:nvSpPr>
        <p:spPr>
          <a:xfrm>
            <a:off x="9585655" y="3154680"/>
            <a:ext cx="2057400" cy="457200"/>
          </a:xfrm>
          <a:prstGeom prst="rect">
            <a:avLst/>
          </a:prstGeom>
          <a:noFill/>
          <a:ln/>
        </p:spPr>
        <p:txBody>
          <a:bodyPr wrap="square" lIns="0" tIns="0" rIns="0" bIns="0" rtlCol="0" anchor="t"/>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١</a:t>
            </a:r>
            <a:endParaRPr lang="ar-SA" sz="2400" dirty="0"/>
          </a:p>
        </p:txBody>
      </p:sp>
      <p:sp>
        <p:nvSpPr>
          <p:cNvPr id="7" name="Text 4"/>
          <p:cNvSpPr txBox="1"/>
          <p:nvPr/>
        </p:nvSpPr>
        <p:spPr>
          <a:xfrm>
            <a:off x="9722815" y="3657600"/>
            <a:ext cx="1783080" cy="82296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التعريف بالإمام ابن كثير</a:t>
            </a:r>
            <a:endParaRPr lang="ar-SA" sz="1800" dirty="0"/>
          </a:p>
        </p:txBody>
      </p:sp>
      <p:sp>
        <p:nvSpPr>
          <p:cNvPr id="8" name="Text 5"/>
          <p:cNvSpPr txBox="1"/>
          <p:nvPr/>
        </p:nvSpPr>
        <p:spPr>
          <a:xfrm>
            <a:off x="9722815" y="4526280"/>
            <a:ext cx="1783080" cy="822960"/>
          </a:xfrm>
          <a:prstGeom prst="rect">
            <a:avLst/>
          </a:prstGeom>
          <a:noFill/>
          <a:ln/>
        </p:spPr>
        <p:txBody>
          <a:bodyPr wrap="square" lIns="0" tIns="0" rIns="0" bIns="0" rtlCol="0" anchor="t"/>
          <a:lstStyle/>
          <a:p>
            <a:pPr rtl="1" algn="ctr" indent="0" marL="0">
              <a:buNone/>
            </a:pPr>
            <a:r>
              <a:rPr lang="ar-SA" altLang="en-US" sz="1400" dirty="0">
                <a:solidFill>
                  <a:schemeClr val="accent4"/>
                </a:solidFill>
              </a:rPr>
              <a:t>من هو؟ وأين عاش؟ ومن شيوخه؟</a:t>
            </a:r>
            <a:endParaRPr lang="ar-SA" sz="1400" dirty="0"/>
          </a:p>
        </p:txBody>
      </p:sp>
      <p:sp>
        <p:nvSpPr>
          <p:cNvPr id="9" name="card1"/>
          <p:cNvSpPr/>
          <p:nvPr/>
        </p:nvSpPr>
        <p:spPr>
          <a:xfrm>
            <a:off x="7345375" y="1737360"/>
            <a:ext cx="2057400" cy="3840480"/>
          </a:xfrm>
          <a:prstGeom prst="roundRect">
            <a:avLst>
              <a:gd name="adj" fmla="val 5333"/>
            </a:avLst>
          </a:prstGeom>
          <a:solidFill>
            <a:schemeClr val="bg2"/>
          </a:solidFill>
          <a:ln/>
        </p:spPr>
      </p:sp>
      <p:sp>
        <p:nvSpPr>
          <p:cNvPr id="10" name="Shape 7"/>
          <p:cNvSpPr/>
          <p:nvPr/>
        </p:nvSpPr>
        <p:spPr>
          <a:xfrm>
            <a:off x="7916875" y="2057400"/>
            <a:ext cx="914400" cy="914400"/>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8145475" y="2286000"/>
            <a:ext cx="457200" cy="457200"/>
          </a:xfrm>
          <a:prstGeom prst="rect">
            <a:avLst/>
          </a:prstGeom>
        </p:spPr>
      </p:pic>
      <p:sp>
        <p:nvSpPr>
          <p:cNvPr id="12" name="Text 8"/>
          <p:cNvSpPr txBox="1"/>
          <p:nvPr/>
        </p:nvSpPr>
        <p:spPr>
          <a:xfrm>
            <a:off x="7345375" y="3154680"/>
            <a:ext cx="2057400" cy="457200"/>
          </a:xfrm>
          <a:prstGeom prst="rect">
            <a:avLst/>
          </a:prstGeom>
          <a:noFill/>
          <a:ln/>
        </p:spPr>
        <p:txBody>
          <a:bodyPr wrap="square" lIns="0" tIns="0" rIns="0" bIns="0" rtlCol="0" anchor="t"/>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٢</a:t>
            </a:r>
            <a:endParaRPr lang="ar-SA" sz="2400" dirty="0"/>
          </a:p>
        </p:txBody>
      </p:sp>
      <p:sp>
        <p:nvSpPr>
          <p:cNvPr id="13" name="Text 9"/>
          <p:cNvSpPr txBox="1"/>
          <p:nvPr/>
        </p:nvSpPr>
        <p:spPr>
          <a:xfrm>
            <a:off x="7482535" y="3657600"/>
            <a:ext cx="1783080" cy="82296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منهجه في التفسير</a:t>
            </a:r>
            <a:endParaRPr lang="ar-SA" sz="1800" dirty="0"/>
          </a:p>
        </p:txBody>
      </p:sp>
      <p:sp>
        <p:nvSpPr>
          <p:cNvPr id="14" name="Text 10"/>
          <p:cNvSpPr txBox="1"/>
          <p:nvPr/>
        </p:nvSpPr>
        <p:spPr>
          <a:xfrm>
            <a:off x="7482535" y="4526280"/>
            <a:ext cx="1783080" cy="822960"/>
          </a:xfrm>
          <a:prstGeom prst="rect">
            <a:avLst/>
          </a:prstGeom>
          <a:noFill/>
          <a:ln/>
        </p:spPr>
        <p:txBody>
          <a:bodyPr wrap="square" lIns="0" tIns="0" rIns="0" bIns="0" rtlCol="0" anchor="t"/>
          <a:lstStyle/>
          <a:p>
            <a:pPr rtl="1" algn="ctr" indent="0" marL="0">
              <a:buNone/>
            </a:pPr>
            <a:r>
              <a:rPr lang="ar-SA" altLang="en-US" sz="1400" dirty="0">
                <a:solidFill>
                  <a:schemeClr val="accent4"/>
                </a:solidFill>
              </a:rPr>
              <a:t>كيف فسّر القرآن الكريم؟</a:t>
            </a:r>
            <a:endParaRPr lang="ar-SA" sz="1400" dirty="0"/>
          </a:p>
        </p:txBody>
      </p:sp>
      <p:sp>
        <p:nvSpPr>
          <p:cNvPr id="15" name="card2"/>
          <p:cNvSpPr/>
          <p:nvPr/>
        </p:nvSpPr>
        <p:spPr>
          <a:xfrm>
            <a:off x="5105095" y="1737360"/>
            <a:ext cx="2057400" cy="3840480"/>
          </a:xfrm>
          <a:prstGeom prst="roundRect">
            <a:avLst>
              <a:gd name="adj" fmla="val 5333"/>
            </a:avLst>
          </a:prstGeom>
          <a:solidFill>
            <a:schemeClr val="bg2"/>
          </a:solidFill>
          <a:ln/>
        </p:spPr>
      </p:sp>
      <p:sp>
        <p:nvSpPr>
          <p:cNvPr id="16" name="Shape 12"/>
          <p:cNvSpPr/>
          <p:nvPr/>
        </p:nvSpPr>
        <p:spPr>
          <a:xfrm>
            <a:off x="5676595" y="2057400"/>
            <a:ext cx="914400" cy="914400"/>
          </a:xfrm>
          <a:prstGeom prst="ellipse">
            <a:avLst/>
          </a:prstGeom>
          <a:solidFill>
            <a:schemeClr val="tx2"/>
          </a:solidFill>
          <a:ln/>
        </p:spPr>
      </p:sp>
      <p:pic>
        <p:nvPicPr>
          <p:cNvPr id="17" name="Image 2" descr="preencoded.png">    </p:cNvPr>
          <p:cNvPicPr>
            <a:picLocks noChangeAspect="1"/>
          </p:cNvPicPr>
          <p:nvPr/>
        </p:nvPicPr>
        <p:blipFill>
          <a:blip r:embed="rId3"/>
          <a:stretch>
            <a:fillRect/>
          </a:stretch>
        </p:blipFill>
        <p:spPr>
          <a:xfrm>
            <a:off x="5905195" y="2286000"/>
            <a:ext cx="457200" cy="457200"/>
          </a:xfrm>
          <a:prstGeom prst="rect">
            <a:avLst/>
          </a:prstGeom>
        </p:spPr>
      </p:pic>
      <p:sp>
        <p:nvSpPr>
          <p:cNvPr id="18" name="Text 13"/>
          <p:cNvSpPr txBox="1"/>
          <p:nvPr/>
        </p:nvSpPr>
        <p:spPr>
          <a:xfrm>
            <a:off x="5105095" y="3154680"/>
            <a:ext cx="2057400" cy="457200"/>
          </a:xfrm>
          <a:prstGeom prst="rect">
            <a:avLst/>
          </a:prstGeom>
          <a:noFill/>
          <a:ln/>
        </p:spPr>
        <p:txBody>
          <a:bodyPr wrap="square" lIns="0" tIns="0" rIns="0" bIns="0" rtlCol="0" anchor="t"/>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٣</a:t>
            </a:r>
            <a:endParaRPr lang="ar-SA" sz="2400" dirty="0"/>
          </a:p>
        </p:txBody>
      </p:sp>
      <p:sp>
        <p:nvSpPr>
          <p:cNvPr id="19" name="Text 14"/>
          <p:cNvSpPr txBox="1"/>
          <p:nvPr/>
        </p:nvSpPr>
        <p:spPr>
          <a:xfrm>
            <a:off x="5242255" y="3657600"/>
            <a:ext cx="1783080" cy="82296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التعريف بجزء عمّ</a:t>
            </a:r>
            <a:endParaRPr lang="ar-SA" sz="1800" dirty="0"/>
          </a:p>
        </p:txBody>
      </p:sp>
      <p:sp>
        <p:nvSpPr>
          <p:cNvPr id="20" name="Text 15"/>
          <p:cNvSpPr txBox="1"/>
          <p:nvPr/>
        </p:nvSpPr>
        <p:spPr>
          <a:xfrm>
            <a:off x="5242255" y="4526280"/>
            <a:ext cx="1783080" cy="822960"/>
          </a:xfrm>
          <a:prstGeom prst="rect">
            <a:avLst/>
          </a:prstGeom>
          <a:noFill/>
          <a:ln/>
        </p:spPr>
        <p:txBody>
          <a:bodyPr wrap="square" lIns="0" tIns="0" rIns="0" bIns="0" rtlCol="0" anchor="t"/>
          <a:lstStyle/>
          <a:p>
            <a:pPr rtl="1" algn="ctr" indent="0" marL="0">
              <a:buNone/>
            </a:pPr>
            <a:r>
              <a:rPr lang="ar-SA" altLang="en-US" sz="1400" dirty="0">
                <a:solidFill>
                  <a:schemeClr val="accent4"/>
                </a:solidFill>
              </a:rPr>
              <a:t>سوره وآياته وموضوعاته الكبرى</a:t>
            </a:r>
            <a:endParaRPr lang="ar-SA" sz="1400" dirty="0"/>
          </a:p>
        </p:txBody>
      </p:sp>
      <p:sp>
        <p:nvSpPr>
          <p:cNvPr id="21" name="card3"/>
          <p:cNvSpPr/>
          <p:nvPr/>
        </p:nvSpPr>
        <p:spPr>
          <a:xfrm>
            <a:off x="2864815" y="1737360"/>
            <a:ext cx="2057400" cy="3840480"/>
          </a:xfrm>
          <a:prstGeom prst="roundRect">
            <a:avLst>
              <a:gd name="adj" fmla="val 5333"/>
            </a:avLst>
          </a:prstGeom>
          <a:solidFill>
            <a:schemeClr val="bg2"/>
          </a:solidFill>
          <a:ln/>
        </p:spPr>
      </p:sp>
      <p:sp>
        <p:nvSpPr>
          <p:cNvPr id="22" name="Shape 17"/>
          <p:cNvSpPr/>
          <p:nvPr/>
        </p:nvSpPr>
        <p:spPr>
          <a:xfrm>
            <a:off x="3436315" y="2057400"/>
            <a:ext cx="914400" cy="914400"/>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3664915" y="2286000"/>
            <a:ext cx="457200" cy="457200"/>
          </a:xfrm>
          <a:prstGeom prst="rect">
            <a:avLst/>
          </a:prstGeom>
        </p:spPr>
      </p:pic>
      <p:sp>
        <p:nvSpPr>
          <p:cNvPr id="24" name="Text 18"/>
          <p:cNvSpPr txBox="1"/>
          <p:nvPr/>
        </p:nvSpPr>
        <p:spPr>
          <a:xfrm>
            <a:off x="2864815" y="3154680"/>
            <a:ext cx="2057400" cy="457200"/>
          </a:xfrm>
          <a:prstGeom prst="rect">
            <a:avLst/>
          </a:prstGeom>
          <a:noFill/>
          <a:ln/>
        </p:spPr>
        <p:txBody>
          <a:bodyPr wrap="square" lIns="0" tIns="0" rIns="0" bIns="0" rtlCol="0" anchor="t"/>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٤</a:t>
            </a:r>
            <a:endParaRPr lang="ar-SA" sz="2400" dirty="0"/>
          </a:p>
        </p:txBody>
      </p:sp>
      <p:sp>
        <p:nvSpPr>
          <p:cNvPr id="25" name="Text 19"/>
          <p:cNvSpPr txBox="1"/>
          <p:nvPr/>
        </p:nvSpPr>
        <p:spPr>
          <a:xfrm>
            <a:off x="3001975" y="3657600"/>
            <a:ext cx="1783080" cy="82296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وقفات مع السور</a:t>
            </a:r>
            <a:endParaRPr lang="ar-SA" sz="1800" dirty="0"/>
          </a:p>
        </p:txBody>
      </p:sp>
      <p:sp>
        <p:nvSpPr>
          <p:cNvPr id="26" name="Text 20"/>
          <p:cNvSpPr txBox="1"/>
          <p:nvPr/>
        </p:nvSpPr>
        <p:spPr>
          <a:xfrm>
            <a:off x="3001975" y="4526280"/>
            <a:ext cx="1783080" cy="822960"/>
          </a:xfrm>
          <a:prstGeom prst="rect">
            <a:avLst/>
          </a:prstGeom>
          <a:noFill/>
          <a:ln/>
        </p:spPr>
        <p:txBody>
          <a:bodyPr wrap="square" lIns="0" tIns="0" rIns="0" bIns="0" rtlCol="0" anchor="t"/>
          <a:lstStyle/>
          <a:p>
            <a:pPr rtl="1" algn="ctr" indent="0" marL="0">
              <a:buNone/>
            </a:pPr>
            <a:r>
              <a:rPr lang="ar-SA" altLang="en-US" sz="1400" dirty="0">
                <a:solidFill>
                  <a:schemeClr val="accent4"/>
                </a:solidFill>
              </a:rPr>
              <a:t>٣٧ سورة في خمس وحدات</a:t>
            </a:r>
            <a:endParaRPr lang="ar-SA" sz="1400" dirty="0"/>
          </a:p>
        </p:txBody>
      </p:sp>
      <p:sp>
        <p:nvSpPr>
          <p:cNvPr id="27" name="card4"/>
          <p:cNvSpPr/>
          <p:nvPr/>
        </p:nvSpPr>
        <p:spPr>
          <a:xfrm>
            <a:off x="624535" y="1737360"/>
            <a:ext cx="2057400" cy="3840480"/>
          </a:xfrm>
          <a:prstGeom prst="roundRect">
            <a:avLst>
              <a:gd name="adj" fmla="val 5333"/>
            </a:avLst>
          </a:prstGeom>
          <a:solidFill>
            <a:schemeClr val="bg2"/>
          </a:solidFill>
          <a:ln/>
        </p:spPr>
      </p:sp>
      <p:sp>
        <p:nvSpPr>
          <p:cNvPr id="28" name="Shape 22"/>
          <p:cNvSpPr/>
          <p:nvPr/>
        </p:nvSpPr>
        <p:spPr>
          <a:xfrm>
            <a:off x="1196035" y="2057400"/>
            <a:ext cx="914400" cy="914400"/>
          </a:xfrm>
          <a:prstGeom prst="ellipse">
            <a:avLst/>
          </a:prstGeom>
          <a:solidFill>
            <a:schemeClr val="tx2"/>
          </a:solidFill>
          <a:ln/>
        </p:spPr>
      </p:sp>
      <p:pic>
        <p:nvPicPr>
          <p:cNvPr id="29" name="Image 4" descr="preencoded.png">    </p:cNvPr>
          <p:cNvPicPr>
            <a:picLocks noChangeAspect="1"/>
          </p:cNvPicPr>
          <p:nvPr/>
        </p:nvPicPr>
        <p:blipFill>
          <a:blip r:embed="rId5"/>
          <a:stretch>
            <a:fillRect/>
          </a:stretch>
        </p:blipFill>
        <p:spPr>
          <a:xfrm>
            <a:off x="1424635" y="2286000"/>
            <a:ext cx="457200" cy="457200"/>
          </a:xfrm>
          <a:prstGeom prst="rect">
            <a:avLst/>
          </a:prstGeom>
        </p:spPr>
      </p:pic>
      <p:sp>
        <p:nvSpPr>
          <p:cNvPr id="30" name="Text 23"/>
          <p:cNvSpPr txBox="1"/>
          <p:nvPr/>
        </p:nvSpPr>
        <p:spPr>
          <a:xfrm>
            <a:off x="624535" y="3154680"/>
            <a:ext cx="2057400" cy="457200"/>
          </a:xfrm>
          <a:prstGeom prst="rect">
            <a:avLst/>
          </a:prstGeom>
          <a:noFill/>
          <a:ln/>
        </p:spPr>
        <p:txBody>
          <a:bodyPr wrap="square" lIns="0" tIns="0" rIns="0" bIns="0" rtlCol="0" anchor="t"/>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٥</a:t>
            </a:r>
            <a:endParaRPr lang="ar-SA" sz="2400" dirty="0"/>
          </a:p>
        </p:txBody>
      </p:sp>
      <p:sp>
        <p:nvSpPr>
          <p:cNvPr id="31" name="Text 24"/>
          <p:cNvSpPr txBox="1"/>
          <p:nvPr/>
        </p:nvSpPr>
        <p:spPr>
          <a:xfrm>
            <a:off x="761695" y="3657600"/>
            <a:ext cx="1783080" cy="82296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دروس ومراجعة</a:t>
            </a:r>
            <a:endParaRPr lang="ar-SA" sz="1800" dirty="0"/>
          </a:p>
        </p:txBody>
      </p:sp>
      <p:sp>
        <p:nvSpPr>
          <p:cNvPr id="32" name="Text 25"/>
          <p:cNvSpPr txBox="1"/>
          <p:nvPr/>
        </p:nvSpPr>
        <p:spPr>
          <a:xfrm>
            <a:off x="761695" y="4526280"/>
            <a:ext cx="1783080" cy="822960"/>
          </a:xfrm>
          <a:prstGeom prst="rect">
            <a:avLst/>
          </a:prstGeom>
          <a:noFill/>
          <a:ln/>
        </p:spPr>
        <p:txBody>
          <a:bodyPr wrap="square" lIns="0" tIns="0" rIns="0" bIns="0" rtlCol="0" anchor="t"/>
          <a:lstStyle/>
          <a:p>
            <a:pPr rtl="1" algn="ctr" indent="0" marL="0">
              <a:buNone/>
            </a:pPr>
            <a:r>
              <a:rPr lang="ar-SA" altLang="en-US" sz="1400" dirty="0">
                <a:solidFill>
                  <a:schemeClr val="accent4"/>
                </a:solidFill>
              </a:rPr>
              <a:t>خلاصة الفوائد واختبر فهمك</a:t>
            </a:r>
            <a:endParaRPr lang="ar-SA" sz="14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en-US" sz="4000" dirty="0"/>
          </a:p>
        </p:txBody>
      </p:sp>
      <p:sp>
        <p:nvSpPr>
          <p:cNvPr id="3" name="Shape 1"/>
          <p:cNvSpPr/>
          <p:nvPr/>
        </p:nvSpPr>
        <p:spPr>
          <a:xfrm>
            <a:off x="6309360" y="1417320"/>
            <a:ext cx="5330952" cy="4754880"/>
          </a:xfrm>
          <a:prstGeom prst="roundRect">
            <a:avLst>
              <a:gd name="adj" fmla="val 2308"/>
            </a:avLst>
          </a:prstGeom>
          <a:solidFill>
            <a:schemeClr val="bg2"/>
          </a:solidFill>
          <a:ln/>
        </p:spPr>
      </p:sp>
      <p:sp>
        <p:nvSpPr>
          <p:cNvPr id="4" name="Shape 2"/>
          <p:cNvSpPr/>
          <p:nvPr/>
        </p:nvSpPr>
        <p:spPr>
          <a:xfrm>
            <a:off x="11155680" y="1700784"/>
            <a:ext cx="274320" cy="274320"/>
          </a:xfrm>
          <a:prstGeom prst="star8">
            <a:avLst/>
          </a:prstGeom>
          <a:solidFill>
            <a:schemeClr val="accent2"/>
          </a:solidFill>
          <a:ln/>
        </p:spPr>
      </p:sp>
      <p:sp>
        <p:nvSpPr>
          <p:cNvPr id="5" name="Text 3"/>
          <p:cNvSpPr txBox="1"/>
          <p:nvPr/>
        </p:nvSpPr>
        <p:spPr>
          <a:xfrm>
            <a:off x="9052560" y="1645920"/>
            <a:ext cx="196596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اسمه</a:t>
            </a:r>
            <a:endParaRPr lang="ar-SA" sz="1800" dirty="0"/>
          </a:p>
        </p:txBody>
      </p:sp>
      <p:sp>
        <p:nvSpPr>
          <p:cNvPr id="6" name="Text 4"/>
          <p:cNvSpPr txBox="1"/>
          <p:nvPr/>
        </p:nvSpPr>
        <p:spPr>
          <a:xfrm>
            <a:off x="6537960" y="2011680"/>
            <a:ext cx="448056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إسماعيل بن عمر بن كثير الدمشقي، أبو الفداء عماد الدين</a:t>
            </a:r>
            <a:endParaRPr lang="ar-SA" sz="1400" dirty="0"/>
          </a:p>
        </p:txBody>
      </p:sp>
      <p:sp>
        <p:nvSpPr>
          <p:cNvPr id="7" name="Shape 5"/>
          <p:cNvSpPr/>
          <p:nvPr/>
        </p:nvSpPr>
        <p:spPr>
          <a:xfrm>
            <a:off x="11155680" y="2587752"/>
            <a:ext cx="274320" cy="274320"/>
          </a:xfrm>
          <a:prstGeom prst="star8">
            <a:avLst/>
          </a:prstGeom>
          <a:solidFill>
            <a:schemeClr val="accent2"/>
          </a:solidFill>
          <a:ln/>
        </p:spPr>
      </p:sp>
      <p:sp>
        <p:nvSpPr>
          <p:cNvPr id="8" name="Text 6"/>
          <p:cNvSpPr txBox="1"/>
          <p:nvPr/>
        </p:nvSpPr>
        <p:spPr>
          <a:xfrm>
            <a:off x="9052560" y="2532888"/>
            <a:ext cx="196596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مولده</a:t>
            </a:r>
            <a:endParaRPr lang="ar-SA" sz="1800" dirty="0"/>
          </a:p>
        </p:txBody>
      </p:sp>
      <p:sp>
        <p:nvSpPr>
          <p:cNvPr id="9" name="Text 7"/>
          <p:cNvSpPr txBox="1"/>
          <p:nvPr/>
        </p:nvSpPr>
        <p:spPr>
          <a:xfrm>
            <a:off x="6537960" y="2898648"/>
            <a:ext cx="448056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وُلد نحو سنة ٧٠١هـ في بُصرى من أرض الشام</a:t>
            </a:r>
            <a:endParaRPr lang="ar-SA" sz="1400" dirty="0"/>
          </a:p>
        </p:txBody>
      </p:sp>
      <p:sp>
        <p:nvSpPr>
          <p:cNvPr id="10" name="Shape 8"/>
          <p:cNvSpPr/>
          <p:nvPr/>
        </p:nvSpPr>
        <p:spPr>
          <a:xfrm>
            <a:off x="11155680" y="3474720"/>
            <a:ext cx="274320" cy="274320"/>
          </a:xfrm>
          <a:prstGeom prst="star8">
            <a:avLst/>
          </a:prstGeom>
          <a:solidFill>
            <a:schemeClr val="accent2"/>
          </a:solidFill>
          <a:ln/>
        </p:spPr>
      </p:sp>
      <p:sp>
        <p:nvSpPr>
          <p:cNvPr id="11" name="Text 9"/>
          <p:cNvSpPr txBox="1"/>
          <p:nvPr/>
        </p:nvSpPr>
        <p:spPr>
          <a:xfrm>
            <a:off x="9052560" y="3419856"/>
            <a:ext cx="196596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شيوخه</a:t>
            </a:r>
            <a:endParaRPr lang="ar-SA" sz="1800" dirty="0"/>
          </a:p>
        </p:txBody>
      </p:sp>
      <p:sp>
        <p:nvSpPr>
          <p:cNvPr id="12" name="Text 10"/>
          <p:cNvSpPr txBox="1"/>
          <p:nvPr/>
        </p:nvSpPr>
        <p:spPr>
          <a:xfrm>
            <a:off x="6537960" y="3785616"/>
            <a:ext cx="448056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شيخ الإسلام ابن تيمية، والحافظ المِزّي، والحافظ الذهبي</a:t>
            </a:r>
            <a:endParaRPr lang="ar-SA" sz="1400" dirty="0"/>
          </a:p>
        </p:txBody>
      </p:sp>
      <p:sp>
        <p:nvSpPr>
          <p:cNvPr id="13" name="Shape 11"/>
          <p:cNvSpPr/>
          <p:nvPr/>
        </p:nvSpPr>
        <p:spPr>
          <a:xfrm>
            <a:off x="11155680" y="4361688"/>
            <a:ext cx="274320" cy="274320"/>
          </a:xfrm>
          <a:prstGeom prst="star8">
            <a:avLst/>
          </a:prstGeom>
          <a:solidFill>
            <a:schemeClr val="accent2"/>
          </a:solidFill>
          <a:ln/>
        </p:spPr>
      </p:sp>
      <p:sp>
        <p:nvSpPr>
          <p:cNvPr id="14" name="Text 12"/>
          <p:cNvSpPr txBox="1"/>
          <p:nvPr/>
        </p:nvSpPr>
        <p:spPr>
          <a:xfrm>
            <a:off x="9052560" y="4306824"/>
            <a:ext cx="196596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مؤلفاته</a:t>
            </a:r>
            <a:endParaRPr lang="ar-SA" sz="1800" dirty="0"/>
          </a:p>
        </p:txBody>
      </p:sp>
      <p:sp>
        <p:nvSpPr>
          <p:cNvPr id="15" name="Text 13"/>
          <p:cNvSpPr txBox="1"/>
          <p:nvPr/>
        </p:nvSpPr>
        <p:spPr>
          <a:xfrm>
            <a:off x="6537960" y="4672584"/>
            <a:ext cx="448056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تفسير القرآن العظيم، والبداية والنهاية في التاريخ</a:t>
            </a:r>
            <a:endParaRPr lang="ar-SA" sz="1400" dirty="0"/>
          </a:p>
        </p:txBody>
      </p:sp>
      <p:sp>
        <p:nvSpPr>
          <p:cNvPr id="16" name="Shape 14"/>
          <p:cNvSpPr/>
          <p:nvPr/>
        </p:nvSpPr>
        <p:spPr>
          <a:xfrm>
            <a:off x="11155680" y="5248656"/>
            <a:ext cx="274320" cy="274320"/>
          </a:xfrm>
          <a:prstGeom prst="star8">
            <a:avLst/>
          </a:prstGeom>
          <a:solidFill>
            <a:schemeClr val="accent2"/>
          </a:solidFill>
          <a:ln/>
        </p:spPr>
      </p:sp>
      <p:sp>
        <p:nvSpPr>
          <p:cNvPr id="17" name="Text 15"/>
          <p:cNvSpPr txBox="1"/>
          <p:nvPr/>
        </p:nvSpPr>
        <p:spPr>
          <a:xfrm>
            <a:off x="9052560" y="5193792"/>
            <a:ext cx="196596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وفاته</a:t>
            </a:r>
            <a:endParaRPr lang="ar-SA" sz="1800" dirty="0"/>
          </a:p>
        </p:txBody>
      </p:sp>
      <p:sp>
        <p:nvSpPr>
          <p:cNvPr id="18" name="Text 16"/>
          <p:cNvSpPr txBox="1"/>
          <p:nvPr/>
        </p:nvSpPr>
        <p:spPr>
          <a:xfrm>
            <a:off x="6537960" y="5559552"/>
            <a:ext cx="448056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تُوفي سنة ٧٧٤هـ في دمشق، ودُفن بجوار شيخه ابن تيمية</a:t>
            </a:r>
            <a:endParaRPr lang="ar-SA" sz="1400" dirty="0"/>
          </a:p>
        </p:txBody>
      </p:sp>
      <p:sp>
        <p:nvSpPr>
          <p:cNvPr id="19" name="Shape 17"/>
          <p:cNvSpPr/>
          <p:nvPr/>
        </p:nvSpPr>
        <p:spPr>
          <a:xfrm>
            <a:off x="548640" y="1417320"/>
            <a:ext cx="5394960" cy="1417320"/>
          </a:xfrm>
          <a:prstGeom prst="roundRect">
            <a:avLst>
              <a:gd name="adj" fmla="val 7742"/>
            </a:avLst>
          </a:prstGeom>
          <a:solidFill>
            <a:schemeClr val="tx2"/>
          </a:solidFill>
          <a:ln/>
        </p:spPr>
      </p:sp>
      <p:sp>
        <p:nvSpPr>
          <p:cNvPr id="20" name="Text 18"/>
          <p:cNvSpPr txBox="1"/>
          <p:nvPr/>
        </p:nvSpPr>
        <p:spPr>
          <a:xfrm>
            <a:off x="731520" y="1554480"/>
            <a:ext cx="5029200" cy="731520"/>
          </a:xfrm>
          <a:prstGeom prst="rect">
            <a:avLst/>
          </a:prstGeom>
          <a:noFill/>
          <a:ln/>
        </p:spPr>
        <p:txBody>
          <a:bodyPr wrap="square" lIns="0" tIns="0" rIns="0" bIns="0" rtlCol="0" anchor="t"/>
          <a:lstStyle/>
          <a:p>
            <a:pPr rtl="1" algn="ctr" indent="0" marL="0">
              <a:buNone/>
            </a:pPr>
            <a:r>
              <a:rPr lang="ar-SA" altLang="en-US" sz="4000" b="1" dirty="0">
                <a:solidFill>
                  <a:schemeClr val="accent2"/>
                </a:solidFill>
                <a:latin typeface="Sakkal Majalla" pitchFamily="34" charset="0"/>
                <a:ea typeface="Sakkal Majalla" pitchFamily="34" charset="-122"/>
                <a:cs typeface="Sakkal Majalla" pitchFamily="34" charset="-120"/>
              </a:rPr>
              <a:t>٧٠١هـ</a:t>
            </a:r>
            <a:endParaRPr lang="ar-SA" sz="4000" dirty="0"/>
          </a:p>
        </p:txBody>
      </p:sp>
      <p:sp>
        <p:nvSpPr>
          <p:cNvPr id="21" name="Text 19"/>
          <p:cNvSpPr txBox="1"/>
          <p:nvPr/>
        </p:nvSpPr>
        <p:spPr>
          <a:xfrm>
            <a:off x="731520" y="2286000"/>
            <a:ext cx="5029200" cy="411480"/>
          </a:xfrm>
          <a:prstGeom prst="rect">
            <a:avLst/>
          </a:prstGeom>
          <a:noFill/>
          <a:ln/>
        </p:spPr>
        <p:txBody>
          <a:bodyPr wrap="square" lIns="0" tIns="0" rIns="0" bIns="0" rtlCol="0" anchor="t"/>
          <a:lstStyle/>
          <a:p>
            <a:pPr rtl="1" algn="ctr" indent="0" marL="0">
              <a:buNone/>
            </a:pPr>
            <a:r>
              <a:rPr lang="ar-SA" altLang="en-US" sz="1500" dirty="0">
                <a:solidFill>
                  <a:schemeClr val="bg1"/>
                </a:solidFill>
              </a:rPr>
              <a:t>سنة المولد تقريبًا</a:t>
            </a:r>
            <a:endParaRPr lang="ar-SA" sz="1500" dirty="0"/>
          </a:p>
        </p:txBody>
      </p:sp>
      <p:sp>
        <p:nvSpPr>
          <p:cNvPr id="22" name="Shape 20"/>
          <p:cNvSpPr/>
          <p:nvPr/>
        </p:nvSpPr>
        <p:spPr>
          <a:xfrm>
            <a:off x="548640" y="3044952"/>
            <a:ext cx="5394960" cy="1417320"/>
          </a:xfrm>
          <a:prstGeom prst="roundRect">
            <a:avLst>
              <a:gd name="adj" fmla="val 7742"/>
            </a:avLst>
          </a:prstGeom>
          <a:solidFill>
            <a:schemeClr val="tx2"/>
          </a:solidFill>
          <a:ln/>
        </p:spPr>
      </p:sp>
      <p:sp>
        <p:nvSpPr>
          <p:cNvPr id="23" name="Text 21"/>
          <p:cNvSpPr txBox="1"/>
          <p:nvPr/>
        </p:nvSpPr>
        <p:spPr>
          <a:xfrm>
            <a:off x="731520" y="3182112"/>
            <a:ext cx="5029200" cy="731520"/>
          </a:xfrm>
          <a:prstGeom prst="rect">
            <a:avLst/>
          </a:prstGeom>
          <a:noFill/>
          <a:ln/>
        </p:spPr>
        <p:txBody>
          <a:bodyPr wrap="square" lIns="0" tIns="0" rIns="0" bIns="0" rtlCol="0" anchor="t"/>
          <a:lstStyle/>
          <a:p>
            <a:pPr rtl="1" algn="ctr" indent="0" marL="0">
              <a:buNone/>
            </a:pPr>
            <a:r>
              <a:rPr lang="ar-SA" altLang="en-US" sz="4000" b="1" dirty="0">
                <a:solidFill>
                  <a:schemeClr val="accent2"/>
                </a:solidFill>
                <a:latin typeface="Sakkal Majalla" pitchFamily="34" charset="0"/>
                <a:ea typeface="Sakkal Majalla" pitchFamily="34" charset="-122"/>
                <a:cs typeface="Sakkal Majalla" pitchFamily="34" charset="-120"/>
              </a:rPr>
              <a:t>٧٧٤هـ</a:t>
            </a:r>
            <a:endParaRPr lang="ar-SA" sz="4000" dirty="0"/>
          </a:p>
        </p:txBody>
      </p:sp>
      <p:sp>
        <p:nvSpPr>
          <p:cNvPr id="24" name="Text 22"/>
          <p:cNvSpPr txBox="1"/>
          <p:nvPr/>
        </p:nvSpPr>
        <p:spPr>
          <a:xfrm>
            <a:off x="731520" y="3913632"/>
            <a:ext cx="5029200" cy="411480"/>
          </a:xfrm>
          <a:prstGeom prst="rect">
            <a:avLst/>
          </a:prstGeom>
          <a:noFill/>
          <a:ln/>
        </p:spPr>
        <p:txBody>
          <a:bodyPr wrap="square" lIns="0" tIns="0" rIns="0" bIns="0" rtlCol="0" anchor="t"/>
          <a:lstStyle/>
          <a:p>
            <a:pPr rtl="1" algn="ctr" indent="0" marL="0">
              <a:buNone/>
            </a:pPr>
            <a:r>
              <a:rPr lang="ar-SA" altLang="en-US" sz="1500" dirty="0">
                <a:solidFill>
                  <a:schemeClr val="bg1"/>
                </a:solidFill>
              </a:rPr>
              <a:t>سنة الوفاة</a:t>
            </a:r>
            <a:endParaRPr lang="ar-SA" sz="1500" dirty="0"/>
          </a:p>
        </p:txBody>
      </p:sp>
      <p:sp>
        <p:nvSpPr>
          <p:cNvPr id="25" name="Shape 23"/>
          <p:cNvSpPr/>
          <p:nvPr/>
        </p:nvSpPr>
        <p:spPr>
          <a:xfrm>
            <a:off x="548640" y="4672584"/>
            <a:ext cx="5394960" cy="1417320"/>
          </a:xfrm>
          <a:prstGeom prst="roundRect">
            <a:avLst>
              <a:gd name="adj" fmla="val 7742"/>
            </a:avLst>
          </a:prstGeom>
          <a:solidFill>
            <a:schemeClr val="tx2"/>
          </a:solidFill>
          <a:ln/>
        </p:spPr>
      </p:sp>
      <p:sp>
        <p:nvSpPr>
          <p:cNvPr id="26" name="Text 24"/>
          <p:cNvSpPr txBox="1"/>
          <p:nvPr/>
        </p:nvSpPr>
        <p:spPr>
          <a:xfrm>
            <a:off x="731520" y="4809744"/>
            <a:ext cx="5029200" cy="731520"/>
          </a:xfrm>
          <a:prstGeom prst="rect">
            <a:avLst/>
          </a:prstGeom>
          <a:noFill/>
          <a:ln/>
        </p:spPr>
        <p:txBody>
          <a:bodyPr wrap="square" lIns="0" tIns="0" rIns="0" bIns="0" rtlCol="0" anchor="t"/>
          <a:lstStyle/>
          <a:p>
            <a:pPr rtl="1" algn="ctr" indent="0" marL="0">
              <a:buNone/>
            </a:pPr>
            <a:r>
              <a:rPr lang="ar-SA" altLang="en-US" sz="4000" b="1" dirty="0">
                <a:solidFill>
                  <a:schemeClr val="accent2"/>
                </a:solidFill>
                <a:latin typeface="Sakkal Majalla" pitchFamily="34" charset="0"/>
                <a:ea typeface="Sakkal Majalla" pitchFamily="34" charset="-122"/>
                <a:cs typeface="Sakkal Majalla" pitchFamily="34" charset="-120"/>
              </a:rPr>
              <a:t>١٤ مجلدًا</a:t>
            </a:r>
            <a:endParaRPr lang="ar-SA" sz="4000" dirty="0"/>
          </a:p>
        </p:txBody>
      </p:sp>
      <p:sp>
        <p:nvSpPr>
          <p:cNvPr id="27" name="Text 25"/>
          <p:cNvSpPr txBox="1"/>
          <p:nvPr/>
        </p:nvSpPr>
        <p:spPr>
          <a:xfrm>
            <a:off x="731520" y="5541264"/>
            <a:ext cx="5029200" cy="411480"/>
          </a:xfrm>
          <a:prstGeom prst="rect">
            <a:avLst/>
          </a:prstGeom>
          <a:noFill/>
          <a:ln/>
        </p:spPr>
        <p:txBody>
          <a:bodyPr wrap="square" lIns="0" tIns="0" rIns="0" bIns="0" rtlCol="0" anchor="t"/>
          <a:lstStyle/>
          <a:p>
            <a:pPr rtl="1" algn="ctr" indent="0" marL="0">
              <a:buNone/>
            </a:pPr>
            <a:r>
              <a:rPr lang="ar-SA" altLang="en-US" sz="1500" dirty="0">
                <a:solidFill>
                  <a:schemeClr val="bg1"/>
                </a:solidFill>
              </a:rPr>
              <a:t>حجم كتابه البداية والنهاية تقريبًا</a:t>
            </a:r>
            <a:endParaRPr lang="ar-SA" sz="15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منهج ابن كثير في التفسير</a:t>
            </a:r>
            <a:endParaRPr lang="en-US" sz="4000" dirty="0"/>
          </a:p>
        </p:txBody>
      </p:sp>
      <p:sp>
        <p:nvSpPr>
          <p:cNvPr id="3" name="Text 1"/>
          <p:cNvSpPr txBox="1"/>
          <p:nvPr/>
        </p:nvSpPr>
        <p:spPr>
          <a:xfrm>
            <a:off x="548640" y="1188720"/>
            <a:ext cx="11094415" cy="457200"/>
          </a:xfrm>
          <a:prstGeom prst="rect">
            <a:avLst/>
          </a:prstGeom>
          <a:noFill/>
          <a:ln/>
        </p:spPr>
        <p:txBody>
          <a:bodyPr wrap="square" lIns="0" tIns="0" rIns="0" bIns="0" rtlCol="0" anchor="t"/>
          <a:lstStyle/>
          <a:p>
            <a:pPr rtl="1" algn="r" indent="0" marL="0">
              <a:buNone/>
            </a:pPr>
            <a:r>
              <a:rPr lang="ar-SA" altLang="en-US" sz="1800" dirty="0">
                <a:solidFill>
                  <a:schemeClr val="accent4"/>
                </a:solidFill>
              </a:rPr>
              <a:t>يبدأ بأحسن طرق التفسير ثم ينتقل إلى ما بعدها</a:t>
            </a:r>
            <a:endParaRPr lang="ar-SA" sz="1800" dirty="0"/>
          </a:p>
        </p:txBody>
      </p:sp>
      <p:sp>
        <p:nvSpPr>
          <p:cNvPr id="4" name="Shape 2"/>
          <p:cNvSpPr/>
          <p:nvPr/>
        </p:nvSpPr>
        <p:spPr>
          <a:xfrm>
            <a:off x="9128455" y="1965960"/>
            <a:ext cx="2514600" cy="2331720"/>
          </a:xfrm>
          <a:prstGeom prst="roundRect">
            <a:avLst>
              <a:gd name="adj" fmla="val 4706"/>
            </a:avLst>
          </a:prstGeom>
          <a:solidFill>
            <a:schemeClr val="bg2"/>
          </a:solidFill>
          <a:ln/>
        </p:spPr>
      </p:sp>
      <p:sp>
        <p:nvSpPr>
          <p:cNvPr id="5" name="Shape 3"/>
          <p:cNvSpPr/>
          <p:nvPr/>
        </p:nvSpPr>
        <p:spPr>
          <a:xfrm>
            <a:off x="10001707" y="1828800"/>
            <a:ext cx="768096" cy="768096"/>
          </a:xfrm>
          <a:prstGeom prst="star8">
            <a:avLst/>
          </a:prstGeom>
          <a:solidFill>
            <a:schemeClr val="accent2"/>
          </a:solidFill>
          <a:ln/>
        </p:spPr>
      </p:sp>
      <p:sp>
        <p:nvSpPr>
          <p:cNvPr id="6" name="Text 4"/>
          <p:cNvSpPr txBox="1"/>
          <p:nvPr/>
        </p:nvSpPr>
        <p:spPr>
          <a:xfrm>
            <a:off x="10001707" y="1828800"/>
            <a:ext cx="768096" cy="768096"/>
          </a:xfrm>
          <a:prstGeom prst="rect">
            <a:avLst/>
          </a:prstGeom>
          <a:noFill/>
          <a:ln/>
        </p:spPr>
        <p:txBody>
          <a:bodyPr wrap="square" lIns="0" tIns="0" rIns="0" bIns="0" rtlCol="0" anchor="ctr"/>
          <a:lstStyle/>
          <a:p>
            <a:pPr rtl="1" algn="ctr" indent="0" marL="0">
              <a:buNone/>
            </a:pPr>
            <a:r>
              <a:rPr lang="ar-SA" altLang="en-US" sz="2200" b="1" dirty="0">
                <a:solidFill>
                  <a:schemeClr val="tx2"/>
                </a:solidFill>
                <a:latin typeface="Sakkal Majalla" pitchFamily="34" charset="0"/>
                <a:ea typeface="Sakkal Majalla" pitchFamily="34" charset="-122"/>
                <a:cs typeface="Sakkal Majalla" pitchFamily="34" charset="-120"/>
              </a:rPr>
              <a:t>١</a:t>
            </a:r>
            <a:endParaRPr lang="ar-SA" sz="2200" dirty="0"/>
          </a:p>
        </p:txBody>
      </p:sp>
      <p:sp>
        <p:nvSpPr>
          <p:cNvPr id="7" name="Text 5"/>
          <p:cNvSpPr txBox="1"/>
          <p:nvPr/>
        </p:nvSpPr>
        <p:spPr>
          <a:xfrm>
            <a:off x="9265615" y="2743200"/>
            <a:ext cx="224028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تفسير القرآن بالقرآن</a:t>
            </a:r>
            <a:endParaRPr lang="ar-SA" sz="1800" dirty="0"/>
          </a:p>
        </p:txBody>
      </p:sp>
      <p:sp>
        <p:nvSpPr>
          <p:cNvPr id="8" name="Text 6"/>
          <p:cNvSpPr txBox="1"/>
          <p:nvPr/>
        </p:nvSpPr>
        <p:spPr>
          <a:xfrm>
            <a:off x="9311335" y="3291840"/>
            <a:ext cx="2148840" cy="822960"/>
          </a:xfrm>
          <a:prstGeom prst="rect">
            <a:avLst/>
          </a:prstGeom>
          <a:noFill/>
          <a:ln/>
        </p:spPr>
        <p:txBody>
          <a:bodyPr wrap="square" lIns="0" tIns="0" rIns="0" bIns="0" rtlCol="0" anchor="t"/>
          <a:lstStyle/>
          <a:p>
            <a:pPr rtl="1" algn="ctr" indent="0" marL="0">
              <a:buNone/>
            </a:pPr>
            <a:r>
              <a:rPr lang="ar-SA" altLang="en-US" sz="1400" dirty="0">
                <a:solidFill>
                  <a:schemeClr val="tx1"/>
                </a:solidFill>
              </a:rPr>
              <a:t>فما أُجمل في موضع فُسّر في موضع آخر</a:t>
            </a:r>
            <a:endParaRPr lang="ar-SA" sz="1400" dirty="0"/>
          </a:p>
        </p:txBody>
      </p:sp>
      <p:sp>
        <p:nvSpPr>
          <p:cNvPr id="9" name="Shape 7"/>
          <p:cNvSpPr/>
          <p:nvPr/>
        </p:nvSpPr>
        <p:spPr>
          <a:xfrm>
            <a:off x="8844991" y="3017520"/>
            <a:ext cx="228600" cy="274320"/>
          </a:xfrm>
          <a:prstGeom prst="leftArrow">
            <a:avLst/>
          </a:prstGeom>
          <a:solidFill>
            <a:schemeClr val="accent2"/>
          </a:solidFill>
          <a:ln/>
        </p:spPr>
      </p:sp>
      <p:sp>
        <p:nvSpPr>
          <p:cNvPr id="10" name="Shape 8"/>
          <p:cNvSpPr/>
          <p:nvPr/>
        </p:nvSpPr>
        <p:spPr>
          <a:xfrm>
            <a:off x="6275527" y="1965960"/>
            <a:ext cx="2514600" cy="2331720"/>
          </a:xfrm>
          <a:prstGeom prst="roundRect">
            <a:avLst>
              <a:gd name="adj" fmla="val 4706"/>
            </a:avLst>
          </a:prstGeom>
          <a:solidFill>
            <a:schemeClr val="bg2"/>
          </a:solidFill>
          <a:ln/>
        </p:spPr>
      </p:sp>
      <p:sp>
        <p:nvSpPr>
          <p:cNvPr id="11" name="Shape 9"/>
          <p:cNvSpPr/>
          <p:nvPr/>
        </p:nvSpPr>
        <p:spPr>
          <a:xfrm>
            <a:off x="7148779" y="1828800"/>
            <a:ext cx="768096" cy="768096"/>
          </a:xfrm>
          <a:prstGeom prst="star8">
            <a:avLst/>
          </a:prstGeom>
          <a:solidFill>
            <a:schemeClr val="accent2"/>
          </a:solidFill>
          <a:ln/>
        </p:spPr>
      </p:sp>
      <p:sp>
        <p:nvSpPr>
          <p:cNvPr id="12" name="Text 10"/>
          <p:cNvSpPr txBox="1"/>
          <p:nvPr/>
        </p:nvSpPr>
        <p:spPr>
          <a:xfrm>
            <a:off x="7148779" y="1828800"/>
            <a:ext cx="768096" cy="768096"/>
          </a:xfrm>
          <a:prstGeom prst="rect">
            <a:avLst/>
          </a:prstGeom>
          <a:noFill/>
          <a:ln/>
        </p:spPr>
        <p:txBody>
          <a:bodyPr wrap="square" lIns="0" tIns="0" rIns="0" bIns="0" rtlCol="0" anchor="ctr"/>
          <a:lstStyle/>
          <a:p>
            <a:pPr rtl="1" algn="ctr" indent="0" marL="0">
              <a:buNone/>
            </a:pPr>
            <a:r>
              <a:rPr lang="ar-SA" altLang="en-US" sz="2200" b="1" dirty="0">
                <a:solidFill>
                  <a:schemeClr val="tx2"/>
                </a:solidFill>
                <a:latin typeface="Sakkal Majalla" pitchFamily="34" charset="0"/>
                <a:ea typeface="Sakkal Majalla" pitchFamily="34" charset="-122"/>
                <a:cs typeface="Sakkal Majalla" pitchFamily="34" charset="-120"/>
              </a:rPr>
              <a:t>٢</a:t>
            </a:r>
            <a:endParaRPr lang="ar-SA" sz="2200" dirty="0"/>
          </a:p>
        </p:txBody>
      </p:sp>
      <p:sp>
        <p:nvSpPr>
          <p:cNvPr id="13" name="Text 11"/>
          <p:cNvSpPr txBox="1"/>
          <p:nvPr/>
        </p:nvSpPr>
        <p:spPr>
          <a:xfrm>
            <a:off x="6412687" y="2743200"/>
            <a:ext cx="224028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تفسير القرآن بالسنة</a:t>
            </a:r>
            <a:endParaRPr lang="ar-SA" sz="1800" dirty="0"/>
          </a:p>
        </p:txBody>
      </p:sp>
      <p:sp>
        <p:nvSpPr>
          <p:cNvPr id="14" name="Text 12"/>
          <p:cNvSpPr txBox="1"/>
          <p:nvPr/>
        </p:nvSpPr>
        <p:spPr>
          <a:xfrm>
            <a:off x="6458407" y="3291840"/>
            <a:ext cx="2148840" cy="822960"/>
          </a:xfrm>
          <a:prstGeom prst="rect">
            <a:avLst/>
          </a:prstGeom>
          <a:noFill/>
          <a:ln/>
        </p:spPr>
        <p:txBody>
          <a:bodyPr wrap="square" lIns="0" tIns="0" rIns="0" bIns="0" rtlCol="0" anchor="t"/>
          <a:lstStyle/>
          <a:p>
            <a:pPr rtl="1" algn="ctr" indent="0" marL="0">
              <a:buNone/>
            </a:pPr>
            <a:r>
              <a:rPr lang="ar-SA" altLang="en-US" sz="1400" dirty="0">
                <a:solidFill>
                  <a:schemeClr val="tx1"/>
                </a:solidFill>
              </a:rPr>
              <a:t>فالسنة شارحة للقرآن ومبيّنة له</a:t>
            </a:r>
            <a:endParaRPr lang="ar-SA" sz="1400" dirty="0"/>
          </a:p>
        </p:txBody>
      </p:sp>
      <p:sp>
        <p:nvSpPr>
          <p:cNvPr id="15" name="Shape 13"/>
          <p:cNvSpPr/>
          <p:nvPr/>
        </p:nvSpPr>
        <p:spPr>
          <a:xfrm>
            <a:off x="5992063" y="3017520"/>
            <a:ext cx="228600" cy="274320"/>
          </a:xfrm>
          <a:prstGeom prst="leftArrow">
            <a:avLst/>
          </a:prstGeom>
          <a:solidFill>
            <a:schemeClr val="accent2"/>
          </a:solidFill>
          <a:ln/>
        </p:spPr>
      </p:sp>
      <p:sp>
        <p:nvSpPr>
          <p:cNvPr id="16" name="Shape 14"/>
          <p:cNvSpPr/>
          <p:nvPr/>
        </p:nvSpPr>
        <p:spPr>
          <a:xfrm>
            <a:off x="3422599" y="1965960"/>
            <a:ext cx="2514600" cy="2331720"/>
          </a:xfrm>
          <a:prstGeom prst="roundRect">
            <a:avLst>
              <a:gd name="adj" fmla="val 4706"/>
            </a:avLst>
          </a:prstGeom>
          <a:solidFill>
            <a:schemeClr val="bg2"/>
          </a:solidFill>
          <a:ln/>
        </p:spPr>
      </p:sp>
      <p:sp>
        <p:nvSpPr>
          <p:cNvPr id="17" name="Shape 15"/>
          <p:cNvSpPr/>
          <p:nvPr/>
        </p:nvSpPr>
        <p:spPr>
          <a:xfrm>
            <a:off x="4295851" y="1828800"/>
            <a:ext cx="768096" cy="768096"/>
          </a:xfrm>
          <a:prstGeom prst="star8">
            <a:avLst/>
          </a:prstGeom>
          <a:solidFill>
            <a:schemeClr val="accent2"/>
          </a:solidFill>
          <a:ln/>
        </p:spPr>
      </p:sp>
      <p:sp>
        <p:nvSpPr>
          <p:cNvPr id="18" name="Text 16"/>
          <p:cNvSpPr txBox="1"/>
          <p:nvPr/>
        </p:nvSpPr>
        <p:spPr>
          <a:xfrm>
            <a:off x="4295851" y="1828800"/>
            <a:ext cx="768096" cy="768096"/>
          </a:xfrm>
          <a:prstGeom prst="rect">
            <a:avLst/>
          </a:prstGeom>
          <a:noFill/>
          <a:ln/>
        </p:spPr>
        <p:txBody>
          <a:bodyPr wrap="square" lIns="0" tIns="0" rIns="0" bIns="0" rtlCol="0" anchor="ctr"/>
          <a:lstStyle/>
          <a:p>
            <a:pPr rtl="1" algn="ctr" indent="0" marL="0">
              <a:buNone/>
            </a:pPr>
            <a:r>
              <a:rPr lang="ar-SA" altLang="en-US" sz="2200" b="1" dirty="0">
                <a:solidFill>
                  <a:schemeClr val="tx2"/>
                </a:solidFill>
                <a:latin typeface="Sakkal Majalla" pitchFamily="34" charset="0"/>
                <a:ea typeface="Sakkal Majalla" pitchFamily="34" charset="-122"/>
                <a:cs typeface="Sakkal Majalla" pitchFamily="34" charset="-120"/>
              </a:rPr>
              <a:t>٣</a:t>
            </a:r>
            <a:endParaRPr lang="ar-SA" sz="2200" dirty="0"/>
          </a:p>
        </p:txBody>
      </p:sp>
      <p:sp>
        <p:nvSpPr>
          <p:cNvPr id="19" name="Text 17"/>
          <p:cNvSpPr txBox="1"/>
          <p:nvPr/>
        </p:nvSpPr>
        <p:spPr>
          <a:xfrm>
            <a:off x="3559759" y="2743200"/>
            <a:ext cx="224028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أقوال الصحابة</a:t>
            </a:r>
            <a:endParaRPr lang="ar-SA" sz="1800" dirty="0"/>
          </a:p>
        </p:txBody>
      </p:sp>
      <p:sp>
        <p:nvSpPr>
          <p:cNvPr id="20" name="Text 18"/>
          <p:cNvSpPr txBox="1"/>
          <p:nvPr/>
        </p:nvSpPr>
        <p:spPr>
          <a:xfrm>
            <a:off x="3605479" y="3291840"/>
            <a:ext cx="2148840" cy="822960"/>
          </a:xfrm>
          <a:prstGeom prst="rect">
            <a:avLst/>
          </a:prstGeom>
          <a:noFill/>
          <a:ln/>
        </p:spPr>
        <p:txBody>
          <a:bodyPr wrap="square" lIns="0" tIns="0" rIns="0" bIns="0" rtlCol="0" anchor="t"/>
          <a:lstStyle/>
          <a:p>
            <a:pPr rtl="1" algn="ctr" indent="0" marL="0">
              <a:buNone/>
            </a:pPr>
            <a:r>
              <a:rPr lang="ar-SA" altLang="en-US" sz="1400" dirty="0">
                <a:solidFill>
                  <a:schemeClr val="tx1"/>
                </a:solidFill>
              </a:rPr>
              <a:t>لأنهم شهدوا التنزيل وفهموا اللغة</a:t>
            </a:r>
            <a:endParaRPr lang="ar-SA" sz="1400" dirty="0"/>
          </a:p>
        </p:txBody>
      </p:sp>
      <p:sp>
        <p:nvSpPr>
          <p:cNvPr id="21" name="Shape 19"/>
          <p:cNvSpPr/>
          <p:nvPr/>
        </p:nvSpPr>
        <p:spPr>
          <a:xfrm>
            <a:off x="3139135" y="3017520"/>
            <a:ext cx="228600" cy="274320"/>
          </a:xfrm>
          <a:prstGeom prst="leftArrow">
            <a:avLst/>
          </a:prstGeom>
          <a:solidFill>
            <a:schemeClr val="accent2"/>
          </a:solidFill>
          <a:ln/>
        </p:spPr>
      </p:sp>
      <p:sp>
        <p:nvSpPr>
          <p:cNvPr id="22" name="Shape 20"/>
          <p:cNvSpPr/>
          <p:nvPr/>
        </p:nvSpPr>
        <p:spPr>
          <a:xfrm>
            <a:off x="569671" y="1965960"/>
            <a:ext cx="2514600" cy="2331720"/>
          </a:xfrm>
          <a:prstGeom prst="roundRect">
            <a:avLst>
              <a:gd name="adj" fmla="val 4706"/>
            </a:avLst>
          </a:prstGeom>
          <a:solidFill>
            <a:schemeClr val="bg2"/>
          </a:solidFill>
          <a:ln/>
        </p:spPr>
      </p:sp>
      <p:sp>
        <p:nvSpPr>
          <p:cNvPr id="23" name="Shape 21"/>
          <p:cNvSpPr/>
          <p:nvPr/>
        </p:nvSpPr>
        <p:spPr>
          <a:xfrm>
            <a:off x="1442923" y="1828800"/>
            <a:ext cx="768096" cy="768096"/>
          </a:xfrm>
          <a:prstGeom prst="star8">
            <a:avLst/>
          </a:prstGeom>
          <a:solidFill>
            <a:schemeClr val="accent2"/>
          </a:solidFill>
          <a:ln/>
        </p:spPr>
      </p:sp>
      <p:sp>
        <p:nvSpPr>
          <p:cNvPr id="24" name="Text 22"/>
          <p:cNvSpPr txBox="1"/>
          <p:nvPr/>
        </p:nvSpPr>
        <p:spPr>
          <a:xfrm>
            <a:off x="1442923" y="1828800"/>
            <a:ext cx="768096" cy="768096"/>
          </a:xfrm>
          <a:prstGeom prst="rect">
            <a:avLst/>
          </a:prstGeom>
          <a:noFill/>
          <a:ln/>
        </p:spPr>
        <p:txBody>
          <a:bodyPr wrap="square" lIns="0" tIns="0" rIns="0" bIns="0" rtlCol="0" anchor="ctr"/>
          <a:lstStyle/>
          <a:p>
            <a:pPr rtl="1" algn="ctr" indent="0" marL="0">
              <a:buNone/>
            </a:pPr>
            <a:r>
              <a:rPr lang="ar-SA" altLang="en-US" sz="2200" b="1" dirty="0">
                <a:solidFill>
                  <a:schemeClr val="tx2"/>
                </a:solidFill>
                <a:latin typeface="Sakkal Majalla" pitchFamily="34" charset="0"/>
                <a:ea typeface="Sakkal Majalla" pitchFamily="34" charset="-122"/>
                <a:cs typeface="Sakkal Majalla" pitchFamily="34" charset="-120"/>
              </a:rPr>
              <a:t>٤</a:t>
            </a:r>
            <a:endParaRPr lang="ar-SA" sz="2200" dirty="0"/>
          </a:p>
        </p:txBody>
      </p:sp>
      <p:sp>
        <p:nvSpPr>
          <p:cNvPr id="25" name="Text 23"/>
          <p:cNvSpPr txBox="1"/>
          <p:nvPr/>
        </p:nvSpPr>
        <p:spPr>
          <a:xfrm>
            <a:off x="706831" y="2743200"/>
            <a:ext cx="224028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أقوال التابعين</a:t>
            </a:r>
            <a:endParaRPr lang="ar-SA" sz="1800" dirty="0"/>
          </a:p>
        </p:txBody>
      </p:sp>
      <p:sp>
        <p:nvSpPr>
          <p:cNvPr id="26" name="Text 24"/>
          <p:cNvSpPr txBox="1"/>
          <p:nvPr/>
        </p:nvSpPr>
        <p:spPr>
          <a:xfrm>
            <a:off x="752551" y="3291840"/>
            <a:ext cx="2148840" cy="822960"/>
          </a:xfrm>
          <a:prstGeom prst="rect">
            <a:avLst/>
          </a:prstGeom>
          <a:noFill/>
          <a:ln/>
        </p:spPr>
        <p:txBody>
          <a:bodyPr wrap="square" lIns="0" tIns="0" rIns="0" bIns="0" rtlCol="0" anchor="t"/>
          <a:lstStyle/>
          <a:p>
            <a:pPr rtl="1" algn="ctr" indent="0" marL="0">
              <a:buNone/>
            </a:pPr>
            <a:r>
              <a:rPr lang="ar-SA" altLang="en-US" sz="1400" dirty="0">
                <a:solidFill>
                  <a:schemeClr val="tx1"/>
                </a:solidFill>
              </a:rPr>
              <a:t>كمجاهد وسعيد بن جبير وقتادة</a:t>
            </a:r>
            <a:endParaRPr lang="ar-SA" sz="1400" dirty="0"/>
          </a:p>
        </p:txBody>
      </p:sp>
      <p:sp>
        <p:nvSpPr>
          <p:cNvPr id="27" name="Shape 25"/>
          <p:cNvSpPr/>
          <p:nvPr/>
        </p:nvSpPr>
        <p:spPr>
          <a:xfrm>
            <a:off x="8122615" y="4663440"/>
            <a:ext cx="3520440" cy="1371600"/>
          </a:xfrm>
          <a:prstGeom prst="roundRect">
            <a:avLst>
              <a:gd name="adj" fmla="val 8000"/>
            </a:avLst>
          </a:prstGeom>
          <a:solidFill>
            <a:schemeClr val="accent5"/>
          </a:solidFill>
          <a:ln/>
        </p:spPr>
      </p:sp>
      <p:sp>
        <p:nvSpPr>
          <p:cNvPr id="28" name="Shape 26"/>
          <p:cNvSpPr/>
          <p:nvPr/>
        </p:nvSpPr>
        <p:spPr>
          <a:xfrm>
            <a:off x="10774375" y="5029200"/>
            <a:ext cx="640080" cy="640080"/>
          </a:xfrm>
          <a:prstGeom prst="ellipse">
            <a:avLst/>
          </a:prstGeom>
          <a:solidFill>
            <a:schemeClr val="tx2"/>
          </a:solidFill>
          <a:ln/>
        </p:spPr>
      </p:sp>
      <p:pic>
        <p:nvPicPr>
          <p:cNvPr id="29" name="Image 0" descr="preencoded.png">    </p:cNvPr>
          <p:cNvPicPr>
            <a:picLocks noChangeAspect="1"/>
          </p:cNvPicPr>
          <p:nvPr/>
        </p:nvPicPr>
        <p:blipFill>
          <a:blip r:embed="rId1"/>
          <a:stretch>
            <a:fillRect/>
          </a:stretch>
        </p:blipFill>
        <p:spPr>
          <a:xfrm>
            <a:off x="10929823" y="5184648"/>
            <a:ext cx="329184" cy="329184"/>
          </a:xfrm>
          <a:prstGeom prst="rect">
            <a:avLst/>
          </a:prstGeom>
        </p:spPr>
      </p:pic>
      <p:sp>
        <p:nvSpPr>
          <p:cNvPr id="30" name="Text 27"/>
          <p:cNvSpPr txBox="1"/>
          <p:nvPr/>
        </p:nvSpPr>
        <p:spPr>
          <a:xfrm>
            <a:off x="8305495" y="4937760"/>
            <a:ext cx="233172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rPr>
              <a:t>يحذّر من الإسرائيليات</a:t>
            </a:r>
            <a:endParaRPr lang="ar-SA" sz="1600" dirty="0"/>
          </a:p>
        </p:txBody>
      </p:sp>
      <p:sp>
        <p:nvSpPr>
          <p:cNvPr id="31" name="Text 28"/>
          <p:cNvSpPr txBox="1"/>
          <p:nvPr/>
        </p:nvSpPr>
        <p:spPr>
          <a:xfrm>
            <a:off x="8305495" y="5376672"/>
            <a:ext cx="2331720" cy="457200"/>
          </a:xfrm>
          <a:prstGeom prst="rect">
            <a:avLst/>
          </a:prstGeom>
          <a:noFill/>
          <a:ln/>
        </p:spPr>
        <p:txBody>
          <a:bodyPr wrap="square" lIns="0" tIns="0" rIns="0" bIns="0" rtlCol="0" anchor="t"/>
          <a:lstStyle/>
          <a:p>
            <a:pPr rtl="1" algn="r" indent="0" marL="0">
              <a:buNone/>
            </a:pPr>
            <a:r>
              <a:rPr lang="ar-SA" altLang="en-US" sz="1300" dirty="0">
                <a:solidFill>
                  <a:schemeClr val="tx1"/>
                </a:solidFill>
              </a:rPr>
              <a:t>وينبّه على ما لا يصح منها</a:t>
            </a:r>
            <a:endParaRPr lang="ar-SA" sz="1300" dirty="0"/>
          </a:p>
        </p:txBody>
      </p:sp>
      <p:sp>
        <p:nvSpPr>
          <p:cNvPr id="32" name="Shape 29"/>
          <p:cNvSpPr/>
          <p:nvPr/>
        </p:nvSpPr>
        <p:spPr>
          <a:xfrm>
            <a:off x="4327855" y="4663440"/>
            <a:ext cx="3520440" cy="1371600"/>
          </a:xfrm>
          <a:prstGeom prst="roundRect">
            <a:avLst>
              <a:gd name="adj" fmla="val 8000"/>
            </a:avLst>
          </a:prstGeom>
          <a:solidFill>
            <a:schemeClr val="accent5"/>
          </a:solidFill>
          <a:ln/>
        </p:spPr>
      </p:sp>
      <p:sp>
        <p:nvSpPr>
          <p:cNvPr id="33" name="Shape 30"/>
          <p:cNvSpPr/>
          <p:nvPr/>
        </p:nvSpPr>
        <p:spPr>
          <a:xfrm>
            <a:off x="6979615" y="5029200"/>
            <a:ext cx="640080" cy="640080"/>
          </a:xfrm>
          <a:prstGeom prst="ellipse">
            <a:avLst/>
          </a:prstGeom>
          <a:solidFill>
            <a:schemeClr val="tx2"/>
          </a:solidFill>
          <a:ln/>
        </p:spPr>
      </p:sp>
      <p:pic>
        <p:nvPicPr>
          <p:cNvPr id="34" name="Image 1" descr="preencoded.png">    </p:cNvPr>
          <p:cNvPicPr>
            <a:picLocks noChangeAspect="1"/>
          </p:cNvPicPr>
          <p:nvPr/>
        </p:nvPicPr>
        <p:blipFill>
          <a:blip r:embed="rId2"/>
          <a:stretch>
            <a:fillRect/>
          </a:stretch>
        </p:blipFill>
        <p:spPr>
          <a:xfrm>
            <a:off x="7135063" y="5184648"/>
            <a:ext cx="329184" cy="329184"/>
          </a:xfrm>
          <a:prstGeom prst="rect">
            <a:avLst/>
          </a:prstGeom>
        </p:spPr>
      </p:pic>
      <p:sp>
        <p:nvSpPr>
          <p:cNvPr id="35" name="Text 31"/>
          <p:cNvSpPr txBox="1"/>
          <p:nvPr/>
        </p:nvSpPr>
        <p:spPr>
          <a:xfrm>
            <a:off x="4510735" y="4937760"/>
            <a:ext cx="233172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rPr>
              <a:t>يذكر الأحاديث بأسانيدها</a:t>
            </a:r>
            <a:endParaRPr lang="ar-SA" sz="1600" dirty="0"/>
          </a:p>
        </p:txBody>
      </p:sp>
      <p:sp>
        <p:nvSpPr>
          <p:cNvPr id="36" name="Text 32"/>
          <p:cNvSpPr txBox="1"/>
          <p:nvPr/>
        </p:nvSpPr>
        <p:spPr>
          <a:xfrm>
            <a:off x="4510735" y="5376672"/>
            <a:ext cx="2331720" cy="457200"/>
          </a:xfrm>
          <a:prstGeom prst="rect">
            <a:avLst/>
          </a:prstGeom>
          <a:noFill/>
          <a:ln/>
        </p:spPr>
        <p:txBody>
          <a:bodyPr wrap="square" lIns="0" tIns="0" rIns="0" bIns="0" rtlCol="0" anchor="t"/>
          <a:lstStyle/>
          <a:p>
            <a:pPr rtl="1" algn="r" indent="0" marL="0">
              <a:buNone/>
            </a:pPr>
            <a:r>
              <a:rPr lang="ar-SA" altLang="en-US" sz="1300" dirty="0">
                <a:solidFill>
                  <a:schemeClr val="tx1"/>
                </a:solidFill>
              </a:rPr>
              <a:t>ويبيّن صحيحها من ضعيفها غالبًا</a:t>
            </a:r>
            <a:endParaRPr lang="ar-SA" sz="1300" dirty="0"/>
          </a:p>
        </p:txBody>
      </p:sp>
      <p:sp>
        <p:nvSpPr>
          <p:cNvPr id="37" name="Shape 33"/>
          <p:cNvSpPr/>
          <p:nvPr/>
        </p:nvSpPr>
        <p:spPr>
          <a:xfrm>
            <a:off x="533095" y="4663440"/>
            <a:ext cx="3520440" cy="1371600"/>
          </a:xfrm>
          <a:prstGeom prst="roundRect">
            <a:avLst>
              <a:gd name="adj" fmla="val 8000"/>
            </a:avLst>
          </a:prstGeom>
          <a:solidFill>
            <a:schemeClr val="accent5"/>
          </a:solidFill>
          <a:ln/>
        </p:spPr>
      </p:sp>
      <p:sp>
        <p:nvSpPr>
          <p:cNvPr id="38" name="Shape 34"/>
          <p:cNvSpPr/>
          <p:nvPr/>
        </p:nvSpPr>
        <p:spPr>
          <a:xfrm>
            <a:off x="3184855" y="5029200"/>
            <a:ext cx="640080" cy="640080"/>
          </a:xfrm>
          <a:prstGeom prst="ellipse">
            <a:avLst/>
          </a:prstGeom>
          <a:solidFill>
            <a:schemeClr val="tx2"/>
          </a:solidFill>
          <a:ln/>
        </p:spPr>
      </p:sp>
      <p:pic>
        <p:nvPicPr>
          <p:cNvPr id="39" name="Image 2" descr="preencoded.png">    </p:cNvPr>
          <p:cNvPicPr>
            <a:picLocks noChangeAspect="1"/>
          </p:cNvPicPr>
          <p:nvPr/>
        </p:nvPicPr>
        <p:blipFill>
          <a:blip r:embed="rId3"/>
          <a:stretch>
            <a:fillRect/>
          </a:stretch>
        </p:blipFill>
        <p:spPr>
          <a:xfrm>
            <a:off x="3340303" y="5184648"/>
            <a:ext cx="329184" cy="329184"/>
          </a:xfrm>
          <a:prstGeom prst="rect">
            <a:avLst/>
          </a:prstGeom>
        </p:spPr>
      </p:pic>
      <p:sp>
        <p:nvSpPr>
          <p:cNvPr id="40" name="Text 35"/>
          <p:cNvSpPr txBox="1"/>
          <p:nvPr/>
        </p:nvSpPr>
        <p:spPr>
          <a:xfrm>
            <a:off x="715975" y="4937760"/>
            <a:ext cx="233172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rPr>
              <a:t>يعتني بالأحكام والفوائد</a:t>
            </a:r>
            <a:endParaRPr lang="ar-SA" sz="1600" dirty="0"/>
          </a:p>
        </p:txBody>
      </p:sp>
      <p:sp>
        <p:nvSpPr>
          <p:cNvPr id="41" name="Text 36"/>
          <p:cNvSpPr txBox="1"/>
          <p:nvPr/>
        </p:nvSpPr>
        <p:spPr>
          <a:xfrm>
            <a:off x="715975" y="5376672"/>
            <a:ext cx="2331720" cy="457200"/>
          </a:xfrm>
          <a:prstGeom prst="rect">
            <a:avLst/>
          </a:prstGeom>
          <a:noFill/>
          <a:ln/>
        </p:spPr>
        <p:txBody>
          <a:bodyPr wrap="square" lIns="0" tIns="0" rIns="0" bIns="0" rtlCol="0" anchor="t"/>
          <a:lstStyle/>
          <a:p>
            <a:pPr rtl="1" algn="r" indent="0" marL="0">
              <a:buNone/>
            </a:pPr>
            <a:r>
              <a:rPr lang="ar-SA" altLang="en-US" sz="1300" dirty="0">
                <a:solidFill>
                  <a:schemeClr val="tx1"/>
                </a:solidFill>
              </a:rPr>
              <a:t>ويجمع أقوال السلف بإيجاز</a:t>
            </a:r>
            <a:endParaRPr lang="ar-SA" sz="13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جزء عمّ في سطور</a:t>
            </a:r>
            <a:endParaRPr lang="en-US" sz="4000" dirty="0"/>
          </a:p>
        </p:txBody>
      </p:sp>
      <p:sp>
        <p:nvSpPr>
          <p:cNvPr id="3" name="Shape 1"/>
          <p:cNvSpPr/>
          <p:nvPr/>
        </p:nvSpPr>
        <p:spPr>
          <a:xfrm>
            <a:off x="9082735" y="1463040"/>
            <a:ext cx="2560320" cy="2011680"/>
          </a:xfrm>
          <a:prstGeom prst="roundRect">
            <a:avLst>
              <a:gd name="adj" fmla="val 5455"/>
            </a:avLst>
          </a:prstGeom>
          <a:solidFill>
            <a:schemeClr val="tx2"/>
          </a:solidFill>
          <a:ln/>
        </p:spPr>
      </p:sp>
      <p:sp>
        <p:nvSpPr>
          <p:cNvPr id="4" name="Text 2"/>
          <p:cNvSpPr txBox="1"/>
          <p:nvPr/>
        </p:nvSpPr>
        <p:spPr>
          <a:xfrm>
            <a:off x="9082735" y="1645920"/>
            <a:ext cx="2560320" cy="105156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Arial" pitchFamily="34" charset="0"/>
                <a:ea typeface="Arial" pitchFamily="34" charset="-122"/>
                <a:cs typeface="Arial" pitchFamily="34" charset="-120"/>
              </a:rPr>
              <a:t>٣٧</a:t>
            </a:r>
            <a:endParaRPr lang="ar-SA" sz="6000" dirty="0"/>
          </a:p>
        </p:txBody>
      </p:sp>
      <p:sp>
        <p:nvSpPr>
          <p:cNvPr id="5" name="Text 3"/>
          <p:cNvSpPr txBox="1"/>
          <p:nvPr/>
        </p:nvSpPr>
        <p:spPr>
          <a:xfrm>
            <a:off x="9082735" y="2743200"/>
            <a:ext cx="2560320" cy="457200"/>
          </a:xfrm>
          <a:prstGeom prst="rect">
            <a:avLst/>
          </a:prstGeom>
          <a:noFill/>
          <a:ln/>
        </p:spPr>
        <p:txBody>
          <a:bodyPr wrap="square" lIns="0" tIns="0" rIns="0" bIns="0" rtlCol="0" anchor="t"/>
          <a:lstStyle/>
          <a:p>
            <a:pPr rtl="1" algn="ctr" indent="0" marL="0">
              <a:buNone/>
            </a:pPr>
            <a:r>
              <a:rPr lang="ar-SA" altLang="en-US" sz="1800" b="1" dirty="0">
                <a:solidFill>
                  <a:schemeClr val="bg1"/>
                </a:solidFill>
              </a:rPr>
              <a:t>سورة</a:t>
            </a:r>
            <a:endParaRPr lang="ar-SA" sz="1800" dirty="0"/>
          </a:p>
        </p:txBody>
      </p:sp>
      <p:sp>
        <p:nvSpPr>
          <p:cNvPr id="6" name="Shape 4"/>
          <p:cNvSpPr/>
          <p:nvPr/>
        </p:nvSpPr>
        <p:spPr>
          <a:xfrm>
            <a:off x="6238951" y="1463040"/>
            <a:ext cx="2560320" cy="2011680"/>
          </a:xfrm>
          <a:prstGeom prst="roundRect">
            <a:avLst>
              <a:gd name="adj" fmla="val 5455"/>
            </a:avLst>
          </a:prstGeom>
          <a:solidFill>
            <a:schemeClr val="bg2"/>
          </a:solidFill>
          <a:ln/>
        </p:spPr>
      </p:sp>
      <p:sp>
        <p:nvSpPr>
          <p:cNvPr id="7" name="Text 5"/>
          <p:cNvSpPr txBox="1"/>
          <p:nvPr/>
        </p:nvSpPr>
        <p:spPr>
          <a:xfrm>
            <a:off x="6238951" y="1645920"/>
            <a:ext cx="2560320" cy="105156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Arial" pitchFamily="34" charset="0"/>
                <a:ea typeface="Arial" pitchFamily="34" charset="-122"/>
                <a:cs typeface="Arial" pitchFamily="34" charset="-120"/>
              </a:rPr>
              <a:t>٥٦٤</a:t>
            </a:r>
            <a:endParaRPr lang="ar-SA" sz="6000" dirty="0"/>
          </a:p>
        </p:txBody>
      </p:sp>
      <p:sp>
        <p:nvSpPr>
          <p:cNvPr id="8" name="Text 6"/>
          <p:cNvSpPr txBox="1"/>
          <p:nvPr/>
        </p:nvSpPr>
        <p:spPr>
          <a:xfrm>
            <a:off x="6238951" y="2743200"/>
            <a:ext cx="256032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آية</a:t>
            </a:r>
            <a:endParaRPr lang="ar-SA" sz="1800" dirty="0"/>
          </a:p>
        </p:txBody>
      </p:sp>
      <p:sp>
        <p:nvSpPr>
          <p:cNvPr id="9" name="Shape 7"/>
          <p:cNvSpPr/>
          <p:nvPr/>
        </p:nvSpPr>
        <p:spPr>
          <a:xfrm>
            <a:off x="3395167" y="1463040"/>
            <a:ext cx="2560320" cy="2011680"/>
          </a:xfrm>
          <a:prstGeom prst="roundRect">
            <a:avLst>
              <a:gd name="adj" fmla="val 5455"/>
            </a:avLst>
          </a:prstGeom>
          <a:solidFill>
            <a:schemeClr val="bg2"/>
          </a:solidFill>
          <a:ln/>
        </p:spPr>
      </p:sp>
      <p:sp>
        <p:nvSpPr>
          <p:cNvPr id="10" name="Text 8"/>
          <p:cNvSpPr txBox="1"/>
          <p:nvPr/>
        </p:nvSpPr>
        <p:spPr>
          <a:xfrm>
            <a:off x="3395167" y="1645920"/>
            <a:ext cx="2560320" cy="105156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Arial" pitchFamily="34" charset="0"/>
                <a:ea typeface="Arial" pitchFamily="34" charset="-122"/>
                <a:cs typeface="Arial" pitchFamily="34" charset="-120"/>
              </a:rPr>
              <a:t>٣٤</a:t>
            </a:r>
            <a:endParaRPr lang="ar-SA" sz="6000" dirty="0"/>
          </a:p>
        </p:txBody>
      </p:sp>
      <p:sp>
        <p:nvSpPr>
          <p:cNvPr id="11" name="Text 9"/>
          <p:cNvSpPr txBox="1"/>
          <p:nvPr/>
        </p:nvSpPr>
        <p:spPr>
          <a:xfrm>
            <a:off x="3395167" y="2743200"/>
            <a:ext cx="256032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سورة مكية</a:t>
            </a:r>
            <a:endParaRPr lang="ar-SA" sz="1800" dirty="0"/>
          </a:p>
        </p:txBody>
      </p:sp>
      <p:sp>
        <p:nvSpPr>
          <p:cNvPr id="12" name="Shape 10"/>
          <p:cNvSpPr/>
          <p:nvPr/>
        </p:nvSpPr>
        <p:spPr>
          <a:xfrm>
            <a:off x="551383" y="1463040"/>
            <a:ext cx="2560320" cy="2011680"/>
          </a:xfrm>
          <a:prstGeom prst="roundRect">
            <a:avLst>
              <a:gd name="adj" fmla="val 5455"/>
            </a:avLst>
          </a:prstGeom>
          <a:solidFill>
            <a:schemeClr val="bg2"/>
          </a:solidFill>
          <a:ln/>
        </p:spPr>
      </p:sp>
      <p:sp>
        <p:nvSpPr>
          <p:cNvPr id="13" name="Text 11"/>
          <p:cNvSpPr txBox="1"/>
          <p:nvPr/>
        </p:nvSpPr>
        <p:spPr>
          <a:xfrm>
            <a:off x="551383" y="1645920"/>
            <a:ext cx="2560320" cy="105156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Arial" pitchFamily="34" charset="0"/>
                <a:ea typeface="Arial" pitchFamily="34" charset="-122"/>
                <a:cs typeface="Arial" pitchFamily="34" charset="-120"/>
              </a:rPr>
              <a:t>٣</a:t>
            </a:r>
            <a:endParaRPr lang="ar-SA" sz="6000" dirty="0"/>
          </a:p>
        </p:txBody>
      </p:sp>
      <p:sp>
        <p:nvSpPr>
          <p:cNvPr id="14" name="Text 12"/>
          <p:cNvSpPr txBox="1"/>
          <p:nvPr/>
        </p:nvSpPr>
        <p:spPr>
          <a:xfrm>
            <a:off x="551383" y="2743200"/>
            <a:ext cx="2560320" cy="457200"/>
          </a:xfrm>
          <a:prstGeom prst="rect">
            <a:avLst/>
          </a:prstGeom>
          <a:noFill/>
          <a:ln/>
        </p:spPr>
        <p:txBody>
          <a:bodyPr wrap="square" lIns="0" tIns="0" rIns="0" bIns="0" rtlCol="0" anchor="t"/>
          <a:lstStyle/>
          <a:p>
            <a:pPr rtl="1" algn="ctr" indent="0" marL="0">
              <a:buNone/>
            </a:pPr>
            <a:r>
              <a:rPr lang="ar-SA" altLang="en-US" sz="1800" b="1" dirty="0">
                <a:solidFill>
                  <a:schemeClr val="tx2"/>
                </a:solidFill>
              </a:rPr>
              <a:t>سور مدنية</a:t>
            </a:r>
            <a:endParaRPr lang="ar-SA" sz="1800" dirty="0"/>
          </a:p>
        </p:txBody>
      </p:sp>
      <p:sp>
        <p:nvSpPr>
          <p:cNvPr id="15" name="Shape 13"/>
          <p:cNvSpPr/>
          <p:nvPr/>
        </p:nvSpPr>
        <p:spPr>
          <a:xfrm>
            <a:off x="548640" y="3794760"/>
            <a:ext cx="11094415" cy="2331720"/>
          </a:xfrm>
          <a:prstGeom prst="roundRect">
            <a:avLst>
              <a:gd name="adj" fmla="val 4706"/>
            </a:avLst>
          </a:prstGeom>
          <a:solidFill>
            <a:schemeClr val="bg1"/>
          </a:solidFill>
          <a:ln w="19050">
            <a:solidFill>
              <a:schemeClr val="accent6"/>
            </a:solidFill>
            <a:prstDash val="solid"/>
          </a:ln>
        </p:spPr>
      </p:sp>
      <p:sp>
        <p:nvSpPr>
          <p:cNvPr id="16" name="Text 14"/>
          <p:cNvSpPr txBox="1"/>
          <p:nvPr/>
        </p:nvSpPr>
        <p:spPr>
          <a:xfrm>
            <a:off x="822960" y="4023360"/>
            <a:ext cx="10545775" cy="1920240"/>
          </a:xfrm>
          <a:prstGeom prst="rect">
            <a:avLst/>
          </a:prstGeom>
          <a:noFill/>
          <a:ln/>
        </p:spPr>
        <p:txBody>
          <a:bodyPr wrap="square" lIns="0" tIns="0" rIns="0" bIns="0" rtlCol="0" anchor="ctr"/>
          <a:lstStyle/>
          <a:p>
            <a:pPr rtl="1" algn="r" marL="342900" indent="-342900">
              <a:spcAft>
                <a:spcPts val="800"/>
              </a:spcAft>
              <a:buSzPct val="100000"/>
              <a:buChar char="◆"/>
            </a:pPr>
            <a:r>
              <a:rPr lang="ar-SA" altLang="en-US" sz="1600" dirty="0">
                <a:solidFill>
                  <a:schemeClr val="tx1"/>
                </a:solidFill>
              </a:rPr>
              <a:t>هو الجزء الثلاثون والأخير من القرآن الكريم، ويبدأ بسورة النبأ (٧٨) وينتهي بسورة الناس (١١٤).</a:t>
            </a:r>
            <a:endParaRPr lang="ar-SA" sz="1600" dirty="0"/>
          </a:p>
          <a:p>
            <a:pPr rtl="1" algn="r" marL="342900" indent="-342900">
              <a:spcAft>
                <a:spcPts val="800"/>
              </a:spcAft>
              <a:buSzPct val="100000"/>
              <a:buChar char="◆"/>
            </a:pPr>
            <a:r>
              <a:rPr lang="ar-SA" altLang="en-US" sz="1600" dirty="0">
                <a:solidFill>
                  <a:schemeClr val="tx1"/>
                </a:solidFill>
              </a:rPr>
              <a:t>سُمّي بجزء «عمّ» لأنه يبدأ بقوله تعالى: «عمّ يتساءلون».</a:t>
            </a:r>
            <a:endParaRPr lang="ar-SA" sz="1600" dirty="0"/>
          </a:p>
          <a:p>
            <a:pPr rtl="1" algn="r" marL="342900" indent="-342900">
              <a:spcAft>
                <a:spcPts val="800"/>
              </a:spcAft>
              <a:buSzPct val="100000"/>
              <a:buChar char="◆"/>
            </a:pPr>
            <a:r>
              <a:rPr lang="ar-SA" altLang="en-US" sz="1600" dirty="0">
                <a:solidFill>
                  <a:schemeClr val="tx1"/>
                </a:solidFill>
              </a:rPr>
              <a:t>أكثر سوره مكية قصيرة الآيات، قوية الإيقاع، تخاطب القلب والعقل معًا.</a:t>
            </a:r>
            <a:endParaRPr lang="ar-SA" sz="1600" dirty="0"/>
          </a:p>
          <a:p>
            <a:pPr rtl="1" algn="r" marL="342900" indent="-342900">
              <a:spcAft>
                <a:spcPts val="800"/>
              </a:spcAft>
              <a:buSzPct val="100000"/>
              <a:buChar char="◆"/>
            </a:pPr>
            <a:r>
              <a:rPr lang="ar-SA" altLang="en-US" sz="1600" dirty="0">
                <a:solidFill>
                  <a:schemeClr val="tx1"/>
                </a:solidFill>
              </a:rPr>
              <a:t>السور المدنية فيه حسب المصحف المتداول: البيّنة، والزلزلة، والنصر.</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الموضوعات الكبرى في جزء عمّ</a:t>
            </a:r>
            <a:endParaRPr lang="en-US" sz="4000" dirty="0"/>
          </a:p>
        </p:txBody>
      </p:sp>
      <p:sp>
        <p:nvSpPr>
          <p:cNvPr id="3" name="Shape 1"/>
          <p:cNvSpPr/>
          <p:nvPr/>
        </p:nvSpPr>
        <p:spPr>
          <a:xfrm>
            <a:off x="6248095" y="1463040"/>
            <a:ext cx="5394960" cy="2194560"/>
          </a:xfrm>
          <a:prstGeom prst="roundRect">
            <a:avLst>
              <a:gd name="adj" fmla="val 5000"/>
            </a:avLst>
          </a:prstGeom>
          <a:solidFill>
            <a:schemeClr val="bg2"/>
          </a:solidFill>
          <a:ln/>
        </p:spPr>
      </p:sp>
      <p:sp>
        <p:nvSpPr>
          <p:cNvPr id="4" name="Shape 2"/>
          <p:cNvSpPr/>
          <p:nvPr/>
        </p:nvSpPr>
        <p:spPr>
          <a:xfrm>
            <a:off x="10408615" y="1783080"/>
            <a:ext cx="914400" cy="91440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10637215" y="2011680"/>
            <a:ext cx="457200" cy="457200"/>
          </a:xfrm>
          <a:prstGeom prst="rect">
            <a:avLst/>
          </a:prstGeom>
        </p:spPr>
      </p:pic>
      <p:sp>
        <p:nvSpPr>
          <p:cNvPr id="6" name="Text 3"/>
          <p:cNvSpPr txBox="1"/>
          <p:nvPr/>
        </p:nvSpPr>
        <p:spPr>
          <a:xfrm>
            <a:off x="6522415" y="1874520"/>
            <a:ext cx="3657600" cy="548640"/>
          </a:xfrm>
          <a:prstGeom prst="rect">
            <a:avLst/>
          </a:prstGeom>
          <a:noFill/>
          <a:ln/>
        </p:spPr>
        <p:txBody>
          <a:bodyPr wrap="square" lIns="0" tIns="0" rIns="0" bIns="0" rtlCol="0" anchor="t"/>
          <a:lstStyle/>
          <a:p>
            <a:pPr rtl="1" algn="r" indent="0" marL="0">
              <a:buNone/>
            </a:pPr>
            <a:r>
              <a:rPr lang="ar-SA" altLang="en-US" sz="2200" b="1" dirty="0">
                <a:solidFill>
                  <a:schemeClr val="tx2"/>
                </a:solidFill>
              </a:rPr>
              <a:t>ترسيخ التوحيد</a:t>
            </a:r>
            <a:endParaRPr lang="ar-SA" sz="2200" dirty="0"/>
          </a:p>
        </p:txBody>
      </p:sp>
      <p:sp>
        <p:nvSpPr>
          <p:cNvPr id="7" name="Text 4"/>
          <p:cNvSpPr txBox="1"/>
          <p:nvPr/>
        </p:nvSpPr>
        <p:spPr>
          <a:xfrm>
            <a:off x="6522415" y="2514600"/>
            <a:ext cx="365760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إفراد الله بالعبادة، كما في الإخلاص والكافرون</a:t>
            </a:r>
            <a:endParaRPr lang="ar-SA" sz="1500" dirty="0"/>
          </a:p>
        </p:txBody>
      </p:sp>
      <p:sp>
        <p:nvSpPr>
          <p:cNvPr id="8" name="Shape 5"/>
          <p:cNvSpPr/>
          <p:nvPr/>
        </p:nvSpPr>
        <p:spPr>
          <a:xfrm>
            <a:off x="551383" y="1463040"/>
            <a:ext cx="5394960" cy="2194560"/>
          </a:xfrm>
          <a:prstGeom prst="roundRect">
            <a:avLst>
              <a:gd name="adj" fmla="val 5000"/>
            </a:avLst>
          </a:prstGeom>
          <a:solidFill>
            <a:schemeClr val="bg2"/>
          </a:solidFill>
          <a:ln/>
        </p:spPr>
      </p:sp>
      <p:sp>
        <p:nvSpPr>
          <p:cNvPr id="9" name="Shape 6"/>
          <p:cNvSpPr/>
          <p:nvPr/>
        </p:nvSpPr>
        <p:spPr>
          <a:xfrm>
            <a:off x="4711903" y="1783080"/>
            <a:ext cx="914400" cy="914400"/>
          </a:xfrm>
          <a:prstGeom prst="ellipse">
            <a:avLst/>
          </a:prstGeom>
          <a:solidFill>
            <a:schemeClr val="tx2"/>
          </a:solidFill>
          <a:ln/>
        </p:spPr>
      </p:sp>
      <p:pic>
        <p:nvPicPr>
          <p:cNvPr id="10" name="Image 1" descr="preencoded.png">    </p:cNvPr>
          <p:cNvPicPr>
            <a:picLocks noChangeAspect="1"/>
          </p:cNvPicPr>
          <p:nvPr/>
        </p:nvPicPr>
        <p:blipFill>
          <a:blip r:embed="rId2"/>
          <a:stretch>
            <a:fillRect/>
          </a:stretch>
        </p:blipFill>
        <p:spPr>
          <a:xfrm>
            <a:off x="4940503" y="2011680"/>
            <a:ext cx="457200" cy="457200"/>
          </a:xfrm>
          <a:prstGeom prst="rect">
            <a:avLst/>
          </a:prstGeom>
        </p:spPr>
      </p:pic>
      <p:sp>
        <p:nvSpPr>
          <p:cNvPr id="11" name="Text 7"/>
          <p:cNvSpPr txBox="1"/>
          <p:nvPr/>
        </p:nvSpPr>
        <p:spPr>
          <a:xfrm>
            <a:off x="825703" y="1874520"/>
            <a:ext cx="3657600" cy="548640"/>
          </a:xfrm>
          <a:prstGeom prst="rect">
            <a:avLst/>
          </a:prstGeom>
          <a:noFill/>
          <a:ln/>
        </p:spPr>
        <p:txBody>
          <a:bodyPr wrap="square" lIns="0" tIns="0" rIns="0" bIns="0" rtlCol="0" anchor="t"/>
          <a:lstStyle/>
          <a:p>
            <a:pPr rtl="1" algn="r" indent="0" marL="0">
              <a:buNone/>
            </a:pPr>
            <a:r>
              <a:rPr lang="ar-SA" altLang="en-US" sz="2200" b="1" dirty="0">
                <a:solidFill>
                  <a:schemeClr val="tx2"/>
                </a:solidFill>
              </a:rPr>
              <a:t>الإيمان باليوم الآخر</a:t>
            </a:r>
            <a:endParaRPr lang="ar-SA" sz="2200" dirty="0"/>
          </a:p>
        </p:txBody>
      </p:sp>
      <p:sp>
        <p:nvSpPr>
          <p:cNvPr id="12" name="Text 8"/>
          <p:cNvSpPr txBox="1"/>
          <p:nvPr/>
        </p:nvSpPr>
        <p:spPr>
          <a:xfrm>
            <a:off x="825703" y="2514600"/>
            <a:ext cx="365760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مشاهد القيامة والحساب والجنة والنار، كما في النبأ والتكوير</a:t>
            </a:r>
            <a:endParaRPr lang="ar-SA" sz="1500" dirty="0"/>
          </a:p>
        </p:txBody>
      </p:sp>
      <p:sp>
        <p:nvSpPr>
          <p:cNvPr id="13" name="Shape 9"/>
          <p:cNvSpPr/>
          <p:nvPr/>
        </p:nvSpPr>
        <p:spPr>
          <a:xfrm>
            <a:off x="6248095" y="3931920"/>
            <a:ext cx="5394960" cy="2194560"/>
          </a:xfrm>
          <a:prstGeom prst="roundRect">
            <a:avLst>
              <a:gd name="adj" fmla="val 5000"/>
            </a:avLst>
          </a:prstGeom>
          <a:solidFill>
            <a:schemeClr val="bg2"/>
          </a:solidFill>
          <a:ln/>
        </p:spPr>
      </p:sp>
      <p:sp>
        <p:nvSpPr>
          <p:cNvPr id="14" name="Shape 10"/>
          <p:cNvSpPr/>
          <p:nvPr/>
        </p:nvSpPr>
        <p:spPr>
          <a:xfrm>
            <a:off x="10408615" y="4251960"/>
            <a:ext cx="914400" cy="914400"/>
          </a:xfrm>
          <a:prstGeom prst="ellipse">
            <a:avLst/>
          </a:prstGeom>
          <a:solidFill>
            <a:schemeClr val="tx2"/>
          </a:solidFill>
          <a:ln/>
        </p:spPr>
      </p:sp>
      <p:pic>
        <p:nvPicPr>
          <p:cNvPr id="15" name="Image 2" descr="preencoded.png">    </p:cNvPr>
          <p:cNvPicPr>
            <a:picLocks noChangeAspect="1"/>
          </p:cNvPicPr>
          <p:nvPr/>
        </p:nvPicPr>
        <p:blipFill>
          <a:blip r:embed="rId3"/>
          <a:stretch>
            <a:fillRect/>
          </a:stretch>
        </p:blipFill>
        <p:spPr>
          <a:xfrm>
            <a:off x="10637215" y="4480560"/>
            <a:ext cx="457200" cy="457200"/>
          </a:xfrm>
          <a:prstGeom prst="rect">
            <a:avLst/>
          </a:prstGeom>
        </p:spPr>
      </p:pic>
      <p:sp>
        <p:nvSpPr>
          <p:cNvPr id="16" name="Text 11"/>
          <p:cNvSpPr txBox="1"/>
          <p:nvPr/>
        </p:nvSpPr>
        <p:spPr>
          <a:xfrm>
            <a:off x="6522415" y="4343400"/>
            <a:ext cx="3657600" cy="548640"/>
          </a:xfrm>
          <a:prstGeom prst="rect">
            <a:avLst/>
          </a:prstGeom>
          <a:noFill/>
          <a:ln/>
        </p:spPr>
        <p:txBody>
          <a:bodyPr wrap="square" lIns="0" tIns="0" rIns="0" bIns="0" rtlCol="0" anchor="t"/>
          <a:lstStyle/>
          <a:p>
            <a:pPr rtl="1" algn="r" indent="0" marL="0">
              <a:buNone/>
            </a:pPr>
            <a:r>
              <a:rPr lang="ar-SA" altLang="en-US" sz="2200" b="1" dirty="0">
                <a:solidFill>
                  <a:schemeClr val="tx2"/>
                </a:solidFill>
              </a:rPr>
              <a:t>قصص السابقين</a:t>
            </a:r>
            <a:endParaRPr lang="ar-SA" sz="2200" dirty="0"/>
          </a:p>
        </p:txBody>
      </p:sp>
      <p:sp>
        <p:nvSpPr>
          <p:cNvPr id="17" name="Text 12"/>
          <p:cNvSpPr txBox="1"/>
          <p:nvPr/>
        </p:nvSpPr>
        <p:spPr>
          <a:xfrm>
            <a:off x="6522415" y="4983480"/>
            <a:ext cx="365760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عاد وثمود وفرعون وأصحاب الفيل والأخدود عبرةً وعظة</a:t>
            </a:r>
            <a:endParaRPr lang="ar-SA" sz="1500" dirty="0"/>
          </a:p>
        </p:txBody>
      </p:sp>
      <p:sp>
        <p:nvSpPr>
          <p:cNvPr id="18" name="Shape 13"/>
          <p:cNvSpPr/>
          <p:nvPr/>
        </p:nvSpPr>
        <p:spPr>
          <a:xfrm>
            <a:off x="551383" y="3931920"/>
            <a:ext cx="5394960" cy="2194560"/>
          </a:xfrm>
          <a:prstGeom prst="roundRect">
            <a:avLst>
              <a:gd name="adj" fmla="val 5000"/>
            </a:avLst>
          </a:prstGeom>
          <a:solidFill>
            <a:schemeClr val="bg2"/>
          </a:solidFill>
          <a:ln/>
        </p:spPr>
      </p:sp>
      <p:sp>
        <p:nvSpPr>
          <p:cNvPr id="19" name="Shape 14"/>
          <p:cNvSpPr/>
          <p:nvPr/>
        </p:nvSpPr>
        <p:spPr>
          <a:xfrm>
            <a:off x="4711903" y="4251960"/>
            <a:ext cx="914400" cy="914400"/>
          </a:xfrm>
          <a:prstGeom prst="ellipse">
            <a:avLst/>
          </a:prstGeom>
          <a:solidFill>
            <a:schemeClr val="tx2"/>
          </a:solidFill>
          <a:ln/>
        </p:spPr>
      </p:sp>
      <p:pic>
        <p:nvPicPr>
          <p:cNvPr id="20" name="Image 3" descr="preencoded.png">    </p:cNvPr>
          <p:cNvPicPr>
            <a:picLocks noChangeAspect="1"/>
          </p:cNvPicPr>
          <p:nvPr/>
        </p:nvPicPr>
        <p:blipFill>
          <a:blip r:embed="rId4"/>
          <a:stretch>
            <a:fillRect/>
          </a:stretch>
        </p:blipFill>
        <p:spPr>
          <a:xfrm>
            <a:off x="4940503" y="4480560"/>
            <a:ext cx="457200" cy="457200"/>
          </a:xfrm>
          <a:prstGeom prst="rect">
            <a:avLst/>
          </a:prstGeom>
        </p:spPr>
      </p:pic>
      <p:sp>
        <p:nvSpPr>
          <p:cNvPr id="21" name="Text 15"/>
          <p:cNvSpPr txBox="1"/>
          <p:nvPr/>
        </p:nvSpPr>
        <p:spPr>
          <a:xfrm>
            <a:off x="825703" y="4343400"/>
            <a:ext cx="3657600" cy="548640"/>
          </a:xfrm>
          <a:prstGeom prst="rect">
            <a:avLst/>
          </a:prstGeom>
          <a:noFill/>
          <a:ln/>
        </p:spPr>
        <p:txBody>
          <a:bodyPr wrap="square" lIns="0" tIns="0" rIns="0" bIns="0" rtlCol="0" anchor="t"/>
          <a:lstStyle/>
          <a:p>
            <a:pPr rtl="1" algn="r" indent="0" marL="0">
              <a:buNone/>
            </a:pPr>
            <a:r>
              <a:rPr lang="ar-SA" altLang="en-US" sz="2200" b="1" dirty="0">
                <a:solidFill>
                  <a:schemeClr val="tx2"/>
                </a:solidFill>
              </a:rPr>
              <a:t>تزكية النفس والأخلاق</a:t>
            </a:r>
            <a:endParaRPr lang="ar-SA" sz="2200" dirty="0"/>
          </a:p>
        </p:txBody>
      </p:sp>
      <p:sp>
        <p:nvSpPr>
          <p:cNvPr id="22" name="Text 16"/>
          <p:cNvSpPr txBox="1"/>
          <p:nvPr/>
        </p:nvSpPr>
        <p:spPr>
          <a:xfrm>
            <a:off x="825703" y="4983480"/>
            <a:ext cx="365760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الأمانة والإحسان إلى اليتيم والمسكين وحفظ اللسان</a:t>
            </a:r>
            <a:endParaRPr lang="ar-SA" sz="15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Text 2"/>
          <p:cNvSpPr txBox="1"/>
          <p:nvPr/>
        </p:nvSpPr>
        <p:spPr>
          <a:xfrm>
            <a:off x="1097280" y="1600200"/>
            <a:ext cx="9997135" cy="64008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Sakkal Majalla" pitchFamily="34" charset="0"/>
                <a:ea typeface="Sakkal Majalla" pitchFamily="34" charset="-122"/>
                <a:cs typeface="Sakkal Majalla" pitchFamily="34" charset="-120"/>
              </a:rPr>
              <a:t>الوحدة الأولى</a:t>
            </a:r>
            <a:endParaRPr lang="ar-SA" sz="2600" dirty="0"/>
          </a:p>
        </p:txBody>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من سورة النبأ إلى الانشقاق</a:t>
            </a:r>
            <a:endParaRPr lang="en-US" sz="6000" dirty="0"/>
          </a:p>
        </p:txBody>
      </p:sp>
      <p:sp>
        <p:nvSpPr>
          <p:cNvPr id="6" name="Shape 4"/>
          <p:cNvSpPr/>
          <p:nvPr/>
        </p:nvSpPr>
        <p:spPr>
          <a:xfrm>
            <a:off x="9579712" y="4343400"/>
            <a:ext cx="1261872" cy="548640"/>
          </a:xfrm>
          <a:prstGeom prst="roundRect">
            <a:avLst>
              <a:gd name="adj" fmla="val 50000"/>
            </a:avLst>
          </a:prstGeom>
          <a:solidFill>
            <a:schemeClr val="accent3"/>
          </a:solidFill>
          <a:ln/>
        </p:spPr>
      </p:sp>
      <p:sp>
        <p:nvSpPr>
          <p:cNvPr id="7" name="Text 5"/>
          <p:cNvSpPr txBox="1"/>
          <p:nvPr/>
        </p:nvSpPr>
        <p:spPr>
          <a:xfrm>
            <a:off x="9579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النبأ</a:t>
            </a:r>
            <a:endParaRPr lang="ar-SA" sz="1500" dirty="0"/>
          </a:p>
        </p:txBody>
      </p:sp>
      <p:sp>
        <p:nvSpPr>
          <p:cNvPr id="8" name="Shape 6"/>
          <p:cNvSpPr/>
          <p:nvPr/>
        </p:nvSpPr>
        <p:spPr>
          <a:xfrm>
            <a:off x="8208112" y="4343400"/>
            <a:ext cx="1261872" cy="548640"/>
          </a:xfrm>
          <a:prstGeom prst="roundRect">
            <a:avLst>
              <a:gd name="adj" fmla="val 50000"/>
            </a:avLst>
          </a:prstGeom>
          <a:solidFill>
            <a:schemeClr val="accent3"/>
          </a:solidFill>
          <a:ln/>
        </p:spPr>
      </p:sp>
      <p:sp>
        <p:nvSpPr>
          <p:cNvPr id="9" name="Text 7"/>
          <p:cNvSpPr txBox="1"/>
          <p:nvPr/>
        </p:nvSpPr>
        <p:spPr>
          <a:xfrm>
            <a:off x="8208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النازعات</a:t>
            </a:r>
            <a:endParaRPr lang="ar-SA" sz="1500" dirty="0"/>
          </a:p>
        </p:txBody>
      </p:sp>
      <p:sp>
        <p:nvSpPr>
          <p:cNvPr id="10" name="Shape 8"/>
          <p:cNvSpPr/>
          <p:nvPr/>
        </p:nvSpPr>
        <p:spPr>
          <a:xfrm>
            <a:off x="6836512" y="4343400"/>
            <a:ext cx="1261872" cy="548640"/>
          </a:xfrm>
          <a:prstGeom prst="roundRect">
            <a:avLst>
              <a:gd name="adj" fmla="val 50000"/>
            </a:avLst>
          </a:prstGeom>
          <a:solidFill>
            <a:schemeClr val="accent3"/>
          </a:solidFill>
          <a:ln/>
        </p:spPr>
      </p:sp>
      <p:sp>
        <p:nvSpPr>
          <p:cNvPr id="11" name="Text 9"/>
          <p:cNvSpPr txBox="1"/>
          <p:nvPr/>
        </p:nvSpPr>
        <p:spPr>
          <a:xfrm>
            <a:off x="6836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عبس</a:t>
            </a:r>
            <a:endParaRPr lang="ar-SA" sz="1500" dirty="0"/>
          </a:p>
        </p:txBody>
      </p:sp>
      <p:sp>
        <p:nvSpPr>
          <p:cNvPr id="12" name="Shape 10"/>
          <p:cNvSpPr/>
          <p:nvPr/>
        </p:nvSpPr>
        <p:spPr>
          <a:xfrm>
            <a:off x="5464912" y="4343400"/>
            <a:ext cx="1261872" cy="548640"/>
          </a:xfrm>
          <a:prstGeom prst="roundRect">
            <a:avLst>
              <a:gd name="adj" fmla="val 50000"/>
            </a:avLst>
          </a:prstGeom>
          <a:solidFill>
            <a:schemeClr val="accent3"/>
          </a:solidFill>
          <a:ln/>
        </p:spPr>
      </p:sp>
      <p:sp>
        <p:nvSpPr>
          <p:cNvPr id="13" name="Text 11"/>
          <p:cNvSpPr txBox="1"/>
          <p:nvPr/>
        </p:nvSpPr>
        <p:spPr>
          <a:xfrm>
            <a:off x="5464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التكوير</a:t>
            </a:r>
            <a:endParaRPr lang="ar-SA" sz="1500" dirty="0"/>
          </a:p>
        </p:txBody>
      </p:sp>
      <p:sp>
        <p:nvSpPr>
          <p:cNvPr id="14" name="Shape 12"/>
          <p:cNvSpPr/>
          <p:nvPr/>
        </p:nvSpPr>
        <p:spPr>
          <a:xfrm>
            <a:off x="4093312" y="4343400"/>
            <a:ext cx="1261872" cy="548640"/>
          </a:xfrm>
          <a:prstGeom prst="roundRect">
            <a:avLst>
              <a:gd name="adj" fmla="val 50000"/>
            </a:avLst>
          </a:prstGeom>
          <a:solidFill>
            <a:schemeClr val="accent3"/>
          </a:solidFill>
          <a:ln/>
        </p:spPr>
      </p:sp>
      <p:sp>
        <p:nvSpPr>
          <p:cNvPr id="15" name="Text 13"/>
          <p:cNvSpPr txBox="1"/>
          <p:nvPr/>
        </p:nvSpPr>
        <p:spPr>
          <a:xfrm>
            <a:off x="4093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الانفطار</a:t>
            </a:r>
            <a:endParaRPr lang="ar-SA" sz="1500" dirty="0"/>
          </a:p>
        </p:txBody>
      </p:sp>
      <p:sp>
        <p:nvSpPr>
          <p:cNvPr id="16" name="Shape 14"/>
          <p:cNvSpPr/>
          <p:nvPr/>
        </p:nvSpPr>
        <p:spPr>
          <a:xfrm>
            <a:off x="2721712" y="4343400"/>
            <a:ext cx="1261872" cy="548640"/>
          </a:xfrm>
          <a:prstGeom prst="roundRect">
            <a:avLst>
              <a:gd name="adj" fmla="val 50000"/>
            </a:avLst>
          </a:prstGeom>
          <a:solidFill>
            <a:schemeClr val="accent3"/>
          </a:solidFill>
          <a:ln/>
        </p:spPr>
      </p:sp>
      <p:sp>
        <p:nvSpPr>
          <p:cNvPr id="17" name="Text 15"/>
          <p:cNvSpPr txBox="1"/>
          <p:nvPr/>
        </p:nvSpPr>
        <p:spPr>
          <a:xfrm>
            <a:off x="2721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المطففين</a:t>
            </a:r>
            <a:endParaRPr lang="ar-SA" sz="1500" dirty="0"/>
          </a:p>
        </p:txBody>
      </p:sp>
      <p:sp>
        <p:nvSpPr>
          <p:cNvPr id="18" name="Shape 16"/>
          <p:cNvSpPr/>
          <p:nvPr/>
        </p:nvSpPr>
        <p:spPr>
          <a:xfrm>
            <a:off x="1350112" y="4343400"/>
            <a:ext cx="1261872" cy="548640"/>
          </a:xfrm>
          <a:prstGeom prst="roundRect">
            <a:avLst>
              <a:gd name="adj" fmla="val 50000"/>
            </a:avLst>
          </a:prstGeom>
          <a:solidFill>
            <a:schemeClr val="accent3"/>
          </a:solidFill>
          <a:ln/>
        </p:spPr>
      </p:sp>
      <p:sp>
        <p:nvSpPr>
          <p:cNvPr id="19" name="Text 17"/>
          <p:cNvSpPr txBox="1"/>
          <p:nvPr/>
        </p:nvSpPr>
        <p:spPr>
          <a:xfrm>
            <a:off x="1350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الانشقاق</a:t>
            </a:r>
            <a:endParaRPr lang="ar-SA"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٧٨</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النبأ</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٤٠</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٧٨</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إثبات البعث والجزاء، والرد على من شكّ في يوم القيامة</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يوم الفصل كان ميقاتا﴾</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[النبأ: ١٧]</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النبأ العظيم الذي يتساءل عنه المشركون هو يوم القيامة والبعث بعد الموت، فهم بين مكذِّب ومتشكك.</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الله دلائل قدرته: الأرض مهادًا، والجبال أوتادًا، والليل لباسًا، ليستدل بها على قدرته على الإعادة.</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يوم الفصل له وقت محدد عند الله، وفيه جزاء الطاغين بالعذاب، وجزاء المتقين بالحدائق والنعيم.</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من خلق هذا الكون العظيم قادر على أن يعيد الناس بعد موتهم.</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٧٩</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النازعات</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٤٦</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٧٩</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أهوال القيامة، وقصة موسى مع فرعون عبرةً للمكذبين</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﴿وأما من خاف مقام ربه ونهى النفس عن الهوى﴾</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الجنة هي المأوى﴾</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[النازعات: ٤٠–٤١]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أقسم الله بالملائكة التي تنزع أرواح بني آدم، كما نقل ابن كثير عن ابن مسعود وابن عباس رضي الله عنهم.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قصة موسى عليه السلام مع فرعون الذي قال: أنا ربكم الأعلى، فأخذه الله نكال الآخرة والأولى.</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الناس فريقان: من طغى وآثر الدنيا فمصيره النار، ومن خاف ربه ونهى نفسه عن الهوى فمصيره الجنة.</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مخالفة هوى النفس طاعةً لله طريقٌ إلى الجنة.</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٨٠</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عبس</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٤٢</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٨٠</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قيمة الإنسان بإيمانه وحرصه على الهداية، لا بمكانته أو ماله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يدريك لعله يزكى﴾</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[عبس: ٣]</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نزلت في الصحابي الأعمى عبد الله ابن أم مكتوم، جاء يسأل النبي ﷺ وهو مشغول بدعوة بعض كبار قريش.</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أمر الله نبيه ألّا يخص بالإنذار أحدًا، بل يساوي فيه بين الشريف والضعيف والغني والفقير.</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الإنسان بأصل خلقه ونعمة الطعام، ثم بالصاخّة: يوم يفر المرء من أخيه وأمه وأبيه.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أكرِم من يطلب الخير، ولا تحكم على الناس بمظاهرهم.</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٨١</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التكوير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٢٩</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٨١</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مشاهد تغيّر الكون يوم القيامة، وصدق القرآن ونزوله بواسطة جبريل</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تشاءون إلا أن يشاء الله رب العالمين﴾</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[التكوير: ٢٩]</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حديث: «من سرّه أن ينظر إلى يوم القيامة كأنه رأي عين فليقرأ: إذا الشمس كورت...» (رواه الترمذي).</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من مشاهد ذلك اليوم: تكوير الشمس، وانكدار النجوم، وتسيير الجبال، وسؤال الموءودة: بأي ذنب قتلت؟</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القرآن قول رسول كريم هو جبريل عليه السلام، وما محمد ﷺ بمجنون كما زعم المشركون.</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الإنسان يختار عمله، لكن مشيئته تابعة لمشيئة الله.</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٨٢</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الانفطار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١٩</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٨٢</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تذكير الإنسان بكرم ربه، وبالملائكة الحافظين الذين يكتبون أعماله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﴿يا أيها الإنسان ما غرك بربك الكريم﴾</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[الانفطار: ٦]</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هذا تهديد للإنسان؛ أي ما الذي خدعك حتى عصيت ربك الكريم وقابلته بما لا يليق؟</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خلقك فسواك فعدلك في أحسن صورة، فكان الواجب أن تشكره لا أن تعصيه.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على كل إنسان ملائكة كرام كاتبون، يعلمون ما يفعل؛ فيصير الأبرار إلى نعيم والفجار إلى جحيم.</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استحضر أن أعمالك مكتوبة، فلا تغترّ بحلم الله عليك.</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٨٣</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المطففين</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٣٦</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٨٣</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تحريم الغش في الكيل والميزان، وأثر الذنوب على القلوب</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بل ران على قلوبهم ما كانوا يكسبون﴾</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[المطففين: ١٤]</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نقل ابن كثير عن ابن عباس أن أهل المدينة كانوا يُنقصون الكيل، فلما نزلت السورة أحسنوا الكيل بعد ذلك.</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الران: ما يغطي القلب من كثرة الذنوب؛ فالذنب نكتة سوداء في القلب، فإن تاب العبد صُقل قلبه.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كتاب الأبرار في عليين، وكتاب الفجار في سجين، وفي ذلك فليتنافس المتنافسون.</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كن أمينًا في معاملاتك، وبادر بالتوبة لتحفظ قلبك نقيًّا.</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٨٤</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الانشقاق</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٢٥</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٨٤</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كل إنسان ساعٍ إلى لقاء ربه، ثم الحساب وأخذ الكتاب</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600" b="1" dirty="0">
                <a:solidFill>
                  <a:schemeClr val="tx2"/>
                </a:solidFill>
                <a:latin typeface="Traditional Arabic" pitchFamily="34" charset="0"/>
                <a:ea typeface="Traditional Arabic" pitchFamily="34" charset="-122"/>
                <a:cs typeface="Traditional Arabic" pitchFamily="34" charset="-120"/>
              </a:rPr>
              <a:t>﴿يا أيها الإنسان إنك كادح إلى ربك كدحا فملاقيه﴾</a:t>
            </a:r>
            <a:endParaRPr lang="ar-SA" sz="26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[الانشقاق: ٦]</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أي إنك ساعٍ إلى ربك سعيًا، وعامل عملًا، ثم إنك ستلقى ما عملت من خير أو شر.</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من أوتي كتابه بيمينه فحسابه يسير، وأورد حديث عائشة: «من نوقش الحساب عُذّب»؛ فاليسير هو العرض.</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ومن أوتي كتابه وراء ظهره يدعو ثبورًا؛ لأنه كان في أهله مسرورًا غافلًا عن الآخرة.</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كل يوم من عمرك خطوة نحو لقاء الله، فاملأه بما يسرّك أن تلقاه.</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Text 2"/>
          <p:cNvSpPr txBox="1"/>
          <p:nvPr/>
        </p:nvSpPr>
        <p:spPr>
          <a:xfrm>
            <a:off x="1097280" y="1600200"/>
            <a:ext cx="9997135" cy="64008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Sakkal Majalla" pitchFamily="34" charset="0"/>
                <a:ea typeface="Sakkal Majalla" pitchFamily="34" charset="-122"/>
                <a:cs typeface="Sakkal Majalla" pitchFamily="34" charset="-120"/>
              </a:rPr>
              <a:t>الوحدة الثانية</a:t>
            </a:r>
            <a:endParaRPr lang="ar-SA" sz="2600" dirty="0"/>
          </a:p>
        </p:txBody>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من سورة البروج إلى الشمس</a:t>
            </a:r>
            <a:endParaRPr lang="en-US" sz="6000" dirty="0"/>
          </a:p>
        </p:txBody>
      </p:sp>
      <p:sp>
        <p:nvSpPr>
          <p:cNvPr id="6" name="Shape 4"/>
          <p:cNvSpPr/>
          <p:nvPr/>
        </p:nvSpPr>
        <p:spPr>
          <a:xfrm>
            <a:off x="9579712" y="4343400"/>
            <a:ext cx="1261872" cy="548640"/>
          </a:xfrm>
          <a:prstGeom prst="roundRect">
            <a:avLst>
              <a:gd name="adj" fmla="val 50000"/>
            </a:avLst>
          </a:prstGeom>
          <a:solidFill>
            <a:schemeClr val="accent3"/>
          </a:solidFill>
          <a:ln/>
        </p:spPr>
      </p:sp>
      <p:sp>
        <p:nvSpPr>
          <p:cNvPr id="7" name="Text 5"/>
          <p:cNvSpPr txBox="1"/>
          <p:nvPr/>
        </p:nvSpPr>
        <p:spPr>
          <a:xfrm>
            <a:off x="9579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البروج</a:t>
            </a:r>
            <a:endParaRPr lang="ar-SA" sz="1500" dirty="0"/>
          </a:p>
        </p:txBody>
      </p:sp>
      <p:sp>
        <p:nvSpPr>
          <p:cNvPr id="8" name="Shape 6"/>
          <p:cNvSpPr/>
          <p:nvPr/>
        </p:nvSpPr>
        <p:spPr>
          <a:xfrm>
            <a:off x="8208112" y="4343400"/>
            <a:ext cx="1261872" cy="548640"/>
          </a:xfrm>
          <a:prstGeom prst="roundRect">
            <a:avLst>
              <a:gd name="adj" fmla="val 50000"/>
            </a:avLst>
          </a:prstGeom>
          <a:solidFill>
            <a:schemeClr val="accent3"/>
          </a:solidFill>
          <a:ln/>
        </p:spPr>
      </p:sp>
      <p:sp>
        <p:nvSpPr>
          <p:cNvPr id="9" name="Text 7"/>
          <p:cNvSpPr txBox="1"/>
          <p:nvPr/>
        </p:nvSpPr>
        <p:spPr>
          <a:xfrm>
            <a:off x="8208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الطارق</a:t>
            </a:r>
            <a:endParaRPr lang="ar-SA" sz="1500" dirty="0"/>
          </a:p>
        </p:txBody>
      </p:sp>
      <p:sp>
        <p:nvSpPr>
          <p:cNvPr id="10" name="Shape 8"/>
          <p:cNvSpPr/>
          <p:nvPr/>
        </p:nvSpPr>
        <p:spPr>
          <a:xfrm>
            <a:off x="6836512" y="4343400"/>
            <a:ext cx="1261872" cy="548640"/>
          </a:xfrm>
          <a:prstGeom prst="roundRect">
            <a:avLst>
              <a:gd name="adj" fmla="val 50000"/>
            </a:avLst>
          </a:prstGeom>
          <a:solidFill>
            <a:schemeClr val="accent3"/>
          </a:solidFill>
          <a:ln/>
        </p:spPr>
      </p:sp>
      <p:sp>
        <p:nvSpPr>
          <p:cNvPr id="11" name="Text 9"/>
          <p:cNvSpPr txBox="1"/>
          <p:nvPr/>
        </p:nvSpPr>
        <p:spPr>
          <a:xfrm>
            <a:off x="6836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الأعلى</a:t>
            </a:r>
            <a:endParaRPr lang="ar-SA" sz="1500" dirty="0"/>
          </a:p>
        </p:txBody>
      </p:sp>
      <p:sp>
        <p:nvSpPr>
          <p:cNvPr id="12" name="Shape 10"/>
          <p:cNvSpPr/>
          <p:nvPr/>
        </p:nvSpPr>
        <p:spPr>
          <a:xfrm>
            <a:off x="5464912" y="4343400"/>
            <a:ext cx="1261872" cy="548640"/>
          </a:xfrm>
          <a:prstGeom prst="roundRect">
            <a:avLst>
              <a:gd name="adj" fmla="val 50000"/>
            </a:avLst>
          </a:prstGeom>
          <a:solidFill>
            <a:schemeClr val="accent3"/>
          </a:solidFill>
          <a:ln/>
        </p:spPr>
      </p:sp>
      <p:sp>
        <p:nvSpPr>
          <p:cNvPr id="13" name="Text 11"/>
          <p:cNvSpPr txBox="1"/>
          <p:nvPr/>
        </p:nvSpPr>
        <p:spPr>
          <a:xfrm>
            <a:off x="5464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الغاشية</a:t>
            </a:r>
            <a:endParaRPr lang="ar-SA" sz="1500" dirty="0"/>
          </a:p>
        </p:txBody>
      </p:sp>
      <p:sp>
        <p:nvSpPr>
          <p:cNvPr id="14" name="Shape 12"/>
          <p:cNvSpPr/>
          <p:nvPr/>
        </p:nvSpPr>
        <p:spPr>
          <a:xfrm>
            <a:off x="4093312" y="4343400"/>
            <a:ext cx="1261872" cy="548640"/>
          </a:xfrm>
          <a:prstGeom prst="roundRect">
            <a:avLst>
              <a:gd name="adj" fmla="val 50000"/>
            </a:avLst>
          </a:prstGeom>
          <a:solidFill>
            <a:schemeClr val="accent3"/>
          </a:solidFill>
          <a:ln/>
        </p:spPr>
      </p:sp>
      <p:sp>
        <p:nvSpPr>
          <p:cNvPr id="15" name="Text 13"/>
          <p:cNvSpPr txBox="1"/>
          <p:nvPr/>
        </p:nvSpPr>
        <p:spPr>
          <a:xfrm>
            <a:off x="4093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الفجر</a:t>
            </a:r>
            <a:endParaRPr lang="ar-SA" sz="1500" dirty="0"/>
          </a:p>
        </p:txBody>
      </p:sp>
      <p:sp>
        <p:nvSpPr>
          <p:cNvPr id="16" name="Shape 14"/>
          <p:cNvSpPr/>
          <p:nvPr/>
        </p:nvSpPr>
        <p:spPr>
          <a:xfrm>
            <a:off x="2721712" y="4343400"/>
            <a:ext cx="1261872" cy="548640"/>
          </a:xfrm>
          <a:prstGeom prst="roundRect">
            <a:avLst>
              <a:gd name="adj" fmla="val 50000"/>
            </a:avLst>
          </a:prstGeom>
          <a:solidFill>
            <a:schemeClr val="accent3"/>
          </a:solidFill>
          <a:ln/>
        </p:spPr>
      </p:sp>
      <p:sp>
        <p:nvSpPr>
          <p:cNvPr id="17" name="Text 15"/>
          <p:cNvSpPr txBox="1"/>
          <p:nvPr/>
        </p:nvSpPr>
        <p:spPr>
          <a:xfrm>
            <a:off x="2721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البلد</a:t>
            </a:r>
            <a:endParaRPr lang="ar-SA" sz="1500" dirty="0"/>
          </a:p>
        </p:txBody>
      </p:sp>
      <p:sp>
        <p:nvSpPr>
          <p:cNvPr id="18" name="Shape 16"/>
          <p:cNvSpPr/>
          <p:nvPr/>
        </p:nvSpPr>
        <p:spPr>
          <a:xfrm>
            <a:off x="1350112" y="4343400"/>
            <a:ext cx="1261872" cy="548640"/>
          </a:xfrm>
          <a:prstGeom prst="roundRect">
            <a:avLst>
              <a:gd name="adj" fmla="val 50000"/>
            </a:avLst>
          </a:prstGeom>
          <a:solidFill>
            <a:schemeClr val="accent3"/>
          </a:solidFill>
          <a:ln/>
        </p:spPr>
      </p:sp>
      <p:sp>
        <p:nvSpPr>
          <p:cNvPr id="19" name="Text 17"/>
          <p:cNvSpPr txBox="1"/>
          <p:nvPr/>
        </p:nvSpPr>
        <p:spPr>
          <a:xfrm>
            <a:off x="1350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الشمس</a:t>
            </a:r>
            <a:endParaRPr lang="ar-SA"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٨٥</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البروج</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٢٢</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٨٥</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قصة أصحاب الأخدود، والثبات على الإيمان أمام الظلم</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600" b="1" dirty="0">
                <a:solidFill>
                  <a:schemeClr val="tx2"/>
                </a:solidFill>
                <a:latin typeface="Traditional Arabic" pitchFamily="34" charset="0"/>
                <a:ea typeface="Traditional Arabic" pitchFamily="34" charset="-122"/>
                <a:cs typeface="Traditional Arabic" pitchFamily="34" charset="-120"/>
              </a:rPr>
              <a:t>﴿وما نقموا منهم إلا أن يؤمنوا بالله العزيز الحميد﴾</a:t>
            </a:r>
            <a:endParaRPr lang="ar-SA" sz="26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[البروج: ٨]</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في تفسيرها قصة الغلام والملك والساحر والراهب، وهي في صحيح 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ثبت المؤمنون على دينهم حتى أُلقوا في الأخدود، ولم يكن لهم ذنب إلا إيمانهم بالله.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الله شهيد على كل شيء، وبطشه شديد، وهو الغفور الودود لمن تاب إليه.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الثبات على الحق نصرٌ حقيقي، ولو لم يظهر في الدنيا.</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٨٦</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الطارق</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١٧</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٨٦</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رقابة الله على كل نفس، وقدرته على إعادة الخلق</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كل نفس لما عليها حافظ﴾</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[الطارق: ٤]</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الطارق هو النجم الثاقب الذي يظهر ليلًا ويثقب الظلام بضوئه.</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كل نفس عليها من الله حافظ يحرسها من الآفات.</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يوم تُبلى السرائر: أي تظهر الأسرار وتنكشف، فلا قوة للإنسان ولا ناصر.</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اجعل سرّك كعلانيتك، فالله مطّلع على ما في القلوب.</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٨٧</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الأعلى</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١٩</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٨٧</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تسبيح الله وتعظيمه، وأن الفلاح في تزكية النفس</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﴿قد أفلح من تزكى﴾</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﴿وذكر اسم ربه فصلى﴾</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[الأعلى: ١٤–١٥]</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ابن كثير أن النبي ﷺ كان يقرأ بها وبسورة الغاشية في صلاة العيدين والجمعة (رواه 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لما نزلت قال ﷺ: «اجعلوها في سجودكم»؛ فنقول في السجود: سبحان ربي الأعلى.</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الناس يؤثرون الحياة الدنيا، والآخرة خير وأبقى.</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الفلاح الحقيقي في تطهير النفس وذكر الله والصلاة.</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٨٨</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الغاشية</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٢٦</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٨٨</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أحوال الناس يوم القيامة، والدعوة إلى التفكر في مخلوقات الله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ينظرون إلى الإبل كيف خلقت﴾</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[الغاشية: ١٧]</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الغاشية من أسماء يوم القيامة؛ لأنها تغشى الناس وتعمّهم بأهوالها.</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وجوه يومئذ خاشعة متعبة في النار، ووجوه ناعمة راضية في جنة عالية.</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دعا إلى النظر في الإبل والسماء والجبال والأرض؛ فهي دلائل ظاهرة على قدرة الخالق.</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التفكر في خلق الله عبادة تزيد الإيمان.</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٨٩</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الفجر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٣٠</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٨٩</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مصير الأمم الطاغية، وحقيقة الابتلاء بالغنى والفقر</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﴿يا أيتها النفس المطمئنة﴾</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﴿ارجعي إلى ربك راضية مرضية﴾</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[الفجر: ٢٧–٢٨]</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الليالي العشر هي عشر ذي الحجة كما قال ابن عباس وغيره، وأورد ابن كثير فضل العمل الصالح فيها.</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هلاك عاد وثمود وفرعون لما طغوا في البلاد وأكثروا فيها الفساد.</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ليس كل من وسّع الله عليه مكرَّمًا، ولا كل من ضيّق عليه مُهانًا؛ بل هو ابتلاء.</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النعمة والشدة كلاهما امتحان: الأولى بالشكر، والثانية بالصبر.</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٩٠</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البلد</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٢٠</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٩٠</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نعم الله على الإنسان، وطريق اقتحام العقبة بالأعمال الصالحة</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اقتحم العقبة﴾</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[البلد: ١١]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أقسم الله بالبلد الحرام مكة، وبيّن أن الإنسان خُلق في كَبَد أي في مشقة وتعب.</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«وهديناه النجدين»: أي بيّنا له طريق الخير وطريق الشر، كما نقل ابن كثير عن ابن مسعود.</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العقبة تُقتحم بفك الرقاب، وإطعام اليتيم والمسكين، ثم بالإيمان والتواصي بالصبر والمرحمة.</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الإحسان إلى الضعفاء من أعظم الطرق الموصلة إلى الجنة.</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٩١</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الشمس</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١٥</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٩١</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تزكية النفس سبيل الفلاح، وقصة ثمود عبرةً لمن كذّب</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﴿قد أفلح من زكاها﴾</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﴿وقد خاب من دساها﴾</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[الشمس: ٩–١٠]</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أقسم الله بالشمس والقمر والليل والنهار والسماء والأرض والنفس، على أن الفلاح في تزكية النفس.</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دعاء النبي ﷺ: «اللهم آتِ نفسي تقواها، وزكّها أنت خير من زكاها» (رواه مسلم).</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كذّبت ثمود نبيها صالحًا وعقروا الناقة، فأهلكهم الله جميعًا.</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نفسك أمانة: زكِّها بالطاعة، ولا تدسّها بالمعاصي.</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Text 2"/>
          <p:cNvSpPr txBox="1"/>
          <p:nvPr/>
        </p:nvSpPr>
        <p:spPr>
          <a:xfrm>
            <a:off x="1097280" y="1600200"/>
            <a:ext cx="9997135" cy="64008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Sakkal Majalla" pitchFamily="34" charset="0"/>
                <a:ea typeface="Sakkal Majalla" pitchFamily="34" charset="-122"/>
                <a:cs typeface="Sakkal Majalla" pitchFamily="34" charset="-120"/>
              </a:rPr>
              <a:t>الوحدة الثالثة</a:t>
            </a:r>
            <a:endParaRPr lang="ar-SA" sz="2600" dirty="0"/>
          </a:p>
        </p:txBody>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من سورة الليل إلى الزلزلة</a:t>
            </a:r>
            <a:endParaRPr lang="en-US" sz="6000" dirty="0"/>
          </a:p>
        </p:txBody>
      </p:sp>
      <p:sp>
        <p:nvSpPr>
          <p:cNvPr id="6" name="Shape 4"/>
          <p:cNvSpPr/>
          <p:nvPr/>
        </p:nvSpPr>
        <p:spPr>
          <a:xfrm>
            <a:off x="10265512" y="4343400"/>
            <a:ext cx="1261872" cy="548640"/>
          </a:xfrm>
          <a:prstGeom prst="roundRect">
            <a:avLst>
              <a:gd name="adj" fmla="val 50000"/>
            </a:avLst>
          </a:prstGeom>
          <a:solidFill>
            <a:schemeClr val="accent3"/>
          </a:solidFill>
          <a:ln/>
        </p:spPr>
      </p:sp>
      <p:sp>
        <p:nvSpPr>
          <p:cNvPr id="7" name="Text 5"/>
          <p:cNvSpPr txBox="1"/>
          <p:nvPr/>
        </p:nvSpPr>
        <p:spPr>
          <a:xfrm>
            <a:off x="10265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الليل</a:t>
            </a:r>
            <a:endParaRPr lang="ar-SA" sz="1500" dirty="0"/>
          </a:p>
        </p:txBody>
      </p:sp>
      <p:sp>
        <p:nvSpPr>
          <p:cNvPr id="8" name="Shape 6"/>
          <p:cNvSpPr/>
          <p:nvPr/>
        </p:nvSpPr>
        <p:spPr>
          <a:xfrm>
            <a:off x="8893912" y="4343400"/>
            <a:ext cx="1261872" cy="548640"/>
          </a:xfrm>
          <a:prstGeom prst="roundRect">
            <a:avLst>
              <a:gd name="adj" fmla="val 50000"/>
            </a:avLst>
          </a:prstGeom>
          <a:solidFill>
            <a:schemeClr val="accent3"/>
          </a:solidFill>
          <a:ln/>
        </p:spPr>
      </p:sp>
      <p:sp>
        <p:nvSpPr>
          <p:cNvPr id="9" name="Text 7"/>
          <p:cNvSpPr txBox="1"/>
          <p:nvPr/>
        </p:nvSpPr>
        <p:spPr>
          <a:xfrm>
            <a:off x="8893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الضحى</a:t>
            </a:r>
            <a:endParaRPr lang="ar-SA" sz="1500" dirty="0"/>
          </a:p>
        </p:txBody>
      </p:sp>
      <p:sp>
        <p:nvSpPr>
          <p:cNvPr id="10" name="Shape 8"/>
          <p:cNvSpPr/>
          <p:nvPr/>
        </p:nvSpPr>
        <p:spPr>
          <a:xfrm>
            <a:off x="7522312" y="4343400"/>
            <a:ext cx="1261872" cy="548640"/>
          </a:xfrm>
          <a:prstGeom prst="roundRect">
            <a:avLst>
              <a:gd name="adj" fmla="val 50000"/>
            </a:avLst>
          </a:prstGeom>
          <a:solidFill>
            <a:schemeClr val="accent3"/>
          </a:solidFill>
          <a:ln/>
        </p:spPr>
      </p:sp>
      <p:sp>
        <p:nvSpPr>
          <p:cNvPr id="11" name="Text 9"/>
          <p:cNvSpPr txBox="1"/>
          <p:nvPr/>
        </p:nvSpPr>
        <p:spPr>
          <a:xfrm>
            <a:off x="7522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الشرح</a:t>
            </a:r>
            <a:endParaRPr lang="ar-SA" sz="1500" dirty="0"/>
          </a:p>
        </p:txBody>
      </p:sp>
      <p:sp>
        <p:nvSpPr>
          <p:cNvPr id="12" name="Shape 10"/>
          <p:cNvSpPr/>
          <p:nvPr/>
        </p:nvSpPr>
        <p:spPr>
          <a:xfrm>
            <a:off x="6150712" y="4343400"/>
            <a:ext cx="1261872" cy="548640"/>
          </a:xfrm>
          <a:prstGeom prst="roundRect">
            <a:avLst>
              <a:gd name="adj" fmla="val 50000"/>
            </a:avLst>
          </a:prstGeom>
          <a:solidFill>
            <a:schemeClr val="accent3"/>
          </a:solidFill>
          <a:ln/>
        </p:spPr>
      </p:sp>
      <p:sp>
        <p:nvSpPr>
          <p:cNvPr id="13" name="Text 11"/>
          <p:cNvSpPr txBox="1"/>
          <p:nvPr/>
        </p:nvSpPr>
        <p:spPr>
          <a:xfrm>
            <a:off x="6150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التين</a:t>
            </a:r>
            <a:endParaRPr lang="ar-SA" sz="1500" dirty="0"/>
          </a:p>
        </p:txBody>
      </p:sp>
      <p:sp>
        <p:nvSpPr>
          <p:cNvPr id="14" name="Shape 12"/>
          <p:cNvSpPr/>
          <p:nvPr/>
        </p:nvSpPr>
        <p:spPr>
          <a:xfrm>
            <a:off x="4779112" y="4343400"/>
            <a:ext cx="1261872" cy="548640"/>
          </a:xfrm>
          <a:prstGeom prst="roundRect">
            <a:avLst>
              <a:gd name="adj" fmla="val 50000"/>
            </a:avLst>
          </a:prstGeom>
          <a:solidFill>
            <a:schemeClr val="accent3"/>
          </a:solidFill>
          <a:ln/>
        </p:spPr>
      </p:sp>
      <p:sp>
        <p:nvSpPr>
          <p:cNvPr id="15" name="Text 13"/>
          <p:cNvSpPr txBox="1"/>
          <p:nvPr/>
        </p:nvSpPr>
        <p:spPr>
          <a:xfrm>
            <a:off x="4779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العلق</a:t>
            </a:r>
            <a:endParaRPr lang="ar-SA" sz="1500" dirty="0"/>
          </a:p>
        </p:txBody>
      </p:sp>
      <p:sp>
        <p:nvSpPr>
          <p:cNvPr id="16" name="Shape 14"/>
          <p:cNvSpPr/>
          <p:nvPr/>
        </p:nvSpPr>
        <p:spPr>
          <a:xfrm>
            <a:off x="3407512" y="4343400"/>
            <a:ext cx="1261872" cy="548640"/>
          </a:xfrm>
          <a:prstGeom prst="roundRect">
            <a:avLst>
              <a:gd name="adj" fmla="val 50000"/>
            </a:avLst>
          </a:prstGeom>
          <a:solidFill>
            <a:schemeClr val="accent3"/>
          </a:solidFill>
          <a:ln/>
        </p:spPr>
      </p:sp>
      <p:sp>
        <p:nvSpPr>
          <p:cNvPr id="17" name="Text 15"/>
          <p:cNvSpPr txBox="1"/>
          <p:nvPr/>
        </p:nvSpPr>
        <p:spPr>
          <a:xfrm>
            <a:off x="3407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القدر</a:t>
            </a:r>
            <a:endParaRPr lang="ar-SA" sz="1500" dirty="0"/>
          </a:p>
        </p:txBody>
      </p:sp>
      <p:sp>
        <p:nvSpPr>
          <p:cNvPr id="18" name="Shape 16"/>
          <p:cNvSpPr/>
          <p:nvPr/>
        </p:nvSpPr>
        <p:spPr>
          <a:xfrm>
            <a:off x="2035912" y="4343400"/>
            <a:ext cx="1261872" cy="548640"/>
          </a:xfrm>
          <a:prstGeom prst="roundRect">
            <a:avLst>
              <a:gd name="adj" fmla="val 50000"/>
            </a:avLst>
          </a:prstGeom>
          <a:solidFill>
            <a:schemeClr val="accent3"/>
          </a:solidFill>
          <a:ln/>
        </p:spPr>
      </p:sp>
      <p:sp>
        <p:nvSpPr>
          <p:cNvPr id="19" name="Text 17"/>
          <p:cNvSpPr txBox="1"/>
          <p:nvPr/>
        </p:nvSpPr>
        <p:spPr>
          <a:xfrm>
            <a:off x="2035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البينة</a:t>
            </a:r>
            <a:endParaRPr lang="ar-SA" sz="1500" dirty="0"/>
          </a:p>
        </p:txBody>
      </p:sp>
      <p:sp>
        <p:nvSpPr>
          <p:cNvPr id="20" name="Shape 18"/>
          <p:cNvSpPr/>
          <p:nvPr/>
        </p:nvSpPr>
        <p:spPr>
          <a:xfrm>
            <a:off x="664312" y="4343400"/>
            <a:ext cx="1261872" cy="548640"/>
          </a:xfrm>
          <a:prstGeom prst="roundRect">
            <a:avLst>
              <a:gd name="adj" fmla="val 50000"/>
            </a:avLst>
          </a:prstGeom>
          <a:solidFill>
            <a:schemeClr val="accent3"/>
          </a:solidFill>
          <a:ln/>
        </p:spPr>
      </p:sp>
      <p:sp>
        <p:nvSpPr>
          <p:cNvPr id="21" name="Text 19"/>
          <p:cNvSpPr txBox="1"/>
          <p:nvPr/>
        </p:nvSpPr>
        <p:spPr>
          <a:xfrm>
            <a:off x="664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الزلزلة</a:t>
            </a:r>
            <a:endParaRPr lang="ar-SA"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٩٢</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الليل</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٢١</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٩٢</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اختلاف سعي الناس، وتيسير طريق الخير لمن أعطى واتقى</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200" b="1" dirty="0">
                <a:solidFill>
                  <a:schemeClr val="tx2"/>
                </a:solidFill>
                <a:latin typeface="Traditional Arabic" pitchFamily="34" charset="0"/>
                <a:ea typeface="Traditional Arabic" pitchFamily="34" charset="-122"/>
                <a:cs typeface="Traditional Arabic" pitchFamily="34" charset="-120"/>
              </a:rPr>
              <a:t>﴿فأما من أعطى واتقى﴾</a:t>
            </a:r>
            <a:endParaRPr lang="ar-SA" sz="2200" dirty="0"/>
          </a:p>
          <a:p>
            <a:pPr rtl="1" algn="ctr" indent="0" marL="0">
              <a:lnSpc>
                <a:spcPct val="95000"/>
              </a:lnSpc>
              <a:buNone/>
            </a:pPr>
            <a:r>
              <a:rPr lang="ar-SA" altLang="en-US" sz="2200" b="1" dirty="0">
                <a:solidFill>
                  <a:schemeClr val="tx2"/>
                </a:solidFill>
                <a:latin typeface="Traditional Arabic" pitchFamily="34" charset="0"/>
                <a:ea typeface="Traditional Arabic" pitchFamily="34" charset="-122"/>
                <a:cs typeface="Traditional Arabic" pitchFamily="34" charset="-120"/>
              </a:rPr>
              <a:t>﴿وصدق بالحسنى﴾</a:t>
            </a:r>
            <a:endParaRPr lang="ar-SA" sz="2200" dirty="0"/>
          </a:p>
          <a:p>
            <a:pPr rtl="1" algn="ctr" indent="0" marL="0">
              <a:lnSpc>
                <a:spcPct val="95000"/>
              </a:lnSpc>
              <a:buNone/>
            </a:pPr>
            <a:r>
              <a:rPr lang="ar-SA" altLang="en-US" sz="2200" b="1" dirty="0">
                <a:solidFill>
                  <a:schemeClr val="tx2"/>
                </a:solidFill>
                <a:latin typeface="Traditional Arabic" pitchFamily="34" charset="0"/>
                <a:ea typeface="Traditional Arabic" pitchFamily="34" charset="-122"/>
                <a:cs typeface="Traditional Arabic" pitchFamily="34" charset="-120"/>
              </a:rPr>
              <a:t>﴿فسنيسره لليسرى﴾</a:t>
            </a:r>
            <a:endParaRPr lang="ar-SA" sz="22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[الليل: ٥–٧]</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«إن سعيكم لشتى»: أي أعمال الناس مختلفة متضادة؛ فمنهم فاعل خير ومنهم فاعل شر.</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حديث: «اعملوا فكلٌّ ميسَّر لما خُلق له» (متفق عليه).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ابن كثير أن كثيرًا من المفسرين قالوا إن آخرها نزل في أبي بكر الصديق رضي الله عنه.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أنفِق واتّقِ الله، يُيسّر الله لك طريق الخير.</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٩٣</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الضحى</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١١</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٩٣</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تسلية النبي ﷺ وتذكيره بنعم الله عليه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ودعك ربك وما قلى﴾</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[الضحى: ٣]</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تأخر الوحي مدة فقال المشركون: ودّعه ربه، فنزلت السورة تطمئن النبي ﷺ (رواه البخاري ومسلم).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ذكّره الله بنعمه: كان يتيمًا فآواه، وكان لا يعلم الشرائع فهداه، وكان فقيرًا فأغناه.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أمره بثلاث: ألا يقهر اليتيم، ولا ينهر السائل، وأن يحدّث بنعمة ربه.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الله لا يترك عباده، وشكر النعمة يكون بالإحسان إلى الضعفاء.</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٩٤</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الشرح</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٨</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٩٤</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نعم الله على نبيه ﷺ، والبشارة بأن اليسر يأتي مع العسر</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﴿فإن مع العسر يسرا﴾</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مع العسر يسرا﴾</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[الشرح: ٥–٦]</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شرح الله صدر نبيه ﷺ بالإيمان والحكمة، ووضع عنه وزره.</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رفع ذِكره: فلا يُذكر الله في الأذان والشهادة إلا ذُكر معه محمد ﷺ.</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ابن كثير أن العسر معرّف فهو واحد، واليسر منكّر فهو متعدد، فلن يغلب عسرٌ يسرين.</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مهما اشتدت الصعاب فالفرج قريب، فإذا فرغت من عمل فانصب في الطاعة.</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٩٥</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التين</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٨</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٩٥</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تكريم الإنسان بأحسن خلقة، وأن رفعته بالإيمان والعمل الصالح</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خلقنا الإنسان في أحسن تقويم﴾</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[التين: ٤]</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نقل ابن كثير عن بعض الأئمة: أقسم الله بثلاثة أماكن بعث فيها أنبياء أولي عزم من الرسل.</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التين والزيتون: بيت المقدس (عيسى)، وطور سينين: جبل موسى، والبلد الأمين: مكة (محمد ﷺ).</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خلق الله الإنسان في أحسن صورة، ثم يردّه أسفل سافلين إلا الذين آمنوا وعملوا الصالحات.</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كرّمك الله بأحسن خلقة، فحافظ على كرامتك بطاعته.</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٩٦</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العلق</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١٩</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٩٦</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أول ما نزل من القرآن: الدعوة إلى القراءة والعلم والسجود لله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﴿اقرأ باسم ربك الذي خلق﴾</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[العلق: 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حديث عائشة في بدء الوحي في غار حراء، وأن أول ما نزل: اقرأ باسم ربك.</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من كرم الله أن علّم الإنسان ما لم يعلم، وعلّم بالقلم؛ ففي ذلك تشريف للعلم.</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الإنسان يطغى إذا رأى نفسه استغنى، وذكرت السورة أبا جهل الذي نهى النبي ﷺ عن الصلاة.</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العلم والقراءة بداية الرسالة، والسجود طريق القرب من الله.</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٩٧</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القدر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٥</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٩٧</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فضل ليلة القدر التي أُنزل فيها القرآن</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﴿ليلة القدر خير من ألف شهر﴾</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[القدر: ٣]</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نقل ابن كثير عن ابن عباس: أنزل الله القرآن جملة واحدة ليلة القدر إلى السماء الدنيا، ثم نزل مفرقًا.</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العبادة فيها خير من عبادة ألف شهر ليس فيها ليلة القدر.</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تتنزل فيها الملائكة وجبريل، وهي سلام حتى مطلع الفجر، و«من قامها إيمانًا واحتسابًا غُفر له».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اجتهد في العشر الأواخر من رمضان لتدرك هذه الليلة العظيمة.</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٩٨</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البينة</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٨</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مدنية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٩٨</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إخلاص العبادة لله، وأن المؤمنين هم خير البرية</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600" b="1" dirty="0">
                <a:solidFill>
                  <a:schemeClr val="tx2"/>
                </a:solidFill>
                <a:latin typeface="Traditional Arabic" pitchFamily="34" charset="0"/>
                <a:ea typeface="Traditional Arabic" pitchFamily="34" charset="-122"/>
                <a:cs typeface="Traditional Arabic" pitchFamily="34" charset="-120"/>
              </a:rPr>
              <a:t>﴿وما أمروا إلا ليعبدوا الله مخلصين له الدين حنفاء﴾</a:t>
            </a:r>
            <a:endParaRPr lang="ar-SA" sz="26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[البينة: ٥]</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أن النبي ﷺ قال لأُبيّ بن كعب: «إن الله أمرني أن أقرأ عليك: لم يكن الذين كفروا»؛ فبكى أُبيّ.</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البينة هي الرسول ﷺ يتلو صحفًا مطهرة فيها كتب قيّمة.</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الذين آمنوا وعملوا الصالحات هم خير البرية، وجزاؤهم جنات عدن، ذلك لمن خشي ربه.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الإخلاص روح العبادة: أن تعمل لله وحده لا لأجل الناس.</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٩٩</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الزلزلة</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٨</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مدنية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٩٩</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زلزلة الأرض يوم القيامة، ومحاسبة الإنسان على أصغر الأعمال</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﴿فمن يعمل مثقال ذرة خيرا يره﴾</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﴿ومن يعمل مثقال ذرة شرا يره﴾</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[الزلزلة: ٧–٨]</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تُخرج الأرض ما في بطنها من الأموات، ويتعجب الإنسان قائلًا: ما لها؟</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«يومئذ تحدث أخبارها»: أورد ابن كثير حديث أن الأرض تشهد على كل عبد بما عمل على ظهرها.</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لا يضيع عند الله شيء، فكل عمل ولو كان مثقال ذرة سيراه صاحبه.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لا تحقرنّ من المعروف شيئًا، ولا تستصغرنّ ذنبًا.</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Text 2"/>
          <p:cNvSpPr txBox="1"/>
          <p:nvPr/>
        </p:nvSpPr>
        <p:spPr>
          <a:xfrm>
            <a:off x="1097280" y="1600200"/>
            <a:ext cx="9997135" cy="64008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Sakkal Majalla" pitchFamily="34" charset="0"/>
                <a:ea typeface="Sakkal Majalla" pitchFamily="34" charset="-122"/>
                <a:cs typeface="Sakkal Majalla" pitchFamily="34" charset="-120"/>
              </a:rPr>
              <a:t>الوحدة الرابعة</a:t>
            </a:r>
            <a:endParaRPr lang="ar-SA" sz="2600" dirty="0"/>
          </a:p>
        </p:txBody>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من سورة العاديات إلى الماعون</a:t>
            </a:r>
            <a:endParaRPr lang="en-US" sz="6000" dirty="0"/>
          </a:p>
        </p:txBody>
      </p:sp>
      <p:sp>
        <p:nvSpPr>
          <p:cNvPr id="6" name="Shape 4"/>
          <p:cNvSpPr/>
          <p:nvPr/>
        </p:nvSpPr>
        <p:spPr>
          <a:xfrm>
            <a:off x="10265512" y="4343400"/>
            <a:ext cx="1261872" cy="548640"/>
          </a:xfrm>
          <a:prstGeom prst="roundRect">
            <a:avLst>
              <a:gd name="adj" fmla="val 50000"/>
            </a:avLst>
          </a:prstGeom>
          <a:solidFill>
            <a:schemeClr val="accent3"/>
          </a:solidFill>
          <a:ln/>
        </p:spPr>
      </p:sp>
      <p:sp>
        <p:nvSpPr>
          <p:cNvPr id="7" name="Text 5"/>
          <p:cNvSpPr txBox="1"/>
          <p:nvPr/>
        </p:nvSpPr>
        <p:spPr>
          <a:xfrm>
            <a:off x="10265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العاديات</a:t>
            </a:r>
            <a:endParaRPr lang="ar-SA" sz="1500" dirty="0"/>
          </a:p>
        </p:txBody>
      </p:sp>
      <p:sp>
        <p:nvSpPr>
          <p:cNvPr id="8" name="Shape 6"/>
          <p:cNvSpPr/>
          <p:nvPr/>
        </p:nvSpPr>
        <p:spPr>
          <a:xfrm>
            <a:off x="8893912" y="4343400"/>
            <a:ext cx="1261872" cy="548640"/>
          </a:xfrm>
          <a:prstGeom prst="roundRect">
            <a:avLst>
              <a:gd name="adj" fmla="val 50000"/>
            </a:avLst>
          </a:prstGeom>
          <a:solidFill>
            <a:schemeClr val="accent3"/>
          </a:solidFill>
          <a:ln/>
        </p:spPr>
      </p:sp>
      <p:sp>
        <p:nvSpPr>
          <p:cNvPr id="9" name="Text 7"/>
          <p:cNvSpPr txBox="1"/>
          <p:nvPr/>
        </p:nvSpPr>
        <p:spPr>
          <a:xfrm>
            <a:off x="8893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القارعة</a:t>
            </a:r>
            <a:endParaRPr lang="ar-SA" sz="1500" dirty="0"/>
          </a:p>
        </p:txBody>
      </p:sp>
      <p:sp>
        <p:nvSpPr>
          <p:cNvPr id="10" name="Shape 8"/>
          <p:cNvSpPr/>
          <p:nvPr/>
        </p:nvSpPr>
        <p:spPr>
          <a:xfrm>
            <a:off x="7522312" y="4343400"/>
            <a:ext cx="1261872" cy="548640"/>
          </a:xfrm>
          <a:prstGeom prst="roundRect">
            <a:avLst>
              <a:gd name="adj" fmla="val 50000"/>
            </a:avLst>
          </a:prstGeom>
          <a:solidFill>
            <a:schemeClr val="accent3"/>
          </a:solidFill>
          <a:ln/>
        </p:spPr>
      </p:sp>
      <p:sp>
        <p:nvSpPr>
          <p:cNvPr id="11" name="Text 9"/>
          <p:cNvSpPr txBox="1"/>
          <p:nvPr/>
        </p:nvSpPr>
        <p:spPr>
          <a:xfrm>
            <a:off x="7522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التكاثر</a:t>
            </a:r>
            <a:endParaRPr lang="ar-SA" sz="1500" dirty="0"/>
          </a:p>
        </p:txBody>
      </p:sp>
      <p:sp>
        <p:nvSpPr>
          <p:cNvPr id="12" name="Shape 10"/>
          <p:cNvSpPr/>
          <p:nvPr/>
        </p:nvSpPr>
        <p:spPr>
          <a:xfrm>
            <a:off x="6150712" y="4343400"/>
            <a:ext cx="1261872" cy="548640"/>
          </a:xfrm>
          <a:prstGeom prst="roundRect">
            <a:avLst>
              <a:gd name="adj" fmla="val 50000"/>
            </a:avLst>
          </a:prstGeom>
          <a:solidFill>
            <a:schemeClr val="accent3"/>
          </a:solidFill>
          <a:ln/>
        </p:spPr>
      </p:sp>
      <p:sp>
        <p:nvSpPr>
          <p:cNvPr id="13" name="Text 11"/>
          <p:cNvSpPr txBox="1"/>
          <p:nvPr/>
        </p:nvSpPr>
        <p:spPr>
          <a:xfrm>
            <a:off x="6150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العصر</a:t>
            </a:r>
            <a:endParaRPr lang="ar-SA" sz="1500" dirty="0"/>
          </a:p>
        </p:txBody>
      </p:sp>
      <p:sp>
        <p:nvSpPr>
          <p:cNvPr id="14" name="Shape 12"/>
          <p:cNvSpPr/>
          <p:nvPr/>
        </p:nvSpPr>
        <p:spPr>
          <a:xfrm>
            <a:off x="4779112" y="4343400"/>
            <a:ext cx="1261872" cy="548640"/>
          </a:xfrm>
          <a:prstGeom prst="roundRect">
            <a:avLst>
              <a:gd name="adj" fmla="val 50000"/>
            </a:avLst>
          </a:prstGeom>
          <a:solidFill>
            <a:schemeClr val="accent3"/>
          </a:solidFill>
          <a:ln/>
        </p:spPr>
      </p:sp>
      <p:sp>
        <p:nvSpPr>
          <p:cNvPr id="15" name="Text 13"/>
          <p:cNvSpPr txBox="1"/>
          <p:nvPr/>
        </p:nvSpPr>
        <p:spPr>
          <a:xfrm>
            <a:off x="4779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الهمزة</a:t>
            </a:r>
            <a:endParaRPr lang="ar-SA" sz="1500" dirty="0"/>
          </a:p>
        </p:txBody>
      </p:sp>
      <p:sp>
        <p:nvSpPr>
          <p:cNvPr id="16" name="Shape 14"/>
          <p:cNvSpPr/>
          <p:nvPr/>
        </p:nvSpPr>
        <p:spPr>
          <a:xfrm>
            <a:off x="3407512" y="4343400"/>
            <a:ext cx="1261872" cy="548640"/>
          </a:xfrm>
          <a:prstGeom prst="roundRect">
            <a:avLst>
              <a:gd name="adj" fmla="val 50000"/>
            </a:avLst>
          </a:prstGeom>
          <a:solidFill>
            <a:schemeClr val="accent3"/>
          </a:solidFill>
          <a:ln/>
        </p:spPr>
      </p:sp>
      <p:sp>
        <p:nvSpPr>
          <p:cNvPr id="17" name="Text 15"/>
          <p:cNvSpPr txBox="1"/>
          <p:nvPr/>
        </p:nvSpPr>
        <p:spPr>
          <a:xfrm>
            <a:off x="3407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الفيل</a:t>
            </a:r>
            <a:endParaRPr lang="ar-SA" sz="1500" dirty="0"/>
          </a:p>
        </p:txBody>
      </p:sp>
      <p:sp>
        <p:nvSpPr>
          <p:cNvPr id="18" name="Shape 16"/>
          <p:cNvSpPr/>
          <p:nvPr/>
        </p:nvSpPr>
        <p:spPr>
          <a:xfrm>
            <a:off x="2035912" y="4343400"/>
            <a:ext cx="1261872" cy="548640"/>
          </a:xfrm>
          <a:prstGeom prst="roundRect">
            <a:avLst>
              <a:gd name="adj" fmla="val 50000"/>
            </a:avLst>
          </a:prstGeom>
          <a:solidFill>
            <a:schemeClr val="accent3"/>
          </a:solidFill>
          <a:ln/>
        </p:spPr>
      </p:sp>
      <p:sp>
        <p:nvSpPr>
          <p:cNvPr id="19" name="Text 17"/>
          <p:cNvSpPr txBox="1"/>
          <p:nvPr/>
        </p:nvSpPr>
        <p:spPr>
          <a:xfrm>
            <a:off x="2035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قريش</a:t>
            </a:r>
            <a:endParaRPr lang="ar-SA" sz="1500" dirty="0"/>
          </a:p>
        </p:txBody>
      </p:sp>
      <p:sp>
        <p:nvSpPr>
          <p:cNvPr id="20" name="Shape 18"/>
          <p:cNvSpPr/>
          <p:nvPr/>
        </p:nvSpPr>
        <p:spPr>
          <a:xfrm>
            <a:off x="664312" y="4343400"/>
            <a:ext cx="1261872" cy="548640"/>
          </a:xfrm>
          <a:prstGeom prst="roundRect">
            <a:avLst>
              <a:gd name="adj" fmla="val 50000"/>
            </a:avLst>
          </a:prstGeom>
          <a:solidFill>
            <a:schemeClr val="accent3"/>
          </a:solidFill>
          <a:ln/>
        </p:spPr>
      </p:sp>
      <p:sp>
        <p:nvSpPr>
          <p:cNvPr id="21" name="Text 19"/>
          <p:cNvSpPr txBox="1"/>
          <p:nvPr/>
        </p:nvSpPr>
        <p:spPr>
          <a:xfrm>
            <a:off x="664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الماعون</a:t>
            </a:r>
            <a:endParaRPr lang="ar-SA"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١٠٠</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العاديات</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١١</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١٠٠</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جحود الإنسان لنعم ربه، وحبه الشديد للمال</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الإنسان لربه لكنود﴾</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[العاديات: ٦]</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أقسم الله بالخيل إذا جرت في سبيل الله، فأورت بحوافرها الشرر، وأغارت وقت الصبح.</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الكنود: الكفور الجحود لنعم ربه، يذكر المصائب وينسى النعم.</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«وإنه لحب الخير لشديد»: أي حب المال، ثم ذكّره بيوم بعثرة القبور وكشف ما في الصدور.</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عدّد نعم الله عليك واشكرها، ولا يشغلك المال عن ربك.</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١٠١</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القارعة</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١١</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١٠١</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أهوال يوم القيامة، ووزن الأعمال بالميزان</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﴿فأما من ثقلت موازينه﴾</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﴿فهو في عيشة راضية﴾</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[القارعة: ٦–٧]</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القارعة من أسماء يوم القيامة؛ لأنها تقرع القلوب بأهوالها.</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يكون الناس كالفراش المبثوث في انتشارهم وحيرتهم، والجبال كالصوف المنفوش.</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من ثقلت موازينه ففي عيشة راضية، ومن خفّت موازينه فأمه هاوية: نار حامية.</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كل عمل صالح تعمله اليوم يُثقّل ميزانك غدًا.</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١٠٢</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التكاثر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٨</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١٠٢</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التحذير من الانشغال بالتفاخر بالأموال والأولاد</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لتسألن يومئذ عن النعيم﴾</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[التكاثر: ٨]</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حديث: «يقول ابن آدم: مالي مالي، وهل لك من مالك إلا ما أكلت فأفنيت، أو لبست فأبليت، أو تصدقت فأمضيت» (مسلم).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شغلهم التكاثر حتى أدركهم الموت وزاروا المقابر.</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يُسأل الإنسان عن كل نعمة، حتى الماء البارد والطعام والصحة والأمن.</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المال الحقيقي ما قدّمته لآخرتك، لا ما جمعته في الدنيا.</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١٠٣</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العصر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٣</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١٠٣</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منهج النجاة من الخسارة في أربعة أمور</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﴿والعصر﴾</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﴿إن الإنسان لفي خسر﴾</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[العصر: ١–٢]</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نقل ابن كثير قول الإمام الشافعي: «لو تدبّر الناس هذه السورة لوسعتهم».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العصر هو الزمن الذي تقع فيه أعمال بني آدم من خير وشر، وكل إنسان في خسارة.</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يُستثنى من الخسارة من جمع أربعة: الإيمان، والعمل الصالح، والتواصي بالحق، والتواصي بالصبر.</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وقتك هو رأس مالك، فاستثمره في الإيمان والعمل والدعوة والصبر.</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١٠٤</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الهمزة</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٩</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١٠٤</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التحذير من الاستهزاء بالناس وتنقّصهم، ومن الاغترار بالمال</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لكل همزة لمزة﴾</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[الهمزة: 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الهمّاز بالقول، واللمّاز بالفعل؛ أي الذي يعيب الناس وينتقصهم.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يجمع المال ويعدّه ويظن أن ماله يخلّده في الدنيا.</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جزاؤه أن يُنبذ في الحطمة، وهي نار الله الموقدة التي تطّلع على الأفئدة.</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احفظ لسانك وتصرفاتك من السخرية بالآخرين.</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١٠٥</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الفيل</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٥</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١٠٥</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حماية الله لبيته الحرام من جيش أبرهة</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كيف فعل ربك بأصحاب الفيل﴾</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[الفيل: 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ابن كثير قصة أبرهة الذي جاء بجيش معه فيل ليهدم الكعبة.</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أرسل الله عليهم طيرًا أبابيل ترميهم بحجارة من سجيل، فجعلهم كعصف مأكول.</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وكانت هذه الحادثة في العام الذي وُلد فيه النبي ﷺ على المشهور.</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الله ينصر دينه ويحفظ بيته، ولا تغني قوة الظالمين عنهم شيئًا.</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١٠٦</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قريش</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٤</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١٠٦</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نعمة الأمن والرزق، ووجوب شكرها بعبادة الله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﴿فليعبدوا رب هذا البيت﴾</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 أطعمهم من جوع وآمنهم من خوف﴾</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[قريش: ٣–٤]</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ابن كثير أنها متعلقة بالسورة قبلها عند كثير من العلماء: أهلكنا أصحاب الفيل لإيلاف قريش.</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كانت لقريش رحلتان آمنتان: رحلة الشتاء إلى اليمن، ورحلة الصيف إلى الشام.</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أمرهم الله أن يشكروا هذه النعمة بعبادة رب هذا البيت وحده.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الأمن والطعام نعمتان عظيمتان، وشكرهما بطاعة الله.</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١٠٧</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الماعون</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٧</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١٠٧</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صفات المكذّبين بالدين، والتحذير من التهاون بالصلاة ومنع الخير</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﴿فويل للمصلين﴾</a:t>
            </a:r>
            <a:endParaRPr lang="ar-SA" sz="2800" dirty="0"/>
          </a:p>
          <a:p>
            <a:pPr rtl="1" algn="ctr" indent="0" marL="0">
              <a:lnSpc>
                <a:spcPct val="95000"/>
              </a:lnSpc>
              <a:buNone/>
            </a:pPr>
            <a:r>
              <a:rPr lang="ar-SA" altLang="en-US" sz="2800" b="1" dirty="0">
                <a:solidFill>
                  <a:schemeClr val="tx2"/>
                </a:solidFill>
                <a:latin typeface="Traditional Arabic" pitchFamily="34" charset="0"/>
                <a:ea typeface="Traditional Arabic" pitchFamily="34" charset="-122"/>
                <a:cs typeface="Traditional Arabic" pitchFamily="34" charset="-120"/>
              </a:rPr>
              <a:t>﴿الذين هم عن صلاتهم ساهون﴾</a:t>
            </a:r>
            <a:endParaRPr lang="ar-SA" sz="28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[الماعون: ٤–٥]</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من صفات المكذب بالدين: يدفع اليتيم بقسوة، ولا يحثّ على إطعام المسكين.</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الساهون عن صلاتهم: الذين يؤخرونها عن وقتها أو لا يخشعون فيها، والذين يراؤون الناس.</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الماعون: ما يتعاوره الناس بينهم كالقِدر والدلو والفأس، كما قال ابن مسعود.</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حافظ على صلاتك في وقتها، وكن عونًا لجيرانك ولو بالشيء اليسير.</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Text 2"/>
          <p:cNvSpPr txBox="1"/>
          <p:nvPr/>
        </p:nvSpPr>
        <p:spPr>
          <a:xfrm>
            <a:off x="1097280" y="1600200"/>
            <a:ext cx="9997135" cy="64008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Sakkal Majalla" pitchFamily="34" charset="0"/>
                <a:ea typeface="Sakkal Majalla" pitchFamily="34" charset="-122"/>
                <a:cs typeface="Sakkal Majalla" pitchFamily="34" charset="-120"/>
              </a:rPr>
              <a:t>الوحدة الخامسة</a:t>
            </a:r>
            <a:endParaRPr lang="ar-SA" sz="2600" dirty="0"/>
          </a:p>
        </p:txBody>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من سورة الكوثر إلى الناس</a:t>
            </a:r>
            <a:endParaRPr lang="en-US" sz="6000" dirty="0"/>
          </a:p>
        </p:txBody>
      </p:sp>
      <p:sp>
        <p:nvSpPr>
          <p:cNvPr id="6" name="Shape 4"/>
          <p:cNvSpPr/>
          <p:nvPr/>
        </p:nvSpPr>
        <p:spPr>
          <a:xfrm>
            <a:off x="9579712" y="4343400"/>
            <a:ext cx="1261872" cy="548640"/>
          </a:xfrm>
          <a:prstGeom prst="roundRect">
            <a:avLst>
              <a:gd name="adj" fmla="val 50000"/>
            </a:avLst>
          </a:prstGeom>
          <a:solidFill>
            <a:schemeClr val="accent3"/>
          </a:solidFill>
          <a:ln/>
        </p:spPr>
      </p:sp>
      <p:sp>
        <p:nvSpPr>
          <p:cNvPr id="7" name="Text 5"/>
          <p:cNvSpPr txBox="1"/>
          <p:nvPr/>
        </p:nvSpPr>
        <p:spPr>
          <a:xfrm>
            <a:off x="9579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الكوثر</a:t>
            </a:r>
            <a:endParaRPr lang="ar-SA" sz="1500" dirty="0"/>
          </a:p>
        </p:txBody>
      </p:sp>
      <p:sp>
        <p:nvSpPr>
          <p:cNvPr id="8" name="Shape 6"/>
          <p:cNvSpPr/>
          <p:nvPr/>
        </p:nvSpPr>
        <p:spPr>
          <a:xfrm>
            <a:off x="8208112" y="4343400"/>
            <a:ext cx="1261872" cy="548640"/>
          </a:xfrm>
          <a:prstGeom prst="roundRect">
            <a:avLst>
              <a:gd name="adj" fmla="val 50000"/>
            </a:avLst>
          </a:prstGeom>
          <a:solidFill>
            <a:schemeClr val="accent3"/>
          </a:solidFill>
          <a:ln/>
        </p:spPr>
      </p:sp>
      <p:sp>
        <p:nvSpPr>
          <p:cNvPr id="9" name="Text 7"/>
          <p:cNvSpPr txBox="1"/>
          <p:nvPr/>
        </p:nvSpPr>
        <p:spPr>
          <a:xfrm>
            <a:off x="8208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الكافرون</a:t>
            </a:r>
            <a:endParaRPr lang="ar-SA" sz="1500" dirty="0"/>
          </a:p>
        </p:txBody>
      </p:sp>
      <p:sp>
        <p:nvSpPr>
          <p:cNvPr id="10" name="Shape 8"/>
          <p:cNvSpPr/>
          <p:nvPr/>
        </p:nvSpPr>
        <p:spPr>
          <a:xfrm>
            <a:off x="6836512" y="4343400"/>
            <a:ext cx="1261872" cy="548640"/>
          </a:xfrm>
          <a:prstGeom prst="roundRect">
            <a:avLst>
              <a:gd name="adj" fmla="val 50000"/>
            </a:avLst>
          </a:prstGeom>
          <a:solidFill>
            <a:schemeClr val="accent3"/>
          </a:solidFill>
          <a:ln/>
        </p:spPr>
      </p:sp>
      <p:sp>
        <p:nvSpPr>
          <p:cNvPr id="11" name="Text 9"/>
          <p:cNvSpPr txBox="1"/>
          <p:nvPr/>
        </p:nvSpPr>
        <p:spPr>
          <a:xfrm>
            <a:off x="68365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النصر</a:t>
            </a:r>
            <a:endParaRPr lang="ar-SA" sz="1500" dirty="0"/>
          </a:p>
        </p:txBody>
      </p:sp>
      <p:sp>
        <p:nvSpPr>
          <p:cNvPr id="12" name="Shape 10"/>
          <p:cNvSpPr/>
          <p:nvPr/>
        </p:nvSpPr>
        <p:spPr>
          <a:xfrm>
            <a:off x="5464912" y="4343400"/>
            <a:ext cx="1261872" cy="548640"/>
          </a:xfrm>
          <a:prstGeom prst="roundRect">
            <a:avLst>
              <a:gd name="adj" fmla="val 50000"/>
            </a:avLst>
          </a:prstGeom>
          <a:solidFill>
            <a:schemeClr val="accent3"/>
          </a:solidFill>
          <a:ln/>
        </p:spPr>
      </p:sp>
      <p:sp>
        <p:nvSpPr>
          <p:cNvPr id="13" name="Text 11"/>
          <p:cNvSpPr txBox="1"/>
          <p:nvPr/>
        </p:nvSpPr>
        <p:spPr>
          <a:xfrm>
            <a:off x="54649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المسد</a:t>
            </a:r>
            <a:endParaRPr lang="ar-SA" sz="1500" dirty="0"/>
          </a:p>
        </p:txBody>
      </p:sp>
      <p:sp>
        <p:nvSpPr>
          <p:cNvPr id="14" name="Shape 12"/>
          <p:cNvSpPr/>
          <p:nvPr/>
        </p:nvSpPr>
        <p:spPr>
          <a:xfrm>
            <a:off x="4093312" y="4343400"/>
            <a:ext cx="1261872" cy="548640"/>
          </a:xfrm>
          <a:prstGeom prst="roundRect">
            <a:avLst>
              <a:gd name="adj" fmla="val 50000"/>
            </a:avLst>
          </a:prstGeom>
          <a:solidFill>
            <a:schemeClr val="accent3"/>
          </a:solidFill>
          <a:ln/>
        </p:spPr>
      </p:sp>
      <p:sp>
        <p:nvSpPr>
          <p:cNvPr id="15" name="Text 13"/>
          <p:cNvSpPr txBox="1"/>
          <p:nvPr/>
        </p:nvSpPr>
        <p:spPr>
          <a:xfrm>
            <a:off x="40933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الإخلاص</a:t>
            </a:r>
            <a:endParaRPr lang="ar-SA" sz="1500" dirty="0"/>
          </a:p>
        </p:txBody>
      </p:sp>
      <p:sp>
        <p:nvSpPr>
          <p:cNvPr id="16" name="Shape 14"/>
          <p:cNvSpPr/>
          <p:nvPr/>
        </p:nvSpPr>
        <p:spPr>
          <a:xfrm>
            <a:off x="2721712" y="4343400"/>
            <a:ext cx="1261872" cy="548640"/>
          </a:xfrm>
          <a:prstGeom prst="roundRect">
            <a:avLst>
              <a:gd name="adj" fmla="val 50000"/>
            </a:avLst>
          </a:prstGeom>
          <a:solidFill>
            <a:schemeClr val="accent3"/>
          </a:solidFill>
          <a:ln/>
        </p:spPr>
      </p:sp>
      <p:sp>
        <p:nvSpPr>
          <p:cNvPr id="17" name="Text 15"/>
          <p:cNvSpPr txBox="1"/>
          <p:nvPr/>
        </p:nvSpPr>
        <p:spPr>
          <a:xfrm>
            <a:off x="27217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الفلق</a:t>
            </a:r>
            <a:endParaRPr lang="ar-SA" sz="1500" dirty="0"/>
          </a:p>
        </p:txBody>
      </p:sp>
      <p:sp>
        <p:nvSpPr>
          <p:cNvPr id="18" name="Shape 16"/>
          <p:cNvSpPr/>
          <p:nvPr/>
        </p:nvSpPr>
        <p:spPr>
          <a:xfrm>
            <a:off x="1350112" y="4343400"/>
            <a:ext cx="1261872" cy="548640"/>
          </a:xfrm>
          <a:prstGeom prst="roundRect">
            <a:avLst>
              <a:gd name="adj" fmla="val 50000"/>
            </a:avLst>
          </a:prstGeom>
          <a:solidFill>
            <a:schemeClr val="accent3"/>
          </a:solidFill>
          <a:ln/>
        </p:spPr>
      </p:sp>
      <p:sp>
        <p:nvSpPr>
          <p:cNvPr id="19" name="Text 17"/>
          <p:cNvSpPr txBox="1"/>
          <p:nvPr/>
        </p:nvSpPr>
        <p:spPr>
          <a:xfrm>
            <a:off x="1350112" y="4343400"/>
            <a:ext cx="1261872" cy="548640"/>
          </a:xfrm>
          <a:prstGeom prst="rect">
            <a:avLst/>
          </a:prstGeom>
          <a:noFill/>
          <a:ln/>
        </p:spPr>
        <p:txBody>
          <a:bodyPr wrap="square" lIns="0" tIns="0" rIns="0" bIns="0" rtlCol="0" anchor="ctr"/>
          <a:lstStyle/>
          <a:p>
            <a:pPr rtl="1" algn="ctr" indent="0" marL="0">
              <a:buNone/>
            </a:pPr>
            <a:r>
              <a:rPr lang="ar-SA" altLang="en-US" sz="1500" b="1" dirty="0">
                <a:solidFill>
                  <a:schemeClr val="bg1"/>
                </a:solidFill>
              </a:rPr>
              <a:t>الناس</a:t>
            </a:r>
            <a:endParaRPr lang="ar-SA"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١٠٨</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الكوثر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٣</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١٠٨</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تكريم النبي ﷺ بنهر الكوثر، والأمر بإخلاص الصلاة والنحر لله</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أعطيناك الكوثر﴾</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[الكوثر: 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حديث أنس: «أتدرون ما الكوثر؟ نهرٌ وعدنيه ربي عز وجل، عليه خير كثير» (مسلم).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«فصلّ لربك وانحر»: أي أخلص صلاتك وذبيحتك لله وحده.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«إن شانئك هو الأبتر»: مُبغض النبي ﷺ هو المقطوع ذكرُه، أما ذكر النبي ﷺ فباقٍ.</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من أحبّ النبي ﷺ واتّبعه رُجي له أن يرد حوضه يوم القيامة.</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١٠٩</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الكافرون</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٦</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١٠٩</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البراءة من الشرك، والوضوح في العقيدة</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﴿لكم دينكم ولي دين﴾</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[الكافرون: ٦]</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كثير: هذه السورة سورة البراءة من العمل الذي يعمله المشركون.</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أن النبي ﷺ كان يقرأ بها وبسورة الإخلاص في ركعتي الفجر وركعتي الطواف.</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لا مساومة في العبادة: فالمسلم لا يعبد إلا الله، ولا يشارك في عبادة غيره.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كن ثابتًا واضحًا في عقيدتك، مع حسن الخلق مع الناس.</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١١٠</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النصر</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٣</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مدنية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١١٠</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البشارة بفتح مكة، والإشارة إلى قرب أجل النبي ﷺ</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 بحمد ربك واستغفره إنه كان توابا﴾</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[النصر: ٣]</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نقل ابن كثير عن ابن عباس أنها آخر سورة نزلت من القرآن جميعًا (رواه 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الفتح هو فتح مكة، فدخل الناس بعده في دين الله أفواجًا.</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فهم ابن عباس وعمر رضي الله عنهما أنها إشارة إلى قرب أجل النبي ﷺ، فكان يكثر بعدها التسبيح والاستغفار.</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اختم كل عمل وإنجاز بالتسبيح والحمد والاستغفار.</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١١١</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المسد</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٥</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١١١</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مصير أبي لهب وامرأته لعداوتهما للنبي ﷺ</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﴿تبت يدا أبي لهب وتب﴾</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[المسد: 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أن النبي ﷺ صعد الصفا ودعا قريشًا، فقال أبو لهب: تبًّا لك، ألهذا جمعتنا؟ فنزلت.</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لم يُغنِ عنه ماله ولا ما كسب، وامرأته أم جميل حمّالة الحطب كانت تؤذي النبي ﷺ.</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من دلائل النبوة: أخبرت السورة بمصيره وهو حيّ، فمات على الكفر كما أخبر القرآن.</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القرابة والمال لا تنفع صاحبها إن لم يكن معها إيمان.</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١١٢</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الإخلاص</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٤</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١١٢</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توحيد الله وتنزيهه عن الشريك والولد والمثيل</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الله أحد﴾</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[الإخلاص: ١]</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ذكر ابن كثير أن المشركين قالوا للنبي ﷺ: انسب لنا ربك، فأنزل الله هذه السورة.</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تعدل ثلث القرآن كما في صحيح البخاري؛ لأنها خالصة في بيان صفات الله.</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الصمد: السيد الذي كمل في سؤدده، والذي تقصده الخلائق في حوائجها، كما نقل عن ابن عباس.</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الله واحد لا شبيه له، فلا نسأل ولا نعبد إلا إياه.</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١١٣</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الفلق</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٥</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١١٣</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الاستعاذة بالله من الشرور الظاهرة: السحر والحسد وظلمة الليل</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شر حاسد إذا حسد﴾</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[الفلق: ٥]</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حديث عقبة بن عامر: «ألم تر آيات أُنزلت الليلة لم يُرَ مثلهن قط؟» يعني المعوذتين (مسلم).</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الفلق هو الصبح، فنستعيذ برب الصبح من شر ما خلق، ومن شر الليل إذا أظلم.</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النفاثات في العقد: السواحر، والحاسد يتمنى زوال النعمة عن غيره.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حصّن نفسك بقراءة المعوذتين صباحًا ومساءً وعند النوم.</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9614916" y="411480"/>
            <a:ext cx="1188720" cy="1188720"/>
          </a:xfrm>
          <a:prstGeom prst="star8">
            <a:avLst/>
          </a:prstGeom>
          <a:solidFill>
            <a:schemeClr val="accent2"/>
          </a:solidFill>
          <a:ln/>
        </p:spPr>
      </p:sp>
      <p:sp>
        <p:nvSpPr>
          <p:cNvPr id="3" name="Text 1"/>
          <p:cNvSpPr txBox="1"/>
          <p:nvPr/>
        </p:nvSpPr>
        <p:spPr>
          <a:xfrm>
            <a:off x="9614916" y="411480"/>
            <a:ext cx="1188720" cy="1188720"/>
          </a:xfrm>
          <a:prstGeom prst="rect">
            <a:avLst/>
          </a:prstGeom>
          <a:noFill/>
          <a:ln/>
        </p:spPr>
        <p:txBody>
          <a:bodyPr wrap="square" lIns="0" tIns="0" rIns="0" bIns="0" rtlCol="0" anchor="ctr"/>
          <a:lstStyle/>
          <a:p>
            <a:pPr rtl="1" algn="ctr" indent="0" marL="0">
              <a:buNone/>
            </a:pPr>
            <a:r>
              <a:rPr lang="ar-SA" altLang="en-US" sz="2600" b="1" dirty="0">
                <a:solidFill>
                  <a:schemeClr val="tx2"/>
                </a:solidFill>
                <a:latin typeface="Arial" pitchFamily="34" charset="0"/>
                <a:ea typeface="Arial" pitchFamily="34" charset="-122"/>
                <a:cs typeface="Arial" pitchFamily="34" charset="-120"/>
              </a:rPr>
              <a:t>١١٤</a:t>
            </a:r>
            <a:endParaRPr lang="ar-SA" sz="2600" dirty="0"/>
          </a:p>
        </p:txBody>
      </p:sp>
      <p:sp>
        <p:nvSpPr>
          <p:cNvPr id="4" name="Text 1"/>
          <p:cNvSpPr/>
          <p:nvPr>
            <p:ph idx="101" type="title" hasCustomPrompt="1"/>
          </p:nvPr>
        </p:nvSpPr>
        <p:spPr>
          <a:xfrm>
            <a:off x="8503920" y="1691640"/>
            <a:ext cx="3410712" cy="914400"/>
          </a:xfrm>
          <a:prstGeom prst="rect">
            <a:avLst/>
          </a:prstGeom>
          <a:noFill/>
          <a:ln/>
        </p:spPr>
        <p:txBody>
          <a:bodyPr wrap="square" rtlCol="0" anchor="ctr"/>
          <a:lstStyle/>
          <a:p>
            <a:pPr rtl="1" algn="ctr" indent="0" marL="0">
              <a:buNone/>
            </a:pPr>
            <a:r>
              <a:rPr lang="en-US" sz="4400" b="1" dirty="0">
                <a:solidFill>
                  <a:schemeClr val="bg1"/>
                </a:solidFill>
                <a:latin typeface="Sakkal Majalla" pitchFamily="34" charset="0"/>
                <a:ea typeface="Sakkal Majalla" pitchFamily="34" charset="-122"/>
                <a:cs typeface="Sakkal Majalla" pitchFamily="34" charset="-120"/>
              </a:rPr>
              <a:t>سورة الناس</a:t>
            </a:r>
            <a:endParaRPr lang="en-US" sz="4400" dirty="0"/>
          </a:p>
        </p:txBody>
      </p:sp>
      <p:sp>
        <p:nvSpPr>
          <p:cNvPr id="5" name="Shape 3"/>
          <p:cNvSpPr/>
          <p:nvPr/>
        </p:nvSpPr>
        <p:spPr>
          <a:xfrm>
            <a:off x="8732520" y="2788920"/>
            <a:ext cx="2953512" cy="438912"/>
          </a:xfrm>
          <a:prstGeom prst="roundRect">
            <a:avLst>
              <a:gd name="adj" fmla="val 50000"/>
            </a:avLst>
          </a:prstGeom>
          <a:solidFill>
            <a:schemeClr val="accent3"/>
          </a:solidFill>
          <a:ln/>
        </p:spPr>
      </p:sp>
      <p:sp>
        <p:nvSpPr>
          <p:cNvPr id="6" name="Text 4"/>
          <p:cNvSpPr txBox="1"/>
          <p:nvPr/>
        </p:nvSpPr>
        <p:spPr>
          <a:xfrm>
            <a:off x="8732520" y="2788920"/>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عدد آياتها: ٦</a:t>
            </a:r>
            <a:endParaRPr lang="ar-SA" sz="1400" dirty="0"/>
          </a:p>
        </p:txBody>
      </p:sp>
      <p:sp>
        <p:nvSpPr>
          <p:cNvPr id="7" name="Shape 5"/>
          <p:cNvSpPr/>
          <p:nvPr/>
        </p:nvSpPr>
        <p:spPr>
          <a:xfrm>
            <a:off x="8732520" y="3355848"/>
            <a:ext cx="2953512" cy="438912"/>
          </a:xfrm>
          <a:prstGeom prst="roundRect">
            <a:avLst>
              <a:gd name="adj" fmla="val 50000"/>
            </a:avLst>
          </a:prstGeom>
          <a:solidFill>
            <a:schemeClr val="accent3"/>
          </a:solidFill>
          <a:ln/>
        </p:spPr>
      </p:sp>
      <p:sp>
        <p:nvSpPr>
          <p:cNvPr id="8" name="Text 6"/>
          <p:cNvSpPr txBox="1"/>
          <p:nvPr/>
        </p:nvSpPr>
        <p:spPr>
          <a:xfrm>
            <a:off x="8732520" y="3355848"/>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مكية</a:t>
            </a:r>
            <a:endParaRPr lang="ar-SA" sz="1400" dirty="0"/>
          </a:p>
        </p:txBody>
      </p:sp>
      <p:sp>
        <p:nvSpPr>
          <p:cNvPr id="9" name="Shape 7"/>
          <p:cNvSpPr/>
          <p:nvPr/>
        </p:nvSpPr>
        <p:spPr>
          <a:xfrm>
            <a:off x="8732520" y="3922776"/>
            <a:ext cx="2953512" cy="438912"/>
          </a:xfrm>
          <a:prstGeom prst="roundRect">
            <a:avLst>
              <a:gd name="adj" fmla="val 50000"/>
            </a:avLst>
          </a:prstGeom>
          <a:solidFill>
            <a:schemeClr val="accent3"/>
          </a:solidFill>
          <a:ln/>
        </p:spPr>
      </p:sp>
      <p:sp>
        <p:nvSpPr>
          <p:cNvPr id="10" name="Text 8"/>
          <p:cNvSpPr txBox="1"/>
          <p:nvPr/>
        </p:nvSpPr>
        <p:spPr>
          <a:xfrm>
            <a:off x="8732520" y="3922776"/>
            <a:ext cx="2953512" cy="438912"/>
          </a:xfrm>
          <a:prstGeom prst="rect">
            <a:avLst/>
          </a:prstGeom>
          <a:noFill/>
          <a:ln/>
        </p:spPr>
        <p:txBody>
          <a:bodyPr wrap="square" lIns="0" tIns="0" rIns="0" bIns="0" rtlCol="0" anchor="ctr"/>
          <a:lstStyle/>
          <a:p>
            <a:pPr rtl="1" algn="ctr" indent="0" marL="0">
              <a:buNone/>
            </a:pPr>
            <a:r>
              <a:rPr lang="ar-SA" altLang="en-US" sz="1400" b="1" dirty="0">
                <a:solidFill>
                  <a:schemeClr val="bg1"/>
                </a:solidFill>
              </a:rPr>
              <a:t>ترتيبها في المصحف: ١١٤</a:t>
            </a:r>
            <a:endParaRPr lang="ar-SA" sz="1400" dirty="0"/>
          </a:p>
        </p:txBody>
      </p:sp>
      <p:sp>
        <p:nvSpPr>
          <p:cNvPr id="11" name="Text 9"/>
          <p:cNvSpPr txBox="1"/>
          <p:nvPr/>
        </p:nvSpPr>
        <p:spPr>
          <a:xfrm>
            <a:off x="8595360" y="4663440"/>
            <a:ext cx="3227832" cy="365760"/>
          </a:xfrm>
          <a:prstGeom prst="rect">
            <a:avLst/>
          </a:prstGeom>
          <a:noFill/>
          <a:ln/>
        </p:spPr>
        <p:txBody>
          <a:bodyPr wrap="square" lIns="0" tIns="0" rIns="0" bIns="0" rtlCol="0" anchor="t"/>
          <a:lstStyle/>
          <a:p>
            <a:pPr rtl="1" algn="ctr" indent="0" marL="0">
              <a:buNone/>
            </a:pPr>
            <a:r>
              <a:rPr lang="ar-SA" altLang="en-US" sz="1600" b="1" dirty="0">
                <a:solidFill>
                  <a:schemeClr val="accent2"/>
                </a:solidFill>
              </a:rPr>
              <a:t>محور السورة</a:t>
            </a:r>
            <a:endParaRPr lang="ar-SA" sz="1600" dirty="0"/>
          </a:p>
        </p:txBody>
      </p:sp>
      <p:sp>
        <p:nvSpPr>
          <p:cNvPr id="12" name="Text 10"/>
          <p:cNvSpPr txBox="1"/>
          <p:nvPr/>
        </p:nvSpPr>
        <p:spPr>
          <a:xfrm>
            <a:off x="8595360" y="5074920"/>
            <a:ext cx="3227832" cy="1371600"/>
          </a:xfrm>
          <a:prstGeom prst="rect">
            <a:avLst/>
          </a:prstGeom>
          <a:noFill/>
          <a:ln/>
        </p:spPr>
        <p:txBody>
          <a:bodyPr wrap="square" lIns="0" tIns="0" rIns="0" bIns="0" rtlCol="0" anchor="t"/>
          <a:lstStyle/>
          <a:p>
            <a:pPr rtl="1" algn="ctr" indent="0" marL="0">
              <a:buNone/>
            </a:pPr>
            <a:r>
              <a:rPr lang="ar-SA" altLang="en-US" sz="1500" dirty="0">
                <a:solidFill>
                  <a:schemeClr val="bg1"/>
                </a:solidFill>
              </a:rPr>
              <a:t>الاستعاذة بالله من الشر الخفي: وسوسة الشيطان</a:t>
            </a:r>
            <a:endParaRPr lang="ar-SA" sz="1500" dirty="0"/>
          </a:p>
        </p:txBody>
      </p:sp>
      <p:sp>
        <p:nvSpPr>
          <p:cNvPr id="13" name="Shape 11"/>
          <p:cNvSpPr/>
          <p:nvPr/>
        </p:nvSpPr>
        <p:spPr>
          <a:xfrm>
            <a:off x="548640" y="457200"/>
            <a:ext cx="7269480" cy="1600200"/>
          </a:xfrm>
          <a:prstGeom prst="roundRect">
            <a:avLst>
              <a:gd name="adj" fmla="val 6857"/>
            </a:avLst>
          </a:prstGeom>
          <a:solidFill>
            <a:schemeClr val="bg2"/>
          </a:solidFill>
          <a:ln/>
        </p:spPr>
      </p:sp>
      <p:sp>
        <p:nvSpPr>
          <p:cNvPr id="14" name="Text 12"/>
          <p:cNvSpPr txBox="1"/>
          <p:nvPr/>
        </p:nvSpPr>
        <p:spPr>
          <a:xfrm>
            <a:off x="731520" y="502920"/>
            <a:ext cx="6903720" cy="1115568"/>
          </a:xfrm>
          <a:prstGeom prst="rect">
            <a:avLst/>
          </a:prstGeom>
          <a:noFill/>
          <a:ln/>
        </p:spPr>
        <p:txBody>
          <a:bodyPr wrap="square" lIns="0" tIns="0" rIns="0" bIns="0" rtlCol="0" anchor="ctr"/>
          <a:lstStyle/>
          <a:p>
            <a:pPr rtl="1" algn="ctr" indent="0" marL="0">
              <a:lnSpc>
                <a:spcPct val="95000"/>
              </a:lnSpc>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شر الوسواس الخناس﴾</a:t>
            </a:r>
            <a:endParaRPr lang="ar-SA" sz="3000" dirty="0"/>
          </a:p>
        </p:txBody>
      </p:sp>
      <p:sp>
        <p:nvSpPr>
          <p:cNvPr id="15" name="Text 13"/>
          <p:cNvSpPr txBox="1"/>
          <p:nvPr/>
        </p:nvSpPr>
        <p:spPr>
          <a:xfrm>
            <a:off x="731520" y="1664208"/>
            <a:ext cx="6903720" cy="320040"/>
          </a:xfrm>
          <a:prstGeom prst="rect">
            <a:avLst/>
          </a:prstGeom>
          <a:noFill/>
          <a:ln/>
        </p:spPr>
        <p:txBody>
          <a:bodyPr wrap="square" lIns="0" tIns="0" rIns="0" bIns="0" rtlCol="0" anchor="t"/>
          <a:lstStyle/>
          <a:p>
            <a:pPr rtl="1" algn="ctr" indent="0" marL="0">
              <a:buNone/>
            </a:pPr>
            <a:r>
              <a:rPr lang="ar-SA" altLang="en-US" sz="1200" dirty="0">
                <a:solidFill>
                  <a:schemeClr val="accent4"/>
                </a:solidFill>
              </a:rPr>
              <a:t>[الناس: ٤]</a:t>
            </a:r>
            <a:endParaRPr lang="ar-SA" sz="1200" dirty="0"/>
          </a:p>
        </p:txBody>
      </p:sp>
      <p:sp>
        <p:nvSpPr>
          <p:cNvPr id="16" name="Text 14"/>
          <p:cNvSpPr txBox="1"/>
          <p:nvPr/>
        </p:nvSpPr>
        <p:spPr>
          <a:xfrm>
            <a:off x="548640" y="2286000"/>
            <a:ext cx="7269480" cy="411480"/>
          </a:xfrm>
          <a:prstGeom prst="rect">
            <a:avLst/>
          </a:prstGeom>
          <a:noFill/>
          <a:ln/>
        </p:spPr>
        <p:txBody>
          <a:bodyPr wrap="square" lIns="0" tIns="0" rIns="0" bIns="0" rtlCol="0" anchor="t"/>
          <a:lstStyle/>
          <a:p>
            <a:pPr rtl="1" algn="r" indent="0" marL="0">
              <a:buNone/>
            </a:pPr>
            <a:r>
              <a:rPr lang="ar-SA" altLang="en-US" sz="1800" b="1" dirty="0">
                <a:solidFill>
                  <a:schemeClr val="accent3"/>
                </a:solidFill>
              </a:rPr>
              <a:t>قبسات من تفسير ابن كثير</a:t>
            </a:r>
            <a:endParaRPr lang="ar-SA" sz="1800" dirty="0"/>
          </a:p>
        </p:txBody>
      </p:sp>
      <p:sp>
        <p:nvSpPr>
          <p:cNvPr id="17" name="Shape 15"/>
          <p:cNvSpPr/>
          <p:nvPr/>
        </p:nvSpPr>
        <p:spPr>
          <a:xfrm>
            <a:off x="7498080" y="2852928"/>
            <a:ext cx="274320" cy="274320"/>
          </a:xfrm>
          <a:prstGeom prst="star8">
            <a:avLst/>
          </a:prstGeom>
          <a:solidFill>
            <a:schemeClr val="accent2"/>
          </a:solidFill>
          <a:ln/>
        </p:spPr>
      </p:sp>
      <p:sp>
        <p:nvSpPr>
          <p:cNvPr id="18" name="Text 16"/>
          <p:cNvSpPr txBox="1"/>
          <p:nvPr/>
        </p:nvSpPr>
        <p:spPr>
          <a:xfrm>
            <a:off x="548640" y="278892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نستعيذ بالله بثلاث صفات من صفاته: رب الناس، ملك الناس، إله الناس.</a:t>
            </a:r>
            <a:endParaRPr lang="ar-SA" sz="1500" dirty="0"/>
          </a:p>
        </p:txBody>
      </p:sp>
      <p:sp>
        <p:nvSpPr>
          <p:cNvPr id="19" name="Shape 17"/>
          <p:cNvSpPr/>
          <p:nvPr/>
        </p:nvSpPr>
        <p:spPr>
          <a:xfrm>
            <a:off x="7498080" y="3721608"/>
            <a:ext cx="274320" cy="274320"/>
          </a:xfrm>
          <a:prstGeom prst="star8">
            <a:avLst/>
          </a:prstGeom>
          <a:solidFill>
            <a:schemeClr val="accent2"/>
          </a:solidFill>
          <a:ln/>
        </p:spPr>
      </p:sp>
      <p:sp>
        <p:nvSpPr>
          <p:cNvPr id="20" name="Text 18"/>
          <p:cNvSpPr txBox="1"/>
          <p:nvPr/>
        </p:nvSpPr>
        <p:spPr>
          <a:xfrm>
            <a:off x="548640" y="365760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قال ابن عباس: الشيطان جاثم على قلب ابن آدم، فإذا غفل وسوس، وإذا ذكر الله خنس.</a:t>
            </a:r>
            <a:endParaRPr lang="ar-SA" sz="1500" dirty="0"/>
          </a:p>
        </p:txBody>
      </p:sp>
      <p:sp>
        <p:nvSpPr>
          <p:cNvPr id="21" name="Shape 19"/>
          <p:cNvSpPr/>
          <p:nvPr/>
        </p:nvSpPr>
        <p:spPr>
          <a:xfrm>
            <a:off x="7498080" y="4590288"/>
            <a:ext cx="274320" cy="274320"/>
          </a:xfrm>
          <a:prstGeom prst="star8">
            <a:avLst/>
          </a:prstGeom>
          <a:solidFill>
            <a:schemeClr val="accent2"/>
          </a:solidFill>
          <a:ln/>
        </p:spPr>
      </p:sp>
      <p:sp>
        <p:nvSpPr>
          <p:cNvPr id="22" name="Text 20"/>
          <p:cNvSpPr txBox="1"/>
          <p:nvPr/>
        </p:nvSpPr>
        <p:spPr>
          <a:xfrm>
            <a:off x="548640" y="4526280"/>
            <a:ext cx="6766560" cy="777240"/>
          </a:xfrm>
          <a:prstGeom prst="rect">
            <a:avLst/>
          </a:prstGeom>
          <a:noFill/>
          <a:ln/>
        </p:spPr>
        <p:txBody>
          <a:bodyPr wrap="square" lIns="0" tIns="0" rIns="0" bIns="0" rtlCol="0" anchor="t"/>
          <a:lstStyle/>
          <a:p>
            <a:pPr rtl="1" algn="r" indent="0" marL="0">
              <a:lnSpc>
                <a:spcPct val="105000"/>
              </a:lnSpc>
              <a:buNone/>
            </a:pPr>
            <a:r>
              <a:rPr lang="ar-SA" altLang="en-US" sz="1500" dirty="0">
                <a:solidFill>
                  <a:schemeClr val="tx1"/>
                </a:solidFill>
              </a:rPr>
              <a:t>أورد ابن كثير أن النبي ﷺ كان إذا أوى إلى فراشه قرأ الإخلاص والمعوذتين ونفث في كفيه ومسح جسده.</a:t>
            </a:r>
            <a:endParaRPr lang="ar-SA" sz="1500" dirty="0"/>
          </a:p>
        </p:txBody>
      </p:sp>
      <p:sp>
        <p:nvSpPr>
          <p:cNvPr id="23" name="Shape 21"/>
          <p:cNvSpPr/>
          <p:nvPr/>
        </p:nvSpPr>
        <p:spPr>
          <a:xfrm>
            <a:off x="548640" y="5440680"/>
            <a:ext cx="7269480" cy="868680"/>
          </a:xfrm>
          <a:prstGeom prst="roundRect">
            <a:avLst>
              <a:gd name="adj" fmla="val 12632"/>
            </a:avLst>
          </a:prstGeom>
          <a:solidFill>
            <a:schemeClr val="accent5"/>
          </a:solidFill>
          <a:ln/>
        </p:spPr>
      </p:sp>
      <p:sp>
        <p:nvSpPr>
          <p:cNvPr id="24" name="Text 22"/>
          <p:cNvSpPr txBox="1"/>
          <p:nvPr/>
        </p:nvSpPr>
        <p:spPr>
          <a:xfrm>
            <a:off x="777240" y="5440680"/>
            <a:ext cx="6812280" cy="868680"/>
          </a:xfrm>
          <a:prstGeom prst="rect">
            <a:avLst/>
          </a:prstGeom>
          <a:noFill/>
          <a:ln/>
        </p:spPr>
        <p:txBody>
          <a:bodyPr wrap="square" lIns="0" tIns="0" rIns="0" bIns="0" rtlCol="0" anchor="ctr"/>
          <a:lstStyle/>
          <a:p>
            <a:pPr rtl="1" algn="r" indent="0" marL="0">
              <a:buNone/>
            </a:pPr>
            <a:r>
              <a:rPr lang="ar-SA" altLang="en-US" sz="1600" b="1" dirty="0">
                <a:solidFill>
                  <a:schemeClr val="tx2"/>
                </a:solidFill>
              </a:rPr>
              <a:t>الدرس المستفاد: </a:t>
            </a:r>
            <a:pPr rtl="1" algn="r" indent="0" marL="0">
              <a:buNone/>
            </a:pPr>
            <a:r>
              <a:rPr lang="ar-SA" altLang="en-US" sz="1600" dirty="0">
                <a:solidFill>
                  <a:schemeClr val="tx1"/>
                </a:solidFill>
              </a:rPr>
              <a:t>ذكر الله هو السلاح الذي يطرد وسوسة الشيطان.</a:t>
            </a:r>
            <a:endParaRPr lang="ar-SA" sz="16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دروس جامعة من جزء عمّ</a:t>
            </a:r>
            <a:endParaRPr lang="en-US" sz="4000" dirty="0"/>
          </a:p>
        </p:txBody>
      </p:sp>
      <p:sp>
        <p:nvSpPr>
          <p:cNvPr id="3" name="Shape 1"/>
          <p:cNvSpPr/>
          <p:nvPr/>
        </p:nvSpPr>
        <p:spPr>
          <a:xfrm>
            <a:off x="8122615" y="1463040"/>
            <a:ext cx="3520440" cy="2148840"/>
          </a:xfrm>
          <a:prstGeom prst="roundRect">
            <a:avLst>
              <a:gd name="adj" fmla="val 5106"/>
            </a:avLst>
          </a:prstGeom>
          <a:solidFill>
            <a:schemeClr val="bg2"/>
          </a:solidFill>
          <a:ln/>
        </p:spPr>
      </p:sp>
      <p:sp>
        <p:nvSpPr>
          <p:cNvPr id="4" name="Shape 2"/>
          <p:cNvSpPr/>
          <p:nvPr/>
        </p:nvSpPr>
        <p:spPr>
          <a:xfrm>
            <a:off x="9498787" y="1691640"/>
            <a:ext cx="768096" cy="768096"/>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9690811" y="1883664"/>
            <a:ext cx="384048" cy="384048"/>
          </a:xfrm>
          <a:prstGeom prst="rect">
            <a:avLst/>
          </a:prstGeom>
        </p:spPr>
      </p:pic>
      <p:sp>
        <p:nvSpPr>
          <p:cNvPr id="6" name="Text 3"/>
          <p:cNvSpPr txBox="1"/>
          <p:nvPr/>
        </p:nvSpPr>
        <p:spPr>
          <a:xfrm>
            <a:off x="8305495" y="2560320"/>
            <a:ext cx="3154680" cy="457200"/>
          </a:xfrm>
          <a:prstGeom prst="rect">
            <a:avLst/>
          </a:prstGeom>
          <a:noFill/>
          <a:ln/>
        </p:spPr>
        <p:txBody>
          <a:bodyPr wrap="square" lIns="0" tIns="0" rIns="0" bIns="0" rtlCol="0" anchor="t"/>
          <a:lstStyle/>
          <a:p>
            <a:pPr rtl="1" algn="ctr" indent="0" marL="0">
              <a:buNone/>
            </a:pPr>
            <a:r>
              <a:rPr lang="ar-SA" altLang="en-US" sz="1900" b="1" dirty="0">
                <a:solidFill>
                  <a:schemeClr val="tx2"/>
                </a:solidFill>
              </a:rPr>
              <a:t>أخلص عبادتك لله</a:t>
            </a:r>
            <a:endParaRPr lang="ar-SA" sz="1900" dirty="0"/>
          </a:p>
        </p:txBody>
      </p:sp>
      <p:sp>
        <p:nvSpPr>
          <p:cNvPr id="7" name="Text 4"/>
          <p:cNvSpPr txBox="1"/>
          <p:nvPr/>
        </p:nvSpPr>
        <p:spPr>
          <a:xfrm>
            <a:off x="8305495" y="3035808"/>
            <a:ext cx="3154680" cy="365760"/>
          </a:xfrm>
          <a:prstGeom prst="rect">
            <a:avLst/>
          </a:prstGeom>
          <a:noFill/>
          <a:ln/>
        </p:spPr>
        <p:txBody>
          <a:bodyPr wrap="square" lIns="0" tIns="0" rIns="0" bIns="0" rtlCol="0" anchor="t"/>
          <a:lstStyle/>
          <a:p>
            <a:pPr rtl="1" algn="ctr" indent="0" marL="0">
              <a:buNone/>
            </a:pPr>
            <a:r>
              <a:rPr lang="ar-SA" altLang="en-US" sz="1300" dirty="0">
                <a:solidFill>
                  <a:schemeClr val="accent4"/>
                </a:solidFill>
              </a:rPr>
              <a:t>الإخلاص، الكافرون، البينة</a:t>
            </a:r>
            <a:endParaRPr lang="ar-SA" sz="1300" dirty="0"/>
          </a:p>
        </p:txBody>
      </p:sp>
      <p:sp>
        <p:nvSpPr>
          <p:cNvPr id="8" name="Shape 5"/>
          <p:cNvSpPr/>
          <p:nvPr/>
        </p:nvSpPr>
        <p:spPr>
          <a:xfrm>
            <a:off x="4327855" y="1463040"/>
            <a:ext cx="3520440" cy="2148840"/>
          </a:xfrm>
          <a:prstGeom prst="roundRect">
            <a:avLst>
              <a:gd name="adj" fmla="val 5106"/>
            </a:avLst>
          </a:prstGeom>
          <a:solidFill>
            <a:schemeClr val="bg2"/>
          </a:solidFill>
          <a:ln/>
        </p:spPr>
      </p:sp>
      <p:sp>
        <p:nvSpPr>
          <p:cNvPr id="9" name="Shape 6"/>
          <p:cNvSpPr/>
          <p:nvPr/>
        </p:nvSpPr>
        <p:spPr>
          <a:xfrm>
            <a:off x="5704027" y="1691640"/>
            <a:ext cx="768096" cy="768096"/>
          </a:xfrm>
          <a:prstGeom prst="ellipse">
            <a:avLst/>
          </a:prstGeom>
          <a:solidFill>
            <a:schemeClr val="tx2"/>
          </a:solidFill>
          <a:ln/>
        </p:spPr>
      </p:sp>
      <p:pic>
        <p:nvPicPr>
          <p:cNvPr id="10" name="Image 1" descr="preencoded.png">    </p:cNvPr>
          <p:cNvPicPr>
            <a:picLocks noChangeAspect="1"/>
          </p:cNvPicPr>
          <p:nvPr/>
        </p:nvPicPr>
        <p:blipFill>
          <a:blip r:embed="rId2"/>
          <a:stretch>
            <a:fillRect/>
          </a:stretch>
        </p:blipFill>
        <p:spPr>
          <a:xfrm>
            <a:off x="5896051" y="1883664"/>
            <a:ext cx="384048" cy="384048"/>
          </a:xfrm>
          <a:prstGeom prst="rect">
            <a:avLst/>
          </a:prstGeom>
        </p:spPr>
      </p:pic>
      <p:sp>
        <p:nvSpPr>
          <p:cNvPr id="11" name="Text 7"/>
          <p:cNvSpPr txBox="1"/>
          <p:nvPr/>
        </p:nvSpPr>
        <p:spPr>
          <a:xfrm>
            <a:off x="4510735" y="2560320"/>
            <a:ext cx="3154680" cy="457200"/>
          </a:xfrm>
          <a:prstGeom prst="rect">
            <a:avLst/>
          </a:prstGeom>
          <a:noFill/>
          <a:ln/>
        </p:spPr>
        <p:txBody>
          <a:bodyPr wrap="square" lIns="0" tIns="0" rIns="0" bIns="0" rtlCol="0" anchor="t"/>
          <a:lstStyle/>
          <a:p>
            <a:pPr rtl="1" algn="ctr" indent="0" marL="0">
              <a:buNone/>
            </a:pPr>
            <a:r>
              <a:rPr lang="ar-SA" altLang="en-US" sz="1900" b="1" dirty="0">
                <a:solidFill>
                  <a:schemeClr val="tx2"/>
                </a:solidFill>
              </a:rPr>
              <a:t>كل عمل محسوب</a:t>
            </a:r>
            <a:endParaRPr lang="ar-SA" sz="1900" dirty="0"/>
          </a:p>
        </p:txBody>
      </p:sp>
      <p:sp>
        <p:nvSpPr>
          <p:cNvPr id="12" name="Text 8"/>
          <p:cNvSpPr txBox="1"/>
          <p:nvPr/>
        </p:nvSpPr>
        <p:spPr>
          <a:xfrm>
            <a:off x="4510735" y="3035808"/>
            <a:ext cx="3154680" cy="365760"/>
          </a:xfrm>
          <a:prstGeom prst="rect">
            <a:avLst/>
          </a:prstGeom>
          <a:noFill/>
          <a:ln/>
        </p:spPr>
        <p:txBody>
          <a:bodyPr wrap="square" lIns="0" tIns="0" rIns="0" bIns="0" rtlCol="0" anchor="t"/>
          <a:lstStyle/>
          <a:p>
            <a:pPr rtl="1" algn="ctr" indent="0" marL="0">
              <a:buNone/>
            </a:pPr>
            <a:r>
              <a:rPr lang="ar-SA" altLang="en-US" sz="1300" dirty="0">
                <a:solidFill>
                  <a:schemeClr val="accent4"/>
                </a:solidFill>
              </a:rPr>
              <a:t>الزلزلة، القارعة، الانفطار</a:t>
            </a:r>
            <a:endParaRPr lang="ar-SA" sz="1300" dirty="0"/>
          </a:p>
        </p:txBody>
      </p:sp>
      <p:sp>
        <p:nvSpPr>
          <p:cNvPr id="13" name="Shape 9"/>
          <p:cNvSpPr/>
          <p:nvPr/>
        </p:nvSpPr>
        <p:spPr>
          <a:xfrm>
            <a:off x="533095" y="1463040"/>
            <a:ext cx="3520440" cy="2148840"/>
          </a:xfrm>
          <a:prstGeom prst="roundRect">
            <a:avLst>
              <a:gd name="adj" fmla="val 5106"/>
            </a:avLst>
          </a:prstGeom>
          <a:solidFill>
            <a:schemeClr val="bg2"/>
          </a:solidFill>
          <a:ln/>
        </p:spPr>
      </p:sp>
      <p:sp>
        <p:nvSpPr>
          <p:cNvPr id="14" name="Shape 10"/>
          <p:cNvSpPr/>
          <p:nvPr/>
        </p:nvSpPr>
        <p:spPr>
          <a:xfrm>
            <a:off x="1909267" y="1691640"/>
            <a:ext cx="768096" cy="768096"/>
          </a:xfrm>
          <a:prstGeom prst="ellipse">
            <a:avLst/>
          </a:prstGeom>
          <a:solidFill>
            <a:schemeClr val="tx2"/>
          </a:solidFill>
          <a:ln/>
        </p:spPr>
      </p:sp>
      <p:pic>
        <p:nvPicPr>
          <p:cNvPr id="15" name="Image 2" descr="preencoded.png">    </p:cNvPr>
          <p:cNvPicPr>
            <a:picLocks noChangeAspect="1"/>
          </p:cNvPicPr>
          <p:nvPr/>
        </p:nvPicPr>
        <p:blipFill>
          <a:blip r:embed="rId3"/>
          <a:stretch>
            <a:fillRect/>
          </a:stretch>
        </p:blipFill>
        <p:spPr>
          <a:xfrm>
            <a:off x="2101291" y="1883664"/>
            <a:ext cx="384048" cy="384048"/>
          </a:xfrm>
          <a:prstGeom prst="rect">
            <a:avLst/>
          </a:prstGeom>
        </p:spPr>
      </p:pic>
      <p:sp>
        <p:nvSpPr>
          <p:cNvPr id="16" name="Text 11"/>
          <p:cNvSpPr txBox="1"/>
          <p:nvPr/>
        </p:nvSpPr>
        <p:spPr>
          <a:xfrm>
            <a:off x="715975" y="2560320"/>
            <a:ext cx="3154680" cy="457200"/>
          </a:xfrm>
          <a:prstGeom prst="rect">
            <a:avLst/>
          </a:prstGeom>
          <a:noFill/>
          <a:ln/>
        </p:spPr>
        <p:txBody>
          <a:bodyPr wrap="square" lIns="0" tIns="0" rIns="0" bIns="0" rtlCol="0" anchor="t"/>
          <a:lstStyle/>
          <a:p>
            <a:pPr rtl="1" algn="ctr" indent="0" marL="0">
              <a:buNone/>
            </a:pPr>
            <a:r>
              <a:rPr lang="ar-SA" altLang="en-US" sz="1900" b="1" dirty="0">
                <a:solidFill>
                  <a:schemeClr val="tx2"/>
                </a:solidFill>
              </a:rPr>
              <a:t>مع العسر يسر</a:t>
            </a:r>
            <a:endParaRPr lang="ar-SA" sz="1900" dirty="0"/>
          </a:p>
        </p:txBody>
      </p:sp>
      <p:sp>
        <p:nvSpPr>
          <p:cNvPr id="17" name="Text 12"/>
          <p:cNvSpPr txBox="1"/>
          <p:nvPr/>
        </p:nvSpPr>
        <p:spPr>
          <a:xfrm>
            <a:off x="715975" y="3035808"/>
            <a:ext cx="3154680" cy="365760"/>
          </a:xfrm>
          <a:prstGeom prst="rect">
            <a:avLst/>
          </a:prstGeom>
          <a:noFill/>
          <a:ln/>
        </p:spPr>
        <p:txBody>
          <a:bodyPr wrap="square" lIns="0" tIns="0" rIns="0" bIns="0" rtlCol="0" anchor="t"/>
          <a:lstStyle/>
          <a:p>
            <a:pPr rtl="1" algn="ctr" indent="0" marL="0">
              <a:buNone/>
            </a:pPr>
            <a:r>
              <a:rPr lang="ar-SA" altLang="en-US" sz="1300" dirty="0">
                <a:solidFill>
                  <a:schemeClr val="accent4"/>
                </a:solidFill>
              </a:rPr>
              <a:t>الشرح، الضحى</a:t>
            </a:r>
            <a:endParaRPr lang="ar-SA" sz="1300" dirty="0"/>
          </a:p>
        </p:txBody>
      </p:sp>
      <p:sp>
        <p:nvSpPr>
          <p:cNvPr id="18" name="Shape 13"/>
          <p:cNvSpPr/>
          <p:nvPr/>
        </p:nvSpPr>
        <p:spPr>
          <a:xfrm>
            <a:off x="8122615" y="3886200"/>
            <a:ext cx="3520440" cy="2148840"/>
          </a:xfrm>
          <a:prstGeom prst="roundRect">
            <a:avLst>
              <a:gd name="adj" fmla="val 5106"/>
            </a:avLst>
          </a:prstGeom>
          <a:solidFill>
            <a:schemeClr val="bg2"/>
          </a:solidFill>
          <a:ln/>
        </p:spPr>
      </p:sp>
      <p:sp>
        <p:nvSpPr>
          <p:cNvPr id="19" name="Shape 14"/>
          <p:cNvSpPr/>
          <p:nvPr/>
        </p:nvSpPr>
        <p:spPr>
          <a:xfrm>
            <a:off x="9498787" y="4114800"/>
            <a:ext cx="768096" cy="768096"/>
          </a:xfrm>
          <a:prstGeom prst="ellipse">
            <a:avLst/>
          </a:prstGeom>
          <a:solidFill>
            <a:schemeClr val="tx2"/>
          </a:solidFill>
          <a:ln/>
        </p:spPr>
      </p:sp>
      <p:pic>
        <p:nvPicPr>
          <p:cNvPr id="20" name="Image 3" descr="preencoded.png">    </p:cNvPr>
          <p:cNvPicPr>
            <a:picLocks noChangeAspect="1"/>
          </p:cNvPicPr>
          <p:nvPr/>
        </p:nvPicPr>
        <p:blipFill>
          <a:blip r:embed="rId4"/>
          <a:stretch>
            <a:fillRect/>
          </a:stretch>
        </p:blipFill>
        <p:spPr>
          <a:xfrm>
            <a:off x="9690811" y="4306824"/>
            <a:ext cx="384048" cy="384048"/>
          </a:xfrm>
          <a:prstGeom prst="rect">
            <a:avLst/>
          </a:prstGeom>
        </p:spPr>
      </p:pic>
      <p:sp>
        <p:nvSpPr>
          <p:cNvPr id="21" name="Text 15"/>
          <p:cNvSpPr txBox="1"/>
          <p:nvPr/>
        </p:nvSpPr>
        <p:spPr>
          <a:xfrm>
            <a:off x="8305495" y="4983480"/>
            <a:ext cx="3154680" cy="457200"/>
          </a:xfrm>
          <a:prstGeom prst="rect">
            <a:avLst/>
          </a:prstGeom>
          <a:noFill/>
          <a:ln/>
        </p:spPr>
        <p:txBody>
          <a:bodyPr wrap="square" lIns="0" tIns="0" rIns="0" bIns="0" rtlCol="0" anchor="t"/>
          <a:lstStyle/>
          <a:p>
            <a:pPr rtl="1" algn="ctr" indent="0" marL="0">
              <a:buNone/>
            </a:pPr>
            <a:r>
              <a:rPr lang="ar-SA" altLang="en-US" sz="1900" b="1" dirty="0">
                <a:solidFill>
                  <a:schemeClr val="tx2"/>
                </a:solidFill>
              </a:rPr>
              <a:t>أحسِن إلى الضعفاء</a:t>
            </a:r>
            <a:endParaRPr lang="ar-SA" sz="1900" dirty="0"/>
          </a:p>
        </p:txBody>
      </p:sp>
      <p:sp>
        <p:nvSpPr>
          <p:cNvPr id="22" name="Text 16"/>
          <p:cNvSpPr txBox="1"/>
          <p:nvPr/>
        </p:nvSpPr>
        <p:spPr>
          <a:xfrm>
            <a:off x="8305495" y="5458968"/>
            <a:ext cx="3154680" cy="365760"/>
          </a:xfrm>
          <a:prstGeom prst="rect">
            <a:avLst/>
          </a:prstGeom>
          <a:noFill/>
          <a:ln/>
        </p:spPr>
        <p:txBody>
          <a:bodyPr wrap="square" lIns="0" tIns="0" rIns="0" bIns="0" rtlCol="0" anchor="t"/>
          <a:lstStyle/>
          <a:p>
            <a:pPr rtl="1" algn="ctr" indent="0" marL="0">
              <a:buNone/>
            </a:pPr>
            <a:r>
              <a:rPr lang="ar-SA" altLang="en-US" sz="1300" dirty="0">
                <a:solidFill>
                  <a:schemeClr val="accent4"/>
                </a:solidFill>
              </a:rPr>
              <a:t>عبس، البلد، الماعون</a:t>
            </a:r>
            <a:endParaRPr lang="ar-SA" sz="1300" dirty="0"/>
          </a:p>
        </p:txBody>
      </p:sp>
      <p:sp>
        <p:nvSpPr>
          <p:cNvPr id="23" name="Shape 17"/>
          <p:cNvSpPr/>
          <p:nvPr/>
        </p:nvSpPr>
        <p:spPr>
          <a:xfrm>
            <a:off x="4327855" y="3886200"/>
            <a:ext cx="3520440" cy="2148840"/>
          </a:xfrm>
          <a:prstGeom prst="roundRect">
            <a:avLst>
              <a:gd name="adj" fmla="val 5106"/>
            </a:avLst>
          </a:prstGeom>
          <a:solidFill>
            <a:schemeClr val="bg2"/>
          </a:solidFill>
          <a:ln/>
        </p:spPr>
      </p:sp>
      <p:sp>
        <p:nvSpPr>
          <p:cNvPr id="24" name="Shape 18"/>
          <p:cNvSpPr/>
          <p:nvPr/>
        </p:nvSpPr>
        <p:spPr>
          <a:xfrm>
            <a:off x="5704027" y="4114800"/>
            <a:ext cx="768096" cy="768096"/>
          </a:xfrm>
          <a:prstGeom prst="ellipse">
            <a:avLst/>
          </a:prstGeom>
          <a:solidFill>
            <a:schemeClr val="tx2"/>
          </a:solidFill>
          <a:ln/>
        </p:spPr>
      </p:sp>
      <p:pic>
        <p:nvPicPr>
          <p:cNvPr id="25" name="Image 4" descr="preencoded.png">    </p:cNvPr>
          <p:cNvPicPr>
            <a:picLocks noChangeAspect="1"/>
          </p:cNvPicPr>
          <p:nvPr/>
        </p:nvPicPr>
        <p:blipFill>
          <a:blip r:embed="rId5"/>
          <a:stretch>
            <a:fillRect/>
          </a:stretch>
        </p:blipFill>
        <p:spPr>
          <a:xfrm>
            <a:off x="5896051" y="4306824"/>
            <a:ext cx="384048" cy="384048"/>
          </a:xfrm>
          <a:prstGeom prst="rect">
            <a:avLst/>
          </a:prstGeom>
        </p:spPr>
      </p:pic>
      <p:sp>
        <p:nvSpPr>
          <p:cNvPr id="26" name="Text 19"/>
          <p:cNvSpPr txBox="1"/>
          <p:nvPr/>
        </p:nvSpPr>
        <p:spPr>
          <a:xfrm>
            <a:off x="4510735" y="4983480"/>
            <a:ext cx="3154680" cy="457200"/>
          </a:xfrm>
          <a:prstGeom prst="rect">
            <a:avLst/>
          </a:prstGeom>
          <a:noFill/>
          <a:ln/>
        </p:spPr>
        <p:txBody>
          <a:bodyPr wrap="square" lIns="0" tIns="0" rIns="0" bIns="0" rtlCol="0" anchor="t"/>
          <a:lstStyle/>
          <a:p>
            <a:pPr rtl="1" algn="ctr" indent="0" marL="0">
              <a:buNone/>
            </a:pPr>
            <a:r>
              <a:rPr lang="ar-SA" altLang="en-US" sz="1900" b="1" dirty="0">
                <a:solidFill>
                  <a:schemeClr val="tx2"/>
                </a:solidFill>
              </a:rPr>
              <a:t>زكِّ نفسك</a:t>
            </a:r>
            <a:endParaRPr lang="ar-SA" sz="1900" dirty="0"/>
          </a:p>
        </p:txBody>
      </p:sp>
      <p:sp>
        <p:nvSpPr>
          <p:cNvPr id="27" name="Text 20"/>
          <p:cNvSpPr txBox="1"/>
          <p:nvPr/>
        </p:nvSpPr>
        <p:spPr>
          <a:xfrm>
            <a:off x="4510735" y="5458968"/>
            <a:ext cx="3154680" cy="365760"/>
          </a:xfrm>
          <a:prstGeom prst="rect">
            <a:avLst/>
          </a:prstGeom>
          <a:noFill/>
          <a:ln/>
        </p:spPr>
        <p:txBody>
          <a:bodyPr wrap="square" lIns="0" tIns="0" rIns="0" bIns="0" rtlCol="0" anchor="t"/>
          <a:lstStyle/>
          <a:p>
            <a:pPr rtl="1" algn="ctr" indent="0" marL="0">
              <a:buNone/>
            </a:pPr>
            <a:r>
              <a:rPr lang="ar-SA" altLang="en-US" sz="1300" dirty="0">
                <a:solidFill>
                  <a:schemeClr val="accent4"/>
                </a:solidFill>
              </a:rPr>
              <a:t>الشمس، الأعلى، النازعات</a:t>
            </a:r>
            <a:endParaRPr lang="ar-SA" sz="1300" dirty="0"/>
          </a:p>
        </p:txBody>
      </p:sp>
      <p:sp>
        <p:nvSpPr>
          <p:cNvPr id="28" name="Shape 21"/>
          <p:cNvSpPr/>
          <p:nvPr/>
        </p:nvSpPr>
        <p:spPr>
          <a:xfrm>
            <a:off x="533095" y="3886200"/>
            <a:ext cx="3520440" cy="2148840"/>
          </a:xfrm>
          <a:prstGeom prst="roundRect">
            <a:avLst>
              <a:gd name="adj" fmla="val 5106"/>
            </a:avLst>
          </a:prstGeom>
          <a:solidFill>
            <a:schemeClr val="bg2"/>
          </a:solidFill>
          <a:ln/>
        </p:spPr>
      </p:sp>
      <p:sp>
        <p:nvSpPr>
          <p:cNvPr id="29" name="Shape 22"/>
          <p:cNvSpPr/>
          <p:nvPr/>
        </p:nvSpPr>
        <p:spPr>
          <a:xfrm>
            <a:off x="1909267" y="4114800"/>
            <a:ext cx="768096" cy="768096"/>
          </a:xfrm>
          <a:prstGeom prst="ellipse">
            <a:avLst/>
          </a:prstGeom>
          <a:solidFill>
            <a:schemeClr val="tx2"/>
          </a:solidFill>
          <a:ln/>
        </p:spPr>
      </p:sp>
      <p:pic>
        <p:nvPicPr>
          <p:cNvPr id="30" name="Image 5" descr="preencoded.png">    </p:cNvPr>
          <p:cNvPicPr>
            <a:picLocks noChangeAspect="1"/>
          </p:cNvPicPr>
          <p:nvPr/>
        </p:nvPicPr>
        <p:blipFill>
          <a:blip r:embed="rId6"/>
          <a:stretch>
            <a:fillRect/>
          </a:stretch>
        </p:blipFill>
        <p:spPr>
          <a:xfrm>
            <a:off x="2101291" y="4306824"/>
            <a:ext cx="384048" cy="384048"/>
          </a:xfrm>
          <a:prstGeom prst="rect">
            <a:avLst/>
          </a:prstGeom>
        </p:spPr>
      </p:pic>
      <p:sp>
        <p:nvSpPr>
          <p:cNvPr id="31" name="Text 23"/>
          <p:cNvSpPr txBox="1"/>
          <p:nvPr/>
        </p:nvSpPr>
        <p:spPr>
          <a:xfrm>
            <a:off x="715975" y="4983480"/>
            <a:ext cx="3154680" cy="457200"/>
          </a:xfrm>
          <a:prstGeom prst="rect">
            <a:avLst/>
          </a:prstGeom>
          <a:noFill/>
          <a:ln/>
        </p:spPr>
        <p:txBody>
          <a:bodyPr wrap="square" lIns="0" tIns="0" rIns="0" bIns="0" rtlCol="0" anchor="t"/>
          <a:lstStyle/>
          <a:p>
            <a:pPr rtl="1" algn="ctr" indent="0" marL="0">
              <a:buNone/>
            </a:pPr>
            <a:r>
              <a:rPr lang="ar-SA" altLang="en-US" sz="1900" b="1" dirty="0">
                <a:solidFill>
                  <a:schemeClr val="tx2"/>
                </a:solidFill>
              </a:rPr>
              <a:t>تحصّن بذكر الله</a:t>
            </a:r>
            <a:endParaRPr lang="ar-SA" sz="1900" dirty="0"/>
          </a:p>
        </p:txBody>
      </p:sp>
      <p:sp>
        <p:nvSpPr>
          <p:cNvPr id="32" name="Text 24"/>
          <p:cNvSpPr txBox="1"/>
          <p:nvPr/>
        </p:nvSpPr>
        <p:spPr>
          <a:xfrm>
            <a:off x="715975" y="5458968"/>
            <a:ext cx="3154680" cy="365760"/>
          </a:xfrm>
          <a:prstGeom prst="rect">
            <a:avLst/>
          </a:prstGeom>
          <a:noFill/>
          <a:ln/>
        </p:spPr>
        <p:txBody>
          <a:bodyPr wrap="square" lIns="0" tIns="0" rIns="0" bIns="0" rtlCol="0" anchor="t"/>
          <a:lstStyle/>
          <a:p>
            <a:pPr rtl="1" algn="ctr" indent="0" marL="0">
              <a:buNone/>
            </a:pPr>
            <a:r>
              <a:rPr lang="ar-SA" altLang="en-US" sz="1300" dirty="0">
                <a:solidFill>
                  <a:schemeClr val="accent4"/>
                </a:solidFill>
              </a:rPr>
              <a:t>الفلق، الناس</a:t>
            </a:r>
            <a:endParaRPr lang="ar-SA" sz="13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nchor="ctr"/>
          <a:lstStyle/>
          <a:p>
            <a:pPr rtl="1" algn="r" indent="0" marL="0">
              <a:buNone/>
            </a:pPr>
            <a:r>
              <a:rPr lang="en-US" sz="4000" b="1" dirty="0">
                <a:solidFill>
                  <a:schemeClr val="tx2"/>
                </a:solidFill>
                <a:latin typeface="Sakkal Majalla" pitchFamily="34" charset="0"/>
                <a:ea typeface="Sakkal Majalla" pitchFamily="34" charset="-122"/>
                <a:cs typeface="Sakkal Majalla" pitchFamily="34" charset="-120"/>
              </a:rPr>
              <a:t>اختبر فهمك</a:t>
            </a:r>
            <a:endParaRPr lang="en-US" sz="4000" dirty="0"/>
          </a:p>
        </p:txBody>
      </p:sp>
      <p:sp>
        <p:nvSpPr>
          <p:cNvPr id="3" name="Shape 1"/>
          <p:cNvSpPr/>
          <p:nvPr/>
        </p:nvSpPr>
        <p:spPr>
          <a:xfrm>
            <a:off x="6248095" y="1463040"/>
            <a:ext cx="5394960" cy="1325880"/>
          </a:xfrm>
          <a:prstGeom prst="roundRect">
            <a:avLst>
              <a:gd name="adj" fmla="val 8276"/>
            </a:avLst>
          </a:prstGeom>
          <a:solidFill>
            <a:schemeClr val="bg2"/>
          </a:solidFill>
          <a:ln/>
        </p:spPr>
      </p:sp>
      <p:sp>
        <p:nvSpPr>
          <p:cNvPr id="4" name="Shape 2"/>
          <p:cNvSpPr/>
          <p:nvPr/>
        </p:nvSpPr>
        <p:spPr>
          <a:xfrm>
            <a:off x="10682935" y="1737360"/>
            <a:ext cx="777240" cy="777240"/>
          </a:xfrm>
          <a:prstGeom prst="star8">
            <a:avLst/>
          </a:prstGeom>
          <a:solidFill>
            <a:schemeClr val="accent2"/>
          </a:solidFill>
          <a:ln/>
        </p:spPr>
      </p:sp>
      <p:sp>
        <p:nvSpPr>
          <p:cNvPr id="5" name="Text 3"/>
          <p:cNvSpPr txBox="1"/>
          <p:nvPr/>
        </p:nvSpPr>
        <p:spPr>
          <a:xfrm>
            <a:off x="10682935" y="1737360"/>
            <a:ext cx="777240" cy="777240"/>
          </a:xfrm>
          <a:prstGeom prst="rect">
            <a:avLst/>
          </a:prstGeom>
          <a:noFill/>
          <a:ln/>
        </p:spPr>
        <p:txBody>
          <a:bodyPr wrap="square" lIns="0" tIns="0" rIns="0" bIns="0" rtlCol="0" anchor="ctr"/>
          <a:lstStyle/>
          <a:p>
            <a:pPr rtl="1" algn="ctr" indent="0" marL="0">
              <a:buNone/>
            </a:pPr>
            <a:r>
              <a:rPr lang="ar-SA" altLang="en-US" sz="2000" b="1" dirty="0">
                <a:solidFill>
                  <a:schemeClr val="tx2"/>
                </a:solidFill>
                <a:latin typeface="Arial" pitchFamily="34" charset="0"/>
                <a:ea typeface="Arial" pitchFamily="34" charset="-122"/>
                <a:cs typeface="Arial" pitchFamily="34" charset="-120"/>
              </a:rPr>
              <a:t>١</a:t>
            </a:r>
            <a:endParaRPr lang="ar-SA" sz="2000" dirty="0"/>
          </a:p>
        </p:txBody>
      </p:sp>
      <p:sp>
        <p:nvSpPr>
          <p:cNvPr id="6" name="Text 4"/>
          <p:cNvSpPr txBox="1"/>
          <p:nvPr/>
        </p:nvSpPr>
        <p:spPr>
          <a:xfrm>
            <a:off x="6522415" y="1645920"/>
            <a:ext cx="3977640" cy="960120"/>
          </a:xfrm>
          <a:prstGeom prst="rect">
            <a:avLst/>
          </a:prstGeom>
          <a:noFill/>
          <a:ln/>
        </p:spPr>
        <p:txBody>
          <a:bodyPr wrap="square" lIns="0" tIns="0" rIns="0" bIns="0" rtlCol="0" anchor="ctr"/>
          <a:lstStyle/>
          <a:p>
            <a:pPr rtl="1" algn="r" indent="0" marL="0">
              <a:buNone/>
            </a:pPr>
            <a:r>
              <a:rPr lang="ar-SA" altLang="en-US" sz="1700" b="1" dirty="0">
                <a:solidFill>
                  <a:schemeClr val="tx1"/>
                </a:solidFill>
              </a:rPr>
              <a:t>ما أول ما نزل من القرآن الكريم؟</a:t>
            </a:r>
            <a:endParaRPr lang="ar-SA" sz="1700" dirty="0"/>
          </a:p>
        </p:txBody>
      </p:sp>
      <p:sp>
        <p:nvSpPr>
          <p:cNvPr id="7" name="Shape 5"/>
          <p:cNvSpPr/>
          <p:nvPr/>
        </p:nvSpPr>
        <p:spPr>
          <a:xfrm>
            <a:off x="551383" y="1463040"/>
            <a:ext cx="5394960" cy="1325880"/>
          </a:xfrm>
          <a:prstGeom prst="roundRect">
            <a:avLst>
              <a:gd name="adj" fmla="val 8276"/>
            </a:avLst>
          </a:prstGeom>
          <a:solidFill>
            <a:schemeClr val="bg2"/>
          </a:solidFill>
          <a:ln/>
        </p:spPr>
      </p:sp>
      <p:sp>
        <p:nvSpPr>
          <p:cNvPr id="8" name="Shape 6"/>
          <p:cNvSpPr/>
          <p:nvPr/>
        </p:nvSpPr>
        <p:spPr>
          <a:xfrm>
            <a:off x="4986223" y="1737360"/>
            <a:ext cx="777240" cy="777240"/>
          </a:xfrm>
          <a:prstGeom prst="star8">
            <a:avLst/>
          </a:prstGeom>
          <a:solidFill>
            <a:schemeClr val="accent2"/>
          </a:solidFill>
          <a:ln/>
        </p:spPr>
      </p:sp>
      <p:sp>
        <p:nvSpPr>
          <p:cNvPr id="9" name="Text 7"/>
          <p:cNvSpPr txBox="1"/>
          <p:nvPr/>
        </p:nvSpPr>
        <p:spPr>
          <a:xfrm>
            <a:off x="4986223" y="1737360"/>
            <a:ext cx="777240" cy="777240"/>
          </a:xfrm>
          <a:prstGeom prst="rect">
            <a:avLst/>
          </a:prstGeom>
          <a:noFill/>
          <a:ln/>
        </p:spPr>
        <p:txBody>
          <a:bodyPr wrap="square" lIns="0" tIns="0" rIns="0" bIns="0" rtlCol="0" anchor="ctr"/>
          <a:lstStyle/>
          <a:p>
            <a:pPr rtl="1" algn="ctr" indent="0" marL="0">
              <a:buNone/>
            </a:pPr>
            <a:r>
              <a:rPr lang="ar-SA" altLang="en-US" sz="2000" b="1" dirty="0">
                <a:solidFill>
                  <a:schemeClr val="tx2"/>
                </a:solidFill>
                <a:latin typeface="Arial" pitchFamily="34" charset="0"/>
                <a:ea typeface="Arial" pitchFamily="34" charset="-122"/>
                <a:cs typeface="Arial" pitchFamily="34" charset="-120"/>
              </a:rPr>
              <a:t>٢</a:t>
            </a:r>
            <a:endParaRPr lang="ar-SA" sz="2000" dirty="0"/>
          </a:p>
        </p:txBody>
      </p:sp>
      <p:sp>
        <p:nvSpPr>
          <p:cNvPr id="10" name="Text 8"/>
          <p:cNvSpPr txBox="1"/>
          <p:nvPr/>
        </p:nvSpPr>
        <p:spPr>
          <a:xfrm>
            <a:off x="825703" y="1645920"/>
            <a:ext cx="3977640" cy="960120"/>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أي سورة تعدل ثلث القرآن؟</a:t>
            </a:r>
            <a:endParaRPr lang="ar-SA" sz="1700" dirty="0"/>
          </a:p>
        </p:txBody>
      </p:sp>
      <p:sp>
        <p:nvSpPr>
          <p:cNvPr id="11" name="Shape 9"/>
          <p:cNvSpPr/>
          <p:nvPr/>
        </p:nvSpPr>
        <p:spPr>
          <a:xfrm>
            <a:off x="6248095" y="3063240"/>
            <a:ext cx="5394960" cy="1325880"/>
          </a:xfrm>
          <a:prstGeom prst="roundRect">
            <a:avLst>
              <a:gd name="adj" fmla="val 8276"/>
            </a:avLst>
          </a:prstGeom>
          <a:solidFill>
            <a:schemeClr val="bg2"/>
          </a:solidFill>
          <a:ln/>
        </p:spPr>
      </p:sp>
      <p:sp>
        <p:nvSpPr>
          <p:cNvPr id="12" name="Shape 10"/>
          <p:cNvSpPr/>
          <p:nvPr/>
        </p:nvSpPr>
        <p:spPr>
          <a:xfrm>
            <a:off x="10682935" y="3337560"/>
            <a:ext cx="777240" cy="777240"/>
          </a:xfrm>
          <a:prstGeom prst="star8">
            <a:avLst/>
          </a:prstGeom>
          <a:solidFill>
            <a:schemeClr val="accent2"/>
          </a:solidFill>
          <a:ln/>
        </p:spPr>
      </p:sp>
      <p:sp>
        <p:nvSpPr>
          <p:cNvPr id="13" name="Text 11"/>
          <p:cNvSpPr txBox="1"/>
          <p:nvPr/>
        </p:nvSpPr>
        <p:spPr>
          <a:xfrm>
            <a:off x="10682935" y="3337560"/>
            <a:ext cx="777240" cy="777240"/>
          </a:xfrm>
          <a:prstGeom prst="rect">
            <a:avLst/>
          </a:prstGeom>
          <a:noFill/>
          <a:ln/>
        </p:spPr>
        <p:txBody>
          <a:bodyPr wrap="square" lIns="0" tIns="0" rIns="0" bIns="0" rtlCol="0" anchor="ctr"/>
          <a:lstStyle/>
          <a:p>
            <a:pPr rtl="1" algn="ctr" indent="0" marL="0">
              <a:buNone/>
            </a:pPr>
            <a:r>
              <a:rPr lang="ar-SA" altLang="en-US" sz="2000" b="1" dirty="0">
                <a:solidFill>
                  <a:schemeClr val="tx2"/>
                </a:solidFill>
                <a:latin typeface="Arial" pitchFamily="34" charset="0"/>
                <a:ea typeface="Arial" pitchFamily="34" charset="-122"/>
                <a:cs typeface="Arial" pitchFamily="34" charset="-120"/>
              </a:rPr>
              <a:t>٣</a:t>
            </a:r>
            <a:endParaRPr lang="ar-SA" sz="2000" dirty="0"/>
          </a:p>
        </p:txBody>
      </p:sp>
      <p:sp>
        <p:nvSpPr>
          <p:cNvPr id="14" name="Text 12"/>
          <p:cNvSpPr txBox="1"/>
          <p:nvPr/>
        </p:nvSpPr>
        <p:spPr>
          <a:xfrm>
            <a:off x="6522415" y="3246120"/>
            <a:ext cx="3977640" cy="960120"/>
          </a:xfrm>
          <a:prstGeom prst="rect">
            <a:avLst/>
          </a:prstGeom>
          <a:noFill/>
          <a:ln/>
        </p:spPr>
        <p:txBody>
          <a:bodyPr wrap="square" lIns="0" tIns="0" rIns="0" bIns="0" rtlCol="0" anchor="ctr"/>
          <a:lstStyle/>
          <a:p>
            <a:pPr rtl="1" algn="r" indent="0" marL="0">
              <a:buNone/>
            </a:pPr>
            <a:r>
              <a:rPr lang="ar-SA" altLang="en-US" sz="1700" b="1" dirty="0">
                <a:solidFill>
                  <a:schemeClr val="tx1"/>
                </a:solidFill>
              </a:rPr>
              <a:t>ما الشروط الأربعة للنجاة في سورة العصر؟</a:t>
            </a:r>
            <a:endParaRPr lang="ar-SA" sz="1700" dirty="0"/>
          </a:p>
        </p:txBody>
      </p:sp>
      <p:sp>
        <p:nvSpPr>
          <p:cNvPr id="15" name="Shape 13"/>
          <p:cNvSpPr/>
          <p:nvPr/>
        </p:nvSpPr>
        <p:spPr>
          <a:xfrm>
            <a:off x="551383" y="3063240"/>
            <a:ext cx="5394960" cy="1325880"/>
          </a:xfrm>
          <a:prstGeom prst="roundRect">
            <a:avLst>
              <a:gd name="adj" fmla="val 8276"/>
            </a:avLst>
          </a:prstGeom>
          <a:solidFill>
            <a:schemeClr val="bg2"/>
          </a:solidFill>
          <a:ln/>
        </p:spPr>
      </p:sp>
      <p:sp>
        <p:nvSpPr>
          <p:cNvPr id="16" name="Shape 14"/>
          <p:cNvSpPr/>
          <p:nvPr/>
        </p:nvSpPr>
        <p:spPr>
          <a:xfrm>
            <a:off x="4986223" y="3337560"/>
            <a:ext cx="777240" cy="777240"/>
          </a:xfrm>
          <a:prstGeom prst="star8">
            <a:avLst/>
          </a:prstGeom>
          <a:solidFill>
            <a:schemeClr val="accent2"/>
          </a:solidFill>
          <a:ln/>
        </p:spPr>
      </p:sp>
      <p:sp>
        <p:nvSpPr>
          <p:cNvPr id="17" name="Text 15"/>
          <p:cNvSpPr txBox="1"/>
          <p:nvPr/>
        </p:nvSpPr>
        <p:spPr>
          <a:xfrm>
            <a:off x="4986223" y="3337560"/>
            <a:ext cx="777240" cy="777240"/>
          </a:xfrm>
          <a:prstGeom prst="rect">
            <a:avLst/>
          </a:prstGeom>
          <a:noFill/>
          <a:ln/>
        </p:spPr>
        <p:txBody>
          <a:bodyPr wrap="square" lIns="0" tIns="0" rIns="0" bIns="0" rtlCol="0" anchor="ctr"/>
          <a:lstStyle/>
          <a:p>
            <a:pPr rtl="1" algn="ctr" indent="0" marL="0">
              <a:buNone/>
            </a:pPr>
            <a:r>
              <a:rPr lang="ar-SA" altLang="en-US" sz="2000" b="1" dirty="0">
                <a:solidFill>
                  <a:schemeClr val="tx2"/>
                </a:solidFill>
                <a:latin typeface="Arial" pitchFamily="34" charset="0"/>
                <a:ea typeface="Arial" pitchFamily="34" charset="-122"/>
                <a:cs typeface="Arial" pitchFamily="34" charset="-120"/>
              </a:rPr>
              <a:t>٤</a:t>
            </a:r>
            <a:endParaRPr lang="ar-SA" sz="2000" dirty="0"/>
          </a:p>
        </p:txBody>
      </p:sp>
      <p:sp>
        <p:nvSpPr>
          <p:cNvPr id="18" name="Text 16"/>
          <p:cNvSpPr txBox="1"/>
          <p:nvPr/>
        </p:nvSpPr>
        <p:spPr>
          <a:xfrm>
            <a:off x="825703" y="3246120"/>
            <a:ext cx="3977640" cy="960120"/>
          </a:xfrm>
          <a:prstGeom prst="rect">
            <a:avLst/>
          </a:prstGeom>
          <a:noFill/>
          <a:ln/>
        </p:spPr>
        <p:txBody>
          <a:bodyPr wrap="square" lIns="0" tIns="0" rIns="0" bIns="0" rtlCol="0" anchor="ctr"/>
          <a:lstStyle/>
          <a:p>
            <a:pPr rtl="1" algn="r" indent="0" marL="0">
              <a:buNone/>
            </a:pPr>
            <a:r>
              <a:rPr lang="ar-SA" altLang="en-US" sz="1700" b="1" dirty="0">
                <a:solidFill>
                  <a:schemeClr val="tx1"/>
                </a:solidFill>
              </a:rPr>
              <a:t>ما المقصود بالليالي العشر في سورة الفجر؟</a:t>
            </a:r>
            <a:endParaRPr lang="ar-SA" sz="1700" dirty="0"/>
          </a:p>
        </p:txBody>
      </p:sp>
      <p:sp>
        <p:nvSpPr>
          <p:cNvPr id="19" name="Shape 17"/>
          <p:cNvSpPr/>
          <p:nvPr/>
        </p:nvSpPr>
        <p:spPr>
          <a:xfrm>
            <a:off x="6248095" y="4663440"/>
            <a:ext cx="5394960" cy="1325880"/>
          </a:xfrm>
          <a:prstGeom prst="roundRect">
            <a:avLst>
              <a:gd name="adj" fmla="val 8276"/>
            </a:avLst>
          </a:prstGeom>
          <a:solidFill>
            <a:schemeClr val="bg2"/>
          </a:solidFill>
          <a:ln/>
        </p:spPr>
      </p:sp>
      <p:sp>
        <p:nvSpPr>
          <p:cNvPr id="20" name="Shape 18"/>
          <p:cNvSpPr/>
          <p:nvPr/>
        </p:nvSpPr>
        <p:spPr>
          <a:xfrm>
            <a:off x="10682935" y="4937760"/>
            <a:ext cx="777240" cy="777240"/>
          </a:xfrm>
          <a:prstGeom prst="star8">
            <a:avLst/>
          </a:prstGeom>
          <a:solidFill>
            <a:schemeClr val="accent2"/>
          </a:solidFill>
          <a:ln/>
        </p:spPr>
      </p:sp>
      <p:sp>
        <p:nvSpPr>
          <p:cNvPr id="21" name="Text 19"/>
          <p:cNvSpPr txBox="1"/>
          <p:nvPr/>
        </p:nvSpPr>
        <p:spPr>
          <a:xfrm>
            <a:off x="10682935" y="4937760"/>
            <a:ext cx="777240" cy="777240"/>
          </a:xfrm>
          <a:prstGeom prst="rect">
            <a:avLst/>
          </a:prstGeom>
          <a:noFill/>
          <a:ln/>
        </p:spPr>
        <p:txBody>
          <a:bodyPr wrap="square" lIns="0" tIns="0" rIns="0" bIns="0" rtlCol="0" anchor="ctr"/>
          <a:lstStyle/>
          <a:p>
            <a:pPr rtl="1" algn="ctr" indent="0" marL="0">
              <a:buNone/>
            </a:pPr>
            <a:r>
              <a:rPr lang="ar-SA" altLang="en-US" sz="2000" b="1" dirty="0">
                <a:solidFill>
                  <a:schemeClr val="tx2"/>
                </a:solidFill>
                <a:latin typeface="Arial" pitchFamily="34" charset="0"/>
                <a:ea typeface="Arial" pitchFamily="34" charset="-122"/>
                <a:cs typeface="Arial" pitchFamily="34" charset="-120"/>
              </a:rPr>
              <a:t>٥</a:t>
            </a:r>
            <a:endParaRPr lang="ar-SA" sz="2000" dirty="0"/>
          </a:p>
        </p:txBody>
      </p:sp>
      <p:sp>
        <p:nvSpPr>
          <p:cNvPr id="22" name="Text 20"/>
          <p:cNvSpPr txBox="1"/>
          <p:nvPr/>
        </p:nvSpPr>
        <p:spPr>
          <a:xfrm>
            <a:off x="6522415" y="4846320"/>
            <a:ext cx="3977640" cy="960120"/>
          </a:xfrm>
          <a:prstGeom prst="rect">
            <a:avLst/>
          </a:prstGeom>
          <a:noFill/>
          <a:ln/>
        </p:spPr>
        <p:txBody>
          <a:bodyPr wrap="square" lIns="0" tIns="0" rIns="0" bIns="0" rtlCol="0" anchor="ctr"/>
          <a:lstStyle/>
          <a:p>
            <a:pPr rtl="1" algn="r" indent="0" marL="0">
              <a:buNone/>
            </a:pPr>
            <a:r>
              <a:rPr lang="ar-SA" altLang="en-US" sz="1700" b="1" dirty="0">
                <a:solidFill>
                  <a:schemeClr val="tx1"/>
                </a:solidFill>
              </a:rPr>
              <a:t>ما الكوثر الذي أعطاه الله لنبيه ﷺ؟</a:t>
            </a:r>
            <a:endParaRPr lang="ar-SA" sz="1700" dirty="0"/>
          </a:p>
        </p:txBody>
      </p:sp>
      <p:sp>
        <p:nvSpPr>
          <p:cNvPr id="23" name="Shape 21"/>
          <p:cNvSpPr/>
          <p:nvPr/>
        </p:nvSpPr>
        <p:spPr>
          <a:xfrm>
            <a:off x="551383" y="4663440"/>
            <a:ext cx="5394960" cy="1325880"/>
          </a:xfrm>
          <a:prstGeom prst="roundRect">
            <a:avLst>
              <a:gd name="adj" fmla="val 8276"/>
            </a:avLst>
          </a:prstGeom>
          <a:solidFill>
            <a:schemeClr val="bg2"/>
          </a:solidFill>
          <a:ln/>
        </p:spPr>
      </p:sp>
      <p:sp>
        <p:nvSpPr>
          <p:cNvPr id="24" name="Shape 22"/>
          <p:cNvSpPr/>
          <p:nvPr/>
        </p:nvSpPr>
        <p:spPr>
          <a:xfrm>
            <a:off x="4986223" y="4937760"/>
            <a:ext cx="777240" cy="777240"/>
          </a:xfrm>
          <a:prstGeom prst="star8">
            <a:avLst/>
          </a:prstGeom>
          <a:solidFill>
            <a:schemeClr val="accent2"/>
          </a:solidFill>
          <a:ln/>
        </p:spPr>
      </p:sp>
      <p:sp>
        <p:nvSpPr>
          <p:cNvPr id="25" name="Text 23"/>
          <p:cNvSpPr txBox="1"/>
          <p:nvPr/>
        </p:nvSpPr>
        <p:spPr>
          <a:xfrm>
            <a:off x="4986223" y="4937760"/>
            <a:ext cx="777240" cy="777240"/>
          </a:xfrm>
          <a:prstGeom prst="rect">
            <a:avLst/>
          </a:prstGeom>
          <a:noFill/>
          <a:ln/>
        </p:spPr>
        <p:txBody>
          <a:bodyPr wrap="square" lIns="0" tIns="0" rIns="0" bIns="0" rtlCol="0" anchor="ctr"/>
          <a:lstStyle/>
          <a:p>
            <a:pPr rtl="1" algn="ctr" indent="0" marL="0">
              <a:buNone/>
            </a:pPr>
            <a:r>
              <a:rPr lang="ar-SA" altLang="en-US" sz="2000" b="1" dirty="0">
                <a:solidFill>
                  <a:schemeClr val="tx2"/>
                </a:solidFill>
                <a:latin typeface="Arial" pitchFamily="34" charset="0"/>
                <a:ea typeface="Arial" pitchFamily="34" charset="-122"/>
                <a:cs typeface="Arial" pitchFamily="34" charset="-120"/>
              </a:rPr>
              <a:t>٦</a:t>
            </a:r>
            <a:endParaRPr lang="ar-SA" sz="2000" dirty="0"/>
          </a:p>
        </p:txBody>
      </p:sp>
      <p:sp>
        <p:nvSpPr>
          <p:cNvPr id="26" name="Text 24"/>
          <p:cNvSpPr txBox="1"/>
          <p:nvPr/>
        </p:nvSpPr>
        <p:spPr>
          <a:xfrm>
            <a:off x="825703" y="4846320"/>
            <a:ext cx="3977640" cy="960120"/>
          </a:xfrm>
          <a:prstGeom prst="rect">
            <a:avLst/>
          </a:prstGeom>
          <a:noFill/>
          <a:ln/>
        </p:spPr>
        <p:txBody>
          <a:bodyPr wrap="square" lIns="0" tIns="0" rIns="0" bIns="0" rtlCol="0" anchor="ctr"/>
          <a:lstStyle/>
          <a:p>
            <a:pPr rtl="1" algn="r" indent="0" marL="0">
              <a:buNone/>
            </a:pPr>
            <a:r>
              <a:rPr lang="ar-SA" altLang="en-US" sz="1700" b="1" dirty="0">
                <a:solidFill>
                  <a:schemeClr val="tx1"/>
                </a:solidFill>
              </a:rPr>
              <a:t>ما معنى «الماعون» كما فسّره ابن مسعود؟</a:t>
            </a:r>
            <a:endParaRPr lang="ar-SA" sz="1700" dirty="0"/>
          </a:p>
        </p:txBody>
      </p:sp>
      <p:sp>
        <p:nvSpPr>
          <p:cNvPr id="25" name="Slide Number Placeholder 0"/>
          <p:cNvSpPr>
            <a:spLocks noGrp="1"/>
          </p:cNvSpPr>
          <p:nvPr>
            <p:ph type="sldNum" sz="quarter" idx="4294967295"/>
          </p:nvPr>
        </p:nvSpPr>
        <p:spPr>
          <a:xfrm>
            <a:off x="4114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star8">
            <a:avLst/>
          </a:prstGeom>
          <a:solidFill>
            <a:schemeClr val="accent3">
              <a:alpha val="30000"/>
            </a:schemeClr>
          </a:solidFill>
          <a:ln/>
        </p:spPr>
      </p:sp>
      <p:sp>
        <p:nvSpPr>
          <p:cNvPr id="3" name="Shape 1"/>
          <p:cNvSpPr/>
          <p:nvPr/>
        </p:nvSpPr>
        <p:spPr>
          <a:xfrm>
            <a:off x="9448495" y="4114800"/>
            <a:ext cx="4206240" cy="4206240"/>
          </a:xfrm>
          <a:prstGeom prst="star8">
            <a:avLst/>
          </a:prstGeom>
          <a:solidFill>
            <a:schemeClr val="accent3">
              <a:alpha val="30000"/>
            </a:schemeClr>
          </a:solidFill>
          <a:ln/>
        </p:spPr>
      </p:sp>
      <p:sp>
        <p:nvSpPr>
          <p:cNvPr id="4" name="Shape 2"/>
          <p:cNvSpPr/>
          <p:nvPr/>
        </p:nvSpPr>
        <p:spPr>
          <a:xfrm>
            <a:off x="5684368" y="1143000"/>
            <a:ext cx="822960" cy="822960"/>
          </a:xfrm>
          <a:prstGeom prst="star8">
            <a:avLst/>
          </a:prstGeom>
          <a:solidFill>
            <a:schemeClr val="accent2"/>
          </a:solidFill>
          <a:ln/>
        </p:spPr>
      </p:sp>
      <p:sp>
        <p:nvSpPr>
          <p:cNvPr id="5" name="Text 0"/>
          <p:cNvSpPr/>
          <p:nvPr>
            <p:ph idx="100" type="title" hasCustomPrompt="1"/>
          </p:nvPr>
        </p:nvSpPr>
        <p:spPr>
          <a:xfrm>
            <a:off x="1097280" y="2377440"/>
            <a:ext cx="9997135" cy="1280160"/>
          </a:xfrm>
          <a:prstGeom prst="rect">
            <a:avLst/>
          </a:prstGeom>
          <a:noFill/>
          <a:ln/>
        </p:spPr>
        <p:txBody>
          <a:bodyPr wrap="square" rtlCol="0" anchor="ctr"/>
          <a:lstStyle/>
          <a:p>
            <a:pPr rtl="1" algn="ctr" indent="0" marL="0">
              <a:buNone/>
            </a:pPr>
            <a:r>
              <a:rPr lang="en-US" sz="6000" b="1" dirty="0">
                <a:solidFill>
                  <a:schemeClr val="bg1"/>
                </a:solidFill>
                <a:latin typeface="Sakkal Majalla" pitchFamily="34" charset="0"/>
                <a:ea typeface="Sakkal Majalla" pitchFamily="34" charset="-122"/>
                <a:cs typeface="Sakkal Majalla" pitchFamily="34" charset="-120"/>
              </a:rPr>
              <a:t>جزاكم الله خيرًا</a:t>
            </a:r>
            <a:endParaRPr lang="en-US" sz="6000" dirty="0"/>
          </a:p>
        </p:txBody>
      </p:sp>
      <p:sp>
        <p:nvSpPr>
          <p:cNvPr id="6" name="Text 4"/>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2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200" dirty="0"/>
          </a:p>
        </p:txBody>
      </p:sp>
      <p:sp>
        <p:nvSpPr>
          <p:cNvPr id="7" name="Text 5"/>
          <p:cNvSpPr txBox="1"/>
          <p:nvPr/>
        </p:nvSpPr>
        <p:spPr>
          <a:xfrm>
            <a:off x="1371600" y="4937760"/>
            <a:ext cx="9448495" cy="365760"/>
          </a:xfrm>
          <a:prstGeom prst="rect">
            <a:avLst/>
          </a:prstGeom>
          <a:noFill/>
          <a:ln/>
        </p:spPr>
        <p:txBody>
          <a:bodyPr wrap="square" lIns="0" tIns="0" rIns="0" bIns="0" rtlCol="0" anchor="t"/>
          <a:lstStyle/>
          <a:p>
            <a:pPr rtl="1" algn="ctr" indent="0" marL="0">
              <a:buNone/>
            </a:pPr>
            <a:r>
              <a:rPr lang="ar-SA" altLang="en-US" sz="1400" dirty="0">
                <a:solidFill>
                  <a:schemeClr val="bg2"/>
                </a:solidFill>
              </a:rPr>
              <a:t>المرجع: تفسير القرآن العظيم، للحافظ ابن كثير رحمه الله</a:t>
            </a:r>
            <a:endParaRPr lang="ar-SA" sz="1400" dirty="0"/>
          </a:p>
        </p:txBody>
      </p:sp>
    </p:spTree>
  </p:cSld>
  <p:clrMapOvr>
    <a:masterClrMapping/>
  </p:clrMapOvr>
</p:sld>
</file>

<file path=ppt/theme/theme1.xml><?xml version="1.0" encoding="utf-8"?>
<a:theme xmlns:a="http://schemas.openxmlformats.org/drawingml/2006/main" name="Juz Amma">
  <a:themeElements>
    <a:clrScheme name="Juz Amma">
      <a:dk1>
        <a:srgbClr val="1F2A2E"/>
      </a:dk1>
      <a:lt1>
        <a:srgbClr val="FFFFFF"/>
      </a:lt1>
      <a:dk2>
        <a:srgbClr val="0E4D4A"/>
      </a:dk2>
      <a:lt2>
        <a:srgbClr val="EEF4F2"/>
      </a:lt2>
      <a:accent1>
        <a:srgbClr val="0E4D4A"/>
      </a:accent1>
      <a:accent2>
        <a:srgbClr val="C9A24A"/>
      </a:accent2>
      <a:accent3>
        <a:srgbClr val="2E7D6F"/>
      </a:accent3>
      <a:accent4>
        <a:srgbClr val="6B7C78"/>
      </a:accent4>
      <a:accent5>
        <a:srgbClr val="F6EEDA"/>
      </a:accent5>
      <a:accent6>
        <a:srgbClr val="E1EDEA"/>
      </a:accent6>
      <a:hlink>
        <a:srgbClr val="2E7D6F"/>
      </a:hlink>
      <a:folHlink>
        <a:srgbClr val="6B7C78"/>
      </a:folHlink>
    </a:clrScheme>
    <a:fontScheme name="Juz Amma">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قبسات من تفسير ابن كثير لجزء عمّ</dc:title>
  <dc:subject>PptxGenJS Presentation</dc:subject>
  <dc:creator>معلم القرآن الكريم</dc:creator>
  <cp:lastModifiedBy>معلم القرآن الكريم</cp:lastModifiedBy>
  <cp:revision>1</cp:revision>
  <dcterms:created xsi:type="dcterms:W3CDTF">2026-10-03T18:14:58Z</dcterms:created>
  <dcterms:modified xsi:type="dcterms:W3CDTF">2026-10-03T18:14:58Z</dcterms:modified>
</cp:coreProperties>
</file>