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Lst>
  <p:notesMasterIdLst>
    <p:notesMasterId r:id="rId2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698bc4ea-854b-bb9b-0f77-ae2b1ff8f9e1}">
          <p14:sldIdLst>
            <p14:sldId id="256"/>
            <p14:sldId id="257"/>
            <p14:sldId id="258"/>
            <p14:sldId id="259"/>
          </p14:sldIdLst>
        </p14:section>
        <p14:section name="1. آيات الله وعناد المكذّبين" id="{a60a8c6e-2b3c-928b-1f04-2bcb91ed3183}">
          <p14:sldIdLst>
            <p14:sldId id="260"/>
            <p14:sldId id="261"/>
            <p14:sldId id="262"/>
            <p14:sldId id="263"/>
            <p14:sldId id="264"/>
            <p14:sldId id="265"/>
            <p14:sldId id="266"/>
            <p14:sldId id="267"/>
            <p14:sldId id="268"/>
            <p14:sldId id="269"/>
            <p14:sldId id="270"/>
          </p14:sldIdLst>
        </p14:section>
        <p14:section name="2. حقيقة الدنيا وتحدّي القرآن" id="{56d37ca4-5e9a-a1a1-8e61-10bbbf9e765c}">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Lst>
        </p14:section>
        <p14:section name="3. الموعظة وأولياء الله" id="{b2cd8dbb-fe70-ea8d-0423-8fb4803d80b4}">
          <p14:sldIdLst>
            <p14:sldId id="289"/>
            <p14:sldId id="290"/>
            <p14:sldId id="291"/>
            <p14:sldId id="292"/>
            <p14:sldId id="293"/>
            <p14:sldId id="294"/>
            <p14:sldId id="295"/>
          </p14:sldIdLst>
        </p14:section>
        <p14:section name="4. نوح وموسى وقوم يونس" id="{1e78e6ae-1cdd-4d45-3382-bfa322b60b5e}">
          <p14:sldIdLst>
            <p14:sldId id="296"/>
            <p14:sldId id="297"/>
            <p14:sldId id="298"/>
            <p14:sldId id="299"/>
            <p14:sldId id="300"/>
            <p14:sldId id="301"/>
            <p14:sldId id="302"/>
            <p14:sldId id="303"/>
            <p14:sldId id="304"/>
            <p14:sldId id="305"/>
            <p14:sldId id="306"/>
            <p14:sldId id="307"/>
            <p14:sldId id="308"/>
            <p14:sldId id="309"/>
            <p14:sldId id="310"/>
            <p14:sldId id="311"/>
            <p14:sldId id="312"/>
            <p14:sldId id="313"/>
          </p14:sldIdLst>
        </p14:section>
        <p14:section name="5. إحكام الكتاب ورزق كل دابة" id="{ae910663-6d1f-db53-348b-e83d274de4e0}">
          <p14:sldIdLst>
            <p14:sldId id="314"/>
            <p14:sldId id="315"/>
            <p14:sldId id="316"/>
            <p14:sldId id="317"/>
            <p14:sldId id="318"/>
            <p14:sldId id="319"/>
            <p14:sldId id="320"/>
            <p14:sldId id="321"/>
            <p14:sldId id="322"/>
            <p14:sldId id="323"/>
            <p14:sldId id="324"/>
            <p14:sldId id="325"/>
          </p14:sldIdLst>
        </p14:section>
        <p14:section name="6. نوح والطوفان" id="{cc781822-7f17-86ab-2899-d0f18a7bf838}">
          <p14:sldIdLst>
            <p14:sldId id="326"/>
            <p14:sldId id="327"/>
            <p14:sldId id="328"/>
            <p14:sldId id="329"/>
            <p14:sldId id="330"/>
            <p14:sldId id="331"/>
            <p14:sldId id="332"/>
            <p14:sldId id="333"/>
            <p14:sldId id="334"/>
            <p14:sldId id="335"/>
            <p14:sldId id="336"/>
            <p14:sldId id="337"/>
            <p14:sldId id="338"/>
          </p14:sldIdLst>
        </p14:section>
        <p14:section name="7. هود وصالح وإبراهيم ولوط" id="{12e35eb3-c99b-ccdf-e5b5-02e98b33de8e}">
          <p14:sldIdLst>
            <p14:sldId id="339"/>
            <p14:sldId id="340"/>
            <p14:sldId id="341"/>
            <p14:sldId id="342"/>
            <p14:sldId id="343"/>
            <p14:sldId id="344"/>
            <p14:sldId id="345"/>
            <p14:sldId id="346"/>
            <p14:sldId id="347"/>
            <p14:sldId id="348"/>
            <p14:sldId id="349"/>
            <p14:sldId id="350"/>
            <p14:sldId id="351"/>
            <p14:sldId id="352"/>
            <p14:sldId id="353"/>
            <p14:sldId id="354"/>
          </p14:sldIdLst>
        </p14:section>
        <p14:section name="8. شعيب ودروس الأمم" id="{15a1fe2c-03d1-c460-7467-60ad8ca03862}">
          <p14:sldIdLst>
            <p14:sldId id="355"/>
            <p14:sldId id="356"/>
            <p14:sldId id="357"/>
            <p14:sldId id="358"/>
            <p14:sldId id="359"/>
            <p14:sldId id="360"/>
            <p14:sldId id="361"/>
            <p14:sldId id="362"/>
            <p14:sldId id="363"/>
            <p14:sldId id="364"/>
            <p14:sldId id="365"/>
            <p14:sldId id="366"/>
            <p14:sldId id="367"/>
            <p14:sldId id="368"/>
            <p14:sldId id="369"/>
            <p14:sldId id="370"/>
            <p14:sldId id="371"/>
          </p14:sldIdLst>
        </p14:section>
        <p14:section name="9. الرؤيا وغيابة الجب" id="{576238f3-07fd-5450-534c-40b6de7e38b9}">
          <p14:sldIdLst>
            <p14:sldId id="372"/>
            <p14:sldId id="373"/>
            <p14:sldId id="374"/>
            <p14:sldId id="375"/>
            <p14:sldId id="376"/>
            <p14:sldId id="377"/>
            <p14:sldId id="378"/>
            <p14:sldId id="379"/>
            <p14:sldId id="380"/>
            <p14:sldId id="381"/>
          </p14:sldIdLst>
        </p14:section>
        <p14:section name="10. في بيت العزيز" id="{93d40c68-ced4-d1d6-91c4-15a4b3506fee}">
          <p14:sldIdLst>
            <p14:sldId id="382"/>
            <p14:sldId id="383"/>
            <p14:sldId id="384"/>
            <p14:sldId id="385"/>
            <p14:sldId id="386"/>
            <p14:sldId id="387"/>
            <p14:sldId id="388"/>
            <p14:sldId id="389"/>
          </p14:sldIdLst>
        </p14:section>
        <p14:section name="11. في السجن ثم التمكين" id="{14521c0f-854f-43cb-8e45-3f07557f0f23}">
          <p14:sldIdLst>
            <p14:sldId id="390"/>
            <p14:sldId id="391"/>
            <p14:sldId id="392"/>
            <p14:sldId id="393"/>
            <p14:sldId id="394"/>
            <p14:sldId id="395"/>
            <p14:sldId id="396"/>
            <p14:sldId id="397"/>
            <p14:sldId id="398"/>
            <p14:sldId id="399"/>
            <p14:sldId id="400"/>
          </p14:sldIdLst>
        </p14:section>
        <p14:section name="12. لقاء الإخوة" id="{362eec24-3cf1-1532-0b89-7c5d4d517eba}">
          <p14:sldIdLst>
            <p14:sldId id="401"/>
            <p14:sldId id="402"/>
            <p14:sldId id="403"/>
            <p14:sldId id="404"/>
            <p14:sldId id="405"/>
            <p14:sldId id="406"/>
            <p14:sldId id="407"/>
            <p14:sldId id="408"/>
            <p14:sldId id="409"/>
            <p14:sldId id="410"/>
            <p14:sldId id="411"/>
            <p14:sldId id="412"/>
            <p14:sldId id="413"/>
          </p14:sldIdLst>
        </p14:section>
        <p14:section name="13. لمّ الشمل وتحقّق الرؤيا" id="{72a63ad0-9821-75c3-f742-0731b731bb8d}">
          <p14:sldIdLst>
            <p14:sldId id="414"/>
            <p14:sldId id="415"/>
            <p14:sldId id="416"/>
            <p14:sldId id="417"/>
            <p14:sldId id="418"/>
            <p14:sldId id="419"/>
            <p14:sldId id="420"/>
            <p14:sldId id="421"/>
            <p14:sldId id="422"/>
            <p14:sldId id="423"/>
            <p14:sldId id="424"/>
            <p14:sldId id="425"/>
            <p14:sldId id="426"/>
            <p14:sldId id="427"/>
          </p14:sldIdLst>
        </p14:section>
        <p14:section name="14. آيات الله ومثَل الحق والباطل" id="{25686650-4905-7ba2-057d-1013d8d998e9}">
          <p14:sldIdLst>
            <p14:sldId id="428"/>
            <p14:sldId id="429"/>
            <p14:sldId id="430"/>
            <p14:sldId id="431"/>
            <p14:sldId id="432"/>
            <p14:sldId id="433"/>
            <p14:sldId id="434"/>
            <p14:sldId id="435"/>
            <p14:sldId id="436"/>
            <p14:sldId id="437"/>
            <p14:sldId id="438"/>
          </p14:sldIdLst>
        </p14:section>
        <p14:section name="15. صفات أولي الألباب" id="{d833a7d3-9684-17b1-b29f-248e4f911cca}">
          <p14:sldIdLst>
            <p14:sldId id="439"/>
            <p14:sldId id="440"/>
            <p14:sldId id="441"/>
            <p14:sldId id="442"/>
            <p14:sldId id="443"/>
            <p14:sldId id="444"/>
            <p14:sldId id="445"/>
            <p14:sldId id="446"/>
            <p14:sldId id="447"/>
            <p14:sldId id="448"/>
            <p14:sldId id="449"/>
            <p14:sldId id="450"/>
            <p14:sldId id="451"/>
            <p14:sldId id="452"/>
          </p14:sldIdLst>
        </p14:section>
        <p14:section name="16. دعوة الرسل والكلمة الطيبة" id="{a5e24664-b46b-2bb4-3a78-6007dcf4ad16}">
          <p14:sldIdLst>
            <p14:sldId id="453"/>
            <p14:sldId id="454"/>
            <p14:sldId id="455"/>
            <p14:sldId id="456"/>
            <p14:sldId id="457"/>
            <p14:sldId id="458"/>
            <p14:sldId id="459"/>
            <p14:sldId id="460"/>
            <p14:sldId id="461"/>
            <p14:sldId id="462"/>
            <p14:sldId id="463"/>
            <p14:sldId id="464"/>
            <p14:sldId id="465"/>
            <p14:sldId id="466"/>
            <p14:sldId id="467"/>
          </p14:sldIdLst>
        </p14:section>
        <p14:section name="17. نعم الله ودعاء إبراهيم" id="{664a1ab2-0974-8880-d8e6-7e191e439be7}">
          <p14:sldIdLst>
            <p14:sldId id="468"/>
            <p14:sldId id="469"/>
            <p14:sldId id="470"/>
            <p14:sldId id="471"/>
            <p14:sldId id="472"/>
            <p14:sldId id="473"/>
            <p14:sldId id="474"/>
            <p14:sldId id="475"/>
            <p14:sldId id="476"/>
            <p14:sldId id="477"/>
          </p14:sldIdLst>
        </p14:section>
        <p14:section name="الخاتمة" id="{7cb79cf7-5371-df7e-3ce7-8e517f0c1b82}">
          <p14:sldIdLst>
            <p14:sldId id="4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notesMaster" Target="notesMasters/notesMaster1.xml"/><Relationship Id="rId226" Type="http://schemas.openxmlformats.org/officeDocument/2006/relationships/presProps" Target="presProps.xml"/><Relationship Id="rId227" Type="http://schemas.openxmlformats.org/officeDocument/2006/relationships/viewProps" Target="viewProps.xml"/><Relationship Id="rId228" Type="http://schemas.openxmlformats.org/officeDocument/2006/relationships/theme" Target="theme/theme1.xml"/><Relationship Id="rId2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السور الخمس إلى سبعة عشر مقطعًا موضوعيًّا، في أول كل مقطع سبب النزول ومقصد المقطع، ثم تفسير آياته بالترتيب.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يقول أهل الجنة في دعائهم وتحيتهم (الآية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«الزيادة» التي وُعد بها المحسنون في الآية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هم أولياء الله كما في الآيتين 62–63؟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لم ينفع فرعون إيمانه حين أدركه الغرق (الآيتان 90–91)؟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يرزق كل دابة على الأرض (الآية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لم يكن ابن نوح من أهله الذين وُعد بنجاتهم (الآية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وعد هود قومه إن استغفروا وتابوا (الآية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شعيب عن هدفه في الآية 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نصح يعقوب ابنه يوسف بعد الرؤيا (الآية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يوسف حين دُعي إلى المعصية (الآية 23)؟ وماذا اختار في الآية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بدأ يوسف مع صاحبيه قبل تفسير الرؤيا (الآيات 37–40)؟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أوصى يعقوب أبناءه أن يدخلوا من أبواب متفرّقة (الآية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يوسف لإخوته بعد أن عرفوه (الآية 92)؟ وما الدرس منه؟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شبّه الله الباطل في الآية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تطمئن القلوب كما في الآية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وعد الله الشاكرين في الآية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ثلاثة أشياء دعا بها إبراهيم في الآيات 35–41.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014/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014/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014/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image" Target="../media/image-223-1.png"/><Relationship Id="rId2" Type="http://schemas.openxmlformats.org/officeDocument/2006/relationships/image" Target="../media/image-223-2.png"/><Relationship Id="rId3" Type="http://schemas.openxmlformats.org/officeDocument/2006/relationships/slideLayout" Target="../slideLayouts/slideLayout4.xml"/><Relationship Id="rId4" Type="http://schemas.openxmlformats.org/officeDocument/2006/relationships/notesSlide" Target="../notesSlides/notesSlide2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014/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514600"/>
            <a:ext cx="10728655" cy="1097280"/>
          </a:xfrm>
          <a:prstGeom prst="rect">
            <a:avLst/>
          </a:prstGeom>
          <a:noFill/>
          <a:ln/>
        </p:spPr>
        <p:txBody>
          <a:bodyPr wrap="square" lIns="0" tIns="0" rIns="0" bIns="0" rtlCol="0" anchor="ctr"/>
          <a:lstStyle/>
          <a:p>
            <a:pPr rtl="1" algn="ctr" indent="0" marL="0">
              <a:buNone/>
            </a:pPr>
            <a:r>
              <a:rPr lang="ar-SA" altLang="en-US" sz="4400" b="1" dirty="0">
                <a:solidFill>
                  <a:schemeClr val="bg1"/>
                </a:solidFill>
                <a:latin typeface="Sakkal Majalla" pitchFamily="34" charset="0"/>
                <a:ea typeface="Sakkal Majalla" pitchFamily="34" charset="-122"/>
                <a:cs typeface="Sakkal Majalla" pitchFamily="34" charset="-120"/>
              </a:rPr>
              <a:t>تفسير سور يونس وهود ويوسف والرعد وإبراهيم</a:t>
            </a:r>
            <a:endParaRPr lang="ar-SA" sz="4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1014/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يونس • هود • يوسف • الرعد • إبراهيم  —  ٤٣٨ آية في ١٧ مقطعًا</a:t>
            </a:r>
            <a:endParaRPr lang="ar-SA" sz="1800" dirty="0"/>
          </a:p>
        </p:txBody>
      </p:sp>
      <p:sp>
        <p:nvSpPr>
          <p:cNvPr id="7"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algn="ctr" indent="0" marL="0">
              <a:buNone/>
            </a:pPr>
            <a:endParaRPr lang="en-US" sz="6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الزمردي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السور الخمس</a:t>
            </a:r>
            <a:endParaRPr lang="en-US" sz="3000" dirty="0"/>
          </a:p>
        </p:txBody>
      </p:sp>
      <p:sp>
        <p:nvSpPr>
          <p:cNvPr id="3" name="Shape 1"/>
          <p:cNvSpPr/>
          <p:nvPr/>
        </p:nvSpPr>
        <p:spPr>
          <a:xfrm>
            <a:off x="8031175" y="1463040"/>
            <a:ext cx="3474720" cy="4572000"/>
          </a:xfrm>
          <a:prstGeom prst="roundRect">
            <a:avLst>
              <a:gd name="adj" fmla="val 3947"/>
            </a:avLst>
          </a:prstGeom>
          <a:solidFill>
            <a:schemeClr val="accent5"/>
          </a:solidFill>
          <a:ln w="15875">
            <a:solidFill>
              <a:schemeClr val="accent2"/>
            </a:solidFill>
            <a:prstDash val="solid"/>
          </a:ln>
        </p:spPr>
      </p:sp>
      <p:sp>
        <p:nvSpPr>
          <p:cNvPr id="4" name="Shape 2"/>
          <p:cNvSpPr/>
          <p:nvPr/>
        </p:nvSpPr>
        <p:spPr>
          <a:xfrm>
            <a:off x="9402775" y="1737360"/>
            <a:ext cx="731520" cy="731520"/>
          </a:xfrm>
          <a:prstGeom prst="star8">
            <a:avLst/>
          </a:prstGeom>
          <a:solidFill>
            <a:schemeClr val="accent2"/>
          </a:solidFill>
          <a:ln/>
        </p:spPr>
      </p:sp>
      <p:sp>
        <p:nvSpPr>
          <p:cNvPr id="5" name="Shape 3"/>
          <p:cNvSpPr/>
          <p:nvPr/>
        </p:nvSpPr>
        <p:spPr>
          <a:xfrm>
            <a:off x="9549079"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940277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١</a:t>
            </a:r>
            <a:endParaRPr lang="ar-SA" sz="1800" dirty="0"/>
          </a:p>
        </p:txBody>
      </p:sp>
      <p:sp>
        <p:nvSpPr>
          <p:cNvPr id="7" name="Text 5"/>
          <p:cNvSpPr txBox="1"/>
          <p:nvPr/>
        </p:nvSpPr>
        <p:spPr>
          <a:xfrm>
            <a:off x="825977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شيّبتني هود</a:t>
            </a:r>
            <a:endParaRPr lang="ar-SA" sz="2400" dirty="0"/>
          </a:p>
        </p:txBody>
      </p:sp>
      <p:sp>
        <p:nvSpPr>
          <p:cNvPr id="8" name="Text 6"/>
          <p:cNvSpPr txBox="1"/>
          <p:nvPr/>
        </p:nvSpPr>
        <p:spPr>
          <a:xfrm>
            <a:off x="830549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 أبو بكر رضي الله عنه: يا رسول الله قد شِبت! قال: «شيّبتني هود والواقعة والمرسلات وعمّ يتساءلون وإذا الشمس كُوّرت» (رواه الترمذي)، لما فيها من أهوال وأمر بالاستقامة.</a:t>
            </a:r>
            <a:endParaRPr lang="ar-SA" sz="1600" dirty="0"/>
          </a:p>
        </p:txBody>
      </p:sp>
      <p:sp>
        <p:nvSpPr>
          <p:cNvPr id="9" name="Shape 7"/>
          <p:cNvSpPr/>
          <p:nvPr/>
        </p:nvSpPr>
        <p:spPr>
          <a:xfrm>
            <a:off x="4282135" y="1463040"/>
            <a:ext cx="3474720" cy="4572000"/>
          </a:xfrm>
          <a:prstGeom prst="roundRect">
            <a:avLst>
              <a:gd name="adj" fmla="val 3947"/>
            </a:avLst>
          </a:prstGeom>
          <a:solidFill>
            <a:schemeClr val="accent5"/>
          </a:solidFill>
          <a:ln w="15875">
            <a:solidFill>
              <a:schemeClr val="accent2"/>
            </a:solidFill>
            <a:prstDash val="solid"/>
          </a:ln>
        </p:spPr>
      </p:sp>
      <p:sp>
        <p:nvSpPr>
          <p:cNvPr id="10" name="Shape 8"/>
          <p:cNvSpPr/>
          <p:nvPr/>
        </p:nvSpPr>
        <p:spPr>
          <a:xfrm>
            <a:off x="5653735" y="1737360"/>
            <a:ext cx="731520" cy="731520"/>
          </a:xfrm>
          <a:prstGeom prst="star8">
            <a:avLst/>
          </a:prstGeom>
          <a:solidFill>
            <a:schemeClr val="accent2"/>
          </a:solidFill>
          <a:ln/>
        </p:spPr>
      </p:sp>
      <p:sp>
        <p:nvSpPr>
          <p:cNvPr id="11" name="Shape 9"/>
          <p:cNvSpPr/>
          <p:nvPr/>
        </p:nvSpPr>
        <p:spPr>
          <a:xfrm>
            <a:off x="5800039"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65373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٢</a:t>
            </a:r>
            <a:endParaRPr lang="ar-SA" sz="1800" dirty="0"/>
          </a:p>
        </p:txBody>
      </p:sp>
      <p:sp>
        <p:nvSpPr>
          <p:cNvPr id="13" name="Text 11"/>
          <p:cNvSpPr txBox="1"/>
          <p:nvPr/>
        </p:nvSpPr>
        <p:spPr>
          <a:xfrm>
            <a:off x="451073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أحسن القصص</a:t>
            </a:r>
            <a:endParaRPr lang="ar-SA" sz="2400" dirty="0"/>
          </a:p>
        </p:txBody>
      </p:sp>
      <p:sp>
        <p:nvSpPr>
          <p:cNvPr id="14" name="Text 12"/>
          <p:cNvSpPr txBox="1"/>
          <p:nvPr/>
        </p:nvSpPr>
        <p:spPr>
          <a:xfrm>
            <a:off x="455645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سورة يوسف قصة كاملة متّصلة سمّاها الله «أحسن القصص»، فيها الصبر والعفّة والعفو، ونزلت تسلية للنبي صلى الله عليه وسلم في عام الحزن.</a:t>
            </a:r>
            <a:endParaRPr lang="ar-SA" sz="1600" dirty="0"/>
          </a:p>
        </p:txBody>
      </p:sp>
      <p:sp>
        <p:nvSpPr>
          <p:cNvPr id="15" name="Shape 13"/>
          <p:cNvSpPr/>
          <p:nvPr/>
        </p:nvSpPr>
        <p:spPr>
          <a:xfrm>
            <a:off x="533095" y="1463040"/>
            <a:ext cx="3474720" cy="4572000"/>
          </a:xfrm>
          <a:prstGeom prst="roundRect">
            <a:avLst>
              <a:gd name="adj" fmla="val 3947"/>
            </a:avLst>
          </a:prstGeom>
          <a:solidFill>
            <a:schemeClr val="accent5"/>
          </a:solidFill>
          <a:ln w="15875">
            <a:solidFill>
              <a:schemeClr val="accent2"/>
            </a:solidFill>
            <a:prstDash val="solid"/>
          </a:ln>
        </p:spPr>
      </p:sp>
      <p:sp>
        <p:nvSpPr>
          <p:cNvPr id="16" name="Shape 14"/>
          <p:cNvSpPr/>
          <p:nvPr/>
        </p:nvSpPr>
        <p:spPr>
          <a:xfrm>
            <a:off x="1904695" y="1737360"/>
            <a:ext cx="731520" cy="731520"/>
          </a:xfrm>
          <a:prstGeom prst="star8">
            <a:avLst/>
          </a:prstGeom>
          <a:solidFill>
            <a:schemeClr val="accent2"/>
          </a:solidFill>
          <a:ln/>
        </p:spPr>
      </p:sp>
      <p:sp>
        <p:nvSpPr>
          <p:cNvPr id="17" name="Shape 15"/>
          <p:cNvSpPr/>
          <p:nvPr/>
        </p:nvSpPr>
        <p:spPr>
          <a:xfrm>
            <a:off x="205099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190469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٣</a:t>
            </a:r>
            <a:endParaRPr lang="ar-SA" sz="1800" dirty="0"/>
          </a:p>
        </p:txBody>
      </p:sp>
      <p:sp>
        <p:nvSpPr>
          <p:cNvPr id="19" name="Text 17"/>
          <p:cNvSpPr txBox="1"/>
          <p:nvPr/>
        </p:nvSpPr>
        <p:spPr>
          <a:xfrm>
            <a:off x="76169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خمس سور متتابعة</a:t>
            </a:r>
            <a:endParaRPr lang="ar-SA" sz="2400" dirty="0"/>
          </a:p>
        </p:txBody>
      </p:sp>
      <p:sp>
        <p:nvSpPr>
          <p:cNvPr id="20" name="Text 18"/>
          <p:cNvSpPr txBox="1"/>
          <p:nvPr/>
        </p:nvSpPr>
        <p:spPr>
          <a:xfrm>
            <a:off x="80741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يونس ١٠٩، وهود ١٢٣، ويوسف ١١١، والرعد ٤٣، وإبراهيم ٥٢ آية. تبدأ أربع منها بالحروف «الر» والرعد بـ«المر»، وكلها تُثبت الوحي والتوحيد.</a:t>
            </a:r>
            <a:endParaRPr lang="ar-SA" sz="16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مقاطع السور الخمس</a:t>
            </a:r>
            <a:endParaRPr lang="en-US" sz="30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rtl="1" algn="ctr" indent="0" marL="0">
              <a:buNone/>
            </a:pPr>
            <a:r>
              <a:rPr lang="ar-SA" altLang="en-US" sz="1700" dirty="0">
                <a:solidFill>
                  <a:schemeClr val="accent4"/>
                </a:solidFill>
              </a:rPr>
              <a:t>يونس (٤ مقاطع) • هود (٤) • يوسف (٥) • الرعد (٢) • إبراهيم (٢)</a:t>
            </a:r>
            <a:endParaRPr lang="ar-SA" sz="1700" dirty="0"/>
          </a:p>
        </p:txBody>
      </p:sp>
      <p:sp>
        <p:nvSpPr>
          <p:cNvPr id="4" name="Shape 2"/>
          <p:cNvSpPr/>
          <p:nvPr/>
        </p:nvSpPr>
        <p:spPr>
          <a:xfrm>
            <a:off x="8038948" y="1828800"/>
            <a:ext cx="3520440" cy="662940"/>
          </a:xfrm>
          <a:prstGeom prst="roundRect">
            <a:avLst>
              <a:gd name="adj" fmla="val 16552"/>
            </a:avLst>
          </a:prstGeom>
          <a:solidFill>
            <a:schemeClr val="bg1"/>
          </a:solidFill>
          <a:ln w="12700">
            <a:solidFill>
              <a:schemeClr val="accent2"/>
            </a:solidFill>
            <a:prstDash val="solid"/>
          </a:ln>
        </p:spPr>
      </p:sp>
      <p:sp>
        <p:nvSpPr>
          <p:cNvPr id="5" name="Shape 3"/>
          <p:cNvSpPr/>
          <p:nvPr/>
        </p:nvSpPr>
        <p:spPr>
          <a:xfrm>
            <a:off x="10887304" y="1901952"/>
            <a:ext cx="516636" cy="516636"/>
          </a:xfrm>
          <a:prstGeom prst="star8">
            <a:avLst/>
          </a:prstGeom>
          <a:solidFill>
            <a:schemeClr val="accent2"/>
          </a:solidFill>
          <a:ln/>
        </p:spPr>
      </p:sp>
      <p:sp>
        <p:nvSpPr>
          <p:cNvPr id="6" name="Shape 4"/>
          <p:cNvSpPr/>
          <p:nvPr/>
        </p:nvSpPr>
        <p:spPr>
          <a:xfrm>
            <a:off x="10990631" y="2005279"/>
            <a:ext cx="309982" cy="309982"/>
          </a:xfrm>
          <a:prstGeom prst="ellipse">
            <a:avLst/>
          </a:prstGeom>
          <a:solidFill>
            <a:schemeClr val="bg2"/>
          </a:solidFill>
          <a:ln w="19050">
            <a:solidFill>
              <a:schemeClr val="tx2"/>
            </a:solidFill>
            <a:prstDash val="solid"/>
          </a:ln>
        </p:spPr>
      </p:sp>
      <p:sp>
        <p:nvSpPr>
          <p:cNvPr id="7" name="Text 5"/>
          <p:cNvSpPr txBox="1"/>
          <p:nvPr/>
        </p:nvSpPr>
        <p:spPr>
          <a:xfrm>
            <a:off x="10887304" y="190195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a:t>
            </a:r>
            <a:endParaRPr lang="ar-SA" sz="1200" dirty="0"/>
          </a:p>
        </p:txBody>
      </p:sp>
      <p:sp>
        <p:nvSpPr>
          <p:cNvPr id="8" name="Text 6"/>
          <p:cNvSpPr txBox="1"/>
          <p:nvPr/>
        </p:nvSpPr>
        <p:spPr>
          <a:xfrm>
            <a:off x="8176108" y="186537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آيات الله وعناد المكذّبين</a:t>
            </a:r>
            <a:endParaRPr lang="ar-SA" sz="1400" dirty="0"/>
          </a:p>
        </p:txBody>
      </p:sp>
      <p:sp>
        <p:nvSpPr>
          <p:cNvPr id="9" name="Text 7"/>
          <p:cNvSpPr txBox="1"/>
          <p:nvPr/>
        </p:nvSpPr>
        <p:spPr>
          <a:xfrm>
            <a:off x="8176108" y="220004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يونس • الآيات ١ – ٢٠</a:t>
            </a:r>
            <a:endParaRPr lang="ar-SA" sz="1100" dirty="0"/>
          </a:p>
        </p:txBody>
      </p:sp>
      <p:sp>
        <p:nvSpPr>
          <p:cNvPr id="10" name="Shape 8"/>
          <p:cNvSpPr/>
          <p:nvPr/>
        </p:nvSpPr>
        <p:spPr>
          <a:xfrm>
            <a:off x="4335628" y="1828800"/>
            <a:ext cx="3520440" cy="662940"/>
          </a:xfrm>
          <a:prstGeom prst="roundRect">
            <a:avLst>
              <a:gd name="adj" fmla="val 16552"/>
            </a:avLst>
          </a:prstGeom>
          <a:solidFill>
            <a:schemeClr val="accent5"/>
          </a:solidFill>
          <a:ln w="12700">
            <a:solidFill>
              <a:schemeClr val="accent2"/>
            </a:solidFill>
            <a:prstDash val="solid"/>
          </a:ln>
        </p:spPr>
      </p:sp>
      <p:sp>
        <p:nvSpPr>
          <p:cNvPr id="11" name="Shape 9"/>
          <p:cNvSpPr/>
          <p:nvPr/>
        </p:nvSpPr>
        <p:spPr>
          <a:xfrm>
            <a:off x="7183984" y="1901952"/>
            <a:ext cx="516636" cy="516636"/>
          </a:xfrm>
          <a:prstGeom prst="star8">
            <a:avLst/>
          </a:prstGeom>
          <a:solidFill>
            <a:schemeClr val="accent2"/>
          </a:solidFill>
          <a:ln/>
        </p:spPr>
      </p:sp>
      <p:sp>
        <p:nvSpPr>
          <p:cNvPr id="12" name="Shape 10"/>
          <p:cNvSpPr/>
          <p:nvPr/>
        </p:nvSpPr>
        <p:spPr>
          <a:xfrm>
            <a:off x="7287311" y="2005279"/>
            <a:ext cx="309982" cy="309982"/>
          </a:xfrm>
          <a:prstGeom prst="ellipse">
            <a:avLst/>
          </a:prstGeom>
          <a:solidFill>
            <a:schemeClr val="bg2"/>
          </a:solidFill>
          <a:ln w="19050">
            <a:solidFill>
              <a:schemeClr val="tx2"/>
            </a:solidFill>
            <a:prstDash val="solid"/>
          </a:ln>
        </p:spPr>
      </p:sp>
      <p:sp>
        <p:nvSpPr>
          <p:cNvPr id="13" name="Text 11"/>
          <p:cNvSpPr txBox="1"/>
          <p:nvPr/>
        </p:nvSpPr>
        <p:spPr>
          <a:xfrm>
            <a:off x="7183984" y="190195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٢</a:t>
            </a:r>
            <a:endParaRPr lang="ar-SA" sz="1200" dirty="0"/>
          </a:p>
        </p:txBody>
      </p:sp>
      <p:sp>
        <p:nvSpPr>
          <p:cNvPr id="14" name="Text 12"/>
          <p:cNvSpPr txBox="1"/>
          <p:nvPr/>
        </p:nvSpPr>
        <p:spPr>
          <a:xfrm>
            <a:off x="4472788" y="186537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حقيقة الدنيا وتحدّي القرآن</a:t>
            </a:r>
            <a:endParaRPr lang="ar-SA" sz="1400" dirty="0"/>
          </a:p>
        </p:txBody>
      </p:sp>
      <p:sp>
        <p:nvSpPr>
          <p:cNvPr id="15" name="Text 13"/>
          <p:cNvSpPr txBox="1"/>
          <p:nvPr/>
        </p:nvSpPr>
        <p:spPr>
          <a:xfrm>
            <a:off x="4472788" y="220004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يونس • الآيات ٢١ – ٥٦</a:t>
            </a:r>
            <a:endParaRPr lang="ar-SA" sz="1100" dirty="0"/>
          </a:p>
        </p:txBody>
      </p:sp>
      <p:sp>
        <p:nvSpPr>
          <p:cNvPr id="16" name="Shape 14"/>
          <p:cNvSpPr/>
          <p:nvPr/>
        </p:nvSpPr>
        <p:spPr>
          <a:xfrm>
            <a:off x="632308" y="1828800"/>
            <a:ext cx="3520440" cy="662940"/>
          </a:xfrm>
          <a:prstGeom prst="roundRect">
            <a:avLst>
              <a:gd name="adj" fmla="val 16552"/>
            </a:avLst>
          </a:prstGeom>
          <a:solidFill>
            <a:schemeClr val="bg1"/>
          </a:solidFill>
          <a:ln w="12700">
            <a:solidFill>
              <a:schemeClr val="accent2"/>
            </a:solidFill>
            <a:prstDash val="solid"/>
          </a:ln>
        </p:spPr>
      </p:sp>
      <p:sp>
        <p:nvSpPr>
          <p:cNvPr id="17" name="Shape 15"/>
          <p:cNvSpPr/>
          <p:nvPr/>
        </p:nvSpPr>
        <p:spPr>
          <a:xfrm>
            <a:off x="3480664" y="1901952"/>
            <a:ext cx="516636" cy="516636"/>
          </a:xfrm>
          <a:prstGeom prst="star8">
            <a:avLst/>
          </a:prstGeom>
          <a:solidFill>
            <a:schemeClr val="accent2"/>
          </a:solidFill>
          <a:ln/>
        </p:spPr>
      </p:sp>
      <p:sp>
        <p:nvSpPr>
          <p:cNvPr id="18" name="Shape 16"/>
          <p:cNvSpPr/>
          <p:nvPr/>
        </p:nvSpPr>
        <p:spPr>
          <a:xfrm>
            <a:off x="3583991" y="2005279"/>
            <a:ext cx="309982" cy="309982"/>
          </a:xfrm>
          <a:prstGeom prst="ellipse">
            <a:avLst/>
          </a:prstGeom>
          <a:solidFill>
            <a:schemeClr val="bg2"/>
          </a:solidFill>
          <a:ln w="19050">
            <a:solidFill>
              <a:schemeClr val="tx2"/>
            </a:solidFill>
            <a:prstDash val="solid"/>
          </a:ln>
        </p:spPr>
      </p:sp>
      <p:sp>
        <p:nvSpPr>
          <p:cNvPr id="19" name="Text 17"/>
          <p:cNvSpPr txBox="1"/>
          <p:nvPr/>
        </p:nvSpPr>
        <p:spPr>
          <a:xfrm>
            <a:off x="3480664" y="190195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٣</a:t>
            </a:r>
            <a:endParaRPr lang="ar-SA" sz="1200" dirty="0"/>
          </a:p>
        </p:txBody>
      </p:sp>
      <p:sp>
        <p:nvSpPr>
          <p:cNvPr id="20" name="Text 18"/>
          <p:cNvSpPr txBox="1"/>
          <p:nvPr/>
        </p:nvSpPr>
        <p:spPr>
          <a:xfrm>
            <a:off x="769468" y="186537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الموعظة وأولياء الله</a:t>
            </a:r>
            <a:endParaRPr lang="ar-SA" sz="1400" dirty="0"/>
          </a:p>
        </p:txBody>
      </p:sp>
      <p:sp>
        <p:nvSpPr>
          <p:cNvPr id="21" name="Text 19"/>
          <p:cNvSpPr txBox="1"/>
          <p:nvPr/>
        </p:nvSpPr>
        <p:spPr>
          <a:xfrm>
            <a:off x="769468" y="220004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يونس • الآيات ٥٧ – ٧٠</a:t>
            </a:r>
            <a:endParaRPr lang="ar-SA" sz="1100" dirty="0"/>
          </a:p>
        </p:txBody>
      </p:sp>
      <p:sp>
        <p:nvSpPr>
          <p:cNvPr id="22" name="Shape 20"/>
          <p:cNvSpPr/>
          <p:nvPr/>
        </p:nvSpPr>
        <p:spPr>
          <a:xfrm>
            <a:off x="8038948" y="2583180"/>
            <a:ext cx="3520440" cy="662940"/>
          </a:xfrm>
          <a:prstGeom prst="roundRect">
            <a:avLst>
              <a:gd name="adj" fmla="val 16552"/>
            </a:avLst>
          </a:prstGeom>
          <a:solidFill>
            <a:schemeClr val="accent5"/>
          </a:solidFill>
          <a:ln w="12700">
            <a:solidFill>
              <a:schemeClr val="accent2"/>
            </a:solidFill>
            <a:prstDash val="solid"/>
          </a:ln>
        </p:spPr>
      </p:sp>
      <p:sp>
        <p:nvSpPr>
          <p:cNvPr id="23" name="Shape 21"/>
          <p:cNvSpPr/>
          <p:nvPr/>
        </p:nvSpPr>
        <p:spPr>
          <a:xfrm>
            <a:off x="10887304" y="2656332"/>
            <a:ext cx="516636" cy="516636"/>
          </a:xfrm>
          <a:prstGeom prst="star8">
            <a:avLst/>
          </a:prstGeom>
          <a:solidFill>
            <a:schemeClr val="accent2"/>
          </a:solidFill>
          <a:ln/>
        </p:spPr>
      </p:sp>
      <p:sp>
        <p:nvSpPr>
          <p:cNvPr id="24" name="Shape 22"/>
          <p:cNvSpPr/>
          <p:nvPr/>
        </p:nvSpPr>
        <p:spPr>
          <a:xfrm>
            <a:off x="10990631" y="2759659"/>
            <a:ext cx="309982" cy="309982"/>
          </a:xfrm>
          <a:prstGeom prst="ellipse">
            <a:avLst/>
          </a:prstGeom>
          <a:solidFill>
            <a:schemeClr val="bg2"/>
          </a:solidFill>
          <a:ln w="19050">
            <a:solidFill>
              <a:schemeClr val="tx2"/>
            </a:solidFill>
            <a:prstDash val="solid"/>
          </a:ln>
        </p:spPr>
      </p:sp>
      <p:sp>
        <p:nvSpPr>
          <p:cNvPr id="25" name="Text 23"/>
          <p:cNvSpPr txBox="1"/>
          <p:nvPr/>
        </p:nvSpPr>
        <p:spPr>
          <a:xfrm>
            <a:off x="10887304" y="265633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٤</a:t>
            </a:r>
            <a:endParaRPr lang="ar-SA" sz="1200" dirty="0"/>
          </a:p>
        </p:txBody>
      </p:sp>
      <p:sp>
        <p:nvSpPr>
          <p:cNvPr id="26" name="Text 24"/>
          <p:cNvSpPr txBox="1"/>
          <p:nvPr/>
        </p:nvSpPr>
        <p:spPr>
          <a:xfrm>
            <a:off x="8176108" y="261975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نوح وموسى وقوم يونس</a:t>
            </a:r>
            <a:endParaRPr lang="ar-SA" sz="1400" dirty="0"/>
          </a:p>
        </p:txBody>
      </p:sp>
      <p:sp>
        <p:nvSpPr>
          <p:cNvPr id="27" name="Text 25"/>
          <p:cNvSpPr txBox="1"/>
          <p:nvPr/>
        </p:nvSpPr>
        <p:spPr>
          <a:xfrm>
            <a:off x="8176108" y="295442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يونس • الآيات ٧١ – ١٠٩</a:t>
            </a:r>
            <a:endParaRPr lang="ar-SA" sz="1100" dirty="0"/>
          </a:p>
        </p:txBody>
      </p:sp>
      <p:sp>
        <p:nvSpPr>
          <p:cNvPr id="28" name="Shape 26"/>
          <p:cNvSpPr/>
          <p:nvPr/>
        </p:nvSpPr>
        <p:spPr>
          <a:xfrm>
            <a:off x="4335628" y="2583180"/>
            <a:ext cx="3520440" cy="662940"/>
          </a:xfrm>
          <a:prstGeom prst="roundRect">
            <a:avLst>
              <a:gd name="adj" fmla="val 16552"/>
            </a:avLst>
          </a:prstGeom>
          <a:solidFill>
            <a:schemeClr val="bg1"/>
          </a:solidFill>
          <a:ln w="12700">
            <a:solidFill>
              <a:schemeClr val="accent2"/>
            </a:solidFill>
            <a:prstDash val="solid"/>
          </a:ln>
        </p:spPr>
      </p:sp>
      <p:sp>
        <p:nvSpPr>
          <p:cNvPr id="29" name="Shape 27"/>
          <p:cNvSpPr/>
          <p:nvPr/>
        </p:nvSpPr>
        <p:spPr>
          <a:xfrm>
            <a:off x="7183984" y="2656332"/>
            <a:ext cx="516636" cy="516636"/>
          </a:xfrm>
          <a:prstGeom prst="star8">
            <a:avLst/>
          </a:prstGeom>
          <a:solidFill>
            <a:schemeClr val="accent2"/>
          </a:solidFill>
          <a:ln/>
        </p:spPr>
      </p:sp>
      <p:sp>
        <p:nvSpPr>
          <p:cNvPr id="30" name="Shape 28"/>
          <p:cNvSpPr/>
          <p:nvPr/>
        </p:nvSpPr>
        <p:spPr>
          <a:xfrm>
            <a:off x="7287311" y="2759659"/>
            <a:ext cx="309982" cy="309982"/>
          </a:xfrm>
          <a:prstGeom prst="ellipse">
            <a:avLst/>
          </a:prstGeom>
          <a:solidFill>
            <a:schemeClr val="bg2"/>
          </a:solidFill>
          <a:ln w="19050">
            <a:solidFill>
              <a:schemeClr val="tx2"/>
            </a:solidFill>
            <a:prstDash val="solid"/>
          </a:ln>
        </p:spPr>
      </p:sp>
      <p:sp>
        <p:nvSpPr>
          <p:cNvPr id="31" name="Text 29"/>
          <p:cNvSpPr txBox="1"/>
          <p:nvPr/>
        </p:nvSpPr>
        <p:spPr>
          <a:xfrm>
            <a:off x="7183984" y="265633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٥</a:t>
            </a:r>
            <a:endParaRPr lang="ar-SA" sz="1200" dirty="0"/>
          </a:p>
        </p:txBody>
      </p:sp>
      <p:sp>
        <p:nvSpPr>
          <p:cNvPr id="32" name="Text 30"/>
          <p:cNvSpPr txBox="1"/>
          <p:nvPr/>
        </p:nvSpPr>
        <p:spPr>
          <a:xfrm>
            <a:off x="4472788" y="261975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إحكام الكتاب ورزق كل دابة</a:t>
            </a:r>
            <a:endParaRPr lang="ar-SA" sz="1400" dirty="0"/>
          </a:p>
        </p:txBody>
      </p:sp>
      <p:sp>
        <p:nvSpPr>
          <p:cNvPr id="33" name="Text 31"/>
          <p:cNvSpPr txBox="1"/>
          <p:nvPr/>
        </p:nvSpPr>
        <p:spPr>
          <a:xfrm>
            <a:off x="4472788" y="295442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هود • الآيات ١ – ٢٤</a:t>
            </a:r>
            <a:endParaRPr lang="ar-SA" sz="1100" dirty="0"/>
          </a:p>
        </p:txBody>
      </p:sp>
      <p:sp>
        <p:nvSpPr>
          <p:cNvPr id="34" name="Shape 32"/>
          <p:cNvSpPr/>
          <p:nvPr/>
        </p:nvSpPr>
        <p:spPr>
          <a:xfrm>
            <a:off x="632308" y="2583180"/>
            <a:ext cx="3520440" cy="662940"/>
          </a:xfrm>
          <a:prstGeom prst="roundRect">
            <a:avLst>
              <a:gd name="adj" fmla="val 16552"/>
            </a:avLst>
          </a:prstGeom>
          <a:solidFill>
            <a:schemeClr val="accent5"/>
          </a:solidFill>
          <a:ln w="12700">
            <a:solidFill>
              <a:schemeClr val="accent2"/>
            </a:solidFill>
            <a:prstDash val="solid"/>
          </a:ln>
        </p:spPr>
      </p:sp>
      <p:sp>
        <p:nvSpPr>
          <p:cNvPr id="35" name="Shape 33"/>
          <p:cNvSpPr/>
          <p:nvPr/>
        </p:nvSpPr>
        <p:spPr>
          <a:xfrm>
            <a:off x="3480664" y="2656332"/>
            <a:ext cx="516636" cy="516636"/>
          </a:xfrm>
          <a:prstGeom prst="star8">
            <a:avLst/>
          </a:prstGeom>
          <a:solidFill>
            <a:schemeClr val="accent2"/>
          </a:solidFill>
          <a:ln/>
        </p:spPr>
      </p:sp>
      <p:sp>
        <p:nvSpPr>
          <p:cNvPr id="36" name="Shape 34"/>
          <p:cNvSpPr/>
          <p:nvPr/>
        </p:nvSpPr>
        <p:spPr>
          <a:xfrm>
            <a:off x="3583991" y="2759659"/>
            <a:ext cx="309982" cy="309982"/>
          </a:xfrm>
          <a:prstGeom prst="ellipse">
            <a:avLst/>
          </a:prstGeom>
          <a:solidFill>
            <a:schemeClr val="bg2"/>
          </a:solidFill>
          <a:ln w="19050">
            <a:solidFill>
              <a:schemeClr val="tx2"/>
            </a:solidFill>
            <a:prstDash val="solid"/>
          </a:ln>
        </p:spPr>
      </p:sp>
      <p:sp>
        <p:nvSpPr>
          <p:cNvPr id="37" name="Text 35"/>
          <p:cNvSpPr txBox="1"/>
          <p:nvPr/>
        </p:nvSpPr>
        <p:spPr>
          <a:xfrm>
            <a:off x="3480664" y="265633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٦</a:t>
            </a:r>
            <a:endParaRPr lang="ar-SA" sz="1200" dirty="0"/>
          </a:p>
        </p:txBody>
      </p:sp>
      <p:sp>
        <p:nvSpPr>
          <p:cNvPr id="38" name="Text 36"/>
          <p:cNvSpPr txBox="1"/>
          <p:nvPr/>
        </p:nvSpPr>
        <p:spPr>
          <a:xfrm>
            <a:off x="769468" y="261975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نوح والطوفان</a:t>
            </a:r>
            <a:endParaRPr lang="ar-SA" sz="1400" dirty="0"/>
          </a:p>
        </p:txBody>
      </p:sp>
      <p:sp>
        <p:nvSpPr>
          <p:cNvPr id="39" name="Text 37"/>
          <p:cNvSpPr txBox="1"/>
          <p:nvPr/>
        </p:nvSpPr>
        <p:spPr>
          <a:xfrm>
            <a:off x="769468" y="295442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هود • الآيات ٢٥ – ٤٩</a:t>
            </a:r>
            <a:endParaRPr lang="ar-SA" sz="1100" dirty="0"/>
          </a:p>
        </p:txBody>
      </p:sp>
      <p:sp>
        <p:nvSpPr>
          <p:cNvPr id="40" name="Shape 38"/>
          <p:cNvSpPr/>
          <p:nvPr/>
        </p:nvSpPr>
        <p:spPr>
          <a:xfrm>
            <a:off x="8038948" y="3337560"/>
            <a:ext cx="3520440" cy="662940"/>
          </a:xfrm>
          <a:prstGeom prst="roundRect">
            <a:avLst>
              <a:gd name="adj" fmla="val 16552"/>
            </a:avLst>
          </a:prstGeom>
          <a:solidFill>
            <a:schemeClr val="bg1"/>
          </a:solidFill>
          <a:ln w="12700">
            <a:solidFill>
              <a:schemeClr val="accent2"/>
            </a:solidFill>
            <a:prstDash val="solid"/>
          </a:ln>
        </p:spPr>
      </p:sp>
      <p:sp>
        <p:nvSpPr>
          <p:cNvPr id="41" name="Shape 39"/>
          <p:cNvSpPr/>
          <p:nvPr/>
        </p:nvSpPr>
        <p:spPr>
          <a:xfrm>
            <a:off x="10887304" y="3410712"/>
            <a:ext cx="516636" cy="516636"/>
          </a:xfrm>
          <a:prstGeom prst="star8">
            <a:avLst/>
          </a:prstGeom>
          <a:solidFill>
            <a:schemeClr val="accent2"/>
          </a:solidFill>
          <a:ln/>
        </p:spPr>
      </p:sp>
      <p:sp>
        <p:nvSpPr>
          <p:cNvPr id="42" name="Shape 40"/>
          <p:cNvSpPr/>
          <p:nvPr/>
        </p:nvSpPr>
        <p:spPr>
          <a:xfrm>
            <a:off x="10990631" y="3514039"/>
            <a:ext cx="309982" cy="309982"/>
          </a:xfrm>
          <a:prstGeom prst="ellipse">
            <a:avLst/>
          </a:prstGeom>
          <a:solidFill>
            <a:schemeClr val="bg2"/>
          </a:solidFill>
          <a:ln w="19050">
            <a:solidFill>
              <a:schemeClr val="tx2"/>
            </a:solidFill>
            <a:prstDash val="solid"/>
          </a:ln>
        </p:spPr>
      </p:sp>
      <p:sp>
        <p:nvSpPr>
          <p:cNvPr id="43" name="Text 41"/>
          <p:cNvSpPr txBox="1"/>
          <p:nvPr/>
        </p:nvSpPr>
        <p:spPr>
          <a:xfrm>
            <a:off x="10887304" y="341071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٧</a:t>
            </a:r>
            <a:endParaRPr lang="ar-SA" sz="1200" dirty="0"/>
          </a:p>
        </p:txBody>
      </p:sp>
      <p:sp>
        <p:nvSpPr>
          <p:cNvPr id="44" name="Text 42"/>
          <p:cNvSpPr txBox="1"/>
          <p:nvPr/>
        </p:nvSpPr>
        <p:spPr>
          <a:xfrm>
            <a:off x="8176108" y="337413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هود وصالح وإبراهيم ولوط</a:t>
            </a:r>
            <a:endParaRPr lang="ar-SA" sz="1400" dirty="0"/>
          </a:p>
        </p:txBody>
      </p:sp>
      <p:sp>
        <p:nvSpPr>
          <p:cNvPr id="45" name="Text 43"/>
          <p:cNvSpPr txBox="1"/>
          <p:nvPr/>
        </p:nvSpPr>
        <p:spPr>
          <a:xfrm>
            <a:off x="8176108" y="370880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هود • الآيات ٥٠ – ٨٣</a:t>
            </a:r>
            <a:endParaRPr lang="ar-SA" sz="1100" dirty="0"/>
          </a:p>
        </p:txBody>
      </p:sp>
      <p:sp>
        <p:nvSpPr>
          <p:cNvPr id="46" name="Shape 44"/>
          <p:cNvSpPr/>
          <p:nvPr/>
        </p:nvSpPr>
        <p:spPr>
          <a:xfrm>
            <a:off x="4335628" y="3337560"/>
            <a:ext cx="3520440" cy="662940"/>
          </a:xfrm>
          <a:prstGeom prst="roundRect">
            <a:avLst>
              <a:gd name="adj" fmla="val 16552"/>
            </a:avLst>
          </a:prstGeom>
          <a:solidFill>
            <a:schemeClr val="accent5"/>
          </a:solidFill>
          <a:ln w="12700">
            <a:solidFill>
              <a:schemeClr val="accent2"/>
            </a:solidFill>
            <a:prstDash val="solid"/>
          </a:ln>
        </p:spPr>
      </p:sp>
      <p:sp>
        <p:nvSpPr>
          <p:cNvPr id="47" name="Shape 45"/>
          <p:cNvSpPr/>
          <p:nvPr/>
        </p:nvSpPr>
        <p:spPr>
          <a:xfrm>
            <a:off x="7183984" y="3410712"/>
            <a:ext cx="516636" cy="516636"/>
          </a:xfrm>
          <a:prstGeom prst="star8">
            <a:avLst/>
          </a:prstGeom>
          <a:solidFill>
            <a:schemeClr val="accent2"/>
          </a:solidFill>
          <a:ln/>
        </p:spPr>
      </p:sp>
      <p:sp>
        <p:nvSpPr>
          <p:cNvPr id="48" name="Shape 46"/>
          <p:cNvSpPr/>
          <p:nvPr/>
        </p:nvSpPr>
        <p:spPr>
          <a:xfrm>
            <a:off x="7287311" y="3514039"/>
            <a:ext cx="309982" cy="309982"/>
          </a:xfrm>
          <a:prstGeom prst="ellipse">
            <a:avLst/>
          </a:prstGeom>
          <a:solidFill>
            <a:schemeClr val="bg2"/>
          </a:solidFill>
          <a:ln w="19050">
            <a:solidFill>
              <a:schemeClr val="tx2"/>
            </a:solidFill>
            <a:prstDash val="solid"/>
          </a:ln>
        </p:spPr>
      </p:sp>
      <p:sp>
        <p:nvSpPr>
          <p:cNvPr id="49" name="Text 47"/>
          <p:cNvSpPr txBox="1"/>
          <p:nvPr/>
        </p:nvSpPr>
        <p:spPr>
          <a:xfrm>
            <a:off x="7183984" y="341071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٨</a:t>
            </a:r>
            <a:endParaRPr lang="ar-SA" sz="1200" dirty="0"/>
          </a:p>
        </p:txBody>
      </p:sp>
      <p:sp>
        <p:nvSpPr>
          <p:cNvPr id="50" name="Text 48"/>
          <p:cNvSpPr txBox="1"/>
          <p:nvPr/>
        </p:nvSpPr>
        <p:spPr>
          <a:xfrm>
            <a:off x="4472788" y="337413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شعيب ودروس الأمم</a:t>
            </a:r>
            <a:endParaRPr lang="ar-SA" sz="1400" dirty="0"/>
          </a:p>
        </p:txBody>
      </p:sp>
      <p:sp>
        <p:nvSpPr>
          <p:cNvPr id="51" name="Text 49"/>
          <p:cNvSpPr txBox="1"/>
          <p:nvPr/>
        </p:nvSpPr>
        <p:spPr>
          <a:xfrm>
            <a:off x="4472788" y="370880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هود • الآيات ٨٤ – ١٢٣</a:t>
            </a:r>
            <a:endParaRPr lang="ar-SA" sz="1100" dirty="0"/>
          </a:p>
        </p:txBody>
      </p:sp>
      <p:sp>
        <p:nvSpPr>
          <p:cNvPr id="52" name="Shape 50"/>
          <p:cNvSpPr/>
          <p:nvPr/>
        </p:nvSpPr>
        <p:spPr>
          <a:xfrm>
            <a:off x="632308" y="3337560"/>
            <a:ext cx="3520440" cy="662940"/>
          </a:xfrm>
          <a:prstGeom prst="roundRect">
            <a:avLst>
              <a:gd name="adj" fmla="val 16552"/>
            </a:avLst>
          </a:prstGeom>
          <a:solidFill>
            <a:schemeClr val="bg1"/>
          </a:solidFill>
          <a:ln w="12700">
            <a:solidFill>
              <a:schemeClr val="accent2"/>
            </a:solidFill>
            <a:prstDash val="solid"/>
          </a:ln>
        </p:spPr>
      </p:sp>
      <p:sp>
        <p:nvSpPr>
          <p:cNvPr id="53" name="Shape 51"/>
          <p:cNvSpPr/>
          <p:nvPr/>
        </p:nvSpPr>
        <p:spPr>
          <a:xfrm>
            <a:off x="3480664" y="3410712"/>
            <a:ext cx="516636" cy="516636"/>
          </a:xfrm>
          <a:prstGeom prst="star8">
            <a:avLst/>
          </a:prstGeom>
          <a:solidFill>
            <a:schemeClr val="accent2"/>
          </a:solidFill>
          <a:ln/>
        </p:spPr>
      </p:sp>
      <p:sp>
        <p:nvSpPr>
          <p:cNvPr id="54" name="Shape 52"/>
          <p:cNvSpPr/>
          <p:nvPr/>
        </p:nvSpPr>
        <p:spPr>
          <a:xfrm>
            <a:off x="3583991" y="3514039"/>
            <a:ext cx="309982" cy="309982"/>
          </a:xfrm>
          <a:prstGeom prst="ellipse">
            <a:avLst/>
          </a:prstGeom>
          <a:solidFill>
            <a:schemeClr val="bg2"/>
          </a:solidFill>
          <a:ln w="19050">
            <a:solidFill>
              <a:schemeClr val="tx2"/>
            </a:solidFill>
            <a:prstDash val="solid"/>
          </a:ln>
        </p:spPr>
      </p:sp>
      <p:sp>
        <p:nvSpPr>
          <p:cNvPr id="55" name="Text 53"/>
          <p:cNvSpPr txBox="1"/>
          <p:nvPr/>
        </p:nvSpPr>
        <p:spPr>
          <a:xfrm>
            <a:off x="3480664" y="341071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٩</a:t>
            </a:r>
            <a:endParaRPr lang="ar-SA" sz="1200" dirty="0"/>
          </a:p>
        </p:txBody>
      </p:sp>
      <p:sp>
        <p:nvSpPr>
          <p:cNvPr id="56" name="Text 54"/>
          <p:cNvSpPr txBox="1"/>
          <p:nvPr/>
        </p:nvSpPr>
        <p:spPr>
          <a:xfrm>
            <a:off x="769468" y="337413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الرؤيا وغيابة الجب</a:t>
            </a:r>
            <a:endParaRPr lang="ar-SA" sz="1400" dirty="0"/>
          </a:p>
        </p:txBody>
      </p:sp>
      <p:sp>
        <p:nvSpPr>
          <p:cNvPr id="57" name="Text 55"/>
          <p:cNvSpPr txBox="1"/>
          <p:nvPr/>
        </p:nvSpPr>
        <p:spPr>
          <a:xfrm>
            <a:off x="769468" y="370880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يوسف • الآيات ١ – ٢٠</a:t>
            </a:r>
            <a:endParaRPr lang="ar-SA" sz="1100" dirty="0"/>
          </a:p>
        </p:txBody>
      </p:sp>
      <p:sp>
        <p:nvSpPr>
          <p:cNvPr id="58" name="Shape 56"/>
          <p:cNvSpPr/>
          <p:nvPr/>
        </p:nvSpPr>
        <p:spPr>
          <a:xfrm>
            <a:off x="8038948" y="4091940"/>
            <a:ext cx="3520440" cy="662940"/>
          </a:xfrm>
          <a:prstGeom prst="roundRect">
            <a:avLst>
              <a:gd name="adj" fmla="val 16552"/>
            </a:avLst>
          </a:prstGeom>
          <a:solidFill>
            <a:schemeClr val="accent5"/>
          </a:solidFill>
          <a:ln w="12700">
            <a:solidFill>
              <a:schemeClr val="accent2"/>
            </a:solidFill>
            <a:prstDash val="solid"/>
          </a:ln>
        </p:spPr>
      </p:sp>
      <p:sp>
        <p:nvSpPr>
          <p:cNvPr id="59" name="Shape 57"/>
          <p:cNvSpPr/>
          <p:nvPr/>
        </p:nvSpPr>
        <p:spPr>
          <a:xfrm>
            <a:off x="10887304" y="4165092"/>
            <a:ext cx="516636" cy="516636"/>
          </a:xfrm>
          <a:prstGeom prst="star8">
            <a:avLst/>
          </a:prstGeom>
          <a:solidFill>
            <a:schemeClr val="accent2"/>
          </a:solidFill>
          <a:ln/>
        </p:spPr>
      </p:sp>
      <p:sp>
        <p:nvSpPr>
          <p:cNvPr id="60" name="Shape 58"/>
          <p:cNvSpPr/>
          <p:nvPr/>
        </p:nvSpPr>
        <p:spPr>
          <a:xfrm>
            <a:off x="10990631" y="4268419"/>
            <a:ext cx="309982" cy="309982"/>
          </a:xfrm>
          <a:prstGeom prst="ellipse">
            <a:avLst/>
          </a:prstGeom>
          <a:solidFill>
            <a:schemeClr val="bg2"/>
          </a:solidFill>
          <a:ln w="19050">
            <a:solidFill>
              <a:schemeClr val="tx2"/>
            </a:solidFill>
            <a:prstDash val="solid"/>
          </a:ln>
        </p:spPr>
      </p:sp>
      <p:sp>
        <p:nvSpPr>
          <p:cNvPr id="61" name="Text 59"/>
          <p:cNvSpPr txBox="1"/>
          <p:nvPr/>
        </p:nvSpPr>
        <p:spPr>
          <a:xfrm>
            <a:off x="10887304" y="416509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١٠</a:t>
            </a:r>
            <a:endParaRPr lang="ar-SA" sz="1200" dirty="0"/>
          </a:p>
        </p:txBody>
      </p:sp>
      <p:sp>
        <p:nvSpPr>
          <p:cNvPr id="62" name="Text 60"/>
          <p:cNvSpPr txBox="1"/>
          <p:nvPr/>
        </p:nvSpPr>
        <p:spPr>
          <a:xfrm>
            <a:off x="8176108" y="412851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في بيت العزيز</a:t>
            </a:r>
            <a:endParaRPr lang="ar-SA" sz="1400" dirty="0"/>
          </a:p>
        </p:txBody>
      </p:sp>
      <p:sp>
        <p:nvSpPr>
          <p:cNvPr id="63" name="Text 61"/>
          <p:cNvSpPr txBox="1"/>
          <p:nvPr/>
        </p:nvSpPr>
        <p:spPr>
          <a:xfrm>
            <a:off x="8176108" y="446318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يوسف • الآيات ٢١ – ٣٥</a:t>
            </a:r>
            <a:endParaRPr lang="ar-SA" sz="1100" dirty="0"/>
          </a:p>
        </p:txBody>
      </p:sp>
      <p:sp>
        <p:nvSpPr>
          <p:cNvPr id="64" name="Shape 62"/>
          <p:cNvSpPr/>
          <p:nvPr/>
        </p:nvSpPr>
        <p:spPr>
          <a:xfrm>
            <a:off x="4335628" y="4091940"/>
            <a:ext cx="3520440" cy="662940"/>
          </a:xfrm>
          <a:prstGeom prst="roundRect">
            <a:avLst>
              <a:gd name="adj" fmla="val 16552"/>
            </a:avLst>
          </a:prstGeom>
          <a:solidFill>
            <a:schemeClr val="bg1"/>
          </a:solidFill>
          <a:ln w="12700">
            <a:solidFill>
              <a:schemeClr val="accent2"/>
            </a:solidFill>
            <a:prstDash val="solid"/>
          </a:ln>
        </p:spPr>
      </p:sp>
      <p:sp>
        <p:nvSpPr>
          <p:cNvPr id="65" name="Shape 63"/>
          <p:cNvSpPr/>
          <p:nvPr/>
        </p:nvSpPr>
        <p:spPr>
          <a:xfrm>
            <a:off x="7183984" y="4165092"/>
            <a:ext cx="516636" cy="516636"/>
          </a:xfrm>
          <a:prstGeom prst="star8">
            <a:avLst/>
          </a:prstGeom>
          <a:solidFill>
            <a:schemeClr val="accent2"/>
          </a:solidFill>
          <a:ln/>
        </p:spPr>
      </p:sp>
      <p:sp>
        <p:nvSpPr>
          <p:cNvPr id="66" name="Shape 64"/>
          <p:cNvSpPr/>
          <p:nvPr/>
        </p:nvSpPr>
        <p:spPr>
          <a:xfrm>
            <a:off x="7287311" y="4268419"/>
            <a:ext cx="309982" cy="309982"/>
          </a:xfrm>
          <a:prstGeom prst="ellipse">
            <a:avLst/>
          </a:prstGeom>
          <a:solidFill>
            <a:schemeClr val="bg2"/>
          </a:solidFill>
          <a:ln w="19050">
            <a:solidFill>
              <a:schemeClr val="tx2"/>
            </a:solidFill>
            <a:prstDash val="solid"/>
          </a:ln>
        </p:spPr>
      </p:sp>
      <p:sp>
        <p:nvSpPr>
          <p:cNvPr id="67" name="Text 65"/>
          <p:cNvSpPr txBox="1"/>
          <p:nvPr/>
        </p:nvSpPr>
        <p:spPr>
          <a:xfrm>
            <a:off x="7183984" y="416509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١١</a:t>
            </a:r>
            <a:endParaRPr lang="ar-SA" sz="1200" dirty="0"/>
          </a:p>
        </p:txBody>
      </p:sp>
      <p:sp>
        <p:nvSpPr>
          <p:cNvPr id="68" name="Text 66"/>
          <p:cNvSpPr txBox="1"/>
          <p:nvPr/>
        </p:nvSpPr>
        <p:spPr>
          <a:xfrm>
            <a:off x="4472788" y="412851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في السجن ثم التمكين</a:t>
            </a:r>
            <a:endParaRPr lang="ar-SA" sz="1400" dirty="0"/>
          </a:p>
        </p:txBody>
      </p:sp>
      <p:sp>
        <p:nvSpPr>
          <p:cNvPr id="69" name="Text 67"/>
          <p:cNvSpPr txBox="1"/>
          <p:nvPr/>
        </p:nvSpPr>
        <p:spPr>
          <a:xfrm>
            <a:off x="4472788" y="446318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يوسف • الآيات ٣٦ – ٥٧</a:t>
            </a:r>
            <a:endParaRPr lang="ar-SA" sz="1100" dirty="0"/>
          </a:p>
        </p:txBody>
      </p:sp>
      <p:sp>
        <p:nvSpPr>
          <p:cNvPr id="70" name="Shape 68"/>
          <p:cNvSpPr/>
          <p:nvPr/>
        </p:nvSpPr>
        <p:spPr>
          <a:xfrm>
            <a:off x="632308" y="4091940"/>
            <a:ext cx="3520440" cy="662940"/>
          </a:xfrm>
          <a:prstGeom prst="roundRect">
            <a:avLst>
              <a:gd name="adj" fmla="val 16552"/>
            </a:avLst>
          </a:prstGeom>
          <a:solidFill>
            <a:schemeClr val="accent5"/>
          </a:solidFill>
          <a:ln w="12700">
            <a:solidFill>
              <a:schemeClr val="accent2"/>
            </a:solidFill>
            <a:prstDash val="solid"/>
          </a:ln>
        </p:spPr>
      </p:sp>
      <p:sp>
        <p:nvSpPr>
          <p:cNvPr id="71" name="Shape 69"/>
          <p:cNvSpPr/>
          <p:nvPr/>
        </p:nvSpPr>
        <p:spPr>
          <a:xfrm>
            <a:off x="3480664" y="4165092"/>
            <a:ext cx="516636" cy="516636"/>
          </a:xfrm>
          <a:prstGeom prst="star8">
            <a:avLst/>
          </a:prstGeom>
          <a:solidFill>
            <a:schemeClr val="accent2"/>
          </a:solidFill>
          <a:ln/>
        </p:spPr>
      </p:sp>
      <p:sp>
        <p:nvSpPr>
          <p:cNvPr id="72" name="Shape 70"/>
          <p:cNvSpPr/>
          <p:nvPr/>
        </p:nvSpPr>
        <p:spPr>
          <a:xfrm>
            <a:off x="3583991" y="4268419"/>
            <a:ext cx="309982" cy="309982"/>
          </a:xfrm>
          <a:prstGeom prst="ellipse">
            <a:avLst/>
          </a:prstGeom>
          <a:solidFill>
            <a:schemeClr val="bg2"/>
          </a:solidFill>
          <a:ln w="19050">
            <a:solidFill>
              <a:schemeClr val="tx2"/>
            </a:solidFill>
            <a:prstDash val="solid"/>
          </a:ln>
        </p:spPr>
      </p:sp>
      <p:sp>
        <p:nvSpPr>
          <p:cNvPr id="73" name="Text 71"/>
          <p:cNvSpPr txBox="1"/>
          <p:nvPr/>
        </p:nvSpPr>
        <p:spPr>
          <a:xfrm>
            <a:off x="3480664" y="416509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١٢</a:t>
            </a:r>
            <a:endParaRPr lang="ar-SA" sz="1200" dirty="0"/>
          </a:p>
        </p:txBody>
      </p:sp>
      <p:sp>
        <p:nvSpPr>
          <p:cNvPr id="74" name="Text 72"/>
          <p:cNvSpPr txBox="1"/>
          <p:nvPr/>
        </p:nvSpPr>
        <p:spPr>
          <a:xfrm>
            <a:off x="769468" y="412851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لقاء الإخوة</a:t>
            </a:r>
            <a:endParaRPr lang="ar-SA" sz="1400" dirty="0"/>
          </a:p>
        </p:txBody>
      </p:sp>
      <p:sp>
        <p:nvSpPr>
          <p:cNvPr id="75" name="Text 73"/>
          <p:cNvSpPr txBox="1"/>
          <p:nvPr/>
        </p:nvSpPr>
        <p:spPr>
          <a:xfrm>
            <a:off x="769468" y="446318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يوسف • الآيات ٥٨ – ٨٢</a:t>
            </a:r>
            <a:endParaRPr lang="ar-SA" sz="1100" dirty="0"/>
          </a:p>
        </p:txBody>
      </p:sp>
      <p:sp>
        <p:nvSpPr>
          <p:cNvPr id="76" name="Shape 74"/>
          <p:cNvSpPr/>
          <p:nvPr/>
        </p:nvSpPr>
        <p:spPr>
          <a:xfrm>
            <a:off x="8038948" y="4846320"/>
            <a:ext cx="3520440" cy="662940"/>
          </a:xfrm>
          <a:prstGeom prst="roundRect">
            <a:avLst>
              <a:gd name="adj" fmla="val 16552"/>
            </a:avLst>
          </a:prstGeom>
          <a:solidFill>
            <a:schemeClr val="bg1"/>
          </a:solidFill>
          <a:ln w="12700">
            <a:solidFill>
              <a:schemeClr val="accent2"/>
            </a:solidFill>
            <a:prstDash val="solid"/>
          </a:ln>
        </p:spPr>
      </p:sp>
      <p:sp>
        <p:nvSpPr>
          <p:cNvPr id="77" name="Shape 75"/>
          <p:cNvSpPr/>
          <p:nvPr/>
        </p:nvSpPr>
        <p:spPr>
          <a:xfrm>
            <a:off x="10887304" y="4919472"/>
            <a:ext cx="516636" cy="516636"/>
          </a:xfrm>
          <a:prstGeom prst="star8">
            <a:avLst/>
          </a:prstGeom>
          <a:solidFill>
            <a:schemeClr val="accent2"/>
          </a:solidFill>
          <a:ln/>
        </p:spPr>
      </p:sp>
      <p:sp>
        <p:nvSpPr>
          <p:cNvPr id="78" name="Shape 76"/>
          <p:cNvSpPr/>
          <p:nvPr/>
        </p:nvSpPr>
        <p:spPr>
          <a:xfrm>
            <a:off x="10990631" y="5022799"/>
            <a:ext cx="309982" cy="309982"/>
          </a:xfrm>
          <a:prstGeom prst="ellipse">
            <a:avLst/>
          </a:prstGeom>
          <a:solidFill>
            <a:schemeClr val="bg2"/>
          </a:solidFill>
          <a:ln w="19050">
            <a:solidFill>
              <a:schemeClr val="tx2"/>
            </a:solidFill>
            <a:prstDash val="solid"/>
          </a:ln>
        </p:spPr>
      </p:sp>
      <p:sp>
        <p:nvSpPr>
          <p:cNvPr id="79" name="Text 77"/>
          <p:cNvSpPr txBox="1"/>
          <p:nvPr/>
        </p:nvSpPr>
        <p:spPr>
          <a:xfrm>
            <a:off x="10887304" y="491947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١٣</a:t>
            </a:r>
            <a:endParaRPr lang="ar-SA" sz="1200" dirty="0"/>
          </a:p>
        </p:txBody>
      </p:sp>
      <p:sp>
        <p:nvSpPr>
          <p:cNvPr id="80" name="Text 78"/>
          <p:cNvSpPr txBox="1"/>
          <p:nvPr/>
        </p:nvSpPr>
        <p:spPr>
          <a:xfrm>
            <a:off x="8176108" y="488289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لمّ الشمل وتحقّق الرؤيا</a:t>
            </a:r>
            <a:endParaRPr lang="ar-SA" sz="1400" dirty="0"/>
          </a:p>
        </p:txBody>
      </p:sp>
      <p:sp>
        <p:nvSpPr>
          <p:cNvPr id="81" name="Text 79"/>
          <p:cNvSpPr txBox="1"/>
          <p:nvPr/>
        </p:nvSpPr>
        <p:spPr>
          <a:xfrm>
            <a:off x="8176108" y="521756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يوسف • الآيات ٨٣ – ١١١</a:t>
            </a:r>
            <a:endParaRPr lang="ar-SA" sz="1100" dirty="0"/>
          </a:p>
        </p:txBody>
      </p:sp>
      <p:sp>
        <p:nvSpPr>
          <p:cNvPr id="82" name="Shape 80"/>
          <p:cNvSpPr/>
          <p:nvPr/>
        </p:nvSpPr>
        <p:spPr>
          <a:xfrm>
            <a:off x="4335628" y="4846320"/>
            <a:ext cx="3520440" cy="662940"/>
          </a:xfrm>
          <a:prstGeom prst="roundRect">
            <a:avLst>
              <a:gd name="adj" fmla="val 16552"/>
            </a:avLst>
          </a:prstGeom>
          <a:solidFill>
            <a:schemeClr val="accent5"/>
          </a:solidFill>
          <a:ln w="12700">
            <a:solidFill>
              <a:schemeClr val="accent2"/>
            </a:solidFill>
            <a:prstDash val="solid"/>
          </a:ln>
        </p:spPr>
      </p:sp>
      <p:sp>
        <p:nvSpPr>
          <p:cNvPr id="83" name="Shape 81"/>
          <p:cNvSpPr/>
          <p:nvPr/>
        </p:nvSpPr>
        <p:spPr>
          <a:xfrm>
            <a:off x="7183984" y="4919472"/>
            <a:ext cx="516636" cy="516636"/>
          </a:xfrm>
          <a:prstGeom prst="star8">
            <a:avLst/>
          </a:prstGeom>
          <a:solidFill>
            <a:schemeClr val="accent2"/>
          </a:solidFill>
          <a:ln/>
        </p:spPr>
      </p:sp>
      <p:sp>
        <p:nvSpPr>
          <p:cNvPr id="84" name="Shape 82"/>
          <p:cNvSpPr/>
          <p:nvPr/>
        </p:nvSpPr>
        <p:spPr>
          <a:xfrm>
            <a:off x="7287311" y="5022799"/>
            <a:ext cx="309982" cy="309982"/>
          </a:xfrm>
          <a:prstGeom prst="ellipse">
            <a:avLst/>
          </a:prstGeom>
          <a:solidFill>
            <a:schemeClr val="bg2"/>
          </a:solidFill>
          <a:ln w="19050">
            <a:solidFill>
              <a:schemeClr val="tx2"/>
            </a:solidFill>
            <a:prstDash val="solid"/>
          </a:ln>
        </p:spPr>
      </p:sp>
      <p:sp>
        <p:nvSpPr>
          <p:cNvPr id="85" name="Text 83"/>
          <p:cNvSpPr txBox="1"/>
          <p:nvPr/>
        </p:nvSpPr>
        <p:spPr>
          <a:xfrm>
            <a:off x="7183984" y="491947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١٤</a:t>
            </a:r>
            <a:endParaRPr lang="ar-SA" sz="1200" dirty="0"/>
          </a:p>
        </p:txBody>
      </p:sp>
      <p:sp>
        <p:nvSpPr>
          <p:cNvPr id="86" name="Text 84"/>
          <p:cNvSpPr txBox="1"/>
          <p:nvPr/>
        </p:nvSpPr>
        <p:spPr>
          <a:xfrm>
            <a:off x="4472788" y="488289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آيات الله ومثَل الحق والباطل</a:t>
            </a:r>
            <a:endParaRPr lang="ar-SA" sz="1400" dirty="0"/>
          </a:p>
        </p:txBody>
      </p:sp>
      <p:sp>
        <p:nvSpPr>
          <p:cNvPr id="87" name="Text 85"/>
          <p:cNvSpPr txBox="1"/>
          <p:nvPr/>
        </p:nvSpPr>
        <p:spPr>
          <a:xfrm>
            <a:off x="4472788" y="521756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الرعد • الآيات ١ – ١٨</a:t>
            </a:r>
            <a:endParaRPr lang="ar-SA" sz="1100" dirty="0"/>
          </a:p>
        </p:txBody>
      </p:sp>
      <p:sp>
        <p:nvSpPr>
          <p:cNvPr id="88" name="Shape 86"/>
          <p:cNvSpPr/>
          <p:nvPr/>
        </p:nvSpPr>
        <p:spPr>
          <a:xfrm>
            <a:off x="632308" y="4846320"/>
            <a:ext cx="3520440" cy="662940"/>
          </a:xfrm>
          <a:prstGeom prst="roundRect">
            <a:avLst>
              <a:gd name="adj" fmla="val 16552"/>
            </a:avLst>
          </a:prstGeom>
          <a:solidFill>
            <a:schemeClr val="bg1"/>
          </a:solidFill>
          <a:ln w="12700">
            <a:solidFill>
              <a:schemeClr val="accent2"/>
            </a:solidFill>
            <a:prstDash val="solid"/>
          </a:ln>
        </p:spPr>
      </p:sp>
      <p:sp>
        <p:nvSpPr>
          <p:cNvPr id="89" name="Shape 87"/>
          <p:cNvSpPr/>
          <p:nvPr/>
        </p:nvSpPr>
        <p:spPr>
          <a:xfrm>
            <a:off x="3480664" y="4919472"/>
            <a:ext cx="516636" cy="516636"/>
          </a:xfrm>
          <a:prstGeom prst="star8">
            <a:avLst/>
          </a:prstGeom>
          <a:solidFill>
            <a:schemeClr val="accent2"/>
          </a:solidFill>
          <a:ln/>
        </p:spPr>
      </p:sp>
      <p:sp>
        <p:nvSpPr>
          <p:cNvPr id="90" name="Shape 88"/>
          <p:cNvSpPr/>
          <p:nvPr/>
        </p:nvSpPr>
        <p:spPr>
          <a:xfrm>
            <a:off x="3583991" y="5022799"/>
            <a:ext cx="309982" cy="309982"/>
          </a:xfrm>
          <a:prstGeom prst="ellipse">
            <a:avLst/>
          </a:prstGeom>
          <a:solidFill>
            <a:schemeClr val="bg2"/>
          </a:solidFill>
          <a:ln w="19050">
            <a:solidFill>
              <a:schemeClr val="tx2"/>
            </a:solidFill>
            <a:prstDash val="solid"/>
          </a:ln>
        </p:spPr>
      </p:sp>
      <p:sp>
        <p:nvSpPr>
          <p:cNvPr id="91" name="Text 89"/>
          <p:cNvSpPr txBox="1"/>
          <p:nvPr/>
        </p:nvSpPr>
        <p:spPr>
          <a:xfrm>
            <a:off x="3480664" y="491947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١٥</a:t>
            </a:r>
            <a:endParaRPr lang="ar-SA" sz="1200" dirty="0"/>
          </a:p>
        </p:txBody>
      </p:sp>
      <p:sp>
        <p:nvSpPr>
          <p:cNvPr id="92" name="Text 90"/>
          <p:cNvSpPr txBox="1"/>
          <p:nvPr/>
        </p:nvSpPr>
        <p:spPr>
          <a:xfrm>
            <a:off x="769468" y="488289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صفات أولي الألباب</a:t>
            </a:r>
            <a:endParaRPr lang="ar-SA" sz="1400" dirty="0"/>
          </a:p>
        </p:txBody>
      </p:sp>
      <p:sp>
        <p:nvSpPr>
          <p:cNvPr id="93" name="Text 91"/>
          <p:cNvSpPr txBox="1"/>
          <p:nvPr/>
        </p:nvSpPr>
        <p:spPr>
          <a:xfrm>
            <a:off x="769468" y="521756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الرعد • الآيات ١٩ – ٤٣</a:t>
            </a:r>
            <a:endParaRPr lang="ar-SA" sz="1100" dirty="0"/>
          </a:p>
        </p:txBody>
      </p:sp>
      <p:sp>
        <p:nvSpPr>
          <p:cNvPr id="94" name="Shape 92"/>
          <p:cNvSpPr/>
          <p:nvPr/>
        </p:nvSpPr>
        <p:spPr>
          <a:xfrm>
            <a:off x="8038948" y="5600700"/>
            <a:ext cx="3520440" cy="662940"/>
          </a:xfrm>
          <a:prstGeom prst="roundRect">
            <a:avLst>
              <a:gd name="adj" fmla="val 16552"/>
            </a:avLst>
          </a:prstGeom>
          <a:solidFill>
            <a:schemeClr val="accent5"/>
          </a:solidFill>
          <a:ln w="12700">
            <a:solidFill>
              <a:schemeClr val="accent2"/>
            </a:solidFill>
            <a:prstDash val="solid"/>
          </a:ln>
        </p:spPr>
      </p:sp>
      <p:sp>
        <p:nvSpPr>
          <p:cNvPr id="95" name="Shape 93"/>
          <p:cNvSpPr/>
          <p:nvPr/>
        </p:nvSpPr>
        <p:spPr>
          <a:xfrm>
            <a:off x="10887304" y="5673852"/>
            <a:ext cx="516636" cy="516636"/>
          </a:xfrm>
          <a:prstGeom prst="star8">
            <a:avLst/>
          </a:prstGeom>
          <a:solidFill>
            <a:schemeClr val="accent2"/>
          </a:solidFill>
          <a:ln/>
        </p:spPr>
      </p:sp>
      <p:sp>
        <p:nvSpPr>
          <p:cNvPr id="96" name="Shape 94"/>
          <p:cNvSpPr/>
          <p:nvPr/>
        </p:nvSpPr>
        <p:spPr>
          <a:xfrm>
            <a:off x="10990631" y="5777179"/>
            <a:ext cx="309982" cy="309982"/>
          </a:xfrm>
          <a:prstGeom prst="ellipse">
            <a:avLst/>
          </a:prstGeom>
          <a:solidFill>
            <a:schemeClr val="bg2"/>
          </a:solidFill>
          <a:ln w="19050">
            <a:solidFill>
              <a:schemeClr val="tx2"/>
            </a:solidFill>
            <a:prstDash val="solid"/>
          </a:ln>
        </p:spPr>
      </p:sp>
      <p:sp>
        <p:nvSpPr>
          <p:cNvPr id="97" name="Text 95"/>
          <p:cNvSpPr txBox="1"/>
          <p:nvPr/>
        </p:nvSpPr>
        <p:spPr>
          <a:xfrm>
            <a:off x="10887304" y="567385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١٦</a:t>
            </a:r>
            <a:endParaRPr lang="ar-SA" sz="1200" dirty="0"/>
          </a:p>
        </p:txBody>
      </p:sp>
      <p:sp>
        <p:nvSpPr>
          <p:cNvPr id="98" name="Text 96"/>
          <p:cNvSpPr txBox="1"/>
          <p:nvPr/>
        </p:nvSpPr>
        <p:spPr>
          <a:xfrm>
            <a:off x="8176108" y="563727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دعوة الرسل والكلمة الطيبة</a:t>
            </a:r>
            <a:endParaRPr lang="ar-SA" sz="1400" dirty="0"/>
          </a:p>
        </p:txBody>
      </p:sp>
      <p:sp>
        <p:nvSpPr>
          <p:cNvPr id="99" name="Text 97"/>
          <p:cNvSpPr txBox="1"/>
          <p:nvPr/>
        </p:nvSpPr>
        <p:spPr>
          <a:xfrm>
            <a:off x="8176108" y="597194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إبراهيم • الآيات ١ – ٢٧</a:t>
            </a:r>
            <a:endParaRPr lang="ar-SA" sz="1100" dirty="0"/>
          </a:p>
        </p:txBody>
      </p:sp>
      <p:sp>
        <p:nvSpPr>
          <p:cNvPr id="100" name="Shape 98"/>
          <p:cNvSpPr/>
          <p:nvPr/>
        </p:nvSpPr>
        <p:spPr>
          <a:xfrm>
            <a:off x="4335628" y="5600700"/>
            <a:ext cx="3520440" cy="662940"/>
          </a:xfrm>
          <a:prstGeom prst="roundRect">
            <a:avLst>
              <a:gd name="adj" fmla="val 16552"/>
            </a:avLst>
          </a:prstGeom>
          <a:solidFill>
            <a:schemeClr val="bg1"/>
          </a:solidFill>
          <a:ln w="12700">
            <a:solidFill>
              <a:schemeClr val="accent2"/>
            </a:solidFill>
            <a:prstDash val="solid"/>
          </a:ln>
        </p:spPr>
      </p:sp>
      <p:sp>
        <p:nvSpPr>
          <p:cNvPr id="101" name="Shape 99"/>
          <p:cNvSpPr/>
          <p:nvPr/>
        </p:nvSpPr>
        <p:spPr>
          <a:xfrm>
            <a:off x="7183984" y="5673852"/>
            <a:ext cx="516636" cy="516636"/>
          </a:xfrm>
          <a:prstGeom prst="star8">
            <a:avLst/>
          </a:prstGeom>
          <a:solidFill>
            <a:schemeClr val="accent2"/>
          </a:solidFill>
          <a:ln/>
        </p:spPr>
      </p:sp>
      <p:sp>
        <p:nvSpPr>
          <p:cNvPr id="102" name="Shape 100"/>
          <p:cNvSpPr/>
          <p:nvPr/>
        </p:nvSpPr>
        <p:spPr>
          <a:xfrm>
            <a:off x="7287311" y="5777179"/>
            <a:ext cx="309982" cy="309982"/>
          </a:xfrm>
          <a:prstGeom prst="ellipse">
            <a:avLst/>
          </a:prstGeom>
          <a:solidFill>
            <a:schemeClr val="bg2"/>
          </a:solidFill>
          <a:ln w="19050">
            <a:solidFill>
              <a:schemeClr val="tx2"/>
            </a:solidFill>
            <a:prstDash val="solid"/>
          </a:ln>
        </p:spPr>
      </p:sp>
      <p:sp>
        <p:nvSpPr>
          <p:cNvPr id="103" name="Text 101"/>
          <p:cNvSpPr txBox="1"/>
          <p:nvPr/>
        </p:nvSpPr>
        <p:spPr>
          <a:xfrm>
            <a:off x="7183984" y="5673852"/>
            <a:ext cx="516636" cy="516636"/>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١٧</a:t>
            </a:r>
            <a:endParaRPr lang="ar-SA" sz="1200" dirty="0"/>
          </a:p>
        </p:txBody>
      </p:sp>
      <p:sp>
        <p:nvSpPr>
          <p:cNvPr id="104" name="Text 102"/>
          <p:cNvSpPr txBox="1"/>
          <p:nvPr/>
        </p:nvSpPr>
        <p:spPr>
          <a:xfrm>
            <a:off x="4472788" y="5637276"/>
            <a:ext cx="2546604" cy="364617"/>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نعم الله ودعاء إبراهيم</a:t>
            </a:r>
            <a:endParaRPr lang="ar-SA" sz="1400" dirty="0"/>
          </a:p>
        </p:txBody>
      </p:sp>
      <p:sp>
        <p:nvSpPr>
          <p:cNvPr id="105" name="Text 103"/>
          <p:cNvSpPr txBox="1"/>
          <p:nvPr/>
        </p:nvSpPr>
        <p:spPr>
          <a:xfrm>
            <a:off x="4472788" y="5971946"/>
            <a:ext cx="2546604" cy="25191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إبراهيم • الآيات ٢٨ – ٥٢</a:t>
            </a:r>
            <a:endParaRPr lang="ar-SA" sz="11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آيات الله وعناد المكذّبين</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٢٠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يونس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لما بعث الله محمدًا صلى الله عليه وسلم رسولًا أنكرت العرب ذلك وقالوا: الله أعظم من أن يكون رسوله بشرًا، فأنزل الله: ﴿أكان للناس عجبًا أن أوحينا إلى رجل منهم﴾ (ذكره ابن كثير).</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الوحي، ودلائل الخلق في الشمس والقمر والليل والنهار، ونعيم المؤمنين، وطبيعة الإنسان في الشدة والرخاء، وطلب المشركين تبديل القرآن.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 تِلْكَ ءَايَٰتُ الْكِتَٰبِ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 تلك آيات القرآن المحكم.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أَكَانَ لِلنَّاسِ عَجَبًا أَنْ أَوْحَيْنَآ إِلَىٰ رَجُلٍ مِّنْهُمْ أَنْ أَنذِرِ النَّاسَ وَبَشِّرِ الَّذِينَ ءَامَنُواْ أَنَّ لَهُمْ قَدَمَ صِدْقٍ عِندَ رَبِّهِمْ قَالَ الْكَٰفِرُونَ إِنَّ هَٰذَا لَسَٰحِرٌ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أكان عجيبًا للناس أن أوحينا إلى رجل منهم: أن أنذر الناس، وبشّر المؤمنين أن لهم أجرًا حسنًا سبق لهم عند ربهم؟ قال الكافرون: إن هذا لساحر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رَبَّكُمُ اللَّهُ الَّذِي خَلَقَ السَّمَٰوَٰتِ وَالْأَرْضَ فِي سِتَّةِ أَيَّامٍ ثُمَّ اسْتَوَىٰ عَلَى الْعَرْشِ يُدَبِّرُ الْأَمْرَ مَا مِن شَفِيعٍ إِلَّا مِن بَعْدِ إِذْنِهِ ذَٰلِكُمُ اللَّهُ رَبُّكُمْ فَاعْبُدُوهُ أَفَلَا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ربكم الله الذي خلق السماوات والأرض في ستة أيام، ثم علا على العرش علوًّا يليق بجلاله، يدبّر الأمر، ما من شفيع إلا من بعد إذنه، ذلكم الله ربكم فاعبدوه، أفلا تتذكرون؟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إِلَيْهِ مَرْجِعُكُمْ جَمِيعًا وَعْدَ اللَّهِ حَقًّا إِنَّهُ يَبْدَؤُاْ الْخَلْقَ ثُمَّ يُعِيدُهُ لِيَجْزِيَ الَّذِينَ ءَامَنُواْ وَعَمِلُواْ الصَّـٰلِحَٰتِ بِالْقِسْطِ وَالَّذِينَ كَفَرُواْ لَهُمْ شَرَابٌ مِّنْ حَمِيمٍ وَعَذَابٌ أَلِيمٌ بِمَا كَانُواْ يَكْفُرُونَ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إليه مرجعكم جميعًا، وعد الله حقًّا، إنه يبدأ الخلق ثم يُعيده، ليجزي المؤمنين الصالحين بالعدل، والكفار لهم شراب من ماء حار وعذاب موجع بكفرهم.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جَعَلَ الشَّمْسَ ضِيَآءً وَالْقَمَرَ نُورًا وَقَدَّرَهُ مَنَازِلَ لِتَعْلَمُواْ عَدَدَ السِّنِينَ وَالْحِسَابَ مَا خَلَقَ اللَّهُ ذَٰلِكَ إِلَّا بِالْحَقِّ يُفَصِّلُ الْأيَٰتِ لِقَوْمٍ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جعل الشمس مضيئة، والقمر منيرًا، وقدّره منازل، لتعلموا عدد السنين والحساب، ما خلق الله ذلك إلا بالحق، يبيّن الآيات لقوم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اخْتِلَٰفِ الَّيْلِ وَالنَّهَارِ وَمَا خَلَقَ اللَّهُ فِي السَّمَٰوَٰتِ وَالْأَرْضِ لَأيَٰتٍ لِّقَوْمٍ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تعاقب الليل والنهار، وما خلق الله في السماوات والأرض، لدلائل لقوم يتقون.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لَا يَرْجُونَ لِقَآءَنَا وَرَضُواْ بِالْحَيَوٰةِ الدُّنْيَا وَاطْمَأَنُّواْ بِهَا وَالَّذِينَ هُمْ عَنْ ءَايَٰتِنَا 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لا يرجون لقاءنا، ورضوا بالحياة الدنيا واطمأنّوا بها، والذين هم عن آياتنا غافلون.</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مَأْوَىٰهُمُ النَّارُ بِمَا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مصيرهم النار بسبب ما كانوا يكسبون.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يَهْدِيهِمْ رَبُّهُم بِإِيمَٰنِهِمْ تَجْرِي مِن تَحْتِهِمُ الْأَنْهَٰرُ فِي جَنَّـٰتِ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الصالحين يهديهم ربهم بسبب إيمانهم إلى الجنة، تجري من تحتهم الأنهار في جنات النعيم.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دَعْوَىٰهُمْ فِيهَا سُبْحَٰنَكَ اللَّهُمَّ وَتَحِيَّتُهُمْ فِيهَا سَلَٰمٌ وَءَاخِرُ دَعْوَىٰهُمْ أَنِ الْحَمْدُ 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دعاؤهم فيها: سبحانك اللهم، وتحيّتهم فيها: سلام، وآخر دعائهم: الحمد لله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يُعَجِّلُ اللَّهُ لِلنَّاسِ الشَّرَّ اسْتِعْجَالَهُم بِالْخَيْرِ لَقُضِيَ إِلَيْهِمْ أَجَلُهُمْ فَنَذَرُ الَّذِينَ لَا يَرْجُونَ لِقَآءَنَا فِي طُغْيَٰنِهِمْ يَعْمَهُونَ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يعجّل الله للناس الشرّ إذا دعوا به على أنفسهم في الغضب كما يعجّل لهم الخير، لأهلكهم، فنترك الذين لا يرجون لقاءنا في طغيانهم يتحيّرون.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مَسَّ الْإِنسَٰنَ الضُّرُّ دَعَانَا لِجَنبِهِ أَوْ قَاعِدًا أَوْ قَآئِمًا فَلَمَّا كَشَفْنَا عَنْهُ ضُرَّهُ مَرَّ كَأَن لَّمْ يَدْعُنَآ إِلَىٰ ضُرٍّ مَّسَّهُ كَذَٰلِكَ زُيِّنَ لِلْمُسْرِفِينَ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أصاب الإنسان الضرّ دعانا مضطجعًا أو قاعدًا أو قائمًا، فلما كشفنا عنه ضرّه استمرّ في غفلته كأنه لم يدعنا، كذلك زُيّن للمسرفين 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أَهْلَكْنَا الْقُرُونَ مِن قَبْلِكُمْ لَمَّا ظَلَمُواْ وَجَآءَتْهُمْ رُسُلُهُم بِالْبَيِّنَٰتِ وَمَا كَانُواْ لِيُؤْمِنُواْ كَذَٰلِكَ نَجْزِي الْقَوْمَ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أهلكنا الأمم قبلكم لما ظلموا، وجاءتهم رسلهم بالمعجزات وما كانوا ليؤمنوا، كذلك نجزي القوم المجرمين.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جَعَلْنَٰكُمْ خَلَـٰئِفَ فِي الْأَرْضِ مِن بَعْدِهِمْ لِنَنظُرَ كَيْفَ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جعلناكم خلفاء في الأرض من بعدهم لننظر كيف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تُتْلَىٰ عَلَيْهِمْ ءَايَاتُنَا بَيِّنَٰتٍ قَالَ الَّذِينَ لَا يَرْجُونَ لِقَآءَنَا ائْتِ بِقُرْءَانٍ غَيْرِ هَٰذَآ أَوْ بَدِّلْهُ قُلْ مَا يَكُونُ لِي أَنْ أُبَدِّلَهُ مِن تِلْقَآيِٕ نَفْسِي إِنْ أَتَّبِعُ إِلَّا مَا يُوحَىٰ إِلَيَّ إِنِّي أَخَافُ إِنْ عَصَيْتُ رَبِّي عَذَابَ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قُرئت عليهم آياتنا الواضحة قال الذين لا يرجون لقاءنا: ائت بقرآن غير هذا أو بدّله، قل: ما ينبغي لي أن أبدّله من عندي، ما أتّبع إلا ما يوحى إليّ، إني أخاف إن عصيت ربي عذاب يوم عظيم.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لَّوْ شَآءَ اللَّهُ مَا تَلَوْتُهُ عَلَيْكُمْ وَلَآ أَدْرَىٰكُم بِهِ فَقَدْ لَبِثْتُ فِيكُمْ عُمُرًا مِّن قَبْلِهِ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لو شاء الله ما قرأته عليكم ولا أعلمكم به، فقد بقيت فيكم أربعين سنة قبل نزوله لا أقرأ ولا أكتب، أفلا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أَظْلَمُ مِمَّنِ افْتَرَىٰ عَلَى اللَّهِ كَذِبًا أَوْ كَذَّبَ بِـَٔايَٰتِهِ إِنَّهُ لَا يُفْلِحُ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أحد أظلم ممن كذب على الله أو كذّب بآياته، إنه لا يفلح المجرمون.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وَيَعْبُدُونَ مِن دُونِ اللَّهِ مَا لَا يَضُرُّهُمْ وَلَا يَنفَعُهُمْ وَيَقُولُونَ هَـٰؤُلَآءِ شُفَعَـٰؤُنَا عِندَ اللَّهِ قُلْ أَتُنَبِّـُٔونَ اللَّهَ بِمَا لَا يَعْلَمُ فِي السَّمَٰوَٰتِ وَلَا فِي الْأَرْضِ سُبْحَٰنَهُ وَتَعَٰلَىٰ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ويعبدون من دون الله ما لا يضرّهم ولا ينفعهم، ويقولون: هؤلاء شفعاؤنا عند الله، قل: أتُخبرون الله بشيء لا يعلمه في السماوات ولا في الأرض؟ تنزّه وتعالى عما يشركون.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النَّاسُ إِلَّآ أُمَّةً وَٰحِدَةً فَاخْتَلَفُواْ وَلَوْلَا كَلِمَةٌ سَبَقَتْ مِن رَّبِّكَ لَقُضِيَ بَيْنَهُمْ فِيمَا فِيهِ يَخْتَلِفُونَ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الناس إلا على دين واحد هو التوحيد فاختلفوا، ولولا حكم من ربك بتأخير العذاب لقُضي بينهم فيما فيه يختلفون.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لَوْلَآ أُنزِلَ عَلَيْهِ ءَايَةٌ مِّن رَّبِّهِ فَقُلْ إِنَّمَا الْغَيْبُ لِلَّهِ فَانتَظِرُواْ إِنِّي مَعَكُم مِّنَ الْمُنتَظِرِينَ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هلّا أُنزلت عليه معجزة من ربه! فقل: إنما الغيب لله، فانتظروا إني معكم من المنتظرين.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حقيقة الدنيا وتحدّي القرآن</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٢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٢١ – ٥٦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يونس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مثل الحياة الدنيا كالزرع يزدهر ثم يُحصد، والزيادة للمحسنين، وأسئلة تُثبت التوحيد، وتحدّي المشركين أن يأتوا بسورة مثل القرآن.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أَذَقْنَا النَّاسَ رَحْمَةً مِّن بَعْدِ ضَرَّآءَ مَسَّتْهُمْ إِذَا لَهُم مَّكْرٌ فِي ءَايَاتِنَا قُلِ اللَّهُ أَسْرَعُ مَكْرًا إِنَّ رُسُلَنَا يَكْتُبُونَ مَا تَمْكُرُونَ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أذقنا الناس رحمة بعد شدة أصابتهم إذا لهم تكذيب واستهزاء بآياتنا، قل: الله أسرع عقوبة، إن ملائكتنا يكتبون ما تمكرون.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يُسَيِّرُكُمْ فِي الْبَرِّ وَالْبَحْرِ حَتَّىٰ إِذَا كُنتُمْ فِي الْفُلْكِ وَجَرَيْنَ بِهِم بِرِيحٍ طَيِّبَةٍ وَفَرِحُواْ بِهَا جَآءَتْهَا رِيحٌ عَاصِفٌ وَجَآءَهُمُ الْمَوْجُ مِن كُلِّ مَكَانٍ وَظَنُّواْ أَنَّهُمْ أُحِيطَ بِهِمْ دَعَوُاْ اللَّهَ مُخْلِصِينَ لَهُ الدِّينَ لَئِنْ أَنجَيْتَنَا مِنْ هَٰذِهِ لَنَكُونَنَّ مِنَ الشَّـٰكِرِينَ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يسيّركم في البر والبحر، حتى إذا كنتم في السفن وجرت بهم بريح طيبة وفرحوا بها، جاءتها ريح شديدة، وجاءهم الموج من كل مكان، وظنّوا أنهم هالكون، دعوا الله مخلصين له الدعاء: لئن أنجيتنا من هذه لنكوننّ من الشاكرين.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أَنجَىٰهُمْ إِذَا هُمْ يَبْغُونَ فِي الْأَرْضِ بِغَيْرِ الْحَقِّ يَـٰأَيُّهَا النَّاسُ إِنَّمَا بَغْيُكُمْ عَلَىٰ أَنفُسِكُم مَّتَٰعَ الْحَيَوٰةِ الدُّنْيَا ثُمَّ إِلَيْنَا مَرْجِعُكُمْ فَنُنَبِّئُكُم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أنجاهم إذا هم يُفسدون في الأرض بغير حق، يا أيها الناس إنما ظلمكم يرجع على أنفسكم، تتمتّعون في الحياة الدنيا قليلًا، ثم إلينا مرجعكم فنخبركم بما كنتم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53312"/>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مَثَلُ الْحَيَوٰةِ الدُّنْيَا كَمَآءٍ أَنزَلْنَٰهُ مِنَ السَّمَآءِ فَاخْتَلَطَ بِهِ نَبَاتُ الْأَرْضِ مِمَّا يَأْكُلُ النَّاسُ وَالْأَنْعَٰمُ حَتَّىٰ إِذَآ أَخَذَتِ الْأَرْضُ زُخْرُفَهَا وَازَّيَّنَتْ وَظَنَّ أَهْلُهَآ أَنَّهُمْ قَٰدِرُونَ عَلَيْهَآ أَتَىٰهَآ أَمْرُنَا لَيْلًا أَوْ نَهَارًا فَجَعَلْنَٰهَا حَصِيدًا كَأَن لَّمْ تَغْنَ بِالْأَمْسِ كَذَٰلِكَ نُفَصِّلُ الْأيَٰتِ لِقَوْمٍ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مثل الحياة الدنيا كمطر أنزلناه من السماء، فاختلط به نبات الأرض مما يأكل الناس والأنعام، حتى إذا تزيّنت الأرض بنباتها، وظنّ أهلها أنهم قادرون على حصادها، أتاها أمرنا ليلًا أو نهارًا فجعلناها محصودة كأن لم تكن بالأمس، كذلك نبيّن الآيات لقوم يتفكرون.</a:t>
            </a:r>
            <a:endParaRPr lang="ar-SA" sz="3200" dirty="0"/>
          </a:p>
        </p:txBody>
      </p:sp>
      <p:sp>
        <p:nvSpPr>
          <p:cNvPr id="9" name="Shape 7"/>
          <p:cNvSpPr/>
          <p:nvPr/>
        </p:nvSpPr>
        <p:spPr>
          <a:xfrm>
            <a:off x="2103120" y="4882896"/>
            <a:ext cx="8641080" cy="0"/>
          </a:xfrm>
          <a:prstGeom prst="line">
            <a:avLst/>
          </a:prstGeom>
          <a:noFill/>
          <a:ln w="9525">
            <a:solidFill>
              <a:schemeClr val="accent2"/>
            </a:solidFill>
            <a:prstDash val="dash"/>
          </a:ln>
        </p:spPr>
      </p:sp>
      <p:sp>
        <p:nvSpPr>
          <p:cNvPr id="10" name="Shape 8"/>
          <p:cNvSpPr/>
          <p:nvPr/>
        </p:nvSpPr>
        <p:spPr>
          <a:xfrm>
            <a:off x="10927080" y="5056632"/>
            <a:ext cx="548640" cy="548640"/>
          </a:xfrm>
          <a:prstGeom prst="star8">
            <a:avLst/>
          </a:prstGeom>
          <a:solidFill>
            <a:schemeClr val="accent2"/>
          </a:solidFill>
          <a:ln/>
        </p:spPr>
      </p:sp>
      <p:sp>
        <p:nvSpPr>
          <p:cNvPr id="11" name="Shape 9"/>
          <p:cNvSpPr/>
          <p:nvPr/>
        </p:nvSpPr>
        <p:spPr>
          <a:xfrm>
            <a:off x="11036808" y="516636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505663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503834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يَدْعُواْ إِلَىٰ دَارِ السَّلَٰمِ وَيَهْدِي مَن يَشَآءُ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يدعو إلى الجنة دار السلامة، ويهدي من يشاء إلى طريق مستقيم.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لِّلَّذِينَ أَحْسَنُواْ الْحُسْنَىٰ وَزِيَادَةٌ وَلَا يَرْهَقُ وُجُوهَهُمْ قَتَرٌ وَلَا ذِلَّةٌ أُوْلَـٰئِكَ أَصْحَٰبُ الْجَنَّةِ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للذين أحسنوا الجنة، وزيادة عليها وهي النظر إلى وجه الله الكريم كما فسّرها النبي صلى الله عليه وسلم (رواه مسلم)، ولا يغشى وجوههم غبار ولا ذلّ، أولئك أصحاب الجنة هم فيها خالدون.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كَسَبُواْ السَّيِّـَٔاتِ جَزَآءُ سَيِّئَةٍ بِمِثْلِهَا وَتَرْهَقُهُمْ ذِلَّةٌ مَّا لَهُم مِّنَ اللَّهِ مِنْ عَاصِمٍ كَأَنَّمَآ أُغْشِيَتْ وُجُوهُهُمْ قِطَعًا مِّنَ الَّيْلِ مُظْلِمًا أُوْلَـٰئِكَ أَصْحَٰبُ النَّارِ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عملوا السيئات جزاء السيئة مثلها، ويغشاهم ذلّ، ما لهم من الله من مانع، كأنما غُطّيت وجوههم بقطع من الليل المظلم، أولئك أصحاب النار هم فيها خالدون.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نَحْشُرُهُمْ جَمِيعًا ثُمَّ نَقُولُ لِلَّذِينَ أَشْرَكُواْ مَكَانَكُمْ أَنتُمْ وَشُرَكَآؤُكُمْ فَزَيَّلْنَا بَيْنَهُمْ وَقَالَ شُرَكَآؤُهُم مَّا كُنتُمْ إِيَّانَا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نجمعهم جميعًا ثم نقول للمشركين: الزموا مكانكم أنتم وآلهتكم، ففرّقنا بينهم، وقالت آلهتهم: ما كنتم إيانا تعبدون.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فَكَفَىٰ بِاللَّهِ شَهِيدًا بَيْنَنَا وَبَيْنَكُمْ إِن كُنَّا عَنْ عِبَادَتِكُمْ لَغَٰفِلِينَ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فكفى بالله شاهدًا بيننا وبينكم، إنا كنا عن عبادتكم غافلين.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هُنَالِكَ تَبْلُواْ كُلُّ نَفْسٍ مَّآ أَسْلَفَتْ وَرُدُّواْ إِلَى اللَّهِ مَوْلَىٰهُمُ الْحَقِّ وَضَلَّ عَنْهُم 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هنالك تختبر كل نفس ما قدّمت من عمل، ورُدّوا إلى الله مولاهم الحق، وغاب عنهم ما كانوا يختلقون.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يَرْزُقُكُم مِّنَ السَّمَآءِ وَالْأَرْضِ أَمَّن يَمْلِكُ السَّمْعَ وَالْأَبْصَٰرَ وَمَن يُخْرِجُ الْحَيَّ مِنَ الْمَيِّتِ وَيُخْرِجُ الْمَيِّتَ مِنَ الْحَيِّ وَمَن يُدَبِّرُ الْأَمْرَ فَسَيَقُولُونَ اللَّهُ فَقُلْ أَفَلَا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يرزقكم من السماء والأرض؟ أم من يملك السمع والأبصار؟ ومن يُخرج الحي من الميت ويُخرج الميت من الحي؟ ومن يدبّر الأمر؟ فسيقولون: الله، فقل: أفلا تتقون؟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فَذَٰلِكُمُ اللَّهُ رَبُّكُمُ الْحَقُّ فَمَاذَا بَعْدَ الْحَقِّ إِلَّا الضَّلَٰلُ فَأَنَّىٰ تُصْرَفُونَ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فذلكم الله ربكم الحق، فماذا بعد الحق إلا الضلال؟ فكيف تُصرفون عن عبادته؟</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حَقَّتْ كَلِمَتُ رَبِّكَ عَلَى الَّذِينَ فَسَقُواْ أَنَّهُمْ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وجب حكم ربك على الذين خرجوا عن الطاعة أنهم لا يؤمنون.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هَلْ مِن شُرَكَآئِكُم مَّن يَبْدَؤُاْ الْخَلْقَ ثُمَّ يُعِيدُهُ قُلِ اللَّهُ يَبْدَؤُاْ الْخَلْقَ ثُمَّ يُعِيدُهُ فَأَنَّىٰ تُؤْفَكُونَ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هل من آلهتكم من يبدأ الخلق ثم يُعيده؟ قل: الله يبدأ الخلق ثم يعيده، فكيف تُصرفون؟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هَلْ مِن شُرَكَآئِكُم مَّن يَهْدِي إِلَى الْحَقِّ قُلِ اللَّهُ يَهْدِي لِلْحَقِّ أَفَمَن يَهْدِي إِلَى الْحَقِّ أَحَقُّ أَن يُتَّبَعَ أَمَّن لَّا يَهِدِّي إِلَّآ أَن يُهْدَىٰ فَمَا لَكُمْ كَيْفَ تَحْكُمُونَ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هل من آلهتكم من يهدي إلى الحق؟ قل: الله يهدي للحق، أفمن يهدي إلى الحق أحق أن يُتّبع، أم من لا يهتدي إلا أن يهديه غيره؟ فما لكم كيف تحكمون؟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يَتَّبِعُ أَكْثَرُهُمْ إِلَّا ظَنًّا إِنَّ الظَّنَّ لَا يُغْنِي مِنَ الْحَقِّ شَيْـًٔا إِنَّ اللَّهَ عَلِيمٌ بِمَا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يتّبع أكثرهم إلا ظنًّا، إن الظن لا يُغني من الحق شيئًا، إن الله عليم بما يفعلون.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هَٰذَا الْقُرْءَانُ أَن يُفْتَرَىٰ مِن دُونِ اللَّهِ وَلَٰكِن تَصْدِيقَ الَّذِي بَيْنَ يَدَيْهِ وَتَفْصِيلَ الْكِتَٰبِ لَا رَيْبَ فِيهِ مِن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هذا القرآن ليُختلق من غير الله، ولكن تصديق الكتب التي قبله، وتفصيل الأحكام، لا شك فيه، من رب العالمين.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افْتَرَىٰهُ قُلْ فَأْتُواْ بِسُورَةٍ مِّثْلِهِ وَادْعُواْ مَنِ اسْتَطَعْتُم مِّن دُونِ اللَّهِ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يقولون: اختلقه محمد؟ قل: فأتوا بسورة مثله، وادعوا من استطعتم من دون الله ليعينكم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كَذَّبُواْ بِمَا لَمْ يُحِيطُواْ بِعِلْمِهِ وَلَمَّا يَأْتِهِمْ تَأْوِيلُهُ كَذَٰلِكَ كَذَّبَ الَّذِينَ مِن قَبْلِهِمْ فَانظُرْ كَيْفَ كَانَ عَٰقِبَةُ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كذّبوا بالقرآن قبل أن يفهموه، ولم يأتهم بعد ما وعدهم به، كذلك كذّب الذين من قبلهم، فانظر كيف كانت عاقبة الظالمين.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مَّن يُؤْمِنُ بِهِ وَمِنْهُم مَّن لَّا يُؤْمِنُ بِهِ وَرَبُّكَ أَعْلَمُ بِالْمُفْسِدِينَ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ومنهم من يؤمن به، ومنهم من لا يؤمن به، وربك أعلم بالمفسدين.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كَذَّبُوكَ فَقُل لِّي عَمَلِي وَلَكُمْ عَمَلُكُمْ أَنتُم بَرِيـُٔونَ مِمَّآ أَعْمَلُ وَأَنَا بَرِيءٌ مِّمَّا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كذّبوك فقل: لي عملي ولكم عملكم، أنتم بريئون مما أعمل، وأنا بريء مما تعملون.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مَّن يَسْتَمِعُونَ إِلَيْكَ أَفَأَنتَ تُسْمِعُ الصُّمَّ وَلَوْ كَانُواْ 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ومنهم من يستمعون إليك ولا ينتفعون، أفأنت تُسمع الصمّ ولو كانوا لا يعقلون؟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مَّن يَنظُرُ إِلَيْكَ أَفَأَنتَ تَهْدِي الْعُمْيَ وَلَوْ كَانُواْ لَا 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ومنهم من ينظر إليك ولا يهتدي، أفأنت تهدي العُمي ولو كانوا لا يُبصرون؟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لَا يَظْلِمُ النَّاسَ شَيْـًٔا وَلَٰكِنَّ النَّاسَ أَنفُسَهُمْ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لا يظلم الناس شيئًا، ولكن الناس أنفسهم يظلمون.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يَحْشُرُهُمْ كَأَن لَّمْ يَلْبَثُواْ إِلَّا سَاعَةً مِّنَ النَّهَارِ يَتَعَارَفُونَ بَيْنَهُمْ قَدْ خَسِرَ الَّذِينَ كَذَّبُواْ بِلِقَآءِ اللَّهِ وَمَا كَانُواْ مُهْتَدِينَ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يجمعهم كأنهم لم يبقوا في الدنيا إلا ساعة من النهار، يعرف بعضهم بعضًا، قد خسر الذين كذّبوا بلقاء الله وما كانوا مهتدين.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وَإِمَّا نُرِيَنَّكَ بَعْضَ الَّذِي نَعِدُهُمْ أَوْ نَتَوَفَّيَنَّكَ فَإِلَيْنَا مَرْجِعُهُمْ ثُمَّ اللَّهُ شَهِيدٌ عَلَىٰ مَا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وإما نُرينّك بعض الذي نعدهم من العذاب في حياتك، أو نتوفّينك قبل ذلك، فإلينا مرجعهم، ثم الله شهيد على ما يفعلون.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وَلِكُلِّ أُمَّةٍ رَّسُولٌ فَإِذَا جَآءَ رَسُولُهُمْ قُضِيَ بَيْنَهُم بِالْقِسْطِ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ولكل أمة رسول، فإذا جاء رسولهم يوم القيامة قُضي بينهم بالعدل، وهم لا يُظلمون.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متى هذا الوعد بالعذاب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لَّآ أَمْلِكُ لِنَفْسِي ضَرًّا وَلَا نَفْعًا إِلَّا مَا شَآءَ اللَّهُ لِكُلِّ أُمَّةٍ أَجَلٌ إِذَا جَآءَ أَجَلُهُمْ فَلَا يَسْتَـْٔخِرُونَ سَاعَةً وَلَا يَسْتَقْدِمُونَ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لا أملك لنفسي ضرًّا ولا نفعًا إلا ما شاء الله، لكل أمة أجل، إذا جاء أجلهم فلا يتأخّرون ساعة ولا يتقدّمون.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إِنْ أَتَىٰكُمْ عَذَابُهُ بَيَٰتًا أَوْ نَهَارًا مَّاذَا يَسْتَعْجِلُ مِنْهُ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أتاكم عذاب الله ليلًا أو نهارًا، فأيّ شيء من العذاب يستعجل المجرمون؟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أَثُمَّ إِذَا مَا وَقَعَ ءَامَنتُم بِهِ ءَآلْـَٰٔنَ وَقَدْ كُنتُم بِهِ تَسْتَعْجِلُونَ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أثم إذا وقع العذاب آمنتم به؟ الآن تؤمنون وقد كنتم تستعجلونه استهزاءً؟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قِيلَ لِلَّذِينَ ظَلَمُواْ ذُوقُواْ عَذَابَ الْخُلْدِ هَلْ تُجْزَوْنَ إِلَّا بِمَا كُنتُمْ تَكْسِبُونَ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قيل للظالمين: ذوقوا العذاب الدائم، هل تُجزون إلا بما كنتم تكسبون؟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وَيَسْتَنبِـُٔونَكَ أَحَقٌّ هُوَ قُلْ إِي وَرَبِّي إِنَّهُ لَحَقٌّ وَمَآ أَنتُم بِمُعْجِزِينَ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ويستخبرونك: أحقّ هو البعث والعذاب؟ قل: نعم وربي إنه لحق، وما أنتم بفائتين.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 لِكُلِّ نَفْسٍ ظَلَمَتْ مَا فِي الْأَرْضِ لَافْتَدَتْ بِهِ وَأَسَرُّواْ النَّدَامَةَ لَمَّا رَأَوُاْ الْعَذَابَ وَقُضِيَ بَيْنَهُم بِالْقِسْطِ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 لكل نفس ظالمة ما في الأرض لقدّمته فداءً لها، وأخفوا الندم لما رأوا العذاب، وقُضي بينهم بالعدل، وهم لا يُظلمون.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إِنَّ لِلَّهِ مَا فِي السَّمَٰوَٰتِ وَالْأَرْضِ أَلَآ إِنَّ وَعْدَ اللَّهِ حَقٌّ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إن لله ما في السماوات والأرض، ألا إن وعد الله حق، ولكن أكثرهم لا يعلمون.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يُحْيِ وَيُمِيتُ وَإِلَيْهِ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يُحيي ويُميت، وإليه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الموعظة وأولياء الله</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٣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٥٧ – ٧٠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يونس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القرآن موعظة وشفاء ورحمة، والفرح بفضل الله، وعلم الله المحيط، وصفة أولياء الله الذين لا خوف عليهم ولا هم يحزنون.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قَدْ جَآءَتْكُم مَّوْعِظَةٌ مِّن رَّبِّكُمْ وَشِفَآءٌ لِّمَا فِي الصُّدُورِ وَهُدًى وَرَحْمَةٌ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قد جاءكم القرآن موعظة من ربكم، وشفاء لما في الصدور من الشك، وهدى ورحمة للمؤمنين.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بِفَضْلِ اللَّهِ وَبِرَحْمَتِهِ فَبِذَٰلِكَ فَلْيَفْرَحُواْ هُوَ خَيْرٌ مِّمَّا يَجْمَعُونَ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بفضل الله ورحمته وهو الإسلام والقرآن فليفرحوا، هو خير مما يجمعون من متاع الدنيا.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مَّآ أَنزَلَ اللَّهُ لَكُم مِّن رِّزْقٍ فَجَعَلْتُم مِّنْهُ حَرَامًا وَحَلَٰلًا قُلْ ءَآللَّهُ أَذِنَ لَكُمْ أَمْ عَلَى اللَّهِ تَفْتَرُونَ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ما أنزل الله لكم من رزق، فجعلتم منه حرامًا وحلالًا، قل: آلله أذن لكم بذلك، أم على الله تكذبون؟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ظَنُّ الَّذِينَ يَفْتَرُونَ عَلَى اللَّهِ الْكَذِبَ يَوْمَ الْقِيَٰمَةِ إِنَّ اللَّهَ لَذُو فَضْلٍ عَلَى النَّاسِ وَلَٰكِنَّ أَكْثَرَهُمْ لَا يَشْكُرُونَ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ظنّ الذين يكذبون على الله ماذا سيُفعل بهم يوم القيامة؟ إن الله لذو فضل على الناس بتأخير العقوبة، ولكن أكثرهم لا يشكرون.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تَكُونُ فِي شَأْنٍ وَمَا تَتْلُواْ مِنْهُ مِن قُرْءَانٍ وَلَا تَعْمَلُونَ مِنْ عَمَلٍ إِلَّا كُنَّا عَلَيْكُمْ شُهُودًا إِذْ تُفِيضُونَ فِيهِ وَمَا يَعْزُبُ عَن رَّبِّكَ مِن مِّثْقَالِ ذَرَّةٍ فِي الْأَرْضِ وَلَا فِي السَّمَآءِ وَلَآ أَصْغَرَ مِن ذَٰلِكَ وَلَآ أَكْبَرَ إِلَّا فِي كِتَٰبٍ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تكون يا محمد في أمر، وما تقرأ من القرآن، ولا تعملون أيها الناس من عمل، إلا كنا عليكم شاهدين حين تشرعون فيه، وما يغيب عن ربك وزن ذرة في الأرض ولا في السماء، ولا أصغر من ذلك ولا أكبر، إلا في كتاب واضح.</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إِنَّ أَوْلِيَآءَ اللَّهِ لَا خَوْفٌ عَلَيْهِمْ وَلَا هُمْ يَحْزَنُونَ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إن أولياء الله لا خوف عليهم ولا هم يحزنون.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ءَامَنُواْ وَكَانُواْ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وهم الذين آمنوا وكانوا يتقون الله.</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الْبُشْرَىٰ فِي الْحَيَوٰةِ الدُّنْيَا وَفِي الْأخِرَةِ لَا تَبْدِيلَ لِكَلِمَٰتِ اللَّهِ ذَٰلِكَ هُوَ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البشرى في الحياة الدنيا كالرؤيا الصالحة وثناء الناس، وفي الآخرة بالجنة، لا تغيير لوعد الله، ذلك هو الفوز العظيم.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يَحْزُنكَ قَوْلُهُمْ إِنَّ الْعِزَّةَ لِلَّهِ جَمِيعًا 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يُحزنك قول المشركين، إن العزة لله جميعًا، هو السميع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إِنَّ لِلَّهِ مَن فِي السَّمَٰوَٰتِ وَمَن فِي الْأَرْضِ وَمَا يَتَّبِعُ الَّذِينَ يَدْعُونَ مِن دُونِ اللَّهِ شُرَكَآءَ إِن يَتَّبِعُونَ إِلَّا الظَّنَّ وَإِنْ هُمْ إِلَّا يَخْرُصُونَ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إن لله من في السماوات ومن في الأرض، وما يتّبع المشركون شركاء حقيقيين، ما يتّبعون إلا الظن، وما هم إلا يكذبون.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جَعَلَ لَكُمُ الَّيْلَ لِتَسْكُنُواْ فِيهِ وَالنَّهَارَ مُبْصِرًا إِنَّ فِي ذَٰلِكَ لَأيَٰتٍ لِّقَوْمٍ يَسْمَعُونَ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جعل لكم الليل لتستريحوا فيه، والنهار مضيئًا، إن في ذلك لدلائل لقوم يسمعون.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اتَّخَذَ اللَّهُ وَلَدًا سُبْحَٰنَهُ هُوَ الْغَنِيُّ لَهُ مَا فِي السَّمَٰوَٰتِ وَمَا فِي الْأَرْضِ إِنْ عِندَكُم مِّن سُلْطَٰنٍ بِهَٰذَآ أَتَقُولُونَ عَلَى اللَّهِ مَا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اتخذ الله ولدًا! تنزّه، هو الغني، له ما في السماوات وما في الأرض، ما عندكم من حجة بهذا، أتقولون على الله ما لا تعلمون؟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الَّذِينَ يَفْتَرُونَ عَلَى اللَّهِ الْكَذِبَ لَا يُفْلِحُونَ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الذين يكذبون على الله لا يفلحون.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مَتَٰعٌ فِي الدُّنْيَا ثُمَّ إِلَيْنَا مَرْجِعُهُمْ ثُمَّ نُذِيقُهُمُ الْعَذَابَ الشَّدِيدَ بِمَا كَانُواْ يَكْفُرُونَ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متاع قليل في الدنيا، ثم إلينا مرجعهم، ثم نذيقهم العذاب الشديد بكفرهم.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نوح وموسى وقوم يونس</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٤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٧١ – ١٠٩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يونس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قصة نوح مع قومه، وموسى وهارون مع فرعون وغرقه وإيمانه المتأخر، وقوم يونس الذين نفعهم إيمانهم، وأن الإيمان لا يكون بالإكراه.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وَاتْلُ عَلَيْهِمْ نَبَأَ نُوحٍ إِذْ قَالَ لِقَوْمِهِ يَٰقَوْمِ إِن كَانَ كَبُرَ عَلَيْكُم مَّقَامِي وَتَذْكِيرِي بِـَٔايَٰتِ اللَّهِ فَعَلَى اللَّهِ تَوَكَّلْتُ فَأَجْمِعُواْ أَمْرَكُمْ وَشُرَكَآءَكُمْ ثُمَّ لَا يَكُنْ أَمْرُكُمْ عَلَيْكُمْ غُمَّةً ثُمَّ اقْضُواْ إِلَيَّ وَلَا تُنظِرُونِ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واقرأ عليهم خبر نوح إذ قال لقومه: يا قوم إن كان شقّ عليكم بقائي فيكم وتذكيري بآيات الله، فعلى الله توكّلت، فاجمعوا أمركم وآلهتكم، ثم لا يكن أمركم خفيًّا عليكم، ثم نفّذوا ما تريدون بي ولا تُمهلوني.</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تَوَلَّيْتُمْ فَمَا سَأَلْتُكُم مِّنْ أَجْرٍ إِنْ أَجْرِيَ إِلَّا عَلَى اللَّهِ وَأُمِرْتُ أَنْ أَكُونَ مِنَ الْمُسْلِمِينَ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أعرضتم فما طلبت منكم من أجر، ما أجري إلا على الله، وأُمرت أن أكون من المسلمين.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فَكَذَّبُوهُ فَنَجَّيْنَٰهُ وَمَن مَّعَهُ فِي الْفُلْكِ وَجَعَلْنَٰهُمْ خَلَـٰئِفَ وَأَغْرَقْنَا الَّذِينَ كَذَّبُواْ بِـَٔايَٰتِنَا فَانظُرْ كَيْفَ كَانَ عَٰقِبَةُ الْمُنذَرِينَ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فكذّبوه، فنجّيناه ومن معه في السفينة، وجعلناهم خلفاء في الأرض، وأغرقنا المكذّبين بآياتنا، فانظر كيف كانت عاقبة المُنذَرين.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بَعَثْنَا مِن بَعْدِهِ رُسُلًا إِلَىٰ قَوْمِهِمْ فَجَآءُوهُم بِالْبَيِّنَٰتِ فَمَا كَانُواْ لِيُؤْمِنُواْ بِمَا كَذَّبُواْ بِهِ مِن قَبْلُ كَذَٰلِكَ نَطْبَعُ عَلَىٰ قُلُوبِ الْمُعْتَدِينَ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بعثنا من بعد نوح رسلًا إلى أقوامهم فجاؤوهم بالمعجزات، فما كانوا ليؤمنوا بما كذّبوا به من قبل، كذلك نختم على قلوب المعتدين.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بَعَثْنَا مِن بَعْدِهِم مُّوسَىٰ وَهَٰرُونَ إِلَىٰ فِرْعَوْنَ وَمَلَإِيْهِ بِـَٔايَٰتِنَا فَاسْتَكْبَرُواْ وَكَانُواْ قَوْمًا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بعثنا من بعدهم موسى وهارون إلى فرعون وقومه بمعجزاتنا، فتكبّروا وكانوا قومًا مجرمين.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جَآءَهُمُ الْحَقُّ مِنْ عِندِنَا قَالُواْ إِنَّ هَٰذَا لَسِحْرٌ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جاءهم الحق من عندنا قالوا: إن هذا لسحر واضح.</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مُوسَىٰ أَتَقُولُونَ لِلْحَقِّ لَمَّا جَآءَكُمْ أَسِحْرٌ هَٰذَا وَلَا يُفْلِحُ السَّـٰحِرُونَ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أتقولون للحق لما جاءكم: إنه سحر؟ أسحر هذا؟ ولا يفلح الساحرون.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أَجِئْتَنَا لِتَلْفِتَنَا عَمَّا وَجَدْنَا عَلَيْهِ ءَابَآءَنَا وَتَكُونَ لَكُمَا الْكِبْرِيَآءُ فِي الْأَرْضِ وَمَا نَحْنُ لَكُمَا بِمُؤْمِنِينَ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أجئتنا لتصرفنا عما وجدنا عليه آباءنا، وتكون لكما السيادة في الأرض؟ وما نحن لكما بمؤمنين.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فِرْعَوْنُ ائْتُونِي بِكُلِّ سَٰحِرٍ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فرعون: ائتوني بكل ساحر ماهر.</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 السَّحَرَةُ قَالَ لَهُم مُّوسَىٰ أَلْقُواْ مَآ أَنتُم مُّلْقُونَ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 السحرة قال لهم موسى: ألقوا ما أنتم ملقون.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أَلْقَوْاْ قَالَ مُوسَىٰ مَا جِئْتُم بِهِ السِّحْرُ إِنَّ اللَّهَ سَيُبْطِلُهُ إِنَّ اللَّهَ لَا يُصْلِحُ عَمَلَ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ألقوا قال موسى: ما جئتم به هو السحر، إن الله سيُبطله، إن الله لا يُصلح عمل المفسدين.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وَيُحِقُّ اللَّهُ الْحَقَّ بِكَلِمَٰتِهِ وَلَوْ كَرِهَ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ويُثبت الله الحق بكلماته، ولو كره المجرمون.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ءَامَنَ لِمُوسَىٰ إِلَّا ذُرِّيَّةٌ مِّن قَوْمِهِ عَلَىٰ خَوْفٍ مِّن فِرْعَوْنَ وَمَلَإِيْهِمْ أَن يَفْتِنَهُمْ وَإِنَّ فِرْعَوْنَ لَعَالٍ فِي الْأَرْضِ وَإِنَّهُ لَمِنَ الْمُسْرِفِينَ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آمن لموسى إلا شباب من قومه، على خوف من فرعون وكبرائهم أن يعذّبوهم، وإن فرعون لمتكبّر في الأرض، وإنه لمن المسرفين.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مُوسَىٰ يَٰقَوْمِ إِن كُنتُمْ ءَامَنتُم بِاللَّهِ فَعَلَيْهِ تَوَكَّلُواْ إِن كُنتُم 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موسى: يا قوم إن كنتم آمنتم بالله فعليه توكّلوا إن كنتم مسلمين.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فَقَالُواْ عَلَى اللَّهِ تَوَكَّلْنَا رَبَّنَا لَا تَجْعَلْنَا فِتْنَةً لِّلْقَوْمِ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فقالوا: على الله توكّلنا، ربنا لا تسلّط علينا الظالمين فيفتنونا عن ديننا.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وَنَجِّنَا بِرَحْمَتِكَ مِنَ الْقَوْمِ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ونجّنا برحمتك من القوم الكافرين.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وَأَوْحَيْنَآ إِلَىٰ مُوسَىٰ وَأَخِيهِ أَن تَبَوَّءَا لِقَوْمِكُمَا بِمِصْرَ بُيُوتًا وَاجْعَلُواْ بُيُوتَكُمْ قِبْلَةً وَأَقِيمُواْ الصَّلَوٰةَ وَبَشِّرِ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وأوحينا إلى موسى وأخيه: أن اتّخذا لقومكما بمصر بيوتًا، واجعلوا بيوتكم مساجد تصلّون فيها، وأقيموا الصلاة، وبشّر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مُوسَىٰ رَبَّنَآ إِنَّكَ ءَاتَيْتَ فِرْعَوْنَ وَمَلَأَهُ زِينَةً وَأَمْوَٰلًا فِي الْحَيَوٰةِ الدُّنْيَا رَبَّنَا لِيُضِلُّواْ عَن سَبِيلِكَ رَبَّنَا اطْمِسْ عَلَىٰ أَمْوَٰلِهِمْ وَاشْدُدْ عَلَىٰ قُلُوبِهِمْ فَلَا يُؤْمِنُواْ حَتَّىٰ يَرَوُاْ الْعَذَابَ الْأَلِيمَ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موسى: ربنا إنك أعطيت فرعون وكبراء قومه زينة وأموالًا في الحياة الدنيا فاستعملوها ليُضلّوا عن سبيلك، ربنا أهلك أموالهم، واشدد على قلوبهم فلا يؤمنوا حتى يروا العذاب الموجع.</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قَدْ أُجِيبَت دَّعْوَتُكُمَا فَاسْتَقِيمَا وَلَا تَتَّبِعَآنِّ سَبِيلَ الَّذِينَ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قد أُجيبت دعوتكما، فاثبتا على الحق، ولا تتّبعا طريق الذين لا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٩٠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وَجَٰوَزْنَا بِبَنِي إِسْرَـٰءِيلَ الْبَحْرَ فَأَتْبَعَهُمْ فِرْعَوْنُ وَجُنُودُهُ بَغْيًا وَعَدْوًا حَتَّىٰ إِذَآ أَدْرَكَهُ الْغَرَقُ قَالَ ءَامَنتُ أَنَّهُ لَآ إِلَٰهَ إِلَّا الَّذِي ءَامَنَتْ بِهِ بَنُواْ إِسْرَـٰءِيلَ وَأَنَا مِنَ الْمُسْلِمِينَ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وعبرنا ببني إسرائيل البحر، فلحقهم فرعون وجنوده ظلمًا وعدوانًا، حتى إذا أدركه الغرق قال: آمنت أنه لا إله إلا الذي آمنت به بنو إسرائيل، وأنا من المسلمين.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ءَآلْـَٰٔنَ وَقَدْ عَصَيْتَ قَبْلُ وَكُنتَ مِنَ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فقيل له: الآن تؤمن وقد عصيت قبل، وكنت من المفسدين؟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فَالْيَوْمَ نُنَجِّيكَ بِبَدَنِكَ لِتَكُونَ لِمَنْ خَلْفَكَ ءَايَةً وَإِنَّ كَثِيرًا مِّنَ النَّاسِ عَنْ ءَايَٰتِنَا لَغَٰفِلُونَ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فاليوم نُخرج جسدك من البحر بلا روح، لتكون عبرة لمن بعدك، وإن كثيرًا من الناس عن آياتنا لغافلون.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بَوَّأْنَا بَنِي إِسْرَـٰءِيلَ مُبَوَّأَ صِدْقٍ وَرَزَقْنَٰهُم مِّنَ الطَّيِّبَٰتِ فَمَا اخْتَلَفُواْ حَتَّىٰ جَآءَهُمُ الْعِلْمُ إِنَّ رَبَّكَ يَقْضِي بَيْنَهُمْ يَوْمَ الْقِيَٰمَةِ فِيمَا كَانُواْ فِيهِ يَخْتَلِفُونَ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أنزلنا بني إسرائيل منزلًا حسنًا في الشام ومصر، ورزقناهم من الطيبات، فما اختلفوا حتى جاءهم العلم، إن ربك يقضي بينهم يوم القيامة فيما كانوا فيه يختلفون.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٩٤ – 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كُنتَ فِي شَكٍّ مِّمَّآ أَنزَلْنَآ إِلَيْكَ فَسْـَٔلِ الَّذِينَ يَقْرَءُونَ الْكِتَٰبَ مِن قَبْلِكَ لَقَدْ جَآءَكَ الْحَقُّ مِن رَّبِّكَ فَلَا تَكُونَنَّ مِنَ الْمُمْتَرِينَ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كنت في شك مما أنزلنا إليك، على فرض ذلك، فاسأل الذين يقرؤون الكتاب من قبلك، لقد جاءك الحق من ربك، فلا تكوننّ من الشاكّين. قال النبي صلى الله عليه وسلم: «لا أشكّ ولا أسأل».</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تَكُونَنَّ مِنَ الَّذِينَ كَذَّبُواْ بِـَٔايَٰتِ اللَّهِ فَتَكُونَ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تكوننّ من الذين كذّبوا بآيات الله فتكون من الخاسرين.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حَقَّتْ عَلَيْهِمْ كَلِمَتُ رَبِّكَ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وجب عليهم حكم ربك بالعذاب لا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٩٧ – ٩٨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جَآءَتْهُمْ كُلُّ ءَايَةٍ حَتَّىٰ يَرَوُاْ الْعَذَابَ الْأَلِيمَ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جاءتهم كل آية، حتى يروا العذاب الموجع.</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فَلَوْلَا كَانَتْ قَرْيَةٌ ءَامَنَتْ فَنَفَعَهَآ إِيمَٰنُهَآ إِلَّا قَوْمَ يُونُسَ لَمَّآ ءَامَنُواْ كَشَفْنَا عَنْهُمْ عَذَابَ الْخِزْيِ فِي الْحَيَوٰةِ الدُّنْيَا وَمَتَّعْنَٰهُمْ إِلَىٰ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 كانت قرية آمنت قبل نزول العذاب فنفعها إيمانها! إلا قوم يونس لما آمنوا كشفنا عنهم عذاب الذل في الحياة الدنيا، ومتّعناهم إلى وقت آجالهم.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٩٩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شَآءَ رَبُّكَ لَأمَنَ مَن فِي الْأَرْضِ كُلُّهُمْ جَمِيعًا أَفَأَنتَ تُكْرِهُ النَّاسَ حَتَّىٰ يَكُونُواْ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شاء ربك لآمن من في الأرض كلهم جميعًا، أفأنت تُجبر الناس حتى يكونوا مؤمنين؟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لِنَفْسٍ أَن تُؤْمِنَ إِلَّا بِإِذْنِ اللَّهِ وَيَجْعَلُ الرِّجْسَ عَلَى الَّذِينَ 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لنفس أن تؤمن إلا بإذن الله وتوفيقه، ويجعل الله العذاب والضلال على الذين لا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انظُرُواْ مَاذَا فِي السَّمَٰوَٰتِ وَالْأَرْضِ وَمَا تُغْنِي الْأيَٰتُ وَالنُّذُرُ عَن قَوْمٍ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انظروا ماذا في السماوات والأرض من الدلائل، وما تنفع الآيات والرسل قومًا لا يؤمنون.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فَهَلْ يَنتَظِرُونَ إِلَّا مِثْلَ أَيَّامِ الَّذِينَ خَلَوْاْ مِن قَبْلِهِمْ قُلْ فَانتَظِرُواْ إِنِّي مَعَكُم مِّنَ الْمُنتَظِرِينَ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 ينتظرون إلا مثل أيام العذاب التي نزلت بالأمم قبلهم؟ قل: فانتظروا إني معكم من المنتظرين.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نُنَجِّي رُسُلَنَا وَالَّذِينَ ءَامَنُواْ كَذَٰلِكَ حَقًّا عَلَيْنَا نُنجِ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ننجّي رسلنا والمؤمنين، كذلك حقًّا علينا ننجّي المؤمنين.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يَـٰأَيُّهَا النَّاسُ إِن كُنتُمْ فِي شَكٍّ مِّن دِينِي فَلَآ أَعْبُدُ الَّذِينَ تَعْبُدُونَ مِن دُونِ اللَّهِ وَلَٰكِنْ أَعْبُدُ اللَّهَ الَّذِي يَتَوَفَّىٰكُمْ وَأُمِرْتُ أَنْ أَكُونَ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أيها الناس إن كنتم في شك من ديني، فلا أعبد الذين تعبدون من دون الله، ولكن أعبد الله الذي يقبض أرواحكم، وأُمرت أن أكون من المؤمنين.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أَقِمْ وَجْهَكَ لِلدِّينِ حَنِيفًا وَلَا تَكُونَنَّ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وأُمرت: أن أقم وجهك للدين مائلًا عن الشرك إلى التوحيد، ولا تكوننّ من المشركين.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١٠٦ – ١٠٧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تَدْعُ مِن دُونِ اللَّهِ مَا لَا يَنفَعُكَ وَلَا يَضُرُّكَ فَإِن فَعَلْتَ فَإِنَّكَ إِذًا مِّنَ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تعبد من دون الله ما لا ينفعك ولا يضرّك، فإن فعلت فإنك إذًا من الظالمين.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يَمْسَسْكَ اللَّهُ بِضُرٍّ فَلَا كَاشِفَ لَهُ إِلَّا هُوَ وَإِن يُرِدْكَ بِخَيْرٍ فَلَا رَآدَّ لِفَضْلِهِ يُصِيبُ بِهِ مَن يَشَآءُ مِنْ عِبَادِهِ وَهُوَ الْغَفُورُ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يُصبك الله بضرّ فلا كاشف له إلا هو، وإن يُردك بخير فلا رادّ لفضله، يصيب به من يشاء من عباده، وهو الغفور الرحيم.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يونس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١٠٨ –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يَـٰأَيُّهَا النَّاسُ قَدْ جَآءَكُمُ الْحَقُّ مِن رَّبِّكُمْ فَمَنِ اهْتَدَىٰ فَإِنَّمَا يَهْتَدِي لِنَفْسِهِ وَمَن ضَلَّ فَإِنَّمَا يَضِلُّ عَلَيْهَا وَمَآ أَنَا عَلَيْكُم بِوَكِيلٍ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أيها الناس قد جاءكم الحق من ربكم، فمن اهتدى فإنما يهتدي لنفسه، ومن ضلّ فإنما يضلّ عليها، وما أنا عليكم بحفيظ.</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وَاتَّبِعْ مَا يُوحَىٰ إِلَيْكَ وَاصْبِرْ حَتَّىٰ يَحْكُمَ اللَّهُ وَهُوَ خَيْرُ الْحَٰكِمِينَ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واتّبع ما يوحى إليك، واصبر حتى يحكم الله، وهو خير الحاكمين.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إحكام الكتاب ورزق كل دابة</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٥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٢٤</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هود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في قوله: ﴿ألا إنهم يثنون صدورهم﴾: كان أناس يستحيون أن يتخلّوا فيُفضوا إلى السماء، وأن يجامعوا نساءهم فيُفضوا إلى السماء، فنزل ذلك فيهم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إحكام القرآن، والدعوة إلى التوحيد والاستغفار، وأن الله رازق كل دابة، وطبيعة الإنسان بين اليأس والفخر، والتحدّي بعشر سور.</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 كِتَٰبٌ أُحْكِمَتْ ءَايَٰتُهُ ثُمَّ فُصِّلَتْ مِن لَّدُنْ حَكِيمٍ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هذا كتاب أُحكمت آياته فلا خلل فيها، ثم بُيّنت بالأحكام والقصص، من عند حكيم خبير.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تَعْبُدُواْ إِلَّا اللَّهَ إِنَّنِي لَكُم مِّنْهُ نَذِيرٌ وَبَشِيرٌ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أنزله لتعبدوا الله وحده، إنني لكم منه نذير من عقابه، وبشير بثوابه.</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اسْتَغْفِرُواْ رَبَّكُمْ ثُمَّ تُوبُواْ إِلَيْهِ يُمَتِّعْكُم مَّتَٰعًا حَسَنًا إِلَىٰ أَجَلٍ مُّسَمًّى وَيُؤْتِ كُلَّ ذِي فَضْلٍ فَضْلَهُ وَإِن تَوَلَّوْاْ فَإِنِّي أَخَافُ عَلَيْكُمْ عَذَابَ يَوْمٍ 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اطلبوا المغفرة من ربكم، ثم ارجعوا إليه بالتوبة، يمتّعكم في الدنيا متاعًا حسنًا إلى وقت آجالكم، ويُعطِ كل صاحب عمل صالح جزاءه، وإن تُعرضوا فإني أخاف عليكم عذاب يوم القيامة الكبير.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اللَّهِ مَرْجِعُكُمْ وَهُوَ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الله مرجعكم، وهو على كل شيء قدير.</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إِنَّهُمْ يَثْنُونَ صُدُورَهُمْ لِيَسْتَخْفُواْ مِنْهُ أَلَا حِينَ يَسْتَغْشُونَ ثِيَابَهُمْ يَعْلَمُ مَا يُسِرُّونَ وَمَا يُعْلِنُونَ إِنَّهُ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إن المشركين يطوون صدورهم على الكفر ليختفوا من الله، ألا حين يتغطّون بثيابهم يعلم ما يُخفون وما يُظهرون، إنه عليم بما في الصدور.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مِن دَآبَّةٍ فِي الْأَرْضِ إِلَّا عَلَى اللَّهِ رِزْقُهَا وَيَعْلَمُ مُسْتَقَرَّهَا وَمُسْتَوْدَعَهَا كُلٌّ فِي كِتَٰبٍ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 دابة تمشي على الأرض إلا على الله رزقها، ويعلم مكان استقرارها في حياتها، وموضعها بعد موتها، كلٌّ مكتوب في كتاب واضح.</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خَلَقَ السَّمَٰوَٰتِ وَالْأَرْضَ فِي سِتَّةِ أَيَّامٍ وَكَانَ عَرْشُهُ عَلَى الْمَآءِ لِيَبْلُوَكُمْ أَيُّكُمْ أَحْسَنُ عَمَلًا وَلَئِن قُلْتَ إِنَّكُم مَّبْعُوثُونَ مِن بَعْدِ الْمَوْتِ لَيَقُولَنَّ الَّذِينَ كَفَرُواْ إِنْ هَٰذَآ إِلَّا 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خلق السماوات والأرض في ستة أيام، وكان عرشه على الماء قبل ذلك، ليختبركم أيّكم أحسن عملًا، ولئن قلت لهم: إنكم مبعوثون بعد الموت، ليقولنّ الكفار: ما هذا إلا سحر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أَخَّرْنَا عَنْهُمُ الْعَذَابَ إِلَىٰ أُمَّةٍ مَّعْدُودَةٍ لَّيَقُولُنَّ مَا يَحْبِسُهُ أَلَا يَوْمَ يَأْتِيهِمْ لَيْسَ مَصْرُوفًا عَنْهُمْ وَحَاقَ بِهِم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أخّرنا عنهم العذاب إلى مدة معدودة، ليقولُنّ استهزاءً: ما الذي يمنعه؟ ألا يوم يأتيهم ليس مصروفًا عنهم، ونزل بهم ما كانوا يستهزئون به.</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أَذَقْنَا الْإِنسَٰنَ مِنَّا رَحْمَةً ثُمَّ نَزَعْنَٰهَا مِنْهُ إِنَّهُ لَيَـُٔوسٌ كَفُورٌ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أعطينا الإنسان نعمة ثم سلبناها منه، إنه لشديد اليأس، كثير الجحود.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أَذَقْنَٰهُ نَعْمَآءَ بَعْدَ ضَرَّآءَ مَسَّتْهُ لَيَقُولَنَّ ذَهَبَ السَّيِّـَٔاتُ عَنِّي إِنَّهُ لَفَرِحٌ فَخُورٌ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أعطيناه نعمة بعد شدة أصابته ليقولنّ: ذهبت المصائب عني، إنه لفرح بطر، متفاخر على الناس.</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صَبَرُواْ وَعَمِلُواْ الصَّـٰلِحَٰتِ أُوْلَـٰئِكَ لَهُم مَّغْفِرَةٌ وَأَجْرٌ 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الذين صبروا في الشدة، وعملوا الصالحات في النعمة، أولئك لهم مغفرة وأجر كبير.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فَلَعَلَّكَ تَارِكٌ بَعْضَ مَا يُوحَىٰ إِلَيْكَ وَضَآئِقٌ بِهِ صَدْرُكَ أَن يَقُولُواْ لَوْلَآ أُنزِلَ عَلَيْهِ كَنزٌ أَوْ جَآءَ مَعَهُ مَلَكٌ إِنَّمَآ أَنتَ نَذِيرٌ وَاللَّهُ عَلَىٰ كُلِّ شَيْءٍ 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فلعلك يا محمد تترك تبليغ بعض ما يوحى إليك، ويضيق به صدرك، لأنهم يقولون: هلّا أُنزل عليه كنز أو جاء معه ملك! إنما أنت نذير، والله على كل شيء وكيل.</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افْتَرَىٰهُ قُلْ فَأْتُواْ بِعَشْرِ سُوَرٍ مِّثْلِهِ مُفْتَرَيَٰتٍ وَادْعُواْ مَنِ اسْتَطَعْتُم مِّن دُونِ اللَّهِ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يقولون: اختلق محمد القرآن! قل: فأتوا بعشر سور مثله مختلقات، وادعوا من استطعتم من دون الله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فَإِلَّمْ يَسْتَجِيبُواْ لَكُمْ فَاعْلَمُواْ أَنَّمَآ أُنزِلَ بِعِلْمِ اللَّهِ وَأَن لَّآ إِلَٰهَ إِلَّا هُوَ فَهَلْ أَنتُم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لم يستجيبوا لكم فاعلموا أن القرآن أُنزل بعلم الله، وأن لا إله إلا هو، فهل أنتم مسلمون؟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كَانَ يُرِيدُ الْحَيَوٰةَ الدُّنْيَا وَزِينَتَهَا نُوَفِّ إِلَيْهِمْ أَعْمَٰلَهُمْ فِيهَا وَهُمْ فِيهَا لَا يُبْخَسُونَ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كان يريد بعمله الحياة الدنيا وزينتها فقط، نُعطهم جزاء أعمالهم فيها كاملًا، وهم فيها لا يُنقصون.</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لَيْسَ لَهُمْ فِي الْأخِرَةِ إِلَّا النَّارُ وَحَبِطَ مَا صَنَعُواْ فِيهَا وَبَٰطِلٌ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ليس لهم في الآخرة إلا النار، وبطل ما عملوا في الدنيا لأنه لم يكن 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كَانَ عَلَىٰ بَيِّنَةٍ مِّن رَّبِّهِ وَيَتْلُوهُ شَاهِدٌ مِّنْهُ وَمِن قَبْلِهِ كِتَٰبُ مُوسَىٰ إِمَامًا وَرَحْمَةً أُوْلَـٰئِكَ يُؤْمِنُونَ بِهِ وَمَن يَكْفُرْ بِهِ مِنَ الْأَحْزَابِ فَالنَّارُ مَوْعِدُهُ فَلَا تَكُ فِي مِرْيَةٍ مِّنْهُ إِنَّهُ الْحَقُّ مِن رَّبِّكَ وَلَٰكِنَّ أَكْثَرَ النَّاسِ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كان على حجة من ربه وهو النبي صلى الله عليه وسلم والمؤمنون، ويتبعه شاهد من الله وهو جبريل أو القرآن، ومن قبله التوراة إمامًا ورحمة، كمن يريد الدنيا؟ أولئك يؤمنون بالقرآن، ومن يكفر به من الأحزاب فالنار موعده، فلا تكن في شك منه، إنه الحق من ربك، ولكن أكثر الناس لا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أَظْلَمُ مِمَّنِ افْتَرَىٰ عَلَى اللَّهِ كَذِبًا أُوْلَـٰئِكَ يُعْرَضُونَ عَلَىٰ رَبِّهِمْ وَيَقُولُ الْأَشْهَٰدُ هَـٰؤُلَآءِ الَّذِينَ كَذَبُواْ عَلَىٰ رَبِّهِمْ أَلَا لَعْنَةُ اللَّهِ عَلَى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أظلم ممن كذب على الله، أولئك يُعرضون على ربهم، ويقول الشهود من الملائكة والأنبياء: هؤلاء الذين كذبوا على ربهم، ألا لعنة الله على الظالمين.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يَصُدُّونَ عَن سَبِيلِ اللَّهِ وَيَبْغُونَهَا عِوَجًا وَهُم بِالْأخِرَةِ هُمْ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يمنعون الناس عن دين الله، ويريدونه معوجًّا، وهم بالآخرة 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لَمْ يَكُونُواْ مُعْجِزِينَ فِي الْأَرْضِ وَمَا كَانَ لَهُم مِّن دُونِ اللَّهِ مِنْ أَوْلِيَآءَ يُضَٰعَفُ لَهُمُ الْعَذَابُ مَا كَانُواْ يَسْتَطِيعُونَ السَّمْعَ وَمَا كَانُواْ 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لم يكونوا فائتين من الله في الأرض، وما كان لهم من دون الله من أنصار، يُضاعف لهم العذاب، ما كانوا يستطيعون سماع الحق ولا رؤيته لشدة إعراضهم.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خَسِرُواْ أَنفُسَهُمْ وَضَلَّ عَنْهُم 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خسروا أنفسهم، وغاب عنهم ما كانوا يختلقون.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جَرَمَ أَنَّهُمْ فِي الْأخِرَةِ هُمُ الْأَخْسَرُونَ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حقًّا إنهم في الآخرة هم الأشد خسارة.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وَأَخْبَتُواْ إِلَىٰ رَبِّهِمْ أُوْلَـٰئِكَ أَصْحَٰبُ الْجَنَّةِ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الصالحين الذين خشعوا لربهم أولئك أصحاب الجنة هم فيها خالدون.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مَثَلُ الْفَرِيقَيْنِ كَالْأَعْمَىٰ وَالْأَصَمِّ وَالْبَصِيرِ وَالسَّمِيعِ هَلْ يَسْتَوِيَانِ مَثَلًا أَفَلَا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 الكافرين والمؤمنين كالأعمى الأصمّ، والبصير السميع، هل يستويان؟ أفلا تتذكرون؟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4400" b="1" dirty="0">
                <a:solidFill>
                  <a:schemeClr val="accent2"/>
                </a:solidFill>
                <a:latin typeface="Sakkal Majalla" pitchFamily="34" charset="0"/>
                <a:ea typeface="Sakkal Majalla" pitchFamily="34" charset="-122"/>
                <a:cs typeface="Sakkal Majalla" pitchFamily="34" charset="-120"/>
              </a:rPr>
              <a:t>نوح والطوفان</a:t>
            </a:r>
            <a:endParaRPr lang="ar-SA" sz="4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٦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٢٥ – ٤٩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هود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دعوة نوح لقومه وجدالهم له، وصنع السفينة وسخريتهم منه، والطوفان ونداء نوح لابنه، واستقرار السفينة على الجودي.</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نُوحًا إِلَىٰ قَوْمِهِ إِنِّي لَكُمْ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نوحًا إلى قومه يقول: إني لكم نذير واضح.</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لَّا تَعْبُدُواْ إِلَّا اللَّهَ إِنِّي أَخَافُ عَلَيْكُمْ عَذَابَ يَوْمٍ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تعبدوا إلا الله، إني أخاف عليكم عذاب يوم موجع.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 الْمَلَأُ الَّذِينَ كَفَرُواْ مِن قَوْمِهِ مَا نَرَىٰكَ إِلَّا بَشَرًا مِّثْلَنَا وَمَا نَرَىٰكَ اتَّبَعَكَ إِلَّا الَّذِينَ هُمْ أَرَاذِلُنَا بَادِيَ الرَّأْيِ وَمَا نَرَىٰ لَكُمْ عَلَيْنَا مِن فَضْلٍ بَلْ نَظُنُّكُمْ 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الكبراء الكافرون من قومه: ما نراك إلا بشرًا مثلنا، وما نرى أتباعك إلا الضعفاء الفقراء الذين اتّبعوك بلا تفكير، وما نرى لكم علينا من فضل، بل نظنّكم كاذبين.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يَٰقَوْمِ أَرَءَيْتُمْ إِن كُنتُ عَلَىٰ بَيِّنَةٍ مِّن رَّبِّي وَءَاتَىٰنِي رَحْمَةً مِّنْ عِندِهِ فَعُمِّيَتْ عَلَيْكُمْ أَنُلْزِمُكُمُوهَا وَأَنتُمْ لَهَا كَٰرِهُونَ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يا قوم أخبروني إن كنت على حجة من ربي، وآتاني النبوة رحمة منه، فخفيت عليكم، أنُجبركم عليها وأنتم لها كارهون؟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لَآ أَسْـَٔلُكُمْ عَلَيْهِ مَالًا إِنْ أَجْرِيَ إِلَّا عَلَى اللَّهِ وَمَآ أَنَا بِطَارِدِ الَّذِينَ ءَامَنُواْ إِنَّهُم مُّلَٰقُواْ رَبِّهِمْ وَلَٰكِنِّي أَرَىٰكُمْ قَوْمًا تَجْهَلُونَ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لا أطلب منكم على النصيحة مالًا، ما أجري إلا على الله، وما أنا بطارد المؤمنين، إنهم ملاقو ربهم، ولكني أراكم قومًا تجهلون.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مَن يَنصُرُنِي مِنَ اللَّهِ إِن طَرَدتُّهُمْ أَفَلَا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من يمنعني من عذاب الله إن طردتهم؟ أفلا تتذكرون؟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أَقُولُ لَكُمْ عِندِي خَزَآئِنُ اللَّهِ وَلَآ أَعْلَمُ الْغَيْبَ وَلَآ أَقُولُ إِنِّي مَلَكٌ وَلَآ أَقُولُ لِلَّذِينَ تَزْدَرِي أَعْيُنُكُمْ لَن يُؤْتِيَهُمُ اللَّهُ خَيْرًا اللَّهُ أَعْلَمُ بِمَا فِي أَنفُسِهِمْ إِنِّي إِذًا لَّمِنَ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أقول لكم: عندي خزائن الله، ولا أعلم الغيب، ولا أقول: إني ملك، ولا أقول للفقراء الذين تحتقرونهم: لن يعطيهم الله خيرًا، الله أعلم بما في أنفسهم، إني إذًا لمن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يَٰنُوحُ قَدْ جَٰدَلْتَنَا فَأَكْثَرْتَ جِدَٰلَنَا فَأْتِنَا بِمَا تَعِدُنَآ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نوح قد جادلتنا فأكثرت جدالنا، فأتنا بالعذاب الذي تعدنا إن كنت من الصادقين.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إِنَّمَا يَأْتِيكُم بِهِ اللَّهُ إِن شَآءَ وَمَآ أَنتُم بِمُعْجِزِينَ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إنما يأتيكم به الله إن شاء، وما أنتم بفائتين منه.</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يَنفَعُكُمْ نُصْحِي إِنْ أَرَدتُّ أَنْ أَنصَحَ لَكُمْ إِن كَانَ اللَّهُ يُرِيدُ أَن يُغْوِيَكُمْ هُوَ رَبُّكُمْ وَإِلَيْهِ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تنفعكم نصيحتي إن أردت أن أنصح لكم إن كان الله يريد أن يُضلّكم لعنادكم، هو ربكم وإليه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افْتَرَىٰهُ قُلْ إِنِ افْتَرَيْتُهُ فَعَلَيَّ إِجْرَامِي وَأَنَا بَرِيءٌ مِّمَّا تُجْرِمُونَ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يقولون: اختلق محمد هذه القصة! قل: إن اختلقتها فعليّ إثمي، وأنا بريء من إجرامكم.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وَأُوحِيَ إِلَىٰ نُوحٍ أَنَّهُ لَن يُؤْمِنَ مِن قَوْمِكَ إِلَّا مَن قَدْ ءَامَنَ فَلَا تَبْتَئِسْ بِمَا كَانُواْ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وأوحى الله إلى نوح: أنه لن يؤمن من قومك إلا من قد آمن، فلا تحزن بما كانوا يفعلون.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وَاصْنَعِ الْفُلْكَ بِأَعْيُنِنَا وَوَحْيِنَا وَلَا تُخَٰطِبْنِي فِي الَّذِينَ ظَلَمُواْ إِنَّهُم مُّغْرَقُونَ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واصنع السفينة بحفظنا ورعايتنا وتعليمنا، ولا تطلب مني الإمهال للظالمين، إنهم مُغرقون.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وَيَصْنَعُ الْفُلْكَ وَكُلَّمَا مَرَّ عَلَيْهِ مَلَأٌ مِّن قَوْمِهِ سَخِرُواْ مِنْهُ قَالَ إِن تَسْخَرُواْ مِنَّا فَإِنَّا نَسْخَرُ مِنكُمْ كَمَا تَسْخَرُونَ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وأخذ يصنع السفينة، وكلما مرّ عليه جماعة من كبراء قومه سخروا منه، قال: إن تسخروا منا الآن فإنا نسخر منكم عند الغرق كما تسخرون.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فَسَوْفَ تَعْلَمُونَ مَن يَأْتِيهِ عَذَابٌ يُخْزِيهِ وَيَحِلُّ عَلَيْهِ عَذَابٌ مُّقِيمٌ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فسوف تعلمون من يأتيه عذاب يُذلّه في الدنيا، وينزل عليه عذاب دائم في الآخرة.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جَآءَ أَمْرُنَا وَفَارَ التَّنُّورُ قُلْنَا احْمِلْ فِيهَا مِن كُلٍّ زَوْجَيْنِ اثْنَيْنِ وَأَهْلَكَ إِلَّا مَن سَبَقَ عَلَيْهِ الْقَوْلُ وَمَنْ ءَامَنَ وَمَآ ءَامَنَ مَعَهُ إِلَّا قَلِيلٌ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جاء أمرنا بالإهلاك وفار الماء من التنّور علامةً للطوفان، قلنا: احمل في السفينة من كل نوع ذكرًا وأنثى، وأهلك إلا من سبق عليه الحكم بالهلاك، ومن آمن، وما آمن معه إلا قليل.</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ارْكَبُواْ فِيهَا بِسْمِ اللَّهِ مَجْرٜىٰهَا وَمُرْسَىٰهَآ إِنَّ رَبِّي لَغَفُورٌ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نوح: اركبوا فيها، باسم الله جريانها ورسوّها، إن ربي لغفور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وَهِيَ تَجْرِي بِهِمْ فِي مَوْجٍ كَالْجِبَالِ وَنَادَىٰ نُوحٌ ابْنَهُ وَكَانَ فِي مَعْزِلٍ يَٰبُنَيَّ ارْكَب مَّعَنَا وَلَا تَكُن مَّعَ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وهي تجري بهم في موج كالجبال، ونادى نوح ابنه وكان في مكان منعزل: يا بُنيّ اركب معنا، ولا تكن مع الكافرين.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سَـَٔاوِي إِلَىٰ جَبَلٍ يَعْصِمُنِي مِنَ الْمَآءِ قَالَ لَا عَاصِمَ الْيَوْمَ مِنْ أَمْرِ اللَّهِ إِلَّا مَن رَّحِمَ وَحَالَ بَيْنَهُمَا الْمَوْجُ فَكَانَ مِنَ الْمُغْرَقِينَ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الابن: سألجأ إلى جبل يحميني من الماء، قال نوح: لا مانع اليوم من أمر الله إلا من رحمه الله، وحال بينهما الموج فكان من المُغرقين.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وَقِيلَ يَـٰأَرْضُ ابْلَعِي مَآءَكِ وَيَٰسَمَآءُ أَقْلِعِي وَغِيضَ الْمَآءُ وَقُضِيَ الْأَمْرُ وَاسْتَوَتْ عَلَى الْجُودِيِّ وَقِيلَ بُعْدًا لِّلْقَوْمِ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وقيل: يا أرض ابلعي ماءك، ويا سماء أمسكي عن المطر، ونقص الماء، وقُضي الأمر بهلاك الكافرين، واستقرّت السفينة على جبل الجوديّ، وقيل: هلاكًا للقوم الظالمين.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وَنَادَىٰ نُوحٌ رَّبَّهُ فَقَالَ رَبِّ إِنَّ ابْنِي مِنْ أَهْلِي وَإِنَّ وَعْدَكَ الْحَقُّ وَأَنتَ أَحْكَمُ الْحَٰكِمِينَ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ونادى نوح ربه فقال: رب إن ابني من أهلي، وقد وعدتني بنجاة أهلي، وإن وعدك الحق، وأنت أحكم الحاكمين.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يَٰنُوحُ إِنَّهُ لَيْسَ مِنْ أَهْلِكَ إِنَّهُ عَمَلٌ غَيْرُ صَٰلِحٍ فَلَا تَسْـَٔلْنِ مَا لَيْسَ لَكَ بِهِ عِلْمٌ إِنِّي أَعِظُكَ أَن تَكُونَ مِنَ الْجَٰهِلِينَ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يا نوح إنه ليس من أهلك الذين وعدتك بنجاتهم، لأنه عمل عملًا غير صالح بكفره، فلا تسألني ما ليس لك به علم، إني أعظك أن تكون من الجاهلين.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إِنِّي أَعُوذُ بِكَ أَنْ أَسْـَٔلَكَ مَا لَيْسَ لِي بِهِ عِلْمٌ وَإِلَّا تَغْفِرْ لِي وَتَرْحَمْنِي أَكُن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نوح: رب إني أعوذ بك أن أسألك ما ليس لي به علم، وإلا تغفر لي وترحمني أكن من الخاسرين.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قِيلَ يَٰنُوحُ اهْبِطْ بِسَلَٰمٍ مِّنَّا وَبَرَكَٰتٍ عَلَيْكَ وَعَلَىٰ أُمَمٍ مِّمَّن مَّعَكَ وَأُمَمٌ سَنُمَتِّعُهُمْ ثُمَّ يَمَسُّهُم مِّنَّا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قيل: يا نوح انزل من السفينة بسلام منا وبركات عليك وعلى أمم من ذرية من معك، وأمم أخرى سنمتّعهم في الدنيا ثم يصيبهم منا عذاب موجع.</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مِنْ أَنبَآءِ الْغَيْبِ نُوحِيهَآ إِلَيْكَ مَا كُنتَ تَعْلَمُهَآ أَنتَ وَلَا قَوْمُكَ مِن قَبْلِ هَٰذَا فَاصْبِرْ إِنَّ الْعَٰقِبَةَ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القصة من أخبار الغيب نوحيها إليك، ما كنت تعلمها أنت ولا قومك من قبل هذا، فاصبر كما صبر نوح، إن العاقبة للمتقين.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هود وصالح وإبراهيم ولوط</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٧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٥٠ – ٨٣</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هود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دعوة هود لقبيلة عاد، وناقة صالح وهلاك ثمود، وضيف إبراهيم والبشارة بإسحاق، ونجاة لوط وهلاك قومه.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عَادٍ أَخَاهُمْ هُودًا قَالَ يَٰقَوْمِ اعْبُدُواْ اللَّهَ مَا لَكُم مِّنْ إِلَٰهٍ غَيْرُهُ إِنْ أَنتُمْ إِلَّا مُفْتَرُونَ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 إلى عاد أخاهم هودًا، قال: يا قوم اعبدوا الله ما لكم من إله غيره، ما أنتم إلا كاذبون في عبادة الأصنام.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يَٰقَوْمِ لَآ أَسْـَٔلُكُمْ عَلَيْهِ أَجْرًا إِنْ أَجْرِيَ إِلَّا عَلَى الَّذِي فَطَرَنِي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قوم لا أطلب منكم على النصيحة أجرًا، ما أجري إلا على الذي خلقني، أفلا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اسْتَغْفِرُواْ رَبَّكُمْ ثُمَّ تُوبُواْ إِلَيْهِ يُرْسِلِ السَّمَآءَ عَلَيْكُم مِّدْرَارًا وَيَزِدْكُمْ قُوَّةً إِلَىٰ قُوَّتِكُمْ وَلَا تَتَوَلَّوْاْ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اطلبوا المغفرة من ربكم ثم توبوا إليه، يرسل المطر عليكم غزيرًا، ويزدكم قوة إلى قوتكم، ولا تُعرضوا مجرمين.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يَٰهُودُ مَا جِئْتَنَا بِبَيِّنَةٍ وَمَا نَحْنُ بِتَارِكِي ءَالِهَتِنَا عَن قَوْلِكَ وَمَا نَحْنُ لَكَ بِمُؤْمِنِينَ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هود ما جئتنا بحجة واضحة، وما نحن بتاركي آلهتنا لقولك، وما نحن لك بمؤمنين.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نَّقُولُ إِلَّا اعْتَرَىٰكَ بَعْضُ ءَالِهَتِنَا بِسُوءٍ قَالَ إِنِّي أُشْهِدُ اللَّهَ وَاشْهَدُواْ أَنِّي بَرِيءٌ مِّمَّا تُشْرِكُونَ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نقول إلا أن بعض آلهتنا أصابك بجنون، قال: إني أُشهد الله، واشهدوا أني بريء مما تشركون.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دُونِهِ فَكِيدُونِي جَمِيعًا ثُمَّ لَا تُنظِرُونِ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دون الله، فاجتمعوا على كيدي جميعًا ثم لا تُمهلوني.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تَوَكَّلْتُ عَلَى اللَّهِ رَبِّي وَرَبِّكُم مَّا مِن دَآبَّةٍ إِلَّا هُوَ ءَاخِذٌ بِنَاصِيَتِهَآ إِنَّ رَبِّي عَلَىٰ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توكّلت على الله ربي وربكم، ما من دابة إلا هو مالكها ومتصرّف فيها، إن ربي على طريق مستقيم في العدل.</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تَوَلَّوْاْ فَقَدْ أَبْلَغْتُكُم مَّآ أُرْسِلْتُ بِهِ إِلَيْكُمْ وَيَسْتَخْلِفُ رَبِّي قَوْمًا غَيْرَكُمْ وَلَا تَضُرُّونَهُ شَيْـًٔا إِنَّ رَبِّي عَلَىٰ كُلِّ شَيْءٍ حَفِيظٌ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أعرضتم فقد أبلغتكم ما أُرسلت به إليكم، ويأتي ربي بقوم غيركم، ولا تضرّونه شيئًا، إن ربي على كل شيء حفيظ.</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جَآءَ أَمْرُنَا نَجَّيْنَا هُودًا وَالَّذِينَ ءَامَنُواْ مَعَهُ بِرَحْمَةٍ مِّنَّا وَنَجَّيْنَٰهُم مِّنْ عَذَابٍ غَلِيظٍ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جاء أمرنا بالعذاب نجّينا هودًا والمؤمنين معه برحمة منا، ونجّيناهم من عذاب شديد.</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وَتِلْكَ عَادٌ جَحَدُواْ بِـَٔايَٰتِ رَبِّهِمْ وَعَصَوْاْ رُسُلَهُ وَاتَّبَعُواْ أَمْرَ كُلِّ جَبَّارٍ عَنِيدٍ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وتلك عاد جحدوا بآيات ربهم، وعصوا رسله، واتّبعوا أمر كل متكبّر معاند.</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وَأُتْبِعُواْ فِي هَٰذِهِ الدُّنْيَا لَعْنَةً وَيَوْمَ الْقِيَٰمَةِ أَلَآ إِنَّ عَادًا كَفَرُواْ رَبَّهُمْ أَلَا بُعْدًا لِّعَادٍ قَوْمِ هُودٍ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وأُتبعوا في هذه الدنيا لعنة، ويوم القيامة كذلك، ألا إن عادًا كفروا ربهم، ألا هلاكًا لعاد قوم هود.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ثَمُودَ أَخَاهُمْ صَٰلِحًا قَالَ يَٰقَوْمِ اعْبُدُواْ اللَّهَ مَا لَكُم مِّنْ إِلَٰهٍ غَيْرُهُ هُوَ أَنشَأَكُم مِّنَ الْأَرْضِ وَاسْتَعْمَرَكُمْ فِيهَا فَاسْتَغْفِرُوهُ ثُمَّ تُوبُواْ إِلَيْهِ إِنَّ رَبِّي قَرِيبٌ مُّجِيبٌ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 إلى ثمود أخاهم صالحًا، قال: يا قوم اعبدوا الله ما لكم من إله غيره، هو خلقكم من الأرض، وجعلكم عُمّارًا فيها، فاطلبوا مغفرته ثم توبوا إليه، إن ربي قريب مجيب.</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يَٰصَٰلِحُ قَدْ كُنتَ فِينَا مَرْجُوًّا قَبْلَ هَٰذَآ أَتَنْهَىٰنَآ أَن نَّعْبُدَ مَا يَعْبُدُ ءَابَآؤُنَا وَإِنَّنَا لَفِي شَكٍّ مِّمَّا تَدْعُونَآ إِلَيْهِ مُرِيبٍ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صالح قد كنا نرجو فيك الخير قبل هذا، أتنهانا أن نعبد ما يعبد آباؤنا؟ وإننا لفي شك مما تدعونا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يَٰقَوْمِ أَرَءَيْتُمْ إِن كُنتُ عَلَىٰ بَيِّنَةٍ مِّن رَّبِّي وَءَاتَىٰنِي مِنْهُ رَحْمَةً فَمَن يَنصُرُنِي مِنَ اللَّهِ إِنْ عَصَيْتُهُ فَمَا تَزِيدُونَنِي غَيْرَ تَخْسِيرٍ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يا قوم أخبروني إن كنت على حجة من ربي، وآتاني منه النبوة، فمن يمنعني من عذاب الله إن عصيته؟ فما تزيدونني إن اتّبعتكم غير خسارة.</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هَٰذِهِ نَاقَةُ اللَّهِ لَكُمْ ءَايَةً فَذَرُوهَا تَأْكُلْ فِي أَرْضِ اللَّهِ وَلَا تَمَسُّوهَا بِسُوءٍ فَيَأْخُذَكُمْ عَذَابٌ قَرِيبٌ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هذه ناقة الله لكم آية، فاتركوها تأكل في أرض الله، ولا تؤذوها فيصيبكم عذاب قريب.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فَعَقَرُوهَا فَقَالَ تَمَتَّعُواْ فِي دَارِكُمْ ثَلَٰثَةَ أَيَّامٍ ذَٰلِكَ وَعْدٌ غَيْرُ مَكْذُوبٍ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فذبحوها، فقال: تمتّعوا في داركم ثلاثة أيام، ذلك وعد صادق غير مكذوب.</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 أَمْرُنَا نَجَّيْنَا صَٰلِحًا وَالَّذِينَ ءَامَنُواْ مَعَهُ بِرَحْمَةٍ مِّنَّا وَمِنْ خِزْيِ يَوْمِئِذٍ إِنَّ رَبَّكَ هُوَ الْقَوِيُّ الْعَزِيزُ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 أمرنا بالعذاب نجّينا صالحًا والمؤمنين معه برحمة منا، ومن ذلّ ذلك اليوم، إن ربك هو القوي العزيز.</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وَأَخَذَ الَّذِينَ ظَلَمُواْ الصَّيْحَةُ فَأَصْبَحُواْ فِي دِيَٰرِهِمْ جَٰثِمِينَ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وأخذت الظالمين الصيحة الشديدة، فأصبحوا في ديارهم ميّتين.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كَأَن لَّمْ يَغْنَوْاْ فِيهَآ أَلَآ إِنَّ ثَمُودَاْ كَفَرُواْ رَبَّهُمْ أَلَا بُعْدًا لِّثَمُودَ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كأنهم لم يقيموا فيها، ألا إن ثمود كفروا ربهم، ألا هلاكًا لثمود.</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جَآءَتْ رُسُلُنَآ إِبْرَٰهِيمَ بِالْبُشْرَىٰ قَالُواْ سَلَٰمًا قَالَ سَلَٰمٌ فَمَا لَبِثَ أَن جَآءَ بِعِجْلٍ حَنِيذٍ</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جاءت الملائكة إبراهيم بالبشرى بإسحاق، قالوا: سلامًا، قال: سلام، فما تأخّر أن جاءهم بعجل سمين مشويّ.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رَءَآ أَيْدِيَهُمْ لَا تَصِلُ إِلَيْهِ نَكِرَهُمْ وَأَوْجَسَ مِنْهُمْ خِيفَةً قَالُواْ لَا تَخَفْ إِنَّآ أُرْسِلْنَآ إِلَىٰ قَوْمِ لُوطٍ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رأى أيديهم لا تمتدّ إلى الطعام أنكرهم، وأحسّ في نفسه خوفًا منهم، قالوا: لا تخف، إنا ملائكة أُرسلنا إلى قوم لوط.</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وَامْرَأَتُهُ قَآئِمَةٌ فَضَحِكَتْ فَبَشَّرْنَٰهَا بِإِسْحَٰقَ وَمِن وَرَآءِ إِسْحَٰقَ يَعْقُوبَ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وامرأته سارة قائمة فضحكت سرورًا، فبشّرناها بإسحاق، ومن بعد إسحاق حفيدها يعقوب.</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يَٰوَيْلَتَىٰ ءَأَلِدُ وَأَنَا عَجُوزٌ وَهَٰذَا بَعْلِي شَيْخًا إِنَّ هَٰذَا لَشَيْءٌ عَجِيبٌ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متعجّبة: يا عجبًا! أألد وأنا عجوز، وهذا زوجي شيخ كبير؟ إن هذا لشيء عجيب!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أَتَعْجَبِينَ مِنْ أَمْرِ اللَّهِ رَحْمَتُ اللَّهِ وَبَرَكَٰتُهُ عَلَيْكُمْ أَهْلَ الْبَيْتِ إِنَّهُ حَمِيدٌ مَّجِيدٌ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الملائكة: أتعجبين من أمر الله؟ رحمة الله وبركاته عليكم أهل البيت، إنه حميد مجيد.</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ذَهَبَ عَنْ إِبْرَٰهِيمَ الرَّوْعُ وَجَآءَتْهُ الْبُشْرَىٰ يُجَٰدِلُنَا فِي قَوْمِ لُوطٍ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ذهب عن إبراهيم الخوف وجاءته البشرى، أخذ يجادل رسلنا في قوم لوط رجاء أن يُمهَلوا.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إِبْرَٰهِيمَ لَحَلِيمٌ أَوَّـٰهٌ مُّنِيبٌ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إبراهيم لحليم، كثير التضرّع والدعاء، راجع إلى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20208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يَـٰإِبْرَٰهِيمُ أَعْرِضْ عَنْ هَٰذَآ إِنَّهُ قَدْ جَآءَ أَمْرُ رَبِّكَ وَإِنَّهُمْ ءَاتِيهِمْ عَذَابٌ غَيْرُ مَرْدُودٍ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الملائكة: يا إبراهيم اترك هذا الجدال، إنه قد جاء أمر ربك، وإنهم آتيهم عذاب لا يُردّ.</a:t>
            </a:r>
            <a:endParaRPr lang="ar-SA" sz="3200" dirty="0"/>
          </a:p>
        </p:txBody>
      </p:sp>
      <p:sp>
        <p:nvSpPr>
          <p:cNvPr id="9" name="Shape 7"/>
          <p:cNvSpPr/>
          <p:nvPr/>
        </p:nvSpPr>
        <p:spPr>
          <a:xfrm>
            <a:off x="2103120" y="3790188"/>
            <a:ext cx="8641080" cy="0"/>
          </a:xfrm>
          <a:prstGeom prst="line">
            <a:avLst/>
          </a:prstGeom>
          <a:noFill/>
          <a:ln w="9525">
            <a:solidFill>
              <a:schemeClr val="accent2"/>
            </a:solidFill>
            <a:prstDash val="dash"/>
          </a:ln>
        </p:spPr>
      </p:sp>
      <p:sp>
        <p:nvSpPr>
          <p:cNvPr id="10" name="Shape 8"/>
          <p:cNvSpPr/>
          <p:nvPr/>
        </p:nvSpPr>
        <p:spPr>
          <a:xfrm>
            <a:off x="10927080" y="4050792"/>
            <a:ext cx="548640" cy="548640"/>
          </a:xfrm>
          <a:prstGeom prst="star8">
            <a:avLst/>
          </a:prstGeom>
          <a:solidFill>
            <a:schemeClr val="accent2"/>
          </a:solidFill>
          <a:ln/>
        </p:spPr>
      </p:sp>
      <p:sp>
        <p:nvSpPr>
          <p:cNvPr id="11" name="Shape 9"/>
          <p:cNvSpPr/>
          <p:nvPr/>
        </p:nvSpPr>
        <p:spPr>
          <a:xfrm>
            <a:off x="11036808" y="41605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507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403250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جَآءَتْ رُسُلُنَا لُوطًا سِيءَ بِهِمْ وَضَاقَ بِهِمْ ذَرْعًا وَقَالَ هَٰذَا يَوْمٌ عَصِيبٌ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جاءت الملائكة لوطًا في صورة شباب حسان حزن بمجيئهم، وضاق صدره خوفًا عليهم من قومه، وقال: هذا يوم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وَجَآءَهُ قَوْمُهُ يُهْرَعُونَ إِلَيْهِ وَمِن قَبْلُ كَانُواْ يَعْمَلُونَ السَّيِّـَٔاتِ قَالَ يَٰقَوْمِ هَـٰؤُلَآءِ بَنَاتِي هُنَّ أَطْهَرُ لَكُمْ فَاتَّقُواْ اللَّهَ وَلَا تُخْزُونِ فِي ضَيْفِي أَلَيْسَ مِنكُمْ رَجُلٌ رَّشِيدٌ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وجاءه قومه يُسرعون إليه، وكانوا من قبل يعملون الفواحش، قال: يا قوم هؤلاء بناتي، يعني نساء قومه فالنبي كالأب لأمته، تزوّجوهن فهن أطهر لكم، فاتقوا الله ولا تفضحوني في ضيوفي، أليس منكم رجل عاقل رشيد؟</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لَقَدْ عَلِمْتَ مَا لَنَا فِي بَنَاتِكَ مِنْ حَقٍّ وَإِنَّكَ لَتَعْلَمُ مَا نُرِيدُ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لقد علمت ما لنا في بناتك من رغبة، وإنك لتعلم ما نريد.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لَوْ أَنَّ لِي بِكُمْ قُوَّةً أَوْ ءَاوِي إِلَىٰ رُكْنٍ 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لو أن لي بكم قوة، أو ألجأ إلى عشيرة قوية تمنعني منكم!</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يَٰلُوطُ إِنَّا رُسُلُ رَبِّكَ لَن يَصِلُواْ إِلَيْكَ فَأَسْرِ بِأَهْلِكَ بِقِطْعٍ مِّنَ الَّيْلِ وَلَا يَلْتَفِتْ مِنكُمْ أَحَدٌ إِلَّا امْرَأَتَكَ إِنَّهُ مُصِيبُهَا مَآ أَصَابَهُمْ إِنَّ مَوْعِدَهُمُ الصُّبْحُ أَلَيْسَ الصُّبْحُ بِقَرِيبٍ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الملائكة: يا لوط إنا رسل ربك لن يصلوا إليك بسوء، فاخرج بأهلك في جزء من الليل، ولا يلتفت منكم أحد، إلا امرأتك إنه سيصيبها ما أصابهم، إن موعد هلاكهم الصبح، أليس الصبح بقريب؟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٨٢ – ٨٣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 أَمْرُنَا جَعَلْنَا عَٰلِيَهَا سَافِلَهَا وَأَمْطَرْنَا عَلَيْهَا حِجَارَةً مِّن سِجِّيلٍ مَّنضُودٍ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 أمرنا جعلنا أعلى قراهم أسفلها، وأمطرنا عليها حجارة من طين متحجّر متتابعة.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مُّسَوَّمَةً عِندَ رَبِّكَ وَمَا هِيَ مِنَ الظَّـٰلِمِينَ بِبَعِيدٍ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معلّمة عند ربك، وما هي من الظالمين في كل زمان ببعيد.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شعيب ودروس الأمم</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٨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٨٤ – ١٢٣</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هود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مسعود رضي الله عنه: إن رجلًا أصاب من امرأة قُبلة، فأتى النبي صلى الله عليه وسلم فأخبره، فأنزل الله: ﴿وأقم الصلاة طرفي النهار وزُلَفًا من الليل إن الحسنات يُذهبن السيئات﴾، فقال الرجل: ألي هذا؟ قال: «لجميع أمتي كلهم»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دعوة شعيب إلى العدل في الكيل والميزان، وهلاك مدين، ثم دروس من قصص الأمم: الاستقامة، والصلاة، والحسنات يُذهبن السيئات.</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٨٤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مَدْيَنَ أَخَاهُمْ شُعَيْبًا قَالَ يَٰقَوْمِ اعْبُدُواْ اللَّهَ مَا لَكُم مِّنْ إِلَٰهٍ غَيْرُهُ وَلَا تَنقُصُواْ الْمِكْيَالَ وَالْمِيزَانَ إِنِّي أَرَىٰكُم بِخَيْرٍ وَإِنِّي أَخَافُ عَلَيْكُمْ عَذَابَ يَوْمٍ مُّحِيطٍ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 إلى مدين أخاهم شعيبًا، قال: يا قوم اعبدوا الله ما لكم من إله غيره، ولا تُنقصوا المكيال والميزان، إني أراكم في خير ونعمة، وإني أخاف عليكم عذاب يوم يحيط بكم.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أَوْفُواْ الْمِكْيَالَ وَالْمِيزَانَ بِالْقِسْطِ وَلَا تَبْخَسُواْ النَّاسَ أَشْيَآءَهُمْ وَلَا تَعْثَوْاْ فِي الْأَرْضِ 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أتمّوا المكيال والميزان بالعدل، ولا تُنقصوا الناس حقوقهم، ولا تسعوا في الأرض مفسدين.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بَقِيَّتُ اللَّهِ خَيْرٌ لَّكُمْ إِن كُنتُم مُّؤْمِنِينَ وَمَآ أَنَا عَلَيْكُم بِحَفِيظٍ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يبقى لكم من الربح الحلال بعد إتمام الكيل خير لكم من الحرام إن كنتم مؤمنين، وما أنا عليكم برقيب.</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يَٰشُعَيْبُ أَصَلَوٰتُكَ تَأْمُرُكَ أَن نَّتْرُكَ مَا يَعْبُدُ ءَابَآؤُنَآ أَوْ أَن نَّفْعَلَ فِي أَمْوَٰلِنَا مَا نَشَـٰؤُاْ إِنَّكَ لَأَنتَ الْحَلِيمُ الرَّشِيدُ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ساخرين: يا شعيب أصلاتك تأمرك أن نترك ما يعبد آباؤنا، أو أن نترك التصرّف في أموالنا كما نشاء؟ إنك لأنت الحليم الرشيد! يقولونها استهزاءً.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يَٰقَوْمِ أَرَءَيْتُمْ إِن كُنتُ عَلَىٰ بَيِّنَةٍ مِّن رَّبِّي وَرَزَقَنِي مِنْهُ رِزْقًا حَسَنًا وَمَآ أُرِيدُ أَنْ أُخَالِفَكُمْ إِلَىٰ مَآ أَنْهَىٰكُمْ عَنْهُ إِنْ أُرِيدُ إِلَّا الْإِصْلَٰحَ مَا اسْتَطَعْتُ وَمَا تَوْفِيقِي إِلَّا بِاللَّهِ عَلَيْهِ تَوَكَّلْتُ وَإِلَيْهِ أُنِيبُ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يا قوم أخبروني إن كنت على حجة من ربي، ورزقني منه رزقًا حلالًا حسنًا، وما أريد أن أفعل ما أنهاكم عنه، ما أريد إلا الإصلاح ما استطعت، وما توفيقي إلا بالله، عليه توكلت وإليه أرجع.</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لَا يَجْرِمَنَّكُمْ شِقَاقِي أَن يُصِيبَكُم مِّثْلُ مَآ أَصَابَ قَوْمَ نُوحٍ أَوْ قَوْمَ هُودٍ أَوْ قَوْمَ صَٰلِحٍ وَمَا قَوْمُ لُوطٍ مِّنكُم بِبَعِيدٍ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لا تحملنّكم عداوتي على أن يصيبكم مثل ما أصاب قوم نوح أو قوم هود أو قوم صالح، وما قوم لوط منكم ببعيد زمانًا ومكانًا.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٩٠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وَاسْتَغْفِرُواْ رَبَّكُمْ ثُمَّ تُوبُواْ إِلَيْهِ إِنَّ رَبِّي رَحِيمٌ وَدُودٌ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واطلبوا المغفرة من ربكم ثم توبوا إليه، إن ربي رحيم ودود يحب التائبين.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يَٰشُعَيْبُ مَا نَفْقَهُ كَثِيرًا مِّمَّا تَقُولُ وَإِنَّا لَنَرَىٰكَ فِينَا ضَعِيفًا وَلَوْلَا رَهْطُكَ لَرَجَمْنَٰكَ وَمَآ أَنتَ عَلَيْنَا بِعَزِيزٍ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شعيب ما نفهم كثيرًا مما تقول، وإنا لنراك فينا ضعيفًا، ولولا عشيرتك لقتلناك رجمًا، وما أنت علينا بعزيز.</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يَٰقَوْمِ أَرَهْطِي أَعَزُّ عَلَيْكُم مِّنَ اللَّهِ وَاتَّخَذْتُمُوهُ وَرَآءَكُمْ ظِهْرِيًّا إِنَّ رَبِّي بِمَا تَعْمَلُونَ مُحِيطٌ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يا قوم أعشيرتي أعزّ عليكم من الله، وجعلتم أمر الله خلف ظهوركم؟ إن ربي بما تعملون محيط.</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وَيَٰقَوْمِ اعْمَلُواْ عَلَىٰ مَكَانَتِكُمْ إِنِّي عَٰمِلٌ سَوْفَ تَعْلَمُونَ مَن يَأْتِيهِ عَذَابٌ يُخْزِيهِ وَمَنْ هُوَ كَٰذِبٌ وَارْتَقِبُواْ إِنِّي مَعَكُمْ رَقِيبٌ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قوم اعملوا على طريقتكم إني عامل على طريقتي، سوف تعلمون من يأتيه عذاب يُذلّه، ومن هو كاذب، وانتظروا إني معكم منتظر.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٩٤ – 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جَآءَ أَمْرُنَا نَجَّيْنَا شُعَيْبًا وَالَّذِينَ ءَامَنُواْ مَعَهُ بِرَحْمَةٍ مِّنَّا وَأَخَذَتِ الَّذِينَ ظَلَمُواْ الصَّيْحَةُ فَأَصْبَحُواْ فِي دِيَٰرِهِمْ جَٰثِمِينَ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جاء أمرنا نجّينا شعيبًا والمؤمنين معه برحمة منا، وأخذت الظالمين الصيحة فأصبحوا في ديارهم ميّتين.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كَأَن لَّمْ يَغْنَوْاْ فِيهَآ أَلَا بُعْدًا لِّمَدْيَنَ كَمَا بَعِدَتْ ثَمُودُ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كأنهم لم يقيموا فيها، ألا هلاكًا لمدين كما هلكت ثمود.</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مُوسَىٰ بِـَٔايَٰتِنَا وَسُلْطَٰنٍ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موسى بمعجزاتنا وحجة واضحة.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٩٧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فِرْعَوْنَ وَمَلَإِيْهِ فَاتَّبَعُواْ أَمْرَ فِرْعَوْنَ وَمَآ أَمْرُ فِرْعَوْنَ بِرَشِيدٍ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فرعون وكبار قومه، فاتّبعوا أمر فرعون، وما أمر فرعون بصواب.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يَقْدُمُ قَوْمَهُ يَوْمَ الْقِيَٰمَةِ فَأَوْرَدَهُمُ النَّارَ وَبِئْسَ الْوِرْدُ الْمَوْرُودُ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يتقدّم قومه يوم القيامة فيقودهم إلى النار، وبئس المكان الذي يردونه.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وَأُتْبِعُواْ فِي هَٰذِهِ لَعْنَةً وَيَوْمَ الْقِيَٰمَةِ بِئْسَ الرِّفْدُ الْمَرْفُودُ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وأُتبعوا في هذه الدنيا لعنة ويوم القيامة، بئس العطاء الذي أُعطوه.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مِنْ أَنبَآءِ الْقُرَىٰ نَقُصُّهُ عَلَيْكَ مِنْهَا قَآئِمٌ وَحَصِيدٌ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من أخبار القرى المهلكة نقصّه عليك، منها ما بقيت آثاره، ومنها ما زال كالزرع المحصود.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18516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ظَلَمْنَٰهُمْ وَلَٰكِن ظَلَمُواْ أَنفُسَهُمْ فَمَآ أَغْنَتْ عَنْهُمْ ءَالِهَتُهُمُ الَّتِي يَدْعُونَ مِن دُونِ اللَّهِ مِن شَيْءٍ لَّمَّا جَآءَ أَمْرُ رَبِّكَ وَمَا زَادُوهُمْ غَيْرَ تَتْبِيبٍ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ظلمناهم بالإهلاك، ولكن ظلموا أنفسهم، فما نفعتهم آلهتهم التي يعبدون من دون الله شيئًا لما جاء أمر ربك، وما زادوهم غير هلاك.</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420166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أَخْذُ رَبِّكَ إِذَآ أَخَذَ الْقُرَىٰ وَهِيَ ظَٰلِمَةٌ إِنَّ أَخْذَهُ أَلِيمٌ 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عقوبة ربك إذا عاقب القرى وأهلها ظالمون، إن عقوبته موجعة شديدة. قال النبي صلى الله عليه وسلم: «إن الله ليُملي للظالم حتى إذا أخذه لم يُفلته» ثم قرأ هذه الآية (البخاري ومسلم).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لَأيَةً لِّمَنْ خَافَ عَذَابَ الْأخِرَةِ ذَٰلِكَ يَوْمٌ مَّجْمُوعٌ لَّهُ النَّاسُ وَذَٰلِكَ يَوْمٌ مَّشْهُودٌ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لمن خاف عذاب الآخرة، ذلك يوم يُجمع له الناس، وذلك يوم يشهده الجميع.</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نُؤَخِّرُهُ إِلَّا لِأَجَلٍ مَّعْدُودٍ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نؤخّره إلا لوقت معدود محدد.</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يَأْتِ لَا تَكَلَّمُ نَفْسٌ إِلَّا بِإِذْنِهِ فَمِنْهُمْ شَقِيٌّ وَسَعِيدٌ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يأتي لا تتكلّم نفس إلا بإذن الله، فمنهم شقيّ ومنهم سعيد.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١٠٦ – ١٠٨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الَّذِينَ شَقُواْ فَفِي النَّارِ لَهُمْ فِيهَا زَفِيرٌ وَشَهِيقٌ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الأشقياء ففي النار، لهم فيها تنفّس شديد وأنين.</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خَٰلِدِينَ فِيهَا مَا دَامَتِ السَّمَٰوَٰتُ وَالْأَرْضُ إِلَّا مَا شَآءَ رَبُّكَ إِنَّ رَبَّكَ فَعَّالٌ لِّمَا يُرِيدُ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خالدين فيها ما دامت السماوات والأرض، إلا ما شاء ربك، إن ربك فعّال لما يريد.</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الَّذِينَ سُعِدُواْ فَفِي الْجَنَّةِ خَٰلِدِينَ فِيهَا مَا دَامَتِ السَّمَٰوَٰتُ وَالْأَرْضُ إِلَّا مَا شَآءَ رَبُّكَ عَطَآءً غَيْرَ مَجْذُوذٍ</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السعداء ففي الجنة خالدين فيها ما دامت السماوات والأرض، إلا ما شاء ربك، عطاءً غير مقطوع.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١٠٩ – ١١٠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تَكُ فِي مِرْيَةٍ مِّمَّا يَعْبُدُ هَـٰؤُلَآءِ مَا يَعْبُدُونَ إِلَّا كَمَا يَعْبُدُ ءَابَآؤُهُم مِّن قَبْلُ وَإِنَّا لَمُوَفُّوهُمْ نَصِيبَهُمْ غَيْرَ مَنقُوصٍ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تكن في شك من بطلان ما يعبد هؤلاء المشركون، ما يعبدون إلا كما يعبد آباؤهم من قبل، وإنا لمعطوهم جزاءهم كاملًا غير منقوص.</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الْكِتَٰبَ فَاخْتُلِفَ فِيهِ وَلَوْلَا كَلِمَةٌ سَبَقَتْ مِن رَّبِّكَ لَقُضِيَ بَيْنَهُمْ وَإِنَّهُمْ لَفِي شَكٍّ مِّنْهُ مُرِيبٍ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التوراة فاختلف فيها قومه، ولولا حكم سبق من ربك بتأخير العذاب لقُضي بينهم، وإنهم لفي شك من القرآن.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١١١ – ١١٣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كُلًّا لَّمَّا لَيُوَفِّيَنَّهُمْ رَبُّكَ أَعْمَٰلَهُمْ إِنَّهُ بِمَا يَعْمَلُونَ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كل المختلفين ليوفّينّهم ربك جزاء أعمالهم، إنه بما يعملون خبير.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13" name="Text 11"/>
          <p:cNvSpPr txBox="1"/>
          <p:nvPr/>
        </p:nvSpPr>
        <p:spPr>
          <a:xfrm>
            <a:off x="731520" y="273405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فَاسْتَقِمْ كَمَآ أُمِرْتَ وَمَن تَابَ مَعَكَ وَلَا تَطْغَوْاْ إِنَّهُ بِمَا تَعْمَلُونَ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فاستقم على دين الله كما أمرك الله، أنت ومن تاب معك، ولا تتجاوزوا الحد، إنه بما تعملون بصير. قال ابن عباس: ما نزلت على النبي صلى الله عليه وسلم آية أشد عليه من هذه الآية.</a:t>
            </a:r>
            <a:endParaRPr lang="ar-SA" sz="3200" dirty="0"/>
          </a:p>
        </p:txBody>
      </p:sp>
      <p:sp>
        <p:nvSpPr>
          <p:cNvPr id="14" name="Shape 12"/>
          <p:cNvSpPr/>
          <p:nvPr/>
        </p:nvSpPr>
        <p:spPr>
          <a:xfrm>
            <a:off x="2103120" y="4212336"/>
            <a:ext cx="8641080" cy="0"/>
          </a:xfrm>
          <a:prstGeom prst="line">
            <a:avLst/>
          </a:prstGeom>
          <a:noFill/>
          <a:ln w="9525">
            <a:solidFill>
              <a:schemeClr val="accent2"/>
            </a:solidFill>
            <a:prstDash val="dash"/>
          </a:ln>
        </p:spPr>
      </p:sp>
      <p:sp>
        <p:nvSpPr>
          <p:cNvPr id="15" name="Shape 13"/>
          <p:cNvSpPr/>
          <p:nvPr/>
        </p:nvSpPr>
        <p:spPr>
          <a:xfrm>
            <a:off x="10927080" y="4428744"/>
            <a:ext cx="548640" cy="548640"/>
          </a:xfrm>
          <a:prstGeom prst="star8">
            <a:avLst/>
          </a:prstGeom>
          <a:solidFill>
            <a:schemeClr val="accent2"/>
          </a:solidFill>
          <a:ln/>
        </p:spPr>
      </p:sp>
      <p:sp>
        <p:nvSpPr>
          <p:cNvPr id="16" name="Shape 14"/>
          <p:cNvSpPr/>
          <p:nvPr/>
        </p:nvSpPr>
        <p:spPr>
          <a:xfrm>
            <a:off x="11036808" y="4538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287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18" name="Text 16"/>
          <p:cNvSpPr txBox="1"/>
          <p:nvPr/>
        </p:nvSpPr>
        <p:spPr>
          <a:xfrm>
            <a:off x="731520" y="44104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تَرْكَنُواْ إِلَى الَّذِينَ ظَلَمُواْ فَتَمَسَّكُمُ النَّارُ وَمَا لَكُم مِّن دُونِ اللَّهِ مِنْ أَوْلِيَآءَ ثُمَّ لَا تُنصَرُونَ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تميلوا إلى الظالمين فتصيبكم النار، وما لكم من دون الله من أولياء، ثم لا تُنصرون.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١١٤ – ١١٥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وَأَقِمِ الصَّلَوٰةَ طَرَفَيِ النَّهَارِ وَزُلَفًا مِّنَ الَّيْلِ إِنَّ الْحَسَنَٰتِ يُذْهِبْنَ السَّيِّـَٔاتِ ذَٰلِكَ ذِكْرَىٰ لِلذَّـٰكِرِينَ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وأقم الصلاة في أول النهار وآخره، وفي ساعات من الليل، إن الحسنات يمحون السيئات، ذلك تذكير للمتّعظين.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وَاصْبِرْ فَإِنَّ اللَّهَ لَا يُضِيعُ أَجْرَ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واصبر على الطاعة، فإن الله لا يُضيع أجر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١١٦ – ١١٨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فَلَوْلَا كَانَ مِنَ الْقُرُونِ مِن قَبْلِكُمْ أُوْلُواْ بَقِيَّةٍ يَنْهَوْنَ عَنِ الْفَسَادِ فِي الْأَرْضِ إِلَّا قَلِيلًا مِّمَّنْ أَنجَيْنَا مِنْهُمْ وَاتَّبَعَ الَّذِينَ ظَلَمُواْ مَآ أُتْرِفُواْ فِيهِ وَكَانُواْ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 كان من الأمم قبلكم أصحاب فضل وعقل ينهون عن الفساد في الأرض! إلا قليلًا ممن أنجينا منهم، واتّبع الظالمون ما هم فيه من النعيم، وكانوا مجرمين.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رَبُّكَ لِيُهْلِكَ الْقُرَىٰ بِظُلْمٍ وَأَهْلُهَا مُصْلِحُونَ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ربك ليُهلك القرى بظلم منه وأهلها مصلحون.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شَآءَ رَبُّكَ لَجَعَلَ النَّاسَ أُمَّةً وَٰحِدَةً وَلَا يَزَالُونَ مُخْتَلِفِينَ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شاء ربك لجعل الناس على دين واحد، ولا يزالون مختلفين.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١١٩ – ١٢٠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رَّحِمَ رَبُّكَ وَلِذَٰلِكَ خَلَقَهُمْ وَتَمَّتْ كَلِمَةُ رَبِّكَ لَأَمْلَأَنَّ جَهَنَّمَ مِنَ الْجِنَّةِ وَالنَّاسِ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رحم ربك من المؤمنين فلم يختلفوا في الحق، ولذلك الاختبار خلقهم، وتمّ حكم ربك: لأملأنّ جهنم من الجن والناس الكافرين أجمعين.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وَكُلًّا نَّقُصُّ عَلَيْكَ مِنْ أَنبَآءِ الرُّسُلِ مَا نُثَبِّتُ بِهِ فُؤَادَكَ وَجَآءَكَ فِي هَٰذِهِ الْحَقُّ وَمَوْعِظَةٌ وَذِكْرَىٰ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 خبر نقصّه عليك من أخبار الرسل نثبّت به قلبك، وجاءك في هذه السورة الحق، وموعظة وتذكير للمؤمنين.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هود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١٢١ – ١٢٣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لِّلَّذِينَ لَا يُؤْمِنُونَ اعْمَلُواْ عَلَىٰ مَكَانَتِكُمْ إِنَّا 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للذين لا يؤمنون: اعملوا على طريقتكم إنا عاملون على طريقتنا.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وَانتَظِرُواْ إِنَّا مُنتَظِرُونَ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وانتظروا عاقبة أمرنا، إنا منتظرون عاقبة أمركم.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غَيْبُ السَّمَٰوَٰتِ وَالْأَرْضِ وَإِلَيْهِ يُرْجَعُ الْأَمْرُ كُلُّهُ فَاعْبُدْهُ وَتَوَكَّلْ عَلَيْهِ وَمَا رَبُّكَ بِغَٰفِلٍ عَمَّا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علم ما غاب في السماوات والأرض، وإليه يرجع الأمر كله، فاعبده وتوكّل عليه، وما ربك بغافل عما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الرؤيا وغيابة الجب</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٩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٢٠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يوسف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سعد بن أبي وقاص رضي الله عنه: أُنزل القرآن على النبي صلى الله عليه وسلم فتلاه عليهم زمانًا، فقالوا: يا رسول الله لو قصصت علينا، فأنزل الله: ﴿الر تلك آيات الكتاب المبين... نحن نقصّ عليك أحسن القصص﴾ (رواه الحاكم وصحّحه).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رؤيا يوسف وتحذير أبيه، وحسد إخوته ومكرهم، وإلقاؤه في البئر، وصبر يعقوب الجميل، ثم بيعه بثمن قليل.</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 تِلْكَ ءَايَٰتُ الْكِتَٰبِ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تلك آيات القرآن الواضح.</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أَنزَلْنَٰهُ قُرْءَٰنًا عَرَبِيًّا لَّعَلَّكُمْ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أنزلناه قرآنًا بلغة العرب لعلكم تفهمون.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نَقُصُّ عَلَيْكَ أَحْسَنَ الْقَصَصِ بِمَآ أَوْحَيْنَآ إِلَيْكَ هَٰذَا الْقُرْءَانَ وَإِن كُنتَ مِن قَبْلِهِ لَمِنَ الْغَٰفِلِينَ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نقصّ عليك أحسن القصص بما أوحينا إليك من هذا القرآن، وإن كنت قبله لمن الغافلين عن هذه الأخبار.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يُوسُفُ لِأَبِيهِ يَـٰأَبَتِ إِنِّي رَأَيْتُ أَحَدَ عَشَرَ كَوْكَبًا وَالشَّمْسَ وَالْقَمَرَ رَأَيْتُهُمْ لِي سَٰجِدِينَ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اذكر حين قال يوسف لأبيه يعقوب: يا أبتِ إني رأيت في المنام أحد عشر كوكبًا والشمس والقمر رأيتهم لي ساجدين.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يَٰبُنَيَّ لَا تَقْصُصْ رُءْيَاكَ عَلَىٰ إِخْوَتِكَ فَيَكِيدُواْ لَكَ كَيْدًا إِنَّ الشَّيْطَٰنَ لِلْإِنسَٰنِ عَدُوٌّ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يعقوب: يا بُنيّ لا تخبر إخوتك برؤياك فيحسدوك ويدبّروا لك مكيدة، إن الشيطان للإنسان عدو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يَجْتَبِيكَ رَبُّكَ وَيُعَلِّمُكَ مِن تَأْوِيلِ الْأَحَادِيثِ وَيُتِمُّ نِعْمَتَهُ عَلَيْكَ وَعَلَىٰ ءَالِ يَعْقُوبَ كَمَآ أَتَمَّهَا عَلَىٰ أَبَوَيْكَ مِن قَبْلُ إِبْرَٰهِيمَ وَإِسْحَٰقَ إِنَّ رَبَّكَ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وكما أراك هذه الرؤيا يختارك ربك، ويعلّمك تفسير الرؤى، ويتمّ نعمته عليك بالنبوة وعلى آل يعقوب، كما أتمّها على جدّيك إبراهيم وإسحاق، إن ربك عليم حكيم.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كَانَ فِي يُوسُفَ وَإِخْوَتِهِ ءَايَٰتٌ لِّلسَّآئِلِينَ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كان في قصة يوسف وإخوته عبر ودلائل للسائلين عنها.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قَالُواْ لَيُوسُفُ وَأَخُوهُ أَحَبُّ إِلَىٰ أَبِينَا مِنَّا وَنَحْنُ عُصْبَةٌ إِنَّ أَبَانَا لَفِي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قال إخوته: ليوسف وأخوه الشقيق بنيامين أحبّ إلى أبينا منا ونحن جماعة قوية، إن أبانا لفي خطأ واضح في تفضيلهما.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اقْتُلُواْ يُوسُفَ أَوِ اطْرَحُوهُ أَرْضًا يَخْلُ لَكُمْ وَجْهُ أَبِيكُمْ وَتَكُونُواْ مِن بَعْدِهِ قَوْمًا صَٰلِحِينَ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اقتلوا يوسف أو اطرحوه في أرض بعيدة، يخلُ لكم حب أبيكم، وتكونوا بعده قومًا صالحين بالتوبة.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قَآئِلٌ مِّنْهُمْ لَا تَقْتُلُواْ يُوسُفَ وَأَلْقُوهُ فِي غَيَٰبَتِ الْجُبِّ يَلْتَقِطْهُ بَعْضُ السَّيَّارَةِ إِن كُنتُمْ فَٰعِلِينَ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أحدهم: لا تقتلوا يوسف، وألقوه في قعر البئر يأخذه بعض المسافرين، إن كنتم فاعلين.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يَـٰأَبَانَا مَا لَكَ لَا تَأْمَ۬نَّا عَلَىٰ يُوسُفَ وَإِنَّا لَهُ لَنَٰصِحُونَ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أبانا ما لك لا تأمنّا على يوسف وإنا له لناصحون؟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أَرْسِلْهُ مَعَنَا غَدًا يَرْتَعْ وَيَلْعَبْ وَإِنَّا لَهُ لَحَٰفِظُونَ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أرسله معنا غدًا يأكل ويلعب، وإنا له لحافظون.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إِنِّي لَيَحْزُنُنِي أَن تَذْهَبُواْ بِهِ وَأَخَافُ أَن يَأْكُلَهُ الذِّئْبُ وَأَنتُمْ عَنْهُ 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يعقوب: إني ليُحزنني أن تذهبوا به، وأخاف أن يأكله الذئب وأنتم عنه غافلون.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لَئِنْ أَكَلَهُ الذِّئْبُ وَنَحْنُ عُصْبَةٌ إِنَّآ إِذًا 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لئن أكله الذئب ونحن جماعة قوية إنا إذًا لخاسرون.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ذَهَبُواْ بِهِ وَأَجْمَعُواْ أَن يَجْعَلُوهُ فِي غَيَٰبَتِ الْجُبِّ وَأَوْحَيْنَآ إِلَيْهِ لَتُنَبِّئَنَّهُم بِأَمْرِهِمْ هَٰذَا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ذهبوا به واتّفقوا على أن يُلقوه في قعر البئر فعلوا، وأوحينا إليه: لتُخبرنّهم يومًا بفعلهم هذا وهم لا يشعرون أنك يوسف.</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وَجَآءُو أَبَاهُمْ عِشَآءً يَبْكُونَ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وجاؤوا أباهم في المساء يبكون.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يَـٰأَبَانَآ إِنَّا ذَهَبْنَا نَسْتَبِقُ وَتَرَكْنَا يُوسُفَ عِندَ مَتَٰعِنَا فَأَكَلَهُ الذِّئْبُ وَمَآ أَنتَ بِمُؤْمِنٍ لَّنَا وَلَوْ كُنَّا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أبانا إنا ذهبنا نتسابق، وتركنا يوسف عند متاعنا فأكله الذئب، وما أنت بمصدّق لنا ولو كنا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وَجَآءُو عَلَىٰ قَمِيصِهِ بِدَمٍ كَذِبٍ قَالَ بَلْ سَوَّلَتْ لَكُمْ أَنفُسُكُمْ أَمْرًا فَصَبْرٌ جَمِيلٌ وَاللَّهُ الْمُسْتَعَانُ عَلَىٰ مَا تَصِفُونَ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وجاؤوا على قميصه بدم كاذب، قال يعقوب: بل زيّنت لكم أنفسكم أمرًا سيئًا، فصبري صبر جميل لا شكوى فيه، والله المستعان على ما تصفون.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وَجَآءَتْ سَيَّارَةٌ فَأَرْسَلُواْ وَارِدَهُمْ فَأَدْلَىٰ دَلْوَهُ قَالَ يَٰبُشْرَىٰ هَٰذَا غُلَٰمٌ وَأَسَرُّوهُ بِضَٰعَةً وَاللَّهُ عَلِيمٌ بِمَا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وجاءت قافلة مسافرين فأرسلوا من يجلب لهم الماء، فأنزل دلوه في البئر فتعلّق به يوسف، قال: يا بشراي هذا غلام! وأخفوه بضاعة للتجارة، والله عليم بما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14116"/>
            <a:ext cx="548640" cy="548640"/>
          </a:xfrm>
          <a:prstGeom prst="star8">
            <a:avLst/>
          </a:prstGeom>
          <a:solidFill>
            <a:schemeClr val="accent2"/>
          </a:solidFill>
          <a:ln/>
        </p:spPr>
      </p:sp>
      <p:sp>
        <p:nvSpPr>
          <p:cNvPr id="6" name="Shape 4"/>
          <p:cNvSpPr/>
          <p:nvPr/>
        </p:nvSpPr>
        <p:spPr>
          <a:xfrm>
            <a:off x="11036808" y="33238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وَشَرَوْهُ بِثَمَنٍ بَخْسٍ دَرَٰهِمَ مَعْدُودَةٍ وَكَانُواْ فِيهِ مِنَ الزَّـٰهِدِينَ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وباعوه بثمن قليل، دراهم معدودة، وكانوا فيه من الزاهدين.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4400" b="1" dirty="0">
                <a:solidFill>
                  <a:schemeClr val="accent2"/>
                </a:solidFill>
                <a:latin typeface="Sakkal Majalla" pitchFamily="34" charset="0"/>
                <a:ea typeface="Sakkal Majalla" pitchFamily="34" charset="-122"/>
                <a:cs typeface="Sakkal Majalla" pitchFamily="34" charset="-120"/>
              </a:rPr>
              <a:t>في بيت العزيز</a:t>
            </a:r>
            <a:endParaRPr lang="ar-SA" sz="4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١٠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٢١ – ٣٥</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يوسف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تمكين يوسف في بيت عزيز مصر، وثباته أمام الفتنة وعفّته، وظهور براءته، ثم اختياره السجن على المعصية.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 اشْتَرَىٰهُ مِن مِّصْرَ لِامْرَأَتِهِ أَكْرِمِي مَثْوَىٰهُ عَسَىٰ أَن يَنفَعَنَآ أَوْ نَتَّخِذَهُ وَلَدًا وَكَذَٰلِكَ مَكَّنَّا لِيُوسُفَ فِي الْأَرْضِ وَلِنُعَلِّمَهُ مِن تَأْوِيلِ الْأَحَادِيثِ وَاللَّهُ غَالِبٌ عَلَىٰ أَمْرِهِ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عزيز مصر الذي اشتراه لامرأته: أكرمي مقامه، عسى أن ينفعنا أو نتّخذه ولدًا، وكذلك مكّنّا ليوسف في الأرض، ولنعلّمه تفسير الرؤى، والله غالب على أمره، ولكن أكثر الناس لا يعلمون.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بَلَغَ أَشُدَّهُ ءَاتَيْنَٰهُ حُكْمًا وَعِلْمًا وَكَذَٰلِكَ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بلغ يوسف كمال قوته آتيناه حكمة وعلمًا، وكذلك نجزي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وَرَٰوَدَتْهُ الَّتِي هُوَ فِي بَيْتِهَا عَن نَّفْسِهِ وَغَلَّقَتِ الْأَبْوَٰبَ وَقَالَتْ هَيْتَ لَكَ قَالَ مَعَاذَ اللَّهِ إِنَّهُ رَبِّي أَحْسَنَ مَثْوَايَ إِنَّهُ لَا يُفْلِحُ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وطلبت منه امرأة العزيز التي هو في بيتها الفاحشة، وأغلقت الأبواب، وقالت: أقبل إليّ، قال: أعوذ بالله، إن زوجك سيّدي أحسن إليّ فلا أخونه، إنه لا يفلح الظالمون.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هَمَّتْ بِهِ وَهَمَّ بِهَا لَوْلَآ أَن رَّءَا بُرْهَٰنَ رَبِّهِ كَذَٰلِكَ لِنَصْرِفَ عَنْهُ السُّوءَ وَالْفَحْشَآءَ إِنَّهُ مِنْ عِبَادِنَا الْمُخْلَصِينَ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همّت بالمعصية، وخطر له خاطر لم يعمل به، لولا أن رأى برهان ربه فامتنع، كذلك صرفنا عنه السوء والفاحشة، إنه من عبادنا المخلصين.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وَاسْتَبَقَا الْبَابَ وَقَدَّتْ قَمِيصَهُ مِن دُبُرٍ وَأَلْفَيَا سَيِّدَهَا لَدَا الْبَابِ قَالَتْ مَا جَزَآءُ مَنْ أَرَادَ بِأَهْلِكَ سُوءًا إِلَّآ أَن يُسْجَنَ أَوْ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وتسابقا إلى الباب: هو هاربًا وهي تلحقه، فشقّت قميصه من الخلف، ووجدا زوجها عند الباب، قالت: ما جزاء من أراد بأهلك سوءًا إلا أن يُسجن أو يُعذّب عذابًا موجعًا؟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هِيَ رَٰوَدَتْنِي عَن نَّفْسِي وَشَهِدَ شَاهِدٌ مِّنْ أَهْلِهَآ إِن كَانَ قَمِيصُهُ قُدَّ مِن قُبُلٍ فَصَدَقَتْ وَهُوَ مِنَ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يوسف: هي التي طلبتني، وشهد شاهد من أهلها: إن كان قميصه شُقّ من الأمام فصدقت وهو من الكاذبين.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كَانَ قَمِيصُهُ قُدَّ مِن دُبُرٍ فَكَذَبَتْ وَهُوَ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كان قميصه شُقّ من الخلف فكذبت وهو من الصادقين.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رَءَا قَمِيصَهُ قُدَّ مِن دُبُرٍ قَالَ إِنَّهُ مِن كَيْدِكُنَّ إِنَّ كَيْدَكُنَّ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رأى العزيز قميصه شُقّ من الخلف قال: إن هذا من كيدكنّ أيتها النساء، إن كيدكنّ عظيم.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يُوسُفُ أَعْرِضْ عَنْ هَٰذَا وَاسْتَغْفِرِي لِذَنبِكِ إِنَّكِ كُنتِ مِنَ الْخَاطِـِٔينَ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يوسف أعرض عن هذا الأمر ولا تذكره، واستغفري أنتِ لذنبك، إنكِ كنتِ من المخطئين.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نِسْوَةٌ فِي الْمَدِينَةِ امْرَأَتُ الْعَزِيزِ تُرَٰوِدُ فَتَىٰهَا عَن نَّفْسِهِ قَدْ شَغَفَهَا حُبًّا إِنَّا لَنَرَىٰهَا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وتحدّث نساء في المدينة: امرأة العزيز تطلب خادمها لنفسها، قد تمكّن حبه من قلبها، إنا لنراها في ضلال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5331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سَمِعَتْ بِمَكْرِهِنَّ أَرْسَلَتْ إِلَيْهِنَّ وَأَعْتَدَتْ لَهُنَّ مُتَّكَـًٔا وَءَاتَتْ كُلَّ وَٰحِدَةٍ مِّنْهُنَّ سِكِّينًا وَقَالَتِ اخْرُجْ عَلَيْهِنَّ فَلَمَّا رَأَيْنَهُ أَكْبَرْنَهُ وَقَطَّعْنَ أَيْدِيَهُنَّ وَقُلْنَ حَٰشَ لِلَّهِ مَا هَٰذَا بَشَرًا إِنْ هَٰذَآ إِلَّا مَلَكٌ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سمعت بكلامهن دعتهن، وأعدّت لهن مجلسًا ومتّكأً وطعامًا، وأعطت كل واحدة منهن سكينًا، وقالت ليوسف: اخرج عليهن، فلما رأينه عظّمنه، وجرحن أيديهن بالسكاكين دهشةً، وقلن: معاذ الله! ما هذا بشرًا، إن هذا إلا ملك كريم.</a:t>
            </a:r>
            <a:endParaRPr lang="ar-SA" sz="3200" dirty="0"/>
          </a:p>
        </p:txBody>
      </p:sp>
      <p:sp>
        <p:nvSpPr>
          <p:cNvPr id="9" name="Shape 7"/>
          <p:cNvSpPr/>
          <p:nvPr/>
        </p:nvSpPr>
        <p:spPr>
          <a:xfrm>
            <a:off x="2103120" y="4297680"/>
            <a:ext cx="8641080" cy="0"/>
          </a:xfrm>
          <a:prstGeom prst="line">
            <a:avLst/>
          </a:prstGeom>
          <a:noFill/>
          <a:ln w="9525">
            <a:solidFill>
              <a:schemeClr val="accent2"/>
            </a:solidFill>
            <a:prstDash val="dash"/>
          </a:ln>
        </p:spPr>
      </p:sp>
      <p:sp>
        <p:nvSpPr>
          <p:cNvPr id="10" name="Shape 8"/>
          <p:cNvSpPr/>
          <p:nvPr/>
        </p:nvSpPr>
        <p:spPr>
          <a:xfrm>
            <a:off x="10927080" y="4471416"/>
            <a:ext cx="548640" cy="548640"/>
          </a:xfrm>
          <a:prstGeom prst="star8">
            <a:avLst/>
          </a:prstGeom>
          <a:solidFill>
            <a:schemeClr val="accent2"/>
          </a:solidFill>
          <a:ln/>
        </p:spPr>
      </p:sp>
      <p:sp>
        <p:nvSpPr>
          <p:cNvPr id="11" name="Shape 9"/>
          <p:cNvSpPr/>
          <p:nvPr/>
        </p:nvSpPr>
        <p:spPr>
          <a:xfrm>
            <a:off x="11036808" y="45811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471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44531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فَذَٰلِكُنَّ الَّذِي لُمْتُنَّنِي فِيهِ وَلَقَدْ رَٰوَدتُّهُ عَن نَّفْسِهِ فَاسْتَعْصَمَ وَلَئِن لَّمْ يَفْعَلْ مَآ ءَامُرُهُ لَيُسْجَنَنَّ وَلَيَكُونًا مِّنَ الصَّـٰغِرِينَ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فهذا الذي لمتنني فيه، ولقد طلبته فامتنع، ولئن لم يفعل ما آمره ليُسجننّ وليكونن من الأذلّاء.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السِّجْنُ أَحَبُّ إِلَيَّ مِمَّا يَدْعُونَنِي إِلَيْهِ وَإِلَّا تَصْرِفْ عَنِّي كَيْدَهُنَّ أَصْبُ إِلَيْهِنَّ وَأَكُن مِّنَ الْجَٰهِلِينَ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يوسف: رب السجن أحبّ إليّ مما يدعونني إليه، وإن لم تصرف عني كيدهن أمِل إليهن وأكن من الجاهلين.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فَاسْتَجَابَ لَهُ رَبُّهُ فَصَرَفَ عَنْهُ كَيْدَهُنَّ إِنَّهُ 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فاستجاب له ربه فصرف عنه كيدهن، إنه هو السميع العليم.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بَدَا لَهُم مِّن بَعْدِ مَا رَأَوُاْ الْأيَٰتِ لَيَسْجُنُنَّهُ حَتَّىٰ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ظهر للعزيز وأهله بعد ما رأوا الأدلة على براءته أن يسجنوه إلى مدة، ليُسكتوا كلام الناس.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في السجن ثم التمكين</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١١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٣٦ – ٥٧</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يوسف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دعوة يوسف صاحبيه في السجن إلى التوحيد، وتفسيره رؤياهما ورؤيا الملك، وظهور براءته، وتوليه خزائن مصر.</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وَدَخَلَ مَعَهُ السِّجْنَ فَتَيَانِ قَالَ أَحَدُهُمَآ إِنِّي أَرَىٰنِي أَعْصِرُ خَمْرًا وَقَالَ الْأخَرُ إِنِّي أَرَىٰنِي أَحْمِلُ فَوْقَ رَأْسِي خُبْزًا تَأْكُلُ الطَّيْرُ مِنْهُ نَبِّئْنَا بِتَأْوِيلِهِ إِنَّا نَرَىٰكَ مِنَ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ودخل معه السجن شابان، قال أحدهما: إني رأيتني في المنام أعصر عنبًا ليصير خمرًا، وقال الآخر: إني رأيتني أحمل فوق رأسي خبزًا تأكل الطير منه، أخبرنا بتفسيره، إنا نراك من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لَا يَأْتِيكُمَا طَعَامٌ تُرْزَقَانِهِ إِلَّا نَبَّأْتُكُمَا بِتَأْوِيلِهِ قَبْلَ أَن يَأْتِيَكُمَا ذَٰلِكُمَا مِمَّا عَلَّمَنِي رَبِّي إِنِّي تَرَكْتُ مِلَّةَ قَوْمٍ لَّا يُؤْمِنُونَ بِاللَّهِ وَهُم بِالْأخِرَةِ هُمْ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لا يأتيكما طعام ترزقانه إلا أخبرتكما بتفسيره قبل أن يأتيكما، ذلكما مما علّمني ربي، إني تركت دين قوم لا يؤمنون بالله وهم بالآخرة كافرون.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وَاتَّبَعْتُ مِلَّةَ ءَابَآءِي إِبْرَٰهِيمَ وَإِسْحَٰقَ وَيَعْقُوبَ مَا كَانَ لَنَآ أَن نُّشْرِكَ بِاللَّهِ مِن شَيْءٍ ذَٰلِكَ مِن فَضْلِ اللَّهِ عَلَيْنَا وَعَلَى النَّاسِ وَلَٰكِنَّ أَكْثَرَ النَّاسِ لَا يَشْكُرُونَ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واتّبعت دين آبائي إبراهيم وإسحاق ويعقوب، ما ينبغي لنا أن نشرك بالله شيئًا، ذلك من فضل الله علينا وعلى الناس، ولكن أكثر الناس لا يشكرون.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يَٰصَٰحِبَيِ السِّجْنِ ءَأَرْبَابٌ مُّتَفَرِّقُونَ خَيْرٌ أَمِ اللَّهُ الْوَٰحِدُ الْقَهَّارُ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صاحبيّ في السجن، أآلهة متفرّقة كثيرة خير أم الله الواحد القهار؟</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تَعْبُدُونَ مِن دُونِهِ إِلَّآ أَسْمَآءً سَمَّيْتُمُوهَآ أَنتُمْ وَءَابَآؤُكُم مَّآ أَنزَلَ اللَّهُ بِهَا مِن سُلْطَٰنٍ إِنِ الْحُكْمُ إِلَّا لِلَّهِ أَمَرَ أَلَّا تَعْبُدُواْ إِلَّآ إِيَّاهُ ذَٰلِكَ الدِّينُ الْقَيِّمُ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تعبدون من دونه إلا أسماء سمّيتموها أنتم وآباؤكم، ما أنزل الله بها من حجة، ما الحكم إلا لله، أمر ألّا تعبدوا إلا إياه، ذلك الدين المستقيم، ولكن أكثر الناس لا يعلمون. فدعاهما إلى التوحيد قبل تفسير الرؤيا.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يَٰصَٰحِبَيِ السِّجْنِ أَمَّآ أَحَدُكُمَا فَيَسْقِي رَبَّهُ خَمْرًا وَأَمَّا الْأخَرُ فَيُصْلَبُ فَتَأْكُلُ الطَّيْرُ مِن رَّأْسِهِ قُضِيَ الْأَمْرُ الَّذِي فِيهِ تَسْتَفْتِيَانِ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صاحبيّ في السجن، أما أحدكما فيخرج ويسقي سيّده الخمر، وأما الآخر فيُصلب فتأكل الطير من رأسه، قُضي الأمر الذي تسألان عنه.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لِلَّذِي ظَنَّ أَنَّهُ نَاجٍ مِّنْهُمَا اذْكُرْنِي عِندَ رَبِّكَ فَأَنسَىٰهُ الشَّيْطَٰنُ ذِكْرَ رَبِّهِ فَلَبِثَ فِي السِّجْنِ بِضْعَ 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يوسف للذي ظنّ أنه ناجٍ منهما: اذكرني عند سيّدك الملك، فأنساه الشيطان أن يذكره عند الملك، فبقي يوسف في السجن بضع 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الْمَلِكُ إِنِّي أَرَىٰ سَبْعَ بَقَرَٰتٍ سِمَانٍ يَأْكُلُهُنَّ سَبْعٌ عِجَافٌ وَسَبْعَ سُنبُلَٰتٍ خُضْرٍ وَأُخَرَ يَابِسَٰتٍ يَـٰأَيُّهَا الْمَلَأُ أَفْتُونِي فِي رُءْيَٰيَ إِن كُنتُمْ لِلرُّءْيَا تَعْبُرُونَ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الملك: إني رأيت في المنام سبع بقرات سمان يأكلهن سبع بقرات هزيلة، وسبع سنابل خضر، وسبعًا أخرى يابسات، يا أيها الكبراء فسّروا رؤياي إن كنتم تفسّرون الرؤى.</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أَضْغَٰثُ أَحْلَٰمٍ وَمَا نَحْنُ بِتَأْوِيلِ الْأَحْلَٰمِ بِعَٰلِمِينَ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هذه أحلام مختلطة، وما نحن بتفسير الأحلام بعالمين.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 نَجَا مِنْهُمَا وَادَّكَرَ بَعْدَ أُمَّةٍ أَنَا أُنَبِّئُكُم بِتَأْوِيلِهِ فَأَرْسِلُونِ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الذي نجا من صاحبي السجن، وتذكّر يوسف بعد مدة: أنا أخبركم بتفسيره، فأرسلوني إلى يوسف.</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يُوسُفُ أَيُّهَا الصِّدِّيقُ أَفْتِنَا فِي سَبْعِ بَقَرَٰتٍ سِمَانٍ يَأْكُلُهُنَّ سَبْعٌ عِجَافٌ وَسَبْعِ سُنبُلَٰتٍ خُضْرٍ وَأُخَرَ يَابِسَٰتٍ لَّعَلِّي أَرْجِعُ إِلَى النَّاسِ لَعَلَّهُمْ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يا يوسف أيها الصدّيق، فسّر لنا رؤيا سبع بقرات سمان يأكلهن سبع هزيلة، وسبع سنابل خضر وأُخر يابسات، لعلي أرجع إلى الناس لعلهم يعلمون.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تَزْرَعُونَ سَبْعَ سِنِينَ دَأَبًا فَمَا حَصَدتُّمْ فَذَرُوهُ فِي سُنبُلِهِ إِلَّا قَلِيلًا مِّمَّا تَأْكُلُونَ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يوسف: تزرعون سبع سنين متتابعة بجدّ، فما حصدتم فاتركوه في سنابله ليُحفظ من التسوّس، إلا قليلًا مما تأكلون.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يَأْتِي مِن بَعْدِ ذَٰلِكَ سَبْعٌ شِدَادٌ يَأْكُلْنَ مَا قَدَّمْتُمْ لَهُنَّ إِلَّا قَلِيلًا مِّمَّا تُحْصِنُونَ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يأتي بعد ذلك سبع سنين شديدة القحط، يأكل أهلها ما ادّخرتم لهن، إلا قليلًا مما تحفظونه للبذر.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يَأْتِي مِن بَعْدِ ذَٰلِكَ عَامٌ فِيهِ يُغَاثُ النَّاسُ وَفِيهِ يَعْصِرُونَ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يأتي بعد ذلك عام يُغاث فيه الناس بالمطر، ويعصرون فيه العنب والزيتون من كثرة الخير.</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الْمَلِكُ ائْتُونِي بِهِ فَلَمَّا جَآءَهُ الرَّسُولُ قَالَ ارْجِعْ إِلَىٰ رَبِّكَ فَسْـَٔلْهُ مَا بَالُ النِّسْوَةِ الَّـٰتِي قَطَّعْنَ أَيْدِيَهُنَّ إِنَّ رَبِّي بِكَيْدِهِنَّ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الملك: ائتوني به، فلما جاءه الرسول قال يوسف: ارجع إلى سيّدك فاسأله: ما حال النسوة اللاتي جرحن أيديهن؟ إن ربي بكيدهن عليم. فأراد أن تظهر براءته قبل خروجه.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مَا خَطْبُكُنَّ إِذْ رَٰوَدتُّنَّ يُوسُفَ عَن نَّفْسِهِ قُلْنَ حَٰشَ لِلَّهِ مَا عَلِمْنَا عَلَيْهِ مِن سُوءٍ قَالَتِ امْرَأَتُ الْعَزِيزِ الْـَٰٔنَ حَصْحَصَ الْحَقُّ أَنَا رَٰوَدتُّهُ عَن نَّفْسِهِ وَإِنَّهُ لَمِنَ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الملك للنسوة: ما شأنكن حين طلبتنّ يوسف؟ قلن: معاذ الله ما علمنا عليه من سوء، قالت امرأة العزيز: الآن ظهر الحق، أنا طلبته، وإنه لمن الصادقين.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لِيَعْلَمَ أَنِّي لَمْ أَخُنْهُ بِالْغَيْبِ وَأَنَّ اللَّهَ لَا يَهْدِي كَيْدَ الْخَآئِنِينَ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ذلك الاعتراف ليعلم يوسف أني لم أخنه في غيبته بالكذب عليه، وأن الله لا يُصلح كيد الخائنين.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أُبَرِّئُ نَفْسِي إِنَّ النَّفْسَ لَأَمَّارَةٌ بِالسُّوءِ إِلَّا مَا رَحِمَ رَبِّي إِنَّ رَبِّي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أبرّئ نفسي، إن النفس لكثيرة الأمر بالسوء إلا ما رحم ربي، إن ربي غفور رحيم.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الْمَلِكُ ائْتُونِي بِهِ أَسْتَخْلِصْهُ لِنَفْسِي فَلَمَّا كَلَّمَهُ قَالَ إِنَّكَ الْيَوْمَ لَدَيْنَا مَكِينٌ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الملك: ائتوني به أجعله من خاصّتي، فلما كلّمه وعرف علمه قال: إنك اليوم عندنا صاحب مكانة وأمانة.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اجْعَلْنِي عَلَىٰ خَزَآئِنِ الْأَرْضِ إِنِّي حَفِيظٌ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يوسف: اجعلني على خزائن أرض مصر، إني حفيظ لها، عليم بإدارتها.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مَكَّنَّا لِيُوسُفَ فِي الْأَرْضِ يَتَبَوَّأُ مِنْهَا حَيْثُ يَشَآءُ نُصِيبُ بِرَحْمَتِنَا مَن نَّشَآءُ وَلَا نُضِيعُ أَجْرَ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مكّنّا ليوسف في أرض مصر، ينزل منها حيث يشاء، نصيب برحمتنا من نشاء، ولا نُضيع أجر المحسنين.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وَلَأَجْرُ الْأخِرَةِ خَيْرٌ لِّلَّذِينَ ءَامَنُواْ وَكَانُواْ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ولأجر الآخرة خير للذين آمنوا وكانوا يتقون.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4400" b="1" dirty="0">
                <a:solidFill>
                  <a:schemeClr val="accent2"/>
                </a:solidFill>
                <a:latin typeface="Sakkal Majalla" pitchFamily="34" charset="0"/>
                <a:ea typeface="Sakkal Majalla" pitchFamily="34" charset="-122"/>
                <a:cs typeface="Sakkal Majalla" pitchFamily="34" charset="-120"/>
              </a:rPr>
              <a:t>لقاء الإخوة</a:t>
            </a:r>
            <a:endParaRPr lang="ar-SA" sz="4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١٢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٥٨ – ٨٢</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يوسف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قدوم إخوة يوسف لطلب الطعام، وطلبه إحضار أخيهم بنيامين، وحيلة السقاية ليبقى أخوه عنده، وحيرة الإخوة.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 إِخْوَةُ يُوسُفَ فَدَخَلُواْ عَلَيْهِ فَعَرَفَهُمْ وَهُمْ لَهُ مُنكِرُونَ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 إخوة يوسف إلى مصر يطلبون الطعام في سنوات القحط، فدخلوا عليه فعرفهم وهم لا يعرفونه.</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جَهَّزَهُم بِجَهَازِهِمْ قَالَ ائْتُونِي بِأَخٍ لَّكُم مِّنْ أَبِيكُمْ أَلَا تَرَوْنَ أَنِّي أُوفِي الْكَيْلَ وَأَنَا خَيْرُ الْمُنزِلِينَ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أعطاهم ما طلبوا من الطعام قال: ائتوني بأخيكم من أبيكم، ألا ترون أني أُتمّ الكيل وأنا خير المضيفين؟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لَّمْ تَأْتُونِي بِهِ فَلَا كَيْلَ لَكُمْ عِندِي وَلَا تَقْرَبُونِ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لم تأتوني به فلا طعام لكم عندي، ولا تقربوا بلادي.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سَنُرَٰوِدُ عَنْهُ أَبَاهُ وَإِنَّا لَفَٰعِلُونَ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سنطلبه من أبيه ونحاول إقناعه، وإنا لفاعلون.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لِفِتْيَٰنِهِ اجْعَلُواْ بِضَٰعَتَهُمْ فِي رِحَالِهِمْ لَعَلَّهُمْ يَعْرِفُونَهَآ إِذَا انقَلَبُواْ إِلَىٰ أَهْلِهِمْ 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لخدمه: ضعوا ثمن بضاعتهم في أمتعتهم، لعلهم يعرفونها إذا رجعوا إلى أهلهم، لعلهم يرجعون.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رَجَعُواْ إِلَىٰ أَبِيهِمْ قَالُواْ يَـٰأَبَانَا مُنِعَ مِنَّا الْكَيْلُ فَأَرْسِلْ مَعَنَآ أَخَانَا نَكْتَلْ وَإِنَّا لَهُ لَحَٰفِظُونَ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رجعوا إلى أبيهم قالوا: يا أبانا مُنع منا الكيل إن لم نأخذ أخانا، فأرسله معنا نأخذ الطعام، وإنا له لحافظون.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هَلْ ءَامَنُكُمْ عَلَيْهِ إِلَّا كَمَآ أَمِنتُكُمْ عَلَىٰ أَخِيهِ مِن قَبْلُ فَاللَّهُ خَيْرٌ حَٰفِظًا وَهُوَ أَرْحَمُ الرَّـٰحِمِينَ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هل آمنكم عليه إلا كما أمنتكم على أخيه يوسف من قبل؟ فالله خير حافظ، وهو أرحم الراحمين.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فَتَحُواْ مَتَٰعَهُمْ وَجَدُواْ بِضَٰعَتَهُمْ رُدَّتْ إِلَيْهِمْ قَالُواْ يَـٰأَبَانَا مَا نَبْغِي هَٰذِهِ بِضَٰعَتُنَا رُدَّتْ إِلَيْنَا وَنَمِيرُ أَهْلَنَا وَنَحْفَظُ أَخَانَا وَنَزْدَادُ كَيْلَ بَعِيرٍ ذَٰلِكَ كَيْلٌ يَسِيرٌ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فتحوا متاعهم وجدوا ثمن بضاعتهم رُدّ إليهم، قالوا: يا أبانا ماذا نطلب بعد هذا الإكرام؟ هذه بضاعتنا رُدّت إلينا، ونأتي لأهلنا بالطعام، ونحفظ أخانا، ونزداد حمل بعير، ذلك كيل سهل على الملك.</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لَنْ أُرْسِلَهُ مَعَكُمْ حَتَّىٰ تُؤْتُونِ مَوْثِقًا مِّنَ اللَّهِ لَتَأْتُنَّنِي بِهِ إِلَّآ أَن يُحَاطَ بِكُمْ فَلَمَّآ ءَاتَوْهُ مَوْثِقَهُمْ قَالَ اللَّهُ عَلَىٰ مَا نَقُولُ 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لن أرسله معكم حتى تعطوني عهدًا مؤكّدًا بالله لتأتُنّني به، إلا أن تُغلبوا جميعًا، فلما أعطوه عهدهم قال: الله على ما نقول شهيد.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يَٰبَنِيَّ لَا تَدْخُلُواْ مِن بَابٍ وَٰحِدٍ وَادْخُلُواْ مِنْ أَبْوَٰبٍ مُّتَفَرِّقَةٍ وَمَآ أُغْنِي عَنكُم مِّنَ اللَّهِ مِن شَيْءٍ إِنِ الْحُكْمُ إِلَّا لِلَّهِ عَلَيْهِ تَوَكَّلْتُ وَعَلَيْهِ فَلْيَتَوَكَّلِ الْمُتَوَكِّلُونَ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يا بنيّ لا تدخلوا من باب واحد، وادخلوا من أبواب متفرّقة خوفًا عليكم من العين، وما أُغني عنكم من الله شيئًا، ما الحكم إلا لله، عليه توكلت وعليه فليتوكل المتوكلون.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دَخَلُواْ مِنْ حَيْثُ أَمَرَهُمْ أَبُوهُم مَّا كَانَ يُغْنِي عَنْهُم مِّنَ اللَّهِ مِن شَيْءٍ إِلَّا حَاجَةً فِي نَفْسِ يَعْقُوبَ قَضَىٰهَا وَإِنَّهُ لَذُو عِلْمٍ لِّمَا عَلَّمْنَٰهُ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دخلوا من حيث أمرهم أبوهم ما كان ذلك يدفع عنهم شيئًا قدّره الله، ولكنها حاجة في نفس يعقوب قضاها، وإنه لذو علم لما علّمناه، ولكن أكثر الناس لا يعلمون.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دَخَلُواْ عَلَىٰ يُوسُفَ ءَاوَىٰ إِلَيْهِ أَخَاهُ قَالَ إِنِّي أَنَا أَخُوكَ فَلَا تَبْتَئِسْ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دخلوا على يوسف ضمّ إليه أخاه بنيامين، وقال: إني أنا أخوك يوسف، فلا تحزن بما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جَهَّزَهُم بِجَهَازِهِمْ جَعَلَ السِّقَايَةَ فِي رَحْلِ أَخِيهِ ثُمَّ أَذَّنَ مُؤَذِّنٌ أَيَّتُهَا الْعِيرُ إِنَّكُمْ لَسَٰرِقُونَ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أعطاهم الطعام وضع إناء الملك في متاع أخيه، ثم نادى منادٍ: أيتها القافلة إنكم لسارقون.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وَأَقْبَلُواْ عَلَيْهِم مَّاذَا تَفْقِدُونَ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وأقبلوا على المنادين: ماذا تفقدون؟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نَفْقِدُ صُوَاعَ الْمَلِكِ وَلِمَن جَآءَ بِهِ حِمْلُ بَعِيرٍ وَأَنَا بِهِ زَعِيمٌ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نفقد إناء الملك، ولمن جاء به حمل بعير، وأنا به كفيل.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تَاللَّهِ لَقَدْ عَلِمْتُم مَّا جِئْنَا لِنُفْسِدَ فِي الْأَرْضِ وَمَا كُنَّا سَٰرِقِينَ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والله لقد علمتم ما جئنا لنفسد في الأرض، وما كنا سارقين.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فَمَا جَزَـٰؤُهُ إِن كُنتُمْ 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فما عقوبة السارق إن كنتم كاذبين؟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جَزَـٰؤُهُ مَن وُجِدَ فِي رَحْلِهِ فَهُوَ جَزَـٰؤُهُ كَذَٰلِكَ نَجْزِي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عقوبته أن يُؤخذ من وُجد في متاعه عبدًا، كذلك نجزي الظالمين في شريعتنا.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فَبَدَأَ بِأَوْعِيَتِهِمْ قَبْلَ وِعَآءِ أَخِيهِ ثُمَّ اسْتَخْرَجَهَا مِن وِعَآءِ أَخِيهِ كَذَٰلِكَ كِدْنَا لِيُوسُفَ مَا كَانَ لِيَأْخُذَ أَخَاهُ فِي دِينِ الْمَلِكِ إِلَّآ أَن يَشَآءَ اللَّهُ نَرْفَعُ دَرَجَٰتٍ مَّن نَّشَآءُ وَفَوْقَ كُلِّ ذِي عِلْمٍ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فبدأ بتفتيش أوعيتهم قبل وعاء أخيه، ثم أخرج الإناء من وعاء أخيه، كذلك دبّرنا ليوسف، ما كان ليأخذ أخاه في قانون الملك إلا أن يشاء الله، نرفع درجات من نشاء، وفوق كل ذي علم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 يَسْرِقْ فَقَدْ سَرَقَ أَخٌ لَّهُ مِن قَبْلُ فَأَسَرَّهَا يُوسُفُ فِي نَفْسِهِ وَلَمْ يُبْدِهَا لَهُمْ قَالَ أَنتُمْ شَرٌّ مَّكَانًا وَاللَّهُ أَعْلَمُ بِمَا تَصِفُونَ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 يسرق فقد سرق أخ له من قبل، يعنون يوسف، فأخفاها يوسف في نفسه ولم يُظهرها لهم، قال في نفسه: أنتم شرّ منزلة، والله أعلم بما تصفون.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يَـٰأَيُّهَا الْعَزِيزُ إِنَّ لَهُ أَبًا شَيْخًا كَبِيرًا فَخُذْ أَحَدَنَا مَكَانَهُ إِنَّا نَرَىٰكَ مِنَ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أيها العزيز إن له أبًا شيخًا كبيرًا يحبه، فخذ أحدنا مكانه، إنا نراك من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٧٩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مَعَاذَ اللَّهِ أَن نَّأْخُذَ إِلَّا مَن وَجَدْنَا مَتَٰعَنَا عِندَهُ إِنَّآ إِذًا لَّظَٰلِمُونَ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نعوذ بالله أن نأخذ إلا من وجدنا متاعنا عنده، إنا إذًا لظالمون.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اسْتَيْـَٔسُواْ مِنْهُ خَلَصُواْ نَجِيًّا قَالَ كَبِيرُهُمْ أَلَمْ تَعْلَمُواْ أَنَّ أَبَاكُمْ قَدْ أَخَذَ عَلَيْكُم مَّوْثِقًا مِّنَ اللَّهِ وَمِن قَبْلُ مَا فَرَّطتُمْ فِي يُوسُفَ فَلَنْ أَبْرَحَ الْأَرْضَ حَتَّىٰ يَأْذَنَ لِي أَبِي أَوْ يَحْكُمَ اللَّهُ لِي وَهُوَ خَيْرُ الْحَٰكِمِينَ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يئسوا من إجابته انفردوا يتناجون، قال كبيرهم: ألم تعلموا أن أباكم أخذ عليكم عهدًا بالله، ومن قبل ما قصّرتم في يوسف؟ فلن أفارق أرض مصر حتى يأذن لي أبي أو يحكم الله لي، وهو خير الحاكمين.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ارْجِعُواْ إِلَىٰ أَبِيكُمْ فَقُولُواْ يَـٰأَبَانَآ إِنَّ ابْنَكَ سَرَقَ وَمَا شَهِدْنَآ إِلَّا بِمَا عَلِمْنَا وَمَا كُنَّا لِلْغَيْبِ حَٰفِظِينَ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ارجعوا إلى أبيكم فقولوا: يا أبانا إن ابنك سرق، وما شهدنا إلا بما علمنا، وما كنا نعلم الغيب.</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وَسْـَٔلِ الْقَرْيَةَ الَّتِي كُنَّا فِيهَا وَالْعِيرَ الَّتِي أَقْبَلْنَا فِيهَا وَإِنَّا لَصَٰدِقُونَ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واسأل أهل القرية التي كنا فيها، والقافلة التي أقبلنا معها، وإنا لصادقون.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لمّ الشمل وتحقّق الرؤيا</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١٣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٨٣ – ١١١</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يوسف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حزن يعقوب وأمله في رحمة الله، وتعريف يوسف بنفسه وعفوه عن إخوته، وعودة بصر يعقوب، وتحقّق الرؤيا، ودعاء يوسف بحسن الخاتمة.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بَلْ سَوَّلَتْ لَكُمْ أَنفُسُكُمْ أَمْرًا فَصَبْرٌ جَمِيلٌ عَسَى اللَّهُ أَن يَأْتِيَنِي بِهِمْ جَمِيعًا إِنَّهُ هُوَ الْعَلِيمُ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يعقوب: بل زيّنت لكم أنفسكم أمرًا، فصبري صبر جميل، عسى الله أن يأتيني بهم جميعًا، إنه هو العليم الحكيم.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وَتَوَلَّىٰ عَنْهُمْ وَقَالَ يَـٰأَسَفَىٰ عَلَىٰ يُوسُفَ وَابْيَضَّتْ عَيْنَاهُ مِنَ الْحُزْنِ فَهُوَ كَظِيمٌ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وأعرض عنهم وقال: يا أسفي على يوسف، وابيضّت عيناه من شدة الحزن والبكاء، فهو ممتلئ حزنًا يكتمه.</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تَاللَّهِ تَفْتَؤُاْ تَذْكُرُ يُوسُفَ حَتَّىٰ تَكُونَ حَرَضًا أَوْ تَكُونَ مِنَ الْهَٰلِكِينَ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والله لا تزال تذكر يوسف حتى تمرض أو تكون من الهالكين.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إِنَّمَآ أَشْكُواْ بَثِّي وَحُزْنِي إِلَى اللَّهِ وَأَعْلَمُ مِنَ اللَّهِ مَا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إنما أشكو همّي وحزني إلى الله وحده، وأعلم من الله ما لا تعلمون.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يَٰبَنِيَّ اذْهَبُواْ فَتَحَسَّسُواْ مِن يُوسُفَ وَأَخِيهِ وَلَا تَاْيْـَٔسُواْ مِن رَّوْحِ اللَّهِ إِنَّهُ لَا يَاْيْـَٔسُ مِن رَّوْحِ اللَّهِ إِلَّا الْقَوْمُ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بنيّ اذهبوا فابحثوا عن يوسف وأخيه، ولا تيأسوا من رحمة الله، إنه لا ييأس من رحمة الله إلا القوم الكافرون.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دَخَلُواْ عَلَيْهِ قَالُواْ يَـٰأَيُّهَا الْعَزِيزُ مَسَّنَا وَأَهْلَنَا الضُّرُّ وَجِئْنَا بِبِضَٰعَةٍ مُّزْجَىٰةٍ فَأَوْفِ لَنَا الْكَيْلَ وَتَصَدَّقْ عَلَيْنَآ إِنَّ اللَّهَ يَجْزِي الْمُتَصَدِّقِينَ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دخلوا على يوسف قالوا: يا أيها العزيز أصابنا وأهلنا الفقر، وجئنا بثمن قليل رديء، فأتمّ لنا الكيل، وتصدّق علينا، إن الله يجزي المتصدقين.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هَلْ عَلِمْتُم مَّا فَعَلْتُم بِيُوسُفَ وَأَخِيهِ إِذْ أَنتُمْ جَٰهِلُونَ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هل علمتم ما فعلتم بيوسف وأخيه حين كنتم جاهلين؟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٩٠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أَءِنَّكَ لَأَنتَ يُوسُفُ قَالَ أَنَا يُوسُفُ وَهَٰذَآ أَخِي قَدْ مَنَّ اللَّهُ عَلَيْنَآ إِنَّهُ مَن يَتَّقِ وَيَصْبِرْ فَإِنَّ اللَّهَ لَا يُضِيعُ أَجْرَ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أإنك لأنت يوسف؟ قال: أنا يوسف وهذا أخي، قد أنعم الله علينا، إنه من يتق الله ويصبر فإن الله لا يُضيع أجر المحسنين.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تَاللَّهِ لَقَدْ ءَاثَرَكَ اللَّهُ عَلَيْنَا وَإِن كُنَّا لَخَٰطِـِٔينَ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والله لقد فضّلك الله علينا، وإن كنا لمخطئين.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5420"/>
            <a:ext cx="548640" cy="548640"/>
          </a:xfrm>
          <a:prstGeom prst="star8">
            <a:avLst/>
          </a:prstGeom>
          <a:solidFill>
            <a:schemeClr val="accent2"/>
          </a:solidFill>
          <a:ln/>
        </p:spPr>
      </p:sp>
      <p:sp>
        <p:nvSpPr>
          <p:cNvPr id="6" name="Shape 4"/>
          <p:cNvSpPr/>
          <p:nvPr/>
        </p:nvSpPr>
        <p:spPr>
          <a:xfrm>
            <a:off x="11036808" y="15651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54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43713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لَا تَثْرِيبَ عَلَيْكُمُ الْيَوْمَ يَغْفِرُ اللَّهُ لَكُمْ وَهُوَ أَرْحَمُ الرَّـٰحِمِينَ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لا لوم عليكم اليوم، يغفر الله لكم، وهو أرحم الراحمين. وقالها النبي صلى الله عليه وسلم لقريش يوم فتح مكة.</a:t>
            </a:r>
            <a:endParaRPr lang="ar-SA" sz="3200" dirty="0"/>
          </a:p>
        </p:txBody>
      </p:sp>
      <p:sp>
        <p:nvSpPr>
          <p:cNvPr id="9" name="Shape 7"/>
          <p:cNvSpPr/>
          <p:nvPr/>
        </p:nvSpPr>
        <p:spPr>
          <a:xfrm>
            <a:off x="2103120" y="2956560"/>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اذْهَبُواْ بِقَمِيصِي هَٰذَا فَأَلْقُوهُ عَلَىٰ وَجْهِ أَبِي يَأْتِ بَصِيرًا وَأْتُونِي بِأَهْلِكُمْ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اذهبوا بقميصي هذا فألقوه على وجه أبي يرجع بصيرًا، وأتوني بأهلكم أجمعين.</a:t>
            </a:r>
            <a:endParaRPr lang="ar-SA" sz="3200" dirty="0"/>
          </a:p>
        </p:txBody>
      </p:sp>
      <p:sp>
        <p:nvSpPr>
          <p:cNvPr id="14" name="Shape 12"/>
          <p:cNvSpPr/>
          <p:nvPr/>
        </p:nvSpPr>
        <p:spPr>
          <a:xfrm>
            <a:off x="2103120" y="4376928"/>
            <a:ext cx="8641080" cy="0"/>
          </a:xfrm>
          <a:prstGeom prst="line">
            <a:avLst/>
          </a:prstGeom>
          <a:noFill/>
          <a:ln w="9525">
            <a:solidFill>
              <a:schemeClr val="accent2"/>
            </a:solidFill>
            <a:prstDash val="dash"/>
          </a:ln>
        </p:spPr>
      </p:sp>
      <p:sp>
        <p:nvSpPr>
          <p:cNvPr id="15" name="Shape 13"/>
          <p:cNvSpPr/>
          <p:nvPr/>
        </p:nvSpPr>
        <p:spPr>
          <a:xfrm>
            <a:off x="10927080" y="4634484"/>
            <a:ext cx="548640" cy="548640"/>
          </a:xfrm>
          <a:prstGeom prst="star8">
            <a:avLst/>
          </a:prstGeom>
          <a:solidFill>
            <a:schemeClr val="accent2"/>
          </a:solidFill>
          <a:ln/>
        </p:spPr>
      </p:sp>
      <p:sp>
        <p:nvSpPr>
          <p:cNvPr id="16" name="Shape 14"/>
          <p:cNvSpPr/>
          <p:nvPr/>
        </p:nvSpPr>
        <p:spPr>
          <a:xfrm>
            <a:off x="11036808" y="474421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344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8" name="Text 16"/>
          <p:cNvSpPr txBox="1"/>
          <p:nvPr/>
        </p:nvSpPr>
        <p:spPr>
          <a:xfrm>
            <a:off x="731520" y="461619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فَصَلَتِ الْعِيرُ قَالَ أَبُوهُمْ إِنِّي لَأَجِدُ رِيحَ يُوسُفَ لَوْلَآ أَن تُفَنِّدُونِ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خرجت القافلة من مصر قال يعقوب لمن عنده: إني لأجد رائحة يوسف، لولا أن تتّهموني بضعف العقل.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٩٥ – ٩٧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تَاللَّهِ إِنَّكَ لَفِي ضَلَٰلِكَ الْقَدِيمِ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والله إنك لفي خطئك القديم في حب يوسف.</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أَن جَآءَ الْبَشِيرُ أَلْقَىٰهُ عَلَىٰ وَجْهِهِ فَارْتَدَّ بَصِيرًا قَالَ أَلَمْ أَقُل لَّكُمْ إِنِّي أَعْلَمُ مِنَ اللَّهِ مَا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 المبشّر ألقى القميص على وجهه فرجع بصيرًا، قال: ألم أقل لكم إني أعلم من الله ما لا تعلمون؟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يَـٰأَبَانَا اسْتَغْفِرْ لَنَا ذُنُوبَنَآ إِنَّا كُنَّا خَٰطِـِٔينَ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أبانا اطلب لنا المغفرة من ذنوبنا، إنا كنا مخطئين.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٩٨ – ٩٩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سَوْفَ أَسْتَغْفِرُ لَكُمْ رَبِّي إِنَّهُ هُوَ الْغَفُورُ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سوف أستغفر لكم ربي، إنه هو الغفور الرحيم.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دَخَلُواْ عَلَىٰ يُوسُفَ ءَاوَىٰ إِلَيْهِ أَبَوَيْهِ وَقَالَ ادْخُلُواْ مِصْرَ إِن شَآءَ اللَّهُ ءَامِنِينَ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دخلوا على يوسف ضمّ إليه أبويه، وقال: ادخلوا مصر إن شاء الله آمنين.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وَرَفَعَ أَبَوَيْهِ عَلَى الْعَرْشِ وَخَرُّواْ لَهُ سُجَّدًا وَقَالَ يَـٰأَبَتِ هَٰذَا تَأْوِيلُ رُءْيَٰيَ مِن قَبْلُ قَدْ جَعَلَهَا رَبِّي حَقًّا وَقَدْ أَحْسَنَ بِي إِذْ أَخْرَجَنِي مِنَ السِّجْنِ وَجَآءَ بِكُم مِّنَ الْبَدْوِ مِن بَعْدِ أَن نَّزَغَ الشَّيْطَٰنُ بَيْنِي وَبَيْنَ إِخْوَتِي إِنَّ رَبِّي لَطِيفٌ لِّمَا يَشَآءُ إِنَّهُ هُوَ الْعَلِيمُ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ورفع أبويه على سرير الملك، وسجدوا له تحية وإكرامًا، وكان ذلك جائزًا في شريعتهم، وقال: يا أبت هذا تفسير رؤياي من قبل قد جعلها ربي حقًّا، وقد أحسن بي إذ أخرجني من السجن، وجاء بكم من البادية، من بعد أن أفسد الشيطان بيني وبين إخوتي، إن ربي لطيف لما يشاء، إنه هو العليم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قَدْ ءَاتَيْتَنِي مِنَ الْمُلْكِ وَعَلَّمْتَنِي مِن تَأْوِيلِ الْأَحَادِيثِ فَاطِرَ السَّمَٰوَٰتِ وَالْأَرْضِ أَنتَ وَلِيِّ فِي الدُّنْيَا وَالْأخِرَةِ تَوَفَّنِي مُسْلِمًا وَأَلْحِقْنِي بِالصَّـٰلِحِينَ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قد أعطيتني من الملك، وعلّمتني من تفسير الرؤى، يا خالق السماوات والأرض، أنت وليّي في الدنيا والآخرة، توفّني مسلمًا وألحقني بالصالحين.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مِنْ أَنبَآءِ الْغَيْبِ نُوحِيهِ إِلَيْكَ وَمَا كُنتَ لَدَيْهِمْ إِذْ أَجْمَعُواْ أَمْرَهُمْ وَهُمْ يَمْكُرُونَ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من أخبار الغيب نوحيه إليك يا محمد، وما كنت عندهم حين اتّفقوا على إلقاء يوسف في البئر وهم يمكرون.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أَكْثَرُ النَّاسِ وَلَوْ حَرَصْتَ بِمُؤْمِنِينَ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أكثر الناس ولو حرصت على إيمانهم بمؤمنين.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تَسْـَٔلُهُمْ عَلَيْهِ مِنْ أَجْرٍ إِنْ هُوَ إِلَّا ذِكْرٌ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تطلب منهم على القرآن من أجر، ما هو إلا تذكير للعالمين.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وَكَأَيِّن مِّنْ ءَايَةٍ فِي السَّمَٰوَٰتِ وَالْأَرْضِ يَمُرُّونَ عَلَيْهَا وَهُمْ عَنْهَا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من دليل في السماوات والأرض يمرّون عليه وهم عنه معرضون.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١٠٦ – ١٠٧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يُؤْمِنُ أَكْثَرُهُم بِاللَّهِ إِلَّا وَهُم مُّشْرِكُونَ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يؤمن أكثرهم بأن الله خالقهم إلا وهم مشركون في عبادته.</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أَفَأَمِنُواْ أَن تَأْتِيَهُمْ غَٰشِيَةٌ مِّنْ عَذَابِ اللَّهِ أَوْ تَأْتِيَهُمُ السَّاعَةُ بَغْتَةً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أفأمنوا أن يأتيهم عذاب من الله يغطّيهم، أو تأتيهم القيامة فجأة وهم لا يشعرون؟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١٠٨ –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هَٰذِهِ سَبِيلِي أَدْعُواْ إِلَى اللَّهِ عَلَىٰ بَصِيرَةٍ أَنَا وَمَنِ اتَّبَعَنِي وَسُبْحَٰنَ اللَّهِ وَمَآ أَنَا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هذه طريقتي: أدعو إلى الله على علم ويقين، أنا ومن اتّبعني، وأنزّه الله، وما أنا من المشركين.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مِن قَبْلِكَ إِلَّا رِجَالًا نُّوحِي إِلَيْهِم مِّنْ أَهْلِ الْقُرَىٰ أَفَلَمْ يَسِيرُواْ فِي الْأَرْضِ فَيَنظُرُواْ كَيْفَ كَانَ عَٰقِبَةُ الَّذِينَ مِن قَبْلِهِمْ وَلَدَارُ الْأخِرَةِ خَيْرٌ لِّلَّذِينَ اتَّقَوْاْ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قبلك إلا رجالًا نوحي إليهم من أهل المدن، أفلم يسيروا في الأرض فينظروا كيف كانت عاقبة الذين من قبلهم؟ ولَدار الآخرة خير للمتقين، أفلا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يوسف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١١٠ – ١١١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اسْتَيْـَٔسَ الرُّسُلُ وَظَنُّواْ أَنَّهُمْ قَدْ كُذِبُواْ جَآءَهُمْ نَصْرُنَا فَنُجِّيَ مَن نَّشَآءُ وَلَا يُرَدُّ بَأْسُنَا عَنِ الْقَوْمِ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يئس الرسل من إيمان قومهم، وظنّ الكفار أن الرسل كُذبوا في وعد النصر، جاءهم نصرنا، فنُجّي من نشاء، ولا يُردّ عذابنا عن القوم المجرمين.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كَانَ فِي قَصَصِهِمْ عِبْرَةٌ لِّأُوْلِي الْأَلْبَٰبِ مَا كَانَ حَدِيثًا يُفْتَرَىٰ وَلَٰكِن تَصْدِيقَ الَّذِي بَيْنَ يَدَيْهِ وَتَفْصِيلَ كُلِّ شَيْءٍ وَهُدًى وَرَحْمَةً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كان في قصص الأنبياء عبرة لأصحاب العقول، ما كان القرآن حديثًا مختلقًا، ولكن تصديق الكتب قبله، وتفصيل كل شيء، وهدى ورحمة لقوم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آيات الله ومثَل الحق والباطل</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١٤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١٨</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الرعد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عامر بن الطفيل وأربد بن ربيعة قدما على النبي صلى الله عليه وسلم يريدان الغدر به، فرجعا خائبين، فأرسل الله على أربد صاعقة فأحرقته، فنزل: ﴿ويرسل الصواعق فيصيب بها من يشاء وهم يجادلون في الله﴾.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دلائل قدرة الله في رفع السماء ومدّ الأرض واختلاف الثمار، وعلمه المحيط، والملائكة الحافظة، وتسبيح الرعد، ومثل الحق والباطل كالماء والزبد.</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المر تِلْكَ ءَايَٰتُ الْكِتَٰبِ وَالَّذِي أُنزِلَ إِلَيْكَ مِن رَّبِّكَ الْحَقُّ وَلَٰكِنَّ أَكْثَرَ النَّاسِ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تلك آيات القرآن، والذي أُنزل إليك من ربك هو الحق، ولكن أكثر الناس لا يؤمنون.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رَفَعَ السَّمَٰوَٰتِ بِغَيْرِ عَمَدٍ تَرَوْنَهَا ثُمَّ اسْتَوَىٰ عَلَى الْعَرْشِ وَسَخَّرَ الشَّمْسَ وَالْقَمَرَ كُلٌّ يَجْرِي لِأَجَلٍ مُّسَمًّى يُدَبِّرُ الْأَمْرَ يُفَصِّلُ الْأيَٰتِ لَعَلَّكُم بِلِقَآءِ رَبِّكُمْ تُوقِنُونَ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رفع السماوات بغير أعمدة ترونها، ثم علا على العرش علوًّا يليق بجلاله، وذلّل الشمس والقمر، كلٌّ يجري إلى وقت محدد، يدبّر الأمر، يبيّن الآيات لعلكم بلقاء ربكم توقنون.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مَدَّ الْأَرْضَ وَجَعَلَ فِيهَا رَوَٰسِيَ وَأَنْهَٰرًا وَمِن كُلِّ الثَّمَرَٰتِ جَعَلَ فِيهَا زَوْجَيْنِ اثْنَيْنِ يُغْشِي الَّيْلَ النَّهَارَ إِنَّ فِي ذَٰلِكَ لَأيَٰتٍ لِّقَوْمٍ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بسط الأرض، وجعل فيها جبالًا ثابتة وأنهارًا، ومن كل الثمرات جعل فيها صنفين، يُغطّي النهار بالليل، إن في ذلك لدلائل لقوم يتفكرون.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الْأَرْضِ قِطَعٌ مُّتَجَٰوِرَٰتٌ وَجَنَّـٰتٌ مِّنْ أَعْنَٰبٍ وَزَرْعٌ وَنَخِيلٌ صِنْوَانٌ وَغَيْرُ صِنْوَانٍ يُسْقَىٰ بِمَآءٍ وَٰحِدٍ وَنُفَضِّلُ بَعْضَهَا عَلَىٰ بَعْضٍ فِي الْأُكُلِ إِنَّ فِي ذَٰلِكَ لَأيَٰتٍ لِّقَوْمٍ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الأرض قطع متجاورة مختلفة في طيبها، وبساتين من أعناب، وزرع، ونخيل يجتمع منها في أصل واحد وغير مجتمع، يُسقى بماء واحد، ونفضّل بعضها على بعض في الطعم، إن في ذلك لدلائل لقوم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تَعْجَبْ فَعَجَبٌ قَوْلُهُمْ أَءِذَا كُنَّا تُرَٰبًا أَءِنَّا لَفِي خَلْقٍ جَدِيدٍ أُوْلَـٰئِكَ الَّذِينَ كَفَرُواْ بِرَبِّهِمْ وَأُوْلَـٰئِكَ الْأَغْلَٰلُ فِي أَعْنَاقِهِمْ وَأُوْلَـٰئِكَ أَصْحَٰبُ النَّارِ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تعجب يا محمد من تكذيبهم فالعجب قولهم: أإذا صرنا ترابًا أإنا لنُخلق من جديد؟ أولئك الذين كفروا بربهم، وأولئك الأغلال في أعناقهم يوم القيامة، وأولئك أصحاب النار هم فيها خالدون.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وَيَسْتَعْجِلُونَكَ بِالسَّيِّئَةِ قَبْلَ الْحَسَنَةِ وَقَدْ خَلَتْ مِن قَبْلِهِمُ الْمَثُلَٰتُ وَإِنَّ رَبَّكَ لَذُو مَغْفِرَةٍ لِّلنَّاسِ عَلَىٰ ظُلْمِهِمْ وَإِنَّ رَبَّكَ لَشَدِيدُ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ويستعجلونك بالعذاب قبل الرحمة، وقد مضت قبلهم عقوبات الأمم المكذّبة، وإن ربك لذو مغفرة للناس مع ظلمهم، وإن ربك لشديد العقاب.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 الَّذِينَ كَفَرُواْ لَوْلَآ أُنزِلَ عَلَيْهِ ءَايَةٌ مِّن رَّبِّهِ إِنَّمَآ أَنتَ مُنذِرٌ وَلِكُلِّ قَوْمٍ 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الكفار: هلّا أُنزلت عليه معجزة من ربه! إنما أنت منذر، ولكل قوم نبي يهديهم.</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يَعْلَمُ مَا تَحْمِلُ كُلُّ أُنثَىٰ وَمَا تَغِيضُ الْأَرْحَامُ وَمَا تَزْدَادُ وَكُلُّ شَيْءٍ عِندَهُ بِمِقْدَارٍ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يعلم ما تحمل كل أنثى، وما تنقص الأرحام وما تزيد في مدة الحمل، وكل شيء عنده بمقدار محدد.</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 الْغَيْبِ وَالشَّهَٰدَةِ الْكَبِيرُ الْمُتَعَالِ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عالم الغيب والشهادة، الكبير، المتعالي على خلقه.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سَوَآءٌ مِّنكُم مَّنْ أَسَرَّ الْقَوْلَ وَمَن جَهَرَ بِهِ وَمَنْ هُوَ مُسْتَخْفٍ بِالَّيْلِ وَسَارِبٌ بِالنَّهَارِ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يستوي عنده من أخفى القول ومن جهر به، ومن هو مستتر بالليل، ومن هو ظاهر بالنهار.</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مُعَقِّبَٰتٌ مِّن بَيْنِ يَدَيْهِ وَمِنْ خَلْفِهِ يَحْفَظُونَهُ مِنْ أَمْرِ اللَّهِ إِنَّ اللَّهَ لَا يُغَيِّرُ مَا بِقَوْمٍ حَتَّىٰ يُغَيِّرُواْ مَا بِأَنفُسِهِمْ وَإِذَآ أَرَادَ اللَّهُ بِقَوْمٍ سُوءًا فَلَا مَرَدَّ لَهُ وَمَا لَهُم مِّن دُونِهِ مِن وَالٍ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لكل إنسان ملائكة يتعاقبون عليه من أمامه ومن خلفه، يحفظونه بأمر الله، إن الله لا يغيّر ما بقوم من نعمة حتى يغيّروا ما بأنفسهم من الطاعة، وإذا أراد الله بقوم سوءًا فلا رادّ له، وما لهم من دونه من وليّ.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يُرِيكُمُ الْبَرْقَ خَوْفًا وَطَمَعًا وَيُنشِئُ السَّحَابَ الثِّقَالَ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يُريكم البرق خوفًا من الصواعق وطمعًا في المطر، ويُنشئ السحاب الثقيل بالماء.</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وَيُسَبِّحُ الرَّعْدُ بِحَمْدِهِ وَالْمَلَـٰئِكَةُ مِنْ خِيفَتِهِ وَيُرْسِلُ الصَّوَٰعِقَ فَيُصِيبُ بِهَا مَن يَشَآءُ وَهُمْ يُجَٰدِلُونَ فِي اللَّهِ وَهُوَ شَدِيدُ الْمِحَالِ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ويسبّح الرعد بحمده، والملائكة من خوفه، ويرسل الصواعق فيصيب بها من يشاء، وهم يجادلون في الله، وهو شديد القوة والأخذ.</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دَعْوَةُ الْحَقِّ وَالَّذِينَ يَدْعُونَ مِن دُونِهِ لَا يَسْتَجِيبُونَ لَهُم بِشَيْءٍ إِلَّا كَبَٰسِطِ كَفَّيْهِ إِلَى الْمَآءِ لِيَبْلُغَ فَاهُ وَمَا هُوَ بِبَٰلِغِهِ وَمَا دُعَآءُ الْكَٰفِرِينَ إِلَّا فِي ضَلَٰلٍ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لله وحده دعوة الحق وهي التوحيد، والذين يدعونهم من دونه لا يستجيبون لهم بشيء، إلا كمن يبسط كفّيه إلى الماء من بعيد ليصل إلى فمه وما هو بواصل، وما دعاء الكافرين إلا في ضياع.</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يَسْجُدُ مَن فِي السَّمَٰوَٰتِ وَالْأَرْضِ طَوْعًا وَكَرْهًا وَظِلَٰلُهُم بِالْغُدُوِّ وَالْأصَالِ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يسجد من في السماوات والأرض طوعًا أو كرهًا، وتسجد ظلالهم في الصباح والمساء.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رَّبُّ السَّمَٰوَٰتِ وَالْأَرْضِ قُلِ اللَّهُ قُلْ أَفَاتَّخَذْتُم مِّن دُونِهِ أَوْلِيَآءَ لَا يَمْلِكُونَ لِأَنفُسِهِمْ نَفْعًا وَلَا ضَرًّا قُلْ هَلْ يَسْتَوِي الْأَعْمَىٰ وَالْبَصِيرُ أَمْ هَلْ تَسْتَوِي الظُّلُمَٰتُ وَالنُّورُ أَمْ جَعَلُواْ لِلَّهِ شُرَكَآءَ خَلَقُواْ كَخَلْقِهِ فَتَشَٰبَهَ الْخَلْقُ عَلَيْهِمْ قُلِ اللَّهُ خَٰلِقُ كُلِّ شَيْءٍ وَهُوَ الْوَٰحِدُ الْقَهَّـٰرُ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رب السماوات والأرض؟ قل: الله، قل: أفاتخذتم من دونه آلهة لا يملكون لأنفسهم نفعًا ولا ضرًّا؟ قل: هل يستوي الأعمى والبصير؟ أم هل تستوي الظلمات والنور؟ أم جعلوا لله شركاء خلقوا مثل خلقه فاشتبه عليهم؟ قل: الله خالق كل شيء، وهو الواحد القهار.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أَنزَلَ مِنَ السَّمَآءِ مَآءً فَسَالَتْ أَوْدِيَةٌ بِقَدَرِهَا فَاحْتَمَلَ السَّيْلُ زَبَدًا رَّابِيًا وَمِمَّا يُوقِدُونَ عَلَيْهِ فِي النَّارِ ابْتِغَآءَ حِلْيَةٍ أَوْ مَتَٰعٍ زَبَدٌ مِّثْلُهُ كَذَٰلِكَ يَضْرِبُ اللَّهُ الْحَقَّ وَالْبَٰطِلَ فَأَمَّا الزَّبَدُ فَيَذْهَبُ جُفَآءً وَأَمَّا مَا يَنفَعُ النَّاسَ فَيَمْكُثُ فِي الْأَرْضِ كَذَٰلِكَ يَضْرِبُ اللَّهُ الْأَمْثَالَ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أنزل من السماء مطرًا فسالت أودية بقدر حجمها، فحمل السيل زبدًا عاليًا، ومما يوقدون عليه في النار من الذهب والفضة والحديد زبد مثله، كذلك يضرب الله المثل للحق والباطل: فأما الزبد فيذهب ضائعًا، وأما ما ينفع الناس فيبقى في الأرض، كذلك يضرب الله الأمثال.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لِلَّذِينَ اسْتَجَابُواْ لِرَبِّهِمُ الْحُسْنَىٰ وَالَّذِينَ لَمْ يَسْتَجِيبُواْ لَهُ لَوْ أَنَّ لَهُم مَّا فِي الْأَرْضِ جَمِيعًا وَمِثْلَهُ مَعَهُ لَافْتَدَوْاْ بِهِ أُوْلَـٰئِكَ لَهُمْ سُوءُ الْحِسَابِ وَمَأْوَىٰهُمْ جَهَنَّمُ وَبِئْسَ الْمِهَادُ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للذين أجابوا ربهم الجنة، والذين لم يجيبوه لو أن لهم ما في الأرض جميعًا ومثله معه لقدّموه فداءً لأنفسهم، أولئك لهم سوء الحساب، ومصيرهم جهنم، وبئس الفراش.</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صفات أولي الألباب</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١٥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١٩ – ٤٣</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الرعد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صفات أصحاب العقول: الوفاء بالعهد، وصلة الرحم، والصبر، والصلاة، والإنفاق، ودفع السيئة بالحسنة، وأن القلوب تطمئن بذكر الله.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يَعْلَمُ أَنَّمَآ أُنزِلَ إِلَيْكَ مِن رَّبِّكَ الْحَقُّ كَمَنْ هُوَ أَعْمَىٰ إِنَّمَا يَتَذَكَّرُ أُوْلُواْ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يعلم أن ما أُنزل إليك من ربك هو الحق كمن هو أعمى؟ إنما يتّعظ أصحاب العقول.</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يُوفُونَ بِعَهْدِ اللَّهِ وَلَا يَنقُضُونَ الْمِيثَٰقَ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يوفون بعهد الله، ولا ينقضون المواثيق.</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يَصِلُونَ مَآ أَمَرَ اللَّهُ بِهِ أَن يُوصَلَ وَيَخْشَوْنَ رَبَّهُمْ وَيَخَافُونَ سُوءَ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يصلون ما أمر الله بوصله كالأرحام، ويخشون ربهم، ويخافون سوء الحساب.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صَبَرُواْ ابْتِغَآءَ وَجْهِ رَبِّهِمْ وَأَقَامُواْ الصَّلَوٰةَ وَأَنفَقُواْ مِمَّا رَزَقْنَٰهُمْ سِرًّا وَعَلَانِيَةً وَيَدْرَءُونَ بِالْحَسَنَةِ السَّيِّئَةَ أُوْلَـٰئِكَ لَهُمْ عُقْبَى الدَّارِ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صبروا طلبًا لوجه ربهم، وأقاموا الصلاة، وأنفقوا مما رزقناهم سرًّا وعلانية، ويدفعون الإساءة بالإحسان، أولئك لهم العاقبة الحسنة.</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جَنَّـٰتُ عَدْنٍ يَدْخُلُونَهَا وَمَن صَلَحَ مِنْ ءَابَآئِهِمْ وَأَزْوَٰجِهِمْ وَذُرِّيَّـٰتِهِمْ وَالْمَلَـٰئِكَةُ يَدْخُلُونَ عَلَيْهِم مِّن كُلِّ بَابٍ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جنات إقامة يدخلونها، ومن صلح من آبائهم وأزواجهم وذرياتهم، والملائكة يدخلون عليهم من كل باب.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سَلَٰمٌ عَلَيْكُم بِمَا صَبَرْتُمْ فَنِعْمَ عُقْبَى الدَّارِ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يقولون: سلام عليكم بما صبرتم، فنِعم العاقبة عاقبتكم.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يَنقُضُونَ عَهْدَ اللَّهِ مِن بَعْدِ مِيثَٰقِهِ وَيَقْطَعُونَ مَآ أَمَرَ اللَّهُ بِهِ أَن يُوصَلَ وَيُفْسِدُونَ فِي الْأَرْضِ أُوْلَـٰئِكَ لَهُمُ اللَّعْنَةُ وَلَهُمْ سُوءُ الدَّارِ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ينقضون عهد الله من بعد توكيده، ويقطعون ما أمر الله به أن يوصل، ويفسدون في الأرض، أولئك لهم اللعنة، ولهم سوء العاقبة.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يَبْسُطُ الرِّزْقَ لِمَن يَشَآءُ وَيَقْدِرُ وَفَرِحُواْ بِالْحَيَوٰةِ الدُّنْيَا وَمَا الْحَيَوٰةُ الدُّنْيَا فِي الْأخِرَةِ إِلَّا مَتَٰعٌ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يوسّع الرزق لمن يشاء ويضيّقه، وفرح الكفار بالحياة الدنيا، وما الحياة الدنيا في جنب الآخرة إلا متاع قليل.</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 الَّذِينَ كَفَرُواْ لَوْلَآ أُنزِلَ عَلَيْهِ ءَايَةٌ مِّن رَّبِّهِ قُلْ إِنَّ اللَّهَ يُضِلُّ مَن يَشَآءُ وَيَهْدِي إِلَيْهِ مَنْ أَنَابَ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الكفار: هلّا أُنزلت عليه معجزة من ربه! قل: إن الله يُضل من يشاء، ويهدي إليه من رجع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ءَامَنُواْ وَتَطْمَئِنُّ قُلُوبُهُم بِذِكْرِ اللَّهِ أَلَا بِذِكْرِ اللَّهِ تَطْمَئِنُّ الْقُلُوبُ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آمنوا وتسكن قلوبهم وتأنس بذكر الله، ألا بذكر الله تطمئن القلوب.</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ءَامَنُواْ وَعَمِلُواْ الصَّـٰلِحَٰتِ طُوبَىٰ لَهُمْ وَحُسْنُ مَـَٔابٍ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المؤمنون الصالحون لهم فرح وخير وطيب عيش، وحسن مرجع في الجنة.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أَرْسَلْنَٰكَ فِي أُمَّةٍ قَدْ خَلَتْ مِن قَبْلِهَآ أُمَمٌ لِّتَتْلُوَاْ عَلَيْهِمُ الَّذِي أَوْحَيْنَآ إِلَيْكَ وَهُمْ يَكْفُرُونَ بِالرَّحْمَٰنِ قُلْ هُوَ رَبِّي لَآ إِلَٰهَ إِلَّا هُوَ عَلَيْهِ تَوَكَّلْتُ وَإِلَيْهِ مَتَابِ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أرسلناك في أمة مضت قبلها أمم، لتقرأ عليهم الذي أوحينا إليك، وهم يكفرون بالرحمن، قل: هو ربي، لا إله إلا هو، عليه توكلت وإليه توبتي.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 قُرْءَانًا سُيِّرَتْ بِهِ الْجِبَالُ أَوْ قُطِّعَتْ بِهِ الْأَرْضُ أَوْ كُلِّمَ بِهِ الْمَوْتَىٰ بَل لِّلَّهِ الْأَمْرُ جَمِيعًا أَفَلَمْ يَاْيْـَٔسِ الَّذِينَ ءَامَنُواْ أَن لَّوْ يَشَآءُ اللَّهُ لَهَدَى النَّاسَ جَمِيعًا وَلَا يَزَالُ الَّذِينَ كَفَرُواْ تُصِيبُهُم بِمَا صَنَعُواْ قَارِعَةٌ أَوْ تَحُلُّ قَرِيبًا مِّن دَارِهِمْ حَتَّىٰ يَأْتِيَ وَعْدُ اللَّهِ إِنَّ اللَّهَ لَا يُخْلِفُ الْمِيعَادَ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 قرآنًا سُيّرت به الجبال عن أماكنها، أو شُقّقت به الأرض، أو كُلّم به الموتى، لكان هذا القرآن، بل لله الأمر جميعًا، أفلم يعلم المؤمنون أن لو يشاء الله لهدى الناس جميعًا؟ ولا يزال الكفار تصيبهم بأعمالهم مصيبة، أو تنزل قريبًا من ديارهم، حتى يأتي وعد الله، إن الله لا يُخلف الميعاد.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533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اسْتُهْزِئَ بِرُسُلٍ مِّن قَبْلِكَ فَأَمْلَيْتُ لِلَّذِينَ كَفَرُواْ ثُمَّ أَخَذْتُهُمْ فَكَيْفَ كَانَ 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استُهزئ برسل قبلك فأمهلت الكفار، ثم أخذتهم، فكيف كان عقابي؟</a:t>
            </a:r>
            <a:endParaRPr lang="ar-SA" sz="3200" dirty="0"/>
          </a:p>
        </p:txBody>
      </p:sp>
      <p:sp>
        <p:nvSpPr>
          <p:cNvPr id="9" name="Shape 7"/>
          <p:cNvSpPr/>
          <p:nvPr/>
        </p:nvSpPr>
        <p:spPr>
          <a:xfrm>
            <a:off x="2103120" y="3035808"/>
            <a:ext cx="8641080" cy="0"/>
          </a:xfrm>
          <a:prstGeom prst="line">
            <a:avLst/>
          </a:prstGeom>
          <a:noFill/>
          <a:ln w="9525">
            <a:solidFill>
              <a:schemeClr val="accent2"/>
            </a:solidFill>
            <a:prstDash val="dash"/>
          </a:ln>
        </p:spPr>
      </p:sp>
      <p:sp>
        <p:nvSpPr>
          <p:cNvPr id="10" name="Shape 8"/>
          <p:cNvSpPr/>
          <p:nvPr/>
        </p:nvSpPr>
        <p:spPr>
          <a:xfrm>
            <a:off x="10927080" y="3209544"/>
            <a:ext cx="548640" cy="548640"/>
          </a:xfrm>
          <a:prstGeom prst="star8">
            <a:avLst/>
          </a:prstGeom>
          <a:solidFill>
            <a:schemeClr val="accent2"/>
          </a:solidFill>
          <a:ln/>
        </p:spPr>
      </p:sp>
      <p:sp>
        <p:nvSpPr>
          <p:cNvPr id="11" name="Shape 9"/>
          <p:cNvSpPr/>
          <p:nvPr/>
        </p:nvSpPr>
        <p:spPr>
          <a:xfrm>
            <a:off x="11036808" y="33192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095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191256"/>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هُوَ قَآئِمٌ عَلَىٰ كُلِّ نَفْسٍ بِمَا كَسَبَتْ وَجَعَلُواْ لِلَّهِ شُرَكَآءَ قُلْ سَمُّوهُمْ أَمْ تُنَبِّـُٔونَهُ بِمَا لَا يَعْلَمُ فِي الْأَرْضِ أَم بِظَٰهِرٍ مِّنَ الْقَوْلِ بَلْ زُيِّنَ لِلَّذِينَ كَفَرُواْ مَكْرُهُمْ وَصُدُّواْ عَنِ السَّبِيلِ وَمَن يُضْلِلِ اللَّهُ فَمَا لَهُ مِنْ 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هو رقيب على كل نفس بما عملت كمن لا يملك شيئًا؟ وجعلوا لله شركاء، قل: سمّوهم إن كانوا آلهة، أم تخبرون الله بما لا يعلمه في الأرض، أم تقولون كلامًا ظاهرًا بلا حقيقة؟ بل زُيّن للكفار مكرهم، وصُدّوا عن الطريق، ومن يُضلله الله فما له من هاد.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عَذَابٌ فِي الْحَيَوٰةِ الدُّنْيَا وَلَعَذَابُ الْأخِرَةِ أَشَقُّ وَمَا لَهُم مِّنَ اللَّهِ مِن وَاقٍ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عذاب في الحياة الدنيا بالقتل والأسر، ولعذاب الآخرة أشدّ مشقة، وما لهم من الله من حامٍ.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مَّثَلُ الْجَنَّةِ الَّتِي وُعِدَ الْمُتَّقُونَ تَجْرِي مِن تَحْتِهَا الْأَنْهَٰرُ أُكُلُهَا دَآئِمٌ وَظِلُّهَا تِلْكَ عُقْبَى الَّذِينَ اتَّقَواْ وَّعُقْبَى الْكَٰفِرِينَ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صفة الجنة التي وُعد المتقون: تجري من تحتها الأنهار، ثمرها دائم، وظلّها دائم، تلك عاقبة المتقين، وعاقبة الكافرين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ءَاتَيْنَٰهُمُ الْكِتَٰبَ يَفْرَحُونَ بِمَآ أُنزِلَ إِلَيْكَ وَمِنَ الْأَحْزَابِ مَن يُنكِرُ بَعْضَهُ قُلْ إِنَّمَآ أُمِرْتُ أَنْ أَعْبُدَ اللَّهَ وَلَآ أُشْرِكَ بِهِ إِلَيْهِ أَدْعُواْ وَإِلَيْهِ مَـَٔابِ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والمؤمنون من أهل الكتاب يفرحون بما أُنزل إليك، ومن الأحزاب من يُنكر بعضه، قل: إنما أُمرت أن أعبد الله ولا أشرك به، إليه أدعو، وإليه مرجعي.</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أَنزَلْنَٰهُ حُكْمًا عَرَبِيًّا وَلَئِنِ اتَّبَعْتَ أَهْوَآءَهُم بَعْدَ مَا جَآءَكَ مِنَ الْعِلْمِ مَا لَكَ مِنَ اللَّهِ مِن وَلِيٍّ وَلَا وَاقٍ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وكما أنزلنا الكتب السابقة أنزلنا القرآن حُكمًا بلغة العرب، ولئن اتّبعت أهواءهم بعد ما جاءك من العلم ما لك من الله من وليّ ولا حامٍ.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رُسُلًا مِّن قَبْلِكَ وَجَعَلْنَا لَهُمْ أَزْوَٰجًا وَذُرِّيَّةً وَمَا كَانَ لِرَسُولٍ أَن يَأْتِيَ بِـَٔايَةٍ إِلَّا بِإِذْنِ اللَّهِ لِكُلِّ أَجَلٍ كِتَابٌ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رسلًا قبلك بشرًا، وجعلنا لهم أزواجًا وذرية، وما كان لرسول أن يأتي بمعجزة إلا بإذن الله، لكل أمر وقت مكتوب.</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يَمْحُواْ اللَّهُ مَا يَشَآءُ وَيُثْبِتُ وَعِندَهُ أُمُّ الْكِتَٰبِ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يمحو الله ما يشاء من الأحكام والأقدار ويُثبت ما يشاء، وعنده أصل الكتاب وهو اللوح المحفوظ.</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مَّا نُرِيَنَّكَ بَعْضَ الَّذِي نَعِدُهُمْ أَوْ نَتَوَفَّيَنَّكَ فَإِنَّمَا عَلَيْكَ الْبَلَٰغُ وَعَلَيْنَا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أريناك بعض الذي نعدهم من العذاب، أو توفّيناك قبل ذلك، فإنما عليك التبليغ، وعلينا الحساب.</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أَنَّا نَأْتِي الْأَرْضَ نَنقُصُهَا مِنْ أَطْرَافِهَا وَاللَّهُ يَحْكُمُ لَا مُعَقِّبَ لِحُكْمِهِ وَهُوَ سَرِيعُ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يروا أنا نأتي أرض الكفار فننقصها من أطرافها بفتوح المسلمين؟ والله يحكم، لا رادّ لحكمه، وهو سريع الحساب.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الرعد</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وَقَدْ مَكَرَ الَّذِينَ مِن قَبْلِهِمْ فَلِلَّهِ الْمَكْرُ جَمِيعًا يَعْلَمُ مَا تَكْسِبُ كُلُّ نَفْسٍ وَسَيَعْلَمُ الْكُفَّـٰرُ لِمَنْ عُقْبَى الدَّارِ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 مكر الكفار الذين من قبلهم برسلهم، فلله التدبير كله، يعلم ما تكسب كل نفس، وسيعلم الكافر لمن العاقبة الحسنة.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 الَّذِينَ كَفَرُواْ لَسْتَ مُرْسَلًا قُلْ كَفَىٰ بِاللَّهِ شَهِيدًا بَيْنِي وَبَيْنَكُمْ وَمَنْ عِندَهُ عِلْمُ الْكِتَٰبِ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الكفار: لست مرسلًا، قل: كفى بالله شاهدًا بيني وبينكم، ومن عنده علم الكتاب من المؤمنين من أهل الكتاب.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دعوة الرسل والكلمة الطيبة</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١٦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٢٧</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إبراهيم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إخراج الناس من الظلمات إلى النور، والشكر سبب الزيادة، وحوار الرسل مع أقوامهم، وخطبة الشيطان يوم القيامة، ومثل الكلمة الطيبة كالشجرة الطيبة.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 كِتَٰبٌ أَنزَلْنَٰهُ إِلَيْكَ لِتُخْرِجَ النَّاسَ مِنَ الظُّلُمَٰتِ إِلَى النُّورِ بِإِذْنِ رَبِّهِمْ إِلَىٰ صِرَٰطِ الْعَزِيزِ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هذا كتاب أنزلناه إليك لتُخرج الناس من ظلمات الكفر إلى نور الإيمان بإذن ربهم، إلى طريق الله العزيز المحمود.</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لَهُ مَا فِي السَّمَٰوَٰتِ وَمَا فِي الْأَرْضِ وَوَيْلٌ لِّلْكَٰفِرِينَ مِنْ عَذَابٍ 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له ما في السماوات وما في الأرض، وهلاك للكافرين من عذاب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يَسْتَحِبُّونَ الْحَيَوٰةَ الدُّنْيَا عَلَى الْأخِرَةِ وَيَصُدُّونَ عَن سَبِيلِ اللَّهِ وَيَبْغُونَهَا عِوَجًا أُوْلَـٰئِكَ فِي ضَلَٰلٍ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يُفضّلون الحياة الدنيا على الآخرة، ويصدّون عن دين الله، ويريدونه معوجًّا، أولئك في ضلال بعيد.</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مِن رَّسُولٍ إِلَّا بِلِسَانِ قَوْمِهِ لِيُبَيِّنَ لَهُمْ فَيُضِلُّ اللَّهُ مَن يَشَآءُ وَيَهْدِي مَن يَشَآءُ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من رسول إلا بلغة قومه ليبيّن لهم، فيُضل الله من يشاء ويهدي من يشاء، وهو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مُوسَىٰ بِـَٔايَٰتِنَآ أَنْ أَخْرِجْ قَوْمَكَ مِنَ الظُّلُمَٰتِ إِلَى النُّورِ وَذَكِّرْهُم بِأَيَّىٰمِ اللَّهِ إِنَّ فِي ذَٰلِكَ لَأيَٰتٍ لِّكُلِّ صَبَّارٍ شَكُورٍ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موسى بمعجزاتنا: أن أخرج قومك من الظلمات إلى النور، وذكّرهم بنعم الله ونقمه في الأيام الماضية، إن في ذلك لدلائل لكل صبّار على البلاء، شكور على النعماء.</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مُوسَىٰ لِقَوْمِهِ اذْكُرُواْ نِعْمَةَ اللَّهِ عَلَيْكُمْ إِذْ أَنجَىٰكُم مِّنْ ءَالِ فِرْعَوْنَ يَسُومُونَكُمْ سُوءَ الْعَذَابِ وَيُذَبِّحُونَ أَبْنَآءَكُمْ وَيَسْتَحْيُونَ نِسَآءَكُمْ وَفِي ذَٰلِكُم بَلَآءٌ مِّن رَّبِّكُمْ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موسى لقومه: اذكروا نعمة الله عليكم إذ أنجاكم من آل فرعون يُذيقونكم أسوأ العذاب، ويذبحون أبناءكم ويتركون نساءكم أحياء، وفي ذلك اختبار عظيم من ربكم.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تَأَذَّنَ رَبُّكُمْ لَئِن شَكَرْتُمْ لَأَزِيدَنَّكُمْ وَلَئِن كَفَرْتُمْ إِنَّ عَذَابِي لَشَدِيدٌ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واذكروا حين أعلن ربكم: لئن شكرتم نعمتي لأزيدنّكم منها، ولئن جحدتموها إن عذابي لشديد.</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مُوسَىٰ إِن تَكْفُرُواْ أَنتُمْ وَمَن فِي الْأَرْضِ جَمِيعًا فَإِنَّ اللَّهَ لَغَنِيٌّ 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موسى: إن تكفروا أنتم ومن في الأرض جميعًا فإن الله غني عنكم، محمود.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يَأْتِكُمْ نَبَؤُاْ الَّذِينَ مِن قَبْلِكُمْ قَوْمِ نُوحٍ وَعَادٍ وَثَمُودَ وَالَّذِينَ مِن بَعْدِهِمْ لَا يَعْلَمُهُمْ إِلَّا اللَّهُ جَآءَتْهُمْ رُسُلُهُم بِالْبَيِّنَٰتِ فَرَدُّواْ أَيْدِيَهُمْ فِي أَفْوَٰهِهِمْ وَقَالُواْ إِنَّا كَفَرْنَا بِمَآ أُرْسِلْتُم بِهِ وَإِنَّا لَفِي شَكٍّ مِّمَّا تَدْعُونَنَآ إِلَيْهِ مُرِيبٍ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يأتكم خبر الأمم قبلكم: قوم نوح وعاد وثمود ومن بعدهم لا يعلم عددهم إلا الله؟ جاءتهم رسلهم بالمعجزات، فوضعوا أيديهم على أفواههم غيظًا وتكذيبًا، وقالوا: إنا كفرنا بما أُرسلتم به، وإنا لفي شك مما تدعوننا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203</a:t>
            </a:fld>
            <a:endParaRPr 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رُسُلُهُمْ أَفِي اللَّهِ شَكٌّ فَاطِرِ السَّمَٰوَٰتِ وَالْأَرْضِ يَدْعُوكُمْ لِيَغْفِرَ لَكُم مِّن ذُنُوبِكُمْ وَيُؤَخِّرَكُمْ إِلَىٰ أَجَلٍ مُّسَمًّى قَالُواْ إِنْ أَنتُمْ إِلَّا بَشَرٌ مِّثْلُنَا تُرِيدُونَ أَن تَصُدُّونَا عَمَّا كَانَ يَعْبُدُ ءَابَآؤُنَا فَأْتُونَا بِسُلْطَٰنٍ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رسلهم: أفي وجود الله شك وهو خالق السماوات والأرض؟ يدعوكم ليغفر لكم ذنوبكم، ويؤخّركم إلى آجالكم، قالوا: ما أنتم إلا بشر مثلنا، تريدون أن تصرفونا عما كان يعبد آباؤنا، فأتونا بحجة واضحة.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لَهُمْ رُسُلُهُمْ إِن نَّحْنُ إِلَّا بَشَرٌ مِّثْلُكُمْ وَلَٰكِنَّ اللَّهَ يَمُنُّ عَلَىٰ مَن يَشَآءُ مِنْ عِبَادِهِ وَمَا كَانَ لَنَآ أَن نَّأْتِيَكُم بِسُلْطَٰنٍ إِلَّا بِإِذْنِ اللَّهِ وَعَلَى اللَّهِ فَلْيَتَوَكَّلِ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لهم رسلهم: ما نحن إلا بشر مثلكم، ولكن الله يُنعم بالنبوة على من يشاء من عباده، وما ينبغي لنا أن نأتيكم بمعجزة إلا بإذن الله، وعلى الله فليتوكل المؤمنون.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لَنَآ أَلَّا نَتَوَكَّلَ عَلَى اللَّهِ وَقَدْ هَدَىٰنَا سُبُلَنَا وَلَنَصْبِرَنَّ عَلَىٰ مَآ ءَاذَيْتُمُونَا وَعَلَى اللَّهِ فَلْيَتَوَكَّلِ الْمُتَوَكِّلُونَ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لنا لا نتوكّل على الله وقد هدانا طرق النجاة؟ ولنصبرنّ على أذاكم، وعلى الله فليتوكل المتوكلون.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لِرُسُلِهِمْ لَنُخْرِجَنَّكُم مِّنْ أَرْضِنَآ أَوْ لَتَعُودُنَّ فِي مِلَّتِنَا فَأَوْحَىٰ إِلَيْهِمْ رَبُّهُمْ لَنُهْلِكَنَّ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لرسلهم: لنُخرجنّكم من أرضنا أو لترجعُنّ إلى ديننا، فأوحى إليهم ربهم: لنُهلكنّ الظالمين.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وَلَنُسْكِنَنَّكُمُ الْأَرْضَ مِن بَعْدِهِمْ ذَٰلِكَ لِمَنْ خَافَ مَقَامِي وَخَافَ وَعِيدِ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ولنُسكننّكم الأرض من بعدهم، ذلك لمن خاف وقوفه بين يديّ، وخاف وعيدي.</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وَاسْتَفْتَحُواْ وَخَابَ كُلُّ جَبَّارٍ عَنِيدٍ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وطلب الرسل النصر من الله، وخسر كل متكبّر معاند.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206</a:t>
            </a:fld>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وَرَآئِهِ جَهَنَّمُ وَيُسْقَىٰ مِن مَّآءٍ صَدِيدٍ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أمامه جهنم، ويُسقى فيها من صديد أهل النار.</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يَتَجَرَّعُهُ وَلَا يَكَادُ يُسِيغُهُ وَيَأْتِيهِ الْمَوْتُ مِن كُلِّ مَكَانٍ وَمَا هُوَ بِمَيِّتٍ وَمِن وَرَآئِهِ عَذَابٌ غَلِيظٌ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يشربه جرعة بعد جرعة ولا يكاد يبتلعه لقبحه، ويأتيه الموت من كل جهة وما هو بميت، ومن ورائه عذاب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مَّثَلُ الَّذِينَ كَفَرُواْ بِرَبِّهِمْ أَعْمَٰلُهُمْ كَرَمَادٍ اشْتَدَّتْ بِهِ الرِّيحُ فِي يَوْمٍ عَاصِفٍ لَّا يَقْدِرُونَ مِمَّا كَسَبُواْ عَلَىٰ شَيْءٍ ذَٰلِكَ هُوَ الضَّلَٰلُ الْبَعِيدُ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 أعمال الكفار كرماد اشتدّت به الريح في يوم عاصف فطيّرته، لا يقدرون على شيء من ثوابها، ذلك هو الضلال البعيد.</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خَلَقَ السَّمَٰوَٰتِ وَالْأَرْضَ بِالْحَقِّ إِن يَشَأْ يُذْهِبْكُمْ وَيَأْتِ بِخَلْقٍ جَدِيدٍ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الله خلق السماوات والأرض بالحق؟ إن يشأ يُهلككم ويأتِ بخلق جديد.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208</a:t>
            </a:fld>
            <a:endParaRPr 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ذَٰلِكَ عَلَى اللَّهِ بِعَزِيزٍ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ذلك على الله بصعب.</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وَبَرَزُواْ لِلَّهِ جَمِيعًا فَقَالَ الضُّعَفَـٰؤُاْ لِلَّذِينَ اسْتَكْبَرُواْ إِنَّا كُنَّا لَكُمْ تَبَعًا فَهَلْ أَنتُم مُّغْنُونَ عَنَّا مِنْ عَذَابِ اللَّهِ مِن شَيْءٍ قَالُواْ لَوْ هَدَىٰنَا اللَّهُ لَهَدَيْنَٰكُمْ سَوَآءٌ عَلَيْنَآ أَجَزِعْنَآ أَمْ صَبَرْنَا مَا لَنَا مِن مَّحِيصٍ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وخرجوا من قبورهم لله جميعًا، فقال الضعفاء للمتكبّرين: إنا كنا لكم أتباعًا، فهل أنتم دافعون عنا من عذاب الله شيئًا؟ قالوا: لو هدانا الله لهديناكم، يستوي علينا أجزعنا أم صبرنا، ما لنا من مهرب.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209</a:t>
            </a:fld>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الشَّيْطَٰنُ لَمَّا قُضِيَ الْأَمْرُ إِنَّ اللَّهَ وَعَدَكُمْ وَعْدَ الْحَقِّ وَوَعَدتُّكُمْ فَأَخْلَفْتُكُمْ وَمَا كَانَ لِيَ عَلَيْكُم مِّن سُلْطَٰنٍ إِلَّآ أَن دَعَوْتُكُمْ فَاسْتَجَبْتُمْ لِي فَلَا تَلُومُونِي وَلُومُواْ أَنفُسَكُم مَّآ أَنَا بِمُصْرِخِكُمْ وَمَآ أَنتُم بِمُصْرِخِيَّ إِنِّي كَفَرْتُ بِمَآ أَشْرَكْتُمُونِ مِن قَبْلُ إِنَّ الظَّـٰلِمِينَ 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الشيطان لأتباعه بعد أن قُضي الأمر: إن الله وعدكم وعد الحق فصدقكم، ووعدتكم فأخلفتكم، وما كان لي عليكم من سلطة إلا أن دعوتكم فاستجبتم لي، فلا تلوموني ولوموا أنفسكم، ما أنا بمُغيثكم وما أنتم بمُغيثيّ، إني تبرّأت من جعلكم إياي شريكًا لله، إن الظالمين لهم عذاب موجع.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210</a:t>
            </a:fld>
            <a:endParaRPr 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وَأُدْخِلَ الَّذِينَ ءَامَنُواْ وَعَمِلُواْ الصَّـٰلِحَٰتِ جَنَّـٰتٍ تَجْرِي مِن تَحْتِهَا الْأَنْهَٰرُ خَٰلِدِينَ فِيهَا بِإِذْنِ رَبِّهِمْ تَحِيَّتُهُمْ فِيهَا سَلَٰمٌ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وأُدخل المؤمنون الصالحون جنات تجري من تحتها الأنهار خالدين فيها بإذن ربهم، تحيّتهم فيها سلام.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كَيْفَ ضَرَبَ اللَّهُ مَثَلًا كَلِمَةً طَيِّبَةً كَشَجَرَةٍ طَيِّبَةٍ أَصْلُهَا ثَابِتٌ وَفَرْعُهَا فِي السَّمَآءِ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كيف ضرب الله مثلًا لكلمة التوحيد «لا إله إلا الله» كشجرة طيبة وهي النخلة، أصلها ثابت في الأرض، وفروعها عالية في السماء؟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211</a:t>
            </a:fld>
            <a:endParaRPr 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3959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تُؤْتِي أُكُلَهَا كُلَّ حِينٍ بِإِذْنِ رَبِّهَا وَيَضْرِبُ اللَّهُ الْأَمْثَالَ لِلنَّاسِ لَعَلَّهُمْ يَتَذَكَّرُونَ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تُعطي ثمرها كل وقت بإذن ربها، وكذلك المؤمن عمله صاعد في كل وقت، ويضرب الله الأمثال للناس لعلهم يتذكرون.</a:t>
            </a:r>
            <a:endParaRPr lang="ar-SA" sz="3200" dirty="0"/>
          </a:p>
        </p:txBody>
      </p:sp>
      <p:sp>
        <p:nvSpPr>
          <p:cNvPr id="9" name="Shape 7"/>
          <p:cNvSpPr/>
          <p:nvPr/>
        </p:nvSpPr>
        <p:spPr>
          <a:xfrm>
            <a:off x="2103120" y="2761488"/>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وَمَثَلُ كَلِمَةٍ خَبِيثَةٍ كَشَجَرَةٍ خَبِيثَةٍ اجْتُثَّتْ مِن فَوْقِ الْأَرْضِ مَا لَهَا مِن قَرَارٍ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ومثل كلمة الكفر كشجرة خبيثة اقتُلعت من فوق الأرض، ما لها من ثبات.</a:t>
            </a:r>
            <a:endParaRPr lang="ar-SA" sz="3200" dirty="0"/>
          </a:p>
        </p:txBody>
      </p:sp>
      <p:sp>
        <p:nvSpPr>
          <p:cNvPr id="14" name="Shape 12"/>
          <p:cNvSpPr/>
          <p:nvPr/>
        </p:nvSpPr>
        <p:spPr>
          <a:xfrm>
            <a:off x="2103120" y="3986784"/>
            <a:ext cx="8641080" cy="0"/>
          </a:xfrm>
          <a:prstGeom prst="line">
            <a:avLst/>
          </a:prstGeom>
          <a:noFill/>
          <a:ln w="9525">
            <a:solidFill>
              <a:schemeClr val="accent2"/>
            </a:solidFill>
            <a:prstDash val="dash"/>
          </a:ln>
        </p:spPr>
      </p:sp>
      <p:sp>
        <p:nvSpPr>
          <p:cNvPr id="15" name="Shape 13"/>
          <p:cNvSpPr/>
          <p:nvPr/>
        </p:nvSpPr>
        <p:spPr>
          <a:xfrm>
            <a:off x="10927080" y="4146804"/>
            <a:ext cx="548640" cy="548640"/>
          </a:xfrm>
          <a:prstGeom prst="star8">
            <a:avLst/>
          </a:prstGeom>
          <a:solidFill>
            <a:schemeClr val="accent2"/>
          </a:solidFill>
          <a:ln/>
        </p:spPr>
      </p:sp>
      <p:sp>
        <p:nvSpPr>
          <p:cNvPr id="16" name="Shape 14"/>
          <p:cNvSpPr/>
          <p:nvPr/>
        </p:nvSpPr>
        <p:spPr>
          <a:xfrm>
            <a:off x="11036808" y="425653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1468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1285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يُثَبِّتُ اللَّهُ الَّذِينَ ءَامَنُواْ بِالْقَوْلِ الثَّابِتِ فِي الْحَيَوٰةِ الدُّنْيَا وَفِي الْأخِرَةِ وَيُضِلُّ اللَّهُ الظَّـٰلِمِينَ وَيَفْعَلُ اللَّهُ مَا يَشَآءُ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يثبّت الله المؤمنين بكلمة التوحيد في الحياة الدنيا، وفي القبر عند السؤال، ويُضل الله الظالمين، ويفعل الله ما يشاء. قال النبي صلى الله عليه وسلم: نزلت في عذاب القبر (البخاري ومسلم).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212</a:t>
            </a:fld>
            <a:endParaRPr lang="en-US"/>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نعم الله ودعاء إبراهيم</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١٧ من ١٧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٢٨ – ٥٢</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إبراهيم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نعم الله التي لا تُحصى، ودعاء إبراهيم الخليل لمكة وذريته بالأمن والصلاة والرزق، ومشاهد يوم القيامة.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بَدَّلُواْ نِعْمَتَ اللَّهِ كُفْرًا وَأَحَلُّواْ قَوْمَهُمْ دَارَ الْبَوَارِ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الذين بدّلوا نعمة الله بالكفر، كزعماء قريش، وأنزلوا قومهم دار الهلاك؟</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جَهَنَّمَ يَصْلَوْنَهَا وَبِئْسَ الْقَرَارُ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جهنم يدخلونها، وبئس المستقر.</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وَجَعَلُواْ لِلَّهِ أَندَادًا لِّيُضِلُّواْ عَن سَبِيلِهِ قُلْ تَمَتَّعُواْ فَإِنَّ مَصِيرَكُمْ إِلَى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وجعلوا لله شركاء ليُضلّوا عن دينه، قل: تمتّعوا قليلًا، فإن مصيركم إلى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لِّعِبَادِيَ الَّذِينَ ءَامَنُواْ يُقِيمُواْ الصَّلَوٰةَ وَيُنفِقُواْ مِمَّا رَزَقْنَٰهُمْ سِرًّا وَعَلَانِيَةً مِّن قَبْلِ أَن يَأْتِيَ يَوْمٌ لَّا بَيْعٌ فِيهِ وَلَا خِلَٰلٌ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لعبادي المؤمنين: يقيموا الصلاة، وينفقوا مما رزقناهم سرًّا وعلانية، من قبل أن يأتي يوم القيامة الذي لا بيع فيه ولا صداقة تنفع.</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خَلَقَ السَّمَٰوَٰتِ وَالْأَرْضَ وَأَنزَلَ مِنَ السَّمَآءِ مَآءً فَأَخْرَجَ بِهِ مِنَ الثَّمَرَٰتِ رِزْقًا لَّكُمْ وَسَخَّرَ لَكُمُ الْفُلْكَ لِتَجْرِيَ فِي الْبَحْرِ بِأَمْرِهِ وَسَخَّرَ لَكُمُ الْأَنْهَٰرَ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خلق السماوات والأرض، وأنزل من السماء مطرًا فأخرج به من الثمرات رزقًا لكم، وذلّل لكم السفن لتجري في البحر بأمره، وذلّل لكم الأنهار.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215</a:t>
            </a:fld>
            <a:endParaRPr lang="en-US"/>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وَسَخَّرَ لَكُمُ الشَّمْسَ وَالْقَمَرَ دَآئِبَيْنِ وَسَخَّرَ لَكُمُ الَّيْلَ وَالنَّهَارَ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وذلّل لكم الشمس والقمر يجريان دائمًا لا يتوقّفان، وذلّل لكم الليل والنهار.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وَءَاتَىٰكُم مِّن كُلِّ مَا سَأَلْتُمُوهُ وَإِن تَعُدُّواْ نِعْمَتَ اللَّهِ لَا تُحْصُوهَآ إِنَّ الْإِنسَٰنَ لَظَلُومٌ كَفَّارٌ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وأعطاكم من كل ما طلبتموه، وإن تعدّوا نعمة الله لا تستطيعوا حصرها، إن الإنسان لكثير الظلم، كثير الجحود.</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إِبْرَٰهِيمُ رَبِّ اجْعَلْ هَٰذَا الْبَلَدَ ءَامِنًا وَاجْنُبْنِي وَبَنِيَّ أَن نَّعْبُدَ الْأَصْنَامَ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إبراهيم: رب اجعل مكة بلدًا آمنًا، وأبعدني وأبنائي عن عبادة الأصنام.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216</a:t>
            </a:fld>
            <a:endParaRPr lang="en-US"/>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إِنَّهُنَّ أَضْلَلْنَ كَثِيرًا مِّنَ النَّاسِ فَمَن تَبِعَنِي فَإِنَّهُ مِنِّي وَمَنْ عَصَانِي فَإِنَّكَ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إن الأصنام أضللن كثيرًا من الناس، فمن تبعني على التوحيد فإنه مني، ومن عصاني فإنك غفور رحيم.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إِنِّي أَسْكَنتُ مِن ذُرِّيَّتِي بِوَادٍ غَيْرِ ذِي زَرْعٍ عِندَ بَيْتِكَ الْمُحَرَّمِ رَبَّنَا لِيُقِيمُواْ الصَّلَوٰةَ فَاجْعَلْ أَفْـِٔدَةً مِّنَ النَّاسِ تَهْوِي إِلَيْهِمْ وَارْزُقْهُم مِّنَ الثَّمَرَٰتِ لَعَلَّهُمْ يَشْكُرُونَ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إني أسكنت بعض ذريتي إسماعيل وأمه بوادٍ لا زرع فيه عند بيتك المحرّم، ربنا ليقيموا الصلاة، فاجعل قلوب بعض الناس تحنّ إليهم، وارزقهم من الثمرات لعلهم يشكرون.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217</a:t>
            </a:fld>
            <a:endParaRPr lang="en-US"/>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إِنَّكَ تَعْلَمُ مَا نُخْفِي وَمَا نُعْلِنُ وَمَا يَخْفَىٰ عَلَى اللَّهِ مِن شَيْءٍ فِي الْأَرْضِ وَلَا فِي السَّمَآءِ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إنك تعلم ما نُخفي وما نُظهر، وما يخفى على الله من شيء في الأرض ولا في السماء.</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الْحَمْدُ لِلَّهِ الَّذِي وَهَبَ لِي عَلَى الْكِبَرِ إِسْمَٰعِيلَ وَإِسْحَٰقَ إِنَّ رَبِّي لَسَمِيعُ الدُّعَآءِ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الحمد لله الذي وهب لي على كِبَر سنّي إسماعيل وإسحاق، إن ربي لسميع الدعاء.</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اجْعَلْنِي مُقِيمَ الصَّلَوٰةِ وَمِن ذُرِّيَّتِي رَبَّنَا وَتَقَبَّلْ دُعَآءِ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اجعلني مقيمًا للصلاة، واجعل من ذريتي من يقيمها، ربنا وتقبّل دعائي.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218</a:t>
            </a:fld>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اغْفِرْ لِي وَلِوَٰلِدَيَّ وَلِلْمُؤْمِنِينَ يَوْمَ يَقُومُ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اغفر لي ولوالديّ وللمؤمنين يوم يقوم الحساب. وكان ذلك قبل أن يتبيّن له أن أباه عدو لله.</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تَحْسَبَنَّ اللَّهَ غَٰفِلًا عَمَّا يَعْمَلُ الظَّـٰلِمُونَ إِنَّمَا يُؤَخِّرُهُمْ لِيَوْمٍ تَشْخَصُ فِيهِ الْأَبْصَٰرُ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تظننّ الله غافلًا عما يعمل الظالمون، إنما يؤخّرهم ليوم ترتفع فيه الأبصار وتتجمّد من الهول.</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مُهْطِعِينَ مُقْنِعِي رُءُوسِهِمْ لَا يَرْتَدُّ إِلَيْهِمْ طَرْفُهُمْ وَأَفْـِٔدَتُهُمْ هَوَآءٌ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مسرعين، رافعي رؤوسهم، لا ترمش أعينهم، وقلوبهم خالية من شدة الخوف.</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219</a:t>
            </a:fld>
            <a:endParaRPr lang="en-US"/>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وَأَنذِرِ النَّاسَ يَوْمَ يَأْتِيهِمُ الْعَذَابُ فَيَقُولُ الَّذِينَ ظَلَمُواْ رَبَّنَآ أَخِّرْنَآ إِلَىٰ أَجَلٍ قَرِيبٍ نُّجِبْ دَعْوَتَكَ وَنَتَّبِعِ الرُّسُلَ أَوَلَمْ تَكُونُواْ أَقْسَمْتُم مِّن قَبْلُ مَا لَكُم مِّن زَوَالٍ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وأنذر الناس يوم يأتيهم العذاب، فيقول الظالمون: ربنا أخّرنا إلى مدة قصيرة، نُجب دعوتك ونتّبع الرسل، فيُقال لهم: أولم تحلفوا من قبل أنكم لن تزولوا من الدنيا إلى الآخرة؟</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وَسَكَنتُمْ فِي مَسَٰكِنِ الَّذِينَ ظَلَمُواْ أَنفُسَهُمْ وَتَبَيَّنَ لَكُمْ كَيْفَ فَعَلْنَا بِهِمْ وَضَرَبْنَا لَكُمُ الْأَمْثَالَ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وسكنتم في مساكن الأمم الظالمة قبلكم، وتبيّن لكم كيف أهلكناهم، وبيّنّا لكم الأمثال.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220</a:t>
            </a:fld>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60020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وَقَدْ مَكَرُواْ مَكْرَهُمْ وَعِندَ اللَّهِ مَكْرُهُمْ وَإِن كَانَ مَكْرُهُمْ لِتَزُولَ مِنْهُ الْجِبَالُ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 مكروا مكرهم الشديد، وعند الله جزاء مكرهم، وإن كان مكرهم من شدّته يكاد يُزيل الجبال، فلا يضرّ إلا أصحابه.</a:t>
            </a:r>
            <a:endParaRPr lang="ar-SA" sz="3200" dirty="0"/>
          </a:p>
        </p:txBody>
      </p:sp>
      <p:sp>
        <p:nvSpPr>
          <p:cNvPr id="9" name="Shape 7"/>
          <p:cNvSpPr/>
          <p:nvPr/>
        </p:nvSpPr>
        <p:spPr>
          <a:xfrm>
            <a:off x="2103120" y="3122676"/>
            <a:ext cx="8641080" cy="0"/>
          </a:xfrm>
          <a:prstGeom prst="line">
            <a:avLst/>
          </a:prstGeom>
          <a:noFill/>
          <a:ln w="9525">
            <a:solidFill>
              <a:schemeClr val="accent2"/>
            </a:solidFill>
            <a:prstDash val="dash"/>
          </a:ln>
        </p:spPr>
      </p:sp>
      <p:sp>
        <p:nvSpPr>
          <p:cNvPr id="10" name="Shape 8"/>
          <p:cNvSpPr/>
          <p:nvPr/>
        </p:nvSpPr>
        <p:spPr>
          <a:xfrm>
            <a:off x="10927080" y="3383280"/>
            <a:ext cx="548640" cy="548640"/>
          </a:xfrm>
          <a:prstGeom prst="star8">
            <a:avLst/>
          </a:prstGeom>
          <a:solidFill>
            <a:schemeClr val="accent2"/>
          </a:solidFill>
          <a:ln/>
        </p:spPr>
      </p:sp>
      <p:sp>
        <p:nvSpPr>
          <p:cNvPr id="11" name="Shape 9"/>
          <p:cNvSpPr/>
          <p:nvPr/>
        </p:nvSpPr>
        <p:spPr>
          <a:xfrm>
            <a:off x="11036808" y="34930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832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3649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تَحْسَبَنَّ اللَّهَ مُخْلِفَ وَعْدِهِ رُسُلَهُ إِنَّ اللَّهَ عَزِيزٌ ذُو انتِقَامٍ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تظننّ الله مُخلف وعده لرسله بالنصر، إن الله عزيز ذو انتقام.</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تُبَدَّلُ الْأَرْضُ غَيْرَ الْأَرْضِ وَالسَّمَٰوَٰتُ وَبَرَزُواْ لِلَّهِ الْوَٰحِدِ الْقَهَّارِ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تُبدّل الأرض بأرض أخرى، والسماوات كذلك، وخرج الخلائق من قبورهم لله الواحد القهار.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221</a:t>
            </a:fld>
            <a:endParaRPr 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إبراهيم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وَتَرَى الْمُجْرِمِينَ يَوْمَئِذٍ مُّقَرَّنِينَ فِي الْأَصْفَادِ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وترى المجرمين يومئذ مقرونين بعضهم مع بعض في القيود.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سَرَابِيلُهُم مِّن قَطِرَانٍ وَتَغْشَىٰ وُجُوهَهُمُ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ثيابهم من قطران شديد الاشتعال، وتغطّي وجوههم النار.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لِيَجْزِيَ اللَّهُ كُلَّ نَفْسٍ مَّا كَسَبَتْ إِنَّ اللَّهَ سَرِيعُ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ليجزي الله كل نفس بما عملت، إن الله سريع الحساب.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بَلَٰغٌ لِّلنَّاسِ وَلِيُنذَرُواْ بِهِ وَلِيَعْلَمُواْ أَنَّمَا هُوَ إِلَٰهٌ وَٰحِدٌ وَلِيَذَّكَّرَ أُوْلُواْ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بلاغ للناس، ولينذروا به، وليعلموا أنما هو إله واحد، وليتّعظ أصحاب العقول.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222</a:t>
            </a:fld>
            <a:endParaRPr 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spTree>
      <p:nvGrpSpPr>
        <p:cNvPr id="1" name=""/>
        <p:cNvGrpSpPr/>
        <p:nvPr/>
      </p:nvGrpSpPr>
      <p:grpSpPr>
        <a:xfrm>
          <a:off x="0" y="0"/>
          <a:ext cx="0" cy="0"/>
          <a:chOff x="0" y="0"/>
          <a:chExt cx="0" cy="0"/>
        </a:xfrm>
      </p:grpSpPr>
      <p:pic>
        <p:nvPicPr>
          <p:cNvPr id="2" name="Image 0" descr="assets1014/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1014/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Yunus to Ibrahim Tafsir">
  <a:themeElements>
    <a:clrScheme name="Yunus to Ibrahim Tafsir">
      <a:dk1>
        <a:srgbClr val="222B27"/>
      </a:dk1>
      <a:lt1>
        <a:srgbClr val="FFFFFF"/>
      </a:lt1>
      <a:dk2>
        <a:srgbClr val="0F6B4F"/>
      </a:dk2>
      <a:lt2>
        <a:srgbClr val="F5FBF8"/>
      </a:lt2>
      <a:accent1>
        <a:srgbClr val="0F6B4F"/>
      </a:accent1>
      <a:accent2>
        <a:srgbClr val="C9A04A"/>
      </a:accent2>
      <a:accent3>
        <a:srgbClr val="1C8763"/>
      </a:accent3>
      <a:accent4>
        <a:srgbClr val="5F6B66"/>
      </a:accent4>
      <a:accent5>
        <a:srgbClr val="E3F1EB"/>
      </a:accent5>
      <a:accent6>
        <a:srgbClr val="8A2F2A"/>
      </a:accent6>
      <a:hlink>
        <a:srgbClr val="1C8763"/>
      </a:hlink>
      <a:folHlink>
        <a:srgbClr val="5F6B66"/>
      </a:folHlink>
    </a:clrScheme>
    <a:fontScheme name="Yunus to Ibrahim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223</Slides>
  <Notes>223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223</vt:i4>
      </vt:variant>
    </vt:vector>
  </HeadingPairs>
  <TitlesOfParts>
    <vt:vector size="2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 يونس وهود ويوسف والرعد وإبراهيم — مبسّط من تفسير ابن كثير</dc:title>
  <dc:subject>PptxGenJS Presentation</dc:subject>
  <dc:creator>معلم القرآن الكريم</dc:creator>
  <cp:lastModifiedBy>معلم القرآن الكريم</cp:lastModifiedBy>
  <cp:revision>1</cp:revision>
  <dcterms:created xsi:type="dcterms:W3CDTF">2026-10-03T22:23:34Z</dcterms:created>
  <dcterms:modified xsi:type="dcterms:W3CDTF">2026-10-03T22:23:34Z</dcterms:modified>
</cp:coreProperties>
</file>