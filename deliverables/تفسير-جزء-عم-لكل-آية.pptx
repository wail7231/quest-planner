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Lst>
  <p:notesMasterIdLst>
    <p:notesMasterId r:id="rId2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8d6ffa1c-e785-a13c-1b2b-178f79ed5770}">
          <p14:sldIdLst>
            <p14:sldId id="256"/>
            <p14:sldId id="257"/>
            <p14:sldId id="258"/>
          </p14:sldIdLst>
        </p14:section>
        <p14:section name="سورة الناس" id="{c1641cc0-a899-7d96-c7bf-f9c49117135a}">
          <p14:sldIdLst>
            <p14:sldId id="259"/>
            <p14:sldId id="260"/>
            <p14:sldId id="261"/>
          </p14:sldIdLst>
        </p14:section>
        <p14:section name="سورة الفلق" id="{1099a01a-353b-6757-c8b4-65945752e8bf}">
          <p14:sldIdLst>
            <p14:sldId id="262"/>
            <p14:sldId id="263"/>
            <p14:sldId id="264"/>
          </p14:sldIdLst>
        </p14:section>
        <p14:section name="سورة الإخلاص" id="{5b81fd3d-143f-923a-81f5-c36954692f97}">
          <p14:sldIdLst>
            <p14:sldId id="265"/>
            <p14:sldId id="266"/>
          </p14:sldIdLst>
        </p14:section>
        <p14:section name="سورة المسد" id="{3fe652a4-564a-3f31-8ccc-9bb680f4a78d}">
          <p14:sldIdLst>
            <p14:sldId id="267"/>
            <p14:sldId id="268"/>
            <p14:sldId id="269"/>
          </p14:sldIdLst>
        </p14:section>
        <p14:section name="سورة النصر" id="{fe742a52-6b94-932f-45a7-244c91abb01f}">
          <p14:sldIdLst>
            <p14:sldId id="270"/>
            <p14:sldId id="271"/>
          </p14:sldIdLst>
        </p14:section>
        <p14:section name="سورة الكافرون" id="{da4bdab4-4f03-f4d7-11b2-fa5554cb1b17}">
          <p14:sldIdLst>
            <p14:sldId id="272"/>
            <p14:sldId id="273"/>
            <p14:sldId id="274"/>
          </p14:sldIdLst>
        </p14:section>
        <p14:section name="سورة الكوثر" id="{65bce29f-5f22-20d8-0d15-695e96ede0f5}">
          <p14:sldIdLst>
            <p14:sldId id="275"/>
            <p14:sldId id="276"/>
          </p14:sldIdLst>
        </p14:section>
        <p14:section name="سورة الماعون" id="{bf07c802-6288-01bc-948d-5621e7d97acc}">
          <p14:sldIdLst>
            <p14:sldId id="277"/>
            <p14:sldId id="278"/>
            <p14:sldId id="279"/>
          </p14:sldIdLst>
        </p14:section>
        <p14:section name="سورة قريش" id="{f93452e3-9f1e-8b47-8f01-ae1ceacce9e2}">
          <p14:sldIdLst>
            <p14:sldId id="280"/>
            <p14:sldId id="281"/>
          </p14:sldIdLst>
        </p14:section>
        <p14:section name="سورة الفيل" id="{a02cc604-b98b-8542-6422-2136b1c9cf0e}">
          <p14:sldIdLst>
            <p14:sldId id="282"/>
            <p14:sldId id="283"/>
            <p14:sldId id="284"/>
          </p14:sldIdLst>
        </p14:section>
        <p14:section name="سورة الهمزة" id="{eb854fb6-7939-2162-ac6c-e2a703f04c9e}">
          <p14:sldIdLst>
            <p14:sldId id="285"/>
            <p14:sldId id="286"/>
            <p14:sldId id="287"/>
            <p14:sldId id="288"/>
          </p14:sldIdLst>
        </p14:section>
        <p14:section name="سورة العصر" id="{05c2e2ac-4030-4446-96e9-977ce28f8ae6}">
          <p14:sldIdLst>
            <p14:sldId id="289"/>
            <p14:sldId id="290"/>
          </p14:sldIdLst>
        </p14:section>
        <p14:section name="سورة التكاثر" id="{73999320-460e-8526-fab6-072d334ebc6c}">
          <p14:sldIdLst>
            <p14:sldId id="291"/>
            <p14:sldId id="292"/>
            <p14:sldId id="293"/>
          </p14:sldIdLst>
        </p14:section>
        <p14:section name="سورة القارعة" id="{630a0c76-e4e4-0b98-e6a9-2907d85ca79d}">
          <p14:sldIdLst>
            <p14:sldId id="294"/>
            <p14:sldId id="295"/>
            <p14:sldId id="296"/>
            <p14:sldId id="297"/>
          </p14:sldIdLst>
        </p14:section>
        <p14:section name="سورة العاديات" id="{734acb50-6d0d-98af-6607-242670c87b54}">
          <p14:sldIdLst>
            <p14:sldId id="298"/>
            <p14:sldId id="299"/>
            <p14:sldId id="300"/>
            <p14:sldId id="301"/>
          </p14:sldIdLst>
        </p14:section>
        <p14:section name="سورة الزلزلة" id="{5948f142-5f59-df3e-9a64-af7fd9b0cf71}">
          <p14:sldIdLst>
            <p14:sldId id="302"/>
            <p14:sldId id="303"/>
            <p14:sldId id="304"/>
          </p14:sldIdLst>
        </p14:section>
        <p14:section name="سورة البينة" id="{6a6064d1-e14a-5679-a8a8-3b8945363efa}">
          <p14:sldIdLst>
            <p14:sldId id="305"/>
            <p14:sldId id="306"/>
            <p14:sldId id="307"/>
            <p14:sldId id="308"/>
            <p14:sldId id="309"/>
          </p14:sldIdLst>
        </p14:section>
        <p14:section name="سورة القدر" id="{b8bbe2f5-8047-3115-c1d6-aa45ee141e53}">
          <p14:sldIdLst>
            <p14:sldId id="310"/>
            <p14:sldId id="311"/>
            <p14:sldId id="312"/>
          </p14:sldIdLst>
        </p14:section>
        <p14:section name="سورة العلق" id="{ce41d0f1-bf8c-bb38-9092-d3e3230fc0dd}">
          <p14:sldIdLst>
            <p14:sldId id="313"/>
            <p14:sldId id="314"/>
            <p14:sldId id="315"/>
            <p14:sldId id="316"/>
            <p14:sldId id="317"/>
            <p14:sldId id="318"/>
          </p14:sldIdLst>
        </p14:section>
        <p14:section name="سورة التين" id="{7b4b399a-64e3-2191-3db1-faa54ddb6be4}">
          <p14:sldIdLst>
            <p14:sldId id="319"/>
            <p14:sldId id="320"/>
            <p14:sldId id="321"/>
            <p14:sldId id="322"/>
          </p14:sldIdLst>
        </p14:section>
        <p14:section name="سورة الشرح" id="{a34fa380-036c-4322-f8fd-53889dc21170}">
          <p14:sldIdLst>
            <p14:sldId id="323"/>
            <p14:sldId id="324"/>
            <p14:sldId id="325"/>
          </p14:sldIdLst>
        </p14:section>
        <p14:section name="سورة الضحى" id="{711029f6-b839-e102-68f1-ba39b0972844}">
          <p14:sldIdLst>
            <p14:sldId id="326"/>
            <p14:sldId id="327"/>
            <p14:sldId id="328"/>
            <p14:sldId id="329"/>
          </p14:sldIdLst>
        </p14:section>
        <p14:section name="سورة الليل" id="{f1e94c39-54bb-7eca-b77a-3c62dad827ae}">
          <p14:sldIdLst>
            <p14:sldId id="330"/>
            <p14:sldId id="331"/>
            <p14:sldId id="332"/>
            <p14:sldId id="333"/>
            <p14:sldId id="334"/>
            <p14:sldId id="335"/>
            <p14:sldId id="336"/>
          </p14:sldIdLst>
        </p14:section>
        <p14:section name="سورة الشمس" id="{356bafdb-7766-f093-507e-08fe64e8d618}">
          <p14:sldIdLst>
            <p14:sldId id="337"/>
            <p14:sldId id="338"/>
            <p14:sldId id="339"/>
            <p14:sldId id="340"/>
            <p14:sldId id="341"/>
          </p14:sldIdLst>
        </p14:section>
        <p14:section name="سورة البلد" id="{fe25b6fd-165a-1b3e-8996-e43b934853da}">
          <p14:sldIdLst>
            <p14:sldId id="342"/>
            <p14:sldId id="343"/>
            <p14:sldId id="344"/>
            <p14:sldId id="345"/>
            <p14:sldId id="346"/>
            <p14:sldId id="347"/>
          </p14:sldIdLst>
        </p14:section>
        <p14:section name="سورة الفجر" id="{756d85d7-a8b7-6512-9e6f-1a1bed6e6dde}">
          <p14:sldIdLst>
            <p14:sldId id="348"/>
            <p14:sldId id="349"/>
            <p14:sldId id="350"/>
            <p14:sldId id="351"/>
            <p14:sldId id="352"/>
            <p14:sldId id="353"/>
            <p14:sldId id="354"/>
            <p14:sldId id="355"/>
            <p14:sldId id="356"/>
          </p14:sldIdLst>
        </p14:section>
        <p14:section name="سورة الغاشية" id="{1a87b49b-d12c-894d-d063-6992d0870d8c}">
          <p14:sldIdLst>
            <p14:sldId id="357"/>
            <p14:sldId id="358"/>
            <p14:sldId id="359"/>
            <p14:sldId id="360"/>
            <p14:sldId id="361"/>
            <p14:sldId id="362"/>
            <p14:sldId id="363"/>
            <p14:sldId id="364"/>
          </p14:sldIdLst>
        </p14:section>
        <p14:section name="سورة الأعلى" id="{d0c06ea9-94cb-03ce-71a3-b472948f4554}">
          <p14:sldIdLst>
            <p14:sldId id="365"/>
            <p14:sldId id="366"/>
            <p14:sldId id="367"/>
            <p14:sldId id="368"/>
            <p14:sldId id="369"/>
            <p14:sldId id="370"/>
          </p14:sldIdLst>
        </p14:section>
        <p14:section name="سورة الطارق" id="{9436c1db-62df-3a59-a0dd-b966ea8d0a58}">
          <p14:sldIdLst>
            <p14:sldId id="371"/>
            <p14:sldId id="372"/>
            <p14:sldId id="373"/>
            <p14:sldId id="374"/>
            <p14:sldId id="375"/>
            <p14:sldId id="376"/>
          </p14:sldIdLst>
        </p14:section>
        <p14:section name="سورة البروج" id="{5b01c020-b73c-cb77-3d15-2d17c05fd3c7}">
          <p14:sldIdLst>
            <p14:sldId id="377"/>
            <p14:sldId id="378"/>
            <p14:sldId id="379"/>
            <p14:sldId id="380"/>
            <p14:sldId id="381"/>
            <p14:sldId id="382"/>
            <p14:sldId id="383"/>
            <p14:sldId id="384"/>
          </p14:sldIdLst>
        </p14:section>
        <p14:section name="سورة الانشقاق" id="{2619f476-dbe2-a58b-f77c-dd5cc732c216}">
          <p14:sldIdLst>
            <p14:sldId id="385"/>
            <p14:sldId id="386"/>
            <p14:sldId id="387"/>
            <p14:sldId id="388"/>
            <p14:sldId id="389"/>
            <p14:sldId id="390"/>
            <p14:sldId id="391"/>
            <p14:sldId id="392"/>
          </p14:sldIdLst>
        </p14:section>
        <p14:section name="سورة المطففين" id="{7a5271cb-c697-e069-fe06-bb7567bae448}">
          <p14:sldIdLst>
            <p14:sldId id="393"/>
            <p14:sldId id="394"/>
            <p14:sldId id="395"/>
            <p14:sldId id="396"/>
            <p14:sldId id="397"/>
            <p14:sldId id="398"/>
            <p14:sldId id="399"/>
            <p14:sldId id="400"/>
            <p14:sldId id="401"/>
            <p14:sldId id="402"/>
          </p14:sldIdLst>
        </p14:section>
        <p14:section name="سورة الانفطار" id="{e2d7544c-a6ad-22ab-1bff-7e61fa2cf329}">
          <p14:sldIdLst>
            <p14:sldId id="403"/>
            <p14:sldId id="404"/>
            <p14:sldId id="405"/>
            <p14:sldId id="406"/>
            <p14:sldId id="407"/>
            <p14:sldId id="408"/>
          </p14:sldIdLst>
        </p14:section>
        <p14:section name="سورة التكوير" id="{97019318-31dd-472b-de6c-02f5ccde1c65}">
          <p14:sldIdLst>
            <p14:sldId id="409"/>
            <p14:sldId id="410"/>
            <p14:sldId id="411"/>
            <p14:sldId id="412"/>
            <p14:sldId id="413"/>
            <p14:sldId id="414"/>
            <p14:sldId id="415"/>
            <p14:sldId id="416"/>
            <p14:sldId id="417"/>
          </p14:sldIdLst>
        </p14:section>
        <p14:section name="سورة عبس" id="{5b502dce-6fbc-0713-d845-e4f7cf56d5ea}">
          <p14:sldIdLst>
            <p14:sldId id="418"/>
            <p14:sldId id="419"/>
            <p14:sldId id="420"/>
            <p14:sldId id="421"/>
            <p14:sldId id="422"/>
            <p14:sldId id="423"/>
            <p14:sldId id="424"/>
            <p14:sldId id="425"/>
            <p14:sldId id="426"/>
            <p14:sldId id="427"/>
            <p14:sldId id="428"/>
            <p14:sldId id="429"/>
          </p14:sldIdLst>
        </p14:section>
        <p14:section name="سورة النازعات" id="{78a02811-8819-cfa2-0cd6-a8d8195d8c40}">
          <p14:sldIdLst>
            <p14:sldId id="430"/>
            <p14:sldId id="431"/>
            <p14:sldId id="432"/>
            <p14:sldId id="433"/>
            <p14:sldId id="434"/>
            <p14:sldId id="435"/>
            <p14:sldId id="436"/>
            <p14:sldId id="437"/>
            <p14:sldId id="438"/>
            <p14:sldId id="439"/>
            <p14:sldId id="440"/>
            <p14:sldId id="441"/>
            <p14:sldId id="442"/>
          </p14:sldIdLst>
        </p14:section>
        <p14:section name="سورة النبأ" id="{74c5e2be-c99d-7698-86ce-65c79492622e}">
          <p14:sldIdLst>
            <p14:sldId id="443"/>
            <p14:sldId id="444"/>
            <p14:sldId id="445"/>
            <p14:sldId id="446"/>
            <p14:sldId id="447"/>
            <p14:sldId id="448"/>
            <p14:sldId id="449"/>
            <p14:sldId id="450"/>
            <p14:sldId id="451"/>
            <p14:sldId id="452"/>
            <p14:sldId id="453"/>
            <p14:sldId id="454"/>
          </p14:sldIdLst>
        </p14:section>
        <p14:section name="الخاتمة" id="{30d8a965-bb26-e625-6317-9a3199566a10}">
          <p14:sldIdLst>
            <p14:sldId id="4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notesMaster" Target="notesMasters/notesMaster1.xml"/><Relationship Id="rId203" Type="http://schemas.openxmlformats.org/officeDocument/2006/relationships/presProps" Target="presProps.xml"/><Relationship Id="rId204" Type="http://schemas.openxmlformats.org/officeDocument/2006/relationships/viewProps" Target="viewProps.xml"/><Relationship Id="rId205" Type="http://schemas.openxmlformats.org/officeDocument/2006/relationships/theme" Target="theme/theme1.xml"/><Relationship Id="rId20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الناس ثم نصعد سورةً سورة حتى نصل إلى سورة النبأ،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بأي صفات الله نستعيذ في هذه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ثلاثة شرور نستعيذ منها في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معنى «الصمد»؟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تُعدّ هذه السورة من دلائل صدق النبوة؟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الذي أمر الله به نبيه ﷺ عند مجيء النصر؟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متى كان النبي ﷺ يقرأ هذه السورة مع سورة الإخلاص؟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الكوثر؟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صفتين من صفات من يكذّب بالدين.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رحلتا قريش؟ وإلى أين كانت كل منهما؟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أراد أبرهة؟ وكيف أهلكه الله؟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الفرق بين الهمز واللمز؟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الشروط الأربعة للنجاة من الخسارة؟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عن أي شيء سيُسأل الإنسان في آخر السورة؟ اذكر أمثلة.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شبّهت السورة الناس والجبال بشيئين، ما 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معنى «كنود»؟ وكيف نتجنب هذه الصفة؟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تشهد الأرض على الإنسان يوم القيامة؟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الأمر الذي اجتمعت عليه دعوة جميع الرسل كما في الآية؟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كانت ليلة القدر خيرًا من ألف شهر؟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أين نزلت أول آيات القرآن؟ وما هي؟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الأماكن الثلاثة التي أقسم الله بها على قول بعض الأئمة؟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رفع الله ذكر نبيه ﷺ؟ اذكر مثالًا.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الأوامر الثلاثة في آخر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الصفات الثلاث لمن ييسره الله لليسرى؟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الدعاء النبوي المناسب لموضوع هذه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الأعمال التي يقتحم بها المؤمن العقبة؟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هل كثرة المال دليل على محبة الله؟ ولماذا؟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أربعة مخلوقات دعت السورة إلى التفكر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الذكر الذي نقوله في السجود؟ ومن أين أُخذ؟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معنى «يوم تبلى السرائر»؟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فعل الغلام ليؤمن الناس بالله؟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الفرق بين من يأخذ كتابه بيمينه ومن يأخذه وراء ظهره؟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معنى «ران على قلوبهم»؟ وكيف نحمي قلوبنا منه؟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هم «الكرام الكاتبون»؟ وما أثر معرفتهم على سلوكك؟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مشهدين من مشاهد يوم القيامة في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عاتب الله نبيه ﷺ في بداية السورة؟ وما الدرس لنا؟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وصف الله من يكون مأواه الجنة؟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ثلاثًا من نعم الله التي عددتها السورة دليلًا على البعث.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png"/><Relationship Id="rId2" Type="http://schemas.openxmlformats.org/officeDocument/2006/relationships/image" Target="../media/image-200-2.png"/><Relationship Id="rId3" Type="http://schemas.openxmlformats.org/officeDocument/2006/relationships/slideLayout" Target="../slideLayouts/slideLayout4.xml"/><Relationship Id="rId4" Type="http://schemas.openxmlformats.org/officeDocument/2006/relationships/notesSlide" Target="../notesSlides/notesSlide20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عمّ</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الناس إلى سورة النبأ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الأخضر</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عمّ</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الناس صعودًا إلى سورة النبأ</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الناس</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الفلق</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الإخلاص</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المسد</a:t>
            </a:r>
            <a:endParaRPr lang="ar-SA" sz="1500" dirty="0"/>
          </a:p>
        </p:txBody>
      </p:sp>
      <p:sp>
        <p:nvSpPr>
          <p:cNvPr id="12" name="Shape 10"/>
          <p:cNvSpPr/>
          <p:nvPr/>
        </p:nvSpPr>
        <p:spPr>
          <a:xfrm>
            <a:off x="4765396" y="1920240"/>
            <a:ext cx="1298448" cy="530352"/>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4765396"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٥  </a:t>
            </a:r>
            <a:pPr rtl="1" algn="ctr" indent="0" marL="0">
              <a:buNone/>
            </a:pPr>
            <a:r>
              <a:rPr lang="ar-SA" altLang="en-US" sz="1500" b="1" dirty="0">
                <a:solidFill>
                  <a:schemeClr val="tx2"/>
                </a:solidFill>
              </a:rPr>
              <a:t>النصر</a:t>
            </a:r>
            <a:endParaRPr lang="ar-SA" sz="1500" dirty="0"/>
          </a:p>
        </p:txBody>
      </p:sp>
      <p:sp>
        <p:nvSpPr>
          <p:cNvPr id="14" name="Shape 12"/>
          <p:cNvSpPr/>
          <p:nvPr/>
        </p:nvSpPr>
        <p:spPr>
          <a:xfrm>
            <a:off x="3402940" y="1920240"/>
            <a:ext cx="1298448" cy="530352"/>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0294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٦  </a:t>
            </a:r>
            <a:pPr rtl="1" algn="ctr" indent="0" marL="0">
              <a:buNone/>
            </a:pPr>
            <a:r>
              <a:rPr lang="ar-SA" altLang="en-US" sz="1500" b="1" dirty="0">
                <a:solidFill>
                  <a:schemeClr val="tx2"/>
                </a:solidFill>
              </a:rPr>
              <a:t>الكافرون</a:t>
            </a:r>
            <a:endParaRPr lang="ar-SA" sz="1500" dirty="0"/>
          </a:p>
        </p:txBody>
      </p:sp>
      <p:sp>
        <p:nvSpPr>
          <p:cNvPr id="16" name="Shape 14"/>
          <p:cNvSpPr/>
          <p:nvPr/>
        </p:nvSpPr>
        <p:spPr>
          <a:xfrm>
            <a:off x="2040484" y="1920240"/>
            <a:ext cx="1298448" cy="530352"/>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204048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٧  </a:t>
            </a:r>
            <a:pPr rtl="1" algn="ctr" indent="0" marL="0">
              <a:buNone/>
            </a:pPr>
            <a:r>
              <a:rPr lang="ar-SA" altLang="en-US" sz="1500" b="1" dirty="0">
                <a:solidFill>
                  <a:schemeClr val="tx2"/>
                </a:solidFill>
              </a:rPr>
              <a:t>الكوثر</a:t>
            </a:r>
            <a:endParaRPr lang="ar-SA" sz="1500" dirty="0"/>
          </a:p>
        </p:txBody>
      </p:sp>
      <p:sp>
        <p:nvSpPr>
          <p:cNvPr id="18" name="Shape 16"/>
          <p:cNvSpPr/>
          <p:nvPr/>
        </p:nvSpPr>
        <p:spPr>
          <a:xfrm>
            <a:off x="678028" y="1920240"/>
            <a:ext cx="1298448" cy="530352"/>
          </a:xfrm>
          <a:prstGeom prst="roundRect">
            <a:avLst>
              <a:gd name="adj" fmla="val 50000"/>
            </a:avLst>
          </a:prstGeom>
          <a:solidFill>
            <a:schemeClr val="accent5"/>
          </a:solidFill>
          <a:ln w="12700">
            <a:solidFill>
              <a:schemeClr val="accent2"/>
            </a:solidFill>
            <a:prstDash val="solid"/>
          </a:ln>
        </p:spPr>
      </p:sp>
      <p:sp>
        <p:nvSpPr>
          <p:cNvPr id="19" name="Text 17"/>
          <p:cNvSpPr txBox="1"/>
          <p:nvPr/>
        </p:nvSpPr>
        <p:spPr>
          <a:xfrm>
            <a:off x="67802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٨  </a:t>
            </a:r>
            <a:pPr rtl="1" algn="ctr" indent="0" marL="0">
              <a:buNone/>
            </a:pPr>
            <a:r>
              <a:rPr lang="ar-SA" altLang="en-US" sz="1500" b="1" dirty="0">
                <a:solidFill>
                  <a:schemeClr val="tx2"/>
                </a:solidFill>
              </a:rPr>
              <a:t>الماعون</a:t>
            </a:r>
            <a:endParaRPr lang="ar-SA" sz="1500" dirty="0"/>
          </a:p>
        </p:txBody>
      </p:sp>
      <p:sp>
        <p:nvSpPr>
          <p:cNvPr id="20" name="Shape 18"/>
          <p:cNvSpPr/>
          <p:nvPr/>
        </p:nvSpPr>
        <p:spPr>
          <a:xfrm>
            <a:off x="10215220" y="2578608"/>
            <a:ext cx="1298448" cy="530352"/>
          </a:xfrm>
          <a:prstGeom prst="roundRect">
            <a:avLst>
              <a:gd name="adj" fmla="val 50000"/>
            </a:avLst>
          </a:prstGeom>
          <a:solidFill>
            <a:schemeClr val="bg1"/>
          </a:solidFill>
          <a:ln w="12700">
            <a:solidFill>
              <a:schemeClr val="accent2"/>
            </a:solidFill>
            <a:prstDash val="solid"/>
          </a:ln>
        </p:spPr>
      </p:sp>
      <p:sp>
        <p:nvSpPr>
          <p:cNvPr id="21" name="Text 19"/>
          <p:cNvSpPr txBox="1"/>
          <p:nvPr/>
        </p:nvSpPr>
        <p:spPr>
          <a:xfrm>
            <a:off x="10215220"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٩  </a:t>
            </a:r>
            <a:pPr rtl="1" algn="ctr" indent="0" marL="0">
              <a:buNone/>
            </a:pPr>
            <a:r>
              <a:rPr lang="ar-SA" altLang="en-US" sz="1500" b="1" dirty="0">
                <a:solidFill>
                  <a:schemeClr val="tx2"/>
                </a:solidFill>
              </a:rPr>
              <a:t>قريش</a:t>
            </a:r>
            <a:endParaRPr lang="ar-SA" sz="1500" dirty="0"/>
          </a:p>
        </p:txBody>
      </p:sp>
      <p:sp>
        <p:nvSpPr>
          <p:cNvPr id="22" name="Shape 20"/>
          <p:cNvSpPr/>
          <p:nvPr/>
        </p:nvSpPr>
        <p:spPr>
          <a:xfrm>
            <a:off x="8852764" y="2578608"/>
            <a:ext cx="1298448" cy="530352"/>
          </a:xfrm>
          <a:prstGeom prst="roundRect">
            <a:avLst>
              <a:gd name="adj" fmla="val 50000"/>
            </a:avLst>
          </a:prstGeom>
          <a:solidFill>
            <a:schemeClr val="accent5"/>
          </a:solidFill>
          <a:ln w="12700">
            <a:solidFill>
              <a:schemeClr val="accent2"/>
            </a:solidFill>
            <a:prstDash val="solid"/>
          </a:ln>
        </p:spPr>
      </p:sp>
      <p:sp>
        <p:nvSpPr>
          <p:cNvPr id="23" name="Text 21"/>
          <p:cNvSpPr txBox="1"/>
          <p:nvPr/>
        </p:nvSpPr>
        <p:spPr>
          <a:xfrm>
            <a:off x="8852764"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١٠  </a:t>
            </a:r>
            <a:pPr rtl="1" algn="ctr" indent="0" marL="0">
              <a:buNone/>
            </a:pPr>
            <a:r>
              <a:rPr lang="ar-SA" altLang="en-US" sz="1500" b="1" dirty="0">
                <a:solidFill>
                  <a:schemeClr val="tx2"/>
                </a:solidFill>
              </a:rPr>
              <a:t>الفيل</a:t>
            </a:r>
            <a:endParaRPr lang="ar-SA" sz="1500" dirty="0"/>
          </a:p>
        </p:txBody>
      </p:sp>
      <p:sp>
        <p:nvSpPr>
          <p:cNvPr id="24" name="Shape 22"/>
          <p:cNvSpPr/>
          <p:nvPr/>
        </p:nvSpPr>
        <p:spPr>
          <a:xfrm>
            <a:off x="7490308" y="2578608"/>
            <a:ext cx="1298448" cy="530352"/>
          </a:xfrm>
          <a:prstGeom prst="roundRect">
            <a:avLst>
              <a:gd name="adj" fmla="val 50000"/>
            </a:avLst>
          </a:prstGeom>
          <a:solidFill>
            <a:schemeClr val="bg1"/>
          </a:solidFill>
          <a:ln w="12700">
            <a:solidFill>
              <a:schemeClr val="accent2"/>
            </a:solidFill>
            <a:prstDash val="solid"/>
          </a:ln>
        </p:spPr>
      </p:sp>
      <p:sp>
        <p:nvSpPr>
          <p:cNvPr id="25" name="Text 23"/>
          <p:cNvSpPr txBox="1"/>
          <p:nvPr/>
        </p:nvSpPr>
        <p:spPr>
          <a:xfrm>
            <a:off x="7490308"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١١  </a:t>
            </a:r>
            <a:pPr rtl="1" algn="ctr" indent="0" marL="0">
              <a:buNone/>
            </a:pPr>
            <a:r>
              <a:rPr lang="ar-SA" altLang="en-US" sz="1500" b="1" dirty="0">
                <a:solidFill>
                  <a:schemeClr val="tx2"/>
                </a:solidFill>
              </a:rPr>
              <a:t>الهمزة</a:t>
            </a:r>
            <a:endParaRPr lang="ar-SA" sz="1500" dirty="0"/>
          </a:p>
        </p:txBody>
      </p:sp>
      <p:sp>
        <p:nvSpPr>
          <p:cNvPr id="26" name="Shape 24"/>
          <p:cNvSpPr/>
          <p:nvPr/>
        </p:nvSpPr>
        <p:spPr>
          <a:xfrm>
            <a:off x="6127852" y="2578608"/>
            <a:ext cx="1298448" cy="530352"/>
          </a:xfrm>
          <a:prstGeom prst="roundRect">
            <a:avLst>
              <a:gd name="adj" fmla="val 50000"/>
            </a:avLst>
          </a:prstGeom>
          <a:solidFill>
            <a:schemeClr val="accent5"/>
          </a:solidFill>
          <a:ln w="12700">
            <a:solidFill>
              <a:schemeClr val="accent2"/>
            </a:solidFill>
            <a:prstDash val="solid"/>
          </a:ln>
        </p:spPr>
      </p:sp>
      <p:sp>
        <p:nvSpPr>
          <p:cNvPr id="27" name="Text 25"/>
          <p:cNvSpPr txBox="1"/>
          <p:nvPr/>
        </p:nvSpPr>
        <p:spPr>
          <a:xfrm>
            <a:off x="6127852"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١٢  </a:t>
            </a:r>
            <a:pPr rtl="1" algn="ctr" indent="0" marL="0">
              <a:buNone/>
            </a:pPr>
            <a:r>
              <a:rPr lang="ar-SA" altLang="en-US" sz="1500" b="1" dirty="0">
                <a:solidFill>
                  <a:schemeClr val="tx2"/>
                </a:solidFill>
              </a:rPr>
              <a:t>العصر</a:t>
            </a:r>
            <a:endParaRPr lang="ar-SA" sz="1500" dirty="0"/>
          </a:p>
        </p:txBody>
      </p:sp>
      <p:sp>
        <p:nvSpPr>
          <p:cNvPr id="28" name="Shape 26"/>
          <p:cNvSpPr/>
          <p:nvPr/>
        </p:nvSpPr>
        <p:spPr>
          <a:xfrm>
            <a:off x="4765396" y="2578608"/>
            <a:ext cx="1298448" cy="530352"/>
          </a:xfrm>
          <a:prstGeom prst="roundRect">
            <a:avLst>
              <a:gd name="adj" fmla="val 50000"/>
            </a:avLst>
          </a:prstGeom>
          <a:solidFill>
            <a:schemeClr val="bg1"/>
          </a:solidFill>
          <a:ln w="12700">
            <a:solidFill>
              <a:schemeClr val="accent2"/>
            </a:solidFill>
            <a:prstDash val="solid"/>
          </a:ln>
        </p:spPr>
      </p:sp>
      <p:sp>
        <p:nvSpPr>
          <p:cNvPr id="29" name="Text 27"/>
          <p:cNvSpPr txBox="1"/>
          <p:nvPr/>
        </p:nvSpPr>
        <p:spPr>
          <a:xfrm>
            <a:off x="4765396"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١٣  </a:t>
            </a:r>
            <a:pPr rtl="1" algn="ctr" indent="0" marL="0">
              <a:buNone/>
            </a:pPr>
            <a:r>
              <a:rPr lang="ar-SA" altLang="en-US" sz="1500" b="1" dirty="0">
                <a:solidFill>
                  <a:schemeClr val="tx2"/>
                </a:solidFill>
              </a:rPr>
              <a:t>التكاثر</a:t>
            </a:r>
            <a:endParaRPr lang="ar-SA" sz="1500" dirty="0"/>
          </a:p>
        </p:txBody>
      </p:sp>
      <p:sp>
        <p:nvSpPr>
          <p:cNvPr id="30" name="Shape 28"/>
          <p:cNvSpPr/>
          <p:nvPr/>
        </p:nvSpPr>
        <p:spPr>
          <a:xfrm>
            <a:off x="3402940" y="2578608"/>
            <a:ext cx="1298448" cy="530352"/>
          </a:xfrm>
          <a:prstGeom prst="roundRect">
            <a:avLst>
              <a:gd name="adj" fmla="val 50000"/>
            </a:avLst>
          </a:prstGeom>
          <a:solidFill>
            <a:schemeClr val="accent5"/>
          </a:solidFill>
          <a:ln w="12700">
            <a:solidFill>
              <a:schemeClr val="accent2"/>
            </a:solidFill>
            <a:prstDash val="solid"/>
          </a:ln>
        </p:spPr>
      </p:sp>
      <p:sp>
        <p:nvSpPr>
          <p:cNvPr id="31" name="Text 29"/>
          <p:cNvSpPr txBox="1"/>
          <p:nvPr/>
        </p:nvSpPr>
        <p:spPr>
          <a:xfrm>
            <a:off x="3402940"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١٤  </a:t>
            </a:r>
            <a:pPr rtl="1" algn="ctr" indent="0" marL="0">
              <a:buNone/>
            </a:pPr>
            <a:r>
              <a:rPr lang="ar-SA" altLang="en-US" sz="1500" b="1" dirty="0">
                <a:solidFill>
                  <a:schemeClr val="tx2"/>
                </a:solidFill>
              </a:rPr>
              <a:t>القارعة</a:t>
            </a:r>
            <a:endParaRPr lang="ar-SA" sz="1500" dirty="0"/>
          </a:p>
        </p:txBody>
      </p:sp>
      <p:sp>
        <p:nvSpPr>
          <p:cNvPr id="32" name="Shape 30"/>
          <p:cNvSpPr/>
          <p:nvPr/>
        </p:nvSpPr>
        <p:spPr>
          <a:xfrm>
            <a:off x="2040484" y="2578608"/>
            <a:ext cx="1298448" cy="530352"/>
          </a:xfrm>
          <a:prstGeom prst="roundRect">
            <a:avLst>
              <a:gd name="adj" fmla="val 50000"/>
            </a:avLst>
          </a:prstGeom>
          <a:solidFill>
            <a:schemeClr val="bg1"/>
          </a:solidFill>
          <a:ln w="12700">
            <a:solidFill>
              <a:schemeClr val="accent2"/>
            </a:solidFill>
            <a:prstDash val="solid"/>
          </a:ln>
        </p:spPr>
      </p:sp>
      <p:sp>
        <p:nvSpPr>
          <p:cNvPr id="33" name="Text 31"/>
          <p:cNvSpPr txBox="1"/>
          <p:nvPr/>
        </p:nvSpPr>
        <p:spPr>
          <a:xfrm>
            <a:off x="2040484"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١٥  </a:t>
            </a:r>
            <a:pPr rtl="1" algn="ctr" indent="0" marL="0">
              <a:buNone/>
            </a:pPr>
            <a:r>
              <a:rPr lang="ar-SA" altLang="en-US" sz="1500" b="1" dirty="0">
                <a:solidFill>
                  <a:schemeClr val="tx2"/>
                </a:solidFill>
              </a:rPr>
              <a:t>العاديات</a:t>
            </a:r>
            <a:endParaRPr lang="ar-SA" sz="1500" dirty="0"/>
          </a:p>
        </p:txBody>
      </p:sp>
      <p:sp>
        <p:nvSpPr>
          <p:cNvPr id="34" name="Shape 32"/>
          <p:cNvSpPr/>
          <p:nvPr/>
        </p:nvSpPr>
        <p:spPr>
          <a:xfrm>
            <a:off x="678028" y="2578608"/>
            <a:ext cx="1298448" cy="530352"/>
          </a:xfrm>
          <a:prstGeom prst="roundRect">
            <a:avLst>
              <a:gd name="adj" fmla="val 50000"/>
            </a:avLst>
          </a:prstGeom>
          <a:solidFill>
            <a:schemeClr val="accent5"/>
          </a:solidFill>
          <a:ln w="12700">
            <a:solidFill>
              <a:schemeClr val="accent2"/>
            </a:solidFill>
            <a:prstDash val="solid"/>
          </a:ln>
        </p:spPr>
      </p:sp>
      <p:sp>
        <p:nvSpPr>
          <p:cNvPr id="35" name="Text 33"/>
          <p:cNvSpPr txBox="1"/>
          <p:nvPr/>
        </p:nvSpPr>
        <p:spPr>
          <a:xfrm>
            <a:off x="678028"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١٦  </a:t>
            </a:r>
            <a:pPr rtl="1" algn="ctr" indent="0" marL="0">
              <a:buNone/>
            </a:pPr>
            <a:r>
              <a:rPr lang="ar-SA" altLang="en-US" sz="1500" b="1" dirty="0">
                <a:solidFill>
                  <a:schemeClr val="tx2"/>
                </a:solidFill>
              </a:rPr>
              <a:t>الزلزلة</a:t>
            </a:r>
            <a:endParaRPr lang="ar-SA" sz="1500" dirty="0"/>
          </a:p>
        </p:txBody>
      </p:sp>
      <p:sp>
        <p:nvSpPr>
          <p:cNvPr id="36" name="Shape 34"/>
          <p:cNvSpPr/>
          <p:nvPr/>
        </p:nvSpPr>
        <p:spPr>
          <a:xfrm>
            <a:off x="10215220" y="3236976"/>
            <a:ext cx="1298448" cy="530352"/>
          </a:xfrm>
          <a:prstGeom prst="roundRect">
            <a:avLst>
              <a:gd name="adj" fmla="val 50000"/>
            </a:avLst>
          </a:prstGeom>
          <a:solidFill>
            <a:schemeClr val="bg1"/>
          </a:solidFill>
          <a:ln w="12700">
            <a:solidFill>
              <a:schemeClr val="accent2"/>
            </a:solidFill>
            <a:prstDash val="solid"/>
          </a:ln>
        </p:spPr>
      </p:sp>
      <p:sp>
        <p:nvSpPr>
          <p:cNvPr id="37" name="Text 35"/>
          <p:cNvSpPr txBox="1"/>
          <p:nvPr/>
        </p:nvSpPr>
        <p:spPr>
          <a:xfrm>
            <a:off x="10215220"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١٧  </a:t>
            </a:r>
            <a:pPr rtl="1" algn="ctr" indent="0" marL="0">
              <a:buNone/>
            </a:pPr>
            <a:r>
              <a:rPr lang="ar-SA" altLang="en-US" sz="1500" b="1" dirty="0">
                <a:solidFill>
                  <a:schemeClr val="tx2"/>
                </a:solidFill>
              </a:rPr>
              <a:t>البينة</a:t>
            </a:r>
            <a:endParaRPr lang="ar-SA" sz="1500" dirty="0"/>
          </a:p>
        </p:txBody>
      </p:sp>
      <p:sp>
        <p:nvSpPr>
          <p:cNvPr id="38" name="Shape 36"/>
          <p:cNvSpPr/>
          <p:nvPr/>
        </p:nvSpPr>
        <p:spPr>
          <a:xfrm>
            <a:off x="8852764" y="3236976"/>
            <a:ext cx="1298448" cy="530352"/>
          </a:xfrm>
          <a:prstGeom prst="roundRect">
            <a:avLst>
              <a:gd name="adj" fmla="val 50000"/>
            </a:avLst>
          </a:prstGeom>
          <a:solidFill>
            <a:schemeClr val="accent5"/>
          </a:solidFill>
          <a:ln w="12700">
            <a:solidFill>
              <a:schemeClr val="accent2"/>
            </a:solidFill>
            <a:prstDash val="solid"/>
          </a:ln>
        </p:spPr>
      </p:sp>
      <p:sp>
        <p:nvSpPr>
          <p:cNvPr id="39" name="Text 37"/>
          <p:cNvSpPr txBox="1"/>
          <p:nvPr/>
        </p:nvSpPr>
        <p:spPr>
          <a:xfrm>
            <a:off x="8852764"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١٨  </a:t>
            </a:r>
            <a:pPr rtl="1" algn="ctr" indent="0" marL="0">
              <a:buNone/>
            </a:pPr>
            <a:r>
              <a:rPr lang="ar-SA" altLang="en-US" sz="1500" b="1" dirty="0">
                <a:solidFill>
                  <a:schemeClr val="tx2"/>
                </a:solidFill>
              </a:rPr>
              <a:t>القدر</a:t>
            </a:r>
            <a:endParaRPr lang="ar-SA" sz="1500" dirty="0"/>
          </a:p>
        </p:txBody>
      </p:sp>
      <p:sp>
        <p:nvSpPr>
          <p:cNvPr id="40" name="Shape 38"/>
          <p:cNvSpPr/>
          <p:nvPr/>
        </p:nvSpPr>
        <p:spPr>
          <a:xfrm>
            <a:off x="7490308" y="3236976"/>
            <a:ext cx="1298448" cy="530352"/>
          </a:xfrm>
          <a:prstGeom prst="roundRect">
            <a:avLst>
              <a:gd name="adj" fmla="val 50000"/>
            </a:avLst>
          </a:prstGeom>
          <a:solidFill>
            <a:schemeClr val="bg1"/>
          </a:solidFill>
          <a:ln w="12700">
            <a:solidFill>
              <a:schemeClr val="accent2"/>
            </a:solidFill>
            <a:prstDash val="solid"/>
          </a:ln>
        </p:spPr>
      </p:sp>
      <p:sp>
        <p:nvSpPr>
          <p:cNvPr id="41" name="Text 39"/>
          <p:cNvSpPr txBox="1"/>
          <p:nvPr/>
        </p:nvSpPr>
        <p:spPr>
          <a:xfrm>
            <a:off x="7490308"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١٩  </a:t>
            </a:r>
            <a:pPr rtl="1" algn="ctr" indent="0" marL="0">
              <a:buNone/>
            </a:pPr>
            <a:r>
              <a:rPr lang="ar-SA" altLang="en-US" sz="1500" b="1" dirty="0">
                <a:solidFill>
                  <a:schemeClr val="tx2"/>
                </a:solidFill>
              </a:rPr>
              <a:t>العلق</a:t>
            </a:r>
            <a:endParaRPr lang="ar-SA" sz="1500" dirty="0"/>
          </a:p>
        </p:txBody>
      </p:sp>
      <p:sp>
        <p:nvSpPr>
          <p:cNvPr id="42" name="Shape 40"/>
          <p:cNvSpPr/>
          <p:nvPr/>
        </p:nvSpPr>
        <p:spPr>
          <a:xfrm>
            <a:off x="6127852" y="3236976"/>
            <a:ext cx="1298448" cy="530352"/>
          </a:xfrm>
          <a:prstGeom prst="roundRect">
            <a:avLst>
              <a:gd name="adj" fmla="val 50000"/>
            </a:avLst>
          </a:prstGeom>
          <a:solidFill>
            <a:schemeClr val="accent5"/>
          </a:solidFill>
          <a:ln w="12700">
            <a:solidFill>
              <a:schemeClr val="accent2"/>
            </a:solidFill>
            <a:prstDash val="solid"/>
          </a:ln>
        </p:spPr>
      </p:sp>
      <p:sp>
        <p:nvSpPr>
          <p:cNvPr id="43" name="Text 41"/>
          <p:cNvSpPr txBox="1"/>
          <p:nvPr/>
        </p:nvSpPr>
        <p:spPr>
          <a:xfrm>
            <a:off x="6127852"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٢٠  </a:t>
            </a:r>
            <a:pPr rtl="1" algn="ctr" indent="0" marL="0">
              <a:buNone/>
            </a:pPr>
            <a:r>
              <a:rPr lang="ar-SA" altLang="en-US" sz="1500" b="1" dirty="0">
                <a:solidFill>
                  <a:schemeClr val="tx2"/>
                </a:solidFill>
              </a:rPr>
              <a:t>التين</a:t>
            </a:r>
            <a:endParaRPr lang="ar-SA" sz="1500" dirty="0"/>
          </a:p>
        </p:txBody>
      </p:sp>
      <p:sp>
        <p:nvSpPr>
          <p:cNvPr id="44" name="Shape 42"/>
          <p:cNvSpPr/>
          <p:nvPr/>
        </p:nvSpPr>
        <p:spPr>
          <a:xfrm>
            <a:off x="4765396" y="3236976"/>
            <a:ext cx="1298448" cy="530352"/>
          </a:xfrm>
          <a:prstGeom prst="roundRect">
            <a:avLst>
              <a:gd name="adj" fmla="val 50000"/>
            </a:avLst>
          </a:prstGeom>
          <a:solidFill>
            <a:schemeClr val="bg1"/>
          </a:solidFill>
          <a:ln w="12700">
            <a:solidFill>
              <a:schemeClr val="accent2"/>
            </a:solidFill>
            <a:prstDash val="solid"/>
          </a:ln>
        </p:spPr>
      </p:sp>
      <p:sp>
        <p:nvSpPr>
          <p:cNvPr id="45" name="Text 43"/>
          <p:cNvSpPr txBox="1"/>
          <p:nvPr/>
        </p:nvSpPr>
        <p:spPr>
          <a:xfrm>
            <a:off x="4765396"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٢١  </a:t>
            </a:r>
            <a:pPr rtl="1" algn="ctr" indent="0" marL="0">
              <a:buNone/>
            </a:pPr>
            <a:r>
              <a:rPr lang="ar-SA" altLang="en-US" sz="1500" b="1" dirty="0">
                <a:solidFill>
                  <a:schemeClr val="tx2"/>
                </a:solidFill>
              </a:rPr>
              <a:t>الشرح</a:t>
            </a:r>
            <a:endParaRPr lang="ar-SA" sz="1500" dirty="0"/>
          </a:p>
        </p:txBody>
      </p:sp>
      <p:sp>
        <p:nvSpPr>
          <p:cNvPr id="46" name="Shape 44"/>
          <p:cNvSpPr/>
          <p:nvPr/>
        </p:nvSpPr>
        <p:spPr>
          <a:xfrm>
            <a:off x="3402940" y="3236976"/>
            <a:ext cx="1298448" cy="530352"/>
          </a:xfrm>
          <a:prstGeom prst="roundRect">
            <a:avLst>
              <a:gd name="adj" fmla="val 50000"/>
            </a:avLst>
          </a:prstGeom>
          <a:solidFill>
            <a:schemeClr val="accent5"/>
          </a:solidFill>
          <a:ln w="12700">
            <a:solidFill>
              <a:schemeClr val="accent2"/>
            </a:solidFill>
            <a:prstDash val="solid"/>
          </a:ln>
        </p:spPr>
      </p:sp>
      <p:sp>
        <p:nvSpPr>
          <p:cNvPr id="47" name="Text 45"/>
          <p:cNvSpPr txBox="1"/>
          <p:nvPr/>
        </p:nvSpPr>
        <p:spPr>
          <a:xfrm>
            <a:off x="3402940"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٢٢  </a:t>
            </a:r>
            <a:pPr rtl="1" algn="ctr" indent="0" marL="0">
              <a:buNone/>
            </a:pPr>
            <a:r>
              <a:rPr lang="ar-SA" altLang="en-US" sz="1500" b="1" dirty="0">
                <a:solidFill>
                  <a:schemeClr val="tx2"/>
                </a:solidFill>
              </a:rPr>
              <a:t>الضحى</a:t>
            </a:r>
            <a:endParaRPr lang="ar-SA" sz="1500" dirty="0"/>
          </a:p>
        </p:txBody>
      </p:sp>
      <p:sp>
        <p:nvSpPr>
          <p:cNvPr id="48" name="Shape 46"/>
          <p:cNvSpPr/>
          <p:nvPr/>
        </p:nvSpPr>
        <p:spPr>
          <a:xfrm>
            <a:off x="2040484" y="3236976"/>
            <a:ext cx="1298448" cy="530352"/>
          </a:xfrm>
          <a:prstGeom prst="roundRect">
            <a:avLst>
              <a:gd name="adj" fmla="val 50000"/>
            </a:avLst>
          </a:prstGeom>
          <a:solidFill>
            <a:schemeClr val="bg1"/>
          </a:solidFill>
          <a:ln w="12700">
            <a:solidFill>
              <a:schemeClr val="accent2"/>
            </a:solidFill>
            <a:prstDash val="solid"/>
          </a:ln>
        </p:spPr>
      </p:sp>
      <p:sp>
        <p:nvSpPr>
          <p:cNvPr id="49" name="Text 47"/>
          <p:cNvSpPr txBox="1"/>
          <p:nvPr/>
        </p:nvSpPr>
        <p:spPr>
          <a:xfrm>
            <a:off x="2040484"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٢٣  </a:t>
            </a:r>
            <a:pPr rtl="1" algn="ctr" indent="0" marL="0">
              <a:buNone/>
            </a:pPr>
            <a:r>
              <a:rPr lang="ar-SA" altLang="en-US" sz="1500" b="1" dirty="0">
                <a:solidFill>
                  <a:schemeClr val="tx2"/>
                </a:solidFill>
              </a:rPr>
              <a:t>الليل</a:t>
            </a:r>
            <a:endParaRPr lang="ar-SA" sz="1500" dirty="0"/>
          </a:p>
        </p:txBody>
      </p:sp>
      <p:sp>
        <p:nvSpPr>
          <p:cNvPr id="50" name="Shape 48"/>
          <p:cNvSpPr/>
          <p:nvPr/>
        </p:nvSpPr>
        <p:spPr>
          <a:xfrm>
            <a:off x="678028" y="3236976"/>
            <a:ext cx="1298448" cy="530352"/>
          </a:xfrm>
          <a:prstGeom prst="roundRect">
            <a:avLst>
              <a:gd name="adj" fmla="val 50000"/>
            </a:avLst>
          </a:prstGeom>
          <a:solidFill>
            <a:schemeClr val="accent5"/>
          </a:solidFill>
          <a:ln w="12700">
            <a:solidFill>
              <a:schemeClr val="accent2"/>
            </a:solidFill>
            <a:prstDash val="solid"/>
          </a:ln>
        </p:spPr>
      </p:sp>
      <p:sp>
        <p:nvSpPr>
          <p:cNvPr id="51" name="Text 49"/>
          <p:cNvSpPr txBox="1"/>
          <p:nvPr/>
        </p:nvSpPr>
        <p:spPr>
          <a:xfrm>
            <a:off x="678028" y="3236976"/>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٢٤  </a:t>
            </a:r>
            <a:pPr rtl="1" algn="ctr" indent="0" marL="0">
              <a:buNone/>
            </a:pPr>
            <a:r>
              <a:rPr lang="ar-SA" altLang="en-US" sz="1500" b="1" dirty="0">
                <a:solidFill>
                  <a:schemeClr val="tx2"/>
                </a:solidFill>
              </a:rPr>
              <a:t>الشمس</a:t>
            </a:r>
            <a:endParaRPr lang="ar-SA" sz="1500" dirty="0"/>
          </a:p>
        </p:txBody>
      </p:sp>
      <p:sp>
        <p:nvSpPr>
          <p:cNvPr id="52" name="Shape 50"/>
          <p:cNvSpPr/>
          <p:nvPr/>
        </p:nvSpPr>
        <p:spPr>
          <a:xfrm>
            <a:off x="10215220" y="3895344"/>
            <a:ext cx="1298448" cy="530352"/>
          </a:xfrm>
          <a:prstGeom prst="roundRect">
            <a:avLst>
              <a:gd name="adj" fmla="val 50000"/>
            </a:avLst>
          </a:prstGeom>
          <a:solidFill>
            <a:schemeClr val="bg1"/>
          </a:solidFill>
          <a:ln w="12700">
            <a:solidFill>
              <a:schemeClr val="accent2"/>
            </a:solidFill>
            <a:prstDash val="solid"/>
          </a:ln>
        </p:spPr>
      </p:sp>
      <p:sp>
        <p:nvSpPr>
          <p:cNvPr id="53" name="Text 51"/>
          <p:cNvSpPr txBox="1"/>
          <p:nvPr/>
        </p:nvSpPr>
        <p:spPr>
          <a:xfrm>
            <a:off x="10215220"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٢٥  </a:t>
            </a:r>
            <a:pPr rtl="1" algn="ctr" indent="0" marL="0">
              <a:buNone/>
            </a:pPr>
            <a:r>
              <a:rPr lang="ar-SA" altLang="en-US" sz="1500" b="1" dirty="0">
                <a:solidFill>
                  <a:schemeClr val="tx2"/>
                </a:solidFill>
              </a:rPr>
              <a:t>البلد</a:t>
            </a:r>
            <a:endParaRPr lang="ar-SA" sz="1500" dirty="0"/>
          </a:p>
        </p:txBody>
      </p:sp>
      <p:sp>
        <p:nvSpPr>
          <p:cNvPr id="54" name="Shape 52"/>
          <p:cNvSpPr/>
          <p:nvPr/>
        </p:nvSpPr>
        <p:spPr>
          <a:xfrm>
            <a:off x="8852764" y="3895344"/>
            <a:ext cx="1298448" cy="530352"/>
          </a:xfrm>
          <a:prstGeom prst="roundRect">
            <a:avLst>
              <a:gd name="adj" fmla="val 50000"/>
            </a:avLst>
          </a:prstGeom>
          <a:solidFill>
            <a:schemeClr val="accent5"/>
          </a:solidFill>
          <a:ln w="12700">
            <a:solidFill>
              <a:schemeClr val="accent2"/>
            </a:solidFill>
            <a:prstDash val="solid"/>
          </a:ln>
        </p:spPr>
      </p:sp>
      <p:sp>
        <p:nvSpPr>
          <p:cNvPr id="55" name="Text 53"/>
          <p:cNvSpPr txBox="1"/>
          <p:nvPr/>
        </p:nvSpPr>
        <p:spPr>
          <a:xfrm>
            <a:off x="8852764"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٢٦  </a:t>
            </a:r>
            <a:pPr rtl="1" algn="ctr" indent="0" marL="0">
              <a:buNone/>
            </a:pPr>
            <a:r>
              <a:rPr lang="ar-SA" altLang="en-US" sz="1500" b="1" dirty="0">
                <a:solidFill>
                  <a:schemeClr val="tx2"/>
                </a:solidFill>
              </a:rPr>
              <a:t>الفجر</a:t>
            </a:r>
            <a:endParaRPr lang="ar-SA" sz="1500" dirty="0"/>
          </a:p>
        </p:txBody>
      </p:sp>
      <p:sp>
        <p:nvSpPr>
          <p:cNvPr id="56" name="Shape 54"/>
          <p:cNvSpPr/>
          <p:nvPr/>
        </p:nvSpPr>
        <p:spPr>
          <a:xfrm>
            <a:off x="7490308" y="3895344"/>
            <a:ext cx="1298448" cy="530352"/>
          </a:xfrm>
          <a:prstGeom prst="roundRect">
            <a:avLst>
              <a:gd name="adj" fmla="val 50000"/>
            </a:avLst>
          </a:prstGeom>
          <a:solidFill>
            <a:schemeClr val="bg1"/>
          </a:solidFill>
          <a:ln w="12700">
            <a:solidFill>
              <a:schemeClr val="accent2"/>
            </a:solidFill>
            <a:prstDash val="solid"/>
          </a:ln>
        </p:spPr>
      </p:sp>
      <p:sp>
        <p:nvSpPr>
          <p:cNvPr id="57" name="Text 55"/>
          <p:cNvSpPr txBox="1"/>
          <p:nvPr/>
        </p:nvSpPr>
        <p:spPr>
          <a:xfrm>
            <a:off x="7490308"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٢٧  </a:t>
            </a:r>
            <a:pPr rtl="1" algn="ctr" indent="0" marL="0">
              <a:buNone/>
            </a:pPr>
            <a:r>
              <a:rPr lang="ar-SA" altLang="en-US" sz="1500" b="1" dirty="0">
                <a:solidFill>
                  <a:schemeClr val="tx2"/>
                </a:solidFill>
              </a:rPr>
              <a:t>الغاشية</a:t>
            </a:r>
            <a:endParaRPr lang="ar-SA" sz="1500" dirty="0"/>
          </a:p>
        </p:txBody>
      </p:sp>
      <p:sp>
        <p:nvSpPr>
          <p:cNvPr id="58" name="Shape 56"/>
          <p:cNvSpPr/>
          <p:nvPr/>
        </p:nvSpPr>
        <p:spPr>
          <a:xfrm>
            <a:off x="6127852" y="3895344"/>
            <a:ext cx="1298448" cy="530352"/>
          </a:xfrm>
          <a:prstGeom prst="roundRect">
            <a:avLst>
              <a:gd name="adj" fmla="val 50000"/>
            </a:avLst>
          </a:prstGeom>
          <a:solidFill>
            <a:schemeClr val="accent5"/>
          </a:solidFill>
          <a:ln w="12700">
            <a:solidFill>
              <a:schemeClr val="accent2"/>
            </a:solidFill>
            <a:prstDash val="solid"/>
          </a:ln>
        </p:spPr>
      </p:sp>
      <p:sp>
        <p:nvSpPr>
          <p:cNvPr id="59" name="Text 57"/>
          <p:cNvSpPr txBox="1"/>
          <p:nvPr/>
        </p:nvSpPr>
        <p:spPr>
          <a:xfrm>
            <a:off x="6127852"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٢٨  </a:t>
            </a:r>
            <a:pPr rtl="1" algn="ctr" indent="0" marL="0">
              <a:buNone/>
            </a:pPr>
            <a:r>
              <a:rPr lang="ar-SA" altLang="en-US" sz="1500" b="1" dirty="0">
                <a:solidFill>
                  <a:schemeClr val="tx2"/>
                </a:solidFill>
              </a:rPr>
              <a:t>الأعلى</a:t>
            </a:r>
            <a:endParaRPr lang="ar-SA" sz="1500" dirty="0"/>
          </a:p>
        </p:txBody>
      </p:sp>
      <p:sp>
        <p:nvSpPr>
          <p:cNvPr id="60" name="Shape 58"/>
          <p:cNvSpPr/>
          <p:nvPr/>
        </p:nvSpPr>
        <p:spPr>
          <a:xfrm>
            <a:off x="4765396" y="3895344"/>
            <a:ext cx="1298448" cy="530352"/>
          </a:xfrm>
          <a:prstGeom prst="roundRect">
            <a:avLst>
              <a:gd name="adj" fmla="val 50000"/>
            </a:avLst>
          </a:prstGeom>
          <a:solidFill>
            <a:schemeClr val="bg1"/>
          </a:solidFill>
          <a:ln w="12700">
            <a:solidFill>
              <a:schemeClr val="accent2"/>
            </a:solidFill>
            <a:prstDash val="solid"/>
          </a:ln>
        </p:spPr>
      </p:sp>
      <p:sp>
        <p:nvSpPr>
          <p:cNvPr id="61" name="Text 59"/>
          <p:cNvSpPr txBox="1"/>
          <p:nvPr/>
        </p:nvSpPr>
        <p:spPr>
          <a:xfrm>
            <a:off x="4765396"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٢٩  </a:t>
            </a:r>
            <a:pPr rtl="1" algn="ctr" indent="0" marL="0">
              <a:buNone/>
            </a:pPr>
            <a:r>
              <a:rPr lang="ar-SA" altLang="en-US" sz="1500" b="1" dirty="0">
                <a:solidFill>
                  <a:schemeClr val="tx2"/>
                </a:solidFill>
              </a:rPr>
              <a:t>الطارق</a:t>
            </a:r>
            <a:endParaRPr lang="ar-SA" sz="1500" dirty="0"/>
          </a:p>
        </p:txBody>
      </p:sp>
      <p:sp>
        <p:nvSpPr>
          <p:cNvPr id="62" name="Shape 60"/>
          <p:cNvSpPr/>
          <p:nvPr/>
        </p:nvSpPr>
        <p:spPr>
          <a:xfrm>
            <a:off x="3402940" y="3895344"/>
            <a:ext cx="1298448" cy="530352"/>
          </a:xfrm>
          <a:prstGeom prst="roundRect">
            <a:avLst>
              <a:gd name="adj" fmla="val 50000"/>
            </a:avLst>
          </a:prstGeom>
          <a:solidFill>
            <a:schemeClr val="accent5"/>
          </a:solidFill>
          <a:ln w="12700">
            <a:solidFill>
              <a:schemeClr val="accent2"/>
            </a:solidFill>
            <a:prstDash val="solid"/>
          </a:ln>
        </p:spPr>
      </p:sp>
      <p:sp>
        <p:nvSpPr>
          <p:cNvPr id="63" name="Text 61"/>
          <p:cNvSpPr txBox="1"/>
          <p:nvPr/>
        </p:nvSpPr>
        <p:spPr>
          <a:xfrm>
            <a:off x="3402940"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٣٠  </a:t>
            </a:r>
            <a:pPr rtl="1" algn="ctr" indent="0" marL="0">
              <a:buNone/>
            </a:pPr>
            <a:r>
              <a:rPr lang="ar-SA" altLang="en-US" sz="1500" b="1" dirty="0">
                <a:solidFill>
                  <a:schemeClr val="tx2"/>
                </a:solidFill>
              </a:rPr>
              <a:t>البروج</a:t>
            </a:r>
            <a:endParaRPr lang="ar-SA" sz="1500" dirty="0"/>
          </a:p>
        </p:txBody>
      </p:sp>
      <p:sp>
        <p:nvSpPr>
          <p:cNvPr id="64" name="Shape 62"/>
          <p:cNvSpPr/>
          <p:nvPr/>
        </p:nvSpPr>
        <p:spPr>
          <a:xfrm>
            <a:off x="2040484" y="3895344"/>
            <a:ext cx="1298448" cy="530352"/>
          </a:xfrm>
          <a:prstGeom prst="roundRect">
            <a:avLst>
              <a:gd name="adj" fmla="val 50000"/>
            </a:avLst>
          </a:prstGeom>
          <a:solidFill>
            <a:schemeClr val="bg1"/>
          </a:solidFill>
          <a:ln w="12700">
            <a:solidFill>
              <a:schemeClr val="accent2"/>
            </a:solidFill>
            <a:prstDash val="solid"/>
          </a:ln>
        </p:spPr>
      </p:sp>
      <p:sp>
        <p:nvSpPr>
          <p:cNvPr id="65" name="Text 63"/>
          <p:cNvSpPr txBox="1"/>
          <p:nvPr/>
        </p:nvSpPr>
        <p:spPr>
          <a:xfrm>
            <a:off x="2040484"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٣١  </a:t>
            </a:r>
            <a:pPr rtl="1" algn="ctr" indent="0" marL="0">
              <a:buNone/>
            </a:pPr>
            <a:r>
              <a:rPr lang="ar-SA" altLang="en-US" sz="1500" b="1" dirty="0">
                <a:solidFill>
                  <a:schemeClr val="tx2"/>
                </a:solidFill>
              </a:rPr>
              <a:t>الانشقاق</a:t>
            </a:r>
            <a:endParaRPr lang="ar-SA" sz="1500" dirty="0"/>
          </a:p>
        </p:txBody>
      </p:sp>
      <p:sp>
        <p:nvSpPr>
          <p:cNvPr id="66" name="Shape 64"/>
          <p:cNvSpPr/>
          <p:nvPr/>
        </p:nvSpPr>
        <p:spPr>
          <a:xfrm>
            <a:off x="678028" y="3895344"/>
            <a:ext cx="1298448" cy="530352"/>
          </a:xfrm>
          <a:prstGeom prst="roundRect">
            <a:avLst>
              <a:gd name="adj" fmla="val 50000"/>
            </a:avLst>
          </a:prstGeom>
          <a:solidFill>
            <a:schemeClr val="accent5"/>
          </a:solidFill>
          <a:ln w="12700">
            <a:solidFill>
              <a:schemeClr val="accent2"/>
            </a:solidFill>
            <a:prstDash val="solid"/>
          </a:ln>
        </p:spPr>
      </p:sp>
      <p:sp>
        <p:nvSpPr>
          <p:cNvPr id="67" name="Text 65"/>
          <p:cNvSpPr txBox="1"/>
          <p:nvPr/>
        </p:nvSpPr>
        <p:spPr>
          <a:xfrm>
            <a:off x="678028" y="3895344"/>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٣٢  </a:t>
            </a:r>
            <a:pPr rtl="1" algn="ctr" indent="0" marL="0">
              <a:buNone/>
            </a:pPr>
            <a:r>
              <a:rPr lang="ar-SA" altLang="en-US" sz="1500" b="1" dirty="0">
                <a:solidFill>
                  <a:schemeClr val="tx2"/>
                </a:solidFill>
              </a:rPr>
              <a:t>المطففين</a:t>
            </a:r>
            <a:endParaRPr lang="ar-SA" sz="1500" dirty="0"/>
          </a:p>
        </p:txBody>
      </p:sp>
      <p:sp>
        <p:nvSpPr>
          <p:cNvPr id="68" name="Shape 66"/>
          <p:cNvSpPr/>
          <p:nvPr/>
        </p:nvSpPr>
        <p:spPr>
          <a:xfrm>
            <a:off x="10215220" y="4553712"/>
            <a:ext cx="1298448" cy="530352"/>
          </a:xfrm>
          <a:prstGeom prst="roundRect">
            <a:avLst>
              <a:gd name="adj" fmla="val 50000"/>
            </a:avLst>
          </a:prstGeom>
          <a:solidFill>
            <a:schemeClr val="bg1"/>
          </a:solidFill>
          <a:ln w="12700">
            <a:solidFill>
              <a:schemeClr val="accent2"/>
            </a:solidFill>
            <a:prstDash val="solid"/>
          </a:ln>
        </p:spPr>
      </p:sp>
      <p:sp>
        <p:nvSpPr>
          <p:cNvPr id="69" name="Text 67"/>
          <p:cNvSpPr txBox="1"/>
          <p:nvPr/>
        </p:nvSpPr>
        <p:spPr>
          <a:xfrm>
            <a:off x="10215220" y="4553712"/>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٣٣  </a:t>
            </a:r>
            <a:pPr rtl="1" algn="ctr" indent="0" marL="0">
              <a:buNone/>
            </a:pPr>
            <a:r>
              <a:rPr lang="ar-SA" altLang="en-US" sz="1500" b="1" dirty="0">
                <a:solidFill>
                  <a:schemeClr val="tx2"/>
                </a:solidFill>
              </a:rPr>
              <a:t>الانفطار</a:t>
            </a:r>
            <a:endParaRPr lang="ar-SA" sz="1500" dirty="0"/>
          </a:p>
        </p:txBody>
      </p:sp>
      <p:sp>
        <p:nvSpPr>
          <p:cNvPr id="70" name="Shape 68"/>
          <p:cNvSpPr/>
          <p:nvPr/>
        </p:nvSpPr>
        <p:spPr>
          <a:xfrm>
            <a:off x="8852764" y="4553712"/>
            <a:ext cx="1298448" cy="530352"/>
          </a:xfrm>
          <a:prstGeom prst="roundRect">
            <a:avLst>
              <a:gd name="adj" fmla="val 50000"/>
            </a:avLst>
          </a:prstGeom>
          <a:solidFill>
            <a:schemeClr val="accent5"/>
          </a:solidFill>
          <a:ln w="12700">
            <a:solidFill>
              <a:schemeClr val="accent2"/>
            </a:solidFill>
            <a:prstDash val="solid"/>
          </a:ln>
        </p:spPr>
      </p:sp>
      <p:sp>
        <p:nvSpPr>
          <p:cNvPr id="71" name="Text 69"/>
          <p:cNvSpPr txBox="1"/>
          <p:nvPr/>
        </p:nvSpPr>
        <p:spPr>
          <a:xfrm>
            <a:off x="8852764" y="4553712"/>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٣٤  </a:t>
            </a:r>
            <a:pPr rtl="1" algn="ctr" indent="0" marL="0">
              <a:buNone/>
            </a:pPr>
            <a:r>
              <a:rPr lang="ar-SA" altLang="en-US" sz="1500" b="1" dirty="0">
                <a:solidFill>
                  <a:schemeClr val="tx2"/>
                </a:solidFill>
              </a:rPr>
              <a:t>التكوير</a:t>
            </a:r>
            <a:endParaRPr lang="ar-SA" sz="1500" dirty="0"/>
          </a:p>
        </p:txBody>
      </p:sp>
      <p:sp>
        <p:nvSpPr>
          <p:cNvPr id="72" name="Shape 70"/>
          <p:cNvSpPr/>
          <p:nvPr/>
        </p:nvSpPr>
        <p:spPr>
          <a:xfrm>
            <a:off x="7490308" y="4553712"/>
            <a:ext cx="1298448" cy="530352"/>
          </a:xfrm>
          <a:prstGeom prst="roundRect">
            <a:avLst>
              <a:gd name="adj" fmla="val 50000"/>
            </a:avLst>
          </a:prstGeom>
          <a:solidFill>
            <a:schemeClr val="bg1"/>
          </a:solidFill>
          <a:ln w="12700">
            <a:solidFill>
              <a:schemeClr val="accent2"/>
            </a:solidFill>
            <a:prstDash val="solid"/>
          </a:ln>
        </p:spPr>
      </p:sp>
      <p:sp>
        <p:nvSpPr>
          <p:cNvPr id="73" name="Text 71"/>
          <p:cNvSpPr txBox="1"/>
          <p:nvPr/>
        </p:nvSpPr>
        <p:spPr>
          <a:xfrm>
            <a:off x="7490308" y="4553712"/>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٣٥  </a:t>
            </a:r>
            <a:pPr rtl="1" algn="ctr" indent="0" marL="0">
              <a:buNone/>
            </a:pPr>
            <a:r>
              <a:rPr lang="ar-SA" altLang="en-US" sz="1500" b="1" dirty="0">
                <a:solidFill>
                  <a:schemeClr val="tx2"/>
                </a:solidFill>
              </a:rPr>
              <a:t>عبس</a:t>
            </a:r>
            <a:endParaRPr lang="ar-SA" sz="1500" dirty="0"/>
          </a:p>
        </p:txBody>
      </p:sp>
      <p:sp>
        <p:nvSpPr>
          <p:cNvPr id="74" name="Shape 72"/>
          <p:cNvSpPr/>
          <p:nvPr/>
        </p:nvSpPr>
        <p:spPr>
          <a:xfrm>
            <a:off x="6127852" y="4553712"/>
            <a:ext cx="1298448" cy="530352"/>
          </a:xfrm>
          <a:prstGeom prst="roundRect">
            <a:avLst>
              <a:gd name="adj" fmla="val 50000"/>
            </a:avLst>
          </a:prstGeom>
          <a:solidFill>
            <a:schemeClr val="accent5"/>
          </a:solidFill>
          <a:ln w="12700">
            <a:solidFill>
              <a:schemeClr val="accent2"/>
            </a:solidFill>
            <a:prstDash val="solid"/>
          </a:ln>
        </p:spPr>
      </p:sp>
      <p:sp>
        <p:nvSpPr>
          <p:cNvPr id="75" name="Text 73"/>
          <p:cNvSpPr txBox="1"/>
          <p:nvPr/>
        </p:nvSpPr>
        <p:spPr>
          <a:xfrm>
            <a:off x="6127852" y="4553712"/>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٣٦  </a:t>
            </a:r>
            <a:pPr rtl="1" algn="ctr" indent="0" marL="0">
              <a:buNone/>
            </a:pPr>
            <a:r>
              <a:rPr lang="ar-SA" altLang="en-US" sz="1500" b="1" dirty="0">
                <a:solidFill>
                  <a:schemeClr val="tx2"/>
                </a:solidFill>
              </a:rPr>
              <a:t>النازعات</a:t>
            </a:r>
            <a:endParaRPr lang="ar-SA" sz="1500" dirty="0"/>
          </a:p>
        </p:txBody>
      </p:sp>
      <p:sp>
        <p:nvSpPr>
          <p:cNvPr id="76" name="Shape 74"/>
          <p:cNvSpPr/>
          <p:nvPr/>
        </p:nvSpPr>
        <p:spPr>
          <a:xfrm>
            <a:off x="4765396" y="4553712"/>
            <a:ext cx="1298448" cy="530352"/>
          </a:xfrm>
          <a:prstGeom prst="roundRect">
            <a:avLst>
              <a:gd name="adj" fmla="val 50000"/>
            </a:avLst>
          </a:prstGeom>
          <a:solidFill>
            <a:schemeClr val="bg1"/>
          </a:solidFill>
          <a:ln w="12700">
            <a:solidFill>
              <a:schemeClr val="accent2"/>
            </a:solidFill>
            <a:prstDash val="solid"/>
          </a:ln>
        </p:spPr>
      </p:sp>
      <p:sp>
        <p:nvSpPr>
          <p:cNvPr id="77" name="Text 75"/>
          <p:cNvSpPr txBox="1"/>
          <p:nvPr/>
        </p:nvSpPr>
        <p:spPr>
          <a:xfrm>
            <a:off x="4765396" y="4553712"/>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٣٧  </a:t>
            </a:r>
            <a:pPr rtl="1" algn="ctr" indent="0" marL="0">
              <a:buNone/>
            </a:pPr>
            <a:r>
              <a:rPr lang="ar-SA" altLang="en-US" sz="1500" b="1" dirty="0">
                <a:solidFill>
                  <a:schemeClr val="tx2"/>
                </a:solidFill>
              </a:rPr>
              <a:t>النبأ</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الناس</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٦</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١١٤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في سبب نزولها مع سورة الفلق أن النبي صلى الله عليه وسلم سحره رجل من اليهود يُقال له لبيد بن الأعصم، فأنزل الله المعوذتين فشفاه الله. وأصل قصة السحر في الصحيحين.</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الاستعاذة بالله من الشر الخفي: وسوسة شياطين الجن والإنس.</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أَعُوذُ بِرَبِّ النَّاسِ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محمد: ألتجئ وأحتمي بالله ربّ الناس، الذي خلقهم ويرعاهم ويدبّر أمورهم.</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مَلِكِ النَّاسِ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مالك الناس جميعًا، المتصرّف فيهم كما يشاء، لا ملك لهم سواه.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إِلَٰهِ النَّاسِ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معبود الناس الحق، الذي لا يستحق العبادة أحدٌ غيره.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شَرِّ الْوَسْوَاسِ الْخَنَّاسِ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أستعيذ به من شر الشيطان الذي يوسوس للإنسان، فإذا ذكر العبدُ ربَّه خنس، أي تأخّر واختفى.</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يُوَسْوِسُ فِي صُدُورِ النَّاسِ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يُلقي في القلوب الأفكار السيئة ويزيّن المعاصي، ليصرف الإنسان عن الخير.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الْجِنَّةِ وَالنَّاسِ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والموسوِسون نوعان: شياطين من الجن، وشياطين من الإنس يزيّنون الشر للناس.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الفلق</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١١٣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نزلت مع سورة الناس لمّا سُحر النبي صلى الله عليه وسلم، كما ذكر بعض المفسرين. وقال صلى الله عليه وسلم عنهما: «ألم تر آيات أُنزلت الليلة لم يُرَ مثلهن قط»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الاستعاذة بالله من الشرور الظاهرة: شر المخلوقات والليل والسحر والحسد.</a:t>
            </a:r>
            <a:endParaRPr lang="ar-SA"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الفلق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أَعُوذُ بِرَبِّ الْفَلَقِ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ألتجئ إلى الله ربّ الفلق، وهو الصبح الذي يشق ظلام الليل، كما قال ابن عباس.</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شَرِّ مَا خَلَقَ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أستعيذ به من شر جميع المخلوقات التي فيها شر، من إنس وجن وحيوان وغيرها.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شَرِّ غَاسِقٍ إِذَا وَقَبَ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شر الليل إذا أقبل بظلامه؛ لأن المؤذيات والشرور تنتشر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الفلق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شَرِّ النَّفَّـٰثَٰتِ فِي الْعُقَدِ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شر الساحرات اللاتي ينفثن في العُقَد، أي ينفخن فيها عند عمل السحر.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شَرِّ حَاسِدٍ إِذَا حَسَدَ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شر الحاسد الذي يتمنى زوال النعمة عن غيره، إذا أظهر حسده وعمل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الإخلاص</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١١٢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المشركون للنبي صلى الله عليه وسلم: انسب لنا ربك، أي صِفه لنا، فأنزل الله هذه السورة (رواه أحمد والترمذي).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توحيد الله وتنزيهه عن الشريك والولد والمثيل. وهي تعدل ثلث القرآن (رواه البخاري).</a:t>
            </a:r>
            <a:endParaRPr lang="ar-SA"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الإخلاص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هُوَ اللَّهُ أَحَدٌ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محمد: هو الله الواحد الأحد، لا شريك له ولا نظير ولا شبيه.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الصَّمَدُ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الصمد: السيد الكامل في صفاته، الذي يقصده الخلق كلهم في حاجاتهم، كما قال ابن عباس.</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لَمْ يَلِدْ وَلَمْ يُولَدْ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له ولد ولا والد ولا زوجة، سبحانه وتعالى.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 يَكُن لَّهُ كُفُوًا أَحَدٌ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وليس له مثيل ولا مكافئ ولا شبيه من خلقه.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المسد</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١١١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صعد النبي صلى الله عليه وسلم جبل الصفا ونادى قريشًا ودعاهم إلى الإسلام، فقال أبو لهب: تبًّا لك! ألهذا جمعتنا؟ فأنزل الله هذه السورة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مصير أبي لهب وامرأته لعداوتهما للنبي صلى الله عليه وسلم، وأن القرابة لا تنفع بلا إيمان.</a:t>
            </a:r>
            <a:endParaRPr lang="ar-SA"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المسد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تَبَّتْ يَدَآ أَبِي لَهَبٍ وَتَبَّ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خسرت يدا أبي لهب وخاب عمله، وقد هلك. وأبو لهب عمّ النبي صلى الله عليه وسلم، وكان شديد العداوة له.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أَغْنَىٰ عَنْهُ مَالُهُ وَمَا كَسَبَ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لم ينفعه ماله ولا ما كسب من أولاد ومكانة، ولم يدفع عنه عذاب الله.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سَيَصْلَىٰ نَارًا ذَاتَ لَهَبٍ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سيدخل يوم القيامة نارًا ذات لهب واشتعال.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المسد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368296"/>
            <a:ext cx="548640" cy="548640"/>
          </a:xfrm>
          <a:prstGeom prst="star8">
            <a:avLst/>
          </a:prstGeom>
          <a:solidFill>
            <a:schemeClr val="accent2"/>
          </a:solidFill>
          <a:ln/>
        </p:spPr>
      </p:sp>
      <p:sp>
        <p:nvSpPr>
          <p:cNvPr id="6" name="Shape 4"/>
          <p:cNvSpPr/>
          <p:nvPr/>
        </p:nvSpPr>
        <p:spPr>
          <a:xfrm>
            <a:off x="11036808" y="24780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3682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350008"/>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وَامْرَأَتُهُ حَمَّالَةَ الْحَطَبِ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وامرأته أم جميل ستدخل معه النار، وكانت تضع الشوك في طريق النبي صلى الله عليه وسلم لتؤذيه، وقيل: كانت تمشي بالنميمة.</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07822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جِيدِهَا حَبْلٌ مِّن مَّسَدٍ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عنقها يوم القيامة حبل من ليف مفتول تُعذَّب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النصر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١١٠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هي آخر سورة نزلت من القرآن جميعًا (رواه مسلم)، وفهم منها هو وعمر رضي الله عنهما قرب وفاة النبي صلى الله عليه وسلم.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البشارة بفتح مكة ودخول الناس في الإسلام، والإشارة إلى قرب أجل النبي صلى الله عليه وسلم.</a:t>
            </a:r>
            <a:endParaRPr lang="ar-SA"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النصر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جَآءَ نَصْرُ اللَّهِ وَالْفَتْحُ</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جاءك يا محمد نصرُ الله على أعدائك، وجاء فتح مكة.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وَرَأَيْتَ النَّاسَ يَدْخُلُونَ فِي دِينِ اللَّهِ أَفْوَاجًا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ورأيت الناس يدخلون في الإسلام جماعاتٍ جماعات، بعد أن كانوا يدخلونه أفرادًا.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فَسَبِّحْ بِحَمْدِ رَبِّكَ وَاسْتَغْفِرْهُ إِنَّهُ كَانَ تَوَّابًا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فأكثِر من تسبيح ربك وحمده واستغفاره، فإنه سبحانه كثير القبول لتوبة عباده.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الكافرون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٦</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المشركين دعوا النبي صلى الله عليه وسلم أن يعبد آلهتهم سنة، ويعبدوا إلهه سنة، فأنزل الله هذه السورة.</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البراءة من الشرك، والوضوح التام في العقيدة.</a:t>
            </a:r>
            <a:endParaRPr lang="ar-SA"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الكافرون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يَـٰأَيُّهَا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محمد للكفار الذين يعبدون غير الله: يا أيها الكافرون.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أَعْبُدُ مَا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أعبد ما تعبدون من الأصنام والآلهة الباطلة.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أَنتُمْ عَٰبِدُونَ مَآ أَعْبُدُ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أنتم تعبدون الله وحده كما أعبده.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الكافرون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أَنَا عَابِدٌ مَّا عَبَدتُّمْ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أنا أسير على طريقتكم في العبادة، ولا أقتدي بها.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أَنتُمْ عَٰبِدُونَ مَآ أَعْبُدُ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أنتم تعبدون الله بالطريقة التي شرعها لعباده.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لَكُمْ دِينُكُمْ وَلِيَ 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لكم دينكم الباطل الذي اخترتموه، ولي ديني الحق الذي أنزله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الكوثر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العاص بن وائل كان إذا ذُكر النبي صلى الله عليه وسلم قال: دعوه فإنه أبتر، أي لا ولد ذكرًا له، فإذا مات انقطع ذكره، فأنزل الله هذه السورة.</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تكريم النبي صلى الله عليه وسلم بالخير الكثير ونهر الكوثر، والأمر بإخلاص الصلاة والذبح لله.</a:t>
            </a:r>
            <a:endParaRPr lang="ar-SA"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الكوثر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أَعْطَيْنَٰكَ الْكَوْثَرَ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أعطيناك يا محمد الخير الكثير، ومنه نهر الكوثر في الجنة.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فَصَلِّ لِرَبِّكَ وَانْحَرْ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فكما أعطيناك هذا الخير، فأخلص صلاتك لربك، واذبح ذبيحتك لله وحده.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شَانِئَكَ هُوَ الْأَبْتَرُ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مُبغضك هو المقطوع ذكره وخيره، أما أنت فذكرك باقٍ إلى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الماعون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٧</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صفات المكذّبين بيوم الدين، والتحذير من التهاون بالصلاة ومنع الخير.</a:t>
            </a:r>
            <a:endParaRPr lang="ar-SA"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الماعون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أَرَءَيْتَ الَّذِي يُكَذِّبُ بِالدِّينِ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أرأيت يا محمد الذي يكذّب بيوم الحساب والجزاء؟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فَذَٰلِكَ الَّذِي يَدُعُّ الْيَتِيمَ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فهو الذي يدفع اليتيم بقسوة ويظلمه ولا يعطيه حقه.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يَحُضُّ عَلَىٰ طَعَامِ الْمِسْكِينِ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يحثّ غيره على إطعام المسكين المحتاج.</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فَوَيْلٌ لِّلْمُصَلِّينَ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فهلاكٌ وعذابٌ للمصلّين الذين وصفهم الله بعد 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الماعون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04188"/>
            <a:ext cx="548640" cy="548640"/>
          </a:xfrm>
          <a:prstGeom prst="star8">
            <a:avLst/>
          </a:prstGeom>
          <a:solidFill>
            <a:schemeClr val="accent2"/>
          </a:solidFill>
          <a:ln/>
        </p:spPr>
      </p:sp>
      <p:sp>
        <p:nvSpPr>
          <p:cNvPr id="6" name="Shape 4"/>
          <p:cNvSpPr/>
          <p:nvPr/>
        </p:nvSpPr>
        <p:spPr>
          <a:xfrm>
            <a:off x="11036808" y="16139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04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485900"/>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هُمْ عَن صَلَاتِهِمْ سَاهُونَ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يغفلون عن صلاتهم: يؤخرونها عن وقتها، أو لا يؤدونها كما أمر الله، أو لا يخشعون فيها.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هُمْ يُرَآءُونَ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يعملون أعمالهم ليراهم الناس ويمدحوهم، لا لوجه الله.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4604004"/>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وَيَمْنَعُونَ الْمَاعُونَ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ويمنعون الماعون: وهو ما يستعيره الناس من الأدوات كالقِدر والدلو والفأس، فيبخلون حتى بالشيء اليسير.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قريش</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تذكير قريش بنعمة الأمن والرزق، وأن شكرها يكون بعبادة الله وحده.</a:t>
            </a:r>
            <a:endParaRPr lang="ar-SA"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قريش</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لِإِيلَٰفِ قُرَيْشٍ</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حمى الله مكة من أصحاب الفيل لتألف قريش الأمن وتجتمع، كما قال كثير من العلماء.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إِلَٰفِهِمْ رِحْلَةَ الشِّتَآءِ وَالصَّيْفِ</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ألفوا رحلتين آمنتين كل عام للتجارة: رحلة الشتاء إلى اليمن، ورحلة الصيف إلى الشام.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فَلْيَعْبُدُواْ رَبَّ هَٰذَا الْبَيْتِ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فليشكروا هذه النعمة بعبادة ربّ هذا البيت، الكعبة، وحده لا شريك 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أَطْعَمَهُم مِّن جُوعٍ وَءَامَنَهُم مِّنْ خَوْفٍ</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أطعمهم بعد جوع، وأمّنهم من الخوف، والناس من حولهم خائفون.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الفيل</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حماية الله لبيته الحرام من جيش أبرهة.</a:t>
            </a:r>
            <a:endParaRPr lang="ar-SA"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كَيْفَ فَعَلَ رَبُّكَ بِأَصْحَٰبِ الْفِيلِ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تعلم يا محمد كيف فعل ربك بأصحاب الفيل: أبرهة وجيشه الذين جاؤوا لهدم الكعبة؟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يَجْعَلْ كَيْدَهُمْ فِي تَضْلِيلٍ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يجعل مكرهم وخطتهم في ضياع وخسارة، فلم ينالوا ما أرادوا؟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وَأَرْسَلَ عَلَيْهِمْ طَيْرًا أَبَابِيلَ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 عليهم طيرًا كثيرة تأتي جماعاتٍ متتابعة.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تَرْمِيهِم بِحِجَارَةٍ مِّن سِجِّيلٍ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ترميهم بحجارة صغيرة من طين متحجّر.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فَجَعَلَهُمْ كَعَصْفٍ مَّأْكُولٍ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فجعلهم مثل ورق الزرع اليابس الذي أكلته الدواب وداسته.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الهمزة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٩</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بعض المفسرين أنها نزلت في بعض المشركين الذين كانوا يعيبون الناس، كالأخنس بن شريق، وحكمها عام لكل من فعل ذلك.</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التحذير من السخرية بالناس وتنقّصهم، ومن الاغترار بالمال.</a:t>
            </a:r>
            <a:endParaRPr lang="ar-SA"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الهمزة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لِّكُلِّ هُمَزَةٍ لُّمَزَةٍ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لكل من يعيب الناس بلسانه (الهمّاز)، ويحتقرهم بأفعاله وإشاراته (اللمّاز).</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جَمَعَ مَالًا وَعَدَّدَهُ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همّه جمع المال وعدّه مرة بعد مرة، حبًّا له وبخلًا به.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يَحْسَبُ أَنَّ مَالَهُ أَخْلَدَهُ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يظن أن ماله سيُخلّده في الدنيا فلا يموت.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الهمزة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لَيُنبَذَنَّ فِي الْحُطَمَةِ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ليس الأمر كما ظن، ليُطرحنّ في الحطمة، وهي نار تحطم كل ما يُلقى فيها.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الْحُطَمَةُ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يا محمد ما الحطمة؟ سؤال لتعظيم شأنها وهولها.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نَارُ اللَّهِ الْمُوقَدَةُ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هي نار الله المشتعلة.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الهمزة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الَّتِي تَطَّلِعُ عَلَى الْأَفْـِٔدَةِ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التي يصل حرّها من الأجساد إلى القلوب.</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إِنَّهَا عَلَيْهِم مُّؤْصَدَةٌ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إنها مُغلقة عليهم، لا يخرجون منها.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عَمَدٍ مُّمَدَّدَةٍ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وهم مربوطون فيها بأعمدة طويلة ممدودة.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العصر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منهج النجاة من الخسارة. قال الإمام الشافعي: «لو تدبّر الناس هذه السورة لوسعتهم».</a:t>
            </a:r>
            <a:endParaRPr lang="ar-SA"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العصر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وَالْعَصْرِ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بالعصر، وهو الزمان الذي يعمل فيه الناس الخير والشر.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الْإِنسَٰنَ لَفِي خُسْرٍ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كل إنسان في خسارة وهلاك.</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وَتَوَاصَوْاْ بِالْحَقِّ وَتَوَاصَوْاْ بِالصَّبْرِ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جمع أربع صفات: آمن بقلبه، وعمل الصالحات، وأوصى غيره بالحق، وأوصاه بالصبر.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التكاثر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بعض المفسرين أنها نزلت في قبيلتين تفاخرتا بكثرة رجالهما، حتى عدّوا موتاهم في المقابر.</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التحذير من الانشغال بالتفاخر بالأموال والأولاد عن الآخرة.</a:t>
            </a:r>
            <a:endParaRPr lang="ar-SA"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التكاثر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أَلْهَىٰكُمُ التَّكَاثُرُ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شغلكم التفاخر بكثرة الأموال والأولاد عن طاعة الله والاستعداد للآخرة.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زُرْتُمُ الْمَقَابِرَ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جاءكم الموت ودُفنتم في المقابر.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سَوْفَ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ما هكذا ينبغي أن تكونوا؛ سوف تعلمون عاقبة انشغالكم بالدنيا.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كَلَّا سَوْفَ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كلا، سوف تعلمون. وهذا تهديد بعد تهديد.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التكاثر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لَوْ تَعْلَمُونَ عِلْمَ الْيَقِينِ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تعلمون ما أمامكم علمًا يقينيًا، لما شغلكم التكاثر عن الآخرة.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لَتَرَوُنَّ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لتُشاهدُنّ نار جهنم يوم القيامة.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لَتَرَوُنَّهَا عَيْنَ الْيَقِينِ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لتشاهدُنّها بأعينكم مشاهدةً لا شك فيها.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لَتُسْـَٔلُنَّ يَوْمَئِذٍ عَنِ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لتُسألُنّ يوم القيامة عن كل نعمة: الصحة والأمن والطعام والشراب، هل شكرتموها؟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القارعة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أهوال يوم القيامة، ووزن الأعمال بالميزان.</a:t>
            </a:r>
            <a:endParaRPr lang="ar-SA"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القارعة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الْقَارِعَةُ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القارعة من أسماء يوم القيامة؛ لأنها تقرع القلوب وتُفزعها بأهوالها.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الْقَارِعَةُ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 شيء هي القارعة؟ سؤال لتعظيم شأنها.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الْقَارِعَةُ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ما القارعة؟ تأكيد لعِظَم هولها.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يَكُونُ النَّاسُ كَالْفَرَاشِ الْمَبْثُوثِ</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يكون الناس من شدة الفزع منتشرين حائرين، كالفراش المتفرّق هنا وهناك.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القارعة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وَتَكُونُ الْجِبَالُ كَالْعِهْنِ الْمَنفُوشِ</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وتكون الجبال كالصوف الملوّن المنفوش، بعد أن كانت صلبة راسخة.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مَن ثَقُلَتْ مَوَٰزِينُهُ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من رجحت حسناته على سيئاته في الميزان.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فَهُوَ فِي عِيشَةٍ رَّاضِيَةٍ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فهو في عيشة هنيئة يرضاها في الجنة.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مَنْ خَفَّتْ مَوَٰزِينُهُ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من خفّت حسناته ورجحت سيئاته.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القارعة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فَأُمُّهُ هَاوِيَةٌ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فمسكنه الهاوية، وهي من أسماء النار، وقيل: يهوي فيها على رأسه.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هِيَهْ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ما الهاوية؟ تعظيم لشأنها.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نَارٌ حَامِيَةٌ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هي نار شديدة الحرارة.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العاديات</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١٠٠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جحود الإنسان لنعم ربه، وحبه الشديد للمال، وتذكيره بالبعث.</a:t>
            </a:r>
            <a:endParaRPr lang="ar-SA"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العاديات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وَالْعَٰدِيَٰتِ ضَبْحًا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بالخيل التي تجري بسرعة في سبيل الله حتى يُسمع صوت أنفاسها.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فَالْمُورِيَٰتِ قَدْحًا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فالخيل التي تُخرج بحوافرها الشرر حين تضرب الحجارة.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فَالْمُغِيرَٰتِ صُبْحًا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فالخيل التي تُغير على الأعداء وقت الصباح.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فَأَثَرْنَ بِهِ نَقْعًا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فأثارت بجريها الغبار في مكان المعركة.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العاديات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فَوَسَطْنَ بِهِ جَمْعًا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فدخلت بفرسانها وسط جموع الأعداء.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الْإِنسَٰنَ لِرَبِّهِ لَكَنُودٌ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الإنسان لنعم ربه لجحود كفور، يذكر المصائب وينسى النعم.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عَلَىٰ ذَٰلِكَ لَشَهِيدٌ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الإنسان على جحوده لشاهد بأفعاله، وقيل: إن الله على ذلك لشهيد.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لِحُبِّ الْخَيْرِ لَشَدِيدٌ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وإنه لحب المال لشديد.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العاديات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أَفَلَا يَعْلَمُ إِذَا بُعْثِرَ مَا فِي الْقُبُورِ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أفلا يعلم هذا الإنسان ما سيحدث إذا أُخرج الموتى من قبورهم للحساب؟</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وَحُصِّلَ مَا فِي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وأُظهر ما كان مخفيًا في الصدور من النيات والأسرار.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رَبَّهُم بِهِمْ يَوْمَئِذٍ لَّخَبِيرٌ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ربهم بهم وبأعمالهم يومئذ لخبير، وسيجازيهم عليها.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الزلزلة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زلزلة الأرض يوم القيامة، ومحاسبة الإنسان على أصغر الأعمال.</a:t>
            </a:r>
            <a:endParaRPr lang="ar-SA"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الزلزلة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زُلْزِلَتِ الْأَرْضُ زِلْزَالَهَا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حُرّكت الأرض حركة شديدة واضطربت يوم القيامة.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وَأَخْرَجَتِ الْأَرْضُ أَثْقَالَهَا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وأخرجت ما في بطنها من الأموات والكنوز.</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الْإِنسَٰنُ مَا لَهَا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الإنسان متعجبًا خائفًا: ما للأرض تتحرك وتضطرب؟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يَوْمَئِذٍ تُحَدِّثُ أَخْبَارَهَا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يومئذ تُخبر الأرض بما عمل الناس على ظهرها من خير أو شر، وتشهد عليهم.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الزلزلة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بِأَنَّ رَبَّكَ أَوْحَىٰ لَهَا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لأن الله أمرها وأذن لها أن تُخبر بذلك.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يَوْمَئِذٍ يَصْدُرُ النَّاسُ أَشْتَاتًا لِّيُرَوْاْ أَعْمَٰلَهُمْ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يومئذ يرجع الناس من موقف الحساب أصنافًا متفرقين، ليُعرض عليهم ما عملوه.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يَعْمَلْ مِثْقَالَ ذَرَّةٍ خَيْرًا يَرَهُ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يعمل وزن ذرة صغيرة من خير يرَ ثوابه.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يَعْمَلْ مِثْقَالَ ذَرَّةٍ شَرًّا يَرَهُ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يعمل وزن ذرة من شر يرَ عقابه.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البينة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إخلاص العبادة لله، وبيان أن المؤمنين خير الخلق والكافرين شرهم.</a:t>
            </a:r>
            <a:endParaRPr lang="ar-SA"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البينة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لَمْ يَكُنِ الَّذِينَ كَفَرُواْ مِنْ أَهْلِ الْكِتَٰبِ وَالْمُشْرِكِينَ مُنفَكِّينَ حَتَّىٰ تَأْتِيَهُمُ الْبَيِّنَةُ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لم يكن الكفار من اليهود والنصارى والمشركين تاركين كفرهم حتى تأتيهم الحجة الواضحة.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رَسُولٌ مِّنَ اللَّهِ يَتْلُواْ صُحُفًا مُّطَهَّرَةً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وهذه الحجة رسولٌ من الله، هو محمد صلى الله عليه وسلم، يقرأ عليهم القرآن المكتوب في صحف طاهرة.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البينة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368296"/>
            <a:ext cx="548640" cy="548640"/>
          </a:xfrm>
          <a:prstGeom prst="star8">
            <a:avLst/>
          </a:prstGeom>
          <a:solidFill>
            <a:schemeClr val="accent2"/>
          </a:solidFill>
          <a:ln/>
        </p:spPr>
      </p:sp>
      <p:sp>
        <p:nvSpPr>
          <p:cNvPr id="6" name="Shape 4"/>
          <p:cNvSpPr/>
          <p:nvPr/>
        </p:nvSpPr>
        <p:spPr>
          <a:xfrm>
            <a:off x="11036808" y="24780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3682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235000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فِيهَا كُتُبٌ قَيِّمَةٌ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فيها أخبار وأحكام مستقيمة عادلة لا خطأ فيها.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739896"/>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تَفَرَّقَ الَّذِينَ أُوتُواْ الْكِتَٰبَ إِلَّا مِن بَعْدِ مَا جَآءَتْهُمُ الْبَيِّنَةُ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اختلف اليهود والنصارى في دينهم إلا من بعد ما جاءتهم الحجة الواضحة، فكان اختلافهم عنادًا.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البينة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19656"/>
            <a:ext cx="548640" cy="548640"/>
          </a:xfrm>
          <a:prstGeom prst="star8">
            <a:avLst/>
          </a:prstGeom>
          <a:solidFill>
            <a:schemeClr val="accent2"/>
          </a:solidFill>
          <a:ln/>
        </p:spPr>
      </p:sp>
      <p:sp>
        <p:nvSpPr>
          <p:cNvPr id="6" name="Shape 4"/>
          <p:cNvSpPr/>
          <p:nvPr/>
        </p:nvSpPr>
        <p:spPr>
          <a:xfrm>
            <a:off x="11036808" y="1929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19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801368"/>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أُمِرُواْ إِلَّا لِيَعْبُدُواْ اللَّهَ مُخْلِصِينَ لَهُ الدِّينَ حُنَفَآءَ وَيُقِيمُواْ الصَّلَوٰةَ وَيُؤْتُواْ الزَّكَوٰةَ وَذَٰلِكَ دِينُ الْقَيِّمَةِ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أُمروا إلا أن يعبدوا الله وحده مخلصين له، تاركين الشرك، ويقيموا الصلاة ويؤتوا الزكاة، وذلك هو الدين المستقيم.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4078224"/>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مِنْ أَهْلِ الْكِتَٰبِ وَالْمُشْرِكِينَ فِي نَارِ جَهَنَّمَ خَٰلِدِينَ فِيهَآ أُوْلَـٰئِكَ هُمْ شَرُّ الْبَرِيَّةِ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من أهل الكتاب والمشركين مصيرهم نار جهنم خالدين فيها، أولئك هم شر الخلق.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البينة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63140"/>
            <a:ext cx="548640" cy="548640"/>
          </a:xfrm>
          <a:prstGeom prst="star8">
            <a:avLst/>
          </a:prstGeom>
          <a:solidFill>
            <a:schemeClr val="accent2"/>
          </a:solidFill>
          <a:ln/>
        </p:spPr>
      </p:sp>
      <p:sp>
        <p:nvSpPr>
          <p:cNvPr id="6" name="Shape 4"/>
          <p:cNvSpPr/>
          <p:nvPr/>
        </p:nvSpPr>
        <p:spPr>
          <a:xfrm>
            <a:off x="11036808" y="23728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631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224485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أُوْلَـٰئِكَ هُمْ خَيْرُ الْبَرِيَّةِ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آمنوا وعملوا الصالحات أولئك هم خير الخلق.</a:t>
            </a:r>
            <a:endParaRPr lang="ar-SA" sz="3200" dirty="0"/>
          </a:p>
        </p:txBody>
      </p:sp>
      <p:sp>
        <p:nvSpPr>
          <p:cNvPr id="9" name="Shape 7"/>
          <p:cNvSpPr/>
          <p:nvPr/>
        </p:nvSpPr>
        <p:spPr>
          <a:xfrm>
            <a:off x="2103120" y="3392424"/>
            <a:ext cx="8641080" cy="0"/>
          </a:xfrm>
          <a:prstGeom prst="line">
            <a:avLst/>
          </a:prstGeom>
          <a:noFill/>
          <a:ln w="9525">
            <a:solidFill>
              <a:schemeClr val="accent2"/>
            </a:solidFill>
            <a:prstDash val="dash"/>
          </a:ln>
        </p:spPr>
      </p:sp>
      <p:sp>
        <p:nvSpPr>
          <p:cNvPr id="10" name="Shape 8"/>
          <p:cNvSpPr/>
          <p:nvPr/>
        </p:nvSpPr>
        <p:spPr>
          <a:xfrm>
            <a:off x="10927080" y="3653028"/>
            <a:ext cx="548640" cy="548640"/>
          </a:xfrm>
          <a:prstGeom prst="star8">
            <a:avLst/>
          </a:prstGeom>
          <a:solidFill>
            <a:schemeClr val="accent2"/>
          </a:solidFill>
          <a:ln/>
        </p:spPr>
      </p:sp>
      <p:sp>
        <p:nvSpPr>
          <p:cNvPr id="11" name="Shape 9"/>
          <p:cNvSpPr/>
          <p:nvPr/>
        </p:nvSpPr>
        <p:spPr>
          <a:xfrm>
            <a:off x="11036808"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530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634740"/>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جَزَآؤُهُمْ عِندَ رَبِّهِمْ جَنَّـٰتُ عَدْنٍ تَجْرِي مِن تَحْتِهَا الْأَنْهَٰرُ خَٰلِدِينَ فِيهَآ أَبَدًا رَّضِيَ اللَّهُ عَنْهُمْ وَرَضُواْ عَنْهُ ذَٰلِكَ لِمَنْ خَشِيَ رَبَّهُ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جزاؤهم عند ربهم جنات إقامة دائمة، رضي الله عنهم ورضوا عنه، وذلك لمن خاف ربه.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القدر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فضل ليلة القدر التي أُنزل فيها القرآن.</a:t>
            </a:r>
            <a:endParaRPr lang="ar-SA"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القدر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أَنزَلْنَٰهُ فِي لَيْلَةِ الْقَدْرِ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 القرآن في ليلة القدر، وهي ليلة عظيمة من ليالي رمضان.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لَيْلَةُ الْقَدْرِ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يا محمد ما ليلة القدر؟ سؤال لتعظيم شأنها.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لَيْلَةُ الْقَدْرِ خَيْرٌ مِّنْ أَلْفِ شَهْرٍ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العمل الصالح فيها خير من العمل في ألف شهر ليس فيها ليلة القدر.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القدر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تَنَزَّلُ الْمَلَـٰئِكَةُ وَالرُّوحُ فِيهَا بِإِذْنِ رَبِّهِم مِّن كُلِّ أَمْرٍ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تنزل فيها الملائكة وجبريل بكثرة بإذن ربهم، بكل أمر قدّره الله في تلك السنة.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سَلَٰمٌ هِيَ حَتَّىٰ مَطْلَعِ الْفَجْرِ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هي ليلة سلام وأمن وخير، حتى طلوع الفجر.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العلق</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١٩</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أولها أول ما نزل من القرآن في غار حراء كما في حديث عائشة (البخاري). وآخرها نزل في أبي جهل لما هدّد النبي صلى الله عليه وسلم إن رآه يصلي عند الكعبة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أول ما نزل من القرآن: الدعوة إلى القراءة والعلم، والتحذير من الطغيان، والأمر بالسجود.</a:t>
            </a:r>
            <a:endParaRPr lang="ar-SA"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العلق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اقْرَأْ بِاسْمِ رَبِّكَ الَّذِي خَلَقَ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اقرأ يا محمد مُبتدئًا باسم ربك الذي خلق جميع المخلوقات. وهي أول آية نزلت من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الْإِنسَٰنَ مِنْ عَلَقٍ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الإنسان من علقة، وهي قطعة دم جامدة.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اقْرَأْ وَرَبُّكَ الْأَكْرَمُ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اقرأ وربك الأكرم، كثير الخير والعطاء.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عَلَّمَ بِالْقَلَمِ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علّم الإنسان الكتابة بالقلم، فحُفظت بها العلوم.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العلق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 الْإِنسَٰنَ مَا لَمْ يَعْلَمْ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علّم الإنسان ما لم يكن يعلمه، فأخرجه من الجهل إلى العلم.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 الْإِنسَٰنَ لَيَطْغَىٰ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حقًا إن الإنسان ليتجاوز حدّه ويتكبّر.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رَّءَاهُ اسْتَغْنَىٰ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رأى نفسه غنيًا بماله، ظن أنه مستغنٍ عن ربه.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إِلَىٰ رَبِّكَ الرُّجْعَىٰ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إلى ربك المرجع يوم القيامة، فيحاسبه على عمله.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العلق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أَرَءَيْتَ الَّذِي يَنْهَىٰ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أرأيت أعجب من هذا الطاغية أبي جهل الذي ينهى؟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عَبْدًا إِذَا صَلَّىٰ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ينهى عبدًا من عباد الله، هو محمد صلى الله عليه وسلم، إذا صلّى عند الكعبة.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أَرَءَيْتَ إِن كَانَ عَلَى الْهُدَىٰ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أرأيت إن كان هذا العبد المصلي على الهدى والحق؟</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أَمَرَ بِالتَّقْوَىٰ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كان يأمر غيره بتقوى الله، فكيف ينهاه؟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العلق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أَرَءَيْتَ إِن كَذَّبَ وَتَوَلَّىٰ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أرأيت إن كذّب هذا الناهي بالحق، وأعرض عن الإيمان؟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يَعْلَم بِأَنَّ اللَّهَ يَرَىٰ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يعلم أن الله يراه ويرى أفعاله، وسيجازيه عليها؟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لَئِن لَّمْ يَنتَهِ لَنَسْفَعًا بِالنَّاصِيَةِ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لئن لم يتوقف عن أذاه، لنأخذنّه بشدة من ناصيته (مقدمة رأسه) إلى النار.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نَاصِيَةٍ كَٰذِبَةٍ خَاطِئَةٍ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ناصية صاحبها كاذب في قوله، مخطئ في فعله.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العلق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فَلْيَدْعُ نَادِيَهُ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فليدعُ أهل مجلسه وأصحابه لينصروه.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سَنَدْعُ الزَّبَانِيَةَ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سندعو الزبانية، وهم ملائكة العذاب الأشدّاء.</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لَا تُطِعْهُ وَاسْجُدْ وَاقْتَرِب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لا تطعه يا محمد، واسجد لربك واقترب منه بالطاعة. (وهنا موضع سجدة)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التين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تكريم الإنسان بأحسن خلقة، وأن رفعته بالإيمان والعمل الصالح.</a:t>
            </a:r>
            <a:endParaRPr lang="ar-SA"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73352"/>
            <a:ext cx="548640" cy="548640"/>
          </a:xfrm>
          <a:prstGeom prst="star8">
            <a:avLst/>
          </a:prstGeom>
          <a:solidFill>
            <a:schemeClr val="accent2"/>
          </a:solidFill>
          <a:ln/>
        </p:spPr>
      </p:sp>
      <p:sp>
        <p:nvSpPr>
          <p:cNvPr id="6" name="Shape 4"/>
          <p:cNvSpPr/>
          <p:nvPr/>
        </p:nvSpPr>
        <p:spPr>
          <a:xfrm>
            <a:off x="11036808" y="17830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733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655064"/>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وَالتِّينِ وَالزَّيْتُونِ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بالتين والزيتون، وقيل: المراد أرض بيت المقدس التي يكثر فيها التين والزيتون، وبُعث فيها عيسى عليه السلام.</a:t>
            </a:r>
            <a:endParaRPr lang="ar-SA" sz="3200" dirty="0"/>
          </a:p>
        </p:txBody>
      </p:sp>
      <p:sp>
        <p:nvSpPr>
          <p:cNvPr id="9" name="Shape 7"/>
          <p:cNvSpPr/>
          <p:nvPr/>
        </p:nvSpPr>
        <p:spPr>
          <a:xfrm>
            <a:off x="2103120" y="3140964"/>
            <a:ext cx="8641080" cy="0"/>
          </a:xfrm>
          <a:prstGeom prst="line">
            <a:avLst/>
          </a:prstGeom>
          <a:noFill/>
          <a:ln w="9525">
            <a:solidFill>
              <a:schemeClr val="accent2"/>
            </a:solidFill>
            <a:prstDash val="dash"/>
          </a:ln>
        </p:spPr>
      </p:sp>
      <p:sp>
        <p:nvSpPr>
          <p:cNvPr id="10" name="Shape 8"/>
          <p:cNvSpPr/>
          <p:nvPr/>
        </p:nvSpPr>
        <p:spPr>
          <a:xfrm>
            <a:off x="10927080" y="3401568"/>
            <a:ext cx="548640" cy="548640"/>
          </a:xfrm>
          <a:prstGeom prst="star8">
            <a:avLst/>
          </a:prstGeom>
          <a:solidFill>
            <a:schemeClr val="accent2"/>
          </a:solidFill>
          <a:ln/>
        </p:spPr>
      </p:sp>
      <p:sp>
        <p:nvSpPr>
          <p:cNvPr id="11" name="Shape 9"/>
          <p:cNvSpPr/>
          <p:nvPr/>
        </p:nvSpPr>
        <p:spPr>
          <a:xfrm>
            <a:off x="11036808" y="35112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015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38328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وَطُورِ سِينِينَ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بجبل الطور في سيناء، الذي كلّم الله عليه موسى عليه السلام.</a:t>
            </a:r>
            <a:endParaRPr lang="ar-SA" sz="3200" dirty="0"/>
          </a:p>
        </p:txBody>
      </p:sp>
      <p:sp>
        <p:nvSpPr>
          <p:cNvPr id="14" name="Shape 12"/>
          <p:cNvSpPr/>
          <p:nvPr/>
        </p:nvSpPr>
        <p:spPr>
          <a:xfrm>
            <a:off x="2103120" y="4530852"/>
            <a:ext cx="8641080" cy="0"/>
          </a:xfrm>
          <a:prstGeom prst="line">
            <a:avLst/>
          </a:prstGeom>
          <a:noFill/>
          <a:ln w="9525">
            <a:solidFill>
              <a:schemeClr val="accent2"/>
            </a:solidFill>
            <a:prstDash val="dash"/>
          </a:ln>
        </p:spPr>
      </p:sp>
      <p:sp>
        <p:nvSpPr>
          <p:cNvPr id="15" name="Shape 13"/>
          <p:cNvSpPr/>
          <p:nvPr/>
        </p:nvSpPr>
        <p:spPr>
          <a:xfrm>
            <a:off x="10927080" y="4791456"/>
            <a:ext cx="548640" cy="548640"/>
          </a:xfrm>
          <a:prstGeom prst="star8">
            <a:avLst/>
          </a:prstGeom>
          <a:solidFill>
            <a:schemeClr val="accent2"/>
          </a:solidFill>
          <a:ln/>
        </p:spPr>
      </p:sp>
      <p:sp>
        <p:nvSpPr>
          <p:cNvPr id="16" name="Shape 14"/>
          <p:cNvSpPr/>
          <p:nvPr/>
        </p:nvSpPr>
        <p:spPr>
          <a:xfrm>
            <a:off x="11036808" y="490118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91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7731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وَهَٰذَا الْبَلَدِ الْأَمِينِ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بهذا البلد الآمن، مكة، التي بُعث فيها محمد صلى الله عليه وسلم.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خَلَقْنَا الْإِنسَٰنَ فِي أَحْسَنِ تَقْوِيمٍ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خلقنا الإنسان في أحسن صورة، معتدل القامة، كامل الخلقة.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رَدَدْنَٰهُ أَسْفَلَ سَٰفِلِينَ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رددناه إلى النار إن لم يطع الله، وقيل: إلى أرذل العمر من الضعف والكِبَر.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فَلَهُمْ أَجْرٌ غَيْرُ مَمْنُونٍ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آمنوا وعملوا الصالحات، فلهم ثواب دائم غير مقطوع.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يُكَذِّبُكَ بَعْدُ بِالدِّينِ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الذي يجعلك أيها الإنسان تكذّب بيوم الجزاء بعد هذه الدلائل؟</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أَلَيْسَ اللَّهُ بِأَحْكَمِ الْحَٰكِمِينَ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أليس الله بأحكم الحاكمين؟ بلى، فهو أعدل الحاكمين لا يظلم أحدًا.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الشرح</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تعداد نعم الله على نبيه صلى الله عليه وسلم، والبشارة بأن مع العسر يسرًا.</a:t>
            </a:r>
            <a:endParaRPr lang="ar-SA"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الشرح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نَشْرَحْ لَكَ صَدْرَكَ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نوسّع لك يا محمد صدرك ونجعله منشرحًا للإيمان والهدى؟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وَوَضَعْنَا عَنكَ وِزْرَكَ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وحططنا عنك حملك الثقيل.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أَنقَضَ ظَهْرَكَ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أتعب ظهرك وأثقله.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وَرَفَعْنَا لَكَ ذِكْرَكَ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ورفعنا لك ذكرك، فلا يُذكر الله إلا ذُكرت معه، كما في الأذان والشهادتين.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الشرح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مَعَ الْعُسْرِ يُسْرًا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مع الضيق والشدة فرجًا وسهولة.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مَعَ الْعُسْرِ يُسْرًا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مع الضيق فرجًا. والتكرار للتأكيد، فلن يغلب عسرٌ واحد يسرين.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فَرَغْتَ فَانصَبْ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فرغت من أعمال الدنيا وشواغلها، فاجتهد في عبادة ربك.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رَبِّكَ فَارْغَب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وإلى ربك وحده فاجعل رغبتك ونيّتك.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الضحى</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تأخّر نزول الوحي على النبي صلى الله عليه وسلم أيامًا، فقالت امرأة من المشركين: ما أرى صاحبك إلا قد تركك، فأنزل الله هذه السورة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تطمين النبي صلى الله عليه وسلم وتذكيره بنعم الله عليه، والأمر بالإحسان إلى الضعفاء.</a:t>
            </a:r>
            <a:endParaRPr lang="ar-SA"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الضحى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وَالضُّحَىٰ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بوقت الضحى، وهو أول النهار وضياؤه.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وَالَّيْلِ إِذَا سَجَىٰ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بالليل إذا سكن وأظلم.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وَدَّعَكَ رَبُّكَ وَمَا قَلَىٰ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تركك ربك يا محمد، وما أبغضك.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وَلَلْأخِرَةُ خَيْرٌ لَّكَ مِنَ 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وللدار الآخرة خير لك من هذه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الضحى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وَلَسَوْفَ يُعْطِيكَ رَبُّكَ فَتَرْضَىٰ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ولسوف يعطيك ربك في الآخرة من الكرامة والنعيم حتى ترضى.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يَجِدْكَ يَتِيمًا فَـَٔاوَىٰ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يجدك يتيمًا قد مات أبوك، فآواك وضمّك إلى من يرعاك؟</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وَوَجَدَكَ ضَآلًّا فَهَدَىٰ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ووجدك لا تعرف الكتاب والإيمان، فهداك إليهما.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وَوَجَدَكَ عَآئِلًا فَأَغْنَىٰ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ووجدك فقيرًا، فأغناك ورزقك.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الضحى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الْيَتِيمَ فَلَا تَقْهَرْ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اليتيم فلا تُذلّه ولا تظلمه، بل أحسن إليه.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السَّآئِلَ فَلَا تَنْهَرْ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السائل فلا تزجره، بل أعطه أو ردّه بلطف.</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بِنِعْمَةِ رَبِّكَ فَحَدِّثْ</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نعمة ربك عليك فتحدّث بها شكرًا 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الليل</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٢١</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كثيرًا من المفسرين قالوا: نزلت آخرها في أبي بكر الصديق رضي الله عنه، الذي كان يُعتق العبيد المستضعفين ابتغاء وجه الله.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اختلاف سعي الناس، وتيسير طريق الخير لمن أعطى واتقى.</a:t>
            </a:r>
            <a:endParaRPr lang="ar-SA"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الليل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وَالَّيْلِ إِذَا يَغْشَىٰ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بالليل إذا غطّى بظلامه كل شيء.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وَالنَّهَارِ إِذَا تَجَلَّىٰ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بالنهار إذا ظهر وأضاء.</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خَلَقَ الذَّكَرَ وَالْأُنثَىٰ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بخلق الذكر والأنثى.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سَعْيَكُمْ لَشَتَّىٰ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أعمالكم أيها الناس مختلفة: فمنكم من يعمل الخير، ومنكم من يعمل الشر.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الليل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مَنْ أَعْطَىٰ وَاتَّقَىٰ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من أعطى ماله في سبيل الله واتقى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وَصَدَّقَ بِالْحُسْنَىٰ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وصدّق بالجزاء والثواب.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فَسَنُيَسِّرُهُ لِلْيُسْرَىٰ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فسنسهّل له طريق الخير والعمل الصالح.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مَن بَخِلَ وَاسْتَغْنَىٰ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من بخل بماله، واستغنى عن ربه.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الليل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وَكَذَّبَ بِالْحُسْنَىٰ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وكذّب بالجزاء والثواب.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فَسَنُيَسِّرُهُ لِلْعُسْرَىٰ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فسنسهّل له طريق الشر.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يُغْنِي عَنْهُ مَالُهُ إِذَا تَرَدَّىٰ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ينفعه ماله الذي بخل به إذا مات ووقع في النار؟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عَلَيْنَا لَلْهُدَىٰ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علينا أن نبيّن طريق الهدى من طريق الضلال.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الليل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لَنَا لَلْأخِرَةَ وَالْأُولَىٰ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لنا مُلك الآخرة والدنيا.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فَأَنذَرْتُكُمْ نَارًا تَلَظَّىٰ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فحذّرتكم نارًا تتوهّج وتشتعل.</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يَصْلَىٰهَآ إِلَّا الْأَشْقَى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يدخلها إلا الأشقى.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الليل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كَذَّبَ وَتَوَلَّىٰ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كذّب بقلبه، وأعرض عن الطاعة بعمله.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وَسَيُجَنَّبُهَا الْأَتْقَى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وسيُبعَد عنها التقيّ الخائف من ربه.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يُؤْتِي مَالَهُ يَتَزَكَّىٰ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ينفق ماله ليطهّر نفسه من الذنوب.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الليل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لِأَحَدٍ عِندَهُ مِن نِّعْمَةٍ تُجْزَىٰ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وليس لأحد عنده معروف ينفق ليكافئه عليه.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ابْتِغَآءَ وَجْهِ رَبِّهِ الْأَعْلَىٰ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لكنه ينفق طلبًا لوجه ربه الأعلى.</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وَلَسَوْفَ يَرْضَىٰ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ولسوف يرضى بما يعطيه الله من الثواب.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الشمس</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١٥</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تزكية النفس سبيل الفلاح، وقصة ثمود عبرةً لمن كذّب.</a:t>
            </a:r>
            <a:endParaRPr lang="ar-SA"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الشمس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وَالشَّمْسِ وَضُحَىٰهَا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بالشمس وضوئها وقت الضحى.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وَالْقَمَرِ إِذَا تَلَىٰهَا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وبالقمر إذا تبعها في الظهور بعد غروبها.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وَالنَّهَارِ إِذَا جَلَّىٰهَا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وبالنهار إذا أظهر الأرض وأنارها.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وَالَّيْلِ إِذَا يَغْشَىٰهَا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وبالليل إذا غطّاها بظلامه.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الشمس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وَالسَّمَآءِ وَمَا بَنَىٰهَا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وبالسماء وبنائها المحكم.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وَالْأَرْضِ وَمَا طَحَىٰهَا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وبالأرض وبسطها.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وَنَفْسٍ وَمَا سَوَّىٰهَا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وبالنفس وتسويتها، إذ خلقها مستقيمة على الفطرة.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فَأَلْهَمَهَا فُجُورَهَا وَتَقْوَىٰهَا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فبيّن لها طريق الخير وطريق الشر.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الشمس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أَفْلَحَ مَن زَكَّىٰهَا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فاز من طهّر نفسه بالطاعة.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 خَابَ مَن دَسَّىٰهَا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خسر من دنّس نفسه بالمعاصي.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ثَمُودُ بِطَغْوَىٰهَآ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قبيلة ثمود نبيّها صالحًا بسبب طغيانها.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انبَعَثَ أَشْقَىٰهَا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قام أشقى القبيلة مسرعًا ليعقر الناقة.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الشمس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73352"/>
            <a:ext cx="548640" cy="548640"/>
          </a:xfrm>
          <a:prstGeom prst="star8">
            <a:avLst/>
          </a:prstGeom>
          <a:solidFill>
            <a:schemeClr val="accent2"/>
          </a:solidFill>
          <a:ln/>
        </p:spPr>
      </p:sp>
      <p:sp>
        <p:nvSpPr>
          <p:cNvPr id="6" name="Shape 4"/>
          <p:cNvSpPr/>
          <p:nvPr/>
        </p:nvSpPr>
        <p:spPr>
          <a:xfrm>
            <a:off x="11036808" y="17830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733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655064"/>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 لَهُمْ رَسُولُ اللَّهِ نَاقَةَ اللَّهِ وَسُقْيَٰهَا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لهم صالح عليه السلام: احذروا أن تمسّوا ناقة الله بسوء، واتركوا لها نصيبها من الماء.</a:t>
            </a:r>
            <a:endParaRPr lang="ar-SA" sz="3200" dirty="0"/>
          </a:p>
        </p:txBody>
      </p:sp>
      <p:sp>
        <p:nvSpPr>
          <p:cNvPr id="9" name="Shape 7"/>
          <p:cNvSpPr/>
          <p:nvPr/>
        </p:nvSpPr>
        <p:spPr>
          <a:xfrm>
            <a:off x="2103120" y="3140964"/>
            <a:ext cx="8641080" cy="0"/>
          </a:xfrm>
          <a:prstGeom prst="line">
            <a:avLst/>
          </a:prstGeom>
          <a:noFill/>
          <a:ln w="9525">
            <a:solidFill>
              <a:schemeClr val="accent2"/>
            </a:solidFill>
            <a:prstDash val="dash"/>
          </a:ln>
        </p:spPr>
      </p:sp>
      <p:sp>
        <p:nvSpPr>
          <p:cNvPr id="10" name="Shape 8"/>
          <p:cNvSpPr/>
          <p:nvPr/>
        </p:nvSpPr>
        <p:spPr>
          <a:xfrm>
            <a:off x="10927080" y="3401568"/>
            <a:ext cx="548640" cy="548640"/>
          </a:xfrm>
          <a:prstGeom prst="star8">
            <a:avLst/>
          </a:prstGeom>
          <a:solidFill>
            <a:schemeClr val="accent2"/>
          </a:solidFill>
          <a:ln/>
        </p:spPr>
      </p:sp>
      <p:sp>
        <p:nvSpPr>
          <p:cNvPr id="11" name="Shape 9"/>
          <p:cNvSpPr/>
          <p:nvPr/>
        </p:nvSpPr>
        <p:spPr>
          <a:xfrm>
            <a:off x="11036808" y="35112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015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38328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 فَعَقَرُوهَا فَدَمْدَمَ عَلَيْهِمْ رَبُّهُم بِذَنبِهِمْ فَسَوَّىٰهَا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 وقتلوا الناقة، فأهلكهم ربهم جميعًا بسبب ذنبهم.</a:t>
            </a:r>
            <a:endParaRPr lang="ar-SA" sz="3200" dirty="0"/>
          </a:p>
        </p:txBody>
      </p:sp>
      <p:sp>
        <p:nvSpPr>
          <p:cNvPr id="14" name="Shape 12"/>
          <p:cNvSpPr/>
          <p:nvPr/>
        </p:nvSpPr>
        <p:spPr>
          <a:xfrm>
            <a:off x="2103120" y="4530852"/>
            <a:ext cx="8641080" cy="0"/>
          </a:xfrm>
          <a:prstGeom prst="line">
            <a:avLst/>
          </a:prstGeom>
          <a:noFill/>
          <a:ln w="9525">
            <a:solidFill>
              <a:schemeClr val="accent2"/>
            </a:solidFill>
            <a:prstDash val="dash"/>
          </a:ln>
        </p:spPr>
      </p:sp>
      <p:sp>
        <p:nvSpPr>
          <p:cNvPr id="15" name="Shape 13"/>
          <p:cNvSpPr/>
          <p:nvPr/>
        </p:nvSpPr>
        <p:spPr>
          <a:xfrm>
            <a:off x="10927080" y="4791456"/>
            <a:ext cx="548640" cy="548640"/>
          </a:xfrm>
          <a:prstGeom prst="star8">
            <a:avLst/>
          </a:prstGeom>
          <a:solidFill>
            <a:schemeClr val="accent2"/>
          </a:solidFill>
          <a:ln/>
        </p:spPr>
      </p:sp>
      <p:sp>
        <p:nvSpPr>
          <p:cNvPr id="16" name="Shape 14"/>
          <p:cNvSpPr/>
          <p:nvPr/>
        </p:nvSpPr>
        <p:spPr>
          <a:xfrm>
            <a:off x="11036808" y="490118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91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7731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يَخَافُ عُقْبَٰهَا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يخاف الله عاقبة ما فعل 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البلد</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٢٠</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٩٠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نعم الله على الإنسان، وطريق اقتحام العقبة بالأعمال الصالحة.</a:t>
            </a:r>
            <a:endParaRPr lang="ar-SA" sz="1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البلد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أُقْسِمُ بِهَٰذَا الْبَلَدِ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بهذا البلد الحرام، مكة.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وَأَنتَ حِلٌّ بِهَٰذَا الْبَلَدِ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وأنت يا محمد حلالٌ لك القتال فيه ساعة فتح مكة.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وَوَالِدٍ وَمَا وَلَدَ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بكل والد وولده، وقيل: آدم وذريته.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خَلَقْنَا الْإِنسَٰنَ فِي كَبَدٍ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خلقنا الإنسان في تعب ومشقة، يكابد أمور الدنيا والآخرة.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البلد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أَيَحْسَبُ أَن لَّن يَقْدِرَ عَلَيْهِ أَحَدٌ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أيظن هذا الإنسان أن لن يقدر عليه أحد؟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يَقُولُ أَهْلَكْتُ مَالًا لُّبَدًا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متفاخرًا: أنفقت مالًا كثيرًا.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أَيَحْسَبُ أَن لَّمْ يَرَهُ أَحَدٌ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أيظن أن الله لم يره ولم يعلم ما أنفق؟</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نَجْعَل لَّهُ عَيْنَيْنِ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نجعل له عينين يبصر بهما؟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البلد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وَلِسَانًا وَشَفَتَيْنِ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ولسانًا ينطق به، وشفتين؟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وَهَدَيْنَٰهُ النَّجْدَيْنِ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وبيّنا له طريقي الخير والشر.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اقْتَحَمَ الْعَقَبَةَ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تجاوز العقبة، فعمل ما ينجيه.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الْعَقَبَةُ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ما العقبة؟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البلد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 رَقَبَةٍ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هي إعتاق رقبة من الرّق.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إِطْعَٰمٌ فِي يَوْمٍ ذِي مَسْغَبَةٍ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إطعام في يوم مجاعة شديدة.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يَتِيمًا ذَا مَقْرَبَةٍ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يتيمًا من الأقارب.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مِسْكِينًا ذَا مَتْرَبَةٍ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مسكينًا شديد الفقر، كأنه لاصق بالتراب.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البلد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كَانَ مِنَ الَّذِينَ ءَامَنُواْ وَتَوَاصَوْاْ بِالصَّبْرِ وَتَوَاصَوْاْ بِالْمَرْحَمَةِ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كان مع هذه الأعمال من المؤمنين، الذين يوصي بعضهم بعضًا بالصبر وبالرحمة للخلق.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أَصْحَٰبُ الْمَيْمَنَةِ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أصحاب اليمين، أهل الجنة.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بِـَٔايَٰتِنَا هُمْ أَصْحَٰبُ الْمَشْـَٔمَةِ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كفروا بآياتنا هم أصحاب الشمال، أهل النار.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عَلَيْهِمْ نَارٌ مُّؤْصَدَةٌ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عليهم نار مغلقة لا يخرجون منها.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الفجر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٣٠</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مصير الأمم الطاغية، وحقيقة الابتلاء بالغنى والفقر، وجزاء النفس المطمئنة.</a:t>
            </a:r>
            <a:endParaRPr lang="ar-SA"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وَالْفَجْرِ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بالفجر، وهو وقت الصباح.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وَلَيَالٍ عَشْرٍ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وبالليالي العشر، وهي عشر ذي الحجة كما قال ابن عباس.</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وَالشَّفْعِ وَالْوَتْرِ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وبالشفع والوتر، قيل: الوتر يوم عرفة والشفع يوم النحر، وقيل: كل زوج وفرد.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وَالَّيْلِ إِذَا يَسْرِ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وبالليل إذا يمضي ويذهب.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فِي ذَٰلِكَ قَسَمٌ لِّذِي حِجْرٍ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أليس في ذلك قسمٌ مقنع لصاحب عقل؟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كَيْفَ فَعَلَ رَبُّكَ بِعَادٍ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كيف فعل ربك بقوم عاد؟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إِرَمَ ذَاتِ الْعِمَادِ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وهم قبيلة إرم، أصحاب الأجسام القوية والأبنية العالية.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الَّتِي لَمْ يُخْلَقْ مِثْلُهَا فِي الْبِلَٰدِ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التي لم يُخلق مثلها في البلاد في القوة والشدة.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وَثَمُودَ الَّذِينَ جَابُواْ الصَّخْرَ بِالْوَادِ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وقوم ثمود الذين نحتوا الصخر في الوادي وبنوا منه بيوتًا.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وَفِرْعَوْنَ ذِي الْأَوْتَادِ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وفرعون صاحب الأوتاد، قيل: الجنود الذين يشدّون ملكه، وقيل: كان يعذّب الناس بالأوتاد.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طَغَوْاْ فِي الْبِلَٰدِ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تجاوزوا الحد في الظلم في بلادهم.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فَأَكْثَرُواْ فِيهَا الْفَسَادَ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فأكثروا فيها الكفر والمعاصي.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فَصَبَّ عَلَيْهِمْ رَبُّكَ سَوْطَ عَذَابٍ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فأنزل عليهم ربك عذابًا شديدًا.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لَبِالْمِرْصَادِ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لبالمرصاد: يرى أعمال الناس ويجازيهم عليها.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الْإِنسَٰنُ إِذَا مَا ابْتَلَىٰهُ رَبُّهُ فَأَكْرَمَهُ وَنَعَّمَهُ فَيَقُولُ رَبِّي أَكْرَمَنِ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الإنسان إذا اختبره ربه فأكرمه بالمال والنعم، ظن أن ذلك إكرام له من الله.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إِذَا مَا ابْتَلَىٰهُ فَقَدَرَ عَلَيْهِ رِزْقَهُ فَيَقُولُ رَبِّي أَهَٰنَنِ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إذا اختبره فضيّق عليه رزقه، ظن أن ذلك إهانة 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بَل لَّا تُكْرِمُونَ الْيَتِيمَ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ليس الأمر كما ظن، بل أنتم لا تُكرمون اليتيم.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تَحَـٰضُّونَ عَلَىٰ طَعَامِ الْمِسْكِينِ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يحث بعضكم بعضًا على إطعام المسكين.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وَتَأْكُلُونَ التُّرَاثَ أَكْلًا 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وتأكلون الميراث أكلًا شديدًا، دون تمييز بين الحلال والحرام.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وَتُحِبُّونَ الْمَالَ حُبًّا جَمًّا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وتحبون المال حبًّا كثيرًا.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إِذَا دُكَّتِ الْأَرْضُ دَكًّا دَكًّا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إذا دُكّت الأرض وزُلزلت وسُوّيت يوم القيامة.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رَبُّكَ وَالْمَلَكُ صَفًّا صَفًّا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ربك لفصل القضاء بين عباده كما يليق بجلاله، والملائكة صفوفًا صفوفًا.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وَجِاْيءَ يَوْمَئِذٍ بِجَهَنَّمَ يَوْمَئِذٍ يَتَذَكَّرُ الْإِنسَٰنُ وَأَنَّىٰ لَهُ الذِّكْرَىٰ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وجيء يومئذ بجهنم، يومئذ يتذكر الإنسان عمله، ولكن لا ينفعه التذكر حينئذ.</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يَقُولُ يَٰلَيْتَنِي قَدَّمْتُ لِحَيَاتِي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نادمًا: يا ليتني قدّمت أعمالًا صالحة لحياتي الباقية في الآخرة.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فَيَوْمَئِذٍ لَّا يُعَذِّبُ عَذَابَهُ أَحَدٌ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فيومئذ لا يعذّب أحدٌ مثل عذاب الله لمن عصاه.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يُوثِقُ وَثَاقَهُ أَحَدٌ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يقيّد أحدٌ مثل قيد الله للكافرين.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يَـٰأَيَّتُهَا النَّفْسُ الْمُطْمَئِنَّةُ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أيتها النفس المؤمنة الساكنة الثابتة على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ارْجِعِي إِلَىٰ رَبِّكِ رَاضِيَةً مَّرْضِيَّةً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ارجعي إلى ربك راضية بثوابه، مرضيًّا عنها.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فَادْخُلِي فِي عِبَٰدِي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فادخلي في جملة عبادي الصالحين.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وَادْخُلِي جَنَّتِي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وادخلي جنتي.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الغاشية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٢٦</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أحوال الناس يوم القيامة، والدعوة إلى التفكر في مخلوقات الله.</a:t>
            </a:r>
            <a:endParaRPr lang="ar-SA" sz="1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الغاشية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أَتَىٰكَ حَدِيثُ الْغَٰشِيَةِ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أتاك يا محمد خبر القيامة التي تغشى الناس وتعمّهم بأهوالها؟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وُجُوهٌ يَوْمَئِذٍ خَٰشِعَةٌ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وجوهٌ يومئذ ذليلة خاضعة، وهي وجوه الكفار.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عَامِلَةٌ نَّاصِبَةٌ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عملت كثيرًا في الدنيا على غير هدى، فتعبت ولم تنتفع.</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تَصْلَىٰ نَارًا حَامِيَةً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تدخل نارًا شديدة الحرارة.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الغاشية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تُسْقَىٰ مِنْ عَيْنٍ ءَانِيَةٍ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تُسقى من عين شديدة الحرارة.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لَهُمْ طَعَامٌ إِلَّا مِن ضَرِيعٍ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لهم طعام إلا من ضريع، وهو نبات ذو شوك.</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يُسْمِنُ وَلَا يُغْنِي مِن جُوعٍ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يُسمن آكله، ولا يدفع عنه الجوع.</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وُجُوهٌ يَوْمَئِذٍ نَّاعِمَةٌ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ووجوه يومئذ ناعمة، وهي وجوه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الغاشية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لِّسَعْيِهَا رَاضِيَةٌ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راضية بثواب عملها الصالح في الدنيا.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جَنَّةٍ عَالِيَةٍ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جنة رفيعة المكان والمنزلة.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تَسْمَعُ فِيهَا لَٰغِيَةً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يسمعون فيها كلمة لغو أو باطل.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فِيهَا عَيْنٌ جَارِيَةٌ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فيها عين ماء جارية.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الغاشية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فِيهَا سُرُرٌ مَّرْفُوعَةٌ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فيها أسرّة مرتفعة.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وَأَكْوَابٌ مَّوْضُوعَةٌ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وأكواب موضوعة معدّة للشرب.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وَنَمَارِقُ مَصْفُوفَةٌ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ووسائد مصفوفة بعضها بجانب بعض.</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وَزَرَابِيُّ مَبْثُوثَةٌ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وبُسط فاخرة مفروشة في كل مكان.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الغاشية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أَفَلَا يَنظُرُونَ إِلَى الْإِبِلِ كَيْفَ خُلِقَتْ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أفلا ينظرون إلى الإبل كيف خُلقت خلقًا عجيبًا، فهي قوية وتطيع الإنسان؟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السَّمَآءِ كَيْفَ رُفِعَتْ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وإلى السماء كيف رُفعت بلا أعمدة؟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الْجِبَالِ كَيْفَ نُصِبَتْ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وإلى الجبال كيف نُصبت ثابتة راسخة؟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الْأَرْضِ كَيْفَ سُطِحَتْ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وإلى الأرض كيف بُسطت ومُهّدت؟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الغاشية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فَذَكِّرْ إِنَّمَآ أَنتَ مُذَكِّرٌ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فذكّر يا محمد الناس بما أُرسلت به، فإنما أنت مذكّر.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لَّسْتَ عَلَيْهِم بِمُصَيْطِرٍ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لست عليهم بمسيطر تُجبرهم على الإيمان.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تَوَلَّىٰ وَكَفَرَ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 من أعرض عن الحق وكفر.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الغاشية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فَيُعَذِّبُهُ اللَّهُ الْعَذَابَ الْأَكْبَرَ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فيعذّبه الله العذاب الأكبر في النار.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إِلَيْنَآ إِيَابَهُمْ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إلينا رجوعهم بعد الموت.</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 عَلَيْنَا حِسَابَهُم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 علينا حسابهم ومجازاتهم.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الأعلى</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١٩</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تسبيح الله وتعظيمه، وأن الفلاح في تزكية النفس. وكان النبي صلى الله عليه وسلم يقرأ بها في العيدين والجمعة.</a:t>
            </a:r>
            <a:endParaRPr lang="ar-SA" sz="1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الأعلى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 اسْمَ رَبِّكَ الْأَعْلَى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نزّه اسم ربك الأعلى عن كل نقص، واذكره وعظّمه. ولما نزلت قال صلى الله عليه وسلم: «اجعلوها في سجودكم».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خَلَقَ فَسَوَّىٰ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خلق المخلوقات فأتقن خلقها وسوّاها.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قَدَّرَ فَهَدَىٰ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قدّر المقادير، وهدى كل مخلوق لما يناسبه.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أَخْرَجَ الْمَرْعَىٰ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أخرج من الأرض النبات والعشب الأخضر.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الأعلى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فَجَعَلَهُ غُثَآءً أَحْوَىٰ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فجعله بعد ذلك يابسًا متغيّر اللون.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سَنُقْرِئُكَ فَلَا تَنسَىٰ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سنُقرئك يا محمد هذا القرآن فلا تنساه.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مَا شَآءَ اللَّهُ إِنَّهُ يَعْلَمُ الْجَهْرَ وَمَا يَخْفَىٰ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ما شاء الله أن تنساه، إنه يعلم ما يُجهر به وما يُخفى.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وَنُيَسِّرُكَ لِلْيُسْرَىٰ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ونيسّرك لأعمال الخير، ونجعل شريعتك سهلة سمحة.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الأعلى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فَذَكِّرْ إِن نَّفَعَتِ الذِّكْرَىٰ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فذكّر الناس بالقرآن حيث تنفع الذكرى.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سَيَذَّكَّرُ مَن يَخْشَىٰ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سيتّعظ بها من يخاف الله.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وَيَتَجَنَّبُهَا الْأَشْقَى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ويبتعد عنها الشقيّ.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يَصْلَى النَّارَ الْكُبْرَىٰ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يدخل النار الكبرى ويقاسي حرّها.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الأعلى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لَا يَمُوتُ فِيهَا وَلَا يَحْيَىٰ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لا يموت فيها فيستريح، ولا يحيا حياة طيبة.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أَفْلَحَ مَن تَزَكَّىٰ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فاز من طهّر نفسه من الشرك والأخلاق الرديئة.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وَذَكَرَ اسْمَ رَبِّهِ فَصَلَّىٰ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وذكر اسم ربه فصلّى كما أمره الله.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تُؤْثِرُونَ الْحَيَوٰةَ الدُّنْيَا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لكنكم تقدّمون الحياة الدنيا على الآخرة.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الأعلى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وَالْأخِرَةُ خَيْرٌ وَأَبْقَىٰ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والآخرة أفضل من الدنيا وأدوم وأبقى.</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لَفِي الصُّحُفِ 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المذكور مكتوب في الصحف الأولى.</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صُحُفِ إِبْرَٰهِيمَ وَمُوسَىٰ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صحف إبراهيم وموسى عليهما السلام.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الطارق</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١٧</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رقابة الله على كل نفس، وقدرته على إعادة الخلق، وصدق القرآن.</a:t>
            </a:r>
            <a:endParaRPr lang="ar-SA" sz="1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الطارق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وَالسَّمَآءِ وَالطَّارِقِ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بالسماء وبالنجم الذي يطرق ليلًا، أي يظهر في الليل.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الطَّارِقُ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ما الطارق؟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النَّجْمُ الثَّاقِبُ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النجم المضيء الذي يثقب الظلام بنوره.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كُلُّ نَفْسٍ لَّمَّا عَلَيْهَا حَافِظٌ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من نفس إلا عليها حافظ من الله، يحرسها ويحفظ أعمالها.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الطارق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فَلْيَنظُرِ الْإِنسَٰنُ مِمَّ خُلِقَ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فلينظر الإنسان مِمّ خُلق، ليعرف ضعف أصله.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مِن مَّآءٍ دَافِقٍ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من ماء مندفع.</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يَخْرُجُ مِن بَيْنِ الصُّلْبِ وَالتَّرَآئِبِ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يخرج من بين صلب الرجل (ظهره) وترائب المرأة (صدرها).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عَلَىٰ رَجْعِهِ لَقَادِرٌ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الذي خلقه أول مرة لقادر على إعادته بعد موته.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الطارق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تُبْلَى السَّرَآئِرُ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تُكشف الأسرار ويظهر ما كان مخفيًا في القلوب.</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لَهُ مِن قُوَّةٍ وَلَا نَاصِرٍ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للإنسان يومئذ قوة يدفع بها عن نفسه، ولا ناصر ينصره.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وَالسَّمَآءِ ذَاتِ الرَّجْعِ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بالسماء ذات المطر الذي يرجع مرة بعد مرة.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الطارق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وَالْأَرْضِ ذَاتِ الصَّدْعِ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وبالأرض التي تتشقق عن النبات.</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لَقَوْلٌ فَصْلٌ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القرآن لقول فاصل بين الحق والباطل.</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هُوَ بِالْهَزْلِ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وليس هو باللعب ولا بالباطل، بل هو جدّ وحق.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الطارق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يَكِيدُونَ كَيْدًا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يدبّرون المكائد لردّ الحق.</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وَأَكِيدُ كَيْدًا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وأنا أدبّر لهم ما يُبطل كيدهم، وأجازيهم عليه.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فَمَهِّلِ الْكَٰفِرِينَ أَمْهِلْهُمْ رُوَيْدًا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فأمهِل الكافرين يا محمد، ولا تستعجل عقوبتهم، وسترى ما يحلّ 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البروج</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٢٢</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قصة أصحاب الأخدود، والثبات على الإيمان أمام الظلم.</a:t>
            </a:r>
            <a:endParaRPr lang="ar-SA" sz="18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البروج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وَالسَّمَآءِ ذَاتِ الْبُرُوجِ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بالسماء ذات المنازل والنجوم العظيمة.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وَالْيَوْمِ الْمَوْعُودِ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بيوم القيامة الذي وعد الله به الخلق.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وَشَاهِدٍ وَمَشْهُودٍ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بكل شاهد ومشهود، قيل: الشاهد يوم الجمعة، والمشهود يوم عرفة.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قُتِلَ أَصْحَٰبُ الْأُخْدُودِ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لُعن أصحاب الأخدود، وهم قوم حفروا في الأرض شقًّا طويلًا ليحرقوا فيه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البروج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النَّارِ ذَاتِ الْوَقُودِ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أخدود فيه النار ذات الوقود الكثير.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هُمْ عَلَيْهَا قُعُودٌ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هم جالسون حول الأخدود.</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وَهُمْ عَلَىٰ مَا يَفْعَلُونَ بِالْمُؤْمِنِينَ شُهُودٌ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وهم يشاهدون ما يفعلونه بالمؤمنين من التعذيب.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البروج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4203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نَقَمُواْ مِنْهُمْ إِلَّآ أَن يُؤْمِنُواْ بِاللَّهِ الْعَزِيزِ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أنكروا عليهم إلا إيمانهم بالله العزيز المحمود في كل أفعاله.</a:t>
            </a:r>
            <a:endParaRPr lang="ar-SA" sz="3200" dirty="0"/>
          </a:p>
        </p:txBody>
      </p:sp>
      <p:sp>
        <p:nvSpPr>
          <p:cNvPr id="9" name="Shape 7"/>
          <p:cNvSpPr/>
          <p:nvPr/>
        </p:nvSpPr>
        <p:spPr>
          <a:xfrm>
            <a:off x="2103120" y="2548128"/>
            <a:ext cx="8641080" cy="0"/>
          </a:xfrm>
          <a:prstGeom prst="line">
            <a:avLst/>
          </a:prstGeom>
          <a:noFill/>
          <a:ln w="9525">
            <a:solidFill>
              <a:schemeClr val="accent2"/>
            </a:solidFill>
            <a:prstDash val="dash"/>
          </a:ln>
        </p:spPr>
      </p:sp>
      <p:sp>
        <p:nvSpPr>
          <p:cNvPr id="10" name="Shape 8"/>
          <p:cNvSpPr/>
          <p:nvPr/>
        </p:nvSpPr>
        <p:spPr>
          <a:xfrm>
            <a:off x="10927080" y="2788920"/>
            <a:ext cx="548640" cy="548640"/>
          </a:xfrm>
          <a:prstGeom prst="star8">
            <a:avLst/>
          </a:prstGeom>
          <a:solidFill>
            <a:schemeClr val="accent2"/>
          </a:solidFill>
          <a:ln/>
        </p:spPr>
      </p:sp>
      <p:sp>
        <p:nvSpPr>
          <p:cNvPr id="11" name="Shape 9"/>
          <p:cNvSpPr/>
          <p:nvPr/>
        </p:nvSpPr>
        <p:spPr>
          <a:xfrm>
            <a:off x="11036808" y="28986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889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277063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لَهُ مُلْكُ السَّمَٰوَٰتِ وَالْأَرْضِ وَاللَّهُ عَلَىٰ كُلِّ شَيْءٍ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له ملك السماوات والأرض، والله على كل شيء شهيد لا يخفى عليه شيء.</a:t>
            </a:r>
            <a:endParaRPr lang="ar-SA" sz="3200" dirty="0"/>
          </a:p>
        </p:txBody>
      </p:sp>
      <p:sp>
        <p:nvSpPr>
          <p:cNvPr id="14" name="Shape 12"/>
          <p:cNvSpPr/>
          <p:nvPr/>
        </p:nvSpPr>
        <p:spPr>
          <a:xfrm>
            <a:off x="2103120" y="3898392"/>
            <a:ext cx="8641080" cy="0"/>
          </a:xfrm>
          <a:prstGeom prst="line">
            <a:avLst/>
          </a:prstGeom>
          <a:noFill/>
          <a:ln w="9525">
            <a:solidFill>
              <a:schemeClr val="accent2"/>
            </a:solidFill>
            <a:prstDash val="dash"/>
          </a:ln>
        </p:spPr>
      </p:sp>
      <p:sp>
        <p:nvSpPr>
          <p:cNvPr id="15" name="Shape 13"/>
          <p:cNvSpPr/>
          <p:nvPr/>
        </p:nvSpPr>
        <p:spPr>
          <a:xfrm>
            <a:off x="10927080" y="4139184"/>
            <a:ext cx="548640" cy="548640"/>
          </a:xfrm>
          <a:prstGeom prst="star8">
            <a:avLst/>
          </a:prstGeom>
          <a:solidFill>
            <a:schemeClr val="accent2"/>
          </a:solidFill>
          <a:ln/>
        </p:spPr>
      </p:sp>
      <p:sp>
        <p:nvSpPr>
          <p:cNvPr id="16" name="Shape 14"/>
          <p:cNvSpPr/>
          <p:nvPr/>
        </p:nvSpPr>
        <p:spPr>
          <a:xfrm>
            <a:off x="11036808" y="424891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139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412089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فَتَنُواْ الْمُؤْمِنِينَ وَالْمُؤْمِنَٰتِ ثُمَّ لَمْ يَتُوبُواْ فَلَهُمْ عَذَابُ جَهَنَّمَ وَلَهُمْ عَذَابُ الْحَرِيقِ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عذّبوا المؤمنين والمؤمنات ليردّوهم عن دينهم ثم لم يتوبوا، فلهم عذاب جهنم وعذاب الحريق.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البروج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549908"/>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لَهُمْ جَنَّـٰتٌ تَجْرِي مِن تَحْتِهَا الْأَنْهَٰرُ ذَٰلِكَ الْفَوْزُ الْكَبِيرُ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آمنوا وعملوا الصالحات لهم جنات تجري من تحتها الأنهار، ذلك هو الفوز الكبير.</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4884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بَطْشَ رَبِّكَ لَشَدِيدٌ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عقاب ربك لأعدائه لشديد.</a:t>
            </a:r>
            <a:endParaRPr lang="ar-SA" sz="3200" dirty="0"/>
          </a:p>
        </p:txBody>
      </p:sp>
      <p:sp>
        <p:nvSpPr>
          <p:cNvPr id="14" name="Shape 12"/>
          <p:cNvSpPr/>
          <p:nvPr/>
        </p:nvSpPr>
        <p:spPr>
          <a:xfrm>
            <a:off x="2103120" y="4636008"/>
            <a:ext cx="8641080" cy="0"/>
          </a:xfrm>
          <a:prstGeom prst="line">
            <a:avLst/>
          </a:prstGeom>
          <a:noFill/>
          <a:ln w="9525">
            <a:solidFill>
              <a:schemeClr val="accent2"/>
            </a:solidFill>
            <a:prstDash val="dash"/>
          </a:ln>
        </p:spPr>
      </p:sp>
      <p:sp>
        <p:nvSpPr>
          <p:cNvPr id="15" name="Shape 13"/>
          <p:cNvSpPr/>
          <p:nvPr/>
        </p:nvSpPr>
        <p:spPr>
          <a:xfrm>
            <a:off x="10927080" y="4896612"/>
            <a:ext cx="548640" cy="548640"/>
          </a:xfrm>
          <a:prstGeom prst="star8">
            <a:avLst/>
          </a:prstGeom>
          <a:solidFill>
            <a:schemeClr val="accent2"/>
          </a:solidFill>
          <a:ln/>
        </p:spPr>
      </p:sp>
      <p:sp>
        <p:nvSpPr>
          <p:cNvPr id="16" name="Shape 14"/>
          <p:cNvSpPr/>
          <p:nvPr/>
        </p:nvSpPr>
        <p:spPr>
          <a:xfrm>
            <a:off x="11036808" y="500634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966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87832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هُوَ يُبْدِئُ وَيُعِيدُ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هو الذي يبدأ الخلق ثم يعيده بعد الموت.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البروج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الْغَفُورُ الْوَدُودُ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الغفور لذنوب من تاب، الودود: المحبّ لأوليائه.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ذُو الْعَرْشِ الْمَجِيدُ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صاحب العرش العظيم، المجيد: كثير الخير والمجد.</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فَعَّالٌ لِّمَا يُرِيدُ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يفعل ما يريد، لا يمنعه شيء.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البروج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أَتَىٰكَ حَدِيثُ الْجُنُودِ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أتاك يا محمد خبر الجنود المكذّبين؟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فِرْعَوْنَ وَثَمُودَ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فرعون وقبيلة ثمود، وما حلّ بهم من العذاب.</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الَّذِينَ كَفَرُواْ فِي تَكْذِيبٍ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الكفار مستمرون في التكذيب.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البروج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مِن وَرَآئِهِم مُّحِيطٌ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قد أحاط بهم علمًا وقدرة، لا يفوتونه.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هُوَ قُرْءَانٌ مَّجِيدٌ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هو قرآن عظيم كريم.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لَوْحٍ مَّحْفُوظٍ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مكتوب في لوح محفوظ من التغيير والزيادة والنقص.</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الانشقاق</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٢٥</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كل إنسان ساعٍ إلى لقاء ربه، ثم الحساب وأخذ الكتاب.</a:t>
            </a:r>
            <a:endParaRPr lang="ar-SA" sz="18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الانشقاق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السَّمَآءُ انشَقَّتْ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السماء تشققت يوم القيامة.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وَأَذِنَتْ لِرَبِّهَا وَحُقَّتْ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وأطاعت أمر ربها وانقادت له، وحُقّ لها أن تطيع.</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الْأَرْضُ مُدَّتْ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الأرض بُسطت ووُسّعت.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وَأَلْقَتْ مَا فِيهَا وَتَخَلَّتْ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وأخرجت ما في بطنها من الأموات، وتخلّت عنهم.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الانشقاق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وَأَذِنَتْ لِرَبِّهَا وَحُقَّتْ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وأطاعت أمر ربها، وحُقّ لها أن تطيع.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الْإِنسَٰنُ إِنَّكَ كَادِحٌ إِلَىٰ رَبِّكَ كَدْحًا فَمُلَٰقِيهِ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الإنسان، إنك ساعٍ إلى ربك سعيًا وعامل عملًا، ثم إنك ستلقى ربك وعملك.</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مَنْ أُوتِيَ كِتَٰبَهُ بِيَمِينِهِ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من أُعطي كتاب أعماله بيده اليمنى، وهو المؤمن.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فَسَوْفَ يُحَاسَبُ حِسَابًا يَسِيرًا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فسوف يحاسَب حسابًا سهلًا، وهو العرض فقط دون مناقشة.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الانشقاق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وَيَنقَلِبُ إِلَىٰ أَهْلِهِ مَسْرُورًا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ويرجع إلى أهله في الجنة فرحًا مسرورًا.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مَنْ أُوتِيَ كِتَٰبَهُ وَرَآءَ ظَهْرِهِ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من أُعطي كتابه بشماله من وراء ظهره، وهو الكافر.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فَسَوْفَ يَدْعُواْ ثُبُورًا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فسوف ينادي بالهلاك والخسارة.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وَيَصْلَىٰ 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ويدخل نارًا مشتعلة يقاسي حرّها.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الانشقاق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كَانَ فِي أَهْلِهِ مَسْرُورًا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كان في الدنيا بين أهله فرحًا مغرورًا، لا يفكر في العواقب.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ظَنَّ أَن لَّن يَحُورَ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ظن أنه لن يرجع إلى الله بعد الموت.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بَلَىٰ إِنَّ رَبَّهُ كَانَ بِهِ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بلى، سيعيده الله ويجازيه، إن ربه كان به بصيرًا عالمًا بأعماله.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أُقْسِمُ بِالشَّفَقِ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فأقسم بالحمرة التي تكون في الأفق بعد غروب الشمس.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الانشقاق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وَالَّيْلِ وَمَا وَسَقَ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وبالليل وما جمع وضمّ من الأشياء.</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وَالْقَمَرِ إِذَا اتَّسَقَ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وبالقمر إذا اكتمل نوره ليالي البدر.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لَتَرْكَبُنَّ طَبَقًا عَن طَبَقٍ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لتنتقلُنّ أيها الناس من حال إلى حال، كما قال ابن عباس.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الانشقاق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لَهُمْ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للكفار لا يؤمنون بعد هذه الدلائل؟</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قُرِئَ عَلَيْهِمُ الْقُرْءَانُ لَا يَسْجُدُونَ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 عليهم القرآن لا يخضعون ولا يسجدون لله؟ (وهنا موضع سجدة)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الَّذِينَ كَفَرُواْ يُكَذِّبُونَ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الذين كفروا يكذّبون بالحق.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الانشقاق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أَعْلَمُ بِمَا يُوعُونَ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أعلم بما يخفونه في صدورهم.</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فَبَشِّرْهُم بِعَذَابٍ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فبشّرهم بعذاب مؤلم.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لَهُمْ أَجْرٌ غَيْرُ مَمْنُونٍ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آمنوا وعملوا الصالحات، فلهم أجر غير مقطوع.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المطففين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٣٦</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لما قدم النبي صلى الله عليه وسلم المدينة كانوا من أخبث الناس كيلًا، فأنزل الله ﴿ويل للمطففين﴾ فأحسنوا الكيل بعد ذلك (رواه النسائي وابن ماجه).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تحريم الغش في الكيل والميزان، ومصير الفجار والأبرار.</a:t>
            </a:r>
            <a:endParaRPr lang="ar-SA" sz="18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لِّلْمُطَفِّفِينَ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للمطففين، الذين يُنقصون في الكيل والميزان.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إِذَا اكْتَالُواْ عَلَى النَّاسِ يَسْتَوْفُونَ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إذا اشتروا من الناس أخذوا حقهم كاملًا.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كَالُوهُمْ أَو وَّزَنُوهُمْ يُخْسِرُونَ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باعوا للناس فكالوا لهم أو وزنوا لهم أنقصوهم حقهم.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يَظُنُّ أُوْلَـٰئِكَ أَنَّهُم مَّبْعُوثُونَ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يظن هؤلاء أنهم مبعوثون بعد الموت؟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ليوم عظيم الأهوال.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يَقُومُ النَّاسُ لِرَبِّ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يقوم الناس لربّ العالمين في موقف طويل.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 كِتَٰبَ الْفُجَّارِ لَفِي سِجِّينٍ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حقًا إن كتاب أعمال الفجار لفي سجّين، وهو مكان ضيّق في أسفل الأرض.</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سِجِّينٌ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ما سجّين؟ سؤال لتعظيم شأنه.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كِتَٰبٌ مَّرْقُومٌ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كتاب مكتوب مفروغ منه، لا يُزاد فيه ولا يُنقص.</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يومئذ للمكذّبين.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يُكَذِّبُونَ بِيَوْمِ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يكذّبون بيوم الجزاء والحساب.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يُكَذِّبُ بِهِ إِلَّا كُلُّ مُعْتَدٍ أَثِيمٍ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يكذّب به إلا كل معتدٍ كثير الذنوب.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تُتْلَىٰ عَلَيْهِ ءَايَٰتُنَا قَالَ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تُقرأ عليه آيات القرآن قال: هذه حكايات الأولين.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بَلْ رَانَ عَلَىٰ قُلُوبِهِم 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بل غطّت الذنوب التي عملوها على قلوبهم، فصارت لا تقبل الحق.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إِنَّهُمْ عَن رَّبِّهِمْ يَوْمَئِذٍ لَّمَحْجُوبُونَ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إنهم يوم القيامة محجوبون عن رؤية ربهم.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إِنَّهُمْ لَصَالُواْ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إنهم لداخلو النار يقاسون حرّها.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يُقَالُ هَٰذَا الَّذِي كُنتُم بِهِ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يُقال لهم توبيخًا: هذا العذاب الذي كنتم تكذّبون به.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 كِتَٰبَ الْأَبْرَارِ لَفِي عِلِّيِّينَ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حقًا إن كتاب أعمال الأبرار لفي علّيّين، وهو مكان عالٍ رفيع في السماء.</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عِلِّيُّونَ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ما علّيّون؟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كِتَٰبٌ مَّرْقُومٌ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كتاب مكتوب لا يُزاد فيه ولا يُنقص.</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يَشْهَدُهُ الْمُقَرَّبُونَ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يحضره الملائكة المقرّبون.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الْأَبْرَارَ لَفِي 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الأبرار لفي نعيم دائم في الجنة.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الْأَرَآئِكِ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الأسرّة المزيّنة ينظرون إلى ما أعدّ الله لهم من النعيم.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تَعْرِفُ فِي وُجُوهِهِمْ نَضْرَةَ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ترى في وجوههم بهجة النعيم ونضارته.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يُسْقَوْنَ مِن رَّحِيقٍ مَّخْتُومٍ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يُسقون من شراب الجنة الخالص، المختوم على إنائه.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خِتَٰمُهُ مِسْكٌ وَفِي ذَٰلِكَ فَلْيَتَنَافَسِ الْمُتَنَٰفِسُونَ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آخر شربه رائحة المسك، وفي هذا النعيم فليتسابق المتسابقون.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وَمِزَاجُهُ مِن تَسْنِيمٍ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وهذا الشراب ممزوج من عين تسنيم، أشرف شراب أهل الجنة.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عَيْنًا يَشْرَبُ بِهَا الْمُقَرَّبُونَ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عين يشرب منها المقرّبون صافيةً.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أَجْرَمُواْ كَانُواْ مِنَ الَّذِينَ ءَامَنُواْ يَضْحَكُونَ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المجرمين كانوا في الدنيا يضحكون من المؤمنين استهزاءً.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مَرُّواْ بِهِمْ يَتَغَامَزُونَ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مرّ المؤمنون بهم يغمز بعضهم بعضًا سخريةً منهم.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انقَلَبُواْ إِلَىٰ أَهْلِهِمُ انقَلَبُواْ فَكِهِينَ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رجعوا إلى أهلهم رجعوا فرحين بما فعلوا.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رَأَوْهُمْ قَالُواْ إِنَّ هَـٰؤُلَآءِ لَضَآلُّونَ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رأوا المؤمنين قالوا: إن هؤلاء لضالّون.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المطففين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أُرْسِلُواْ عَلَيْهِمْ حَٰفِظِينَ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 الكفار رقباء على المؤمنين يحاسبونهم.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فَالْيَوْمَ الَّذِينَ ءَامَنُواْ مِنَ الْكُفَّارِ يَضْحَكُونَ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فاليوم، يوم القيامة، المؤمنون يضحكون من الكفار.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الْأَرَآئِكِ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الأسرّة ينظرون إلى ما هم فيه من النعيم.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ثُوِّبَ الْكُفَّارُ مَا كَانُواْ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جوزي الكفار بما كانوا يفعلونه من السخرية؟ نعم، جوزوا أوفى الجزاء.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الانفطار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١٩</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تذكير الإنسان بكرم ربه، وبالملائكة الحافظين الذين يكتبون أعماله.</a:t>
            </a:r>
            <a:endParaRPr lang="ar-SA" sz="1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الانفطار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السَّمَآءُ انفَطَرَتْ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السماء انشقت يوم القيامة.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الْكَوَاكِبُ انتَثَرَتْ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النجوم تساقطت وتفرقت.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الْبِحَارُ فُجِّرَتْ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البحار فُجّر بعضها في بعض فاختلطت.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الْقُبُورُ بُعْثِرَتْ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القبور قُلبت وأُخرج من فيها من الأموات.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الانفطار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عَلِمَتْ نَفْسٌ مَّا قَدَّمَتْ وَأَخَّرَتْ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عندها تعلم كل نفس جميع أعمالها، ما عملته أولًا وما عملته آخرًا.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الْإِنسَٰنُ مَا غَرَّكَ بِرَبِّكَ الْكَرِيمِ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الإنسان، ما الذي خدعك حتى عصيت ربك الكريم؟ وهذا تهديد كما قال ابن كثير.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خَلَقَكَ فَسَوَّىٰكَ فَعَدَلَكَ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خلقك فجعلك سويّ الأعضاء معتدل القامة.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أَيِّ صُورَةٍ مَّا شَآءَ رَكَّبَكَ</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أي صورة شاء ركّبك من الصور.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الانفطار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بَلْ تُكَذِّبُونَ بِالدِّينِ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بل تكذّبون بيوم الحساب والجزاء.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عَلَيْكُمْ لَحَٰفِظِينَ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عليكم لملائكة يحفظون أعمالكم.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كِرَامًا كَٰتِبِينَ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كرامًا يكتبون ما تفعلون.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يَعْلَمُونَ مَا تَفْعَلُونَ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يعلمون ما تفعلون فيكتبونه.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الانفطار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الْأَبْرَارَ لَفِي 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الأبرار المطيعين لفي نعيم الجنة.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الْفُجَّارَ لَفِي 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الفجّار العصاة لفي النار.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يَصْلَوْنَهَا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يدخلونها ويقاسون حرّها يوم الجزاء.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هُمْ عَنْهَا بِغَآئِبِينَ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يغيبون عنها ولا يخرجون منها.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الانفطار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أدراك ما يوم الدين؟ سؤال لتعظيم شأنه.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مَآ أَدْرَىٰكَ مَا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ما أدراك ما يوم الدين؟ تأكيد لهوله.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لَا تَمْلِكُ نَفْسٌ لِّنَفْسٍ شَيْـًٔا وَالْأَمْرُ يَوْمَئِذٍ لِّلَّهِ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لا يملك أحد لأحد نفعًا، والأمر كله يومئذ لله وحده.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التكوير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٢٩</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مشاهد تغيّر الكون يوم القيامة، وصدق القرآن ونزوله بواسطة جبريل.</a:t>
            </a:r>
            <a:endParaRPr lang="ar-SA" sz="1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الشَّمْسُ كُوِّرَتْ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الشمس لُفّت وذهب ضوؤها.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النُّجُومُ انكَدَرَتْ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النجوم تساقطت وتناثرت.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الْجِبَالُ سُيِّرَتْ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الجبال سُيّرت عن أماكنها.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الْعِشَارُ عُطِّلَتْ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النوق الحوامل -وهي أنفس الأموال عند العرب- تُركت وأُهملت من شدة الهول.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الْوُحُوشُ حُشِرَتْ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الوحوش جُمعت.</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الْبِحَارُ سُجِّرَتْ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البحار أُوقدت فصارت نارًا.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النُّفُوسُ زُوِّجَتْ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النفوس قُرنت بأمثالها: كل إنسان مع من يشبهه في عمله.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الْمَوْءُدَةُ سُئِلَتْ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الطفلة التي دُفنت حيّة سُئلت.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بِأَيِّ ذَنبٍ قُتِلَتْ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بأي ذنب قُتلت؟ وهذا توبيخ لمن قتلها.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الصُّحُفُ نُشِرَتْ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صحف الأعمال نُشرت وفُتحت.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السَّمَآءُ كُشِطَتْ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السماء أُزيلت وكُشطت.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الْجَحِيمُ سُعِّرَتْ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النار أُوقدت وأُشعلت.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الْجَنَّةُ أُزْلِفَتْ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الجنة قُرّبت من المتقين.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عَلِمَتْ نَفْسٌ مَّآ أَحْضَرَتْ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عندها تعلم كل نفس ما قدّمت من خير أو شر.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أُقْسِمُ بِالْخُنَّسِ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فأقسم بالنجوم التي تختفي بالنهار.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الْجَوَارِ الْكُنَّسِ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الجارية في أفلاكها، التي تغيب وتستتر.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وَالَّيْلِ إِذَا عَسْعَسَ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وبالليل إذا أقبل بظلامه، وقيل: إذا أدبر.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وَالصُّبْحِ إِذَا تَنَفَّسَ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وبالصبح إذا أضاء وظهر نوره.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لَقَوْلُ رَسُولٍ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القرآن لقول رسول كريم، وهو جبريل عليه السلام، يبلّغه عن الله.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ذِي قُوَّةٍ عِندَ ذِي الْعَرْشِ مَكِينٍ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صاحب قوة، وصاحب مكانة عالية عند الله صاحب العرش.</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مُّطَاعٍ ثَمَّ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تطيعه الملائكة في السماء، وهو أمين على الوحي.</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صَاحِبُكُم بِمَجْنُونٍ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صاحبكم محمد صلى الله عليه وسلم بمجنون كما تزعمون.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رَءَاهُ بِالْأُفُقِ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رأى محمد صلى الله عليه وسلم جبريل على صورته الحقيقية في الأفق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هُوَ عَلَى الْغَيْبِ بِضَنِينٍ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هو على الوحي ببخيل، بل يبلّغه كاملًا.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هُوَ بِقَوْلِ شَيْطَٰنٍ رَّجِيمٍ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هذا القرآن بقول شيطان مطرود من رحمة الله.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فَأَيْنَ تَذْهَبُونَ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فأين تذهبون عن هذا الحق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التكوير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هُوَ إِلَّا ذِكْرٌ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هذا القرآن إلا موعظة وتذكير للناس جميعًا.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لِمَن شَآءَ مِنكُمْ أَن يَسْتَقِيمَ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لمن أراد منكم أن يستقيم على الحق.</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تَشَآءُونَ إِلَّآ أَن يَشَآءَ اللَّهُ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تشاؤون الاستقامة إلا أن يشاء الله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عبس</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٤٢</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٨٠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جاء الصحابي الأعمى عبد الله ابن أم مكتوم إلى النبي صلى الله عليه وسلم يسأله، وكان صلى الله عليه وسلم مشغولًا بدعوة بعض كبار قريش طمعًا في إسلامهم، فعبس وأعرض عنه، فنزلت (رواه 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قيمة الإنسان بإيمانه وحرصه على الهداية، والتذكير بنعم الله وأهوال القيامة.</a:t>
            </a:r>
            <a:endParaRPr lang="ar-SA" sz="18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عَبَسَ وَتَوَلَّىٰ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قطّب النبي صلى الله عليه وسلم وجهه وأعرض.</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جَآءَهُ الْأَعْمَىٰ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لأن جاءه الأعمى عبد الله ابن أم مكتوم يسأله.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يُدْرِيكَ لَعَلَّهُ يَزَّكَّىٰ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يُعلمك يا محمد، لعل هذا الأعمى يتطهّر من ذنوبه بما يتعلمه منك.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يَذَّكَّرُ فَتَنفَعَهُ الذِّكْرَىٰ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يتّعظ فتنفعه الموعظة.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أَمَّا مَنِ اسْتَغْنَىٰ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أما من استغنى عن الإيمان بماله وجاهه.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فَأَنتَ لَهُ تَصَدَّىٰ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فأنت تُقبل عليه وتهتم به.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عَلَيْكَ أَلَّا يَزَّكَّىٰ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وأي شيء عليك إن لم يتطهّر من كفره؟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مَن جَآءَكَ يَسْعَىٰ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من جاءك مسرعًا يطلب الخير.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يَخْشَىٰ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يخاف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فَأَنتَ عَنْهُ تَلَهَّىٰ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فأنت تنشغل عنه.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إِنَّهَا تَذْكِرَةٌ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ليس الأمر كذلك؛ إن هذه الآيات موعظة وتذكرة.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شَآءَ ذَكَرَهُ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شاء ذكر الله واتّعظ بالقرآن.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صُحُفٍ مُّكَرَّمَةٍ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في صحف مكرّمة عند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مَّرْفُوعَةٍ مُّطَهَّرَةٍ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مرفوعة القدر، مطهّرة من الدنس والتحريف.</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بِأَيْدِي سَفَرَةٍ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بأيدي ملائكة سفراء بين الله وخلقه.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كِرَامٍ بَرَرَةٍ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كرام على الله، مطيعين له،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قُتِلَ الْإِنسَٰنُ مَآ أَكْفَرَهُ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لُعن الإنسان الكافر، ما أشد كفره بربه!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أَيِّ شَيْءٍ خَلَقَهُ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أي شيء خلقه الله حتى يتكبّر؟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نُّطْفَةٍ خَلَقَهُ فَقَدَّرَهُ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ماء ضعيف خلقه، فقدّر مراحل خلقه.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السَّبِيلَ يَسَّرَهُ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يسّر له طريق الخروج من بطن أمه، وبيّن له طريق الخير والشر.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أَمَاتَهُ فَأَقْبَرَهُ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أماته وجعل له قبرًا يُدفن فيه إكرامًا 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إِذَا شَآءَ أَنشَرَهُ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إذا شاء الله أحياه وبعثه بعد الموت.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لَمَّا يَقْضِ مَآ أَمَرَهُ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لم يؤدِّ الإنسان ما أمره الله به.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فَلْيَنظُرِ الْإِنسَٰنُ إِلَىٰ طَعَامِهِ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فلينظر الإنسان إلى طعامه، كيف خلقه الله ويسّره 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أَنَّا صَبَبْنَا الْمَآءَ صَبًّا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أنّا أنزلنا المطر من السماء إنزالًا.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شَقَقْنَا الْأَرْضَ شَقًّا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شققنا الأرض بالنبات.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فَأَنبَتْنَا فِيهَا حَبًّا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فأنبتنا فيها الحبوب.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وَعِنَبًا وَقَضْبًا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وعنبًا، وعلفًا رطبًا للدواب.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وَزَيْتُونًا وَنَخْلًا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وزيتونًا ونخلًا.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وَحَدَآئِقَ غُلْبًا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وبساتين كثيرة الأشجار ملتفّة.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وَفَٰكِهَةً وَأَبًّا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وفاكهة، وعشبًا ترعاه الدواب.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مَّتَٰعًا لَّكُمْ وَلِأَنْعَٰمِكُمْ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متاعًا لكم ولأنعامكم تنتفعون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جَآءَتِ الصَّآخَّةُ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جاءت الصيحة الشديدة يوم القيامة التي تصمّ الآذان.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يَفِرُّ الْمَرْءُ مِنْ أَخِيهِ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يهرب الإنسان من أخيه.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وَأُمِّهِ وَأَبِيهِ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أمه وأبيه.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وَصَٰحِبَتِهِ وَبَنِيهِ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زوجته وأولاده.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لِكُلِّ امْرِيٍٕ مِّنْهُمْ يَوْمَئِذٍ شَأْنٌ يُغْنِيهِ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لكل واحد منهم يومئذ أمرٌ يشغله عن غيره.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وُجُوهٌ يَوْمَئِذٍ مُّسْفِرَةٌ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وجوه يومئذ مضيئة مشرقة، وهي وجوه المؤمنين.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ضَاحِكَةٌ مُّسْتَبْشِرَةٌ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ضاحكة فرحة مستبشرة.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عبس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وَوُجُوهٌ يَوْمَئِذٍ عَلَيْهَا غَبَرَةٌ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ووجوه يومئذ عليها غبار.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تَرْهَقُهَا قَتَرَةٌ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تعلوها ظلمة وسواد.</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هُمُ الْكَفَرَةُ الْفَجَرَةُ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هم الكفار الفجّار.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النازعات</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٤٦</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أن المشركين كانوا يسألون النبي صلى الله عليه وسلم عن وقت قيام الساعة استهزاءً وتكذيبًا، فأنزل الله: ﴿يسألونك عن الساعة أيان مرساها﴾ إلى آخر السورة.</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أهوال القيامة، وقصة موسى مع فرعون، ودلائل قدرة الله على البعث.</a:t>
            </a:r>
            <a:endParaRPr lang="ar-SA" sz="18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وَالنَّـٰزِعَٰتِ غَرْقًا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بالملائكة التي تنزع أرواح الكفار بشدة.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وَالنَّـٰشِطَٰتِ نَشْطًا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والملائكة التي تقبض أرواح المؤمنين بسهولة ولطف.</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وَالسَّـٰبِحَٰتِ سَبْحًا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والملائكة التي تسبح في نزولها من السماء وصعودها.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فَالسَّـٰبِقَٰتِ سَبْقًا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فالملائكة التي تسبق إلى تنفيذ أمر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فَالْمُدَبِّرَٰتِ أَمْرًا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فالملائكة التي تدبّر ما أمرها الله به من شؤون الكون.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تَرْجُفُ الرَّاجِفَةُ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ترجف الأرض بالنفخة الأولى.</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تَتْبَعُهَا الرَّادِفَةُ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تتبعها النفخة الثانية.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قُلُوبٌ يَوْمَئِذٍ وَاجِفَةٌ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قلوب يومئذ خائفة مضطربة.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أَبْصَٰرُهَا خَٰشِعَةٌ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أبصار أصحابها ذليلة من شدة الخوف.</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يَقُولُونَ أَءِنَّا لَمَرْدُودُونَ فِي الْحَافِرَةِ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المكذبون: أنُردّ إلى الحياة بعد الموت؟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أَءِذَا كُنَّا عِظَٰمًا نَّخِرَةً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أنُبعث بعد أن صرنا عظامًا بالية؟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تِلْكَ إِذًا كَرَّةٌ خَاسِرَةٌ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 رجعنا إلى الحياة فهي رجعة خاسرة.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فَإِنَّمَا هِيَ زَجْرَةٌ وَٰحِدَةٌ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فإنما هي صيحة واحدة.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هُم بِالسَّاهِرَةِ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هم أحياء على وجه الأرض.</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أَتَىٰكَ حَدِيثُ 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أتاك يا محمد خبر موسى عليه السلام؟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نَادَىٰهُ رَبُّهُ بِالْوَادِ الْمُقَدَّسِ طُوًى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ناداه ربه بالوادي المقدّس، واسمه طُوى.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اذْهَبْ إِلَىٰ فِرْعَوْنَ إِنَّهُ 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اذهب إلى فرعون، إنه تجاوز الحد في الكفر والظلم.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فَقُلْ هَل لَّكَ إِلَىٰ أَن تَزَكَّىٰ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فقل له: هل لك رغبة أن تتطهّر من الكفر والذنوب؟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وَأَهْدِيَكَ إِلَىٰ رَبِّكَ فَتَخْشَىٰ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وأدلّك على طريق ربك فتخافه.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فَأَرَىٰهُ الْأيَةَ الْكُبْرَىٰ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فأراه موسى المعجزة الكبرى: العصا واليد.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 وَعَصَىٰ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 فرعون وعصى.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أَدْبَرَ يَسْعَىٰ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أدبر يسعى في معارضة الحق.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فَحَشَرَ فَنَادَىٰ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فجمع أهل مملكته فنادى فيهم.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 أَنَا رَبُّكُمُ الْأَعْلَىٰ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أنا ربكم الأعلى!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فَأَخَذَهُ اللَّهُ نَكَالَ الْأخِرَةِ وَالْأُولَىٰ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فعاقبه الله في الآخرة بالنار، وفي الدنيا بالغرق.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لَعِبْرَةً لِّمَن يَخْشَىٰ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لمن يخاف الله.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ءَأَنتُمْ أَشَدُّ خَلْقًا أَمِ السَّمَآءُ بَنَىٰهَا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أأنتم أيها الناس أصعب خلقًا أم السماء التي بناها الله؟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رَفَعَ سَمْكَهَا فَسَوَّىٰهَا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رفع سقفها عاليًا فسوّاها بلا شقوق.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وَأَغْطَشَ لَيْلَهَا وَأَخْرَجَ ضُحَىٰهَا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 ليلها مظلمًا، وأظهر نهارها مضيئًا.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وَالْأَرْضَ بَعْدَ ذَٰلِكَ دَحَىٰهَآ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والأرض بعد ذلك بسطها.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أَخْرَجَ مِنْهَا مَآءَهَا وَمَرْعَىٰهَا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أخرج منها ماءها من العيون، ومرعاها من النبات.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وَالْجِبَالَ أَرْسَىٰهَا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والجبال ثبّتها في الأرض.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مَتَٰعًا لَّكُمْ وَلِأَنْعَٰمِكُمْ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متاعًا لكم ولأنعامكم.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جَآءَتِ الطَّآمَّةُ الْكُبْرَىٰ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جاءت الداهية الكبرى، يوم القيامة.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يَتَذَكَّرُ الْإِنسَٰنُ مَا سَعَىٰ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يتذكر الإنسان ما عمل من خير وشر.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وَبُرِّزَتِ الْجَحِيمُ لِمَن يَرَىٰ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وأُظهرت النار لكل من يراها.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مَن 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من تجاوز الحد في الكفر والمعاصي.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وَءَاثَرَ الْحَيَوٰةَ الدُّنْيَا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وقدّم الحياة الدنيا على الآخرة.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الْجَحِيمَ هِيَ الْمَأْوَىٰ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النار هي مسكنه ومأواه.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مَنْ خَافَ مَقَامَ رَبِّهِ وَنَهَى النَّفْسَ عَنِ الْهَوَىٰ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من خاف وقوفه بين يدي ربه، ومنع نفسه عن هواها.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الْجَنَّةَ هِيَ الْمَأْوَىٰ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الجنة هي مسكنه ومأواه.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يَسْـَٔلُونَكَ عَنِ السَّاعَةِ أَيَّانَ مُرْسَىٰهَا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يسألك المشركون يا محمد عن الساعة: متى وقتها؟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فِيمَ أَنتَ مِن ذِكْرَىٰهَآ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لست تعلم وقتها حتى تذكره 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النازعات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رَبِّكَ مُنتَهَىٰهَآ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ربك وحده منتهى علمها.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أَنتَ مُنذِرُ مَن يَخْشَىٰهَا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أنت منذر تخوّف من يخافها.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كَأَنَّهُمْ يَوْمَ يَرَوْنَهَا لَمْ يَلْبَثُواْ إِلَّا عَشِيَّةً أَوْ ضُحَىٰهَا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كأنهم يوم يرونها لم يلبثوا في الدنيا إلا عشيّة يوم أو ضحاه.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النبأ</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٤٠</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بُعث النبي صلى الله عليه وسلم وأخبر المشركين بالبعث بعد الموت، جعلوا يتساءلون بينهم ويختلفون فيه بين مكذّب وشاكّ، فنزلت السورة.</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البعث والجزاء، والرد على من شكّ في يوم القيامة.</a:t>
            </a:r>
            <a:endParaRPr lang="ar-SA" sz="18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عَمَّ يَتَسَآءَلُونَ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 أي شيء يسأل المشركون بعضهم بعضًا؟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عَنِ النَّبَإِ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يتساءلون عن الخبر العظيم، وهو البعث يوم القيامة.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هُمْ فِيهِ مُخْتَلِفُونَ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هم فيه مختلفون: بين مكذّب وشاكّ.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سَيَعْلَمُونَ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سيعلمون عاقبة تكذيبهم. وهذا تهديد.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كَلَّا سَيَعْلَمُونَ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كلا، سيعلمون. تهديد بعد تهديد.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نَجْعَلِ الْأَرْضَ مِهَٰدًا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نجعل الأرض ممهّدة مفروشة لكم؟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وَالْجِبَالَ أَوْتَادًا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والجبال أوتادًا تثبّتها لئلا تضطرب بكم.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وَخَلَقْنَٰكُمْ أَزْوَٰجًا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وخلقناكم أصنافًا: ذكرًا وأنثى.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نَوْمَكُمْ سُبَاتًا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نومكم راحة لأبدانكم.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الَّيْلَ لِبَاسًا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الليل يستركم بظلامه كاللباس.</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النَّهَارَ مَعَاشًا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النهار وقتًا للسعي في طلب الرزق.</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وَبَنَيْنَا فَوْقَكُمْ سَبْعًا شِدَادًا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وبنينا فوقكم سبع سماوات قوية محكمة.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سِرَاجًا وَهَّاجًا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الشمس سراجًا مضيئًا متوقّدًا.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وَأَنزَلْنَا مِنَ الْمُعْصِرَٰتِ مَآءً ثَجَّاجًا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وأنزلنا من السحاب ماءً كثيرًا.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لِّنُخْرِجَ بِهِ حَبًّا وَنَبَاتًا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لنخرج به حبًّا يأكله الناس، ونباتًا تأكله الدواب.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وَجَنَّـٰتٍ أَلْفَافًا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وبساتين ملتفّة الأشجار.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يَوْمَ الْفَصْلِ كَانَ مِيقَٰتًا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يوم القيامة يوم الفصل بين الخلائق، له وقت محدد لا يتقدم ولا يتأخر.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يُنفَخُ فِي الصُّورِ فَتَأْتُونَ أَفْوَاجًا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يُنفخ في الصور فتأتون جماعات جماعات.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وَفُتِحَتِ السَّمَآءُ فَكَانَتْ أَبْوَٰبًا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وفُتحت السماء فكانت ذات أبواب كثيرة تنزل منها الملائكة.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وَسُيِّرَتِ الْجِبَالُ فَكَانَتْ سَرَابًا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وسُيّرت الجبال حتى صارت كالسراب.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جَهَنَّمَ كَانَتْ مِرْصَادًا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جهنم كانت ترصد أهلها وتنتظرهم.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لِّلطَّـٰغِينَ مَـَٔابًا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للطاغين مرجعًا ومسكنًا.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لَّـٰبِثِينَ فِيهَآ أَحْقَابًا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ماكثين فيها مددًا طويلة لا تنتهي.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يَذُوقُونَ فِيهَا بَرْدًا وَلَا شَرَابًا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يذوقون فيها بردًا يخفف حرّهم، ولا شرابًا يرويهم.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حَمِيمًا وَغَسَّاقًا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ماءً شديد الحرارة، وصديد أهل النار.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جَزَآءً وِفَاقًا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جزاءً موافقًا لأعمالهم السيئة.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كَانُواْ لَا يَرْجُونَ حِسَابًا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كانوا لا يخافون الحساب ولا يؤمنون به.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وَكَذَّبُواْ بِـَٔايَٰتِنَا كِذَّابًا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وكذّبوا بآياتنا تكذيبًا شديدًا.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 شَيْءٍ أَحْصَيْنَٰهُ كِتَٰبًا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 شيء من أعمالهم أحصيناه وكتبناه.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فَذُوقُواْ فَلَن نَّزِيدَكُمْ إِلَّا عَذَابًا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فذوقوا العذاب، فلن نزيدكم إلا عذابًا.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لِلْمُتَّقِينَ مَفَازًا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للمتقين فوزًا ونجاة.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حَدَآئِقَ وَأَعْنَٰبًا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بساتين وأعنابًا.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وَكَوَاعِبَ أَتْرَابًا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وزوجات حسانًا متساويات في السن.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وَكَأْسًا دِهَاقًا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وكأسًا ممتلئة.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يَسْمَعُونَ فِيهَا لَغْوًا وَلَا كِذَّـٰبًا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يسمعون في الجنة كلامًا باطلًا ولا كذبًا.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جَزَآءً مِّن رَّبِّكَ عَطَآءً حِسَابًا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جزاءً من ربك وعطاءً كافيًا.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الرَّحْمَٰنِ لَا يَمْلِكُونَ مِنْهُ خِطَابًا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السماوات والأرض وما بينهما، الرحمن، لا يستطيع أحد أن يكلّمه إلا بإذنه.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7216"/>
            <a:ext cx="548640" cy="548640"/>
          </a:xfrm>
          <a:prstGeom prst="star8">
            <a:avLst/>
          </a:prstGeom>
          <a:solidFill>
            <a:schemeClr val="accent2"/>
          </a:solidFill>
          <a:ln/>
        </p:spPr>
      </p:sp>
      <p:sp>
        <p:nvSpPr>
          <p:cNvPr id="6" name="Shape 4"/>
          <p:cNvSpPr/>
          <p:nvPr/>
        </p:nvSpPr>
        <p:spPr>
          <a:xfrm>
            <a:off x="11036808" y="14569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72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28928"/>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يَقُومُ الرُّوحُ وَالْمَلَـٰئِكَةُ صَفًّا لَّا يَتَكَلَّمُونَ إِلَّا مَنْ أَذِنَ لَهُ الرَّحْمَٰنُ وَقَالَ صَوَابًا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يقوم جبريل والملائكة صفوفًا، لا يتكلمون إلا من أذن له الرحمن وقال صوابًا.</a:t>
            </a:r>
            <a:endParaRPr lang="ar-SA" sz="3200" dirty="0"/>
          </a:p>
        </p:txBody>
      </p:sp>
      <p:sp>
        <p:nvSpPr>
          <p:cNvPr id="9" name="Shape 7"/>
          <p:cNvSpPr/>
          <p:nvPr/>
        </p:nvSpPr>
        <p:spPr>
          <a:xfrm>
            <a:off x="2103120" y="2913888"/>
            <a:ext cx="8641080" cy="0"/>
          </a:xfrm>
          <a:prstGeom prst="line">
            <a:avLst/>
          </a:prstGeom>
          <a:noFill/>
          <a:ln w="9525">
            <a:solidFill>
              <a:schemeClr val="accent2"/>
            </a:solidFill>
            <a:prstDash val="dash"/>
          </a:ln>
        </p:spPr>
      </p:sp>
      <p:sp>
        <p:nvSpPr>
          <p:cNvPr id="10" name="Shape 8"/>
          <p:cNvSpPr/>
          <p:nvPr/>
        </p:nvSpPr>
        <p:spPr>
          <a:xfrm>
            <a:off x="10927080" y="3063240"/>
            <a:ext cx="548640" cy="548640"/>
          </a:xfrm>
          <a:prstGeom prst="star8">
            <a:avLst/>
          </a:prstGeom>
          <a:solidFill>
            <a:schemeClr val="accent2"/>
          </a:solidFill>
          <a:ln/>
        </p:spPr>
      </p:sp>
      <p:sp>
        <p:nvSpPr>
          <p:cNvPr id="11" name="Shape 9"/>
          <p:cNvSpPr/>
          <p:nvPr/>
        </p:nvSpPr>
        <p:spPr>
          <a:xfrm>
            <a:off x="11036808" y="31729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632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04495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الْيَوْمُ الْحَقُّ فَمَن شَآءَ اتَّخَذَ إِلَىٰ رَبِّهِ مَـَٔابًا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اليوم الحق الذي لا شك فيه، فمن شاء اتخذ إلى ربه طريقًا بالعمل الصالح.</a:t>
            </a:r>
            <a:endParaRPr lang="ar-SA" sz="3200" dirty="0"/>
          </a:p>
        </p:txBody>
      </p:sp>
      <p:sp>
        <p:nvSpPr>
          <p:cNvPr id="14" name="Shape 12"/>
          <p:cNvSpPr/>
          <p:nvPr/>
        </p:nvSpPr>
        <p:spPr>
          <a:xfrm>
            <a:off x="2103120" y="4081272"/>
            <a:ext cx="8641080" cy="0"/>
          </a:xfrm>
          <a:prstGeom prst="line">
            <a:avLst/>
          </a:prstGeom>
          <a:noFill/>
          <a:ln w="9525">
            <a:solidFill>
              <a:schemeClr val="accent2"/>
            </a:solidFill>
            <a:prstDash val="dash"/>
          </a:ln>
        </p:spPr>
      </p:sp>
      <p:sp>
        <p:nvSpPr>
          <p:cNvPr id="15" name="Shape 13"/>
          <p:cNvSpPr/>
          <p:nvPr/>
        </p:nvSpPr>
        <p:spPr>
          <a:xfrm>
            <a:off x="10927080" y="4230624"/>
            <a:ext cx="548640" cy="548640"/>
          </a:xfrm>
          <a:prstGeom prst="star8">
            <a:avLst/>
          </a:prstGeom>
          <a:solidFill>
            <a:schemeClr val="accent2"/>
          </a:solidFill>
          <a:ln/>
        </p:spPr>
      </p:sp>
      <p:sp>
        <p:nvSpPr>
          <p:cNvPr id="16" name="Shape 14"/>
          <p:cNvSpPr/>
          <p:nvPr/>
        </p:nvSpPr>
        <p:spPr>
          <a:xfrm>
            <a:off x="11036808" y="4340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230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21233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أَنذَرْنَٰكُمْ عَذَابًا قَرِيبًا يَوْمَ يَنظُرُ الْمَرْءُ مَا قَدَّمَتْ يَدَاهُ وَيَقُولُ الْكَافِرُ يَٰلَيْتَنِي كُنتُ تُرَٰبًا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حذّرناكم عذابًا قريبًا، يوم ينظر المرء ما قدّم من عمل، ويقول الكافر: يا ليتني كنت ترابًا.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pic>
        <p:nvPicPr>
          <p:cNvPr id="2" name="Image 0" descr="assets/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Amma Tafsir">
  <a:themeElements>
    <a:clrScheme name="Juz Amma Tafsir">
      <a:dk1>
        <a:srgbClr val="2A2A2A"/>
      </a:dk1>
      <a:lt1>
        <a:srgbClr val="FFFFFF"/>
      </a:lt1>
      <a:dk2>
        <a:srgbClr val="0B4D3B"/>
      </a:dk2>
      <a:lt2>
        <a:srgbClr val="FBF8F0"/>
      </a:lt2>
      <a:accent1>
        <a:srgbClr val="0B4D3B"/>
      </a:accent1>
      <a:accent2>
        <a:srgbClr val="C9A04A"/>
      </a:accent2>
      <a:accent3>
        <a:srgbClr val="13654F"/>
      </a:accent3>
      <a:accent4>
        <a:srgbClr val="6F6A5C"/>
      </a:accent4>
      <a:accent5>
        <a:srgbClr val="F3EEDF"/>
      </a:accent5>
      <a:accent6>
        <a:srgbClr val="7B2D26"/>
      </a:accent6>
      <a:hlink>
        <a:srgbClr val="13654F"/>
      </a:hlink>
      <a:folHlink>
        <a:srgbClr val="6F6A5C"/>
      </a:folHlink>
    </a:clrScheme>
    <a:fontScheme name="Juz Amma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200</Slides>
  <Notes>200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200</vt:i4>
      </vt:variant>
    </vt:vector>
  </HeadingPairs>
  <TitlesOfParts>
    <vt:vector size="2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عمّ — مبسّط من تفسير ابن كثير</dc:title>
  <dc:subject>PptxGenJS Presentation</dc:subject>
  <dc:creator>معلم القرآن الكريم</dc:creator>
  <cp:lastModifiedBy>معلم القرآن الكريم</cp:lastModifiedBy>
  <cp:revision>1</cp:revision>
  <dcterms:created xsi:type="dcterms:W3CDTF">2026-10-03T19:10:54Z</dcterms:created>
  <dcterms:modified xsi:type="dcterms:W3CDTF">2026-10-03T19:10:54Z</dcterms:modified>
</cp:coreProperties>
</file>