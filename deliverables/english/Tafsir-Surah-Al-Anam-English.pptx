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Lst>
  <p:notesMasterIdLst>
    <p:notesMasterId r:id="rId10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83eec0-3ef0-f3ef-8ea3-3a1c0f6d12d2}">
          <p14:sldIdLst>
            <p14:sldId id="256"/>
            <p14:sldId id="257"/>
            <p14:sldId id="258"/>
            <p14:sldId id="259"/>
          </p14:sldIdLst>
        </p14:section>
        <p14:section name="1. Praise to the Creator" id="{41117269-0455-5415-865d-521ad466a774}">
          <p14:sldIdLst>
            <p14:sldId id="260"/>
            <p14:sldId id="261"/>
            <p14:sldId id="262"/>
            <p14:sldId id="263"/>
            <p14:sldId id="264"/>
            <p14:sldId id="265"/>
          </p14:sldIdLst>
        </p14:section>
        <p14:section name="2. Mercy and Tawhid" id="{955ba395-8ac2-865a-4564-e8e0825ec036}">
          <p14:sldIdLst>
            <p14:sldId id="266"/>
            <p14:sldId id="267"/>
            <p14:sldId id="268"/>
            <p14:sldId id="269"/>
            <p14:sldId id="270"/>
            <p14:sldId id="271"/>
            <p14:sldId id="272"/>
          </p14:sldIdLst>
        </p14:section>
        <p14:section name="3. Comforting the Prophet" id="{d224969c-4ebf-1edc-3633-6f235c448680}">
          <p14:sldIdLst>
            <p14:sldId id="273"/>
            <p14:sldId id="274"/>
            <p14:sldId id="275"/>
            <p14:sldId id="276"/>
            <p14:sldId id="277"/>
            <p14:sldId id="278"/>
            <p14:sldId id="279"/>
            <p14:sldId id="280"/>
            <p14:sldId id="281"/>
            <p14:sldId id="282"/>
            <p14:sldId id="283"/>
          </p14:sldIdLst>
        </p14:section>
        <p14:section name="4. The Poor Believers" id="{10e6ff8b-fd13-82bf-775f-c5add0183791}">
          <p14:sldIdLst>
            <p14:sldId id="284"/>
            <p14:sldId id="285"/>
            <p14:sldId id="286"/>
            <p14:sldId id="287"/>
            <p14:sldId id="288"/>
            <p14:sldId id="289"/>
            <p14:sldId id="290"/>
            <p14:sldId id="291"/>
          </p14:sldIdLst>
        </p14:section>
        <p14:section name="5. Keys of the Unseen" id="{7da3da7a-cbf6-da2f-df93-ef1cec78c69c}">
          <p14:sldIdLst>
            <p14:sldId id="292"/>
            <p14:sldId id="293"/>
            <p14:sldId id="294"/>
            <p14:sldId id="295"/>
            <p14:sldId id="296"/>
            <p14:sldId id="297"/>
            <p14:sldId id="298"/>
            <p14:sldId id="299"/>
            <p14:sldId id="300"/>
          </p14:sldIdLst>
        </p14:section>
        <p14:section name="6. Ibrahim and the Prophets" id="{f9e9f1f0-44af-f888-af43-53473e0bfed6}">
          <p14:sldIdLst>
            <p14:sldId id="301"/>
            <p14:sldId id="302"/>
            <p14:sldId id="303"/>
            <p14:sldId id="304"/>
            <p14:sldId id="305"/>
            <p14:sldId id="306"/>
            <p14:sldId id="307"/>
            <p14:sldId id="308"/>
          </p14:sldIdLst>
        </p14:section>
        <p14:section name="7. Allah's Signs in Creation" id="{17fb4671-248a-fa24-667d-462ecb2100b4}">
          <p14:sldIdLst>
            <p14:sldId id="309"/>
            <p14:sldId id="310"/>
            <p14:sldId id="311"/>
            <p14:sldId id="312"/>
            <p14:sldId id="313"/>
            <p14:sldId id="314"/>
            <p14:sldId id="315"/>
            <p14:sldId id="316"/>
            <p14:sldId id="317"/>
            <p14:sldId id="318"/>
            <p14:sldId id="319"/>
            <p14:sldId id="320"/>
            <p14:sldId id="321"/>
          </p14:sldIdLst>
        </p14:section>
        <p14:section name="8. Enemies of the Prophets" id="{079cce31-7957-a83a-85e3-0a3383955bf9}">
          <p14:sldIdLst>
            <p14:sldId id="322"/>
            <p14:sldId id="323"/>
            <p14:sldId id="324"/>
            <p14:sldId id="325"/>
            <p14:sldId id="326"/>
            <p14:sldId id="327"/>
            <p14:sldId id="328"/>
            <p14:sldId id="329"/>
          </p14:sldIdLst>
        </p14:section>
        <p14:section name="9. Ending Old Customs" id="{2b3e463d-89b0-687e-4c37-3045c1b980e6}">
          <p14:sldIdLst>
            <p14:sldId id="330"/>
            <p14:sldId id="331"/>
            <p14:sldId id="332"/>
            <p14:sldId id="333"/>
            <p14:sldId id="334"/>
            <p14:sldId id="335"/>
            <p14:sldId id="336"/>
            <p14:sldId id="337"/>
            <p14:sldId id="338"/>
            <p14:sldId id="339"/>
            <p14:sldId id="340"/>
            <p14:sldId id="341"/>
            <p14:sldId id="342"/>
            <p14:sldId id="343"/>
          </p14:sldIdLst>
        </p14:section>
        <p14:section name="10. The Ten Commandments" id="{0e193aa1-7e9e-ccfe-66a6-64986ae9e4d5}">
          <p14:sldIdLst>
            <p14:sldId id="344"/>
            <p14:sldId id="345"/>
            <p14:sldId id="346"/>
            <p14:sldId id="347"/>
            <p14:sldId id="348"/>
            <p14:sldId id="349"/>
            <p14:sldId id="350"/>
            <p14:sldId id="351"/>
            <p14:sldId id="352"/>
            <p14:sldId id="353"/>
          </p14:sldIdLst>
        </p14:section>
        <p14:section name="Closing" id="{f164fa0a-5039-f144-ccbd-dd030bbb49f0}">
          <p14:sldIdLst>
            <p14:sldId id="35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notesMaster" Target="notesMasters/notesMaster1.xml"/><Relationship Id="rId102" Type="http://schemas.openxmlformats.org/officeDocument/2006/relationships/presProps" Target="presProps.xml"/><Relationship Id="rId103" Type="http://schemas.openxmlformats.org/officeDocument/2006/relationships/viewProps" Target="viewProps.xml"/><Relationship Id="rId104" Type="http://schemas.openxmlformats.org/officeDocument/2006/relationships/theme" Target="theme/theme1.xml"/><Relationship Id="rId10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surah into ten themed sections. Each section opens with a slide giving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did Allah create in the first verse? Why do we praise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Who alone can remove harm and bring good, according to verse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How did Allah comfort His Prophet (peace be upon him) in verses 33–34?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Allah forbid His Prophet from sending away the poor believers (verse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Mention three things only Allah knows, from verse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How did Ibrahim use the setting of the star, moon and sun to prove they are not gods?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Allah forbid insulting the gods of the idol-worshippers in verse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difference between the chest of the one Allah wants to guide and the one He leaves astray (verse 125)?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Which foods are forbidden, as mentioned in verse 145?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List five of the commands in verses 151–153.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6/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6/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4.xml"/><Relationship Id="rId4" Type="http://schemas.openxmlformats.org/officeDocument/2006/relationships/notesSlide" Target="../notesSlides/notesSlide9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Surah Al-An'am</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165 verses • Makki • 10 sections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sapphire blue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Al-An'am</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of Tawhid</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whole surah establishes tawhid and answers the idol-worshippers with proofs from reason and from the universe, so scholars said it is a foundation for debating the idol-worshippers.</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One of the Long Seven</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said: "Whoever learns the first seven (long surahs) of the Qur'an is a scholar" (Ahmad). Al-An'am is one of these seven, and one of the longest Makki surahs.</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165 verses, Makki, the sixth surah in the Mushaf. It is called "Al-An'am" (The Livestock) because it mentions the rules about camels, cattle and sheep that the idol-worshippers invented.</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Sections of the Surah</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The surah is divided into ten sections by theme, so we can understand it step by step</a:t>
            </a:r>
            <a:endParaRPr lang="en-US" sz="1600" dirty="0"/>
          </a:p>
        </p:txBody>
      </p:sp>
      <p:sp>
        <p:nvSpPr>
          <p:cNvPr id="4" name="Shape 2"/>
          <p:cNvSpPr/>
          <p:nvPr/>
        </p:nvSpPr>
        <p:spPr>
          <a:xfrm>
            <a:off x="700888" y="1828800"/>
            <a:ext cx="525780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92328" y="1938528"/>
            <a:ext cx="530352" cy="530352"/>
          </a:xfrm>
          <a:prstGeom prst="star8">
            <a:avLst/>
          </a:prstGeom>
          <a:solidFill>
            <a:schemeClr val="accent2"/>
          </a:solidFill>
          <a:ln/>
        </p:spPr>
      </p:sp>
      <p:sp>
        <p:nvSpPr>
          <p:cNvPr id="6" name="Shape 4"/>
          <p:cNvSpPr/>
          <p:nvPr/>
        </p:nvSpPr>
        <p:spPr>
          <a:xfrm>
            <a:off x="89839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9232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1412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Praise to the Creator</a:t>
            </a:r>
            <a:endParaRPr lang="en-US" sz="1600" dirty="0"/>
          </a:p>
        </p:txBody>
      </p:sp>
      <p:sp>
        <p:nvSpPr>
          <p:cNvPr id="9" name="Text 7"/>
          <p:cNvSpPr txBox="1"/>
          <p:nvPr/>
        </p:nvSpPr>
        <p:spPr>
          <a:xfrm>
            <a:off x="141412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 – 11</a:t>
            </a:r>
            <a:endParaRPr lang="en-US" sz="1200" dirty="0"/>
          </a:p>
        </p:txBody>
      </p:sp>
      <p:sp>
        <p:nvSpPr>
          <p:cNvPr id="10" name="Shape 8"/>
          <p:cNvSpPr/>
          <p:nvPr/>
        </p:nvSpPr>
        <p:spPr>
          <a:xfrm>
            <a:off x="6233008" y="1828800"/>
            <a:ext cx="525780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6324448" y="1938528"/>
            <a:ext cx="530352" cy="530352"/>
          </a:xfrm>
          <a:prstGeom prst="star8">
            <a:avLst/>
          </a:prstGeom>
          <a:solidFill>
            <a:schemeClr val="accent2"/>
          </a:solidFill>
          <a:ln/>
        </p:spPr>
      </p:sp>
      <p:sp>
        <p:nvSpPr>
          <p:cNvPr id="12" name="Shape 10"/>
          <p:cNvSpPr/>
          <p:nvPr/>
        </p:nvSpPr>
        <p:spPr>
          <a:xfrm>
            <a:off x="643051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632444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694624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Mercy and Tawhid</a:t>
            </a:r>
            <a:endParaRPr lang="en-US" sz="1600" dirty="0"/>
          </a:p>
        </p:txBody>
      </p:sp>
      <p:sp>
        <p:nvSpPr>
          <p:cNvPr id="15" name="Text 13"/>
          <p:cNvSpPr txBox="1"/>
          <p:nvPr/>
        </p:nvSpPr>
        <p:spPr>
          <a:xfrm>
            <a:off x="694624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12 – 24</a:t>
            </a:r>
            <a:endParaRPr lang="en-US" sz="1200" dirty="0"/>
          </a:p>
        </p:txBody>
      </p:sp>
      <p:sp>
        <p:nvSpPr>
          <p:cNvPr id="16" name="Shape 14"/>
          <p:cNvSpPr/>
          <p:nvPr/>
        </p:nvSpPr>
        <p:spPr>
          <a:xfrm>
            <a:off x="700888" y="2697480"/>
            <a:ext cx="525780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792328" y="2807208"/>
            <a:ext cx="530352" cy="530352"/>
          </a:xfrm>
          <a:prstGeom prst="star8">
            <a:avLst/>
          </a:prstGeom>
          <a:solidFill>
            <a:schemeClr val="accent2"/>
          </a:solidFill>
          <a:ln/>
        </p:spPr>
      </p:sp>
      <p:sp>
        <p:nvSpPr>
          <p:cNvPr id="18" name="Shape 16"/>
          <p:cNvSpPr/>
          <p:nvPr/>
        </p:nvSpPr>
        <p:spPr>
          <a:xfrm>
            <a:off x="89839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79232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141412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Comforting the Prophet</a:t>
            </a:r>
            <a:endParaRPr lang="en-US" sz="1600" dirty="0"/>
          </a:p>
        </p:txBody>
      </p:sp>
      <p:sp>
        <p:nvSpPr>
          <p:cNvPr id="21" name="Text 19"/>
          <p:cNvSpPr txBox="1"/>
          <p:nvPr/>
        </p:nvSpPr>
        <p:spPr>
          <a:xfrm>
            <a:off x="141412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25 – 45</a:t>
            </a:r>
            <a:endParaRPr lang="en-US" sz="1200" dirty="0"/>
          </a:p>
        </p:txBody>
      </p:sp>
      <p:sp>
        <p:nvSpPr>
          <p:cNvPr id="22" name="Shape 20"/>
          <p:cNvSpPr/>
          <p:nvPr/>
        </p:nvSpPr>
        <p:spPr>
          <a:xfrm>
            <a:off x="6233008" y="2697480"/>
            <a:ext cx="525780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6324448" y="2807208"/>
            <a:ext cx="530352" cy="530352"/>
          </a:xfrm>
          <a:prstGeom prst="star8">
            <a:avLst/>
          </a:prstGeom>
          <a:solidFill>
            <a:schemeClr val="accent2"/>
          </a:solidFill>
          <a:ln/>
        </p:spPr>
      </p:sp>
      <p:sp>
        <p:nvSpPr>
          <p:cNvPr id="24" name="Shape 22"/>
          <p:cNvSpPr/>
          <p:nvPr/>
        </p:nvSpPr>
        <p:spPr>
          <a:xfrm>
            <a:off x="643051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632444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6" name="Text 24"/>
          <p:cNvSpPr txBox="1"/>
          <p:nvPr/>
        </p:nvSpPr>
        <p:spPr>
          <a:xfrm>
            <a:off x="694624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Poor Believers</a:t>
            </a:r>
            <a:endParaRPr lang="en-US" sz="1600" dirty="0"/>
          </a:p>
        </p:txBody>
      </p:sp>
      <p:sp>
        <p:nvSpPr>
          <p:cNvPr id="27" name="Text 25"/>
          <p:cNvSpPr txBox="1"/>
          <p:nvPr/>
        </p:nvSpPr>
        <p:spPr>
          <a:xfrm>
            <a:off x="694624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46 – 58</a:t>
            </a:r>
            <a:endParaRPr lang="en-US" sz="1200" dirty="0"/>
          </a:p>
        </p:txBody>
      </p:sp>
      <p:sp>
        <p:nvSpPr>
          <p:cNvPr id="28" name="Shape 26"/>
          <p:cNvSpPr/>
          <p:nvPr/>
        </p:nvSpPr>
        <p:spPr>
          <a:xfrm>
            <a:off x="700888" y="3566160"/>
            <a:ext cx="525780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792328" y="3675888"/>
            <a:ext cx="530352" cy="530352"/>
          </a:xfrm>
          <a:prstGeom prst="star8">
            <a:avLst/>
          </a:prstGeom>
          <a:solidFill>
            <a:schemeClr val="accent2"/>
          </a:solidFill>
          <a:ln/>
        </p:spPr>
      </p:sp>
      <p:sp>
        <p:nvSpPr>
          <p:cNvPr id="30" name="Shape 28"/>
          <p:cNvSpPr/>
          <p:nvPr/>
        </p:nvSpPr>
        <p:spPr>
          <a:xfrm>
            <a:off x="89839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79232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32" name="Text 30"/>
          <p:cNvSpPr txBox="1"/>
          <p:nvPr/>
        </p:nvSpPr>
        <p:spPr>
          <a:xfrm>
            <a:off x="141412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Keys of the Unseen</a:t>
            </a:r>
            <a:endParaRPr lang="en-US" sz="1600" dirty="0"/>
          </a:p>
        </p:txBody>
      </p:sp>
      <p:sp>
        <p:nvSpPr>
          <p:cNvPr id="33" name="Text 31"/>
          <p:cNvSpPr txBox="1"/>
          <p:nvPr/>
        </p:nvSpPr>
        <p:spPr>
          <a:xfrm>
            <a:off x="141412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59 – 73</a:t>
            </a:r>
            <a:endParaRPr lang="en-US" sz="1200" dirty="0"/>
          </a:p>
        </p:txBody>
      </p:sp>
      <p:sp>
        <p:nvSpPr>
          <p:cNvPr id="34" name="Shape 32"/>
          <p:cNvSpPr/>
          <p:nvPr/>
        </p:nvSpPr>
        <p:spPr>
          <a:xfrm>
            <a:off x="6233008" y="3566160"/>
            <a:ext cx="525780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6324448" y="3675888"/>
            <a:ext cx="530352" cy="530352"/>
          </a:xfrm>
          <a:prstGeom prst="star8">
            <a:avLst/>
          </a:prstGeom>
          <a:solidFill>
            <a:schemeClr val="accent2"/>
          </a:solidFill>
          <a:ln/>
        </p:spPr>
      </p:sp>
      <p:sp>
        <p:nvSpPr>
          <p:cNvPr id="36" name="Shape 34"/>
          <p:cNvSpPr/>
          <p:nvPr/>
        </p:nvSpPr>
        <p:spPr>
          <a:xfrm>
            <a:off x="643051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632444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8" name="Text 36"/>
          <p:cNvSpPr txBox="1"/>
          <p:nvPr/>
        </p:nvSpPr>
        <p:spPr>
          <a:xfrm>
            <a:off x="694624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Ibrahim and the Prophets</a:t>
            </a:r>
            <a:endParaRPr lang="en-US" sz="1600" dirty="0"/>
          </a:p>
        </p:txBody>
      </p:sp>
      <p:sp>
        <p:nvSpPr>
          <p:cNvPr id="39" name="Text 37"/>
          <p:cNvSpPr txBox="1"/>
          <p:nvPr/>
        </p:nvSpPr>
        <p:spPr>
          <a:xfrm>
            <a:off x="694624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74 – 90</a:t>
            </a:r>
            <a:endParaRPr lang="en-US" sz="1200" dirty="0"/>
          </a:p>
        </p:txBody>
      </p:sp>
      <p:sp>
        <p:nvSpPr>
          <p:cNvPr id="40" name="Shape 38"/>
          <p:cNvSpPr/>
          <p:nvPr/>
        </p:nvSpPr>
        <p:spPr>
          <a:xfrm>
            <a:off x="700888" y="4434840"/>
            <a:ext cx="525780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92328" y="4544568"/>
            <a:ext cx="530352" cy="530352"/>
          </a:xfrm>
          <a:prstGeom prst="star8">
            <a:avLst/>
          </a:prstGeom>
          <a:solidFill>
            <a:schemeClr val="accent2"/>
          </a:solidFill>
          <a:ln/>
        </p:spPr>
      </p:sp>
      <p:sp>
        <p:nvSpPr>
          <p:cNvPr id="42" name="Shape 40"/>
          <p:cNvSpPr/>
          <p:nvPr/>
        </p:nvSpPr>
        <p:spPr>
          <a:xfrm>
            <a:off x="89839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79232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7</a:t>
            </a:r>
            <a:endParaRPr lang="en-US" sz="1400" dirty="0"/>
          </a:p>
        </p:txBody>
      </p:sp>
      <p:sp>
        <p:nvSpPr>
          <p:cNvPr id="44" name="Text 42"/>
          <p:cNvSpPr txBox="1"/>
          <p:nvPr/>
        </p:nvSpPr>
        <p:spPr>
          <a:xfrm>
            <a:off x="141412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Allah's Signs in Creation</a:t>
            </a:r>
            <a:endParaRPr lang="en-US" sz="1600" dirty="0"/>
          </a:p>
        </p:txBody>
      </p:sp>
      <p:sp>
        <p:nvSpPr>
          <p:cNvPr id="45" name="Text 43"/>
          <p:cNvSpPr txBox="1"/>
          <p:nvPr/>
        </p:nvSpPr>
        <p:spPr>
          <a:xfrm>
            <a:off x="141412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91 – 110</a:t>
            </a:r>
            <a:endParaRPr lang="en-US" sz="1200" dirty="0"/>
          </a:p>
        </p:txBody>
      </p:sp>
      <p:sp>
        <p:nvSpPr>
          <p:cNvPr id="46" name="Shape 44"/>
          <p:cNvSpPr/>
          <p:nvPr/>
        </p:nvSpPr>
        <p:spPr>
          <a:xfrm>
            <a:off x="6233008" y="4434840"/>
            <a:ext cx="525780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6324448" y="4544568"/>
            <a:ext cx="530352" cy="530352"/>
          </a:xfrm>
          <a:prstGeom prst="star8">
            <a:avLst/>
          </a:prstGeom>
          <a:solidFill>
            <a:schemeClr val="accent2"/>
          </a:solidFill>
          <a:ln/>
        </p:spPr>
      </p:sp>
      <p:sp>
        <p:nvSpPr>
          <p:cNvPr id="48" name="Shape 46"/>
          <p:cNvSpPr/>
          <p:nvPr/>
        </p:nvSpPr>
        <p:spPr>
          <a:xfrm>
            <a:off x="643051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632444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8</a:t>
            </a:r>
            <a:endParaRPr lang="en-US" sz="1400" dirty="0"/>
          </a:p>
        </p:txBody>
      </p:sp>
      <p:sp>
        <p:nvSpPr>
          <p:cNvPr id="50" name="Text 48"/>
          <p:cNvSpPr txBox="1"/>
          <p:nvPr/>
        </p:nvSpPr>
        <p:spPr>
          <a:xfrm>
            <a:off x="694624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Enemies of the Prophets</a:t>
            </a:r>
            <a:endParaRPr lang="en-US" sz="1600" dirty="0"/>
          </a:p>
        </p:txBody>
      </p:sp>
      <p:sp>
        <p:nvSpPr>
          <p:cNvPr id="51" name="Text 49"/>
          <p:cNvSpPr txBox="1"/>
          <p:nvPr/>
        </p:nvSpPr>
        <p:spPr>
          <a:xfrm>
            <a:off x="694624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111 – 127</a:t>
            </a:r>
            <a:endParaRPr lang="en-US" sz="1200" dirty="0"/>
          </a:p>
        </p:txBody>
      </p:sp>
      <p:sp>
        <p:nvSpPr>
          <p:cNvPr id="52" name="Shape 50"/>
          <p:cNvSpPr/>
          <p:nvPr/>
        </p:nvSpPr>
        <p:spPr>
          <a:xfrm>
            <a:off x="700888" y="5303520"/>
            <a:ext cx="525780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792328" y="5413248"/>
            <a:ext cx="530352" cy="530352"/>
          </a:xfrm>
          <a:prstGeom prst="star8">
            <a:avLst/>
          </a:prstGeom>
          <a:solidFill>
            <a:schemeClr val="accent2"/>
          </a:solidFill>
          <a:ln/>
        </p:spPr>
      </p:sp>
      <p:sp>
        <p:nvSpPr>
          <p:cNvPr id="54" name="Shape 52"/>
          <p:cNvSpPr/>
          <p:nvPr/>
        </p:nvSpPr>
        <p:spPr>
          <a:xfrm>
            <a:off x="89839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79232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9</a:t>
            </a:r>
            <a:endParaRPr lang="en-US" sz="1400" dirty="0"/>
          </a:p>
        </p:txBody>
      </p:sp>
      <p:sp>
        <p:nvSpPr>
          <p:cNvPr id="56" name="Text 54"/>
          <p:cNvSpPr txBox="1"/>
          <p:nvPr/>
        </p:nvSpPr>
        <p:spPr>
          <a:xfrm>
            <a:off x="141412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Ending Old Customs</a:t>
            </a:r>
            <a:endParaRPr lang="en-US" sz="1600" dirty="0"/>
          </a:p>
        </p:txBody>
      </p:sp>
      <p:sp>
        <p:nvSpPr>
          <p:cNvPr id="57" name="Text 55"/>
          <p:cNvSpPr txBox="1"/>
          <p:nvPr/>
        </p:nvSpPr>
        <p:spPr>
          <a:xfrm>
            <a:off x="141412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128 – 150</a:t>
            </a:r>
            <a:endParaRPr lang="en-US" sz="1200" dirty="0"/>
          </a:p>
        </p:txBody>
      </p:sp>
      <p:sp>
        <p:nvSpPr>
          <p:cNvPr id="58" name="Shape 56"/>
          <p:cNvSpPr/>
          <p:nvPr/>
        </p:nvSpPr>
        <p:spPr>
          <a:xfrm>
            <a:off x="6233008" y="5303520"/>
            <a:ext cx="525780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6324448" y="5413248"/>
            <a:ext cx="530352" cy="530352"/>
          </a:xfrm>
          <a:prstGeom prst="star8">
            <a:avLst/>
          </a:prstGeom>
          <a:solidFill>
            <a:schemeClr val="accent2"/>
          </a:solidFill>
          <a:ln/>
        </p:spPr>
      </p:sp>
      <p:sp>
        <p:nvSpPr>
          <p:cNvPr id="60" name="Shape 58"/>
          <p:cNvSpPr/>
          <p:nvPr/>
        </p:nvSpPr>
        <p:spPr>
          <a:xfrm>
            <a:off x="643051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632444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10</a:t>
            </a:r>
            <a:endParaRPr lang="en-US" sz="1400" dirty="0"/>
          </a:p>
        </p:txBody>
      </p:sp>
      <p:sp>
        <p:nvSpPr>
          <p:cNvPr id="62" name="Text 60"/>
          <p:cNvSpPr txBox="1"/>
          <p:nvPr/>
        </p:nvSpPr>
        <p:spPr>
          <a:xfrm>
            <a:off x="694624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Ten Commandments</a:t>
            </a:r>
            <a:endParaRPr lang="en-US" sz="1600" dirty="0"/>
          </a:p>
        </p:txBody>
      </p:sp>
      <p:sp>
        <p:nvSpPr>
          <p:cNvPr id="63" name="Text 61"/>
          <p:cNvSpPr txBox="1"/>
          <p:nvPr/>
        </p:nvSpPr>
        <p:spPr>
          <a:xfrm>
            <a:off x="694624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151 – 165</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Praise to the Creator</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11</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surah opens by praising Allah, Creator of the heavens and the earth, shows the stubbornness of the idol-worshippers and how they turn away from the signs, and reminds them of the destruction of nations who denied.</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الْحَمْدُ لِلَّهِ الَّذِي خَلَقَ السَّمَٰوَٰتِ وَالْأَرْضَ وَجَعَلَ الظُّلُمَٰتِ وَالنُّورَ ثُمَّ الَّذِينَ كَفَرُواْ بِرَبِّهِمْ يَعْدِلُونَ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praise is for Allah, who created the heavens and the earth and made darkness and light. Yet after this, the disbelievers set up equals to Him.</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خَلَقَكُم مِّن طِينٍ ثُمَّ قَضَىٰ أَجَلًا وَأَجَلٌ مُّسَمًّى عِندَهُ ثُمَّ أَنتُمْ تَمْتَرُونَ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your father Adam from clay, then set a term for each person's life, and another term with Him for the Hour. Yet you still doubt the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اللَّهُ فِي السَّمَٰوَٰتِ وَفِي الْأَرْضِ يَعْلَمُ سِرَّكُمْ وَجَهْرَكُمْ وَيَعْلَمُ مَا تَكْسِبُونَ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Allah, worshipped in the heavens and on earth. He knows what you hide and what you show, and He knows what you earn.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تَأْتِيهِم مِّنْ ءَايَةٍ مِّنْ ءَايَٰتِ رَبِّهِمْ إِلَّا كَانُواْ عَنْهَا مُعْرِضِينَ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Whenever a sign comes to the idol-worshippers from their Lord, they turn away from it.</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فَقَدْ كَذَّبُواْ بِالْحَقِّ لَمَّا جَآءَهُمْ فَسَوْفَ يَأْتِيهِمْ أَنبَـٰؤُاْ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denied the Qur'an when it came to them, so the result of what they used to mock will come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يَرَوْاْ كَمْ أَهْلَكْنَا مِن قَبْلِهِم مِّن قَرْنٍ مَّكَّنَّـٰهُمْ فِي الْأَرْضِ مَا لَمْ نُمَكِّن لَّكُمْ وَأَرْسَلْنَا السَّمَآءَ عَلَيْهِم مِّدْرَارًا وَجَعَلْنَا الْأَنْهَٰرَ تَجْرِي مِن تَحْتِهِمْ فَأَهْلَكْنَٰهُم بِذُنُوبِهِمْ وَأَنشَأْنَا مِن بَعْدِهِمْ قَرْنًا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they not seen how many nations We destroyed before them? We had established them on earth more firmly than you, sent them plenty of rain and made rivers flow beneath them; then We destroyed them for their sins and raised other nations after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نَزَّلْنَا عَلَيْكَ كِتَٰبًا فِي قِرْطَاسٍ فَلَمَسُوهُ بِأَيْدِيهِمْ لَقَالَ الَّذِينَ كَفَرُواْ إِنْ هَٰذَآ إِلَّا سِحْرٌ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We had sent down to you a book written on paper and they touched it with their hands, the disbelievers would stubbornly say: This is nothing but clear magic.</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لَوْلَآ أُنزِلَ عَلَيْهِ مَلَكٌ وَلَوْ أَنزَلْنَا مَلَكًا لَّقُضِيَ الْأَمْرُ ثُمَّ لَا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Why has an angel not been sent down to Muhammad to confirm him? If We sent down an angel and they still did not believe, they would be destroyed with no more time given.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جَعَلْنَٰهُ مَلَكًا لَّجَعَلْنَٰهُ رَجُلًا وَلَلَبَسْنَا عَلَيْهِم مَّا يَلْبِسُونَ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made the messenger an angel, We would have made him in the form of a man so they could see him, and they would still be confused as they are now.</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اسْتُهْزِئَ بِرُسُلٍ مِّن قَبْلِكَ فَحَاقَ بِالَّذِينَ سَخِرُواْ مِنْهُم مَّا كَانُواْ بِهِ يَسْتَهْزِءُونَ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Messengers before you were mocked, and the punishment they mocked came down on those who mocked them.</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سِيرُواْ فِي الْأَرْضِ ثُمَّ انظُرُواْ كَيْفَ كَانَ عَٰقِبَةُ الْمُكَذِّبِينَ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Travel through the land and see what happened to those who denied.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Mercy and Tawhid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 – 24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has written mercy upon Himself; He alone controls benefit and harm; the greatest testimony is His testimony to tawhid; and a scene of the idol-worshippers denying their shirk on the Day of Resurrection.</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لِّمَن مَّا فِي السَّمَٰوَٰتِ وَالْأَرْضِ قُل لِّلَّهِ كَتَبَ عَلَىٰ نَفْسِهِ الرَّحْمَةَ لَيَجْمَعَنَّكُمْ إِلَىٰ يَوْمِ الْقِيَٰمَةِ لَا رَيْبَ فِيهِ الَّذِينَ خَسِرُواْ أَنفُسَهُمْ فَهُمْ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whom belongs what is in the heavens and earth? Say: To Allah. He has written mercy upon Himself. He will surely gather you for the Day of Resurrection, about which there is no doubt. Those who have lost themselves will not believe.</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 مَا سَكَنَ فِي الَّيْلِ وَالنَّهَارِ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all that rests in the night and the day, and He is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أَغَيْرَ اللَّهِ أَتَّخِذُ وَلِيًّا فَاطِرِ السَّمَٰوَٰتِ وَالْأَرْضِ وَهُوَ يُطْعِمُ وَلَا يُطْعَمُ قُلْ إِنِّي أُمِرْتُ أَنْ أَكُونَ أَوَّلَ مَنْ أَسْلَمَ وَلَا تَكُونَنَّ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Should I take as a protector other than Allah, Creator of the heavens and the earth, who feeds and is not fed? Say: I have been commanded to be the first of this nation to submit, and not to be one of the idol-worshippers.</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أَخَافُ إِنْ عَصَيْتُ رَبِّي عَذَابَ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I disobeyed my Lord, I would fear the punishment of a great Day.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يُصْرَفْ عَنْهُ يَوْمَئِذٍ فَقَدْ رَحِمَهُ وَذَٰلِكَ الْفَوْزُ الْمُبِينُ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is kept away from the punishment on that Day, Allah has had mercy on him; that is the clear success.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يَمْسَسْكَ اللَّهُ بِضُرٍّ فَلَا كَاشِفَ لَهُ إِلَّا هُوَ وَإِن يَمْسَسْكَ بِخَيْرٍ فَهُوَ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touches you with harm, no one can remove it but Him, and if He touches you with good, He has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8" name="Text 6"/>
          <p:cNvSpPr txBox="1"/>
          <p:nvPr/>
        </p:nvSpPr>
        <p:spPr>
          <a:xfrm>
            <a:off x="1444752" y="15750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الْقَاهِرُ فَوْقَ عِبَادِهِ وَهُوَ الْحَكِيمُ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Irresistible, high above His servants, and He is the All-Wise, the All-Aware.</a:t>
            </a:r>
            <a:endParaRPr lang="en-US" sz="3000" dirty="0"/>
          </a:p>
        </p:txBody>
      </p:sp>
      <p:sp>
        <p:nvSpPr>
          <p:cNvPr id="9" name="Shape 7"/>
          <p:cNvSpPr/>
          <p:nvPr/>
        </p:nvSpPr>
        <p:spPr>
          <a:xfrm>
            <a:off x="1444752" y="2754630"/>
            <a:ext cx="8641080" cy="0"/>
          </a:xfrm>
          <a:prstGeom prst="line">
            <a:avLst/>
          </a:prstGeom>
          <a:noFill/>
          <a:ln w="9525">
            <a:solidFill>
              <a:schemeClr val="accent2"/>
            </a:solidFill>
            <a:prstDash val="dash"/>
          </a:ln>
        </p:spPr>
      </p:sp>
      <p:sp>
        <p:nvSpPr>
          <p:cNvPr id="10" name="Shape 8"/>
          <p:cNvSpPr/>
          <p:nvPr/>
        </p:nvSpPr>
        <p:spPr>
          <a:xfrm>
            <a:off x="713232" y="2987802"/>
            <a:ext cx="548640" cy="548640"/>
          </a:xfrm>
          <a:prstGeom prst="star8">
            <a:avLst/>
          </a:prstGeom>
          <a:solidFill>
            <a:schemeClr val="accent2"/>
          </a:solidFill>
          <a:ln/>
        </p:spPr>
      </p:sp>
      <p:sp>
        <p:nvSpPr>
          <p:cNvPr id="11" name="Shape 9"/>
          <p:cNvSpPr/>
          <p:nvPr/>
        </p:nvSpPr>
        <p:spPr>
          <a:xfrm>
            <a:off x="822960" y="309753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878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3" name="Text 11"/>
          <p:cNvSpPr txBox="1"/>
          <p:nvPr/>
        </p:nvSpPr>
        <p:spPr>
          <a:xfrm>
            <a:off x="1444752" y="296951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أَيُّ شَيْءٍ أَكْبَرُ شَهَٰدَةً قُلِ اللَّهُ شَهِيدٌ بَيْنِي وَبَيْنَكُمْ وَأُوحِيَ إِلَيَّ هَٰذَا الْقُرْءَانُ لِأُنذِرَكُم بِهِ وَمَن بَلَغَ أَئِنَّكُمْ لَتَشْهَدُونَ أَنَّ مَعَ اللَّهِ ءَالِهَةً أُخْرَىٰ قُل لَّآ أَشْهَدُ قُلْ إِنَّمَا هُوَ إِلَٰهٌ وَٰحِدٌ وَإِنَّنِي بَرِيءٌ مِّمَّا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What is the greatest testimony? Say: Allah is Witness between me and you. This Qur'an has been revealed to me to warn you and everyone it reaches. Do you really testify that there are other gods with Allah? Say: I do not testify. He is only One God, and I am free of what you associate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ءَاتَيْنَٰهُمُ الْكِتَٰبَ يَعْرِفُونَهُ كَمَا يَعْرِفُونَ أَبْنَآءَهُمُ الَّذِينَ خَسِرُواْ أَنفُسَهُمْ فَهُمْ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We gave the Book, the Jews and Christians, recognise Muhammad as they recognise their own sons. Those who have lost themselves will not believe.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كَذَّبَ بِـَٔايَٰتِهِ إِنَّهُ لَا يُفْلِحُ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is more unjust than one who lies about Allah or denies His verses. The wrongdoers will never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22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نَحْشُرُهُمْ جَمِيعًا ثُمَّ نَقُولُ لِلَّذِينَ أَشْرَكُواْ أَيْنَ شُرَكَآؤُكُمُ الَّذِينَ كُنتُمْ تَزْعُمُونَ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gather them all, We will say to the idol-worshippers: Where are your gods that you used to claim?</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لَمْ تَكُن فِتْنَتُهُمْ إِلَّآ أَن قَالُواْ وَاللَّهِ رَبِّنَا مَا كُنَّا 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only answer will be to say, lying: By Allah, our Lord, we were not idol-worshippers.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انظُرْ كَيْفَ كَذَبُواْ عَلَىٰ أَنفُسِهِمْ وَضَلَّ عَنْهُم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See how they lie about themselves, and what they used to make up has abandoned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Comforting the Prophet</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25 – 45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'Ali (may Allah be pleased with him) said: Abu Jahl said to the Prophet (peace be upon him): We do not call you a liar, but we deny what you have brought. So Allah revealed: “They do not call you a liar, but the wrongdoers deny the verses of Allah” (Tirmidhi and Al-Hakim).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qualities of the stubborn who hear but do not benefit, their wish to return on the Day of Resurrection, comforting the Prophet (peace be upon him) with the patience of the messengers before him, and Allah's way of leading nations on step by step.</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وَمِنْهُم مَّن يَسْتَمِعُ إِلَيْكَ وَجَعَلْنَا عَلَىٰ قُلُوبِهِمْ أَكِنَّةً أَن يَفْقَهُوهُ وَفِي ءَاذَانِهِمْ وَقْرًا وَإِن يَرَوْاْ كُلَّ ءَايَةٍ لَّا يُؤْمِنُواْ بِهَا حَتَّىٰ إِذَا جَآءُوكَ يُجَٰدِلُونَكَ يَقُولُ الَّذِينَ كَفَرُواْ إِنْ هَٰذَآ إِلَّآ أَسَٰطِيرُ الْأَوَّلِينَ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them listen to you without wanting the truth. We have put covers over their hearts so they do not understand, and deafness in their ears. Even if they see every sign, they will not believe. When they come to argue with you, they say: This is nothing but the tales of the ancients.</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وَهُمْ يَنْهَوْنَ عَنْهُ وَيَنْـَٔوْنَ عَنْهُ وَإِن يُهْلِكُونَ إِلَّآ أَنفُسَهُمْ وَمَا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stop others from following the Prophet and keep away from him themselves, but they only destroy themselves without realising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تَرَىٰ إِذْ وُقِفُواْ عَلَى النَّارِ فَقَالُواْ يَٰلَيْتَنَا نُرَدُّ وَلَا نُكَذِّبَ بِـَٔايَٰتِ رَبِّنَا وَنَكُونَ مِنَ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you could see when they are made to stand before the Fire and say: If only we could be sent back to the world; we would not deny our Lord's verses and we would be believers.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بَدَا لَهُم مَّا كَانُواْ يُخْفُونَ مِن قَبْلُ وَلَوْ رُدُّواْ لَعَادُواْ لِمَا نُهُواْ عَنْهُ وَإِنَّهُمْ لَكَٰذِبُونَ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what they used to hide has become clear to them. Even if they were sent back, they would return to what they were forbidden, and they are liars.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إِنْ هِيَ إِلَّا حَيَاتُنَا الدُّنْيَا وَمَا نَحْنُ بِمَبْعُوثِينَ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There is nothing but our life in this world, and we will not be raised again.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30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تَرَىٰ إِذْ وُقِفُواْ عَلَىٰ رَبِّهِمْ قَالَ أَلَيْسَ هَٰذَا بِالْحَقِّ قَالُواْ بَلَىٰ وَرَبِّنَا قَالَ فَذُوقُواْ الْعَذَابَ بِمَا كُنتُمْ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you could see when they are made to stand before their Lord. He will say: Is this Resurrection not true? They will say: Yes, by our Lord. He will say: Then taste the punishment for your disbelief.</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خَسِرَ الَّذِينَ كَذَّبُواْ بِلِقَآءِ اللَّهِ حَتَّىٰ إِذَا جَآءَتْهُمُ السَّاعَةُ بَغْتَةً قَالُواْ يَٰحَسْرَتَنَا عَلَىٰ مَا فَرَّطْنَا فِيهَا وَهُمْ يَحْمِلُونَ أَوْزَارَهُمْ عَلَىٰ ظُهُورِهِمْ أَلَا سَآءَ مَا يَزِرُونَ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denied meeting Allah have lost, until when the Hour comes upon them suddenly they say: Oh, our regret for what we neglected in the world! They will carry their sins on their backs; how evil is what they carry!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الْحَيَوٰةُ الدُّنْيَآ إِلَّا لَعِبٌ وَلَهْوٌ وَلَلدَّارُ الْأخِرَةُ خَيْرٌ لِّلَّذِينَ يَتَّقُونَ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life of this world is only play and amusement, and the Home of the Hereafter is better for those with taqwa. Will you not use your minds?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نَعْلَمُ إِنَّهُ لَيَحْزُنُكَ الَّذِي يَقُولُونَ فَإِنَّهُمْ لَا يُكَذِّبُونَكَ وَلَٰكِنَّ الظَّـٰلِمِينَ بِـَٔايَٰتِ اللَّهِ يَجْحَدُونَ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that what they say saddens you. In their hearts they do not call you a liar, but the wrongdoers deny Allah's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34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كُذِّبَتْ رُسُلٌ مِّن قَبْلِكَ فَصَبَرُواْ عَلَىٰ مَا كُذِّبُواْ وَأُوذُواْ حَتَّىٰ أَتَىٰهُمْ نَصْرُنَا وَلَا مُبَدِّلَ لِكَلِمَٰتِ اللَّهِ وَلَقَدْ جَآءَكَ مِن نَّبَإِيْ الْمُرْسَلِينَ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Messengers before you were denied, but they were patient with the denial and harm until Our help came to them. No one can change Allah's promise, and some news of the messengers has come to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كَانَ كَبُرَ عَلَيْكَ إِعْرَاضُهُمْ فَإِنِ اسْتَطَعْتَ أَن تَبْتَغِيَ نَفَقًا فِي الْأَرْضِ أَوْ سُلَّمًا فِي السَّمَآءِ فَتَأْتِيَهُم بِـَٔايَةٍ وَلَوْ شَآءَ اللَّهُ لَجَمَعَهُمْ عَلَى الْهُدَىٰ فَلَا تَكُونَنَّ مِنَ الْجَٰهِلِينَ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their turning away is hard on you, then if you can find a tunnel in the earth or a ladder to the sky to bring them a sign, do it. If Allah willed, He would gather them all upon guidance, so do not be among the ignorant.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يَسْتَجِيبُ الَّذِينَ يَسْمَعُونَ وَالْمَوْتَىٰ يَبْعَثُهُمُ اللَّهُ ثُمَّ إِلَيْهِ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Only those who listen with acceptance will respond to you. The disbelievers are like the dead; Allah will raise them, then to Him they will return.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لَوْلَا نُزِّلَ عَلَيْهِ ءَايَةٌ مِّن رَّبِّهِ قُلْ إِنَّ اللَّهَ قَادِرٌ عَلَىٰ أَن يُنَزِّلَ ءَايَةً وَلَٰكِنَّ أَكْثَرَهُمْ لَا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Why has a miracle not been sent down to him from his Lord? Say: Allah is able to send down a miracle, but most of them do not know that a miracle followed by denial brings destruction.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38 –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مِن دَآبَّةٍ فِي الْأَرْضِ وَلَا طَـٰئِرٍ يَطِيرُ بِجَنَاحَيْهِ إِلَّآ أُمَمٌ أَمْثَالُكُم مَّا فَرَّطْنَا فِي الْكِتَٰبِ مِن شَيْءٍ ثُمَّ إِلَىٰ رَبِّهِمْ يُحْشَرُونَ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animal on earth, nor bird flying with its wings, but they are nations created like you. We have left nothing out of the Preserved Tablet. Then to their Lord they will be gathered.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كَذَّبُواْ بِـَٔايَٰتِنَا صُمٌّ وَبُكْمٌ فِي الظُّلُمَٰتِ مَن يَشَإِ اللَّهُ يُضْلِلْهُ وَمَن يَشَأْ يَجْعَلْهُ عَلَىٰ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deny Our verses are deaf to the truth and dumb to speaking it, in the darkness of disbelief. Allah leaves astray whom He wills and puts whom He wills on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أَرَءَيْتَكُمْ إِنْ أَتَىٰكُمْ عَذَابُ اللَّهِ أَوْ أَتَتْكُمُ السَّاعَةُ أَغَيْرَ اللَّهِ تَدْعُونَ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Allah's punishment came to you or the Hour came to you, would you call on anyone other than Allah, if you are truthful?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إِيَّاهُ تَدْعُونَ فَيَكْشِفُ مَا تَدْعُونَ إِلَيْهِ إِن شَآءَ وَتَنسَوْنَ مَا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you would call on Him alone, and He would remove what you called Him to remove, if He willed, and you would forget your gods.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أَرْسَلْنَآ إِلَىٰ أُمَمٍ مِّن قَبْلِكَ فَأَخَذْنَٰهُم بِالْبَأْسَآءِ وَالضَّرَّآءِ لَعَلَّهُمْ يَتَضَرَّعُونَ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messengers to nations before you, and they denied, so We tested them with poverty and illness so that they might humble themselves before Allah.</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فَلَوْلَآ إِذْ جَآءَهُم بَأْسُنَا تَضَرَّعُواْ وَلَٰكِن قَسَتْ قُلُوبُهُمْ وَزَيَّنَ لَهُمُ الشَّيْطَٰنُ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only they had humbled themselves when Our punishment came! But their hearts grew hard, and Satan made what they were doing look good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نَسُواْ مَا ذُكِّرُواْ بِهِ فَتَحْنَا عَلَيْهِمْ أَبْوَٰبَ كُلِّ شَيْءٍ حَتَّىٰ إِذَا فَرِحُواْ بِمَآ أُوتُواْ أَخَذْنَٰهُم بَغْتَةً فَإِذَا هُم مُّبْلِسُونَ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forgot what they were reminded of, We opened for them the doors of every good thing to lead them on, until when they were glad with what they were given, We seized them suddenly, and they were left in despair.</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فَقُطِعَ دَابِرُ الْقَوْمِ الَّذِينَ ظَلَمُواْ وَالْحَمْدُ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wrongdoing people were wiped out to the last, and all praise is for Allah, Lord of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Poor Believers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46 – 58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Sa'd ibn Abi Waqqas (may Allah be pleased with him) said: We were six with the Prophet (peace be upon him), and the idol-worshippers said: Send these away so they do not dare to sit with us. Something came into the Prophet's (peace be upon him) mind, so Allah revealed: “Do not drive away those who call on their Lord morning and evening, seeking His Face” (Muslim).</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Prophet (peace be upon him) is a human who does not own Allah's treasures or know the unseen, and the command to honour the poor believers and not drive them away to please the rich.</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أَرَءَيْتُمْ إِنْ أَخَذَ اللَّهُ سَمْعَكُمْ وَأَبْصَٰرَكُمْ وَخَتَمَ عَلَىٰ قُلُوبِكُم مَّنْ إِلَٰهٌ غَيْرُ اللَّهِ يَأْتِيكُم بِهِ انظُرْ كَيْفَ نُصَرِّفُ الْأيَٰتِ ثُمَّ هُمْ يَصْدِفُونَ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 took away your hearing and sight and sealed your hearts, what god other than Allah could give them back to you? See how We vary the signs, yet they turn away.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أَرَءَيْتَكُمْ إِنْ أَتَىٰكُمْ عَذَابُ اللَّهِ بَغْتَةً أَوْ جَهْرَةً هَلْ يُهْلَكُ إِلَّا الْقَوْمُ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Tell me, if Allah's punishment came to you suddenly or openly, would anyone be destroyed except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نُرْسِلُ الْمُرْسَلِينَ إِلَّا مُبَشِّرِينَ وَمُنذِرِينَ فَمَنْ ءَامَنَ وَأَصْلَحَ فَلَا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only send the messengers to give good news of Paradise and warnings of the Fire. Whoever believes and does good will have no fear and will not grieve.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كَذَّبُواْ بِـَٔايَٰتِنَا يَمَسُّهُمُ الْعَذَابُ بِمَا كَانُواْ يَفْسُقُونَ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deny Our verses, the punishment will touch them because of their disobedience.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أَقُولُ لَكُمْ عِندِي خَزَآئِنُ اللَّهِ وَلَآ أَعْلَمُ الْغَيْبَ وَلَآ أَقُولُ لَكُمْ إِنِّي مَلَكٌ إِنْ أَتَّبِعُ إِلَّا مَا يُوحَىٰ إِلَيَّ قُلْ هَلْ يَسْتَوِي الْأَعْمَىٰ وَالْبَصِيرُ أَفَلَا تَتَفَكَّرُونَ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do not tell you I have Allah's treasures, nor do I know the unseen, nor do I tell you I am an angel. I only follow what is revealed to me. Say: Is the blind disbeliever equal to the seeing believer? Will you not think?</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وَأَنذِرْ بِهِ الَّذِينَ يَخَافُونَ أَن يُحْشَرُواْ إِلَىٰ رَبِّهِمْ لَيْسَ لَهُم مِّن دُونِهِ وَلِيٌّ وَلَا شَفِيعٌ لَّعَلَّهُمْ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Warn with the Qur'an those who fear being gathered to their Lord, with no protector or intercessor besides Him, so that they may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تَطْرُدِ الَّذِينَ يَدْعُونَ رَبَّهُم بِالْغَدَوٰةِ وَالْعَشِيِّ يُرِيدُونَ وَجْهَهُ مَا عَلَيْكَ مِنْ حِسَابِهِم مِّن شَيْءٍ وَمَا مِنْ حِسَابِكَ عَلَيْهِم مِّن شَيْءٍ فَتَطْرُدَهُمْ فَتَكُونَ مِنَ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send away from your gathering the poor believers who call on their Lord morning and evening, seeking His Face. You are not responsible for their account at all, nor are they for yours. If you sent them away, you would be among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فَتَنَّا بَعْضَهُم بِبَعْضٍ لِّيَقُولُواْ أَهَـٰؤُلَآءِ مَنَّ اللَّهُ عَلَيْهِم مِّن بَيْنِنَآ أَلَيْسَ اللَّهُ بِأَعْلَمَ بِالشَّـٰكِرِينَ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test some of them by others, so that the rich disbelievers say about the poor believers: Are these the ones Allah has favoured with guidance among us? Does Allah not know best who is thankful?</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جَآءَكَ الَّذِينَ يُؤْمِنُونَ بِـَٔايَٰتِنَا فَقُلْ سَلَٰمٌ عَلَيْكُمْ كَتَبَ رَبُّكُمْ عَلَىٰ نَفْسِهِ الرَّحْمَةَ أَنَّهُ مَنْ عَمِلَ مِنكُمْ سُوءًا بِجَهَٰلَةٍ ثُمَّ تَابَ مِن بَعْدِهِ وَأَصْلَحَ فَأَنَّهُ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believers come to you, say: Peace be upon you. Your Lord has written mercy upon Himself: whoever of you does wrong out of ignorance, then repents and corrects himself,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نُفَصِّلُ الْأيَٰتِ وَلِتَسْتَبِينَ سَبِيلُ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explain the verses, so that the way of the criminals becomes clear and is avoided.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نُهِيتُ أَنْ أَعْبُدَ الَّذِينَ تَدْعُونَ مِن دُونِ اللَّهِ قُل لَّآ أَتَّبِعُ أَهْوَآءَكُمْ قَدْ ضَلَلْتُ إِذًا وَمَآ أَنَا مِنَ 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have been forbidden to worship those you worship besides Allah. Say: I will not follow your desires, or I would go astray and not be among the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إِنِّي عَلَىٰ بَيِّنَةٍ مِّن رَّبِّي وَكَذَّبْتُم بِهِ مَا عِندِي مَا تَسْتَعْجِلُونَ بِهِ إِنِ الْحُكْمُ إِلَّا لِلَّهِ يَقُصُّ الْحَقَّ وَهُوَ خَيْرُ الْفَٰصِلِينَ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am upon clear proof from my Lord, and you have denied it. I do not have the punishment you are hurrying for. Judgement belongs only to Allah. He tells the truth, and He is the best of judges.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أَنَّ عِندِي مَا تَسْتَعْجِلُونَ بِهِ لَقُضِيَ الْأَمْرُ بَيْنِي وَبَيْنَكُمْ وَاللَّهُ أَعْلَمُ بِالظَّـٰلِمِينَ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I had the punishment you are hurrying for, it would have come down on you and the matter would be over. Allah knows the wrongdoers best.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Keys of the Unseen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59 – 73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Allah's knowledge covers every leaf and seed, His power over sleep and waking, death and resurrection, saving people from distress, and forbidding sitting with those who mock the religion.</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وَعِندَهُ مَفَاتِحُ الْغَيْبِ لَا يَعْلَمُهَآ إِلَّا هُوَ وَيَعْلَمُ مَا فِي الْبَرِّ وَالْبَحْرِ وَمَا تَسْقُطُ مِن وَرَقَةٍ إِلَّا يَعْلَمُهَا وَلَا حَبَّةٍ فِي ظُلُمَٰتِ الْأَرْضِ وَلَا رَطْبٍ وَلَا يَابِسٍ إِلَّا فِي كِتَٰبٍ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Him are the keys of the unseen; no one knows them but Him. He knows what is on land and in the sea. Not a leaf falls without His knowing it, nor a seed in the darkness of the earth, nor anything fresh or dry, except that it is written in a clear Record.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يَتَوَفَّىٰكُم بِالَّيْلِ وَيَعْلَمُ مَا جَرَحْتُم بِالنَّهَارِ ثُمَّ يَبْعَثُكُمْ فِيهِ لِيُقْضَىٰ أَجَلٌ مُّسَمًّى ثُمَّ إِلَيْهِ مَرْجِعُكُمْ ثُمَّ يُنَبِّئُكُم بِمَا كُنتُمْ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takes your souls at night in sleep and knows what you did by day, then wakes you in the day so that you complete your set lifetime. Then to Him is your return, and He will tell you what you used to do.</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الْقَاهِرُ فَوْقَ عِبَادِهِ وَيُرْسِلُ عَلَيْكُمْ حَفَظَةً حَتَّىٰ إِذَا جَآءَ أَحَدَكُمُ الْمَوْتُ تَوَفَّتْهُ رُسُلُنَا وَهُمْ لَا يُفَرِّطُونَ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Irresistible, above His servants. He sends angels over you who record your deeds, until when death comes to one of you, Our angels take his soul, and they never fall short.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رُدُّواْ إِلَى اللَّهِ مَوْلَىٰهُمُ الْحَقِّ أَلَا لَهُ الْحُكْمُ وَهُوَ أَسْرَعُ الْحَٰسِبِينَ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they are returned to Allah, their true Master. Surely His is the judgement, and He is the swiftest of those who take account.</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يُنَجِّيكُم مِّن ظُلُمَٰتِ الْبَرِّ وَالْبَحْرِ تَدْعُونَهُ تَضَرُّعًا وَخُفْيَةً لَّئِنْ أَنجَىٰنَا مِنْ هَٰذِهِ لَنَكُونَنَّ مِنَ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 saves you from the dangers of land and sea, when you call on Him humbly and secretly: If He saves us from this, we will surely be thankful?</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 يُنَجِّيكُم مِّنْهَا وَمِن كُلِّ كَرْبٍ ثُمَّ أَنتُمْ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saves you from it and from every distress, yet you associate partners with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هُوَ الْقَادِرُ عَلَىٰ أَن يَبْعَثَ عَلَيْكُمْ عَذَابًا مِّن فَوْقِكُمْ أَوْ مِن تَحْتِ أَرْجُلِكُمْ أَوْ يَلْبِسَكُمْ شِيَعًا وَيُذِيقَ بَعْضَكُم بَأْسَ بَعْضٍ انظُرْ كَيْفَ نُصَرِّفُ الْأيَٰتِ لَعَلَّهُمْ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He is able to send punishment on you from above you, like stones, or from beneath your feet, like the earth swallowing you, or to split you into quarrelling groups and make you taste each other's violence. See how We vary the signs so that they may understand.</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وَكَذَّبَ بِهِ قَوْمُكَ وَهُوَ الْحَقُّ قُل لَّسْتُ عَلَيْكُم بِوَكِيلٍ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people have denied the Qur'an though it is the truth. Say: I am not your guardian.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67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لِّكُلِّ نَبَإٍ مُّسْتَقَرٌّ وَسَوْفَ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piece of news has a time when it will happen, and you will come to know.</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رَأَيْتَ الَّذِينَ يَخُوضُونَ فِي ءَايَٰتِنَا فَأَعْرِضْ عَنْهُمْ حَتَّىٰ يَخُوضُواْ فِي حَدِيثٍ غَيْرِهِ وَإِمَّا يُنسِيَنَّكَ الشَّيْطَٰنُ فَلَا تَقْعُدْ بَعْدَ الذِّكْرَىٰ مَعَ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see those who talk about Our verses mockingly, turn away from them until they talk about something else. If Satan makes you forget, do not sit with the wrongdoing people after you remember.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عَلَى الَّذِينَ يَتَّقُونَ مِنْ حِسَابِهِم مِّن شَيْءٍ وَلَٰكِن ذِكْرَىٰ لَعَلَّهُمْ يَتَّقُونَ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with taqwa are not responsible for those people's account at all, but they should remind them so that they may have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وَذَرِ الَّذِينَ اتَّخَذُواْ دِينَهُمْ لَعِبًا وَلَهْوًا وَغَرَّتْهُمُ الْحَيَوٰةُ الدُّنْيَا وَذَكِّرْ بِهِ أَن تُبْسَلَ نَفْسٌ بِمَا كَسَبَتْ لَيْسَ لَهَا مِن دُونِ اللَّهِ وَلِيٌّ وَلَا شَفِيعٌ وَإِن تَعْدِلْ كُلَّ عَدْلٍ لَّا يُؤْخَذْ مِنْهَآ أُوْلَـٰئِكَ الَّذِينَ أُبْسِلُواْ بِمَا كَسَبُواْ لَهُمْ شَرَابٌ مِّنْ حَمِيمٍ وَعَذَابٌ أَلِيمٌ بِمَا كَانُواْ يَكْفُرُونَ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those who take their religion as play and amusement and are fooled by the life of this world. Remind with the Qur'an, so that no soul is held in punishment for what it did, with no protector or intercessor besides Allah; even if it offered every ransom, it would not be accepted. They will have a drink of boiling water and a painful punishment for their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أَنَدْعُواْ مِن دُونِ اللَّهِ مَا لَا يَنفَعُنَا وَلَا يَضُرُّنَا وَنُرَدُّ عَلَىٰ أَعْقَابِنَا بَعْدَ إِذْ هَدَىٰنَا اللَّهُ كَالَّذِي اسْتَهْوَتْهُ الشَّيَٰطِينُ فِي الْأَرْضِ حَيْرَانَ لَهُ أَصْحَٰبٌ يَدْعُونَهُ إِلَى الْهُدَى ائْتِنَا قُلْ إِنَّ هُدَى اللَّهِ هُوَ الْهُدَىٰ وَأُمِرْنَا لِنُسْلِمَ لِرَبِّ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Should we worship besides Allah what can neither benefit nor harm us, and turn back to disbelief after Allah has guided us, like one whom the devils have led astray in the land, confused, while his friends call him to the right way: Come to us? Say: Allah's guidance is the true guidance, and we have been commanded to submit to the Lord of the worlds,</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أَقِيمُواْ الصَّلَوٰةَ وَاتَّقُوهُ وَهُوَ الَّذِي إِلَيْهِ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perform the prayer and have taqwa of Him; He is the One to whom you will be gathered.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خَلَقَ السَّمَٰوَٰتِ وَالْأَرْضَ بِالْحَقِّ وَيَوْمَ يَقُولُ كُن فَيَكُونُ قَوْلُهُ الْحَقُّ وَلَهُ الْمُلْكُ يَوْمَ يُنفَخُ فِي الصُّورِ عَٰلِمُ الْغَيْبِ وَالشَّهَٰدَةِ وَهُوَ الْحَكِيمُ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the heavens and the earth with truth. On the Day He says to something: Be, it is. His word is the truth. His is the kingdom on the Day the Horn is blown. He is the Knower of the unseen and the seen, the All-Wise, the All-Aware.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Ibrahim and the Prophets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74 – 90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When “Those who believe and do not mix their faith with wrongdoing” was revealed, it was hard on the Companions and they said: Which of us has not wronged himself? The Prophet (peace be upon him) said: "It is not as you think. It is as Luqman said to his son: Shirk is a great wrong"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Ibrahim's debate with his people about worshipping the stars and his proof of tawhid, then the mention of eighteen prophets Allah guided, and the command to follow their example.</a:t>
            </a:r>
            <a:endParaRPr lang="en-US" sz="17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74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 إِبْرَٰهِيمُ لِأَبِيهِ ءَازَرَ أَتَتَّخِذُ أَصْنَامًا ءَالِهَةً إِنِّي أَرَىٰكَ وَقَوْمَكَ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Ibrahim said to his father Azar: Do you take idols as gods? I see you and your people clearly astray.</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نُرِي إِبْرَٰهِيمَ مَلَكُوتَ السَّمَٰوَٰتِ وَالْأَرْضِ وَلِيَكُونَ مِنَ الْمُوقِنِينَ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showed Ibrahim the kingdom of the heavens and the earth and the signs of tawhid in them, so that he would be among the certain.</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جَنَّ عَلَيْهِ الَّيْلُ رَءَا كَوْكَبًا قَالَ هَٰذَا رَبِّي فَلَمَّآ أَفَلَ قَالَ لَآ أُحِبُّ الْأفِلِينَ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night covered him, he saw a star. He said to his people, debating with them: Is this my lord? When it set, he said: I do not love gods that set.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رَءَا الْقَمَرَ بَازِغًا قَالَ هَٰذَا رَبِّي فَلَمَّآ أَفَلَ قَالَ لَئِن لَّمْ يَهْدِنِي رَبِّي لَأَكُونَنَّ مِنَ الْقَوْمِ الضَّآلِّينَ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saw the moon rising he said: Is this my lord? When it set he said: If my Lord does not guide me, I will surely be among the people who are astray.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رَءَا الشَّمْسَ بَازِغَةً قَالَ هَٰذَا رَبِّي هَٰذَآ أَكْبَرُ فَلَمَّآ أَفَلَتْ قَالَ يَٰقَوْمِ إِنِّي بَرِيءٌ مِّمَّا تُشْرِكُونَ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saw the sun rising he said: Is this my lord? This is bigger! When it set he said: O my people, I am free of what you associate with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وَجَّهْتُ وَجْهِيَ لِلَّذِي فَطَرَ السَّمَٰوَٰتِ وَالْأَرْضَ حَنِيفًا وَمَآ أَنَا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have turned my face and my worship to the One who created the heavens and the earth, turning away from shirk to tawhid, and I am not one of the idol-worshippers.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وَحَآجَّهُ قَوْمُهُ قَالَ أَتُحَـٰجُّونِّي فِي اللَّهِ وَقَدْ هَدَىٰنِ وَلَآ أَخَافُ مَا تُشْرِكُونَ بِهِ إِلَّآ أَن يَشَآءَ رَبِّي شَيْـًٔا وَسِعَ رَبِّي كُلَّ شَيْءٍ عِلْمًا أَفَلَا تَتَذَكَّرُونَ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people argued with him about tawhid. He said: Do you argue with me about Allah when He has guided me? I do not fear that your gods will harm me, unless my Lord wills something. My Lord's knowledge covers everything. Will you not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84937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وَكَيْفَ أَخَافُ مَآ أَشْرَكْتُمْ وَلَا تَخَافُونَ أَنَّكُمْ أَشْرَكْتُم بِاللَّهِ مَا لَمْ يُنَزِّلْ بِهِ عَلَيْكُمْ سُلْطَٰنًا فَأَيُّ الْفَرِيقَيْنِ أَحَقُّ بِالْأَمْنِ إِن كُنتُمْ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could I fear your gods when you do not fear associating with Allah things for which He sent down no proof? So which of the two sides has more right to safety, if you know?</a:t>
            </a:r>
            <a:endParaRPr lang="en-US" sz="3000" dirty="0"/>
          </a:p>
        </p:txBody>
      </p:sp>
      <p:sp>
        <p:nvSpPr>
          <p:cNvPr id="9" name="Shape 7"/>
          <p:cNvSpPr/>
          <p:nvPr/>
        </p:nvSpPr>
        <p:spPr>
          <a:xfrm>
            <a:off x="1444752" y="3838194"/>
            <a:ext cx="8641080" cy="0"/>
          </a:xfrm>
          <a:prstGeom prst="line">
            <a:avLst/>
          </a:prstGeom>
          <a:noFill/>
          <a:ln w="9525">
            <a:solidFill>
              <a:schemeClr val="accent2"/>
            </a:solidFill>
            <a:prstDash val="dash"/>
          </a:ln>
        </p:spPr>
      </p:sp>
      <p:sp>
        <p:nvSpPr>
          <p:cNvPr id="10" name="Shape 8"/>
          <p:cNvSpPr/>
          <p:nvPr/>
        </p:nvSpPr>
        <p:spPr>
          <a:xfrm>
            <a:off x="713232" y="4071366"/>
            <a:ext cx="548640" cy="548640"/>
          </a:xfrm>
          <a:prstGeom prst="star8">
            <a:avLst/>
          </a:prstGeom>
          <a:solidFill>
            <a:schemeClr val="accent2"/>
          </a:solidFill>
          <a:ln/>
        </p:spPr>
      </p:sp>
      <p:sp>
        <p:nvSpPr>
          <p:cNvPr id="11" name="Shape 9"/>
          <p:cNvSpPr/>
          <p:nvPr/>
        </p:nvSpPr>
        <p:spPr>
          <a:xfrm>
            <a:off x="822960" y="418109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713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40530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وَلَمْ يَلْبِسُواْ إِيمَٰنَهُم بِظُلْمٍ أُوْلَـٰئِكَ لَهُمُ الْأَمْنُ وَهُم مُّهْتَدُونَ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do not mix their faith with shirk, they will have safety and they are rightly guided. The Prophet (peace be upon him) explained that "wrongdoing" here means shirk (Bukhari and Muslim).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وَتِلْكَ حُجَّتُنَآ ءَاتَيْنَٰهَآ إِبْرَٰهِيمَ عَلَىٰ قَوْمِهِ نَرْفَعُ دَرَجَٰتٍ مَّن نَّشَآءُ إِنَّ رَبَّكَ حَكِيمٌ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was Our argument which We gave Ibrahim to defeat his people. We raise in ranks whom We will through knowledge and faith. Your Lord is All-Wise, All-Knowing.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280720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 إِسْحَٰقَ وَيَعْقُوبَ كُلًّا هَدَيْنَا وَنُوحًا هَدَيْنَا مِن قَبْلُ وَمِن ذُرِّيَّتِهِ دَاوُدَ وَسُلَيْمَٰنَ وَأَيُّوبَ وَيُوسُفَ وَمُوسَىٰ وَهَٰرُونَ وَكَذَٰلِكَ نَجْزِي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him Ishaq and Ya'qub, and guided each of them. We guided Nuh before them, and from his descendants Dawud, Sulayman, Ayyub, Yusuf, Musa and Harun. That is how We reward those who do good.</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وَزَكَرِيَّا وَيَحْيَىٰ وَعِيسَىٰ وَإِلْيَاسَ كُلٌّ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Zakariyya, Yahya, 'Isa and Ilyas; all were among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وَإِسْمَٰعِيلَ وَالْيَسَعَ وَيُونُسَ وَلُوطًا وَكُلًّا فَضَّلْنَا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Isma'il, Al-Yasa', Yunus and Lut; each We preferred above the people of their time.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ءَابَآئِهِمْ وَذُرِّيَّـٰتِهِمْ وَإِخْوَٰنِهِمْ وَاجْتَبَيْنَٰهُمْ وَهَدَيْنَٰهُمْ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some of their fathers, descendants and brothers; We chose them and guided them to a straight path.</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هُدَى اللَّهِ يَهْدِي بِهِ مَن يَشَآءُ مِنْ عِبَادِهِ وَلَوْ أَشْرَكُواْ لَحَبِطَ عَنْهُم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Allah's guidance; He guides with it whom He wills of His servants. If they had associated partners with Him, all their deeds would have been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ءَاتَيْنَٰهُمُ الْكِتَٰبَ وَالْحُكْمَ وَالنُّبُوَّةَ فَإِن يَكْفُرْ بِهَا هَـٰؤُلَآءِ فَقَدْ وَكَّلْنَا بِهَا قَوْمًا لَّيْسُواْ بِهَا بِكَٰفِرِينَ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We gave the Books, wisdom and prophethood. If the people of Makkah reject them, We have entrusted them to a people who do not reject them: the Muhajirun and the Ansar.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هَدَى اللَّهُ فَبِهُدَىٰهُمُ اقْتَدِهْ قُل لَّآ أَسْـَٔلُكُمْ عَلَيْهِ أَجْرًا إِنْ هُوَ إِلَّا ذِكْرَىٰ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Allah guided, so follow their guidance. Say: I ask you no payment for the Qur'an; it is only a reminder for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Allah's Signs in Creation</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91 – 110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reply to those who deny revelation, the blessing of the Qur'an, the scene of wrongdoers at death, then Allah's signs in splitting seeds and date stones, the dawn, the stars and plants, and forbidding insulting the idol-worshippers' gods.</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قَدَرُواْ اللَّهَ حَقَّ قَدْرِهِ إِذْ قَالُواْ مَآ أَنزَلَ اللَّهُ عَلَىٰ بَشَرٍ مِّن شَيْءٍ قُلْ مَنْ أَنزَلَ الْكِتَٰبَ الَّذِي جَآءَ بِهِ مُوسَىٰ نُورًا وَهُدًى لِّلنَّاسِ تَجْعَلُونَهُ قَرَاطِيسَ تُبْدُونَهَا وَتُخْفُونَ كَثِيرًا وَعُلِّمْتُم مَّا لَمْ تَعْلَمُواْ أَنتُمْ وَلَآ ءَابَآؤُكُمْ قُلِ اللَّهُ ثُمَّ ذَرْهُمْ فِي خَوْضِهِمْ يَلْعَبُونَ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did not honour Allah as He deserves when they said: Allah has not sent down anything to any human. Say: Who sent down the Torah that Musa brought as light and guidance for people, which you write on sheets, showing some and hiding much, and you were taught what neither you nor your fathers knew? Say: Allah sent it down. Then leave them playing in their falsehood.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وَهَٰذَا كِتَٰبٌ أَنزَلْنَٰهُ مُبَارَكٌ مُّصَدِّقُ الَّذِي بَيْنَ يَدَيْهِ وَلِتُنذِرَ أُمَّ الْقُرَىٰ وَمَنْ حَوْلَهَا وَالَّذِينَ يُؤْمِنُونَ بِالْأخِرَةِ يُؤْمِنُونَ بِهِ وَهُمْ عَلَىٰ صَلَاتِهِمْ يُحَافِظُونَ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a blessed Book We have sent down, confirming the Books before it, so that you may warn the people of Makkah and those around it. Those who believe in the Hereafter believe in it, and they guard their prayers.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أَظْلَمُ مِمَّنِ افْتَرَىٰ عَلَى اللَّهِ كَذِبًا أَوْ قَالَ أُوحِيَ إِلَيَّ وَلَمْ يُوحَ إِلَيْهِ شَيْءٌ وَمَن قَالَ سَأُنزِلُ مِثْلَ مَآ أَنزَلَ اللَّهُ وَلَوْ تَرَىٰ إِذِ الظَّـٰلِمُونَ فِي غَمَرَٰتِ الْمَوْتِ وَالْمَلَـٰئِكَةُ بَاسِطُواْ أَيْدِيهِمْ أَخْرِجُواْ أَنفُسَكُمُ الْيَوْمَ تُجْزَوْنَ عَذَابَ الْهُونِ بِمَا كُنتُمْ تَقُولُونَ عَلَى اللَّهِ غَيْرَ الْحَقِّ وَكُنتُمْ عَنْ ءَايَٰتِهِ تَسْتَكْبِرُونَ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is more unjust than one who lies about Allah, or claims prophethood when nothing was revealed to him, or says: I will send down the like of what Allah sent down. If only you could see the wrongdoers in the agonies of death, while the angels stretch out their hands striking them: Give up your souls! Today you will be repaid with humiliating punishment for lying about Allah and being too proud for His verses.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جِئْتُمُونَا فُرَٰدَىٰ كَمَا خَلَقْنَٰكُمْ أَوَّلَ مَرَّةٍ وَتَرَكْتُم مَّا خَوَّلْنَٰكُمْ وَرَآءَ ظُهُورِكُمْ وَمَا نَرَىٰ مَعَكُمْ شُفَعَآءَكُمُ الَّذِينَ زَعَمْتُمْ أَنَّهُمْ فِيكُمْ شُرَكَـٰؤُاْ لَقَد تَّقَطَّعَ بَيْنَكُمْ وَضَلَّ عَنكُم مَّا كُنتُمْ تَزْعُمُونَ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come to Us on the Day of Resurrection alone, with no wealth or family, as We created you the first time, leaving behind what We gave you. We do not see with you your intercessors whom you claimed were partners with Allah. The ties between you are cut, and what you used to claim has abandoned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95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فَالِقُ الْحَبِّ وَالنَّوَىٰ يُخْرِجُ الْحَيَّ مِنَ الْمَيِّتِ وَمُخْرِجُ الْمَيِّتِ مِنَ الْحَيِّ ذَٰلِكُمُ اللَّهُ فَأَنَّىٰ تُؤْفَكُونَ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splits the seed and the date stone, bringing out plants and trees. He brings the living out of the dead and the dead out of the living. That is Allah, so how are you turned away from worshipping Him?</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فَالِقُ الْإِصْبَاحِ وَجَعَلَ الَّيْلَ سَكَنًا وَالشَّمْسَ وَالْقَمَرَ حُسْبَانًا ذَٰلِكَ تَقْدِيرُ الْعَزِيزِ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splits the light of dawn out of the darkness of night, made the night for rest, and the sun and moon running by exact calculation. That is the decree of the Almighty,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جَعَلَ لَكُمُ النُّجُومَ لِتَهْتَدُواْ بِهَا فِي ظُلُمَٰتِ الْبَرِّ وَالْبَحْرِ قَدْ فَصَّلْنَا الْأيَٰتِ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the stars for you to find your way in the darkness of land and sea. We have explained the signs for people who know.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أَنشَأَكُم مِّن نَّفْسٍ وَٰحِدَةٍ فَمُسْتَقَرٌّ وَمُسْتَوْدَعٌ قَدْ فَصَّلْنَا الْأيَٰتِ لِقَوْمٍ يَفْقَهُونَ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created you from a single soul, Adam; some of you settled in the wombs and some kept in the loins. We have explained the signs for people who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أَنزَلَ مِنَ السَّمَآءِ مَآءً فَأَخْرَجْنَا بِهِ نَبَاتَ كُلِّ شَيْءٍ فَأَخْرَجْنَا مِنْهُ خَضِرًا نُّخْرِجُ مِنْهُ حَبًّا مُّتَرَاكِبًا وَمِنَ النَّخْلِ مِن طَلْعِهَا قِنْوَانٌ دَانِيَةٌ وَجَنَّـٰتٍ مِّنْ أَعْنَابٍ وَالزَّيْتُونَ وَالرُّمَّانَ مُشْتَبِهًا وَغَيْرَ مُتَشَٰبِهٍ انظُرُواْ إِلَىٰ ثَمَرِهِ إِذَآ أَثْمَرَ وَيَنْعِهِ إِنَّ فِي ذَٰلِكُمْ لَأيَٰتٍ لِّقَوْمٍ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sends down rain from the sky, and with it We bring out every kind of plant: green crops from which We bring out grain packed together like ears of corn, bunches of dates hanging low from palm trees, gardens of grapes, and olives and pomegranates, alike in leaves and different in taste. Look at their fruit when it appears and when it ripens. In that are signs for people who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100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لِلَّهِ شُرَكَآءَ الْجِنَّ وَخَلَقَهُمْ وَخَرَقُواْ لَهُ بَنِينَ وَبَنَٰتٍ بِغَيْرِ عِلْمٍ سُبْحَٰنَهُ وَتَعَٰلَىٰ عَمَّا يَصِفُونَ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made the jinn partners with Allah in worship though He created them, and made up sons and daughters for Him without knowledge. Glory be to Him, far above what they describe!</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بَدِيعُ السَّمَٰوَٰتِ وَالْأَرْضِ أَنَّىٰ يَكُونُ لَهُ وَلَدٌ وَلَمْ تَكُن لَّهُ صَٰحِبَةٌ وَخَلَقَ كُلَّ شَيْءٍ وَهُوَ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Originator of the heavens and the earth without any example. How could He have a child when He has no wife? He created everything, and He knows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ذَٰلِكُمُ اللَّهُ رَبُّكُمْ لَآ إِلَٰهَ إِلَّا هُوَ خَٰلِقُ كُلِّ شَيْءٍ فَاعْبُدُوهُ وَهُوَ عَلَىٰ كُلِّ شَيْءٍ 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Allah, your Lord; there is no god but Him, Creator of everything, so worship Him. He is Guardian over everything.</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تُدْرِكُهُ الْأَبْصَٰرُ وَهُوَ يُدْرِكُ الْأَبْصَٰرَ وَهُوَ اللَّطِيفُ الْخَبِيرُ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Eyes cannot grasp Him, but He grasps all eyes, and He is the Most Subtle, the All-Aware. The believers will see Him in the Hereafter, as the Sunnah confirms.</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جَآءَكُم بَصَآئِرُ مِن رَّبِّكُمْ فَمَنْ أَبْصَرَ فَلِنَفْسِهِ وَمَنْ عَمِيَ فَعَلَيْهَا وَمَآ أَنَا عَلَيْكُم بِحَفِيظٍ</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Clear proofs have come to you from your Lord by which you can see the truth. Whoever sees, it benefits himself, and whoever is blind, it harms himself. I am not a guard over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105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نُصَرِّفُ الْأيَٰتِ وَلِيَقُولُواْ دَرَسْتَ وَلِنُبَيِّنَهُ لِقَوْمٍ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vary the signs, so the idol-worshippers say: You learned this, O Muhammad, from the People of the Book; and so that We make it clear for people who know.</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اتَّبِعْ مَآ أُوحِيَ إِلَيْكَ مِن رَّبِّكَ لَآ إِلَٰهَ إِلَّا هُوَ وَأَعْرِضْ عَنِ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Follow what has been revealed to you from your Lord; there is no god but Him; and turn away from the idol-worshippers.</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شَآءَ اللَّهُ مَآ أَشْرَكُواْ وَمَا جَعَلْنَٰكَ عَلَيْهِمْ حَفِيظًا وَمَآ أَنتَ عَلَيْهِم بِوَكِيلٍ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had willed, they would not have associated partners with Him. We have not made you a guard over them, nor are you their keeper.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تَسُبُّواْ الَّذِينَ يَدْعُونَ مِن دُونِ اللَّهِ فَيَسُبُّواْ اللَّهَ عَدْوًا بِغَيْرِ عِلْمٍ كَذَٰلِكَ زَيَّنَّا لِكُلِّ أُمَّةٍ عَمَلَهُمْ ثُمَّ إِلَىٰ رَبِّهِم مَّرْجِعُهُمْ فَيُنَبِّئُهُم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insult the gods of the idol-worshippers, or they will insult Allah out of hostility and ignorance. In this way We have made every nation's deeds look good to it. Then to their Lord is their return, and He will tell them what they used to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وَأَقْسَمُواْ بِاللَّهِ جَهْدَ أَيْمَٰنِهِمْ لَئِن جَآءَتْهُمْ ءَايَةٌ لَّيُؤْمِنُنَّ بِهَا قُلْ إِنَّمَا الْأيَٰتُ عِندَ اللَّهِ وَمَا يُشْعِرُكُمْ أَنَّهَآ إِذَا جَآءَتْ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swore by Allah their strongest oaths that if a miracle came to them they would believe in it. Say: Miracles are only with Allah. And how do you know that if it came they would not believe?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099816"/>
            <a:ext cx="548640" cy="548640"/>
          </a:xfrm>
          <a:prstGeom prst="star8">
            <a:avLst/>
          </a:prstGeom>
          <a:solidFill>
            <a:schemeClr val="accent2"/>
          </a:solidFill>
          <a:ln/>
        </p:spPr>
      </p:sp>
      <p:sp>
        <p:nvSpPr>
          <p:cNvPr id="6" name="Shape 4"/>
          <p:cNvSpPr/>
          <p:nvPr/>
        </p:nvSpPr>
        <p:spPr>
          <a:xfrm>
            <a:off x="822960" y="320954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وَنُقَلِّبُ أَفْـِٔدَتَهُمْ وَأَبْصَٰرَهُمْ كَمَا لَمْ يُؤْمِنُواْ بِهِ أَوَّلَ مَرَّةٍ وَنَذَرُهُمْ فِي طُغْيَٰنِهِمْ يَعْمَهُونَ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turn their hearts and eyes away from the truth, as they did not believe in the Qur'an the first time, and We leave them wandering blindly in their rebellion.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Enemies of the Prophets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111 – 127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(may Allah be pleased with them) said: Some people came to the Prophet (peace be upon him) and said: Do we eat what we kill and not eat what Allah kills? So Allah revealed: “Do not eat from that over which Allah's name has not been mentioned...” up to “and if you obey them, you would be idol-worshippers” (Abu Dawud and Tirmidhi).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Every prophet has enemies among the devils of mankind and jinn, Allah's words are perfect in truth and justice, the ruling on meat over which Allah's name is mentioned, and the example of the living believer and the dead disbeliever.</a:t>
            </a:r>
            <a:endParaRPr lang="en-US" sz="1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111 – 112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أَنَّنَا نَزَّلْنَآ إِلَيْهِمُ الْمَلَـٰئِكَةَ وَكَلَّمَهُمُ الْمَوْتَىٰ وَحَشَرْنَا عَلَيْهِمْ كُلَّ شَيْءٍ قُبُلًا مَّا كَانُواْ لِيُؤْمِنُواْ إِلَّآ أَن يَشَآءَ اللَّهُ وَلَٰكِنَّ أَكْثَرَهُمْ يَجْهَلُونَ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Even if We sent down angels to them, the dead spoke to them, and We gathered everything before their eyes, they would not believe unless Allah willed, but most of them are ignorant.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جَعَلْنَا لِكُلِّ نَبِيٍّ عَدُوًّا شَيَٰطِينَ الْإِنسِ وَالْجِنِّ يُوحِي بَعْضُهُمْ إِلَىٰ بَعْضٍ زُخْرُفَ الْقَوْلِ غُرُورًا وَلَوْ شَآءَ رَبُّكَ مَا فَعَلُوهُ فَذَرْهُمْ وَمَا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Just as We made enemies for you, We made for every prophet enemies from the devils of mankind and jinn, who whisper decorated words to one another to deceive. If your Lord had willed, they would not have done it, so leave them and what they invent.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113 – 114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وَلِتَصْغَىٰ إِلَيْهِ أَفْـِٔدَةُ الَّذِينَ لَا يُؤْمِنُونَ بِالْأخِرَةِ وَلِيَرْضَوْهُ وَلِيَقْتَرِفُواْ مَا هُم مُّقْتَرِفُونَ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 hearts of those who do not believe in the Hereafter lean towards these decorated words, are pleased with them, and earn the sins they earn.</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أَفَغَيْرَ اللَّهِ أَبْتَغِي حَكَمًا وَهُوَ الَّذِي أَنزَلَ إِلَيْكُمُ الْكِتَٰبَ مُفَصَّلًا وَالَّذِينَ ءَاتَيْنَٰهُمُ الْكِتَٰبَ يَعْلَمُونَ أَنَّهُ مُنَزَّلٌ مِّن رَّبِّكَ بِالْحَقِّ فَلَا تَكُونَنَّ مِنَ الْمُمْتَرِينَ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Should I seek a judge other than Allah, when He has sent down to you the Qur'an explained in detail? Those We gave the Book know it is sent down from your Lord with the truth, so do not be among those who doubt.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115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وَتَمَّتْ كَلِمَتُ رَبِّكَ صِدْقًا وَعَدْلًا لَّا مُبَدِّلَ لِكَلِمَٰتِهِ وَهُوَ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words of your Lord have been completed in truth in their news and justice in their rulings. No one can change His words, and He is the All-Hearing, the All-Knowing.</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تُطِعْ أَكْثَرَ مَن فِي الْأَرْضِ يُضِلُّوكَ عَن سَبِيلِ اللَّهِ إِن يَتَّبِعُونَ إِلَّا الظَّنَّ وَإِنْ هُمْ إِلَّا يَخْرُصُونَ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obey most of those on earth, they will lead you away from Allah's religion. They follow nothing but guesses, and they only lie.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رَبَّكَ هُوَ أَعْلَمُ مَن يَضِلُّ عَن سَبِيلِهِ وَهُوَ أَعْلَمُ بِالْمُهْتَدِينَ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knows best who strays from His path, and He knows best the rightly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فَكُلُواْ مِمَّا ذُكِرَ اسْمُ اللَّهِ عَلَيْهِ إِن كُنتُم بِـَٔايَٰتِهِ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eat from the meat over which Allah's name has been mentioned, if you believe in His verses.</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لَكُمْ أَلَّا تَأْكُلُواْ مِمَّا ذُكِرَ اسْمُ اللَّهِ عَلَيْهِ وَقَدْ فَصَّلَ لَكُم مَّا حَرَّمَ عَلَيْكُمْ إِلَّا مَا اضْطُرِرْتُمْ إِلَيْهِ وَإِنَّ كَثِيرًا لَّيُضِلُّونَ بِأَهْوَآئِهِم بِغَيْرِ عِلْمٍ إِنَّ رَبَّكَ هُوَ أَعْلَمُ بِالْمُعْتَدِينَ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should you not eat from what Allah's name has been mentioned over, when He has explained to you what He has forbidden, except what you are forced to? Many lead people astray with their desires without knowledge. Your Lord knows best those who overstep.</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وَذَرُواْ ظَٰهِرَ الْإِثْمِ وَبَاطِنَهُ إِنَّ الَّذِينَ يَكْسِبُونَ الْإِثْمَ سَيُجْزَوْنَ بِمَا كَانُواْ يَقْتَرِفُونَ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Leave sins, open and hidden. Those who earn sin will be repaid for what they earned.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121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تَأْكُلُواْ مِمَّا لَمْ يُذْكَرِ اسْمُ اللَّهِ عَلَيْهِ وَإِنَّهُ لَفِسْقٌ وَإِنَّ الشَّيَٰطِينَ لَيُوحُونَ إِلَىٰ أَوْلِيَآئِهِمْ لِيُجَٰدِلُوكُمْ وَإِنْ أَطَعْتُمُوهُمْ إِنَّكُمْ لَمُشْرِكُونَ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eat from meat over which Allah's name has not been mentioned; eating it is disobedience. The devils whisper to their friends to argue with you, and if you obey them in making the forbidden lawful, you would be idol-worshippers.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أَوَمَن كَانَ مَيْتًا فَأَحْيَيْنَٰهُ وَجَعَلْنَا لَهُ نُورًا يَمْشِي بِهِ فِي النَّاسِ كَمَن مَّثَلُهُ فِي الظُّلُمَٰتِ لَيْسَ بِخَارِجٍ مِّنْهَا كَذَٰلِكَ زُيِّنَ لِلْكَٰفِرِينَ 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one whose heart was dead with disbelief, then We gave it life with faith and gave him a light to walk with among people, like one in the darkness of disbelief who never comes out? In this way the disbelievers' deeds are made to look good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جَعَلْنَا فِي كُلِّ قَرْيَةٍ أَكَٰبِرَ مُجْرِمِيهَا لِيَمْكُرُواْ فِيهَا وَمَا يَمْكُرُونَ إِلَّا بِأَنفُسِهِمْ وَمَا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placed in every town its greatest criminals to plot there, but they only plot against themselves without realising.</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جَآءَتْهُمْ ءَايَةٌ قَالُواْ لَن نُّؤْمِنَ حَتَّىٰ نُؤْتَىٰ مِثْلَ مَآ أُوتِيَ رُسُلُ اللَّهِ اللَّهُ أَعْلَمُ حَيْثُ يَجْعَلُ رِسَالَتَهُ سَيُصِيبُ الَّذِينَ أَجْرَمُواْ صَغَارٌ عِندَ اللَّهِ وَعَذَابٌ شَدِيدٌ بِمَا كَانُواْ يَمْكُرُونَ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 sign comes to them they say: We will not believe until we are given prophethood like the messengers! Allah knows best where to place His message. Humiliation from Allah and a severe punishment will strike the criminals for their plotting.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125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يُرِدِ اللَّهُ أَن يَهْدِيَهُ يَشْرَحْ صَدْرَهُ لِلْإِسْلَٰمِ وَمَن يُرِدْ أَن يُضِلَّهُ يَجْعَلْ صَدْرَهُ ضَيِّقًا حَرَجًا كَأَنَّمَا يَصَّعَّدُ فِي السَّمَآءِ كَذَٰلِكَ يَجْعَلُ اللَّهُ الرِّجْسَ عَلَى الَّذِينَ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Allah wants to guide, He opens his chest to Islam, and whoever He wants to leave astray, He makes his chest tight and constricted, as if he were climbing up into the sky. In this way Allah puts punishment on those who do not believe.</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وَهَٰذَا صِرَٰطُ رَبِّكَ مُسْتَقِيمًا قَدْ فَصَّلْنَا الْأيَٰتِ لِقَوْمٍ يَذَّكَّرُونَ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Islam is the straight path of your Lord. We have explained the verses for people who take heed.</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لَهُمْ دَارُ السَّلَٰمِ عِندَ رَبِّهِمْ وَهُوَ وَلِيُّهُم بِمَا كَانُواْ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have the Home of Peace, Paradise, with their Lord, and He is their Protector because of their good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Ending Old Customs</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128 – 150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dialogue of jinn and humans on the Day of Resurrection, then cancelling what the idol-worshippers invented of forbidding livestock and crops and killing their children, and making clear which foods are truly forbidden.</a:t>
            </a:r>
            <a:endParaRPr lang="en-US" sz="17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وَيَوْمَ يَحْشُرُهُمْ جَمِيعًا يَٰمَعْشَرَ الْجِنِّ قَدِ اسْتَكْثَرْتُم مِّنَ الْإِنسِ وَقَالَ أَوْلِيَآؤُهُم مِّنَ الْإِنسِ رَبَّنَا اسْتَمْتَعَ بَعْضُنَا بِبَعْضٍ وَبَلَغْنَآ أَجَلَنَا الَّذِي أَجَّلْتَ لَنَا قَالَ النَّارُ مَثْوَىٰكُمْ خَٰلِدِينَ فِيهَآ إِلَّا مَا شَآءَ اللَّهُ إِنَّ رَبَّكَ حَكِيمٌ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He gathers the jinn and humans, He will say: O company of jinn, you misled many humans. Their human followers will say: Our Lord, we benefited from one another, and we have reached the term You set for us. He will say: The Fire is your home, staying there forever, except as Allah wills. Your Lord is All-Wise, All-Knowing.</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نُوَلِّي بَعْضَ الظَّـٰلِمِينَ بَعْضًا بِمَا كَانُواْ يَكْسِبُونَ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let some wrongdoers take control over others because of their sins.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يَٰمَعْشَرَ الْجِنِّ وَالْإِنسِ أَلَمْ يَأْتِكُمْ رُسُلٌ مِّنكُمْ يَقُصُّونَ عَلَيْكُمْ ءَايَٰتِي وَيُنذِرُونَكُمْ لِقَآءَ يَوْمِكُمْ هَٰذَا قَالُواْ شَهِدْنَا عَلَىٰ أَنفُسِنَا وَغَرَّتْهُمُ الْحَيَوٰةُ الدُّنْيَا وَشَهِدُواْ عَلَىٰ أَنفُسِهِمْ أَنَّهُمْ كَانُواْ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company of jinn and humans, did messengers from among you not come to you, reciting My verses to you and warning you of this Day? They will say: We bear witness against ourselves. The life of this world fooled them, and they will bear witness against themselves that they were disbelievers.</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أَن لَّمْ يَكُن رَّبُّكَ مُهْلِكَ الْقُرَىٰ بِظُلْمٍ وَأَهْلُهَا غَٰفِلُونَ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sending of messengers is because your Lord would not destroy towns for their wrongdoing while their people were unaware, with no messenger having come to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132 – 134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دَرَجَٰتٌ مِّمَّا عَمِلُواْ وَمَا رَبُّكَ بِغَٰفِلٍ عَمَّا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both jinn and humans there are ranks according to their deeds, and your Lord is not unaware of what they do.</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وَرَبُّكَ الْغَنِيُّ ذُو الرَّحْمَةِ إِن يَشَأْ يُذْهِبْكُمْ وَيَسْتَخْلِفْ مِن بَعْدِكُم مَّا يَشَآءُ كَمَآ أَنشَأَكُم مِّن ذُرِّيَّةِ قَوْمٍ ءَاخَرِينَ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Lord is Free of need, full of mercy. If He wills, He can remove you and bring after you whom He wills, as He produced you from the descendants of other people.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مَا تُوعَدُونَ لَأتٍ وَمَآ أَنتُم بِمُعْجِزِينَ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you are promised, the Resurrection, will surely come, and you cannot escape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135 – 136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يَٰقَوْمِ اعْمَلُواْ عَلَىٰ مَكَانَتِكُمْ إِنِّي عَامِلٌ فَسَوْفَ تَعْلَمُونَ مَن تَكُونُ لَهُ عَٰقِبَةُ الدَّارِ إِنَّهُ لَا يُفْلِحُ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my people, work in your way and I will work in mine. You will come to know who will have the good end. The wrongdoers will never succeed.</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وَجَعَلُواْ لِلَّهِ مِمَّا ذَرَأَ مِنَ الْحَرْثِ وَالْأَنْعَٰمِ نَصِيبًا فَقَالُواْ هَٰذَا لِلَّهِ بِزَعْمِهِمْ وَهَٰذَا لِشُرَكَآئِنَا فَمَا كَانَ لِشُرَكَآئِهِمْ فَلَا يَصِلُ إِلَى اللَّهِ وَمَا كَانَ لِلَّهِ فَهُوَ يَصِلُ إِلَىٰ شُرَكَآئِهِمْ سَآءَ مَا يَحْكُمُونَ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set aside for Allah a share of the crops and livestock He created, and said: This is for Allah, as they claimed, and this is for our idols. What was for their idols never reached Allah, and what was for Allah reached their idols. How evil is their judgement!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137 – 138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زَيَّنَ لِكَثِيرٍ مِّنَ الْمُشْرِكِينَ قَتْلَ أَوْلَٰدِهِمْ شُرَكَآؤُهُمْ لِيُرْدُوهُمْ وَلِيَلْبِسُواْ عَلَيْهِمْ دِينَهُمْ وَلَوْ شَآءَ اللَّهُ مَا فَعَلُوهُ فَذَرْهُمْ وَمَا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the devils made killing their children look good to many idol-worshippers, to destroy them and confuse their religion for them. If Allah had willed, they would not have done it, so leave them and what they invent.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هَٰذِهِ أَنْعَٰمٌ وَحَرْثٌ حِجْرٌ لَّا يَطْعَمُهَآ إِلَّا مَن نَّشَآءُ بِزَعْمِهِمْ وَأَنْعَٰمٌ حُرِّمَتْ ظُهُورُهَا وَأَنْعَٰمٌ لَّا يَذْكُرُونَ اسْمَ اللَّهِ عَلَيْهَا افْتِرَآءً عَلَيْهِ سَيَجْزِيهِم بِمَا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These livestock and crops are forbidden; none may eat them except whom we wish, as they claimed. And livestock whose backs they forbade riding, and livestock over which they did not mention Allah's name, lying about Allah. He will repay them for what they invented.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139 – 140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مَا فِي بُطُونِ هَٰذِهِ الْأَنْعَٰمِ خَالِصَةٌ لِّذُكُورِنَا وَمُحَرَّمٌ عَلَىٰ أَزْوَٰجِنَا وَإِن يَكُن مَّيْتَةً فَهُمْ فِيهِ شُرَكَآءُ سَيَجْزِيهِمْ وَصْفَهُمْ إِنَّهُ حَكِيمٌ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What is in the wombs of these animals is lawful for our males and forbidden to our women, but if it is born dead, they all share it. He will repay them for their false description; He is All-Wise, All-Knowing.</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خَسِرَ الَّذِينَ قَتَلُواْ أَوْلَٰدَهُمْ سَفَهًا بِغَيْرِ عِلْمٍ وَحَرَّمُواْ مَا رَزَقَهُمُ اللَّهُ افْتِرَآءً عَلَى اللَّهِ قَدْ ضَلُّواْ وَمَا كَانُواْ مُهْتَدِينَ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killed their children foolishly without knowledge, and forbade what Allah provided them, lying about Allah, have lost. They have gone astray and were not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أَنشَأَ جَنَّـٰتٍ مَّعْرُوشَٰتٍ وَغَيْرَ مَعْرُوشَٰتٍ وَالنَّخْلَ وَالزَّرْعَ مُخْتَلِفًا أُكُلُهُ وَالزَّيْتُونَ وَالرُّمَّانَ مُتَشَٰبِهًا وَغَيْرَ مُتَشَٰبِهٍ كُلُواْ مِن ثَمَرِهِ إِذَآ أَثْمَرَ وَءَاتُواْ حَقَّهُ يَوْمَ حَصَادِهِ وَلَا تُسْرِفُواْ إِنَّهُ لَا يُحِبُّ الْمُسْرِفِينَ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produced gardens, some on trellises like grapevines and some not, palm trees and crops of different tastes, and olives and pomegranates, alike and unlike. Eat of their fruit when they bear fruit, and give its due zakah on the day of harvest. Do not waste; He does not love those who waste.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142 – 143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الْأَنْعَٰمِ حَمُولَةً وَفَرْشًا كُلُواْ مِمَّا رَزَقَكُمُ اللَّهُ وَلَا تَتَّبِعُواْ خُطُوَٰتِ الشَّيْطَٰنِ إِنَّهُ لَكُمْ عَدُوٌّ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of livestock He produced some for carrying loads, like camels, and some small and low to the ground, like sheep. Eat of what Allah has provided you and do not follow the footsteps of Satan; he is a clear enemy to you.</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ثَمَٰنِيَةَ أَزْوَٰجٍ مِّنَ الضَّأْنِ اثْنَيْنِ وَمِنَ الْمَعْزِ اثْنَيْنِ قُلْ ءَآلذَّكَرَيْنِ حَرَّمَ أَمِ الْأُنثَيَيْنِ أَمَّا اشْتَمَلَتْ عَلَيْهِ أَرْحَامُ الْأُنثَيَيْنِ نَبِّـُٔونِي بِعِلْمٍ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produced for you eight kinds: of sheep, male and female, and of goats, male and female. Say: Has He forbidden the two males, or the two females, or what the wombs of the two females contain? Tell me with knowledge,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الْإِبِلِ اثْنَيْنِ وَمِنَ الْبَقَرِ اثْنَيْنِ قُلْ ءَآلذَّكَرَيْنِ حَرَّمَ أَمِ الْأُنثَيَيْنِ أَمَّا اشْتَمَلَتْ عَلَيْهِ أَرْحَامُ الْأُنثَيَيْنِ أَمْ كُنتُمْ شُهَدَآءَ إِذْ وَصَّىٰكُمُ اللَّهُ بِهَٰذَا فَمَنْ أَظْلَمُ مِمَّنِ افْتَرَىٰ عَلَى اللَّهِ كَذِبًا لِّيُضِلَّ النَّاسَ بِغَيْرِ عِلْمٍ إِنَّ 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of camels, male and female, and of cattle, male and female. Say: Which of them has He forbidden? Or were you present when Allah commanded you this? Who is more unjust than one who lies about Allah to lead people astray without knowledge? Allah does not guide the wrongdoing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لَّآ أَجِدُ فِي مَآ أُوحِيَ إِلَيَّ مُحَرَّمًا عَلَىٰ طَاعِمٍ يَطْعَمُهُ إِلَّآ أَن يَكُونَ مَيْتَةً أَوْ دَمًا مَّسْفُوحًا أَوْ لَحْمَ خِنزِيرٍ فَإِنَّهُ رِجْسٌ أَوْ فِسْقًا أُهِلَّ لِغَيْرِ اللَّهِ بِهِ فَمَنِ اضْطُرَّ غَيْرَ بَاغٍ وَلَا عَادٍ فَإِنَّ رَبَّكَ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do not find in what has been revealed to me any food forbidden except dead animals, blood poured out, pork, which is impure, or what is slaughtered for other than Allah. But whoever is forced by need, without wrongdoing or going beyond the need, your Lord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146 – 147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وَعَلَى الَّذِينَ هَادُواْ حَرَّمْنَا كُلَّ ذِي ظُفُرٍ وَمِنَ الْبَقَرِ وَالْغَنَمِ حَرَّمْنَا عَلَيْهِمْ شُحُومَهُمَآ إِلَّا مَا حَمَلَتْ ظُهُورُهُمَآ أَوِ الْحَوَايَآ أَوْ مَا اخْتَلَطَ بِعَظْمٍ ذَٰلِكَ جَزَيْنَٰهُم بِبَغْيِهِمْ وَإِنَّا لَصَٰدِقُونَ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the Jews We forbade every animal with undivided hooves, like camels and ostriches, and of cattle and sheep We forbade them their fat, except what is on their backs, in their intestines or mixed with bone. That was a punishment for their wrongdoing, and We are truthful.</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كَذَّبُوكَ فَقُل رَّبُّكُمْ ذُو رَحْمَةٍ وَٰسِعَةٍ وَلَا يُرَدُّ بَأْسُهُ عَنِ الْقَوْمِ الْمُجْرِمِينَ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say: Your Lord is full of wide mercy, but His punishment cannot be turned away from the criminal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148 – 149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سَيَقُولُ الَّذِينَ أَشْرَكُواْ لَوْ شَآءَ اللَّهُ مَآ أَشْرَكْنَا وَلَآ ءَابَآؤُنَا وَلَا حَرَّمْنَا مِن شَيْءٍ كَذَٰلِكَ كَذَّبَ الَّذِينَ مِن قَبْلِهِمْ حَتَّىٰ ذَاقُواْ بَأْسَنَا قُلْ هَلْ عِندَكُم مِّنْ عِلْمٍ فَتُخْرِجُوهُ لَنَآ إِن تَتَّبِعُونَ إِلَّا الظَّنَّ وَإِنْ أَنتُمْ إِلَّا تَخْرُصُونَ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will say: If Allah had willed, neither we nor our fathers would have associated partners with Him, nor forbidden anything! Those before them denied in the same way until they tasted Our punishment. Say: Do you have any knowledge you can show us? You follow nothing but guesses, and you only lie.</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فَلِلَّهِ الْحُجَّةُ الْبَٰلِغَةُ فَلَوْ شَآءَ لَهَدَىٰكُمْ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Allah belongs the decisive argument. If He had willed, He would have guided you all.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هَلُمَّ شُهَدَآءَكُمُ الَّذِينَ يَشْهَدُونَ أَنَّ اللَّهَ حَرَّمَ هَٰذَا فَإِن شَهِدُواْ فَلَا تَشْهَدْ مَعَهُمْ وَلَا تَتَّبِعْ أَهْوَآءَ الَّذِينَ كَذَّبُواْ بِـَٔايَٰتِنَا وَالَّذِينَ لَا يُؤْمِنُونَ بِالْأخِرَةِ وَهُم بِرَبِّهِمْ يَعْدِلُونَ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Bring your witnesses who testify that Allah forbade this. If they testify falsely, do not testify with them, and do not follow the desires of those who deny Our verses, who do not believe in the Hereafter and set up equals to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The Ten Commandments</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151 – 165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Al-An'am • Makki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Ten comprehensive commands: tawhid, kindness to parents, protecting children, lives and wealth, justice, keeping promises, and following the straight path. Ibn Mas'ud said: Whoever wants to see the will of Muhammad (peace be upon him) upon which is his seal, let him read these verses (Tirmidhi).</a:t>
            </a:r>
            <a:endParaRPr lang="en-US" sz="1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تَعَالَوْاْ أَتْلُ مَا حَرَّمَ رَبُّكُمْ عَلَيْكُمْ أَلَّا تُشْرِكُواْ بِهِ شَيْـًٔا وَبِالْوَٰلِدَيْنِ إِحْسَٰنًا وَلَا تَقْتُلُواْ أَوْلَٰدَكُم مِّنْ إِمْلَٰقٍ نَّحْنُ نَرْزُقُكُمْ وَإِيَّاهُمْ وَلَا تَقْرَبُواْ الْفَوَٰحِشَ مَا ظَهَرَ مِنْهَا وَمَا بَطَنَ وَلَا تَقْتُلُواْ النَّفْسَ الَّتِي حَرَّمَ اللَّهُ إِلَّا بِالْحَقِّ ذَٰلِكُمْ وَصَّىٰكُم بِهِ لَعَلَّكُمْ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Come, I will recite what your Lord has forbidden you: Do not associate anything with Him; be very good to your parents; do not kill your children for fear of poverty, We provide for you and them; do not go near shameful deeds, open or hidden; and do not kill a life Allah has made sacred except by right. This He has commanded you so that you may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تَقْرَبُواْ مَالَ الْيَتِيمِ إِلَّا بِالَّتِي هِيَ أَحْسَنُ حَتَّىٰ يَبْلُغَ أَشُدَّهُ وَأَوْفُواْ الْكَيْلَ وَالْمِيزَانَ بِالْقِسْطِ لَا نُكَلِّفُ نَفْسًا إِلَّا وُسْعَهَا وَإِذَا قُلْتُمْ فَاعْدِلُواْ وَلَوْ كَانَ ذَا قُرْبَىٰ وَبِعَهْدِ اللَّهِ أَوْفُواْ ذَٰلِكُمْ وَصَّىٰكُم بِهِ لَعَلَّكُمْ تَذَكَّرُونَ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go near the orphan's wealth except in the best way until he reaches maturity; give full measure and weight with justice; We do not burden any soul beyond its ability; when you speak, be just, even if it concerns a relative; and fulfil Allah's covenant. This He has commanded you so that you may take heed.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153 – 154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 هَٰذَا صِرَٰطِي مُسْتَقِيمًا فَاتَّبِعُوهُ وَلَا تَتَّبِعُواْ السُّبُلَ فَتَفَرَّقَ بِكُمْ عَن سَبِيلِهِ ذَٰلِكُمْ وَصَّىٰكُم بِهِ لَعَلَّكُمْ تَتَّقُونَ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this Islam is My straight path, so follow it, and do not follow other paths, or they will separate you from His path. This He has commanded you so that you may have taqwa. The Prophet (peace be upon him) drew a straight line and lines on either side of it, then recited this verse (Ahmad).</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ءَاتَيْنَا مُوسَى الْكِتَٰبَ تَمَامًا عَلَى الَّذِي أَحْسَنَ وَتَفْصِيلًا لِّكُلِّ شَيْءٍ وَهُدًى وَرَحْمَةً لَّعَلَّهُم بِلِقَآءِ رَبِّهِمْ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gave Musa the Torah, completing Our favour on those who do good, explaining everything, as guidance and mercy, so that they would believe in meeting their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155 – 156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وَهَٰذَا كِتَٰبٌ أَنزَلْنَٰهُ مُبَارَكٌ فَاتَّبِعُوهُ وَاتَّقُواْ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this Qur'an is a blessed Book We have sent down, so follow it and have taqwa so that you may receive mercy,</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تَقُولُواْ إِنَّمَآ أُنزِلَ الْكِتَٰبُ عَلَىٰ طَآئِفَتَيْنِ مِن قَبْلِنَا وَإِن كُنَّا عَن دِرَاسَتِهِمْ لَغَٰفِلِينَ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you cannot say: The Book was only sent down to the Jews and Christians before us, and we did not know what they were reading,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 تَقُولُواْ لَوْ أَنَّآ أُنزِلَ عَلَيْنَا الْكِتَٰبُ لَكُنَّآ أَهْدَىٰ مِنْهُمْ فَقَدْ جَآءَكُم بَيِّنَةٌ مِّن رَّبِّكُمْ وَهُدًى وَرَحْمَةٌ فَمَنْ أَظْلَمُ مِمَّن كَذَّبَ بِـَٔايَٰتِ اللَّهِ وَصَدَفَ عَنْهَا سَنَجْزِي الَّذِينَ يَصْدِفُونَ عَنْ ءَايَٰتِنَا سُوءَ الْعَذَابِ بِمَا كَانُواْ يَصْدِفُونَ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say: If the Book had been sent down to us, we would have been better guided than them. Clear proof has come to you from your Lord, and guidance and mercy. Who is more unjust than one who denies Allah's verses and turns away from them? We will repay those who turn away from Our verses with the worst punishment for turning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هَلْ يَنظُرُونَ إِلَّآ أَن تَأْتِيَهُمُ الْمَلَـٰئِكَةُ أَوْ يَأْتِيَ رَبُّكَ أَوْ يَأْتِيَ بَعْضُ ءَايَٰتِ رَبِّكَ يَوْمَ يَأْتِي بَعْضُ ءَايَٰتِ رَبِّكَ لَا يَنفَعُ نَفْسًا إِيمَٰنُهَا لَمْ تَكُنْ ءَامَنَتْ مِن قَبْلُ أَوْ كَسَبَتْ فِي إِيمَٰنِهَا خَيْرًا قُلِ انتَظِرُواْ إِنَّا مُنتَظِرُونَ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Are they waiting for the angels to come to take their souls, or for your Lord to come on the Day of Resurrection, or for some signs of the Hour, like the sun rising from the west? On the Day some of those signs come, faith will not benefit a soul that did not believe before or earn good through its faith. Say: Wait, we are waiting too.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159 – 160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فَرَّقُواْ دِينَهُمْ وَكَانُواْ شِيَعًا لَّسْتَ مِنْهُمْ فِي شَيْءٍ إِنَّمَآ أَمْرُهُمْ إِلَى اللَّهِ ثُمَّ يُنَبِّئُهُم بِمَا كَانُواْ يَفْعَلُونَ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split up their religion and became sects, you have nothing to do with them. Their matter is with Allah; then He will tell them what they used to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جَآءَ بِالْحَسَنَةِ فَلَهُ عَشْرُ أَمْثَالِهَا وَمَن جَآءَ بِالسَّيِّئَةِ فَلَا يُجْزَىٰ إِلَّا مِثْلَهَا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brings a good deed will have ten like it, and whoever brings a bad deed will only be repaid with one like it,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161 – 163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إِنَّنِي هَدَىٰنِي رَبِّي إِلَىٰ صِرَٰطٍ مُّسْتَقِيمٍ دِينًا قِيَمًا مِّلَّةَ إِبْرَٰهِيمَ حَنِيفًا وَمَا كَانَ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Lord has guided me to a straight path, an upright religion, the way of Ibrahim, who turned away from shirk to tawhid, and he was not one of the idol-worshippers.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صَلَاتِي وَنُسُكِي وَمَحْيَايَ وَمَمَاتِي لِلَّهِ رَبِّ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My prayer, my sacrifice, my life and my death are for Allah, Lord of the worlds.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شَرِيكَ لَهُ وَبِذَٰلِكَ أُمِرْتُ وَأَنَا أَوَّلُ الْمُسْلِمِينَ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no partner. This I have been commanded, and I am the first of the Muslims of this 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Al-An'am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164 – 165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أَغَيْرَ اللَّهِ أَبْغِي رَبًّا وَهُوَ رَبُّ كُلِّ شَيْءٍ وَلَا تَكْسِبُ كُلُّ نَفْسٍ إِلَّا عَلَيْهَا وَلَا تَزِرُ وَازِرَةٌ وِزْرَ أُخْرَىٰ ثُمَّ إِلَىٰ رَبِّكُم مَّرْجِعُكُمْ فَيُنَبِّئُكُم بِمَا كُنتُمْ فِيهِ تَخْتَلِفُونَ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Should I seek a lord other than Allah, when He is the Lord of everything? No soul commits a sin except against itself, and no soul carries another's sin. Then to your Lord is your return, and He will tell you about what you used to differ on.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وَهُوَ الَّذِي جَعَلَكُمْ خَلَـٰئِفَ الْأَرْضِ وَرَفَعَ بَعْضَكُمْ فَوْقَ بَعْضٍ دَرَجَٰتٍ لِّيَبْلُوَكُمْ فِي مَآ ءَاتَىٰكُمْ إِنَّ رَبَّكَ سَرِيعُ الْعِقَابِ وَإِنَّهُ لَغَفُورٌ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made you successors one after another on earth, and raised some of you above others in ranks of provision and strength to test you with what He has given you. Your Lord is swift in punishment, and He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pic>
        <p:nvPicPr>
          <p:cNvPr id="2" name="Image 0" descr="assets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"Say: My prayer, my sacrifice, my life and my death are for Allah, Lord of the worlds." (Al-An'am 6:162)</a:t>
            </a:r>
            <a:endParaRPr lang="en-US" sz="2100" dirty="0"/>
          </a:p>
        </p:txBody>
      </p:sp>
      <p:pic>
        <p:nvPicPr>
          <p:cNvPr id="5" name="Image 1" descr="assets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l-Anam Tafsir EN">
  <a:themeElements>
    <a:clrScheme name="Al-Anam Tafsir EN">
      <a:dk1>
        <a:srgbClr val="222833"/>
      </a:dk1>
      <a:lt1>
        <a:srgbClr val="FFFFFF"/>
      </a:lt1>
      <a:dk2>
        <a:srgbClr val="1F4E79"/>
      </a:dk2>
      <a:lt2>
        <a:srgbClr val="F5F8FC"/>
      </a:lt2>
      <a:accent1>
        <a:srgbClr val="1F4E79"/>
      </a:accent1>
      <a:accent2>
        <a:srgbClr val="C9A04A"/>
      </a:accent2>
      <a:accent3>
        <a:srgbClr val="2D6A9F"/>
      </a:accent3>
      <a:accent4>
        <a:srgbClr val="5F6670"/>
      </a:accent4>
      <a:accent5>
        <a:srgbClr val="E5EDF6"/>
      </a:accent5>
      <a:accent6>
        <a:srgbClr val="8A2F2A"/>
      </a:accent6>
      <a:hlink>
        <a:srgbClr val="2D6A9F"/>
      </a:hlink>
      <a:folHlink>
        <a:srgbClr val="5F6670"/>
      </a:folHlink>
    </a:clrScheme>
    <a:fontScheme name="Al-Anam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99</Slides>
  <Notes>99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99</vt:i4>
      </vt:variant>
    </vt:vector>
  </HeadingPairs>
  <TitlesOfParts>
    <vt:vector size="10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Surah Al-An'am — Simplified Tafsir from Ibn Kathir</dc:title>
  <dc:subject>PptxGenJS Presentation</dc:subject>
  <dc:creator>Qur'an Teacher</dc:creator>
  <cp:lastModifiedBy>Qur'an Teacher</cp:lastModifiedBy>
  <cp:revision>1</cp:revision>
  <dcterms:created xsi:type="dcterms:W3CDTF">2026-10-04T04:19:30Z</dcterms:created>
  <dcterms:modified xsi:type="dcterms:W3CDTF">2026-10-04T04:19:30Z</dcterms:modified>
</cp:coreProperties>
</file>