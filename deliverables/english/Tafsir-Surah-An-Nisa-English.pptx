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Lst>
  <p:notesMasterIdLst>
    <p:notesMasterId r:id="rId1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bd500c8-cf56-7092-b028-b33972a47859}">
          <p14:sldIdLst>
            <p14:sldId id="256"/>
            <p14:sldId id="257"/>
            <p14:sldId id="258"/>
            <p14:sldId id="259"/>
          </p14:sldIdLst>
        </p14:section>
        <p14:section name="1. Taqwa and Orphans' Rights" id="{2ec7c4d8-93ab-b945-ed28-d36ca4591bb4}">
          <p14:sldIdLst>
            <p14:sldId id="260"/>
            <p14:sldId id="261"/>
            <p14:sldId id="262"/>
            <p14:sldId id="263"/>
            <p14:sldId id="264"/>
            <p14:sldId id="265"/>
            <p14:sldId id="266"/>
          </p14:sldIdLst>
        </p14:section>
        <p14:section name="2. The Verses of Inheritance" id="{0761ac36-3b01-a486-5e52-d4a4839dacf0}">
          <p14:sldIdLst>
            <p14:sldId id="267"/>
            <p14:sldId id="268"/>
            <p14:sldId id="269"/>
            <p14:sldId id="270"/>
          </p14:sldIdLst>
        </p14:section>
        <p14:section name="3. Repentance and Family" id="{bf719ed9-c0cb-97d9-7053-a9f22a129250}">
          <p14:sldIdLst>
            <p14:sldId id="271"/>
            <p14:sldId id="272"/>
            <p14:sldId id="273"/>
            <p14:sldId id="274"/>
            <p14:sldId id="275"/>
            <p14:sldId id="276"/>
            <p14:sldId id="277"/>
            <p14:sldId id="278"/>
            <p14:sldId id="279"/>
          </p14:sldIdLst>
        </p14:section>
        <p14:section name="4. Wealth and People's Rights" id="{a92caea4-a9c6-7362-a48e-e8cf2a17cac4}">
          <p14:sldIdLst>
            <p14:sldId id="280"/>
            <p14:sldId id="281"/>
            <p14:sldId id="282"/>
            <p14:sldId id="283"/>
            <p14:sldId id="284"/>
            <p14:sldId id="285"/>
            <p14:sldId id="286"/>
            <p14:sldId id="287"/>
          </p14:sldIdLst>
        </p14:section>
        <p14:section name="5. Tayammum; People of the Book" id="{4a1f2351-ed12-77e7-d2f7-0e494ca864ad}">
          <p14:sldIdLst>
            <p14:sldId id="288"/>
            <p14:sldId id="289"/>
            <p14:sldId id="290"/>
            <p14:sldId id="291"/>
            <p14:sldId id="292"/>
            <p14:sldId id="293"/>
            <p14:sldId id="294"/>
            <p14:sldId id="295"/>
            <p14:sldId id="296"/>
          </p14:sldIdLst>
        </p14:section>
        <p14:section name="6. Trusts and Obedience" id="{9cc4d000-28dc-a336-fa66-ae62b5937f22}">
          <p14:sldIdLst>
            <p14:sldId id="297"/>
            <p14:sldId id="298"/>
            <p14:sldId id="299"/>
            <p14:sldId id="300"/>
            <p14:sldId id="301"/>
            <p14:sldId id="302"/>
            <p14:sldId id="303"/>
            <p14:sldId id="304"/>
          </p14:sldIdLst>
        </p14:section>
        <p14:section name="7. Jihad, Hijrah and Fear Prayer" id="{d226d2d4-d794-acad-66ac-1ae2ea8613f0}">
          <p14:sldIdLst>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Lst>
        </p14:section>
        <p14:section name="8. Justice; Warning Against Shirk" id="{47547a0c-b087-8d7e-8804-cb9c7e19da18}">
          <p14:sldIdLst>
            <p14:sldId id="327"/>
            <p14:sldId id="328"/>
            <p14:sldId id="329"/>
            <p14:sldId id="330"/>
            <p14:sldId id="331"/>
            <p14:sldId id="332"/>
            <p14:sldId id="333"/>
            <p14:sldId id="334"/>
            <p14:sldId id="335"/>
            <p14:sldId id="336"/>
            <p14:sldId id="337"/>
          </p14:sldIdLst>
        </p14:section>
        <p14:section name="9. Fairness and the Hypocrites" id="{e088faa3-b672-ef1c-f009-31a618f6fad2}">
          <p14:sldIdLst>
            <p14:sldId id="338"/>
            <p14:sldId id="339"/>
            <p14:sldId id="340"/>
            <p14:sldId id="341"/>
            <p14:sldId id="342"/>
            <p14:sldId id="343"/>
            <p14:sldId id="344"/>
            <p14:sldId id="345"/>
            <p14:sldId id="346"/>
            <p14:sldId id="347"/>
            <p14:sldId id="348"/>
            <p14:sldId id="349"/>
            <p14:sldId id="350"/>
            <p14:sldId id="351"/>
            <p14:sldId id="352"/>
          </p14:sldIdLst>
        </p14:section>
        <p14:section name="10. 'Isa and Al-Kalalah" id="{22c9213e-b75c-9413-5a15-a1b237968e73}">
          <p14:sldIdLst>
            <p14:sldId id="353"/>
            <p14:sldId id="354"/>
            <p14:sldId id="355"/>
            <p14:sldId id="356"/>
            <p14:sldId id="357"/>
            <p14:sldId id="358"/>
            <p14:sldId id="359"/>
            <p14:sldId id="360"/>
            <p14:sldId id="361"/>
            <p14:sldId id="362"/>
            <p14:sldId id="363"/>
            <p14:sldId id="364"/>
            <p14:sldId id="365"/>
          </p14:sldIdLst>
        </p14:section>
        <p14:section name="Closing" id="{da26d48e-78f7-6abf-108a-7c9d9879d5b9}">
          <p14:sldIdLst>
            <p14:sldId id="3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notesMaster" Target="notesMasters/notesMaster1.xml"/><Relationship Id="rId114" Type="http://schemas.openxmlformats.org/officeDocument/2006/relationships/presProps" Target="presProps.xml"/><Relationship Id="rId115" Type="http://schemas.openxmlformats.org/officeDocument/2006/relationships/viewProps" Target="viewProps.xml"/><Relationship Id="rId116" Type="http://schemas.openxmlformats.org/officeDocument/2006/relationships/theme" Target="theme/theme1.xml"/><Relationship Id="rId1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divided the surah into ten themed sections. Each section opens with a slide giving its reason for revelation and theme, followed by the explanation of its verses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is the punishment for those who consume orphans' wealth unjustly, according to verse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Why did Allah say at the end of the inheritance verses: "These are the limits of Allah"?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When is repentance accepted, and when is it not, according to verses 17 and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Name five of those whom Allah commands us to be good to in verse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When is tayammum allowed? And how do we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With whom will those who obey Allah and the Messenger be in Paradise, according to verse 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How should we return a greeting, as verse 86 teaches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are the three things that make people's secret talk good, according to verse 114?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Mention two qualities of the hypocrites in prayer from verse 142.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section: What happened to 'Isa (peace be upon him), according to verses 157 and 158?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4/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4/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4/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slideLayout" Target="../slideLayouts/slideLayout4.xml"/><Relationship Id="rId4"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4/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Surah An-Nisa'</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4/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176 verses • Madani • 10 sections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magenta</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section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About An-Nisa'</a:t>
            </a:r>
            <a:endParaRPr lang="en-US" sz="2400" dirty="0"/>
          </a:p>
        </p:txBody>
      </p:sp>
      <p:sp>
        <p:nvSpPr>
          <p:cNvPr id="3" name="Shape 1"/>
          <p:cNvSpPr/>
          <p:nvPr/>
        </p:nvSpPr>
        <p:spPr>
          <a:xfrm>
            <a:off x="685800" y="1463040"/>
            <a:ext cx="3454298" cy="4572000"/>
          </a:xfrm>
          <a:prstGeom prst="roundRect">
            <a:avLst>
              <a:gd name="adj" fmla="val 3971"/>
            </a:avLst>
          </a:prstGeom>
          <a:solidFill>
            <a:schemeClr val="accent5"/>
          </a:solidFill>
          <a:ln w="15875">
            <a:solidFill>
              <a:schemeClr val="accent2"/>
            </a:solidFill>
            <a:prstDash val="solid"/>
          </a:ln>
        </p:spPr>
      </p:sp>
      <p:sp>
        <p:nvSpPr>
          <p:cNvPr id="4" name="Shape 2"/>
          <p:cNvSpPr/>
          <p:nvPr/>
        </p:nvSpPr>
        <p:spPr>
          <a:xfrm>
            <a:off x="2047189" y="1737360"/>
            <a:ext cx="731520" cy="731520"/>
          </a:xfrm>
          <a:prstGeom prst="star8">
            <a:avLst/>
          </a:prstGeom>
          <a:solidFill>
            <a:schemeClr val="accent2"/>
          </a:solidFill>
          <a:ln/>
        </p:spPr>
      </p:sp>
      <p:sp>
        <p:nvSpPr>
          <p:cNvPr id="5" name="Shape 3"/>
          <p:cNvSpPr/>
          <p:nvPr/>
        </p:nvSpPr>
        <p:spPr>
          <a:xfrm>
            <a:off x="2193493"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2047189"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868680"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One of the Long Seven</a:t>
            </a:r>
            <a:endParaRPr lang="en-US" sz="2000" dirty="0"/>
          </a:p>
        </p:txBody>
      </p:sp>
      <p:sp>
        <p:nvSpPr>
          <p:cNvPr id="8" name="Text 6"/>
          <p:cNvSpPr txBox="1"/>
          <p:nvPr/>
        </p:nvSpPr>
        <p:spPr>
          <a:xfrm>
            <a:off x="914400"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Prophet (peace be upon him) said: "Whoever learns the first seven (long surahs) of the Qur'an is a scholar" (Ahmad). Surah An-Nisa' is one of these seven long surahs.</a:t>
            </a:r>
            <a:endParaRPr lang="en-US" sz="1500" dirty="0"/>
          </a:p>
        </p:txBody>
      </p:sp>
      <p:sp>
        <p:nvSpPr>
          <p:cNvPr id="9" name="Shape 7"/>
          <p:cNvSpPr/>
          <p:nvPr/>
        </p:nvSpPr>
        <p:spPr>
          <a:xfrm>
            <a:off x="4368698" y="1463040"/>
            <a:ext cx="3454298" cy="4572000"/>
          </a:xfrm>
          <a:prstGeom prst="roundRect">
            <a:avLst>
              <a:gd name="adj" fmla="val 3971"/>
            </a:avLst>
          </a:prstGeom>
          <a:solidFill>
            <a:schemeClr val="accent5"/>
          </a:solidFill>
          <a:ln w="15875">
            <a:solidFill>
              <a:schemeClr val="accent2"/>
            </a:solidFill>
            <a:prstDash val="solid"/>
          </a:ln>
        </p:spPr>
      </p:sp>
      <p:sp>
        <p:nvSpPr>
          <p:cNvPr id="10" name="Shape 8"/>
          <p:cNvSpPr/>
          <p:nvPr/>
        </p:nvSpPr>
        <p:spPr>
          <a:xfrm>
            <a:off x="5730088" y="1737360"/>
            <a:ext cx="731520" cy="731520"/>
          </a:xfrm>
          <a:prstGeom prst="star8">
            <a:avLst/>
          </a:prstGeom>
          <a:solidFill>
            <a:schemeClr val="accent2"/>
          </a:solidFill>
          <a:ln/>
        </p:spPr>
      </p:sp>
      <p:sp>
        <p:nvSpPr>
          <p:cNvPr id="11" name="Shape 9"/>
          <p:cNvSpPr/>
          <p:nvPr/>
        </p:nvSpPr>
        <p:spPr>
          <a:xfrm>
            <a:off x="5876392"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730088"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4551578"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Rights of the Weak</a:t>
            </a:r>
            <a:endParaRPr lang="en-US" sz="2000" dirty="0"/>
          </a:p>
        </p:txBody>
      </p:sp>
      <p:sp>
        <p:nvSpPr>
          <p:cNvPr id="14" name="Text 12"/>
          <p:cNvSpPr txBox="1"/>
          <p:nvPr/>
        </p:nvSpPr>
        <p:spPr>
          <a:xfrm>
            <a:off x="4597298"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It is called "An-Nisa'" (The Women) because it has many rulings about women, and it cares for the rights of the weak: women, orphans and the oppressed.</a:t>
            </a:r>
            <a:endParaRPr lang="en-US" sz="1500" dirty="0"/>
          </a:p>
        </p:txBody>
      </p:sp>
      <p:sp>
        <p:nvSpPr>
          <p:cNvPr id="15" name="Shape 13"/>
          <p:cNvSpPr/>
          <p:nvPr/>
        </p:nvSpPr>
        <p:spPr>
          <a:xfrm>
            <a:off x="8051597" y="1463040"/>
            <a:ext cx="3454298" cy="4572000"/>
          </a:xfrm>
          <a:prstGeom prst="roundRect">
            <a:avLst>
              <a:gd name="adj" fmla="val 3971"/>
            </a:avLst>
          </a:prstGeom>
          <a:solidFill>
            <a:schemeClr val="accent5"/>
          </a:solidFill>
          <a:ln w="15875">
            <a:solidFill>
              <a:schemeClr val="accent2"/>
            </a:solidFill>
            <a:prstDash val="solid"/>
          </a:ln>
        </p:spPr>
      </p:sp>
      <p:sp>
        <p:nvSpPr>
          <p:cNvPr id="16" name="Shape 14"/>
          <p:cNvSpPr/>
          <p:nvPr/>
        </p:nvSpPr>
        <p:spPr>
          <a:xfrm>
            <a:off x="9412986" y="1737360"/>
            <a:ext cx="731520" cy="731520"/>
          </a:xfrm>
          <a:prstGeom prst="star8">
            <a:avLst/>
          </a:prstGeom>
          <a:solidFill>
            <a:schemeClr val="accent2"/>
          </a:solidFill>
          <a:ln/>
        </p:spPr>
      </p:sp>
      <p:sp>
        <p:nvSpPr>
          <p:cNvPr id="17" name="Shape 15"/>
          <p:cNvSpPr/>
          <p:nvPr/>
        </p:nvSpPr>
        <p:spPr>
          <a:xfrm>
            <a:off x="9559290"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9412986" y="1737360"/>
            <a:ext cx="731520" cy="731520"/>
          </a:xfrm>
          <a:prstGeom prst="rect">
            <a:avLst/>
          </a:prstGeom>
          <a:noFill/>
          <a:ln/>
        </p:spPr>
        <p:txBody>
          <a:bodyPr wrap="square" lIns="0" tIns="0" rIns="0" bIns="0" rtlCol="0" anchor="ctr"/>
          <a:lstStyle/>
          <a:p>
            <a:pPr algn="ctr" indent="0" marL="0">
              <a:buNone/>
            </a:pPr>
            <a:r>
              <a:rPr lang="en-US" altLang="en-US" sz="1800" b="1" dirty="0">
                <a:solidFill>
                  <a:schemeClr val="tx2"/>
                </a:solidFill>
                <a:latin typeface="Arial" pitchFamily="34" charset="0"/>
                <a:ea typeface="Arial" pitchFamily="34" charset="-122"/>
                <a:cs typeface="Arial" pitchFamily="34" charset="-120"/>
              </a:rPr>
              <a:t>3</a:t>
            </a:r>
            <a:endParaRPr lang="en-US" sz="1800" dirty="0"/>
          </a:p>
        </p:txBody>
      </p:sp>
      <p:sp>
        <p:nvSpPr>
          <p:cNvPr id="19" name="Text 17"/>
          <p:cNvSpPr txBox="1"/>
          <p:nvPr/>
        </p:nvSpPr>
        <p:spPr>
          <a:xfrm>
            <a:off x="8234477" y="2606040"/>
            <a:ext cx="3088538" cy="685800"/>
          </a:xfrm>
          <a:prstGeom prst="rect">
            <a:avLst/>
          </a:prstGeom>
          <a:noFill/>
          <a:ln/>
        </p:spPr>
        <p:txBody>
          <a:bodyPr wrap="square" lIns="0" tIns="0" rIns="0" bIns="0" rtlCol="0" anchor="ctr"/>
          <a:lstStyle/>
          <a:p>
            <a:pPr algn="ctr" indent="0" marL="0">
              <a:buNone/>
            </a:pPr>
            <a:r>
              <a:rPr lang="en-US" altLang="en-US" sz="2000" b="1" dirty="0">
                <a:solidFill>
                  <a:schemeClr val="tx2"/>
                </a:solidFill>
                <a:latin typeface="Georgia" pitchFamily="34" charset="0"/>
                <a:ea typeface="Georgia" pitchFamily="34" charset="-122"/>
                <a:cs typeface="Georgia" pitchFamily="34" charset="-120"/>
              </a:rPr>
              <a:t>The Surah in Brief</a:t>
            </a:r>
            <a:endParaRPr lang="en-US" sz="2000" dirty="0"/>
          </a:p>
        </p:txBody>
      </p:sp>
      <p:sp>
        <p:nvSpPr>
          <p:cNvPr id="20" name="Text 18"/>
          <p:cNvSpPr txBox="1"/>
          <p:nvPr/>
        </p:nvSpPr>
        <p:spPr>
          <a:xfrm>
            <a:off x="8280197" y="3383280"/>
            <a:ext cx="2997098" cy="2514600"/>
          </a:xfrm>
          <a:prstGeom prst="rect">
            <a:avLst/>
          </a:prstGeom>
          <a:noFill/>
          <a:ln/>
        </p:spPr>
        <p:txBody>
          <a:bodyPr wrap="square" lIns="0" tIns="0" rIns="0" bIns="0" rtlCol="0" anchor="t"/>
          <a:lstStyle/>
          <a:p>
            <a:pPr algn="ctr"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176 verses, Madani, the fourth surah in the Mushaf. It contains the verses of inheritance, and its last verse, about al-kalalah, was among the last verses revealed.</a:t>
            </a:r>
            <a:endParaRPr lang="en-US" sz="15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Sections of the Surah</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The surah is divided into ten sections by theme, so we can understand it step by step</a:t>
            </a:r>
            <a:endParaRPr lang="en-US" sz="1600" dirty="0"/>
          </a:p>
        </p:txBody>
      </p:sp>
      <p:sp>
        <p:nvSpPr>
          <p:cNvPr id="4" name="Shape 2"/>
          <p:cNvSpPr/>
          <p:nvPr/>
        </p:nvSpPr>
        <p:spPr>
          <a:xfrm>
            <a:off x="700888" y="1828800"/>
            <a:ext cx="5257800" cy="749808"/>
          </a:xfrm>
          <a:prstGeom prst="roundRect">
            <a:avLst>
              <a:gd name="adj" fmla="val 12195"/>
            </a:avLst>
          </a:prstGeom>
          <a:solidFill>
            <a:schemeClr val="bg1"/>
          </a:solidFill>
          <a:ln w="12700">
            <a:solidFill>
              <a:schemeClr val="accent2"/>
            </a:solidFill>
            <a:prstDash val="solid"/>
          </a:ln>
        </p:spPr>
      </p:sp>
      <p:sp>
        <p:nvSpPr>
          <p:cNvPr id="5" name="Shape 3"/>
          <p:cNvSpPr/>
          <p:nvPr/>
        </p:nvSpPr>
        <p:spPr>
          <a:xfrm>
            <a:off x="792328" y="1938528"/>
            <a:ext cx="530352" cy="530352"/>
          </a:xfrm>
          <a:prstGeom prst="star8">
            <a:avLst/>
          </a:prstGeom>
          <a:solidFill>
            <a:schemeClr val="accent2"/>
          </a:solidFill>
          <a:ln/>
        </p:spPr>
      </p:sp>
      <p:sp>
        <p:nvSpPr>
          <p:cNvPr id="6" name="Shape 4"/>
          <p:cNvSpPr/>
          <p:nvPr/>
        </p:nvSpPr>
        <p:spPr>
          <a:xfrm>
            <a:off x="89839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792328" y="193852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414120" y="184708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Taqwa and Orphans' Rights</a:t>
            </a:r>
            <a:endParaRPr lang="en-US" sz="1600" dirty="0"/>
          </a:p>
        </p:txBody>
      </p:sp>
      <p:sp>
        <p:nvSpPr>
          <p:cNvPr id="9" name="Text 7"/>
          <p:cNvSpPr txBox="1"/>
          <p:nvPr/>
        </p:nvSpPr>
        <p:spPr>
          <a:xfrm>
            <a:off x="1414120" y="226368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 – 10</a:t>
            </a:r>
            <a:endParaRPr lang="en-US" sz="1200" dirty="0"/>
          </a:p>
        </p:txBody>
      </p:sp>
      <p:sp>
        <p:nvSpPr>
          <p:cNvPr id="10" name="Shape 8"/>
          <p:cNvSpPr/>
          <p:nvPr/>
        </p:nvSpPr>
        <p:spPr>
          <a:xfrm>
            <a:off x="6233008" y="1828800"/>
            <a:ext cx="5257800" cy="749808"/>
          </a:xfrm>
          <a:prstGeom prst="roundRect">
            <a:avLst>
              <a:gd name="adj" fmla="val 12195"/>
            </a:avLst>
          </a:prstGeom>
          <a:solidFill>
            <a:schemeClr val="accent5"/>
          </a:solidFill>
          <a:ln w="12700">
            <a:solidFill>
              <a:schemeClr val="accent2"/>
            </a:solidFill>
            <a:prstDash val="solid"/>
          </a:ln>
        </p:spPr>
      </p:sp>
      <p:sp>
        <p:nvSpPr>
          <p:cNvPr id="11" name="Shape 9"/>
          <p:cNvSpPr/>
          <p:nvPr/>
        </p:nvSpPr>
        <p:spPr>
          <a:xfrm>
            <a:off x="6324448" y="1938528"/>
            <a:ext cx="530352" cy="530352"/>
          </a:xfrm>
          <a:prstGeom prst="star8">
            <a:avLst/>
          </a:prstGeom>
          <a:solidFill>
            <a:schemeClr val="accent2"/>
          </a:solidFill>
          <a:ln/>
        </p:spPr>
      </p:sp>
      <p:sp>
        <p:nvSpPr>
          <p:cNvPr id="12" name="Shape 10"/>
          <p:cNvSpPr/>
          <p:nvPr/>
        </p:nvSpPr>
        <p:spPr>
          <a:xfrm>
            <a:off x="643051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6324448" y="193852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6946240" y="184708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The Verses of Inheritance</a:t>
            </a:r>
            <a:endParaRPr lang="en-US" sz="1600" dirty="0"/>
          </a:p>
        </p:txBody>
      </p:sp>
      <p:sp>
        <p:nvSpPr>
          <p:cNvPr id="15" name="Text 13"/>
          <p:cNvSpPr txBox="1"/>
          <p:nvPr/>
        </p:nvSpPr>
        <p:spPr>
          <a:xfrm>
            <a:off x="6946240" y="226368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11 – 14</a:t>
            </a:r>
            <a:endParaRPr lang="en-US" sz="1200" dirty="0"/>
          </a:p>
        </p:txBody>
      </p:sp>
      <p:sp>
        <p:nvSpPr>
          <p:cNvPr id="16" name="Shape 14"/>
          <p:cNvSpPr/>
          <p:nvPr/>
        </p:nvSpPr>
        <p:spPr>
          <a:xfrm>
            <a:off x="700888" y="2697480"/>
            <a:ext cx="5257800" cy="749808"/>
          </a:xfrm>
          <a:prstGeom prst="roundRect">
            <a:avLst>
              <a:gd name="adj" fmla="val 12195"/>
            </a:avLst>
          </a:prstGeom>
          <a:solidFill>
            <a:schemeClr val="bg1"/>
          </a:solidFill>
          <a:ln w="12700">
            <a:solidFill>
              <a:schemeClr val="accent2"/>
            </a:solidFill>
            <a:prstDash val="solid"/>
          </a:ln>
        </p:spPr>
      </p:sp>
      <p:sp>
        <p:nvSpPr>
          <p:cNvPr id="17" name="Shape 15"/>
          <p:cNvSpPr/>
          <p:nvPr/>
        </p:nvSpPr>
        <p:spPr>
          <a:xfrm>
            <a:off x="792328" y="2807208"/>
            <a:ext cx="530352" cy="530352"/>
          </a:xfrm>
          <a:prstGeom prst="star8">
            <a:avLst/>
          </a:prstGeom>
          <a:solidFill>
            <a:schemeClr val="accent2"/>
          </a:solidFill>
          <a:ln/>
        </p:spPr>
      </p:sp>
      <p:sp>
        <p:nvSpPr>
          <p:cNvPr id="18" name="Shape 16"/>
          <p:cNvSpPr/>
          <p:nvPr/>
        </p:nvSpPr>
        <p:spPr>
          <a:xfrm>
            <a:off x="89839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792328" y="280720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3</a:t>
            </a:r>
            <a:endParaRPr lang="en-US" sz="1400" dirty="0"/>
          </a:p>
        </p:txBody>
      </p:sp>
      <p:sp>
        <p:nvSpPr>
          <p:cNvPr id="20" name="Text 18"/>
          <p:cNvSpPr txBox="1"/>
          <p:nvPr/>
        </p:nvSpPr>
        <p:spPr>
          <a:xfrm>
            <a:off x="1414120" y="271576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Repentance and Family</a:t>
            </a:r>
            <a:endParaRPr lang="en-US" sz="1600" dirty="0"/>
          </a:p>
        </p:txBody>
      </p:sp>
      <p:sp>
        <p:nvSpPr>
          <p:cNvPr id="21" name="Text 19"/>
          <p:cNvSpPr txBox="1"/>
          <p:nvPr/>
        </p:nvSpPr>
        <p:spPr>
          <a:xfrm>
            <a:off x="1414120" y="313236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15 – 28</a:t>
            </a:r>
            <a:endParaRPr lang="en-US" sz="1200" dirty="0"/>
          </a:p>
        </p:txBody>
      </p:sp>
      <p:sp>
        <p:nvSpPr>
          <p:cNvPr id="22" name="Shape 20"/>
          <p:cNvSpPr/>
          <p:nvPr/>
        </p:nvSpPr>
        <p:spPr>
          <a:xfrm>
            <a:off x="6233008" y="2697480"/>
            <a:ext cx="5257800" cy="749808"/>
          </a:xfrm>
          <a:prstGeom prst="roundRect">
            <a:avLst>
              <a:gd name="adj" fmla="val 12195"/>
            </a:avLst>
          </a:prstGeom>
          <a:solidFill>
            <a:schemeClr val="accent5"/>
          </a:solidFill>
          <a:ln w="12700">
            <a:solidFill>
              <a:schemeClr val="accent2"/>
            </a:solidFill>
            <a:prstDash val="solid"/>
          </a:ln>
        </p:spPr>
      </p:sp>
      <p:sp>
        <p:nvSpPr>
          <p:cNvPr id="23" name="Shape 21"/>
          <p:cNvSpPr/>
          <p:nvPr/>
        </p:nvSpPr>
        <p:spPr>
          <a:xfrm>
            <a:off x="6324448" y="2807208"/>
            <a:ext cx="530352" cy="530352"/>
          </a:xfrm>
          <a:prstGeom prst="star8">
            <a:avLst/>
          </a:prstGeom>
          <a:solidFill>
            <a:schemeClr val="accent2"/>
          </a:solidFill>
          <a:ln/>
        </p:spPr>
      </p:sp>
      <p:sp>
        <p:nvSpPr>
          <p:cNvPr id="24" name="Shape 22"/>
          <p:cNvSpPr/>
          <p:nvPr/>
        </p:nvSpPr>
        <p:spPr>
          <a:xfrm>
            <a:off x="6430518" y="2913278"/>
            <a:ext cx="318211" cy="318211"/>
          </a:xfrm>
          <a:prstGeom prst="ellipse">
            <a:avLst/>
          </a:prstGeom>
          <a:solidFill>
            <a:schemeClr val="bg2"/>
          </a:solidFill>
          <a:ln w="19050">
            <a:solidFill>
              <a:schemeClr val="tx2"/>
            </a:solidFill>
            <a:prstDash val="solid"/>
          </a:ln>
        </p:spPr>
      </p:sp>
      <p:sp>
        <p:nvSpPr>
          <p:cNvPr id="25" name="Text 23"/>
          <p:cNvSpPr txBox="1"/>
          <p:nvPr/>
        </p:nvSpPr>
        <p:spPr>
          <a:xfrm>
            <a:off x="6324448" y="280720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4</a:t>
            </a:r>
            <a:endParaRPr lang="en-US" sz="1400" dirty="0"/>
          </a:p>
        </p:txBody>
      </p:sp>
      <p:sp>
        <p:nvSpPr>
          <p:cNvPr id="26" name="Text 24"/>
          <p:cNvSpPr txBox="1"/>
          <p:nvPr/>
        </p:nvSpPr>
        <p:spPr>
          <a:xfrm>
            <a:off x="6946240" y="271576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Wealth and People's Rights</a:t>
            </a:r>
            <a:endParaRPr lang="en-US" sz="1600" dirty="0"/>
          </a:p>
        </p:txBody>
      </p:sp>
      <p:sp>
        <p:nvSpPr>
          <p:cNvPr id="27" name="Text 25"/>
          <p:cNvSpPr txBox="1"/>
          <p:nvPr/>
        </p:nvSpPr>
        <p:spPr>
          <a:xfrm>
            <a:off x="6946240" y="313236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29 – 42</a:t>
            </a:r>
            <a:endParaRPr lang="en-US" sz="1200" dirty="0"/>
          </a:p>
        </p:txBody>
      </p:sp>
      <p:sp>
        <p:nvSpPr>
          <p:cNvPr id="28" name="Shape 26"/>
          <p:cNvSpPr/>
          <p:nvPr/>
        </p:nvSpPr>
        <p:spPr>
          <a:xfrm>
            <a:off x="700888" y="3566160"/>
            <a:ext cx="5257800" cy="749808"/>
          </a:xfrm>
          <a:prstGeom prst="roundRect">
            <a:avLst>
              <a:gd name="adj" fmla="val 12195"/>
            </a:avLst>
          </a:prstGeom>
          <a:solidFill>
            <a:schemeClr val="bg1"/>
          </a:solidFill>
          <a:ln w="12700">
            <a:solidFill>
              <a:schemeClr val="accent2"/>
            </a:solidFill>
            <a:prstDash val="solid"/>
          </a:ln>
        </p:spPr>
      </p:sp>
      <p:sp>
        <p:nvSpPr>
          <p:cNvPr id="29" name="Shape 27"/>
          <p:cNvSpPr/>
          <p:nvPr/>
        </p:nvSpPr>
        <p:spPr>
          <a:xfrm>
            <a:off x="792328" y="3675888"/>
            <a:ext cx="530352" cy="530352"/>
          </a:xfrm>
          <a:prstGeom prst="star8">
            <a:avLst/>
          </a:prstGeom>
          <a:solidFill>
            <a:schemeClr val="accent2"/>
          </a:solidFill>
          <a:ln/>
        </p:spPr>
      </p:sp>
      <p:sp>
        <p:nvSpPr>
          <p:cNvPr id="30" name="Shape 28"/>
          <p:cNvSpPr/>
          <p:nvPr/>
        </p:nvSpPr>
        <p:spPr>
          <a:xfrm>
            <a:off x="898398" y="3781958"/>
            <a:ext cx="318211" cy="318211"/>
          </a:xfrm>
          <a:prstGeom prst="ellipse">
            <a:avLst/>
          </a:prstGeom>
          <a:solidFill>
            <a:schemeClr val="bg2"/>
          </a:solidFill>
          <a:ln w="19050">
            <a:solidFill>
              <a:schemeClr val="tx2"/>
            </a:solidFill>
            <a:prstDash val="solid"/>
          </a:ln>
        </p:spPr>
      </p:sp>
      <p:sp>
        <p:nvSpPr>
          <p:cNvPr id="31" name="Text 29"/>
          <p:cNvSpPr txBox="1"/>
          <p:nvPr/>
        </p:nvSpPr>
        <p:spPr>
          <a:xfrm>
            <a:off x="792328" y="367588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5</a:t>
            </a:r>
            <a:endParaRPr lang="en-US" sz="1400" dirty="0"/>
          </a:p>
        </p:txBody>
      </p:sp>
      <p:sp>
        <p:nvSpPr>
          <p:cNvPr id="32" name="Text 30"/>
          <p:cNvSpPr txBox="1"/>
          <p:nvPr/>
        </p:nvSpPr>
        <p:spPr>
          <a:xfrm>
            <a:off x="1414120" y="358444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Tayammum; People of the Book</a:t>
            </a:r>
            <a:endParaRPr lang="en-US" sz="1600" dirty="0"/>
          </a:p>
        </p:txBody>
      </p:sp>
      <p:sp>
        <p:nvSpPr>
          <p:cNvPr id="33" name="Text 31"/>
          <p:cNvSpPr txBox="1"/>
          <p:nvPr/>
        </p:nvSpPr>
        <p:spPr>
          <a:xfrm>
            <a:off x="1414120" y="400104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43 – 57</a:t>
            </a:r>
            <a:endParaRPr lang="en-US" sz="1200" dirty="0"/>
          </a:p>
        </p:txBody>
      </p:sp>
      <p:sp>
        <p:nvSpPr>
          <p:cNvPr id="34" name="Shape 32"/>
          <p:cNvSpPr/>
          <p:nvPr/>
        </p:nvSpPr>
        <p:spPr>
          <a:xfrm>
            <a:off x="6233008" y="3566160"/>
            <a:ext cx="5257800" cy="749808"/>
          </a:xfrm>
          <a:prstGeom prst="roundRect">
            <a:avLst>
              <a:gd name="adj" fmla="val 12195"/>
            </a:avLst>
          </a:prstGeom>
          <a:solidFill>
            <a:schemeClr val="accent5"/>
          </a:solidFill>
          <a:ln w="12700">
            <a:solidFill>
              <a:schemeClr val="accent2"/>
            </a:solidFill>
            <a:prstDash val="solid"/>
          </a:ln>
        </p:spPr>
      </p:sp>
      <p:sp>
        <p:nvSpPr>
          <p:cNvPr id="35" name="Shape 33"/>
          <p:cNvSpPr/>
          <p:nvPr/>
        </p:nvSpPr>
        <p:spPr>
          <a:xfrm>
            <a:off x="6324448" y="3675888"/>
            <a:ext cx="530352" cy="530352"/>
          </a:xfrm>
          <a:prstGeom prst="star8">
            <a:avLst/>
          </a:prstGeom>
          <a:solidFill>
            <a:schemeClr val="accent2"/>
          </a:solidFill>
          <a:ln/>
        </p:spPr>
      </p:sp>
      <p:sp>
        <p:nvSpPr>
          <p:cNvPr id="36" name="Shape 34"/>
          <p:cNvSpPr/>
          <p:nvPr/>
        </p:nvSpPr>
        <p:spPr>
          <a:xfrm>
            <a:off x="6430518" y="3781958"/>
            <a:ext cx="318211" cy="318211"/>
          </a:xfrm>
          <a:prstGeom prst="ellipse">
            <a:avLst/>
          </a:prstGeom>
          <a:solidFill>
            <a:schemeClr val="bg2"/>
          </a:solidFill>
          <a:ln w="19050">
            <a:solidFill>
              <a:schemeClr val="tx2"/>
            </a:solidFill>
            <a:prstDash val="solid"/>
          </a:ln>
        </p:spPr>
      </p:sp>
      <p:sp>
        <p:nvSpPr>
          <p:cNvPr id="37" name="Text 35"/>
          <p:cNvSpPr txBox="1"/>
          <p:nvPr/>
        </p:nvSpPr>
        <p:spPr>
          <a:xfrm>
            <a:off x="6324448" y="367588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6</a:t>
            </a:r>
            <a:endParaRPr lang="en-US" sz="1400" dirty="0"/>
          </a:p>
        </p:txBody>
      </p:sp>
      <p:sp>
        <p:nvSpPr>
          <p:cNvPr id="38" name="Text 36"/>
          <p:cNvSpPr txBox="1"/>
          <p:nvPr/>
        </p:nvSpPr>
        <p:spPr>
          <a:xfrm>
            <a:off x="6946240" y="358444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Trusts and Obedience</a:t>
            </a:r>
            <a:endParaRPr lang="en-US" sz="1600" dirty="0"/>
          </a:p>
        </p:txBody>
      </p:sp>
      <p:sp>
        <p:nvSpPr>
          <p:cNvPr id="39" name="Text 37"/>
          <p:cNvSpPr txBox="1"/>
          <p:nvPr/>
        </p:nvSpPr>
        <p:spPr>
          <a:xfrm>
            <a:off x="6946240" y="400104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58 – 70</a:t>
            </a:r>
            <a:endParaRPr lang="en-US" sz="1200" dirty="0"/>
          </a:p>
        </p:txBody>
      </p:sp>
      <p:sp>
        <p:nvSpPr>
          <p:cNvPr id="40" name="Shape 38"/>
          <p:cNvSpPr/>
          <p:nvPr/>
        </p:nvSpPr>
        <p:spPr>
          <a:xfrm>
            <a:off x="700888" y="4434840"/>
            <a:ext cx="5257800" cy="749808"/>
          </a:xfrm>
          <a:prstGeom prst="roundRect">
            <a:avLst>
              <a:gd name="adj" fmla="val 12195"/>
            </a:avLst>
          </a:prstGeom>
          <a:solidFill>
            <a:schemeClr val="bg1"/>
          </a:solidFill>
          <a:ln w="12700">
            <a:solidFill>
              <a:schemeClr val="accent2"/>
            </a:solidFill>
            <a:prstDash val="solid"/>
          </a:ln>
        </p:spPr>
      </p:sp>
      <p:sp>
        <p:nvSpPr>
          <p:cNvPr id="41" name="Shape 39"/>
          <p:cNvSpPr/>
          <p:nvPr/>
        </p:nvSpPr>
        <p:spPr>
          <a:xfrm>
            <a:off x="792328" y="4544568"/>
            <a:ext cx="530352" cy="530352"/>
          </a:xfrm>
          <a:prstGeom prst="star8">
            <a:avLst/>
          </a:prstGeom>
          <a:solidFill>
            <a:schemeClr val="accent2"/>
          </a:solidFill>
          <a:ln/>
        </p:spPr>
      </p:sp>
      <p:sp>
        <p:nvSpPr>
          <p:cNvPr id="42" name="Shape 40"/>
          <p:cNvSpPr/>
          <p:nvPr/>
        </p:nvSpPr>
        <p:spPr>
          <a:xfrm>
            <a:off x="898398" y="4650638"/>
            <a:ext cx="318211" cy="318211"/>
          </a:xfrm>
          <a:prstGeom prst="ellipse">
            <a:avLst/>
          </a:prstGeom>
          <a:solidFill>
            <a:schemeClr val="bg2"/>
          </a:solidFill>
          <a:ln w="19050">
            <a:solidFill>
              <a:schemeClr val="tx2"/>
            </a:solidFill>
            <a:prstDash val="solid"/>
          </a:ln>
        </p:spPr>
      </p:sp>
      <p:sp>
        <p:nvSpPr>
          <p:cNvPr id="43" name="Text 41"/>
          <p:cNvSpPr txBox="1"/>
          <p:nvPr/>
        </p:nvSpPr>
        <p:spPr>
          <a:xfrm>
            <a:off x="792328" y="454456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7</a:t>
            </a:r>
            <a:endParaRPr lang="en-US" sz="1400" dirty="0"/>
          </a:p>
        </p:txBody>
      </p:sp>
      <p:sp>
        <p:nvSpPr>
          <p:cNvPr id="44" name="Text 42"/>
          <p:cNvSpPr txBox="1"/>
          <p:nvPr/>
        </p:nvSpPr>
        <p:spPr>
          <a:xfrm>
            <a:off x="1414120" y="445312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Jihad, Hijrah and Fear Prayer</a:t>
            </a:r>
            <a:endParaRPr lang="en-US" sz="1600" dirty="0"/>
          </a:p>
        </p:txBody>
      </p:sp>
      <p:sp>
        <p:nvSpPr>
          <p:cNvPr id="45" name="Text 43"/>
          <p:cNvSpPr txBox="1"/>
          <p:nvPr/>
        </p:nvSpPr>
        <p:spPr>
          <a:xfrm>
            <a:off x="1414120" y="486972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71 – 104</a:t>
            </a:r>
            <a:endParaRPr lang="en-US" sz="1200" dirty="0"/>
          </a:p>
        </p:txBody>
      </p:sp>
      <p:sp>
        <p:nvSpPr>
          <p:cNvPr id="46" name="Shape 44"/>
          <p:cNvSpPr/>
          <p:nvPr/>
        </p:nvSpPr>
        <p:spPr>
          <a:xfrm>
            <a:off x="6233008" y="4434840"/>
            <a:ext cx="5257800" cy="749808"/>
          </a:xfrm>
          <a:prstGeom prst="roundRect">
            <a:avLst>
              <a:gd name="adj" fmla="val 12195"/>
            </a:avLst>
          </a:prstGeom>
          <a:solidFill>
            <a:schemeClr val="accent5"/>
          </a:solidFill>
          <a:ln w="12700">
            <a:solidFill>
              <a:schemeClr val="accent2"/>
            </a:solidFill>
            <a:prstDash val="solid"/>
          </a:ln>
        </p:spPr>
      </p:sp>
      <p:sp>
        <p:nvSpPr>
          <p:cNvPr id="47" name="Shape 45"/>
          <p:cNvSpPr/>
          <p:nvPr/>
        </p:nvSpPr>
        <p:spPr>
          <a:xfrm>
            <a:off x="6324448" y="4544568"/>
            <a:ext cx="530352" cy="530352"/>
          </a:xfrm>
          <a:prstGeom prst="star8">
            <a:avLst/>
          </a:prstGeom>
          <a:solidFill>
            <a:schemeClr val="accent2"/>
          </a:solidFill>
          <a:ln/>
        </p:spPr>
      </p:sp>
      <p:sp>
        <p:nvSpPr>
          <p:cNvPr id="48" name="Shape 46"/>
          <p:cNvSpPr/>
          <p:nvPr/>
        </p:nvSpPr>
        <p:spPr>
          <a:xfrm>
            <a:off x="6430518" y="4650638"/>
            <a:ext cx="318211" cy="318211"/>
          </a:xfrm>
          <a:prstGeom prst="ellipse">
            <a:avLst/>
          </a:prstGeom>
          <a:solidFill>
            <a:schemeClr val="bg2"/>
          </a:solidFill>
          <a:ln w="19050">
            <a:solidFill>
              <a:schemeClr val="tx2"/>
            </a:solidFill>
            <a:prstDash val="solid"/>
          </a:ln>
        </p:spPr>
      </p:sp>
      <p:sp>
        <p:nvSpPr>
          <p:cNvPr id="49" name="Text 47"/>
          <p:cNvSpPr txBox="1"/>
          <p:nvPr/>
        </p:nvSpPr>
        <p:spPr>
          <a:xfrm>
            <a:off x="6324448" y="454456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8</a:t>
            </a:r>
            <a:endParaRPr lang="en-US" sz="1400" dirty="0"/>
          </a:p>
        </p:txBody>
      </p:sp>
      <p:sp>
        <p:nvSpPr>
          <p:cNvPr id="50" name="Text 48"/>
          <p:cNvSpPr txBox="1"/>
          <p:nvPr/>
        </p:nvSpPr>
        <p:spPr>
          <a:xfrm>
            <a:off x="6946240" y="445312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Justice; Warning Against Shirk</a:t>
            </a:r>
            <a:endParaRPr lang="en-US" sz="1600" dirty="0"/>
          </a:p>
        </p:txBody>
      </p:sp>
      <p:sp>
        <p:nvSpPr>
          <p:cNvPr id="51" name="Text 49"/>
          <p:cNvSpPr txBox="1"/>
          <p:nvPr/>
        </p:nvSpPr>
        <p:spPr>
          <a:xfrm>
            <a:off x="6946240" y="486972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105 – 126</a:t>
            </a:r>
            <a:endParaRPr lang="en-US" sz="1200" dirty="0"/>
          </a:p>
        </p:txBody>
      </p:sp>
      <p:sp>
        <p:nvSpPr>
          <p:cNvPr id="52" name="Shape 50"/>
          <p:cNvSpPr/>
          <p:nvPr/>
        </p:nvSpPr>
        <p:spPr>
          <a:xfrm>
            <a:off x="700888" y="5303520"/>
            <a:ext cx="5257800" cy="749808"/>
          </a:xfrm>
          <a:prstGeom prst="roundRect">
            <a:avLst>
              <a:gd name="adj" fmla="val 12195"/>
            </a:avLst>
          </a:prstGeom>
          <a:solidFill>
            <a:schemeClr val="bg1"/>
          </a:solidFill>
          <a:ln w="12700">
            <a:solidFill>
              <a:schemeClr val="accent2"/>
            </a:solidFill>
            <a:prstDash val="solid"/>
          </a:ln>
        </p:spPr>
      </p:sp>
      <p:sp>
        <p:nvSpPr>
          <p:cNvPr id="53" name="Shape 51"/>
          <p:cNvSpPr/>
          <p:nvPr/>
        </p:nvSpPr>
        <p:spPr>
          <a:xfrm>
            <a:off x="792328" y="5413248"/>
            <a:ext cx="530352" cy="530352"/>
          </a:xfrm>
          <a:prstGeom prst="star8">
            <a:avLst/>
          </a:prstGeom>
          <a:solidFill>
            <a:schemeClr val="accent2"/>
          </a:solidFill>
          <a:ln/>
        </p:spPr>
      </p:sp>
      <p:sp>
        <p:nvSpPr>
          <p:cNvPr id="54" name="Shape 52"/>
          <p:cNvSpPr/>
          <p:nvPr/>
        </p:nvSpPr>
        <p:spPr>
          <a:xfrm>
            <a:off x="898398" y="5519318"/>
            <a:ext cx="318211" cy="318211"/>
          </a:xfrm>
          <a:prstGeom prst="ellipse">
            <a:avLst/>
          </a:prstGeom>
          <a:solidFill>
            <a:schemeClr val="bg2"/>
          </a:solidFill>
          <a:ln w="19050">
            <a:solidFill>
              <a:schemeClr val="tx2"/>
            </a:solidFill>
            <a:prstDash val="solid"/>
          </a:ln>
        </p:spPr>
      </p:sp>
      <p:sp>
        <p:nvSpPr>
          <p:cNvPr id="55" name="Text 53"/>
          <p:cNvSpPr txBox="1"/>
          <p:nvPr/>
        </p:nvSpPr>
        <p:spPr>
          <a:xfrm>
            <a:off x="792328" y="541324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9</a:t>
            </a:r>
            <a:endParaRPr lang="en-US" sz="1400" dirty="0"/>
          </a:p>
        </p:txBody>
      </p:sp>
      <p:sp>
        <p:nvSpPr>
          <p:cNvPr id="56" name="Text 54"/>
          <p:cNvSpPr txBox="1"/>
          <p:nvPr/>
        </p:nvSpPr>
        <p:spPr>
          <a:xfrm>
            <a:off x="1414120" y="532180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Fairness and the Hypocrites</a:t>
            </a:r>
            <a:endParaRPr lang="en-US" sz="1600" dirty="0"/>
          </a:p>
        </p:txBody>
      </p:sp>
      <p:sp>
        <p:nvSpPr>
          <p:cNvPr id="57" name="Text 55"/>
          <p:cNvSpPr txBox="1"/>
          <p:nvPr/>
        </p:nvSpPr>
        <p:spPr>
          <a:xfrm>
            <a:off x="1414120" y="573840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127 – 152</a:t>
            </a:r>
            <a:endParaRPr lang="en-US" sz="1200" dirty="0"/>
          </a:p>
        </p:txBody>
      </p:sp>
      <p:sp>
        <p:nvSpPr>
          <p:cNvPr id="58" name="Shape 56"/>
          <p:cNvSpPr/>
          <p:nvPr/>
        </p:nvSpPr>
        <p:spPr>
          <a:xfrm>
            <a:off x="6233008" y="5303520"/>
            <a:ext cx="5257800" cy="749808"/>
          </a:xfrm>
          <a:prstGeom prst="roundRect">
            <a:avLst>
              <a:gd name="adj" fmla="val 12195"/>
            </a:avLst>
          </a:prstGeom>
          <a:solidFill>
            <a:schemeClr val="accent5"/>
          </a:solidFill>
          <a:ln w="12700">
            <a:solidFill>
              <a:schemeClr val="accent2"/>
            </a:solidFill>
            <a:prstDash val="solid"/>
          </a:ln>
        </p:spPr>
      </p:sp>
      <p:sp>
        <p:nvSpPr>
          <p:cNvPr id="59" name="Shape 57"/>
          <p:cNvSpPr/>
          <p:nvPr/>
        </p:nvSpPr>
        <p:spPr>
          <a:xfrm>
            <a:off x="6324448" y="5413248"/>
            <a:ext cx="530352" cy="530352"/>
          </a:xfrm>
          <a:prstGeom prst="star8">
            <a:avLst/>
          </a:prstGeom>
          <a:solidFill>
            <a:schemeClr val="accent2"/>
          </a:solidFill>
          <a:ln/>
        </p:spPr>
      </p:sp>
      <p:sp>
        <p:nvSpPr>
          <p:cNvPr id="60" name="Shape 58"/>
          <p:cNvSpPr/>
          <p:nvPr/>
        </p:nvSpPr>
        <p:spPr>
          <a:xfrm>
            <a:off x="6430518" y="5519318"/>
            <a:ext cx="318211" cy="318211"/>
          </a:xfrm>
          <a:prstGeom prst="ellipse">
            <a:avLst/>
          </a:prstGeom>
          <a:solidFill>
            <a:schemeClr val="bg2"/>
          </a:solidFill>
          <a:ln w="19050">
            <a:solidFill>
              <a:schemeClr val="tx2"/>
            </a:solidFill>
            <a:prstDash val="solid"/>
          </a:ln>
        </p:spPr>
      </p:sp>
      <p:sp>
        <p:nvSpPr>
          <p:cNvPr id="61" name="Text 59"/>
          <p:cNvSpPr txBox="1"/>
          <p:nvPr/>
        </p:nvSpPr>
        <p:spPr>
          <a:xfrm>
            <a:off x="6324448" y="5413248"/>
            <a:ext cx="530352" cy="530352"/>
          </a:xfrm>
          <a:prstGeom prst="rect">
            <a:avLst/>
          </a:prstGeom>
          <a:noFill/>
          <a:ln/>
        </p:spPr>
        <p:txBody>
          <a:bodyPr wrap="square" lIns="0" tIns="0" rIns="0" bIns="0" rtlCol="0" anchor="ctr"/>
          <a:lstStyle/>
          <a:p>
            <a:pPr algn="ctr" indent="0" marL="0">
              <a:buNone/>
            </a:pPr>
            <a:r>
              <a:rPr lang="en-US" altLang="en-US" sz="1400" b="1" dirty="0">
                <a:solidFill>
                  <a:schemeClr val="tx2"/>
                </a:solidFill>
                <a:latin typeface="Arial" pitchFamily="34" charset="0"/>
                <a:ea typeface="Arial" pitchFamily="34" charset="-122"/>
                <a:cs typeface="Arial" pitchFamily="34" charset="-120"/>
              </a:rPr>
              <a:t>10</a:t>
            </a:r>
            <a:endParaRPr lang="en-US" sz="1400" dirty="0"/>
          </a:p>
        </p:txBody>
      </p:sp>
      <p:sp>
        <p:nvSpPr>
          <p:cNvPr id="62" name="Text 60"/>
          <p:cNvSpPr txBox="1"/>
          <p:nvPr/>
        </p:nvSpPr>
        <p:spPr>
          <a:xfrm>
            <a:off x="6946240" y="5321808"/>
            <a:ext cx="4453128" cy="434889"/>
          </a:xfrm>
          <a:prstGeom prst="rect">
            <a:avLst/>
          </a:prstGeom>
          <a:noFill/>
          <a:ln/>
        </p:spPr>
        <p:txBody>
          <a:bodyPr wrap="square" lIns="0" tIns="0" rIns="0" bIns="0" rtlCol="0" anchor="ctr">
            <a:normAutofit/>
          </a:bodyPr>
          <a:lstStyle/>
          <a:p>
            <a:pPr algn="l" indent="0" marL="0">
              <a:buNone/>
            </a:pPr>
            <a:r>
              <a:rPr lang="en-US" altLang="en-US" sz="1600" b="1" dirty="0">
                <a:solidFill>
                  <a:schemeClr val="tx2"/>
                </a:solidFill>
                <a:latin typeface="Arial" pitchFamily="34" charset="0"/>
                <a:ea typeface="Arial" pitchFamily="34" charset="-122"/>
                <a:cs typeface="Arial" pitchFamily="34" charset="-120"/>
              </a:rPr>
              <a:t>'Isa and Al-Kalalah</a:t>
            </a:r>
            <a:endParaRPr lang="en-US" sz="1600" dirty="0"/>
          </a:p>
        </p:txBody>
      </p:sp>
      <p:sp>
        <p:nvSpPr>
          <p:cNvPr id="63" name="Text 61"/>
          <p:cNvSpPr txBox="1"/>
          <p:nvPr/>
        </p:nvSpPr>
        <p:spPr>
          <a:xfrm>
            <a:off x="6946240" y="5738409"/>
            <a:ext cx="4453128" cy="284927"/>
          </a:xfrm>
          <a:prstGeom prst="rect">
            <a:avLst/>
          </a:prstGeom>
          <a:noFill/>
          <a:ln/>
        </p:spPr>
        <p:txBody>
          <a:bodyPr wrap="square" lIns="0" tIns="0" rIns="0" bIns="0" rtlCol="0" anchor="ctr"/>
          <a:lstStyle/>
          <a:p>
            <a:pPr algn="l" indent="0" marL="0">
              <a:buNone/>
            </a:pPr>
            <a:r>
              <a:rPr lang="en-US" altLang="en-US" sz="1200" b="1" dirty="0">
                <a:solidFill>
                  <a:schemeClr val="accent2"/>
                </a:solidFill>
                <a:latin typeface="Arial" pitchFamily="34" charset="0"/>
                <a:ea typeface="Arial" pitchFamily="34" charset="-122"/>
                <a:cs typeface="Arial" pitchFamily="34" charset="-120"/>
              </a:rPr>
              <a:t>Verses 153 – 176</a:t>
            </a:r>
            <a:endParaRPr lang="en-US" sz="12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Taqwa and Orphans' Rights</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 – 10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An-Nisa'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'A'ishah (may Allah be pleased with her) said about “If you fear you will not be fair to the orphans”: It is about the orphan girl in the care of her guardian, who wants her wealth and beauty and wants to marry her for less than a fair dowry. They were forbidden from that unless they were fair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command to have taqwa of Allah and keep family ties, protect orphans' wealth, give women their dowries, and a strong warning against consuming an orphan's wealth.</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اتَّقُواْ رَبَّكُمُ الَّذِي خَلَقَكُم مِّن نَّفْسٍ وَٰحِدَةٍ وَخَلَقَ مِنْهَا زَوْجَهَا وَبَثَّ مِنْهُمَا رِجَالًا كَثِيرًا وَنِسَآءً وَاتَّقُواْ اللَّهَ الَّذِي تَسَآءَلُونَ بِهِ وَالْأَرْحَامَ إِنَّ اللَّهَ كَانَ عَلَيْكُمْ رَقِيبًا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have taqwa of your Lord, who created you from a single soul, Adam, created from him his wife Hawwa', and spread from them many men and women. Have taqwa of Allah, in whose name you ask one another, and beware of cutting family ties. Allah is always watching over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8" name="Text 6"/>
          <p:cNvSpPr txBox="1"/>
          <p:nvPr/>
        </p:nvSpPr>
        <p:spPr>
          <a:xfrm>
            <a:off x="1444752" y="157505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وَءَاتُواْ الْيَتَٰمَىٰ أَمْوَٰلَهُمْ وَلَا تَتَبَدَّلُواْ الْخَبِيثَ بِالطَّيِّبِ وَلَا تَأْكُلُواْ أَمْوَٰلَهُمْ إِلَىٰ أَمْوَٰلِكُمْ إِنَّهُ كَانَ حُوبًا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orphans their wealth in full when they grow up. Do not swap your bad things for their good things, and do not mix their wealth with yours to consume it; that is a great sin.</a:t>
            </a:r>
            <a:endParaRPr lang="en-US" sz="3000" dirty="0"/>
          </a:p>
        </p:txBody>
      </p:sp>
      <p:sp>
        <p:nvSpPr>
          <p:cNvPr id="9" name="Shape 7"/>
          <p:cNvSpPr/>
          <p:nvPr/>
        </p:nvSpPr>
        <p:spPr>
          <a:xfrm>
            <a:off x="1444752" y="3563874"/>
            <a:ext cx="8641080" cy="0"/>
          </a:xfrm>
          <a:prstGeom prst="line">
            <a:avLst/>
          </a:prstGeom>
          <a:noFill/>
          <a:ln w="9525">
            <a:solidFill>
              <a:schemeClr val="accent2"/>
            </a:solidFill>
            <a:prstDash val="dash"/>
          </a:ln>
        </p:spPr>
      </p:sp>
      <p:sp>
        <p:nvSpPr>
          <p:cNvPr id="10" name="Shape 8"/>
          <p:cNvSpPr/>
          <p:nvPr/>
        </p:nvSpPr>
        <p:spPr>
          <a:xfrm>
            <a:off x="713232" y="3797046"/>
            <a:ext cx="548640" cy="548640"/>
          </a:xfrm>
          <a:prstGeom prst="star8">
            <a:avLst/>
          </a:prstGeom>
          <a:solidFill>
            <a:schemeClr val="accent2"/>
          </a:solidFill>
          <a:ln/>
        </p:spPr>
      </p:sp>
      <p:sp>
        <p:nvSpPr>
          <p:cNvPr id="11" name="Shape 9"/>
          <p:cNvSpPr/>
          <p:nvPr/>
        </p:nvSpPr>
        <p:spPr>
          <a:xfrm>
            <a:off x="822960" y="390677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970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3" name="Text 11"/>
          <p:cNvSpPr txBox="1"/>
          <p:nvPr/>
        </p:nvSpPr>
        <p:spPr>
          <a:xfrm>
            <a:off x="1444752" y="377875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خِفْتُمْ أَلَّا تُقْسِطُواْ فِي الْيَتَٰمَىٰ فَانكِحُواْ مَا طَابَ لَكُم مِّنَ النِّسَآءِ مَثْنَىٰ وَثُلَٰثَ وَرُبَٰعَ فَإِنْ خِفْتُمْ أَلَّا تَعْدِلُواْ فَوَٰحِدَةً أَوْ مَا مَلَكَتْ أَيْمَٰنُكُمْ ذَٰلِكَ أَدْنَىٰ أَلَّا تَعُولُواْ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fear you will not be fair to an orphan girl in your care if you marry her, then marry other women: two, three or four. But if you fear you will not be fair, then just one; that is closer to not doing wrong.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وَءَاتُواْ النِّسَآءَ صَدُقَٰتِهِنَّ نِحْلَةً فَإِن طِبْنَ لَكُمْ عَن شَيْءٍ مِّنْهُ نَفْسًا فَكُلُوهُ هَنِيـًٔا مَّرِيـًٔا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women their dowries as an obligatory gift, willingly. But if they are happy to give you part of it, enjoy it with pleasure.</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تُؤْتُواْ السُّفَهَآءَ أَمْوَٰلَكُمُ الَّتِي جَعَلَ اللَّهُ لَكُمْ قِيَٰمًا وَارْزُقُوهُمْ فِيهَا وَاكْسُوهُمْ وَقُولُواْ لَهُمْ قَوْلًا مَّعْرُوفًا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give those who cannot manage it your wealth, which Allah made the support of your life. Provide for them from it and clothe them, and speak to them kindly.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وَابْتَلُواْ الْيَتَٰمَىٰ حَتَّىٰ إِذَا بَلَغُواْ النِّكَاحَ فَإِنْ ءَانَسْتُم مِّنْهُمْ رُشْدًا فَادْفَعُواْ إِلَيْهِمْ أَمْوَٰلَهُمْ وَلَا تَأْكُلُوهَآ إِسْرَافًا وَبِدَارًا أَن يَكْبَرُواْ وَمَن كَانَ غَنِيًّا فَلْيَسْتَعْفِفْ وَمَن كَانَ فَقِيرًا فَلْيَأْكُلْ بِالْمَعْرُوفِ فَإِذَا دَفَعْتُمْ إِلَيْهِمْ أَمْوَٰلَهُمْ فَأَشْهِدُواْ عَلَيْهِمْ وَكَفَىٰ بِاللَّهِ حَسِيبًا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Test the orphans until they reach maturity; if you find good sense in them, give them their wealth. Do not hurry to consume it before they grow up. A rich guardian should refrain from it, and a poor one may take only what he needs. Have witnesses when you hand it over.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لِّلرِّجَالِ نَصِيبٌ مِّمَّا تَرَكَ الْوَٰلِدَانِ وَالْأَقْرَبُونَ وَلِلنِّسَآءِ نَصِيبٌ مِّمَّا تَرَكَ الْوَٰلِدَانِ وَالْأَقْرَبُونَ مِمَّا قَلَّ مِنْهُ أَوْ كَثُرَ نَصِيبًا مَّفْرُوضًا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Men have a share of inheritance, and women have a share too, whether small or large, a share fixed by Allah. Before Islam they did not give inheritance to women and children.</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حَضَرَ الْقِسْمَةَ أُوْلُواْ الْقُرْبَىٰ وَالْيَتَٰمَىٰ وَالْمَسَٰكِينُ فَارْزُقُوهُم مِّنْهُ وَقُولُواْ لَهُمْ قَوْلًا مَّعْرُوفًا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relatives who do not inherit, orphans or poor people are present at the dividing of inheritance, give them something from it and speak to them kindly.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وَلْيَخْشَ الَّذِينَ لَوْ تَرَكُواْ مِنْ خَلْفِهِمْ ذُرِّيَّةً ضِعَٰفًا خَافُواْ عَلَيْهِمْ فَلْيَتَّقُواْ اللَّهَ وَلْيَقُولُواْ قَوْلًا سَدِيدًا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manages an orphan's wealth should fear Allah, just as he would worry about his own weak children if he died and left them. So let them have taqwa of Allah and speak fair, right words.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يَأْكُلُونَ أَمْوَٰلَ الْيَتَٰمَىٰ ظُلْمًا إِنَّمَا يَأْكُلُونَ فِي بُطُونِهِمْ نَارًا وَسَيَصْلَوْنَ سَعِيرًا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consume orphans' wealth unjustly are only filling their bellies with fire, and they will enter a blazing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The Verses of Inheritance</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2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11 – 14</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An-Nisa'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Jabir ibn 'Abdullah said: I was ill, and the Prophet (peace be upon him) and Abu Bakr visited me. I said: O Messenger of Allah, what should I do with my wealth? He did not answer me until the verse of inheritance was revealed: “Allah instructs you concerning your children” (Bukhari and Muslim).</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Explaining the shares of the heirs: children, parents, spouses and siblings, and that these are Allah's limits that must not be overstepped.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72234"/>
            <a:ext cx="548640" cy="548640"/>
          </a:xfrm>
          <a:prstGeom prst="star8">
            <a:avLst/>
          </a:prstGeom>
          <a:solidFill>
            <a:schemeClr val="accent2"/>
          </a:solidFill>
          <a:ln/>
        </p:spPr>
      </p:sp>
      <p:sp>
        <p:nvSpPr>
          <p:cNvPr id="6" name="Shape 4"/>
          <p:cNvSpPr/>
          <p:nvPr/>
        </p:nvSpPr>
        <p:spPr>
          <a:xfrm>
            <a:off x="822960" y="198196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7223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8" name="Text 6"/>
          <p:cNvSpPr txBox="1"/>
          <p:nvPr/>
        </p:nvSpPr>
        <p:spPr>
          <a:xfrm>
            <a:off x="1444752" y="1853946"/>
            <a:ext cx="10012680" cy="370789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يُوصِيكُمُ اللَّهُ فِي أَوْلَٰدِكُمْ لِلذَّكَرِ مِثْلُ حَظِّ الْأُنثَيَيْنِ فَإِن كُنَّ نِسَآءً فَوْقَ اثْنَتَيْنِ فَلَهُنَّ ثُلُثَا مَا تَرَكَ وَإِن كَانَتْ وَٰحِدَةً فَلَهَا النِّصْفُ وَلِأَبَوَيْهِ لِكُلِّ وَٰحِدٍ مِّنْهُمَا السُّدُسُ مِمَّا تَرَكَ إِن كَانَ لَهُ وَلَدٌ فَإِن لَّمْ يَكُن لَّهُ وَلَدٌ وَوَرِثَهُ أَبَوَاهُ فَلِأُمِّهِ الثُّلُثُ فَإِن كَانَ لَهُ إِخْوَةٌ فَلِأُمِّهِ السُّدُسُ مِن بَعْدِ وَصِيَّةٍ يُوصِي بِهَآ أَوْ دَيْنٍ ءَابَآؤُكُمْ وَأَبْنَآؤُكُمْ لَا تَدْرُونَ أَيُّهُمْ أَقْرَبُ لَكُمْ نَفْعًا فَرِيضَةً مِّنَ اللَّهِ إِنَّ اللَّهَ كَانَ عَلِيمًا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commands you about your children's inheritance: a male gets the share of two females. If there are more than two daughters, they get two-thirds; if only one, she gets half. Each parent gets a sixth if the deceased had a child. All this is after carrying out the will and paying debts.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7914"/>
            <a:ext cx="548640" cy="548640"/>
          </a:xfrm>
          <a:prstGeom prst="star8">
            <a:avLst/>
          </a:prstGeom>
          <a:solidFill>
            <a:schemeClr val="accent2"/>
          </a:solidFill>
          <a:ln/>
        </p:spPr>
      </p:sp>
      <p:sp>
        <p:nvSpPr>
          <p:cNvPr id="6" name="Shape 4"/>
          <p:cNvSpPr/>
          <p:nvPr/>
        </p:nvSpPr>
        <p:spPr>
          <a:xfrm>
            <a:off x="822960" y="170764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79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579626"/>
            <a:ext cx="10012680" cy="42565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وَلَكُمْ نِصْفُ مَا تَرَكَ أَزْوَٰجُكُمْ إِن لَّمْ يَكُن لَّهُنَّ وَلَدٌ فَإِن كَانَ لَهُنَّ وَلَدٌ فَلَكُمُ الرُّبُعُ مِمَّا تَرَكْنَ مِن بَعْدِ وَصِيَّةٍ يُوصِينَ بِهَآ أَوْ دَيْنٍ وَلَهُنَّ الرُّبُعُ مِمَّا تَرَكْتُمْ إِن لَّمْ يَكُن لَّكُمْ وَلَدٌ فَإِن كَانَ لَكُمْ وَلَدٌ فَلَهُنَّ الثُّمُنُ مِمَّا تَرَكْتُم مِّن بَعْدِ وَصِيَّةٍ تُوصُونَ بِهَآ أَوْ دَيْنٍ وَإِن كَانَ رَجُلٌ يُورَثُ كَلَٰلَةً أَوِ امْرَأَةٌ وَلَهُ أَخٌ أَوْ أُخْتٌ فَلِكُلِّ وَٰحِدٍ مِّنْهُمَا السُّدُسُ فَإِن كَانُواْ أَكْثَرَ مِن ذَٰلِكَ فَهُمْ شُرَكَآءُ فِي الثُّلُثِ مِن بَعْدِ وَصِيَّةٍ يُوصَىٰ بِهَآ أَوْ دَيْنٍ غَيْرَ مُضَآرٍّ وَصِيَّةً مِّنَ اللَّهِ وَاللَّهُ عَلِيمٌ حَلِيمٌ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husband gets half of what his wife leaves if she has no child, and a quarter if she has a child. A wife gets a quarter if her husband has no child, and an eighth if he has a child. A brother or sister from the mother gets a sixth. All after the will and debts, without harming the heirs.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حُدُودُ اللَّهِ وَمَن يُطِعِ اللَّهَ وَرَسُولَهُ يُدْخِلْهُ جَنَّـٰتٍ تَجْرِي مِن تَحْتِهَا الْأَنْهَٰرُ خَٰلِدِينَ فِيهَا وَذَٰلِكَ الْفَوْزُ الْعَظِيمُ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are Allah's rulings and limits. Whoever obeys Allah and His Messenger, He will admit him to Gardens with rivers flowing beneath them, staying there forever; that is the great success.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يَعْصِ اللَّهَ وَرَسُولَهُ وَيَتَعَدَّ حُدُودَهُ يُدْخِلْهُ نَارًا خَٰلِدًا فِيهَا وَلَهُ عَذَابٌ مُّهِينٌ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whoever disobeys Allah and His Messenger and oversteps His limits, He will put him into a Fire to stay in forever, and he will have a humiliating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Repentance and Family</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3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15 – 28</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An-Nisa'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'Abbas said: Before Islam, when a man died, his relatives had more right over his wife; one of them could marry her if he wished, or they could stop her from marrying. So this was revealed: “It is not lawful for you to inherit women against their will”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conditions of accepted repentance, forbidding unfairness to women, the command to live with them kindly, whom it is forbidden to marry, and Allah's mercy in making things easy.</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وَالَّـٰتِي يَأْتِينَ الْفَٰحِشَةَ مِن نِّسَآئِكُمْ فَاسْتَشْهِدُواْ عَلَيْهِنَّ أَرْبَعَةً مِّنكُمْ فَإِن شَهِدُواْ فَأَمْسِكُوهُنَّ فِي الْبُيُوتِ حَتَّىٰ يَتَوَفَّىٰهُنَّ الْمَوْتُ أَوْ يَجْعَلَ اللَّهُ لَهُنَّ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women who commit indecency, bring four witnesses against them. If they testify, keep them in their houses until Allah makes another ruling for them. This was later replaced by the punishment mentioned in Surah An-Nur.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وَالَّذَانِ يَأْتِيَٰنِهَا مِنكُمْ فَـَٔاذُوهُمَا فَإِن تَابَا وَأَصْلَحَا فَأَعْرِضُواْ عَنْهُمَآ إِنَّ اللَّهَ كَانَ تَوَّابًا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man and a woman who commit indecency, punish them by rebuking them; if they repent and correct themselves, leave them alone. Allah is Accepting of repentance, Most Merciful. This was later replaced by the set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التَّوْبَةُ عَلَى اللَّهِ لِلَّذِينَ يَعْمَلُونَ السُّوءَ بِجَهَٰلَةٍ ثُمَّ يَتُوبُونَ مِن قَرِيبٍ فَأُوْلَـٰئِكَ يَتُوبُ اللَّهُ عَلَيْهِمْ وَكَانَ اللَّهُ عَلِيمًا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only accepts the repentance of those who do wrong out of ignorance and then repent before death. Allah accepts their repentance, and Allah is All-Knowing, All-Wise.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وَلَيْسَتِ التَّوْبَةُ لِلَّذِينَ يَعْمَلُونَ السَّيِّـَٔاتِ حَتَّىٰ إِذَا حَضَرَ أَحَدَهُمُ الْمَوْتُ قَالَ إِنِّي تُبْتُ الْـَٰٔنَ وَلَا الَّذِينَ يَمُوتُونَ وَهُمْ كُفَّارٌ أُوْلَـٰئِكَ أَعْتَدْنَا لَهُمْ 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Repentance is not accepted from one who keeps on sinning until death comes and then says: Now I repent; nor from those who die as disbelievers. For them We have prepared a painful punishment.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يَحِلُّ لَكُمْ أَن تَرِثُواْ النِّسَآءَ كَرْهًا وَلَا تَعْضُلُوهُنَّ لِتَذْهَبُواْ بِبَعْضِ مَآ ءَاتَيْتُمُوهُنَّ إِلَّآ أَن يَأْتِينَ بِفَٰحِشَةٍ مُّبَيِّنَةٍ وَعَاشِرُوهُنَّ بِالْمَعْرُوفِ فَإِن كَرِهْتُمُوهُنَّ فَعَسَىٰ أَن تَكْرَهُواْ شَيْـًٔا وَيَجْعَلَ اللَّهُ فِيهِ خَيْرًا كَثِيرًا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it is not lawful for you to inherit your relatives' wives after their death as people did before Islam, nor to make life hard for them to take back part of their dowries. Live with them kindly. If you dislike them, perhaps you dislike something in which Allah has put much good.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أَرَدتُّمُ اسْتِبْدَالَ زَوْجٍ مَّكَانَ زَوْجٍ وَءَاتَيْتُمْ إِحْدَىٰهُنَّ قِنطَارًا فَلَا تَأْخُذُواْ مِنْهُ شَيْـًٔا أَتَأْخُذُونَهُ بُهْتَٰنًا وَإِثْمًا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want to marry one wife in place of another, and you gave the first a great amount, do not take any of it back. Would you take it unjustly and with clear sin?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21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وَكَيْفَ تَأْخُذُونَهُ وَقَدْ أَفْضَىٰ بَعْضُكُمْ إِلَىٰ بَعْضٍ وَأَخَذْنَ مِنكُم مِّيثَٰقًا غَلِيظًا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could you take it after you have lived together, and they have taken a firm promise from you through the marriage contract?</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تَنكِحُواْ مَا نَكَحَ ءَابَآؤُكُم مِّنَ النِّسَآءِ إِلَّا مَا قَدْ سَلَفَ إِنَّهُ كَانَ فَٰحِشَةً وَمَقْتًا وَسَآءَ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marry women your fathers married, except what happened before Islam, which is pardoned. It was shameful, hateful and an evil 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41932"/>
            <a:ext cx="548640" cy="548640"/>
          </a:xfrm>
          <a:prstGeom prst="star8">
            <a:avLst/>
          </a:prstGeom>
          <a:solidFill>
            <a:schemeClr val="accent2"/>
          </a:solidFill>
          <a:ln/>
        </p:spPr>
      </p:sp>
      <p:sp>
        <p:nvSpPr>
          <p:cNvPr id="6" name="Shape 4"/>
          <p:cNvSpPr/>
          <p:nvPr/>
        </p:nvSpPr>
        <p:spPr>
          <a:xfrm>
            <a:off x="822960" y="185166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41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723644"/>
            <a:ext cx="10012680" cy="396849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حُرِّمَتْ عَلَيْكُمْ أُمَّهَٰتُكُمْ وَبَنَاتُكُمْ وَأَخَوَٰتُكُمْ وَعَمَّـٰتُكُمْ وَخَٰلَٰتُكُمْ وَبَنَاتُ الْأَخِ وَبَنَاتُ الْأُخْتِ وَأُمَّهَٰتُكُمُ الَّـٰتِي أَرْضَعْنَكُمْ وَأَخَوَٰتُكُم مِّنَ الرَّضَٰعَةِ وَأُمَّهَٰتُ نِسَآئِكُمْ وَرَبَـٰئِبُكُمُ الَّـٰتِي فِي حُجُورِكُم مِّن نِّسَآئِكُمُ الَّـٰتِي دَخَلْتُم بِهِنَّ فَإِن لَّمْ تَكُونُواْ دَخَلْتُم بِهِنَّ فَلَا جُنَاحَ عَلَيْكُمْ وَحَلَـٰئِلُ أَبْنَآئِكُمُ الَّذِينَ مِنْ أَصْلَٰبِكُمْ وَأَن تَجْمَعُواْ بَيْنَ الْأُخْتَيْنِ إِلَّا مَا قَدْ سَلَفَ إِنَّ اللَّهَ كَانَ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Forbidden for you to marry are: your mothers, daughters, sisters, father's sisters, mother's sisters, brother's daughters, sister's daughters, your nursing mothers and nursing sisters, your wives' mothers, your wives' daughters raised in your care, your sons' wives, and being married to two sisters at once.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وَالْمُحْصَنَٰتُ مِنَ النِّسَآءِ إِلَّا مَا مَلَكَتْ أَيْمَٰنُكُمْ كِتَٰبَ اللَّهِ عَلَيْكُمْ وَأُحِلَّ لَكُم مَّا وَرَآءَ ذَٰلِكُمْ أَن تَبْتَغُواْ بِأَمْوَٰلِكُم مُّحْصِنِينَ غَيْرَ مُسَٰفِحِينَ فَمَا اسْتَمْتَعْتُم بِهِ مِنْهُنَّ فَـَٔاتُوهُنَّ أُجُورَهُنَّ فَرِيضَةً وَلَا جُنَاحَ عَلَيْكُمْ فِيمَا تَرَٰضَيْتُم بِهِ مِن بَعْدِ الْفَرِيضَةِ إِنَّ اللَّهَ كَانَ عَلِيمًا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Also forbidden are married women, except those captured in war. This is Allah's ruling for you. Other than these are lawful for you to marry with your wealth, seeking chastity, so give them their dowries as an obligation.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72234"/>
            <a:ext cx="548640" cy="548640"/>
          </a:xfrm>
          <a:prstGeom prst="star8">
            <a:avLst/>
          </a:prstGeom>
          <a:solidFill>
            <a:schemeClr val="accent2"/>
          </a:solidFill>
          <a:ln/>
        </p:spPr>
      </p:sp>
      <p:sp>
        <p:nvSpPr>
          <p:cNvPr id="6" name="Shape 4"/>
          <p:cNvSpPr/>
          <p:nvPr/>
        </p:nvSpPr>
        <p:spPr>
          <a:xfrm>
            <a:off x="822960" y="198196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7223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8" name="Text 6"/>
          <p:cNvSpPr txBox="1"/>
          <p:nvPr/>
        </p:nvSpPr>
        <p:spPr>
          <a:xfrm>
            <a:off x="1444752" y="1853946"/>
            <a:ext cx="10012680" cy="370789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لَّمْ يَسْتَطِعْ مِنكُمْ طَوْلًا أَن يَنكِحَ الْمُحْصَنَٰتِ الْمُؤْمِنَٰتِ فَمِن مَّا مَلَكَتْ أَيْمَٰنُكُم مِّن فَتَيَٰتِكُمُ الْمُؤْمِنَٰتِ وَاللَّهُ أَعْلَمُ بِإِيمَٰنِكُم بَعْضُكُم مِّن بَعْضٍ فَانكِحُوهُنَّ بِإِذْنِ أَهْلِهِنَّ وَءَاتُوهُنَّ أُجُورَهُنَّ بِالْمَعْرُوفِ مُحْصَنَٰتٍ غَيْرَ مُسَٰفِحَٰتٍ وَلَا مُتَّخِذَٰتِ أَخْدَانٍ فَإِذَآ أُحْصِنَّ فَإِنْ أَتَيْنَ بِفَٰحِشَةٍ فَعَلَيْهِنَّ نِصْفُ مَا عَلَى الْمُحْصَنَٰتِ مِنَ الْعَذَابِ ذَٰلِكَ لِمَنْ خَشِيَ الْعَنَتَ مِنكُمْ وَأَن تَصْبِرُواْ خَيْرٌ لَّكُمْ وَاللَّهُ غَفُورٌ رَّحِيمٌ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cannot afford the dowry of a free believing woman may marry a believing slave woman with her family's permission, and give her a fair dowry. Being patient is better for you, and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يُرِيدُ اللَّهُ لِيُبَيِّنَ لَكُمْ وَيَهْدِيَكُمْ سُنَنَ الَّذِينَ مِن قَبْلِكُمْ وَيَتُوبَ عَلَيْكُمْ وَاللَّهُ عَلِيمٌ حَكِيمٌ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wants to make clear to you the rulings of your religion, guide you to the ways of the righteous before you, and accept your repentance. Allah is All-Knowing, All-Wise.</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يُرِيدُ أَن يَتُوبَ عَلَيْكُمْ وَيُرِيدُ الَّذِينَ يَتَّبِعُونَ الشَّهَوَٰتِ أَن تَمِيلُواْ مَيْلًا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wants to accept your repentance, while those who follow their desires want you to turn far away from the truth.</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يُرِيدُ اللَّهُ أَن يُخَفِّفَ عَنكُمْ وَخُلِقَ الْإِنسَٰنُ ضَعِيفًا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wants to make things light for you in His rulings, for man was created weak.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500" b="1" dirty="0">
                <a:solidFill>
                  <a:schemeClr val="accent2"/>
                </a:solidFill>
                <a:latin typeface="Georgia" pitchFamily="34" charset="0"/>
                <a:ea typeface="Georgia" pitchFamily="34" charset="-122"/>
                <a:cs typeface="Georgia" pitchFamily="34" charset="-120"/>
              </a:rPr>
              <a:t>Wealth and People's Rights</a:t>
            </a:r>
            <a:endParaRPr lang="en-US" sz="25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4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29 – 42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An-Nisa'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Umm Salamah (may Allah be pleased with her) said: O Messenger of Allah, the men go out to fight and we do not, and we get half the inheritance. So Allah revealed: “Do not wish for what Allah has given some of you over others” (Tirmidhi).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Forbidding taking wealth unjustly and killing, avoiding major sins, making peace between spouses, and being good to parents, neighbours and others.</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تَأْكُلُواْ أَمْوَٰلَكُم بَيْنَكُم بِالْبَٰطِلِ إِلَّآ أَن تَكُونَ تِجَٰرَةً عَن تَرَاضٍ مِّنكُمْ وَلَا تَقْتُلُواْ أَنفُسَكُمْ إِنَّ اللَّهَ كَانَ بِكُمْ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take one another's wealth unjustly, except through trade by mutual agreement, and do not kill one another or yourselves. Allah is Most Merciful to you.</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يَفْعَلْ ذَٰلِكَ عُدْوَٰنًا وَظُلْمًا فَسَوْفَ نُصْلِيهِ نَارًا وَكَانَ ذَٰلِكَ عَلَى اللَّهِ يَسِيرًا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does that in aggression and injustice, We will put him into a Fire, and that is easy for Allah.</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تَجْتَنِبُواْ كَبَآئِرَ مَا تُنْهَوْنَ عَنْهُ نُكَفِّرْ عَنكُمْ سَيِّـَٔاتِكُمْ وَنُدْخِلْكُم مُّدْخَلًا كَرِيمًا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stay away from the major sins, We will wipe away your smaller ones and admit you to a noble place, Paradise.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تَتَمَنَّوْاْ مَا فَضَّلَ اللَّهُ بِهِ بَعْضَكُمْ عَلَىٰ بَعْضٍ لِّلرِّجَالِ نَصِيبٌ مِّمَّا اكْتَسَبُواْ وَلِلنِّسَآءِ نَصِيبٌ مِّمَّا اكْتَسَبْنَ وَسْـَٔلُواْ اللَّهَ مِن فَضْلِهِ إِنَّ اللَّهَ كَانَ بِكُلِّ شَيْءٍ عَلِيمًا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wish for what Allah has given some of you over others. Men get the reward of what they earn and women get the reward of what they earn. Ask Allah from His favour; Allah knows everything.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وَلِكُلٍّ جَعَلْنَا مَوَٰلِيَ مِمَّا تَرَكَ الْوَٰلِدَانِ وَالْأَقْرَبُونَ وَالَّذِينَ عَقَدَتْ أَيْمَٰنُكُمْ فَـَٔاتُوهُمْ نَصِيبَهُمْ إِنَّ اللَّهَ كَانَ عَلَىٰ كُلِّ شَيْءٍ شَهِيدًا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For everyone We have made heirs who inherit from what parents and relatives leave. To those you made alliances with, give them their share of help and advice. Allah is Witness over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85950"/>
            <a:ext cx="548640" cy="548640"/>
          </a:xfrm>
          <a:prstGeom prst="star8">
            <a:avLst/>
          </a:prstGeom>
          <a:solidFill>
            <a:schemeClr val="accent2"/>
          </a:solidFill>
          <a:ln/>
        </p:spPr>
      </p:sp>
      <p:sp>
        <p:nvSpPr>
          <p:cNvPr id="6" name="Shape 4"/>
          <p:cNvSpPr/>
          <p:nvPr/>
        </p:nvSpPr>
        <p:spPr>
          <a:xfrm>
            <a:off x="822960" y="199567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859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8" name="Text 6"/>
          <p:cNvSpPr txBox="1"/>
          <p:nvPr/>
        </p:nvSpPr>
        <p:spPr>
          <a:xfrm>
            <a:off x="1444752" y="1867662"/>
            <a:ext cx="10012680" cy="3680460"/>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الرِّجَالُ قَوَّـٰمُونَ عَلَى النِّسَآءِ بِمَا فَضَّلَ اللَّهُ بَعْضَهُمْ عَلَىٰ بَعْضٍ وَبِمَآ أَنفَقُواْ مِنْ أَمْوَٰلِهِمْ فَالصَّـٰلِحَٰتُ قَٰنِتَٰتٌ حَٰفِظَٰتٌ لِّلْغَيْبِ بِمَا حَفِظَ اللَّهُ وَالَّـٰتِي تَخَافُونَ نُشُوزَهُنَّ فَعِظُوهُنَّ وَاهْجُرُوهُنَّ فِي الْمَضَاجِعِ وَاضْرِبُوهُنَّ فَإِنْ أَطَعْنَكُمْ فَلَا تَبْغُواْ عَلَيْهِنَّ سَبِيلًا إِنَّ اللَّهَ كَانَ عَلِيًّا كَبِيرًا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Men are responsible for women, caring for them, protecting them and providing for them, because Allah has given some more than others and because they spend from their wealth. Righteous women are obedient to Allah and protect their husbands' rights. If a wife is feared to be disobedient, deal with it first by advice, then by the steps the Shari'ah allows. If they obey you, do not wrong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خِفْتُمْ شِقَاقَ بَيْنِهِمَا فَابْعَثُواْ حَكَمًا مِّنْ أَهْلِهِ وَحَكَمًا مِّنْ أَهْلِهَآ إِن يُرِيدَآ إِصْلَٰحًا يُوَفِّقِ اللَّهُ بَيْنَهُمَآ إِنَّ اللَّهَ كَانَ عَلِيمًا خَبِيرًا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you fear a split between a husband and wife, send a judge from his family and a judge from hers. If they want to put things right, Allah will bring harmony between them. Allah is All-Knowing, All-Aware.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وَاعْبُدُواْ اللَّهَ وَلَا تُشْرِكُواْ بِهِ شَيْـًٔا وَبِالْوَٰلِدَيْنِ إِحْسَٰنًا وَبِذِي الْقُرْبَىٰ وَالْيَتَٰمَىٰ وَالْمَسَٰكِينِ وَالْجَارِ ذِي الْقُرْبَىٰ وَالْجَارِ الْجُنُبِ وَالصَّاحِبِ بِالْجَنبِ وَابْنِ السَّبِيلِ وَمَا مَلَكَتْ أَيْمَٰنُكُمْ إِنَّ اللَّهَ لَا يُحِبُّ مَن كَانَ مُخْتَالًا فَخُورًا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Worship Allah and associate nothing with Him. Be good to parents, relatives, orphans, the poor, the near neighbour and the far neighbour, the companion at your side, the traveller and those who serve you. Allah does not love the arrogant boaster,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37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يَبْخَلُونَ وَيَأْمُرُونَ النَّاسَ بِالْبُخْلِ وَيَكْتُمُونَ مَآ ءَاتَىٰهُمُ اللَّهُ مِن فَضْلِهِ وَأَعْتَدْنَا لِلْكَٰفِرِينَ عَذَابًا مُّهِينًا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are stingy, tell others to be stingy, and hide the favours Allah has given them. We have prepared a humiliating punishment for the disbelievers.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يُنفِقُونَ أَمْوَٰلَهُمْ رِئَآءَ النَّاسِ وَلَا يُؤْمِنُونَ بِاللَّهِ وَلَا بِالْيَوْمِ الْأخِرِ وَمَن يَكُنِ الشَّيْطَٰنُ لَهُ قَرِينًا فَسَآءَ قَرِينًا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spend their wealth to be seen by people, and do not believe in Allah or the Last Day. Whoever has Satan as a companion, what an evil companion!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وَمَاذَا عَلَيْهِمْ لَوْ ءَامَنُواْ بِاللَّهِ وَالْيَوْمِ الْأخِرِ وَأَنفَقُواْ مِمَّا رَزَقَهُمُ اللَّهُ وَكَانَ اللَّهُ بِهِمْ عَلِيمًا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 harm would it do them if they believed in Allah and the Last Day and spent from what Allah has provided them? Allah knows them well.</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لَا يَظْلِمُ مِثْقَالَ ذَرَّةٍ وَإِن تَكُ حَسَنَةً يُضَٰعِفْهَا وَيُؤْتِ مِن لَّدُنْهُ 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does not wrong anyone even the weight of an atom. If it is a good deed, He multiplies it and gives a great reward from Himself.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41 – 42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8" name="Text 6"/>
          <p:cNvSpPr txBox="1"/>
          <p:nvPr/>
        </p:nvSpPr>
        <p:spPr>
          <a:xfrm>
            <a:off x="1444752" y="1849374"/>
            <a:ext cx="10012680" cy="151333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فَكَيْفَ إِذَا جِئْنَا مِن كُلِّ أُمَّةٍ بِشَهِيدٍ وَجِئْنَا بِكَ عَلَىٰ هَـٰؤُلَآءِ شَهِيدًا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how will it be when We bring from every nation its prophet as a witness, and bring you, O Muhammad, as a witness over your nation? When Ibn Mas'ud recited it to the Prophet (peace be upon him), his eyes filled with tears (Bukhari).</a:t>
            </a:r>
            <a:endParaRPr lang="en-US" sz="3000" dirty="0"/>
          </a:p>
        </p:txBody>
      </p:sp>
      <p:sp>
        <p:nvSpPr>
          <p:cNvPr id="9" name="Shape 7"/>
          <p:cNvSpPr/>
          <p:nvPr/>
        </p:nvSpPr>
        <p:spPr>
          <a:xfrm>
            <a:off x="1444752" y="3550158"/>
            <a:ext cx="8641080" cy="0"/>
          </a:xfrm>
          <a:prstGeom prst="line">
            <a:avLst/>
          </a:prstGeom>
          <a:noFill/>
          <a:ln w="9525">
            <a:solidFill>
              <a:schemeClr val="accent2"/>
            </a:solidFill>
            <a:prstDash val="dash"/>
          </a:ln>
        </p:spPr>
      </p:sp>
      <p:sp>
        <p:nvSpPr>
          <p:cNvPr id="10" name="Shape 8"/>
          <p:cNvSpPr/>
          <p:nvPr/>
        </p:nvSpPr>
        <p:spPr>
          <a:xfrm>
            <a:off x="713232" y="3783330"/>
            <a:ext cx="548640" cy="548640"/>
          </a:xfrm>
          <a:prstGeom prst="star8">
            <a:avLst/>
          </a:prstGeom>
          <a:solidFill>
            <a:schemeClr val="accent2"/>
          </a:solidFill>
          <a:ln/>
        </p:spPr>
      </p:sp>
      <p:sp>
        <p:nvSpPr>
          <p:cNvPr id="11" name="Shape 9"/>
          <p:cNvSpPr/>
          <p:nvPr/>
        </p:nvSpPr>
        <p:spPr>
          <a:xfrm>
            <a:off x="822960" y="389305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8333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13" name="Text 11"/>
          <p:cNvSpPr txBox="1"/>
          <p:nvPr/>
        </p:nvSpPr>
        <p:spPr>
          <a:xfrm>
            <a:off x="1444752" y="376504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يَوْمَئِذٍ يَوَدُّ الَّذِينَ كَفَرُواْ وَعَصَوُاْ الرَّسُولَ لَوْ تُسَوَّىٰ بِهِمُ الْأَرْضُ وَلَا يَكْتُمُونَ اللَّهَ حَدِيثًا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the disbelievers who disobeyed the Messenger will wish they were dust levelled with the earth, and they will not be able to hide anything from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Tayammum; People of the Book</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5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43 – 57</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An-Nisa'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'A'ishah (may Allah be pleased with her) went on a journey with the Prophet (peace be upon him) and lost her necklace. They stayed to search for it with no water, so Allah revealed the verse of tayammum. Usayd ibn Hudayr said: This is not your first blessing, O family of Abu Bakr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Forbidding prayer while intoxicated (before wine was forbidden), the ruling of tayammum, exposing how some of the People of the Book changed their scripture, and that Allah does not forgive shirk.</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تَقْرَبُواْ الصَّلَوٰةَ وَأَنتُمْ سُكَٰرَىٰ حَتَّىٰ تَعْلَمُواْ مَا تَقُولُونَ وَلَا جُنُبًا إِلَّا عَابِرِي سَبِيلٍ حَتَّىٰ تَغْتَسِلُواْ وَإِن كُنتُم مَّرْضَىٰ أَوْ عَلَىٰ سَفَرٍ أَوْ جَآءَ أَحَدٌ مِّنكُم مِّنَ الْغَآئِطِ أَوْ لَٰمَسْتُمُ النِّسَآءَ فَلَمْ تَجِدُواْ مَآءً فَتَيَمَّمُواْ صَعِيدًا طَيِّبًا فَامْسَحُواْ بِوُجُوهِكُمْ وَأَيْدِيكُمْ إِنَّ اللَّهَ كَانَ عَفُوًّا غَفُورًا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come near prayer while intoxicated until you know what you are saying (this was before wine was forbidden), nor while in a state needing a full bath until you bathe. If you are ill, travelling or cannot find water, do tayammum with clean earth: wipe your faces and hands.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44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أُوتُواْ نَصِيبًا مِّنَ الْكِتَٰبِ يَشْتَرُونَ الضَّلَٰلَةَ وَيُرِيدُونَ أَن تَضِلُّواْ السَّبِيلَ</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those given a share of the Book choosing misguidance and wanting you to lose the way?</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وَاللَّهُ أَعْلَمُ بِأَعْدَآئِكُمْ وَكَفَىٰ بِاللَّهِ وَلِيًّا وَكَفَىٰ بِاللَّهِ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knows your enemies best. Allah is enough as a Protector and enough as a Helper.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الَّذِينَ هَادُواْ يُحَرِّفُونَ الْكَلِمَ عَن مَّوَاضِعِهِ وَيَقُولُونَ سَمِعْنَا وَعَصَيْنَا وَاسْمَعْ غَيْرَ مُسْمَعٍ وَرَٰعِنَا لَيًّا بِأَلْسِنَتِهِمْ وَطَعْنًا فِي الدِّينِ وَلَوْ أَنَّهُمْ قَالُواْ سَمِعْنَا وَأَطَعْنَا وَاسْمَعْ وَانظُرْنَا لَكَانَ خَيْرًا لَّهُمْ وَأَقْوَمَ وَلَٰكِن لَّعَنَهُمُ اللَّهُ بِكُفْرِهِمْ فَلَا يُؤْمِنُونَ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the Jews are people who twist Allah's words from their meaning and say to the Prophet (peace be upon him): We hear and we disobey, and twist their tongues saying "Ra'ina" as an insult. If they had said: We hear and obey, and give us time, it would have been better for them, but Allah cursed them for their disbelief.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أُوتُواْ الْكِتَٰبَ ءَامِنُواْ بِمَا نَزَّلْنَا مُصَدِّقًا لِّمَا مَعَكُم مِّن قَبْلِ أَن نَّطْمِسَ وُجُوهًا فَنَرُدَّهَا عَلَىٰ أَدْبَارِهَآ أَوْ نَلْعَنَهُمْ كَمَا لَعَنَّآ أَصْحَٰبَ السَّبْتِ وَكَانَ أَمْرُ اللَّهِ مَفْعُولًا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of the Book, believe in the Qur'an, which confirms what you have, before We wipe out faces and turn them backwards, or curse you as We cursed the people of the Sabbath. Allah's command is always carried out.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لَا يَغْفِرُ أَن يُشْرَكَ بِهِ وَيَغْفِرُ مَا دُونَ ذَٰلِكَ لِمَن يَشَآءُ وَمَن يُشْرِكْ بِاللَّهِ فَقَدِ افْتَرَىٰ إِثْمًا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does not forgive one who dies associating partners with Him, but He forgives anything less than that for whom He wills. Whoever associates partners with Allah has made up a tremendous sin.</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يُزَكُّونَ أَنفُسَهُم بَلِ اللَّهُ يُزَكِّي مَن يَشَآءُ وَلَا يُظْلَمُونَ فَتِيلًا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those who praise themselves and claim to be pure? Rather, Allah purifies whom He wills, and they will not be wronged even as much as the thread in a date stone.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انظُرْ كَيْفَ يَفْتَرُونَ عَلَى اللَّهِ الْكَذِبَ وَكَفَىٰ بِهِ إِثْمًا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Look how they make up lies about Allah; that alone is a clear sin.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أُوتُواْ نَصِيبًا مِّنَ الْكِتَٰبِ يُؤْمِنُونَ بِالْجِبْتِ وَالطَّـٰغُوتِ وَيَقُولُونَ لِلَّذِينَ كَفَرُواْ هَـٰؤُلَآءِ أَهْدَىٰ مِنَ الَّذِينَ ءَامَنُواْ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those given a share of the Book believing in magic and idols, and saying to the idol-worshippers: You are better guided than the believers?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لَعَنَهُمُ اللَّهُ وَمَن يَلْعَنِ اللَّهُ فَلَن تَجِدَ لَهُ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whom Allah has driven away from His mercy, and whoever Allah drives away, you will find no helper for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لَهُمْ نَصِيبٌ مِّنَ الْمُلْكِ فَإِذًا لَّا يُؤْتُونَ النَّاسَ نَقِيرًا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have a share of the kingdom? If they did, they would not give people even the tiny dent in a date stone, because they are so stingy.</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 يَحْسُدُونَ النَّاسَ عَلَىٰ مَآ ءَاتَىٰهُمُ اللَّهُ مِن فَضْلِهِ فَقَدْ ءَاتَيْنَآ ءَالَ إِبْرَٰهِيمَ الْكِتَٰبَ وَالْحِكْمَةَ وَءَاتَيْنَٰهُم مُّلْكًا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Or do they envy the Prophet (peace be upon him) and the believers for what Allah has given them from His favour? We gave the family of Ibrahim the Book, wisdom and a great kingdom.</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فَمِنْهُم مَّنْ ءَامَنَ بِهِ وَمِنْهُم مَّن صَدَّ عَنْهُ وَكَفَىٰ بِجَهَنَّمَ سَعِيرًا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Some of them believed in it and some turned away from it, and Hell is enough as a blazing Fire.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بِـَٔايَٰتِنَا سَوْفَ نُصْلِيهِمْ نَارًا كُلَّمَا نَضِجَتْ جُلُودُهُم بَدَّلْنَٰهُمْ جُلُودًا غَيْرَهَا لِيَذُوقُواْ الْعَذَابَ إِنَّ اللَّهَ كَانَ عَزِيزًا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in Our verses, We will put them into a Fire. Whenever their skins are burned, We will replace them with new skins so they keep feeling the pain of punishment. Allah is Almighty, All-Wise.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سَنُدْخِلُهُمْ جَنَّـٰتٍ تَجْرِي مِن تَحْتِهَا الْأَنْهَٰرُ خَٰلِدِينَ فِيهَآ أَبَدًا لَّهُمْ فِيهَآ أَزْوَٰجٌ مُّطَهَّرَةٌ وَنُدْخِلُهُمْ ظِلًّا ظَلِيلًا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those who believe and do good deeds, We will admit them to Gardens with rivers flowing beneath them, staying there forever. They will have pure spouses there, and We will admit them to lasting shade.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Trusts and Obedience</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6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58 – 70</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An-Nisa'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Az-Zubayr ibn Al-'Awwam and a man from the Ansar argued over water for their palm trees. The Prophet (peace be upon him) judged for Az-Zubayr, and the Ansari became angry, so this was revealed: “But no, by your Lord, they will not truly believe until they make you judge in their disputes” (Bukhari).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command to return trusts and judge justly, to obey Allah, His Messenger and those in authority, to refer disputes to the Qur'an and Sunnah, and the virtue of those who obey Allah and His Messenger.</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يَأْمُرُكُمْ أَن تُؤَدُّواْ الْأَمَٰنَٰتِ إِلَىٰ أَهْلِهَا وَإِذَا حَكَمْتُم بَيْنَ النَّاسِ أَن تَحْكُمُواْ بِالْعَدْلِ إِنَّ اللَّهَ نِعِمَّا يَعِظُكُم بِهِ إِنَّ اللَّهَ كَانَ سَمِيعًا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commands you to return trusts to their owners, and when you judge between people, to judge with justice. How excellent is what Allah advises you! Ibn Kathir mentions it was revealed when the Prophet (peace be upon him) returned the key of the Ka'bah to 'Uthman ibn Talhah.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أَطِيعُواْ اللَّهَ وَأَطِيعُواْ الرَّسُولَ وَأُوْلِي الْأَمْرِ مِنكُمْ فَإِن تَنَٰزَعْتُمْ فِي شَيْءٍ فَرُدُّوهُ إِلَى اللَّهِ وَالرَّسُولِ إِن كُنتُمْ تُؤْمِنُونَ بِاللَّهِ وَالْيَوْمِ الْأخِرِ ذَٰلِكَ خَيْرٌ وَأَحْسَنُ تَأْوِيلًا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obey Allah, obey the Messenger, and obey those in authority and the scholars in what is not sinful. If you disagree about anything, refer it to the Qur'an and the Sunnah. That is better and has the best outcome.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يَزْعُمُونَ أَنَّهُمْ ءَامَنُواْ بِمَآ أُنزِلَ إِلَيْكَ وَمَآ أُنزِلَ مِن قَبْلِكَ يُرِيدُونَ أَن يَتَحَاكَمُواْ إِلَى الطَّـٰغُوتِ وَقَدْ أُمِرُواْ أَن يَكْفُرُواْ بِهِ وَيُرِيدُ الشَّيْطَٰنُ أَن يُضِلَّهُمْ ضَلَٰلًا بَعِيدًا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the hypocrites who claim to believe, yet want to go for judgement to something other than Allah's law, though they were commanded to reject it? Satan wants to lead them far astray.</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قِيلَ لَهُمْ تَعَالَوْاْ إِلَىٰ مَآ أَنزَلَ اللَّهُ وَإِلَى الرَّسُولِ رَأَيْتَ الْمُنَٰفِقِينَ يَصُدُّونَ عَنكَ صُدُودًا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they are told: Come to what Allah has sent down and to the Messenger, you see the hypocrites turning away from you completely.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62 – 63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فَكَيْفَ إِذَآ أَصَٰبَتْهُم مُّصِيبَةٌ بِمَا قَدَّمَتْ أَيْدِيهِمْ ثُمَّ جَآءُوكَ يَحْلِفُونَ بِاللَّهِ إِنْ أَرَدْنَآ إِلَّآ إِحْسَٰنًا وَتَوْفِيقًا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how will it be when a disaster strikes them because of their sins, then they come to you swearing: We only wanted to do good and bring the two sides together?</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يَعْلَمُ اللَّهُ مَا فِي قُلُوبِهِمْ فَأَعْرِضْ عَنْهُمْ وَعِظْهُمْ وَقُل لَّهُمْ فِي أَنفُسِهِمْ قَوْلًا بَلِيغًا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knows the hypocrisy in their hearts, so turn away from them, advise them, and speak to them words that reach their hearts.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64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أَرْسَلْنَا مِن رَّسُولٍ إِلَّا لِيُطَاعَ بِإِذْنِ اللَّهِ وَلَوْ أَنَّهُمْ إِذ ظَّلَمُواْ أَنفُسَهُمْ جَآءُوكَ فَاسْتَغْفَرُواْ اللَّهَ وَاسْتَغْفَرَ لَهُمُ الرَّسُولُ لَوَجَدُواْ اللَّهَ تَوَّابًا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send any messenger except to be obeyed by Allah's permission. If, when they wronged themselves, they had come to you, asked Allah's forgiveness, and the Messenger had asked forgiveness for them, they would have found Allah Accepting of repentance, Most Merciful.</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وَرَبِّكَ لَا يُؤْمِنُونَ حَتَّىٰ يُحَكِّمُوكَ فِيمَا شَجَرَ بَيْنَهُمْ ثُمَّ لَا يَجِدُواْ فِي أَنفُسِهِمْ حَرَجًا مِّمَّا قَضَيْتَ وَيُسَلِّمُواْ تَسْلِيمًا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no, by your Lord, they will not truly believe until they make you judge in their disputes, then find no discomfort in themselves about your judgement, and submit to it completely.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38760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أَنَّا كَتَبْنَا عَلَيْهِمْ أَنِ اقْتُلُواْ أَنفُسَكُمْ أَوِ اخْرُجُواْ مِن دِيَٰرِكُم مَّا فَعَلُوهُ إِلَّا قَلِيلٌ مِّنْهُمْ وَلَوْ أَنَّهُمْ فَعَلُواْ مَا يُوعَظُونَ بِهِ لَكَانَ خَيْرًا لَّهُمْ وَأَشَدَّ تَثْبِيتًا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had commanded them to kill themselves or leave their homes, only a few of them would have done it. If they had done what they were advised, it would have been better for them and made their faith firmer.</a:t>
            </a:r>
            <a:endParaRPr lang="en-US" sz="3000" dirty="0"/>
          </a:p>
        </p:txBody>
      </p:sp>
      <p:sp>
        <p:nvSpPr>
          <p:cNvPr id="9" name="Shape 7"/>
          <p:cNvSpPr/>
          <p:nvPr/>
        </p:nvSpPr>
        <p:spPr>
          <a:xfrm>
            <a:off x="1444752" y="3584448"/>
            <a:ext cx="8641080" cy="0"/>
          </a:xfrm>
          <a:prstGeom prst="line">
            <a:avLst/>
          </a:prstGeom>
          <a:noFill/>
          <a:ln w="9525">
            <a:solidFill>
              <a:schemeClr val="accent2"/>
            </a:solidFill>
            <a:prstDash val="dash"/>
          </a:ln>
        </p:spPr>
      </p:sp>
      <p:sp>
        <p:nvSpPr>
          <p:cNvPr id="10" name="Shape 8"/>
          <p:cNvSpPr/>
          <p:nvPr/>
        </p:nvSpPr>
        <p:spPr>
          <a:xfrm>
            <a:off x="713232" y="3765042"/>
            <a:ext cx="548640" cy="548640"/>
          </a:xfrm>
          <a:prstGeom prst="star8">
            <a:avLst/>
          </a:prstGeom>
          <a:solidFill>
            <a:schemeClr val="accent2"/>
          </a:solidFill>
          <a:ln/>
        </p:spPr>
      </p:sp>
      <p:sp>
        <p:nvSpPr>
          <p:cNvPr id="11" name="Shape 9"/>
          <p:cNvSpPr/>
          <p:nvPr/>
        </p:nvSpPr>
        <p:spPr>
          <a:xfrm>
            <a:off x="822960" y="387477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7650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374675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لَّأتَيْنَٰهُم مِّن لَّدُنَّآ 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then We would have given them a great reward from Us,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وَلَهَدَيْنَٰهُمْ صِرَٰطًا مُّسْتَقِيمًا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guided them to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يُطِعِ اللَّهَ وَالرَّسُولَ فَأُوْلَـٰئِكَ مَعَ الَّذِينَ أَنْعَمَ اللَّهُ عَلَيْهِم مِّنَ النَّبِيِّـنَ وَالصِّدِّيقِينَ وَالشُّهَدَآءِ وَالصَّـٰلِحِينَ وَحَسُنَ أُوْلَـٰئِكَ رَفِيقًا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obeys Allah and the Messenger will be in Paradise with those Allah has blessed: the prophets, the truthful, the martyrs and the righteous. What excellent companions they are!</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الْفَضْلُ مِنَ اللَّهِ وَكَفَىٰ بِاللَّهِ عَلِيمًا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 favour from Allah, and Allah is enough as the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Jihad, Hijrah and Fear Prayer</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7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71 – 104</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An-Nisa'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When “Not equal are those believers who stay behind... and those who strive in the way of Allah” was revealed, Ibn Umm Maktum came and complained of his blindness, so Allah revealed: “except those with a disability” (Bukhari).</a:t>
            </a:r>
            <a:endParaRPr lang="en-US" sz="17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Encouraging jihad and helping the oppressed, exposing the hypocrites, the manners of returning greetings, the sanctity of a believer's life, the virtue of hijrah, shortening prayer, and the prayer in times of fear.</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71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خُذُواْ حِذْرَكُمْ فَانفِرُواْ ثُبَاتٍ أَوِ انفِرُواْ جَمِيعًا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take your precautions against your enemy, and go out for jihad in separate groups or all together.</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مِنكُمْ لَمَن لَّيُبَطِّئَنَّ فَإِنْ أَصَٰبَتْكُم مُّصِيبَةٌ قَالَ قَدْ أَنْعَمَ اللَّهُ عَلَيَّ إِذْ لَمْ أَكُن مَّعَهُمْ شَهِيدًا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Among you is one who lags behind. If a disaster strikes you, he says happily: Allah has blessed me that I was not there with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وَلَئِنْ أَصَٰبَكُمْ فَضْلٌ مِّنَ اللَّهِ لَيَقُولَنَّ كَأَن لَّمْ تَكُن بَيْنَكُمْ وَبَيْنَهُ مَوَدَّةٌ يَٰلَيْتَنِي كُنتُ مَعَهُمْ فَأَفُوزَ فَوْزًا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if victory and war gains come to you, he will say, as if he were not one of you: I wish I had been with them so I could have won a great prize.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فَلْيُقَٰتِلْ فِي سَبِيلِ اللَّهِ الَّذِينَ يَشْرُونَ الْحَيَوٰةَ الدُّنْيَا بِالْأخِرَةِ وَمَن يُقَٰتِلْ فِي سَبِيلِ اللَّهِ فَيُقْتَلْ أَوْ يَغْلِبْ فَسَوْفَ نُؤْتِيهِ 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let those believers fight in the way of Allah who sell this world for the Hereafter. Whoever fights in the way of Allah and is killed or wins, We will give him a great reward.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لَكُمْ لَا تُقَٰتِلُونَ فِي سَبِيلِ اللَّهِ وَالْمُسْتَضْعَفِينَ مِنَ الرِّجَالِ وَالنِّسَآءِ وَالْوِلْدَٰنِ الَّذِينَ يَقُولُونَ رَبَّنَآ أَخْرِجْنَا مِنْ هَٰذِهِ الْقَرْيَةِ الظَّالِمِ أَهْلُهَا وَاجْعَل لَّنَا مِن لَّدُنكَ وَلِيًّا وَاجْعَل لَّنَا مِن لَّدُنكَ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do you not fight in the way of Allah, and to rescue the oppressed men, women and children who pray: Our Lord, take us out of this town of wrongdoing people (Makkah), and give us from You a protector and a helper?</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ءَامَنُواْ يُقَٰتِلُونَ فِي سَبِيلِ اللَّهِ وَالَّذِينَ كَفَرُواْ يُقَٰتِلُونَ فِي سَبِيلِ الطَّـٰغُوتِ فَقَٰتِلُواْ أَوْلِيَآءَ الشَّيْطَٰنِ إِنَّ كَيْدَ الشَّيْطَٰنِ كَانَ ضَعِيفًا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believers fight in the way of Allah, and the disbelievers fight in the way of false gods. So fight the friends of Satan; Satan's plotting is always weak.</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إِلَى الَّذِينَ قِيلَ لَهُمْ كُفُّواْ أَيْدِيَكُمْ وَأَقِيمُواْ الصَّلَوٰةَ وَءَاتُواْ الزَّكَوٰةَ فَلَمَّا كُتِبَ عَلَيْهِمُ الْقِتَالُ إِذَا فَرِيقٌ مِّنْهُمْ يَخْشَوْنَ النَّاسَ كَخَشْيَةِ اللَّهِ أَوْ أَشَدَّ خَشْيَةً وَقَالُواْ رَبَّنَا لِمَ كَتَبْتَ عَلَيْنَا الْقِتَالَ لَوْلَآ أَخَّرْتَنَآ إِلَىٰ أَجَلٍ قَرِيبٍ قُلْ مَتَٰعُ الدُّنْيَا قَلِيلٌ وَالْأخِرَةُ خَيْرٌ لِّمَنِ اتَّقَىٰ وَلَا تُظْلَمُونَ فَتِيلًا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not seen those who were told in Makkah: Hold back from fighting, perform the prayer and give the zakah? Then when fighting was prescribed in Madinah, a group of them feared people as they fear Allah, or even more. Say: The enjoyment of this world is little, and the Hereafter is better for whoever has taqwa.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أَيْنَمَا تَكُونُواْ يُدْرِككُّمُ الْمَوْتُ وَلَوْ كُنتُمْ فِي بُرُوجٍ مُّشَيَّدَةٍ وَإِن تُصِبْهُمْ حَسَنَةٌ يَقُولُواْ هَٰذِهِ مِنْ عِندِ اللَّهِ وَإِن تُصِبْهُمْ سَيِّئَةٌ يَقُولُواْ هَٰذِهِ مِنْ عِندِكَ قُلْ كُلٌّ مِّنْ عِندِ اللَّهِ فَمَالِ هَـٰؤُلَآءِ الْقَوْمِ لَا يَكَادُونَ يَفْقَهُونَ حَدِيثًا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Wherever you are, death will reach you, even in high towers. When something good happens to them they say: This is from Allah; and when something bad happens they say: This is because of you, O Muhammad. Say: All is from Allah. What is wrong with these people that they hardly understand?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79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أَصَابَكَ مِنْ حَسَنَةٍ فَمِنَ اللَّهِ وَمَآ أَصَابَكَ مِن سَيِّئَةٍ فَمِن نَّفْسِكَ وَأَرْسَلْنَٰكَ لِلنَّاسِ رَسُولًا وَكَفَىٰ بِاللَّهِ شَهِيدًا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Whatever good reaches you, O man, is from Allah's favour, and whatever harm reaches you is because of your own sins. We have sent you, O Muhammad, as a messenger to people, and Allah is enough as a Witness.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يُطِعِ الرَّسُولَ فَقَدْ أَطَاعَ اللَّهَ وَمَن تَوَلَّىٰ فَمَآ أَرْسَلْنَٰكَ عَلَيْهِمْ حَفِيظًا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obeys the Messenger has obeyed Allah, and whoever turns away, We have not sent you as a guard over them to hold them to account.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وَيَقُولُونَ طَاعَةٌ فَإِذَا بَرَزُواْ مِنْ عِندِكَ بَيَّتَ طَآئِفَةٌ مِّنْهُمْ غَيْرَ الَّذِي تَقُولُ وَاللَّهُ يَكْتُبُ مَا يُبَيِّتُونَ فَأَعْرِضْ عَنْهُمْ وَتَوَكَّلْ عَلَى اللَّهِ وَكَفَىٰ بِاللَّهِ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say: We obey you. But when they leave you, a group of them plan at night something other than what they said. Allah records what they plan. So turn away from them and put your trust in Allah; Allah is enough as a Guardian.</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أَفَلَا يَتَدَبَّرُونَ الْقُرْءَانَ وَلَوْ كَانَ مِنْ عِندِ غَيْرِ اللَّهِ لَوَجَدُواْ فِيهِ اخْتِلَٰفًا كَثِيرًا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they not reflect on the Qur'an? If it had been from other than Allah, they would have found in it many contradictions.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جَآءَهُمْ أَمْرٌ مِّنَ الْأَمْنِ أَوِ الْخَوْفِ أَذَاعُواْ بِهِ وَلَوْ رَدُّوهُ إِلَى الرَّسُولِ وَإِلَىٰ أُوْلِي الْأَمْرِ مِنْهُمْ لَعَلِمَهُ الَّذِينَ يَسْتَنبِطُونَهُ مِنْهُمْ وَلَوْلَا فَضْلُ اللَّهِ عَلَيْكُمْ وَرَحْمَتُهُ لَاتَّبَعْتُمُ الشَّيْطَٰنَ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news of safety or fear reaches them, they spread it. If they had referred it to the Messenger and those with knowledge and good judgement, those who can work out the truth would have known it. If not for Allah's favour and mercy on you, you would have followed Satan, except a few.</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84 – 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8" name="Text 6"/>
          <p:cNvSpPr txBox="1"/>
          <p:nvPr/>
        </p:nvSpPr>
        <p:spPr>
          <a:xfrm>
            <a:off x="1444752" y="157505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فَقَٰتِلْ فِي سَبِيلِ اللَّهِ لَا تُكَلَّفُ إِلَّا نَفْسَكَ وَحَرِّضِ الْمُؤْمِنِينَ عَسَى اللَّهُ أَن يَكُفَّ بَأْسَ الَّذِينَ كَفَرُواْ وَاللَّهُ أَشَدُّ بَأْسًا وَأَشَدُّ تَنكِيلًا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fight in the way of Allah; you are only responsible for yourself, and encourage the believers to fight. Perhaps Allah will hold back the might of the disbelievers. Allah is greater in might and more severe in punishment.</a:t>
            </a:r>
            <a:endParaRPr lang="en-US" sz="3000" dirty="0"/>
          </a:p>
        </p:txBody>
      </p:sp>
      <p:sp>
        <p:nvSpPr>
          <p:cNvPr id="9" name="Shape 7"/>
          <p:cNvSpPr/>
          <p:nvPr/>
        </p:nvSpPr>
        <p:spPr>
          <a:xfrm>
            <a:off x="1444752" y="3824478"/>
            <a:ext cx="8641080" cy="0"/>
          </a:xfrm>
          <a:prstGeom prst="line">
            <a:avLst/>
          </a:prstGeom>
          <a:noFill/>
          <a:ln w="9525">
            <a:solidFill>
              <a:schemeClr val="accent2"/>
            </a:solidFill>
            <a:prstDash val="dash"/>
          </a:ln>
        </p:spPr>
      </p:sp>
      <p:sp>
        <p:nvSpPr>
          <p:cNvPr id="10" name="Shape 8"/>
          <p:cNvSpPr/>
          <p:nvPr/>
        </p:nvSpPr>
        <p:spPr>
          <a:xfrm>
            <a:off x="713232" y="4057650"/>
            <a:ext cx="548640" cy="548640"/>
          </a:xfrm>
          <a:prstGeom prst="star8">
            <a:avLst/>
          </a:prstGeom>
          <a:solidFill>
            <a:schemeClr val="accent2"/>
          </a:solidFill>
          <a:ln/>
        </p:spPr>
      </p:sp>
      <p:sp>
        <p:nvSpPr>
          <p:cNvPr id="11" name="Shape 9"/>
          <p:cNvSpPr/>
          <p:nvPr/>
        </p:nvSpPr>
        <p:spPr>
          <a:xfrm>
            <a:off x="822960" y="416737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05765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3" name="Text 11"/>
          <p:cNvSpPr txBox="1"/>
          <p:nvPr/>
        </p:nvSpPr>
        <p:spPr>
          <a:xfrm>
            <a:off x="1444752" y="403936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يَشْفَعْ شَفَٰعَةً حَسَنَةً يَكُن لَّهُ نَصِيبٌ مِّنْهَا وَمَن يَشْفَعْ شَفَٰعَةً سَيِّئَةً يَكُن لَّهُ كِفْلٌ مِّنْهَا وَكَانَ اللَّهُ عَلَىٰ كُلِّ شَيْءٍ مُّقِيتًا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helps in a good cause will have a share of its reward, and whoever helps in an evil cause will have a share of its sin. Allah has power over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86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حُيِّيتُم بِتَحِيَّةٍ فَحَيُّواْ بِأَحْسَنَ مِنْهَآ أَوْ رُدُّوهَآ إِنَّ اللَّهَ كَانَ عَلَىٰ كُلِّ شَيْءٍ حَسِيبًا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someone greets you with salam, return the greeting with something better, or at least the same. Allah keeps account of everything.</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لَآ إِلَٰهَ إِلَّا هُوَ لَيَجْمَعَنَّكُمْ إِلَىٰ يَوْمِ الْقِيَٰمَةِ لَا رَيْبَ فِيهِ وَمَنْ أَصْدَقُ مِنَ اللَّهِ حَدِيثًا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there is no god worthy of worship but Him. He will surely gather you on the Day of Resurrection, about which there is no doubt. And whose word is more truthful than Allah's?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88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لَكُمْ فِي الْمُنَٰفِقِينَ فِئَتَيْنِ وَاللَّهُ أَرْكَسَهُم بِمَا كَسَبُواْ أَتُرِيدُونَ أَن تَهْدُواْ مَنْ أَضَلَّ اللَّهُ وَمَن يُضْلِلِ اللَّهُ فَلَن تَجِدَ لَهُ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are you, O believers, divided into two groups about the hypocrites, when Allah has turned them back to disbelief because of their deeds? Do you want to guide those whom Allah has left astray?</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وَدُّواْ لَوْ تَكْفُرُونَ كَمَا كَفَرُواْ فَتَكُونُونَ سَوَآءً فَلَا تَتَّخِذُواْ مِنْهُمْ أَوْلِيَآءَ حَتَّىٰ يُهَاجِرُواْ فِي سَبِيلِ اللَّهِ فَإِن تَوَلَّوْاْ فَخُذُوهُمْ وَاقْتُلُوهُمْ حَيْثُ وَجَدتُّمُوهُمْ وَلَا تَتَّخِذُواْ مِنْهُمْ وَلِيًّا وَلَا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wish you would disbelieve as they disbelieved so you would be the same. So do not take friends from among them until they emigrate in the way of Allah. If they turn away and fight you, then fight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يَصِلُونَ إِلَىٰ قَوْمٍ بَيْنَكُمْ وَبَيْنَهُم مِّيثَٰقٌ أَوْ جَآءُوكُمْ حَصِرَتْ صُدُورُهُمْ أَن يُقَٰتِلُوكُمْ أَوْ يُقَٰتِلُواْ قَوْمَهُمْ وَلَوْ شَآءَ اللَّهُ لَسَلَّطَهُمْ عَلَيْكُمْ فَلَقَٰتَلُوكُمْ فَإِنِ اعْتَزَلُوكُمْ فَلَمْ يُقَٰتِلُوكُمْ وَأَلْقَوْاْ إِلَيْكُمُ السَّلَمَ فَمَا جَعَلَ اللَّهُ لَكُمْ عَلَيْهِمْ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join a people with whom you have a treaty, or who come to you not wanting to fight you or their own people. If they keep away from you and offer peace, Allah gives you no way against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سَتَجِدُونَ ءَاخَرِينَ يُرِيدُونَ أَن يَأْمَنُوكُمْ وَيَأْمَنُواْ قَوْمَهُمْ كُلَّ مَا رُدُّواْ إِلَى الْفِتْنَةِ أُرْكِسُواْ فِيهَا فَإِن لَّمْ يَعْتَزِلُوكُمْ وَيُلْقُواْ إِلَيْكُمُ السَّلَمَ وَيَكُفُّواْ أَيْدِيَهُمْ فَخُذُوهُمْ وَاقْتُلُوهُمْ حَيْثُ ثَقِفْتُمُوهُمْ وَأُوْلَـٰئِكُمْ جَعَلْنَا لَكُمْ عَلَيْهِمْ سُلْطَٰنًا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find others who show you Islam to be safe from you, and show disbelief to their people to be safe from them. If they do not keep away from you and hold back their hands, then fight them. Against these We have given you a clear proof.</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92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72234"/>
            <a:ext cx="548640" cy="548640"/>
          </a:xfrm>
          <a:prstGeom prst="star8">
            <a:avLst/>
          </a:prstGeom>
          <a:solidFill>
            <a:schemeClr val="accent2"/>
          </a:solidFill>
          <a:ln/>
        </p:spPr>
      </p:sp>
      <p:sp>
        <p:nvSpPr>
          <p:cNvPr id="6" name="Shape 4"/>
          <p:cNvSpPr/>
          <p:nvPr/>
        </p:nvSpPr>
        <p:spPr>
          <a:xfrm>
            <a:off x="822960" y="198196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7223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853946"/>
            <a:ext cx="10012680" cy="370789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كَانَ لِمُؤْمِنٍ أَن يَقْتُلَ مُؤْمِنًا إِلَّا خَطَـًٔا وَمَن قَتَلَ مُؤْمِنًا خَطَـًٔا فَتَحْرِيرُ رَقَبَةٍ مُّؤْمِنَةٍ وَدِيَةٌ مُّسَلَّمَةٌ إِلَىٰ أَهْلِهِ إِلَّآ أَن يَصَّدَّقُواْ فَإِن كَانَ مِن قَوْمٍ عَدُوٍّ لَّكُمْ وَهُوَ مُؤْمِنٌ فَتَحْرِيرُ رَقَبَةٍ مُّؤْمِنَةٍ وَإِن كَانَ مِن قَوْمٍ بَيْنَكُمْ وَبَيْنَهُم مِّيثَٰقٌ فَدِيَةٌ مُّسَلَّمَةٌ إِلَىٰ أَهْلِهِ وَتَحْرِيرُ رَقَبَةٍ مُّؤْمِنَةٍ فَمَن لَّمْ يَجِدْ فَصِيَامُ شَهْرَيْنِ مُتَتَابِعَيْنِ تَوْبَةً مِّنَ اللَّهِ وَكَانَ اللَّهُ عَلِيمًا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believer should never kill a believer except by mistake. Whoever kills a believer by mistake must free a believing slave and pay compensation to his family. Whoever cannot find that must fast two months in a row, as repentance to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93 – 94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يَقْتُلْ مُؤْمِنًا مُّتَعَمِّدًا فَجَزَآؤُهُ جَهَنَّمُ خَٰلِدًا فِيهَا وَغَضِبَ اللَّهُ عَلَيْهِ وَلَعَنَهُ وَأَعَدَّ لَهُ عَذَابًا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kills a believer deliberately, his reward is Hell, staying in it forever. Allah is angry with him, curses him, and has prepared for him a great punishment.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إِذَا ضَرَبْتُمْ فِي سَبِيلِ اللَّهِ فَتَبَيَّنُواْ وَلَا تَقُولُواْ لِمَنْ أَلْقَىٰ إِلَيْكُمُ السَّلَٰمَ لَسْتَ مُؤْمِنًا تَبْتَغُونَ عَرَضَ الْحَيَوٰةِ الدُّنْيَا فَعِندَ اللَّهِ مَغَانِمُ كَثِيرَةٌ كَذَٰلِكَ كُنتُم مِّن قَبْلُ فَمَنَّ اللَّهُ عَلَيْكُمْ فَتَبَيَّنُواْ إِنَّ اللَّهَ كَانَ بِمَا تَعْمَلُونَ خَبِيرًا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when you go out for jihad, make sure, and do not say to someone who shows you Islam: You are not a believer, seeking worldly gains. With Allah are many gains. You were like that before, then Allah blessed you, so make sure.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95 – 96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8" name="Text 6"/>
          <p:cNvSpPr txBox="1"/>
          <p:nvPr/>
        </p:nvSpPr>
        <p:spPr>
          <a:xfrm>
            <a:off x="1444752" y="170535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يَسْتَوِي الْقَٰعِدُونَ مِنَ الْمُؤْمِنِينَ غَيْرُ أُوْلِي الضَّرَرِ وَالْمُجَٰهِدُونَ فِي سَبِيلِ اللَّهِ بِأَمْوَٰلِهِمْ وَأَنفُسِهِمْ فَضَّلَ اللَّهُ الْمُجَٰهِدِينَ بِأَمْوَٰلِهِمْ وَأَنفُسِهِمْ عَلَى الْقَٰعِدِينَ دَرَجَةً وَكُلًّا وَعَدَ اللَّهُ الْحُسْنَىٰ وَفَضَّلَ اللَّهُ الْمُجَٰهِدِينَ عَلَى الْقَٰعِدِينَ 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Not equal are those who stay behind from jihad without an excuse and those who strive with their wealth and lives. Allah has raised those who strive a degree above those who stay behind, yet to each Allah has promised Paradise.</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3" name="Text 11"/>
          <p:cNvSpPr txBox="1"/>
          <p:nvPr/>
        </p:nvSpPr>
        <p:spPr>
          <a:xfrm>
            <a:off x="1444752" y="471830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دَرَجَٰتٍ مِّنْهُ وَمَغْفِرَةً وَرَحْمَةً وَكَانَ اللَّهُ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Ranks from Him, forgiveness and mercy.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97 – 98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8" name="Text 6"/>
          <p:cNvSpPr txBox="1"/>
          <p:nvPr/>
        </p:nvSpPr>
        <p:spPr>
          <a:xfrm>
            <a:off x="1444752" y="143560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تَوَفَّىٰهُمُ الْمَلَـٰئِكَةُ ظَالِمِي أَنفُسِهِمْ قَالُواْ فِيمَ كُنتُمْ قَالُواْ كُنَّا مُسْتَضْعَفِينَ فِي الْأَرْضِ قَالُواْ أَلَمْ تَكُنْ أَرْضُ اللَّهِ وَٰسِعَةً فَتُهَاجِرُواْ فِيهَا فَأُوْلَـٰئِكَ مَأْوَىٰهُمْ جَهَنَّمُ وَسَآءَتْ مَصِيرًا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whose souls the angels take while they are wronging themselves by not emigrating, the angels will say: What state were you in? They will say: We were oppressed. The angels will say: Was Allah's earth not wide enough for you to emigrate? Their home will be Hell.</a:t>
            </a:r>
            <a:endParaRPr lang="en-US" sz="3000" dirty="0"/>
          </a:p>
        </p:txBody>
      </p:sp>
      <p:sp>
        <p:nvSpPr>
          <p:cNvPr id="9" name="Shape 7"/>
          <p:cNvSpPr/>
          <p:nvPr/>
        </p:nvSpPr>
        <p:spPr>
          <a:xfrm>
            <a:off x="1444752" y="4229100"/>
            <a:ext cx="8641080" cy="0"/>
          </a:xfrm>
          <a:prstGeom prst="line">
            <a:avLst/>
          </a:prstGeom>
          <a:noFill/>
          <a:ln w="9525">
            <a:solidFill>
              <a:schemeClr val="accent2"/>
            </a:solidFill>
            <a:prstDash val="dash"/>
          </a:ln>
        </p:spPr>
      </p:sp>
      <p:sp>
        <p:nvSpPr>
          <p:cNvPr id="10" name="Shape 8"/>
          <p:cNvSpPr/>
          <p:nvPr/>
        </p:nvSpPr>
        <p:spPr>
          <a:xfrm>
            <a:off x="713232" y="4457700"/>
            <a:ext cx="548640" cy="548640"/>
          </a:xfrm>
          <a:prstGeom prst="star8">
            <a:avLst/>
          </a:prstGeom>
          <a:solidFill>
            <a:schemeClr val="accent2"/>
          </a:solidFill>
          <a:ln/>
        </p:spPr>
      </p:sp>
      <p:sp>
        <p:nvSpPr>
          <p:cNvPr id="11" name="Shape 9"/>
          <p:cNvSpPr/>
          <p:nvPr/>
        </p:nvSpPr>
        <p:spPr>
          <a:xfrm>
            <a:off x="822960" y="456742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45770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13" name="Text 11"/>
          <p:cNvSpPr txBox="1"/>
          <p:nvPr/>
        </p:nvSpPr>
        <p:spPr>
          <a:xfrm>
            <a:off x="1444752" y="4439412"/>
            <a:ext cx="10012680" cy="154076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الْمُسْتَضْعَفِينَ مِنَ الرِّجَالِ وَالنِّسَآءِ وَالْوِلْدَٰنِ لَا يَسْتَطِيعُونَ حِيلَةً وَلَا يَهْتَدُونَ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the truly oppressed men, women and children who have no means and know no way out.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99 –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8" name="Text 6"/>
          <p:cNvSpPr txBox="1"/>
          <p:nvPr/>
        </p:nvSpPr>
        <p:spPr>
          <a:xfrm>
            <a:off x="1444752" y="170535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فَأُوْلَـٰئِكَ عَسَى اللَّهُ أَن يَعْفُوَ عَنْهُمْ وَكَانَ اللَّهُ عَفُوًّا غَفُورًا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These, it is hoped, Allah will pardon. Allah is Pardoning, Forgiving.</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3" name="Text 11"/>
          <p:cNvSpPr txBox="1"/>
          <p:nvPr/>
        </p:nvSpPr>
        <p:spPr>
          <a:xfrm>
            <a:off x="1444752" y="309981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يُهَاجِرْ فِي سَبِيلِ اللَّهِ يَجِدْ فِي الْأَرْضِ مُرَٰغَمًا كَثِيرًا وَسَعَةً وَمَن يَخْرُجْ مِن بَيْتِهِ مُهَاجِرًا إِلَى اللَّهِ وَرَسُولِهِ ثُمَّ يُدْرِكْهُ الْمَوْتُ فَقَدْ وَقَعَ أَجْرُهُ عَلَى اللَّهِ وَكَانَ اللَّهُ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emigrates in the way of Allah will find on earth many places of refuge and plenty of provision. Whoever leaves his home emigrating, then death reaches him, his reward is assured with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ضَرَبْتُمْ فِي الْأَرْضِ فَلَيْسَ عَلَيْكُمْ جُنَاحٌ أَن تَقْصُرُواْ مِنَ الصَّلَوٰةِ إِنْ خِفْتُمْ أَن يَفْتِنَكُمُ الَّذِينَ كَفَرُواْ إِنَّ الْكَٰفِرِينَ كَانُواْ لَكُمْ عَدُوًّا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travel, there is no blame on you if you shorten the four-unit prayers if you fear harm from the disbelievers. Allah made shortening a permission in every journey, as the Sunnah explained.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102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02536"/>
            <a:ext cx="548640" cy="548640"/>
          </a:xfrm>
          <a:prstGeom prst="star8">
            <a:avLst/>
          </a:prstGeom>
          <a:solidFill>
            <a:schemeClr val="accent2"/>
          </a:solidFill>
          <a:ln/>
        </p:spPr>
      </p:sp>
      <p:sp>
        <p:nvSpPr>
          <p:cNvPr id="6" name="Shape 4"/>
          <p:cNvSpPr/>
          <p:nvPr/>
        </p:nvSpPr>
        <p:spPr>
          <a:xfrm>
            <a:off x="822960" y="211226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025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8" name="Text 6"/>
          <p:cNvSpPr txBox="1"/>
          <p:nvPr/>
        </p:nvSpPr>
        <p:spPr>
          <a:xfrm>
            <a:off x="1444752" y="1984248"/>
            <a:ext cx="10012680" cy="344728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كُنتَ فِيهِمْ فَأَقَمْتَ لَهُمُ الصَّلَوٰةَ فَلْتَقُمْ طَآئِفَةٌ مِّنْهُم مَّعَكَ وَلْيَأْخُذُواْ أَسْلِحَتَهُمْ فَإِذَا سَجَدُواْ فَلْيَكُونُواْ مِن وَرَآئِكُمْ وَلْتَأْتِ طَآئِفَةٌ أُخْرَىٰ لَمْ يُصَلُّواْ فَلْيُصَلُّواْ مَعَكَ وَلْيَأْخُذُواْ حِذْرَهُمْ وَأَسْلِحَتَهُمْ وَدَّ الَّذِينَ كَفَرُواْ لَوْ تَغْفُلُونَ عَنْ أَسْلِحَتِكُمْ وَأَمْتِعَتِكُمْ فَيَمِيلُونَ عَلَيْكُم مَّيْلَةً وَٰحِدَةً وَلَا جُنَاحَ عَلَيْكُمْ إِن كَانَ بِكُمْ أَذًى مِّن مَّطَرٍ أَوْ كُنتُم مَّرْضَىٰ أَن تَضَعُواْ أَسْلِحَتَكُمْ وَخُذُواْ حِذْرَكُمْ إِنَّ اللَّهَ أَعَدَّ لِلْكَٰفِرِينَ عَذَابًا مُّهِينًا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are with them in battle and lead them in prayer, let one group pray with you carrying their weapons while the other guards them, then they switch. This is the "prayer of fear".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103 – 104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فَإِذَا قَضَيْتُمُ الصَّلَوٰةَ فَاذْكُرُواْ اللَّهَ قِيَٰمًا وَقُعُودًا وَعَلَىٰ جُنُوبِكُمْ فَإِذَا اطْمَأْنَنتُمْ فَأَقِيمُواْ الصَّلَوٰةَ إِنَّ الصَّلَوٰةَ كَانَتْ عَلَى الْمُؤْمِنِينَ كِتَٰبًا مَّوْقُوتًا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 have finished the prayer, remember Allah standing, sitting and lying down. When you are safe again, perform the prayer fully. Prayer is an obligation on the believers at fixed times.</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تَهِنُواْ فِي ابْتِغَآءِ الْقَوْمِ إِن تَكُونُواْ تَأْلَمُونَ فَإِنَّهُمْ يَأْلَمُونَ كَمَا تَأْلَمُونَ وَتَرْجُونَ مِنَ اللَّهِ مَا لَا يَرْجُونَ وَكَانَ اللَّهُ عَلِيمًا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lose heart in pursuing your enemy. If you are suffering, they are suffering as you are, but you hope from Allah for a reward that they do not hope for.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Justice; Warning Against Shirk</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8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105 – 126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An-Nisa'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Ibn Kathir mentions that a man from the Ansar called Tu'mah ibn Ubayriq stole a shield of armour, then blamed an innocent man for it, and his people came to defend him before the Prophet (peace be upon him). So Allah revealed: “And do not be an advocate for the traitors” (Tirmidhi).</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The command to judge justly and not defend traitors, a warning against blaming the innocent, the virtue of charity and making peace between people, and a warning against shirk and Satan's whispers.</a:t>
            </a:r>
            <a:endParaRPr lang="en-US" sz="17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105 – 107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أَنزَلْنَآ إِلَيْكَ الْكِتَٰبَ بِالْحَقِّ لِتَحْكُمَ بَيْنَ النَّاسِ بِمَآ أَرَىٰكَ اللَّهُ وَلَا تَكُن لِّلْخَآئِنِينَ خَصِيمًا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down the Qur'an to you with the truth so you may judge between people by what Allah has taught you, so do not be an advocate for the traitors.</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وَاسْتَغْفِرِ اللَّهَ إِنَّ اللَّهَ كَانَ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ask Allah's forgiveness; Allah is Forgiving, Most Merciful.</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تُجَٰدِلْ عَنِ الَّذِينَ يَخْتَانُونَ أَنفُسَهُمْ إِنَّ اللَّهَ لَا يُحِبُّ مَن كَانَ خَوَّانًا أَثِيمًا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do not argue on behalf of those who betray themselves; Allah does not love a sinful traitor.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108 – 109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يَسْتَخْفُونَ مِنَ النَّاسِ وَلَا يَسْتَخْفُونَ مِنَ اللَّهِ وَهُوَ مَعَهُمْ إِذْ يُبَيِّتُونَ مَا لَا يَرْضَىٰ مِنَ الْقَوْلِ وَكَانَ اللَّهُ بِمَا يَعْمَلُونَ مُحِيطًا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hide from people but cannot hide from Allah, who is with them when they plan at night words He does not approve of. Allah surrounds what they do.</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هَـٰأَنتُمْ هَـٰؤُلَآءِ جَٰدَلْتُمْ عَنْهُمْ فِي الْحَيَوٰةِ الدُّنْيَا فَمَن يُجَٰدِلُ اللَّهَ عَنْهُمْ يَوْمَ الْقِيَٰمَةِ أَم مَّن يَكُونُ عَلَيْهِمْ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argued for them in this world, but who will argue for them before Allah on the Day of Resurrection? Or who will be their defender?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110 – 112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يَعْمَلْ سُوءًا أَوْ يَظْلِمْ نَفْسَهُ ثُمَّ يَسْتَغْفِرِ اللَّهَ يَجِدِ اللَّهَ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does evil or wrongs himself, then asks Allah's forgiveness, will find Allah Forgiving, Most Merciful.</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يَكْسِبْ إِثْمًا فَإِنَّمَا يَكْسِبُهُ عَلَىٰ نَفْسِهِ وَكَانَ اللَّهُ عَلِيمًا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commits a sin only harms himself, and Allah is All-Knowing, All-Wise.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يَكْسِبْ خَطِيـَٔةً أَوْ إِثْمًا ثُمَّ يَرْمِ بِهِ بَرِيـًٔا فَقَدِ احْتَمَلَ بُهْتَٰنًا وَإِثْمًا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commits a mistake or sin and then blames it on an innocent person has taken on a lie and a clear sin.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فَضْلُ اللَّهِ عَلَيْكَ وَرَحْمَتُهُ لَهَمَّت طَّآئِفَةٌ مِّنْهُمْ أَن يُضِلُّوكَ وَمَا يُضِلُّونَ إِلَّآ أَنفُسَهُمْ وَمَا يَضُرُّونَكَ مِن شَيْءٍ وَأَنزَلَ اللَّهُ عَلَيْكَ الْكِتَٰبَ وَالْحِكْمَةَ وَعَلَّمَكَ مَا لَمْ تَكُن تَعْلَمُ وَكَانَ فَضْلُ اللَّهِ عَلَيْكَ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not for Allah's favour and mercy on you, a group of them wanted to turn you away from judging with the truth. Allah sent down to you the Book and wisdom, and taught you what you did not know. Allah's favour on you is great.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114 – 115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خَيْرَ فِي كَثِيرٍ مِّن نَّجْوَىٰهُمْ إِلَّا مَنْ أَمَرَ بِصَدَقَةٍ أَوْ مَعْرُوفٍ أَوْ إِصْلَٰحٍ بَيْنَ النَّاسِ وَمَن يَفْعَلْ ذَٰلِكَ ابْتِغَآءَ مَرْضَاتِ اللَّهِ فَسَوْفَ نُؤْتِيهِ 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 good in much of people's secret talk, except one who commands charity, good deeds, or making peace between people. Whoever does that seeking Allah's pleasure, We will give him a great reward.</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يُشَاقِقِ الرَّسُولَ مِن بَعْدِ مَا تَبَيَّنَ لَهُ الْهُدَىٰ وَيَتَّبِعْ غَيْرَ سَبِيلِ الْمُؤْمِنِينَ نُوَلِّهِ مَا تَوَلَّىٰ وَنُصْلِهِ جَهَنَّمَ وَسَآءَتْ مَصِيرًا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opposes the Messenger after the truth has become clear to him and follows a way other than the believers', We will leave him to what he chose and put him into Hell, and what an evil destination!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116 – 117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اللَّهَ لَا يَغْفِرُ أَن يُشْرَكَ بِهِ وَيَغْفِرُ مَا دُونَ ذَٰلِكَ لِمَن يَشَآءُ وَمَن يُشْرِكْ بِاللَّهِ فَقَدْ ضَلَّ ضَلَٰلًا بَعِيدًا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does not forgive one who dies associating partners with Him, but He forgives anything less than that for whom He wills. Whoever associates partners with Allah has gone far astray.</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يَدْعُونَ مِن دُونِهِ إِلَّآ إِنَٰثًا وَإِن يَدْعُونَ إِلَّا شَيْطَٰنًا مَّرِيدًا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worship besides Allah only idols they give female names, like Al-Lat and Al-'Uzza, and in reality they only worship a rebellious devil,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118 – 120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لَّعَنَهُ اللَّهُ وَقَالَ لَأَتَّخِذَنَّ مِنْ عِبَادِكَ نَصِيبًا مَّفْرُوضًا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whom Allah cursed. Satan said: I will take a set share of Your servants to mislead them.</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وَلَأُضِلَّنَّهُمْ وَلَأُمَنِّيَنَّهُمْ وَلَأمُرَنَّهُمْ فَلَيُبَتِّكُنَّ ءَاذَانَ الْأَنْعَٰمِ وَلَأمُرَنَّهُمْ فَلَيُغَيِّرُنَّ خَلْقَ اللَّهِ وَمَن يَتَّخِذِ الشَّيْطَٰنَ وَلِيًّا مِّن دُونِ اللَّهِ فَقَدْ خَسِرَ خُسْرَانًا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will mislead them, fill them with false hopes, and command them to change Allah's creation. Whoever takes Satan as a protector instead of Allah has suffered a clear loss.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يَعِدُهُمْ وَيُمَنِّيهِمْ وَمَا يَعِدُهُمُ الشَّيْطَٰنُ إِلَّا غُرُورًا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Satan makes them promises and fills them with hopes, but he promises them nothing but deception.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121 – 122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مَأْوَىٰهُمْ جَهَنَّمُ وَلَا يَجِدُونَ عَنْهَا مَحِيصًا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Their home will be Hell, and they will find no escape from it.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سَنُدْخِلُهُمْ جَنَّـٰتٍ تَجْرِي مِن تَحْتِهَا الْأَنْهَٰرُ خَٰلِدِينَ فِيهَآ أَبَدًا وَعْدَ اللَّهِ حَقًّا وَمَنْ أَصْدَقُ مِنَ اللَّهِ قِيلًا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and do good deeds, We will admit them to Gardens with rivers flowing beneath them, staying there forever: a true promise. And whose word is more truthful than Allah's?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123 – 124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لَّيْسَ بِأَمَانِيِّكُمْ وَلَآ أَمَانِيِّ أَهْلِ الْكِتَٰبِ مَن يَعْمَلْ سُوءًا يُجْزَ بِهِ وَلَا يَجِدْ لَهُ مِن دُونِ اللَّهِ وَلِيًّا وَلَا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Paradise is not won by your wishes or the wishes of the People of the Book. Whoever does evil will be repaid for it, and he will find no protector or helper besides Allah.</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124</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يَعْمَلْ مِنَ الصَّـٰلِحَٰتِ مِن ذَكَرٍ أَوْ أُنثَىٰ وَهُوَ مُؤْمِنٌ فَأُوْلَـٰئِكَ يَدْخُلُونَ الْجَنَّةَ وَلَا يُظْلَمُونَ نَقِيرًا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does good deeds, male or female, while being a believer, will enter Paradise and will not be wronged even a little.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125 – 126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125</a:t>
            </a:r>
            <a:endParaRPr lang="en-US" sz="13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أَحْسَنُ دِينًا مِّمَّنْ أَسْلَمَ وَجْهَهُ لِلَّهِ وَهُوَ مُحْسِنٌ وَاتَّبَعَ مِلَّةَ إِبْرَٰهِيمَ حَنِيفًا وَاتَّخَذَ اللَّهُ إِبْرَٰهِيمَ خَلِيلًا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is better in religion than one who submits sincerely to Allah while doing good, and follows the religion of Ibrahim, who turned to tawhid? Allah took Ibrahim as a khalil, a close and beloved friend.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126</a:t>
            </a:r>
            <a:endParaRPr lang="en-US" sz="13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وَكَانَ اللَّهُ بِكُلِّ شَيْءٍ مُّحِيطًا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whatever is in the heavens and on earth, and Allah surrounds everything.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2300" b="1" dirty="0">
                <a:solidFill>
                  <a:schemeClr val="accent2"/>
                </a:solidFill>
                <a:latin typeface="Georgia" pitchFamily="34" charset="0"/>
                <a:ea typeface="Georgia" pitchFamily="34" charset="-122"/>
                <a:cs typeface="Georgia" pitchFamily="34" charset="-120"/>
              </a:rPr>
              <a:t>Fairness and the Hypocrites</a:t>
            </a:r>
            <a:endParaRPr lang="en-US" sz="23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9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127 – 152</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An-Nisa'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The Mother of the Believers Sawdah bint Zam'ah (may Allah be pleased with her) feared, when she grew old, that the Prophet (peace be upon him) would part from her, so she gave her day to 'A'ishah. So this was revealed: “If a woman fears ill-treatment or turning away from her husband, there is no blame on them if they make peace between them” (Abu Dawud and Tirmidhi).</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Fairness to women and orphans, peace between spouses, giving true testimony even against oneself, and exposing the qualities and end of the hypocrites.</a:t>
            </a:r>
            <a:endParaRPr lang="en-US" sz="17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127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127</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وَيَسْتَفْتُونَكَ فِي النِّسَآءِ قُلِ اللَّهُ يُفْتِيكُمْ فِيهِنَّ وَمَا يُتْلَىٰ عَلَيْكُمْ فِي الْكِتَٰبِ فِي يَتَٰمَى النِّسَآءِ الَّـٰتِي لَا تُؤْتُونَهُنَّ مَا كُتِبَ لَهُنَّ وَتَرْغَبُونَ أَن تَنكِحُوهُنَّ وَالْمُسْتَضْعَفِينَ مِنَ الْوِلْدَٰنِ وَأَن تَقُومُواْ لِلْيَتَٰمَىٰ بِالْقِسْطِ وَمَا تَفْعَلُواْ مِنْ خَيْرٍ فَإِنَّ اللَّهَ كَانَ بِهِ عَلِيمًا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about the rulings on women. Say: Allah explains their rulings to you, as does what is recited to you in the Qur'an about orphan girls whom you do not give their rights, about weak children, and that you should treat orphans justly.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128 – 129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128</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امْرَأَةٌ خَافَتْ مِن بَعْلِهَا نُشُوزًا أَوْ إِعْرَاضًا فَلَا جُنَاحَ عَلَيْهِمَآ أَن يُصْلِحَا بَيْنَهُمَا صُلْحًا وَالصُّلْحُ خَيْرٌ وَأُحْضِرَتِ الْأَنفُسُ الشُّحَّ وَإِن تُحْسِنُواْ وَتَتَّقُواْ فَإِنَّ اللَّهَ كَانَ بِمَا تَعْمَلُونَ خَبِيرًا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a woman fears her husband turning away or neglecting her, there is no blame on them if they make peace by her giving up some of her right, and peace is better. If you do good and have taqwa, Allah is aware of what you do.</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129</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وَلَن تَسْتَطِيعُواْ أَن تَعْدِلُواْ بَيْنَ النِّسَآءِ وَلَوْ حَرَصْتُمْ فَلَا تَمِيلُواْ كُلَّ الْمَيْلِ فَتَذَرُوهَا كَالْمُعَلَّقَةِ وَإِن تُصْلِحُواْ وَتَتَّقُواْ فَإِنَّ اللَّهَ كَانَ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will never be able to be completely fair between wives in love, however hard you try. So do not lean fully towards one and leave the other hanging, neither married nor divorced.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130 – 131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130</a:t>
            </a:r>
            <a:endParaRPr lang="en-US" sz="13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يَتَفَرَّقَا يُغْنِ اللَّهُ كُلًّا مِّن سَعَتِهِ وَكَانَ اللَّهُ وَٰسِعًا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they separate, Allah will make each of them independent from His wide favour. Allah is All-Encompassing, All-Wise.</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131</a:t>
            </a:r>
            <a:endParaRPr lang="en-US" sz="13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وَلَقَدْ وَصَّيْنَا الَّذِينَ أُوتُواْ الْكِتَٰبَ مِن قَبْلِكُمْ وَإِيَّاكُمْ أَنِ اتَّقُواْ اللَّهَ وَإِن تَكْفُرُواْ فَإِنَّ لِلَّهِ مَا فِي السَّمَٰوَٰتِ وَمَا فِي الْأَرْضِ وَكَانَ اللَّهُ غَنِيًّا حَمِيدًا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whatever is in the heavens and earth. We advised those given the Book before you, and We advise you: Have taqwa of Allah. If you disbelieve, to Allah still belongs all in the heavens and earth, and Allah is Free of need, Praiseworthy.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132 – 134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132</a:t>
            </a:r>
            <a:endParaRPr lang="en-US" sz="13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وَكَفَىٰ بِاللَّهِ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Allah belongs whatever is in the heavens and earth, and Allah is enough as a Guardian.</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133</a:t>
            </a:r>
            <a:endParaRPr lang="en-US" sz="13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يَشَأْ يُذْهِبْكُمْ أَيُّهَا النَّاسُ وَيَأْتِ بِـَٔاخَرِينَ وَكَانَ اللَّهُ عَلَىٰ ذَٰلِكَ قَدِيرًا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He willed, He could remove you, O people, and bring others; Allah is able to do that.</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134</a:t>
            </a:r>
            <a:endParaRPr lang="en-US" sz="13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كَانَ يُرِيدُ ثَوَابَ الدُّنْيَا فَعِندَ اللَّهِ ثَوَابُ الدُّنْيَا وَالْأخِرَةِ وَكَانَ اللَّهُ سَمِيعًا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wants the reward of this world, with Allah is the reward of this world and the Hereafter. Allah is All-Hearing, All-Seeing.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135</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كُونُواْ قَوَّـٰمِينَ بِالْقِسْطِ شُهَدَآءَ لِلَّهِ وَلَوْ عَلَىٰ أَنفُسِكُمْ أَوِ الْوَٰلِدَيْنِ وَالْأَقْرَبِينَ إِن يَكُنْ غَنِيًّا أَوْ فَقِيرًا فَاللَّهُ أَوْلَىٰ بِهِمَا فَلَا تَتَّبِعُواْ الْهَوَىٰ أَن تَعْدِلُواْ وَإِن تَلْوُاْ أَوْ تُعْرِضُواْ فَإِنَّ اللَّهَ كَانَ بِمَا تَعْمَلُونَ خَبِيرًا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stand firm for justice, bearing witness for Allah truthfully, even against yourselves, your parents or relatives, whether rich or poor. Do not follow your desires. If you twist your testimony or refuse to give it, Allah is aware of what you do.</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136 – 137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136</a:t>
            </a:r>
            <a:endParaRPr lang="en-US" sz="1300" dirty="0"/>
          </a:p>
        </p:txBody>
      </p:sp>
      <p:sp>
        <p:nvSpPr>
          <p:cNvPr id="8" name="Text 6"/>
          <p:cNvSpPr txBox="1"/>
          <p:nvPr/>
        </p:nvSpPr>
        <p:spPr>
          <a:xfrm>
            <a:off x="1444752" y="1435608"/>
            <a:ext cx="10012680" cy="235000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ءَامِنُواْ بِاللَّهِ وَرَسُولِهِ وَالْكِتَٰبِ الَّذِي نَزَّلَ عَلَىٰ رَسُولِهِ وَالْكِتَٰبِ الَّذِي أَنزَلَ مِن قَبْلُ وَمَن يَكْفُرْ بِاللَّهِ وَمَلَـٰئِكَتِهِ وَكُتُبِهِ وَرُسُلِهِ وَالْيَوْمِ الْأخِرِ فَقَدْ ضَلَّ ضَلَٰلًا بَعِيدًا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stay firm in faith in Allah, His Messenger, the Qur'an and the earlier Books. Whoever disbelieves in Allah, His angels, His Books, His messengers and the Last Day has gone far astray.</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197096"/>
            <a:ext cx="548640" cy="548640"/>
          </a:xfrm>
          <a:prstGeom prst="star8">
            <a:avLst/>
          </a:prstGeom>
          <a:solidFill>
            <a:schemeClr val="accent2"/>
          </a:solidFill>
          <a:ln/>
        </p:spPr>
      </p:sp>
      <p:sp>
        <p:nvSpPr>
          <p:cNvPr id="11" name="Shape 9"/>
          <p:cNvSpPr/>
          <p:nvPr/>
        </p:nvSpPr>
        <p:spPr>
          <a:xfrm>
            <a:off x="822960" y="43068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1970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137</a:t>
            </a:r>
            <a:endParaRPr lang="en-US" sz="1300" dirty="0"/>
          </a:p>
        </p:txBody>
      </p:sp>
      <p:sp>
        <p:nvSpPr>
          <p:cNvPr id="13" name="Text 11"/>
          <p:cNvSpPr txBox="1"/>
          <p:nvPr/>
        </p:nvSpPr>
        <p:spPr>
          <a:xfrm>
            <a:off x="1444752" y="41788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ثُمَّ كَفَرُواْ ثُمَّ ءَامَنُواْ ثُمَّ كَفَرُواْ ثُمَّ ازْدَادُواْ كُفْرًا لَّمْ يَكُنِ اللَّهُ لِيَغْفِرَ لَهُمْ وَلَا لِيَهْدِيَهُمْ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then disbelieve, then believe, then disbelieve, and then keep on disbelieving until death, Allah will not forgive them or guide them to a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138 – 139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138</a:t>
            </a:r>
            <a:endParaRPr lang="en-US" sz="1300" dirty="0"/>
          </a:p>
        </p:txBody>
      </p:sp>
      <p:sp>
        <p:nvSpPr>
          <p:cNvPr id="8" name="Text 6"/>
          <p:cNvSpPr txBox="1"/>
          <p:nvPr/>
        </p:nvSpPr>
        <p:spPr>
          <a:xfrm>
            <a:off x="1444752" y="210997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بَشِّرِ الْمُنَٰفِقِينَ بِأَنَّ لَهُمْ 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Give the hypocrites news that they will have a painful punishment,</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139</a:t>
            </a:r>
            <a:endParaRPr lang="en-US" sz="1300" dirty="0"/>
          </a:p>
        </p:txBody>
      </p:sp>
      <p:sp>
        <p:nvSpPr>
          <p:cNvPr id="13" name="Text 11"/>
          <p:cNvSpPr txBox="1"/>
          <p:nvPr/>
        </p:nvSpPr>
        <p:spPr>
          <a:xfrm>
            <a:off x="1444752" y="350443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يَتَّخِذُونَ الْكَٰفِرِينَ أَوْلِيَآءَ مِن دُونِ الْمُؤْمِنِينَ أَيَبْتَغُونَ عِندَهُمُ الْعِزَّةَ فَإِنَّ الْعِزَّةَ لِلَّهِ جَمِيعًا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take the disbelievers as allies instead of the believers. Do they seek strength and honour with them? All honour belongs to Allah.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140</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وَقَدْ نَزَّلَ عَلَيْكُمْ فِي الْكِتَٰبِ أَنْ إِذَا سَمِعْتُمْ ءَايَٰتِ اللَّهِ يُكْفَرُ بِهَا وَيُسْتَهْزَأُ بِهَا فَلَا تَقْعُدُواْ مَعَهُمْ حَتَّىٰ يَخُوضُواْ فِي حَدِيثٍ غَيْرِهِ إِنَّكُمْ إِذًا مِّثْلُهُمْ إِنَّ اللَّهَ جَامِعُ الْمُنَٰفِقِينَ وَالْكَٰفِرِينَ فِي جَهَنَّمَ جَمِيعًا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sent down to you in the Qur'an: When you hear Allah's verses being denied and mocked, do not sit with them until they change the subject, or you would be like them. Allah will gather the hypocrites and disbelievers in Hell all together.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141</a:t>
            </a:r>
            <a:endParaRPr lang="en-US" sz="13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يَتَرَبَّصُونَ بِكُمْ فَإِن كَانَ لَكُمْ فَتْحٌ مِّنَ اللَّهِ قَالُواْ أَلَمْ نَكُن مَّعَكُمْ وَإِن كَانَ لِلْكَٰفِرِينَ نَصِيبٌ قَالُواْ أَلَمْ نَسْتَحْوِذْ عَلَيْكُمْ وَنَمْنَعْكُم مِّنَ الْمُؤْمِنِينَ فَاللَّهُ يَحْكُمُ بَيْنَكُمْ يَوْمَ الْقِيَٰمَةِ وَلَن يَجْعَلَ اللَّهُ لِلْكَٰفِرِينَ عَلَى الْمُؤْمِنِينَ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wait to see what happens to you: if you have a victory they say: Were we not with you? And if the disbelievers have some success they say to them: Did we not help you? Allah will judge between you on the Day of Resurrection, and Allah will never give the disbelievers a way over the 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142 – 143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23644"/>
            <a:ext cx="548640" cy="548640"/>
          </a:xfrm>
          <a:prstGeom prst="star8">
            <a:avLst/>
          </a:prstGeom>
          <a:solidFill>
            <a:schemeClr val="accent2"/>
          </a:solidFill>
          <a:ln/>
        </p:spPr>
      </p:sp>
      <p:sp>
        <p:nvSpPr>
          <p:cNvPr id="6" name="Shape 4"/>
          <p:cNvSpPr/>
          <p:nvPr/>
        </p:nvSpPr>
        <p:spPr>
          <a:xfrm>
            <a:off x="822960" y="183337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2364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142</a:t>
            </a:r>
            <a:endParaRPr lang="en-US" sz="1300" dirty="0"/>
          </a:p>
        </p:txBody>
      </p:sp>
      <p:sp>
        <p:nvSpPr>
          <p:cNvPr id="8" name="Text 6"/>
          <p:cNvSpPr txBox="1"/>
          <p:nvPr/>
        </p:nvSpPr>
        <p:spPr>
          <a:xfrm>
            <a:off x="1444752" y="170535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الْمُنَٰفِقِينَ يُخَٰدِعُونَ اللَّهَ وَهُوَ خَٰدِعُهُمْ وَإِذَا قَامُواْ إِلَى الصَّلَوٰةِ قَامُواْ كُسَالَىٰ يُرَآءُونَ النَّاسَ وَلَا يَذْكُرُونَ اللَّهَ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think they are tricking Allah, but He will repay their tricks. When they stand for prayer, they stand lazily, showing off to people, and they remember Allah only a little,</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143</a:t>
            </a:r>
            <a:endParaRPr lang="en-US" sz="1300" dirty="0"/>
          </a:p>
        </p:txBody>
      </p:sp>
      <p:sp>
        <p:nvSpPr>
          <p:cNvPr id="13" name="Text 11"/>
          <p:cNvSpPr txBox="1"/>
          <p:nvPr/>
        </p:nvSpPr>
        <p:spPr>
          <a:xfrm>
            <a:off x="1444752" y="390906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مُّذَبْذَبِينَ بَيْنَ ذَٰلِكَ لَآ إِلَىٰ هَـٰؤُلَآءِ وَلَآ إِلَىٰ هَـٰؤُلَآءِ وَمَن يُضْلِلِ اللَّهُ فَلَن تَجِدَ لَهُ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wavering between faith and disbelief, neither with the believers nor with the disbelievers. Whoever Allah leaves astray, you will find no path to guidance for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144 – 145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144</a:t>
            </a:r>
            <a:endParaRPr lang="en-US" sz="13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الْكَٰفِرِينَ أَوْلِيَآءَ مِن دُونِ الْمُؤْمِنِينَ أَتُرِيدُونَ أَن تَجْعَلُواْ لِلَّهِ عَلَيْكُمْ سُلْطَٰنًا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believers, do not take the disbelievers as allies instead of the believers. Do you want to give Allah a clear case against you for punishment?</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145</a:t>
            </a:r>
            <a:endParaRPr lang="en-US" sz="13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الْمُنَٰفِقِينَ فِي الدَّرْكِ الْأَسْفَلِ مِنَ النَّارِ وَلَن تَجِدَ لَهُمْ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hypocrites will be in the lowest level of the Fire, and you will find no helper for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146 – 148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146</a:t>
            </a:r>
            <a:endParaRPr lang="en-US" sz="13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الَّذِينَ تَابُواْ وَأَصْلَحُواْ وَاعْتَصَمُواْ بِاللَّهِ وَأَخْلَصُواْ دِينَهُمْ لِلَّهِ فَأُوْلَـٰئِكَ مَعَ الْمُؤْمِنِينَ وَسَوْفَ يُؤْتِ اللَّهُ الْمُؤْمِنِينَ 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repent, correct their deeds, hold firmly to Allah, and make their religion sincerely for Allah; they will be with the believers, and Allah will give the believers a great reward.</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147</a:t>
            </a:r>
            <a:endParaRPr lang="en-US" sz="13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يَفْعَلُ اللَّهُ بِعَذَابِكُمْ إِن شَكَرْتُمْ وَءَامَنتُمْ وَكَانَ اللَّهُ شَاكِرًا عَلِيمًا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Why would Allah punish you if you are thankful and believe? Allah is Appreciative, rewarding even a little, All-Knowing.</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148</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يُحِبُّ اللَّهُ الْجَهْرَ بِالسُّوءِ مِنَ الْقَوْلِ إِلَّا مَن ظُلِمَ وَكَانَ اللَّهُ سَمِيعًا عَلِيمًا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does not love that anyone should speak evil words openly, except one who has been wronged; he may mention the wrong done to him. Allah is All-Hearing, All-Knowing.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149 – 151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149</a:t>
            </a:r>
            <a:endParaRPr lang="en-US" sz="13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تُبْدُواْ خَيْرًا أَوْ تُخْفُوهُ أَوْ تَعْفُواْ عَن سُوءٍ فَإِنَّ اللَّهَ كَانَ عَفُوًّا قَدِيرًا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Whether you show good or hide it, or pardon someone who wronged you, Allah is Pardoning, All-Powerful.</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150</a:t>
            </a:r>
            <a:endParaRPr lang="en-US" sz="1300" dirty="0"/>
          </a:p>
        </p:txBody>
      </p:sp>
      <p:sp>
        <p:nvSpPr>
          <p:cNvPr id="13" name="Text 11"/>
          <p:cNvSpPr txBox="1"/>
          <p:nvPr/>
        </p:nvSpPr>
        <p:spPr>
          <a:xfrm>
            <a:off x="1444752" y="280720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يَكْفُرُونَ بِاللَّهِ وَرُسُلِهِ وَيُرِيدُونَ أَن يُفَرِّقُواْ بَيْنَ اللَّهِ وَرُسُلِهِ وَيَقُولُونَ نُؤْمِنُ بِبَعْضٍ وَنَكْفُرُ بِبَعْضٍ وَيُرِيدُونَ أَن يَتَّخِذُواْ بَيْنَ ذَٰلِكَ سَبِيلًا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in Allah and His messengers and want to separate faith in Allah from faith in His messengers, saying: We believe in some messengers and disbelieve in others, and want to take a way in between,</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151</a:t>
            </a:r>
            <a:endParaRPr lang="en-US" sz="13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هُمُ الْكَٰفِرُونَ حَقًّا وَأَعْتَدْنَا لِلْكَٰفِرِينَ عَذَابًا مُّهِينًا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true disbelievers, and We have prepared a humiliating punishment for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152</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وَالَّذِينَ ءَامَنُواْ بِاللَّهِ وَرُسُلِهِ وَلَمْ يُفَرِّقُواْ بَيْنَ أَحَدٍ مِّنْهُمْ أُوْلَـٰئِكَ سَوْفَ يُؤْتِيهِمْ أُجُورَهُمْ وَكَانَ اللَّهُ غَفُورًا رَّحِيمًا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believe in Allah and all His messengers, making no difference between any of them, He will give them their rewards. Allah is Forgiving,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000" b="1" dirty="0">
                <a:solidFill>
                  <a:schemeClr val="accent2"/>
                </a:solidFill>
                <a:latin typeface="Georgia" pitchFamily="34" charset="0"/>
                <a:ea typeface="Georgia" pitchFamily="34" charset="-122"/>
                <a:cs typeface="Georgia" pitchFamily="34" charset="-120"/>
              </a:rPr>
              <a:t>'Isa and Al-Kalalah</a:t>
            </a:r>
            <a:endParaRPr lang="en-US" sz="30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Section 10 of 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Verses 153 – 176</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An-Nisa' • Madani</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Al-Bara' ibn 'Azib said: The last verse revealed was “They ask you for a ruling. Say: Allah gives you a ruling about al-kalalah” (Bukhari). Jabir ibn 'Abdullah (may Allah be pleased with him) asked about it when he was ill and had no child or parent.</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Section</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How the Children of Israel broke their covenants, that 'Isa (peace be upon him) was not killed or crucified but Allah raised him up, a reply to going to extremes about him, and the inheritance ruling of al-kalalah.</a:t>
            </a:r>
            <a:endParaRPr lang="en-US" sz="17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153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420874"/>
            <a:ext cx="548640" cy="548640"/>
          </a:xfrm>
          <a:prstGeom prst="star8">
            <a:avLst/>
          </a:prstGeom>
          <a:solidFill>
            <a:schemeClr val="accent2"/>
          </a:solidFill>
          <a:ln/>
        </p:spPr>
      </p:sp>
      <p:sp>
        <p:nvSpPr>
          <p:cNvPr id="6" name="Shape 4"/>
          <p:cNvSpPr/>
          <p:nvPr/>
        </p:nvSpPr>
        <p:spPr>
          <a:xfrm>
            <a:off x="822960" y="253060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42087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153</a:t>
            </a:r>
            <a:endParaRPr lang="en-US" sz="1300" dirty="0"/>
          </a:p>
        </p:txBody>
      </p:sp>
      <p:sp>
        <p:nvSpPr>
          <p:cNvPr id="8" name="Text 6"/>
          <p:cNvSpPr txBox="1"/>
          <p:nvPr/>
        </p:nvSpPr>
        <p:spPr>
          <a:xfrm>
            <a:off x="1444752" y="2402586"/>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يَسْـَٔلُكَ أَهْلُ الْكِتَٰبِ أَن تُنَزِّلَ عَلَيْهِمْ كِتَٰبًا مِّنَ السَّمَآءِ فَقَدْ سَأَلُواْ مُوسَىٰ أَكْبَرَ مِن ذَٰلِكَ فَقَالُواْ أَرِنَا اللَّهَ جَهْرَةً فَأَخَذَتْهُمُ الصَّـٰعِقَةُ بِظُلْمِهِمْ ثُمَّ اتَّخَذُواْ الْعِجْلَ مِن بَعْدِ مَا جَآءَتْهُمُ الْبَيِّنَٰتُ فَعَفَوْنَا عَن ذَٰلِكَ وَءَاتَيْنَا مُوسَىٰ سُلْطَٰنًا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Jews ask you to bring down to them a book written from the sky. They asked Musa for something greater than that, saying: Show us Allah openly, so the thunderbolt struck them for their wrongdoing. Then they worshipped the calf, and We pardoned that.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154 – 155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154</a:t>
            </a:r>
            <a:endParaRPr lang="en-US" sz="1300" dirty="0"/>
          </a:p>
        </p:txBody>
      </p:sp>
      <p:sp>
        <p:nvSpPr>
          <p:cNvPr id="8" name="Text 6"/>
          <p:cNvSpPr txBox="1"/>
          <p:nvPr/>
        </p:nvSpPr>
        <p:spPr>
          <a:xfrm>
            <a:off x="1444752" y="1444752"/>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وَرَفَعْنَا فَوْقَهُمُ الطُّورَ بِمِيثَٰقِهِمْ وَقُلْنَا لَهُمُ ادْخُلُواْ الْبَابَ سُجَّدًا وَقُلْنَا لَهُمْ لَا تَعْدُواْ فِي السَّبْتِ وَأَخَذْنَا مِنْهُم مِّيثَٰقًا غَلِيظًا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raised Mount Tur above them when We took their covenant, and said to them: Enter the gate of Jerusalem humbly, and do not break the law of the Sabbath. And We took from them a firm covenant.</a:t>
            </a:r>
            <a:endParaRPr lang="en-US" sz="3000" dirty="0"/>
          </a:p>
        </p:txBody>
      </p:sp>
      <p:sp>
        <p:nvSpPr>
          <p:cNvPr id="9" name="Shape 7"/>
          <p:cNvSpPr/>
          <p:nvPr/>
        </p:nvSpPr>
        <p:spPr>
          <a:xfrm>
            <a:off x="1444752" y="3694176"/>
            <a:ext cx="8641080" cy="0"/>
          </a:xfrm>
          <a:prstGeom prst="line">
            <a:avLst/>
          </a:prstGeom>
          <a:noFill/>
          <a:ln w="9525">
            <a:solidFill>
              <a:schemeClr val="accent2"/>
            </a:solidFill>
            <a:prstDash val="dash"/>
          </a:ln>
        </p:spPr>
      </p:sp>
      <p:sp>
        <p:nvSpPr>
          <p:cNvPr id="10" name="Shape 8"/>
          <p:cNvSpPr/>
          <p:nvPr/>
        </p:nvSpPr>
        <p:spPr>
          <a:xfrm>
            <a:off x="713232" y="3927348"/>
            <a:ext cx="548640" cy="548640"/>
          </a:xfrm>
          <a:prstGeom prst="star8">
            <a:avLst/>
          </a:prstGeom>
          <a:solidFill>
            <a:schemeClr val="accent2"/>
          </a:solidFill>
          <a:ln/>
        </p:spPr>
      </p:sp>
      <p:sp>
        <p:nvSpPr>
          <p:cNvPr id="11" name="Shape 9"/>
          <p:cNvSpPr/>
          <p:nvPr/>
        </p:nvSpPr>
        <p:spPr>
          <a:xfrm>
            <a:off x="822960"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92734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155</a:t>
            </a:r>
            <a:endParaRPr lang="en-US" sz="1300" dirty="0"/>
          </a:p>
        </p:txBody>
      </p:sp>
      <p:sp>
        <p:nvSpPr>
          <p:cNvPr id="13" name="Text 11"/>
          <p:cNvSpPr txBox="1"/>
          <p:nvPr/>
        </p:nvSpPr>
        <p:spPr>
          <a:xfrm>
            <a:off x="1444752" y="390906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فَبِمَا نَقْضِهِم مِّيثَٰقَهُمْ وَكُفْرِهِم بِـَٔايَٰتِ اللَّهِ وَقَتْلِهِمُ الْأَنبِيَآءَ بِغَيْرِ حَقٍّ وَقَوْلِهِمْ قُلُوبُنَا غُلْفٌ بَلْ طَبَعَ اللَّهُ عَلَيْهَا بِكُفْرِهِمْ فَلَا يُؤْمِنُونَ إِلَّا قَلِيلًا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Because they broke their covenant, disbelieved in Allah's verses, killed the prophets without right, and said: Our hearts are covered and do not understand. Rather, Allah has sealed them because of their disbelief, so they believe only a little.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156 – 157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156</a:t>
            </a:r>
            <a:endParaRPr lang="en-US" sz="1300" dirty="0"/>
          </a:p>
        </p:txBody>
      </p:sp>
      <p:sp>
        <p:nvSpPr>
          <p:cNvPr id="8" name="Text 6"/>
          <p:cNvSpPr txBox="1"/>
          <p:nvPr/>
        </p:nvSpPr>
        <p:spPr>
          <a:xfrm>
            <a:off x="1444752" y="15750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وَبِكُفْرِهِمْ وَقَوْلِهِمْ عَلَىٰ مَرْيَمَ بُهْتَٰنًا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because of their disbelief and their saying a terrible lie about Maryam when they accused her of indecency,</a:t>
            </a:r>
            <a:endParaRPr lang="en-US" sz="3000" dirty="0"/>
          </a:p>
        </p:txBody>
      </p:sp>
      <p:sp>
        <p:nvSpPr>
          <p:cNvPr id="9" name="Shape 7"/>
          <p:cNvSpPr/>
          <p:nvPr/>
        </p:nvSpPr>
        <p:spPr>
          <a:xfrm>
            <a:off x="1444752" y="3015234"/>
            <a:ext cx="8641080" cy="0"/>
          </a:xfrm>
          <a:prstGeom prst="line">
            <a:avLst/>
          </a:prstGeom>
          <a:noFill/>
          <a:ln w="9525">
            <a:solidFill>
              <a:schemeClr val="accent2"/>
            </a:solidFill>
            <a:prstDash val="dash"/>
          </a:ln>
        </p:spPr>
      </p:sp>
      <p:sp>
        <p:nvSpPr>
          <p:cNvPr id="10" name="Shape 8"/>
          <p:cNvSpPr/>
          <p:nvPr/>
        </p:nvSpPr>
        <p:spPr>
          <a:xfrm>
            <a:off x="713232" y="3248406"/>
            <a:ext cx="548640" cy="548640"/>
          </a:xfrm>
          <a:prstGeom prst="star8">
            <a:avLst/>
          </a:prstGeom>
          <a:solidFill>
            <a:schemeClr val="accent2"/>
          </a:solidFill>
          <a:ln/>
        </p:spPr>
      </p:sp>
      <p:sp>
        <p:nvSpPr>
          <p:cNvPr id="11" name="Shape 9"/>
          <p:cNvSpPr/>
          <p:nvPr/>
        </p:nvSpPr>
        <p:spPr>
          <a:xfrm>
            <a:off x="822960" y="335813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4840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157</a:t>
            </a:r>
            <a:endParaRPr lang="en-US" sz="1300" dirty="0"/>
          </a:p>
        </p:txBody>
      </p:sp>
      <p:sp>
        <p:nvSpPr>
          <p:cNvPr id="13" name="Text 11"/>
          <p:cNvSpPr txBox="1"/>
          <p:nvPr/>
        </p:nvSpPr>
        <p:spPr>
          <a:xfrm>
            <a:off x="1444752" y="3230118"/>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وَقَوْلِهِمْ إِنَّا قَتَلْنَا الْمَسِيحَ عِيسَى ابْنَ مَرْيَمَ رَسُولَ اللَّهِ وَمَا قَتَلُوهُ وَمَا صَلَبُوهُ وَلَٰكِن شُبِّهَ لَهُمْ وَإِنَّ الَّذِينَ اخْتَلَفُواْ فِيهِ لَفِي شَكٍّ مِّنْهُ مَا لَهُم بِهِ مِنْ عِلْمٍ إِلَّا اتِّبَاعَ الظَّنِّ وَمَا قَتَلُوهُ يَقِينًا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their saying: We killed the Messiah, 'Isa son of Maryam, the messenger of Allah. They did not kill him, nor crucify him; his likeness was put on another man and they killed him. They certainly did not kill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158 – 160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158</a:t>
            </a:r>
            <a:endParaRPr lang="en-US" sz="13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بَل رَّفَعَهُ اللَّهُ إِلَيْهِ وَكَانَ اللَّهُ عَزِيزًا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Rather, Allah raised him up to Himself alive, in body and soul. Allah is Almighty, All-Wise.</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159</a:t>
            </a:r>
            <a:endParaRPr lang="en-US" sz="13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مِّنْ أَهْلِ الْكِتَٰبِ إِلَّا لَيُؤْمِنَنَّ بِهِ قَبْلَ مَوْتِهِ وَيَوْمَ الْقِيَٰمَةِ يَكُونُ عَلَيْهِمْ شَهِيدًا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none of the People of the Book but will believe in 'Isa before his death, when he comes down at the end of time, and on the Day of Resurrection he will be a witness against them.</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160</a:t>
            </a:r>
            <a:endParaRPr lang="en-US" sz="13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فَبِظُلْمٍ مِّنَ الَّذِينَ هَادُواْ حَرَّمْنَا عَلَيْهِمْ طَيِّبَٰتٍ أُحِلَّتْ لَهُمْ وَبِصَدِّهِمْ عَن سَبِيلِ اللَّهِ كَثِيرًا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Because of the wrongdoing of the Jews, We forbade them good things that had been lawful for them, and because they blocked many people from Allah's religion,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161 – 162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161</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وَأَخْذِهِمُ الرِّبَوٰاْ وَقَدْ نُهُواْ عَنْهُ وَأَكْلِهِمْ أَمْوَٰلَ النَّاسِ بِالْبَٰطِلِ وَأَعْتَدْنَا لِلْكَٰفِرِينَ مِنْهُمْ عَذَابًا أَلِيمًا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took riba though they were forbidden from it, and consumed people's wealth unjustly. We have prepared a painful punishment for the disbelievers among them.</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162</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لَّـٰكِنِ الرَّـٰسِخُونَ فِي الْعِلْمِ مِنْهُمْ وَالْمُؤْمِنُونَ يُؤْمِنُونَ بِمَآ أُنزِلَ إِلَيْكَ وَمَآ أُنزِلَ مِن قَبْلِكَ وَالْمُقِيمِينَ الصَّلَوٰةَ وَالْمُؤْتُونَ الزَّكَوٰةَ وَالْمُؤْمِنُونَ بِاللَّهِ وَالْيَوْمِ الْأخِرِ أُوْلَـٰئِكَ سَنُؤْتِيهِمْ أَجْرًا عَظِيمًا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those firm in knowledge among them and the believers believe in what was sent down to you and what was sent down before you, those who perform the prayer, give the zakah, and believe in Allah and the Last Day; We will give them a great reward.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163 – 164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163</a:t>
            </a:r>
            <a:endParaRPr lang="en-US" sz="1300" dirty="0"/>
          </a:p>
        </p:txBody>
      </p:sp>
      <p:sp>
        <p:nvSpPr>
          <p:cNvPr id="8" name="Text 6"/>
          <p:cNvSpPr txBox="1"/>
          <p:nvPr/>
        </p:nvSpPr>
        <p:spPr>
          <a:xfrm>
            <a:off x="1444752" y="1370457"/>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أَوْحَيْنَآ إِلَيْكَ كَمَآ أَوْحَيْنَآ إِلَىٰ نُوحٍ وَالنَّبِيِّـنَ مِن بَعْدِهِ وَأَوْحَيْنَآ إِلَىٰ إِبْرَٰهِيمَ وَإِسْمَٰعِيلَ وَإِسْحَٰقَ وَيَعْقُوبَ وَالْأَسْبَاطِ وَعِيسَىٰ وَأَيُّوبَ وَيُونُسَ وَهَٰرُونَ وَسُلَيْمَٰنَ وَءَاتَيْنَا دَاوُدَ زَبُورًا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sent revelation to you as We sent it to Nuh and the prophets after him, and to Ibrahim, Isma'il, Ishaq, Ya'qub and the Tribes, 'Isa, Ayyub, Yunus, Harun and Sulayman, and We gave Dawud the Zabur.</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262247"/>
            <a:ext cx="548640" cy="548640"/>
          </a:xfrm>
          <a:prstGeom prst="star8">
            <a:avLst/>
          </a:prstGeom>
          <a:solidFill>
            <a:schemeClr val="accent2"/>
          </a:solidFill>
          <a:ln/>
        </p:spPr>
      </p:sp>
      <p:sp>
        <p:nvSpPr>
          <p:cNvPr id="11" name="Shape 9"/>
          <p:cNvSpPr/>
          <p:nvPr/>
        </p:nvSpPr>
        <p:spPr>
          <a:xfrm>
            <a:off x="822960" y="4371975"/>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62247"/>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164</a:t>
            </a:r>
            <a:endParaRPr lang="en-US" sz="1300" dirty="0"/>
          </a:p>
        </p:txBody>
      </p:sp>
      <p:sp>
        <p:nvSpPr>
          <p:cNvPr id="13" name="Text 11"/>
          <p:cNvSpPr txBox="1"/>
          <p:nvPr/>
        </p:nvSpPr>
        <p:spPr>
          <a:xfrm>
            <a:off x="1444752" y="4243959"/>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وَرُسُلًا قَدْ قَصَصْنَٰهُمْ عَلَيْكَ مِن قَبْلُ وَرُسُلًا لَّمْ نَقْصُصْهُمْ عَلَيْكَ وَكَلَّمَ اللَّهُ مُوسَىٰ تَكْلِيمًا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messengers We have told you about before, and messengers We have not told you about. And Allah truly spoke to Musa.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165 – 167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165</a:t>
            </a:r>
            <a:endParaRPr lang="en-US" sz="13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رُّسُلًا مُّبَشِّرِينَ وَمُنذِرِينَ لِئَلَّا يَكُونَ لِلنَّاسِ عَلَى اللَّهِ حُجَّةٌ بَعْدَ الرُّسُلِ وَكَانَ اللَّهُ عَزِيزًا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sent them giving good news of Paradise and warnings of the Fire, so that people would have no excuse against Allah after the messengers. Allah is Almighty, All-Wise.</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166</a:t>
            </a:r>
            <a:endParaRPr lang="en-US" sz="13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لَّـٰكِنِ اللَّهُ يَشْهَدُ بِمَآ أَنزَلَ إِلَيْكَ أَنزَلَهُ بِعِلْمِهِ وَالْمَلَـٰئِكَةُ يَشْهَدُونَ وَكَفَىٰ بِاللَّهِ شَهِيدًا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Allah bears witness to the truth of what He sent down to you; He sent it down with His knowledge. The angels bear witness too, and Allah is enough as a Witness.</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167</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وَصَدُّواْ عَن سَبِيلِ اللَّهِ قَدْ ضَلُّواْ ضَلَٰلًا بَعِيدًا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and block people from Allah's religion have gone far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168 – 170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168</a:t>
            </a:r>
            <a:endParaRPr lang="en-US" sz="13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كَفَرُواْ وَظَلَمُواْ لَمْ يَكُنِ اللَّهُ لِيَغْفِرَ لَهُمْ وَلَا لِيَهْدِيَهُمْ طَرِيقًا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 disbelieve and do wrong, Allah will not forgive them or guide them to any path</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169</a:t>
            </a:r>
            <a:endParaRPr lang="en-US" sz="1300" dirty="0"/>
          </a:p>
        </p:txBody>
      </p:sp>
      <p:sp>
        <p:nvSpPr>
          <p:cNvPr id="13" name="Text 11"/>
          <p:cNvSpPr txBox="1"/>
          <p:nvPr/>
        </p:nvSpPr>
        <p:spPr>
          <a:xfrm>
            <a:off x="1444752" y="26769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طَرِيقَ جَهَنَّمَ خَٰلِدِينَ فِيهَآ أَبَدًا وَكَانَ ذَٰلِكَ عَلَى اللَّهِ يَسِيرًا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the path of Hell, staying in it forever, and that is easy for Allah.</a:t>
            </a:r>
            <a:endParaRPr lang="en-US" sz="3000" dirty="0"/>
          </a:p>
        </p:txBody>
      </p:sp>
      <p:sp>
        <p:nvSpPr>
          <p:cNvPr id="14" name="Shape 12"/>
          <p:cNvSpPr/>
          <p:nvPr/>
        </p:nvSpPr>
        <p:spPr>
          <a:xfrm>
            <a:off x="1444752" y="3803904"/>
            <a:ext cx="8641080" cy="0"/>
          </a:xfrm>
          <a:prstGeom prst="line">
            <a:avLst/>
          </a:prstGeom>
          <a:noFill/>
          <a:ln w="9525">
            <a:solidFill>
              <a:schemeClr val="accent2"/>
            </a:solidFill>
            <a:prstDash val="dash"/>
          </a:ln>
        </p:spPr>
      </p:sp>
      <p:sp>
        <p:nvSpPr>
          <p:cNvPr id="15" name="Shape 13"/>
          <p:cNvSpPr/>
          <p:nvPr/>
        </p:nvSpPr>
        <p:spPr>
          <a:xfrm>
            <a:off x="713232" y="3984498"/>
            <a:ext cx="548640" cy="548640"/>
          </a:xfrm>
          <a:prstGeom prst="star8">
            <a:avLst/>
          </a:prstGeom>
          <a:solidFill>
            <a:schemeClr val="accent2"/>
          </a:solidFill>
          <a:ln/>
        </p:spPr>
      </p:sp>
      <p:sp>
        <p:nvSpPr>
          <p:cNvPr id="16" name="Shape 14"/>
          <p:cNvSpPr/>
          <p:nvPr/>
        </p:nvSpPr>
        <p:spPr>
          <a:xfrm>
            <a:off x="822960" y="409422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844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170</a:t>
            </a:r>
            <a:endParaRPr lang="en-US" sz="1300" dirty="0"/>
          </a:p>
        </p:txBody>
      </p:sp>
      <p:sp>
        <p:nvSpPr>
          <p:cNvPr id="18" name="Text 16"/>
          <p:cNvSpPr txBox="1"/>
          <p:nvPr/>
        </p:nvSpPr>
        <p:spPr>
          <a:xfrm>
            <a:off x="1444752" y="3966210"/>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قَدْ جَآءَكُمُ الرَّسُولُ بِالْحَقِّ مِن رَّبِّكُمْ فَـَٔامِنُواْ خَيْرًا لَّكُمْ وَإِن تَكْفُرُواْ فَإِنَّ لِلَّهِ مَا فِي السَّمَٰوَٰتِ وَالْأَرْضِ وَكَانَ اللَّهُ عَلِيمًا حَكِيمًا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the Messenger Muhammad (peace be upon him) has come to you with the truth from your Lord, so believe; it is better for you. If you disbelieve, to Allah belongs whatever is in the heavens and earth.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016252"/>
            <a:ext cx="548640" cy="548640"/>
          </a:xfrm>
          <a:prstGeom prst="star8">
            <a:avLst/>
          </a:prstGeom>
          <a:solidFill>
            <a:schemeClr val="accent2"/>
          </a:solidFill>
          <a:ln/>
        </p:spPr>
      </p:sp>
      <p:sp>
        <p:nvSpPr>
          <p:cNvPr id="6" name="Shape 4"/>
          <p:cNvSpPr/>
          <p:nvPr/>
        </p:nvSpPr>
        <p:spPr>
          <a:xfrm>
            <a:off x="822960" y="212598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01625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171</a:t>
            </a:r>
            <a:endParaRPr lang="en-US" sz="1300" dirty="0"/>
          </a:p>
        </p:txBody>
      </p:sp>
      <p:sp>
        <p:nvSpPr>
          <p:cNvPr id="8" name="Text 6"/>
          <p:cNvSpPr txBox="1"/>
          <p:nvPr/>
        </p:nvSpPr>
        <p:spPr>
          <a:xfrm>
            <a:off x="1444752" y="1997964"/>
            <a:ext cx="10012680" cy="341985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يَـٰأَهْلَ الْكِتَٰبِ لَا تَغْلُواْ فِي دِينِكُمْ وَلَا تَقُولُواْ عَلَى اللَّهِ إِلَّا الْحَقَّ إِنَّمَا الْمَسِيحُ عِيسَى ابْنُ مَرْيَمَ رَسُولُ اللَّهِ وَكَلِمَتُهُ أَلْقَىٰهَآ إِلَىٰ مَرْيَمَ وَرُوحٌ مِّنْهُ فَـَٔامِنُواْ بِاللَّهِ وَرُسُلِهِ وَلَا تَقُولُواْ ثَلَٰثَةٌ انتَهُواْ خَيْرًا لَّكُمْ إِنَّمَا اللَّهُ إِلَٰهٌ وَٰحِدٌ سُبْحَٰنَهُ أَن يَكُونَ لَهُ وَلَدٌ لَّهُ مَا فِي السَّمَٰوَٰتِ وَمَا فِي الْأَرْضِ وَكَفَىٰ بِاللَّهِ وَكِيلًا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of the Book, do not go to extremes in your religion, and say nothing about Allah but the truth. The Messiah, 'Isa son of Maryam, is only a messenger of Allah, created by the word "Be". So believe in Allah and His messengers, and do not say "three". Stop; it is better for you. Allah is only One God; He is far above having a son.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172 – 173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88745"/>
            <a:ext cx="548640" cy="548640"/>
          </a:xfrm>
          <a:prstGeom prst="star8">
            <a:avLst/>
          </a:prstGeom>
          <a:solidFill>
            <a:schemeClr val="accent2"/>
          </a:solidFill>
          <a:ln/>
        </p:spPr>
      </p:sp>
      <p:sp>
        <p:nvSpPr>
          <p:cNvPr id="6" name="Shape 4"/>
          <p:cNvSpPr/>
          <p:nvPr/>
        </p:nvSpPr>
        <p:spPr>
          <a:xfrm>
            <a:off x="822960" y="1498473"/>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88745"/>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172</a:t>
            </a:r>
            <a:endParaRPr lang="en-US" sz="1300" dirty="0"/>
          </a:p>
        </p:txBody>
      </p:sp>
      <p:sp>
        <p:nvSpPr>
          <p:cNvPr id="8" name="Text 6"/>
          <p:cNvSpPr txBox="1"/>
          <p:nvPr/>
        </p:nvSpPr>
        <p:spPr>
          <a:xfrm>
            <a:off x="1444752" y="1370457"/>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 يَسْتَنكِفَ الْمَسِيحُ أَن يَكُونَ عَبْدًا لِّلَّهِ وَلَا الْمَلَـٰئِكَةُ الْمُقَرَّبُونَ وَمَن يَسْتَنكِفْ عَنْ عِبَادَتِهِ وَيَسْتَكْبِرْ فَسَيَحْشُرُهُمْ إِلَيْهِ جَمِيعًا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Messiah would never be too proud to be a servant of Allah, nor would the angels brought near. Whoever is too proud to worship Him, He will gather them all to Himself.</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453003"/>
            <a:ext cx="548640" cy="548640"/>
          </a:xfrm>
          <a:prstGeom prst="star8">
            <a:avLst/>
          </a:prstGeom>
          <a:solidFill>
            <a:schemeClr val="accent2"/>
          </a:solidFill>
          <a:ln/>
        </p:spPr>
      </p:sp>
      <p:sp>
        <p:nvSpPr>
          <p:cNvPr id="11" name="Shape 9"/>
          <p:cNvSpPr/>
          <p:nvPr/>
        </p:nvSpPr>
        <p:spPr>
          <a:xfrm>
            <a:off x="822960" y="3562731"/>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45300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173</a:t>
            </a:r>
            <a:endParaRPr lang="en-US" sz="1300" dirty="0"/>
          </a:p>
        </p:txBody>
      </p:sp>
      <p:sp>
        <p:nvSpPr>
          <p:cNvPr id="13" name="Text 11"/>
          <p:cNvSpPr txBox="1"/>
          <p:nvPr/>
        </p:nvSpPr>
        <p:spPr>
          <a:xfrm>
            <a:off x="1444752" y="3434715"/>
            <a:ext cx="10012680" cy="261061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الَّذِينَ ءَامَنُواْ وَعَمِلُواْ الصَّـٰلِحَٰتِ فَيُوَفِّيهِمْ أُجُورَهُمْ وَيَزِيدُهُم مِّن فَضْلِهِ وَأَمَّا الَّذِينَ اسْتَنكَفُواْ وَاسْتَكْبَرُواْ فَيُعَذِّبُهُمْ عَذَابًا أَلِيمًا وَلَا يَجِدُونَ لَهُم مِّن دُونِ اللَّهِ وَلِيًّا وَلَا نَصِيرًا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those who believe and do good deeds, He will give them their rewards in full and more from His favour. As for the arrogant, He will punish them with a painful punishment, and they will find no protector or helper.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174 – 175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174</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يَـٰأَيُّهَا النَّاسُ قَدْ جَآءَكُم بُرْهَٰنٌ مِّن رَّبِّكُمْ وَأَنزَلْنَآ إِلَيْكُمْ نُورًا مُّبِينًا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people, a clear proof has come to you from your Lord, Muhammad (peace be upon him), and We have sent down to you a clear light, the Qur'an.</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175</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فَأَمَّا الَّذِينَ ءَامَنُواْ بِاللَّهِ وَاعْتَصَمُواْ بِهِ فَسَيُدْخِلُهُمْ فِي رَحْمَةٍ مِّنْهُ وَفَضْلٍ وَيَهْدِيهِمْ إِلَيْهِ صِرَٰطًا مُّسْتَقِيمًا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those who believe in Allah and hold firmly to the Qur'an, He will admit them to His mercy and favour and guide them to Himself on a straight path.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An-Nisa'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46554"/>
            <a:ext cx="548640" cy="548640"/>
          </a:xfrm>
          <a:prstGeom prst="star8">
            <a:avLst/>
          </a:prstGeom>
          <a:solidFill>
            <a:schemeClr val="accent2"/>
          </a:solidFill>
          <a:ln/>
        </p:spPr>
      </p:sp>
      <p:sp>
        <p:nvSpPr>
          <p:cNvPr id="6" name="Shape 4"/>
          <p:cNvSpPr/>
          <p:nvPr/>
        </p:nvSpPr>
        <p:spPr>
          <a:xfrm>
            <a:off x="822960" y="22562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4655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176</a:t>
            </a:r>
            <a:endParaRPr lang="en-US" sz="1300" dirty="0"/>
          </a:p>
        </p:txBody>
      </p:sp>
      <p:sp>
        <p:nvSpPr>
          <p:cNvPr id="8" name="Text 6"/>
          <p:cNvSpPr txBox="1"/>
          <p:nvPr/>
        </p:nvSpPr>
        <p:spPr>
          <a:xfrm>
            <a:off x="1444752" y="2128266"/>
            <a:ext cx="10012680" cy="315925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يَسْتَفْتُونَكَ قُلِ اللَّهُ يُفْتِيكُمْ فِي الْكَلَٰلَةِ إِنِ امْرُؤٌاْ هَلَكَ لَيْسَ لَهُ وَلَدٌ وَلَهُ أُخْتٌ فَلَهَا نِصْفُ مَا تَرَكَ وَهُوَ يَرِثُهَآ إِن لَّمْ يَكُن لَّهَا وَلَدٌ فَإِن كَانَتَا اثْنَتَيْنِ فَلَهُمَا الثُّلُثَانِ مِمَّا تَرَكَ وَإِن كَانُواْ إِخْوَةً رِّجَالًا وَنِسَآءً فَلِلذَّكَرِ مِثْلُ حَظِّ الْأُنثَيَيْنِ يُبَيِّنُ اللَّهُ لَكُمْ أَن تَضِلُّواْ وَاللَّهُ بِكُلِّ شَيْءٍ عَلِيمٌ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for a ruling. Say: Allah explains to you the ruling of "al-kalalah": one who dies with no child or parent. If he has a sister, she gets half of what he leaves; if two sisters, they get two-thirds; and if there are brothers and sisters, a male gets the share of two females.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pic>
        <p:nvPicPr>
          <p:cNvPr id="2" name="Image 0" descr="assets4/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"Our Lord, take us out of this town of wrongdoing people, and give us from You a protector and a helper." (An-Nisa' 4:75)</a:t>
            </a:r>
            <a:endParaRPr lang="en-US" sz="2100" dirty="0"/>
          </a:p>
        </p:txBody>
      </p:sp>
      <p:pic>
        <p:nvPicPr>
          <p:cNvPr id="5" name="Image 1" descr="assets4/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An-Nisa Tafsir EN">
  <a:themeElements>
    <a:clrScheme name="An-Nisa Tafsir EN">
      <a:dk1>
        <a:srgbClr val="2B2228"/>
      </a:dk1>
      <a:lt1>
        <a:srgbClr val="FFFFFF"/>
      </a:lt1>
      <a:dk2>
        <a:srgbClr val="8E1F5E"/>
      </a:dk2>
      <a:lt2>
        <a:srgbClr val="FCF7FA"/>
      </a:lt2>
      <a:accent1>
        <a:srgbClr val="8E1F5E"/>
      </a:accent1>
      <a:accent2>
        <a:srgbClr val="C9A04A"/>
      </a:accent2>
      <a:accent3>
        <a:srgbClr val="AE2E78"/>
      </a:accent3>
      <a:accent4>
        <a:srgbClr val="6E6269"/>
      </a:accent4>
      <a:accent5>
        <a:srgbClr val="F6E8F0"/>
      </a:accent5>
      <a:accent6>
        <a:srgbClr val="2F6B5E"/>
      </a:accent6>
      <a:hlink>
        <a:srgbClr val="AE2E78"/>
      </a:hlink>
      <a:folHlink>
        <a:srgbClr val="6E6269"/>
      </a:folHlink>
    </a:clrScheme>
    <a:fontScheme name="An-Nisa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111</Slides>
  <Notes>111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111</vt:i4>
      </vt:variant>
    </vt:vector>
  </HeadingPairs>
  <TitlesOfParts>
    <vt:vector size="1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Surah An-Nisa' — Simplified Tafsir from Ibn Kathir</dc:title>
  <dc:subject>PptxGenJS Presentation</dc:subject>
  <dc:creator>Qur'an Teacher</dc:creator>
  <cp:lastModifiedBy>Qur'an Teacher</cp:lastModifiedBy>
  <cp:revision>1</cp:revision>
  <dcterms:created xsi:type="dcterms:W3CDTF">2026-10-04T04:15:04Z</dcterms:created>
  <dcterms:modified xsi:type="dcterms:W3CDTF">2026-10-04T04:15:04Z</dcterms:modified>
</cp:coreProperties>
</file>