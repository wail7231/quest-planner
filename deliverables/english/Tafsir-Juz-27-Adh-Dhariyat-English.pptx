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Lst>
  <p:notesMasterIdLst>
    <p:notesMasterId r:id="rId1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f1237e9-b17f-89d9-245d-be815e598192}">
          <p14:sldIdLst>
            <p14:sldId id="256"/>
            <p14:sldId id="257"/>
            <p14:sldId id="258"/>
          </p14:sldIdLst>
        </p14:section>
        <p14:section name="Surah Al-Hadid" id="{aa47b535-667f-f1b2-a7f1-d26cb52531da}">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 name="Surah Al-Waqi'ah" id="{64b606a6-58c7-e6ab-dce0-0eb0541c011e}">
          <p14:sldIdLst>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Lst>
        </p14:section>
        <p14:section name="Surah Ar-Rahman" id="{bf502277-b6b8-c1dd-3641-286bb43f6cdf}">
          <p14:sldIdLst>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Lst>
        </p14:section>
        <p14:section name="Surah Al-Qamar" id="{7a0eaaf2-8074-c805-b6dc-5957bc34abf5}">
          <p14:sldIdLst>
            <p14:sldId id="323"/>
            <p14:sldId id="324"/>
            <p14:sldId id="325"/>
            <p14:sldId id="326"/>
            <p14:sldId id="327"/>
            <p14:sldId id="328"/>
            <p14:sldId id="329"/>
            <p14:sldId id="330"/>
            <p14:sldId id="331"/>
            <p14:sldId id="332"/>
            <p14:sldId id="333"/>
            <p14:sldId id="334"/>
            <p14:sldId id="335"/>
            <p14:sldId id="336"/>
            <p14:sldId id="337"/>
            <p14:sldId id="338"/>
            <p14:sldId id="339"/>
          </p14:sldIdLst>
        </p14:section>
        <p14:section name="Surah An-Najm" id="{cba5af2a-beeb-790d-257b-f6a4b24845a4}">
          <p14:sldIdLst>
            <p14:sldId id="340"/>
            <p14:sldId id="341"/>
            <p14:sldId id="342"/>
            <p14:sldId id="343"/>
            <p14:sldId id="344"/>
            <p14:sldId id="345"/>
            <p14:sldId id="346"/>
            <p14:sldId id="347"/>
            <p14:sldId id="348"/>
            <p14:sldId id="349"/>
            <p14:sldId id="350"/>
            <p14:sldId id="351"/>
            <p14:sldId id="352"/>
            <p14:sldId id="353"/>
            <p14:sldId id="354"/>
            <p14:sldId id="355"/>
            <p14:sldId id="356"/>
            <p14:sldId id="357"/>
          </p14:sldIdLst>
        </p14:section>
        <p14:section name="Surah At-Tur" id="{0fa91e10-1824-c257-21b9-170c29618b1a}">
          <p14:sldIdLst>
            <p14:sldId id="358"/>
            <p14:sldId id="359"/>
            <p14:sldId id="360"/>
            <p14:sldId id="361"/>
            <p14:sldId id="362"/>
            <p14:sldId id="363"/>
            <p14:sldId id="364"/>
            <p14:sldId id="365"/>
            <p14:sldId id="366"/>
            <p14:sldId id="367"/>
            <p14:sldId id="368"/>
            <p14:sldId id="369"/>
            <p14:sldId id="370"/>
            <p14:sldId id="371"/>
          </p14:sldIdLst>
        </p14:section>
        <p14:section name="Surah Adh-Dhariyat" id="{ca401a69-3603-5b92-596c-0b4a92fd793b}">
          <p14:sldIdLst>
            <p14:sldId id="372"/>
            <p14:sldId id="373"/>
            <p14:sldId id="374"/>
            <p14:sldId id="375"/>
            <p14:sldId id="376"/>
            <p14:sldId id="377"/>
            <p14:sldId id="378"/>
            <p14:sldId id="379"/>
            <p14:sldId id="380"/>
          </p14:sldIdLst>
        </p14:section>
        <p14:section name="Closing" id="{ac0f55e5-a2a3-c5a9-f08a-921665df0d50}">
          <p14:sldIdLst>
            <p14:sldId id="3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notesMaster" Target="notesMasters/notes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Surah Al-Hadid and move back, surah by surah, until we reach Surah Adh-Dhariyat, which begins in this juz from verse 31.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Allah compare the life of this world to in verse 20? What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are the three groups of people on the Day of Resurrection, according to the surah?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List five favours mentioned in Surah Ar-Rahman. What do we say when we hear “So which of the favours of your Lord will you both deny?”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Which verse is repeated four times in the surah? What does it mean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the Prophet (peace be upon him) see at Sidrat al-Muntaha? What does “Nor does he speak from his own desire”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do verses 35–36 answer those who deny the Creator?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is the purpose of creating jinn and mankind, according to verse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7/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7/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7/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image" Target="../media/image-126-2.png"/><Relationship Id="rId3" Type="http://schemas.openxmlformats.org/officeDocument/2006/relationships/slideLayout" Target="../slideLayouts/slideLayout4.xml"/><Relationship Id="rId4" Type="http://schemas.openxmlformats.org/officeDocument/2006/relationships/notesSlide" Target="../notesSlides/notesSlide1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7/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Adh-Dhariyat</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7/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27 • From Surah Al-Hadid back to Surah Adh-Dhariyat (verse 31)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purple</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Al-Hadid and moves back to Surah Adh-Dhariyat</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Al-Hadid</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Al-Waqi'ah</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Ar-Rahman</a:t>
            </a:r>
            <a:endParaRPr lang="en-US" sz="1400" dirty="0"/>
          </a:p>
        </p:txBody>
      </p:sp>
      <p:sp>
        <p:nvSpPr>
          <p:cNvPr id="10" name="Shape 8"/>
          <p:cNvSpPr/>
          <p:nvPr/>
        </p:nvSpPr>
        <p:spPr>
          <a:xfrm>
            <a:off x="8883167" y="1828800"/>
            <a:ext cx="2622728" cy="566928"/>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8883167"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4. </a:t>
            </a:r>
            <a:pPr algn="ctr" indent="0" marL="0">
              <a:buNone/>
            </a:pPr>
            <a:r>
              <a:rPr lang="en-US" altLang="en-US" sz="1400" b="1" dirty="0">
                <a:solidFill>
                  <a:schemeClr val="tx2"/>
                </a:solidFill>
                <a:latin typeface="Arial" pitchFamily="34" charset="0"/>
                <a:ea typeface="Arial" pitchFamily="34" charset="-122"/>
                <a:cs typeface="Arial" pitchFamily="34" charset="-120"/>
              </a:rPr>
              <a:t>Al-Qamar</a:t>
            </a:r>
            <a:endParaRPr lang="en-US" sz="1400" dirty="0"/>
          </a:p>
        </p:txBody>
      </p:sp>
      <p:sp>
        <p:nvSpPr>
          <p:cNvPr id="12" name="Shape 10"/>
          <p:cNvSpPr/>
          <p:nvPr/>
        </p:nvSpPr>
        <p:spPr>
          <a:xfrm>
            <a:off x="685800" y="2487168"/>
            <a:ext cx="2622728" cy="566928"/>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685800"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5. </a:t>
            </a:r>
            <a:pPr algn="ctr" indent="0" marL="0">
              <a:buNone/>
            </a:pPr>
            <a:r>
              <a:rPr lang="en-US" altLang="en-US" sz="1400" b="1" dirty="0">
                <a:solidFill>
                  <a:schemeClr val="tx2"/>
                </a:solidFill>
                <a:latin typeface="Arial" pitchFamily="34" charset="0"/>
                <a:ea typeface="Arial" pitchFamily="34" charset="-122"/>
                <a:cs typeface="Arial" pitchFamily="34" charset="-120"/>
              </a:rPr>
              <a:t>An-Najm</a:t>
            </a:r>
            <a:endParaRPr lang="en-US" sz="1400" dirty="0"/>
          </a:p>
        </p:txBody>
      </p:sp>
      <p:sp>
        <p:nvSpPr>
          <p:cNvPr id="14" name="Shape 12"/>
          <p:cNvSpPr/>
          <p:nvPr/>
        </p:nvSpPr>
        <p:spPr>
          <a:xfrm>
            <a:off x="3418256" y="2487168"/>
            <a:ext cx="2622728" cy="566928"/>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3418256"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6. </a:t>
            </a:r>
            <a:pPr algn="ctr" indent="0" marL="0">
              <a:buNone/>
            </a:pPr>
            <a:r>
              <a:rPr lang="en-US" altLang="en-US" sz="1400" b="1" dirty="0">
                <a:solidFill>
                  <a:schemeClr val="tx2"/>
                </a:solidFill>
                <a:latin typeface="Arial" pitchFamily="34" charset="0"/>
                <a:ea typeface="Arial" pitchFamily="34" charset="-122"/>
                <a:cs typeface="Arial" pitchFamily="34" charset="-120"/>
              </a:rPr>
              <a:t>At-Tur</a:t>
            </a:r>
            <a:endParaRPr lang="en-US" sz="1400" dirty="0"/>
          </a:p>
        </p:txBody>
      </p:sp>
      <p:sp>
        <p:nvSpPr>
          <p:cNvPr id="16" name="Shape 14"/>
          <p:cNvSpPr/>
          <p:nvPr/>
        </p:nvSpPr>
        <p:spPr>
          <a:xfrm>
            <a:off x="6150712" y="2487168"/>
            <a:ext cx="2622728" cy="566928"/>
          </a:xfrm>
          <a:prstGeom prst="roundRect">
            <a:avLst>
              <a:gd name="adj" fmla="val 50000"/>
            </a:avLst>
          </a:prstGeom>
          <a:solidFill>
            <a:schemeClr val="bg1"/>
          </a:solidFill>
          <a:ln w="12700">
            <a:solidFill>
              <a:schemeClr val="accent2"/>
            </a:solidFill>
            <a:prstDash val="solid"/>
          </a:ln>
        </p:spPr>
      </p:sp>
      <p:sp>
        <p:nvSpPr>
          <p:cNvPr id="17" name="Text 15"/>
          <p:cNvSpPr txBox="1"/>
          <p:nvPr/>
        </p:nvSpPr>
        <p:spPr>
          <a:xfrm>
            <a:off x="6150712"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7. </a:t>
            </a:r>
            <a:pPr algn="ctr" indent="0" marL="0">
              <a:buNone/>
            </a:pPr>
            <a:r>
              <a:rPr lang="en-US" altLang="en-US" sz="1400" b="1" dirty="0">
                <a:solidFill>
                  <a:schemeClr val="tx2"/>
                </a:solidFill>
                <a:latin typeface="Arial" pitchFamily="34" charset="0"/>
                <a:ea typeface="Arial" pitchFamily="34" charset="-122"/>
                <a:cs typeface="Arial" pitchFamily="34" charset="-120"/>
              </a:rPr>
              <a:t>Adh-Dhariyat</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Al-Hadid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29 verses • The Iron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Mas'ud (may Allah be pleased with him) said: Only four years passed between our accepting Islam and Allah gently blaming us with this verse: “Has the time not come for those who believe that their hearts become humble at the remembrance of Allah?”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Encouraging faith and spending in the way of Allah, showing the truth about this world, and calling hearts to be humble.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4356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 لِلَّهِ مَا فِي السَّمَٰوَٰتِ وَالْأَرْضِ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Everything in the heavens and the earth glorifies Allah, and He is the Almighty, the All-Wise.</a:t>
            </a:r>
            <a:endParaRPr lang="en-US" sz="3000" dirty="0"/>
          </a:p>
        </p:txBody>
      </p:sp>
      <p:sp>
        <p:nvSpPr>
          <p:cNvPr id="9" name="Shape 7"/>
          <p:cNvSpPr/>
          <p:nvPr/>
        </p:nvSpPr>
        <p:spPr>
          <a:xfrm>
            <a:off x="1444752" y="2610612"/>
            <a:ext cx="8641080" cy="0"/>
          </a:xfrm>
          <a:prstGeom prst="line">
            <a:avLst/>
          </a:prstGeom>
          <a:noFill/>
          <a:ln w="9525">
            <a:solidFill>
              <a:schemeClr val="accent2"/>
            </a:solidFill>
            <a:prstDash val="dash"/>
          </a:ln>
        </p:spPr>
      </p:sp>
      <p:sp>
        <p:nvSpPr>
          <p:cNvPr id="10" name="Shape 8"/>
          <p:cNvSpPr/>
          <p:nvPr/>
        </p:nvSpPr>
        <p:spPr>
          <a:xfrm>
            <a:off x="713232" y="2839212"/>
            <a:ext cx="548640" cy="548640"/>
          </a:xfrm>
          <a:prstGeom prst="star8">
            <a:avLst/>
          </a:prstGeom>
          <a:solidFill>
            <a:schemeClr val="accent2"/>
          </a:solidFill>
          <a:ln/>
        </p:spPr>
      </p:sp>
      <p:sp>
        <p:nvSpPr>
          <p:cNvPr id="11" name="Shape 9"/>
          <p:cNvSpPr/>
          <p:nvPr/>
        </p:nvSpPr>
        <p:spPr>
          <a:xfrm>
            <a:off x="822960" y="294894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392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82092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 مُلْكُ السَّمَٰوَٰتِ وَالْأَرْضِ يُحْيِ وَيُمِيتُ وَهُوَ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is the kingdom of the heavens and the earth. He gives life and causes death, and He has power over all things.</a:t>
            </a:r>
            <a:endParaRPr lang="en-US" sz="3000" dirty="0"/>
          </a:p>
        </p:txBody>
      </p:sp>
      <p:sp>
        <p:nvSpPr>
          <p:cNvPr id="14" name="Shape 12"/>
          <p:cNvSpPr/>
          <p:nvPr/>
        </p:nvSpPr>
        <p:spPr>
          <a:xfrm>
            <a:off x="1444752" y="4256532"/>
            <a:ext cx="8641080" cy="0"/>
          </a:xfrm>
          <a:prstGeom prst="line">
            <a:avLst/>
          </a:prstGeom>
          <a:noFill/>
          <a:ln w="9525">
            <a:solidFill>
              <a:schemeClr val="accent2"/>
            </a:solidFill>
            <a:prstDash val="dash"/>
          </a:ln>
        </p:spPr>
      </p:sp>
      <p:sp>
        <p:nvSpPr>
          <p:cNvPr id="15" name="Shape 13"/>
          <p:cNvSpPr/>
          <p:nvPr/>
        </p:nvSpPr>
        <p:spPr>
          <a:xfrm>
            <a:off x="713232" y="4485132"/>
            <a:ext cx="548640" cy="548640"/>
          </a:xfrm>
          <a:prstGeom prst="star8">
            <a:avLst/>
          </a:prstGeom>
          <a:solidFill>
            <a:schemeClr val="accent2"/>
          </a:solidFill>
          <a:ln/>
        </p:spPr>
      </p:sp>
      <p:sp>
        <p:nvSpPr>
          <p:cNvPr id="16" name="Shape 14"/>
          <p:cNvSpPr/>
          <p:nvPr/>
        </p:nvSpPr>
        <p:spPr>
          <a:xfrm>
            <a:off x="822960" y="45948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851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466844"/>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الْأَوَّلُ وَالْأخِرُ وَالظَّـٰهِرُ وَالْبَاطِنُ وَهُوَ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First, with nothing before Him; the Last, with nothing after Him; the Most High, with nothing above Him; and the Most Near, with nothing hidden from Him, as the Prophet (peace be upon him) explained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70535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خَلَقَ السَّمَٰوَٰتِ وَالْأَرْضَ فِي سِتَّةِ أَيَّامٍ ثُمَّ اسْتَوَىٰ عَلَى الْعَرْشِ يَعْلَمُ مَا يَلِجُ فِي الْأَرْضِ وَمَا يَخْرُجُ مِنْهَا وَمَا يَنزِلُ مِنَ السَّمَآءِ وَمَا يَعْرُجُ فِيهَا وَهُوَ مَعَكُمْ أَيْنَ مَا كُنتُمْ وَاللَّهُ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the heavens and the earth in six days, then rose over the Throne in a way that suits His majesty. He knows what goes into the earth and what comes out of it, what comes down from the sky and what goes up into it, and He is with you by His knowledge wherever you are.</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71830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 مُلْكُ السَّمَٰوَٰتِ وَالْأَرْضِ وَإِلَى اللَّهِ تُرْجَعُ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is the kingdom of the heavens and the earth, and to Him all matters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يُولِجُ الَّيْلَ فِي النَّهَارِ وَيُولِجُ النَّهَارَ فِي الَّيْلِ وَهُوَ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makes the night enter the day so the day grows longer, and makes the day enter the night so the night grows longer, and He knows what is in the hearts.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ءَامِنُواْ بِاللَّهِ وَرَسُولِهِ وَأَنفِقُواْ مِمَّا جَعَلَكُم مُّسْتَخْلَفِينَ فِيهِ فَالَّذِينَ ءَامَنُواْ مِنكُمْ وَأَنفَقُواْ لَهُمْ أَجْرٌ 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Believe in Allah and His Messenger, and spend from the wealth He has entrusted to you. Those who believe and spend will have a great reward.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لَكُمْ لَا تُؤْمِنُونَ بِاللَّهِ وَالرَّسُولُ يَدْعُوكُمْ لِتُؤْمِنُواْ بِرَبِّكُمْ وَقَدْ أَخَذَ مِيثَٰقَكُمْ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stops you from believing in Allah, when the Messenger calls you to it and Allah has taken your promise?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يُنَزِّلُ عَلَىٰ عَبْدِهِ ءَايَٰتٍ بَيِّنَٰتٍ لِّيُخْرِجَكُم مِّنَ الظُّلُمَٰتِ إِلَى النُّورِ وَإِنَّ اللَّهَ بِكُمْ لَرَءُوفٌ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sends down clear verses to Muhammad (peace be upon him) to bring you out of the darkness of disbelief into the light of faith. Allah is Kind and Most Merciful to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لَكُمْ أَلَّا تُنفِقُواْ فِي سَبِيلِ اللَّهِ وَلِلَّهِ مِيرَٰثُ السَّمَٰوَٰتِ وَالْأَرْضِ لَا يَسْتَوِي مِنكُم مَّنْ أَنفَقَ مِن قَبْلِ الْفَتْحِ وَقَٰتَلَ أُوْلَـٰئِكَ أَعْظَمُ دَرَجَةً مِّنَ الَّذِينَ أَنفَقُواْ مِن بَعْدُ وَقَٰتَلُواْ وَكُلًّا وَعَدَ اللَّهُ الْحُسْنَىٰ وَاللَّهُ بِمَا تَعْمَلُونَ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do you not spend in the way of Allah, when everything in the heavens and the earth returns to Him? Those who spent and fought before the Conquest of Makkah are not equal to those who did so after; the first are higher in rank, yet Allah has promised Paradise to all.</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ذَا الَّذِي يُقْرِضُ اللَّهَ قَرْضًا حَسَنًا فَيُضَٰعِفَهُ لَهُ وَلَهُ أَجْرٌ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will spend in the way of Allah a good spending, so that He multiplies it for him and he has a generous reward in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تَرَى الْمُؤْمِنِينَ وَالْمُؤْمِنَٰتِ يَسْعَىٰ نُورُهُم بَيْنَ أَيْدِيهِمْ وَبِأَيْمَٰنِهِم بُشْرَىٰكُمُ الْيَوْمَ جَنَّـٰتٌ تَجْرِي مِن تَحْتِهَا الْأَنْهَٰرُ خَٰلِدِينَ فِيهَا ذَٰلِكَ هُوَ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of Resurrection you will see the believing men and women with their light running ahead of them and on their right. It will be said to them: Good news for you today: Gardens with rivers flowing beneath them. That is the great success.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يَقُولُ الْمُنَٰفِقُونَ وَالْمُنَٰفِقَٰتُ لِلَّذِينَ ءَامَنُواْ انظُرُونَا نَقْتَبِسْ مِن نُّورِكُمْ قِيلَ ارْجِعُواْ وَرَآءَكُمْ فَالْتَمِسُواْ نُورًا فَضُرِبَ بَيْنَهُم بِسُورٍ لَّهُ بَابٌ بَاطِنُهُ فِيهِ الرَّحْمَةُ وَظَٰهِرُهُ مِن قِبَلِهِ الْعَذَابُ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hypocrites will say to the believers: Wait for us so we can take some of your light. It will be said: Go back and look for light. Then a wall with a door will be put between them; inside it is mercy and outside it is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يُنَادُونَهُمْ أَلَمْ نَكُن مَّعَكُمْ قَالُواْ بَلَىٰ وَلَٰكِنَّكُمْ فَتَنتُمْ أَنفُسَكُمْ وَتَرَبَّصْتُمْ وَارْتَبْتُمْ وَغَرَّتْكُمُ الْأَمَانِيُّ حَتَّىٰ جَآءَ أَمْرُ اللَّهِ وَغَرَّكُم بِاللَّهِ الْغَرُورُ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will call to the believers: Were we not with you in the world? They will say: Yes, but you destroyed yourselves with hypocrisy, waited for harm to come to the believers, doubted, and were fooled by false hopes until death came, and Satan fooled you.</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فَالْيَوْمَ لَا يُؤْخَذُ مِنكُمْ فِدْيَةٌ وَلَا مِنَ الَّذِينَ كَفَرُواْ مَأْوَىٰكُمُ النَّارُ هِيَ مَوْلَىٰكُمْ وَبِئْسَ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today no ransom will be accepted from you or from the disbelievers. Your home is the Fire; it is your protector, and what an evil destination!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يَأْنِ لِلَّذِينَ ءَامَنُواْ أَن تَخْشَعَ قُلُوبُهُمْ لِذِكْرِ اللَّهِ وَمَا نَزَلَ مِنَ الْحَقِّ وَلَا يَكُونُواْ كَالَّذِينَ أُوتُواْ الْكِتَٰبَ مِن قَبْلُ فَطَالَ عَلَيْهِمُ الْأَمَدُ فَقَسَتْ قُلُوبُهُمْ وَكَثِيرٌ مِّنْهُمْ 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time not come for the believers that their hearts become humble at the remembrance of Allah and the Qur'an, and not be like the People of the Book whose hearts grew hard after a long time passed?</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اعْلَمُواْ أَنَّ اللَّهَ يُحْيِ الْأَرْضَ بَعْدَ مَوْتِهَا قَدْ بَيَّنَّا لَكُمُ الْأيَٰتِ لَعَلَّكُمْ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Know that Allah brings the earth back to life with rain after it was dry; in the same way He softens hard hearts with faith. We have made the signs clear to you so that you may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الْمُصَّدِّقِينَ وَالْمُصَّدِّقَٰتِ وَأَقْرَضُواْ اللَّهَ قَرْضًا حَسَنًا يُضَٰعَفُ لَهُمْ وَلَهُمْ أَجْرٌ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men and women who give charity and spend in the way of Allah a good spending will have their reward multiplied, and they will have a generous reward.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بِاللَّهِ وَرُسُلِهِ أُوْلَـٰئِكَ هُمُ الصِّدِّيقُونَ وَالشُّهَدَآءُ عِندَ رَبِّهِمْ لَهُمْ أَجْرُهُمْ وَنُورُهُمْ وَالَّذِينَ كَفَرُواْ وَكَذَّبُواْ بِـَٔايَٰتِنَآ أُوْلَـٰئِكَ أَصْحَٰبُ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in Allah and His messengers are the truthful ones, and the martyrs with their Lord will have their reward and their light. But those who disbelieve and deny Our verses are the people of the Hellfire.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اعْلَمُواْ أَنَّمَا الْحَيَوٰةُ الدُّنْيَا لَعِبٌ وَلَهْوٌ وَزِينَةٌ وَتَفَاخُرٌ بَيْنَكُمْ وَتَكَاثُرٌ فِي الْأَمْوَٰلِ وَالْأَوْلَٰدِ كَمَثَلِ غَيْثٍ أَعْجَبَ الْكُفَّارَ نَبَاتُهُ ثُمَّ يَهِيجُ فَتَرَىٰهُ مُصْفَرًّا ثُمَّ يَكُونُ حُطَٰمًا وَفِي الْأخِرَةِ عَذَابٌ شَدِيدٌ وَمَغْفِرَةٌ مِّنَ اللَّهِ وَرِضْوَٰنٌ وَمَا الْحَيَوٰةُ الدُّنْيَآ إِلَّا مَتَٰعُ الْغُرُورِ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Know that the life of this world is only play, amusement, decoration, boasting to one another, and competing in wealth and children. It is like rain whose plants delight the farmers, then they dry up and you see them turn yellow, then they become broken bits. In the Hereafter there is severe punishment, or forgiveness from Allah and His pleasure.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سَابِقُواْ إِلَىٰ مَغْفِرَةٍ مِّن رَّبِّكُمْ وَجَنَّةٍ عَرْضُهَا كَعَرْضِ السَّمَآءِ وَالْأَرْضِ أُعِدَّتْ لِلَّذِينَ ءَامَنُواْ بِاللَّهِ وَرُسُلِهِ ذَٰلِكَ فَضْلُ اللَّهِ يُؤْتِيهِ مَن يَشَآءُ وَاللَّهُ ذُو الْفَضْلِ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Race to what brings forgiveness from your Lord and to a Paradise as wide as the sky and the earth, prepared for the believers. That is Allah's favour; He gives it to whom He wills.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أَصَابَ مِن مُّصِيبَةٍ فِي الْأَرْضِ وَلَا فِي أَنفُسِكُمْ إِلَّا فِي كِتَٰبٍ مِّن قَبْلِ أَن نَّبْرَأَهَآ إِنَّ ذَٰلِكَ عَلَى اللَّهِ يَسِيرٌ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disaster strikes on earth or in yourselves except that it is written in the Preserved Tablet before Allah brings it into being. That is easy for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لِّكَيْلَا تَأْسَوْاْ عَلَىٰ مَا فَاتَكُمْ وَلَا تَفْرَحُواْ بِمَآ ءَاتَىٰكُمْ وَاللَّهُ لَا يُحِبُّ كُلَّ مُخْتَالٍ فَخُورٍ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you do not grieve too much over what you missed, nor rejoice proudly over what He gave you. Allah does not love any arrogant boaster,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يَبْخَلُونَ وَيَأْمُرُونَ النَّاسَ بِالْبُخْلِ وَمَن يَتَوَلَّ فَإِنَّ اللَّهَ هُوَ الْغَنِيُّ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are stingy and tell people to be stingy. Whoever turns away, Allah is Free of need, Praiseworthy.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أَرْسَلْنَا رُسُلَنَا بِالْبَيِّنَٰتِ وَأَنزَلْنَا مَعَهُمُ الْكِتَٰبَ وَالْمِيزَانَ لِيَقُومَ النَّاسُ بِالْقِسْطِ وَأَنزَلْنَا الْحَدِيدَ فِيهِ بَأْسٌ شَدِيدٌ وَمَنَٰفِعُ لِلنَّاسِ وَلِيَعْلَمَ اللَّهُ مَن يَنصُرُهُ وَرُسُلَهُ بِالْغَيْبِ إِنَّ اللَّهَ قَوِيٌّ 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Our messengers with clear proofs, and sent down with them the Books and the balance of justice so that people would stand for justice. And We sent down iron, with great strength and benefits for people, and so that Allah would make known who helps His religion and His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نُوحًا وَإِبْرَٰهِيمَ وَجَعَلْنَا فِي ذُرِّيَّتِهِمَا النُّبُوَّةَ وَالْكِتَٰبَ فَمِنْهُم مُّهْتَدٍ وَكَثِيرٌ مِّنْهُمْ 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Nuh and Ibrahim, and placed prophethood and the Books among their descendants. Some of them were guided, but many of them left Allah's 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قَفَّيْنَا عَلَىٰ ءَاثَٰرِهِم بِرُسُلِنَا وَقَفَّيْنَا بِعِيسَى ابْنِ مَرْيَمَ وَءَاتَيْنَٰهُ الْإِنجِيلَ وَجَعَلْنَا فِي قُلُوبِ الَّذِينَ اتَّبَعُوهُ رَأْفَةً وَرَحْمَةً وَرَهْبَانِيَّةً ابْتَدَعُوهَا مَا كَتَبْنَٰهَا عَلَيْهِمْ إِلَّا ابْتِغَآءَ رِضْوَٰنِ اللَّهِ فَمَا رَعَوْهَا حَقَّ رِعَايَتِهَا فَـَٔاتَيْنَا الَّذِينَ ءَامَنُواْ مِنْهُمْ أَجْرَهُمْ وَكَثِيرٌ مِّنْهُمْ 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sent other messengers after them, and sent 'Isa and gave him the Injil, and put mercy in the hearts of his followers. They invented monasticism themselves; We did not prescribe it for them, and they did not keep it as it should be kept.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Al-Hadid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وَءَامِنُواْ بِرَسُولِهِ يُؤْتِكُمْ كِفْلَيْنِ مِن رَّحْمَتِهِ وَيَجْعَل لَّكُمْ نُورًا تَمْشُونَ بِهِ وَيَغْفِرْ لَكُمْ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you who believe from the People of the Book, have taqwa of Allah and believe in Muhammad (peace be upon him); He will give you a double reward from His mercy, give you a light to walk by, and forgive you.</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لِّئَلَّا يَعْلَمَ أَهْلُ الْكِتَٰبِ أَلَّا يَقْدِرُونَ عَلَىٰ شَيْءٍ مِّن فَضْلِ اللَّهِ وَأَنَّ الْفَضْلَ بِيَدِ اللَّهِ يُؤْتِيهِ مَن يَشَآءُ وَاللَّهُ ذُو الْفَضْلِ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the People of the Book know that they have no control over Allah's favour, and that all favour is in Allah's hand; He gives it to whom He wills, and Allah is the Owner of great favour.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Al-Waqi'ah</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96 verses • The Inevitable Event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The Prophet (peace be upon him) said about it: "Hud, Al-Waqi'ah, Al-Mursalat, 'Amma Yatasa'alun and Idhash-Shamsu Kuwwirat have made my hair grey" (Tirmidhi).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terrors of the Day of Resurrection, people being divided into three groups: the forerunners, the people of the right and the people of the left, and proofs of the Resurrection.</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وَقَعَتِ الْوَاقِعَةُ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Hour comes; it is called "Al-Waqi'ah" because it will certainly happen.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لِوَقْعَتِهَا كَاذِبَةٌ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no one will deny that it has happened.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خَافِضَةٌ رَّافِعَةٌ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bring the disbelievers down into the Fire and raise the believers up into Paradise.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رُجَّتِ الْأَرْضُ رَجًّا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earth is shaken violently,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وَبُسَّتِ الْجِبَالُ بَسًّا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mountains are crumbled to pieces,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فَكَانَتْ هَبَآءً مُّنبَثًّا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become scattered dust,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وَكُنتُمْ أَزْوَٰجًا ثَلَٰثَةً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will be in three groups.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فَأَصْحَٰبُ الْمَيْمَنَةِ مَآ أَصْحَٰبُ الْمَيْمَنَةِ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right: how great is their rank!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وَأَصْحَٰبُ الْمَشْـَٔمَةِ مَآ أَصْحَٰبُ الْمَشْـَٔمَةِ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left: how terrible is their state!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وَالسَّـٰبِقُونَ السَّـٰبِقُونَ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forerunners in good deeds in this world are the forerunners into Paradise in the Hereafter.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الْمُقَرَّبُونَ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brought near to Allah,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جَنَّـٰتِ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Gardens of Bliss: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ثُلَّةٌ مِّنَ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large group from the first generations of this Ummah,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وَقَلِيلٌ مِّنَ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 few from the later ones,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عَلَىٰ سُرُرٍ مَّوْضُونَةٍ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couches woven with gold,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مُّتَّكِـِٔينَ عَلَيْهَا مُتَقَٰبِلِينَ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reclining on them, facing one another.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يَطُوفُ عَلَيْهِمْ وِلْدَٰنٌ مُّخَلَّدُونَ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Young servants who stay forever young will go around serving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بِأَكْوَابٍ وَأَبَارِيقَ وَكَأْسٍ مِّن 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cups, jugs and a glass from a flowing drink,</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يُصَدَّعُونَ عَنْهَا وَلَا يُنزِفُونَ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which gives them no headache and does not take away their minds,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وَفَٰكِهَةٍ مِّمَّا يَتَخَيَّرُونَ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fruit of their choice,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وَلَحْمِ طَيْرٍ مِّمَّا يَشْتَهُونَ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meat of birds as they desire,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وَحُورٌ 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beautiful wives with wide eyes,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كَأَمْثَٰلِ اللُّؤْلُوِٕ الْمَكْنُونِ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like hidden pearls in their purity,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جَزَآءً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reward for what they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يَسْمَعُونَ فِيهَا لَغْوًا وَلَا تَأْثِيمًا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Paradise they will hear no false talk and nothing sinful,</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قِيلًا سَلَٰمًا سَلَٰمًا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only good words and the greeting: Peace.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وَأَصْحَٰبُ الْيَمِينِ مَآ أَصْحَٰبُ الْيَمِينِ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people of the right: how great is their rank!</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سِدْرٍ مَّخْضُودٍ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lote trees with their thorns removed,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وَطَلْحٍ مَّنضُودٍ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banana trees with fruit piled up,</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وَظِلٍّ مَّمْدُودٍ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lasting, spreading shade,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وَمَآءٍ مَّسْكُوبٍ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water flowing without end,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وَفَٰكِهَةٍ كَثِيرَةٍ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plenty of fruit,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مَقْطُوعَةٍ وَلَا مَمْنُوعَةٍ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never out of season and never forbidden,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وَفُرُشٍ مَّرْفُوعَةٍ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raised couches.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أَنشَأْنَٰهُنَّ إِنشَآءً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created the women of Paradise in a new creation,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فَجَعَلْنَٰهُنَّ أَبْكَارًا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them pure,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عُرُبًا أَتْرَابًا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loving to their husbands and of equal age,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لِّأَصْحَٰبِ الْيَمِينِ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the people of the right: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ثُلَّةٌ مِّنَ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large group from the first generations of this Ummah,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وَثُلَّةٌ مِّنَ 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 large group from the later ones.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وَأَصْحَٰبُ الشِّمَالِ مَآ أَصْحَٰبُ الشِّمَالِ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people of the left: how terrible is their state!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سَمُومٍ وَحَمِيمٍ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scorching wind and boiling water,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وَظِلٍّ مِّن يَحْمُومٍ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 shade of black smoke,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بَارِدٍ وَلَا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neither cool nor pleasant to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كَانُواْ قَبْلَ ذَٰلِكَ مُتْرَفِينَ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world they were drowned in their desires,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وَكَانُواْ يُصِرُّونَ عَلَى الْحِنثِ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insisted on the great sin, shirk,</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وَكَانُواْ يَقُولُونَ أَئِذَا مِتْنَا وَكُنَّا تُرَابًا وَعِظَٰمًا أَءِنَّا لَمَبْعُوثُونَ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used to say: When we die and become dust and bones, will we really be raised again?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أَوَءَابَآؤُنَا الْأَوَّلُونَ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our forefathers too?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الْأَوَّلِينَ وَالْأخِرِينَ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The first and the last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لَمَجْمُوعُونَ إِلَىٰ مِيقَٰتِ يَوْمٍ 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will be gathered at the time of a known Day, the Day of Resurrection.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إِنَّكُمْ أَيُّهَا الضَّآلُّونَ الْمُكَذِّبُونَ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you, O you who are astray and deny the Resurrection,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لَأكِلُونَ مِن شَجَرٍ مِّن زَقُّومٍ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will eat from the tree of Zaqqum,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فَمَالِـُٔونَ مِنْهَا الْبُطُونَ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filling your bellies with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فَشَٰرِبُونَ عَلَيْهِ مِنَ الْحَمِيمِ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drink boiling water on top of 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فَشَٰرِبُونَ شُرْبَ الْهِيمِ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drinking like thirsty camels that never quench their thirst.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نُزُلُهُمْ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their welcome on the Day of Judgement.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خَلَقْنَٰكُمْ فَلَوْلَا تُصَدِّقُونَ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you, so why do you not believe in the Resurrection?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أَفَرَءَيْتُم مَّا تُمْنُونَ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thought about the fluid from which a child comes?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ءَأَنتُمْ تَخْلُقُونَهُ أَمْ نَحْنُ الْخَٰلِقُونَ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you who create it into a human, or are We the Creator?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قَدَّرْنَا بَيْنَكُمُ الْمَوْتَ وَمَا نَحْنُ بِمَسْبُوقِينَ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decreed death among you, and We are not unable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عَلَىٰ أَن نُّبَدِّلَ أَمْثَٰلَكُمْ وَنُنشِئَكُمْ فِي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replace you with others like you and create you in forms you do not know.</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عَلِمْتُمُ النَّشْأَةَ الْأُولَىٰ فَلَوْلَا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know the first creation, so why do you not remember that the One who created you the first time can bring you back?</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أَفَرَءَيْتُم مَّا تَحْرُثُونَ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thought about the seeds you plant?</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ءَأَنتُمْ تَزْرَعُونَهُ أَمْ نَحْنُ الزَّـٰرِعُونَ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you who make them grow, or are We the One who makes them grow?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نَشَآءُ لَجَعَلْنَٰهُ حُطَٰمًا فَظَلْتُمْ تَفَكَّهُونَ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make them dry broken bits, and you would be left wondering and regretting,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لَمُغْرَمُونَ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saying: We have lost everything!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نَحْنُ مَحْرُومُونَ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we have been deprived of provision.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أَفَرَءَيْتُمُ الْمَآءَ الَّذِي تَشْرَبُونَ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thought about the water you drink?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ءَأَنتُمْ أَنزَلْتُمُوهُ مِنَ الْمُزْنِ أَمْ نَحْنُ الْمُنزِلُونَ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you who brought it down from the clouds, or are We the One who sends it down?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نَشَآءُ جَعَلْنَٰهُ أُجَاجًا فَلَوْلَا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make it salty and undrinkable, so why are you not thankful?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أَفَرَءَيْتُمُ النَّارَ الَّتِي تُورُونَ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thought about the fire you light?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ءَأَنتُمْ أَنشَأْتُمْ شَجَرَتَهَآ أَمْ نَحْنُ الْمُنشِـُٔونَ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you who created its tree, or are We the Creator?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جَعَلْنَٰهَا تَذْكِرَةً وَمَتَٰعًا لِّلْمُقْوِينَ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it a reminder of the fire of Hell and a benefit for travellers.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فَسَبِّحْ بِاسْمِ رَبِّكَ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glorify the name of your Lord, the Most Great. When it was revealed, the Prophet (peace be upon him) said: "Put it in your bowing."</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أُقْسِمُ بِمَوَٰقِعِ النُّجُومِ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 swear by the places where the stars set in the sky,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لَقَسَمٌ لَّوْ تَعْلَمُونَ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it is a great oath, if only you knew: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لَقُرْءَانٌ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a noble Qur'an, full of good,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كِتَٰبٍ مَّكْنُونٍ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a protected Book, the Preserved Tablet,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يَمَسُّهُ إِلَّا الْمُطَهَّرُونَ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touched only by the purified angels,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 مِّن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sent down from the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أَفَبِهَٰذَا الْحَدِيثِ أَنتُم مُّدْهِنُونَ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take this Qur'an lightly and deny it?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وَتَجْعَلُونَ رِزْقَكُمْ أَنَّكُمْ تُكَذِّبُونَ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instead of thanking Allah for your provision, you deny Him, like those who say: We got rain because of such-and-such a star.</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فَلَوْلَآ إِذَا بَلَغَتِ الْحُلْقُومَ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why, when the soul reaches the throat at death,</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وَأَنتُمْ حِينَئِذٍ تَنظُرُونَ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while you are sitting there watching,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85 –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وَنَحْنُ أَقْرَبُ إِلَيْهِ مِنكُمْ وَلَٰكِن لَّا تُبْصِرُونَ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are nearer to him than you through Our angels, though you do not see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فَلَوْلَآ إِن كُنتُمْ غَيْرَ مَدِينِينَ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why, if you are not to be raised and held to account,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تَرْجِعُونَهَآ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bring the soul back into the body, if you are truthful?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إِن كَانَ مِنَ الْمُقَرَّبِينَ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if the dead person is one of those brought near,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89 – 92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فَرَوْحٌ وَرَيْحَانٌ وَجَنَّتُ 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have rest, mercy, good provision and a Garden of Bliss.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إِن كَانَ مِنْ أَصْحَٰبِ الْيَمِينِ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if he is one of the people of the right,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فَسَلَٰمٌ لَّكَ مِنْ أَصْحَٰبِ الْيَمِينِ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him: Peace be upon you; you are one of the people of the right.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إِن كَانَ مِنَ الْمُكَذِّبِينَ الضَّآلِّينَ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he is one of those who denied and went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Al-Waqi'ah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93 – 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فَنُزُلٌ مِّنْ 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welcome will be boiling water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وَتَصْلِيَةُ 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entering the Fire.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لَهُوَ حَقُّ الْيَقِينِ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news is the certain truth.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فَسَبِّحْ بِاسْمِ رَبِّكَ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glorify the name of your Lord, the Most Great.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Ar-Rahman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78 verses • The Most Merciful</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No specific, well-known reason for revelation is reported. The Prophet (peace be upon him) recited it to his Companions and said: "I recited it to the jinn and they answered better than you. Every time I reached “So which of the favours of your Lord will you both deny?” they said: We deny none of Your favours, our Lord; all praise is Yours" (Tirmidhi).</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Listing Allah's favours on the jinn and mankind, reminding them of them, and describing the reward of the deniers and the bliss of those with taqwa.</a:t>
            </a:r>
            <a:endParaRPr lang="en-US" sz="1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الرَّحْمَٰنُ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Most Merciful, whose mercy is vast,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 الْقُرْءَانَ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taught the Qur'an.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الْإِنسَٰنَ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man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عَلَّمَهُ الْبَيَانَ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taught him speech, clear expression and understanding.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الشَّمْسُ وَالْقَمَرُ بِحُسْبَانٍ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sun and the moon run by exact calculation that never fails.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وَالنَّجْمُ وَالشَّجَرُ يَسْجُدَانِ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Plants without stems and trees bow down to Allah.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وَالسَّمَآءَ رَفَعَهَا وَوَضَعَ الْمِيزَانَ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raised the sky and set up justice among creation,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تَطْغَوْاْ فِي الْمِيزَانِ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you do not wrong others or go beyond justice.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وَأَقِيمُواْ الْوَزْنَ بِالْقِسْطِ وَلَا تُخْسِرُواْ الْمِيزَانَ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Weigh with justice, and do not give short measure.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وَالْأَرْضَ وَضَعَهَا لِلْأَنَامِ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spread out the earth for His creatures.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فِيهَا فَٰكِهَةٌ وَالنَّخْلُ ذَاتُ الْأَكْمَامِ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it are fruits, and palm trees with sheaths from which the dates come out,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وَالْحَبُّ ذُو الْعَصْفِ وَالرَّيْحَانُ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grain with husks, and sweet-smelling plants.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556766"/>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 This verse is repeated 31 times. Whenever the jinn heard it, they said: "We deny none of Your favours, our Lord; all praise is Yours" (Tirmidhi).</a:t>
            </a:r>
            <a:endParaRPr lang="en-US" sz="3000" dirty="0"/>
          </a:p>
        </p:txBody>
      </p:sp>
      <p:sp>
        <p:nvSpPr>
          <p:cNvPr id="9" name="Shape 7"/>
          <p:cNvSpPr/>
          <p:nvPr/>
        </p:nvSpPr>
        <p:spPr>
          <a:xfrm>
            <a:off x="1444752" y="3257550"/>
            <a:ext cx="8641080" cy="0"/>
          </a:xfrm>
          <a:prstGeom prst="line">
            <a:avLst/>
          </a:prstGeom>
          <a:noFill/>
          <a:ln w="9525">
            <a:solidFill>
              <a:schemeClr val="accent2"/>
            </a:solidFill>
            <a:prstDash val="dash"/>
          </a:ln>
        </p:spPr>
      </p:sp>
      <p:sp>
        <p:nvSpPr>
          <p:cNvPr id="10" name="Shape 8"/>
          <p:cNvSpPr/>
          <p:nvPr/>
        </p:nvSpPr>
        <p:spPr>
          <a:xfrm>
            <a:off x="713232" y="3490722"/>
            <a:ext cx="548640" cy="548640"/>
          </a:xfrm>
          <a:prstGeom prst="star8">
            <a:avLst/>
          </a:prstGeom>
          <a:solidFill>
            <a:schemeClr val="accent2"/>
          </a:solidFill>
          <a:ln/>
        </p:spPr>
      </p:sp>
      <p:sp>
        <p:nvSpPr>
          <p:cNvPr id="11" name="Shape 9"/>
          <p:cNvSpPr/>
          <p:nvPr/>
        </p:nvSpPr>
        <p:spPr>
          <a:xfrm>
            <a:off x="822960" y="360045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9072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47243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الْإِنسَٰنَ مِن صَلْصَٰلٍ كَالْفَخَّارِ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Adam from dry clay like pottery,</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وَخَلَقَ الْجَآنَّ مِن مَّارِجٍ مِّن 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created the father of the jinn from a smokeless flame of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الْمَشْرِقَيْنِ وَرَبُّ الْمَغْرِبَيْنِ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Lord of the two sunrises of winter and summer, and Lord of the two sunsets.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مَرَجَ الْبَحْرَيْنِ يَلْتَقِيَانِ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let loose the two seas, fresh and salty, meeting together,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بَيْنَهُمَا بَرْزَخٌ لَّا يَبْغِيَانِ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a barrier between them that neither oversteps.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يَخْرُجُ مِنْهُمَا اللُّؤْلُؤُ وَالْمَرْجَانُ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both of them come out pearls and coral.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 الْجَوَارِ الْمُنشَـَٔاتُ فِي الْبَحْرِ كَالْأَعْلَٰمِ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are the ships with raised sails in the sea, like mountains.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 مَنْ عَلَيْهَا فَانٍ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Everyone on earth will perish,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وَيَبْقَىٰ وَجْهُ رَبِّكَ ذُو الْجَلَٰلِ وَالْإِكْرَامِ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Face of your Lord will remain, Owner of Majesty and Honour.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يَسْـَٔلُهُ مَن فِي السَّمَٰوَٰتِ وَالْأَرْضِ كُلَّ يَوْمٍ هُوَ فِي شَأْنٍ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Everyone in the heavens and the earth asks Him for their needs. Every day He is busy with a matter: forgiving a sin, removing a distress, raising some people and lowering others.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سَنَفْرُغُ لَكُمْ أَيُّهَ الثَّقَلَانِ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soon attend to your reckoning, O jinn and mankind. This is a warning.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يَٰمَعْشَرَ الْجِنِّ وَالْإِنسِ إِنِ اسْتَطَعْتُمْ أَن تَنفُذُواْ مِنْ أَقْطَارِ السَّمَٰوَٰتِ وَالْأَرْضِ فَانفُذُواْ لَا تَنفُذُونَ إِلَّا بِسُلْطَٰنٍ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company of jinn and mankind, if you can escape beyond the edges of the heavens and the earth, then escape; but you cannot, except with power and permission from Allah.</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يُرْسَلُ عَلَيْكُمَا شُوَاظٌ مِّن نَّارٍ وَنُحَاسٌ فَلَا تَنتَصِرَانِ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Flames of fire and smoke will be sent against you both, and you will not be able to defend yourselves.</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انشَقَّتِ السَّمَآءُ فَكَانَتْ وَرْدَةً كَالدِّهَانِ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sky splits open on the Day of Resurrection and turns red like a rose, melting like oil,</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فَيَوْمَئِذٍ لَّا يُسْـَٔلُ عَن ذَنبِهِ إِنسٌ وَلَا جَآنٌّ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no human or jinn will be asked about his sin to find out about it, for Allah already knows it.</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يُعْرَفُ الْمُجْرِمُونَ بِسِيمَٰهُمْ فَيُؤْخَذُ بِالنَّوَٰصِي وَالْأَقْدَامِ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criminals will be known by their marks and seized by their forelocks and feet into the Fire.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هَٰذِهِ جَهَنَّمُ الَّتِي يُكَذِّبُ بِهَا الْمُجْرِمُونَ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This is Hell, which the criminals used to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يَطُوفُونَ بَيْنَهَا وَبَيْنَ حَمِيمٍ ءَانٍ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go back and forth between it and boiling water.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وَلِمَنْ خَافَ مَقَامَ رَبِّهِ جَنَّتَانِ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whoever feared standing before his Lord, there will be two gardens,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ذَوَاتَآ أَفْنَانٍ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full of many branches.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فِيهِمَا عَيْنَانِ تَجْرِيَانِ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both are two flowing springs.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فِيهِمَا مِن كُلِّ فَٰكِهَةٍ زَوْجَانِ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both are two kinds of every fruit.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مُتَّكِـِٔينَ عَلَىٰ فُرُشٍ بَطَآئِنُهَا مِنْ إِسْتَبْرَقٍ وَجَنَى الْجَنَّتَيْنِ دَانٍ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Reclining on couches lined with thick silk, and the fruit of both gardens hanging near.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فِيهِنَّ قَٰصِرَٰتُ الطَّرْفِ لَمْ يَطْمِثْهُنَّ إِنسٌ قَبْلَهُمْ وَلَا جَآنٌّ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them are wives who look at no one but their husbands, untouched by anyone before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كَأَنَّهُنَّ الْيَاقُوتُ وَالْمَرْجَانُ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if they were rubies and coral in their purity.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جَزَآءُ الْإِحْسَٰنِ إِلَّا الْإِحْسَٰنُ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reward for doing good in this world anything but good in the Hereafter?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دُونِهِمَا جَنَّتَانِ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besides these two, there are two more gardens,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مُدْهَآمَّتَانِ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deep green in colour.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فِيهِمَا عَيْنَانِ نَضَّاخَتَانِ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both are two springs gushing with water.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67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فِيهِمَا فَٰكِهَةٌ وَنَخْلٌ وَرُمَّانٌ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both are fruits, palm trees and pomegranates.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فِيهِنَّ خَيْرَٰتٌ حِسَانٌ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them are wives of good character and beautiful faces,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حُورٌ مَّقْصُورَٰتٌ فِي الْخِيَامِ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fair ones sheltered in tents,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لَمْ يَطْمِثْهُنَّ إِنسٌ قَبْلَهُمْ وَلَا جَآنٌّ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untouched by anyone before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Ar-Rahman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مُتَّكِـِٔينَ عَلَىٰ رَفْرَفٍ خُضْرٍ وَعَبْقَرِيٍّ حِسَانٍ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reclining on green cushions and beautiful carpets.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رَبِّكُمَا تُكَذِّبَانِ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the favours of your Lord, O jinn and mankind, will you both deny?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تَبَٰرَكَ اسْمُ رَبِّكَ ذِي الْجَلَٰلِ وَالْإِكْرَامِ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Blessed is the name of your Lord, Owner of Majesty and Honour.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Al-Qamar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55 verses • The Moon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Anas ibn Malik said: The people of Makkah asked the Prophet (peace be upon him) to show them a sign, so he showed them the moon split into two halves, and this was revealed: “The Hour has come near and the moon has split”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Hour is near, the miracle of the splitting of the moon, the stories of the nations who denied, and that the Qur'an is made easy to remember.</a:t>
            </a:r>
            <a:endParaRPr lang="en-US" sz="17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اقْتَرَبَتِ السَّاعَةُ وَانشَقَّ الْقَمَرُ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Hour has come near, and the moon was split into two halves as a miracle for the Prophet (peace be upon him), as in Bukhari and Muslim.</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يَرَوْاْ ءَايَةً يُعْرِضُواْ وَيَقُولُواْ سِحْرٌ مُّسْتَمِرٌّ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the idol-worshippers see a sign, they turn away and say: Passing magic.</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وَكَذَّبُواْ وَاتَّبَعُواْ أَهْوَآءَهُمْ وَكُلُّ أَمْرٍ مُّسْتَقِرٌّ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denied and followed their desires, and every matter will reach its settled end.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جَآءَهُم مِّنَ الْأَنبَآءِ مَا فِيهِ مُزْدَجَرٌ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News of the destroyed nations has come to them, which should have been enough to stop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حِكْمَةٌ بَٰلِغَةٌ فَمَا تُغْنِ النُّذُرُ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perfect wisdom, but warnings do not help those who turn away.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فَتَوَلَّ عَنْهُمْ يَوْمَ يَدْعُ الدَّاعِ إِلَىٰ شَيْءٍ نُّكُرٍ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turn away from them, O Muhammad, on the Day the caller calls to a terrible thing, the standing for the Reckoning.</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خُشَّعًا أَبْصَٰرُهُمْ يَخْرُجُونَ مِنَ الْأَجْدَاثِ كَأَنَّهُمْ جَرَادٌ مُّنتَشِرٌ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their eyes lowered, they will come out of the graves like scattered locusts,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مُّهْطِعِينَ إِلَى الدَّاعِ يَقُولُ الْكَٰفِرُونَ هَٰذَا يَوْمٌ عَسِرٌ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rushing towards the caller. The disbelievers will say: This is a hard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قَبْلَهُمْ قَوْمُ نُوحٍ فَكَذَّبُواْ عَبْدَنَا وَقَالُواْ مَجْنُونٌ وَازْدُجِرَ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Nuh denied before them. They denied Nuh, said he was mad, and threatened him.</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فَدَعَا رَبَّهُ أَنِّي مَغْلُوبٌ فَانتَصِرْ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called on his Lord: I am overpowered, so help me.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فَفَتَحْنَآ أَبْوَٰبَ السَّمَآءِ بِمَآءٍ مُّنْهَمِرٍ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opened the gates of the sky with pouring water,</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وَفَجَّرْنَا الْأَرْضَ عُيُونًا فَالْتَقَى الْمَآءُ عَلَىٰ أَمْرٍ قَدْ قُدِرَ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the earth burst with springs, so the water of the sky and the water of the earth met for a matter Allah had decreed.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وَحَمَلْنَٰهُ عَلَىٰ ذَاتِ أَلْوَٰحٍ وَدُسُرٍ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carried Nuh on a ship of planks and nails,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تَجْرِي بِأَعْيُنِنَا جَزَآءً لِّمَن كَانَ كُفِرَ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sailing under Our eyes and care, a reward for Nuh who had been denied.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تَّرَكْنَٰهَآ ءَايَةً فَهَلْ مِن مُّدَّكِرٍ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left this event as a sign, so is there anyone who will take heed?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فَكَيْفَ كَانَ عَذَابِي وَنُذُرِ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how were My punishment and My warnings to those who denied?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يَسَّرْنَا الْقُرْءَانَ لِلذِّكْرِ فَهَلْ مِن مُّدَّكِرٍ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made the Qur'an easy to memorise, understand and take lessons from. So is there anyone who will take heed? This verse is repeated four times in the surah.</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عَادٌ فَكَيْفَ كَانَ عَذَابِي وَنُذُرِ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tribe of 'Ad denied their prophet Hud, so how were My punishment and My warnings?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أَرْسَلْنَا عَلَيْهِمْ رِيحًا صَرْصَرًا فِي يَوْمِ نَحْسٍ مُّسْتَمِرٍّ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against them a freezing wind on a day of continuous misfortune for them,</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تَنزِعُ النَّاسَ كَأَنَّهُمْ أَعْجَازُ نَخْلٍ مُّنقَعِرٍ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tearing people away and throwing them down like uprooted palm trunks.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فَكَيْفَ كَانَ عَذَابِي وَنُذُرِ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how were My punishment and My warnings?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يَسَّرْنَا الْقُرْءَانَ لِلذِّكْرِ فَهَلْ مِن مُّدَّكِرٍ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made the Qur'an easy to memorise, understand and take lessons from. So is there anyone who will take heed?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ثَمُودُ بِالنُّذُرِ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Thamud denied the warnings.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فَقَالُواْ أَبَشَرًا مِّنَّا وَٰحِدًا نَّتَّبِعُهُ إِنَّآ إِذًا لَّفِي ضَلَٰلٍ وَسُعُرٍ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Should we follow a single human from among us? Then we would be in error and madness.</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أَءُلْقِيَ الذِّكْرُ عَلَيْهِ مِن بَيْنِنَا بَلْ هُوَ كَذَّابٌ أَشِرٌ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revelation been given to him alone among us? Rather, he is an arrogant liar.</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سَيَعْلَمُونَ غَدًا مَّنِ الْكَذَّابُ الْأَشِرُ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know tomorrow, when the punishment comes, who is the arrogant liar.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مُرْسِلُواْ النَّاقَةِ فِتْنَةً لَّهُمْ فَارْتَقِبْهُمْ وَاصْطَبِرْ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are sending the she-camel out of the rock as a test for them, so watch them, O Salih, and be patient.</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وَنَبِّئْهُمْ أَنَّ الْمَآءَ قِسْمَةٌ بَيْنَهُمْ كُلُّ شِرْبٍ مُّحْتَضَرٌ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tell them the water is to be shared between them and the she-camel, each having its day.</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فَنَادَوْاْ صَاحِبَهُمْ فَتَعَاطَىٰ فَعَقَرَ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called their companion, and he took the sword and killed the she-camel.</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فَكَيْفَ كَانَ عَذَابِي وَنُذُرِ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how were My punishment and My warnings?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أَرْسَلْنَا عَلَيْهِمْ صَيْحَةً وَٰحِدَةً فَكَانُواْ كَهَشِيمِ الْمُحْتَظِرِ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against them a single Blast, and they became like dry, broken stubble.</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يَسَّرْنَا الْقُرْءَانَ لِلذِّكْرِ فَهَلْ مِن مُّدَّكِرٍ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made the Qur'an easy to memorise, understand and take lessons from. So is there anyone who will take heed?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قَوْمُ لُوطٍ بِالنُّذُرِ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Lut denied the warnings.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أَرْسَلْنَا عَلَيْهِمْ حَاصِبًا إِلَّآ ءَالَ لُوطٍ نَّجَّيْنَٰهُم بِسَحَرٍ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against them a wind raining stones, except the believing family of Lut, whom We saved before dawn,</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نِّعْمَةً مِّنْ عِندِنَا كَذَٰلِكَ نَجْزِي مَن شَكَرَ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a blessing from Us. That is how We reward whoever is thankful.</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أَنذَرَهُم بَطْشَتَنَا فَتَمَارَوْاْ بِالنُّذُرِ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Lut had warned them of Our punishment, but they doubted the warnings and denied.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رَٰوَدُوهُ عَن ضَيْفِهِ فَطَمَسْنَآ أَعْيُنَهُمْ فَذُوقُواْ عَذَابِي وَنُذُرِ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demanded that he hand over his guests, who were angels, so We blinded their eyes: Taste My punishment and My warnings.</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صَبَّحَهُم بُكْرَةً عَذَابٌ مُّسْتَقِرٌّ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early in the morning a lasting punishment came upon them.</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فَذُوقُواْ عَذَابِي وَنُذُرِ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taste My punishment and My warnings.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يَسَّرْنَا الْقُرْءَانَ لِلذِّكْرِ فَهَلْ مِن مُّدَّكِرٍ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made the Qur'an easy to memorise, understand and take lessons from. So is there anyone who will take heed?</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جَآءَ ءَالَ فِرْعَوْنَ النُّذُرُ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warnings came to Pharaoh and his people through Musa and Harun.</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كَذَّبُواْ بِـَٔايَٰتِنَا كُلِّهَا فَأَخَذْنَٰهُمْ أَخْذَ عَزِيزٍ مُّقْتَدِرٍ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denied all Our signs, so We seized them with the seizing of One who is Almighty, All-Powerful.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أَكُفَّارُكُمْ خَيْرٌ مِّنْ أُوْلَـٰئِكُمْ أَمْ لَكُم بَرَآءَةٌ فِي الزُّبُرِ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your disbelievers, O people of Makkah, better than those who were destroyed? Or do you have a guarantee of safety in the scriptures?</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نَحْنُ جَمِيعٌ مُّنتَصِرٌ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We are a strong group that will win?</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سَيُهْزَمُ الْجَمْعُ وَيُوَلُّونَ الدُّبُرَ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group will be defeated and they will turn their backs and run, and that happened at Badr.</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السَّاعَةُ مَوْعِدُهُمْ وَالسَّاعَةُ أَدْهَىٰ وَأَمَرُّ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 Hour is their appointed time, and the Hour is more terrible and more bitter.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الْمُجْرِمِينَ فِي ضَلَٰلٍ وَسُعُرٍ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criminals are in error in this world and in a blazing Fire in the Hereafter,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يُسْحَبُونَ فِي النَّارِ عَلَىٰ وُجُوهِهِمْ ذُوقُواْ مَسَّ سَقَرَ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they are dragged on their faces into the Fire: Taste the touch of Hell.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كُلَّ شَيْءٍ خَلَقْنَٰهُ بِقَدَرٍ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everything in a measure decreed beforehand.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أَمْرُنَآ إِلَّا وَٰحِدَةٌ كَلَمْحٍ بِالْبَصَرِ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command, when We want something, is only one word, "Be", and it is, like the blink of an eye.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أَهْلَكْنَآ أَشْيَاعَكُمْ فَهَلْ مِن مُّدَّكِرٍ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destroyed disbelieving nations like you before, so is there anyone who will take heed?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وَكُلُّ شَيْءٍ فَعَلُوهُ فِي الزُّبُرِ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Everything they did is written in the records of the angels,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وَكُلُّ صَغِيرٍ وَكَبِيرٍ مُّسْتَطَرٌ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every small and large deed of theirs is written down.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الْمُتَّقِينَ فِي جَنَّـٰتٍ وَنَهَرٍ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with taqwa will be among gardens and rivers,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Al-Qamar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230118"/>
            <a:ext cx="548640" cy="548640"/>
          </a:xfrm>
          <a:prstGeom prst="star8">
            <a:avLst/>
          </a:prstGeom>
          <a:solidFill>
            <a:schemeClr val="accent2"/>
          </a:solidFill>
          <a:ln/>
        </p:spPr>
      </p:sp>
      <p:sp>
        <p:nvSpPr>
          <p:cNvPr id="6" name="Shape 4"/>
          <p:cNvSpPr/>
          <p:nvPr/>
        </p:nvSpPr>
        <p:spPr>
          <a:xfrm>
            <a:off x="822960" y="333984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مَقْعَدِ صِدْقٍ عِندَ مَلِيكٍ مُّقْتَدِرٍ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a seat of truth, near the All-Powerful King.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An-Najm</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62 verses • The Star</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It was the first surah revealed with a prostration in it. The Prophet (peace be upon him) recited it in Makkah and prostrated, and everyone with him prostrated (Bukhari).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Proving the truth of revelation and Jibril coming down to the Prophet (peace be upon him), the story of the Mi'raj (ascension), the falseness of idol-worship, and that the reward is according to deeds.</a:t>
            </a:r>
            <a:endParaRPr lang="en-US" sz="17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وَالنَّجْمِ إِذَا هَوَىٰ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star when it sets: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ضَلَّ صَاحِبُكُمْ وَمَا غَوَىٰ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Muhammad (peace be upon him) has not strayed from the truth, nor gone off the right way,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يَنطِقُ عَنِ الْهَوَىٰ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does he speak from his own desire.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هُوَ إِلَّا وَحْيٌ يُوحَىٰ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only revelation from Allah revealed to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عَلَّمَهُ شَدِيدُ الْقُوَىٰ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taught to him by Jibril, mighty in power,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ذُو مِرَّةٍ فَاسْتَوَىٰ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strong and of fine form, who appeared in his true form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بِالْأُفُقِ الْأَعْلَىٰ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while he was on the highest horizon of the sky.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دَنَا فَتَدَلَّىٰ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Jibril came near to the Prophet (peace be upon him) and came down to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فَكَانَ قَابَ قَوْسَيْنِ أَوْ أَدْنَىٰ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he was as close as two bow-lengths or even nearer.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فَأَوْحَىٰ إِلَىٰ عَبْدِهِ مَآ أَوْحَىٰ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Allah revealed to His servant Muhammad (peace be upon him), through Jibril, what He revealed.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كَذَبَ الْفُؤَادُ مَا رَأَىٰ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heart of Muhammad (peace be upon him) did not deny what his eyes saw.</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أَفَتُمَٰرُونَهُ عَلَىٰ مَا يَرَىٰ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Will you then argue with him about what he saw?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رَءَاهُ نَزْلَةً أُخْرَىٰ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saw Jibril in his true form another time, on the night of the Mi'raj,</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عِندَ سِدْرَةِ الْمُنتَهَىٰ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at Sidrat al-Muntaha (the Lote Tree of the Furthest Boundary) in the seventh heaven,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عِندَهَا جَنَّةُ الْمَأْوَىٰ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near which is the Garden of Refuge,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يَغْشَى السِّدْرَةَ مَا يَغْشَىٰ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Lote Tree was covered by a great matter from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زَاغَ الْبَصَرُ وَمَا طَغَىٰ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(peace be upon him) sight did not turn left or right, nor go beyond what he was commanded.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رَأَىٰ مِنْ ءَايَٰتِ رَبِّهِ الْكُبْرَىٰ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saw some of the greatest signs of his Lord.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أَفَرَءَيْتُمُ اللَّـٰتَ وَالْعُزَّىٰ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Tell me, O idol-worshippers, about your idols Al-Lat and Al-'Uzza,</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وَمَنَوٰةَ الثَّالِثَةَ الْأُخْرَىٰ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Manat, the third: can they benefit or harm?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أَلَكُمُ الذَّكَرُ وَلَهُ الْأُنثَىٰ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choose sons for yourselves and daughters for Allah?</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6769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إِذًا قِسْمَةٌ ضِيزَىٰ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an unfair division!</a:t>
            </a:r>
            <a:endParaRPr lang="en-US" sz="3000" dirty="0"/>
          </a:p>
        </p:txBody>
      </p:sp>
      <p:sp>
        <p:nvSpPr>
          <p:cNvPr id="14" name="Shape 12"/>
          <p:cNvSpPr/>
          <p:nvPr/>
        </p:nvSpPr>
        <p:spPr>
          <a:xfrm>
            <a:off x="1444752" y="3803904"/>
            <a:ext cx="8641080" cy="0"/>
          </a:xfrm>
          <a:prstGeom prst="line">
            <a:avLst/>
          </a:prstGeom>
          <a:noFill/>
          <a:ln w="9525">
            <a:solidFill>
              <a:schemeClr val="accent2"/>
            </a:solidFill>
            <a:prstDash val="dash"/>
          </a:ln>
        </p:spPr>
      </p:sp>
      <p:sp>
        <p:nvSpPr>
          <p:cNvPr id="15" name="Shape 13"/>
          <p:cNvSpPr/>
          <p:nvPr/>
        </p:nvSpPr>
        <p:spPr>
          <a:xfrm>
            <a:off x="713232" y="3984498"/>
            <a:ext cx="548640" cy="548640"/>
          </a:xfrm>
          <a:prstGeom prst="star8">
            <a:avLst/>
          </a:prstGeom>
          <a:solidFill>
            <a:schemeClr val="accent2"/>
          </a:solidFill>
          <a:ln/>
        </p:spPr>
      </p:sp>
      <p:sp>
        <p:nvSpPr>
          <p:cNvPr id="16" name="Shape 14"/>
          <p:cNvSpPr/>
          <p:nvPr/>
        </p:nvSpPr>
        <p:spPr>
          <a:xfrm>
            <a:off x="822960" y="409422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844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96621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هِيَ إِلَّآ أَسْمَآءٌ سَمَّيْتُمُوهَآ أَنتُمْ وَءَابَآؤُكُم مَّآ أَنزَلَ اللَّهُ بِهَا مِن سُلْطَٰنٍ إِن يَتَّبِعُونَ إِلَّا الظَّنَّ وَمَا تَهْوَى الْأَنفُسُ وَلَقَدْ جَآءَهُم مِّن رَّبِّهِمُ الْهُدَىٰ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idols are nothing but names you and your fathers made up, for which Allah sent down no proof. They follow nothing but guesses and what their souls desire, though guidance has come to them from their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لِلْإِنسَٰنِ مَا تَمَنَّىٰ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will man have whatever he wishes for?</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فَلِلَّهِ الْأخِرَةُ وَالْأُولَىٰ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 the Hereafter and this world.</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وَكَم مِّن مَّلَكٍ فِي السَّمَٰوَٰتِ لَا تُغْنِي شَفَٰعَتُهُمْ شَيْـًٔا إِلَّا مِن بَعْدِ أَن يَأْذَنَ اللَّهُ لِمَن يَشَآءُ وَيَرْضَىٰ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angels are in the heavens whose intercession helps nothing, except after Allah gives permission to whom He wills and is pleased with.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لَا يُؤْمِنُونَ بِالْأخِرَةِ لَيُسَمُّونَ الْمَلَـٰئِكَةَ تَسْمِيَةَ الْأُنثَىٰ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not believe in the Hereafter call the angels the daughters of Allah,</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لَهُم بِهِ مِنْ عِلْمٍ إِن يَتَّبِعُونَ إِلَّا الظَّنَّ وَإِنَّ الظَّنَّ لَا يُغْنِي مِنَ الْحَقِّ شَيْـًٔا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have no knowledge of that. They follow nothing but guesses, and guessing is no substitute for the truth.</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فَأَعْرِضْ عَن مَّن تَوَلَّىٰ عَن ذِكْرِنَا وَلَمْ يُرِدْ إِلَّا الْحَيَوٰةَ الدُّنْيَا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turn away from whoever turns away from the Qur'an and wants nothing but this world.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53946"/>
            <a:ext cx="548640" cy="548640"/>
          </a:xfrm>
          <a:prstGeom prst="star8">
            <a:avLst/>
          </a:prstGeom>
          <a:solidFill>
            <a:schemeClr val="accent2"/>
          </a:solidFill>
          <a:ln/>
        </p:spPr>
      </p:sp>
      <p:sp>
        <p:nvSpPr>
          <p:cNvPr id="6" name="Shape 4"/>
          <p:cNvSpPr/>
          <p:nvPr/>
        </p:nvSpPr>
        <p:spPr>
          <a:xfrm>
            <a:off x="822960" y="196367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539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835658"/>
            <a:ext cx="10012680" cy="154076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مَبْلَغُهُم مِّنَ الْعِلْمِ إِنَّ رَبَّكَ هُوَ أَعْلَمُ بِمَن ضَلَّ عَن سَبِيلِهِ وَهُوَ أَعْلَمُ بِمَنِ اهْتَدَىٰ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limit of their knowledge. Your Lord knows best who has strayed and who is guided.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77875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لِيَجْزِيَ الَّذِينَ أَسَـٰـُٔواْ بِمَا عَمِلُواْ وَيَجْزِيَ الَّذِينَ أَحْسَنُواْ بِالْحُسْنَى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whatever is in the heavens and the earth, so that He may repay those who do evil for what they did, and reward those who do good with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57884"/>
            <a:ext cx="548640" cy="548640"/>
          </a:xfrm>
          <a:prstGeom prst="star8">
            <a:avLst/>
          </a:prstGeom>
          <a:solidFill>
            <a:schemeClr val="accent2"/>
          </a:solidFill>
          <a:ln/>
        </p:spPr>
      </p:sp>
      <p:sp>
        <p:nvSpPr>
          <p:cNvPr id="6" name="Shape 4"/>
          <p:cNvSpPr/>
          <p:nvPr/>
        </p:nvSpPr>
        <p:spPr>
          <a:xfrm>
            <a:off x="822960"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578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39596"/>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يَجْتَنِبُونَ كَبَـٰئِرَ الْإِثْمِ وَالْفَوَٰحِشَ إِلَّا اللَّمَمَ إِنَّ رَبَّكَ وَٰسِعُ الْمَغْفِرَةِ هُوَ أَعْلَمُ بِكُمْ إِذْ أَنشَأَكُم مِّنَ الْأَرْضِ وَإِذْ أَنتُمْ أَجِنَّةٌ فِي بُطُونِ أُمَّهَٰتِكُمْ فَلَا تُزَكُّواْ أَنفُسَكُمْ هُوَ أَعْلَمُ بِمَنِ اتَّقَىٰ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avoid the major sins and shameful deeds, except small slips. Your Lord is vast in forgiveness. So do not praise yourselves; He knows best who has taqwa.</a:t>
            </a:r>
            <a:endParaRPr lang="en-US" sz="3000" dirty="0"/>
          </a:p>
        </p:txBody>
      </p:sp>
      <p:sp>
        <p:nvSpPr>
          <p:cNvPr id="9" name="Shape 7"/>
          <p:cNvSpPr/>
          <p:nvPr/>
        </p:nvSpPr>
        <p:spPr>
          <a:xfrm>
            <a:off x="1444752" y="3776472"/>
            <a:ext cx="8641080" cy="0"/>
          </a:xfrm>
          <a:prstGeom prst="line">
            <a:avLst/>
          </a:prstGeom>
          <a:noFill/>
          <a:ln w="9525">
            <a:solidFill>
              <a:schemeClr val="accent2"/>
            </a:solidFill>
            <a:prstDash val="dash"/>
          </a:ln>
        </p:spPr>
      </p:sp>
      <p:sp>
        <p:nvSpPr>
          <p:cNvPr id="10" name="Shape 8"/>
          <p:cNvSpPr/>
          <p:nvPr/>
        </p:nvSpPr>
        <p:spPr>
          <a:xfrm>
            <a:off x="713232" y="3909060"/>
            <a:ext cx="548640" cy="548640"/>
          </a:xfrm>
          <a:prstGeom prst="star8">
            <a:avLst/>
          </a:prstGeom>
          <a:solidFill>
            <a:schemeClr val="accent2"/>
          </a:solidFill>
          <a:ln/>
        </p:spPr>
      </p:sp>
      <p:sp>
        <p:nvSpPr>
          <p:cNvPr id="11" name="Shape 9"/>
          <p:cNvSpPr/>
          <p:nvPr/>
        </p:nvSpPr>
        <p:spPr>
          <a:xfrm>
            <a:off x="822960" y="401878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090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38907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أَفَرَءَيْتَ الَّذِي تَوَلَّىٰ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seen the one who turned away from obedience,</a:t>
            </a:r>
            <a:endParaRPr lang="en-US" sz="3000" dirty="0"/>
          </a:p>
        </p:txBody>
      </p:sp>
      <p:sp>
        <p:nvSpPr>
          <p:cNvPr id="14" name="Shape 12"/>
          <p:cNvSpPr/>
          <p:nvPr/>
        </p:nvSpPr>
        <p:spPr>
          <a:xfrm>
            <a:off x="1444752" y="4969764"/>
            <a:ext cx="8641080" cy="0"/>
          </a:xfrm>
          <a:prstGeom prst="line">
            <a:avLst/>
          </a:prstGeom>
          <a:noFill/>
          <a:ln w="9525">
            <a:solidFill>
              <a:schemeClr val="accent2"/>
            </a:solidFill>
            <a:prstDash val="dash"/>
          </a:ln>
        </p:spPr>
      </p:sp>
      <p:sp>
        <p:nvSpPr>
          <p:cNvPr id="15" name="Shape 13"/>
          <p:cNvSpPr/>
          <p:nvPr/>
        </p:nvSpPr>
        <p:spPr>
          <a:xfrm>
            <a:off x="713232" y="5102352"/>
            <a:ext cx="548640" cy="548640"/>
          </a:xfrm>
          <a:prstGeom prst="star8">
            <a:avLst/>
          </a:prstGeom>
          <a:solidFill>
            <a:schemeClr val="accent2"/>
          </a:solidFill>
          <a:ln/>
        </p:spPr>
      </p:sp>
      <p:sp>
        <p:nvSpPr>
          <p:cNvPr id="16" name="Shape 14"/>
          <p:cNvSpPr/>
          <p:nvPr/>
        </p:nvSpPr>
        <p:spPr>
          <a:xfrm>
            <a:off x="822960" y="521208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1023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508406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وَأَعْطَىٰ قَلِيلًا وَأَكْدَىٰ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gave a little, then stopped giving?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أَعِندَهُ عِلْمُ الْغَيْبِ فَهُوَ يَرَىٰ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he have knowledge of the unseen so that he sees what awaits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لَمْ يُنَبَّأْ بِمَا فِي صُحُفِ 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has he not been told what is in the scriptures of Musa,</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وَإِبْرَٰهِيمَ الَّذِي وَفَّىٰ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of Ibrahim, who fulfilled what he was commanded?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تَزِرُ وَازِرَةٌ وِزْرَ أُخْرَىٰ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no soul carries the sin of another,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لَّيْسَ لِلْإِنسَٰنِ إِلَّا مَا سَعَىٰ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a person gets nothing but the reward of what he worked for,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سَعْيَهُ سَوْفَ يُرَىٰ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his work will be seen on the Day of Resurrection,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يُجْزَىٰهُ الْجَزَآءَ الْأَوْفَىٰ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will be repaid in full,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إِلَىٰ رَبِّكَ الْمُنتَهَىٰ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to your Lord is the final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هُوَ أَضْحَكَ وَأَبْكَىٰ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it is He who makes whom He wills laugh and whom He wills cry,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هُوَ أَمَاتَ وَأَحْيَا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it is He who causes death and gives life,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خَلَقَ الزَّوْجَيْنِ الذَّكَرَ وَالْأُنثَىٰ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He created the two kinds, male and female,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نُّطْفَةٍ إِذَا تُمْنَىٰ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a drop of fluid when it is placed in the womb,</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عَلَيْهِ النَّشْأَةَ الْأُخْرَىٰ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upon Him is bringing creation back for the Resurrection,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هُوَ أَغْنَىٰ وَأَقْنَىٰ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it is He who makes rich whom He wills and gives him what he keeps,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هُوَ رَبُّ الشِّعْرَىٰ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He is the Lord of Sirius, a star some Arabs used to worship,</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وَأَنَّهُ أَهْلَكَ عَادًا 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He destroyed the first 'Ad,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وَثَمُودَاْ فَمَآ أَبْقَىٰ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Thamud, leaving none of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وَقَوْمَ نُوحٍ مِّن قَبْلُ إِنَّهُمْ كَانُواْ هُمْ أَظْلَمَ وَأَطْغَىٰ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people of Nuh before them; they were even more unjust and rebellious,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وَالْمُؤْتَفِكَةَ أَهْوَىٰ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turned the towns of Lut's people upside down and brought them down,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فَغَشَّىٰهَا مَا غَشَّىٰ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covered them with what covered them of stones.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فَبِأَيِّ ءَالَآءِ رَبِّكَ تَتَمَارَىٰ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which of your Lord's favours, O man, will you doubt?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نَذِيرٌ مِّنَ النُّذُرِ 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Muhammad (peace be upon him), is a warner like the earlier messengers.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أَزِفَتِ الْأزِفَةُ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Hour has come near.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لَهَا مِن دُونِ اللَّهِ كَاشِفَةٌ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but Allah can reveal its time or hold it back.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An-Najm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هَٰذَا الْحَدِيثِ تَعْجَبُونَ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you amazed at this Qur'an,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وَتَضْحَكُونَ وَلَا تَبْكُونَ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 you laugh at it mockingly instead of weeping out of fear,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وَأَنتُمْ سَٰمِدُونَ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while you are amusing yourselves, heedless?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فَاسْجُدُواْ لِلَّهِ وَاعْبُدُواْ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prostrate to Allah and worship Him alone. (This is a place of prostration.)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At-Tur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49 verses • The Mount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No specific, well-known reason for revelation is reported. Jubayr ibn Mut'im said: I heard the Prophet (peace be upon him) reciting At-Tur in Maghrib. When he reached “Or were they created from nothing, or are they the creators?” my heart almost flew, and that was the first time faith settled in my heart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Proving that punishment will come upon those who deny, describing the bliss of those with taqwa, and answering the idol-worshippers' doubts with questions that establish the proof against them.</a:t>
            </a:r>
            <a:endParaRPr lang="en-US" sz="17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وَالطُّورِ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Mount Tur, where He spoke to Musa,</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وَكِتَٰبٍ مَّسْطُورٍ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a written Book</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رَقٍّ مَّنشُورٍ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open pages,</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وَالْبَيْتِ الْمَعْمُورِ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Frequented House in the seventh heaven, which seventy thousand angels enter every day (Bukhari and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وَالسَّقْفِ الْمَرْفُوعِ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raised ceiling of the sky,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وَالْبَحْرِ الْمَسْجُورِ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sea that will be set on fire on the Day of Resurrection: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عَذَابَ رَبِّكَ لَوَٰقِعٌ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punishment of your Lord for the disbelievers will surely happen;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لَهُ مِن دَافِعٍ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can push it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تَمُورُ السَّمَآءُ مَوْرًا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sky will shake and sway,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وَتَسِيرُ الْجِبَالُ 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mountains will move from their places.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ruin on that Day to the deniers,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هُمْ فِي خَوْضٍ يَلْعَبُونَ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play about in falsehood,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يُدَعُّونَ إِلَىٰ نَارِ جَهَنَّمَ دَعًّا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they are pushed violently into the fire of Hell.</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هَٰذِهِ النَّارُ الَّتِي كُنتُم بِهَا تُكَذِّبُونَ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This is the Fire you used to deny.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أَفَسِحْرٌ هَٰذَآ أَمْ أَنتُمْ لَا تُبْصِرُونَ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this magic, what you see? Or can you not see?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اصْلَوْهَا فَاصْبِرُواْ أَوْ لَا تَصْبِرُواْ سَوَآءٌ عَلَيْكُمْ إِنَّمَا تُجْزَوْنَ 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Enter it; be patient or not, it is the same for you. You are only being repaid for what you did.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الْمُتَّقِينَ فِي جَنَّـٰتٍ وَنَعِيمٍ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with taqwa will be in gardens and bliss,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فَٰكِهِينَ بِمَآ ءَاتَىٰهُمْ رَبُّهُمْ وَوَقَىٰهُمْ رَبُّهُمْ عَذَابَ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enjoying what their Lord has given them, and He has protected them from the punishment of the Fire.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كُلُواْ وَاشْرَبُواْ هَنِيـًٔا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Eat and drink with pleasure for what you used to do.</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مُتَّكِـِٔينَ عَلَىٰ سُرُرٍ مَّصْفُوفَةٍ وَزَوَّجْنَٰهُم بِحُورٍ 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Reclining on couches lined up in rows, and We will marry them to beautiful women with wide eyes.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وَاتَّبَعَتْهُمْ ذُرِّيَّتُهُم بِإِيمَٰنٍ أَلْحَقْنَا بِهِمْ ذُرِّيَّتَهُمْ وَمَآ أَلَتْنَٰهُم مِّنْ عَمَلِهِم مِّن شَيْءٍ كُلُّ امْرِيٍٕ بِمَا كَسَبَ رَهِينٌ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believers whose children followed them in faith, We will join their children with them in their rank in Paradise, even if the children did less, and We will not reduce the parents' reward at all.</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وَأَمْدَدْنَٰهُم بِفَٰكِهَةٍ وَلَحْمٍ مِّمَّا يَشْتَهُونَ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give them more fruit and meat, whatever they desire.</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يَتَنَٰزَعُونَ فِيهَا كَأْسًا لَّا لَغْوٌ فِيهَا وَلَا تَأْثِيمٌ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pass a cup to one another there, with no idle talk or sin in drinking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وَيَطُوفُ عَلَيْهِمْ غِلْمَانٌ لَّهُمْ كَأَنَّهُمْ لُؤْلُؤٌ مَّكْنُونٌ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Young servants will go around serving them, like hidden pearls.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وَأَقْبَلَ بَعْضُهُمْ عَلَىٰ بَعْضٍ يَتَسَآءَلُونَ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turn to one another, talking.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إِنَّا كُنَّا قَبْلُ فِي أَهْلِنَا مُشْفِقِينَ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In the world we used to be afraid of Allah among our families,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اللَّهُ عَلَيْنَا وَوَقَىٰنَا عَذَابَ السَّمُومِ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Allah was generous to us and saved us from the punishment of the scorching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كُنَّا مِن قَبْلُ نَدْعُوهُ إِنَّهُ هُوَ الْبَرُّ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used to call on Him before; He is the Most Kind, the Most Merciful.</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فَذَكِّرْ فَمَآ أَنتَ بِنِعْمَتِ رَبِّكَ بِكَاهِنٍ وَلَا 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remind people, O Muhammad, for by your Lord's favour you are neither a fortune-teller nor mad.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شَاعِرٌ نَّتَرَبَّصُ بِهِ رَيْبَ الْمَنُونِ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He is a poet; let us wait for some disaster of death to strike 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تَرَبَّصُواْ فَإِنِّي مَعَكُم مِّنَ الْمُتَرَبِّصِينَ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Wait, for I am waiting with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تَأْمُرُهُمْ أَحْلَٰمُهُم بِهَٰذَآ أَمْ هُمْ قَوْمٌ طَاغُونَ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their minds tell them to say this? Rather, they are a people who go beyond limits.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تَقَوَّلَهُ بَل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He made up the Qur'an? Rather, they do not believe.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فَلْيَأْتُواْ بِحَدِيثٍ مِّثْلِهِ إِن كَانُواْ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let them bring speech like it, if they are truthful.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خُلِقُواْ مِنْ غَيْرِ شَيْءٍ أَمْ هُمُ الْخَٰلِقُونَ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Were they created from nothing, without a Creator? Or are they the creators of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خَلَقُواْ السَّمَٰوَٰتِ وَالْأَرْضَ بَل لَّا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did they create the heavens and the earth? Rather, they have no certainty.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عِندَهُمْ خَزَآئِنُ رَبِّكَ أَمْ هُمُ الْمُصَيْطِرُونَ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own your Lord's treasures? Or are they in control?</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لَهُمْ سُلَّمٌ يَسْتَمِعُونَ فِيهِ فَلْيَأْتِ مُسْتَمِعُهُم بِسُلْطَٰنٍ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have a ladder to climb up to the sky and listen to the revelation? Then let their listener bring clear proof.</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لَهُ الْبَنَٰتُ وَلَكُمُ الْبَنُونَ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does Allah have daughters while you have sons?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تَسْـَٔلُهُمْ أَجْرًا فَهُم مِّن مَّغْرَمٍ مُّثْقَلُونَ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ask them for a payment, so they are weighed down by debt?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عِندَهُمُ الْغَيْبُ فَهُمْ يَكْتُبُونَ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have knowledge of the unseen, so they write it down?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يُرِيدُونَ كَيْدًا فَالَّذِينَ كَفَرُواْ هُمُ الْمَكِيدُونَ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want to plot against you? It is the disbelievers whose plot will come back on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لَهُمْ إِلَٰهٌ غَيْرُ اللَّهِ سُبْحَٰنَ اللَّهِ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have a god other than Allah? Glory be to Allah above what they associate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يَرَوْاْ كِسْفًا مِّنَ السَّمَآءِ سَاقِطًا يَقُولُواْ سَحَابٌ مَّرْكُومٌ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saw a piece of the sky falling on them as punishment, they would say: Clouds piled up.</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فَذَرْهُمْ حَتَّىٰ يُلَٰقُواْ يَوْمَهُمُ الَّذِي فِيهِ يُصْعَقُونَ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leave them until they meet the Day of Resurrection, when they will be destroyed,</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لَا يُغْنِي عَنْهُمْ كَيْدُهُمْ شَيْـًٔا وَلَا هُمْ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their plotting will not help them at all, and they will not be helped.</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لِلَّذِينَ ظَلَمُواْ عَذَابًا دُونَ ذَٰلِكَ وَلَٰكِنَّ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wrongdoers will have a punishment before that, in this world and in the grave, but most of them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وَاصْبِرْ لِحُكْمِ رَبِّكَ فَإِنَّكَ بِأَعْيُنِنَا وَسَبِّحْ بِحَمْدِ رَبِّكَ حِينَ تَقُومُ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 patient with your Lord's decision, for you are under Our eyes and care. And glorify your Lord with praise when you get up from your sitting or your sleep,</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الَّيْلِ فَسَبِّحْهُ وَإِدْبَٰرَ النُّجُومِ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glorify Him in part of the night and when the stars fade at the end of the night; these are the two rak'ahs of Fajr.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Adh-Dhariyat</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31 – 60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begins from verse 31: the story of Ibrahim's guests and the destruction of Lut's people, lessons from the nations who denied, and that the purpose of creating jinn and mankind is to worship Allah alone.</a:t>
            </a:r>
            <a:endParaRPr lang="en-US" sz="17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فَمَا خَطْبُكُمْ أَيُّهَا الْمُرْسَلُونَ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said to the angels: What is your mission, O messengers?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إِنَّآ أُرْسِلْنَآ إِلَىٰ قَوْمٍ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have been sent to a criminal people, the people of Lut,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لِنُرْسِلَ عَلَيْهِمْ حِجَارَةً مِّن 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send down on them stones of hardened clay,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مُّسَوَّمَةً عِندَ رَبِّكَ لِلْمُسْرِفِينَ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marked by your Lord for those who go beyond limits.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فَأَخْرَجْنَا مَن كَانَ فِيهَا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brought out the believers who were in the towns of Lut's people,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وَجَدْنَا فِيهَا غَيْرَ بَيْتٍ مِّنَ الْمُسْلِمِينَ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We found there only one house of Muslims, the house of Lut.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وَتَرَكْنَا فِيهَآ ءَايَةً لِّلَّذِينَ يَخَافُونَ الْعَذَابَ الْأَلِيمَ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left in it a sign of their destruction for those who fear the painful punishment.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وَفِي مُوسَىٰ إِذْ أَرْسَلْنَٰهُ إِلَىٰ فِرْعَوْنَ بِسُلْطَٰنٍ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the story of Musa is a lesson, when We sent him to Pharaoh with clear proof,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فَتَوَلَّىٰ بِرُكْنِهِ وَقَالَ سَٰحِرٌ أَوْ 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Pharaoh turned away, relying on his soldiers, and said: A magician or a madman.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فَأَخَذْنَٰهُ وَجُنُودَهُ فَنَبَذْنَٰهُمْ فِي الْيَمِّ وَهُوَ مُلِيمٌ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seized him and his soldiers and threw them into the sea, while he was to blame.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وَفِي عَادٍ إِذْ أَرْسَلْنَا عَلَيْهِمُ الرِّيحَ الْعَقِيمَ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'Ad is a lesson, when We sent against them a wind with no good in 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تَذَرُ مِن شَيْءٍ أَتَتْ عَلَيْهِ إِلَّا جَعَلَتْهُ كَالرَّمِيمِ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leaving nothing it passed over without turning it to dust.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وَفِي ثَمُودَ إِذْ قِيلَ لَهُمْ تَمَتَّعُواْ حَتَّىٰ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Thamud is a lesson, when they were told: Enjoy yourselves until your time ends.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فَعَتَوْاْ عَنْ أَمْرِ رَبِّهِمْ فَأَخَذَتْهُمُ الصَّـٰعِقَةُ وَهُمْ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arrogantly disobeyed their Lord's command, so the thunderbolt seized them while they were watching,</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اسْتَطَٰعُواْ مِن قِيَامٍ وَمَا كَانُواْ مُنتَصِرِينَ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could not stand up, nor could they defend themselves.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وَقَوْمَ نُوحٍ مِّن قَبْلُ إِنَّهُمْ كَانُواْ قَوْمًا 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destroyed the people of Nuh before them; they were a people who left Allah's 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وَالسَّمَآءَ بَنَيْنَٰهَا بِأَيْيْدٍ وَإِنَّا لَمُوسِعُونَ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built the sky with strength, and We are expanding it.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وَالْأَرْضَ فَرَشْنَٰهَا فَنِعْمَ الْمَٰهِدُونَ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spread out the earth, and how excellently We spread it!</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كُلِّ شَيْءٍ خَلَقْنَا زَوْجَيْنِ لَعَلَّكُمْ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of everything We created pairs, so that you may take heed.</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فَفِرُّواْ إِلَى اللَّهِ إِنِّي لَكُم مِّنْهُ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flee from Allah's punishment to His mercy through obeying Him; I am a clear warner to you from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تَجْعَلُواْ مَعَ اللَّهِ إِلَٰهًا ءَاخَرَ إِنِّي لَكُم مِّنْهُ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 not set up another god with Allah; I am a clear warner to you from Him.</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مَآ أَتَى الَّذِينَ مِن قَبْلِهِم مِّن رَّسُولٍ إِلَّا قَالُواْ سَاحِرٌ أَوْ 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same way, no messenger came to the nations before them without them saying: A magician or a madman.</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أَتَوَاصَوْاْ بِهِ بَلْ هُمْ قَوْمٌ طَاغُونَ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they pass this saying down to one another? Rather, they are a people who go beyond limits.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فَتَوَلَّ عَنْهُمْ فَمَآ أَنتَ بِمَلُومٍ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turn away from them; you will not be blamed.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وَذَكِّرْ فَإِنَّ الذِّكْرَىٰ تَنفَعُ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keep reminding, for reminding benefits the believers.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خَلَقْتُ الْجِنَّ وَالْإِنسَ إِلَّا لِيَعْبُدُونِ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did not create the jinn and mankind except to worship Me alone.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أُرِيدُ مِنْهُم مِّن رِّزْقٍ وَمَآ أُرِيدُ أَن يُطْعِمُونِ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do not want any provision from them, nor do I want them to feed 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هُوَ الرَّزَّاقُ ذُو الْقُوَّةِ الْمَتِينُ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Provider, the Owner of great strength.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23842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لِلَّذِينَ ظَلَمُواْ ذَنُوبًا مِّثْلَ ذَنُوبِ أَصْحَٰبِهِمْ فَلَا يَسْتَعْجِلُونِ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wrongdoers will have a share of punishment like the share of those like them before, so let them not hurry it.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403936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فَوَيْلٌ لِّلَّذِينَ كَفَرُواْ مِن يَوْمِهِمُ الَّذِي يُوعَدُونَ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ruin to the disbelievers from their Day which they are promised.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pic>
        <p:nvPicPr>
          <p:cNvPr id="2" name="Image 0" descr="assets27/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 Allah, make the Mighty Qur'an the spring of our hearts, the light of our chests, the remover of our sadness and the reliever of our worries."</a:t>
            </a:r>
            <a:endParaRPr lang="en-US" sz="2100" dirty="0"/>
          </a:p>
        </p:txBody>
      </p:sp>
      <p:pic>
        <p:nvPicPr>
          <p:cNvPr id="5" name="Image 1" descr="assets27/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7 Tafsir EN">
  <a:themeElements>
    <a:clrScheme name="Juz 27 Tafsir EN">
      <a:dk1>
        <a:srgbClr val="2A2430"/>
      </a:dk1>
      <a:lt1>
        <a:srgbClr val="FFFFFF"/>
      </a:lt1>
      <a:dk2>
        <a:srgbClr val="4B2A66"/>
      </a:dk2>
      <a:lt2>
        <a:srgbClr val="FAF7FB"/>
      </a:lt2>
      <a:accent1>
        <a:srgbClr val="4B2A66"/>
      </a:accent1>
      <a:accent2>
        <a:srgbClr val="C9A04A"/>
      </a:accent2>
      <a:accent3>
        <a:srgbClr val="6A3D8F"/>
      </a:accent3>
      <a:accent4>
        <a:srgbClr val="6A6272"/>
      </a:accent4>
      <a:accent5>
        <a:srgbClr val="EEE8F3"/>
      </a:accent5>
      <a:accent6>
        <a:srgbClr val="2F6B5E"/>
      </a:accent6>
      <a:hlink>
        <a:srgbClr val="6A3D8F"/>
      </a:hlink>
      <a:folHlink>
        <a:srgbClr val="6A6272"/>
      </a:folHlink>
    </a:clrScheme>
    <a:fontScheme name="Juz 27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126</Slides>
  <Notes>126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126</vt:i4>
      </vt:variant>
    </vt:vector>
  </HeadingPairs>
  <TitlesOfParts>
    <vt:vector size="1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Adh-Dhariyat — Simplified Tafsir from Ibn Kathir</dc:title>
  <dc:subject>PptxGenJS Presentation</dc:subject>
  <dc:creator>Qur'an Teacher</dc:creator>
  <cp:lastModifiedBy>Qur'an Teacher</cp:lastModifiedBy>
  <cp:revision>1</cp:revision>
  <dcterms:created xsi:type="dcterms:W3CDTF">2026-10-04T04:27:53Z</dcterms:created>
  <dcterms:modified xsi:type="dcterms:W3CDTF">2026-10-04T04:27:53Z</dcterms:modified>
</cp:coreProperties>
</file>