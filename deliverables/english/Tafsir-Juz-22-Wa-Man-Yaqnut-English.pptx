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Lst>
  <p:notesMasterIdLst>
    <p:notesMasterId r:id="rId8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cc22788-75bb-ff89-e731-db7bccac6424}">
          <p14:sldIdLst>
            <p14:sldId id="256"/>
            <p14:sldId id="257"/>
            <p14:sldId id="258"/>
          </p14:sldIdLst>
        </p14:section>
        <p14:section name="Surah Ya-Sin" id="{6ef342c4-ff17-cb93-1075-2082d34a36fe}">
          <p14:sldIdLst>
            <p14:sldId id="259"/>
            <p14:sldId id="260"/>
            <p14:sldId id="261"/>
            <p14:sldId id="262"/>
            <p14:sldId id="263"/>
            <p14:sldId id="264"/>
            <p14:sldId id="265"/>
            <p14:sldId id="266"/>
            <p14:sldId id="267"/>
            <p14:sldId id="268"/>
          </p14:sldIdLst>
        </p14:section>
        <p14:section name="Surah Fatir" id="{7b9b4ebd-f675-f629-2968-528af78ae5e3}">
          <p14:sldIdLst>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Lst>
        </p14:section>
        <p14:section name="Surah Saba'" id="{2a8db81a-cc5f-6f2d-e58e-1f1c7911baaa}">
          <p14:sldIdLst>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Lst>
        </p14:section>
        <p14:section name="Surah Al-Ahzab" id="{86ce0067-89b9-c3f6-a6d7-354b09188a71}">
          <p14:sldIdLst>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Lst>
        </p14:section>
        <p14:section name="Closing" id="{65bb9406-66be-c066-d0e0-9adf657356d7}">
          <p14:sldIdLst>
            <p14:sldId id="33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notesMaster" Target="notesMasters/notesMaster1.xml"/><Relationship Id="rId87" Type="http://schemas.openxmlformats.org/officeDocument/2006/relationships/presProps" Target="presProps.xml"/><Relationship Id="rId88" Type="http://schemas.openxmlformats.org/officeDocument/2006/relationships/viewProps" Target="viewProps.xml"/><Relationship Id="rId89" Type="http://schemas.openxmlformats.org/officeDocument/2006/relationships/theme" Target="theme/theme1.xml"/><Relationship Id="rId9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the first 27 verses of Surah Ya-Sin, then move back through Fatir and Saba' to the second part of Surah Al-Ahzab.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did the believing man wish for after entering Paradise? Read verses 26–27.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Who fears Allah the most according to verse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Why were the two gardens of Saba' changed? Read verses 15–17.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List five qualities of the believing men and women in verse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2/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2/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2/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slideLayout" Target="../slideLayouts/slideLayout4.xml"/><Relationship Id="rId4"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2/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4400" b="1" dirty="0">
                <a:solidFill>
                  <a:schemeClr val="bg1"/>
                </a:solidFill>
                <a:latin typeface="Georgia" pitchFamily="34" charset="0"/>
                <a:ea typeface="Georgia" pitchFamily="34" charset="-122"/>
                <a:cs typeface="Georgia" pitchFamily="34" charset="-120"/>
              </a:rPr>
              <a:t>Tafsir of Juz Wa Man Yaqnut</a:t>
            </a:r>
            <a:endParaRPr lang="en-US" sz="44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22/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22 • From Ya-Sin (1–27) back to Al-Ahzab (31–73)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brown</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Ya-Sin and moves back to Surah Al-Ahzab</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Ya-Sin</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Fatir</a:t>
            </a:r>
            <a:endParaRPr lang="en-US" sz="1400" dirty="0"/>
          </a:p>
        </p:txBody>
      </p:sp>
      <p:sp>
        <p:nvSpPr>
          <p:cNvPr id="8" name="Shape 6"/>
          <p:cNvSpPr/>
          <p:nvPr/>
        </p:nvSpPr>
        <p:spPr>
          <a:xfrm>
            <a:off x="6150712" y="1828800"/>
            <a:ext cx="2622728" cy="566928"/>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6150712"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3. </a:t>
            </a:r>
            <a:pPr algn="ctr" indent="0" marL="0">
              <a:buNone/>
            </a:pPr>
            <a:r>
              <a:rPr lang="en-US" altLang="en-US" sz="1400" b="1" dirty="0">
                <a:solidFill>
                  <a:schemeClr val="tx2"/>
                </a:solidFill>
                <a:latin typeface="Arial" pitchFamily="34" charset="0"/>
                <a:ea typeface="Arial" pitchFamily="34" charset="-122"/>
                <a:cs typeface="Arial" pitchFamily="34" charset="-120"/>
              </a:rPr>
              <a:t>Saba'</a:t>
            </a:r>
            <a:endParaRPr lang="en-US" sz="1400" dirty="0"/>
          </a:p>
        </p:txBody>
      </p:sp>
      <p:sp>
        <p:nvSpPr>
          <p:cNvPr id="10" name="Shape 8"/>
          <p:cNvSpPr/>
          <p:nvPr/>
        </p:nvSpPr>
        <p:spPr>
          <a:xfrm>
            <a:off x="8883167" y="1828800"/>
            <a:ext cx="2622728" cy="566928"/>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8883167"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4. </a:t>
            </a:r>
            <a:pPr algn="ctr" indent="0" marL="0">
              <a:buNone/>
            </a:pPr>
            <a:r>
              <a:rPr lang="en-US" altLang="en-US" sz="1400" b="1" dirty="0">
                <a:solidFill>
                  <a:schemeClr val="tx2"/>
                </a:solidFill>
                <a:latin typeface="Arial" pitchFamily="34" charset="0"/>
                <a:ea typeface="Arial" pitchFamily="34" charset="-122"/>
                <a:cs typeface="Arial" pitchFamily="34" charset="-120"/>
              </a:rPr>
              <a:t>Al-Ahzab</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Ya-Sin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1 – 27</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36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Abu Sa'id Al-Khudri (may Allah be pleased with him) said: Banu Salimah lived at the edge of Madinah and wanted to move near the mosque. Then “We give life to the dead and record what they sent ahead and their traces” was revealed, and the Prophet (peace be upon him) told them: "Your footsteps are recorded, so do not move" (Tirmidhi, and its origin is in Sahih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This juz ends at verse 27: proving the Prophet's (peace be upon him) message, that Allah records people's deeds and the traces they leave, and the story of the people of the town and the believing man who came running to advise his people.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وَالْقُرْءَانِ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swears by the wise Qur'an, which has no flaw in it,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إِنَّكَ لَمِنَ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you, O Muhammad, are one of the messengers,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عَلَىٰ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a straight path, Islam.</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تَنزِيلَ الْعَزِيزِ الرَّحِيمِ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sent down by Allah, the Almighty, the Most Merciful,</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لِتُنذِرَ قَوْمًا مَّآ أُنذِرَ ءَابَآؤُهُمْ فَهُمْ غَٰفِلُونَ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you may warn a people whose recent forefathers were not warned, so they are heedless.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حَقَّ الْقَوْلُ عَلَىٰ أَكْثَرِهِمْ فَهُمْ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punishment has become due on most of them because of their stubbornness, so they do not believe.</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جَعَلْنَا فِي أَعْنَٰقِهِمْ أَغْلَٰلًا فَهِيَ إِلَى الْأَذْقَانِ فَهُم مُّقْمَحُونَ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refusal of guidance is like having iron collars around their necks up to their chins, so their heads are forced up and they cannot lower them.</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مِن بَيْنِ أَيْدِيهِمْ سَدًّا وَمِنْ خَلْفِهِمْ سَدًّا فَأَغْشَيْنَٰهُمْ فَهُمْ لَا يُبْصِرُونَ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put a barrier in front of them and a barrier behind them and covered their eyes, so they do not see the truth.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وَسَوَآءٌ عَلَيْهِمْ ءَأَنذَرْتَهُمْ أَمْ لَمْ تُنذِرْهُمْ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the same to them whether you warn them or not; they will not believe.</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تُنذِرُ مَنِ اتَّبَعَ الذِّكْرَ وَخَشِيَ الرَّحْمَٰنَ بِالْغَيْبِ فَبَشِّرْهُ بِمَغْفِرَةٍ وَأَجْرٍ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warning only benefits the one who follows the Qur'an and fears the Most Merciful without seeing Him. So give him good news of forgiveness and a generous reward.</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نَحْنُ نُحْيِ الْمَوْتَىٰ وَنَكْتُبُ مَا قَدَّمُواْ وَءَاثَٰرَهُمْ وَكُلَّ شَيْءٍ أَحْصَيْنَٰهُ فِي إِمَامٍ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We who give life to the dead, and We record what they did and the traces they left behind. We have kept everything in a clear Book, the Preserved Tablet.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وَاضْرِبْ لَهُم مَّثَلًا أَصْحَٰبَ الْقَرْيَةِ إِذْ جَآءَهَا الْمُرْسَلُونَ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Give them the example of the people of the town when the messengers came to it.</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أَرْسَلْنَآ إِلَيْهِمُ اثْنَيْنِ فَكَذَّبُوهُمَا فَعَزَّزْنَا بِثَالِثٍ فَقَالُواْ إِنَّآ إِلَيْكُم مُّرْسَلُونَ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two messengers to them, but they denied them, so We strengthened them with a third. They said: We have been sent to you.</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مَآ أَنتُمْ إِلَّا بَشَرٌ مِّثْلُنَا وَمَآ أَنزَلَ الرَّحْمَٰنُ مِن شَيْءٍ إِنْ أَنتُمْ إِلَّا تَكْذِبُونَ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townspeople said: You are only humans like us. The Most Merciful has not sent down anything; you are only lying.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رَبُّنَا يَعْلَمُ إِنَّآ إِلَيْكُمْ لَمُرْسَلُونَ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messengers said: Our Lord knows that we have been sent to you,</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عَلَيْنَآ إِلَّا الْبَلَٰغُ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our duty is only to deliver the message clearly.</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إِنَّا تَطَيَّرْنَا بِكُمْ لَئِن لَّمْ تَنتَهُواْ لَنَرْجُمَنَّكُمْ وَلَيَمَسَّنَّكُم مِّنَّا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see you as bad luck. If you do not stop, we will stone you, and a painful punishment from us will touch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طَـٰئِرُكُم مَّعَكُمْ أَئِن ذُكِّرْتُم بَلْ أَنتُمْ قَوْمٌ مُّسْرِفُونَ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messengers said: Your bad luck is with you because of your disbelief. Do you call it bad luck because we reminded you? Rather, you are a people who go too far.</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وَجَآءَ مِنْ أَقْصَا الْمَدِينَةِ رَجُلٌ يَسْعَىٰ قَالَ يَٰقَوْمِ اتَّبِعُواْ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man came running from the far end of the city and said: O my people, follow the messengers.</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اتَّبِعُواْ مَن لَّا يَسْـَٔلُكُمْ أَجْرًا وَهُم مُّهْتَدُونَ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Follow those who ask you for no payment and are rightly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وَمَالِيَ لَآ أَعْبُدُ الَّذِي فَطَرَنِي وَإِلَيْهِ تُرْجَعُونَ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should I not worship Allah, who created me, and to whom you will be returned?</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ءَأَتَّخِذُ مِن دُونِهِ ءَالِهَةً إِن يُرِدْنِ الرَّحْمَٰنُ بِضُرٍّ لَّا تُغْنِ عَنِّي شَفَٰعَتُهُمْ شَيْـًٔا وَلَا يُنقِذُونِ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Should I take gods besides Him? If the Most Merciful wanted harm for me, their intercession would not help me at all, nor could they save me.</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إِذًا لَّفِي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I did that, I would be clearly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Ya-Sin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ءَامَنتُ بِرَبِّكُمْ فَاسْمَعُونِ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have believed in your Lord, so listen to me. But they killed him.</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قِيلَ ادْخُلِ الْجَنَّةَ قَالَ يَٰلَيْتَ قَوْمِي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was told: Enter Paradise. He said: If only my people knew</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بِمَا غَفَرَ لِي رَبِّي وَجَعَلَنِي مِنَ الْمُكْرَمِينَ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my Lord has forgiven me and placed me among the honoured. He advised his people while alive and after death.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Fatir</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45 verses • The Originator</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35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surah;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Showing the power of Allah the Creator in creating the heavens, the earth and the angels; that people are in need of Him while He is Free of need; that the scholars fear Allah the most; and the types of people in the nation of the Qur'an.</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الْحَمْدُ لِلَّهِ فَاطِرِ السَّمَٰوَٰتِ وَالْأَرْضِ جَاعِلِ الْمَلَـٰئِكَةِ رُسُلًا أُوْلِي أَجْنِحَةٍ مَّثْنَىٰ وَثُلَٰثَ وَرُبَٰعَ يَزِيدُ فِي الْخَلْقِ مَا يَشَآءُ إِنَّ 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 praise is for Allah, the Originator of the heavens and the earth without any earlier example, who made the angels messengers with wings, two, three and four. He adds to creation whatever He wills. Allah has power over all things.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يَفْتَحِ اللَّهُ لِلنَّاسِ مِن رَّحْمَةٍ فَلَا مُمْسِكَ لَهَا وَمَا يُمْسِكْ فَلَا مُرْسِلَ لَهُ مِن بَعْدِهِ وَهُوَ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Whatever mercy Allah opens for people, no one can hold it back, and whatever He holds back, no one can release it after Him. He is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النَّاسُ اذْكُرُواْ نِعْمَتَ اللَّهِ عَلَيْكُمْ هَلْ مِنْ خَٰلِقٍ غَيْرُ اللَّهِ يَرْزُقُكُم مِّنَ السَّمَآءِ وَالْأَرْضِ لَآ إِلَٰهَ إِلَّا هُوَ فَأَنَّىٰ تُؤْفَكُونَ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remember Allah's blessing on you. Is there any creator other than Allah who provides for you from the sky and the earth? None deserves worship but Him. So how are you turned away from worshipping Him?</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يُكَذِّبُوكَ فَقَدْ كُذِّبَتْ رُسُلٌ مِّن قَبْلِكَ وَإِلَى اللَّهِ تُرْجَعُ الْأُمُورُ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deny you, messengers before you were also denied, and to Allah all matters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النَّاسُ إِنَّ وَعْدَ اللَّهِ حَقٌّ فَلَا تَغُرَّنَّكُمُ الْحَيَوٰةُ الدُّنْيَا وَلَا يَغُرَّنَّكُم بِاللَّهِ الْغَرُورُ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Allah's promise of the Resurrection is true, so do not let this worldly life fool you, and do not let Satan fool you about Allah.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الشَّيْطَٰنَ لَكُمْ عَدُوٌّ فَاتَّخِذُوهُ عَدُوًّا إِنَّمَا يَدْعُواْ حِزْبَهُ لِيَكُونُواْ مِنْ أَصْحَٰبِ السَّعِيرِ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Satan is your enemy, so treat him as an enemy. He only calls his followers so that they will be among the people of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كَفَرُواْ لَهُمْ عَذَابٌ شَدِيدٌ وَالَّذِينَ ءَامَنُواْ وَعَمِلُواْ الصَّـٰلِحَٰتِ لَهُم مَّغْفِرَةٌ وَأَجْرٌ 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will have a severe punishment, and the righteous believers will have forgiveness and a great reward.</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زُيِّنَ لَهُ سُوءُ عَمَلِهِ فَرَءَاهُ حَسَنًا فَإِنَّ اللَّهَ يُضِلُّ مَن يَشَآءُ وَيَهْدِي مَن يَشَآءُ فَلَا تَذْهَبْ نَفْسُكَ عَلَيْهِمْ حَسَرَٰتٍ إِنَّ اللَّهَ عَلِيمٌ بِمَا يَصْنَعُونَ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the one whose evil deeds Satan has made look good to him, so he sees them as good, like the one Allah has guided? Allah lets go astray whom He wills and guides whom He wills, so do not destroy yourself with grief over them. Allah knows what they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الَّذِي أَرْسَلَ الرِّيَٰحَ فَتُثِيرُ سَحَابًا فَسُقْنَٰهُ إِلَىٰ بَلَدٍ مَّيِّتٍ فَأَحْيَيْنَا بِهِ الْأَرْضَ بَعْدَ مَوْتِهَا كَذَٰلِكَ النُّشُورُ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the One who sends the winds that stir up clouds, then We drive them to a dead land and give life to the earth after its death. That is how the Resurrection will be.</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كَانَ يُرِيدُ الْعِزَّةَ فَلِلَّهِ الْعِزَّةُ جَمِيعًا إِلَيْهِ يَصْعَدُ الْكَلِمُ الطَّيِّبُ وَالْعَمَلُ الصَّـٰلِحُ يَرْفَعُهُ وَالَّذِينَ يَمْكُرُونَ السَّيِّـَٔاتِ لَهُمْ عَذَابٌ شَدِيدٌ وَمَكْرُ أُوْلَـٰئِكَ هُوَ يَبُورُ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wants honour, let him seek it from Allah, for all honour belongs to Allah. Good words, like remembrance of Allah, rise up to Him, and good deeds raise them. Those who plot evil will have a severe punishment, and their plotting will fail.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خَلَقَكُم مِّن تُرَابٍ ثُمَّ مِن نُّطْفَةٍ ثُمَّ جَعَلَكُمْ أَزْوَٰجًا وَمَا تَحْمِلُ مِنْ أُنثَىٰ وَلَا تَضَعُ إِلَّا بِعِلْمِهِ وَمَا يُعَمَّرُ مِن مُّعَمَّرٍ وَلَا يُنقَصُ مِنْ عُمُرِهِ إِلَّا فِي كِتَٰبٍ إِنَّ ذَٰلِكَ عَلَى اللَّهِ يَسِيرٌ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created you from dust, then from a drop of fluid, then made you males and females. No female carries or gives birth except with His knowledge. No one's life is made longer or shorter except that it is written in a Book. That is easy for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يَسْتَوِي الْبَحْرَانِ هَٰذَا عَذْبٌ فُرَاتٌ سَآئِغٌ شَرَابُهُ وَهَٰذَا مِلْحٌ أُجَاجٌ وَمِن كُلٍّ تَأْكُلُونَ لَحْمًا طَرِيًّا وَتَسْتَخْرِجُونَ حِلْيَةً تَلْبَسُونَهَا وَتَرَى الْفُلْكَ فِيهِ مَوَاخِرَ لِتَبْتَغُواْ مِن فَضْلِهِ وَلَعَلَّكُمْ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two seas are not alike: this one is sweet, fresh and pleasant to drink, and that one very salty. From each you eat fresh fish and bring out pearls and coral to wear. You see ships cutting through the water so that you seek His provision and may be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يُولِجُ الَّيْلَ فِي النَّهَارِ وَيُولِجُ النَّهَارَ فِي الَّيْلِ وَسَخَّرَ الشَّمْسَ وَالْقَمَرَ كُلٌّ يَجْرِي لِأَجَلٍ مُّسَمًّى ذَٰلِكُمُ اللَّهُ رَبُّكُمْ لَهُ الْمُلْكُ وَالَّذِينَ تَدْعُونَ مِن دُونِهِ مَا يَمْلِكُونَ مِن قِطْمِيرٍ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makes the night enter the day and the day enter the night, and has made the sun and the moon serve, each running for a set time. That is Allah, your Lord; His is the kingdom. Those you worship besides Him do not own even the thin skin of a date stone.</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تَدْعُوهُمْ لَا يَسْمَعُواْ دُعَآءَكُمْ وَلَوْ سَمِعُواْ مَا اسْتَجَابُواْ لَكُمْ وَيَوْمَ الْقِيَٰمَةِ يَكْفُرُونَ بِشِرْكِكُمْ وَلَا يُنَبِّئُكَ مِثْلُ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call on them, they do not hear your call, and even if they heard, they could not answer you. On the Day of Resurrection they will reject your shirk. No one can inform you like the All-Aware.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النَّاسُ أَنتُمُ الْفُقَرَآءُ إِلَى اللَّهِ وَاللَّهُ هُوَ الْغَنِيُّ الْحَمِيدُ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you are the ones in need of Allah in everything, and Allah is the Free of need, the Praiseworthy.</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يَشَأْ يُذْهِبْكُمْ وَيَأْتِ بِخَلْقٍ جَدِيدٍ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He wills, He can remove you and bring a new creation instead of you,</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ذَٰلِكَ عَلَى اللَّهِ بِعَزِيزٍ</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that is not hard for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57505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تَزِرُ وَازِرَةٌ وِزْرَ أُخْرَىٰ وَإِن تَدْعُ مُثْقَلَةٌ إِلَىٰ حِمْلِهَا لَا يُحْمَلْ مِنْهُ شَيْءٌ وَلَوْ كَانَ ذَا قُرْبَىٰ إِنَّمَا تُنذِرُ الَّذِينَ يَخْشَوْنَ رَبَّهُم بِالْغَيْبِ وَأَقَامُواْ الصَّلَوٰةَ وَمَن تَزَكَّىٰ فَإِنَّمَا يَتَزَكَّىٰ لِنَفْسِهِ وَإِلَى اللَّهِ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soul will carry another's sins. If a soul heavy with sins asks someone to carry them for it, no one will carry any of it, even a relative. Your warning only benefits those who fear their Lord in private and establish the prayer. Whoever purifies himself does so for his own good, and to Allah is the return.</a:t>
            </a:r>
            <a:endParaRPr lang="en-US" sz="3000" dirty="0"/>
          </a:p>
        </p:txBody>
      </p:sp>
      <p:sp>
        <p:nvSpPr>
          <p:cNvPr id="9" name="Shape 7"/>
          <p:cNvSpPr/>
          <p:nvPr/>
        </p:nvSpPr>
        <p:spPr>
          <a:xfrm>
            <a:off x="1444752" y="4633722"/>
            <a:ext cx="8641080" cy="0"/>
          </a:xfrm>
          <a:prstGeom prst="line">
            <a:avLst/>
          </a:prstGeom>
          <a:noFill/>
          <a:ln w="9525">
            <a:solidFill>
              <a:schemeClr val="accent2"/>
            </a:solidFill>
            <a:prstDash val="dash"/>
          </a:ln>
        </p:spPr>
      </p:sp>
      <p:sp>
        <p:nvSpPr>
          <p:cNvPr id="10" name="Shape 8"/>
          <p:cNvSpPr/>
          <p:nvPr/>
        </p:nvSpPr>
        <p:spPr>
          <a:xfrm>
            <a:off x="713232" y="4866894"/>
            <a:ext cx="548640" cy="548640"/>
          </a:xfrm>
          <a:prstGeom prst="star8">
            <a:avLst/>
          </a:prstGeom>
          <a:solidFill>
            <a:schemeClr val="accent2"/>
          </a:solidFill>
          <a:ln/>
        </p:spPr>
      </p:sp>
      <p:sp>
        <p:nvSpPr>
          <p:cNvPr id="11" name="Shape 9"/>
          <p:cNvSpPr/>
          <p:nvPr/>
        </p:nvSpPr>
        <p:spPr>
          <a:xfrm>
            <a:off x="822960" y="49766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8668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48486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يَسْتَوِي الْأَعْمَىٰ وَالْبَصِيرُ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one blind to the truth, the disbeliever, is not equal to the one who sees, the believer,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الظُّلُمَٰتُ وَلَا النُّورُ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are the darkness of disbelief and the light of faith,</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الظِّلُّ وَلَا الْحَرُورُ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are shade and burning heat, just as Paradise and the Fire are not equal.</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يَسْتَوِي الْأَحْيَآءُ وَلَا الْأَمْوَٰتُ إِنَّ اللَّهَ يُسْمِعُ مَن يَشَآءُ وَمَآ أَنتَ بِمُسْمِعٍ مَّن فِي الْقُبُورِ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living, the believers, are not equal to the dead, the disbelievers. Allah makes whom He wills hear, but you cannot make the disbelievers hear, who are like the dead in their graves.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أَنتَ إِلَّا نَذِيرٌ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are only a warner.</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أَرْسَلْنَٰكَ بِالْحَقِّ بَشِيرًا وَنَذِيرًا وَإِن مِّنْ أُمَّةٍ إِلَّا خَلَا فِيهَا نَذِيرٌ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you with the truth as a bringer of good news and a warner. There has never been a nation without a warner having passed among them.</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يُكَذِّبُوكَ فَقَدْ كَذَّبَ الَّذِينَ مِن قَبْلِهِمْ جَآءَتْهُمْ رُسُلُهُم بِالْبَيِّنَٰتِ وَبِالزُّبُرِ وَبِالْكِتَٰبِ الْمُنِيرِ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deny you, those before them also denied. Their messengers came to them with miracles, scriptures and the enlightening Book.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أَخَذْتُ الَّذِينَ كَفَرُواْ فَكَيْفَ كَانَ نَكِيرِ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I seized the disbelievers, and how was My rejection of them?</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أَنَّ اللَّهَ أَنزَلَ مِنَ السَّمَآءِ مَآءً فَأَخْرَجْنَا بِهِ ثَمَرَٰتٍ مُّخْتَلِفًا أَلْوَٰنُهَا وَمِنَ الْجِبَالِ جُدَدٌ بِيضٌ وَحُمْرٌ مُّخْتَلِفٌ أَلْوَٰنُهَا وَغَرَابِيبُ سُودٌ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that Allah sends down rain from the sky, and with it We bring out fruits of different colours? And in the mountains are paths and streaks of white and red of different colours, and others very black.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النَّاسِ وَالدَّوَآبِّ وَالْأَنْعَٰمِ مُخْتَلِفٌ أَلْوَٰنُهُ كَذَٰلِكَ إِنَّمَا يَخْشَى اللَّهَ مِنْ عِبَادِهِ الْعُلَمَـٰؤُاْ إِنَّ اللَّهَ عَزِيزٌ غَفُورٌ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people, animals and livestock are also of different colours. Only those with knowledge, who know His greatness, truly fear Allah. Allah is Almighty, Forgiving.</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يَتْلُونَ كِتَٰبَ اللَّهِ وَأَقَامُواْ الصَّلَوٰةَ وَأَنفَقُواْ مِمَّا رَزَقْنَٰهُمْ سِرًّا وَعَلَانِيَةً يَرْجُونَ تِجَٰرَةً لَّن تَبُورَ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recite the Qur'an and act on it, establish the prayer, and spend from what We have provided them secretly and openly, hope for a trade that will never lose,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لِيُوَفِّيَهُمْ أُجُورَهُمْ وَيَزِيدَهُم مِّن فَضْلِهِ إِنَّهُ غَفُورٌ شَكُورٌ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He may give them their rewards in full and add more from His favour. He is Forgiving, Most Appreciative.</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 أَوْحَيْنَآ إِلَيْكَ مِنَ الْكِتَٰبِ هُوَ الْحَقُّ مُصَدِّقًا لِّمَا بَيْنَ يَدَيْهِ إِنَّ اللَّهَ بِعِبَادِهِ لَخَبِيرٌ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We have revealed to you of the Qur'an is the truth, confirming the Books before it. Allah is All-Aware and All-Seeing of His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أَوْرَثْنَا الْكِتَٰبَ الَّذِينَ اصْطَفَيْنَا مِنْ عِبَادِنَا فَمِنْهُمْ ظَالِمٌ لِّنَفْسِهِ وَمِنْهُم مُّقْتَصِدٌ وَمِنْهُمْ سَابِقٌ بِالْخَيْرَٰتِ بِإِذْنِ اللَّهِ ذَٰلِكَ هُوَ الْفَضْلُ الْكَبِيرُ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gave the Qur'an to those We chose from Our servants, this nation. Some wrong themselves with sins, some are in between and do what is required, and some race ahead in good deeds by Allah's permission. That is the great favour.</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جَنَّـٰتُ عَدْنٍ يَدْخُلُونَهَا يُحَلَّوْنَ فِيهَا مِنْ أَسَاوِرَ مِن ذَهَبٍ وَلُؤْلُؤًا وَلِبَاسُهُمْ فِيهَا حَرِيرٌ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Gardens of Eternity they will enter, adorned there with bracelets of gold and pearls, and their clothing there will be silk.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الْحَمْدُ لِلَّهِ الَّذِي أَذْهَبَ عَنَّا الْحَزَنَ إِنَّ رَبَّنَا لَغَفُورٌ شَكُورٌ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All praise is for Allah, who has removed sadness from us. Our Lord is Forgiving, Most Appreciative,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أَحَلَّنَا دَارَ الْمُقَامَةِ مِن فَضْلِهِ لَا يَمَسُّنَا فِيهَا نَصَبٌ وَلَا يَمَسُّنَا فِيهَا لُغُوبٌ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has settled us in the everlasting home out of His favour. No tiredness or weariness touches us there.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كَفَرُواْ لَهُمْ نَارُ جَهَنَّمَ لَا يُقْضَىٰ عَلَيْهِمْ فَيَمُوتُواْ وَلَا يُخَفَّفُ عَنْهُم مِّنْ عَذَابِهَا كَذَٰلِكَ نَجْزِي كُلَّ كَفُورٍ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will have the fire of Hell. They will not be finished off by death so they could rest, nor will its punishment be lightened for them. That is how We repay every ungrateful one.</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وَهُمْ يَصْطَرِخُونَ فِيهَا رَبَّنَآ أَخْرِجْنَا نَعْمَلْ صَٰلِحًا غَيْرَ الَّذِي كُنَّا نَعْمَلُ أَوَلَمْ نُعَمِّرْكُم مَّا يَتَذَكَّرُ فِيهِ مَن تَذَكَّرَ وَجَآءَكُمُ النَّذِيرُ فَذُوقُواْ فَمَا لِلظَّـٰلِمِينَ مِن نَّصِيرٍ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scream there: Our Lord, take us out and we will do good, not what we used to do. They will be told: Did We not give you a long enough life for anyone who wanted to take heed, and the warner came to you? So taste it; the wrongdoers have no helper.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عَٰلِمُ غَيْبِ السَّمَٰوَٰتِ وَالْأَرْضِ إِنَّهُ عَلِيمٌ بِذَاتِ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knows the unseen of the heavens and the earth. He knows what is in the hearts.</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جَعَلَكُمْ خَلَـٰئِفَ فِي الْأَرْضِ فَمَن كَفَرَ فَعَلَيْهِ كُفْرُهُ وَلَا يَزِيدُ الْكَٰفِرِينَ كُفْرُهُمْ عِندَ رَبِّهِمْ إِلَّا مَقْتًا وَلَا يَزِيدُ الْكَٰفِرِينَ كُفْرُهُمْ إِلَّا خَسَارًا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made you successors one after another on earth. Whoever disbelieves will carry the harm of his disbelief. The disbelievers' disbelief only increases them in Allah's hatred and only increases them in loss.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أَرَءَيْتُمْ شُرَكَآءَكُمُ الَّذِينَ تَدْعُونَ مِن دُونِ اللَّهِ أَرُونِي مَاذَا خَلَقُواْ مِنَ الْأَرْضِ أَمْ لَهُمْ شِرْكٌ فِي السَّمَٰوَٰتِ أَمْ ءَاتَيْنَٰهُمْ كِتَٰبًا فَهُمْ عَلَىٰ بَيِّنَتٍ مِّنْهُ بَلْ إِن يَعِدُ الظَّـٰلِمُونَ بَعْضُهُم بَعْضًا إِلَّا غُرُورًا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Tell me about your gods you worship besides Allah. Show me what they created of the earth. Or do they have a share in the heavens? Or have We given them a Book with proof for them? Rather, the wrongdoers only promise each other deception.</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يُمْسِكُ السَّمَٰوَٰتِ وَالْأَرْضَ أَن تَزُولَا وَلَئِن زَالَتَآ إِنْ أَمْسَكَهُمَا مِنْ أَحَدٍ مِّن بَعْدِهِ إِنَّهُ كَانَ حَلِيمًا غَفُورًا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holds the heavens and the earth so they do not fall away. If they fell, no one after Him could hold them. He is Forbearing, Forgiving.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وَأَقْسَمُواْ بِاللَّهِ جَهْدَ أَيْمَٰنِهِمْ لَئِن جَآءَهُمْ نَذِيرٌ لَّيَكُونُنَّ أَهْدَىٰ مِنْ إِحْدَى الْأُمَمِ فَلَمَّا جَآءَهُمْ نَذِيرٌ مَّا زَادَهُمْ إِلَّا نُفُورًا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swore by Allah their strongest oaths that if a messenger came to them, they would be better guided than the Jews and Christians. But when Muhammad (peace be upon him) came to them, it only increased them in running away,</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اسْتِكْبَارًا فِي الْأَرْضِ وَمَكْرَ السَّيِّيِٕ وَلَا يَحِيقُ الْمَكْرُ السَّيِّئُ إِلَّا بِأَهْلِهِ فَهَلْ يَنظُرُونَ إِلَّا سُنَّتَ الْأَوَّلِينَ فَلَن تَجِدَ لِسُنَّتِ اللَّهِ تَبْدِيلًا وَلَن تَجِدَ لِسُنَّتِ اللَّهِ تَحْوِيلًا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out of arrogance on earth and evil plotting, and evil plotting only falls on its own people. Are they waiting for anything but Allah's way of destroying the denying nations? You will never find any change in Allah's way, nor any turning.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Fatir</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435608"/>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 يَسِيرُواْ فِي الْأَرْضِ فَيَنظُرُواْ كَيْفَ كَانَ عَٰقِبَةُ الَّذِينَ مِن قَبْلِهِمْ وَكَانُواْ أَشَدَّ مِنْهُمْ قُوَّةً وَمَا كَانَ اللَّهُ لِيُعْجِزَهُ مِن شَيْءٍ فِي السَّمَٰوَٰتِ وَلَا فِي الْأَرْضِ إِنَّهُ كَانَ عَلِيمًا قَدِيرًا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they not travelled through the land and seen the end of those before them, who were stronger than them? Nothing in the heavens or the earth can escape Allah. He is All-Knowing, All-Powerful.</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197096"/>
            <a:ext cx="548640" cy="548640"/>
          </a:xfrm>
          <a:prstGeom prst="star8">
            <a:avLst/>
          </a:prstGeom>
          <a:solidFill>
            <a:schemeClr val="accent2"/>
          </a:solidFill>
          <a:ln/>
        </p:spPr>
      </p:sp>
      <p:sp>
        <p:nvSpPr>
          <p:cNvPr id="11" name="Shape 9"/>
          <p:cNvSpPr/>
          <p:nvPr/>
        </p:nvSpPr>
        <p:spPr>
          <a:xfrm>
            <a:off x="822960" y="43068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1970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41788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يُؤَاخِذُ اللَّهُ النَّاسَ بِمَا كَسَبُواْ مَا تَرَكَ عَلَىٰ ظَهْرِهَا مِن دَآبَّةٍ وَلَٰكِن يُؤَخِّرُهُمْ إِلَىٰ أَجَلٍ مُّسَمًّى فَإِذَا جَآءَ أَجَلُهُمْ فَإِنَّ اللَّهَ كَانَ بِعِبَادِهِ بَصِيرًا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Allah punished people for their sins straight away, He would not leave a single creature on the earth. But He delays them until a set time, and when their time comes, Allah sees His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Saba'</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54 verses • Sheba</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34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Farwah ibn Musayk (may Allah be pleased with him) said: When what was revealed about Saba' came down, a man asked: O Messenger of Allah, what is Saba'? A land or a woman? He said: "Neither a land nor a woman, but a man who fathered ten Arab tribes; six settled in Yemen and four in Sham" (Tirmidhi and Ahmad).</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Proving the Resurrection and Allah's all-encompassing knowledge, Allah's blessings on Dawud and Sulayman and their thankfulness, the story of the people of Saba' who were ungrateful so their blessings were taken away, and that wealth and children only bring people closer to Allah with faith and good deeds.</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الْحَمْدُ لِلَّهِ الَّذِي لَهُ مَا فِي السَّمَٰوَٰتِ وَمَا فِي الْأَرْضِ وَلَهُ الْحَمْدُ فِي الْأخِرَةِ وَهُوَ الْحَكِيمُ الْخَبِيرُ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 praise is for Allah, to whom belongs whatever is in the heavens and the earth, and His is the praise in the Hereafter. He is the All-Wise, the All-Aware.</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يَعْلَمُ مَا يَلِجُ فِي الْأَرْضِ وَمَا يَخْرُجُ مِنْهَا وَمَا يَنزِلُ مِنَ السَّمَآءِ وَمَا يَعْرُجُ فِيهَا وَهُوَ الرَّحِيمُ الْغَفُورُ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knows what goes into the earth, like rain and seeds, what comes out of it, like plants, what comes down from the sky, and what goes up into it, like deeds and angels. He is the Most Merciful, the Forgiving.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كَفَرُواْ لَا تَأْتِينَا السَّاعَةُ قُلْ بَلَىٰ وَرَبِّي لَتَأْتِيَنَّكُمْ عَٰلِمِ الْغَيْبِ لَا يَعْزُبُ عَنْهُ مِثْقَالُ ذَرَّةٍ فِي السَّمَٰوَٰتِ وَلَا فِي الْأَرْضِ وَلَآ أَصْغَرُ مِن ذَٰلِكَ وَلَآ أَكْبَرُ إِلَّا فِي كِتَٰبٍ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said: The Hour will not come to us. Say: Yes, by my Lord, it will surely come to you. He knows the unseen. Not even the weight of a tiny speck in the heavens or the earth is hidden from Him, nor anything smaller or bigger, except that it is in a clear Book,</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لِّيَجْزِيَ الَّذِينَ ءَامَنُواْ وَعَمِلُواْ الصَّـٰلِحَٰتِ أُوْلَـٰئِكَ لَهُم مَّغْفِرَةٌ وَرِزْقٌ كَرِيمٌ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He may reward the righteous believers. They will have forgiveness and generous provision in Paradise.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سَعَوْ فِي ءَايَٰتِنَا مُعَٰجِزِينَ أُوْلَـٰئِكَ لَهُمْ عَذَابٌ مِّن رِّجْزٍ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work to defeat Our verses, thinking they can escape Us, will have the worst and most painful punishment.</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وَيَرَى الَّذِينَ أُوتُواْ الْعِلْمَ الَّذِي أُنزِلَ إِلَيْكَ مِن رَّبِّكَ هُوَ الْحَقَّ وَيَهْدِي إِلَىٰ صِرَٰطِ الْعَزِيزِ الْحَمِيدِ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given knowledge know that what has been sent down to you from your Lord is the truth, and that it guides to the path of Allah, the Almighty, the Praiseworthy.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كَفَرُواْ هَلْ نَدُلُّكُمْ عَلَىٰ رَجُلٍ يُنَبِّئُكُمْ إِذَا مُزِّقْتُمْ كُلَّ مُمَزَّقٍ إِنَّكُمْ لَفِي خَلْقٍ جَدِيدٍ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said mockingly: Shall we show you a man who tells you that when your bodies are completely scattered, you will be created anew?</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أَفْتَرَىٰ عَلَى اللَّهِ كَذِبًا أَم بِهِ جِنَّةٌ بَلِ الَّذِينَ لَا يُؤْمِنُونَ بِالْأخِرَةِ فِي الْعَذَابِ وَالضَّلَٰلِ الْبَعِيدِ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he made up a lie about Allah, or is he mad? Rather, those who do not believe in the Hereafter are in punishment and far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أَفَلَمْ يَرَوْاْ إِلَىٰ مَا بَيْنَ أَيْدِيهِمْ وَمَا خَلْفَهُم مِّنَ السَّمَآءِ وَالْأَرْضِ إِن نَّشَأْ نَخْسِفْ بِهِمُ الْأَرْضَ أَوْ نُسْقِطْ عَلَيْهِمْ كِسَفًا مِّنَ السَّمَآءِ إِنَّ فِي ذَٰلِكَ لَأيَةً لِّكُلِّ عَبْدٍ مُّنِيبٍ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look at the sky and the earth in front of them and behind them? If We willed, We could make the earth swallow them or make pieces of the sky fall on them. In that is a sign for every servant who turns to Allah.</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ءَاتَيْنَا دَاوُدَ مِنَّا فَضْلًا يَٰجِبَالُ أَوِّبِي مَعَهُ وَالطَّيْرَ وَأَلَنَّا لَهُ الْحَدِيدَ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Dawud a favour from Us: O mountains, glorify Allah with him, and the birds too. And We made iron soft for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37360"/>
            <a:ext cx="548640" cy="548640"/>
          </a:xfrm>
          <a:prstGeom prst="star8">
            <a:avLst/>
          </a:prstGeom>
          <a:solidFill>
            <a:schemeClr val="accent2"/>
          </a:solidFill>
          <a:ln/>
        </p:spPr>
      </p:sp>
      <p:sp>
        <p:nvSpPr>
          <p:cNvPr id="6" name="Shape 4"/>
          <p:cNvSpPr/>
          <p:nvPr/>
        </p:nvSpPr>
        <p:spPr>
          <a:xfrm>
            <a:off x="822960" y="184708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373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7190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 اعْمَلْ سَٰبِغَٰتٍ وَقَدِّرْ فِي السَّرْدِ وَاعْمَلُواْ صَٰلِحًا إِنِّي بِمَا تَعْمَلُونَ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saying: Make full, wide coats of armour and link the rings carefully, and all of you do good. I see what you do.</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3" name="Text 11"/>
          <p:cNvSpPr txBox="1"/>
          <p:nvPr/>
        </p:nvSpPr>
        <p:spPr>
          <a:xfrm>
            <a:off x="1444752" y="3374136"/>
            <a:ext cx="10012680" cy="232257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وَلِسُلَيْمَٰنَ الرِّيحَ غُدُوُّهَا شَهْرٌ وَرَوَاحُهَا شَهْرٌ وَأَسَلْنَا لَهُ عَيْنَ الْقِطْرِ وَمِنَ الْجِنِّ مَن يَعْمَلُ بَيْنَ يَدَيْهِ بِإِذْنِ رَبِّهِ وَمَن يَزِغْ مِنْهُمْ عَنْ أَمْرِنَا نُذِقْهُ مِنْ عَذَابِ السَّعِيرِ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for Sulayman We made the wind serve him; its morning journey was a month's travel and its evening journey a month's travel. We made a spring of molten copper flow for him. Some of the jinn worked for him by his Lord's permission, and whoever of them disobeyed Our command, We would make him taste the punishment of the blazing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يَعْمَلُونَ لَهُ مَا يَشَآءُ مِن مَّحَٰرِيبَ وَتَمَٰثِيلَ وَجِفَانٍ كَالْجَوَابِ وَقُدُورٍ رَّاسِيَٰتٍ اعْمَلُواْ ءَالَ دَاوُدَ شُكْرًا وَقَلِيلٌ مِّنْ عِبَادِيَ الشَّكُورُ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made for him whatever he wished: places of prayer and palaces, statues, large bowls like water tanks, and fixed cooking pots too big to move. Work, O family of Dawud, in thankfulness to Allah. Few of My servants are truly thankful.</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قَضَيْنَا عَلَيْهِ الْمَوْتَ مَا دَلَّهُمْ عَلَىٰ مَوْتِهِ إِلَّا دَآبَّةُ الْأَرْضِ تَأْكُلُ مِنسَأَتَهُ فَلَمَّا خَرَّ تَبَيَّنَتِ الْجِنُّ أَن لَّوْ كَانُواْ يَعْلَمُونَ الْغَيْبَ مَا لَبِثُواْ فِي الْعَذَابِ الْمُهِينِ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We decreed Sulayman's death, nothing showed the jinn that he had died except a woodworm eating his staff. When he fell, the jinn realised that if they had known the unseen, they would not have stayed in the hard, humiliating work.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كَانَ لِسَبَإٍ فِي مَسْكَنِهِمْ ءَايَةٌ جَنَّتَانِ عَن يَمِينٍ وَشِمَالٍ كُلُواْ مِن رِّزْقِ رَبِّكُمْ وَاشْكُرُواْ لَهُ بَلْدَةٌ طَيِّبَةٌ وَرَبٌّ غَفُورٌ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tribe of Saba' had a sign in their homes in Yemen: two gardens on the right and the left. They were told: Eat from your Lord's provision and thank Him; a good land and a Forgiving Lord.</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فَأَعْرَضُواْ فَأَرْسَلْنَا عَلَيْهِمْ سَيْلَ الْعَرِمِ وَبَدَّلْنَٰهُم بِجَنَّتَيْهِمْ جَنَّتَيْنِ ذَوَاتَيْ أُكُلٍ خَمْطٍ وَأَثْلٍ وَشَيْءٍ مِّن سِدْرٍ قَلِيلٍ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they turned away from thankfulness, so We sent against them a mighty flood that broke the dam, and replaced their two gardens with two gardens of bitter fruit, trees without fruit, and a few lote trees.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9796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جَزَيْنَٰهُم بِمَا كَفَرُواْ وَهَلْ نُجَٰزِي إِلَّا الْكَفُورَ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how We repaid them for their ingratitude. Do We punish like this anyone but the ungrateful?</a:t>
            </a:r>
            <a:endParaRPr lang="en-US" sz="3000" dirty="0"/>
          </a:p>
        </p:txBody>
      </p:sp>
      <p:sp>
        <p:nvSpPr>
          <p:cNvPr id="9" name="Shape 7"/>
          <p:cNvSpPr/>
          <p:nvPr/>
        </p:nvSpPr>
        <p:spPr>
          <a:xfrm>
            <a:off x="1444752" y="3159252"/>
            <a:ext cx="8641080" cy="0"/>
          </a:xfrm>
          <a:prstGeom prst="line">
            <a:avLst/>
          </a:prstGeom>
          <a:noFill/>
          <a:ln w="9525">
            <a:solidFill>
              <a:schemeClr val="accent2"/>
            </a:solidFill>
            <a:prstDash val="dash"/>
          </a:ln>
        </p:spPr>
      </p:sp>
      <p:sp>
        <p:nvSpPr>
          <p:cNvPr id="10" name="Shape 8"/>
          <p:cNvSpPr/>
          <p:nvPr/>
        </p:nvSpPr>
        <p:spPr>
          <a:xfrm>
            <a:off x="713232" y="3392424"/>
            <a:ext cx="548640" cy="548640"/>
          </a:xfrm>
          <a:prstGeom prst="star8">
            <a:avLst/>
          </a:prstGeom>
          <a:solidFill>
            <a:schemeClr val="accent2"/>
          </a:solidFill>
          <a:ln/>
        </p:spPr>
      </p:sp>
      <p:sp>
        <p:nvSpPr>
          <p:cNvPr id="11" name="Shape 9"/>
          <p:cNvSpPr/>
          <p:nvPr/>
        </p:nvSpPr>
        <p:spPr>
          <a:xfrm>
            <a:off x="822960" y="350215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924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37413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وَجَعَلْنَا بَيْنَهُمْ وَبَيْنَ الْقُرَى الَّتِي بَٰرَكْنَا فِيهَا قُرًى ظَٰهِرَةً وَقَدَّرْنَا فِيهَا السَّيْرَ سِيرُواْ فِيهَا لَيَالِيَ وَأَيَّامًا ءَامِنِينَ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Between them and the blessed towns of Sham, We placed towns close together and easy to see, and made the travel between them in measured stages: Travel through them by night and day in safety.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فَقَالُواْ رَبَّنَا بَٰعِدْ بَيْنَ أَسْفَارِنَا وَظَلَمُواْ أَنفُسَهُمْ فَجَعَلْنَٰهُمْ أَحَادِيثَ وَمَزَّقْنَٰهُمْ كُلَّ مُمَزَّقٍ إِنَّ فِي ذَٰلِكَ لَأيَٰتٍ لِّكُلِّ صَبَّارٍ شَكُورٍ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they said out of arrogance: Our Lord, make the distances of our journeys longer. They wronged themselves, so We made them stories to be told and scattered them completely across the lands. In that are lessons for everyone very patient and thankful.</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صَدَّقَ عَلَيْهِمْ إِبْلِيسُ ظَنَّهُ فَاتَّبَعُوهُ إِلَّا فَرِيقًا مِّنَ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Iblis found his idea about them to be true, that he would mislead them, and they followed him, except a group of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لَهُ عَلَيْهِم مِّن سُلْطَٰنٍ إِلَّا لِنَعْلَمَ مَن يُؤْمِنُ بِالْأخِرَةِ مِمَّنْ هُوَ مِنْهَا فِي شَكٍّ وَرَبُّكَ عَلَىٰ كُلِّ شَيْءٍ حَفِيظٌ</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Iblis had no power to force them. It was only so that We may make clear who believes in the Hereafter and who is in doubt about it. Your Lord is the Guardian over all things.</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ادْعُواْ الَّذِينَ زَعَمْتُم مِّن دُونِ اللَّهِ لَا يَمْلِكُونَ مِثْقَالَ ذَرَّةٍ فِي السَّمَٰوَٰتِ وَلَا فِي الْأَرْضِ وَمَا لَهُمْ فِيهِمَا مِن شِرْكٍ وَمَا لَهُ مِنْهُم مِّن ظَهِيرٍ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to the idol-worshippers: Call on those you claim are gods besides Allah. They do not own the weight of a tiny speck in the heavens or the earth, they have no share in either, and Allah has no helper from among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تَنفَعُ الشَّفَٰعَةُ عِندَهُ إِلَّا لِمَنْ أَذِنَ لَهُ حَتَّىٰ إِذَا فُزِّعَ عَن قُلُوبِهِمْ قَالُواْ مَاذَا قَالَ رَبُّكُمْ قَالُواْ الْحَقَّ وَهُوَ الْعَلِيُّ الْكَبِيرُ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Intercession with Allah does not help anyone except the one He gives permission to. When fear is removed from the angels' hearts, they say: What did your Lord say? They say: The truth. He is the Most High, the Most Great.</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مَن يَرْزُقُكُم مِّنَ السَّمَٰوَٰتِ وَالْأَرْضِ قُلِ اللَّهُ وَإِنَّآ أَوْ إِيَّاكُمْ لَعَلَىٰ هُدًى أَوْ 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Who provides for you from the heavens and the earth? Say: Allah. And one of our two groups, us or you, is either rightly guided or clearly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لَّا تُسْـَٔلُونَ عَمَّآ أَجْرَمْنَا وَلَا نُسْـَٔلُ عَمَّا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You will not be asked about our sins, and we will not be asked about what you do.</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يَجْمَعُ بَيْنَنَا رَبُّنَا ثُمَّ يَفْتَحُ بَيْنَنَا بِالْحَقِّ وَهُوَ الْفَتَّاحُ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Our Lord will bring us together on the Day of Resurrection, then judge between us with justice. He is the Judge, the All-Knowing.</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أَرُونِيَ الَّذِينَ أَلْحَقْتُم بِهِ شُرَكَآءَ كَلَّا بَلْ هُوَ اللَّهُ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Show me those you have made partners with Allah. No! Rather, He alone is Allah,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28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أَرْسَلْنَٰكَ إِلَّا كَآفَّةً لِّلنَّاسِ بَشِيرًا وَنَذِيرًا وَلَٰكِنَّ أَكْثَرَ النَّاسِ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you only to all people as a bringer of good news and a warner, but most people do not know.</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وَيَقُولُونَ مَتَىٰ هَٰذَا الْوَعْدُ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say: When will this promised Hour come, if you are truthful?</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لَّكُم مِّيعَادُ يَوْمٍ لَّا تَسْتَـْٔخِرُونَ عَنْهُ سَاعَةً وَلَا تَسْتَقْدِمُونَ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You have an appointment on a Day that you cannot delay by an hour or bring forward.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كَفَرُواْ لَن نُّؤْمِنَ بِهَٰذَا الْقُرْءَانِ وَلَا بِالَّذِي بَيْنَ يَدَيْهِ وَلَوْ تَرَىٰ إِذِ الظَّـٰلِمُونَ مَوْقُوفُونَ عِندَ رَبِّهِمْ يَرْجِعُ بَعْضُهُمْ إِلَىٰ بَعْضٍ الْقَوْلَ يَقُولُ الَّذِينَ اسْتُضْعِفُواْ لِلَّذِينَ اسْتَكْبَرُواْ لَوْلَآ أَنتُمْ لَكُنَّا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said: We will never believe in this Qur'an or in the Books before it. If only you could see the wrongdoers standing before their Lord, blaming one another. The weak will say to the arrogant: If not for you, we would have been believers.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الَّذِينَ اسْتَكْبَرُواْ لِلَّذِينَ اسْتُضْعِفُواْ أَنَحْنُ صَدَدْنَٰكُمْ عَنِ الْهُدَىٰ بَعْدَ إِذْ جَآءَكُم بَلْ كُنتُم 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arrogant will say to the weak: Did we stop you from guidance after it came to you? No, you were criminals.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444752"/>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 الَّذِينَ اسْتُضْعِفُواْ لِلَّذِينَ اسْتَكْبَرُواْ بَلْ مَكْرُ الَّيْلِ وَالنَّهَارِ إِذْ تَأْمُرُونَنَآ أَن نَّكْفُرَ بِاللَّهِ وَنَجْعَلَ لَهُ أَندَادًا وَأَسَرُّواْ النَّدَامَةَ لَمَّا رَأَوُاْ الْعَذَابَ وَجَعَلْنَا الْأَغْلَٰلَ فِي أَعْنَاقِ الَّذِينَ كَفَرُواْ هَلْ يُجْزَوْنَ إِلَّا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weak will say: No, it was your plotting night and day when you ordered us to disbelieve in Allah and set up partners with Him. They will hide their regret when they see the punishment, and We will put iron collars around the disbelievers' necks. Are they repaid for anything but what they used to do?</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47183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أَرْسَلْنَا فِي قَرْيَةٍ مِّن نَّذِيرٍ إِلَّا قَالَ مُتْرَفُوهَآ إِنَّا بِمَآ أُرْسِلْتُم بِهِ 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never sent a warner to a town without its wealthy, pampered people saying: We disbelieve in what you have been sent with.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نَحْنُ أَكْثَرُ أَمْوَٰلًا وَأَوْلَٰدًا وَمَا نَحْنُ بِمُعَذَّبِينَ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have more wealth and children, and we will not be punished.</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رَبِّي يَبْسُطُ الرِّزْقَ لِمَن يَشَآءُ وَيَقْدِرُ وَلَٰكِنَّ أَكْثَرَ النَّاسِ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My Lord gives plenty of provision to whom He wills and gives little, but most people do not know His wisdom.</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أَمْوَٰلُكُمْ وَلَآ أَوْلَٰدُكُم بِالَّتِي تُقَرِّبُكُمْ عِندَنَا زُلْفَىٰ إِلَّا مَنْ ءَامَنَ وَعَمِلَ صَٰلِحًا فَأُوْلَـٰئِكَ لَهُمْ جَزَآءُ الضِّعْفِ بِمَا عَمِلُواْ وَهُمْ فِي الْغُرُفَٰتِ ءَامِنُونَ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not your wealth or your children that bring you close to Us, except whoever believes and does good. They will have a multiplied reward, and they will be safe in the high rooms of Paradise.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يَسْعَوْنَ فِي ءَايَٰتِنَا مُعَٰجِزِينَ أُوْلَـٰئِكَ فِي الْعَذَابِ مُحْضَرُونَ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work to defeat Our verses, thinking they can escape Us, will be brought into the punishment.</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رَبِّي يَبْسُطُ الرِّزْقَ لِمَن يَشَآءُ مِنْ عِبَادِهِ وَيَقْدِرُ لَهُ وَمَآ أَنفَقْتُم مِّن شَيْءٍ فَهُوَ يُخْلِفُهُ وَهُوَ خَيْرُ الرَّـٰزِقِينَ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My Lord gives plenty of provision to whom He wills of His servants and gives little. Whatever you spend in good, He will replace it for you, and He is the best of providers.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يَحْشُرُهُمْ جَمِيعًا ثُمَّ يَقُولُ لِلْمَلَـٰئِكَةِ أَهَـٰؤُلَآءِ إِيَّاكُمْ كَانُواْ يَعْبُدُونَ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He gathers them all, then says to the angels: Did these people worship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سُبْحَٰنَكَ أَنتَ وَلِيُّنَا مِن دُونِهِم بَلْ كَانُواْ يَعْبُدُونَ الْجِنَّ أَكْثَرُهُم بِهِم مُّؤْمِنُونَ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angels will say: Glory be to You! You are our Protector, not them. Rather, they worshipped the devils; most of them believed in them.</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فَالْيَوْمَ لَا يَمْلِكُ بَعْضُكُمْ لِبَعْضٍ نَّفْعًا وَلَا ضَرًّا وَنَقُولُ لِلَّذِينَ ظَلَمُواْ ذُوقُواْ عَذَابَ النَّارِ الَّتِي كُنتُم بِهَا تُكَذِّبُونَ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Today none of you can benefit or harm one another, and We will say to the wrongdoers: Taste the punishment of the Fire that you used to deny.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43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تُتْلَىٰ عَلَيْهِمْ ءَايَٰتُنَا بَيِّنَٰتٍ قَالُواْ مَا هَٰذَآ إِلَّا رَجُلٌ يُرِيدُ أَن يَصُدَّكُمْ عَمَّا كَانَ يَعْبُدُ ءَابَآؤُكُمْ وَقَالُواْ مَا هَٰذَآ إِلَّآ إِفْكٌ مُّفْتَرًى وَقَالَ الَّذِينَ كَفَرُواْ لِلْحَقِّ لَمَّا جَآءَهُمْ إِنْ هَٰذَآ إِلَّا سِحْرٌ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clear verses are recited to them, they say: This is only a man who wants to stop you from what your fathers worshipped. And they say: This Qur'an is only a made-up lie. And the disbelievers say about the truth when it comes to them: This is only obvious magic.</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ءَاتَيْنَٰهُم مِّن كُتُبٍ يَدْرُسُونَهَا وَمَآ أَرْسَلْنَآ إِلَيْهِمْ قَبْلَكَ مِن نَّذِيرٍ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did not give Quraysh any Books to study before the Qur'an, nor did We send them any warner before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وَكَذَّبَ الَّذِينَ مِن قَبْلِهِمْ وَمَا بَلَغُواْ مِعْشَارَ مَآ ءَاتَيْنَٰهُمْ فَكَذَّبُواْ رُسُلِي فَكَيْفَ كَانَ نَكِيرِ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before them also denied, and these have not reached a tenth of the strength We gave them. They denied My messengers, so how was My rejection of them?</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إِنَّمَآ أَعِظُكُم بِوَٰحِدَةٍ أَن تَقُومُواْ لِلَّهِ مَثْنَىٰ وَفُرَٰدَىٰ ثُمَّ تَتَفَكَّرُواْ مَا بِصَاحِبِكُم مِّن جِنَّةٍ إِنْ هُوَ إِلَّا نَذِيرٌ لَّكُم بَيْنَ يَدَيْ عَذَابٍ شَدِيدٍ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advise you to do only one thing: stand up for Allah, in twos or alone, then think. Your companion Muhammad is not mad; he is only a warner to you before a severe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47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مَا سَأَلْتُكُم مِّنْ أَجْرٍ فَهُوَ لَكُمْ إِنْ أَجْرِيَ إِلَّا عَلَى اللَّهِ وَهُوَ عَلَىٰ كُلِّ شَيْءٍ شَهِيدٌ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Whatever payment I might have asked of you, keep it. My reward is only from Allah, and He is Witness over everything.</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رَبِّي يَقْذِفُ بِالْحَقِّ عَلَّـٰمُ الْغُيُوبِ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My Lord sends down the truth and strikes falsehood with it. He is the Knower of all that is unseen.</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جَآءَ الْحَقُّ وَمَا يُبْدِئُ الْبَٰطِلُ وَمَا يُعِيدُ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The truth has come, and falsehood has gone; it can neither begin anything nor bring anything back.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ضَلَلْتُ فَإِنَّمَآ أَضِلُّ عَلَىٰ نَفْسِي وَإِنِ اهْتَدَيْتُ فَبِمَا يُوحِي إِلَيَّ رَبِّي إِنَّهُ سَمِيعٌ قَرِيبٌ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If I go astray, I only harm myself, and if I am guided, it is because of what my Lord reveals to me. He is All-Hearing, Near.</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تَرَىٰ إِذْ فَزِعُواْ فَلَا فَوْتَ وَأُخِذُواْ مِن مَّكَانٍ قَرِيبٍ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only you could see the disbelievers terrified at the Resurrection, with no escape, seized from a place close by.</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ءَامَنَّا بِهِ وَأَنَّىٰ لَهُمُ التَّنَاوُشُ مِن مَّكَانٍ 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We believe in it. But how can they reach faith now that it is far away from them, since the world has passed?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Saba'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وَقَدْ كَفَرُواْ بِهِ مِن قَبْلُ وَيَقْذِفُونَ بِالْغَيْبِ مِن مَّكَانٍ بَعِيدٍ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disbelieved in it before in the world, and they threw guesses about the unseen from a place far from the truth.</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وَحِيلَ بَيْنَهُمْ وَبَيْنَ مَا يَشْتَهُونَ كَمَا فُعِلَ بِأَشْيَاعِهِم مِّن قَبْلُ إِنَّهُمْ كَانُواْ فِي شَكٍّ مُّرِيبٍ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barrier will be placed between them and what they long for, faith and return, as was done to people like them before. They were in doubt that led them to suspicion.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Al-Ahzab</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31 – 73</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Madani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33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Umm Salamah (may Allah be pleased with her) said: I said to the Prophet (peace be upon him): Why are we women not mentioned in the Qur'an as the men are? Then one day I heard him calling from the minbar, reciting: “The Muslim men and Muslim women, the believing men and believing women...” (Ahmad and An-Nasa'i).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This juz starts from verse 31: guidance for the Mothers of the Believers, the qualities of believing men and women, the status of the Prophet (peace be upon him) as the Seal of the Prophets, the manners of entering his house, the command to send salah on him, modest dress, and carrying the trust.</a:t>
            </a:r>
            <a:endParaRPr lang="en-US" sz="15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يَقْنُتْ مِنكُنَّ لِلَّهِ وَرَسُولِهِ وَتَعْمَلْ صَٰلِحًا نُّؤْتِهَآ أَجْرَهَا مَرَّتَيْنِ وَأَعْتَدْنَا لَهَا رِزْقًا كَرِيمًا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of you, O wives of the Prophet, obeys Allah and His Messenger and does good, We will give her reward twice, and We have prepared for her a generous provision in Paradise.</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يَٰنِسَآءَ النَّبِيِّ لَسْتُنَّ كَأَحَدٍ مِّنَ النِّسَآءِ إِنِ اتَّقَيْتُنَّ فَلَا تَخْضَعْنَ بِالْقَوْلِ فَيَطْمَعَ الَّذِي فِي قَلْبِهِ مَرَضٌ وَقُلْنَ قَوْلًا مَّعْرُوفًا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wives of the Prophet, you are not like other women in virtue if you have taqwa of Allah. So do not speak softly to men, or someone with a disease in his heart may hope for something; speak in a proper way, far from doubt.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وَقَرْنَ فِي بُيُوتِكُنَّ وَلَا تَبَرَّجْنَ تَبَرُّجَ الْجَٰهِلِيَّةِ الْأُولَىٰ وَأَقِمْنَ الصَّلَوٰةَ وَءَاتِينَ الزَّكَوٰةَ وَأَطِعْنَ اللَّهَ وَرَسُولَهُ إِنَّمَا يُرِيدُ اللَّهُ لِيُذْهِبَ عَنكُمُ الرِّجْسَ أَهْلَ الْبَيْتِ وَيُطَهِّرَكُمْ تَطْهِيرًا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Stay in your homes, and do not show off your beauty as women did in the time of ignorance. Establish the prayer, give the zakah, and obey Allah and His Messenger. Allah only wants to remove evil from you, O family of the Prophet's house, and to purify you completely.</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وَاذْكُرْنَ مَا يُتْلَىٰ فِي بُيُوتِكُنَّ مِنْ ءَايَٰتِ اللَّهِ وَالْحِكْمَةِ إِنَّ اللَّهَ كَانَ لَطِيفًا خَبِيرًا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what is recited in your homes of the Qur'an and the Sunnah. Allah is Most Subtle, All-Aware.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الْمُسْلِمِينَ وَالْمُسْلِمَٰتِ وَالْمُؤْمِنِينَ وَالْمُؤْمِنَٰتِ وَالْقَٰنِتِينَ وَالْقَٰنِتَٰتِ وَالصَّـٰدِقِينَ وَالصَّـٰدِقَٰتِ وَالصَّـٰبِرِينَ وَالصَّـٰبِرَٰتِ وَالْخَٰشِعِينَ وَالْخَٰشِعَٰتِ وَالْمُتَصَدِّقِينَ وَالْمُتَصَدِّقَٰتِ وَالصَّـٰئِمِينَ وَالصَّـٰئِمَٰتِ وَالْحَٰفِظِينَ فُرُوجَهُمْ وَالْحَٰفِظَٰتِ وَالذَّـٰكِرِينَ اللَّهَ كَثِيرًا وَالذَّـٰكِرَٰتِ أَعَدَّ اللَّهُ لَهُم مَّغْفِرَةً وَأَجْرًا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Muslim men and women, believing men and women, obedient men and women, truthful men and women, patient men and women, humble men and women, men and women who give charity, men and women who fast, men and women who guard their chastity, and men and women who remember Allah often: Allah has prepared for them forgiveness and a great reward.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لِمُؤْمِنٍ وَلَا مُؤْمِنَةٍ إِذَا قَضَى اللَّهُ وَرَسُولُهُ أَمْرًا أَن يَكُونَ لَهُمُ الْخِيَرَةُ مِنْ أَمْرِهِمْ وَمَن يَعْصِ اللَّهَ وَرَسُولَهُ فَقَدْ ضَلَّ ضَلَٰلًا مُّبِينًا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not right for a believing man or woman, when Allah and His Messenger have decided a matter, to choose something else. Whoever disobeys Allah and His Messenger has clearly gone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تَقُولُ لِلَّذِي أَنْعَمَ اللَّهُ عَلَيْهِ وَأَنْعَمْتَ عَلَيْهِ أَمْسِكْ عَلَيْكَ زَوْجَكَ وَاتَّقِ اللَّهَ وَتُخْفِي فِي نَفْسِكَ مَا اللَّهُ مُبْدِيهِ وَتَخْشَى النَّاسَ وَاللَّهُ أَحَقُّ أَن تَخْشَىٰهُ فَلَمَّا قَضَىٰ زَيْدٌ مِّنْهَا وَطَرًا زَوَّجْنَٰكَهَا لِكَيْ لَا يَكُونَ عَلَى الْمُؤْمِنِينَ حَرَجٌ فِي أَزْوَٰجِ أَدْعِيَآئِهِمْ إِذَا قَضَوْاْ مِنْهُنَّ وَطَرًا وَكَانَ أَمْرُ اللَّهِ مَفْعُولًا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you said to Zayd ibn Harithah, whom Allah blessed with Islam and you blessed by freeing him: Keep your wife and have taqwa of Allah. Allah had told His Prophet that she would become his wife. When Zayd divorced her, We married her to you, so that there would be no difficulty for the believers in marrying the divorced wives of their adopted sons. Allah's command is always carried out.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كَانَ عَلَى النَّبِيِّ مِنْ حَرَجٍ فِيمَا فَرَضَ اللَّهُ لَهُ سُنَّةَ اللَّهِ فِي الَّذِينَ خَلَوْاْ مِن قَبْلُ وَكَانَ أَمْرُ اللَّهِ قَدَرًا مَّقْدُورًا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sin on the Prophet in what Allah has made lawful for him. That was Allah's way with the earlier prophets, and Allah's command is a decree that is fixed.</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يُبَلِّغُونَ رِسَٰلَٰتِ اللَّهِ وَيَخْشَوْنَهُ وَلَا يَخْشَوْنَ أَحَدًا إِلَّا اللَّهَ وَكَفَىٰ بِاللَّهِ حَسِيبًا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deliver Allah's messages and fear Him, and fear no one but Allah. Allah is enough to take account.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كَانَ مُحَمَّدٌ أَبَآ أَحَدٍ مِّن رِّجَالِكُمْ وَلَٰكِن رَّسُولَ اللَّهِ وَخَاتَمَ النَّبِيِّـنَ وَكَانَ اللَّهُ بِكُلِّ شَيْءٍ عَلِيمًا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Muhammad is not the father of any of your men by blood, but he is the Messenger of Allah and the last of the prophets, with no prophet after him. Allah knows everything.</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اذْكُرُواْ اللَّهَ ذِكْرًا كَثِيرًا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remember Allah often with your hearts and tongues,</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وَسَبِّحُوهُ بُكْرَةً وَأَصِيلًا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glorify Him morning and evening.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43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يُصَلِّي عَلَيْكُمْ وَمَلَـٰئِكَتُهُ لِيُخْرِجَكُم مِّنَ الظُّلُمَٰتِ إِلَى النُّورِ وَكَانَ بِالْمُؤْمِنِينَ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praises you and has mercy on you, and His angels pray for you, to bring you out of the darkness of disbelief into the light of faith. He is Most Merciful to the believers.</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تَحِيَّتُهُمْ يَوْمَ يَلْقَوْنَهُ سَلَٰمٌ وَأَعَدَّ لَهُمْ أَجْرًا كَرِيمًا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greeting on the Day they meet Him will be: Peace. And He has prepared for them a generous reward.</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النَّبِيُّ إِنَّآ أَرْسَلْنَٰكَ شَٰهِدًا وَمُبَشِّرًا وَنَذِيرًا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Prophet, We have sent you as a witness over your nation, a bringer of good news of Paradise to the believers, and a warner of the Fire to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وَدَاعِيًا إِلَى اللَّهِ بِإِذْنِهِ وَسِرَاجًا مُّنِيرًا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caller to the tawhid of Allah by His permission, and a shining lamp by which people are guided.</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وَبَشِّرِ الْمُؤْمِنِينَ بِأَنَّ لَهُم مِّنَ اللَّهِ فَضْلًا 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Give the believers good news that they will have a great favour from Allah.</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تُطِعِ الْكَٰفِرِينَ وَالْمُنَٰفِقِينَ وَدَعْ أَذَىٰهُمْ وَتَوَكَّلْ عَلَى اللَّهِ وَكَفَىٰ بِاللَّهِ وَكِيلًا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obey the disbelievers and the hypocrites. Ignore their harm and pay no attention to it, and put your trust in Allah; Allah is enough as a Guardian.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إِذَا نَكَحْتُمُ الْمُؤْمِنَٰتِ ثُمَّ طَلَّقْتُمُوهُنَّ مِن قَبْلِ أَن تَمَسُّوهُنَّ فَمَا لَكُمْ عَلَيْهِنَّ مِنْ عِدَّةٍ تَعْتَدُّونَهَا فَمَتِّعُوهُنَّ وَسَرِّحُوهُنَّ سَرَاحًا جَمِيلًا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if you marry believing women and then divorce them before the marriage is completed, they do not have a waiting period. Give them some wealth to comfort their hearts, and let them go kindly.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611630"/>
            <a:ext cx="548640" cy="548640"/>
          </a:xfrm>
          <a:prstGeom prst="star8">
            <a:avLst/>
          </a:prstGeom>
          <a:solidFill>
            <a:schemeClr val="accent2"/>
          </a:solidFill>
          <a:ln/>
        </p:spPr>
      </p:sp>
      <p:sp>
        <p:nvSpPr>
          <p:cNvPr id="6" name="Shape 4"/>
          <p:cNvSpPr/>
          <p:nvPr/>
        </p:nvSpPr>
        <p:spPr>
          <a:xfrm>
            <a:off x="822960" y="172135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61163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593342"/>
            <a:ext cx="10012680" cy="422910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النَّبِيُّ إِنَّآ أَحْلَلْنَا لَكَ أَزْوَٰجَكَ الَّـٰتِي ءَاتَيْتَ أُجُورَهُنَّ وَمَا مَلَكَتْ يَمِينُكَ مِمَّآ أَفَآءَ اللَّهُ عَلَيْكَ وَبَنَاتِ عَمِّكَ وَبَنَاتِ عَمَّـٰتِكَ وَبَنَاتِ خَالِكَ وَبَنَاتِ خَٰلَٰتِكَ الَّـٰتِي هَاجَرْنَ مَعَكَ وَامْرَأَةً مُّؤْمِنَةً إِن وَهَبَتْ نَفْسَهَا لِلنَّبِيِّ إِنْ أَرَادَ النَّبِيُّ أَن يَسْتَنكِحَهَا خَالِصَةً لَّكَ مِن دُونِ الْمُؤْمِنِينَ قَدْ عَلِمْنَا مَا فَرَضْنَا عَلَيْهِمْ فِي أَزْوَٰجِهِمْ وَمَا مَلَكَتْ أَيْمَٰنُهُمْ لِكَيْلَا يَكُونَ عَلَيْكَ حَرَجٌ وَكَانَ اللَّهُ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Prophet, We have made lawful for you your wives to whom you gave their dowries, and marriage to your relatives who emigrated with you, and a believing woman who offers herself to you if you wish to marry her; this is only for you and not the other believers. We know what We have made law for the believers in their marriages, so that there is no difficulty for you.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تُرْجِي مَن تَشَآءُ مِنْهُنَّ وَتُـْٔوِي إِلَيْكَ مَن تَشَآءُ وَمَنِ ابْتَغَيْتَ مِمَّنْ عَزَلْتَ فَلَا جُنَاحَ عَلَيْكَ ذَٰلِكَ أَدْنَىٰ أَن تَقَرَّ أَعْيُنُهُنَّ وَلَا يَحْزَنَّ وَيَرْضَيْنَ بِمَآ ءَاتَيْتَهُنَّ كُلُّهُنَّ وَاللَّهُ يَعْلَمُ مَا فِي قُلُوبِكُمْ وَكَانَ اللَّهُ عَلِيمًا حَلِيمًا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may delay whichever of your wives you wish in your turns of staying with them and bring close whichever you wish. That is more likely to comfort their hearts and make them content with what you give them. Allah knows what is in your hearts, and Allah is All-Knowing, Forbearing.</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يَحِلُّ لَكَ النِّسَآءُ مِن بَعْدُ وَلَآ أَن تَبَدَّلَ بِهِنَّ مِنْ أَزْوَٰجٍ وَلَوْ أَعْجَبَكَ حُسْنُهُنَّ إِلَّا مَا مَلَكَتْ يَمِينُكَ وَكَانَ اللَّهُ عَلَىٰ كُلِّ شَيْءٍ رَّقِيبًا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After this, it is not lawful for you to marry other women or to replace them with others, as an honour to them for choosing Allah and His Messenger. Allah watches over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4168"/>
            <a:ext cx="548640" cy="548640"/>
          </a:xfrm>
          <a:prstGeom prst="star8">
            <a:avLst/>
          </a:prstGeom>
          <a:solidFill>
            <a:schemeClr val="accent2"/>
          </a:solidFill>
          <a:ln/>
        </p:spPr>
      </p:sp>
      <p:sp>
        <p:nvSpPr>
          <p:cNvPr id="6" name="Shape 4"/>
          <p:cNvSpPr/>
          <p:nvPr/>
        </p:nvSpPr>
        <p:spPr>
          <a:xfrm>
            <a:off x="822960"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41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325880"/>
            <a:ext cx="10012680" cy="503834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تَدْخُلُواْ بُيُوتَ النَّبِيِّ إِلَّآ أَن يُؤْذَنَ لَكُمْ إِلَىٰ طَعَامٍ غَيْرَ نَٰظِرِينَ إِنَىٰهُ وَلَٰكِنْ إِذَا دُعِيتُمْ فَادْخُلُواْ فَإِذَا طَعِمْتُمْ فَانتَشِرُواْ وَلَا مُسْتَـْٔنِسِينَ لِحَدِيثٍ إِنَّ ذَٰلِكُمْ كَانَ يُؤْذِي النَّبِيَّ فَيَسْتَحْيِ مِنكُمْ وَاللَّهُ لَا يَسْتَحْيِ مِنَ الْحَقِّ وَإِذَا سَأَلْتُمُوهُنَّ مَتَٰعًا فَسْـَٔلُوهُنَّ مِن وَرَآءِ حِجَابٍ ذَٰلِكُمْ أَطْهَرُ لِقُلُوبِكُمْ وَقُلُوبِهِنَّ وَمَا كَانَ لَكُمْ أَن تُؤْذُواْ رَسُولَ اللَّهِ وَلَآ أَن تَنكِحُواْ أَزْوَٰجَهُ مِن بَعْدِهِ أَبَدًا إِنَّ ذَٰلِكُمْ كَانَ عِندَ اللَّهِ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enter the Prophet's houses unless you are given permission for a meal, without waiting for it to cook. When you are invited, enter, and when you have eaten, leave, without staying to chat. That bothers the Prophet, but he is too shy to tell you, while Allah is not shy of the truth. When you ask his wives for something, ask them from behind a screen; that is purer for your hearts and theirs. It is not right for you to hurt the Messenger of Allah, or ever to marry his wives after him. That would be tremendous in Allah's sight.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54 –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8" name="Text 6"/>
          <p:cNvSpPr txBox="1"/>
          <p:nvPr/>
        </p:nvSpPr>
        <p:spPr>
          <a:xfrm>
            <a:off x="1444752" y="170535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تُبْدُواْ شَيْـًٔا أَوْ تُخْفُوهُ فَإِنَّ اللَّهَ كَانَ بِكُلِّ شَيْءٍ عَلِيمًا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Whether you show something or hide it, Allah knows everything.</a:t>
            </a:r>
            <a:endParaRPr lang="en-US" sz="3000" dirty="0"/>
          </a:p>
        </p:txBody>
      </p:sp>
      <p:sp>
        <p:nvSpPr>
          <p:cNvPr id="9" name="Shape 7"/>
          <p:cNvSpPr/>
          <p:nvPr/>
        </p:nvSpPr>
        <p:spPr>
          <a:xfrm>
            <a:off x="1444752" y="2884932"/>
            <a:ext cx="8641080" cy="0"/>
          </a:xfrm>
          <a:prstGeom prst="line">
            <a:avLst/>
          </a:prstGeom>
          <a:noFill/>
          <a:ln w="9525">
            <a:solidFill>
              <a:schemeClr val="accent2"/>
            </a:solidFill>
            <a:prstDash val="dash"/>
          </a:ln>
        </p:spPr>
      </p:sp>
      <p:sp>
        <p:nvSpPr>
          <p:cNvPr id="10" name="Shape 8"/>
          <p:cNvSpPr/>
          <p:nvPr/>
        </p:nvSpPr>
        <p:spPr>
          <a:xfrm>
            <a:off x="713232" y="3118104"/>
            <a:ext cx="548640" cy="548640"/>
          </a:xfrm>
          <a:prstGeom prst="star8">
            <a:avLst/>
          </a:prstGeom>
          <a:solidFill>
            <a:schemeClr val="accent2"/>
          </a:solidFill>
          <a:ln/>
        </p:spPr>
      </p:sp>
      <p:sp>
        <p:nvSpPr>
          <p:cNvPr id="11" name="Shape 9"/>
          <p:cNvSpPr/>
          <p:nvPr/>
        </p:nvSpPr>
        <p:spPr>
          <a:xfrm>
            <a:off x="822960" y="322783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11810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3" name="Text 11"/>
          <p:cNvSpPr txBox="1"/>
          <p:nvPr/>
        </p:nvSpPr>
        <p:spPr>
          <a:xfrm>
            <a:off x="1444752" y="309981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جُنَاحَ عَلَيْهِنَّ فِي ءَابَآئِهِنَّ وَلَآ أَبْنَآئِهِنَّ وَلَآ إِخْوَٰنِهِنَّ وَلَآ أَبْنَآءِ إِخْوَٰنِهِنَّ وَلَآ أَبْنَآءِ أَخَوَٰتِهِنَّ وَلَا نِسَآئِهِنَّ وَلَا مَا مَلَكَتْ أَيْمَٰنُهُنَّ وَاتَّقِينَ اللَّهَ إِنَّ اللَّهَ كَانَ عَلَىٰ كُلِّ شَيْءٍ شَهِيدًا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sin on the Prophet's wives in not being veiled before their fathers, sons, brothers, brothers' sons, sisters' sons, believing women, and those their right hands possess. And have taqwa of Allah; Allah is Witness over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56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10462"/>
            <a:ext cx="548640" cy="548640"/>
          </a:xfrm>
          <a:prstGeom prst="star8">
            <a:avLst/>
          </a:prstGeom>
          <a:solidFill>
            <a:schemeClr val="accent2"/>
          </a:solidFill>
          <a:ln/>
        </p:spPr>
      </p:sp>
      <p:sp>
        <p:nvSpPr>
          <p:cNvPr id="6" name="Shape 4"/>
          <p:cNvSpPr/>
          <p:nvPr/>
        </p:nvSpPr>
        <p:spPr>
          <a:xfrm>
            <a:off x="822960" y="15201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104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8" name="Text 6"/>
          <p:cNvSpPr txBox="1"/>
          <p:nvPr/>
        </p:nvSpPr>
        <p:spPr>
          <a:xfrm>
            <a:off x="1444752" y="1392174"/>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وَمَلَـٰئِكَتَهُ يُصَلُّونَ عَلَى النَّبِيِّ يَـٰأَيُّهَا الَّذِينَ ءَامَنُواْ صَلُّواْ عَلَيْهِ وَسَلِّمُواْ تَسْلِيمًا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praises the Prophet before the angels, and the angels pray for him. O believers, send salah on him and greet him with peace. The Prophet (peace be upon him) said: "Whoever sends one salah on me, Allah sends ten on him" (Muslim).</a:t>
            </a:r>
            <a:endParaRPr lang="en-US" sz="3000" dirty="0"/>
          </a:p>
        </p:txBody>
      </p:sp>
      <p:sp>
        <p:nvSpPr>
          <p:cNvPr id="9" name="Shape 7"/>
          <p:cNvSpPr/>
          <p:nvPr/>
        </p:nvSpPr>
        <p:spPr>
          <a:xfrm>
            <a:off x="1444752" y="3044952"/>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يُؤْذُونَ اللَّهَ وَرَسُولَهُ لَعَنَهُمُ اللَّهُ فِي الدُّنْيَا وَالْأخِرَةِ وَأَعَدَّ لَهُمْ عَذَابًا مُّهِينًا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hurt Allah and His Messenger, Allah has cast them away from His mercy in this world and the Hereafter and prepared for them a humiliating punishment.</a:t>
            </a:r>
            <a:endParaRPr lang="en-US" sz="3000" dirty="0"/>
          </a:p>
        </p:txBody>
      </p:sp>
      <p:sp>
        <p:nvSpPr>
          <p:cNvPr id="14" name="Shape 12"/>
          <p:cNvSpPr/>
          <p:nvPr/>
        </p:nvSpPr>
        <p:spPr>
          <a:xfrm>
            <a:off x="1444752" y="4604004"/>
            <a:ext cx="8641080" cy="0"/>
          </a:xfrm>
          <a:prstGeom prst="line">
            <a:avLst/>
          </a:prstGeom>
          <a:noFill/>
          <a:ln w="9525">
            <a:solidFill>
              <a:schemeClr val="accent2"/>
            </a:solidFill>
            <a:prstDash val="dash"/>
          </a:ln>
        </p:spPr>
      </p:sp>
      <p:sp>
        <p:nvSpPr>
          <p:cNvPr id="15" name="Shape 13"/>
          <p:cNvSpPr/>
          <p:nvPr/>
        </p:nvSpPr>
        <p:spPr>
          <a:xfrm>
            <a:off x="713232" y="4789170"/>
            <a:ext cx="548640" cy="548640"/>
          </a:xfrm>
          <a:prstGeom prst="star8">
            <a:avLst/>
          </a:prstGeom>
          <a:solidFill>
            <a:schemeClr val="accent2"/>
          </a:solidFill>
          <a:ln/>
        </p:spPr>
      </p:sp>
      <p:sp>
        <p:nvSpPr>
          <p:cNvPr id="16" name="Shape 14"/>
          <p:cNvSpPr/>
          <p:nvPr/>
        </p:nvSpPr>
        <p:spPr>
          <a:xfrm>
            <a:off x="822960" y="489889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891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8" name="Text 16"/>
          <p:cNvSpPr txBox="1"/>
          <p:nvPr/>
        </p:nvSpPr>
        <p:spPr>
          <a:xfrm>
            <a:off x="1444752" y="47708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يُؤْذُونَ الْمُؤْمِنِينَ وَالْمُؤْمِنَٰتِ بِغَيْرِ مَا اكْتَسَبُواْ فَقَدِ احْتَمَلُواْ بُهْتَٰنًا وَإِثْمًا مُّبِينًا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hurt believing men and women for something they did not do have taken on a great lie and an obvious sin.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النَّبِيُّ قُل لِّأَزْوَٰجِكَ وَبَنَاتِكَ وَنِسَآءِ الْمُؤْمِنِينَ يُدْنِينَ عَلَيْهِنَّ مِن جَلَٰبِيبِهِنَّ ذَٰلِكَ أَدْنَىٰ أَن يُعْرَفْنَ فَلَا يُؤْذَيْنَ وَكَانَ اللَّهُ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Prophet, tell your wives, your daughters and the believing women to draw their outer cloaks over themselves. That makes it more likely they will be known as free, modest women and not be harmed. Allah is Forgiving, Most Merciful.</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لَّئِن لَّمْ يَنتَهِ الْمُنَٰفِقُونَ وَالَّذِينَ فِي قُلُوبِهِم مَّرَضٌ وَالْمُرْجِفُونَ فِي الْمَدِينَةِ لَنُغْرِيَنَّكَ بِهِمْ ثُمَّ لَا يُجَاوِرُونَكَ فِيهَآ إِلَّا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 hypocrites, those with a disease in their hearts, and those who spread false news in Madinah do not stop, We will surely give you power over them, and then they will only live near you there a little while,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61 – 63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مَّلْعُونِينَ أَيْنَمَا ثُقِفُواْ أُخِذُواْ وَقُتِّلُواْ تَقْتِيلًا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cast away from mercy; wherever they are found, they will be seized and killed.</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سُنَّةَ اللَّهِ فِي الَّذِينَ خَلَوْاْ مِن قَبْلُ وَلَن تَجِدَ لِسُنَّةِ اللَّهِ تَبْدِيلًا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was Allah's way with the hypocrites before, and you will never find any change in Allah's way.</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يَسْـَٔلُكَ النَّاسُ عَنِ السَّاعَةِ قُلْ إِنَّمَا عِلْمُهَا عِندَ اللَّهِ وَمَا يُدْرِيكَ لَعَلَّ السَّاعَةَ تَكُونُ قَرِيبًا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People ask you about the time of the Hour. Say: Its knowledge is only with Allah. How do you know? Perhaps the Hour is near.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64 – 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4168"/>
            <a:ext cx="548640" cy="548640"/>
          </a:xfrm>
          <a:prstGeom prst="star8">
            <a:avLst/>
          </a:prstGeom>
          <a:solidFill>
            <a:schemeClr val="accent2"/>
          </a:solidFill>
          <a:ln/>
        </p:spPr>
      </p:sp>
      <p:sp>
        <p:nvSpPr>
          <p:cNvPr id="6" name="Shape 4"/>
          <p:cNvSpPr/>
          <p:nvPr/>
        </p:nvSpPr>
        <p:spPr>
          <a:xfrm>
            <a:off x="822960"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41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8" name="Text 6"/>
          <p:cNvSpPr txBox="1"/>
          <p:nvPr/>
        </p:nvSpPr>
        <p:spPr>
          <a:xfrm>
            <a:off x="1444752" y="132588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لَعَنَ الْكَٰفِرِينَ وَأَعَدَّ لَهُمْ سَعِيرًا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cast the disbelievers away from His mercy and prepared for them a blazing Fire,</a:t>
            </a:r>
            <a:endParaRPr lang="en-US" sz="3000" dirty="0"/>
          </a:p>
        </p:txBody>
      </p:sp>
      <p:sp>
        <p:nvSpPr>
          <p:cNvPr id="9" name="Shape 7"/>
          <p:cNvSpPr/>
          <p:nvPr/>
        </p:nvSpPr>
        <p:spPr>
          <a:xfrm>
            <a:off x="1444752" y="2360295"/>
            <a:ext cx="8641080" cy="0"/>
          </a:xfrm>
          <a:prstGeom prst="line">
            <a:avLst/>
          </a:prstGeom>
          <a:noFill/>
          <a:ln w="9525">
            <a:solidFill>
              <a:schemeClr val="accent2"/>
            </a:solidFill>
            <a:prstDash val="dash"/>
          </a:ln>
        </p:spPr>
      </p:sp>
      <p:sp>
        <p:nvSpPr>
          <p:cNvPr id="10" name="Shape 8"/>
          <p:cNvSpPr/>
          <p:nvPr/>
        </p:nvSpPr>
        <p:spPr>
          <a:xfrm>
            <a:off x="713232" y="2448306"/>
            <a:ext cx="548640" cy="548640"/>
          </a:xfrm>
          <a:prstGeom prst="star8">
            <a:avLst/>
          </a:prstGeom>
          <a:solidFill>
            <a:schemeClr val="accent2"/>
          </a:solidFill>
          <a:ln/>
        </p:spPr>
      </p:sp>
      <p:sp>
        <p:nvSpPr>
          <p:cNvPr id="11" name="Shape 9"/>
          <p:cNvSpPr/>
          <p:nvPr/>
        </p:nvSpPr>
        <p:spPr>
          <a:xfrm>
            <a:off x="822960" y="25580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44830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3" name="Text 11"/>
          <p:cNvSpPr txBox="1"/>
          <p:nvPr/>
        </p:nvSpPr>
        <p:spPr>
          <a:xfrm>
            <a:off x="1444752" y="243001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خَٰلِدِينَ فِيهَآ أَبَدًا لَّا يَجِدُونَ وَلِيًّا وَلَا نَصِيرًا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staying there forever. They will find no protector or helper.</a:t>
            </a:r>
            <a:endParaRPr lang="en-US" sz="3000" dirty="0"/>
          </a:p>
        </p:txBody>
      </p:sp>
      <p:sp>
        <p:nvSpPr>
          <p:cNvPr id="14" name="Shape 12"/>
          <p:cNvSpPr/>
          <p:nvPr/>
        </p:nvSpPr>
        <p:spPr>
          <a:xfrm>
            <a:off x="1444752" y="3464433"/>
            <a:ext cx="8641080" cy="0"/>
          </a:xfrm>
          <a:prstGeom prst="line">
            <a:avLst/>
          </a:prstGeom>
          <a:noFill/>
          <a:ln w="9525">
            <a:solidFill>
              <a:schemeClr val="accent2"/>
            </a:solidFill>
            <a:prstDash val="dash"/>
          </a:ln>
        </p:spPr>
      </p:sp>
      <p:sp>
        <p:nvSpPr>
          <p:cNvPr id="15" name="Shape 13"/>
          <p:cNvSpPr/>
          <p:nvPr/>
        </p:nvSpPr>
        <p:spPr>
          <a:xfrm>
            <a:off x="713232" y="3552444"/>
            <a:ext cx="548640" cy="548640"/>
          </a:xfrm>
          <a:prstGeom prst="star8">
            <a:avLst/>
          </a:prstGeom>
          <a:solidFill>
            <a:schemeClr val="accent2"/>
          </a:solidFill>
          <a:ln/>
        </p:spPr>
      </p:sp>
      <p:sp>
        <p:nvSpPr>
          <p:cNvPr id="16" name="Shape 14"/>
          <p:cNvSpPr/>
          <p:nvPr/>
        </p:nvSpPr>
        <p:spPr>
          <a:xfrm>
            <a:off x="822960" y="366217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5524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8" name="Text 16"/>
          <p:cNvSpPr txBox="1"/>
          <p:nvPr/>
        </p:nvSpPr>
        <p:spPr>
          <a:xfrm>
            <a:off x="1444752" y="353415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تُقَلَّبُ وُجُوهُهُمْ فِي النَّارِ يَقُولُونَ يَٰلَيْتَنَآ أَطَعْنَا اللَّهَ وَأَطَعْنَا الرَّسُولَا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their faces are turned over in the Fire, they will say: If only we had obeyed Allah and obeyed the Messenger!</a:t>
            </a:r>
            <a:endParaRPr lang="en-US" sz="3000" dirty="0"/>
          </a:p>
        </p:txBody>
      </p:sp>
      <p:sp>
        <p:nvSpPr>
          <p:cNvPr id="19" name="Shape 17"/>
          <p:cNvSpPr/>
          <p:nvPr/>
        </p:nvSpPr>
        <p:spPr>
          <a:xfrm>
            <a:off x="1444752" y="4829175"/>
            <a:ext cx="8641080" cy="0"/>
          </a:xfrm>
          <a:prstGeom prst="line">
            <a:avLst/>
          </a:prstGeom>
          <a:noFill/>
          <a:ln w="9525">
            <a:solidFill>
              <a:schemeClr val="accent2"/>
            </a:solidFill>
            <a:prstDash val="dash"/>
          </a:ln>
        </p:spPr>
      </p:sp>
      <p:sp>
        <p:nvSpPr>
          <p:cNvPr id="20" name="Shape 18"/>
          <p:cNvSpPr/>
          <p:nvPr/>
        </p:nvSpPr>
        <p:spPr>
          <a:xfrm>
            <a:off x="713232" y="4917186"/>
            <a:ext cx="548640" cy="548640"/>
          </a:xfrm>
          <a:prstGeom prst="star8">
            <a:avLst/>
          </a:prstGeom>
          <a:solidFill>
            <a:schemeClr val="accent2"/>
          </a:solidFill>
          <a:ln/>
        </p:spPr>
      </p:sp>
      <p:sp>
        <p:nvSpPr>
          <p:cNvPr id="21" name="Shape 19"/>
          <p:cNvSpPr/>
          <p:nvPr/>
        </p:nvSpPr>
        <p:spPr>
          <a:xfrm>
            <a:off x="822960" y="5026914"/>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91718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23" name="Text 21"/>
          <p:cNvSpPr txBox="1"/>
          <p:nvPr/>
        </p:nvSpPr>
        <p:spPr>
          <a:xfrm>
            <a:off x="1444752" y="489889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رَبَّنَآ إِنَّآ أَطَعْنَا سَادَتَنَا وَكُبَرَآءَنَا فَأَضَلُّونَا السَّبِيلَا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say: Our Lord, we obeyed our leaders and our great ones, and they led us away from the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68 –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ءَاتِهِمْ ضِعْفَيْنِ مِنَ الْعَذَابِ وَالْعَنْهُمْ لَعْنًا 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Lord, give them double punishment and cast them far away from Your mercy.</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تَكُونُواْ كَالَّذِينَ ءَاذَوْاْ مُوسَىٰ فَبَرَّأَهُ اللَّهُ مِمَّا قَالُواْ وَكَانَ عِندَ اللَّهِ وَجِيهًا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hurt your Messenger as the Children of Israel hurt Musa. Allah cleared him of what they said about him, and he had a high position with Allah.</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اتَّقُواْ اللَّهَ وَقُولُواْ قَوْلًا سَدِيدًا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have taqwa of Allah and speak words that are true and upright.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71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يُصْلِحْ لَكُمْ أَعْمَٰلَكُمْ وَيَغْفِرْ لَكُمْ ذُنُوبَكُمْ وَمَن يُطِعِ اللَّهَ وَرَسُولَهُ فَقَدْ فَازَ فَوْزًا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set your deeds right for you and forgive your sins. Whoever obeys Allah and His Messenger has achieved a great success.</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عَرَضْنَا الْأَمَانَةَ عَلَى السَّمَٰوَٰتِ وَالْأَرْضِ وَالْجِبَالِ فَأَبَيْنَ أَن يَحْمِلْنَهَا وَأَشْفَقْنَ مِنْهَا وَحَمَلَهَا الْإِنسَٰنُ إِنَّهُ كَانَ ظَلُومًا جَهُولًا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offered the trust, the duties of religion, to the heavens, the earth and the mountains, but they refused to carry it out of fear of it, and man carried it. He is very unjust to himself and ignorant of the results.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Al-Ahzab</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لِّيُعَذِّبَ اللَّهُ الْمُنَٰفِقِينَ وَالْمُنَٰفِقَٰتِ وَالْمُشْرِكِينَ وَالْمُشْرِكَٰتِ وَيَتُوبَ اللَّهُ عَلَى الْمُؤْمِنِينَ وَالْمُؤْمِنَٰتِ وَكَانَ اللَّهُ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Allah may punish the hypocrite men and women and the idol-worshipping men and women who betrayed the trust, and accept the repentance of the believing men and women who kept it.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pic>
        <p:nvPicPr>
          <p:cNvPr id="2" name="Image 0" descr="assets22/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"O believers, have taqwa of Allah and speak words that are upright." (Al-Ahzab 33:70)</a:t>
            </a:r>
            <a:endParaRPr lang="en-US" sz="2100" dirty="0"/>
          </a:p>
        </p:txBody>
      </p:sp>
      <p:pic>
        <p:nvPicPr>
          <p:cNvPr id="5" name="Image 1" descr="assets22/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22 Tafsir EN">
  <a:themeElements>
    <a:clrScheme name="Juz 22 Tafsir EN">
      <a:dk1>
        <a:srgbClr val="2B241F"/>
      </a:dk1>
      <a:lt1>
        <a:srgbClr val="FFFFFF"/>
      </a:lt1>
      <a:dk2>
        <a:srgbClr val="5C3A21"/>
      </a:dk2>
      <a:lt2>
        <a:srgbClr val="FBF8F3"/>
      </a:lt2>
      <a:accent1>
        <a:srgbClr val="5C3A21"/>
      </a:accent1>
      <a:accent2>
        <a:srgbClr val="C9A04A"/>
      </a:accent2>
      <a:accent3>
        <a:srgbClr val="7A5030"/>
      </a:accent3>
      <a:accent4>
        <a:srgbClr val="6B6158"/>
      </a:accent4>
      <a:accent5>
        <a:srgbClr val="F2EADF"/>
      </a:accent5>
      <a:accent6>
        <a:srgbClr val="2F6B5E"/>
      </a:accent6>
      <a:hlink>
        <a:srgbClr val="7A5030"/>
      </a:hlink>
      <a:folHlink>
        <a:srgbClr val="6B6158"/>
      </a:folHlink>
    </a:clrScheme>
    <a:fontScheme name="Juz 22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84</Slides>
  <Notes>84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84</vt:i4>
      </vt:variant>
    </vt:vector>
  </HeadingPairs>
  <TitlesOfParts>
    <vt:vector size="8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Wa Man Yaqnut — Simplified Tafsir from Ibn Kathir</dc:title>
  <dc:subject>PptxGenJS Presentation</dc:subject>
  <dc:creator>Qur'an Teacher</dc:creator>
  <cp:lastModifiedBy>Qur'an Teacher</cp:lastModifiedBy>
  <cp:revision>1</cp:revision>
  <dcterms:created xsi:type="dcterms:W3CDTF">2026-10-06T20:52:45Z</dcterms:created>
  <dcterms:modified xsi:type="dcterms:W3CDTF">2026-10-06T20:52:45Z</dcterms:modified>
</cp:coreProperties>
</file>