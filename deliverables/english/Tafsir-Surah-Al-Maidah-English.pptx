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notesMasterIdLst>
    <p:notesMasterId r:id="rId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ee2426-14aa-bb72-e349-9e722b3b551f}">
          <p14:sldIdLst>
            <p14:sldId id="256"/>
            <p14:sldId id="257"/>
            <p14:sldId id="258"/>
            <p14:sldId id="259"/>
          </p14:sldIdLst>
        </p14:section>
        <p14:section name="1. Promises; Religion Perfected" id="{d21bf965-50e5-8575-cf23-01ba79a2d9dd}">
          <p14:sldIdLst>
            <p14:sldId id="260"/>
            <p14:sldId id="261"/>
            <p14:sldId id="262"/>
            <p14:sldId id="263"/>
            <p14:sldId id="264"/>
            <p14:sldId id="265"/>
          </p14:sldIdLst>
        </p14:section>
        <p14:section name="2. Purity and Justice" id="{df1a9cc7-f04f-6b4f-6898-2c3ff799dc72}">
          <p14:sldIdLst>
            <p14:sldId id="266"/>
            <p14:sldId id="267"/>
            <p14:sldId id="268"/>
            <p14:sldId id="269"/>
          </p14:sldIdLst>
        </p14:section>
        <p14:section name="3. Israel and the Holy Land" id="{efc68227-10a0-ff4b-f6fe-f9825ac25d62}">
          <p14:sldIdLst>
            <p14:sldId id="270"/>
            <p14:sldId id="271"/>
            <p14:sldId id="272"/>
            <p14:sldId id="273"/>
            <p14:sldId id="274"/>
            <p14:sldId id="275"/>
            <p14:sldId id="276"/>
            <p14:sldId id="277"/>
            <p14:sldId id="278"/>
            <p14:sldId id="279"/>
          </p14:sldIdLst>
        </p14:section>
        <p14:section name="4. Adam's Two Sons" id="{855fddb0-7df8-0976-3017-279de9fe2927}">
          <p14:sldIdLst>
            <p14:sldId id="280"/>
            <p14:sldId id="281"/>
            <p14:sldId id="282"/>
            <p14:sldId id="283"/>
            <p14:sldId id="284"/>
            <p14:sldId id="285"/>
            <p14:sldId id="286"/>
            <p14:sldId id="287"/>
          </p14:sldIdLst>
        </p14:section>
        <p14:section name="5. Judging by Allah's Law" id="{8b1f618b-8edb-1474-f8f8-75b1962a928a}">
          <p14:sldIdLst>
            <p14:sldId id="288"/>
            <p14:sldId id="289"/>
            <p14:sldId id="290"/>
            <p14:sldId id="291"/>
            <p14:sldId id="292"/>
            <p14:sldId id="293"/>
            <p14:sldId id="294"/>
            <p14:sldId id="295"/>
          </p14:sldIdLst>
        </p14:section>
        <p14:section name="6. Loyalty to the Believers" id="{1fadbd8f-9bfe-56fe-2652-bacf590b0863}">
          <p14:sldIdLst>
            <p14:sldId id="296"/>
            <p14:sldId id="297"/>
            <p14:sldId id="298"/>
            <p14:sldId id="299"/>
            <p14:sldId id="300"/>
            <p14:sldId id="301"/>
            <p14:sldId id="302"/>
            <p14:sldId id="303"/>
            <p14:sldId id="304"/>
            <p14:sldId id="305"/>
          </p14:sldIdLst>
        </p14:section>
        <p14:section name="7. Delivering the Message" id="{7b441721-e25e-f566-5a56-38aed25171e8}">
          <p14:sldIdLst>
            <p14:sldId id="306"/>
            <p14:sldId id="307"/>
            <p14:sldId id="308"/>
            <p14:sldId id="309"/>
            <p14:sldId id="310"/>
            <p14:sldId id="311"/>
            <p14:sldId id="312"/>
            <p14:sldId id="313"/>
            <p14:sldId id="314"/>
            <p14:sldId id="315"/>
            <p14:sldId id="316"/>
            <p14:sldId id="317"/>
            <p14:sldId id="318"/>
          </p14:sldIdLst>
        </p14:section>
        <p14:section name="8. Good Things, Oaths and Wine" id="{3821e076-14f7-b4b1-9180-430b809049d7}">
          <p14:sldIdLst>
            <p14:sldId id="319"/>
            <p14:sldId id="320"/>
            <p14:sldId id="321"/>
            <p14:sldId id="322"/>
            <p14:sldId id="323"/>
          </p14:sldIdLst>
        </p14:section>
        <p14:section name="9. Hunting in Ihram; Questions" id="{cde39c2a-97ca-094a-0510-7ccb66ad374e}">
          <p14:sldIdLst>
            <p14:sldId id="324"/>
            <p14:sldId id="325"/>
            <p14:sldId id="326"/>
            <p14:sldId id="327"/>
            <p14:sldId id="328"/>
            <p14:sldId id="329"/>
            <p14:sldId id="330"/>
            <p14:sldId id="331"/>
            <p14:sldId id="332"/>
            <p14:sldId id="333"/>
          </p14:sldIdLst>
        </p14:section>
        <p14:section name="10. 'Isa and the Table Spread" id="{54c0b1fa-7b44-b051-525e-b597f809c39a}">
          <p14:sldIdLst>
            <p14:sldId id="334"/>
            <p14:sldId id="335"/>
            <p14:sldId id="336"/>
            <p14:sldId id="337"/>
            <p14:sldId id="338"/>
            <p14:sldId id="339"/>
            <p14:sldId id="340"/>
            <p14:sldId id="341"/>
            <p14:sldId id="342"/>
          </p14:sldIdLst>
        </p14:section>
        <p14:section name="Closing" id="{72edcba0-7944-787c-5822-7f1a07f6fada}">
          <p14:sldIdLst>
            <p14:sldId id="3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surah into ten themed sections. Each section opens with a slide giving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great announcement was made in verse 3 on the Day of 'Arafah?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List the parts of the body washed or wiped in wudu', as mentioned in verse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the Children of Israel say to Musa when he commanded them to enter the Holy Land? What was their punishment?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lesson did Adam's son learn from the crow? What does verse 32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does it mean that the Qur'an is "muhaymin" (watching over) the earlier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Mention the qualities of the people whom Allah loves and who love Him, from verse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happened to the eyes of An-Najashi and his companions when they heard the Qur'an, according to verse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expiation for a broken oath, according to verse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Allah forbid asking too many questions in verse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the disciples ask for the table spread? What will 'Isa say on the Day of Resurrection?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5/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5/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4.xml"/><Relationship Id="rId4"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Surah Al-Ma'idah</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120 verses • Madani • 10 sections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honey gold</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Al-Ma'idah</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Among the Last Revealed</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(may Allah be pleased with her) said: "Al-Ma'idah is among the last surahs revealed, so whatever you find lawful in it, treat as lawful, and whatever you find forbidden in it, treat as forbidden" (Ahmad and Al-Hakim).</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Day Religion Was Perfected</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contains “Today I have perfected your religion for you”, revealed on the Day of 'Arafah during the Farewell Hajj while the Prophet (peace be upon him) was standing at 'Arafah (Bukhari and Muslim).</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120 verses, Madani, the fifth surah in the Mushaf. It is called "Al-Ma'idah" (The Table Spread) after the story of the table of food that the disciples asked 'Isa (peace be upon him) for.</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Sections of the Surah</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The surah is divided into ten sections by theme, so we can understand it step by step</a:t>
            </a:r>
            <a:endParaRPr lang="en-US" sz="1600" dirty="0"/>
          </a:p>
        </p:txBody>
      </p:sp>
      <p:sp>
        <p:nvSpPr>
          <p:cNvPr id="4" name="Shape 2"/>
          <p:cNvSpPr/>
          <p:nvPr/>
        </p:nvSpPr>
        <p:spPr>
          <a:xfrm>
            <a:off x="700888" y="1828800"/>
            <a:ext cx="525780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92328" y="1938528"/>
            <a:ext cx="530352" cy="530352"/>
          </a:xfrm>
          <a:prstGeom prst="star8">
            <a:avLst/>
          </a:prstGeom>
          <a:solidFill>
            <a:schemeClr val="accent2"/>
          </a:solidFill>
          <a:ln/>
        </p:spPr>
      </p:sp>
      <p:sp>
        <p:nvSpPr>
          <p:cNvPr id="6" name="Shape 4"/>
          <p:cNvSpPr/>
          <p:nvPr/>
        </p:nvSpPr>
        <p:spPr>
          <a:xfrm>
            <a:off x="89839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9232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1412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Promises; Religion Perfected</a:t>
            </a:r>
            <a:endParaRPr lang="en-US" sz="1600" dirty="0"/>
          </a:p>
        </p:txBody>
      </p:sp>
      <p:sp>
        <p:nvSpPr>
          <p:cNvPr id="9" name="Text 7"/>
          <p:cNvSpPr txBox="1"/>
          <p:nvPr/>
        </p:nvSpPr>
        <p:spPr>
          <a:xfrm>
            <a:off x="141412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 – 5</a:t>
            </a:r>
            <a:endParaRPr lang="en-US" sz="1200" dirty="0"/>
          </a:p>
        </p:txBody>
      </p:sp>
      <p:sp>
        <p:nvSpPr>
          <p:cNvPr id="10" name="Shape 8"/>
          <p:cNvSpPr/>
          <p:nvPr/>
        </p:nvSpPr>
        <p:spPr>
          <a:xfrm>
            <a:off x="6233008" y="1828800"/>
            <a:ext cx="525780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6324448" y="1938528"/>
            <a:ext cx="530352" cy="530352"/>
          </a:xfrm>
          <a:prstGeom prst="star8">
            <a:avLst/>
          </a:prstGeom>
          <a:solidFill>
            <a:schemeClr val="accent2"/>
          </a:solidFill>
          <a:ln/>
        </p:spPr>
      </p:sp>
      <p:sp>
        <p:nvSpPr>
          <p:cNvPr id="12" name="Shape 10"/>
          <p:cNvSpPr/>
          <p:nvPr/>
        </p:nvSpPr>
        <p:spPr>
          <a:xfrm>
            <a:off x="643051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632444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694624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Purity and Justice</a:t>
            </a:r>
            <a:endParaRPr lang="en-US" sz="1600" dirty="0"/>
          </a:p>
        </p:txBody>
      </p:sp>
      <p:sp>
        <p:nvSpPr>
          <p:cNvPr id="15" name="Text 13"/>
          <p:cNvSpPr txBox="1"/>
          <p:nvPr/>
        </p:nvSpPr>
        <p:spPr>
          <a:xfrm>
            <a:off x="694624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6 – 11</a:t>
            </a:r>
            <a:endParaRPr lang="en-US" sz="1200" dirty="0"/>
          </a:p>
        </p:txBody>
      </p:sp>
      <p:sp>
        <p:nvSpPr>
          <p:cNvPr id="16" name="Shape 14"/>
          <p:cNvSpPr/>
          <p:nvPr/>
        </p:nvSpPr>
        <p:spPr>
          <a:xfrm>
            <a:off x="700888" y="2697480"/>
            <a:ext cx="525780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792328" y="2807208"/>
            <a:ext cx="530352" cy="530352"/>
          </a:xfrm>
          <a:prstGeom prst="star8">
            <a:avLst/>
          </a:prstGeom>
          <a:solidFill>
            <a:schemeClr val="accent2"/>
          </a:solidFill>
          <a:ln/>
        </p:spPr>
      </p:sp>
      <p:sp>
        <p:nvSpPr>
          <p:cNvPr id="18" name="Shape 16"/>
          <p:cNvSpPr/>
          <p:nvPr/>
        </p:nvSpPr>
        <p:spPr>
          <a:xfrm>
            <a:off x="89839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79232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141412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Israel and the Holy Land</a:t>
            </a:r>
            <a:endParaRPr lang="en-US" sz="1600" dirty="0"/>
          </a:p>
        </p:txBody>
      </p:sp>
      <p:sp>
        <p:nvSpPr>
          <p:cNvPr id="21" name="Text 19"/>
          <p:cNvSpPr txBox="1"/>
          <p:nvPr/>
        </p:nvSpPr>
        <p:spPr>
          <a:xfrm>
            <a:off x="141412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12 – 26</a:t>
            </a:r>
            <a:endParaRPr lang="en-US" sz="1200" dirty="0"/>
          </a:p>
        </p:txBody>
      </p:sp>
      <p:sp>
        <p:nvSpPr>
          <p:cNvPr id="22" name="Shape 20"/>
          <p:cNvSpPr/>
          <p:nvPr/>
        </p:nvSpPr>
        <p:spPr>
          <a:xfrm>
            <a:off x="6233008" y="2697480"/>
            <a:ext cx="525780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6324448" y="2807208"/>
            <a:ext cx="530352" cy="530352"/>
          </a:xfrm>
          <a:prstGeom prst="star8">
            <a:avLst/>
          </a:prstGeom>
          <a:solidFill>
            <a:schemeClr val="accent2"/>
          </a:solidFill>
          <a:ln/>
        </p:spPr>
      </p:sp>
      <p:sp>
        <p:nvSpPr>
          <p:cNvPr id="24" name="Shape 22"/>
          <p:cNvSpPr/>
          <p:nvPr/>
        </p:nvSpPr>
        <p:spPr>
          <a:xfrm>
            <a:off x="643051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632444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6" name="Text 24"/>
          <p:cNvSpPr txBox="1"/>
          <p:nvPr/>
        </p:nvSpPr>
        <p:spPr>
          <a:xfrm>
            <a:off x="694624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Adam's Two Sons</a:t>
            </a:r>
            <a:endParaRPr lang="en-US" sz="1600" dirty="0"/>
          </a:p>
        </p:txBody>
      </p:sp>
      <p:sp>
        <p:nvSpPr>
          <p:cNvPr id="27" name="Text 25"/>
          <p:cNvSpPr txBox="1"/>
          <p:nvPr/>
        </p:nvSpPr>
        <p:spPr>
          <a:xfrm>
            <a:off x="694624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27 – 40</a:t>
            </a:r>
            <a:endParaRPr lang="en-US" sz="1200" dirty="0"/>
          </a:p>
        </p:txBody>
      </p:sp>
      <p:sp>
        <p:nvSpPr>
          <p:cNvPr id="28" name="Shape 26"/>
          <p:cNvSpPr/>
          <p:nvPr/>
        </p:nvSpPr>
        <p:spPr>
          <a:xfrm>
            <a:off x="700888" y="3566160"/>
            <a:ext cx="525780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792328" y="3675888"/>
            <a:ext cx="530352" cy="530352"/>
          </a:xfrm>
          <a:prstGeom prst="star8">
            <a:avLst/>
          </a:prstGeom>
          <a:solidFill>
            <a:schemeClr val="accent2"/>
          </a:solidFill>
          <a:ln/>
        </p:spPr>
      </p:sp>
      <p:sp>
        <p:nvSpPr>
          <p:cNvPr id="30" name="Shape 28"/>
          <p:cNvSpPr/>
          <p:nvPr/>
        </p:nvSpPr>
        <p:spPr>
          <a:xfrm>
            <a:off x="89839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79232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32" name="Text 30"/>
          <p:cNvSpPr txBox="1"/>
          <p:nvPr/>
        </p:nvSpPr>
        <p:spPr>
          <a:xfrm>
            <a:off x="141412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Judging by Allah's Law</a:t>
            </a:r>
            <a:endParaRPr lang="en-US" sz="1600" dirty="0"/>
          </a:p>
        </p:txBody>
      </p:sp>
      <p:sp>
        <p:nvSpPr>
          <p:cNvPr id="33" name="Text 31"/>
          <p:cNvSpPr txBox="1"/>
          <p:nvPr/>
        </p:nvSpPr>
        <p:spPr>
          <a:xfrm>
            <a:off x="141412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41 – 50</a:t>
            </a:r>
            <a:endParaRPr lang="en-US" sz="1200" dirty="0"/>
          </a:p>
        </p:txBody>
      </p:sp>
      <p:sp>
        <p:nvSpPr>
          <p:cNvPr id="34" name="Shape 32"/>
          <p:cNvSpPr/>
          <p:nvPr/>
        </p:nvSpPr>
        <p:spPr>
          <a:xfrm>
            <a:off x="6233008" y="3566160"/>
            <a:ext cx="525780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6324448" y="3675888"/>
            <a:ext cx="530352" cy="530352"/>
          </a:xfrm>
          <a:prstGeom prst="star8">
            <a:avLst/>
          </a:prstGeom>
          <a:solidFill>
            <a:schemeClr val="accent2"/>
          </a:solidFill>
          <a:ln/>
        </p:spPr>
      </p:sp>
      <p:sp>
        <p:nvSpPr>
          <p:cNvPr id="36" name="Shape 34"/>
          <p:cNvSpPr/>
          <p:nvPr/>
        </p:nvSpPr>
        <p:spPr>
          <a:xfrm>
            <a:off x="643051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632444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8" name="Text 36"/>
          <p:cNvSpPr txBox="1"/>
          <p:nvPr/>
        </p:nvSpPr>
        <p:spPr>
          <a:xfrm>
            <a:off x="694624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Loyalty to the Believers</a:t>
            </a:r>
            <a:endParaRPr lang="en-US" sz="1600" dirty="0"/>
          </a:p>
        </p:txBody>
      </p:sp>
      <p:sp>
        <p:nvSpPr>
          <p:cNvPr id="39" name="Text 37"/>
          <p:cNvSpPr txBox="1"/>
          <p:nvPr/>
        </p:nvSpPr>
        <p:spPr>
          <a:xfrm>
            <a:off x="694624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51 – 66</a:t>
            </a:r>
            <a:endParaRPr lang="en-US" sz="1200" dirty="0"/>
          </a:p>
        </p:txBody>
      </p:sp>
      <p:sp>
        <p:nvSpPr>
          <p:cNvPr id="40" name="Shape 38"/>
          <p:cNvSpPr/>
          <p:nvPr/>
        </p:nvSpPr>
        <p:spPr>
          <a:xfrm>
            <a:off x="700888" y="4434840"/>
            <a:ext cx="525780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92328" y="4544568"/>
            <a:ext cx="530352" cy="530352"/>
          </a:xfrm>
          <a:prstGeom prst="star8">
            <a:avLst/>
          </a:prstGeom>
          <a:solidFill>
            <a:schemeClr val="accent2"/>
          </a:solidFill>
          <a:ln/>
        </p:spPr>
      </p:sp>
      <p:sp>
        <p:nvSpPr>
          <p:cNvPr id="42" name="Shape 40"/>
          <p:cNvSpPr/>
          <p:nvPr/>
        </p:nvSpPr>
        <p:spPr>
          <a:xfrm>
            <a:off x="89839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79232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7</a:t>
            </a:r>
            <a:endParaRPr lang="en-US" sz="1400" dirty="0"/>
          </a:p>
        </p:txBody>
      </p:sp>
      <p:sp>
        <p:nvSpPr>
          <p:cNvPr id="44" name="Text 42"/>
          <p:cNvSpPr txBox="1"/>
          <p:nvPr/>
        </p:nvSpPr>
        <p:spPr>
          <a:xfrm>
            <a:off x="141412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Delivering the Message</a:t>
            </a:r>
            <a:endParaRPr lang="en-US" sz="1600" dirty="0"/>
          </a:p>
        </p:txBody>
      </p:sp>
      <p:sp>
        <p:nvSpPr>
          <p:cNvPr id="45" name="Text 43"/>
          <p:cNvSpPr txBox="1"/>
          <p:nvPr/>
        </p:nvSpPr>
        <p:spPr>
          <a:xfrm>
            <a:off x="141412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67 – 86</a:t>
            </a:r>
            <a:endParaRPr lang="en-US" sz="1200" dirty="0"/>
          </a:p>
        </p:txBody>
      </p:sp>
      <p:sp>
        <p:nvSpPr>
          <p:cNvPr id="46" name="Shape 44"/>
          <p:cNvSpPr/>
          <p:nvPr/>
        </p:nvSpPr>
        <p:spPr>
          <a:xfrm>
            <a:off x="6233008" y="4434840"/>
            <a:ext cx="525780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6324448" y="4544568"/>
            <a:ext cx="530352" cy="530352"/>
          </a:xfrm>
          <a:prstGeom prst="star8">
            <a:avLst/>
          </a:prstGeom>
          <a:solidFill>
            <a:schemeClr val="accent2"/>
          </a:solidFill>
          <a:ln/>
        </p:spPr>
      </p:sp>
      <p:sp>
        <p:nvSpPr>
          <p:cNvPr id="48" name="Shape 46"/>
          <p:cNvSpPr/>
          <p:nvPr/>
        </p:nvSpPr>
        <p:spPr>
          <a:xfrm>
            <a:off x="643051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632444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8</a:t>
            </a:r>
            <a:endParaRPr lang="en-US" sz="1400" dirty="0"/>
          </a:p>
        </p:txBody>
      </p:sp>
      <p:sp>
        <p:nvSpPr>
          <p:cNvPr id="50" name="Text 48"/>
          <p:cNvSpPr txBox="1"/>
          <p:nvPr/>
        </p:nvSpPr>
        <p:spPr>
          <a:xfrm>
            <a:off x="694624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Good Things, Oaths and Wine</a:t>
            </a:r>
            <a:endParaRPr lang="en-US" sz="1600" dirty="0"/>
          </a:p>
        </p:txBody>
      </p:sp>
      <p:sp>
        <p:nvSpPr>
          <p:cNvPr id="51" name="Text 49"/>
          <p:cNvSpPr txBox="1"/>
          <p:nvPr/>
        </p:nvSpPr>
        <p:spPr>
          <a:xfrm>
            <a:off x="694624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87 – 93</a:t>
            </a:r>
            <a:endParaRPr lang="en-US" sz="1200" dirty="0"/>
          </a:p>
        </p:txBody>
      </p:sp>
      <p:sp>
        <p:nvSpPr>
          <p:cNvPr id="52" name="Shape 50"/>
          <p:cNvSpPr/>
          <p:nvPr/>
        </p:nvSpPr>
        <p:spPr>
          <a:xfrm>
            <a:off x="700888" y="5303520"/>
            <a:ext cx="525780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792328" y="5413248"/>
            <a:ext cx="530352" cy="530352"/>
          </a:xfrm>
          <a:prstGeom prst="star8">
            <a:avLst/>
          </a:prstGeom>
          <a:solidFill>
            <a:schemeClr val="accent2"/>
          </a:solidFill>
          <a:ln/>
        </p:spPr>
      </p:sp>
      <p:sp>
        <p:nvSpPr>
          <p:cNvPr id="54" name="Shape 52"/>
          <p:cNvSpPr/>
          <p:nvPr/>
        </p:nvSpPr>
        <p:spPr>
          <a:xfrm>
            <a:off x="89839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79232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9</a:t>
            </a:r>
            <a:endParaRPr lang="en-US" sz="1400" dirty="0"/>
          </a:p>
        </p:txBody>
      </p:sp>
      <p:sp>
        <p:nvSpPr>
          <p:cNvPr id="56" name="Text 54"/>
          <p:cNvSpPr txBox="1"/>
          <p:nvPr/>
        </p:nvSpPr>
        <p:spPr>
          <a:xfrm>
            <a:off x="141412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Hunting in Ihram; Questions</a:t>
            </a:r>
            <a:endParaRPr lang="en-US" sz="1600" dirty="0"/>
          </a:p>
        </p:txBody>
      </p:sp>
      <p:sp>
        <p:nvSpPr>
          <p:cNvPr id="57" name="Text 55"/>
          <p:cNvSpPr txBox="1"/>
          <p:nvPr/>
        </p:nvSpPr>
        <p:spPr>
          <a:xfrm>
            <a:off x="141412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94 – 108</a:t>
            </a:r>
            <a:endParaRPr lang="en-US" sz="1200" dirty="0"/>
          </a:p>
        </p:txBody>
      </p:sp>
      <p:sp>
        <p:nvSpPr>
          <p:cNvPr id="58" name="Shape 56"/>
          <p:cNvSpPr/>
          <p:nvPr/>
        </p:nvSpPr>
        <p:spPr>
          <a:xfrm>
            <a:off x="6233008" y="5303520"/>
            <a:ext cx="525780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6324448" y="5413248"/>
            <a:ext cx="530352" cy="530352"/>
          </a:xfrm>
          <a:prstGeom prst="star8">
            <a:avLst/>
          </a:prstGeom>
          <a:solidFill>
            <a:schemeClr val="accent2"/>
          </a:solidFill>
          <a:ln/>
        </p:spPr>
      </p:sp>
      <p:sp>
        <p:nvSpPr>
          <p:cNvPr id="60" name="Shape 58"/>
          <p:cNvSpPr/>
          <p:nvPr/>
        </p:nvSpPr>
        <p:spPr>
          <a:xfrm>
            <a:off x="643051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632444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10</a:t>
            </a:r>
            <a:endParaRPr lang="en-US" sz="1400" dirty="0"/>
          </a:p>
        </p:txBody>
      </p:sp>
      <p:sp>
        <p:nvSpPr>
          <p:cNvPr id="62" name="Text 60"/>
          <p:cNvSpPr txBox="1"/>
          <p:nvPr/>
        </p:nvSpPr>
        <p:spPr>
          <a:xfrm>
            <a:off x="694624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'Isa and the Table Spread</a:t>
            </a:r>
            <a:endParaRPr lang="en-US" sz="1600" dirty="0"/>
          </a:p>
        </p:txBody>
      </p:sp>
      <p:sp>
        <p:nvSpPr>
          <p:cNvPr id="63" name="Text 61"/>
          <p:cNvSpPr txBox="1"/>
          <p:nvPr/>
        </p:nvSpPr>
        <p:spPr>
          <a:xfrm>
            <a:off x="694624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109 – 120</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Promises; Religion Perfected</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A Jewish man said to 'Umar: There is a verse in your Book which, if it had been revealed to us, we would have taken that day as a festival: “Today I have perfected your religion for you”. 'Umar said: We know that day and place; it was revealed to the Prophet (peace be upon him) while he was standing at 'Arafah on a Friday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keep promises and contracts, what Allah has made lawful and unlawful of food, helping one another in goodness and taqwa, and the announcement that the religion has been perfected and the blessing completed.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أَوْفُواْ بِالْعُقُودِ أُحِلَّتْ لَكُم بَهِيمَةُ الْأَنْعَٰمِ إِلَّا مَا يُتْلَىٰ عَلَيْكُمْ غَيْرَ مُحِلِّي الصَّيْدِ وَأَنتُمْ حُرُمٌ إِنَّ اللَّهَ يَحْكُمُ مَا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keep your promises and contracts. Camels, cattle and sheep are lawful for you except what will be made clear to you as forbidden. Do not hunt while you are in ihram for Hajj or 'Umrah. Allah rules as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تُحِلُّواْ شَعَـٰئِرَ اللَّهِ وَلَا الشَّهْرَ الْحَرَامَ وَلَا الْهَدْيَ وَلَا الْقَلَـٰئِدَ وَلَآ ءَآمِّينَ الْبَيْتَ الْحَرَامَ يَبْتَغُونَ فَضْلًا مِّن رَّبِّهِمْ وَرِضْوَٰنًا وَإِذَا حَلَلْتُمْ فَاصْطَادُواْ وَلَا يَجْرِمَنَّكُمْ شَنَـَٔانُ قَوْمٍ أَن صَدُّوكُمْ عَنِ الْمَسْجِدِ الْحَرَامِ أَن تَعْتَدُواْ وَتَعَاوَنُواْ عَلَى الْبِرِّ وَالتَّقْوَىٰ وَلَا تَعَاوَنُواْ عَلَى الْإِثْمِ وَالْعُدْوَٰنِ وَاتَّقُواْ اللَّهَ إِنَّ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violate the signs of Allah's religion, nor fighting in the sacred month, nor the sacrificial animals, nor those heading for the Sacred House. Do not let your hatred of a people lead you to injustice. Help one another in goodness and taqwa, and do not help one another in sin and aggression.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حُرِّمَتْ عَلَيْكُمُ الْمَيْتَةُ وَالدَّمُ وَلَحْمُ الْخِنزِيرِ وَمَآ أُهِلَّ لِغَيْرِ اللَّهِ بِهِ وَالْمُنْخَنِقَةُ وَالْمَوْقُوذَةُ وَالْمُتَرَدِّيَةُ وَالنَّطِيحَةُ وَمَآ أَكَلَ السَّبُعُ إِلَّا مَا ذَكَّيْتُمْ وَمَا ذُبِحَ عَلَى النُّصُبِ وَأَن تَسْتَقْسِمُواْ بِالْأَزْلَٰمِ ذَٰلِكُمْ فِسْقٌ الْيَوْمَ يَئِسَ الَّذِينَ كَفَرُواْ مِن دِينِكُمْ فَلَا تَخْشَوْهُمْ وَاخْشَوْنِ الْيَوْمَ أَكْمَلْتُ لَكُمْ دِينَكُمْ وَأَتْمَمْتُ عَلَيْكُمْ نِعْمَتِي وَرَضِيتُ لَكُمُ الْإِسْلَٰمَ دِينًا فَمَنِ اضْطُرَّ فِي مَخْمَصَةٍ غَيْرَ مُتَجَانِفٍ لِّإِثْمٍ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Forbidden to you are: dead animals, blood, pork, what is slaughtered for other than Allah, an animal strangled, beaten to death, killed by a fall, gored to death, or eaten by a wild animal unless you slaughter it in time, and what is sacrificed on idols. Today I have perfected your religion for you, completed My blessing on you, and chosen Islam as your religion.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51176"/>
            <a:ext cx="548640" cy="548640"/>
          </a:xfrm>
          <a:prstGeom prst="star8">
            <a:avLst/>
          </a:prstGeom>
          <a:solidFill>
            <a:schemeClr val="accent2"/>
          </a:solidFill>
          <a:ln/>
        </p:spPr>
      </p:sp>
      <p:sp>
        <p:nvSpPr>
          <p:cNvPr id="6" name="Shape 4"/>
          <p:cNvSpPr/>
          <p:nvPr/>
        </p:nvSpPr>
        <p:spPr>
          <a:xfrm>
            <a:off x="822960" y="266090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51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53288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مَاذَآ أُحِلَّ لَهُمْ قُلْ أُحِلَّ لَكُمُ الطَّيِّبَٰتُ وَمَا عَلَّمْتُم مِّنَ الْجَوَارِحِ مُكَلِّبِينَ تُعَلِّمُونَهُنَّ مِمَّا عَلَّمَكُمُ اللَّهُ فَكُلُواْ مِمَّآ أَمْسَكْنَ عَلَيْكُمْ وَاذْكُرُواْ اسْمَ اللَّهِ عَلَيْهِ وَاتَّقُواْ اللَّهَ إِنَّ 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what is lawful for them. Say: Good things are lawful for you, and what trained dogs and birds catch for you; eat what they catch for you, and mention Allah's name over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الْيَوْمَ أُحِلَّ لَكُمُ الطَّيِّبَٰتُ وَطَعَامُ الَّذِينَ أُوتُواْ الْكِتَٰبَ حِلٌّ لَّكُمْ وَطَعَامُكُمْ حِلٌّ لَّهُمْ وَالْمُحْصَنَٰتُ مِنَ الْمُؤْمِنَٰتِ وَالْمُحْصَنَٰتُ مِنَ الَّذِينَ أُوتُواْ الْكِتَٰبَ مِن قَبْلِكُمْ إِذَآ ءَاتَيْتُمُوهُنَّ أُجُورَهُنَّ مُحْصِنِينَ غَيْرَ مُسَٰفِحِينَ وَلَا مُتَّخِذِي أَخْدَانٍ وَمَن يَكْفُرْ بِالْإِيمَٰنِ فَقَدْ حَبِطَ عَمَلُهُ وَهُوَ فِي الْأخِرَةِ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good things are made lawful for you. The food slaughtered by the People of the Book is lawful for you, and your food is lawful for them. You may marry chaste women from the believers and from the People of the Book. Whoever rejects faith, his deeds are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Purity and Justice</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 – 11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said: My necklace broke while we were with the Prophet (peace be upon him) on a journey. The people stayed to look for it and there was no water, so this was revealed: “O believers, when you stand for prayer...” up to the verse of tayammum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How to do wudu', the full bath and tayammum, a reminder of Allah's blessing and covenant, and the command to be just even with those we dislike.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قُمْتُمْ إِلَى الصَّلَوٰةِ فَاغْسِلُواْ وُجُوهَكُمْ وَأَيْدِيَكُمْ إِلَى الْمَرَافِقِ وَامْسَحُواْ بِرُءُوسِكُمْ وَأَرْجُلَكُمْ إِلَى الْكَعْبَيْنِ وَإِن كُنتُمْ جُنُبًا فَاطَّهَّرُواْ وَإِن كُنتُم مَّرْضَىٰ أَوْ عَلَىٰ سَفَرٍ أَوْ جَآءَ أَحَدٌ مِّنكُم مِّنَ الْغَآئِطِ أَوْ لَٰمَسْتُمُ النِّسَآءَ فَلَمْ تَجِدُواْ مَآءً فَتَيَمَّمُواْ صَعِيدًا طَيِّبًا فَامْسَحُواْ بِوُجُوهِكُمْ وَأَيْدِيكُم مِّنْهُ مَا يُرِيدُ اللَّهُ لِيَجْعَلَ عَلَيْكُم مِّنْ حَرَجٍ وَلَٰكِن يُرِيدُ لِيُطَهِّرَكُمْ وَلِيُتِمَّ نِعْمَتَهُ عَلَيْكُمْ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want to pray, make wudu': wash your faces and your arms up to the elbows, wipe your heads, and wash your feet up to the ankles. If you are in a state needing a full bath, then bathe. If you cannot find water, do tayammum. Allah does not want to make things hard for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وَاذْكُرُواْ نِعْمَةَ اللَّهِ عَلَيْكُمْ وَمِيثَٰقَهُ الَّذِي وَاثَقَكُم بِهِ إِذْ قُلْتُمْ سَمِعْنَا وَأَطَعْنَا وَاتَّقُواْ اللَّهَ إِنَّ اللَّهَ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Allah's blessing on you and the covenant He took from you when you said: We hear and we obey. Have taqwa of Allah; Allah knows what is in the chests.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كُونُواْ قَوَّـٰمِينَ لِلَّهِ شُهَدَآءَ بِالْقِسْطِ وَلَا يَجْرِمَنَّكُمْ شَنَـَٔانُ قَوْمٍ عَلَىٰ أَلَّا تَعْدِلُواْ اعْدِلُواْ هُوَ أَقْرَبُ لِلتَّقْوَىٰ وَاتَّقُواْ اللَّهَ إِنَّ 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stand firm for Allah, bearing witness with justice. Do not let your hatred of a people make you leave justice. Be just; that is closer to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 اللَّهُ الَّذِينَ ءَامَنُواْ وَعَمِلُواْ الصَّـٰلِحَٰتِ لَهُم مَّغْفِرَةٌ وَأَجْرٌ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promised those who believe and do good deeds forgiveness and a great reward.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disbelieve and deny Our verses are the people of the Fire.</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اذْكُرُواْ نِعْمَتَ اللَّهِ عَلَيْكُمْ إِذْ هَمَّ قَوْمٌ أَن يَبْسُطُواْ إِلَيْكُمْ أَيْدِيَهُمْ فَكَفَّ أَيْدِيَهُمْ عَنكُمْ وَاتَّقُواْ اللَّهَ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remember Allah's blessing on you when a people wanted to attack you and Allah held them back from you. Have taqwa of Allah, and in Allah let the believers put their trust.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Israel and the Holy Land</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 – 26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How the Children of Israel broke their covenants, a reply to those who went to extremes about the Messiah, and the story of their refusal to enter the Holy Land, so Allah punished them with forty years of wandering.</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أَخَذَ اللَّهُ مِيثَٰقَ بَنِي إِسْرَـٰءِيلَ وَبَعَثْنَا مِنْهُمُ اثْنَيْ عَشَرَ نَقِيبًا وَقَالَ اللَّهُ إِنِّي مَعَكُمْ لَئِنْ أَقَمْتُمُ الصَّلَوٰةَ وَءَاتَيْتُمُ الزَّكَوٰةَ وَءَامَنتُم بِرُسُلِي وَعَزَّرْتُمُوهُمْ وَأَقْرَضْتُمُ اللَّهَ قَرْضًا حَسَنًا لَّأُكَفِّرَنَّ عَنكُمْ سَيِّـَٔاتِكُمْ وَلَأُدْخِلَنَّكُمْ جَنَّـٰتٍ تَجْرِي مِن تَحْتِهَا الْأَنْهَٰرُ فَمَن كَفَرَ بَعْدَ ذَٰلِكَ مِنكُمْ فَقَدْ ضَلَّ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took a covenant from the Children of Israel, and We appointed twelve leaders from among them. Allah said: I am with you. If you perform the prayer, give the zakah, believe in My messengers and support them, I will wipe away your bad deeds and admit you to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فَبِمَا نَقْضِهِم مِّيثَٰقَهُمْ لَعَنَّـٰهُمْ وَجَعَلْنَا قُلُوبَهُمْ قَٰسِيَةً يُحَرِّفُونَ الْكَلِمَ عَن مَّوَاضِعِهِ وَنَسُواْ حَظًّا مِّمَّا ذُكِّرُواْ بِهِ وَلَا تَزَالُ تَطَّلِعُ عَلَىٰ خَآئِنَةٍ مِّنْهُمْ إِلَّا قَلِيلًا مِّنْهُمْ فَاعْفُ عَنْهُمْ وَاصْفَحْ إِنَّ اللَّهَ يُحِبُّ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they broke their covenant, We drove them away from Our mercy and made their hearts hard. They change Allah's words and have forgotten part of what they were reminded of. So pardon them and overlook; Allah loves those who do good.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الَّذِينَ قَالُواْ إِنَّا نَصَٰرَىٰ أَخَذْنَا مِيثَٰقَهُمْ فَنَسُواْ حَظًّا مِّمَّا ذُكِّرُواْ بِهِ فَأَغْرَيْنَا بَيْنَهُمُ الْعَدَاوَةَ وَالْبَغْضَآءَ إِلَىٰ يَوْمِ الْقِيَٰمَةِ وَسَوْفَ يُنَبِّئُهُمُ اللَّهُ بِمَا كَانُواْ يَصْنَعُونَ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those who say: We are Christians, We took their covenant, but they forgot part of what they were reminded of, so We put hostility and hatred between them until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قَدْ جَآءَكُمْ رَسُولُنَا يُبَيِّنُ لَكُمْ كَثِيرًا مِّمَّا كُنتُمْ تُخْفُونَ مِنَ الْكِتَٰبِ وَيَعْفُواْ عَن كَثِيرٍ قَدْ جَآءَكُم مِّنَ اللَّهِ نُورٌ وَكِتَٰبٌ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Our Messenger Muhammad (peace be upon him) has come to you, making clear much of what you used to hide of the Book and leaving much. A light and a clear Book have come to you from Allah,</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يَهْدِي بِهِ اللَّهُ مَنِ اتَّبَعَ رِضْوَٰنَهُ سُبُلَ السَّلَٰمِ وَيُخْرِجُهُم مِّنَ الظُّلُمَٰتِ إِلَى النُّورِ بِإِذْنِهِ وَيَهْدِيهِمْ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which Allah guides those who seek His pleasure to paths of peace, brings them out of darkness into light, and guides them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كَفَرَ الَّذِينَ قَالُواْ إِنَّ اللَّهَ هُوَ الْمَسِيحُ ابْنُ مَرْيَمَ قُلْ فَمَن يَمْلِكُ مِنَ اللَّهِ شَيْـًٔا إِنْ أَرَادَ أَن يُهْلِكَ الْمَسِيحَ ابْنَ مَرْيَمَ وَأُمَّهُ وَمَن فِي الْأَرْضِ جَمِيعًا وَلِلَّهِ مُلْكُ السَّمَٰوَٰتِ وَالْأَرْضِ وَمَا بَيْنَهُمَا يَخْلُقُ مَا يَشَآءُ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Allah is the Messiah, son of Maryam, have disbelieved. Say: Who could stop Allah if He wanted to destroy the Messiah, his mother and everyone on earth? To Allah belongs the kingdom of the heavens and the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الْيَهُودُ وَالنَّصَٰرَىٰ نَحْنُ أَبْنَـٰؤُاْ اللَّهِ وَأَحِبَّـٰؤُهُ قُلْ فَلِمَ يُعَذِّبُكُم بِذُنُوبِكُم بَلْ أَنتُم بَشَرٌ مِّمَّنْ خَلَقَ يَغْفِرُ لِمَن يَشَآءُ وَيُعَذِّبُ مَن يَشَآءُ وَلِلَّهِ مُلْكُ السَّمَٰوَٰتِ وَالْأَرْضِ وَمَا بَيْنَهُمَا وَإِلَيْهِ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and Christians said: We are the children of Allah and His beloved. Say: Then why does He punish you for your sins? Rather, you are humans from among those He created. He forgives whom He wills and punishes whom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قَدْ جَآءَكُمْ رَسُولُنَا يُبَيِّنُ لَكُمْ عَلَىٰ فَتْرَةٍ مِّنَ الرُّسُلِ أَن تَقُولُواْ مَا جَآءَنَا مِن بَشِيرٍ وَلَا نَذِيرٍ فَقَدْ جَآءَكُم بَشِيرٌ وَنَذِيرٌ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Our Messenger has come to you to make things clear after a gap between messengers, so you cannot say: No bringer of good news or warner came to us. A bringer of good news and a warner has come to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لِقَوْمِهِ يَٰقَوْمِ اذْكُرُواْ نِعْمَةَ اللَّهِ عَلَيْكُمْ إِذْ جَعَلَ فِيكُمْ أَنبِيَآءَ وَجَعَلَكُم مُّلُوكًا وَءَاتَىٰكُم مَّا لَمْ يُؤْتِ أَحَدًا مِّنَ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Musa said to his people: O my people, remember Allah's blessing on you when He placed prophets among you, made you kings, and gave you what He had not given anyone else in your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يَٰقَوْمِ ادْخُلُواْ الْأَرْضَ الْمُقَدَّسَةَ الَّتِي كَتَبَ اللَّهُ لَكُمْ وَلَا تَرْتَدُّواْ عَلَىٰ أَدْبَارِكُمْ فَتَنقَلِبُواْ 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enter the Holy Land, Jerusalem, which Allah has written for you, and do not turn back running, or you will become losers.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يَٰمُوسَىٰ إِنَّ فِيهَا قَوْمًا جَبَّارِينَ وَإِنَّا لَن نَّدْخُلَهَا حَتَّىٰ يَخْرُجُواْ مِنْهَا فَإِن يَخْرُجُواْ مِنْهَا فَإِنَّا دَٰخِلُونَ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Musa, there is a mighty, powerful people in it, and we will not enter it until they leave. If they leave, we will enter.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رَجُلَانِ مِنَ الَّذِينَ يَخَافُونَ أَنْعَمَ اللَّهُ عَلَيْهِمَا ادْخُلُواْ عَلَيْهِمُ الْبَابَ فَإِذَا دَخَلْتُمُوهُ فَإِنَّكُمْ غَٰلِبُونَ وَعَلَى اللَّهِ فَتَوَكَّلُواْ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Two men who feared Allah, whom Allah had blessed with faith, said: Go in at them through the gate; once you enter it, you will win. Put your trust in Allah, if you are 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يَٰمُوسَىٰ إِنَّا لَن نَّدْخُلَهَآ أَبَدًا مَّا دَامُواْ فِيهَا فَاذْهَبْ أَنتَ وَرَبُّكَ فَقَٰتِلَآ إِنَّا هَٰهُنَا قَٰعِدُونَ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Musa, we will never enter it as long as they are there. So go, you and your Lord, and fight; we will sit right here.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لَآ أَمْلِكُ إِلَّا نَفْسِي وَأَخِي فَافْرُقْ بَيْنَنَا وَبَيْنَ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My Lord, I have power only over myself and my brother Harun, so separate us from the people who disobey You.</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فَإِنَّهَا مُحَرَّمَةٌ عَلَيْهِمْ أَرْبَعِينَ سَنَةً يَتِيهُونَ فِي الْأَرْضِ فَلَا تَأْسَ عَلَى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Then it is forbidden to them for forty years; they will wander lost in the land. So do not grieve over the disobedient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Adam's Two Sons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27 – 40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Some people from the tribes of 'Ukl and 'Uraynah came to Madinah and accepted Islam, then fell ill. The Prophet (peace be upon him) told them to go out to the charity camels, and they recovered. Then they killed the herdsman and stole the camels, so the verse about the punishment of those who wage war was revealed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Adam's two sons and the first murder, how sacred human life is, the punishment for those who spread corruption on earth and for thieves, and that the door of repentance is open.</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وَاتْلُ عَلَيْهِمْ نَبَأَ ابْنَيْ ءَادَمَ بِالْحَقِّ إِذْ قَرَّبَا قُرْبَانًا فَتُقُبِّلَ مِنْ أَحَدِهِمَا وَلَمْ يُتَقَبَّلْ مِنَ الْأخَرِ قَالَ لَأَقْتُلَنَّكَ قَالَ إِنَّمَا يَتَقَبَّلُ اللَّهُ مِنَ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to them the true story of Adam's two sons, when each offered a sacrifice. It was accepted from one and not from the other. The envious one said: I will kill you. The other said: Allah only accepts from those with taqwa.</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لَئِن بَسَطتَ إِلَيَّ يَدَكَ لِتَقْتُلَنِي مَآ أَنَا بِبَاسِطٍ يَدِيَ إِلَيْكَ لِأَقْتُلَكَ إِنِّي أَخَافُ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stretch out your hand to kill me, I will not stretch out my hand to kill you. I fear Allah,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أُرِيدُ أَن تَبُوأَ بِإِثْمِي وَإِثْمِكَ فَتَكُونَ مِنْ أَصْحَٰبِ النَّارِ وَذَٰلِكَ جَزَـٰؤُاْ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want you to carry the sin of killing me along with your own sin, so you will be among the people of the Fire; that is the reward of the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فَطَوَّعَتْ لَهُ نَفْسُهُ قَتْلَ أَخِيهِ فَقَتَلَهُ فَأَصْبَحَ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his soul made killing his brother seem acceptable to him, so he killed him and became one of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7045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فَبَعَثَ اللَّهُ غُرَابًا يَبْحَثُ فِي الْأَرْضِ لِيُرِيَهُ كَيْفَ يُوَٰرِي سَوْءَةَ أَخِيهِ قَالَ يَٰوَيْلَتَىٰ أَعَجَزْتُ أَنْ أَكُونَ مِثْلَ هَٰذَا الْغُرَابِ فَأُوَٰرِيَ سَوْءَةَ أَخِي فَأَصْبَحَ مِنَ النَّـٰدِمِينَ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Allah sent a crow digging in the ground to show him how to bury his brother's body. He said: Woe to me! Am I unable to be even like this crow and bury my brother? And he became full of regret.</a:t>
            </a:r>
            <a:endParaRPr lang="en-US" sz="3000" dirty="0"/>
          </a:p>
        </p:txBody>
      </p:sp>
      <p:sp>
        <p:nvSpPr>
          <p:cNvPr id="9" name="Shape 7"/>
          <p:cNvSpPr/>
          <p:nvPr/>
        </p:nvSpPr>
        <p:spPr>
          <a:xfrm>
            <a:off x="1444752" y="3550158"/>
            <a:ext cx="8641080" cy="0"/>
          </a:xfrm>
          <a:prstGeom prst="line">
            <a:avLst/>
          </a:prstGeom>
          <a:noFill/>
          <a:ln w="9525">
            <a:solidFill>
              <a:schemeClr val="accent2"/>
            </a:solidFill>
            <a:prstDash val="dash"/>
          </a:ln>
        </p:spPr>
      </p:sp>
      <p:sp>
        <p:nvSpPr>
          <p:cNvPr id="10" name="Shape 8"/>
          <p:cNvSpPr/>
          <p:nvPr/>
        </p:nvSpPr>
        <p:spPr>
          <a:xfrm>
            <a:off x="713232" y="3713607"/>
            <a:ext cx="548640" cy="548640"/>
          </a:xfrm>
          <a:prstGeom prst="star8">
            <a:avLst/>
          </a:prstGeom>
          <a:solidFill>
            <a:schemeClr val="accent2"/>
          </a:solidFill>
          <a:ln/>
        </p:spPr>
      </p:sp>
      <p:sp>
        <p:nvSpPr>
          <p:cNvPr id="11" name="Shape 9"/>
          <p:cNvSpPr/>
          <p:nvPr/>
        </p:nvSpPr>
        <p:spPr>
          <a:xfrm>
            <a:off x="822960" y="382333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1360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695319"/>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أَجْلِ ذَٰلِكَ كَتَبْنَا عَلَىٰ بَنِي إِسْرَـٰءِيلَ أَنَّهُ مَن قَتَلَ نَفْسًا بِغَيْرِ نَفْسٍ أَوْ فَسَادٍ فِي الْأَرْضِ فَكَأَنَّمَا قَتَلَ النَّاسَ جَمِيعًا وَمَنْ أَحْيَاهَا فَكَأَنَّمَآ أَحْيَا النَّاسَ جَمِيعًا وَلَقَدْ جَآءَتْهُمْ رُسُلُنَا بِالْبَيِّنَٰتِ ثُمَّ إِنَّ كَثِيرًا مِّنْهُم بَعْدَ ذَٰلِكَ فِي الْأَرْضِ لَمُسْرِفُونَ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of that, We laid down for the Children of Israel that whoever kills a soul without right, it is as if he killed all mankind, and whoever saves a life, it is as if he saved all mankind.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جَزَـٰؤُاْ الَّذِينَ يُحَارِبُونَ اللَّهَ وَرَسُولَهُ وَيَسْعَوْنَ فِي الْأَرْضِ فَسَادًا أَن يُقَتَّلُواْ أَوْ يُصَلَّبُواْ أَوْ تُقَطَّعَ أَيْدِيهِمْ وَأَرْجُلُهُم مِّنْ خِلَٰفٍ أَوْ يُنفَوْاْ مِنَ الْأَرْضِ ذَٰلِكَ لَهُمْ خِزْيٌ فِي الدُّنْيَا وَلَهُمْ فِي الْأخِرَةِ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of those who wage war against Allah and His Messenger, rob travellers and spread corruption on earth is that they be killed, crucified, have opposite hands and feet cut off, or be exiled from the land. That is disgrace for them in this world, and in the Hereafter they will have a great punishment,</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تَابُواْ مِن قَبْلِ أَن تَقْدِرُواْ عَلَيْهِمْ فَاعْلَمُواْ أَنَّ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before you catch them; know that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وَابْتَغُواْ إِلَيْهِ الْوَسِيلَةَ وَجَٰهِدُواْ فِي سَبِيلِهِ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seek nearness to Him through obedience, and strive in His way so that you may succeed.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لَوْ أَنَّ لَهُم مَّا فِي الْأَرْضِ جَمِيعًا وَمِثْلَهُ مَعَهُ لِيَفْتَدُواْ بِهِ مِنْ عَذَابِ يَوْمِ الْقِيَٰمَةِ مَا تُقُبِّلَ مِنْهُمْ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disbelievers had everything on earth and as much again to ransom themselves from the punishment of the Day of Resurrection, it would not be accepted from them, and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يُرِيدُونَ أَن يَخْرُجُواْ مِنَ النَّارِ وَمَا هُم بِخَٰرِجِينَ مِنْهَا وَلَهُمْ عَذَابٌ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want to get out of the Fire, but they will never get out of it, and they will have a lasting punishment.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وَالسَّارِقُ وَالسَّارِقَةُ فَاقْطَعُواْ أَيْدِيَهُمَا جَزَآءً بِمَا كَسَبَا نَكَٰلًا مِّنَ اللَّهِ وَاللَّهُ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male and female thief, cut off their hands as a repayment for what they stole and a deterrent punishment from Allah. Allah is Almighty, All-Wise.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تَابَ مِن بَعْدِ ظُلْمِهِ وَأَصْلَحَ فَإِنَّ اللَّهَ يَتُوبُ عَلَيْهِ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repents after stealing and corrects his deeds, Allah will accept his repentance.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تَعْلَمْ أَنَّ اللَّهَ لَهُ مُلْكُ السَّمَٰوَٰتِ وَالْأَرْضِ يُعَذِّبُ مَن يَشَآءُ وَيَغْفِرُ لِمَن يَشَآءُ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know that to Allah belongs the kingdom of the heavens and the earth? He punishes whom He wills and forgives whom He wills, and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Judging by Allah's Law</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41 – 50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Some Jews came to the Prophet (peace be upon him) for a judgement in a case, wanting a lighter ruling than the one in the Torah. He judged between them by Allah's ruling, and this was revealed: “O Messenger, do not let those who rush into disbelief sadden you”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Comforting the Prophet (peace be upon him), showing that the Torah and the Injil contain guidance and light, that the Qur'an watches over the earlier Books, and the command to judge by what Allah has sent down.</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الرَّسُولُ لَا يَحْزُنكَ الَّذِينَ يُسَٰرِعُونَ فِي الْكُفْرِ مِنَ الَّذِينَ قَالُواْ ءَامَنَّا بِأَفْوَٰهِهِمْ وَلَمْ تُؤْمِن قُلُوبُهُمْ وَمِنَ الَّذِينَ هَادُواْ سَمَّـٰعُونَ لِلْكَذِبِ سَمَّـٰعُونَ لِقَوْمٍ ءَاخَرِينَ لَمْ يَأْتُوكَ يُحَرِّفُونَ الْكَلِمَ مِن بَعْدِ مَوَاضِعِهِ يَقُولُونَ إِنْ أُوتِيتُمْ هَٰذَا فَخُذُوهُ وَإِن لَّمْ تُؤْتَوْهُ فَاحْذَرُواْ وَمَن يُرِدِ اللَّهُ فِتْنَتَهُ فَلَن تَمْلِكَ لَهُ مِنَ اللَّهِ شَيْـًٔا أُوْلَـٰئِكَ الَّذِينَ لَمْ يُرِدِ اللَّهُ أَن يُطَهِّرَ قُلُوبَهُمْ لَهُمْ فِي الدُّنْيَا خِزْيٌ وَلَهُمْ فِي الْأخِرَةِ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Messenger, do not let those who rush into disbelief among the hypocrites and Jews sadden you: those who listen to lies, twist words, and say: If you are given this ruling, take it; otherwise beware. Allah did not want to purify their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سَمَّـٰعُونَ لِلْكَذِبِ أَكَّـٰلُونَ لِلسُّحْتِ فَإِن جَآءُوكَ فَاحْكُم بَيْنَهُمْ أَوْ أَعْرِضْ عَنْهُمْ وَإِن تُعْرِضْ عَنْهُمْ فَلَن يَضُرُّوكَ شَيْـًٔا وَإِنْ حَكَمْتَ فَاحْكُم بَيْنَهُم بِالْقِسْطِ إِنَّ اللَّهَ يُحِبُّ الْمُقْسِطِينَ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listen eagerly to lies and eagerly consume what is forbidden, like bribes. If they come to you, judge between them or turn away from them; and if you judge, judge between them with justice. Allah loves the just.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وَكَيْفَ يُحَكِّمُونَكَ وَعِندَهُمُ التَّوْرَىٰةُ فِيهَا حُكْمُ اللَّهِ ثُمَّ يَتَوَلَّوْنَ مِن بَعْدِ ذَٰلِكَ وَمَآ أُوْلَـٰئِكَ بِالْمُؤْمِنِينَ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can they make you their judge when they have the Torah containing Allah's ruling, and then turn away from it? They are not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أَنزَلْنَا التَّوْرَىٰةَ فِيهَا هُدًى وَنُورٌ يَحْكُمُ بِهَا النَّبِيُّونَ الَّذِينَ أَسْلَمُواْ لِلَّذِينَ هَادُواْ وَالرَّبَّـٰنِيُّونَ وَالْأَحْبَارُ بِمَا اسْتُحْفِظُواْ مِن كِتَٰبِ اللَّهِ وَكَانُواْ عَلَيْهِ شُهَدَآءَ فَلَا تَخْشَوُاْ النَّاسَ وَاخْشَوْنِ وَلَا تَشْتَرُواْ بِـَٔايَٰتِي ثَمَنًا قَلِيلًا وَمَن لَّمْ يَحْكُم بِمَآ أَنزَلَ اللَّهُ فَأُوْلَـٰئِكَ هُمُ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down the Torah containing guidance and light, by which the prophets and scholars judged. So do not fear people, fear Me, and do not sell My verses for a small price. Whoever does not judge by what Allah has sent down, they are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وَكَتَبْنَا عَلَيْهِمْ فِيهَآ أَنَّ النَّفْسَ بِالنَّفْسِ وَالْعَيْنَ بِالْعَيْنِ وَالْأَنفَ بِالْأَنفِ وَالْأُذُنَ بِالْأُذُنِ وَالسِّنَّ بِالسِّنِّ وَالْجُرُوحَ قِصَاصٌ فَمَن تَصَدَّقَ بِهِ فَهُوَ كَفَّارَةٌ لَّهُ وَمَن لَّمْ يَحْكُم بِمَآ أَنزَلَ اللَّهُ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prescribed for them in the Torah: a life for a life, an eye for an eye, a nose for a nose, an ear for an ear, a tooth for a tooth, and for wounds equal retribution. Whoever forgives it, that is an expiation for him. Whoever does not judge by what Allah has sent down, they are the wrongdoers.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وَقَفَّيْنَا عَلَىٰ ءَاثَٰرِهِم بِعِيسَى ابْنِ مَرْيَمَ مُصَدِّقًا لِّمَا بَيْنَ يَدَيْهِ مِنَ التَّوْرَىٰةِ وَءَاتَيْنَٰهُ الْإِنجِيلَ فِيهِ هُدًى وَنُورٌ وَمُصَدِّقًا لِّمَا بَيْنَ يَدَيْهِ مِنَ التَّوْرَىٰةِ وَهُدًى وَمَوْعِظَةً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after the prophets 'Isa son of Maryam, confirming the Torah, and gave him the Injil containing guidance and light, and advice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وَلْيَحْكُمْ أَهْلُ الْإِنجِيلِ بِمَآ أَنزَلَ اللَّهُ فِيهِ وَمَن لَّمْ يَحْكُم بِمَآ أَنزَلَ اللَّهُ فَأُوْلَـٰئِكَ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 people of the Injil judge by what Allah sent down in it. Whoever does not judge by what Allah has sent down, they are the ones who disobey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وَأَنزَلْنَآ إِلَيْكَ الْكِتَٰبَ بِالْحَقِّ مُصَدِّقًا لِّمَا بَيْنَ يَدَيْهِ مِنَ الْكِتَٰبِ وَمُهَيْمِنًا عَلَيْهِ فَاحْكُم بَيْنَهُم بِمَآ أَنزَلَ اللَّهُ وَلَا تَتَّبِعْ أَهْوَآءَهُمْ عَمَّا جَآءَكَ مِنَ الْحَقِّ لِكُلٍّ جَعَلْنَا مِنكُمْ شِرْعَةً وَمِنْهَاجًا وَلَوْ شَآءَ اللَّهُ لَجَعَلَكُمْ أُمَّةً وَٰحِدَةً وَلَٰكِن لِّيَبْلُوَكُمْ فِي مَآ ءَاتَىٰكُمْ فَاسْتَبِقُواْ الْخَيْرَٰتِ إِلَى اللَّهِ مَرْجِعُكُمْ جَمِيعًا فَيُنَبِّئُكُم بِمَا كُنتُمْ فِيهِ تَخْتَلِفُونَ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the Qur'an to you with the truth, confirming the Books before it and judging over them. So judge between them by what Allah has sent down. For each nation We made a law and a way. So race one another to good deeds; to Allah you will all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705356"/>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احْكُم بَيْنَهُم بِمَآ أَنزَلَ اللَّهُ وَلَا تَتَّبِعْ أَهْوَآءَهُمْ وَاحْذَرْهُمْ أَن يَفْتِنُوكَ عَن بَعْضِ مَآ أَنزَلَ اللَّهُ إِلَيْكَ فَإِن تَوَلَّوْاْ فَاعْلَمْ أَنَّمَا يُرِيدُ اللَّهُ أَن يُصِيبَهُم بِبَعْضِ ذُنُوبِهِمْ وَإِنَّ كَثِيرًا مِّنَ النَّاسِ 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Judge between them by what Allah has sent down and do not follow their desires. Beware that they do not turn you away from some of what Allah has sent down to you.</a:t>
            </a:r>
            <a:endParaRPr lang="en-US" sz="3000" dirty="0"/>
          </a:p>
        </p:txBody>
      </p:sp>
      <p:sp>
        <p:nvSpPr>
          <p:cNvPr id="9" name="Shape 7"/>
          <p:cNvSpPr/>
          <p:nvPr/>
        </p:nvSpPr>
        <p:spPr>
          <a:xfrm>
            <a:off x="1444752" y="4242816"/>
            <a:ext cx="8641080" cy="0"/>
          </a:xfrm>
          <a:prstGeom prst="line">
            <a:avLst/>
          </a:prstGeom>
          <a:noFill/>
          <a:ln w="9525">
            <a:solidFill>
              <a:schemeClr val="accent2"/>
            </a:solidFill>
            <a:prstDash val="dash"/>
          </a:ln>
        </p:spPr>
      </p:sp>
      <p:sp>
        <p:nvSpPr>
          <p:cNvPr id="10" name="Shape 8"/>
          <p:cNvSpPr/>
          <p:nvPr/>
        </p:nvSpPr>
        <p:spPr>
          <a:xfrm>
            <a:off x="713232" y="4475988"/>
            <a:ext cx="548640" cy="548640"/>
          </a:xfrm>
          <a:prstGeom prst="star8">
            <a:avLst/>
          </a:prstGeom>
          <a:solidFill>
            <a:schemeClr val="accent2"/>
          </a:solidFill>
          <a:ln/>
        </p:spPr>
      </p:sp>
      <p:sp>
        <p:nvSpPr>
          <p:cNvPr id="11" name="Shape 9"/>
          <p:cNvSpPr/>
          <p:nvPr/>
        </p:nvSpPr>
        <p:spPr>
          <a:xfrm>
            <a:off x="822960" y="458571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759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445770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أَفَحُكْمَ الْجَٰهِلِيَّةِ يَبْغُونَ وَمَنْ أَحْسَنُ مِنَ اللَّهِ حُكْمًا لِّقَوْمٍ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want the judgement of the time of ignorance? And who is better than Allah in judgement for people who are certain?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Loyalty to the Believers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51 – 66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'Ubadah ibn As-Samit (may Allah be pleased with him) cut off his alliance with the Jews of Banu Qaynuqa' when they fought the Muslims, while the hypocrite 'Abdullah ibn Ubayy held on to it, saying: I fear bad times. So this was revealed: “O believers, do not take the Jews and Christians as allies”.</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Forbidding taking the enemies of the religion as allies, the qualities of the people whom Allah loves and who love Him, that Allah's party will win, and exposing some sayings of the People of the Book.</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الْيَهُودَ وَالنَّصَٰرَىٰ أَوْلِيَآءَ بَعْضُهُمْ أَوْلِيَآءُ بَعْضٍ وَمَن يَتَوَلَّهُم مِّنكُمْ فَإِنَّهُ مِنْهُمْ إِنَّ 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the Jews and Christians as allies and loved ones instead of the believers. They are allies of one another, and whoever of you takes them as allies is one of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فَتَرَى الَّذِينَ فِي قُلُوبِهِم مَّرَضٌ يُسَٰرِعُونَ فِيهِمْ يَقُولُونَ نَخْشَىٰ أَن تُصِيبَنَا دَآئِرَةٌ فَعَسَى اللَّهُ أَن يَأْتِيَ بِالْفَتْحِ أَوْ أَمْرٍ مِّنْ عِندِهِ فَيُصْبِحُواْ عَلَىٰ مَآ أَسَرُّواْ فِي أَنفُسِهِمْ نَٰدِمِينَ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see the hypocrites rushing to ally with them, saying: We fear a disaster may strike us. But perhaps Allah will bring victory, and they will regret what they hid.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الَّذِينَ ءَامَنُواْ أَهَـٰؤُلَآءِ الَّذِينَ أَقْسَمُواْ بِاللَّهِ جَهْدَ أَيْمَٰنِهِمْ إِنَّهُمْ لَمَعَكُمْ حَبِطَتْ أَعْمَٰلُهُمْ فَأَصْبَحُواْ 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will say in surprise: Are these the ones who swore by Allah their strongest oaths that they were with you? Their deeds are lost, and they have become losers.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مَن يَرْتَدَّ مِنكُمْ عَن دِينِهِ فَسَوْفَ يَأْتِي اللَّهُ بِقَوْمٍ يُحِبُّهُمْ وَيُحِبُّونَهُ أَذِلَّةٍ عَلَى الْمُؤْمِنِينَ أَعِزَّةٍ عَلَى الْكَٰفِرِينَ يُجَٰهِدُونَ فِي سَبِيلِ اللَّهِ وَلَا يَخَافُونَ لَوْمَةَ لَآئِمٍ ذَٰلِكَ فَضْلُ اللَّهِ يُؤْتِيهِ مَن يَشَآءُ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whoever of you turns back from his religion, Allah will bring a people He loves and who love Him, gentle with the believers, firm against the disbelievers, striving in the way of Allah and not fearing anyone's blame. That is Allah's favour; He gives it to whom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وَلِيُّكُمُ اللَّهُ وَرَسُولُهُ وَالَّذِينَ ءَامَنُواْ الَّذِينَ يُقِيمُونَ الصَّلَوٰةَ وَيُؤْتُونَ الزَّكَوٰةَ وَهُمْ رَٰكِعُونَ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only allies are Allah, His Messenger and the believers who perform the prayer, give the zakah and humble themselves before Allah.</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يَتَوَلَّ اللَّهَ وَرَسُولَهُ وَالَّذِينَ ءَامَنُواْ فَإِنَّ حِزْبَ اللَّهِ هُمُ الْغَٰلِبُونَ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takes Allah, His Messenger and the believers as allies, the party of Allah will be the ones who win.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الَّذِينَ اتَّخَذُواْ دِينَكُمْ هُزُوًا وَلَعِبًا مِّنَ الَّذِينَ أُوتُواْ الْكِتَٰبَ مِن قَبْلِكُمْ وَالْكُفَّارَ أَوْلِيَآءَ وَاتَّقُواْ اللَّهَ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as allies those of the People of the Book and the disbelievers who make your religion a joke and a game. Have taqwa of Allah, if you are 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نَادَيْتُمْ إِلَى الصَّلَوٰةِ اتَّخَذُوهَا هُزُوًا وَلَعِبًا ذَٰلِكَ بِأَنَّهُمْ قَوْمٌ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call to prayer, they make it a joke and a game, because they are a people who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هَلْ تَنقِمُونَ مِنَّآ إِلَّآ أَنْ ءَامَنَّا بِاللَّهِ وَمَآ أُنزِلَ إِلَيْنَا وَمَآ أُنزِلَ مِن قَبْلُ وَأَنَّ أَكْثَرَكُمْ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do you blame us for anything except that we believe in Allah, in what was sent down to us and what was sent down before, while most of you have left Allah's obedience?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 أُنَبِّئُكُم بِشَرٍّ مِّن ذَٰلِكَ مَثُوبَةً عِندَ اللَّهِ مَن لَّعَنَهُ اللَّهُ وَغَضِبَ عَلَيْهِ وَجَعَلَ مِنْهُمُ الْقِرَدَةَ وَالْخَنَازِيرَ وَعَبَدَ الطَّـٰغُوتَ أُوْلَـٰئِكَ شَرٌّ مَّكَانًا وَأَضَلُّ عَن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Shall I tell you who has a worse reward with Allah? Those whom Allah cursed and was angry with, some of whom He turned into apes and pigs, and who worshipped false gods. They are in a worse place and further from the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جَآءُوكُمْ قَالُواْ ءَامَنَّا وَقَد دَّخَلُواْ بِالْكُفْرِ وَهُمْ قَدْ خَرَجُواْ بِهِ وَاللَّهُ أَعْلَمُ بِمَا كَانُواْ يَكْتُمُونَ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come to you they say: We believe, but they came in with disbelief and left with it, and Allah knows best what they hide.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كَثِيرًا مِّنْهُمْ يُسَٰرِعُونَ فِي الْإِثْمِ وَالْعُدْوَٰنِ وَأَكْلِهِمُ السُّحْتَ لَبِئْسَ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see many of them rushing into sin, injustice and consuming what is forbidden. How evil is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لَوْلَا يَنْهَىٰهُمُ الرَّبَّـٰنِيُّونَ وَالْأَحْبَارُ عَن قَوْلِهِمُ الْإِثْمَ وَأَكْلِهِمُ السُّحْتَ لَبِئْسَ مَا كَانُواْ يَصْنَعُونَ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do their scholars not stop them from their sinful words and consuming what is forbidden? How evil is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370457"/>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الْيَهُودُ يَدُ اللَّهِ مَغْلُولَةٌ غُلَّتْ أَيْدِيهِمْ وَلُعِنُواْ بِمَا قَالُواْ بَلْ يَدَاهُ مَبْسُوطَتَانِ يُنفِقُ كَيْفَ يَشَآءُ وَلَيَزِيدَنَّ كَثِيرًا مِّنْهُم مَّآ أُنزِلَ إِلَيْكَ مِن رَّبِّكَ طُغْيَٰنًا وَكُفْرًا وَأَلْقَيْنَا بَيْنَهُمُ الْعَدَٰوَةَ وَالْبَغْضَآءَ إِلَىٰ يَوْمِ الْقِيَٰمَةِ كُلَّمَآ أَوْقَدُواْ نَارًا لِّلْحَرْبِ أَطْفَأَهَا اللَّهُ وَيَسْعَوْنَ فِي الْأَرْضِ فَسَادًا وَاللَّهُ لَا يُحِبُّ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said: Allah's hand is tied back from giving. Their own hands are tied, and they are cursed for what they said. Rather, both His hands are stretched out; He gives as He wills. We put hostility and hatred between them; whenever they light a fire of war, Allah puts it out.</a:t>
            </a:r>
            <a:endParaRPr lang="en-US" sz="3000" dirty="0"/>
          </a:p>
        </p:txBody>
      </p:sp>
      <p:sp>
        <p:nvSpPr>
          <p:cNvPr id="9" name="Shape 7"/>
          <p:cNvSpPr/>
          <p:nvPr/>
        </p:nvSpPr>
        <p:spPr>
          <a:xfrm>
            <a:off x="1444752" y="4647438"/>
            <a:ext cx="8641080" cy="0"/>
          </a:xfrm>
          <a:prstGeom prst="line">
            <a:avLst/>
          </a:prstGeom>
          <a:noFill/>
          <a:ln w="9525">
            <a:solidFill>
              <a:schemeClr val="accent2"/>
            </a:solidFill>
            <a:prstDash val="dash"/>
          </a:ln>
        </p:spPr>
      </p:sp>
      <p:sp>
        <p:nvSpPr>
          <p:cNvPr id="10" name="Shape 8"/>
          <p:cNvSpPr/>
          <p:nvPr/>
        </p:nvSpPr>
        <p:spPr>
          <a:xfrm>
            <a:off x="713232" y="4810887"/>
            <a:ext cx="548640" cy="548640"/>
          </a:xfrm>
          <a:prstGeom prst="star8">
            <a:avLst/>
          </a:prstGeom>
          <a:solidFill>
            <a:schemeClr val="accent2"/>
          </a:solidFill>
          <a:ln/>
        </p:spPr>
      </p:sp>
      <p:sp>
        <p:nvSpPr>
          <p:cNvPr id="11" name="Shape 9"/>
          <p:cNvSpPr/>
          <p:nvPr/>
        </p:nvSpPr>
        <p:spPr>
          <a:xfrm>
            <a:off x="822960" y="492061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1088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4792599"/>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 أَهْلَ الْكِتَٰبِ ءَامَنُواْ وَاتَّقَوْاْ لَكَفَّرْنَا عَنْهُمْ سَيِّـَٔاتِهِمْ وَلَأَدْخَلْنَٰهُمْ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People of the Book had believed and had taqwa, We would have wiped away their bad deeds and admitted them to the Gardens of Bliss.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أَنَّهُمْ أَقَامُواْ التَّوْرَىٰةَ وَالْإِنجِيلَ وَمَآ أُنزِلَ إِلَيْهِم مِّن رَّبِّهِمْ لَأَكَلُواْ مِن فَوْقِهِمْ وَمِن تَحْتِ أَرْجُلِهِم مِّنْهُمْ أُمَّةٌ مُّقْتَصِدَةٌ وَكَثِيرٌ مِّنْهُمْ سَآءَ 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acted on the Torah, the Injil and the Qur'an, Allah would have given them plenty of provision from above them and from beneath their feet. Among them is a moderate group, but many of them do 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Delivering the Message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67 – 86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'A'ishah said: The Prophet (peace be upon him) used to be guarded until “And Allah will protect you from people” was revealed. He put his head out of the tent and said: "O people, go away, for Allah has protected me" (Tirmidhi).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command to the Prophet (peace be upon him) to deliver the message completely, with Allah's promise to protect him; inviting the People of the Book to act on their Books; a reply to calling the Messiah God; and praise for those of them who believed.</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الرَّسُولُ بَلِّغْ مَآ أُنزِلَ إِلَيْكَ مِن رَّبِّكَ وَإِن لَّمْ تَفْعَلْ فَمَا بَلَّغْتَ رِسَالَتَهُ وَاللَّهُ يَعْصِمُكَ مِنَ النَّاسِ إِنَّ اللَّهَ لَا يَهْدِي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Messenger, deliver completely what has been sent down to you from your Lord. If you do not, you have not delivered His message. Allah will protect you from people. Allah does not guide the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لَسْتُمْ عَلَىٰ شَيْءٍ حَتَّىٰ تُقِيمُواْ التَّوْرَىٰةَ وَالْإِنجِيلَ وَمَآ أُنزِلَ إِلَيْكُم مِّن رَّبِّكُمْ وَلَيَزِيدَنَّ كَثِيرًا مِّنْهُم مَّآ أُنزِلَ إِلَيْكَ مِن رَّبِّكَ طُغْيَٰنًا وَكُفْرًا فَلَا تَأْسَ عَلَى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you have nothing of religion until you act on the Torah, the Injil and the Qur'an. What has been sent down to you will increase many of them in rebellion and disbelief, so do not grieve over the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وَالصَّـٰبِـُٔونَ وَالنَّصَٰرَىٰ مَنْ ءَامَنَ بِاللَّهِ وَالْيَوْمِ الْأخِرِ وَعَمِلَ صَٰلِحًا فَلَا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the Jews, the Sabians and the Christians: whoever of them believes in Allah and the Last Day (and that includes believing in Muhammad (peace be upon him) after he was sent) and does good will have no fear and will not grieve.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أَخَذْنَا مِيثَٰقَ بَنِي إِسْرَـٰءِيلَ وَأَرْسَلْنَآ إِلَيْهِمْ رُسُلًا كُلَّمَا جَآءَهُمْ رَسُولٌ بِمَا لَا تَهْوَىٰ أَنفُسُهُمْ فَرِيقًا كَذَّبُواْ وَفَرِيقًا يَقْتُلُونَ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took the covenant of the Children of Israel and sent messengers to them. Whenever a messenger came to them with what they did not like, some they denied and some they killed.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وَحَسِبُواْ أَلَّا تَكُونَ فِتْنَةٌ فَعَمُواْ وَصَمُّواْ ثُمَّ تَابَ اللَّهُ عَلَيْهِمْ ثُمَّ عَمُواْ وَصَمُّواْ كَثِيرٌ مِّنْهُمْ وَاللَّهُ بَصِيرٌ بِمَا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thought no punishment would come to them, so they became blind and deaf to the truth. Then Allah accepted their repentance, then many of them became blind and deaf again. Allah sees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كَفَرَ الَّذِينَ قَالُواْ إِنَّ اللَّهَ هُوَ الْمَسِيحُ ابْنُ مَرْيَمَ وَقَالَ الْمَسِيحُ يَٰبَنِي إِسْرَـٰءِيلَ اعْبُدُواْ اللَّهَ رَبِّي وَرَبَّكُمْ إِنَّهُ مَن يُشْرِكْ بِاللَّهِ فَقَدْ حَرَّمَ اللَّهُ عَلَيْهِ الْجَنَّةَ وَمَأْوَىٰهُ النَّارُ وَمَا لِلظَّـٰلِمِينَ مِنْ أَنصَارٍ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Allah is the Messiah, son of Maryam, have disbelieved. The Messiah himself said: O Children of Israel, worship Allah, my Lord and your Lord. Whoever associates partners with Allah, Allah has forbidden Paradise for him, and his home is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كَفَرَ الَّذِينَ قَالُواْ إِنَّ اللَّهَ ثَالِثُ ثَلَٰثَةٍ وَمَا مِنْ إِلَٰهٍ إِلَّآ إِلَٰهٌ وَٰحِدٌ وَإِن لَّمْ يَنتَهُواْ عَمَّا يَقُولُونَ لَيَمَسَّنَّ الَّذِينَ كَفَرُواْ مِنْهُمْ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Allah is the third of three have disbelieved. There is no god worthy of worship but One God. If they do not stop what they say, a painful punishment will strike the disbelievers among them.</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يَتُوبُونَ إِلَى اللَّهِ وَيَسْتَغْفِرُونَهُ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they not turn to Allah in repentance and ask His forgiveness?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الْمَسِيحُ ابْنُ مَرْيَمَ إِلَّا رَسُولٌ قَدْ خَلَتْ مِن قَبْلِهِ الرُّسُلُ وَأُمُّهُ صِدِّيقَةٌ كَانَا يَأْكُلَانِ الطَّعَامَ انظُرْ كَيْفَ نُبَيِّنُ لَهُمُ الْأيَٰتِ ثُمَّ انظُرْ أَنَّىٰ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Messiah, son of Maryam, was only a messenger; messengers passed away before him. His mother was a truthful believer. They both ate food like all humans. See how We make the signs clear to them, then see how they are turned away from the truth.</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أَتَعْبُدُونَ مِن دُونِ اللَّهِ مَا لَا يَمْلِكُ لَكُمْ ضَرًّا وَلَا نَفْعًا وَاللَّهُ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Do you worship besides Allah what has no power to harm or benefit you? Allah is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لَا تَغْلُواْ فِي دِينِكُمْ غَيْرَ الْحَقِّ وَلَا تَتَّبِعُواْ أَهْوَآءَ قَوْمٍ قَدْ ضَلُّواْ مِن قَبْلُ وَأَضَلُّواْ كَثِيرًا وَضَلُّواْ عَن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do not go to extremes in your religion beyond the truth, and do not follow the desires of a people who went astray before, misled many, and strayed from the right path.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لُعِنَ الَّذِينَ كَفَرُواْ مِن بَنِي إِسْرَـٰءِيلَ عَلَىٰ لِسَانِ دَاوُدَ وَعِيسَى ابْنِ مَرْيَمَ ذَٰلِكَ بِمَا عَصَواْ وَّكَانُواْ يَعْتَدُونَ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among the Children of Israel were cursed by the tongue of Dawud and 'Isa son of Maryam, because they disobeyed and transgressed.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كَانُواْ لَا يَتَنَاهَوْنَ عَن مُّنكَرٍ فَعَلُوهُ لَبِئْسَ مَا كَانُواْ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did not stop one another from the evil they did. How evil is what they used to do!</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تَرَىٰ كَثِيرًا مِّنْهُمْ يَتَوَلَّوْنَ الَّذِينَ كَفَرُواْ لَبِئْسَ مَا قَدَّمَتْ لَهُمْ أَنفُسُهُمْ أَن سَخِطَ اللَّهُ عَلَيْهِمْ وَفِي الْعَذَابِ هُمْ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see many of them allying with the idol-worshippers. How evil is what they have sent ahead for themselves: Allah's anger is on them, and they will stay in the punishment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كَانُواْ يُؤْمِنُونَ بِاللَّهِ وَالنَّبِيِّ وَمَآ أُنزِلَ إِلَيْهِ مَا اتَّخَذُوهُمْ أَوْلِيَآءَ وَلَٰكِنَّ كَثِيرًا مِّنْهُمْ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believed in Allah, the Prophet and what was sent down to him, they would not have taken them as allies, but many of them have left Allah's obedience.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لَتَجِدَنَّ أَشَدَّ النَّاسِ عَدَٰوَةً لِّلَّذِينَ ءَامَنُواْ الْيَهُودَ وَالَّذِينَ أَشْرَكُواْ وَلَتَجِدَنَّ أَقْرَبَهُم مَّوَدَّةً لِّلَّذِينَ ءَامَنُواْ الَّذِينَ قَالُواْ إِنَّا نَصَٰرَىٰ ذَٰلِكَ بِأَنَّ مِنْهُمْ قِسِّيسِينَ وَرُهْبَانًا وَأَنَّهُمْ لَا يَسْتَكْبِرُونَ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find the strongest in hostility to the believers to be the Jews and the idol-worshippers, and you will find the nearest in love to the believers those who say: We are Christians, because among them are scholars and worshippers, and they are not arrogant.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سَمِعُواْ مَآ أُنزِلَ إِلَى الرَّسُولِ تَرَىٰ أَعْيُنَهُمْ تَفِيضُ مِنَ الدَّمْعِ مِمَّا عَرَفُواْ مِنَ الْحَقِّ يَقُولُونَ رَبَّنَآ ءَامَنَّا فَاكْتُبْنَا مَعَ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hear the Qur'an, you see their eyes overflowing with tears because of the truth they recognise. They say: Our Lord, we believe, so write us among the witnesses. Ibn Kathir mentions it was revealed about An-Najashi and his companions.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لَنَا لَا نُؤْمِنُ بِاللَّهِ وَمَا جَآءَنَا مِنَ الْحَقِّ وَنَطْمَعُ أَن يُدْخِلَنَا رَبُّنَا مَعَ الْقَوْمِ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why should we not believe in Allah and the truth that has come to us, when we hope our Lord will admit us with the righteous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فَأَثَٰبَهُمُ اللَّهُ بِمَا قَالُواْ جَنَّـٰتٍ تَجْرِي مِن تَحْتِهَا الْأَنْهَٰرُ خَٰلِدِينَ فِيهَا وَذَٰلِكَ جَزَآءُ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rewarded them for what they said with Gardens with rivers flowing beneath them, staying there forever. That is the reward of those who do good.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disbelieve and deny Our verses are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Good Things, Oaths and Wine</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87 – 93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Anas said: I was serving drinks to the people in the house of Abu Talhah when the prohibition of wine came. It was poured out until it ran in the streets of Madinah. Some said: People were killed while it was in their stomachs! So Allah revealed: “There is no blame on those who believe and do good deeds for what they ate before”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Forbidding making good things unlawful for oneself, the expiation for oaths, the final prohibition of wine and gambling, and that they cause hatred and keep people from remembering Allah.</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تُحَرِّمُواْ طَيِّبَٰتِ مَآ أَحَلَّ اللَّهُ لَكُمْ وَلَا تَعْتَدُواْ إِنَّ اللَّهَ لَا يُحِبُّ الْمُعْتَدِينَ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forbid yourselves the good things Allah has made lawful for you, and do not overstep His limits. Allah does not love those who overstep.</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وَكُلُواْ مِمَّا رَزَقَكُمُ اللَّهُ حَلَٰلًا طَيِّبًا وَاتَّقُواْ اللَّهَ الَّذِي أَنتُم بِهِ 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Eat from what Allah has provided you, lawful and good, and have taqwa of Allah, in whom you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يُؤَاخِذُكُمُ اللَّهُ بِاللَّغْوِ فِي أَيْمَٰنِكُمْ وَلَٰكِن يُؤَاخِذُكُم بِمَا عَقَّدتُّمُ الْأَيْمَٰنَ فَكَفَّـٰرَتُهُ إِطْعَامُ عَشَرَةِ مَسَٰكِينَ مِنْ أَوْسَطِ مَا تُطْعِمُونَ أَهْلِيكُمْ أَوْ كِسْوَتُهُمْ أَوْ تَحْرِيرُ رَقَبَةٍ فَمَن لَّمْ يَجِدْ فَصِيَامُ ثَلَٰثَةِ أَيَّامٍ ذَٰلِكَ كَفَّـٰرَةُ أَيْمَٰنِكُمْ إِذَا حَلَفْتُمْ وَاحْفَظُواْ أَيْمَٰنَكُمْ كَذَٰلِكَ يُبَيِّنُ اللَّهُ لَكُمْ ءَايَٰتِهِ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punish you for oaths that slip from the tongue without intention, but for oaths you intended and then broke. Its expiation is feeding ten poor people, or clothing them, or freeing a slave. Whoever cannot find that must fast three days. Keep your oaths.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إِنَّمَا الْخَمْرُ وَالْمَيْسِرُ وَالْأَنصَابُ وَالْأَزْلَٰمُ رِجْسٌ مِّنْ عَمَلِ الشَّيْطَٰنِ فَاجْتَنِبُوهُ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wine, gambling, idols and arrows for seeking fortunes are filth and sin made attractive by Satan, so stay away from them so that you may succeed.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يُرِيدُ الشَّيْطَٰنُ أَن يُوقِعَ بَيْنَكُمُ الْعَدَٰوَةَ وَالْبَغْضَآءَ فِي الْخَمْرِ وَالْمَيْسِرِ وَيَصُدَّكُمْ عَن ذِكْرِ اللَّهِ وَعَنِ الصَّلَوٰةِ فَهَلْ أَنتُم مُّنتَهُونَ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only wants to cause hostility and hatred between you through wine and gambling, and to keep you from remembering Allah and from prayer. So will you stop? The Companions said: We have stopped, our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وَأَطِيعُواْ اللَّهَ وَأَطِيعُواْ الرَّسُولَ وَاحْذَرُواْ فَإِن تَوَلَّيْتُمْ فَاعْلَمُواْ أَنَّمَا عَلَىٰ رَسُولِنَا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Obey Allah, obey the Messenger, and beware of disobeying them. If you turn away, know that Our Messenger's duty is only to deliver the message clearly.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عَلَى الَّذِينَ ءَامَنُواْ وَعَمِلُواْ الصَّـٰلِحَٰتِ جُنَاحٌ فِيمَا طَعِمُواْ إِذَا مَا اتَّقَواْ وَّءَامَنُواْ وَعَمِلُواْ الصَّـٰلِحَٰتِ ثُمَّ اتَّقَواْ وَّءَامَنُواْ ثُمَّ اتَّقَواْ وَّأَحْسَنُواْ وَاللَّهُ يُحِبُّ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the believers who died before wine was forbidden for what they drank, as long as they had taqwa of Allah, believed and did good deeds. Allah loves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Hunting in Ihram; Questions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94 – 108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Prophet (peace be upon him) gave a speech one day, and a man asked: Who is my father? He said: "So-and-so." So this was revealed: “O believers, do not ask about things which, if made clear to you, would upset you”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Forbidding hunting while in ihram, the status of the Ka'bah, forbidding asking too many useless questions, cancelling customs from before Islam, and the rulings on witnesses to a will during travel.</a:t>
            </a:r>
            <a:endParaRPr lang="en-US" sz="1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لَيَبْلُوَنَّكُمُ اللَّهُ بِشَيْءٍ مِّنَ الصَّيْدِ تَنَالُهُ أَيْدِيكُمْ وَرِمَاحُكُمْ لِيَعْلَمَ اللَّهُ مَن يَخَافُهُ بِالْغَيْبِ فَمَنِ اعْتَدَىٰ بَعْدَ ذَٰلِكَ فَلَهُ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Allah will test you while in ihram with some game close by, within reach of your hands and spears, to make known who fears Him unseen. Whoever oversteps after that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تَقْتُلُواْ الصَّيْدَ وَأَنتُمْ حُرُمٌ وَمَن قَتَلَهُ مِنكُم مُّتَعَمِّدًا فَجَزَآءٌ مِّثْلُ مَا قَتَلَ مِنَ النَّعَمِ يَحْكُمُ بِهِ ذَوَا عَدْلٍ مِّنكُمْ هَدْيًا بَٰلِغَ الْكَعْبَةِ أَوْ كَفَّـٰرَةٌ طَعَامُ مَسَٰكِينَ أَوْ عَدْلُ ذَٰلِكَ صِيَامًا لِّيَذُوقَ وَبَالَ أَمْرِهِ عَفَا اللَّهُ عَمَّا سَلَفَ وَمَنْ عَادَ فَيَنتَقِمُ اللَّهُ مِنْهُ وَاللَّهُ عَزِيزٌ ذُو انتِقَامٍ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kill game while you are in ihram. Whoever kills it deliberately must slaughter an animal like it from camels, cattle or sheep, as judged by two just men, or feed poor people, or fast, so that he tastes the result of his deed.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أُحِلَّ لَكُمْ صَيْدُ الْبَحْرِ وَطَعَامُهُ مَتَٰعًا لَّكُمْ وَلِلسَّيَّارَةِ وَحُرِّمَ عَلَيْكُمْ صَيْدُ الْبَرِّ مَا دُمْتُمْ حُرُمًا وَاتَّقُواْ اللَّهَ الَّذِي 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Fish from the sea and its food are lawful for you, as provision for you and for travellers, but hunting land game is forbidden to you while in ihram. Have taqwa of Allah, to whom you will be gathered.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جَعَلَ اللَّهُ الْكَعْبَةَ الْبَيْتَ الْحَرَامَ قِيَٰمًا لِّلنَّاسِ وَالشَّهْرَ الْحَرَامَ وَالْهَدْيَ وَالْقَلَـٰئِدَ ذَٰلِكَ لِتَعْلَمُواْ أَنَّ اللَّهَ يَعْلَمُ مَا فِي السَّمَٰوَٰتِ وَمَا فِي الْأَرْضِ وَأَنَّ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made the Ka'bah, the Sacred House, a support for people's affairs in their religion and worldly life, and also the sacred month and the sacrificial animals, so that you know that Allah knows what is in the heavens and on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اعْلَمُواْ أَنَّ اللَّهَ شَدِيدُ الْعِقَابِ وَأَنَّ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Allah is severe in punishment for those who disobey Him, and that Allah is Forgiving, Most Merciful to those who repent.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عَلَى الرَّسُولِ إِلَّا الْبَلَٰغُ وَاللَّهُ يَعْلَمُ مَا تُبْدُونَ وَمَا تَكْتُمُونَ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Messenger's duty is only to deliver the message, and Allah knows what you show and what you hide.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100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يَسْتَوِي الْخَبِيثُ وَالطَّيِّبُ وَلَوْ أَعْجَبَكَ كَثْرَةُ الْخَبِيثِ فَاتَّقُواْ اللَّهَ يَـٰأُوْلِي الْأَلْبَٰبِ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unlawful and the lawful are not equal, nor the bad and the good, even if the abundance of the unlawful impresses you. So have taqwa of Allah, O people of understanding, so that you may succeed.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تَسْـَٔلُواْ عَنْ أَشْيَآءَ إِن تُبْدَ لَكُمْ تَسُؤْكُمْ وَإِن تَسْـَٔلُواْ عَنْهَا حِينَ يُنَزَّلُ الْقُرْءَانُ تُبْدَ لَكُمْ عَفَا اللَّهُ عَنْهَا وَاللَّهُ غَفُورٌ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ask about things not mentioned to you which, if made clear to you, would upset you. If you ask about them while the Qur'an is being sent down, they will be made clear to you. Allah has pardoned that; Allah is Forgiving, Forbearing.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سَأَلَهَا قَوْمٌ مِّن قَبْلِكُمْ ثُمَّ أَصْبَحُواْ بِهَا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people before you asked such questions, then when they were answered, they did not act on them and became disbelievers.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جَعَلَ اللَّهُ مِن بَحِيرَةٍ وَلَا سَآئِبَةٍ وَلَا وَصِيلَةٍ وَلَا حَامٍ وَلَٰكِنَّ الَّذِينَ كَفَرُواْ يَفْتَرُونَ عَلَى اللَّهِ الْكَذِبَ وَأَكْثَرُهُمْ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did not make "bahirah", "sa'ibah", "wasilah" or "ham" forbidden; these were animals the idol-worshippers made forbidden and left for their idols. But the disbelievers lie about Allah, and most of them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تَعَالَوْاْ إِلَىٰ مَآ أَنزَلَ اللَّهُ وَإِلَى الرَّسُولِ قَالُواْ حَسْبُنَا مَا وَجَدْنَا عَلَيْهِ ءَابَآءَنَآ أَوَلَوْ كَانَ ءَابَآؤُهُمْ لَا يَعْلَمُونَ شَيْـًٔا وَلَا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Come to what Allah has sent down and to the Messenger, they say: What we found our fathers doing is enough for us. Even if their fathers knew nothing and were not guided?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عَلَيْكُمْ أَنفُسَكُمْ لَا يَضُرُّكُم مَّن ضَلَّ إِذَا اهْتَدَيْتُمْ إِلَى اللَّهِ مَرْجِعُكُمْ جَمِيعًا فَيُنَبِّئُكُم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look after yourselves by obeying Allah. Those who go astray cannot harm you if you are guided and command good and forbid evil. To Allah you will all return, and He will tell you what you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شَهَٰدَةُ بَيْنِكُمْ إِذَا حَضَرَ أَحَدَكُمُ الْمَوْتُ حِينَ الْوَصِيَّةِ اثْنَانِ ذَوَا عَدْلٍ مِّنكُمْ أَوْ ءَاخَرَانِ مِنْ غَيْرِكُمْ إِنْ أَنتُمْ ضَرَبْتُمْ فِي الْأَرْضِ فَأَصَٰبَتْكُم مُّصِيبَةُ الْمَوْتِ تَحْبِسُونَهُمَا مِن بَعْدِ الصَّلَوٰةِ فَيُقْسِمَانِ بِاللَّهِ إِنِ ارْتَبْتُمْ لَا نَشْتَرِي بِهِ ثَمَنًا وَلَوْ كَانَ ذَا قُرْبَىٰ وَلَا نَكْتُمُ شَهَٰدَةَ اللَّهِ إِنَّآ إِذًا لَّمِنَ الْأثِمِينَ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death approaches one of you and he wants to make a will, let him call two just Muslim men as witnesses, or two men from others if you are travelling. If you doubt their honesty, keep them after the prayer and let them swear by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107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عُثِرَ عَلَىٰ أَنَّهُمَا اسْتَحَقَّآ إِثْمًا فَـَٔاخَرَانِ يَقُومَانِ مَقَامَهُمَا مِنَ الَّذِينَ اسْتَحَقَّ عَلَيْهِمُ الْأَوْلَيَٰنِ فَيُقْسِمَانِ بِاللَّهِ لَشَهَٰدَتُنَآ أَحَقُّ مِن شَهَٰدَتِهِمَا وَمَا اعْتَدَيْنَآ إِنَّآ إِذًا لَّمِنَ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it appears that they lied or betrayed, two relatives of the deceased should stand and swear by Allah: Our testimony is truer than theirs, and we have not overstepped.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أَدْنَىٰ أَن يَأْتُواْ بِالشَّهَٰدَةِ عَلَىٰ وَجْهِهَآ أَوْ يَخَافُواْ أَن تُرَدَّ أَيْمَٰنٌ بَعْدَ أَيْمَٰنِهِمْ وَاتَّقُواْ اللَّهَ وَاسْمَعُواْ وَاللَّهُ لَا يَهْدِي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more likely to make them give testimony properly, or fear that their oaths will be rejected. Have taqwa of Allah and listen; Allah does not guide the disobedient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'Isa and the Table Spread</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109 – 120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Al-Ma'idah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Reminding 'Isa (peace be upon him) of Allah's blessings and his miracles, the story of the table spread with food that came down from the sky, and 'Isa disowning, on the Day of Resurrection, those who worshipped him. It is because of the story of the table spread (al-ma'idah) that the surah is called "Surah Al-Ma'idah".</a:t>
            </a:r>
            <a:endParaRPr lang="en-US" sz="15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يَجْمَعُ اللَّهُ الرُّسُلَ فَيَقُولُ مَاذَآ أُجِبْتُمْ قَالُواْ لَا عِلْمَ لَنَآ إِنَّكَ أَنتَ عَلَّـٰمُ الْغُيُوبِ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Allah gathers the messengers and says: How did your nations answer you? They will say: We have no knowledge except what You taught us; You are the Knower of the unseen.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611630"/>
            <a:ext cx="548640" cy="548640"/>
          </a:xfrm>
          <a:prstGeom prst="star8">
            <a:avLst/>
          </a:prstGeom>
          <a:solidFill>
            <a:schemeClr val="accent2"/>
          </a:solidFill>
          <a:ln/>
        </p:spPr>
      </p:sp>
      <p:sp>
        <p:nvSpPr>
          <p:cNvPr id="6" name="Shape 4"/>
          <p:cNvSpPr/>
          <p:nvPr/>
        </p:nvSpPr>
        <p:spPr>
          <a:xfrm>
            <a:off x="822960" y="172135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61163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593342"/>
            <a:ext cx="10012680" cy="422910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اللَّهُ يَٰعِيسَى ابْنَ مَرْيَمَ اذْكُرْ نِعْمَتِي عَلَيْكَ وَعَلَىٰ وَٰلِدَتِكَ إِذْ أَيَّدتُّكَ بِرُوحِ الْقُدُسِ تُكَلِّمُ النَّاسَ فِي الْمَهْدِ وَكَهْلًا وَإِذْ عَلَّمْتُكَ الْكِتَٰبَ وَالْحِكْمَةَ وَالتَّوْرَىٰةَ وَالْإِنجِيلَ وَإِذْ تَخْلُقُ مِنَ الطِّينِ كَهَيْـَٔةِ الطَّيْرِ بِإِذْنِي فَتَنفُخُ فِيهَا فَتَكُونُ طَيْرًا بِإِذْنِي وَتُبْرِئُ الْأَكْمَهَ وَالْأَبْرَصَ بِإِذْنِي وَإِذْ تُخْرِجُ الْمَوْتَىٰ بِإِذْنِي وَإِذْ كَفَفْتُ بَنِي إِسْرَـٰءِيلَ عَنكَ إِذْ جِئْتَهُم بِالْبَيِّنَٰتِ فَقَالَ الَّذِينَ كَفَرُواْ مِنْهُمْ إِنْ هَٰذَآ إِلَّا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Allah will say: O 'Isa son of Maryam, remember My blessing on you and your mother, when I supported you with Jibril; you spoke to people in the cradle and as a grown man; I taught you writing, wisdom, the Torah and the Injil; you made from clay the shape of a bird by My permission; you healed the blind and the leper by My permission; and you brought the dead out alive by My permission.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111 – 112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أَوْحَيْتُ إِلَى الْحَوَارِيِّـنَ أَنْ ءَامِنُواْ بِي وَبِرَسُولِي قَالُواْ ءَامَنَّا وَاشْهَدْ بِأَنَّنَا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I inspired the disciples: Believe in Me and My messenger 'Isa. They said: We believe, so bear witness that we are Muslims.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الْحَوَارِيُّونَ يَٰعِيسَى ابْنَ مَرْيَمَ هَلْ يَسْتَطِيعُ رَبُّكَ أَن يُنَزِّلَ عَلَيْنَا مَآئِدَةً مِّنَ السَّمَآءِ قَالَ اتَّقُواْ اللَّهَ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disciples said: O 'Isa son of Maryam, will your Lord answer and send down to us a table spread with food from the sky? He said: Have taqwa of Allah,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113 – 114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نُرِيدُ أَن نَّأْكُلَ مِنْهَا وَتَطْمَئِنَّ قُلُوبُنَا وَنَعْلَمَ أَن قَدْ صَدَقْتَنَا وَنَكُونَ عَلَيْهَا مِنَ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want to eat from it, to have our hearts at rest, to know that you have told us the truth, and to be witnesses to it.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عِيسَى ابْنُ مَرْيَمَ اللَّهُمَّ رَبَّنَآ أَنزِلْ عَلَيْنَا مَآئِدَةً مِّنَ السَّمَآءِ تَكُونُ لَنَا عِيدًا لِّأَوَّلِنَا وَءَاخِرِنَا وَءَايَةً مِّنكَ وَارْزُقْنَا وَأَنتَ خَيْرُ الرَّـٰزِقِينَ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'Isa son of Maryam said: O Allah, our Lord, send down to us a table spread from the sky, to be a festival for the first and last of us and a sign from You, and provide for us; You are the best of providers.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اللَّهُ إِنِّي مُنَزِّلُهَا عَلَيْكُمْ فَمَن يَكْفُرْ بَعْدُ مِنكُمْ فَإِنِّي أُعَذِّبُهُ عَذَابًا لَّآ أُعَذِّبُهُ أَحَدًا مِّنَ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I will send it down to you, but whoever of you disbelieves after that, I will punish him with a punishment I have not given anyone in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اللَّهُ يَٰعِيسَى ابْنَ مَرْيَمَ ءَأَنتَ قُلْتَ لِلنَّاسِ اتَّخِذُونِي وَأُمِّيَ إِلَٰهَيْنِ مِن دُونِ اللَّهِ قَالَ سُبْحَٰنَكَ مَا يَكُونُ لِي أَنْ أَقُولَ مَا لَيْسَ لِي بِحَقٍّ إِن كُنتُ قُلْتُهُ فَقَدْ عَلِمْتَهُ تَعْلَمُ مَا فِي نَفْسِي وَلَآ أَعْلَمُ مَا فِي نَفْسِكَ إِنَّكَ أَنتَ عَلَّـٰمُ الْغُيُوبِ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Allah will say on the Day of Resurrection: O 'Isa son of Maryam, did you tell people: Take me and my mother as two gods besides Allah? He will say: Glory be to You! It was not for me to say what I had no right to. If I had said it, You would know it. You know what is in my soul and I do not know what is in Yours.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117 – 118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قُلْتُ لَهُمْ إِلَّا مَآ أَمَرْتَنِي بِهِ أَنِ اعْبُدُواْ اللَّهَ رَبِّي وَرَبَّكُمْ وَكُنتُ عَلَيْهِمْ شَهِيدًا مَّا دُمْتُ فِيهِمْ فَلَمَّا تَوَفَّيْتَنِي كُنتَ أَنتَ الرَّقِيبَ عَلَيْهِمْ وَأَنتَ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only told them what You commanded me: Worship Allah, my Lord and your Lord. I was a witness over them while I was among them, and when You raised me up to You, You were the Watcher over them, and You are Witness over everything.</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تُعَذِّبْهُمْ فَإِنَّهُمْ عِبَادُكَ وَإِن تَغْفِرْ لَهُمْ فَإِنَّكَ أَنتَ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punish them, they are Your servants; and if You forgive them, You are the Almighty, the All-Wise. The Prophet (peace be upon him) once stood all night repeating this verse until morning (An-Nasa'i).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Al-Ma'idah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119 –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اللَّهُ هَٰذَا يَوْمُ يَنفَعُ الصَّـٰدِقِينَ صِدْقُهُمْ لَهُمْ جَنَّـٰتٌ تَجْرِي مِن تَحْتِهَا الْأَنْهَٰرُ خَٰلِدِينَ فِيهَآ أَبَدًا رَّضِيَ اللَّهُ عَنْهُمْ وَرَضُواْ عَنْهُ 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This is a Day when the truthful will benefit from their truthfulness. They will have Gardens with rivers flowing beneath them, staying there forever. Allah is pleased with them and they are pleased with Him; that is the great success.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لِلَّهِ مُلْكُ السَّمَٰوَٰتِ وَالْأَرْضِ وَمَا فِيهِنَّ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and all that is in them, and He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assets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we believe, so write us among the witnesses." (Al-Ma'idah 5:83)</a:t>
            </a:r>
            <a:endParaRPr lang="en-US" sz="2100" dirty="0"/>
          </a:p>
        </p:txBody>
      </p:sp>
      <p:pic>
        <p:nvPicPr>
          <p:cNvPr id="5" name="Image 1" descr="assets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l-Maida Tafsir EN">
  <a:themeElements>
    <a:clrScheme name="Al-Maida Tafsir EN">
      <a:dk1>
        <a:srgbClr val="2E2A20"/>
      </a:dk1>
      <a:lt1>
        <a:srgbClr val="FFFFFF"/>
      </a:lt1>
      <a:dk2>
        <a:srgbClr val="8C6A10"/>
      </a:dk2>
      <a:lt2>
        <a:srgbClr val="FFFAEA"/>
      </a:lt2>
      <a:accent1>
        <a:srgbClr val="8C6A10"/>
      </a:accent1>
      <a:accent2>
        <a:srgbClr val="D4A73A"/>
      </a:accent2>
      <a:accent3>
        <a:srgbClr val="B8891E"/>
      </a:accent3>
      <a:accent4>
        <a:srgbClr val="6F6756"/>
      </a:accent4>
      <a:accent5>
        <a:srgbClr val="FBF1D2"/>
      </a:accent5>
      <a:accent6>
        <a:srgbClr val="2F6B5E"/>
      </a:accent6>
      <a:hlink>
        <a:srgbClr val="B8891E"/>
      </a:hlink>
      <a:folHlink>
        <a:srgbClr val="6F6756"/>
      </a:folHlink>
    </a:clrScheme>
    <a:fontScheme name="Al-Maida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Surah Al-Ma'idah — Simplified Tafsir from Ibn Kathir</dc:title>
  <dc:subject>PptxGenJS Presentation</dc:subject>
  <dc:creator>Qur'an Teacher</dc:creator>
  <cp:lastModifiedBy>Qur'an Teacher</cp:lastModifiedBy>
  <cp:revision>1</cp:revision>
  <dcterms:created xsi:type="dcterms:W3CDTF">2026-10-04T04:16:58Z</dcterms:created>
  <dcterms:modified xsi:type="dcterms:W3CDTF">2026-10-04T04:16:58Z</dcterms:modified>
</cp:coreProperties>
</file>