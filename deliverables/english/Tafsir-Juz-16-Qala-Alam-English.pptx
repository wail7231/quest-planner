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notesMasterIdLst>
    <p:notesMasterId r:id="rId9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ecad7c-a228-749e-7b48-19391d08b2f7}">
          <p14:sldIdLst>
            <p14:sldId id="256"/>
            <p14:sldId id="257"/>
            <p14:sldId id="258"/>
          </p14:sldIdLst>
        </p14:section>
        <p14:section name="Surah Ta-Ha" id="{cce7e670-51ce-f469-1150-825b2e2835bb}">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Lst>
        </p14:section>
        <p14:section name="Surah Maryam" id="{73670700-c97f-cb86-9b1c-4f1a7a2226d0}">
          <p14:sldIdLst>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Lst>
        </p14:section>
        <p14:section name="Surah Al-Kahf" id="{e6de23c8-adf7-c136-a0f8-4517f896c443}">
          <p14:sldIdLst>
            <p14:sldId id="336"/>
            <p14:sldId id="337"/>
            <p14:sldId id="338"/>
            <p14:sldId id="339"/>
            <p14:sldId id="340"/>
            <p14:sldId id="341"/>
            <p14:sldId id="342"/>
            <p14:sldId id="343"/>
            <p14:sldId id="344"/>
            <p14:sldId id="345"/>
            <p14:sldId id="346"/>
            <p14:sldId id="347"/>
            <p14:sldId id="348"/>
            <p14:sldId id="349"/>
          </p14:sldIdLst>
        </p14:section>
        <p14:section name="Closing" id="{d6020106-e385-3a7e-e109-89bfdc9b6968}">
          <p14:sldIdLst>
            <p14:sldId id="3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notesMaster" Target="notesMasters/notesMaster1.xml"/><Relationship Id="rId98" Type="http://schemas.openxmlformats.org/officeDocument/2006/relationships/presProps" Target="presProps.xml"/><Relationship Id="rId99" Type="http://schemas.openxmlformats.org/officeDocument/2006/relationships/viewProps" Target="viewProps.xml"/><Relationship Id="rId100" Type="http://schemas.openxmlformats.org/officeDocument/2006/relationships/theme" Target="theme/theme1.xml"/><Relationship Id="rId10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Surah Ta-Ha, then Surah Maryam, then the end of Surah Al-Kahf from verse 75. Inside each surah, the verses follow their order in the Mushaf.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did Musa ask his Lord for in verses 25–35? Memorise this prayer.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How did Ibrahim speak to his father in verses 42–45? What do we learn from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question after this surah: What was the wisdom behind damaging the ship and building the wall (verses 79 and 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16/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algn="ctr" indent="0" marL="0">
              <a:buNone/>
              <a:defRPr lang="en-US" sz="2400" b="1" dirty="0">
                <a:solidFill>
                  <a:schemeClr val="bg1"/>
                </a:solidFill>
                <a:latin typeface="Georgia" pitchFamily="34" charset="0"/>
                <a:ea typeface="Georgia" pitchFamily="34" charset="-122"/>
                <a:cs typeface="Georgia" pitchFamily="34" charset="-120"/>
              </a:defRPr>
            </a:lvl1pPr>
          </a:lstStyle>
          <a:p>
            <a:pPr algn="ctr" indent="0" marL="0">
              <a:buNone/>
            </a:pPr>
            <a:endParaRPr lang="en-US" sz="2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16/bg_intro.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16/bg_dark.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4.xml"/><Relationship Id="rId4" Type="http://schemas.openxmlformats.org/officeDocument/2006/relationships/notesSlide" Target="../notesSlides/notesSlide9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16/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txBox="1"/>
          <p:nvPr/>
        </p:nvSpPr>
        <p:spPr>
          <a:xfrm>
            <a:off x="731520" y="2468880"/>
            <a:ext cx="10728655" cy="1143000"/>
          </a:xfrm>
          <a:prstGeom prst="rect">
            <a:avLst/>
          </a:prstGeom>
          <a:noFill/>
          <a:ln/>
        </p:spPr>
        <p:txBody>
          <a:bodyPr wrap="square" lIns="0" tIns="0" rIns="0" bIns="0" rtlCol="0" anchor="ctr"/>
          <a:lstStyle/>
          <a:p>
            <a:pPr algn="ctr" indent="0" marL="0">
              <a:buNone/>
            </a:pPr>
            <a:r>
              <a:rPr lang="en-US" altLang="en-US" sz="5200" b="1" dirty="0">
                <a:solidFill>
                  <a:schemeClr val="bg1"/>
                </a:solidFill>
                <a:latin typeface="Georgia" pitchFamily="34" charset="0"/>
                <a:ea typeface="Georgia" pitchFamily="34" charset="-122"/>
                <a:cs typeface="Georgia" pitchFamily="34" charset="-120"/>
              </a:rPr>
              <a:t>Tafsir of Juz Qala Alam</a:t>
            </a:r>
            <a:endParaRPr lang="en-US" sz="5200" dirty="0"/>
          </a:p>
        </p:txBody>
      </p:sp>
      <p:sp>
        <p:nvSpPr>
          <p:cNvPr id="4" name="Text 1"/>
          <p:cNvSpPr txBox="1"/>
          <p:nvPr/>
        </p:nvSpPr>
        <p:spPr>
          <a:xfrm>
            <a:off x="1097280" y="3657600"/>
            <a:ext cx="9997135" cy="502920"/>
          </a:xfrm>
          <a:prstGeom prst="rect">
            <a:avLst/>
          </a:prstGeom>
          <a:noFill/>
          <a:ln/>
        </p:spPr>
        <p:txBody>
          <a:bodyPr wrap="square" lIns="0" tIns="0" rIns="0" bIns="0" rtlCol="0" anchor="ctr"/>
          <a:lstStyle/>
          <a:p>
            <a:pPr algn="ctr" indent="0" marL="0">
              <a:buNone/>
            </a:pPr>
            <a:r>
              <a:rPr lang="en-US" altLang="en-US" sz="2200" b="1" dirty="0">
                <a:solidFill>
                  <a:schemeClr val="accent2"/>
                </a:solidFill>
                <a:latin typeface="Arial" pitchFamily="34" charset="0"/>
                <a:ea typeface="Arial" pitchFamily="34" charset="-122"/>
                <a:cs typeface="Arial" pitchFamily="34" charset="-120"/>
              </a:rPr>
              <a:t>A simplified explanation of every verse, drawn from the Tafsir of Imam Ibn Kathir</a:t>
            </a:r>
            <a:endParaRPr lang="en-US" sz="2200" dirty="0"/>
          </a:p>
        </p:txBody>
      </p:sp>
      <p:pic>
        <p:nvPicPr>
          <p:cNvPr id="5" name="Image 1" descr="assets16/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algn="ctr" indent="0" marL="0">
              <a:buNone/>
            </a:pPr>
            <a:r>
              <a:rPr lang="en-US" altLang="en-US" sz="1700" dirty="0">
                <a:solidFill>
                  <a:schemeClr val="bg2"/>
                </a:solidFill>
                <a:latin typeface="Arial" pitchFamily="34" charset="0"/>
                <a:ea typeface="Arial" pitchFamily="34" charset="-122"/>
                <a:cs typeface="Arial" pitchFamily="34" charset="-120"/>
              </a:rPr>
              <a:t>Juz 16 • From Surah Ta-Ha back to Surah Al-Kahf (verse 75) • with reasons for revelation</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Before We Begin</a:t>
            </a:r>
            <a:endParaRPr lang="en-US" sz="2400" dirty="0"/>
          </a:p>
        </p:txBody>
      </p:sp>
      <p:sp>
        <p:nvSpPr>
          <p:cNvPr id="3" name="Shape 1"/>
          <p:cNvSpPr/>
          <p:nvPr/>
        </p:nvSpPr>
        <p:spPr>
          <a:xfrm>
            <a:off x="64008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868680" y="1645920"/>
            <a:ext cx="4846320" cy="685800"/>
          </a:xfrm>
          <a:prstGeom prst="rect">
            <a:avLst/>
          </a:prstGeom>
          <a:noFill/>
          <a:ln/>
        </p:spPr>
        <p:txBody>
          <a:bodyPr wrap="square" lIns="0" tIns="0" rIns="0" bIns="0" rtlCol="0" anchor="t"/>
          <a:lstStyle/>
          <a:p>
            <a:pPr algn="l" indent="0" marL="0">
              <a:buNone/>
            </a:pPr>
            <a:r>
              <a:rPr lang="en-US" altLang="en-US" sz="1900" b="1" dirty="0">
                <a:solidFill>
                  <a:schemeClr val="tx2"/>
                </a:solidFill>
                <a:latin typeface="Georgia" pitchFamily="34" charset="0"/>
                <a:ea typeface="Georgia" pitchFamily="34" charset="-122"/>
                <a:cs typeface="Georgia" pitchFamily="34" charset="-120"/>
              </a:rPr>
              <a:t>Imam Ibn Kathir (may Allah have mercy on him)</a:t>
            </a:r>
            <a:endParaRPr lang="en-US" sz="1900" dirty="0"/>
          </a:p>
        </p:txBody>
      </p:sp>
      <p:sp>
        <p:nvSpPr>
          <p:cNvPr id="5" name="Text 3"/>
          <p:cNvSpPr txBox="1"/>
          <p:nvPr/>
        </p:nvSpPr>
        <p:spPr>
          <a:xfrm>
            <a:off x="868680" y="2423160"/>
            <a:ext cx="4846320" cy="3520440"/>
          </a:xfrm>
          <a:prstGeom prst="rect">
            <a:avLst/>
          </a:prstGeom>
          <a:noFill/>
          <a:ln/>
        </p:spPr>
        <p:txBody>
          <a:bodyPr wrap="square" lIns="0" tIns="0" rIns="0" bIns="0" rtlCol="0" anchor="t"/>
          <a:lstStyle/>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Name: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Isma'il ibn 'Umar ibn Kathir of Damascus</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Lived: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about 701 – 774 AH (1300 – 1373 CE) in Syria</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Teachers: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Ibn Taymiyyah, al-Mizzi and al-Dhahabi</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book: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Tafsir al-Qur'an al-'Azim, one of the most famous books of tafsir</a:t>
            </a:r>
            <a:endParaRPr lang="en-US" sz="1500" dirty="0"/>
          </a:p>
          <a:p>
            <a:pPr algn="l" indent="0" marL="0">
              <a:spcAft>
                <a:spcPts val="900"/>
              </a:spcAft>
              <a:buNone/>
            </a:pPr>
            <a:r>
              <a:rPr lang="en-US" altLang="en-US" sz="1500" b="1" dirty="0">
                <a:solidFill>
                  <a:schemeClr val="tx2"/>
                </a:solidFill>
                <a:latin typeface="Arial" pitchFamily="34" charset="0"/>
                <a:ea typeface="Arial" pitchFamily="34" charset="-122"/>
                <a:cs typeface="Arial" pitchFamily="34" charset="-120"/>
              </a:rPr>
              <a:t>His method: </a:t>
            </a:r>
            <a:pPr algn="l" indent="0" marL="0">
              <a:spcAft>
                <a:spcPts val="900"/>
              </a:spcAft>
              <a:buNone/>
            </a:pPr>
            <a:r>
              <a:rPr lang="en-US" altLang="en-US" sz="1500" dirty="0">
                <a:solidFill>
                  <a:schemeClr val="tx1"/>
                </a:solidFill>
                <a:latin typeface="Arial" pitchFamily="34" charset="0"/>
                <a:ea typeface="Arial" pitchFamily="34" charset="-122"/>
                <a:cs typeface="Arial" pitchFamily="34" charset="-120"/>
              </a:rPr>
              <a:t>He explains the Qur'an by the Qur'an, then by the Sunnah, then by the sayings of the Companions and their students</a:t>
            </a:r>
            <a:endParaRPr lang="en-US" sz="1500" dirty="0"/>
          </a:p>
        </p:txBody>
      </p:sp>
      <p:sp>
        <p:nvSpPr>
          <p:cNvPr id="6" name="Text 4"/>
          <p:cNvSpPr txBox="1"/>
          <p:nvPr/>
        </p:nvSpPr>
        <p:spPr>
          <a:xfrm>
            <a:off x="6263640" y="1600200"/>
            <a:ext cx="5303520" cy="502920"/>
          </a:xfrm>
          <a:prstGeom prst="rect">
            <a:avLst/>
          </a:prstGeom>
          <a:noFill/>
          <a:ln/>
        </p:spPr>
        <p:txBody>
          <a:bodyPr wrap="square" lIns="0" tIns="0" rIns="0" bIns="0" rtlCol="0" anchor="t"/>
          <a:lstStyle/>
          <a:p>
            <a:pPr algn="l" indent="0" marL="0">
              <a:buNone/>
            </a:pPr>
            <a:r>
              <a:rPr lang="en-US" altLang="en-US" sz="2200" b="1" dirty="0">
                <a:solidFill>
                  <a:schemeClr val="tx2"/>
                </a:solidFill>
                <a:latin typeface="Georgia" pitchFamily="34" charset="0"/>
                <a:ea typeface="Georgia" pitchFamily="34" charset="-122"/>
                <a:cs typeface="Georgia" pitchFamily="34" charset="-120"/>
              </a:rPr>
              <a:t>How to read the slides</a:t>
            </a:r>
            <a:endParaRPr lang="en-US" sz="2200" dirty="0"/>
          </a:p>
        </p:txBody>
      </p:sp>
      <p:sp>
        <p:nvSpPr>
          <p:cNvPr id="7" name="Shape 5"/>
          <p:cNvSpPr/>
          <p:nvPr/>
        </p:nvSpPr>
        <p:spPr>
          <a:xfrm>
            <a:off x="6263640" y="2331720"/>
            <a:ext cx="566928" cy="566928"/>
          </a:xfrm>
          <a:prstGeom prst="star8">
            <a:avLst/>
          </a:prstGeom>
          <a:solidFill>
            <a:schemeClr val="accent2"/>
          </a:solidFill>
          <a:ln/>
        </p:spPr>
      </p:sp>
      <p:sp>
        <p:nvSpPr>
          <p:cNvPr id="8" name="Shape 6"/>
          <p:cNvSpPr/>
          <p:nvPr/>
        </p:nvSpPr>
        <p:spPr>
          <a:xfrm>
            <a:off x="63770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6263640" y="2331720"/>
            <a:ext cx="566928" cy="566928"/>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7040880" y="2359152"/>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verse number is inside the golden star</a:t>
            </a:r>
            <a:endParaRPr lang="en-US" sz="1600" dirty="0"/>
          </a:p>
        </p:txBody>
      </p:sp>
      <p:sp>
        <p:nvSpPr>
          <p:cNvPr id="11" name="Shape 9"/>
          <p:cNvSpPr/>
          <p:nvPr/>
        </p:nvSpPr>
        <p:spPr>
          <a:xfrm>
            <a:off x="63367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7040880" y="3291840"/>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The Arabic verse is written in bronze</a:t>
            </a:r>
            <a:endParaRPr lang="en-US" sz="1600" dirty="0"/>
          </a:p>
        </p:txBody>
      </p:sp>
      <p:sp>
        <p:nvSpPr>
          <p:cNvPr id="13" name="Shape 11"/>
          <p:cNvSpPr/>
          <p:nvPr/>
        </p:nvSpPr>
        <p:spPr>
          <a:xfrm>
            <a:off x="63367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7040880" y="4224528"/>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A simple English explanation comes right under it</a:t>
            </a:r>
            <a:endParaRPr lang="en-US" sz="1600" dirty="0"/>
          </a:p>
        </p:txBody>
      </p:sp>
      <p:sp>
        <p:nvSpPr>
          <p:cNvPr id="15" name="Shape 13"/>
          <p:cNvSpPr/>
          <p:nvPr/>
        </p:nvSpPr>
        <p:spPr>
          <a:xfrm>
            <a:off x="63367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7040880" y="5157216"/>
            <a:ext cx="4526280" cy="512064"/>
          </a:xfrm>
          <a:prstGeom prst="rect">
            <a:avLst/>
          </a:prstGeom>
          <a:noFill/>
          <a:ln/>
        </p:spPr>
        <p:txBody>
          <a:bodyPr wrap="square" lIns="0" tIns="0" rIns="0" bIns="0" rtlCol="0" anchor="ctr"/>
          <a:lstStyle/>
          <a:p>
            <a:pPr algn="l" indent="0" marL="0">
              <a:buNone/>
            </a:pPr>
            <a:r>
              <a:rPr lang="en-US" altLang="en-US" sz="1600" dirty="0">
                <a:solidFill>
                  <a:schemeClr val="tx1"/>
                </a:solidFill>
                <a:latin typeface="Arial" pitchFamily="34" charset="0"/>
                <a:ea typeface="Arial" pitchFamily="34" charset="-122"/>
                <a:cs typeface="Arial" pitchFamily="34" charset="-120"/>
              </a:rPr>
              <a:t>Each surah opens with its reason for revelation and theme</a:t>
            </a:r>
            <a:endParaRPr lang="en-US" sz="16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Surahs of This Juz</a:t>
            </a:r>
            <a:endParaRPr lang="en-US" sz="24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algn="ctr" indent="0" marL="0">
              <a:buNone/>
            </a:pPr>
            <a:r>
              <a:rPr lang="en-US" altLang="en-US" sz="1600" dirty="0">
                <a:solidFill>
                  <a:schemeClr val="accent4"/>
                </a:solidFill>
                <a:latin typeface="Arial" pitchFamily="34" charset="0"/>
                <a:ea typeface="Arial" pitchFamily="34" charset="-122"/>
                <a:cs typeface="Arial" pitchFamily="34" charset="-120"/>
              </a:rPr>
              <a:t>Our journey starts with Surah Ta-Ha and moves back to Surah Al-Kahf</a:t>
            </a:r>
            <a:endParaRPr lang="en-US" sz="1600" dirty="0"/>
          </a:p>
        </p:txBody>
      </p:sp>
      <p:sp>
        <p:nvSpPr>
          <p:cNvPr id="4" name="Shape 2"/>
          <p:cNvSpPr/>
          <p:nvPr/>
        </p:nvSpPr>
        <p:spPr>
          <a:xfrm>
            <a:off x="685800" y="1828800"/>
            <a:ext cx="2622728" cy="566928"/>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685800"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1. </a:t>
            </a:r>
            <a:pPr algn="ctr" indent="0" marL="0">
              <a:buNone/>
            </a:pPr>
            <a:r>
              <a:rPr lang="en-US" altLang="en-US" sz="1400" b="1" dirty="0">
                <a:solidFill>
                  <a:schemeClr val="tx2"/>
                </a:solidFill>
                <a:latin typeface="Arial" pitchFamily="34" charset="0"/>
                <a:ea typeface="Arial" pitchFamily="34" charset="-122"/>
                <a:cs typeface="Arial" pitchFamily="34" charset="-120"/>
              </a:rPr>
              <a:t>Ta-Ha</a:t>
            </a:r>
            <a:endParaRPr lang="en-US" sz="1400" dirty="0"/>
          </a:p>
        </p:txBody>
      </p:sp>
      <p:sp>
        <p:nvSpPr>
          <p:cNvPr id="6" name="Shape 4"/>
          <p:cNvSpPr/>
          <p:nvPr/>
        </p:nvSpPr>
        <p:spPr>
          <a:xfrm>
            <a:off x="3418256" y="1828800"/>
            <a:ext cx="2622728" cy="566928"/>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3418256"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2. </a:t>
            </a:r>
            <a:pPr algn="ctr" indent="0" marL="0">
              <a:buNone/>
            </a:pPr>
            <a:r>
              <a:rPr lang="en-US" altLang="en-US" sz="1400" b="1" dirty="0">
                <a:solidFill>
                  <a:schemeClr val="tx2"/>
                </a:solidFill>
                <a:latin typeface="Arial" pitchFamily="34" charset="0"/>
                <a:ea typeface="Arial" pitchFamily="34" charset="-122"/>
                <a:cs typeface="Arial" pitchFamily="34" charset="-120"/>
              </a:rPr>
              <a:t>Maryam</a:t>
            </a:r>
            <a:endParaRPr lang="en-US" sz="1400" dirty="0"/>
          </a:p>
        </p:txBody>
      </p:sp>
      <p:sp>
        <p:nvSpPr>
          <p:cNvPr id="8" name="Shape 6"/>
          <p:cNvSpPr/>
          <p:nvPr/>
        </p:nvSpPr>
        <p:spPr>
          <a:xfrm>
            <a:off x="6150712" y="1828800"/>
            <a:ext cx="2622728" cy="566928"/>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6150712" y="1828800"/>
            <a:ext cx="2622728" cy="566928"/>
          </a:xfrm>
          <a:prstGeom prst="rect">
            <a:avLst/>
          </a:prstGeom>
          <a:noFill/>
          <a:ln/>
        </p:spPr>
        <p:txBody>
          <a:bodyPr wrap="square" lIns="0" tIns="0" rIns="0" bIns="0" rtlCol="0" anchor="ctr"/>
          <a:lstStyle/>
          <a:p>
            <a:pPr algn="ctr" indent="0" marL="0">
              <a:buNone/>
            </a:pPr>
            <a:r>
              <a:rPr lang="en-US" altLang="en-US" sz="1400" b="1" dirty="0">
                <a:solidFill>
                  <a:schemeClr val="accent2"/>
                </a:solidFill>
                <a:latin typeface="Arial" pitchFamily="34" charset="0"/>
                <a:ea typeface="Arial" pitchFamily="34" charset="-122"/>
                <a:cs typeface="Arial" pitchFamily="34" charset="-120"/>
              </a:rPr>
              <a:t>3. </a:t>
            </a:r>
            <a:pPr algn="ctr" indent="0" marL="0">
              <a:buNone/>
            </a:pPr>
            <a:r>
              <a:rPr lang="en-US" altLang="en-US" sz="1400" b="1" dirty="0">
                <a:solidFill>
                  <a:schemeClr val="tx2"/>
                </a:solidFill>
                <a:latin typeface="Arial" pitchFamily="34" charset="0"/>
                <a:ea typeface="Arial" pitchFamily="34" charset="-122"/>
                <a:cs typeface="Arial" pitchFamily="34" charset="-120"/>
              </a:rPr>
              <a:t>Al-Kahf</a:t>
            </a:r>
            <a:endParaRPr lang="en-US" sz="14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Ta-Ha</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135 verses • Ta Ha</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20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Kathir mentions that when the idol-worshippers saw how hard the Prophet (peace be upon him) worked in worship, they said: This Qur'an was only sent down to Muhammad to make him miserable! So Allah revealed: “Ta Ha. We did not send down the Qur'an to you to make you miserable”. 'Umar ibn Al-Khattab (may Allah be pleased with him) accepted Islam after hearing the beginning of Surah Ta-Ha.</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Qur'an brings happiness, not misery, and the full story of Musa: from the call in the sacred valley and his prayer to have his chest opened, to facing Pharaoh and the magicians, to the trial of As-Samiri, then the story of Adam, and the command to be patient and pray.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طه</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أَنزَلْنَا عَلَيْكَ الْقُرْءَانَ لِتَشْقَىٰ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did not send down the Qur'an to you to tire you and make you miserable, but to make you happy with it,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تَذْكِرَةً لِّمَن يَخْشَىٰ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only as a reminder for whoever fears Allah,</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تَنزِيلًا مِّمَّنْ خَلَقَ الْأَرْضَ وَالسَّمَٰوَٰتِ الْعُلَى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 revelation from Allah, who created the earth and the high heavens.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 – 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الرَّحْمَٰنُ عَلَى الْعَرْشِ اسْتَوَىٰ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Most Merciful rose over the Throne in a way that suits His majesty.</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لَهُ مَا فِي السَّمَٰوَٰتِ وَمَا فِي الْأَرْضِ وَمَا بَيْنَهُمَا وَمَا تَحْتَ الثَّرَىٰ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To Him belongs whatever is in the heavens, on earth, between them, and beneath the soil.</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تَجْهَرْ بِالْقَوْلِ فَإِنَّهُ يَعْلَمُ السِّرَّ وَأَخْفَى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Whether you speak aloud or not, He knows the secret and what is even more hidden in the soul.</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اللَّهُ لَآ إِلَٰهَ إِلَّا هُوَ لَهُ الْأَسْمَآءُ الْحُسْنَىٰ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there is no god but Him. His are the Most Beautiful Names.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 – 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وَهَلْ أَتَىٰكَ حَدِيثُ 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the story of Musa reached you?</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رَءَا نَارًا فَقَالَ لِأَهْلِهِ امْكُثُواْ إِنِّي ءَانَسْتُ نَارًا لَّعَلِّي ءَاتِيكُم مِّنْهَا بِقَبَسٍ أَوْ أَجِدُ عَلَى النَّارِ 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saw a fire on his way from Madyan on a cold night, he said to his family: Stay here; I have seen a fire. Perhaps I can bring you a burning torch from it, or find someone at the fire to guide us on the way.</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أَتَىٰهَا نُودِيَ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came to it, he was called: O Musa!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 – 15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إِنِّي أَنَا رَبُّكَ فَاخْلَعْ نَعْلَيْكَ إِنَّكَ بِالْوَادِ الْمُقَدَّسِ طُوًى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your Lord, so take off your sandals out of respect; you are in the sacred valley of Tuwa.</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وَأَنَا اخْتَرْتُكَ فَاسْتَمِعْ لِمَا يُوحَىٰ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have chosen you as a messenger, so listen to what is revealed.</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إِنَّنِي أَنَا اللَّهُ لَآ إِلَٰهَ إِلَّآ أَنَا فَاعْبُدْنِي وَأَقِمِ الصَّلَوٰةَ لِذِكْرِي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am Allah; there is no god but Me. So worship Me and establish the prayer to remember Me.</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السَّاعَةَ ءَاتِيَةٌ أَكَادُ أُخْفِيهَا لِتُجْزَىٰ كُلُّ نَفْسٍ بِمَا تَسْعَىٰ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Hour is coming; I have almost hidden it even from Myself, so that every soul may be repaid for what it does.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16 – 18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يَصُدَّنَّكَ عَنْهَا مَن لَّا يُؤْمِنُ بِهَا وَاتَّبَعَ هَوَىٰهُ فَتَرْدَىٰ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let anyone who does not believe in it and follows his desires turn you away from believing in it, or you will be ruined.</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تِلْكَ بِيَمِينِكَ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what is that in your right hand, O Musa?</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هِيَ عَصَايَ أَتَوَكَّؤُاْ عَلَيْهَا وَأَهُشُّ بِهَا عَلَىٰ غَنَمِي وَلِيَ فِيهَا مَـَٔارِبُ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It is my staff. I lean on it when walking, I knock leaves down with it for my sheep, and I have other uses for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19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أَلْقِهَا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Throw it down, O Musa.</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فَأَلْقَىٰهَا فَإِذَا هِيَ حَيَّةٌ تَسْعَىٰ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threw it down, and suddenly it was a snake moving quickly.</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خُذْهَا وَلَا تَخَفْ سَنُعِيدُهَا سِيرَتَهَا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Take hold of it and do not be afraid; We will return it to its first state as a staff.</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وَاضْمُمْ يَدَكَ إِلَىٰ جَنَاحِكَ تَخْرُجْ بَيْضَآءَ مِنْ غَيْرِ سُوءٍ ءَايَةً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put your hand under your arm; it will come out shining white without any illness, as another sign,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لِنُرِيَكَ مِنْ ءَايَٰتِنَا الْكُبْرَى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We may show you some of Our greatest signs.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 إِلَىٰ فِرْعَوْنَ إِنَّهُ 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to Pharaoh; he has gone beyond all limits in disbelief and injustice.</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اشْرَحْ لِي صَدْرِي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My Lord, open up my chest for me,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وَيَسِّرْ لِي أَمْرِي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make my task easy for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27 – 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وَاحْلُلْ عُقْدَةً مِّن لِّسَانِي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untie the knot from my tongue,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يَفْقَهُواْ قَوْلِي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they understand my speech.</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وَاجْعَل لِّي وَزِيرًا مِّنْ أَهْلِي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give me a helper from my family,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هَٰرُونَ أَخِي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Harun, my brother.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31 – 34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اشْدُدْ بِهِ أَزْرِي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Strengthen my back through him,</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وَأَشْرِكْهُ فِي أَمْرِي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make him share in my mission,</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كَيْ نُسَبِّحَكَ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that we may glorify You much,</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وَنَذْكُرَكَ كَثِيرًا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remember You much.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35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إِنَّكَ كُنتَ بِنَا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always been watching over us.</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قَدْ أُوتِيتَ سُؤْلَكَ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You have been given what you asked for, O Musa.</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مَنَنَّا عَلَيْكَ مَرَّةً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We had already blessed you another time before,</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أَوْحَيْنَآ إِلَىٰ أُمِّكَ مَا يُوحَىٰ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We inspired your mother with what We inspired: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39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695194"/>
            <a:ext cx="548640" cy="548640"/>
          </a:xfrm>
          <a:prstGeom prst="star8">
            <a:avLst/>
          </a:prstGeom>
          <a:solidFill>
            <a:schemeClr val="accent2"/>
          </a:solidFill>
          <a:ln/>
        </p:spPr>
      </p:sp>
      <p:sp>
        <p:nvSpPr>
          <p:cNvPr id="6" name="Shape 4"/>
          <p:cNvSpPr/>
          <p:nvPr/>
        </p:nvSpPr>
        <p:spPr>
          <a:xfrm>
            <a:off x="822960" y="280492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اقْذِفِيهِ فِي التَّابُوتِ فَاقْذِفِيهِ فِي الْيَمِّ فَلْيُلْقِهِ الْيَمُّ بِالسَّاحِلِ يَأْخُذْهُ عَدُوٌّ لِّي وَعَدُوٌّ لَّهُ وَأَلْقَيْتُ عَلَيْكَ مَحَبَّةً مِّنِّي وَلِتُصْنَعَ عَلَىٰ عَيْنِي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Put him in a chest and throw it into the river; the river will cast it onto the bank, and an enemy of Mine and his, Pharaoh, will take him. I put love on you from Myself, so everyone who saw you loved you, and so that you would be raised under My eye.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40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93342"/>
            <a:ext cx="548640" cy="548640"/>
          </a:xfrm>
          <a:prstGeom prst="star8">
            <a:avLst/>
          </a:prstGeom>
          <a:solidFill>
            <a:schemeClr val="accent2"/>
          </a:solidFill>
          <a:ln/>
        </p:spPr>
      </p:sp>
      <p:sp>
        <p:nvSpPr>
          <p:cNvPr id="6" name="Shape 4"/>
          <p:cNvSpPr/>
          <p:nvPr/>
        </p:nvSpPr>
        <p:spPr>
          <a:xfrm>
            <a:off x="822960" y="170307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933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8" name="Text 6"/>
          <p:cNvSpPr txBox="1"/>
          <p:nvPr/>
        </p:nvSpPr>
        <p:spPr>
          <a:xfrm>
            <a:off x="1444752" y="157505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تَمْشِي أُخْتُكَ فَتَقُولُ هَلْ أَدُلُّكُمْ عَلَىٰ مَن يَكْفُلُهُ فَرَجَعْنَٰكَ إِلَىٰ أُمِّكَ كَيْ تَقَرَّ عَيْنُهَا وَلَا تَحْزَنَ وَقَتَلْتَ نَفْسًا فَنَجَّيْنَٰكَ مِنَ الْغَمِّ وَفَتَنَّـٰكَ فُتُونًا فَلَبِثْتَ سِنِينَ فِي أَهْلِ مَدْيَنَ ثُمَّ جِئْتَ عَلَىٰ قَدَرٍ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your sister walked along and said: Shall I show you someone who will care for him? So We returned you to your mother so that she would be at peace and not grieve. You killed a man by mistake, and We saved you from distress and tested you thoroughly. You stayed years among the people of Madyan, then you came at the decreed time, O Musa.</a:t>
            </a:r>
            <a:endParaRPr lang="en-US" sz="3000" dirty="0"/>
          </a:p>
        </p:txBody>
      </p:sp>
      <p:sp>
        <p:nvSpPr>
          <p:cNvPr id="9" name="Shape 7"/>
          <p:cNvSpPr/>
          <p:nvPr/>
        </p:nvSpPr>
        <p:spPr>
          <a:xfrm>
            <a:off x="1444752" y="4633722"/>
            <a:ext cx="8641080" cy="0"/>
          </a:xfrm>
          <a:prstGeom prst="line">
            <a:avLst/>
          </a:prstGeom>
          <a:noFill/>
          <a:ln w="9525">
            <a:solidFill>
              <a:schemeClr val="accent2"/>
            </a:solidFill>
            <a:prstDash val="dash"/>
          </a:ln>
        </p:spPr>
      </p:sp>
      <p:sp>
        <p:nvSpPr>
          <p:cNvPr id="10" name="Shape 8"/>
          <p:cNvSpPr/>
          <p:nvPr/>
        </p:nvSpPr>
        <p:spPr>
          <a:xfrm>
            <a:off x="713232" y="4866894"/>
            <a:ext cx="548640" cy="548640"/>
          </a:xfrm>
          <a:prstGeom prst="star8">
            <a:avLst/>
          </a:prstGeom>
          <a:solidFill>
            <a:schemeClr val="accent2"/>
          </a:solidFill>
          <a:ln/>
        </p:spPr>
      </p:sp>
      <p:sp>
        <p:nvSpPr>
          <p:cNvPr id="11" name="Shape 9"/>
          <p:cNvSpPr/>
          <p:nvPr/>
        </p:nvSpPr>
        <p:spPr>
          <a:xfrm>
            <a:off x="822960" y="49766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8668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3" name="Text 11"/>
          <p:cNvSpPr txBox="1"/>
          <p:nvPr/>
        </p:nvSpPr>
        <p:spPr>
          <a:xfrm>
            <a:off x="1444752" y="484860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وَاصْطَنَعْتُكَ لِنَفْسِي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chose you for My message and My love.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 أَنتَ وَأَخُوكَ بِـَٔايَٰتِي وَلَا تَنِيَا فِي ذِكْرِي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you and your brother, with My signs, and do not grow weak in remembering Me.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اذْهَبَآ إِلَىٰ فِرْعَوْنَ إِنَّهُ 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Go, both of you, to Pharaoh; he has gone beyond all limits.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366617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فَقُولَا لَهُ قَوْلًا لَّيِّنًا لَّعَلَّهُ يَتَذَكَّرُ أَوْ يَخْشَىٰ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Speak to him gently and kindly; perhaps he will take heed or fear Allah. If gentleness is for Pharaoh, how much more for others!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قَالَا رَبَّنَآ إِنَّنَا نَخَافُ أَن يَفْرُطَ عَلَيْنَآ أَوْ أَن يَطْغَىٰ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Our Lord, we fear he will hurry to punish us or become even more tyrannical.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46 – 48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لَا تَخَافَآ إِنَّنِي مَعَكُمَآ أَسْمَعُ وَأَرَىٰ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Do not be afraid; I am with you with My protection and help, hearing and seeing.</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3" name="Text 11"/>
          <p:cNvSpPr txBox="1"/>
          <p:nvPr/>
        </p:nvSpPr>
        <p:spPr>
          <a:xfrm>
            <a:off x="1444752" y="2676906"/>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فَأْتِيَاهُ فَقُولَآ إِنَّا رَسُولَا رَبِّكَ فَأَرْسِلْ مَعَنَا بَنِي إِسْرَـٰءِيلَ وَلَا تُعَذِّبْهُمْ قَدْ جِئْنَٰكَ بِـَٔايَةٍ مِّن رَّبِّكَ وَالسَّلَٰمُ عَلَىٰ مَنِ اتَّبَعَ الْهُدَىٰ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go to him and say: We are messengers of your Lord, so let the Children of Israel go with us and do not torment them. We have come with a sign from your Lord, and peace be upon whoever follows guidance.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قَدْ أُوحِيَ إِلَيْنَآ أَنَّ الْعَذَابَ عَلَىٰ مَن كَذَّبَ وَتَوَلَّىٰ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has been revealed to us that the punishment is for whoever denies and turns away.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49 – 52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فَمَن رَّبُّكُمَا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Then who is your Lord, O Musa?</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رَبُّنَا الَّذِي أَعْطَىٰ كُلَّ شَيْءٍ خَلْقَهُ ثُمَّ 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Our Lord is the One who gave everything its proper creation and form, then guided it to what is good for it.</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فَمَا بَالُ الْقُرُونِ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Then what about the earlier generations?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عِلْمُهَا عِندَ رَبِّي فِي كِتَٰبٍ لَّا يَضِلُّ رَبِّي وَلَا يَنسَى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Their knowledge is with my Lord in a Record. My Lord neither errs nor forgets,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53 – 55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 جَعَلَ لَكُمُ الْأَرْضَ مَهْدًا وَسَلَكَ لَكُمْ فِيهَا سُبُلًا وَأَنزَلَ مِنَ السَّمَآءِ مَآءً فَأَخْرَجْنَا بِهِ أَزْوَٰجًا مِّن نَّبَاتٍ شَتَّىٰ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One who made the earth a resting place for you, made paths for you in it, and sent down water from the sky, with which We bring out pairs of different plants.</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وَارْعَوْاْ أَنْعَٰمَكُمْ إِنَّ فِي ذَٰلِكَ لَأيَٰتٍ لِّأُوْلِي النُّهَىٰ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Eat and graze your animals. In that are signs for people of understanding.</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مِنْهَا خَلَقْنَٰكُمْ وَفِيهَا نُعِيدُكُمْ وَمِنْهَا نُخْرِجُكُمْ تَارَةً أُخْرَىٰ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the earth We created you, into it We will return you after death, and from it We will bring you out once again for the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56 – 58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أَرَيْنَٰهُ ءَايَٰتِنَا كُلَّهَا فَكَذَّبَ وَأَبَىٰ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showed Pharaoh all Our signs, but he denied and refused to believe.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أَجِئْتَنَا لِتُخْرِجَنَا مِنْ أَرْضِنَا بِسِحْرِكَ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Have you come to drive us out of our land with your magic, O Musa?</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فَلَنَأْتِيَنَّكَ بِسِحْرٍ مِّثْلِهِ فَاجْعَلْ بَيْنَنَا وَبَيْنَكَ مَوْعِدًا لَّا نُخْلِفُهُ نَحْنُ وَلَآ أَنتَ مَكَانًا سُوًى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bring you magic like it, so set an appointment between us and you that neither we nor you will break, in an open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59 – 61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مَوْعِدُكُمْ يَوْمُ الزِّينَةِ وَأَن يُحْشَرَ النَّاسُ ضُحًى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Your appointment is the day of the festival, and let the people be gathered at mid-morning.</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فَتَوَلَّىٰ فِرْعَوْنُ فَجَمَعَ كَيْدَهُ ثُمَّ أَتَىٰ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Pharaoh went away, gathered his magicians and his plot, and then came to the appointment.</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لَهُم مُّوسَىٰ وَيْلَكُمْ لَا تَفْتَرُواْ عَلَى اللَّهِ كَذِبًا فَيُسْحِتَكُم بِعَذَابٍ وَقَدْ خَابَ مَنِ افْتَرَىٰ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to them: Woe to you! Do not make up lies about Allah, or He will wipe you out with a punishment. Whoever makes up lies has failed.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62 – 64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فَتَنَٰزَعُواْ أَمْرَهُم بَيْنَهُمْ وَأَسَرُّواْ النَّجْوَىٰ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 magicians argued among themselves about their affair and whispered secretly.</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إِنْ هَٰذَٰنِ لَسَٰحِرَٰنِ يُرِيدَانِ أَن يُخْرِجَاكُم مِّنْ أَرْضِكُم بِسِحْرِهِمَا وَيَذْهَبَا بِطَرِيقَتِكُمُ الْمُثْلَىٰ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These two are magicians who want to drive you out of your land with their magic and do away with your excellent way of life.</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فَأَجْمِعُواْ كَيْدَكُمْ ثُمَّ ائْتُواْ صَفًّا وَقَدْ أَفْلَحَ الْيَوْمَ مَنِ اسْتَعْلَىٰ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gather your plan, then come in one line. Whoever wins today will succeed.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65 – 68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يَٰمُوسَىٰ إِمَّآ أَن تُلْقِيَ وَإِمَّآ أَن نَّكُونَ أَوَّلَ مَنْ أَلْقَىٰ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Musa, either you throw first, or we will be the first to throw.</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بَلْ أَلْقُواْ فَإِذَا حِبَالُهُمْ وَعِصِيُّهُمْ يُخَيَّلُ إِلَيْهِ مِن سِحْرِهِمْ أَنَّهَا تَسْعَىٰ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No, you throw. And suddenly their ropes and sticks seemed to him, by their magic, to be snakes moving.</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فَأَوْجَسَ فِي نَفْسِهِ خِيفَةً 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felt a fear within himself.</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قُلْنَا لَا تَخَفْ إِنَّكَ أَنتَ الْأَعْلَىٰ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said: Do not be afraid; you will win.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69 – 70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8" name="Text 6"/>
          <p:cNvSpPr txBox="1"/>
          <p:nvPr/>
        </p:nvSpPr>
        <p:spPr>
          <a:xfrm>
            <a:off x="1444752" y="197967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وَأَلْقِ مَا فِي يَمِينِكَ تَلْقَفْ مَا صَنَعُواْ إِنَّمَا صَنَعُواْ كَيْدُ سَٰحِرٍ وَلَا يُفْلِحُ السَّاحِرُ حَيْثُ أَتَىٰ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Throw what is in your right hand, and it will swallow up what they have made. What they have made is only a magician's trick, and a magician never succeeds, wherever he goes.</a:t>
            </a:r>
            <a:endParaRPr lang="en-US" sz="3000" dirty="0"/>
          </a:p>
        </p:txBody>
      </p:sp>
      <p:sp>
        <p:nvSpPr>
          <p:cNvPr id="9" name="Shape 7"/>
          <p:cNvSpPr/>
          <p:nvPr/>
        </p:nvSpPr>
        <p:spPr>
          <a:xfrm>
            <a:off x="1444752" y="3968496"/>
            <a:ext cx="8641080" cy="0"/>
          </a:xfrm>
          <a:prstGeom prst="line">
            <a:avLst/>
          </a:prstGeom>
          <a:noFill/>
          <a:ln w="9525">
            <a:solidFill>
              <a:schemeClr val="accent2"/>
            </a:solidFill>
            <a:prstDash val="dash"/>
          </a:ln>
        </p:spPr>
      </p:sp>
      <p:sp>
        <p:nvSpPr>
          <p:cNvPr id="10" name="Shape 8"/>
          <p:cNvSpPr/>
          <p:nvPr/>
        </p:nvSpPr>
        <p:spPr>
          <a:xfrm>
            <a:off x="713232" y="4201668"/>
            <a:ext cx="548640" cy="548640"/>
          </a:xfrm>
          <a:prstGeom prst="star8">
            <a:avLst/>
          </a:prstGeom>
          <a:solidFill>
            <a:schemeClr val="accent2"/>
          </a:solidFill>
          <a:ln/>
        </p:spPr>
      </p:sp>
      <p:sp>
        <p:nvSpPr>
          <p:cNvPr id="11" name="Shape 9"/>
          <p:cNvSpPr/>
          <p:nvPr/>
        </p:nvSpPr>
        <p:spPr>
          <a:xfrm>
            <a:off x="822960"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13" name="Text 11"/>
          <p:cNvSpPr txBox="1"/>
          <p:nvPr/>
        </p:nvSpPr>
        <p:spPr>
          <a:xfrm>
            <a:off x="1444752" y="418338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فَأُلْقِيَ السَّحَرَةُ سُجَّدًا قَالُواْ ءَامَنَّا بِرَبِّ هَٰرُونَ وَمُوسَىٰ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Musa threw his staff and it swallowed their ropes. Then the magicians fell down in prostration and said: We believe in the Lord of Harun and Musa.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71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290572"/>
            <a:ext cx="548640" cy="548640"/>
          </a:xfrm>
          <a:prstGeom prst="star8">
            <a:avLst/>
          </a:prstGeom>
          <a:solidFill>
            <a:schemeClr val="accent2"/>
          </a:solidFill>
          <a:ln/>
        </p:spPr>
      </p:sp>
      <p:sp>
        <p:nvSpPr>
          <p:cNvPr id="6" name="Shape 4"/>
          <p:cNvSpPr/>
          <p:nvPr/>
        </p:nvSpPr>
        <p:spPr>
          <a:xfrm>
            <a:off x="822960"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2905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8" name="Text 6"/>
          <p:cNvSpPr txBox="1"/>
          <p:nvPr/>
        </p:nvSpPr>
        <p:spPr>
          <a:xfrm>
            <a:off x="1444752" y="2272284"/>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ءَامَنتُمْ لَهُ قَبْلَ أَنْ ءَاذَنَ لَكُمْ إِنَّهُ لَكَبِيرُكُمُ الَّذِي عَلَّمَكُمُ السِّحْرَ فَلَأُقَطِّعَنَّ أَيْدِيَكُمْ وَأَرْجُلَكُم مِّنْ خِلَٰفٍ وَلَأُصَلِّبَنَّكُمْ فِي جُذُوعِ النَّخْلِ وَلَتَعْلَمُنَّ أَيُّنَآ أَشَدُّ عَذَابًا وَأَبْقَىٰ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said: Do you believe in him before I give you permission? He must be your chief who taught you magic. I will cut off your hands and feet on opposite sides and crucify you on the trunks of palm trees, and you will know which of us is harsher and more lasting in punishment: me or the Lord of Musa.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72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لَن نُّؤْثِرَكَ عَلَىٰ مَا جَآءَنَا مِنَ الْبَيِّنَٰتِ وَالَّذِي فَطَرَنَا فَاقْضِ مَآ أَنتَ قَاضٍ إِنَّمَا تَقْضِي هَٰذِهِ الْحَيَوٰةَ الدُّنْيَآ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will never prefer you over the clear proofs that have come to us and over Allah who created us. So do whatever you will; you can only rule over this passing worldly life.</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ءَامَنَّا بِرَبِّنَا لِيَغْفِرَ لَنَا خَطَٰيَٰنَا وَمَآ أَكْرَهْتَنَا عَلَيْهِ مِنَ السِّحْرِ وَاللَّهُ خَيْرٌ وَأَبْقَىٰ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believed in our Lord so that He may forgive our sins and the magic you forced us to learn. Allah is better in reward and more lasting.</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إِنَّهُ مَن يَأْتِ رَبَّهُ مُجْرِمًا فَإِنَّ لَهُ جَهَنَّمَ لَا يَمُوتُ فِيهَا وَلَا يَحْيَىٰ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comes to his Lord on the Day of Resurrection as a criminal disbeliever will have Hell, where he will neither die and rest nor live a good life.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يَأْتِهِ مُؤْمِنًا قَدْ عَمِلَ الصَّـٰلِحَٰتِ فَأُوْلَـٰئِكَ لَهُمُ الدَّرَجَٰتُ الْعُلَىٰ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comes to Him as a believer who has done good deeds, they will have the highest ranks:</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تَجْرِي مِن تَحْتِهَا الْأَنْهَٰرُ خَٰلِدِينَ فِيهَا وَذَٰلِكَ جَزَآءُ مَن تَزَكَّىٰ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everlasting stay with rivers flowing beneath them, staying there forever. That is the reward of whoever purifies himself from disbelief and sin.</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أَوْحَيْنَآ إِلَىٰ مُوسَىٰ أَنْ أَسْرِ بِعِبَادِي فَاضْرِبْ لَهُمْ طَرِيقًا فِي الْبَحْرِ يَبَسًا لَّا تَخَٰفُ دَرَكًا وَلَا تَخْشَىٰ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revealed to Musa: Travel by night with My servants and strike for them a dry path through the sea, without fearing that Pharaoh will catch you, and without fearing drowning.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فَأَتْبَعَهُمْ فِرْعَوْنُ بِجُنُودِهِ فَغَشِيَهُم مِّنَ الْيَمِّ مَا غَشِيَهُمْ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followed them with his soldiers, and the sea covered them completely, and they all drowned.</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29375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وَأَضَلَّ فِرْعَوْنُ قَوْمَهُ وَمَا 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Pharaoh led his people astray and did not guide them.</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يَٰبَنِي إِسْرَـٰءِيلَ قَدْ أَنجَيْنَٰكُم مِّنْ عَدُوِّكُمْ وَوَٰعَدْنَٰكُمْ جَانِبَ الطُّورِ الْأَيْمَنَ وَنَزَّلْنَا عَلَيْكُمُ الْمَنَّ وَالسَّلْوَىٰ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Children of Israel, We saved you from your enemy, appointed for you the right side of Mount Tur to send down the Torah, and sent down to you manna and quails.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كُلُواْ مِن طَيِّبَٰتِ مَا رَزَقْنَٰكُمْ وَلَا تَطْغَوْاْ فِيهِ فَيَحِلَّ عَلَيْكُمْ غَضَبِي وَمَن يَحْلِلْ عَلَيْهِ غَضَبِي فَقَدْ هَوَىٰ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Eat from the good things We have provided you, but do not go beyond limits in it, or My anger will fall on you, and whoever My anger falls on is ruined.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4861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وَإِنِّي لَغَفَّارٌ لِّمَن تَابَ وَءَامَنَ وَعَمِلَ صَٰلِحًا ثُمَّ اهْتَدَىٰ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 am very forgiving to whoever repents, believes, does good, and then stays on guidance.</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أَعْجَلَكَ عَن قَوْمِكَ يَٰمُوسَىٰ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Musa hurried ahead of his people to the appointment, Allah said: What made you hurry ahead of your people, O Musa?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هُمْ أُوْلَآءِ عَلَىٰ أَثَرِي وَعَجِلْتُ إِلَيْكَ رَبِّ لِتَرْضَىٰ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They are close behind me, and I hurried to You, my Lord, so that You would be pleased.</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فَإِنَّا قَدْ فَتَنَّا قَوْمَكَ مِن بَعْدِكَ وَأَضَلَّهُمُ السَّامِرِيُّ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We have tested your people after you, and As-Samiri has led them astray into worshipping the calf.</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فَرَجَعَ مُوسَىٰ إِلَىٰ قَوْمِهِ غَضْبَٰنَ أَسِفًا قَالَ يَٰقَوْمِ أَلَمْ يَعِدْكُمْ رَبُّكُمْ وَعْدًا حَسَنًا أَفَطَالَ عَلَيْكُمُ الْعَهْدُ أَمْ أَرَدتُّمْ أَن يَحِلَّ عَلَيْكُمْ غَضَبٌ مِّن رَّبِّكُمْ فَأَخْلَفْتُم مَّوْعِدِي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Musa returned to his people, angry and sad. He said: O my people, did your Lord not promise you a good promise of sending down the Torah? Did the time seem too long to you, or did you want anger from your Lord to fall on you, so you broke your promise to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87 – 89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مَآ أَخْلَفْنَا مَوْعِدَكَ بِمَلْكِنَا وَلَٰكِنَّا حُمِّلْنَآ أَوْزَارًا مِّن زِينَةِ الْقَوْمِ فَقَذَفْنَٰهَا فَكَذَٰلِكَ أَلْقَى السَّامِرِيُّ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did not break our promise to you by our own choice, but we were made to carry loads of jewellery of Pharaoh's people, so we threw them into the fire, and As-Samiri threw in what he had.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فَأَخْرَجَ لَهُمْ عِجْلًا جَسَدًا لَّهُ خُوَارٌ فَقَالُواْ هَٰذَآ إِلَٰهُكُمْ وَإِلَٰهُ مُوسَىٰ فَنَسِيَ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As-Samiri brought out for them a calf, a body that made a sound like a cow, and they said: This is your god and the god of Musa, but Musa forgot him here and went looking for him!</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أَفَلَا يَرَوْنَ أَلَّا يَرْجِعُ إِلَيْهِمْ قَوْلًا وَلَا يَمْلِكُ لَهُمْ ضَرًّا وَلَا نَفْعًا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Did they not see that the calf could not answer them a word, nor had any power to harm or benefit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90 – 92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8" name="Text 6"/>
          <p:cNvSpPr txBox="1"/>
          <p:nvPr/>
        </p:nvSpPr>
        <p:spPr>
          <a:xfrm>
            <a:off x="1444752" y="143103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قَالَ لَهُمْ هَٰرُونُ مِن قَبْلُ يَٰقَوْمِ إِنَّمَا فُتِنتُم بِهِ وَإِنَّ رَبَّكُمُ الرَّحْمَٰنُ فَاتَّبِعُونِي وَأَطِيعُواْ أَمْرِي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Harun had already told them before Musa returned: O my people, you are only being tested by the calf. Your Lord is the Most Merciful, so follow me and obey my command.</a:t>
            </a:r>
            <a:endParaRPr lang="en-US" sz="3000" dirty="0"/>
          </a:p>
        </p:txBody>
      </p:sp>
      <p:sp>
        <p:nvSpPr>
          <p:cNvPr id="9" name="Shape 7"/>
          <p:cNvSpPr/>
          <p:nvPr/>
        </p:nvSpPr>
        <p:spPr>
          <a:xfrm>
            <a:off x="1444752" y="3410712"/>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3" name="Text 11"/>
          <p:cNvSpPr txBox="1"/>
          <p:nvPr/>
        </p:nvSpPr>
        <p:spPr>
          <a:xfrm>
            <a:off x="1444752" y="361645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لَن نَّبْرَحَ عَلَيْهِ عَٰكِفِينَ حَتَّىٰ يَرْجِعَ إِلَيْنَا مُوسَىٰ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We will keep worshipping it until Musa returns to us.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يَٰهَٰرُونُ مَا مَنَعَكَ إِذْ رَأَيْتَهُمْ ضَلُّواْ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O Harun, what stopped you, when you saw them going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93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أَلَّا تَتَّبِعَنِ أَفَعَصَيْتَ أَمْرِي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from following me and coming after me? Did you disobey my command?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يَبْنَؤُمَّ لَا تَأْخُذْ بِلِحْيَتِي وَلَا بِرَأْسِي إِنِّي خَشِيتُ أَن تَقُولَ فَرَّقْتَ بَيْنَ بَنِي إِسْرَـٰءِيلَ وَلَمْ تَرْقُبْ قَوْلِي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Harun said: Son of my mother, do not seize me by my beard or my head. I feared you would say: You divided the Children of Israel and did not keep my word.</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فَمَا خَطْبُكَ يَٰسَٰمِرِيُّ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And what is your story, O Samiri?</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44475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بَصُرْتُ بِمَا لَمْ يَبْصُرُواْ بِهِ فَقَبَضْتُ قَبْضَةً مِّنْ أَثَرِ الرَّسُولِ فَنَبَذْتُهَا وَكَذَٰلِكَ سَوَّلَتْ لِي نَفْسِي</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saw what they did not see. I saw Jibril on his horse, so I took a handful of dust from the horse's track and threw it onto the melted jewellery. That is what my soul made seem good to me.</a:t>
            </a:r>
            <a:endParaRPr lang="en-US" sz="3000" dirty="0"/>
          </a:p>
        </p:txBody>
      </p:sp>
      <p:sp>
        <p:nvSpPr>
          <p:cNvPr id="9" name="Shape 7"/>
          <p:cNvSpPr/>
          <p:nvPr/>
        </p:nvSpPr>
        <p:spPr>
          <a:xfrm>
            <a:off x="1444752" y="3433572"/>
            <a:ext cx="8641080" cy="0"/>
          </a:xfrm>
          <a:prstGeom prst="line">
            <a:avLst/>
          </a:prstGeom>
          <a:noFill/>
          <a:ln w="9525">
            <a:solidFill>
              <a:schemeClr val="accent2"/>
            </a:solidFill>
            <a:prstDash val="dash"/>
          </a:ln>
        </p:spPr>
      </p:sp>
      <p:sp>
        <p:nvSpPr>
          <p:cNvPr id="10" name="Shape 8"/>
          <p:cNvSpPr/>
          <p:nvPr/>
        </p:nvSpPr>
        <p:spPr>
          <a:xfrm>
            <a:off x="713232" y="3666744"/>
            <a:ext cx="548640" cy="548640"/>
          </a:xfrm>
          <a:prstGeom prst="star8">
            <a:avLst/>
          </a:prstGeom>
          <a:solidFill>
            <a:schemeClr val="accent2"/>
          </a:solidFill>
          <a:ln/>
        </p:spPr>
      </p:sp>
      <p:sp>
        <p:nvSpPr>
          <p:cNvPr id="11" name="Shape 9"/>
          <p:cNvSpPr/>
          <p:nvPr/>
        </p:nvSpPr>
        <p:spPr>
          <a:xfrm>
            <a:off x="822960" y="377647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6674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3648456"/>
            <a:ext cx="10012680" cy="232257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فَاذْهَبْ فَإِنَّ لَكَ فِي الْحَيَوٰةِ أَن تَقُولَ لَا مِسَاسَ وَإِنَّ لَكَ مَوْعِدًا لَّن تُخْلَفَهُ وَانظُرْ إِلَىٰ إِلَٰهِكَ الَّذِي ظَلْتَ عَلَيْهِ عَاكِفًا لَّنُحَرِّقَنَّهُ ثُمَّ لَنَنسِفَنَّهُ فِي الْيَمِّ نَسْفًا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Go away! Your punishment in this life is that you will say to whoever meets you: Do not touch me, living as an outcast. And you have an appointment with punishment in the Hereafter that you will not escape. Look at your god which you kept worshipping; we will burn it and scatter it in the sea.</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إِنَّمَآ إِلَٰهُكُمُ اللَّهُ الَّذِي لَآ إِلَٰهَ إِلَّا هُوَ وَسِعَ كُلَّ شَيْءٍ عِلْمًا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Your true God is only Allah; there is no god but Him. He encompasses everything in knowledge.</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249688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نَقُصُّ عَلَيْكَ مِنْ أَنبَآءِ مَا قَدْ سَبَقَ وَقَدْ ءَاتَيْنَٰكَ مِن لَّدُنَّا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We have told you the story of Musa, We tell you some of the news of what has passed, and We have given you from Us the Qur'an.</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مَّنْ أَعْرَضَ عَنْهُ فَإِنَّهُ يَحْمِلُ يَوْمَ الْقِيَٰمَةِ وِزْرًا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Whoever turns away from it will carry a heavy burden of sin on the Day of Resurrection,</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 وَسَآءَ لَهُمْ يَوْمَ الْقِيَٰمَةِ حِمْلًا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in its punishment forever. How evil a load for them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102 – 105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يُنفَخُ فِي الصُّورِ وَنَحْشُرُ الْمُجْرِمِينَ يَوْمَئِذٍ زُرْقًا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the Horn is blown, We will gather the criminals that Day with eyes blue with terror.</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يَتَخَٰفَتُونَ بَيْنَهُمْ إِن لَّبِثْتُمْ إِلَّا عَشْرًا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whisper to one another: You stayed in the world only ten nights.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نَّحْنُ أَعْلَمُ بِمَا يَقُولُونَ إِذْ يَقُولُ أَمْثَلُهُمْ طَرِيقَةً إِن لَّبِثْتُمْ إِلَّا يَوْمًا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know best what they will say, when the most sensible of them says: You stayed only one day.</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وَيَسْـَٔلُونَكَ عَنِ الْجِبَالِ فَقُلْ يَنسِفُهَا رَبِّي نَسْفًا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ask you about the mountains on the Day of Resurrection. Say: My Lord will uproot them and scatter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106 – 108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فَيَذَرُهَا قَاعًا صَفْصَفًا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leave the earth level and smooth,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تَرَىٰ فِيهَا عِوَجًا وَلَآ أَمْتًا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with no dip or rise that you can see in it.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يَتَّبِعُونَ الدَّاعِيَ لَا عِوَجَ لَهُ وَخَشَعَتِ الْأَصْوَاتُ لِلرَّحْمَٰنِ فَلَا تَسْمَعُ إِلَّا هَمْسًا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people will follow the voice of the caller to the gathering, not turning away from it. Voices will be hushed before the Most Merciful, and you will hear nothing but a faint whisper.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109 – 111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يَوْمَئِذٍ لَّا تَنفَعُ الشَّفَٰعَةُ إِلَّا مَنْ أَذِنَ لَهُ الرَّحْمَٰنُ وَرَضِيَ لَهُ قَوْلًا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intercession will not help, except from one whom the Most Merciful allows and whose word He is pleased with.</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يَعْلَمُ مَا بَيْنَ أَيْدِيهِمْ وَمَا خَلْفَهُمْ وَلَا يُحِيطُونَ بِهِ عِلْمًا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knows what is before them and what is behind them, but they cannot encompass Him in knowledge.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111</a:t>
            </a:r>
            <a:endParaRPr lang="en-US" sz="13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وَعَنَتِ الْوُجُوهُ لِلْحَيِّ الْقَيُّومِ وَقَدْ خَابَ مَنْ حَمَلَ ظُلْمًا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Faces will be humbled before the Ever-Living, the Sustainer, and whoever carries injustice and shirk will have failed.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112 – 113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997964"/>
            <a:ext cx="548640" cy="548640"/>
          </a:xfrm>
          <a:prstGeom prst="star8">
            <a:avLst/>
          </a:prstGeom>
          <a:solidFill>
            <a:schemeClr val="accent2"/>
          </a:solidFill>
          <a:ln/>
        </p:spPr>
      </p:sp>
      <p:sp>
        <p:nvSpPr>
          <p:cNvPr id="6" name="Shape 4"/>
          <p:cNvSpPr/>
          <p:nvPr/>
        </p:nvSpPr>
        <p:spPr>
          <a:xfrm>
            <a:off x="822960"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99796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112</a:t>
            </a:r>
            <a:endParaRPr lang="en-US" sz="1300" dirty="0"/>
          </a:p>
        </p:txBody>
      </p:sp>
      <p:sp>
        <p:nvSpPr>
          <p:cNvPr id="8" name="Text 6"/>
          <p:cNvSpPr txBox="1"/>
          <p:nvPr/>
        </p:nvSpPr>
        <p:spPr>
          <a:xfrm>
            <a:off x="1444752" y="197967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يَعْمَلْ مِنَ الصَّـٰلِحَٰتِ وَهُوَ مُؤْمِنٌ فَلَا يَخَافُ ظُلْمًا وَلَا هَضْمًا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does good deeds while being a believer will not fear injustice by having bad deeds added, nor loss by having good deeds reduced.</a:t>
            </a:r>
            <a:endParaRPr lang="en-US" sz="3000" dirty="0"/>
          </a:p>
        </p:txBody>
      </p:sp>
      <p:sp>
        <p:nvSpPr>
          <p:cNvPr id="9" name="Shape 7"/>
          <p:cNvSpPr/>
          <p:nvPr/>
        </p:nvSpPr>
        <p:spPr>
          <a:xfrm>
            <a:off x="1444752" y="3419856"/>
            <a:ext cx="8641080" cy="0"/>
          </a:xfrm>
          <a:prstGeom prst="line">
            <a:avLst/>
          </a:prstGeom>
          <a:noFill/>
          <a:ln w="9525">
            <a:solidFill>
              <a:schemeClr val="accent2"/>
            </a:solidFill>
            <a:prstDash val="dash"/>
          </a:ln>
        </p:spPr>
      </p:sp>
      <p:sp>
        <p:nvSpPr>
          <p:cNvPr id="10" name="Shape 8"/>
          <p:cNvSpPr/>
          <p:nvPr/>
        </p:nvSpPr>
        <p:spPr>
          <a:xfrm>
            <a:off x="713232" y="3653028"/>
            <a:ext cx="548640" cy="548640"/>
          </a:xfrm>
          <a:prstGeom prst="star8">
            <a:avLst/>
          </a:prstGeom>
          <a:solidFill>
            <a:schemeClr val="accent2"/>
          </a:solidFill>
          <a:ln/>
        </p:spPr>
      </p:sp>
      <p:sp>
        <p:nvSpPr>
          <p:cNvPr id="11" name="Shape 9"/>
          <p:cNvSpPr/>
          <p:nvPr/>
        </p:nvSpPr>
        <p:spPr>
          <a:xfrm>
            <a:off x="822960" y="376275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5302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113</a:t>
            </a:r>
            <a:endParaRPr lang="en-US" sz="1300" dirty="0"/>
          </a:p>
        </p:txBody>
      </p:sp>
      <p:sp>
        <p:nvSpPr>
          <p:cNvPr id="13" name="Text 11"/>
          <p:cNvSpPr txBox="1"/>
          <p:nvPr/>
        </p:nvSpPr>
        <p:spPr>
          <a:xfrm>
            <a:off x="1444752" y="363474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أَنزَلْنَٰهُ قُرْءَانًا عَرَبِيًّا وَصَرَّفْنَا فِيهِ مِنَ الْوَعِيدِ لَعَلَّهُمْ يَتَّقُونَ أَوْ يُحْدِثُ لَهُمْ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this way We have sent it down as an Arabic Qur'an and repeated warnings in it, so that they may have taqwa, or so that it may bring them a reminder.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114 – 116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114</a:t>
            </a:r>
            <a:endParaRPr lang="en-US" sz="13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فَتَعَٰلَى اللَّهُ الْمَلِكُ الْحَقُّ وَلَا تَعْجَلْ بِالْقُرْءَانِ مِن قَبْلِ أَن يُقْضَىٰ إِلَيْكَ وَحْيُهُ وَقُل رَّبِّ زِدْنِي عِلْمًا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exalted is Allah, the True King. Do not hurry to recite the Qur'an before Jibril has finished reciting it to you, and say: My Lord, increase me in knowledge.</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115</a:t>
            </a:r>
            <a:endParaRPr lang="en-US" sz="13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وَلَقَدْ عَهِدْنَآ إِلَىٰ ءَادَمَ مِن قَبْلُ فَنَسِيَ وَلَمْ نَجِدْ لَهُ عَزْمًا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had commanded Adam before not to eat from the tree, but he forgot, and We did not find in him firm determination to keep away.</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116</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 قُلْنَا لِلْمَلَـٰئِكَةِ اسْجُدُواْ لِأدَمَ فَسَجَدُواْ إِلَّآ إِبْلِيسَ أَبَىٰ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Remember when We said to the angels: Bow down to Adam. They bowed down, except Iblis; he refused.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117 – 119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117</a:t>
            </a:r>
            <a:endParaRPr lang="en-US" sz="13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فَقُلْنَا يَـٰـَٔادَمُ إِنَّ هَٰذَا عَدُوٌّ لَّكَ وَلِزَوْجِكَ فَلَا يُخْرِجَنَّكُمَا مِنَ الْجَنَّةِ فَتَشْقَىٰ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said: O Adam, this is an enemy to you and your wife, so do not let him get you out of Paradise, or you will tire yourself seeking provision.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118</a:t>
            </a:r>
            <a:endParaRPr lang="en-US" sz="13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لَكَ أَلَّا تَجُوعَ فِيهَا وَلَا تَعْرَىٰ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In it you will not be hungry or unclothed,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119</a:t>
            </a:r>
            <a:endParaRPr lang="en-US" sz="13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وَأَنَّكَ لَا تَظْمَؤُاْ فِيهَا وَلَا تَضْحَىٰ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nor will you be thirsty there or suffer the sun's heat.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120 – 122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120</a:t>
            </a:r>
            <a:endParaRPr lang="en-US" sz="13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فَوَسْوَسَ إِلَيْهِ الشَّيْطَٰنُ قَالَ يَـٰـَٔادَمُ هَلْ أَدُلُّكَ عَلَىٰ شَجَرَةِ الْخُلْدِ وَمُلْكٍ لَّا يَبْلَىٰ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Satan whispered to him, saying: O Adam, shall I show you the tree of immortality, whoever eats from it lives forever, and a kingdom that never ends?</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121</a:t>
            </a:r>
            <a:endParaRPr lang="en-US" sz="13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فَأَكَلَا مِنْهَا فَبَدَتْ لَهُمَا سَوْءَٰتُهُمَا وَطَفِقَا يَخْصِفَانِ عَلَيْهِمَا مِن وَرَقِ الْجَنَّةِ وَعَصَىٰ ءَادَمُ رَبَّهُ فَغَوَىٰ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both ate from it, and their bodies were uncovered to them, and they began covering themselves with leaves of Paradise. Adam disobeyed his Lord's command and made a mistake.</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122</a:t>
            </a:r>
            <a:endParaRPr lang="en-US" sz="13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اجْتَبَٰهُ رَبُّهُ فَتَابَ عَلَيْهِ وَهَدَىٰ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his Lord chose him, accepted his repentance and guided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123 – 125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123</a:t>
            </a:r>
            <a:endParaRPr lang="en-US" sz="1300" dirty="0"/>
          </a:p>
        </p:txBody>
      </p:sp>
      <p:sp>
        <p:nvSpPr>
          <p:cNvPr id="8" name="Text 6"/>
          <p:cNvSpPr txBox="1"/>
          <p:nvPr/>
        </p:nvSpPr>
        <p:spPr>
          <a:xfrm>
            <a:off x="1444752" y="134416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اهْبِطَا مِنْهَا جَمِيعًا بَعْضُكُمْ لِبَعْضٍ عَدُوٌّ فَإِمَّا يَأْتِيَنَّكُم مِّنِّي هُدًى فَمَنِ اتَّبَعَ هُدَايَ فَلَا يَضِلُّ وَلَا يَشْقَىٰ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said: Go down from Paradise, both of you, as enemies to one another. When guidance comes to you from Me, whoever follows My guidance will not go astray in this world nor be miserable in the Hereafter.</a:t>
            </a:r>
            <a:endParaRPr lang="en-US" sz="3000" dirty="0"/>
          </a:p>
        </p:txBody>
      </p:sp>
      <p:sp>
        <p:nvSpPr>
          <p:cNvPr id="9" name="Shape 7"/>
          <p:cNvSpPr/>
          <p:nvPr/>
        </p:nvSpPr>
        <p:spPr>
          <a:xfrm>
            <a:off x="1444752" y="3497580"/>
            <a:ext cx="8641080" cy="0"/>
          </a:xfrm>
          <a:prstGeom prst="line">
            <a:avLst/>
          </a:prstGeom>
          <a:noFill/>
          <a:ln w="9525">
            <a:solidFill>
              <a:schemeClr val="accent2"/>
            </a:solidFill>
            <a:prstDash val="dash"/>
          </a:ln>
        </p:spPr>
      </p:sp>
      <p:sp>
        <p:nvSpPr>
          <p:cNvPr id="10" name="Shape 8"/>
          <p:cNvSpPr/>
          <p:nvPr/>
        </p:nvSpPr>
        <p:spPr>
          <a:xfrm>
            <a:off x="713232" y="3634740"/>
            <a:ext cx="548640" cy="548640"/>
          </a:xfrm>
          <a:prstGeom prst="star8">
            <a:avLst/>
          </a:prstGeom>
          <a:solidFill>
            <a:schemeClr val="accent2"/>
          </a:solidFill>
          <a:ln/>
        </p:spPr>
      </p:sp>
      <p:sp>
        <p:nvSpPr>
          <p:cNvPr id="11" name="Shape 9"/>
          <p:cNvSpPr/>
          <p:nvPr/>
        </p:nvSpPr>
        <p:spPr>
          <a:xfrm>
            <a:off x="822960"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63474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124</a:t>
            </a:r>
            <a:endParaRPr lang="en-US" sz="1300" dirty="0"/>
          </a:p>
        </p:txBody>
      </p:sp>
      <p:sp>
        <p:nvSpPr>
          <p:cNvPr id="13" name="Text 11"/>
          <p:cNvSpPr txBox="1"/>
          <p:nvPr/>
        </p:nvSpPr>
        <p:spPr>
          <a:xfrm>
            <a:off x="1444752" y="36164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وَمَنْ أَعْرَضَ عَن ذِكْرِي فَإِنَّ لَهُ مَعِيشَةً ضَنكًا وَنَحْشُرُهُ يَوْمَ الْقِيَٰمَةِ أَعْمَىٰ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turns away from My remembrance will have a tight, difficult life in this world even if his wealth is great, and We will raise him blind on the Day of Resurrection.</a:t>
            </a:r>
            <a:endParaRPr lang="en-US" sz="3000" dirty="0"/>
          </a:p>
        </p:txBody>
      </p:sp>
      <p:sp>
        <p:nvSpPr>
          <p:cNvPr id="14" name="Shape 12"/>
          <p:cNvSpPr/>
          <p:nvPr/>
        </p:nvSpPr>
        <p:spPr>
          <a:xfrm>
            <a:off x="1444752" y="4960620"/>
            <a:ext cx="8641080" cy="0"/>
          </a:xfrm>
          <a:prstGeom prst="line">
            <a:avLst/>
          </a:prstGeom>
          <a:noFill/>
          <a:ln w="9525">
            <a:solidFill>
              <a:schemeClr val="accent2"/>
            </a:solidFill>
            <a:prstDash val="dash"/>
          </a:ln>
        </p:spPr>
      </p:sp>
      <p:sp>
        <p:nvSpPr>
          <p:cNvPr id="15" name="Shape 13"/>
          <p:cNvSpPr/>
          <p:nvPr/>
        </p:nvSpPr>
        <p:spPr>
          <a:xfrm>
            <a:off x="713232" y="5097780"/>
            <a:ext cx="548640" cy="548640"/>
          </a:xfrm>
          <a:prstGeom prst="star8">
            <a:avLst/>
          </a:prstGeom>
          <a:solidFill>
            <a:schemeClr val="accent2"/>
          </a:solidFill>
          <a:ln/>
        </p:spPr>
      </p:sp>
      <p:sp>
        <p:nvSpPr>
          <p:cNvPr id="16" name="Shape 14"/>
          <p:cNvSpPr/>
          <p:nvPr/>
        </p:nvSpPr>
        <p:spPr>
          <a:xfrm>
            <a:off x="822960" y="52075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9778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125</a:t>
            </a:r>
            <a:endParaRPr lang="en-US" sz="1300" dirty="0"/>
          </a:p>
        </p:txBody>
      </p:sp>
      <p:sp>
        <p:nvSpPr>
          <p:cNvPr id="18" name="Text 16"/>
          <p:cNvSpPr txBox="1"/>
          <p:nvPr/>
        </p:nvSpPr>
        <p:spPr>
          <a:xfrm>
            <a:off x="1444752" y="50794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لِمَ حَشَرْتَنِي أَعْمَىٰ وَقَدْ كُنتُ بَصِيرًا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My Lord, why have You raised me blind when I used to see?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126 – 128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126</a:t>
            </a:r>
            <a:endParaRPr lang="en-US" sz="13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كَذَٰلِكَ أَتَتْكَ ءَايَٰتُنَا فَنَسِيتَهَا وَكَذَٰلِكَ الْيَوْمَ تُنسَىٰ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will say: In the same way, Our signs came to you and you forgot them, and so today you will be forgotten in the punishment.</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127</a:t>
            </a:r>
            <a:endParaRPr lang="en-US" sz="1300" dirty="0"/>
          </a:p>
        </p:txBody>
      </p:sp>
      <p:sp>
        <p:nvSpPr>
          <p:cNvPr id="13" name="Text 11"/>
          <p:cNvSpPr txBox="1"/>
          <p:nvPr/>
        </p:nvSpPr>
        <p:spPr>
          <a:xfrm>
            <a:off x="1444752" y="28072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وَكَذَٰلِكَ نَجْزِي مَنْ أَسْرَفَ وَلَمْ يُؤْمِن بِـَٔايَٰتِ رَبِّهِ وَلَعَذَابُ الْأخِرَةِ أَشَدُّ وَأَبْقَىٰ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how We repay whoever goes too far and does not believe in his Lord's signs. And the punishment of the Hereafter is more severe and more lasting.</a:t>
            </a:r>
            <a:endParaRPr lang="en-US" sz="3000" dirty="0"/>
          </a:p>
        </p:txBody>
      </p:sp>
      <p:sp>
        <p:nvSpPr>
          <p:cNvPr id="14" name="Shape 12"/>
          <p:cNvSpPr/>
          <p:nvPr/>
        </p:nvSpPr>
        <p:spPr>
          <a:xfrm>
            <a:off x="1444752" y="4151376"/>
            <a:ext cx="8641080" cy="0"/>
          </a:xfrm>
          <a:prstGeom prst="line">
            <a:avLst/>
          </a:prstGeom>
          <a:noFill/>
          <a:ln w="9525">
            <a:solidFill>
              <a:schemeClr val="accent2"/>
            </a:solidFill>
            <a:prstDash val="dash"/>
          </a:ln>
        </p:spPr>
      </p:sp>
      <p:sp>
        <p:nvSpPr>
          <p:cNvPr id="15" name="Shape 13"/>
          <p:cNvSpPr/>
          <p:nvPr/>
        </p:nvSpPr>
        <p:spPr>
          <a:xfrm>
            <a:off x="713232" y="4288536"/>
            <a:ext cx="548640" cy="548640"/>
          </a:xfrm>
          <a:prstGeom prst="star8">
            <a:avLst/>
          </a:prstGeom>
          <a:solidFill>
            <a:schemeClr val="accent2"/>
          </a:solidFill>
          <a:ln/>
        </p:spPr>
      </p:sp>
      <p:sp>
        <p:nvSpPr>
          <p:cNvPr id="16" name="Shape 14"/>
          <p:cNvSpPr/>
          <p:nvPr/>
        </p:nvSpPr>
        <p:spPr>
          <a:xfrm>
            <a:off x="822960" y="43982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885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128</a:t>
            </a:r>
            <a:endParaRPr lang="en-US" sz="1300" dirty="0"/>
          </a:p>
        </p:txBody>
      </p:sp>
      <p:sp>
        <p:nvSpPr>
          <p:cNvPr id="18" name="Text 16"/>
          <p:cNvSpPr txBox="1"/>
          <p:nvPr/>
        </p:nvSpPr>
        <p:spPr>
          <a:xfrm>
            <a:off x="1444752" y="427024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أَفَلَمْ يَهْدِ لَهُمْ كَمْ أَهْلَكْنَا قَبْلَهُم مِّنَ الْقُرُونِ يَمْشُونَ فِي مَسَٰكِنِهِمْ إِنَّ فِي ذَٰلِكَ لَأيَٰتٍ لِّأُوْلِي النُّهَىٰ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 it not clear to them how many nations We destroyed before them, in whose homes they now walk? In that are signs for people of understanding.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129 – 130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129</a:t>
            </a:r>
            <a:endParaRPr lang="en-US" sz="1300" dirty="0"/>
          </a:p>
        </p:txBody>
      </p:sp>
      <p:sp>
        <p:nvSpPr>
          <p:cNvPr id="8" name="Text 6"/>
          <p:cNvSpPr txBox="1"/>
          <p:nvPr/>
        </p:nvSpPr>
        <p:spPr>
          <a:xfrm>
            <a:off x="1444752" y="184937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وَلَوْلَا كَلِمَةٌ سَبَقَتْ مِن رَّبِّكَ لَكَانَ لِزَامًا وَأَجَلٌ مُّسَمًّى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not for a word already given by your Lord to delay the punishment, and a set time, it would have fallen on them at once.</a:t>
            </a:r>
            <a:endParaRPr lang="en-US" sz="3000" dirty="0"/>
          </a:p>
        </p:txBody>
      </p:sp>
      <p:sp>
        <p:nvSpPr>
          <p:cNvPr id="9" name="Shape 7"/>
          <p:cNvSpPr/>
          <p:nvPr/>
        </p:nvSpPr>
        <p:spPr>
          <a:xfrm>
            <a:off x="1444752" y="3289554"/>
            <a:ext cx="8641080" cy="0"/>
          </a:xfrm>
          <a:prstGeom prst="line">
            <a:avLst/>
          </a:prstGeom>
          <a:noFill/>
          <a:ln w="9525">
            <a:solidFill>
              <a:schemeClr val="accent2"/>
            </a:solidFill>
            <a:prstDash val="dash"/>
          </a:ln>
        </p:spPr>
      </p:sp>
      <p:sp>
        <p:nvSpPr>
          <p:cNvPr id="10" name="Shape 8"/>
          <p:cNvSpPr/>
          <p:nvPr/>
        </p:nvSpPr>
        <p:spPr>
          <a:xfrm>
            <a:off x="713232" y="3522726"/>
            <a:ext cx="548640" cy="548640"/>
          </a:xfrm>
          <a:prstGeom prst="star8">
            <a:avLst/>
          </a:prstGeom>
          <a:solidFill>
            <a:schemeClr val="accent2"/>
          </a:solidFill>
          <a:ln/>
        </p:spPr>
      </p:sp>
      <p:sp>
        <p:nvSpPr>
          <p:cNvPr id="11" name="Shape 9"/>
          <p:cNvSpPr/>
          <p:nvPr/>
        </p:nvSpPr>
        <p:spPr>
          <a:xfrm>
            <a:off x="822960" y="363245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2272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130</a:t>
            </a:r>
            <a:endParaRPr lang="en-US" sz="1300" dirty="0"/>
          </a:p>
        </p:txBody>
      </p:sp>
      <p:sp>
        <p:nvSpPr>
          <p:cNvPr id="13" name="Text 11"/>
          <p:cNvSpPr txBox="1"/>
          <p:nvPr/>
        </p:nvSpPr>
        <p:spPr>
          <a:xfrm>
            <a:off x="1444752" y="3504438"/>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فَاصْبِرْ عَلَىٰ مَا يَقُولُونَ وَسَبِّحْ بِحَمْدِ رَبِّكَ قَبْلَ طُلُوعِ الشَّمْسِ وَقَبْلَ غُرُوبِهَا وَمِنْ ءَانَآيِٕ الَّيْلِ فَسَبِّحْ وَأَطْرَافَ النَّهَارِ لَعَلَّكَ تَرْضَىٰ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be patient with what they say, and glorify your Lord with praise before sunrise, the Fajr prayer, and before sunset, the 'Asr prayer. Glorify Him in hours of the night and at the ends of the day, so that you may be pleased with your reward.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131 – 133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131</a:t>
            </a:r>
            <a:endParaRPr lang="en-US" sz="13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وَلَا تَمُدَّنَّ عَيْنَيْكَ إِلَىٰ مَا مَتَّعْنَا بِهِ أَزْوَٰجًا مِّنْهُمْ زَهْرَةَ الْحَيَوٰةِ الدُّنْيَا لِنَفْتِنَهُمْ فِيهِ وَرِزْقُ رَبِّكَ خَيْرٌ وَأَبْقَىٰ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not look longingly at the worldly decoration We have given some kinds of disbelievers to enjoy, to test them by it. Your Lord's provision in the Hereafter is better and more lasting.</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132</a:t>
            </a:r>
            <a:endParaRPr lang="en-US" sz="13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وَأْمُرْ أَهْلَكَ بِالصَّلَوٰةِ وَاصْطَبِرْ عَلَيْهَا لَا نَسْـَٔلُكَ رِزْقًا نَّحْنُ نَرْزُقُكَ وَالْعَٰقِبَةُ لِلتَّقْوَىٰ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Command your family to pray and be patient in keeping it. We do not ask you for provision; We provide for you. And the good end is for the people of taqwa.</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133</a:t>
            </a:r>
            <a:endParaRPr lang="en-US" sz="13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لَوْلَا يَأْتِينَا بِـَٔايَةٍ مِّن رَّبِّهِ أَوَلَمْ تَأْتِهِم بَيِّنَةُ مَا فِي الصُّحُفِ الْأُولَىٰ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Why does he not bring us a sign from his Lord? Has the Qur'an not come to them as a clear statement of what was in the earlier scriptures?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Ta-Ha</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134 – 135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134</a:t>
            </a:r>
            <a:endParaRPr lang="en-US" sz="13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وَلَوْ أَنَّآ أَهْلَكْنَٰهُم بِعَذَابٍ مِّن قَبْلِهِ لَقَالُواْ رَبَّنَا لَوْلَآ أَرْسَلْتَ إِلَيْنَا رَسُولًا فَنَتَّبِعَ ءَايَٰتِكَ مِن قَبْلِ أَن نَّذِلَّ وَنَخْزَىٰ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If We had destroyed them with a punishment before sending Muhammad, they would have said: Our Lord, why did You not send us a messenger so that we could have followed Your signs before we were humiliated and disgraced?</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135</a:t>
            </a:r>
            <a:endParaRPr lang="en-US" sz="13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كُلٌّ مُّتَرَبِّصٌ فَتَرَبَّصُواْ فَسَتَعْلَمُونَ مَنْ أَصْحَٰبُ الصِّرَٰطِ السَّوِيِّ وَمَنِ اهْتَدَىٰ</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Each of us is waiting, so wait. You will come to know who are the people of the straight path and who is guided.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Maryam</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98 verses • Maryam</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19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400" dirty="0">
                <a:solidFill>
                  <a:schemeClr val="tx1"/>
                </a:solidFill>
                <a:latin typeface="Arial" pitchFamily="34" charset="0"/>
                <a:ea typeface="Arial" pitchFamily="34" charset="-122"/>
                <a:cs typeface="Arial" pitchFamily="34" charset="-120"/>
              </a:rPr>
              <a:t>Ibn 'Abbas (may Allah be pleased with them) said: The Prophet (peace be upon him) said to Jibril: "What stops you from visiting us more often?" So this was revealed: “We only come down by your Lord's command; to Him belongs what is before us and what is behind us” (Bukhari). And Ja'far ibn Abi Talib recited the beginning of Surah Maryam to An-Najashi, and he wept (Ahmad).</a:t>
            </a:r>
            <a:endParaRPr lang="en-US" sz="14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Allah's mercy to His prophets: Zakariyya's prayer and the birth of Yahya, the story of Maryam and the birth of 'Isa and the miracle of his speaking in the cradle, Ibrahim's gentle talk with his father, then mention of Musa, Isma'il and Idris, and a reply to those who claim Allah has a son.</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 – 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35658"/>
            <a:ext cx="548640" cy="548640"/>
          </a:xfrm>
          <a:prstGeom prst="star8">
            <a:avLst/>
          </a:prstGeom>
          <a:solidFill>
            <a:schemeClr val="accent2"/>
          </a:solidFill>
          <a:ln/>
        </p:spPr>
      </p:sp>
      <p:sp>
        <p:nvSpPr>
          <p:cNvPr id="6" name="Shape 4"/>
          <p:cNvSpPr/>
          <p:nvPr/>
        </p:nvSpPr>
        <p:spPr>
          <a:xfrm>
            <a:off x="822960" y="19453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356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a:t>
            </a:r>
            <a:endParaRPr lang="en-US" sz="1600" dirty="0"/>
          </a:p>
        </p:txBody>
      </p:sp>
      <p:sp>
        <p:nvSpPr>
          <p:cNvPr id="8" name="Text 6"/>
          <p:cNvSpPr txBox="1"/>
          <p:nvPr/>
        </p:nvSpPr>
        <p:spPr>
          <a:xfrm>
            <a:off x="1444752" y="18173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كهيعص</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Separate letters, pointing to the miracle of the Qur'an.</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1444752" y="321183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ذِكْرُ رَحْمَتِ رَبِّكَ عَبْدَهُ زَكَرِيَّآ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This is a mention of your Lord's mercy to His servant Zakariyya,</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a:t>
            </a:r>
            <a:endParaRPr lang="en-US" sz="1600" dirty="0"/>
          </a:p>
        </p:txBody>
      </p:sp>
      <p:sp>
        <p:nvSpPr>
          <p:cNvPr id="18" name="Text 16"/>
          <p:cNvSpPr txBox="1"/>
          <p:nvPr/>
        </p:nvSpPr>
        <p:spPr>
          <a:xfrm>
            <a:off x="1444752" y="46062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نَادَىٰ رَبَّهُ نِدَآءً خَفِيًّا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called on his Lord with a secret, quiet prayer.</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 – 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إِنِّي وَهَنَ الْعَظْمُ مِنِّي وَاشْتَعَلَ الرَّأْسُ شَيْبًا وَلَمْ أَكُن بِدُعَآئِكَ رَبِّ شَقِيًّا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my bones have grown weak and grey hair has spread across my head, and I have never been disappointed in calling on You, my Lord.</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وَإِنِّي خِفْتُ الْمَوَٰلِيَ مِن وَرَآءِي وَكَانَتِ امْرَأَتِي عَاقِرًا فَهَبْ لِي مِن لَّدُنكَ وَلِيًّا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fear my relatives after me will not uphold the religion, and my wife cannot have children, so grant me from Yourself a son</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يَرِثُنِي وَيَرِثُ مِنْ ءَالِ يَعْقُوبَ وَاجْعَلْهُ رَبِّ رَضِيًّا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 will inherit prophethood from me and from the family of Ya'qub, and make him, my Lord, pleasing.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 – 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يَٰزَكَرِيَّآ إِنَّا نُبَشِّرُكَ بِغُلَٰمٍ اسْمُهُ يَحْيَىٰ لَمْ نَجْعَل لَّهُ مِن قَبْلُ سَمِيًّا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Zakariyya, We give you good news of a boy whose name is Yahya; We have given no one that name before.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أَنَّىٰ يَكُونُ لِي غُلَٰمٌ وَكَانَتِ امْرَأَتِي عَاقِرًا وَقَدْ بَلَغْتُ مِنَ الْكِبَرِ عِتِيًّا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how can I have a boy when my wife cannot have children and I have reached extreme old age?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كَذَٰلِكَ قَالَ رَبُّكَ هُوَ عَلَيَّ هَيِّنٌ وَقَدْ خَلَقْتُكَ مِن قَبْلُ وَلَمْ تَكُ شَيْـًٔا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angel said: So it will be. Your Lord says: It is easy for Me; I created you before when you were nothing.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 – 12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10</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رَبِّ اجْعَل لِّي ءَايَةً قَالَ ءَايَتُكَ أَلَّا تُكَلِّمَ النَّاسَ ثَلَٰثَ لَيَالٍ سَوِيًّا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My Lord, give me a sign. He said: Your sign is that you will not be able to speak to people for three nights, though you are healthy.</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11</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فَخَرَجَ عَلَىٰ قَوْمِهِ مِنَ الْمِحْرَابِ فَأَوْحَىٰ إِلَيْهِمْ أَن سَبِّحُواْ بُكْرَةً وَعَشِيًّا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came out to his people from his place of prayer and signalled to them: Glorify Allah morning and evening.</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12</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يَٰيَحْيَىٰ خُذِ الْكِتَٰبَ بِقُوَّةٍ وَءَاتَيْنَٰهُ الْحُكْمَ صَبِيًّا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said: O Yahya, hold firmly to the Torah with effort, and We gave him understanding and wisdom as a child,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13 – 16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13</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وَحَنَانًا مِّن لَّدُنَّا وَزَكَوٰةً وَكَانَ تَقِيًّا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mercy from Us, and purity from sins, and he had taqwa,</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14</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وَبَرًّا بِوَٰلِدَيْهِ وَلَمْ يَكُن جَبَّارًا عَصِيًّا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he was good to his parents, and was neither arrogant nor disobedient.</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15</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وَسَلَٰمٌ عَلَيْهِ يَوْمَ وُلِدَ وَيَوْمَ يَمُوتُ وَيَوْمَ يُبْعَثُ حَيًّا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and safety be upon him the day he was born, the day he dies, and the day he is raised alive.</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16</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فِي الْكِتَٰبِ مَرْيَمَ إِذِ انتَبَذَتْ مِنْ أَهْلِهَا مَكَانًا شَرْقِيًّا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mention in the Qur'an the story of Maryam, when she withdrew from her family to a place towards the east.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17 – 19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فَاتَّخَذَتْ مِن دُونِهِمْ حِجَابًا فَأَرْسَلْنَآ إِلَيْهَا رُوحَنَا فَتَمَثَّلَ لَهَا بَشَرًا سَوِيًّا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put a screen between herself and them, and We sent to her Jibril, who appeared to her as a man of complete form.</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إِنِّي أَعُوذُ بِالرَّحْمَٰنِ مِنكَ إِن كُنتَ تَقِيًّا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I seek refuge in the Most Merciful from you, if you fear Allah.</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19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إِنَّمَآ أَنَا رَسُولُ رَبِّكِ لِأَهَبَ لَكِ غُلَٰمًا زَكِيًّا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I am only a messenger of your Lord, to give you a pure boy.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20 – 22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20</a:t>
            </a:r>
            <a:endParaRPr lang="en-US" sz="1600" dirty="0"/>
          </a:p>
        </p:txBody>
      </p:sp>
      <p:sp>
        <p:nvSpPr>
          <p:cNvPr id="8" name="Text 6"/>
          <p:cNvSpPr txBox="1"/>
          <p:nvPr/>
        </p:nvSpPr>
        <p:spPr>
          <a:xfrm>
            <a:off x="1444752" y="138760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قَالَتْ أَنَّىٰ يَكُونُ لِي غُلَٰمٌ وَلَمْ يَمْسَسْنِي بَشَرٌ وَلَمْ أَكُ بَغِيًّا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She said: How can I have a boy when no man has touched me in marriage, and I have never been a bad woman?</a:t>
            </a:r>
            <a:endParaRPr lang="en-US" sz="3000" dirty="0"/>
          </a:p>
        </p:txBody>
      </p:sp>
      <p:sp>
        <p:nvSpPr>
          <p:cNvPr id="9" name="Shape 7"/>
          <p:cNvSpPr/>
          <p:nvPr/>
        </p:nvSpPr>
        <p:spPr>
          <a:xfrm>
            <a:off x="1444752" y="2775204"/>
            <a:ext cx="8641080" cy="0"/>
          </a:xfrm>
          <a:prstGeom prst="line">
            <a:avLst/>
          </a:prstGeom>
          <a:noFill/>
          <a:ln w="9525">
            <a:solidFill>
              <a:schemeClr val="accent2"/>
            </a:solidFill>
            <a:prstDash val="dash"/>
          </a:ln>
        </p:spPr>
      </p:sp>
      <p:sp>
        <p:nvSpPr>
          <p:cNvPr id="10" name="Shape 8"/>
          <p:cNvSpPr/>
          <p:nvPr/>
        </p:nvSpPr>
        <p:spPr>
          <a:xfrm>
            <a:off x="713232" y="2955798"/>
            <a:ext cx="548640" cy="548640"/>
          </a:xfrm>
          <a:prstGeom prst="star8">
            <a:avLst/>
          </a:prstGeom>
          <a:solidFill>
            <a:schemeClr val="accent2"/>
          </a:solidFill>
          <a:ln/>
        </p:spPr>
      </p:sp>
      <p:sp>
        <p:nvSpPr>
          <p:cNvPr id="11" name="Shape 9"/>
          <p:cNvSpPr/>
          <p:nvPr/>
        </p:nvSpPr>
        <p:spPr>
          <a:xfrm>
            <a:off x="822960" y="30655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557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21</a:t>
            </a:r>
            <a:endParaRPr lang="en-US" sz="1600" dirty="0"/>
          </a:p>
        </p:txBody>
      </p:sp>
      <p:sp>
        <p:nvSpPr>
          <p:cNvPr id="13" name="Text 11"/>
          <p:cNvSpPr txBox="1"/>
          <p:nvPr/>
        </p:nvSpPr>
        <p:spPr>
          <a:xfrm>
            <a:off x="1444752" y="293751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كَذَٰلِكِ قَالَ رَبُّكِ هُوَ عَلَيَّ هَيِّنٌ وَلِنَجْعَلَهُ ءَايَةً لِّلنَّاسِ وَرَحْمَةً مِّنَّا وَكَانَ أَمْرًا مَّقْضِيًّا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So it will be. Your Lord says: It is easy for Me. We will make him a sign of Our power for people and a mercy from Us. It is a matter already decreed.</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22</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فَحَمَلَتْهُ فَانتَبَذَتْ بِهِ مَكَانًا قَصِيًّا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she carried him and withdrew with him to a faraway place.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23 – 25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23</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فَأَجَآءَهَا الْمَخَاضُ إِلَىٰ جِذْعِ النَّخْلَةِ قَالَتْ يَٰلَيْتَنِي مِتُّ قَبْلَ هَٰذَا وَكُنتُ نَسْيًا مَّنسِيًّا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pains of childbirth drove her to the trunk of a palm tree. She said: I wish I had died before this and been completely forgotten!</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24</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فَنَادَىٰهَا مِن تَحْتِهَآ أَلَّا تَحْزَنِي قَدْ جَعَلَ رَبُّكِ تَحْتَكِ سَرِيًّا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'Isa called to her from below her: Do not be sad; your Lord has placed a stream beneath you.</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25</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وَهُزِّي إِلَيْكِ بِجِذْعِ النَّخْلَةِ تُسَٰقِطْ عَلَيْكِ رُطَبًا جَنِيًّا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Shake the trunk of the palm tree towards you, and fresh ripe dates will fall on you.</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26 – 28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26</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فَكُلِي وَاشْرَبِي وَقَرِّي عَيْنًا فَإِمَّا تَرَيِنَّ مِنَ الْبَشَرِ أَحَدًا فَقُولِي إِنِّي نَذَرْتُ لِلرَّحْمَٰنِ صَوْمًا فَلَنْ أُكَلِّمَ الْيَوْمَ إِنسِيًّا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eat, drink and be at ease. If you see any person, say by signs: I have vowed a fast of silence to the Most Merciful, so I will not speak to anyone today.</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27</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فَأَتَتْ بِهِ قَوْمَهَا تَحْمِلُهُ قَالُواْ يَٰمَرْيَمُ لَقَدْ جِئْتِ شَيْـًٔا فَرِيًّا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she brought him to her people, carrying him. They said: O Maryam, you have done a terrible thing!</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28</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يَـٰأُخْتَ هَٰرُونَ مَا كَانَ أَبُوكِ امْرَأَ سَوْءٍ وَمَا كَانَتْ أُمُّكِ بَغِيًّا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sister of Harun, the man known for righteous worship, your father was not a bad man and your mother was not a bad woman.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29 – 31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29</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فَأَشَارَتْ إِلَيْهِ قَالُواْ كَيْفَ نُكَلِّمُ مَن كَانَ فِي الْمَهْدِ صَبِيًّا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she pointed to 'Isa for them to speak to him. They said: How can we speak to a baby in the cradle?</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إِنِّي عَبْدُ اللَّهِ ءَاتَىٰنِيَ الْكِتَٰبَ وَجَعَلَنِي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'Isa said: I am the servant of Allah. He has decreed that He will give me the Injil and has made me a prophet.</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31</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وَجَعَلَنِي مُبَارَكًا أَيْنَ مَا كُنتُ وَأَوْصَٰنِي بِالصَّلَوٰةِ وَالزَّكَوٰةِ مَا دُمْتُ حَيًّا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made me a blessing wherever I am, and commanded me to pray and give zakah as long as I live,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32 – 35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32</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وَبَرًّا بِوَٰلِدَتِي وَلَمْ يَجْعَلْنِي جَبَّارًا شَقِيًّا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to be good to my mother, and He has not made me arrogant or wretched.</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33</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وَالسَّلَٰمُ عَلَيَّ يَوْمَ وُلِدتُّ وَيَوْمَ أَمُوتُ وَيَوْمَ أُبْعَثُ حَيًّا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Peace be upon me the day I was born, the day I die, and the day I am raised alive.</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34</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عِيسَى ابْنُ مَرْيَمَ قَوْلَ الْحَقِّ الَّذِي فِيهِ يَمْتَرُونَ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'Isa son of Maryam in truth, the true word about which the Jews and Christians doubt.</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35</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مَا كَانَ لِلَّهِ أَن يَتَّخِذَ مِن وَلَدٍ سُبْحَٰنَهُ إِذَا قَضَىٰ أَمْرًا فَإِنَّمَا يَقُولُ لَهُ كُن فَيَكُونُ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fitting for Allah to take a son. Glory be to Him! When He decides a matter, He only says to it: Be, and it is.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36 – 38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36</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اللَّهَ رَبِّي وَرَبُّكُمْ فَاعْبُدُوهُ هَٰذَا صِرَٰطٌ مُّسْتَقِيمٌ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'Isa said: Allah is my Lord and your Lord, so worship Him. This is a straight path.</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37</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فَاخْتَلَفَ الْأَحْزَابُ مِن بَيْنِهِمْ فَوَيْلٌ لِّلَّذِينَ كَفَرُواْ مِن مَّشْهَدِ يَوْمٍ عَظِيمٍ</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the groups differed about 'Isa, so woe to the disbelievers from witnessing a great Day.</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38</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أَسْمِعْ بِهِمْ وَأَبْصِرْ يَوْمَ يَأْتُونَنَا لَٰكِنِ الظَّـٰلِمُونَ الْيَوْمَ فِي ضَلَٰلٍ مُّبِينٍ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well they will hear and see on the Day they come to Us! But today in this world the wrongdoers are clearly astray.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39 – 41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39</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وَأَنذِرْهُمْ يَوْمَ الْحَسْرَةِ إِذْ قُضِيَ الْأَمْرُ وَهُمْ فِي غَفْلَةٍ وَهُمْ لَا يُؤْمِنُونَ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Warn them of the Day of Regret, when the matter is decided and death itself is slaughtered, while in this world they are heedless and do not believe.</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40</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نَحْنُ نَرِثُ الْأَرْضَ وَمَنْ عَلَيْهَا وَإِلَيْنَا يُرْجَعُونَ</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inherit the earth and everyone on it, and to Us they will be returned.</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فِي الْكِتَٰبِ إِبْرَٰهِيمَ إِنَّهُ كَانَ صِدِّيقًا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mention in the Qur'an the story of Ibrahim; he was very truthful, a prophet.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42 – 44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42</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إِذْ قَالَ لِأَبِيهِ يَـٰأَبَتِ لِمَ تَعْبُدُ مَا لَا يَسْمَعُ وَلَا يُبْصِرُ وَلَا يُغْنِي عَنكَ شَيْـًٔا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said to his father gently: O my father, why do you worship what can neither hear nor see nor help you at all?</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43</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يَـٰأَبَتِ إِنِّي قَدْ جَآءَنِي مِنَ الْعِلْمِ مَا لَمْ يَأْتِكَ فَاتَّبِعْنِي أَهْدِكَ صِرَٰطًا سَوِيًّا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father, knowledge has come to me that has not come to you, so follow me and I will guide you to a straight path.</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44</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يَـٰأَبَتِ لَا تَعْبُدِ الشَّيْطَٰنَ إِنَّ الشَّيْطَٰنَ كَانَ لِلرَّحْمَٰنِ عَصِيًّا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father, do not obey Satan; Satan was disobedient to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45 – 47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45</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يَـٰأَبَتِ إِنِّي أَخَافُ أَن يَمَسَّكَ عَذَابٌ مِّنَ الرَّحْمَٰنِ فَتَكُونَ لِلشَّيْطَٰنِ وَلِيًّا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 my father, I fear that a punishment from the Most Merciful will touch you and you will become Satan's companion in the Fire.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46</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أَرَاغِبٌ أَنتَ عَنْ ءَالِهَتِي يَـٰإِبْرَٰهِيمُ لَئِن لَّمْ تَنتَهِ لَأَرْجُمَنَّكَ وَاهْجُرْنِي مَلِيًّا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His father said: Are you turning away from my gods, O Ibrahim? If you do not stop, I will stone you. Leave me for a long time.</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47</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سَلَٰمٌ عَلَيْكَ سَأَسْتَغْفِرُ لَكَ رَبِّي إِنَّهُ كَانَ بِي حَفِيًّا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Ibrahim said: Peace be upon you. I will ask my Lord to forgive you; He has always been kind to 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48 – 50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48</a:t>
            </a:r>
            <a:endParaRPr lang="en-US" sz="1600" dirty="0"/>
          </a:p>
        </p:txBody>
      </p:sp>
      <p:sp>
        <p:nvSpPr>
          <p:cNvPr id="8" name="Text 6"/>
          <p:cNvSpPr txBox="1"/>
          <p:nvPr/>
        </p:nvSpPr>
        <p:spPr>
          <a:xfrm>
            <a:off x="1444752" y="1387602"/>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وَأَعْتَزِلُكُمْ وَمَا تَدْعُونَ مِن دُونِ اللَّهِ وَأَدْعُواْ رَبِّي عَسَىٰ أَلَّآ أَكُونَ بِدُعَآءِ رَبِّي شَقِيًّا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 will leave you and what you call on besides Allah, and I will call on my Lord. Perhaps I will not be disappointed in calling on my Lord.</a:t>
            </a:r>
            <a:endParaRPr lang="en-US" sz="3000" dirty="0"/>
          </a:p>
        </p:txBody>
      </p:sp>
      <p:sp>
        <p:nvSpPr>
          <p:cNvPr id="9" name="Shape 7"/>
          <p:cNvSpPr/>
          <p:nvPr/>
        </p:nvSpPr>
        <p:spPr>
          <a:xfrm>
            <a:off x="1444752" y="3323844"/>
            <a:ext cx="8641080" cy="0"/>
          </a:xfrm>
          <a:prstGeom prst="line">
            <a:avLst/>
          </a:prstGeom>
          <a:noFill/>
          <a:ln w="9525">
            <a:solidFill>
              <a:schemeClr val="accent2"/>
            </a:solidFill>
            <a:prstDash val="dash"/>
          </a:ln>
        </p:spPr>
      </p:sp>
      <p:sp>
        <p:nvSpPr>
          <p:cNvPr id="10" name="Shape 8"/>
          <p:cNvSpPr/>
          <p:nvPr/>
        </p:nvSpPr>
        <p:spPr>
          <a:xfrm>
            <a:off x="713232" y="3504438"/>
            <a:ext cx="548640" cy="548640"/>
          </a:xfrm>
          <a:prstGeom prst="star8">
            <a:avLst/>
          </a:prstGeom>
          <a:solidFill>
            <a:schemeClr val="accent2"/>
          </a:solidFill>
          <a:ln/>
        </p:spPr>
      </p:sp>
      <p:sp>
        <p:nvSpPr>
          <p:cNvPr id="11" name="Shape 9"/>
          <p:cNvSpPr/>
          <p:nvPr/>
        </p:nvSpPr>
        <p:spPr>
          <a:xfrm>
            <a:off x="822960" y="361416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5044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49</a:t>
            </a:r>
            <a:endParaRPr lang="en-US" sz="1600" dirty="0"/>
          </a:p>
        </p:txBody>
      </p:sp>
      <p:sp>
        <p:nvSpPr>
          <p:cNvPr id="13" name="Text 11"/>
          <p:cNvSpPr txBox="1"/>
          <p:nvPr/>
        </p:nvSpPr>
        <p:spPr>
          <a:xfrm>
            <a:off x="1444752" y="348615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فَلَمَّا اعْتَزَلَهُمْ وَمَا يَعْبُدُونَ مِن دُونِ اللَّهِ وَهَبْنَا لَهُ إِسْحَٰقَ وَيَعْقُوبَ وَكُلًّا جَعَلْنَا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he left them and what they worshipped besides Allah, We made it up to him with Ishaq and Ya'qub, and made each of them a prophet.</a:t>
            </a:r>
            <a:endParaRPr lang="en-US" sz="3000" dirty="0"/>
          </a:p>
        </p:txBody>
      </p:sp>
      <p:sp>
        <p:nvSpPr>
          <p:cNvPr id="14" name="Shape 12"/>
          <p:cNvSpPr/>
          <p:nvPr/>
        </p:nvSpPr>
        <p:spPr>
          <a:xfrm>
            <a:off x="1444752" y="4873752"/>
            <a:ext cx="8641080" cy="0"/>
          </a:xfrm>
          <a:prstGeom prst="line">
            <a:avLst/>
          </a:prstGeom>
          <a:noFill/>
          <a:ln w="9525">
            <a:solidFill>
              <a:schemeClr val="accent2"/>
            </a:solidFill>
            <a:prstDash val="dash"/>
          </a:ln>
        </p:spPr>
      </p:sp>
      <p:sp>
        <p:nvSpPr>
          <p:cNvPr id="15" name="Shape 13"/>
          <p:cNvSpPr/>
          <p:nvPr/>
        </p:nvSpPr>
        <p:spPr>
          <a:xfrm>
            <a:off x="713232" y="5054346"/>
            <a:ext cx="548640" cy="548640"/>
          </a:xfrm>
          <a:prstGeom prst="star8">
            <a:avLst/>
          </a:prstGeom>
          <a:solidFill>
            <a:schemeClr val="accent2"/>
          </a:solidFill>
          <a:ln/>
        </p:spPr>
      </p:sp>
      <p:sp>
        <p:nvSpPr>
          <p:cNvPr id="16" name="Shape 14"/>
          <p:cNvSpPr/>
          <p:nvPr/>
        </p:nvSpPr>
        <p:spPr>
          <a:xfrm>
            <a:off x="822960" y="516407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5434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50</a:t>
            </a:r>
            <a:endParaRPr lang="en-US" sz="1600" dirty="0"/>
          </a:p>
        </p:txBody>
      </p:sp>
      <p:sp>
        <p:nvSpPr>
          <p:cNvPr id="18" name="Text 16"/>
          <p:cNvSpPr txBox="1"/>
          <p:nvPr/>
        </p:nvSpPr>
        <p:spPr>
          <a:xfrm>
            <a:off x="1444752" y="503605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لَهُم مِّن رَّحْمَتِنَا وَجَعَلْنَا لَهُمْ لِسَانَ صِدْقٍ عَلِيًّا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gave them from Our mercy and gave them a high and honoured reputation among people.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51 – 54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51</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فِي الْكِتَٰبِ مُوسَىٰ إِنَّهُ كَانَ مُخْلَصًا وَكَانَ رَسُولًا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mention in the Qur'an Musa; he was chosen, and he was a messenger and a prophet.</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52</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وَنَٰدَيْنَٰهُ مِن جَانِبِ الطُّورِ الْأَيْمَنِ وَقَرَّبْنَٰهُ نَجِيًّا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called him from the right side of Mount Tur and brought him near to speak with Us.</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53</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وَوَهَبْنَا لَهُ مِن رَّحْمَتِنَآ أَخَاهُ هَٰرُونَ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from Our mercy We gave him his brother Harun as a prophet, answering his prayer.</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54</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فِي الْكِتَٰبِ إِسْمَٰعِيلَ إِنَّهُ كَانَ صَادِقَ الْوَعْدِ وَكَانَ رَسُولًا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mention in the Qur'an Isma'il; he was true to his promise, and he was a messenger and a prophet.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55 – 57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55</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وَكَانَ يَأْمُرُ أَهْلَهُ بِالصَّلَوٰةِ وَالزَّكَوٰةِ وَكَانَ عِندَ رَبِّهِ مَرْضِيًّا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used to command his family to pray and give zakah, and his Lord was pleased with him.</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56</a:t>
            </a:r>
            <a:endParaRPr lang="en-US" sz="1600" dirty="0"/>
          </a:p>
        </p:txBody>
      </p:sp>
      <p:sp>
        <p:nvSpPr>
          <p:cNvPr id="13" name="Text 11"/>
          <p:cNvSpPr txBox="1"/>
          <p:nvPr/>
        </p:nvSpPr>
        <p:spPr>
          <a:xfrm>
            <a:off x="1444752" y="308152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وَاذْكُرْ فِي الْكِتَٰبِ إِدْرِيسَ إِنَّهُ كَانَ صِدِّيقًا نَّبِيًّا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mention in the Qur'an Idris; he was very truthful, a prophet.</a:t>
            </a:r>
            <a:endParaRPr lang="en-US" sz="3000" dirty="0"/>
          </a:p>
        </p:txBody>
      </p:sp>
      <p:sp>
        <p:nvSpPr>
          <p:cNvPr id="14" name="Shape 12"/>
          <p:cNvSpPr/>
          <p:nvPr/>
        </p:nvSpPr>
        <p:spPr>
          <a:xfrm>
            <a:off x="1444752" y="4261104"/>
            <a:ext cx="8641080" cy="0"/>
          </a:xfrm>
          <a:prstGeom prst="line">
            <a:avLst/>
          </a:prstGeom>
          <a:noFill/>
          <a:ln w="9525">
            <a:solidFill>
              <a:schemeClr val="accent2"/>
            </a:solidFill>
            <a:prstDash val="dash"/>
          </a:ln>
        </p:spPr>
      </p:sp>
      <p:sp>
        <p:nvSpPr>
          <p:cNvPr id="15" name="Shape 13"/>
          <p:cNvSpPr/>
          <p:nvPr/>
        </p:nvSpPr>
        <p:spPr>
          <a:xfrm>
            <a:off x="713232" y="4494276"/>
            <a:ext cx="548640" cy="548640"/>
          </a:xfrm>
          <a:prstGeom prst="star8">
            <a:avLst/>
          </a:prstGeom>
          <a:solidFill>
            <a:schemeClr val="accent2"/>
          </a:solidFill>
          <a:ln/>
        </p:spPr>
      </p:sp>
      <p:sp>
        <p:nvSpPr>
          <p:cNvPr id="16" name="Shape 14"/>
          <p:cNvSpPr/>
          <p:nvPr/>
        </p:nvSpPr>
        <p:spPr>
          <a:xfrm>
            <a:off x="822960" y="46040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4942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57</a:t>
            </a:r>
            <a:endParaRPr lang="en-US" sz="1600" dirty="0"/>
          </a:p>
        </p:txBody>
      </p:sp>
      <p:sp>
        <p:nvSpPr>
          <p:cNvPr id="18" name="Text 16"/>
          <p:cNvSpPr txBox="1"/>
          <p:nvPr/>
        </p:nvSpPr>
        <p:spPr>
          <a:xfrm>
            <a:off x="1444752" y="44759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وَرَفَعْنَٰهُ مَكَانًا عَلِيًّا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raised him to a high place. The Prophet (peace be upon him) saw him on the night of the Mi'raj in the fourth heaven.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58 – 59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58</a:t>
            </a:r>
            <a:endParaRPr lang="en-US" sz="1600" dirty="0"/>
          </a:p>
        </p:txBody>
      </p:sp>
      <p:sp>
        <p:nvSpPr>
          <p:cNvPr id="8" name="Text 6"/>
          <p:cNvSpPr txBox="1"/>
          <p:nvPr/>
        </p:nvSpPr>
        <p:spPr>
          <a:xfrm>
            <a:off x="1444752" y="1444752"/>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أَنْعَمَ اللَّهُ عَلَيْهِم مِّنَ النَّبِيِّـنَ مِن ذُرِّيَّةِ ءَادَمَ وَمِمَّنْ حَمَلْنَا مَعَ نُوحٍ وَمِن ذُرِّيَّةِ إِبْرَٰهِيمَ وَإِسْرَـٰءِيلَ وَمِمَّنْ هَدَيْنَا وَاجْتَبَيْنَآ إِذَا تُتْلَىٰ عَلَيْهِمْ ءَايَٰتُ الرَّحْمَٰنِ خَرُّواْ سُجَّدًا وَبُكِيًّا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are the prophets Allah blessed from the descendants of Adam, from those We carried with Nuh, from the descendants of Ibrahim and Israel, and from those We guided and chose. When the verses of the Most Merciful were recited to them, they fell down prostrating and weeping. This is a place of prostration in recitation.</a:t>
            </a:r>
            <a:endParaRPr lang="en-US" sz="3000" dirty="0"/>
          </a:p>
        </p:txBody>
      </p:sp>
      <p:sp>
        <p:nvSpPr>
          <p:cNvPr id="9" name="Shape 7"/>
          <p:cNvSpPr/>
          <p:nvPr/>
        </p:nvSpPr>
        <p:spPr>
          <a:xfrm>
            <a:off x="1444752" y="4503420"/>
            <a:ext cx="8641080" cy="0"/>
          </a:xfrm>
          <a:prstGeom prst="line">
            <a:avLst/>
          </a:prstGeom>
          <a:noFill/>
          <a:ln w="9525">
            <a:solidFill>
              <a:schemeClr val="accent2"/>
            </a:solidFill>
            <a:prstDash val="dash"/>
          </a:ln>
        </p:spPr>
      </p:sp>
      <p:sp>
        <p:nvSpPr>
          <p:cNvPr id="10" name="Shape 8"/>
          <p:cNvSpPr/>
          <p:nvPr/>
        </p:nvSpPr>
        <p:spPr>
          <a:xfrm>
            <a:off x="713232" y="4736592"/>
            <a:ext cx="548640" cy="548640"/>
          </a:xfrm>
          <a:prstGeom prst="star8">
            <a:avLst/>
          </a:prstGeom>
          <a:solidFill>
            <a:schemeClr val="accent2"/>
          </a:solidFill>
          <a:ln/>
        </p:spPr>
      </p:sp>
      <p:sp>
        <p:nvSpPr>
          <p:cNvPr id="11" name="Shape 9"/>
          <p:cNvSpPr/>
          <p:nvPr/>
        </p:nvSpPr>
        <p:spPr>
          <a:xfrm>
            <a:off x="822960" y="48463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7365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59</a:t>
            </a:r>
            <a:endParaRPr lang="en-US" sz="1600" dirty="0"/>
          </a:p>
        </p:txBody>
      </p:sp>
      <p:sp>
        <p:nvSpPr>
          <p:cNvPr id="13" name="Text 11"/>
          <p:cNvSpPr txBox="1"/>
          <p:nvPr/>
        </p:nvSpPr>
        <p:spPr>
          <a:xfrm>
            <a:off x="1444752" y="47183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فَخَلَفَ مِن بَعْدِهِمْ خَلْفٌ أَضَاعُواْ الصَّلَوٰةَ وَاتَّبَعُواْ الشَّهَوَٰتِ فَسَوْفَ يَلْقَوْنَ غَيًّا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after them came a bad generation who neglected prayer and followed desires; they will meet evil and loss,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60 – 62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53896"/>
            <a:ext cx="548640" cy="548640"/>
          </a:xfrm>
          <a:prstGeom prst="star8">
            <a:avLst/>
          </a:prstGeom>
          <a:solidFill>
            <a:schemeClr val="accent2"/>
          </a:solidFill>
          <a:ln/>
        </p:spPr>
      </p:sp>
      <p:sp>
        <p:nvSpPr>
          <p:cNvPr id="6" name="Shape 4"/>
          <p:cNvSpPr/>
          <p:nvPr/>
        </p:nvSpPr>
        <p:spPr>
          <a:xfrm>
            <a:off x="822960" y="15636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538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60</a:t>
            </a:r>
            <a:endParaRPr lang="en-US" sz="1600" dirty="0"/>
          </a:p>
        </p:txBody>
      </p:sp>
      <p:sp>
        <p:nvSpPr>
          <p:cNvPr id="8" name="Text 6"/>
          <p:cNvSpPr txBox="1"/>
          <p:nvPr/>
        </p:nvSpPr>
        <p:spPr>
          <a:xfrm>
            <a:off x="1444752" y="143560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إِلَّا مَن تَابَ وَءَامَنَ وَعَمِلَ صَٰلِحًا فَأُوْلَـٰئِكَ يَدْخُلُونَ الْجَنَّةَ وَلَا يُظْلَمُونَ شَيْـًٔا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except those who repent, believe and do good deeds; they will enter Paradise and not be wronged at all.</a:t>
            </a:r>
            <a:endParaRPr lang="en-US" sz="3000" dirty="0"/>
          </a:p>
        </p:txBody>
      </p:sp>
      <p:sp>
        <p:nvSpPr>
          <p:cNvPr id="9" name="Shape 7"/>
          <p:cNvSpPr/>
          <p:nvPr/>
        </p:nvSpPr>
        <p:spPr>
          <a:xfrm>
            <a:off x="1444752" y="2871216"/>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61</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جَنَّـٰتِ عَدْنٍ الَّتِي وَعَدَ الرَّحْمَٰنُ عِبَادَهُ بِالْغَيْبِ إِنَّهُ كَانَ وَعْدُهُ مَأْتِيًّا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Gardens of everlasting stay, which the Most Merciful has promised His servants though they have not seen them. His promise will surely come.</a:t>
            </a:r>
            <a:endParaRPr lang="en-US" sz="3000" dirty="0"/>
          </a:p>
        </p:txBody>
      </p:sp>
      <p:sp>
        <p:nvSpPr>
          <p:cNvPr id="14" name="Shape 12"/>
          <p:cNvSpPr/>
          <p:nvPr/>
        </p:nvSpPr>
        <p:spPr>
          <a:xfrm>
            <a:off x="1444752" y="4517136"/>
            <a:ext cx="8641080" cy="0"/>
          </a:xfrm>
          <a:prstGeom prst="line">
            <a:avLst/>
          </a:prstGeom>
          <a:noFill/>
          <a:ln w="9525">
            <a:solidFill>
              <a:schemeClr val="accent2"/>
            </a:solidFill>
            <a:prstDash val="dash"/>
          </a:ln>
        </p:spPr>
      </p:sp>
      <p:sp>
        <p:nvSpPr>
          <p:cNvPr id="15" name="Shape 13"/>
          <p:cNvSpPr/>
          <p:nvPr/>
        </p:nvSpPr>
        <p:spPr>
          <a:xfrm>
            <a:off x="713232" y="4745736"/>
            <a:ext cx="548640" cy="548640"/>
          </a:xfrm>
          <a:prstGeom prst="star8">
            <a:avLst/>
          </a:prstGeom>
          <a:solidFill>
            <a:schemeClr val="accent2"/>
          </a:solidFill>
          <a:ln/>
        </p:spPr>
      </p:sp>
      <p:sp>
        <p:nvSpPr>
          <p:cNvPr id="16" name="Shape 14"/>
          <p:cNvSpPr/>
          <p:nvPr/>
        </p:nvSpPr>
        <p:spPr>
          <a:xfrm>
            <a:off x="822960" y="485546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457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62</a:t>
            </a:r>
            <a:endParaRPr lang="en-US" sz="1600" dirty="0"/>
          </a:p>
        </p:txBody>
      </p:sp>
      <p:sp>
        <p:nvSpPr>
          <p:cNvPr id="18" name="Text 16"/>
          <p:cNvSpPr txBox="1"/>
          <p:nvPr/>
        </p:nvSpPr>
        <p:spPr>
          <a:xfrm>
            <a:off x="1444752" y="47274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يَسْمَعُونَ فِيهَا لَغْوًا إِلَّا سَلَٰمًا وَلَهُمْ رِزْقُهُمْ فِيهَا بُكْرَةً وَعَشِيًّا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will hear no idle talk there, only peace, and they will have their provision there morning and evening.</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63 – 65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63</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تِلْكَ الْجَنَّةُ الَّتِي نُورِثُ مِنْ عِبَادِنَا مَن كَانَ تَقِيًّا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 Paradise We give to those of Our servants who have taqwa.</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64</a:t>
            </a:r>
            <a:endParaRPr lang="en-US" sz="1600" dirty="0"/>
          </a:p>
        </p:txBody>
      </p:sp>
      <p:sp>
        <p:nvSpPr>
          <p:cNvPr id="13" name="Text 11"/>
          <p:cNvSpPr txBox="1"/>
          <p:nvPr/>
        </p:nvSpPr>
        <p:spPr>
          <a:xfrm>
            <a:off x="1444752" y="2676906"/>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نَتَنَزَّلُ إِلَّا بِأَمْرِ رَبِّكَ لَهُ مَا بَيْنَ أَيْدِينَا وَمَا خَلْفَنَا وَمَا بَيْنَ ذَٰلِكَ وَمَا كَانَ رَبُّكَ نَسِيًّا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Jibril said: We only come down by your Lord's command. To Him belongs what is before us, what is behind us, and what is between. Your Lord never forgets.</a:t>
            </a:r>
            <a:endParaRPr lang="en-US" sz="3000" dirty="0"/>
          </a:p>
        </p:txBody>
      </p:sp>
      <p:sp>
        <p:nvSpPr>
          <p:cNvPr id="14" name="Shape 12"/>
          <p:cNvSpPr/>
          <p:nvPr/>
        </p:nvSpPr>
        <p:spPr>
          <a:xfrm>
            <a:off x="1444752" y="4613148"/>
            <a:ext cx="8641080" cy="0"/>
          </a:xfrm>
          <a:prstGeom prst="line">
            <a:avLst/>
          </a:prstGeom>
          <a:noFill/>
          <a:ln w="9525">
            <a:solidFill>
              <a:schemeClr val="accent2"/>
            </a:solidFill>
            <a:prstDash val="dash"/>
          </a:ln>
        </p:spPr>
      </p:sp>
      <p:sp>
        <p:nvSpPr>
          <p:cNvPr id="15" name="Shape 13"/>
          <p:cNvSpPr/>
          <p:nvPr/>
        </p:nvSpPr>
        <p:spPr>
          <a:xfrm>
            <a:off x="713232" y="4793742"/>
            <a:ext cx="548640" cy="548640"/>
          </a:xfrm>
          <a:prstGeom prst="star8">
            <a:avLst/>
          </a:prstGeom>
          <a:solidFill>
            <a:schemeClr val="accent2"/>
          </a:solidFill>
          <a:ln/>
        </p:spPr>
      </p:sp>
      <p:sp>
        <p:nvSpPr>
          <p:cNvPr id="16" name="Shape 14"/>
          <p:cNvSpPr/>
          <p:nvPr/>
        </p:nvSpPr>
        <p:spPr>
          <a:xfrm>
            <a:off x="822960" y="490347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9374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65</a:t>
            </a:r>
            <a:endParaRPr lang="en-US" sz="1600" dirty="0"/>
          </a:p>
        </p:txBody>
      </p:sp>
      <p:sp>
        <p:nvSpPr>
          <p:cNvPr id="18" name="Text 16"/>
          <p:cNvSpPr txBox="1"/>
          <p:nvPr/>
        </p:nvSpPr>
        <p:spPr>
          <a:xfrm>
            <a:off x="1444752" y="477545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رَّبُّ السَّمَٰوَٰتِ وَالْأَرْضِ وَمَا بَيْنَهُمَا فَاعْبُدْهُ وَاصْطَبِرْ لِعِبَٰدَتِهِ هَلْ تَعْلَمُ لَهُ سَمِيًّا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Lord of the heavens and the earth and what is between them, so worship Him and be patient in His worship. Do you know anyone like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66 – 69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66</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وَيَقُولُ الْإِنسَٰنُ أَءِذَا مَا مِتُّ لَسَوْفَ أُخْرَجُ حَيًّا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disbelieving man says: When I have died, will I really be brought out alive?</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67</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أَوَلَا يَذْكُرُ الْإِنسَٰنُ أَنَّا خَلَقْنَٰهُ مِن قَبْلُ وَلَمْ يَكُ شَيْـًٔا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Does man not remember that We created him before when he was nothing?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68</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فَوَرَبِّكَ لَنَحْشُرَنَّهُمْ وَالشَّيَٰطِينَ ثُمَّ لَنُحْضِرَنَّهُمْ حَوْلَ جَهَنَّمَ جِثِيًّا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by your Lord, We will gather them and the devils, then bring them around Hell on their knees.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69</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لَنَنزِعَنَّ مِن كُلِّ شِيعَةٍ أَيُّهُمْ أَشَدُّ عَلَى الرَّحْمَٰنِ عِتِيًّا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will pull out from every group those most rebellious against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70 – 72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70</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لَنَحْنُ أَعْلَمُ بِالَّذِينَ هُمْ أَوْلَىٰ بِهَا صِلِيًّا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know best who most deserves to enter it and burn in it.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71</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وَإِن مِّنكُمْ إِلَّا وَارِدُهَا كَانَ عَلَىٰ رَبِّكَ حَتْمًا مَّقْضِيًّا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There is none of you who will not pass over the bridge above Hell. That is a decree your Lord has made binding.</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72</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نُنَجِّي الَّذِينَ اتَّقَواْ وَّنَذَرُ الظَّـٰلِمِينَ فِيهَا جِثِيًّا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We will save those with taqwa and leave the wrongdoers in it on their knees.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73 – 74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128266"/>
            <a:ext cx="548640" cy="548640"/>
          </a:xfrm>
          <a:prstGeom prst="star8">
            <a:avLst/>
          </a:prstGeom>
          <a:solidFill>
            <a:schemeClr val="accent2"/>
          </a:solidFill>
          <a:ln/>
        </p:spPr>
      </p:sp>
      <p:sp>
        <p:nvSpPr>
          <p:cNvPr id="6" name="Shape 4"/>
          <p:cNvSpPr/>
          <p:nvPr/>
        </p:nvSpPr>
        <p:spPr>
          <a:xfrm>
            <a:off x="822960" y="223799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12826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73</a:t>
            </a:r>
            <a:endParaRPr lang="en-US" sz="1600" dirty="0"/>
          </a:p>
        </p:txBody>
      </p:sp>
      <p:sp>
        <p:nvSpPr>
          <p:cNvPr id="8" name="Text 6"/>
          <p:cNvSpPr txBox="1"/>
          <p:nvPr/>
        </p:nvSpPr>
        <p:spPr>
          <a:xfrm>
            <a:off x="1444752" y="210997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وَإِذَا تُتْلَىٰ عَلَيْهِمْ ءَايَٰتُنَا بَيِّنَٰتٍ قَالَ الَّذِينَ كَفَرُواْ لِلَّذِينَ ءَامَنُواْ أَيُّ الْفَرِيقَيْنِ خَيْرٌ مَّقَامًا وَأَحْسَنُ نَدِيًّا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When Our clear verses are recited to them, the disbelievers say to the believers: Which of the two groups has the better home and the finer gathering, us or you?</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74</a:t>
            </a:r>
            <a:endParaRPr lang="en-US" sz="1600" dirty="0"/>
          </a:p>
        </p:txBody>
      </p:sp>
      <p:sp>
        <p:nvSpPr>
          <p:cNvPr id="13" name="Text 11"/>
          <p:cNvSpPr txBox="1"/>
          <p:nvPr/>
        </p:nvSpPr>
        <p:spPr>
          <a:xfrm>
            <a:off x="1444752" y="431368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أَهْلَكْنَا قَبْلَهُم مِّن قَرْنٍ هُمْ أَحْسَنُ أَثَٰثًا وَرِءْيًا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nations We destroyed before them who had better goods and appearance!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867662"/>
            <a:ext cx="548640" cy="548640"/>
          </a:xfrm>
          <a:prstGeom prst="star8">
            <a:avLst/>
          </a:prstGeom>
          <a:solidFill>
            <a:schemeClr val="accent2"/>
          </a:solidFill>
          <a:ln/>
        </p:spPr>
      </p:sp>
      <p:sp>
        <p:nvSpPr>
          <p:cNvPr id="6" name="Shape 4"/>
          <p:cNvSpPr/>
          <p:nvPr/>
        </p:nvSpPr>
        <p:spPr>
          <a:xfrm>
            <a:off x="822960" y="1977390"/>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86766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84937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مَن كَانَ فِي الضَّلَٰلَةِ فَلْيَمْدُدْ لَهُ الرَّحْمَٰنُ مَدًّا حَتَّىٰ إِذَا رَأَوْاْ مَا يُوعَدُونَ إِمَّا الْعَذَابَ وَإِمَّا السَّاعَةَ فَسَيَعْلَمُونَ مَنْ هُوَ شَرٌّ مَّكَانًا وَأَضْعَفُ جُندًا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Whoever is astray, the Most Merciful will give him more time, until when they see what they were promised, either punishment in this world or the Hour, they will know who is in the worst place and weakest in helpers.</a:t>
            </a:r>
            <a:endParaRPr lang="en-US" sz="3000" dirty="0"/>
          </a:p>
        </p:txBody>
      </p:sp>
      <p:sp>
        <p:nvSpPr>
          <p:cNvPr id="9" name="Shape 7"/>
          <p:cNvSpPr/>
          <p:nvPr/>
        </p:nvSpPr>
        <p:spPr>
          <a:xfrm>
            <a:off x="1444752" y="4098798"/>
            <a:ext cx="8641080" cy="0"/>
          </a:xfrm>
          <a:prstGeom prst="line">
            <a:avLst/>
          </a:prstGeom>
          <a:noFill/>
          <a:ln w="9525">
            <a:solidFill>
              <a:schemeClr val="accent2"/>
            </a:solidFill>
            <a:prstDash val="dash"/>
          </a:ln>
        </p:spPr>
      </p:sp>
      <p:sp>
        <p:nvSpPr>
          <p:cNvPr id="10" name="Shape 8"/>
          <p:cNvSpPr/>
          <p:nvPr/>
        </p:nvSpPr>
        <p:spPr>
          <a:xfrm>
            <a:off x="713232" y="4331970"/>
            <a:ext cx="548640" cy="548640"/>
          </a:xfrm>
          <a:prstGeom prst="star8">
            <a:avLst/>
          </a:prstGeom>
          <a:solidFill>
            <a:schemeClr val="accent2"/>
          </a:solidFill>
          <a:ln/>
        </p:spPr>
      </p:sp>
      <p:sp>
        <p:nvSpPr>
          <p:cNvPr id="11" name="Shape 9"/>
          <p:cNvSpPr/>
          <p:nvPr/>
        </p:nvSpPr>
        <p:spPr>
          <a:xfrm>
            <a:off x="822960" y="444169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433197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431368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وَيَزِيدُ اللَّهُ الَّذِينَ اهْتَدَوْاْ هُدًى وَالْبَٰقِيَٰتُ الصَّـٰلِحَٰتُ خَيْرٌ عِندَ رَبِّكَ ثَوَابًا وَخَيْرٌ مَّرَدًّا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Allah increases the guided in guidance, and the lasting good deeds are better with your Lord in reward and better in outcome.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77 – 79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8" name="Text 6"/>
          <p:cNvSpPr txBox="1"/>
          <p:nvPr/>
        </p:nvSpPr>
        <p:spPr>
          <a:xfrm>
            <a:off x="1444752" y="16870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أَفَرَءَيْتَ الَّذِي كَفَرَ بِـَٔايَٰتِنَا وَقَالَ لَأُوتَيَنَّ مَالًا وَوَلَدًا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Have you seen the one who disbelieved in Our verses and said mockingly: I will surely be given wealth and children in the Hereafter?</a:t>
            </a:r>
            <a:endParaRPr lang="en-US" sz="3000" dirty="0"/>
          </a:p>
        </p:txBody>
      </p:sp>
      <p:sp>
        <p:nvSpPr>
          <p:cNvPr id="9" name="Shape 7"/>
          <p:cNvSpPr/>
          <p:nvPr/>
        </p:nvSpPr>
        <p:spPr>
          <a:xfrm>
            <a:off x="1444752" y="3127248"/>
            <a:ext cx="8641080" cy="0"/>
          </a:xfrm>
          <a:prstGeom prst="line">
            <a:avLst/>
          </a:prstGeom>
          <a:noFill/>
          <a:ln w="9525">
            <a:solidFill>
              <a:schemeClr val="accent2"/>
            </a:solidFill>
            <a:prstDash val="dash"/>
          </a:ln>
        </p:spPr>
      </p:sp>
      <p:sp>
        <p:nvSpPr>
          <p:cNvPr id="10" name="Shape 8"/>
          <p:cNvSpPr/>
          <p:nvPr/>
        </p:nvSpPr>
        <p:spPr>
          <a:xfrm>
            <a:off x="713232" y="3360420"/>
            <a:ext cx="548640" cy="548640"/>
          </a:xfrm>
          <a:prstGeom prst="star8">
            <a:avLst/>
          </a:prstGeom>
          <a:solidFill>
            <a:schemeClr val="accent2"/>
          </a:solidFill>
          <a:ln/>
        </p:spPr>
      </p:sp>
      <p:sp>
        <p:nvSpPr>
          <p:cNvPr id="11" name="Shape 9"/>
          <p:cNvSpPr/>
          <p:nvPr/>
        </p:nvSpPr>
        <p:spPr>
          <a:xfrm>
            <a:off x="822960" y="3470148"/>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6042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13" name="Text 11"/>
          <p:cNvSpPr txBox="1"/>
          <p:nvPr/>
        </p:nvSpPr>
        <p:spPr>
          <a:xfrm>
            <a:off x="1444752" y="334213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أَطَّلَعَ الْغَيْبَ أَمِ اتَّخَذَ عِندَ الرَّحْمَٰنِ عَهْدًا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Has he looked into the unseen, or taken a promise from the Most Merciful?</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سَنَكْتُبُ مَا يَقُولُ وَنَمُدُّ لَهُ مِنَ الْعَذَابِ مَدًّا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We will write down what he says and increase his punishment greatly.</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80 – 83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8" name="Text 6"/>
          <p:cNvSpPr txBox="1"/>
          <p:nvPr/>
        </p:nvSpPr>
        <p:spPr>
          <a:xfrm>
            <a:off x="1444752" y="132759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وَنَرِثُهُ مَا يَقُولُ وَيَأْتِينَا فَرْدًا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will inherit from him what he talks about of wealth and children, and he will come to Us alone, with no wealth or children.</a:t>
            </a:r>
            <a:endParaRPr lang="en-US" sz="3000" dirty="0"/>
          </a:p>
        </p:txBody>
      </p:sp>
      <p:sp>
        <p:nvSpPr>
          <p:cNvPr id="9" name="Shape 7"/>
          <p:cNvSpPr/>
          <p:nvPr/>
        </p:nvSpPr>
        <p:spPr>
          <a:xfrm>
            <a:off x="1444752" y="2655189"/>
            <a:ext cx="8641080" cy="0"/>
          </a:xfrm>
          <a:prstGeom prst="line">
            <a:avLst/>
          </a:prstGeom>
          <a:noFill/>
          <a:ln w="9525">
            <a:solidFill>
              <a:schemeClr val="accent2"/>
            </a:solidFill>
            <a:prstDash val="dash"/>
          </a:ln>
        </p:spPr>
      </p:sp>
      <p:sp>
        <p:nvSpPr>
          <p:cNvPr id="10" name="Shape 8"/>
          <p:cNvSpPr/>
          <p:nvPr/>
        </p:nvSpPr>
        <p:spPr>
          <a:xfrm>
            <a:off x="713232" y="2775776"/>
            <a:ext cx="548640" cy="548640"/>
          </a:xfrm>
          <a:prstGeom prst="star8">
            <a:avLst/>
          </a:prstGeom>
          <a:solidFill>
            <a:schemeClr val="accent2"/>
          </a:solidFill>
          <a:ln/>
        </p:spPr>
      </p:sp>
      <p:sp>
        <p:nvSpPr>
          <p:cNvPr id="11" name="Shape 9"/>
          <p:cNvSpPr/>
          <p:nvPr/>
        </p:nvSpPr>
        <p:spPr>
          <a:xfrm>
            <a:off x="822960" y="288550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7757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13" name="Text 11"/>
          <p:cNvSpPr txBox="1"/>
          <p:nvPr/>
        </p:nvSpPr>
        <p:spPr>
          <a:xfrm>
            <a:off x="1444752" y="275748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وَاتَّخَذُواْ مِن دُونِ اللَّهِ ءَالِهَةً لِّيَكُونُواْ لَهُمْ عِزًّا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have taken gods besides Allah to be a source of honour and help for them.</a:t>
            </a:r>
            <a:endParaRPr lang="en-US" sz="3000" dirty="0"/>
          </a:p>
        </p:txBody>
      </p:sp>
      <p:sp>
        <p:nvSpPr>
          <p:cNvPr id="14" name="Shape 12"/>
          <p:cNvSpPr/>
          <p:nvPr/>
        </p:nvSpPr>
        <p:spPr>
          <a:xfrm>
            <a:off x="1444752" y="3824478"/>
            <a:ext cx="8641080" cy="0"/>
          </a:xfrm>
          <a:prstGeom prst="line">
            <a:avLst/>
          </a:prstGeom>
          <a:noFill/>
          <a:ln w="9525">
            <a:solidFill>
              <a:schemeClr val="accent2"/>
            </a:solidFill>
            <a:prstDash val="dash"/>
          </a:ln>
        </p:spPr>
      </p:sp>
      <p:sp>
        <p:nvSpPr>
          <p:cNvPr id="15" name="Shape 13"/>
          <p:cNvSpPr/>
          <p:nvPr/>
        </p:nvSpPr>
        <p:spPr>
          <a:xfrm>
            <a:off x="713232" y="3945064"/>
            <a:ext cx="548640" cy="548640"/>
          </a:xfrm>
          <a:prstGeom prst="star8">
            <a:avLst/>
          </a:prstGeom>
          <a:solidFill>
            <a:schemeClr val="accent2"/>
          </a:solidFill>
          <a:ln/>
        </p:spPr>
      </p:sp>
      <p:sp>
        <p:nvSpPr>
          <p:cNvPr id="16" name="Shape 14"/>
          <p:cNvSpPr/>
          <p:nvPr/>
        </p:nvSpPr>
        <p:spPr>
          <a:xfrm>
            <a:off x="822960" y="4054792"/>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94506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8" name="Text 16"/>
          <p:cNvSpPr txBox="1"/>
          <p:nvPr/>
        </p:nvSpPr>
        <p:spPr>
          <a:xfrm>
            <a:off x="1444752" y="392677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كَلَّا سَيَكْفُرُونَ بِعِبَادَتِهِمْ وَيَكُونُونَ عَلَيْهِمْ ضِدًّا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Those gods will deny their worship and become their enemies.</a:t>
            </a:r>
            <a:endParaRPr lang="en-US" sz="3000" dirty="0"/>
          </a:p>
        </p:txBody>
      </p:sp>
      <p:sp>
        <p:nvSpPr>
          <p:cNvPr id="19" name="Shape 17"/>
          <p:cNvSpPr/>
          <p:nvPr/>
        </p:nvSpPr>
        <p:spPr>
          <a:xfrm>
            <a:off x="1444752" y="4993767"/>
            <a:ext cx="8641080" cy="0"/>
          </a:xfrm>
          <a:prstGeom prst="line">
            <a:avLst/>
          </a:prstGeom>
          <a:noFill/>
          <a:ln w="9525">
            <a:solidFill>
              <a:schemeClr val="accent2"/>
            </a:solidFill>
            <a:prstDash val="dash"/>
          </a:ln>
        </p:spPr>
      </p:sp>
      <p:sp>
        <p:nvSpPr>
          <p:cNvPr id="20" name="Shape 18"/>
          <p:cNvSpPr/>
          <p:nvPr/>
        </p:nvSpPr>
        <p:spPr>
          <a:xfrm>
            <a:off x="713232" y="5114353"/>
            <a:ext cx="548640" cy="548640"/>
          </a:xfrm>
          <a:prstGeom prst="star8">
            <a:avLst/>
          </a:prstGeom>
          <a:solidFill>
            <a:schemeClr val="accent2"/>
          </a:solidFill>
          <a:ln/>
        </p:spPr>
      </p:sp>
      <p:sp>
        <p:nvSpPr>
          <p:cNvPr id="21" name="Shape 19"/>
          <p:cNvSpPr/>
          <p:nvPr/>
        </p:nvSpPr>
        <p:spPr>
          <a:xfrm>
            <a:off x="822960" y="5224081"/>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114353"/>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23" name="Text 21"/>
          <p:cNvSpPr txBox="1"/>
          <p:nvPr/>
        </p:nvSpPr>
        <p:spPr>
          <a:xfrm>
            <a:off x="1444752" y="5096065"/>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أَلَمْ تَرَ أَنَّآ أَرْسَلْنَا الشَّيَٰطِينَ عَلَى الْكَٰفِرِينَ تَؤُزُّهُمْ أَزًّا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you not see that We have sent the devils against the disbelievers, stirring them up to sin?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84 – 87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45882"/>
            <a:ext cx="548640" cy="548640"/>
          </a:xfrm>
          <a:prstGeom prst="star8">
            <a:avLst/>
          </a:prstGeom>
          <a:solidFill>
            <a:schemeClr val="accent2"/>
          </a:solidFill>
          <a:ln/>
        </p:spPr>
      </p:sp>
      <p:sp>
        <p:nvSpPr>
          <p:cNvPr id="6" name="Shape 4"/>
          <p:cNvSpPr/>
          <p:nvPr/>
        </p:nvSpPr>
        <p:spPr>
          <a:xfrm>
            <a:off x="822960" y="1455611"/>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458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8" name="Text 6"/>
          <p:cNvSpPr txBox="1"/>
          <p:nvPr/>
        </p:nvSpPr>
        <p:spPr>
          <a:xfrm>
            <a:off x="1444752" y="13275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فَلَا تَعْجَلْ عَلَيْهِمْ إِنَّمَا نَعُدُّ لَهُمْ عَدًّا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do not hurry punishment for them; We are only counting their lives and deeds exactly.</a:t>
            </a:r>
            <a:endParaRPr lang="en-US" sz="3000" dirty="0"/>
          </a:p>
        </p:txBody>
      </p:sp>
      <p:sp>
        <p:nvSpPr>
          <p:cNvPr id="9" name="Shape 7"/>
          <p:cNvSpPr/>
          <p:nvPr/>
        </p:nvSpPr>
        <p:spPr>
          <a:xfrm>
            <a:off x="1444752" y="2394585"/>
            <a:ext cx="8641080" cy="0"/>
          </a:xfrm>
          <a:prstGeom prst="line">
            <a:avLst/>
          </a:prstGeom>
          <a:noFill/>
          <a:ln w="9525">
            <a:solidFill>
              <a:schemeClr val="accent2"/>
            </a:solidFill>
            <a:prstDash val="dash"/>
          </a:ln>
        </p:spPr>
      </p:sp>
      <p:sp>
        <p:nvSpPr>
          <p:cNvPr id="10" name="Shape 8"/>
          <p:cNvSpPr/>
          <p:nvPr/>
        </p:nvSpPr>
        <p:spPr>
          <a:xfrm>
            <a:off x="713232" y="2515172"/>
            <a:ext cx="548640" cy="548640"/>
          </a:xfrm>
          <a:prstGeom prst="star8">
            <a:avLst/>
          </a:prstGeom>
          <a:solidFill>
            <a:schemeClr val="accent2"/>
          </a:solidFill>
          <a:ln/>
        </p:spPr>
      </p:sp>
      <p:sp>
        <p:nvSpPr>
          <p:cNvPr id="11" name="Shape 9"/>
          <p:cNvSpPr/>
          <p:nvPr/>
        </p:nvSpPr>
        <p:spPr>
          <a:xfrm>
            <a:off x="822960" y="262490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1517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3" name="Text 11"/>
          <p:cNvSpPr txBox="1"/>
          <p:nvPr/>
        </p:nvSpPr>
        <p:spPr>
          <a:xfrm>
            <a:off x="1444752" y="249688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يَوْمَ نَحْشُرُ الْمُتَّقِينَ إِلَى الرَّحْمَٰنِ وَفْدًا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the Day We gather those with taqwa to the Most Merciful as an honoured delegation,</a:t>
            </a:r>
            <a:endParaRPr lang="en-US" sz="3000" dirty="0"/>
          </a:p>
        </p:txBody>
      </p:sp>
      <p:sp>
        <p:nvSpPr>
          <p:cNvPr id="14" name="Shape 12"/>
          <p:cNvSpPr/>
          <p:nvPr/>
        </p:nvSpPr>
        <p:spPr>
          <a:xfrm>
            <a:off x="1444752" y="3563874"/>
            <a:ext cx="8641080" cy="0"/>
          </a:xfrm>
          <a:prstGeom prst="line">
            <a:avLst/>
          </a:prstGeom>
          <a:noFill/>
          <a:ln w="9525">
            <a:solidFill>
              <a:schemeClr val="accent2"/>
            </a:solidFill>
            <a:prstDash val="dash"/>
          </a:ln>
        </p:spPr>
      </p:sp>
      <p:sp>
        <p:nvSpPr>
          <p:cNvPr id="15" name="Shape 13"/>
          <p:cNvSpPr/>
          <p:nvPr/>
        </p:nvSpPr>
        <p:spPr>
          <a:xfrm>
            <a:off x="713232" y="3684460"/>
            <a:ext cx="548640" cy="548640"/>
          </a:xfrm>
          <a:prstGeom prst="star8">
            <a:avLst/>
          </a:prstGeom>
          <a:solidFill>
            <a:schemeClr val="accent2"/>
          </a:solidFill>
          <a:ln/>
        </p:spPr>
      </p:sp>
      <p:sp>
        <p:nvSpPr>
          <p:cNvPr id="16" name="Shape 14"/>
          <p:cNvSpPr/>
          <p:nvPr/>
        </p:nvSpPr>
        <p:spPr>
          <a:xfrm>
            <a:off x="822960" y="379418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68446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18" name="Text 16"/>
          <p:cNvSpPr txBox="1"/>
          <p:nvPr/>
        </p:nvSpPr>
        <p:spPr>
          <a:xfrm>
            <a:off x="1444752" y="366617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وَنَسُوقُ الْمُجْرِمِينَ إِلَىٰ جَهَنَّمَ وِرْدًا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drive the criminals to Hell thirsty,</a:t>
            </a:r>
            <a:endParaRPr lang="en-US" sz="3000" dirty="0"/>
          </a:p>
        </p:txBody>
      </p:sp>
      <p:sp>
        <p:nvSpPr>
          <p:cNvPr id="19" name="Shape 17"/>
          <p:cNvSpPr/>
          <p:nvPr/>
        </p:nvSpPr>
        <p:spPr>
          <a:xfrm>
            <a:off x="1444752" y="4733163"/>
            <a:ext cx="8641080" cy="0"/>
          </a:xfrm>
          <a:prstGeom prst="line">
            <a:avLst/>
          </a:prstGeom>
          <a:noFill/>
          <a:ln w="9525">
            <a:solidFill>
              <a:schemeClr val="accent2"/>
            </a:solidFill>
            <a:prstDash val="dash"/>
          </a:ln>
        </p:spPr>
      </p:sp>
      <p:sp>
        <p:nvSpPr>
          <p:cNvPr id="20" name="Shape 18"/>
          <p:cNvSpPr/>
          <p:nvPr/>
        </p:nvSpPr>
        <p:spPr>
          <a:xfrm>
            <a:off x="713232" y="4853749"/>
            <a:ext cx="548640" cy="548640"/>
          </a:xfrm>
          <a:prstGeom prst="star8">
            <a:avLst/>
          </a:prstGeom>
          <a:solidFill>
            <a:schemeClr val="accent2"/>
          </a:solidFill>
          <a:ln/>
        </p:spPr>
      </p:sp>
      <p:sp>
        <p:nvSpPr>
          <p:cNvPr id="21" name="Shape 19"/>
          <p:cNvSpPr/>
          <p:nvPr/>
        </p:nvSpPr>
        <p:spPr>
          <a:xfrm>
            <a:off x="822960" y="4963477"/>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4853749"/>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23" name="Text 21"/>
          <p:cNvSpPr txBox="1"/>
          <p:nvPr/>
        </p:nvSpPr>
        <p:spPr>
          <a:xfrm>
            <a:off x="1444752" y="4835461"/>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لَّا يَمْلِكُونَ الشَّفَٰعَةَ إِلَّا مَنِ اتَّخَذَ عِندَ الرَّحْمَٰنِ عَهْدًا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no one will have the power of intercession except those who have taken a promise from the Most Merciful through faith and good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88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وَقَالُواْ اتَّخَذَ الرَّحْمَٰنُ 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say: The Most Merciful has taken a son.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جِئْتُمْ شَيْـًٔا إِدًّا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You have said a terrible, monstrous thing,</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تَكَادُ السَّمَٰوَٰتُ يَتَفَطَّرْنَ مِنْهُ وَتَنشَقُّ الْأَرْضُ وَتَخِرُّ الْجِبَالُ هَدًّا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by which the heavens almost burst, the earth splits apart, and the mountains fall in ruins,</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أَن دَعَوْاْ لِلرَّحْمَٰنِ 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because they claim a son for the Most Merciful.</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78458"/>
            <a:ext cx="548640" cy="548640"/>
          </a:xfrm>
          <a:prstGeom prst="star8">
            <a:avLst/>
          </a:prstGeom>
          <a:solidFill>
            <a:schemeClr val="accent2"/>
          </a:solidFill>
          <a:ln/>
        </p:spPr>
      </p:sp>
      <p:sp>
        <p:nvSpPr>
          <p:cNvPr id="6" name="Shape 4"/>
          <p:cNvSpPr/>
          <p:nvPr/>
        </p:nvSpPr>
        <p:spPr>
          <a:xfrm>
            <a:off x="822960" y="1488186"/>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7845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36017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وَمَا يَنبَغِي لِلرَّحْمَٰنِ أَن يَتَّخِذَ وَلَدًا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It is not fitting for the Most Merciful to take a son.</a:t>
            </a:r>
            <a:endParaRPr lang="en-US" sz="3000" dirty="0"/>
          </a:p>
        </p:txBody>
      </p:sp>
      <p:sp>
        <p:nvSpPr>
          <p:cNvPr id="9" name="Shape 7"/>
          <p:cNvSpPr/>
          <p:nvPr/>
        </p:nvSpPr>
        <p:spPr>
          <a:xfrm>
            <a:off x="1444752" y="2459736"/>
            <a:ext cx="8641080" cy="0"/>
          </a:xfrm>
          <a:prstGeom prst="line">
            <a:avLst/>
          </a:prstGeom>
          <a:noFill/>
          <a:ln w="9525">
            <a:solidFill>
              <a:schemeClr val="accent2"/>
            </a:solidFill>
            <a:prstDash val="dash"/>
          </a:ln>
        </p:spPr>
      </p:sp>
      <p:sp>
        <p:nvSpPr>
          <p:cNvPr id="10" name="Shape 8"/>
          <p:cNvSpPr/>
          <p:nvPr/>
        </p:nvSpPr>
        <p:spPr>
          <a:xfrm>
            <a:off x="713232" y="2612898"/>
            <a:ext cx="548640" cy="548640"/>
          </a:xfrm>
          <a:prstGeom prst="star8">
            <a:avLst/>
          </a:prstGeom>
          <a:solidFill>
            <a:schemeClr val="accent2"/>
          </a:solidFill>
          <a:ln/>
        </p:spPr>
      </p:sp>
      <p:sp>
        <p:nvSpPr>
          <p:cNvPr id="11" name="Shape 9"/>
          <p:cNvSpPr/>
          <p:nvPr/>
        </p:nvSpPr>
        <p:spPr>
          <a:xfrm>
            <a:off x="822960" y="272262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1289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259461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كُلُّ مَن فِي السَّمَٰوَٰتِ وَالْأَرْضِ إِلَّآ ءَاتِي الرَّحْمَٰنِ عَبْدًا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Everyone in the heavens and the earth will come to the Most Merciful only as a humble servant.</a:t>
            </a:r>
            <a:endParaRPr lang="en-US" sz="3000" dirty="0"/>
          </a:p>
        </p:txBody>
      </p:sp>
      <p:sp>
        <p:nvSpPr>
          <p:cNvPr id="14" name="Shape 12"/>
          <p:cNvSpPr/>
          <p:nvPr/>
        </p:nvSpPr>
        <p:spPr>
          <a:xfrm>
            <a:off x="1444752" y="3694176"/>
            <a:ext cx="8641080" cy="0"/>
          </a:xfrm>
          <a:prstGeom prst="line">
            <a:avLst/>
          </a:prstGeom>
          <a:noFill/>
          <a:ln w="9525">
            <a:solidFill>
              <a:schemeClr val="accent2"/>
            </a:solidFill>
            <a:prstDash val="dash"/>
          </a:ln>
        </p:spPr>
      </p:sp>
      <p:sp>
        <p:nvSpPr>
          <p:cNvPr id="15" name="Shape 13"/>
          <p:cNvSpPr/>
          <p:nvPr/>
        </p:nvSpPr>
        <p:spPr>
          <a:xfrm>
            <a:off x="713232" y="3847338"/>
            <a:ext cx="548640" cy="548640"/>
          </a:xfrm>
          <a:prstGeom prst="star8">
            <a:avLst/>
          </a:prstGeom>
          <a:solidFill>
            <a:schemeClr val="accent2"/>
          </a:solidFill>
          <a:ln/>
        </p:spPr>
      </p:sp>
      <p:sp>
        <p:nvSpPr>
          <p:cNvPr id="16" name="Shape 14"/>
          <p:cNvSpPr/>
          <p:nvPr/>
        </p:nvSpPr>
        <p:spPr>
          <a:xfrm>
            <a:off x="822960" y="395706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384733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8" name="Text 16"/>
          <p:cNvSpPr txBox="1"/>
          <p:nvPr/>
        </p:nvSpPr>
        <p:spPr>
          <a:xfrm>
            <a:off x="1444752" y="382905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لَّقَدْ أَحْصَىٰهُمْ وَعَدَّهُمْ عَدًّا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has counted them all and numbered them exactly,</a:t>
            </a:r>
            <a:endParaRPr lang="en-US" sz="3000" dirty="0"/>
          </a:p>
        </p:txBody>
      </p:sp>
      <p:sp>
        <p:nvSpPr>
          <p:cNvPr id="19" name="Shape 17"/>
          <p:cNvSpPr/>
          <p:nvPr/>
        </p:nvSpPr>
        <p:spPr>
          <a:xfrm>
            <a:off x="1444752" y="4928616"/>
            <a:ext cx="8641080" cy="0"/>
          </a:xfrm>
          <a:prstGeom prst="line">
            <a:avLst/>
          </a:prstGeom>
          <a:noFill/>
          <a:ln w="9525">
            <a:solidFill>
              <a:schemeClr val="accent2"/>
            </a:solidFill>
            <a:prstDash val="dash"/>
          </a:ln>
        </p:spPr>
      </p:sp>
      <p:sp>
        <p:nvSpPr>
          <p:cNvPr id="20" name="Shape 18"/>
          <p:cNvSpPr/>
          <p:nvPr/>
        </p:nvSpPr>
        <p:spPr>
          <a:xfrm>
            <a:off x="713232" y="5081778"/>
            <a:ext cx="548640" cy="548640"/>
          </a:xfrm>
          <a:prstGeom prst="star8">
            <a:avLst/>
          </a:prstGeom>
          <a:solidFill>
            <a:schemeClr val="accent2"/>
          </a:solidFill>
          <a:ln/>
        </p:spPr>
      </p:sp>
      <p:sp>
        <p:nvSpPr>
          <p:cNvPr id="21" name="Shape 19"/>
          <p:cNvSpPr/>
          <p:nvPr/>
        </p:nvSpPr>
        <p:spPr>
          <a:xfrm>
            <a:off x="822960" y="5191506"/>
            <a:ext cx="329184" cy="329184"/>
          </a:xfrm>
          <a:prstGeom prst="ellipse">
            <a:avLst/>
          </a:prstGeom>
          <a:solidFill>
            <a:schemeClr val="bg2"/>
          </a:solidFill>
          <a:ln w="19050">
            <a:solidFill>
              <a:schemeClr val="tx2"/>
            </a:solidFill>
            <a:prstDash val="solid"/>
          </a:ln>
        </p:spPr>
      </p:sp>
      <p:sp>
        <p:nvSpPr>
          <p:cNvPr id="22" name="Text 20"/>
          <p:cNvSpPr txBox="1"/>
          <p:nvPr/>
        </p:nvSpPr>
        <p:spPr>
          <a:xfrm>
            <a:off x="713232" y="50817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23" name="Text 21"/>
          <p:cNvSpPr txBox="1"/>
          <p:nvPr/>
        </p:nvSpPr>
        <p:spPr>
          <a:xfrm>
            <a:off x="1444752" y="5063490"/>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وَكُلُّهُمْ ءَاتِيهِ يَوْمَ الْقِيَٰمَةِ فَرْدًا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and each of them will come to Him alone on the Day of Resurrection.</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Maryam</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96 – 98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8" name="Text 6"/>
          <p:cNvSpPr txBox="1"/>
          <p:nvPr/>
        </p:nvSpPr>
        <p:spPr>
          <a:xfrm>
            <a:off x="1444752" y="155676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سَيَجْعَلُ لَهُمُ الرَّحْمَٰنُ وُدًّا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Most Merciful will put love for the righteous believers in the hearts of His servants.</a:t>
            </a:r>
            <a:endParaRPr lang="en-US" sz="3000" dirty="0"/>
          </a:p>
        </p:txBody>
      </p:sp>
      <p:sp>
        <p:nvSpPr>
          <p:cNvPr id="9" name="Shape 7"/>
          <p:cNvSpPr/>
          <p:nvPr/>
        </p:nvSpPr>
        <p:spPr>
          <a:xfrm>
            <a:off x="1444752" y="2736342"/>
            <a:ext cx="8641080" cy="0"/>
          </a:xfrm>
          <a:prstGeom prst="line">
            <a:avLst/>
          </a:prstGeom>
          <a:noFill/>
          <a:ln w="9525">
            <a:solidFill>
              <a:schemeClr val="accent2"/>
            </a:solidFill>
            <a:prstDash val="dash"/>
          </a:ln>
        </p:spPr>
      </p:sp>
      <p:sp>
        <p:nvSpPr>
          <p:cNvPr id="10" name="Shape 8"/>
          <p:cNvSpPr/>
          <p:nvPr/>
        </p:nvSpPr>
        <p:spPr>
          <a:xfrm>
            <a:off x="713232" y="2969514"/>
            <a:ext cx="548640" cy="548640"/>
          </a:xfrm>
          <a:prstGeom prst="star8">
            <a:avLst/>
          </a:prstGeom>
          <a:solidFill>
            <a:schemeClr val="accent2"/>
          </a:solidFill>
          <a:ln/>
        </p:spPr>
      </p:sp>
      <p:sp>
        <p:nvSpPr>
          <p:cNvPr id="11" name="Shape 9"/>
          <p:cNvSpPr/>
          <p:nvPr/>
        </p:nvSpPr>
        <p:spPr>
          <a:xfrm>
            <a:off x="822960" y="307924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96951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3" name="Text 11"/>
          <p:cNvSpPr txBox="1"/>
          <p:nvPr/>
        </p:nvSpPr>
        <p:spPr>
          <a:xfrm>
            <a:off x="1444752" y="295122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فَإِنَّمَا يَسَّرْنَٰهُ بِلِسَانِكَ لِتُبَشِّرَ بِهِ الْمُتَّقِينَ وَتُنذِرَ بِهِ قَوْمًا لُّدًّا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have made the Qur'an easy in your language so that you may give good news with it to those with taqwa and warn a stubbornly argumentative people.</a:t>
            </a:r>
            <a:endParaRPr lang="en-US" sz="3000" dirty="0"/>
          </a:p>
        </p:txBody>
      </p:sp>
      <p:sp>
        <p:nvSpPr>
          <p:cNvPr id="14" name="Shape 12"/>
          <p:cNvSpPr/>
          <p:nvPr/>
        </p:nvSpPr>
        <p:spPr>
          <a:xfrm>
            <a:off x="1444752" y="4391406"/>
            <a:ext cx="8641080" cy="0"/>
          </a:xfrm>
          <a:prstGeom prst="line">
            <a:avLst/>
          </a:prstGeom>
          <a:noFill/>
          <a:ln w="9525">
            <a:solidFill>
              <a:schemeClr val="accent2"/>
            </a:solidFill>
            <a:prstDash val="dash"/>
          </a:ln>
        </p:spPr>
      </p:sp>
      <p:sp>
        <p:nvSpPr>
          <p:cNvPr id="15" name="Shape 13"/>
          <p:cNvSpPr/>
          <p:nvPr/>
        </p:nvSpPr>
        <p:spPr>
          <a:xfrm>
            <a:off x="713232" y="4624578"/>
            <a:ext cx="548640" cy="548640"/>
          </a:xfrm>
          <a:prstGeom prst="star8">
            <a:avLst/>
          </a:prstGeom>
          <a:solidFill>
            <a:schemeClr val="accent2"/>
          </a:solidFill>
          <a:ln/>
        </p:spPr>
      </p:sp>
      <p:sp>
        <p:nvSpPr>
          <p:cNvPr id="16" name="Shape 14"/>
          <p:cNvSpPr/>
          <p:nvPr/>
        </p:nvSpPr>
        <p:spPr>
          <a:xfrm>
            <a:off x="822960" y="473430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62457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18" name="Text 16"/>
          <p:cNvSpPr txBox="1"/>
          <p:nvPr/>
        </p:nvSpPr>
        <p:spPr>
          <a:xfrm>
            <a:off x="1444752" y="460629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وَكَمْ أَهْلَكْنَا قَبْلَهُم مِّن قَرْنٍ هَلْ تُحِسُّ مِنْهُم مِّنْ أَحَدٍ أَوْ تَسْمَعُ لَهُمْ رِكْزًا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How many nations We destroyed before them! Can you see any of them, or hear even a whisper from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algn="ctr" indent="0" marL="0">
              <a:buNone/>
            </a:pPr>
            <a:r>
              <a:rPr lang="en-US" altLang="en-US" sz="3600" b="1" dirty="0">
                <a:solidFill>
                  <a:schemeClr val="accent2"/>
                </a:solidFill>
                <a:latin typeface="Georgia" pitchFamily="34" charset="0"/>
                <a:ea typeface="Georgia" pitchFamily="34" charset="-122"/>
                <a:cs typeface="Georgia" pitchFamily="34" charset="-120"/>
              </a:rPr>
              <a:t>Surah Al-Kahf</a:t>
            </a:r>
            <a:endParaRPr lang="en-US" sz="3600" dirty="0"/>
          </a:p>
        </p:txBody>
      </p:sp>
      <p:sp>
        <p:nvSpPr>
          <p:cNvPr id="3" name="Shape 1"/>
          <p:cNvSpPr/>
          <p:nvPr/>
        </p:nvSpPr>
        <p:spPr>
          <a:xfrm>
            <a:off x="975208" y="1828800"/>
            <a:ext cx="32918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106664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In this juz: verses 75 – 110</a:t>
            </a:r>
            <a:endParaRPr lang="en-US" sz="1400" dirty="0"/>
          </a:p>
        </p:txBody>
      </p:sp>
      <p:sp>
        <p:nvSpPr>
          <p:cNvPr id="5" name="Shape 3"/>
          <p:cNvSpPr/>
          <p:nvPr/>
        </p:nvSpPr>
        <p:spPr>
          <a:xfrm>
            <a:off x="4449928" y="1828800"/>
            <a:ext cx="32918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Makki</a:t>
            </a:r>
            <a:endParaRPr lang="en-US" sz="1400" dirty="0"/>
          </a:p>
        </p:txBody>
      </p:sp>
      <p:sp>
        <p:nvSpPr>
          <p:cNvPr id="7" name="Shape 5"/>
          <p:cNvSpPr/>
          <p:nvPr/>
        </p:nvSpPr>
        <p:spPr>
          <a:xfrm>
            <a:off x="7924648" y="1828800"/>
            <a:ext cx="32918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8016088" y="1828800"/>
            <a:ext cx="3108960" cy="457200"/>
          </a:xfrm>
          <a:prstGeom prst="rect">
            <a:avLst/>
          </a:prstGeom>
          <a:noFill/>
          <a:ln/>
        </p:spPr>
        <p:txBody>
          <a:bodyPr wrap="square" lIns="0" tIns="0" rIns="0" bIns="0" rtlCol="0" anchor="ctr">
            <a:normAutofit/>
          </a:bodyPr>
          <a:lstStyle/>
          <a:p>
            <a:pPr algn="ctr" indent="0" marL="0">
              <a:buNone/>
            </a:pPr>
            <a:r>
              <a:rPr lang="en-US" altLang="en-US" sz="1400" b="1" dirty="0">
                <a:solidFill>
                  <a:schemeClr val="bg1"/>
                </a:solidFill>
                <a:latin typeface="Arial" pitchFamily="34" charset="0"/>
                <a:ea typeface="Arial" pitchFamily="34" charset="-122"/>
                <a:cs typeface="Arial" pitchFamily="34" charset="-120"/>
              </a:rPr>
              <a:t>Surah no. 18 in the Mushaf</a:t>
            </a:r>
            <a:endParaRPr lang="en-US" sz="1400" dirty="0"/>
          </a:p>
        </p:txBody>
      </p:sp>
      <p:sp>
        <p:nvSpPr>
          <p:cNvPr id="9" name="Shape 7"/>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1821028" y="2651760"/>
            <a:ext cx="292608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182102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Reason for Revelation</a:t>
            </a:r>
            <a:endParaRPr lang="en-US" sz="1600" dirty="0"/>
          </a:p>
        </p:txBody>
      </p:sp>
      <p:sp>
        <p:nvSpPr>
          <p:cNvPr id="12" name="Text 10"/>
          <p:cNvSpPr txBox="1"/>
          <p:nvPr/>
        </p:nvSpPr>
        <p:spPr>
          <a:xfrm>
            <a:off x="97520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500" dirty="0">
                <a:solidFill>
                  <a:schemeClr val="tx1"/>
                </a:solidFill>
                <a:latin typeface="Arial" pitchFamily="34" charset="0"/>
                <a:ea typeface="Arial" pitchFamily="34" charset="-122"/>
                <a:cs typeface="Arial" pitchFamily="34" charset="-120"/>
              </a:rPr>
              <a:t>The idol-worshippers, taught by the Jews, asked the Prophet (peace be upon him) about the man who travelled to the east and west of the earth, so Allah revealed: “They ask you about Dhul-Qarnayn. Say: I will recite to you some of his story” (mentioned by Ibn Kathir from Ibn 'Abbas).</a:t>
            </a:r>
            <a:endParaRPr lang="en-US" sz="1500" dirty="0"/>
          </a:p>
        </p:txBody>
      </p:sp>
      <p:sp>
        <p:nvSpPr>
          <p:cNvPr id="13" name="Shape 11"/>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7444588" y="2651760"/>
            <a:ext cx="292608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7444588" y="2651760"/>
            <a:ext cx="2926080" cy="457200"/>
          </a:xfrm>
          <a:prstGeom prst="rect">
            <a:avLst/>
          </a:prstGeom>
          <a:noFill/>
          <a:ln/>
        </p:spPr>
        <p:txBody>
          <a:bodyPr wrap="square" lIns="0" tIns="0" rIns="0" bIns="0" rtlCol="0" anchor="ctr"/>
          <a:lstStyle/>
          <a:p>
            <a:pPr algn="ctr" indent="0" marL="0">
              <a:buNone/>
            </a:pPr>
            <a:r>
              <a:rPr lang="en-US" altLang="en-US" sz="1600" b="1" dirty="0">
                <a:solidFill>
                  <a:schemeClr val="bg1"/>
                </a:solidFill>
                <a:latin typeface="Arial" pitchFamily="34" charset="0"/>
                <a:ea typeface="Arial" pitchFamily="34" charset="-122"/>
                <a:cs typeface="Arial" pitchFamily="34" charset="-120"/>
              </a:rPr>
              <a:t>Theme of the Surah</a:t>
            </a:r>
            <a:endParaRPr lang="en-US" sz="1600" dirty="0"/>
          </a:p>
        </p:txBody>
      </p:sp>
      <p:sp>
        <p:nvSpPr>
          <p:cNvPr id="16" name="Text 14"/>
          <p:cNvSpPr txBox="1"/>
          <p:nvPr/>
        </p:nvSpPr>
        <p:spPr>
          <a:xfrm>
            <a:off x="6598768" y="3246120"/>
            <a:ext cx="4617720" cy="2697480"/>
          </a:xfrm>
          <a:prstGeom prst="rect">
            <a:avLst/>
          </a:prstGeom>
          <a:noFill/>
          <a:ln/>
        </p:spPr>
        <p:txBody>
          <a:bodyPr wrap="square" lIns="0" tIns="0" rIns="0" bIns="0" rtlCol="0" anchor="ctr"/>
          <a:lstStyle/>
          <a:p>
            <a:pPr algn="l" indent="0" marL="0">
              <a:lnSpc>
                <a:spcPct val="110000"/>
              </a:lnSpc>
              <a:buNone/>
            </a:pPr>
            <a:r>
              <a:rPr lang="en-US" altLang="en-US" sz="1700" dirty="0">
                <a:solidFill>
                  <a:schemeClr val="tx1"/>
                </a:solidFill>
                <a:latin typeface="Arial" pitchFamily="34" charset="0"/>
                <a:ea typeface="Arial" pitchFamily="34" charset="-122"/>
                <a:cs typeface="Arial" pitchFamily="34" charset="-120"/>
              </a:rPr>
              <a:t>This juz begins at verse 75: Al-Khadir explaining his three actions and Allah's hidden wisdom, the story of Dhul-Qarnayn the righteous king and building the barrier against Ya'juj and Ma'juj, and the surah ending with sincerity.</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75 – 77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75</a:t>
            </a:r>
            <a:endParaRPr lang="en-US" sz="1600" dirty="0"/>
          </a:p>
        </p:txBody>
      </p:sp>
      <p:sp>
        <p:nvSpPr>
          <p:cNvPr id="8" name="Text 6"/>
          <p:cNvSpPr txBox="1"/>
          <p:nvPr/>
        </p:nvSpPr>
        <p:spPr>
          <a:xfrm>
            <a:off x="1444752" y="13441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أَلَمْ أَقُل لَّكَ إِنَّكَ لَن تَسْتَطِيعَ مَعِيَ صَبْرًا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Al-Khadir said: Did I not tell you that you would not be able to be patient with me?</a:t>
            </a:r>
            <a:endParaRPr lang="en-US" sz="3000" dirty="0"/>
          </a:p>
        </p:txBody>
      </p:sp>
      <p:sp>
        <p:nvSpPr>
          <p:cNvPr id="9" name="Shape 7"/>
          <p:cNvSpPr/>
          <p:nvPr/>
        </p:nvSpPr>
        <p:spPr>
          <a:xfrm>
            <a:off x="1444752" y="2427732"/>
            <a:ext cx="8641080" cy="0"/>
          </a:xfrm>
          <a:prstGeom prst="line">
            <a:avLst/>
          </a:prstGeom>
          <a:noFill/>
          <a:ln w="9525">
            <a:solidFill>
              <a:schemeClr val="accent2"/>
            </a:solidFill>
            <a:prstDash val="dash"/>
          </a:ln>
        </p:spPr>
      </p:sp>
      <p:sp>
        <p:nvSpPr>
          <p:cNvPr id="10" name="Shape 8"/>
          <p:cNvSpPr/>
          <p:nvPr/>
        </p:nvSpPr>
        <p:spPr>
          <a:xfrm>
            <a:off x="713232" y="2564892"/>
            <a:ext cx="548640" cy="548640"/>
          </a:xfrm>
          <a:prstGeom prst="star8">
            <a:avLst/>
          </a:prstGeom>
          <a:solidFill>
            <a:schemeClr val="accent2"/>
          </a:solidFill>
          <a:ln/>
        </p:spPr>
      </p:sp>
      <p:sp>
        <p:nvSpPr>
          <p:cNvPr id="11" name="Shape 9"/>
          <p:cNvSpPr/>
          <p:nvPr/>
        </p:nvSpPr>
        <p:spPr>
          <a:xfrm>
            <a:off x="822960" y="2674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56489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76</a:t>
            </a:r>
            <a:endParaRPr lang="en-US" sz="1600" dirty="0"/>
          </a:p>
        </p:txBody>
      </p:sp>
      <p:sp>
        <p:nvSpPr>
          <p:cNvPr id="13" name="Text 11"/>
          <p:cNvSpPr txBox="1"/>
          <p:nvPr/>
        </p:nvSpPr>
        <p:spPr>
          <a:xfrm>
            <a:off x="1444752" y="2546604"/>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إِن سَأَلْتُكَ عَن شَيْءٍ بَعْدَهَا فَلَا تُصَٰحِبْنِي قَدْ بَلَغْتَ مِن لَّدُنِّي عُذْرًا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Musa said: If I ask you about anything after this, do not keep me with you; you have had enough excuse from me.</a:t>
            </a:r>
            <a:endParaRPr lang="en-US" sz="3000" dirty="0"/>
          </a:p>
        </p:txBody>
      </p:sp>
      <p:sp>
        <p:nvSpPr>
          <p:cNvPr id="14" name="Shape 12"/>
          <p:cNvSpPr/>
          <p:nvPr/>
        </p:nvSpPr>
        <p:spPr>
          <a:xfrm>
            <a:off x="1444752" y="3890772"/>
            <a:ext cx="8641080" cy="0"/>
          </a:xfrm>
          <a:prstGeom prst="line">
            <a:avLst/>
          </a:prstGeom>
          <a:noFill/>
          <a:ln w="9525">
            <a:solidFill>
              <a:schemeClr val="accent2"/>
            </a:solidFill>
            <a:prstDash val="dash"/>
          </a:ln>
        </p:spPr>
      </p:sp>
      <p:sp>
        <p:nvSpPr>
          <p:cNvPr id="15" name="Shape 13"/>
          <p:cNvSpPr/>
          <p:nvPr/>
        </p:nvSpPr>
        <p:spPr>
          <a:xfrm>
            <a:off x="713232" y="4027932"/>
            <a:ext cx="548640" cy="548640"/>
          </a:xfrm>
          <a:prstGeom prst="star8">
            <a:avLst/>
          </a:prstGeom>
          <a:solidFill>
            <a:schemeClr val="accent2"/>
          </a:solidFill>
          <a:ln/>
        </p:spPr>
      </p:sp>
      <p:sp>
        <p:nvSpPr>
          <p:cNvPr id="16" name="Shape 14"/>
          <p:cNvSpPr/>
          <p:nvPr/>
        </p:nvSpPr>
        <p:spPr>
          <a:xfrm>
            <a:off x="822960" y="413766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02793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77</a:t>
            </a:r>
            <a:endParaRPr lang="en-US" sz="1600" dirty="0"/>
          </a:p>
        </p:txBody>
      </p:sp>
      <p:sp>
        <p:nvSpPr>
          <p:cNvPr id="18" name="Text 16"/>
          <p:cNvSpPr txBox="1"/>
          <p:nvPr/>
        </p:nvSpPr>
        <p:spPr>
          <a:xfrm>
            <a:off x="1444752" y="4009644"/>
            <a:ext cx="10012680" cy="2061972"/>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فَانطَلَقَا حَتَّىٰ إِذَآ أَتَيَآ أَهْلَ قَرْيَةٍ اسْتَطْعَمَآ أَهْلَهَا فَأَبَوْاْ أَن يُضَيِّفُوهُمَا فَوَجَدَا فِيهَا جِدَارًا يُرِيدُ أَن يَنقَضَّ فَأَقَامَهُ قَالَ لَوْ شِئْتَ لَتَّخَذْتَ عَلَيْهِ أَجْرًا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they set out, until they came to the people of a town and asked them for food, but they refused to host them. There they found a wall leaning and about to fall, and Al-Khadir set it straight. Musa said: If you had wished, you could have taken payment for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78 – 80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78</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هَٰذَا فِرَاقُ بَيْنِي وَبَيْنِكَ سَأُنَبِّئُكَ بِتَأْوِيلِ مَا لَمْ تَسْتَطِع عَّلَيْهِ صَبْرًا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Al-Khadir said: This is where you and I part. I will tell you the meaning of what you could not be patient with.</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79</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أَمَّا السَّفِينَةُ فَكَانَتْ لِمَسَٰكِينَ يَعْمَلُونَ فِي الْبَحْرِ فَأَرَدتُّ أَنْ أَعِيبَهَا وَكَانَ وَرَآءَهُم مَّلِكٌ يَأْخُذُ كُلَّ سَفِينَةٍ غَصْبًا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ship, it belonged to poor people working at sea. I wanted to damage it, because ahead of them was an unjust king seizing every sound ship by force.</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80</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الْغُلَٰمُ فَكَانَ أَبَوَاهُ مُؤْمِنَيْنِ فَخَشِينَآ أَن يُرْهِقَهُمَا طُغْيَٰنًا وَكُفْرًا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boy, his parents were believers, and we feared he would push them into rebellion and disbelief because of their great love for him.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81 – 82</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63040"/>
            <a:ext cx="548640" cy="548640"/>
          </a:xfrm>
          <a:prstGeom prst="star8">
            <a:avLst/>
          </a:prstGeom>
          <a:solidFill>
            <a:schemeClr val="accent2"/>
          </a:solidFill>
          <a:ln/>
        </p:spPr>
      </p:sp>
      <p:sp>
        <p:nvSpPr>
          <p:cNvPr id="6" name="Shape 4"/>
          <p:cNvSpPr/>
          <p:nvPr/>
        </p:nvSpPr>
        <p:spPr>
          <a:xfrm>
            <a:off x="822960" y="157276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6304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81</a:t>
            </a:r>
            <a:endParaRPr lang="en-US" sz="1600" dirty="0"/>
          </a:p>
        </p:txBody>
      </p:sp>
      <p:sp>
        <p:nvSpPr>
          <p:cNvPr id="8" name="Text 6"/>
          <p:cNvSpPr txBox="1"/>
          <p:nvPr/>
        </p:nvSpPr>
        <p:spPr>
          <a:xfrm>
            <a:off x="1444752" y="1444752"/>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فَأَرَدْنَآ أَن يُبْدِلَهُمَا رَبُّهُمَا خَيْرًا مِّنْهُ زَكَوٰةً وَأَقْرَبَ رُحْمًا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we wanted their Lord to give them in his place a child better in goodness and kinder and more merciful to them.</a:t>
            </a:r>
            <a:endParaRPr lang="en-US" sz="3000" dirty="0"/>
          </a:p>
        </p:txBody>
      </p:sp>
      <p:sp>
        <p:nvSpPr>
          <p:cNvPr id="9" name="Shape 7"/>
          <p:cNvSpPr/>
          <p:nvPr/>
        </p:nvSpPr>
        <p:spPr>
          <a:xfrm>
            <a:off x="1444752" y="2884932"/>
            <a:ext cx="8641080" cy="0"/>
          </a:xfrm>
          <a:prstGeom prst="line">
            <a:avLst/>
          </a:prstGeom>
          <a:noFill/>
          <a:ln w="9525">
            <a:solidFill>
              <a:schemeClr val="accent2"/>
            </a:solidFill>
            <a:prstDash val="dash"/>
          </a:ln>
        </p:spPr>
      </p:sp>
      <p:sp>
        <p:nvSpPr>
          <p:cNvPr id="10" name="Shape 8"/>
          <p:cNvSpPr/>
          <p:nvPr/>
        </p:nvSpPr>
        <p:spPr>
          <a:xfrm>
            <a:off x="713232" y="3118104"/>
            <a:ext cx="548640" cy="548640"/>
          </a:xfrm>
          <a:prstGeom prst="star8">
            <a:avLst/>
          </a:prstGeom>
          <a:solidFill>
            <a:schemeClr val="accent2"/>
          </a:solidFill>
          <a:ln/>
        </p:spPr>
      </p:sp>
      <p:sp>
        <p:nvSpPr>
          <p:cNvPr id="11" name="Shape 9"/>
          <p:cNvSpPr/>
          <p:nvPr/>
        </p:nvSpPr>
        <p:spPr>
          <a:xfrm>
            <a:off x="822960" y="322783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11810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82</a:t>
            </a:r>
            <a:endParaRPr lang="en-US" sz="1600" dirty="0"/>
          </a:p>
        </p:txBody>
      </p:sp>
      <p:sp>
        <p:nvSpPr>
          <p:cNvPr id="13" name="Text 11"/>
          <p:cNvSpPr txBox="1"/>
          <p:nvPr/>
        </p:nvSpPr>
        <p:spPr>
          <a:xfrm>
            <a:off x="1444752" y="3099816"/>
            <a:ext cx="10012680" cy="2871216"/>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الْجِدَارُ فَكَانَ لِغُلَٰمَيْنِ يَتِيمَيْنِ فِي الْمَدِينَةِ وَكَانَ تَحْتَهُ كَنزٌ لَّهُمَا وَكَانَ أَبُوهُمَا صَٰلِحًا فَأَرَادَ رَبُّكَ أَن يَبْلُغَآ أَشُدَّهُمَا وَيَسْتَخْرِجَا كَنزَهُمَا رَحْمَةً مِّن رَّبِّكَ وَمَا فَعَلْتُهُ عَنْ أَمْرِي ذَٰلِكَ تَأْوِيلُ مَا لَمْ تَسْطِع عَّلَيْهِ صَبْرًا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As for the wall, it belonged to two orphan boys in the city, and beneath it was a treasure of theirs. Their father had been a righteous man, so your Lord wanted them to grow up and take out their treasure as a mercy from your Lord. I did not do it on my own but by Allah's command. That is the meaning of what you could not be patient with.</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83 – 85</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83</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وَيَسْـَٔلُونَكَ عَن ذِي الْقَرْنَيْنِ قُلْ سَأَتْلُواْ عَلَيْكُم مِّنْهُ ذِكْرًا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idol-worshippers ask you about Dhul-Qarnayn. Say: I will recite to you some of his story, with a lesson in it.</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84</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إِنَّا مَكَّنَّا لَهُ فِي الْأَرْضِ وَءَاتَيْنَٰهُ مِن كُلِّ شَيْءٍ سَبَبًا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We established him with power in the land and gave him the means to reach everything he aimed for.</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85</a:t>
            </a:r>
            <a:endParaRPr lang="en-US" sz="16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فَأَتْبَعَ سَبَبًا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he followed a way towards the west,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86 – 88</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86</a:t>
            </a:r>
            <a:endParaRPr lang="en-US" sz="1600" dirty="0"/>
          </a:p>
        </p:txBody>
      </p:sp>
      <p:sp>
        <p:nvSpPr>
          <p:cNvPr id="8" name="Text 6"/>
          <p:cNvSpPr txBox="1"/>
          <p:nvPr/>
        </p:nvSpPr>
        <p:spPr>
          <a:xfrm>
            <a:off x="1444752" y="134416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بَلَغَ مَغْرِبَ الشَّمْسِ وَجَدَهَا تَغْرُبُ فِي عَيْنٍ حَمِئَةٍ وَوَجَدَ عِندَهَا قَوْمًا قُلْنَا يَٰذَا الْقَرْنَيْنِ إِمَّآ أَن تُعَذِّبَ وَإِمَّآ أَن تَتَّخِذَ فِيهِمْ حُسْنًا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he reached the place of the sunset, he saw it, to the eye, setting in a spring of dark mud, and found a people there. We said: O Dhul-Qarnayn, either punish them or treat them with kindness.</a:t>
            </a:r>
            <a:endParaRPr lang="en-US" sz="3000" dirty="0"/>
          </a:p>
        </p:txBody>
      </p:sp>
      <p:sp>
        <p:nvSpPr>
          <p:cNvPr id="9" name="Shape 7"/>
          <p:cNvSpPr/>
          <p:nvPr/>
        </p:nvSpPr>
        <p:spPr>
          <a:xfrm>
            <a:off x="1444752" y="3236976"/>
            <a:ext cx="8641080" cy="0"/>
          </a:xfrm>
          <a:prstGeom prst="line">
            <a:avLst/>
          </a:prstGeom>
          <a:noFill/>
          <a:ln w="9525">
            <a:solidFill>
              <a:schemeClr val="accent2"/>
            </a:solidFill>
            <a:prstDash val="dash"/>
          </a:ln>
        </p:spPr>
      </p:sp>
      <p:sp>
        <p:nvSpPr>
          <p:cNvPr id="10" name="Shape 8"/>
          <p:cNvSpPr/>
          <p:nvPr/>
        </p:nvSpPr>
        <p:spPr>
          <a:xfrm>
            <a:off x="713232" y="3374136"/>
            <a:ext cx="548640" cy="548640"/>
          </a:xfrm>
          <a:prstGeom prst="star8">
            <a:avLst/>
          </a:prstGeom>
          <a:solidFill>
            <a:schemeClr val="accent2"/>
          </a:solidFill>
          <a:ln/>
        </p:spPr>
      </p:sp>
      <p:sp>
        <p:nvSpPr>
          <p:cNvPr id="11" name="Shape 9"/>
          <p:cNvSpPr/>
          <p:nvPr/>
        </p:nvSpPr>
        <p:spPr>
          <a:xfrm>
            <a:off x="822960" y="348386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37413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87</a:t>
            </a:r>
            <a:endParaRPr lang="en-US" sz="1600" dirty="0"/>
          </a:p>
        </p:txBody>
      </p:sp>
      <p:sp>
        <p:nvSpPr>
          <p:cNvPr id="13" name="Text 11"/>
          <p:cNvSpPr txBox="1"/>
          <p:nvPr/>
        </p:nvSpPr>
        <p:spPr>
          <a:xfrm>
            <a:off x="1444752" y="335584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أَمَّا مَن ظَلَمَ فَسَوْفَ نُعَذِّبُهُ ثُمَّ يُرَدُّ إِلَىٰ رَبِّهِ فَيُعَذِّبُهُ عَذَابًا نُّكْرًا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As for whoever does wrong by disbelief, we will punish him, then he will be returned to his Lord, who will punish him with a terrible punishment.</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88</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وَأَمَّا مَنْ ءَامَنَ وَعَمِلَ صَٰلِحًا فَلَهُ جَزَآءً الْحُسْنَىٰ وَسَنَقُولُ لَهُ مِنْ أَمْرِنَا يُسْرًا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But whoever believes and does good will have Paradise as a reward, and we will speak to him with ease in our command.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89 – 91</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705356"/>
            <a:ext cx="548640" cy="548640"/>
          </a:xfrm>
          <a:prstGeom prst="star8">
            <a:avLst/>
          </a:prstGeom>
          <a:solidFill>
            <a:schemeClr val="accent2"/>
          </a:solidFill>
          <a:ln/>
        </p:spPr>
      </p:sp>
      <p:sp>
        <p:nvSpPr>
          <p:cNvPr id="6" name="Shape 4"/>
          <p:cNvSpPr/>
          <p:nvPr/>
        </p:nvSpPr>
        <p:spPr>
          <a:xfrm>
            <a:off x="822960"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7053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89</a:t>
            </a:r>
            <a:endParaRPr lang="en-US" sz="1600" dirty="0"/>
          </a:p>
        </p:txBody>
      </p:sp>
      <p:sp>
        <p:nvSpPr>
          <p:cNvPr id="8" name="Text 6"/>
          <p:cNvSpPr txBox="1"/>
          <p:nvPr/>
        </p:nvSpPr>
        <p:spPr>
          <a:xfrm>
            <a:off x="1444752" y="168706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أَتْبَعَ سَبَبًا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followed a way towards the east,</a:t>
            </a:r>
            <a:endParaRPr lang="en-US" sz="3000" dirty="0"/>
          </a:p>
        </p:txBody>
      </p:sp>
      <p:sp>
        <p:nvSpPr>
          <p:cNvPr id="9" name="Shape 7"/>
          <p:cNvSpPr/>
          <p:nvPr/>
        </p:nvSpPr>
        <p:spPr>
          <a:xfrm>
            <a:off x="1444752" y="2866644"/>
            <a:ext cx="8641080" cy="0"/>
          </a:xfrm>
          <a:prstGeom prst="line">
            <a:avLst/>
          </a:prstGeom>
          <a:noFill/>
          <a:ln w="9525">
            <a:solidFill>
              <a:schemeClr val="accent2"/>
            </a:solidFill>
            <a:prstDash val="dash"/>
          </a:ln>
        </p:spPr>
      </p:sp>
      <p:sp>
        <p:nvSpPr>
          <p:cNvPr id="10" name="Shape 8"/>
          <p:cNvSpPr/>
          <p:nvPr/>
        </p:nvSpPr>
        <p:spPr>
          <a:xfrm>
            <a:off x="713232" y="3099816"/>
            <a:ext cx="548640" cy="548640"/>
          </a:xfrm>
          <a:prstGeom prst="star8">
            <a:avLst/>
          </a:prstGeom>
          <a:solidFill>
            <a:schemeClr val="accent2"/>
          </a:solidFill>
          <a:ln/>
        </p:spPr>
      </p:sp>
      <p:sp>
        <p:nvSpPr>
          <p:cNvPr id="11" name="Shape 9"/>
          <p:cNvSpPr/>
          <p:nvPr/>
        </p:nvSpPr>
        <p:spPr>
          <a:xfrm>
            <a:off x="822960" y="320954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09981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90</a:t>
            </a:r>
            <a:endParaRPr lang="en-US" sz="1600" dirty="0"/>
          </a:p>
        </p:txBody>
      </p:sp>
      <p:sp>
        <p:nvSpPr>
          <p:cNvPr id="13" name="Text 11"/>
          <p:cNvSpPr txBox="1"/>
          <p:nvPr/>
        </p:nvSpPr>
        <p:spPr>
          <a:xfrm>
            <a:off x="1444752" y="308152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بَلَغَ مَطْلِعَ الشَّمْسِ وَجَدَهَا تَطْلُعُ عَلَىٰ قَوْمٍ لَّمْ نَجْعَل لَّهُم مِّن دُونِهَا سِتْرًا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he reached the place of the sunrise, he found it rising on a people for whom We had made no shelter from its heat, neither buildings nor trees.</a:t>
            </a:r>
            <a:endParaRPr lang="en-US" sz="3000" dirty="0"/>
          </a:p>
        </p:txBody>
      </p:sp>
      <p:sp>
        <p:nvSpPr>
          <p:cNvPr id="14" name="Shape 12"/>
          <p:cNvSpPr/>
          <p:nvPr/>
        </p:nvSpPr>
        <p:spPr>
          <a:xfrm>
            <a:off x="1444752" y="4521708"/>
            <a:ext cx="8641080" cy="0"/>
          </a:xfrm>
          <a:prstGeom prst="line">
            <a:avLst/>
          </a:prstGeom>
          <a:noFill/>
          <a:ln w="9525">
            <a:solidFill>
              <a:schemeClr val="accent2"/>
            </a:solidFill>
            <a:prstDash val="dash"/>
          </a:ln>
        </p:spPr>
      </p:sp>
      <p:sp>
        <p:nvSpPr>
          <p:cNvPr id="15" name="Shape 13"/>
          <p:cNvSpPr/>
          <p:nvPr/>
        </p:nvSpPr>
        <p:spPr>
          <a:xfrm>
            <a:off x="713232" y="4754880"/>
            <a:ext cx="548640" cy="548640"/>
          </a:xfrm>
          <a:prstGeom prst="star8">
            <a:avLst/>
          </a:prstGeom>
          <a:solidFill>
            <a:schemeClr val="accent2"/>
          </a:solidFill>
          <a:ln/>
        </p:spPr>
      </p:sp>
      <p:sp>
        <p:nvSpPr>
          <p:cNvPr id="16" name="Shape 14"/>
          <p:cNvSpPr/>
          <p:nvPr/>
        </p:nvSpPr>
        <p:spPr>
          <a:xfrm>
            <a:off x="822960" y="4864608"/>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75488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91</a:t>
            </a:r>
            <a:endParaRPr lang="en-US" sz="1600" dirty="0"/>
          </a:p>
        </p:txBody>
      </p:sp>
      <p:sp>
        <p:nvSpPr>
          <p:cNvPr id="18" name="Text 16"/>
          <p:cNvSpPr txBox="1"/>
          <p:nvPr/>
        </p:nvSpPr>
        <p:spPr>
          <a:xfrm>
            <a:off x="1444752" y="473659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كَذَٰلِكَ وَقَدْ أَحَطْنَا بِمَا لَدَيْهِ خُبْرًا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it was, and We fully knew all that he had.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92 – 94</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05890"/>
            <a:ext cx="548640" cy="548640"/>
          </a:xfrm>
          <a:prstGeom prst="star8">
            <a:avLst/>
          </a:prstGeom>
          <a:solidFill>
            <a:schemeClr val="accent2"/>
          </a:solidFill>
          <a:ln/>
        </p:spPr>
      </p:sp>
      <p:sp>
        <p:nvSpPr>
          <p:cNvPr id="6" name="Shape 4"/>
          <p:cNvSpPr/>
          <p:nvPr/>
        </p:nvSpPr>
        <p:spPr>
          <a:xfrm>
            <a:off x="822960" y="1515618"/>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05890"/>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92</a:t>
            </a:r>
            <a:endParaRPr lang="en-US" sz="1600" dirty="0"/>
          </a:p>
        </p:txBody>
      </p:sp>
      <p:sp>
        <p:nvSpPr>
          <p:cNvPr id="8" name="Text 6"/>
          <p:cNvSpPr txBox="1"/>
          <p:nvPr/>
        </p:nvSpPr>
        <p:spPr>
          <a:xfrm>
            <a:off x="1444752" y="1387602"/>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ثُمَّ أَتْبَعَ سَبَبًا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Then he followed a third way,</a:t>
            </a:r>
            <a:endParaRPr lang="en-US" sz="3000" dirty="0"/>
          </a:p>
        </p:txBody>
      </p:sp>
      <p:sp>
        <p:nvSpPr>
          <p:cNvPr id="9" name="Shape 7"/>
          <p:cNvSpPr/>
          <p:nvPr/>
        </p:nvSpPr>
        <p:spPr>
          <a:xfrm>
            <a:off x="1444752" y="2514600"/>
            <a:ext cx="8641080" cy="0"/>
          </a:xfrm>
          <a:prstGeom prst="line">
            <a:avLst/>
          </a:prstGeom>
          <a:noFill/>
          <a:ln w="9525">
            <a:solidFill>
              <a:schemeClr val="accent2"/>
            </a:solidFill>
            <a:prstDash val="dash"/>
          </a:ln>
        </p:spPr>
      </p:sp>
      <p:sp>
        <p:nvSpPr>
          <p:cNvPr id="10" name="Shape 8"/>
          <p:cNvSpPr/>
          <p:nvPr/>
        </p:nvSpPr>
        <p:spPr>
          <a:xfrm>
            <a:off x="713232" y="2695194"/>
            <a:ext cx="548640" cy="548640"/>
          </a:xfrm>
          <a:prstGeom prst="star8">
            <a:avLst/>
          </a:prstGeom>
          <a:solidFill>
            <a:schemeClr val="accent2"/>
          </a:solidFill>
          <a:ln/>
        </p:spPr>
      </p:sp>
      <p:sp>
        <p:nvSpPr>
          <p:cNvPr id="11" name="Shape 9"/>
          <p:cNvSpPr/>
          <p:nvPr/>
        </p:nvSpPr>
        <p:spPr>
          <a:xfrm>
            <a:off x="822960" y="2804922"/>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69519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93</a:t>
            </a:r>
            <a:endParaRPr lang="en-US" sz="1600" dirty="0"/>
          </a:p>
        </p:txBody>
      </p:sp>
      <p:sp>
        <p:nvSpPr>
          <p:cNvPr id="13" name="Text 11"/>
          <p:cNvSpPr txBox="1"/>
          <p:nvPr/>
        </p:nvSpPr>
        <p:spPr>
          <a:xfrm>
            <a:off x="1444752" y="267690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حَتَّىٰ إِذَا بَلَغَ بَيْنَ السَّدَّيْنِ وَجَدَ مِن دُونِهِمَا قَوْمًا لَّا يَكَادُونَ يَفْقَهُونَ قَوْلًا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until, when he reached a place between two mountains, he found before them a people who could hardly understand others' speech.</a:t>
            </a:r>
            <a:endParaRPr lang="en-US" sz="3000" dirty="0"/>
          </a:p>
        </p:txBody>
      </p:sp>
      <p:sp>
        <p:nvSpPr>
          <p:cNvPr id="14" name="Shape 12"/>
          <p:cNvSpPr/>
          <p:nvPr/>
        </p:nvSpPr>
        <p:spPr>
          <a:xfrm>
            <a:off x="1444752" y="4064508"/>
            <a:ext cx="8641080" cy="0"/>
          </a:xfrm>
          <a:prstGeom prst="line">
            <a:avLst/>
          </a:prstGeom>
          <a:noFill/>
          <a:ln w="9525">
            <a:solidFill>
              <a:schemeClr val="accent2"/>
            </a:solidFill>
            <a:prstDash val="dash"/>
          </a:ln>
        </p:spPr>
      </p:sp>
      <p:sp>
        <p:nvSpPr>
          <p:cNvPr id="15" name="Shape 13"/>
          <p:cNvSpPr/>
          <p:nvPr/>
        </p:nvSpPr>
        <p:spPr>
          <a:xfrm>
            <a:off x="713232" y="4245102"/>
            <a:ext cx="548640" cy="548640"/>
          </a:xfrm>
          <a:prstGeom prst="star8">
            <a:avLst/>
          </a:prstGeom>
          <a:solidFill>
            <a:schemeClr val="accent2"/>
          </a:solidFill>
          <a:ln/>
        </p:spPr>
      </p:sp>
      <p:sp>
        <p:nvSpPr>
          <p:cNvPr id="16" name="Shape 14"/>
          <p:cNvSpPr/>
          <p:nvPr/>
        </p:nvSpPr>
        <p:spPr>
          <a:xfrm>
            <a:off x="822960" y="435483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45102"/>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94</a:t>
            </a:r>
            <a:endParaRPr lang="en-US" sz="1600" dirty="0"/>
          </a:p>
        </p:txBody>
      </p:sp>
      <p:sp>
        <p:nvSpPr>
          <p:cNvPr id="18" name="Text 16"/>
          <p:cNvSpPr txBox="1"/>
          <p:nvPr/>
        </p:nvSpPr>
        <p:spPr>
          <a:xfrm>
            <a:off x="1444752" y="4226814"/>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قَالُواْ يَٰذَا الْقَرْنَيْنِ إِنَّ يَأْجُوجَ وَمَأْجُوجَ مُفْسِدُونَ فِي الْأَرْضِ فَهَلْ نَجْعَلُ لَكَ خَرْجًا عَلَىٰ أَن تَجْعَلَ بَيْنَنَا وَبَيْنَهُمْ سَدًّا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said: O Dhul-Qarnayn, Ya'juj and Ma'juj are spreading corruption in the land. Shall we pay you to build a barrier between us and them?</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95 – 97</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362456"/>
            <a:ext cx="548640" cy="548640"/>
          </a:xfrm>
          <a:prstGeom prst="star8">
            <a:avLst/>
          </a:prstGeom>
          <a:solidFill>
            <a:schemeClr val="accent2"/>
          </a:solidFill>
          <a:ln/>
        </p:spPr>
      </p:sp>
      <p:sp>
        <p:nvSpPr>
          <p:cNvPr id="6" name="Shape 4"/>
          <p:cNvSpPr/>
          <p:nvPr/>
        </p:nvSpPr>
        <p:spPr>
          <a:xfrm>
            <a:off x="822960"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36245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95</a:t>
            </a:r>
            <a:endParaRPr lang="en-US" sz="1600" dirty="0"/>
          </a:p>
        </p:txBody>
      </p:sp>
      <p:sp>
        <p:nvSpPr>
          <p:cNvPr id="8" name="Text 6"/>
          <p:cNvSpPr txBox="1"/>
          <p:nvPr/>
        </p:nvSpPr>
        <p:spPr>
          <a:xfrm>
            <a:off x="1444752" y="134416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مَا مَكَّنِّي فِيهِ رَبِّي خَيْرٌ فَأَعِينُونِي بِقُوَّةٍ أَجْعَلْ بَيْنَكُمْ وَبَيْنَهُمْ رَدْمًا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He said: What my Lord has given me of power is better than your payment. Help me with your strength and workers, and I will build a strong barrier between you and them.</a:t>
            </a:r>
            <a:endParaRPr lang="en-US" sz="3000" dirty="0"/>
          </a:p>
        </p:txBody>
      </p:sp>
      <p:sp>
        <p:nvSpPr>
          <p:cNvPr id="9" name="Shape 7"/>
          <p:cNvSpPr/>
          <p:nvPr/>
        </p:nvSpPr>
        <p:spPr>
          <a:xfrm>
            <a:off x="1444752" y="2688336"/>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96</a:t>
            </a:r>
            <a:endParaRPr lang="en-US" sz="16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ءَاتُونِي زُبَرَ الْحَدِيدِ حَتَّىٰ إِذَا سَاوَىٰ بَيْنَ الصَّدَفَيْنِ قَالَ انفُخُواْ حَتَّىٰ إِذَا جَعَلَهُ نَارًا قَالَ ءَاتُونِي أُفْرِغْ عَلَيْهِ قِطْرًا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Bring me pieces of iron. When he had filled the gap between the two mountain sides, he said: Blow with bellows. When it became red as fire, he said: Bring me molten copper to pour over it.</a:t>
            </a:r>
            <a:endParaRPr lang="en-US" sz="3000" dirty="0"/>
          </a:p>
        </p:txBody>
      </p:sp>
      <p:sp>
        <p:nvSpPr>
          <p:cNvPr id="14" name="Shape 12"/>
          <p:cNvSpPr/>
          <p:nvPr/>
        </p:nvSpPr>
        <p:spPr>
          <a:xfrm>
            <a:off x="1444752" y="4700016"/>
            <a:ext cx="8641080" cy="0"/>
          </a:xfrm>
          <a:prstGeom prst="line">
            <a:avLst/>
          </a:prstGeom>
          <a:noFill/>
          <a:ln w="9525">
            <a:solidFill>
              <a:schemeClr val="accent2"/>
            </a:solidFill>
            <a:prstDash val="dash"/>
          </a:ln>
        </p:spPr>
      </p:sp>
      <p:sp>
        <p:nvSpPr>
          <p:cNvPr id="15" name="Shape 13"/>
          <p:cNvSpPr/>
          <p:nvPr/>
        </p:nvSpPr>
        <p:spPr>
          <a:xfrm>
            <a:off x="713232" y="4837176"/>
            <a:ext cx="548640" cy="548640"/>
          </a:xfrm>
          <a:prstGeom prst="star8">
            <a:avLst/>
          </a:prstGeom>
          <a:solidFill>
            <a:schemeClr val="accent2"/>
          </a:solidFill>
          <a:ln/>
        </p:spPr>
      </p:sp>
      <p:sp>
        <p:nvSpPr>
          <p:cNvPr id="16" name="Shape 14"/>
          <p:cNvSpPr/>
          <p:nvPr/>
        </p:nvSpPr>
        <p:spPr>
          <a:xfrm>
            <a:off x="822960" y="4946904"/>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37176"/>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97</a:t>
            </a:r>
            <a:endParaRPr lang="en-US" sz="1600" dirty="0"/>
          </a:p>
        </p:txBody>
      </p:sp>
      <p:sp>
        <p:nvSpPr>
          <p:cNvPr id="18" name="Text 16"/>
          <p:cNvSpPr txBox="1"/>
          <p:nvPr/>
        </p:nvSpPr>
        <p:spPr>
          <a:xfrm>
            <a:off x="1444752" y="4818888"/>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فَمَا اسْطَٰعُواْ أَن يَظْهَرُوهُ وَمَا اسْتَطَٰعُواْ لَهُ نَقْبًا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So Ya'juj and Ma'juj could not climb over it because it was high and smooth, nor could they dig through it because it was so hard.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98 – 100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575054"/>
            <a:ext cx="548640" cy="548640"/>
          </a:xfrm>
          <a:prstGeom prst="star8">
            <a:avLst/>
          </a:prstGeom>
          <a:solidFill>
            <a:schemeClr val="accent2"/>
          </a:solidFill>
          <a:ln/>
        </p:spPr>
      </p:sp>
      <p:sp>
        <p:nvSpPr>
          <p:cNvPr id="6" name="Shape 4"/>
          <p:cNvSpPr/>
          <p:nvPr/>
        </p:nvSpPr>
        <p:spPr>
          <a:xfrm>
            <a:off x="822960" y="168478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575054"/>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98</a:t>
            </a:r>
            <a:endParaRPr lang="en-US" sz="1600" dirty="0"/>
          </a:p>
        </p:txBody>
      </p:sp>
      <p:sp>
        <p:nvSpPr>
          <p:cNvPr id="8" name="Text 6"/>
          <p:cNvSpPr txBox="1"/>
          <p:nvPr/>
        </p:nvSpPr>
        <p:spPr>
          <a:xfrm>
            <a:off x="1444752" y="1556766"/>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قَالَ هَٰذَا رَحْمَةٌ مِّن رَّبِّي فَإِذَا جَآءَ وَعْدُ رَبِّي جَعَلَهُ دَكَّآءَ وَكَانَ وَعْدُ رَبِّي حَقًّا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Dhul-Qarnayn said: This barrier is a mercy from my Lord. When my Lord's promise of their coming out near the Hour arrives, He will level it to the ground, and my Lord's promise is always true.</a:t>
            </a:r>
            <a:endParaRPr lang="en-US" sz="3000" dirty="0"/>
          </a:p>
        </p:txBody>
      </p:sp>
      <p:sp>
        <p:nvSpPr>
          <p:cNvPr id="9" name="Shape 7"/>
          <p:cNvSpPr/>
          <p:nvPr/>
        </p:nvSpPr>
        <p:spPr>
          <a:xfrm>
            <a:off x="1444752" y="2996946"/>
            <a:ext cx="8641080" cy="0"/>
          </a:xfrm>
          <a:prstGeom prst="line">
            <a:avLst/>
          </a:prstGeom>
          <a:noFill/>
          <a:ln w="9525">
            <a:solidFill>
              <a:schemeClr val="accent2"/>
            </a:solidFill>
            <a:prstDash val="dash"/>
          </a:ln>
        </p:spPr>
      </p:sp>
      <p:sp>
        <p:nvSpPr>
          <p:cNvPr id="10" name="Shape 8"/>
          <p:cNvSpPr/>
          <p:nvPr/>
        </p:nvSpPr>
        <p:spPr>
          <a:xfrm>
            <a:off x="713232" y="3230118"/>
            <a:ext cx="548640" cy="548640"/>
          </a:xfrm>
          <a:prstGeom prst="star8">
            <a:avLst/>
          </a:prstGeom>
          <a:solidFill>
            <a:schemeClr val="accent2"/>
          </a:solidFill>
          <a:ln/>
        </p:spPr>
      </p:sp>
      <p:sp>
        <p:nvSpPr>
          <p:cNvPr id="11" name="Shape 9"/>
          <p:cNvSpPr/>
          <p:nvPr/>
        </p:nvSpPr>
        <p:spPr>
          <a:xfrm>
            <a:off x="822960" y="3339846"/>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3230118"/>
            <a:ext cx="548640" cy="548640"/>
          </a:xfrm>
          <a:prstGeom prst="rect">
            <a:avLst/>
          </a:prstGeom>
          <a:noFill/>
          <a:ln/>
        </p:spPr>
        <p:txBody>
          <a:bodyPr wrap="square" lIns="0" tIns="0" rIns="0" bIns="0" rtlCol="0" anchor="ctr"/>
          <a:lstStyle/>
          <a:p>
            <a:pPr algn="ctr" indent="0" marL="0">
              <a:buNone/>
            </a:pPr>
            <a:r>
              <a:rPr lang="en-US" altLang="en-US" sz="1600" b="1" dirty="0">
                <a:solidFill>
                  <a:schemeClr val="tx2"/>
                </a:solidFill>
                <a:latin typeface="Arial" pitchFamily="34" charset="0"/>
                <a:ea typeface="Arial" pitchFamily="34" charset="-122"/>
                <a:cs typeface="Arial" pitchFamily="34" charset="-120"/>
              </a:rPr>
              <a:t>99</a:t>
            </a:r>
            <a:endParaRPr lang="en-US" sz="1600" dirty="0"/>
          </a:p>
        </p:txBody>
      </p:sp>
      <p:sp>
        <p:nvSpPr>
          <p:cNvPr id="13" name="Text 11"/>
          <p:cNvSpPr txBox="1"/>
          <p:nvPr/>
        </p:nvSpPr>
        <p:spPr>
          <a:xfrm>
            <a:off x="1444752" y="3211830"/>
            <a:ext cx="10012680" cy="125272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وَتَرَكْنَا بَعْضَهُمْ يَوْمَئِذٍ يَمُوجُ فِي بَعْضٍ وَنُفِخَ فِي الصُّورِ فَجَمَعْنَٰهُمْ جَمْعًا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We will leave Ya'juj and Ma'juj surging over one another, and the Horn will be blown, and We will gather all creatures together.</a:t>
            </a:r>
            <a:endParaRPr lang="en-US" sz="3000" dirty="0"/>
          </a:p>
        </p:txBody>
      </p:sp>
      <p:sp>
        <p:nvSpPr>
          <p:cNvPr id="14" name="Shape 12"/>
          <p:cNvSpPr/>
          <p:nvPr/>
        </p:nvSpPr>
        <p:spPr>
          <a:xfrm>
            <a:off x="1444752" y="4652010"/>
            <a:ext cx="8641080" cy="0"/>
          </a:xfrm>
          <a:prstGeom prst="line">
            <a:avLst/>
          </a:prstGeom>
          <a:noFill/>
          <a:ln w="9525">
            <a:solidFill>
              <a:schemeClr val="accent2"/>
            </a:solidFill>
            <a:prstDash val="dash"/>
          </a:ln>
        </p:spPr>
      </p:sp>
      <p:sp>
        <p:nvSpPr>
          <p:cNvPr id="15" name="Shape 13"/>
          <p:cNvSpPr/>
          <p:nvPr/>
        </p:nvSpPr>
        <p:spPr>
          <a:xfrm>
            <a:off x="713232" y="4885182"/>
            <a:ext cx="548640" cy="548640"/>
          </a:xfrm>
          <a:prstGeom prst="star8">
            <a:avLst/>
          </a:prstGeom>
          <a:solidFill>
            <a:schemeClr val="accent2"/>
          </a:solidFill>
          <a:ln/>
        </p:spPr>
      </p:sp>
      <p:sp>
        <p:nvSpPr>
          <p:cNvPr id="16" name="Shape 14"/>
          <p:cNvSpPr/>
          <p:nvPr/>
        </p:nvSpPr>
        <p:spPr>
          <a:xfrm>
            <a:off x="822960" y="499491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88518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100</a:t>
            </a:r>
            <a:endParaRPr lang="en-US" sz="1300" dirty="0"/>
          </a:p>
        </p:txBody>
      </p:sp>
      <p:sp>
        <p:nvSpPr>
          <p:cNvPr id="18" name="Text 16"/>
          <p:cNvSpPr txBox="1"/>
          <p:nvPr/>
        </p:nvSpPr>
        <p:spPr>
          <a:xfrm>
            <a:off x="1444752" y="486689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وَعَرَضْنَا جَهَنَّمَ يَوْمَئِذٍ لِّلْكَٰفِرِينَ عَرْضًا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On that Day We will show Hell clearly to the disbelievers,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101 – 103</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101</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كَانَتْ أَعْيُنُهُمْ فِي غِطَآءٍ عَن ذِكْرِي وَكَانُواْ لَا يَسْتَطِيعُونَ سَمْعًا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whose eyes were covered from Allah's signs and who could not bear to hear the truth.</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102</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أَفَحَسِبَ الَّذِينَ كَفَرُواْ أَن يَتَّخِذُواْ عِبَادِي مِن دُونِي أَوْلِيَآءَ إِنَّآ أَعْتَدْنَا جَهَنَّمَ لِلْكَٰفِرِينَ نُزُلًا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Do the disbelievers think they can take My servants, like the angels and prophets, as gods besides Me? We have prepared Hell as a home for the disbelievers.</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103</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هَلْ نُنَبِّئُكُم بِالْأَخْسَرِينَ أَعْمَٰلًا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Shall we tell you who will lose the most in their deeds?</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104 – 106</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104</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الَّذِينَ ضَلَّ سَعْيُهُمْ فِي الْحَيَوٰةِ الدُّنْيَا وَهُمْ يَحْسَبُونَ أَنَّهُمْ يُحْسِنُونَ صُنْعًا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Those whose efforts were lost in the life of this world while they thought they were doing good.</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105</a:t>
            </a:r>
            <a:endParaRPr lang="en-US" sz="1300" dirty="0"/>
          </a:p>
        </p:txBody>
      </p:sp>
      <p:sp>
        <p:nvSpPr>
          <p:cNvPr id="13" name="Text 11"/>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أُوْلَـٰئِكَ الَّذِينَ كَفَرُواْ بِـَٔايَٰتِ رَبِّهِمْ وَلِقَآئِهِ فَحَبِطَتْ أَعْمَٰلُهُمْ فَلَا نُقِيمُ لَهُمْ يَوْمَ الْقِيَٰمَةِ وَزْنًا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They are the ones who disbelieved in their Lord's signs and in meeting Him, so their deeds are lost, and on the Day of Resurrection We will give them no weight.</a:t>
            </a:r>
            <a:endParaRPr lang="en-US" sz="3000" dirty="0"/>
          </a:p>
        </p:txBody>
      </p:sp>
      <p:sp>
        <p:nvSpPr>
          <p:cNvPr id="14" name="Shape 12"/>
          <p:cNvSpPr/>
          <p:nvPr/>
        </p:nvSpPr>
        <p:spPr>
          <a:xfrm>
            <a:off x="1444752" y="4786884"/>
            <a:ext cx="8641080" cy="0"/>
          </a:xfrm>
          <a:prstGeom prst="line">
            <a:avLst/>
          </a:prstGeom>
          <a:noFill/>
          <a:ln w="9525">
            <a:solidFill>
              <a:schemeClr val="accent2"/>
            </a:solidFill>
            <a:prstDash val="dash"/>
          </a:ln>
        </p:spPr>
      </p:sp>
      <p:sp>
        <p:nvSpPr>
          <p:cNvPr id="15" name="Shape 13"/>
          <p:cNvSpPr/>
          <p:nvPr/>
        </p:nvSpPr>
        <p:spPr>
          <a:xfrm>
            <a:off x="713232" y="5010912"/>
            <a:ext cx="548640" cy="548640"/>
          </a:xfrm>
          <a:prstGeom prst="star8">
            <a:avLst/>
          </a:prstGeom>
          <a:solidFill>
            <a:schemeClr val="accent2"/>
          </a:solidFill>
          <a:ln/>
        </p:spPr>
      </p:sp>
      <p:sp>
        <p:nvSpPr>
          <p:cNvPr id="16" name="Shape 14"/>
          <p:cNvSpPr/>
          <p:nvPr/>
        </p:nvSpPr>
        <p:spPr>
          <a:xfrm>
            <a:off x="822960" y="5120640"/>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5010912"/>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106</a:t>
            </a:r>
            <a:endParaRPr lang="en-US" sz="1300" dirty="0"/>
          </a:p>
        </p:txBody>
      </p:sp>
      <p:sp>
        <p:nvSpPr>
          <p:cNvPr id="18" name="Text 16"/>
          <p:cNvSpPr txBox="1"/>
          <p:nvPr/>
        </p:nvSpPr>
        <p:spPr>
          <a:xfrm>
            <a:off x="1444752" y="4992624"/>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ذَٰلِكَ جَزَآؤُهُمْ جَهَنَّمُ بِمَا كَفَرُواْ وَاتَّخَذُواْ ءَايَٰتِي وَرُسُلِي هُزُوًا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That is their reward, Hell, for their disbelief and for taking My signs and My messengers as a joke.</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Verses 107 – 109</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1449324"/>
            <a:ext cx="548640" cy="548640"/>
          </a:xfrm>
          <a:prstGeom prst="star8">
            <a:avLst/>
          </a:prstGeom>
          <a:solidFill>
            <a:schemeClr val="accent2"/>
          </a:solidFill>
          <a:ln/>
        </p:spPr>
      </p:sp>
      <p:sp>
        <p:nvSpPr>
          <p:cNvPr id="6" name="Shape 4"/>
          <p:cNvSpPr/>
          <p:nvPr/>
        </p:nvSpPr>
        <p:spPr>
          <a:xfrm>
            <a:off x="822960" y="1559052"/>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1449324"/>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107</a:t>
            </a:r>
            <a:endParaRPr lang="en-US" sz="1300" dirty="0"/>
          </a:p>
        </p:txBody>
      </p:sp>
      <p:sp>
        <p:nvSpPr>
          <p:cNvPr id="8" name="Text 6"/>
          <p:cNvSpPr txBox="1"/>
          <p:nvPr/>
        </p:nvSpPr>
        <p:spPr>
          <a:xfrm>
            <a:off x="1444752" y="1431036"/>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إِنَّ الَّذِينَ ءَامَنُواْ وَعَمِلُواْ الصَّـٰلِحَٰتِ كَانَتْ لَهُمْ جَنَّـٰتُ الْفِرْدَوْسِ نُزُلًا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The righteous believers will have the Gardens of Al-Firdaws, the highest Paradise, as their home,</a:t>
            </a:r>
            <a:endParaRPr lang="en-US" sz="3000" dirty="0"/>
          </a:p>
        </p:txBody>
      </p:sp>
      <p:sp>
        <p:nvSpPr>
          <p:cNvPr id="9" name="Shape 7"/>
          <p:cNvSpPr/>
          <p:nvPr/>
        </p:nvSpPr>
        <p:spPr>
          <a:xfrm>
            <a:off x="1444752" y="2601468"/>
            <a:ext cx="8641080" cy="0"/>
          </a:xfrm>
          <a:prstGeom prst="line">
            <a:avLst/>
          </a:prstGeom>
          <a:noFill/>
          <a:ln w="9525">
            <a:solidFill>
              <a:schemeClr val="accent2"/>
            </a:solidFill>
            <a:prstDash val="dash"/>
          </a:ln>
        </p:spPr>
      </p:sp>
      <p:sp>
        <p:nvSpPr>
          <p:cNvPr id="10" name="Shape 8"/>
          <p:cNvSpPr/>
          <p:nvPr/>
        </p:nvSpPr>
        <p:spPr>
          <a:xfrm>
            <a:off x="713232" y="2825496"/>
            <a:ext cx="548640" cy="548640"/>
          </a:xfrm>
          <a:prstGeom prst="star8">
            <a:avLst/>
          </a:prstGeom>
          <a:solidFill>
            <a:schemeClr val="accent2"/>
          </a:solidFill>
          <a:ln/>
        </p:spPr>
      </p:sp>
      <p:sp>
        <p:nvSpPr>
          <p:cNvPr id="11" name="Shape 9"/>
          <p:cNvSpPr/>
          <p:nvPr/>
        </p:nvSpPr>
        <p:spPr>
          <a:xfrm>
            <a:off x="822960" y="2935224"/>
            <a:ext cx="329184" cy="329184"/>
          </a:xfrm>
          <a:prstGeom prst="ellipse">
            <a:avLst/>
          </a:prstGeom>
          <a:solidFill>
            <a:schemeClr val="bg2"/>
          </a:solidFill>
          <a:ln w="19050">
            <a:solidFill>
              <a:schemeClr val="tx2"/>
            </a:solidFill>
            <a:prstDash val="solid"/>
          </a:ln>
        </p:spPr>
      </p:sp>
      <p:sp>
        <p:nvSpPr>
          <p:cNvPr id="12" name="Text 10"/>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108</a:t>
            </a:r>
            <a:endParaRPr lang="en-US" sz="1300" dirty="0"/>
          </a:p>
        </p:txBody>
      </p:sp>
      <p:sp>
        <p:nvSpPr>
          <p:cNvPr id="13" name="Text 11"/>
          <p:cNvSpPr txBox="1"/>
          <p:nvPr/>
        </p:nvSpPr>
        <p:spPr>
          <a:xfrm>
            <a:off x="1444752" y="2807208"/>
            <a:ext cx="10012680" cy="992124"/>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خَٰلِدِينَ فِيهَا لَا يَبْغُونَ عَنْهَا حِوَلًا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staying there forever, never wishing to move from it.</a:t>
            </a:r>
            <a:endParaRPr lang="en-US" sz="3000" dirty="0"/>
          </a:p>
        </p:txBody>
      </p:sp>
      <p:sp>
        <p:nvSpPr>
          <p:cNvPr id="14" name="Shape 12"/>
          <p:cNvSpPr/>
          <p:nvPr/>
        </p:nvSpPr>
        <p:spPr>
          <a:xfrm>
            <a:off x="1444752" y="3977640"/>
            <a:ext cx="8641080" cy="0"/>
          </a:xfrm>
          <a:prstGeom prst="line">
            <a:avLst/>
          </a:prstGeom>
          <a:noFill/>
          <a:ln w="9525">
            <a:solidFill>
              <a:schemeClr val="accent2"/>
            </a:solidFill>
            <a:prstDash val="dash"/>
          </a:ln>
        </p:spPr>
      </p:sp>
      <p:sp>
        <p:nvSpPr>
          <p:cNvPr id="15" name="Shape 13"/>
          <p:cNvSpPr/>
          <p:nvPr/>
        </p:nvSpPr>
        <p:spPr>
          <a:xfrm>
            <a:off x="713232" y="4201668"/>
            <a:ext cx="548640" cy="548640"/>
          </a:xfrm>
          <a:prstGeom prst="star8">
            <a:avLst/>
          </a:prstGeom>
          <a:solidFill>
            <a:schemeClr val="accent2"/>
          </a:solidFill>
          <a:ln/>
        </p:spPr>
      </p:sp>
      <p:sp>
        <p:nvSpPr>
          <p:cNvPr id="16" name="Shape 14"/>
          <p:cNvSpPr/>
          <p:nvPr/>
        </p:nvSpPr>
        <p:spPr>
          <a:xfrm>
            <a:off x="822960" y="4311396"/>
            <a:ext cx="329184" cy="329184"/>
          </a:xfrm>
          <a:prstGeom prst="ellipse">
            <a:avLst/>
          </a:prstGeom>
          <a:solidFill>
            <a:schemeClr val="bg2"/>
          </a:solidFill>
          <a:ln w="19050">
            <a:solidFill>
              <a:schemeClr val="tx2"/>
            </a:solidFill>
            <a:prstDash val="solid"/>
          </a:ln>
        </p:spPr>
      </p:sp>
      <p:sp>
        <p:nvSpPr>
          <p:cNvPr id="17" name="Text 15"/>
          <p:cNvSpPr txBox="1"/>
          <p:nvPr/>
        </p:nvSpPr>
        <p:spPr>
          <a:xfrm>
            <a:off x="713232" y="4201668"/>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109</a:t>
            </a:r>
            <a:endParaRPr lang="en-US" sz="1300" dirty="0"/>
          </a:p>
        </p:txBody>
      </p:sp>
      <p:sp>
        <p:nvSpPr>
          <p:cNvPr id="18" name="Text 16"/>
          <p:cNvSpPr txBox="1"/>
          <p:nvPr/>
        </p:nvSpPr>
        <p:spPr>
          <a:xfrm>
            <a:off x="1444752" y="4183380"/>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لَّوْ كَانَ الْبَحْرُ مِدَادًا لِّكَلِمَٰتِ رَبِّي لَنَفِدَ الْبَحْرُ قَبْلَ أَن تَنفَدَ كَلِمَٰتُ رَبِّي وَلَوْ جِئْنَا بِمِثْلِهِ مَدَدًا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If the sea were ink for writing my Lord's words, the sea would run out before my Lord's words ran out, even if We brought another sea like it.</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algn="ctr" indent="0" marL="0">
              <a:buNone/>
            </a:pPr>
            <a:r>
              <a:rPr lang="en-US" sz="2400" b="1" dirty="0">
                <a:solidFill>
                  <a:schemeClr val="bg1"/>
                </a:solidFill>
                <a:latin typeface="Georgia" pitchFamily="34" charset="0"/>
                <a:ea typeface="Georgia" pitchFamily="34" charset="-122"/>
                <a:cs typeface="Georgia" pitchFamily="34" charset="-120"/>
              </a:rPr>
              <a:t>Surah Al-Kahf</a:t>
            </a:r>
            <a:endParaRPr lang="en-US" sz="2400" dirty="0"/>
          </a:p>
        </p:txBody>
      </p:sp>
      <p:sp>
        <p:nvSpPr>
          <p:cNvPr id="3" name="Text 1"/>
          <p:cNvSpPr txBox="1"/>
          <p:nvPr/>
        </p:nvSpPr>
        <p:spPr>
          <a:xfrm>
            <a:off x="777240" y="548640"/>
            <a:ext cx="2651760" cy="384048"/>
          </a:xfrm>
          <a:prstGeom prst="rect">
            <a:avLst/>
          </a:prstGeom>
          <a:noFill/>
          <a:ln/>
        </p:spPr>
        <p:txBody>
          <a:bodyPr wrap="square" lIns="0" tIns="0" rIns="0" bIns="0" rtlCol="0" anchor="ctr"/>
          <a:lstStyle/>
          <a:p>
            <a:pPr algn="l" indent="0" marL="0">
              <a:buNone/>
            </a:pPr>
            <a:r>
              <a:rPr lang="en-US" altLang="en-US" sz="1500" b="1" dirty="0">
                <a:solidFill>
                  <a:schemeClr val="accent2"/>
                </a:solidFill>
                <a:latin typeface="Arial" pitchFamily="34" charset="0"/>
                <a:ea typeface="Arial" pitchFamily="34" charset="-122"/>
                <a:cs typeface="Arial" pitchFamily="34" charset="-120"/>
              </a:rPr>
              <a:t>Verse 110</a:t>
            </a:r>
            <a:endParaRPr lang="en-US" sz="1500" dirty="0"/>
          </a:p>
        </p:txBody>
      </p:sp>
      <p:sp>
        <p:nvSpPr>
          <p:cNvPr id="4" name="Text 2"/>
          <p:cNvSpPr txBox="1"/>
          <p:nvPr/>
        </p:nvSpPr>
        <p:spPr>
          <a:xfrm>
            <a:off x="8732520" y="548640"/>
            <a:ext cx="2651760" cy="384048"/>
          </a:xfrm>
          <a:prstGeom prst="rect">
            <a:avLst/>
          </a:prstGeom>
          <a:noFill/>
          <a:ln/>
        </p:spPr>
        <p:txBody>
          <a:bodyPr wrap="square" lIns="0" tIns="0" rIns="0" bIns="0" rtlCol="0" anchor="ctr"/>
          <a:lstStyle/>
          <a:p>
            <a:pPr algn="r" indent="0" marL="0">
              <a:buNone/>
            </a:pPr>
            <a:r>
              <a:rPr lang="en-US" altLang="en-US" sz="1300" i="1" dirty="0">
                <a:solidFill>
                  <a:schemeClr val="accent4"/>
                </a:solidFill>
                <a:latin typeface="Arial" pitchFamily="34" charset="0"/>
                <a:ea typeface="Arial" pitchFamily="34" charset="-122"/>
                <a:cs typeface="Arial" pitchFamily="34" charset="-120"/>
              </a:rPr>
              <a:t>Ibn Kathir, simplified</a:t>
            </a:r>
            <a:endParaRPr lang="en-US" sz="1300" dirty="0"/>
          </a:p>
        </p:txBody>
      </p:sp>
      <p:sp>
        <p:nvSpPr>
          <p:cNvPr id="5" name="Shape 3"/>
          <p:cNvSpPr/>
          <p:nvPr/>
        </p:nvSpPr>
        <p:spPr>
          <a:xfrm>
            <a:off x="713232" y="2825496"/>
            <a:ext cx="548640" cy="548640"/>
          </a:xfrm>
          <a:prstGeom prst="star8">
            <a:avLst/>
          </a:prstGeom>
          <a:solidFill>
            <a:schemeClr val="accent2"/>
          </a:solidFill>
          <a:ln/>
        </p:spPr>
      </p:sp>
      <p:sp>
        <p:nvSpPr>
          <p:cNvPr id="6" name="Shape 4"/>
          <p:cNvSpPr/>
          <p:nvPr/>
        </p:nvSpPr>
        <p:spPr>
          <a:xfrm>
            <a:off x="822960" y="2935224"/>
            <a:ext cx="329184" cy="329184"/>
          </a:xfrm>
          <a:prstGeom prst="ellipse">
            <a:avLst/>
          </a:prstGeom>
          <a:solidFill>
            <a:schemeClr val="bg2"/>
          </a:solidFill>
          <a:ln w="19050">
            <a:solidFill>
              <a:schemeClr val="tx2"/>
            </a:solidFill>
            <a:prstDash val="solid"/>
          </a:ln>
        </p:spPr>
      </p:sp>
      <p:sp>
        <p:nvSpPr>
          <p:cNvPr id="7" name="Text 5"/>
          <p:cNvSpPr txBox="1"/>
          <p:nvPr/>
        </p:nvSpPr>
        <p:spPr>
          <a:xfrm>
            <a:off x="713232" y="2825496"/>
            <a:ext cx="548640" cy="548640"/>
          </a:xfrm>
          <a:prstGeom prst="rect">
            <a:avLst/>
          </a:prstGeom>
          <a:noFill/>
          <a:ln/>
        </p:spPr>
        <p:txBody>
          <a:bodyPr wrap="square" lIns="0" tIns="0" rIns="0" bIns="0" rtlCol="0" anchor="ctr"/>
          <a:lstStyle/>
          <a:p>
            <a:pPr algn="ctr" indent="0" marL="0">
              <a:buNone/>
            </a:pPr>
            <a:r>
              <a:rPr lang="en-US" altLang="en-US" sz="1300" b="1" dirty="0">
                <a:solidFill>
                  <a:schemeClr val="tx2"/>
                </a:solidFill>
                <a:latin typeface="Arial" pitchFamily="34" charset="0"/>
                <a:ea typeface="Arial" pitchFamily="34" charset="-122"/>
                <a:cs typeface="Arial" pitchFamily="34" charset="-120"/>
              </a:rPr>
              <a:t>110</a:t>
            </a:r>
            <a:endParaRPr lang="en-US" sz="1300" dirty="0"/>
          </a:p>
        </p:txBody>
      </p:sp>
      <p:sp>
        <p:nvSpPr>
          <p:cNvPr id="8" name="Text 6"/>
          <p:cNvSpPr txBox="1"/>
          <p:nvPr/>
        </p:nvSpPr>
        <p:spPr>
          <a:xfrm>
            <a:off x="1444752" y="2807208"/>
            <a:ext cx="10012680" cy="1801368"/>
          </a:xfrm>
          <a:prstGeom prst="rect">
            <a:avLst/>
          </a:prstGeom>
          <a:noFill/>
          <a:ln/>
        </p:spPr>
        <p:txBody>
          <a:bodyPr wrap="square" lIns="0" tIns="0" rIns="0" bIns="0" rtlCol="0" anchor="t"/>
          <a:lstStyle/>
          <a:p>
            <a:pPr rtl="1" algn="r" indent="0" marL="0">
              <a:spcAft>
                <a:spcPts val="1400"/>
              </a:spcAft>
              <a:buNone/>
            </a:pPr>
            <a:r>
              <a:rPr lang="ar-SA" altLang="en-US" sz="3000" b="1" dirty="0">
                <a:solidFill>
                  <a:schemeClr val="tx2"/>
                </a:solidFill>
                <a:latin typeface="Traditional Arabic" pitchFamily="34" charset="0"/>
                <a:ea typeface="Traditional Arabic" pitchFamily="34" charset="-122"/>
                <a:cs typeface="Traditional Arabic" pitchFamily="34" charset="-120"/>
              </a:rPr>
              <a:t>قُلْ إِنَّمَآ أَنَا بَشَرٌ مِّثْلُكُمْ يُوحَىٰ إِلَيَّ أَنَّمَآ إِلَٰهُكُمْ إِلَٰهٌ وَٰحِدٌ فَمَن كَانَ يَرْجُواْ لِقَآءَ رَبِّهِ فَلْيَعْمَلْ عَمَلًا صَٰلِحًا وَلَا يُشْرِكْ بِعِبَادَةِ رَبِّهِ أَحَدًا</a:t>
            </a:r>
            <a:endParaRPr lang="en-US" sz="3000" dirty="0"/>
          </a:p>
          <a:p>
            <a:pPr algn="l" indent="0" marL="0">
              <a:buNone/>
            </a:pPr>
            <a:r>
              <a:rPr lang="en-US" altLang="en-US" sz="1700" dirty="0">
                <a:solidFill>
                  <a:schemeClr val="tx1"/>
                </a:solidFill>
                <a:latin typeface="Arial" pitchFamily="34" charset="0"/>
                <a:ea typeface="Arial" pitchFamily="34" charset="-122"/>
                <a:cs typeface="Arial" pitchFamily="34" charset="-120"/>
              </a:rPr>
              <a:t>Say: I am only a human like you; it is revealed to me that your God is One God. So whoever hopes to meet his Lord, let him do good deeds and associate no one in the worship of his Lord.</a:t>
            </a:r>
            <a:endParaRPr lang="en-US" sz="3000" dirty="0"/>
          </a:p>
        </p:txBody>
      </p:sp>
      <p:sp>
        <p:nvSpPr>
          <p:cNvPr id="25" name="Slide Number Placeholder 0"/>
          <p:cNvSpPr>
            <a:spLocks noGrp="1"/>
          </p:cNvSpPr>
          <p:nvPr>
            <p:ph type="sldNum" sz="quarter" idx="4294967295"/>
          </p:nvPr>
        </p:nvSpPr>
        <p:spPr>
          <a:xfrm>
            <a:off x="1115568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assets16/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txBox="1"/>
          <p:nvPr/>
        </p:nvSpPr>
        <p:spPr>
          <a:xfrm>
            <a:off x="731520" y="2377440"/>
            <a:ext cx="10728655" cy="1005840"/>
          </a:xfrm>
          <a:prstGeom prst="rect">
            <a:avLst/>
          </a:prstGeom>
          <a:noFill/>
          <a:ln/>
        </p:spPr>
        <p:txBody>
          <a:bodyPr wrap="square" lIns="0" tIns="0" rIns="0" bIns="0" rtlCol="0" anchor="ctr"/>
          <a:lstStyle/>
          <a:p>
            <a:pPr algn="ctr" indent="0" marL="0">
              <a:buNone/>
            </a:pPr>
            <a:r>
              <a:rPr lang="en-US" altLang="en-US" sz="5000" b="1" dirty="0">
                <a:solidFill>
                  <a:schemeClr val="bg1"/>
                </a:solidFill>
                <a:latin typeface="Georgia" pitchFamily="34" charset="0"/>
                <a:ea typeface="Georgia" pitchFamily="34" charset="-122"/>
                <a:cs typeface="Georgia" pitchFamily="34" charset="-120"/>
              </a:rPr>
              <a:t>JazakumAllahu khayran</a:t>
            </a:r>
            <a:endParaRPr lang="en-US" sz="5000" dirty="0"/>
          </a:p>
        </p:txBody>
      </p:sp>
      <p:sp>
        <p:nvSpPr>
          <p:cNvPr id="4" name="Text 1"/>
          <p:cNvSpPr txBox="1"/>
          <p:nvPr/>
        </p:nvSpPr>
        <p:spPr>
          <a:xfrm>
            <a:off x="1371600" y="3611880"/>
            <a:ext cx="9448495" cy="1097280"/>
          </a:xfrm>
          <a:prstGeom prst="rect">
            <a:avLst/>
          </a:prstGeom>
          <a:noFill/>
          <a:ln/>
        </p:spPr>
        <p:txBody>
          <a:bodyPr wrap="square" lIns="0" tIns="0" rIns="0" bIns="0" rtlCol="0" anchor="ctr"/>
          <a:lstStyle/>
          <a:p>
            <a:pPr algn="ctr" indent="0" marL="0">
              <a:buNone/>
            </a:pPr>
            <a:r>
              <a:rPr lang="en-US" altLang="en-US" sz="2100" b="1" i="1" dirty="0">
                <a:solidFill>
                  <a:schemeClr val="accent2"/>
                </a:solidFill>
                <a:latin typeface="Arial" pitchFamily="34" charset="0"/>
                <a:ea typeface="Arial" pitchFamily="34" charset="-122"/>
                <a:cs typeface="Arial" pitchFamily="34" charset="-120"/>
              </a:rPr>
              <a:t>"My Lord, open up my chest for me, make my task easy for me, and untie the knot from my tongue so that they understand my speech." (Ta-Ha 20:25–28)</a:t>
            </a:r>
            <a:endParaRPr lang="en-US" sz="2100" dirty="0"/>
          </a:p>
        </p:txBody>
      </p:sp>
      <p:pic>
        <p:nvPicPr>
          <p:cNvPr id="5" name="Image 1" descr="assets16/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algn="ctr" indent="0" marL="0">
              <a:buNone/>
            </a:pPr>
            <a:r>
              <a:rPr lang="en-US" altLang="en-US" sz="1400" dirty="0">
                <a:solidFill>
                  <a:schemeClr val="bg2"/>
                </a:solidFill>
                <a:latin typeface="Arial" pitchFamily="34" charset="0"/>
                <a:ea typeface="Arial" pitchFamily="34" charset="-122"/>
                <a:cs typeface="Arial" pitchFamily="34" charset="-120"/>
              </a:rPr>
              <a:t>Reference: Tafsir al-Qur'an al-'Azim by al-Hafiz Ibn Kathir (may Allah have mercy on him)</a:t>
            </a:r>
            <a:endParaRPr lang="en-US" sz="1400" dirty="0"/>
          </a:p>
        </p:txBody>
      </p:sp>
    </p:spTree>
  </p:cSld>
  <p:clrMapOvr>
    <a:masterClrMapping/>
  </p:clrMapOvr>
</p:sld>
</file>

<file path=ppt/theme/theme1.xml><?xml version="1.0" encoding="utf-8"?>
<a:theme xmlns:a="http://schemas.openxmlformats.org/drawingml/2006/main" name="Juz 16 Tafsir EN">
  <a:themeElements>
    <a:clrScheme name="Juz 16 Tafsir EN">
      <a:dk1>
        <a:srgbClr val="2D2720"/>
      </a:dk1>
      <a:lt1>
        <a:srgbClr val="FFFFFF"/>
      </a:lt1>
      <a:dk2>
        <a:srgbClr val="8A5A12"/>
      </a:dk2>
      <a:lt2>
        <a:srgbClr val="FDF9F0"/>
      </a:lt2>
      <a:accent1>
        <a:srgbClr val="8A5A12"/>
      </a:accent1>
      <a:accent2>
        <a:srgbClr val="C9A04A"/>
      </a:accent2>
      <a:accent3>
        <a:srgbClr val="A6731F"/>
      </a:accent3>
      <a:accent4>
        <a:srgbClr val="6B6255"/>
      </a:accent4>
      <a:accent5>
        <a:srgbClr val="F5EBD8"/>
      </a:accent5>
      <a:accent6>
        <a:srgbClr val="2F6B5E"/>
      </a:accent6>
      <a:hlink>
        <a:srgbClr val="A6731F"/>
      </a:hlink>
      <a:folHlink>
        <a:srgbClr val="6B6255"/>
      </a:folHlink>
    </a:clrScheme>
    <a:fontScheme name="Juz 16 Tafsir 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95</Slides>
  <Notes>95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95</vt:i4>
      </vt:variant>
    </vt:vector>
  </HeadingPairs>
  <TitlesOfParts>
    <vt:vector size="9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Tafsir of Juz Qala Alam — Simplified Tafsir from Ibn Kathir</dc:title>
  <dc:subject>PptxGenJS Presentation</dc:subject>
  <dc:creator>Qur'an Teacher</dc:creator>
  <cp:lastModifiedBy>Qur'an Teacher</cp:lastModifiedBy>
  <cp:revision>1</cp:revision>
  <dcterms:created xsi:type="dcterms:W3CDTF">2026-10-04T04:45:06Z</dcterms:created>
  <dcterms:modified xsi:type="dcterms:W3CDTF">2026-10-04T04:45:06Z</dcterms:modified>
</cp:coreProperties>
</file>