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Lst>
  <p:notesMasterIdLst>
    <p:notesMasterId r:id="rId2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9f5701-27b6-f667-9bb3-7641fecf91b0}">
          <p14:sldIdLst>
            <p14:sldId id="256"/>
            <p14:sldId id="257"/>
            <p14:sldId id="258"/>
            <p14:sldId id="259"/>
          </p14:sldIdLst>
        </p14:section>
        <p14:section name="1. Signs and the Stubborn" id="{947ee618-33a9-8fc9-9c33-f31baa6a6318}">
          <p14:sldIdLst>
            <p14:sldId id="260"/>
            <p14:sldId id="261"/>
            <p14:sldId id="262"/>
            <p14:sldId id="263"/>
            <p14:sldId id="264"/>
            <p14:sldId id="265"/>
            <p14:sldId id="266"/>
            <p14:sldId id="267"/>
            <p14:sldId id="268"/>
            <p14:sldId id="269"/>
            <p14:sldId id="270"/>
            <p14:sldId id="271"/>
          </p14:sldIdLst>
        </p14:section>
        <p14:section name="2. This World; the Challenge" id="{f75d0b98-2b94-8284-75b6-fc75200c911f}">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3. The Friends of Allah" id="{10b72f74-9348-9e20-3232-14e507a0210b}">
          <p14:sldIdLst>
            <p14:sldId id="291"/>
            <p14:sldId id="292"/>
            <p14:sldId id="293"/>
            <p14:sldId id="294"/>
            <p14:sldId id="295"/>
            <p14:sldId id="296"/>
            <p14:sldId id="297"/>
          </p14:sldIdLst>
        </p14:section>
        <p14:section name="4. Nuh, Musa, Yunus's People" id="{7b8d07ee-0614-0a18-124b-c08fd274c995}">
          <p14:sldIdLst>
            <p14:sldId id="298"/>
            <p14:sldId id="299"/>
            <p14:sldId id="300"/>
            <p14:sldId id="301"/>
            <p14:sldId id="302"/>
            <p14:sldId id="303"/>
            <p14:sldId id="304"/>
            <p14:sldId id="305"/>
            <p14:sldId id="306"/>
            <p14:sldId id="307"/>
            <p14:sldId id="308"/>
            <p14:sldId id="309"/>
            <p14:sldId id="310"/>
            <p14:sldId id="311"/>
            <p14:sldId id="312"/>
            <p14:sldId id="313"/>
            <p14:sldId id="314"/>
            <p14:sldId id="315"/>
          </p14:sldIdLst>
        </p14:section>
        <p14:section name="5. Provision for All" id="{f0a03f94-3fa1-c77e-9607-3acd3ff14e64}">
          <p14:sldIdLst>
            <p14:sldId id="316"/>
            <p14:sldId id="317"/>
            <p14:sldId id="318"/>
            <p14:sldId id="319"/>
            <p14:sldId id="320"/>
            <p14:sldId id="321"/>
            <p14:sldId id="322"/>
            <p14:sldId id="323"/>
            <p14:sldId id="324"/>
            <p14:sldId id="325"/>
            <p14:sldId id="326"/>
            <p14:sldId id="327"/>
            <p14:sldId id="328"/>
          </p14:sldIdLst>
        </p14:section>
        <p14:section name="6. Nuh and the Flood" id="{e4a4ca1c-15fc-b1a2-2ba0-1729e11b0332}">
          <p14:sldIdLst>
            <p14:sldId id="329"/>
            <p14:sldId id="330"/>
            <p14:sldId id="331"/>
            <p14:sldId id="332"/>
            <p14:sldId id="333"/>
            <p14:sldId id="334"/>
            <p14:sldId id="335"/>
            <p14:sldId id="336"/>
            <p14:sldId id="337"/>
            <p14:sldId id="338"/>
            <p14:sldId id="339"/>
            <p14:sldId id="340"/>
          </p14:sldIdLst>
        </p14:section>
        <p14:section name="7. Hud, Salih, Ibrahim, Lut" id="{15b7a8e5-1e5b-ad55-acc3-71a712d0ef7b}">
          <p14:sldIdLst>
            <p14:sldId id="341"/>
            <p14:sldId id="342"/>
            <p14:sldId id="343"/>
            <p14:sldId id="344"/>
            <p14:sldId id="345"/>
            <p14:sldId id="346"/>
            <p14:sldId id="347"/>
            <p14:sldId id="348"/>
            <p14:sldId id="349"/>
            <p14:sldId id="350"/>
            <p14:sldId id="351"/>
            <p14:sldId id="352"/>
            <p14:sldId id="353"/>
            <p14:sldId id="354"/>
            <p14:sldId id="355"/>
            <p14:sldId id="356"/>
          </p14:sldIdLst>
        </p14:section>
        <p14:section name="8. Shu'ayb; Lessons" id="{7a50aef6-b1ed-d4d3-3cf8-31c2b79a1641}">
          <p14:sldIdLst>
            <p14:sldId id="357"/>
            <p14:sldId id="358"/>
            <p14:sldId id="359"/>
            <p14:sldId id="360"/>
            <p14:sldId id="361"/>
            <p14:sldId id="362"/>
            <p14:sldId id="363"/>
            <p14:sldId id="364"/>
            <p14:sldId id="365"/>
            <p14:sldId id="366"/>
            <p14:sldId id="367"/>
            <p14:sldId id="368"/>
            <p14:sldId id="369"/>
            <p14:sldId id="370"/>
            <p14:sldId id="371"/>
            <p14:sldId id="372"/>
            <p14:sldId id="373"/>
            <p14:sldId id="374"/>
          </p14:sldIdLst>
        </p14:section>
        <p14:section name="9. The Dream and the Well" id="{b57ca405-e98c-c3ab-5192-f9964e9fc7d8}">
          <p14:sldIdLst>
            <p14:sldId id="375"/>
            <p14:sldId id="376"/>
            <p14:sldId id="377"/>
            <p14:sldId id="378"/>
            <p14:sldId id="379"/>
            <p14:sldId id="380"/>
            <p14:sldId id="381"/>
            <p14:sldId id="382"/>
            <p14:sldId id="383"/>
          </p14:sldIdLst>
        </p14:section>
        <p14:section name="10. In the Minister's House" id="{01dbb88b-91ca-4224-fa03-2467395319dc}">
          <p14:sldIdLst>
            <p14:sldId id="384"/>
            <p14:sldId id="385"/>
            <p14:sldId id="386"/>
            <p14:sldId id="387"/>
            <p14:sldId id="388"/>
            <p14:sldId id="389"/>
            <p14:sldId id="390"/>
            <p14:sldId id="391"/>
            <p14:sldId id="392"/>
          </p14:sldIdLst>
        </p14:section>
        <p14:section name="11. Prison, Then Power" id="{9da4fb9d-b6d4-4bf7-c157-edd5f70f9d5b}">
          <p14:sldIdLst>
            <p14:sldId id="393"/>
            <p14:sldId id="394"/>
            <p14:sldId id="395"/>
            <p14:sldId id="396"/>
            <p14:sldId id="397"/>
            <p14:sldId id="398"/>
            <p14:sldId id="399"/>
            <p14:sldId id="400"/>
            <p14:sldId id="401"/>
            <p14:sldId id="402"/>
            <p14:sldId id="403"/>
            <p14:sldId id="404"/>
          </p14:sldIdLst>
        </p14:section>
        <p14:section name="12. Meeting the Brothers" id="{356f8bbf-e948-ffdc-4ef1-578a512b99ec}">
          <p14:sldIdLst>
            <p14:sldId id="405"/>
            <p14:sldId id="406"/>
            <p14:sldId id="407"/>
            <p14:sldId id="408"/>
            <p14:sldId id="409"/>
            <p14:sldId id="410"/>
            <p14:sldId id="411"/>
            <p14:sldId id="412"/>
            <p14:sldId id="413"/>
            <p14:sldId id="414"/>
            <p14:sldId id="415"/>
            <p14:sldId id="416"/>
            <p14:sldId id="417"/>
          </p14:sldIdLst>
        </p14:section>
        <p14:section name="13. The Family Reunited" id="{0acc06f3-a831-00e6-3f73-5f8b2f9047fd}">
          <p14:sldIdLst>
            <p14:sldId id="418"/>
            <p14:sldId id="419"/>
            <p14:sldId id="420"/>
            <p14:sldId id="421"/>
            <p14:sldId id="422"/>
            <p14:sldId id="423"/>
            <p14:sldId id="424"/>
            <p14:sldId id="425"/>
            <p14:sldId id="426"/>
            <p14:sldId id="427"/>
            <p14:sldId id="428"/>
            <p14:sldId id="429"/>
            <p14:sldId id="430"/>
            <p14:sldId id="431"/>
          </p14:sldIdLst>
        </p14:section>
        <p14:section name="14. Truth and Falsehood" id="{19b05833-00d4-05df-515b-3ebb716bda29}">
          <p14:sldIdLst>
            <p14:sldId id="432"/>
            <p14:sldId id="433"/>
            <p14:sldId id="434"/>
            <p14:sldId id="435"/>
            <p14:sldId id="436"/>
            <p14:sldId id="437"/>
            <p14:sldId id="438"/>
            <p14:sldId id="439"/>
            <p14:sldId id="440"/>
            <p14:sldId id="441"/>
            <p14:sldId id="442"/>
          </p14:sldIdLst>
        </p14:section>
        <p14:section name="15. People of Understanding" id="{8acc3e63-e60e-6f2d-23ce-06c880ecb24c}">
          <p14:sldIdLst>
            <p14:sldId id="443"/>
            <p14:sldId id="444"/>
            <p14:sldId id="445"/>
            <p14:sldId id="446"/>
            <p14:sldId id="447"/>
            <p14:sldId id="448"/>
            <p14:sldId id="449"/>
            <p14:sldId id="450"/>
            <p14:sldId id="451"/>
            <p14:sldId id="452"/>
            <p14:sldId id="453"/>
            <p14:sldId id="454"/>
            <p14:sldId id="455"/>
            <p14:sldId id="456"/>
            <p14:sldId id="457"/>
          </p14:sldIdLst>
        </p14:section>
        <p14:section name="16. The Good Word" id="{8d5794c0-fd9e-9e64-a9be-f6f63984fd30}">
          <p14:sldIdLst>
            <p14:sldId id="458"/>
            <p14:sldId id="459"/>
            <p14:sldId id="460"/>
            <p14:sldId id="461"/>
            <p14:sldId id="462"/>
            <p14:sldId id="463"/>
            <p14:sldId id="464"/>
            <p14:sldId id="465"/>
            <p14:sldId id="466"/>
            <p14:sldId id="467"/>
            <p14:sldId id="468"/>
            <p14:sldId id="469"/>
            <p14:sldId id="470"/>
            <p14:sldId id="471"/>
            <p14:sldId id="472"/>
            <p14:sldId id="473"/>
          </p14:sldIdLst>
        </p14:section>
        <p14:section name="17. Ibrahim's Prayer" id="{37409a33-e96c-1021-12ea-8b42218b1a2c}">
          <p14:sldIdLst>
            <p14:sldId id="474"/>
            <p14:sldId id="475"/>
            <p14:sldId id="476"/>
            <p14:sldId id="477"/>
            <p14:sldId id="478"/>
            <p14:sldId id="479"/>
            <p14:sldId id="480"/>
            <p14:sldId id="481"/>
            <p14:sldId id="482"/>
            <p14:sldId id="483"/>
          </p14:sldIdLst>
        </p14:section>
        <p14:section name="Closing" id="{251f67b8-12e2-5f04-8706-12fc962c8189}">
          <p14:sldIdLst>
            <p14:sldId id="4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notesMaster" Target="notesMasters/notesMaster1.xml"/><Relationship Id="rId232" Type="http://schemas.openxmlformats.org/officeDocument/2006/relationships/presProps" Target="presProps.xml"/><Relationship Id="rId233" Type="http://schemas.openxmlformats.org/officeDocument/2006/relationships/viewProps" Target="viewProps.xml"/><Relationship Id="rId234" Type="http://schemas.openxmlformats.org/officeDocument/2006/relationships/theme" Target="theme/theme1.xml"/><Relationship Id="rId2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five surahs into seventeen themed sections. Each section opens with its reason for revelation and theme, followed by the explanation of its verses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 the people of Paradise say in their prayer and greeting (verse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"more" promised to those who do good in verse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Who are the friends of Allah, according to verses 62–63?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Pharaoh's faith not benefit him when drowning overtook him (verses 90–91)?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Who provides for every creature on earth (verse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was Nuh's son not part of the family promised to be saved (verse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Hud promise his people if they asked forgiveness and repented (verse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Shu'ayb say about his aim in verse 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advice did Ya'qub give his son Yusuf after the dream (verse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Yusuf say when he was called to sin (verse 23)? What did he choose in verse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Yusuf begin with before explaining his companions' dreams (verses 37–40)?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Ya'qub tell his sons to enter by different gates (verse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Yusuf say to his brothers after they recognised him (verse 92)? What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Allah compare falsehood to in verse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 hearts find rest in, according to verse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Allah promise the thankful in verse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Mention three things Ibrahim prayed for in verses 35–41.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01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014/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014/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image" Target="../media/image-229-1.png"/><Relationship Id="rId2" Type="http://schemas.openxmlformats.org/officeDocument/2006/relationships/image" Target="../media/image-229-2.png"/><Relationship Id="rId3" Type="http://schemas.openxmlformats.org/officeDocument/2006/relationships/slideLayout" Target="../slideLayouts/slideLayout4.xml"/><Relationship Id="rId4" Type="http://schemas.openxmlformats.org/officeDocument/2006/relationships/notesSlide" Target="../notesSlides/notesSlide2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01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Yunus to Ibrahim</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01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Yunus • Hud • Yusuf • Ar-Ra'd • Ibrahim — 438 verses in 17 sections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emerald green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the Five Surahs</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Hud Made Me Grey</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Abu Bakr (may Allah be pleased with him) said: O Messenger of Allah, your hair has turned grey! He said: "Hud, Al-Waqi'ah, Al-Mursalat, 'Amma Yatasa'alun and Idhash-Shamsu Kuwwirat have made me grey" (Tirmidhi), because of their terrors and the command to stay upright.</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Best of Stories</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Surah Yusuf is one complete story that Allah called "the best of stories". It teaches patience, purity and forgiveness, and was revealed to comfort the Prophet (peace be upon him) in the Year of Sorrow.</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Five Surahs in a Row</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Yunus 109, Hud 123, Yusuf 111, Ar-Ra'd 43 and Ibrahim 52 verses. Four begin with "Alif Lam Ra" and Ar-Ra'd with "Alif Lam Mim Ra", and all establish revelation and tawhid.</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List of Sections</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Yunus (4 sections) • Hud (4) • Yusuf (5) • Ar-Ra'd (2) • Ibrahim (2)</a:t>
            </a:r>
            <a:endParaRPr lang="en-US" sz="1600" dirty="0"/>
          </a:p>
        </p:txBody>
      </p:sp>
      <p:sp>
        <p:nvSpPr>
          <p:cNvPr id="4" name="Shape 2"/>
          <p:cNvSpPr/>
          <p:nvPr/>
        </p:nvSpPr>
        <p:spPr>
          <a:xfrm>
            <a:off x="632308" y="1828800"/>
            <a:ext cx="3520440" cy="693420"/>
          </a:xfrm>
          <a:prstGeom prst="roundRect">
            <a:avLst>
              <a:gd name="adj" fmla="val 13187"/>
            </a:avLst>
          </a:prstGeom>
          <a:solidFill>
            <a:schemeClr val="bg1"/>
          </a:solidFill>
          <a:ln w="12700">
            <a:solidFill>
              <a:schemeClr val="accent2"/>
            </a:solidFill>
            <a:prstDash val="solid"/>
          </a:ln>
        </p:spPr>
      </p:sp>
      <p:sp>
        <p:nvSpPr>
          <p:cNvPr id="5" name="Shape 3"/>
          <p:cNvSpPr/>
          <p:nvPr/>
        </p:nvSpPr>
        <p:spPr>
          <a:xfrm>
            <a:off x="723748" y="1910334"/>
            <a:ext cx="530352" cy="530352"/>
          </a:xfrm>
          <a:prstGeom prst="star8">
            <a:avLst/>
          </a:prstGeom>
          <a:solidFill>
            <a:schemeClr val="accent2"/>
          </a:solidFill>
          <a:ln/>
        </p:spPr>
      </p:sp>
      <p:sp>
        <p:nvSpPr>
          <p:cNvPr id="6" name="Shape 4"/>
          <p:cNvSpPr/>
          <p:nvPr/>
        </p:nvSpPr>
        <p:spPr>
          <a:xfrm>
            <a:off x="829818" y="2016404"/>
            <a:ext cx="318211" cy="318211"/>
          </a:xfrm>
          <a:prstGeom prst="ellipse">
            <a:avLst/>
          </a:prstGeom>
          <a:solidFill>
            <a:schemeClr val="bg2"/>
          </a:solidFill>
          <a:ln w="19050">
            <a:solidFill>
              <a:schemeClr val="tx2"/>
            </a:solidFill>
            <a:prstDash val="solid"/>
          </a:ln>
        </p:spPr>
      </p:sp>
      <p:sp>
        <p:nvSpPr>
          <p:cNvPr id="7" name="Text 5"/>
          <p:cNvSpPr txBox="1"/>
          <p:nvPr/>
        </p:nvSpPr>
        <p:spPr>
          <a:xfrm>
            <a:off x="723748" y="1910334"/>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345540" y="1847088"/>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Signs and the Stubborn</a:t>
            </a:r>
            <a:endParaRPr lang="en-US" sz="1200" dirty="0"/>
          </a:p>
        </p:txBody>
      </p:sp>
      <p:sp>
        <p:nvSpPr>
          <p:cNvPr id="9" name="Text 7"/>
          <p:cNvSpPr txBox="1"/>
          <p:nvPr/>
        </p:nvSpPr>
        <p:spPr>
          <a:xfrm>
            <a:off x="1345540" y="2230984"/>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Yunus • Verses 1 – 20</a:t>
            </a:r>
            <a:endParaRPr lang="en-US" sz="1000" dirty="0"/>
          </a:p>
        </p:txBody>
      </p:sp>
      <p:sp>
        <p:nvSpPr>
          <p:cNvPr id="10" name="Shape 8"/>
          <p:cNvSpPr/>
          <p:nvPr/>
        </p:nvSpPr>
        <p:spPr>
          <a:xfrm>
            <a:off x="4335628" y="1828800"/>
            <a:ext cx="3520440" cy="693420"/>
          </a:xfrm>
          <a:prstGeom prst="roundRect">
            <a:avLst>
              <a:gd name="adj" fmla="val 13187"/>
            </a:avLst>
          </a:prstGeom>
          <a:solidFill>
            <a:schemeClr val="accent5"/>
          </a:solidFill>
          <a:ln w="12700">
            <a:solidFill>
              <a:schemeClr val="accent2"/>
            </a:solidFill>
            <a:prstDash val="solid"/>
          </a:ln>
        </p:spPr>
      </p:sp>
      <p:sp>
        <p:nvSpPr>
          <p:cNvPr id="11" name="Shape 9"/>
          <p:cNvSpPr/>
          <p:nvPr/>
        </p:nvSpPr>
        <p:spPr>
          <a:xfrm>
            <a:off x="4427068" y="1910334"/>
            <a:ext cx="530352" cy="530352"/>
          </a:xfrm>
          <a:prstGeom prst="star8">
            <a:avLst/>
          </a:prstGeom>
          <a:solidFill>
            <a:schemeClr val="accent2"/>
          </a:solidFill>
          <a:ln/>
        </p:spPr>
      </p:sp>
      <p:sp>
        <p:nvSpPr>
          <p:cNvPr id="12" name="Shape 10"/>
          <p:cNvSpPr/>
          <p:nvPr/>
        </p:nvSpPr>
        <p:spPr>
          <a:xfrm>
            <a:off x="4533138" y="2016404"/>
            <a:ext cx="318211" cy="318211"/>
          </a:xfrm>
          <a:prstGeom prst="ellipse">
            <a:avLst/>
          </a:prstGeom>
          <a:solidFill>
            <a:schemeClr val="bg2"/>
          </a:solidFill>
          <a:ln w="19050">
            <a:solidFill>
              <a:schemeClr val="tx2"/>
            </a:solidFill>
            <a:prstDash val="solid"/>
          </a:ln>
        </p:spPr>
      </p:sp>
      <p:sp>
        <p:nvSpPr>
          <p:cNvPr id="13" name="Text 11"/>
          <p:cNvSpPr txBox="1"/>
          <p:nvPr/>
        </p:nvSpPr>
        <p:spPr>
          <a:xfrm>
            <a:off x="4427068" y="1910334"/>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5048860" y="1847088"/>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This World; the Challenge</a:t>
            </a:r>
            <a:endParaRPr lang="en-US" sz="1200" dirty="0"/>
          </a:p>
        </p:txBody>
      </p:sp>
      <p:sp>
        <p:nvSpPr>
          <p:cNvPr id="15" name="Text 13"/>
          <p:cNvSpPr txBox="1"/>
          <p:nvPr/>
        </p:nvSpPr>
        <p:spPr>
          <a:xfrm>
            <a:off x="5048860" y="2230984"/>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Yunus • Verses 21 – 56</a:t>
            </a:r>
            <a:endParaRPr lang="en-US" sz="1000" dirty="0"/>
          </a:p>
        </p:txBody>
      </p:sp>
      <p:sp>
        <p:nvSpPr>
          <p:cNvPr id="16" name="Shape 14"/>
          <p:cNvSpPr/>
          <p:nvPr/>
        </p:nvSpPr>
        <p:spPr>
          <a:xfrm>
            <a:off x="8038948" y="1828800"/>
            <a:ext cx="3520440" cy="693420"/>
          </a:xfrm>
          <a:prstGeom prst="roundRect">
            <a:avLst>
              <a:gd name="adj" fmla="val 13187"/>
            </a:avLst>
          </a:prstGeom>
          <a:solidFill>
            <a:schemeClr val="bg1"/>
          </a:solidFill>
          <a:ln w="12700">
            <a:solidFill>
              <a:schemeClr val="accent2"/>
            </a:solidFill>
            <a:prstDash val="solid"/>
          </a:ln>
        </p:spPr>
      </p:sp>
      <p:sp>
        <p:nvSpPr>
          <p:cNvPr id="17" name="Shape 15"/>
          <p:cNvSpPr/>
          <p:nvPr/>
        </p:nvSpPr>
        <p:spPr>
          <a:xfrm>
            <a:off x="8130388" y="1910334"/>
            <a:ext cx="530352" cy="530352"/>
          </a:xfrm>
          <a:prstGeom prst="star8">
            <a:avLst/>
          </a:prstGeom>
          <a:solidFill>
            <a:schemeClr val="accent2"/>
          </a:solidFill>
          <a:ln/>
        </p:spPr>
      </p:sp>
      <p:sp>
        <p:nvSpPr>
          <p:cNvPr id="18" name="Shape 16"/>
          <p:cNvSpPr/>
          <p:nvPr/>
        </p:nvSpPr>
        <p:spPr>
          <a:xfrm>
            <a:off x="8236458" y="2016404"/>
            <a:ext cx="318211" cy="318211"/>
          </a:xfrm>
          <a:prstGeom prst="ellipse">
            <a:avLst/>
          </a:prstGeom>
          <a:solidFill>
            <a:schemeClr val="bg2"/>
          </a:solidFill>
          <a:ln w="19050">
            <a:solidFill>
              <a:schemeClr val="tx2"/>
            </a:solidFill>
            <a:prstDash val="solid"/>
          </a:ln>
        </p:spPr>
      </p:sp>
      <p:sp>
        <p:nvSpPr>
          <p:cNvPr id="19" name="Text 17"/>
          <p:cNvSpPr txBox="1"/>
          <p:nvPr/>
        </p:nvSpPr>
        <p:spPr>
          <a:xfrm>
            <a:off x="8130388" y="1910334"/>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3</a:t>
            </a:r>
            <a:endParaRPr lang="en-US" sz="1100" dirty="0"/>
          </a:p>
        </p:txBody>
      </p:sp>
      <p:sp>
        <p:nvSpPr>
          <p:cNvPr id="20" name="Text 18"/>
          <p:cNvSpPr txBox="1"/>
          <p:nvPr/>
        </p:nvSpPr>
        <p:spPr>
          <a:xfrm>
            <a:off x="8752180" y="1847088"/>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Friends of Allah</a:t>
            </a:r>
            <a:endParaRPr lang="en-US" sz="1200" dirty="0"/>
          </a:p>
        </p:txBody>
      </p:sp>
      <p:sp>
        <p:nvSpPr>
          <p:cNvPr id="21" name="Text 19"/>
          <p:cNvSpPr txBox="1"/>
          <p:nvPr/>
        </p:nvSpPr>
        <p:spPr>
          <a:xfrm>
            <a:off x="8752180" y="2230984"/>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Yunus • Verses 57 – 70</a:t>
            </a:r>
            <a:endParaRPr lang="en-US" sz="1000" dirty="0"/>
          </a:p>
        </p:txBody>
      </p:sp>
      <p:sp>
        <p:nvSpPr>
          <p:cNvPr id="22" name="Shape 20"/>
          <p:cNvSpPr/>
          <p:nvPr/>
        </p:nvSpPr>
        <p:spPr>
          <a:xfrm>
            <a:off x="632308" y="2595372"/>
            <a:ext cx="3520440" cy="693420"/>
          </a:xfrm>
          <a:prstGeom prst="roundRect">
            <a:avLst>
              <a:gd name="adj" fmla="val 13187"/>
            </a:avLst>
          </a:prstGeom>
          <a:solidFill>
            <a:schemeClr val="accent5"/>
          </a:solidFill>
          <a:ln w="12700">
            <a:solidFill>
              <a:schemeClr val="accent2"/>
            </a:solidFill>
            <a:prstDash val="solid"/>
          </a:ln>
        </p:spPr>
      </p:sp>
      <p:sp>
        <p:nvSpPr>
          <p:cNvPr id="23" name="Shape 21"/>
          <p:cNvSpPr/>
          <p:nvPr/>
        </p:nvSpPr>
        <p:spPr>
          <a:xfrm>
            <a:off x="723748" y="2676906"/>
            <a:ext cx="530352" cy="530352"/>
          </a:xfrm>
          <a:prstGeom prst="star8">
            <a:avLst/>
          </a:prstGeom>
          <a:solidFill>
            <a:schemeClr val="accent2"/>
          </a:solidFill>
          <a:ln/>
        </p:spPr>
      </p:sp>
      <p:sp>
        <p:nvSpPr>
          <p:cNvPr id="24" name="Shape 22"/>
          <p:cNvSpPr/>
          <p:nvPr/>
        </p:nvSpPr>
        <p:spPr>
          <a:xfrm>
            <a:off x="829818" y="2782976"/>
            <a:ext cx="318211" cy="318211"/>
          </a:xfrm>
          <a:prstGeom prst="ellipse">
            <a:avLst/>
          </a:prstGeom>
          <a:solidFill>
            <a:schemeClr val="bg2"/>
          </a:solidFill>
          <a:ln w="19050">
            <a:solidFill>
              <a:schemeClr val="tx2"/>
            </a:solidFill>
            <a:prstDash val="solid"/>
          </a:ln>
        </p:spPr>
      </p:sp>
      <p:sp>
        <p:nvSpPr>
          <p:cNvPr id="25" name="Text 23"/>
          <p:cNvSpPr txBox="1"/>
          <p:nvPr/>
        </p:nvSpPr>
        <p:spPr>
          <a:xfrm>
            <a:off x="723748" y="2676906"/>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4</a:t>
            </a:r>
            <a:endParaRPr lang="en-US" sz="1100" dirty="0"/>
          </a:p>
        </p:txBody>
      </p:sp>
      <p:sp>
        <p:nvSpPr>
          <p:cNvPr id="26" name="Text 24"/>
          <p:cNvSpPr txBox="1"/>
          <p:nvPr/>
        </p:nvSpPr>
        <p:spPr>
          <a:xfrm>
            <a:off x="1345540" y="2613660"/>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Nuh, Musa, Yunus's People</a:t>
            </a:r>
            <a:endParaRPr lang="en-US" sz="1200" dirty="0"/>
          </a:p>
        </p:txBody>
      </p:sp>
      <p:sp>
        <p:nvSpPr>
          <p:cNvPr id="27" name="Text 25"/>
          <p:cNvSpPr txBox="1"/>
          <p:nvPr/>
        </p:nvSpPr>
        <p:spPr>
          <a:xfrm>
            <a:off x="1345540" y="2997556"/>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Yunus • Verses 71 – 109</a:t>
            </a:r>
            <a:endParaRPr lang="en-US" sz="1000" dirty="0"/>
          </a:p>
        </p:txBody>
      </p:sp>
      <p:sp>
        <p:nvSpPr>
          <p:cNvPr id="28" name="Shape 26"/>
          <p:cNvSpPr/>
          <p:nvPr/>
        </p:nvSpPr>
        <p:spPr>
          <a:xfrm>
            <a:off x="4335628" y="2595372"/>
            <a:ext cx="3520440" cy="693420"/>
          </a:xfrm>
          <a:prstGeom prst="roundRect">
            <a:avLst>
              <a:gd name="adj" fmla="val 13187"/>
            </a:avLst>
          </a:prstGeom>
          <a:solidFill>
            <a:schemeClr val="bg1"/>
          </a:solidFill>
          <a:ln w="12700">
            <a:solidFill>
              <a:schemeClr val="accent2"/>
            </a:solidFill>
            <a:prstDash val="solid"/>
          </a:ln>
        </p:spPr>
      </p:sp>
      <p:sp>
        <p:nvSpPr>
          <p:cNvPr id="29" name="Shape 27"/>
          <p:cNvSpPr/>
          <p:nvPr/>
        </p:nvSpPr>
        <p:spPr>
          <a:xfrm>
            <a:off x="4427068" y="2676906"/>
            <a:ext cx="530352" cy="530352"/>
          </a:xfrm>
          <a:prstGeom prst="star8">
            <a:avLst/>
          </a:prstGeom>
          <a:solidFill>
            <a:schemeClr val="accent2"/>
          </a:solidFill>
          <a:ln/>
        </p:spPr>
      </p:sp>
      <p:sp>
        <p:nvSpPr>
          <p:cNvPr id="30" name="Shape 28"/>
          <p:cNvSpPr/>
          <p:nvPr/>
        </p:nvSpPr>
        <p:spPr>
          <a:xfrm>
            <a:off x="4533138" y="2782976"/>
            <a:ext cx="318211" cy="318211"/>
          </a:xfrm>
          <a:prstGeom prst="ellipse">
            <a:avLst/>
          </a:prstGeom>
          <a:solidFill>
            <a:schemeClr val="bg2"/>
          </a:solidFill>
          <a:ln w="19050">
            <a:solidFill>
              <a:schemeClr val="tx2"/>
            </a:solidFill>
            <a:prstDash val="solid"/>
          </a:ln>
        </p:spPr>
      </p:sp>
      <p:sp>
        <p:nvSpPr>
          <p:cNvPr id="31" name="Text 29"/>
          <p:cNvSpPr txBox="1"/>
          <p:nvPr/>
        </p:nvSpPr>
        <p:spPr>
          <a:xfrm>
            <a:off x="4427068" y="2676906"/>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5048860" y="2613660"/>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Provision for All</a:t>
            </a:r>
            <a:endParaRPr lang="en-US" sz="1200" dirty="0"/>
          </a:p>
        </p:txBody>
      </p:sp>
      <p:sp>
        <p:nvSpPr>
          <p:cNvPr id="33" name="Text 31"/>
          <p:cNvSpPr txBox="1"/>
          <p:nvPr/>
        </p:nvSpPr>
        <p:spPr>
          <a:xfrm>
            <a:off x="5048860" y="2997556"/>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Hud • Verses 1 – 24</a:t>
            </a:r>
            <a:endParaRPr lang="en-US" sz="1000" dirty="0"/>
          </a:p>
        </p:txBody>
      </p:sp>
      <p:sp>
        <p:nvSpPr>
          <p:cNvPr id="34" name="Shape 32"/>
          <p:cNvSpPr/>
          <p:nvPr/>
        </p:nvSpPr>
        <p:spPr>
          <a:xfrm>
            <a:off x="8038948" y="2595372"/>
            <a:ext cx="3520440" cy="693420"/>
          </a:xfrm>
          <a:prstGeom prst="roundRect">
            <a:avLst>
              <a:gd name="adj" fmla="val 13187"/>
            </a:avLst>
          </a:prstGeom>
          <a:solidFill>
            <a:schemeClr val="accent5"/>
          </a:solidFill>
          <a:ln w="12700">
            <a:solidFill>
              <a:schemeClr val="accent2"/>
            </a:solidFill>
            <a:prstDash val="solid"/>
          </a:ln>
        </p:spPr>
      </p:sp>
      <p:sp>
        <p:nvSpPr>
          <p:cNvPr id="35" name="Shape 33"/>
          <p:cNvSpPr/>
          <p:nvPr/>
        </p:nvSpPr>
        <p:spPr>
          <a:xfrm>
            <a:off x="8130388" y="2676906"/>
            <a:ext cx="530352" cy="530352"/>
          </a:xfrm>
          <a:prstGeom prst="star8">
            <a:avLst/>
          </a:prstGeom>
          <a:solidFill>
            <a:schemeClr val="accent2"/>
          </a:solidFill>
          <a:ln/>
        </p:spPr>
      </p:sp>
      <p:sp>
        <p:nvSpPr>
          <p:cNvPr id="36" name="Shape 34"/>
          <p:cNvSpPr/>
          <p:nvPr/>
        </p:nvSpPr>
        <p:spPr>
          <a:xfrm>
            <a:off x="8236458" y="2782976"/>
            <a:ext cx="318211" cy="318211"/>
          </a:xfrm>
          <a:prstGeom prst="ellipse">
            <a:avLst/>
          </a:prstGeom>
          <a:solidFill>
            <a:schemeClr val="bg2"/>
          </a:solidFill>
          <a:ln w="19050">
            <a:solidFill>
              <a:schemeClr val="tx2"/>
            </a:solidFill>
            <a:prstDash val="solid"/>
          </a:ln>
        </p:spPr>
      </p:sp>
      <p:sp>
        <p:nvSpPr>
          <p:cNvPr id="37" name="Text 35"/>
          <p:cNvSpPr txBox="1"/>
          <p:nvPr/>
        </p:nvSpPr>
        <p:spPr>
          <a:xfrm>
            <a:off x="8130388" y="2676906"/>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6</a:t>
            </a:r>
            <a:endParaRPr lang="en-US" sz="1100" dirty="0"/>
          </a:p>
        </p:txBody>
      </p:sp>
      <p:sp>
        <p:nvSpPr>
          <p:cNvPr id="38" name="Text 36"/>
          <p:cNvSpPr txBox="1"/>
          <p:nvPr/>
        </p:nvSpPr>
        <p:spPr>
          <a:xfrm>
            <a:off x="8752180" y="2613660"/>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Nuh and the Flood</a:t>
            </a:r>
            <a:endParaRPr lang="en-US" sz="1200" dirty="0"/>
          </a:p>
        </p:txBody>
      </p:sp>
      <p:sp>
        <p:nvSpPr>
          <p:cNvPr id="39" name="Text 37"/>
          <p:cNvSpPr txBox="1"/>
          <p:nvPr/>
        </p:nvSpPr>
        <p:spPr>
          <a:xfrm>
            <a:off x="8752180" y="2997556"/>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Hud • Verses 25 – 49</a:t>
            </a:r>
            <a:endParaRPr lang="en-US" sz="1000" dirty="0"/>
          </a:p>
        </p:txBody>
      </p:sp>
      <p:sp>
        <p:nvSpPr>
          <p:cNvPr id="40" name="Shape 38"/>
          <p:cNvSpPr/>
          <p:nvPr/>
        </p:nvSpPr>
        <p:spPr>
          <a:xfrm>
            <a:off x="632308" y="3361944"/>
            <a:ext cx="3520440" cy="693420"/>
          </a:xfrm>
          <a:prstGeom prst="roundRect">
            <a:avLst>
              <a:gd name="adj" fmla="val 13187"/>
            </a:avLst>
          </a:prstGeom>
          <a:solidFill>
            <a:schemeClr val="bg1"/>
          </a:solidFill>
          <a:ln w="12700">
            <a:solidFill>
              <a:schemeClr val="accent2"/>
            </a:solidFill>
            <a:prstDash val="solid"/>
          </a:ln>
        </p:spPr>
      </p:sp>
      <p:sp>
        <p:nvSpPr>
          <p:cNvPr id="41" name="Shape 39"/>
          <p:cNvSpPr/>
          <p:nvPr/>
        </p:nvSpPr>
        <p:spPr>
          <a:xfrm>
            <a:off x="723748" y="3443478"/>
            <a:ext cx="530352" cy="530352"/>
          </a:xfrm>
          <a:prstGeom prst="star8">
            <a:avLst/>
          </a:prstGeom>
          <a:solidFill>
            <a:schemeClr val="accent2"/>
          </a:solidFill>
          <a:ln/>
        </p:spPr>
      </p:sp>
      <p:sp>
        <p:nvSpPr>
          <p:cNvPr id="42" name="Shape 40"/>
          <p:cNvSpPr/>
          <p:nvPr/>
        </p:nvSpPr>
        <p:spPr>
          <a:xfrm>
            <a:off x="829818" y="3549548"/>
            <a:ext cx="318211" cy="318211"/>
          </a:xfrm>
          <a:prstGeom prst="ellipse">
            <a:avLst/>
          </a:prstGeom>
          <a:solidFill>
            <a:schemeClr val="bg2"/>
          </a:solidFill>
          <a:ln w="19050">
            <a:solidFill>
              <a:schemeClr val="tx2"/>
            </a:solidFill>
            <a:prstDash val="solid"/>
          </a:ln>
        </p:spPr>
      </p:sp>
      <p:sp>
        <p:nvSpPr>
          <p:cNvPr id="43" name="Text 41"/>
          <p:cNvSpPr txBox="1"/>
          <p:nvPr/>
        </p:nvSpPr>
        <p:spPr>
          <a:xfrm>
            <a:off x="723748" y="344347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7</a:t>
            </a:r>
            <a:endParaRPr lang="en-US" sz="1100" dirty="0"/>
          </a:p>
        </p:txBody>
      </p:sp>
      <p:sp>
        <p:nvSpPr>
          <p:cNvPr id="44" name="Text 42"/>
          <p:cNvSpPr txBox="1"/>
          <p:nvPr/>
        </p:nvSpPr>
        <p:spPr>
          <a:xfrm>
            <a:off x="1345540" y="3380232"/>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Hud, Salih, Ibrahim, Lut</a:t>
            </a:r>
            <a:endParaRPr lang="en-US" sz="1200" dirty="0"/>
          </a:p>
        </p:txBody>
      </p:sp>
      <p:sp>
        <p:nvSpPr>
          <p:cNvPr id="45" name="Text 43"/>
          <p:cNvSpPr txBox="1"/>
          <p:nvPr/>
        </p:nvSpPr>
        <p:spPr>
          <a:xfrm>
            <a:off x="1345540" y="3764128"/>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Hud • Verses 50 – 83</a:t>
            </a:r>
            <a:endParaRPr lang="en-US" sz="1000" dirty="0"/>
          </a:p>
        </p:txBody>
      </p:sp>
      <p:sp>
        <p:nvSpPr>
          <p:cNvPr id="46" name="Shape 44"/>
          <p:cNvSpPr/>
          <p:nvPr/>
        </p:nvSpPr>
        <p:spPr>
          <a:xfrm>
            <a:off x="4335628" y="3361944"/>
            <a:ext cx="3520440" cy="693420"/>
          </a:xfrm>
          <a:prstGeom prst="roundRect">
            <a:avLst>
              <a:gd name="adj" fmla="val 13187"/>
            </a:avLst>
          </a:prstGeom>
          <a:solidFill>
            <a:schemeClr val="accent5"/>
          </a:solidFill>
          <a:ln w="12700">
            <a:solidFill>
              <a:schemeClr val="accent2"/>
            </a:solidFill>
            <a:prstDash val="solid"/>
          </a:ln>
        </p:spPr>
      </p:sp>
      <p:sp>
        <p:nvSpPr>
          <p:cNvPr id="47" name="Shape 45"/>
          <p:cNvSpPr/>
          <p:nvPr/>
        </p:nvSpPr>
        <p:spPr>
          <a:xfrm>
            <a:off x="4427068" y="3443478"/>
            <a:ext cx="530352" cy="530352"/>
          </a:xfrm>
          <a:prstGeom prst="star8">
            <a:avLst/>
          </a:prstGeom>
          <a:solidFill>
            <a:schemeClr val="accent2"/>
          </a:solidFill>
          <a:ln/>
        </p:spPr>
      </p:sp>
      <p:sp>
        <p:nvSpPr>
          <p:cNvPr id="48" name="Shape 46"/>
          <p:cNvSpPr/>
          <p:nvPr/>
        </p:nvSpPr>
        <p:spPr>
          <a:xfrm>
            <a:off x="4533138" y="3549548"/>
            <a:ext cx="318211" cy="318211"/>
          </a:xfrm>
          <a:prstGeom prst="ellipse">
            <a:avLst/>
          </a:prstGeom>
          <a:solidFill>
            <a:schemeClr val="bg2"/>
          </a:solidFill>
          <a:ln w="19050">
            <a:solidFill>
              <a:schemeClr val="tx2"/>
            </a:solidFill>
            <a:prstDash val="solid"/>
          </a:ln>
        </p:spPr>
      </p:sp>
      <p:sp>
        <p:nvSpPr>
          <p:cNvPr id="49" name="Text 47"/>
          <p:cNvSpPr txBox="1"/>
          <p:nvPr/>
        </p:nvSpPr>
        <p:spPr>
          <a:xfrm>
            <a:off x="4427068" y="344347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8</a:t>
            </a:r>
            <a:endParaRPr lang="en-US" sz="1100" dirty="0"/>
          </a:p>
        </p:txBody>
      </p:sp>
      <p:sp>
        <p:nvSpPr>
          <p:cNvPr id="50" name="Text 48"/>
          <p:cNvSpPr txBox="1"/>
          <p:nvPr/>
        </p:nvSpPr>
        <p:spPr>
          <a:xfrm>
            <a:off x="5048860" y="3380232"/>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Shu'ayb; Lessons</a:t>
            </a:r>
            <a:endParaRPr lang="en-US" sz="1200" dirty="0"/>
          </a:p>
        </p:txBody>
      </p:sp>
      <p:sp>
        <p:nvSpPr>
          <p:cNvPr id="51" name="Text 49"/>
          <p:cNvSpPr txBox="1"/>
          <p:nvPr/>
        </p:nvSpPr>
        <p:spPr>
          <a:xfrm>
            <a:off x="5048860" y="3764128"/>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Hud • Verses 84 – 123</a:t>
            </a:r>
            <a:endParaRPr lang="en-US" sz="1000" dirty="0"/>
          </a:p>
        </p:txBody>
      </p:sp>
      <p:sp>
        <p:nvSpPr>
          <p:cNvPr id="52" name="Shape 50"/>
          <p:cNvSpPr/>
          <p:nvPr/>
        </p:nvSpPr>
        <p:spPr>
          <a:xfrm>
            <a:off x="8038948" y="3361944"/>
            <a:ext cx="3520440" cy="693420"/>
          </a:xfrm>
          <a:prstGeom prst="roundRect">
            <a:avLst>
              <a:gd name="adj" fmla="val 13187"/>
            </a:avLst>
          </a:prstGeom>
          <a:solidFill>
            <a:schemeClr val="bg1"/>
          </a:solidFill>
          <a:ln w="12700">
            <a:solidFill>
              <a:schemeClr val="accent2"/>
            </a:solidFill>
            <a:prstDash val="solid"/>
          </a:ln>
        </p:spPr>
      </p:sp>
      <p:sp>
        <p:nvSpPr>
          <p:cNvPr id="53" name="Shape 51"/>
          <p:cNvSpPr/>
          <p:nvPr/>
        </p:nvSpPr>
        <p:spPr>
          <a:xfrm>
            <a:off x="8130388" y="3443478"/>
            <a:ext cx="530352" cy="530352"/>
          </a:xfrm>
          <a:prstGeom prst="star8">
            <a:avLst/>
          </a:prstGeom>
          <a:solidFill>
            <a:schemeClr val="accent2"/>
          </a:solidFill>
          <a:ln/>
        </p:spPr>
      </p:sp>
      <p:sp>
        <p:nvSpPr>
          <p:cNvPr id="54" name="Shape 52"/>
          <p:cNvSpPr/>
          <p:nvPr/>
        </p:nvSpPr>
        <p:spPr>
          <a:xfrm>
            <a:off x="8236458" y="3549548"/>
            <a:ext cx="318211" cy="318211"/>
          </a:xfrm>
          <a:prstGeom prst="ellipse">
            <a:avLst/>
          </a:prstGeom>
          <a:solidFill>
            <a:schemeClr val="bg2"/>
          </a:solidFill>
          <a:ln w="19050">
            <a:solidFill>
              <a:schemeClr val="tx2"/>
            </a:solidFill>
            <a:prstDash val="solid"/>
          </a:ln>
        </p:spPr>
      </p:sp>
      <p:sp>
        <p:nvSpPr>
          <p:cNvPr id="55" name="Text 53"/>
          <p:cNvSpPr txBox="1"/>
          <p:nvPr/>
        </p:nvSpPr>
        <p:spPr>
          <a:xfrm>
            <a:off x="8130388" y="344347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9</a:t>
            </a:r>
            <a:endParaRPr lang="en-US" sz="1100" dirty="0"/>
          </a:p>
        </p:txBody>
      </p:sp>
      <p:sp>
        <p:nvSpPr>
          <p:cNvPr id="56" name="Text 54"/>
          <p:cNvSpPr txBox="1"/>
          <p:nvPr/>
        </p:nvSpPr>
        <p:spPr>
          <a:xfrm>
            <a:off x="8752180" y="3380232"/>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Dream and the Well</a:t>
            </a:r>
            <a:endParaRPr lang="en-US" sz="1200" dirty="0"/>
          </a:p>
        </p:txBody>
      </p:sp>
      <p:sp>
        <p:nvSpPr>
          <p:cNvPr id="57" name="Text 55"/>
          <p:cNvSpPr txBox="1"/>
          <p:nvPr/>
        </p:nvSpPr>
        <p:spPr>
          <a:xfrm>
            <a:off x="8752180" y="3764128"/>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Yusuf • Verses 1 – 20</a:t>
            </a:r>
            <a:endParaRPr lang="en-US" sz="1000" dirty="0"/>
          </a:p>
        </p:txBody>
      </p:sp>
      <p:sp>
        <p:nvSpPr>
          <p:cNvPr id="58" name="Shape 56"/>
          <p:cNvSpPr/>
          <p:nvPr/>
        </p:nvSpPr>
        <p:spPr>
          <a:xfrm>
            <a:off x="632308" y="4128516"/>
            <a:ext cx="3520440" cy="693420"/>
          </a:xfrm>
          <a:prstGeom prst="roundRect">
            <a:avLst>
              <a:gd name="adj" fmla="val 13187"/>
            </a:avLst>
          </a:prstGeom>
          <a:solidFill>
            <a:schemeClr val="accent5"/>
          </a:solidFill>
          <a:ln w="12700">
            <a:solidFill>
              <a:schemeClr val="accent2"/>
            </a:solidFill>
            <a:prstDash val="solid"/>
          </a:ln>
        </p:spPr>
      </p:sp>
      <p:sp>
        <p:nvSpPr>
          <p:cNvPr id="59" name="Shape 57"/>
          <p:cNvSpPr/>
          <p:nvPr/>
        </p:nvSpPr>
        <p:spPr>
          <a:xfrm>
            <a:off x="723748" y="4210050"/>
            <a:ext cx="530352" cy="530352"/>
          </a:xfrm>
          <a:prstGeom prst="star8">
            <a:avLst/>
          </a:prstGeom>
          <a:solidFill>
            <a:schemeClr val="accent2"/>
          </a:solidFill>
          <a:ln/>
        </p:spPr>
      </p:sp>
      <p:sp>
        <p:nvSpPr>
          <p:cNvPr id="60" name="Shape 58"/>
          <p:cNvSpPr/>
          <p:nvPr/>
        </p:nvSpPr>
        <p:spPr>
          <a:xfrm>
            <a:off x="829818" y="4316120"/>
            <a:ext cx="318211" cy="318211"/>
          </a:xfrm>
          <a:prstGeom prst="ellipse">
            <a:avLst/>
          </a:prstGeom>
          <a:solidFill>
            <a:schemeClr val="bg2"/>
          </a:solidFill>
          <a:ln w="19050">
            <a:solidFill>
              <a:schemeClr val="tx2"/>
            </a:solidFill>
            <a:prstDash val="solid"/>
          </a:ln>
        </p:spPr>
      </p:sp>
      <p:sp>
        <p:nvSpPr>
          <p:cNvPr id="61" name="Text 59"/>
          <p:cNvSpPr txBox="1"/>
          <p:nvPr/>
        </p:nvSpPr>
        <p:spPr>
          <a:xfrm>
            <a:off x="723748" y="4210050"/>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10</a:t>
            </a:r>
            <a:endParaRPr lang="en-US" sz="1100" dirty="0"/>
          </a:p>
        </p:txBody>
      </p:sp>
      <p:sp>
        <p:nvSpPr>
          <p:cNvPr id="62" name="Text 60"/>
          <p:cNvSpPr txBox="1"/>
          <p:nvPr/>
        </p:nvSpPr>
        <p:spPr>
          <a:xfrm>
            <a:off x="1345540" y="4146804"/>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In the Minister's House</a:t>
            </a:r>
            <a:endParaRPr lang="en-US" sz="1200" dirty="0"/>
          </a:p>
        </p:txBody>
      </p:sp>
      <p:sp>
        <p:nvSpPr>
          <p:cNvPr id="63" name="Text 61"/>
          <p:cNvSpPr txBox="1"/>
          <p:nvPr/>
        </p:nvSpPr>
        <p:spPr>
          <a:xfrm>
            <a:off x="1345540" y="4530700"/>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Yusuf • Verses 21 – 35</a:t>
            </a:r>
            <a:endParaRPr lang="en-US" sz="1000" dirty="0"/>
          </a:p>
        </p:txBody>
      </p:sp>
      <p:sp>
        <p:nvSpPr>
          <p:cNvPr id="64" name="Shape 62"/>
          <p:cNvSpPr/>
          <p:nvPr/>
        </p:nvSpPr>
        <p:spPr>
          <a:xfrm>
            <a:off x="4335628" y="4128516"/>
            <a:ext cx="3520440" cy="693420"/>
          </a:xfrm>
          <a:prstGeom prst="roundRect">
            <a:avLst>
              <a:gd name="adj" fmla="val 13187"/>
            </a:avLst>
          </a:prstGeom>
          <a:solidFill>
            <a:schemeClr val="bg1"/>
          </a:solidFill>
          <a:ln w="12700">
            <a:solidFill>
              <a:schemeClr val="accent2"/>
            </a:solidFill>
            <a:prstDash val="solid"/>
          </a:ln>
        </p:spPr>
      </p:sp>
      <p:sp>
        <p:nvSpPr>
          <p:cNvPr id="65" name="Shape 63"/>
          <p:cNvSpPr/>
          <p:nvPr/>
        </p:nvSpPr>
        <p:spPr>
          <a:xfrm>
            <a:off x="4427068" y="4210050"/>
            <a:ext cx="530352" cy="530352"/>
          </a:xfrm>
          <a:prstGeom prst="star8">
            <a:avLst/>
          </a:prstGeom>
          <a:solidFill>
            <a:schemeClr val="accent2"/>
          </a:solidFill>
          <a:ln/>
        </p:spPr>
      </p:sp>
      <p:sp>
        <p:nvSpPr>
          <p:cNvPr id="66" name="Shape 64"/>
          <p:cNvSpPr/>
          <p:nvPr/>
        </p:nvSpPr>
        <p:spPr>
          <a:xfrm>
            <a:off x="4533138" y="4316120"/>
            <a:ext cx="318211" cy="318211"/>
          </a:xfrm>
          <a:prstGeom prst="ellipse">
            <a:avLst/>
          </a:prstGeom>
          <a:solidFill>
            <a:schemeClr val="bg2"/>
          </a:solidFill>
          <a:ln w="19050">
            <a:solidFill>
              <a:schemeClr val="tx2"/>
            </a:solidFill>
            <a:prstDash val="solid"/>
          </a:ln>
        </p:spPr>
      </p:sp>
      <p:sp>
        <p:nvSpPr>
          <p:cNvPr id="67" name="Text 65"/>
          <p:cNvSpPr txBox="1"/>
          <p:nvPr/>
        </p:nvSpPr>
        <p:spPr>
          <a:xfrm>
            <a:off x="4427068" y="4210050"/>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11</a:t>
            </a:r>
            <a:endParaRPr lang="en-US" sz="1100" dirty="0"/>
          </a:p>
        </p:txBody>
      </p:sp>
      <p:sp>
        <p:nvSpPr>
          <p:cNvPr id="68" name="Text 66"/>
          <p:cNvSpPr txBox="1"/>
          <p:nvPr/>
        </p:nvSpPr>
        <p:spPr>
          <a:xfrm>
            <a:off x="5048860" y="4146804"/>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Prison, Then Power</a:t>
            </a:r>
            <a:endParaRPr lang="en-US" sz="1200" dirty="0"/>
          </a:p>
        </p:txBody>
      </p:sp>
      <p:sp>
        <p:nvSpPr>
          <p:cNvPr id="69" name="Text 67"/>
          <p:cNvSpPr txBox="1"/>
          <p:nvPr/>
        </p:nvSpPr>
        <p:spPr>
          <a:xfrm>
            <a:off x="5048860" y="4530700"/>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Yusuf • Verses 36 – 57</a:t>
            </a:r>
            <a:endParaRPr lang="en-US" sz="1000" dirty="0"/>
          </a:p>
        </p:txBody>
      </p:sp>
      <p:sp>
        <p:nvSpPr>
          <p:cNvPr id="70" name="Shape 68"/>
          <p:cNvSpPr/>
          <p:nvPr/>
        </p:nvSpPr>
        <p:spPr>
          <a:xfrm>
            <a:off x="8038948" y="4128516"/>
            <a:ext cx="3520440" cy="693420"/>
          </a:xfrm>
          <a:prstGeom prst="roundRect">
            <a:avLst>
              <a:gd name="adj" fmla="val 13187"/>
            </a:avLst>
          </a:prstGeom>
          <a:solidFill>
            <a:schemeClr val="accent5"/>
          </a:solidFill>
          <a:ln w="12700">
            <a:solidFill>
              <a:schemeClr val="accent2"/>
            </a:solidFill>
            <a:prstDash val="solid"/>
          </a:ln>
        </p:spPr>
      </p:sp>
      <p:sp>
        <p:nvSpPr>
          <p:cNvPr id="71" name="Shape 69"/>
          <p:cNvSpPr/>
          <p:nvPr/>
        </p:nvSpPr>
        <p:spPr>
          <a:xfrm>
            <a:off x="8130388" y="4210050"/>
            <a:ext cx="530352" cy="530352"/>
          </a:xfrm>
          <a:prstGeom prst="star8">
            <a:avLst/>
          </a:prstGeom>
          <a:solidFill>
            <a:schemeClr val="accent2"/>
          </a:solidFill>
          <a:ln/>
        </p:spPr>
      </p:sp>
      <p:sp>
        <p:nvSpPr>
          <p:cNvPr id="72" name="Shape 70"/>
          <p:cNvSpPr/>
          <p:nvPr/>
        </p:nvSpPr>
        <p:spPr>
          <a:xfrm>
            <a:off x="8236458" y="4316120"/>
            <a:ext cx="318211" cy="318211"/>
          </a:xfrm>
          <a:prstGeom prst="ellipse">
            <a:avLst/>
          </a:prstGeom>
          <a:solidFill>
            <a:schemeClr val="bg2"/>
          </a:solidFill>
          <a:ln w="19050">
            <a:solidFill>
              <a:schemeClr val="tx2"/>
            </a:solidFill>
            <a:prstDash val="solid"/>
          </a:ln>
        </p:spPr>
      </p:sp>
      <p:sp>
        <p:nvSpPr>
          <p:cNvPr id="73" name="Text 71"/>
          <p:cNvSpPr txBox="1"/>
          <p:nvPr/>
        </p:nvSpPr>
        <p:spPr>
          <a:xfrm>
            <a:off x="8130388" y="4210050"/>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12</a:t>
            </a:r>
            <a:endParaRPr lang="en-US" sz="1100" dirty="0"/>
          </a:p>
        </p:txBody>
      </p:sp>
      <p:sp>
        <p:nvSpPr>
          <p:cNvPr id="74" name="Text 72"/>
          <p:cNvSpPr txBox="1"/>
          <p:nvPr/>
        </p:nvSpPr>
        <p:spPr>
          <a:xfrm>
            <a:off x="8752180" y="4146804"/>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Meeting the Brothers</a:t>
            </a:r>
            <a:endParaRPr lang="en-US" sz="1200" dirty="0"/>
          </a:p>
        </p:txBody>
      </p:sp>
      <p:sp>
        <p:nvSpPr>
          <p:cNvPr id="75" name="Text 73"/>
          <p:cNvSpPr txBox="1"/>
          <p:nvPr/>
        </p:nvSpPr>
        <p:spPr>
          <a:xfrm>
            <a:off x="8752180" y="4530700"/>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Yusuf • Verses 58 – 82</a:t>
            </a:r>
            <a:endParaRPr lang="en-US" sz="1000" dirty="0"/>
          </a:p>
        </p:txBody>
      </p:sp>
      <p:sp>
        <p:nvSpPr>
          <p:cNvPr id="76" name="Shape 74"/>
          <p:cNvSpPr/>
          <p:nvPr/>
        </p:nvSpPr>
        <p:spPr>
          <a:xfrm>
            <a:off x="632308" y="4895088"/>
            <a:ext cx="3520440" cy="693420"/>
          </a:xfrm>
          <a:prstGeom prst="roundRect">
            <a:avLst>
              <a:gd name="adj" fmla="val 13187"/>
            </a:avLst>
          </a:prstGeom>
          <a:solidFill>
            <a:schemeClr val="bg1"/>
          </a:solidFill>
          <a:ln w="12700">
            <a:solidFill>
              <a:schemeClr val="accent2"/>
            </a:solidFill>
            <a:prstDash val="solid"/>
          </a:ln>
        </p:spPr>
      </p:sp>
      <p:sp>
        <p:nvSpPr>
          <p:cNvPr id="77" name="Shape 75"/>
          <p:cNvSpPr/>
          <p:nvPr/>
        </p:nvSpPr>
        <p:spPr>
          <a:xfrm>
            <a:off x="723748" y="4976622"/>
            <a:ext cx="530352" cy="530352"/>
          </a:xfrm>
          <a:prstGeom prst="star8">
            <a:avLst/>
          </a:prstGeom>
          <a:solidFill>
            <a:schemeClr val="accent2"/>
          </a:solidFill>
          <a:ln/>
        </p:spPr>
      </p:sp>
      <p:sp>
        <p:nvSpPr>
          <p:cNvPr id="78" name="Shape 76"/>
          <p:cNvSpPr/>
          <p:nvPr/>
        </p:nvSpPr>
        <p:spPr>
          <a:xfrm>
            <a:off x="829818" y="5082692"/>
            <a:ext cx="318211" cy="318211"/>
          </a:xfrm>
          <a:prstGeom prst="ellipse">
            <a:avLst/>
          </a:prstGeom>
          <a:solidFill>
            <a:schemeClr val="bg2"/>
          </a:solidFill>
          <a:ln w="19050">
            <a:solidFill>
              <a:schemeClr val="tx2"/>
            </a:solidFill>
            <a:prstDash val="solid"/>
          </a:ln>
        </p:spPr>
      </p:sp>
      <p:sp>
        <p:nvSpPr>
          <p:cNvPr id="79" name="Text 77"/>
          <p:cNvSpPr txBox="1"/>
          <p:nvPr/>
        </p:nvSpPr>
        <p:spPr>
          <a:xfrm>
            <a:off x="723748" y="4976622"/>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13</a:t>
            </a:r>
            <a:endParaRPr lang="en-US" sz="1100" dirty="0"/>
          </a:p>
        </p:txBody>
      </p:sp>
      <p:sp>
        <p:nvSpPr>
          <p:cNvPr id="80" name="Text 78"/>
          <p:cNvSpPr txBox="1"/>
          <p:nvPr/>
        </p:nvSpPr>
        <p:spPr>
          <a:xfrm>
            <a:off x="1345540" y="4913376"/>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Family Reunited</a:t>
            </a:r>
            <a:endParaRPr lang="en-US" sz="1200" dirty="0"/>
          </a:p>
        </p:txBody>
      </p:sp>
      <p:sp>
        <p:nvSpPr>
          <p:cNvPr id="81" name="Text 79"/>
          <p:cNvSpPr txBox="1"/>
          <p:nvPr/>
        </p:nvSpPr>
        <p:spPr>
          <a:xfrm>
            <a:off x="1345540" y="5297272"/>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Yusuf • Verses 83 – 111</a:t>
            </a:r>
            <a:endParaRPr lang="en-US" sz="1000" dirty="0"/>
          </a:p>
        </p:txBody>
      </p:sp>
      <p:sp>
        <p:nvSpPr>
          <p:cNvPr id="82" name="Shape 80"/>
          <p:cNvSpPr/>
          <p:nvPr/>
        </p:nvSpPr>
        <p:spPr>
          <a:xfrm>
            <a:off x="4335628" y="4895088"/>
            <a:ext cx="3520440" cy="693420"/>
          </a:xfrm>
          <a:prstGeom prst="roundRect">
            <a:avLst>
              <a:gd name="adj" fmla="val 13187"/>
            </a:avLst>
          </a:prstGeom>
          <a:solidFill>
            <a:schemeClr val="accent5"/>
          </a:solidFill>
          <a:ln w="12700">
            <a:solidFill>
              <a:schemeClr val="accent2"/>
            </a:solidFill>
            <a:prstDash val="solid"/>
          </a:ln>
        </p:spPr>
      </p:sp>
      <p:sp>
        <p:nvSpPr>
          <p:cNvPr id="83" name="Shape 81"/>
          <p:cNvSpPr/>
          <p:nvPr/>
        </p:nvSpPr>
        <p:spPr>
          <a:xfrm>
            <a:off x="4427068" y="4976622"/>
            <a:ext cx="530352" cy="530352"/>
          </a:xfrm>
          <a:prstGeom prst="star8">
            <a:avLst/>
          </a:prstGeom>
          <a:solidFill>
            <a:schemeClr val="accent2"/>
          </a:solidFill>
          <a:ln/>
        </p:spPr>
      </p:sp>
      <p:sp>
        <p:nvSpPr>
          <p:cNvPr id="84" name="Shape 82"/>
          <p:cNvSpPr/>
          <p:nvPr/>
        </p:nvSpPr>
        <p:spPr>
          <a:xfrm>
            <a:off x="4533138" y="5082692"/>
            <a:ext cx="318211" cy="318211"/>
          </a:xfrm>
          <a:prstGeom prst="ellipse">
            <a:avLst/>
          </a:prstGeom>
          <a:solidFill>
            <a:schemeClr val="bg2"/>
          </a:solidFill>
          <a:ln w="19050">
            <a:solidFill>
              <a:schemeClr val="tx2"/>
            </a:solidFill>
            <a:prstDash val="solid"/>
          </a:ln>
        </p:spPr>
      </p:sp>
      <p:sp>
        <p:nvSpPr>
          <p:cNvPr id="85" name="Text 83"/>
          <p:cNvSpPr txBox="1"/>
          <p:nvPr/>
        </p:nvSpPr>
        <p:spPr>
          <a:xfrm>
            <a:off x="4427068" y="4976622"/>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14</a:t>
            </a:r>
            <a:endParaRPr lang="en-US" sz="1100" dirty="0"/>
          </a:p>
        </p:txBody>
      </p:sp>
      <p:sp>
        <p:nvSpPr>
          <p:cNvPr id="86" name="Text 84"/>
          <p:cNvSpPr txBox="1"/>
          <p:nvPr/>
        </p:nvSpPr>
        <p:spPr>
          <a:xfrm>
            <a:off x="5048860" y="4913376"/>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Truth and Falsehood</a:t>
            </a:r>
            <a:endParaRPr lang="en-US" sz="1200" dirty="0"/>
          </a:p>
        </p:txBody>
      </p:sp>
      <p:sp>
        <p:nvSpPr>
          <p:cNvPr id="87" name="Text 85"/>
          <p:cNvSpPr txBox="1"/>
          <p:nvPr/>
        </p:nvSpPr>
        <p:spPr>
          <a:xfrm>
            <a:off x="5048860" y="5297272"/>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Ar-Ra'd • Verses 1 – 18</a:t>
            </a:r>
            <a:endParaRPr lang="en-US" sz="1000" dirty="0"/>
          </a:p>
        </p:txBody>
      </p:sp>
      <p:sp>
        <p:nvSpPr>
          <p:cNvPr id="88" name="Shape 86"/>
          <p:cNvSpPr/>
          <p:nvPr/>
        </p:nvSpPr>
        <p:spPr>
          <a:xfrm>
            <a:off x="8038948" y="4895088"/>
            <a:ext cx="3520440" cy="693420"/>
          </a:xfrm>
          <a:prstGeom prst="roundRect">
            <a:avLst>
              <a:gd name="adj" fmla="val 13187"/>
            </a:avLst>
          </a:prstGeom>
          <a:solidFill>
            <a:schemeClr val="bg1"/>
          </a:solidFill>
          <a:ln w="12700">
            <a:solidFill>
              <a:schemeClr val="accent2"/>
            </a:solidFill>
            <a:prstDash val="solid"/>
          </a:ln>
        </p:spPr>
      </p:sp>
      <p:sp>
        <p:nvSpPr>
          <p:cNvPr id="89" name="Shape 87"/>
          <p:cNvSpPr/>
          <p:nvPr/>
        </p:nvSpPr>
        <p:spPr>
          <a:xfrm>
            <a:off x="8130388" y="4976622"/>
            <a:ext cx="530352" cy="530352"/>
          </a:xfrm>
          <a:prstGeom prst="star8">
            <a:avLst/>
          </a:prstGeom>
          <a:solidFill>
            <a:schemeClr val="accent2"/>
          </a:solidFill>
          <a:ln/>
        </p:spPr>
      </p:sp>
      <p:sp>
        <p:nvSpPr>
          <p:cNvPr id="90" name="Shape 88"/>
          <p:cNvSpPr/>
          <p:nvPr/>
        </p:nvSpPr>
        <p:spPr>
          <a:xfrm>
            <a:off x="8236458" y="5082692"/>
            <a:ext cx="318211" cy="318211"/>
          </a:xfrm>
          <a:prstGeom prst="ellipse">
            <a:avLst/>
          </a:prstGeom>
          <a:solidFill>
            <a:schemeClr val="bg2"/>
          </a:solidFill>
          <a:ln w="19050">
            <a:solidFill>
              <a:schemeClr val="tx2"/>
            </a:solidFill>
            <a:prstDash val="solid"/>
          </a:ln>
        </p:spPr>
      </p:sp>
      <p:sp>
        <p:nvSpPr>
          <p:cNvPr id="91" name="Text 89"/>
          <p:cNvSpPr txBox="1"/>
          <p:nvPr/>
        </p:nvSpPr>
        <p:spPr>
          <a:xfrm>
            <a:off x="8130388" y="4976622"/>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15</a:t>
            </a:r>
            <a:endParaRPr lang="en-US" sz="1100" dirty="0"/>
          </a:p>
        </p:txBody>
      </p:sp>
      <p:sp>
        <p:nvSpPr>
          <p:cNvPr id="92" name="Text 90"/>
          <p:cNvSpPr txBox="1"/>
          <p:nvPr/>
        </p:nvSpPr>
        <p:spPr>
          <a:xfrm>
            <a:off x="8752180" y="4913376"/>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People of Understanding</a:t>
            </a:r>
            <a:endParaRPr lang="en-US" sz="1200" dirty="0"/>
          </a:p>
        </p:txBody>
      </p:sp>
      <p:sp>
        <p:nvSpPr>
          <p:cNvPr id="93" name="Text 91"/>
          <p:cNvSpPr txBox="1"/>
          <p:nvPr/>
        </p:nvSpPr>
        <p:spPr>
          <a:xfrm>
            <a:off x="8752180" y="5297272"/>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Ar-Ra'd • Verses 19 – 43</a:t>
            </a:r>
            <a:endParaRPr lang="en-US" sz="1000" dirty="0"/>
          </a:p>
        </p:txBody>
      </p:sp>
      <p:sp>
        <p:nvSpPr>
          <p:cNvPr id="94" name="Shape 92"/>
          <p:cNvSpPr/>
          <p:nvPr/>
        </p:nvSpPr>
        <p:spPr>
          <a:xfrm>
            <a:off x="632308" y="5661660"/>
            <a:ext cx="3520440" cy="693420"/>
          </a:xfrm>
          <a:prstGeom prst="roundRect">
            <a:avLst>
              <a:gd name="adj" fmla="val 13187"/>
            </a:avLst>
          </a:prstGeom>
          <a:solidFill>
            <a:schemeClr val="accent5"/>
          </a:solidFill>
          <a:ln w="12700">
            <a:solidFill>
              <a:schemeClr val="accent2"/>
            </a:solidFill>
            <a:prstDash val="solid"/>
          </a:ln>
        </p:spPr>
      </p:sp>
      <p:sp>
        <p:nvSpPr>
          <p:cNvPr id="95" name="Shape 93"/>
          <p:cNvSpPr/>
          <p:nvPr/>
        </p:nvSpPr>
        <p:spPr>
          <a:xfrm>
            <a:off x="723748" y="5743194"/>
            <a:ext cx="530352" cy="530352"/>
          </a:xfrm>
          <a:prstGeom prst="star8">
            <a:avLst/>
          </a:prstGeom>
          <a:solidFill>
            <a:schemeClr val="accent2"/>
          </a:solidFill>
          <a:ln/>
        </p:spPr>
      </p:sp>
      <p:sp>
        <p:nvSpPr>
          <p:cNvPr id="96" name="Shape 94"/>
          <p:cNvSpPr/>
          <p:nvPr/>
        </p:nvSpPr>
        <p:spPr>
          <a:xfrm>
            <a:off x="829818" y="5849264"/>
            <a:ext cx="318211" cy="318211"/>
          </a:xfrm>
          <a:prstGeom prst="ellipse">
            <a:avLst/>
          </a:prstGeom>
          <a:solidFill>
            <a:schemeClr val="bg2"/>
          </a:solidFill>
          <a:ln w="19050">
            <a:solidFill>
              <a:schemeClr val="tx2"/>
            </a:solidFill>
            <a:prstDash val="solid"/>
          </a:ln>
        </p:spPr>
      </p:sp>
      <p:sp>
        <p:nvSpPr>
          <p:cNvPr id="97" name="Text 95"/>
          <p:cNvSpPr txBox="1"/>
          <p:nvPr/>
        </p:nvSpPr>
        <p:spPr>
          <a:xfrm>
            <a:off x="723748" y="5743194"/>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16</a:t>
            </a:r>
            <a:endParaRPr lang="en-US" sz="1100" dirty="0"/>
          </a:p>
        </p:txBody>
      </p:sp>
      <p:sp>
        <p:nvSpPr>
          <p:cNvPr id="98" name="Text 96"/>
          <p:cNvSpPr txBox="1"/>
          <p:nvPr/>
        </p:nvSpPr>
        <p:spPr>
          <a:xfrm>
            <a:off x="1345540" y="5679948"/>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Good Word</a:t>
            </a:r>
            <a:endParaRPr lang="en-US" sz="1200" dirty="0"/>
          </a:p>
        </p:txBody>
      </p:sp>
      <p:sp>
        <p:nvSpPr>
          <p:cNvPr id="99" name="Text 97"/>
          <p:cNvSpPr txBox="1"/>
          <p:nvPr/>
        </p:nvSpPr>
        <p:spPr>
          <a:xfrm>
            <a:off x="1345540" y="6063844"/>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Ibrahim • Verses 1 – 27</a:t>
            </a:r>
            <a:endParaRPr lang="en-US" sz="1000" dirty="0"/>
          </a:p>
        </p:txBody>
      </p:sp>
      <p:sp>
        <p:nvSpPr>
          <p:cNvPr id="100" name="Shape 98"/>
          <p:cNvSpPr/>
          <p:nvPr/>
        </p:nvSpPr>
        <p:spPr>
          <a:xfrm>
            <a:off x="4335628" y="5661660"/>
            <a:ext cx="3520440" cy="693420"/>
          </a:xfrm>
          <a:prstGeom prst="roundRect">
            <a:avLst>
              <a:gd name="adj" fmla="val 13187"/>
            </a:avLst>
          </a:prstGeom>
          <a:solidFill>
            <a:schemeClr val="bg1"/>
          </a:solidFill>
          <a:ln w="12700">
            <a:solidFill>
              <a:schemeClr val="accent2"/>
            </a:solidFill>
            <a:prstDash val="solid"/>
          </a:ln>
        </p:spPr>
      </p:sp>
      <p:sp>
        <p:nvSpPr>
          <p:cNvPr id="101" name="Shape 99"/>
          <p:cNvSpPr/>
          <p:nvPr/>
        </p:nvSpPr>
        <p:spPr>
          <a:xfrm>
            <a:off x="4427068" y="5743194"/>
            <a:ext cx="530352" cy="530352"/>
          </a:xfrm>
          <a:prstGeom prst="star8">
            <a:avLst/>
          </a:prstGeom>
          <a:solidFill>
            <a:schemeClr val="accent2"/>
          </a:solidFill>
          <a:ln/>
        </p:spPr>
      </p:sp>
      <p:sp>
        <p:nvSpPr>
          <p:cNvPr id="102" name="Shape 100"/>
          <p:cNvSpPr/>
          <p:nvPr/>
        </p:nvSpPr>
        <p:spPr>
          <a:xfrm>
            <a:off x="4533138" y="5849264"/>
            <a:ext cx="318211" cy="318211"/>
          </a:xfrm>
          <a:prstGeom prst="ellipse">
            <a:avLst/>
          </a:prstGeom>
          <a:solidFill>
            <a:schemeClr val="bg2"/>
          </a:solidFill>
          <a:ln w="19050">
            <a:solidFill>
              <a:schemeClr val="tx2"/>
            </a:solidFill>
            <a:prstDash val="solid"/>
          </a:ln>
        </p:spPr>
      </p:sp>
      <p:sp>
        <p:nvSpPr>
          <p:cNvPr id="103" name="Text 101"/>
          <p:cNvSpPr txBox="1"/>
          <p:nvPr/>
        </p:nvSpPr>
        <p:spPr>
          <a:xfrm>
            <a:off x="4427068" y="5743194"/>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17</a:t>
            </a:r>
            <a:endParaRPr lang="en-US" sz="1100" dirty="0"/>
          </a:p>
        </p:txBody>
      </p:sp>
      <p:sp>
        <p:nvSpPr>
          <p:cNvPr id="104" name="Text 102"/>
          <p:cNvSpPr txBox="1"/>
          <p:nvPr/>
        </p:nvSpPr>
        <p:spPr>
          <a:xfrm>
            <a:off x="5048860" y="5679948"/>
            <a:ext cx="2715768" cy="402184"/>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Ibrahim's Prayer</a:t>
            </a:r>
            <a:endParaRPr lang="en-US" sz="1200" dirty="0"/>
          </a:p>
        </p:txBody>
      </p:sp>
      <p:sp>
        <p:nvSpPr>
          <p:cNvPr id="105" name="Text 103"/>
          <p:cNvSpPr txBox="1"/>
          <p:nvPr/>
        </p:nvSpPr>
        <p:spPr>
          <a:xfrm>
            <a:off x="5048860" y="6063844"/>
            <a:ext cx="2715768" cy="263500"/>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Ibrahim • Verses 28 – 52</a:t>
            </a:r>
            <a:endParaRPr lang="en-US" sz="1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Signs and the Stubborn</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20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Yunus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'Abbas (may Allah be pleased with them) said: When Allah sent Muhammad (peace be upon him) as a messenger, the Arabs rejected it and said: Allah is too great to have a human as His messenger. So Allah revealed: “Is it strange to people that We revealed to a man from among them?” (mentioned by Ibn Kathir).</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revelation, the signs of creation in the sun, moon, night and day, the bliss of the believers, human nature in hardship and ease, and the idol-worshippers asking for the Qur'an to be changed.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 تِلْكَ ءَايَٰتُ الْكِتَٰبِ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 These are the verses of the wise Book.</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أَكَانَ لِلنَّاسِ عَجَبًا أَنْ أَوْحَيْنَآ إِلَىٰ رَجُلٍ مِّنْهُمْ أَنْ أَنذِرِ النَّاسَ وَبَشِّرِ الَّذِينَ ءَامَنُواْ أَنَّ لَهُمْ قَدَمَ صِدْقٍ عِندَ رَبِّهِمْ قَالَ الْكَٰفِرُونَ إِنَّ هَٰذَا لَسَٰحِرٌ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strange to people that We revealed to a man from among them: Warn people, and give the believers good news that they have a true reward with their Lord? The disbelievers said: This is clearly a magician.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رَبَّكُمُ اللَّهُ الَّذِي خَلَقَ السَّمَٰوَٰتِ وَالْأَرْضَ فِي سِتَّةِ أَيَّامٍ ثُمَّ اسْتَوَىٰ عَلَى الْعَرْشِ يُدَبِّرُ الْأَمْرَ مَا مِن شَفِيعٍ إِلَّا مِن بَعْدِ إِذْنِهِ ذَٰلِكُمُ اللَّهُ رَبُّكُمْ فَاعْبُدُوهُ 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Allah, who created the heavens and the earth in six days, then rose over the Throne in a way that suits His majesty, managing every affair. No one can intercede except after His permission. That is Allah, your Lord, so worship Him. Will you not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إِلَيْهِ مَرْجِعُكُمْ جَمِيعًا وَعْدَ اللَّهِ حَقًّا إِنَّهُ يَبْدَؤُاْ الْخَلْقَ ثُمَّ يُعِيدُهُ لِيَجْزِيَ الَّذِينَ ءَامَنُواْ وَعَمِلُواْ الصَّـٰلِحَٰتِ بِالْقِسْطِ وَالَّذِينَ كَفَرُواْ لَهُمْ شَرَابٌ مِّنْ حَمِيمٍ وَعَذَابٌ أَلِيمٌ بِمَا كَانُواْ يَكْفُرُونَ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you will all return; Allah's promise is true. He begins creation and then brings it back, to reward the righteous believers with justice. The disbelievers will have a drink of boiling water and a painful punishment for their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جَعَلَ الشَّمْسَ ضِيَآءً وَالْقَمَرَ نُورًا وَقَدَّرَهُ مَنَازِلَ لِتَعْلَمُواْ عَدَدَ السِّنِينَ وَالْحِسَابَ مَا خَلَقَ اللَّهُ ذَٰلِكَ إِلَّا بِالْحَقِّ يُفَصِّلُ الْأيَٰتِ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sun shining and the moon a light, and measured out its stages so that you know the number of years and how to count time. Allah created all this only with truth. He explains the signs for people who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اخْتِلَٰفِ الَّيْلِ وَالنَّهَارِ وَمَا خَلَقَ اللَّهُ فِي السَّمَٰوَٰتِ وَالْأَرْضِ لَأيَٰتٍ لِّقَوْمٍ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alternation of night and day, and in what Allah created in the heavens and the earth, are signs for people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لَا يَرْجُونَ لِقَآءَنَا وَرَضُواْ بِالْحَيَوٰةِ الدُّنْيَا وَاطْمَأَنُّواْ بِهَا وَالَّذِينَ هُمْ عَنْ ءَايَٰتِنَا 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hope to meet Us, are pleased with the life of this world and feel at ease in it, and those who are heedless of Our signs,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مَأْوَىٰهُمُ النَّارُ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home will be the Fire because of what they used to earn.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يَهْدِيهِمْ رَبُّهُم بِإِيمَٰنِهِمْ تَجْرِي مِن تَحْتِهِمُ الْأَنْهَٰرُ فِي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their Lord guides them because of their faith to Paradise, with rivers flowing beneath them in the Gardens of Bliss.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دَعْوَىٰهُمْ فِيهَا سُبْحَٰنَكَ اللَّهُمَّ وَتَحِيَّتُهُمْ فِيهَا سَلَٰمٌ وَءَاخِرُ دَعْوَىٰهُمْ أَنِ الْحَمْدُ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prayer there will be: Glory be to You, O Allah; their greeting there: Peace; and the end of their prayer: All praise is for Allah,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يُعَجِّلُ اللَّهُ لِلنَّاسِ الشَّرَّ اسْتِعْجَالَهُم بِالْخَيْرِ لَقُضِيَ إِلَيْهِمْ أَجَلُهُمْ فَنَذَرُ الَّذِينَ لَا يَرْجُونَ لِقَآءَنَا فِي طُغْيَٰنِهِمْ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hurried evil for people when they pray for it against themselves in anger, as He hurries good for them, they would be destroyed. So We leave those who do not hope to meet Us wandering blindly in their rebellion.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مَسَّ الْإِنسَٰنَ الضُّرُّ دَعَانَا لِجَنبِهِ أَوْ قَاعِدًا أَوْ قَآئِمًا فَلَمَّا كَشَفْنَا عَنْهُ ضُرَّهُ مَرَّ كَأَن لَّمْ يَدْعُنَآ إِلَىٰ ضُرٍّ مَّسَّهُ كَذَٰلِكَ زُيِّنَ لِلْمُسْرِفِينَ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harm touches a person, he calls on Us lying down, sitting or standing. But when We remove his harm, he carries on heedlessly as if he had never called on Us. That is how the deeds of those who go too far are made to look good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أَهْلَكْنَا الْقُرُونَ مِن قَبْلِكُمْ لَمَّا ظَلَمُواْ وَجَآءَتْهُمْ رُسُلُهُم بِالْبَيِّنَٰتِ وَمَا كَانُواْ لِيُؤْمِنُواْ كَذَٰلِكَ نَجْزِي الْقَوْمَ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destroyed the nations before you when they did wrong. Their messengers came to them with clear miracles, but they would not believe. That is how We repay the criminal people.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جَعَلْنَٰكُمْ خَلَـٰئِفَ فِي الْأَرْضِ مِن بَعْدِهِمْ لِنَنظُرَ كَيْفَ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made you successors on earth after them, to see how you would act.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ءَايَاتُنَا بَيِّنَٰتٍ قَالَ الَّذِينَ لَا يَرْجُونَ لِقَآءَنَا ائْتِ بِقُرْءَانٍ غَيْرِ هَٰذَآ أَوْ بَدِّلْهُ قُلْ مَا يَكُونُ لِي أَنْ أُبَدِّلَهُ مِن تِلْقَآيِٕ نَفْسِي إِنْ أَتَّبِعُ إِلَّا مَا يُوحَىٰ إِلَيَّ إِنِّي أَخَافُ إِنْ عَصَيْتُ رَبِّي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verses are recited to them, those who do not hope to meet Us say: Bring a different Qur'an, or change it. Say: It is not for me to change it on my own. I only follow what is revealed to me. I fear, if I disobeyed my Lord, the punishment of a great Day.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لَّوْ شَآءَ اللَّهُ مَا تَلَوْتُهُ عَلَيْكُمْ وَلَآ أَدْرَىٰكُم بِهِ فَقَدْ لَبِثْتُ فِيكُمْ عُمُرًا مِّن قَبْلِهِ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Allah had willed, I would not have recited it to you, nor would He have made it known to you. I lived among you for forty years before it came, not reading or writing.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أَظْلَمُ مِمَّنِ افْتَرَىٰ عَلَى اللَّهِ كَذِبًا أَوْ كَذَّبَ بِـَٔايَٰتِهِ إِنَّهُ لَا يُفْلِحُ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who is more unjust than one who lies about Allah or denies His verses? The criminals will never succeed.</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وَيَعْبُدُونَ مِن دُونِ اللَّهِ مَا لَا يَضُرُّهُمْ وَلَا يَنفَعُهُمْ وَيَقُولُونَ هَـٰؤُلَآءِ شُفَعَـٰؤُنَا عِندَ اللَّهِ قُلْ أَتُنَبِّـُٔونَ اللَّهَ بِمَا لَا يَعْلَمُ فِي السَّمَٰوَٰتِ وَلَا فِي الْأَرْضِ سُبْحَٰنَهُ وَتَعَٰلَىٰ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worship besides Allah what can neither harm nor benefit them, and say: These are our intercessors with Allah. Say: Are you telling Allah of something He does not know in the heavens or on earth? Glory be to Him, far above what they associate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النَّاسُ إِلَّآ أُمَّةً وَٰحِدَةً فَاخْتَلَفُواْ وَلَوْلَا كَلِمَةٌ سَبَقَتْ مِن رَّبِّكَ لَقُضِيَ بَيْنَهُمْ فِيمَا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People were once one religion, tawhid, then they differed. If not for a word from your Lord delaying the punishment, they would have been judged in what they differ about.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لَوْلَآ أُنزِلَ عَلَيْهِ ءَايَةٌ مِّن رَّبِّهِ فَقُلْ إِنَّمَا الْغَيْبُ لِلَّهِ فَانتَظِرُواْ إِنِّي مَعَكُم مِّنَ الْمُنتَظِرِينَ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Why has a miracle not been sent down to him from his Lord? Say: The unseen belongs to Allah alone, so wait; I am waiting with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This World; the Challenge</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21 – 56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Yunus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life of this world is like crops that flourish then are harvested, the "more" for those who do good, questions proving tawhid, and the challenge to bring a surah like the Qur'an.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أَذَقْنَا النَّاسَ رَحْمَةً مِّن بَعْدِ ضَرَّآءَ مَسَّتْهُمْ إِذَا لَهُم مَّكْرٌ فِي ءَايَاتِنَا قُلِ اللَّهُ أَسْرَعُ مَكْرًا إِنَّ رُسُلَنَا يَكْتُبُونَ مَا تَمْكُرُونَ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let people taste mercy after hardship has touched them, they start denying and mocking Our signs. Say: Allah is quicker in planning. Our angels write down what you plot.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يُسَيِّرُكُمْ فِي الْبَرِّ وَالْبَحْرِ حَتَّىٰ إِذَا كُنتُمْ فِي الْفُلْكِ وَجَرَيْنَ بِهِم بِرِيحٍ طَيِّبَةٍ وَفَرِحُواْ بِهَا جَآءَتْهَا رِيحٌ عَاصِفٌ وَجَآءَهُمُ الْمَوْجُ مِن كُلِّ مَكَانٍ وَظَنُّواْ أَنَّهُمْ أُحِيطَ بِهِمْ دَعَوُاْ اللَّهَ مُخْلِصِينَ لَهُ الدِّينَ لَئِنْ أَنجَيْتَنَا مِنْ هَٰذِهِ لَنَكُونَنَّ مِنَ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lets you travel on land and sea. When you are on ships sailing with a good wind and happy with it, a storm wind comes, waves come at them from every side, and they think they are surrounded. Then they call on Allah, sincere in their prayer to Him: If You save us from this, we will surely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أَنجَىٰهُمْ إِذَا هُمْ يَبْغُونَ فِي الْأَرْضِ بِغَيْرِ الْحَقِّ يَـٰأَيُّهَا النَّاسُ إِنَّمَا بَغْيُكُمْ عَلَىٰ أَنفُسِكُم مَّتَٰعَ الْحَيَوٰةِ الدُّنْيَا ثُمَّ إِلَيْنَا مَرْجِعُكُمْ فَنُنَبِّئُكُم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He saves them, they spread corruption on earth without right. O people, your wrongdoing only comes back on yourselves: a little enjoyment in this world, then to Us is your return, and We will tell you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70457"/>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مَثَلُ الْحَيَوٰةِ الدُّنْيَا كَمَآءٍ أَنزَلْنَٰهُ مِنَ السَّمَآءِ فَاخْتَلَطَ بِهِ نَبَاتُ الْأَرْضِ مِمَّا يَأْكُلُ النَّاسُ وَالْأَنْعَٰمُ حَتَّىٰ إِذَآ أَخَذَتِ الْأَرْضُ زُخْرُفَهَا وَازَّيَّنَتْ وَظَنَّ أَهْلُهَآ أَنَّهُمْ قَٰدِرُونَ عَلَيْهَآ أَتَىٰهَآ أَمْرُنَا لَيْلًا أَوْ نَهَارًا فَجَعَلْنَٰهَا حَصِيدًا كَأَن لَّمْ تَغْنَ بِالْأَمْسِ كَذَٰلِكَ نُفَصِّلُ الْأيَٰتِ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life of this world is like rain We send down from the sky, which mixes with the plants of the earth that people and animals eat. When the earth is adorned with its plants and its people think they have full control over it, Our command comes to it by night or by day, and We make it a harvested field as if it had not flourished the day before. That is how We explain the signs for people who think.</a:t>
            </a:r>
            <a:endParaRPr lang="en-US" sz="3000" dirty="0"/>
          </a:p>
        </p:txBody>
      </p:sp>
      <p:sp>
        <p:nvSpPr>
          <p:cNvPr id="9" name="Shape 7"/>
          <p:cNvSpPr/>
          <p:nvPr/>
        </p:nvSpPr>
        <p:spPr>
          <a:xfrm>
            <a:off x="1444752" y="4908042"/>
            <a:ext cx="8641080" cy="0"/>
          </a:xfrm>
          <a:prstGeom prst="line">
            <a:avLst/>
          </a:prstGeom>
          <a:noFill/>
          <a:ln w="9525">
            <a:solidFill>
              <a:schemeClr val="accent2"/>
            </a:solidFill>
            <a:prstDash val="dash"/>
          </a:ln>
        </p:spPr>
      </p:sp>
      <p:sp>
        <p:nvSpPr>
          <p:cNvPr id="10" name="Shape 8"/>
          <p:cNvSpPr/>
          <p:nvPr/>
        </p:nvSpPr>
        <p:spPr>
          <a:xfrm>
            <a:off x="713232" y="5071491"/>
            <a:ext cx="548640" cy="548640"/>
          </a:xfrm>
          <a:prstGeom prst="star8">
            <a:avLst/>
          </a:prstGeom>
          <a:solidFill>
            <a:schemeClr val="accent2"/>
          </a:solidFill>
          <a:ln/>
        </p:spPr>
      </p:sp>
      <p:sp>
        <p:nvSpPr>
          <p:cNvPr id="11" name="Shape 9"/>
          <p:cNvSpPr/>
          <p:nvPr/>
        </p:nvSpPr>
        <p:spPr>
          <a:xfrm>
            <a:off x="822960" y="5181219"/>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5071491"/>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5053203"/>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يَدْعُواْ إِلَىٰ دَارِ السَّلَٰمِ وَيَهْدِي مَن يَشَآءُ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invites to the Home of Peace, Paradise, and guides whom He wills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لِّلَّذِينَ أَحْسَنُواْ الْحُسْنَىٰ وَزِيَادَةٌ وَلَا يَرْهَقُ وُجُوهَهُمْ قَتَرٌ وَلَا ذِلَّةٌ أُوْلَـٰئِكَ أَصْحَٰبُ الْجَنَّةِ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those who do good is Paradise and more: seeing the Noble Face of Allah, as the Prophet (peace be upon him) explained (Muslim). No dust or humiliation will cover their faces. They are the people of Paradise, staying there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كَسَبُواْ السَّيِّـَٔاتِ جَزَآءُ سَيِّئَةٍ بِمِثْلِهَا وَتَرْهَقُهُمْ ذِلَّةٌ مَّا لَهُم مِّنَ اللَّهِ مِنْ عَاصِمٍ كَأَنَّمَآ أُغْشِيَتْ وُجُوهُهُمْ قِطَعًا مِّنَ الَّيْلِ مُظْلِمًا 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earned bad deeds, the repayment of a bad deed is its like, and humiliation will cover them. They will have no one to protect them from Allah. It is as if their faces were covered with pieces of the dark night. They are the people of the Fire, staying there forever.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نَحْشُرُهُمْ جَمِيعًا ثُمَّ نَقُولُ لِلَّذِينَ أَشْرَكُواْ مَكَانَكُمْ أَنتُمْ وَشُرَكَآؤُكُمْ فَزَيَّلْنَا بَيْنَهُمْ وَقَالَ شُرَكَآؤُهُم مَّا كُنتُمْ إِيَّانَا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gather them all, then say to the idol-worshippers: Stay where you are, you and your gods. Then We will separate them, and their gods will say: It was not us you worshipped.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فَكَفَىٰ بِاللَّهِ شَهِيدًا بَيْنَنَا وَبَيْنَكُمْ إِن كُنَّا عَنْ عِبَادَتِكُمْ لَغَٰفِلِينَ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enough as a Witness between us and you; we were unaware of your worship.</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هُنَالِكَ تَبْلُواْ كُلُّ نَفْسٍ مَّآ أَسْلَفَتْ وَرُدُّواْ إِلَى اللَّهِ مَوْلَىٰهُمُ الْحَقِّ وَضَلَّ عَنْهُم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every soul will be tested by what it sent ahead, and they will be returned to Allah, their true Master, and what they used to make up will abandon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يَرْزُقُكُم مِّنَ السَّمَآءِ وَالْأَرْضِ أَمَّن يَمْلِكُ السَّمْعَ وَالْأَبْصَٰرَ وَمَن يُخْرِجُ الْحَيَّ مِنَ الْمَيِّتِ وَيُخْرِجُ الْمَيِّتَ مِنَ الْحَيِّ وَمَن يُدَبِّرُ الْأَمْرَ فَسَيَقُولُونَ اللَّهُ فَقُلْ أَفَلَا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provides for you from the sky and the earth? Who controls hearing and sight? Who brings the living out of the dead and the dead out of the living? Who manages every affair? They will say: Allah. So say: Will you not have taqwa?</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فَذَٰلِكُمُ اللَّهُ رَبُّكُمُ الْحَقُّ فَمَاذَا بَعْدَ الْحَقِّ إِلَّا الضَّلَٰلُ فَأَنَّىٰ تُصْرَفُونَ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 your true Lord. What is there after the truth except misguidance? So how are you turned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حَقَّتْ كَلِمَتُ رَبِّكَ عَلَى الَّذِينَ فَسَقُواْ أَنَّهُمْ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your Lord's word has come true about those who disobey: they will not believe.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هَلْ مِن شُرَكَآئِكُم مَّن يَبْدَؤُاْ الْخَلْقَ ثُمَّ يُعِيدُهُ قُلِ اللَّهُ يَبْدَؤُاْ الْخَلْقَ ثُمَّ يُعِيدُهُ فَأَنَّىٰ تُؤْفَكُونَ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Can any of your gods begin creation and then bring it back? Say: Allah begins creation and then brings it back, so how are you turned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هَلْ مِن شُرَكَآئِكُم مَّن يَهْدِي إِلَى الْحَقِّ قُلِ اللَّهُ يَهْدِي لِلْحَقِّ أَفَمَن يَهْدِي إِلَى الْحَقِّ أَحَقُّ أَن يُتَّبَعَ أَمَّن لَّا يَهِدِّي إِلَّآ أَن يُهْدَىٰ فَمَا لَكُمْ كَيْفَ تَحْكُمُونَ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Can any of your gods guide to the truth? Say: Allah guides to the truth. Is the One who guides to the truth more worthy to be followed, or one who cannot find the way unless he is guided? What is wrong with you? How do you judge?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يَتَّبِعُ أَكْثَرُهُمْ إِلَّا ظَنًّا إِنَّ الظَّنَّ لَا يُغْنِي مِنَ الْحَقِّ شَيْـًٔا إِنَّ اللَّهَ عَلِيمٌ بِمَا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Most of them follow nothing but guesses, and guesses are of no use against the truth. Allah knows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هَٰذَا الْقُرْءَانُ أَن يُفْتَرَىٰ مِن دُونِ اللَّهِ وَلَٰكِن تَصْدِيقَ الَّذِي بَيْنَ يَدَيْهِ وَتَفْصِيلَ الْكِتَٰبِ لَا رَيْبَ فِيهِ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could not have been made up by anyone other than Allah. Rather, it confirms the Books before it and explains the rulings in detail. There is no doubt in it; it is from the Lord of the worlds.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افْتَرَىٰهُ قُلْ فَأْتُواْ بِسُورَةٍ مِّثْلِهِ وَادْعُواْ مَنِ اسْتَطَعْتُم مِّن دُونِ اللَّهِ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Muhammad made it up? Say: Then bring a surah like it, and call whoever you can besides Allah to help you,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كَذَّبُواْ بِمَا لَمْ يُحِيطُواْ بِعِلْمِهِ وَلَمَّا يَأْتِهِمْ تَأْوِيلُهُ كَذَٰلِكَ كَذَّبَ الَّذِينَ مِن قَبْلِهِمْ فَانظُرْ كَيْفَ كَانَ عَٰقِبَةُ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they denied the Qur'an before they understood it, and before what it promised has come to them. Those before them denied in the same way, so see what happened to the wrongdoers.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يُؤْمِنُ بِهِ وَمِنْهُم مَّن لَّا يُؤْمِنُ بِهِ وَرَبُّكَ أَعْلَمُ بِالْمُفْسِدِينَ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them believe in it and some do not, and your Lord knows the corrupters best.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كَذَّبُوكَ فَقُل لِّي عَمَلِي وَلَكُمْ عَمَلُكُمْ أَنتُم بَرِيـُٔونَ مِمَّآ أَعْمَلُ وَأَنَا بَرِيءٌ مِّمَّا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deny you, say: I have my deeds and you have yours. You are free of what I do and I am free of what you do.</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يَسْتَمِعُونَ إِلَيْكَ أَفَأَنتَ تُسْمِعُ الصُّمَّ وَلَوْ كَانُواْ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them listen to you without benefit. Can you make the deaf hear, even if they do not understand?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يَنظُرُ إِلَيْكَ أَفَأَنتَ تَهْدِي الْعُمْيَ وَلَوْ كَانُواْ لَا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them look at you but are not guided. Can you guide the blind, even if they do not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لَا يَظْلِمُ النَّاسَ شَيْـًٔا وَلَٰكِنَّ النَّاسَ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wrong people at all, but people wrong themselves.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يَحْشُرُهُمْ كَأَن لَّمْ يَلْبَثُواْ إِلَّا سَاعَةً مِّنَ النَّهَارِ يَتَعَارَفُونَ بَيْنَهُمْ قَدْ خَسِرَ الَّذِينَ كَذَّبُواْ بِلِقَآءِ اللَّهِ وَمَا كَانُواْ 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gathers them, it will be as if they had stayed in the world only an hour of a day, recognising one another. Those who denied meeting Allah have lost, and they were not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وَإِمَّا نُرِيَنَّكَ بَعْضَ الَّذِي نَعِدُهُمْ أَوْ نَتَوَفَّيَنَّكَ فَإِلَيْنَا مَرْجِعُهُمْ ثُمَّ اللَّهُ شَهِيدٌ عَلَىٰ مَا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We show you some of the punishment We promise them in your lifetime, or take you before that, to Us is their return, and Allah is Witness over what they do.</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أُمَّةٍ رَّسُولٌ فَإِذَا جَآءَ رَسُولُهُمْ قُضِيَ بَيْنَهُم بِالْقِسْطِ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nation has a messenger. When their messenger comes on the Day of Resurrection, they will be judged with justice, and they will not be wronged.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When will this promise of punishment come,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أَمْلِكُ لِنَفْسِي ضَرًّا وَلَا نَفْعًا إِلَّا مَا شَآءَ اللَّهُ لِكُلِّ أُمَّةٍ أَجَلٌ إِذَا جَآءَ أَجَلُهُمْ فَلَا يَسْتَـْٔخِرُونَ سَاعَةً وَلَا يَسْتَقْدِمُونَ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no power to harm or benefit myself except as Allah wills. Every nation has a term; when their term comes, they cannot delay it by an hour or bring it forward.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أَتَىٰكُمْ عَذَابُهُ بَيَٰتًا أَوْ نَهَارًا مَّاذَا يَسْتَعْجِلُ مِنْهُ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Allah's punishment came to you by night or by day, what part of it would the criminals hurry for?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أَثُمَّ إِذَا مَا وَقَعَ ءَامَنتُم بِهِ ءَآلْـَٰٔنَ وَقَدْ كُنتُم بِهِ تَسْتَعْجِلُونَ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you believe in it only when it has happened? Now you believe, when you used to hurry for it mockingly?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قِيلَ لِلَّذِينَ ظَلَمُواْ ذُوقُواْ عَذَابَ الْخُلْدِ هَلْ تُجْزَوْنَ إِلَّا بِمَا كُنتُمْ تَكْسِبُونَ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it will be said to the wrongdoers: Taste the everlasting punishment. Are you repaid for anything but what you used to earn?</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وَيَسْتَنبِـُٔونَكَ أَحَقٌّ هُوَ قُلْ إِي وَرَبِّي إِنَّهُ لَحَقٌّ وَمَآ أَنتُم بِمُعْجِزِينَ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Is the Resurrection and the punishment true? Say: Yes, by my Lord, it is true, and you cannot escape it.</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 لِكُلِّ نَفْسٍ ظَلَمَتْ مَا فِي الْأَرْضِ لَافْتَدَتْ بِهِ وَأَسَرُّواْ النَّدَامَةَ لَمَّا رَأَوُاْ الْعَذَابَ وَقُضِيَ بَيْنَهُم بِالْقِسْطِ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every wrongdoing soul owned everything on earth, it would offer it as ransom. They will hide their regret when they see the punishment, and they will be judged with justice and not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 لِلَّهِ مَا فِي السَّمَٰوَٰتِ وَالْأَرْضِ أَلَآ إِنَّ وَعْدَ اللَّهِ حَقٌّ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to Allah belongs whatever is in the heavens and the earth. Surely, Allah's promise is true, but most of them do not know.</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يُحْيِ وَيُمِيتُ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gives life and causes death, and to Him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The Friends of Allah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57 – 70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Yunus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Qur'an is advice, healing and mercy; rejoicing in Allah's favour; Allah's all-encompassing knowledge; and the description of the friends of Allah who have no fear and do not grieve.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قَدْ جَآءَتْكُم مَّوْعِظَةٌ مِّن رَّبِّكُمْ وَشِفَآءٌ لِّمَا فِي الصُّدُورِ وَهُدًى وَرَحْمَةٌ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the Qur'an has come to you: advice from your Lord, healing for the doubts in your chests, and guidance and mercy for the 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بِفَضْلِ اللَّهِ وَبِرَحْمَتِهِ فَبِذَٰلِكَ فَلْيَفْرَحُواْ هُوَ خَيْرٌ مِّمَّا يَجْمَعُونَ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In Allah's favour and His mercy, Islam and the Qur'an, let them rejoice; that is better than all the worldly things they gather.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مَّآ أَنزَلَ اللَّهُ لَكُم مِّن رِّزْقٍ فَجَعَلْتُم مِّنْهُ حَرَامًا وَحَلَٰلًا قُلْ ءَآللَّهُ أَذِنَ لَكُمْ أَمْ عَلَى اللَّهِ تَفْتَرُونَ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about the provision Allah sent down for you, part of which you made forbidden and part lawful. Say: Did Allah allow you that, or do you lie about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ظَنُّ الَّذِينَ يَفْتَرُونَ عَلَى اللَّهِ الْكَذِبَ يَوْمَ الْقِيَٰمَةِ إِنَّ اللَّهَ لَذُو فَضْلٍ عَلَى النَّاسِ وَلَٰكِنَّ أَكْثَرَهُمْ 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do those who lie about Allah think will happen to them on the Day of Resurrection? Allah is full of favour to people by delaying punishment, but most of them are not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تَكُونُ فِي شَأْنٍ وَمَا تَتْلُواْ مِنْهُ مِن قُرْءَانٍ وَلَا تَعْمَلُونَ مِنْ عَمَلٍ إِلَّا كُنَّا عَلَيْكُمْ شُهُودًا إِذْ تُفِيضُونَ فِيهِ وَمَا يَعْزُبُ عَن رَّبِّكَ مِن مِّثْقَالِ ذَرَّةٍ فِي الْأَرْضِ وَلَا فِي السَّمَآءِ وَلَآ أَصْغَرَ مِن ذَٰلِكَ وَلَآ أَكْبَرَ إِلَّا فِي كِتَٰبٍ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you are doing, O Muhammad, whatever you recite of the Qur'an, and whatever deed you people do, We are Witness over you when you are busy with it. Not even the weight of an atom on earth or in the sky is hidden from your Lord, nor anything smaller or bigger, but it is in a clear Record.</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 أَوْلِيَآءَ اللَّهِ 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the friends of Allah will have no fear, nor will they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وَكَانُواْ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and have taqwa of Allah.</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الْبُشْرَىٰ فِي الْحَيَوٰةِ الدُّنْيَا وَفِي الْأخِرَةِ لَا تَبْدِيلَ لِكَلِمَٰتِ اللَّهِ ذَٰلِكَ 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good news in this world, like good dreams and people's praise, and in the Hereafter, Paradise. Allah's promise never changes; that is the great success.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يَحْزُنكَ قَوْلُهُمْ إِنَّ الْعِزَّةَ لِلَّهِ جَمِيعًا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let the idol-worshippers' words sadden you. All honour belongs to Allah; He is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 لِلَّهِ مَن فِي السَّمَٰوَٰتِ وَمَن فِي الْأَرْضِ وَمَا يَتَّبِعُ الَّذِينَ يَدْعُونَ مِن دُونِ اللَّهِ شُرَكَآءَ إِن يَتَّبِعُونَ إِلَّا الظَّنَّ وَإِنْ هُمْ إِلَّا يَخْرُصُونَ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to Allah belongs whoever is in the heavens and whoever is on earth. Those who call on partners besides Allah are not following real partners; they follow nothing but guesses, and they only lie.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جَعَلَ لَكُمُ الَّيْلَ لِتَسْكُنُواْ فِيهِ وَالنَّهَارَ مُبْصِرًا إِنَّ فِي ذَٰلِكَ لَأيَٰتٍ لِّقَوْمٍ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night for you to rest in and the day bright. In that are signs for people who listen.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اتَّخَذَ اللَّهُ وَلَدًا سُبْحَٰنَهُ هُوَ الْغَنِيُّ لَهُ مَا فِي السَّمَٰوَٰتِ وَمَا فِي الْأَرْضِ إِنْ عِندَكُم مِّن سُلْطَٰنٍ بِهَٰذَآ أَتَقُولُونَ عَلَى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Allah has taken a son! Glory be to Him; He is Free of need. To Him belongs whatever is in the heavens and on earth. You have no proof for this. Do you say about Allah what you do not know?</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الَّذِينَ يَفْتَرُونَ عَلَى اللَّهِ الْكَذِبَ لَا يُفْلِحُونَ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Those who lie about Allah will never succeed.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مَتَٰعٌ فِي الدُّنْيَا ثُمَّ إِلَيْنَا مَرْجِعُهُمْ ثُمَّ نُذِيقُهُمُ الْعَذَابَ الشَّدِيدَ بِمَا كَانُواْ يَكْفُرُونَ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little enjoyment in this world, then to Us is their return, then We will make them taste the severe punishment for their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Nuh, Musa, Yunus's People</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71 – 109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Yunus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story of Nuh and his people, Musa and Harun with Pharaoh, his drowning and his too-late faith, the people of Yunus whose faith benefited them, and that faith cannot be forced.</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وَاتْلُ عَلَيْهِمْ نَبَأَ نُوحٍ إِذْ قَالَ لِقَوْمِهِ يَٰقَوْمِ إِن كَانَ كَبُرَ عَلَيْكُم مَّقَامِي وَتَذْكِيرِي بِـَٔايَٰتِ اللَّهِ فَعَلَى اللَّهِ تَوَكَّلْتُ فَأَجْمِعُواْ أَمْرَكُمْ وَشُرَكَآءَكُمْ ثُمَّ لَا يَكُنْ أَمْرُكُمْ عَلَيْكُمْ غُمَّةً ثُمَّ اقْضُواْ إِلَيَّ وَلَا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Recite to them the story of Nuh, when he said to his people: O my people, if my staying among you and reminding you of Allah's signs is hard on you, then in Allah I put my trust. So decide your plan, you and your gods, and do not keep it hidden, then carry it out against me and give me no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تَوَلَّيْتُمْ فَمَا سَأَلْتُكُم مِّنْ أَجْرٍ إِنْ أَجْرِيَ إِلَّا عَلَى اللَّهِ وَأُمِرْتُ أَنْ أَكُونَ مِنَ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turn away, I have not asked you for any payment; my reward is only with Allah, and I have been commanded to be one of the Muslims.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فَنَجَّيْنَٰهُ وَمَن مَّعَهُ فِي الْفُلْكِ وَجَعَلْنَٰهُمْ خَلَـٰئِفَ وَأَغْرَقْنَا الَّذِينَ كَذَّبُواْ بِـَٔايَٰتِنَا فَانظُرْ كَيْفَ كَانَ عَٰقِبَةُ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denied him, so We saved him and those with him in the ark, made them successors, and drowned those who denied Our signs. See what happened to those who were warned!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بَعَثْنَا مِن بَعْدِهِ رُسُلًا إِلَىٰ قَوْمِهِمْ فَجَآءُوهُم بِالْبَيِّنَٰتِ فَمَا كَانُواْ لِيُؤْمِنُواْ بِمَا كَذَّبُواْ بِهِ مِن قَبْلُ كَذَٰلِكَ نَطْبَعُ عَلَىٰ قُلُوبِ الْمُعْتَدِينَ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Nuh We sent messengers to their peoples, and they came with clear miracles, but they would not believe in what they had denied before. That is how We seal the hearts of the transgressors.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بَعَثْنَا مِن بَعْدِهِم مُّوسَىٰ وَهَٰرُونَ إِلَىٰ فِرْعَوْنَ وَمَلَإِيْهِ بِـَٔايَٰتِنَا فَاسْتَكْبَرُواْ وَكَانُواْ قَوْمًا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them We sent Musa and Harun to Pharaoh and his chiefs with Our signs, but they were arrogant and were a criminal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جَآءَهُمُ الْحَقُّ مِنْ عِندِنَا قَالُواْ إِنَّ هَٰذَا لَسِحْرٌ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truth came to them from Us, they said: This is clearly magic.</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مُوسَىٰ أَتَقُولُونَ لِلْحَقِّ لَمَّا جَآءَكُمْ أَسِحْرٌ هَٰذَا وَلَا يُفْلِحُ السَّـٰحِرُونَ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Do you say this about the truth when it has come to you? Is this magic? Magicians never succeed.</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أَجِئْتَنَا لِتَلْفِتَنَا عَمَّا وَجَدْنَا عَلَيْهِ ءَابَآءَنَا وَتَكُونَ لَكُمَا الْكِبْرِيَآءُ فِي الْأَرْضِ وَمَا نَحْنُ لَكُمَا بِمُؤْمِنِينَ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Have you come to turn us away from what we found our fathers doing, so that you two can have power in the land? We will not believe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فِرْعَوْنُ ائْتُونِي بِكُلِّ سَٰحِرٍ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Bring me every skilled magician.</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 السَّحَرَةُ قَالَ لَهُم مُّوسَىٰ أَلْقُواْ مَآ أَنتُم مُّلْقُونَ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magicians came, Musa said to them: Throw whatever you will throw.</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أَلْقَوْاْ قَالَ مُوسَىٰ مَا جِئْتُم بِهِ السِّحْرُ إِنَّ اللَّهَ سَيُبْطِلُهُ إِنَّ اللَّهَ لَا يُصْلِحُ عَمَلَ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threw, Musa said: What you have brought is magic; Allah will make it fail. Allah does not let the work of corrupters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وَيُحِقُّ اللَّهُ الْحَقَّ بِكَلِمَٰتِهِ وَلَوْ كَرِهَ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establishes the truth by His words, even though the criminals hate it.</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ءَامَنَ لِمُوسَىٰ إِلَّا ذُرِّيَّةٌ مِّن قَوْمِهِ عَلَىٰ خَوْفٍ مِّن فِرْعَوْنَ وَمَلَإِيْهِمْ أَن يَفْتِنَهُمْ وَإِنَّ فِرْعَوْنَ لَعَالٍ فِي الْأَرْضِ وَإِنَّهُ لَمِنَ الْمُسْرِفِينَ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believed in Musa except some youths of his people, fearing that Pharaoh and his chiefs would torture them. Pharaoh was arrogant in the land and one of those who go too far.</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مُوسَىٰ يَٰقَوْمِ إِن كُنتُمْ ءَامَنتُم بِاللَّهِ فَعَلَيْهِ تَوَكَّلُواْ إِن كُنتُم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O my people, if you believe in Allah, then put your trust in Him, if you are Muslims.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فَقَالُواْ عَلَى اللَّهِ تَوَكَّلْنَا رَبَّنَا لَا تَجْعَلْنَا فِتْنَةً لِّلْقَوْمِ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In Allah we put our trust. Our Lord, do not let the wrongdoing people overpower us and turn us from our religion,</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وَنَجِّنَا بِرَحْمَتِكَ مِنَ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save us by Your mercy from the disbelieving people.</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وَأَوْحَيْنَآ إِلَىٰ مُوسَىٰ وَأَخِيهِ أَن تَبَوَّءَا لِقَوْمِكُمَا بِمِصْرَ بُيُوتًا وَاجْعَلُواْ بُيُوتَكُمْ قِبْلَةً وَأَقِيمُواْ الصَّلَوٰةَ وَبَشِّرِ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revealed to Musa and his brother: Make homes for your people in Egypt, make your homes places of prayer, perform the prayer, and give good news to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مُوسَىٰ رَبَّنَآ إِنَّكَ ءَاتَيْتَ فِرْعَوْنَ وَمَلَأَهُ زِينَةً وَأَمْوَٰلًا فِي الْحَيَوٰةِ الدُّنْيَا رَبَّنَا لِيُضِلُّواْ عَن سَبِيلِكَ رَبَّنَا اطْمِسْ عَلَىٰ أَمْوَٰلِهِمْ وَاشْدُدْ عَلَىٰ قُلُوبِهِمْ فَلَا يُؤْمِنُواْ حَتَّىٰ يَرَوُاْ الْعَذَابَ الْأَلِيمَ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Our Lord, You have given Pharaoh and his chiefs splendour and wealth in the life of this world, and they used it to lead people away from Your path. Our Lord, destroy their wealth and harden their hearts so they do not believe until they see the painful punishment.</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قَدْ أُجِيبَت دَّعْوَتُكُمَا فَاسْتَقِيمَا وَلَا تَتَّبِعَآنِّ سَبِيلَ الَّذِينَ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Your prayer has been answered, so stay firm on the truth and do not follow the way of those who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وَجَٰوَزْنَا بِبَنِي إِسْرَـٰءِيلَ الْبَحْرَ فَأَتْبَعَهُمْ فِرْعَوْنُ وَجُنُودُهُ بَغْيًا وَعَدْوًا حَتَّىٰ إِذَآ أَدْرَكَهُ الْغَرَقُ قَالَ ءَامَنتُ أَنَّهُ لَآ إِلَٰهَ إِلَّا الَّذِي ءَامَنَتْ بِهِ بَنُواْ إِسْرَـٰءِيلَ وَأَنَا مِنَ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took the Children of Israel across the sea, and Pharaoh and his soldiers chased them in wrongdoing and aggression, until when drowning overtook him, he said: I believe that there is no god but the One the Children of Israel believe in, and I am one of the Muslims.</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ءَآلْـَٰٔنَ وَقَدْ عَصَيْتَ قَبْلُ وَكُنتَ مِنَ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was said to him: Now? When you disobeyed before and were one of the corrupters?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فَالْيَوْمَ نُنَجِّيكَ بِبَدَنِكَ لِتَكُونَ لِمَنْ خَلْفَكَ ءَايَةً وَإِنَّ كَثِيرًا مِّنَ النَّاسِ عَنْ ءَايَٰتِنَا لَغَٰفِلُونَ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today We will bring your body out of the sea without its soul, so that you will be a sign for those after you. Many people are heedless of Our signs.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بَوَّأْنَا بَنِي إِسْرَـٰءِيلَ مُبَوَّأَ صِدْقٍ وَرَزَقْنَٰهُم مِّنَ الطَّيِّبَٰتِ فَمَا اخْتَلَفُواْ حَتَّىٰ جَآءَهُمُ الْعِلْمُ إِنَّ رَبَّكَ يَقْضِي بَيْنَهُمْ يَوْمَ الْقِيَٰمَةِ فِيمَا كَانُواْ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settled the Children of Israel in a good place in Sham and Egypt and provided them with good things. They did not differ until knowledge came to them. Your Lord will judge between them on the Day of Resurrection about what they differed 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كُنتَ فِي شَكٍّ مِّمَّآ أَنزَلْنَآ إِلَيْكَ فَسْـَٔلِ الَّذِينَ يَقْرَءُونَ الْكِتَٰبَ مِن قَبْلِكَ لَقَدْ جَآءَكَ الْحَقُّ مِن رَّبِّكَ فَلَا تَكُونَنَّ مِنَ الْمُمْتَرِينَ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were in doubt about what We have sent down to you (supposing that), ask those who read the Book before you. The truth has come to you from your Lord, so do not be among those who doubt. The Prophet (peace be upon him) said: "I do not doubt, and I do not ask."</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تَكُونَنَّ مِنَ الَّذِينَ كَذَّبُواْ بِـَٔايَٰتِ اللَّهِ فَتَكُونَ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be among those who deny Allah's verses, or you would be among the losers.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حَقَّتْ عَلَيْهِمْ كَلِمَتُ رَبِّكَ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on whom your Lord's word of punishment has come true will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جَآءَتْهُمْ كُلُّ ءَايَةٍ حَتَّىٰ يَرَوُاْ الْعَذَابَ الْأَلِيمَ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every sign came to them, until they see the painful punishment.</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كَانَتْ قَرْيَةٌ ءَامَنَتْ فَنَفَعَهَآ إِيمَٰنُهَآ إِلَّا قَوْمَ يُونُسَ لَمَّآ ءَامَنُواْ كَشَفْنَا عَنْهُمْ عَذَابَ الْخِزْيِ فِي الْحَيَوٰةِ الدُّنْيَا وَمَتَّعْنَٰهُمْ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there had been a town that believed before the punishment came, and its faith benefited it! Except the people of Yunus: when they believed, We removed from them the humiliating punishment in the life of this world and let them enjoy life until their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99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شَآءَ رَبُّكَ لَأمَنَ مَن فِي الْأَرْضِ كُلُّهُمْ جَمِيعًا أَفَأَنتَ تُكْرِهُ النَّاسَ حَتَّىٰ يَكُونُواْ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your Lord had willed, everyone on earth would have believed. Will you then force people to become 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لِنَفْسٍ أَن تُؤْمِنَ إِلَّا بِإِذْنِ اللَّهِ وَيَجْعَلُ الرِّجْسَ عَلَى الَّذِينَ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soul can believe except by Allah's permission and help, and He puts punishment and misguidance on those who do not use their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انظُرُواْ مَاذَا فِي السَّمَٰوَٰتِ وَالْأَرْضِ وَمَا تُغْنِي الْأيَٰتُ وَالنُّذُرُ عَن قَوْمٍ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Look at the signs in the heavens and the earth. But signs and warners are of no use to people who will not believe.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فَهَلْ يَنتَظِرُونَ إِلَّا مِثْلَ أَيَّامِ الَّذِينَ خَلَوْاْ مِن قَبْلِهِمْ قُلْ فَانتَظِرُواْ إِنِّي مَعَكُم مِّنَ الْمُنتَظِرِينَ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they waiting for anything but days of punishment like those that came to the nations before them? Say: Then wait; I am waiting with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نُنَجِّي رُسُلَنَا وَالَّذِينَ ءَامَنُواْ كَذَٰلِكَ حَقًّا عَلَيْنَا نُنجِ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save Our messengers and the believers. It is Our duty to save the believers.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يَـٰأَيُّهَا النَّاسُ إِن كُنتُمْ فِي شَكٍّ مِّن دِينِي فَلَآ أَعْبُدُ الَّذِينَ تَعْبُدُونَ مِن دُونِ اللَّهِ وَلَٰكِنْ أَعْبُدُ اللَّهَ الَّذِي يَتَوَفَّىٰكُمْ وَأُمِرْتُ أَنْ أَكُونَ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if you are in doubt about my religion, I do not worship those you worship besides Allah. I worship Allah, who takes your souls, and I have been commanded to be one of the believers,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أَقِمْ وَجْهَكَ لِلدِّينِ حَنِيفًا وَلَا تَكُونَنَّ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Turn your face to the religion, turning away from shirk to tawhid, and do not be one of the idol-worshippers.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تَدْعُ مِن دُونِ اللَّهِ مَا لَا يَنفَعُكَ وَلَا يَضُرُّكَ فَإِن فَعَلْتَ فَإِنَّكَ إِذًا 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call on anything besides Allah that can neither benefit nor harm you; if you did, you would be one of the wrongdoers.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يَمْسَسْكَ اللَّهُ بِضُرٍّ فَلَا كَاشِفَ لَهُ إِلَّا هُوَ وَإِن يُرِدْكَ بِخَيْرٍ فَلَا رَآدَّ لِفَضْلِهِ يُصِيبُ بِهِ مَن يَشَآءُ مِنْ عِبَادِهِ وَهُوَ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touches you with harm, no one can remove it but Him, and if He wants good for you, no one can hold back His favour. He gives it to whom He wills of His servants, and He is the Forgiving,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Yunus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يَـٰأَيُّهَا النَّاسُ قَدْ جَآءَكُمُ الْحَقُّ مِن رَّبِّكُمْ فَمَنِ اهْتَدَىٰ فَإِنَّمَا يَهْتَدِي لِنَفْسِهِ وَمَن ضَلَّ فَإِنَّمَا يَضِلُّ عَلَيْهَا وَمَآ أَنَا عَلَيْكُم بِوَكِيلٍ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the truth has come to you from your Lord. Whoever is guided is guided for his own good, and whoever goes astray only harms himself. I am not your guardian.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وَاتَّبِعْ مَا يُوحَىٰ إِلَيْكَ وَاصْبِرْ حَتَّىٰ يَحْكُمَ اللَّهُ وَهُوَ خَيْرُ الْحَٰكِمِينَ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 what is revealed to you and be patient until Allah judges; He is the best of judges.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Provision for All</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24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Hud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'Abbas (may Allah be pleased with them) said about “Surely, they fold up their chests”: Some people were too shy to be uncovered under the open sky, even in private moments, and this was revealed about them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perfection of the Qur'an, the call to tawhid and seeking forgiveness, that Allah provides for every creature, human nature between despair and boasting, and the challenge to bring ten surahs.</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 كِتَٰبٌ أُحْكِمَتْ ءَايَٰتُهُ ثُمَّ فُصِّلَتْ مِن لَّدُنْ حَكِيمٍ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This is a Book whose verses are made perfect with no flaw, then explained in detail with rulings and stories, from One who is All-Wise, All-Aware,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تَعْبُدُواْ إِلَّا اللَّهَ إِنَّنِي لَكُم مِّنْهُ نَذِيرٌ وَبَشِيرٌ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sent down so that you worship Allah alone. I am to you from Him a warner of His punishment and a bringer of good news of His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اسْتَغْفِرُواْ رَبَّكُمْ ثُمَّ تُوبُواْ إِلَيْهِ يُمَتِّعْكُم مَّتَٰعًا حَسَنًا إِلَىٰ أَجَلٍ مُّسَمًّى وَيُؤْتِ كُلَّ ذِي فَضْلٍ فَضْلَهُ وَإِن تَوَلَّوْاْ فَإِنِّي أَخَافُ عَلَيْكُمْ عَذَابَ يَوْمٍ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ask forgiveness from your Lord, then turn to Him in repentance; He will let you enjoy a good life until your time ends and give every doer of good his reward. But if you turn away, I fear for you the punishment of a great Day.</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اللَّهِ مَرْجِعُكُمْ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is your return, and He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إِنَّهُمْ يَثْنُونَ صُدُورَهُمْ لِيَسْتَخْفُواْ مِنْهُ أَلَا حِينَ يَسْتَغْشُونَ ثِيَابَهُمْ يَعْلَمُ مَا يُسِرُّونَ وَمَا يُعْلِنُونَ إِنَّهُ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the idol-worshippers fold up their chests over disbelief, trying to hide from Allah. Surely, even when they cover themselves with their clothes, He knows what they hide and what they show. He knows what is in the chests.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 دَآبَّةٍ فِي الْأَرْضِ إِلَّا عَلَى اللَّهِ رِزْقُهَا وَيَعْلَمُ مُسْتَقَرَّهَا وَمُسْتَوْدَعَهَا كُلٌّ فِي كِتَٰبٍ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creature moving on earth but its provision is upon Allah. He knows where it lives and where it will rest after death. All of it is in a clear Record.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خَلَقَ السَّمَٰوَٰتِ وَالْأَرْضَ فِي سِتَّةِ أَيَّامٍ وَكَانَ عَرْشُهُ عَلَى الْمَآءِ لِيَبْلُوَكُمْ أَيُّكُمْ أَحْسَنُ عَمَلًا وَلَئِن قُلْتَ إِنَّكُم مَّبْعُوثُونَ مِن بَعْدِ الْمَوْتِ لَيَقُولَنَّ الَّذِينَ كَفَرُواْ إِنْ هَٰذَآ إِلَّا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the heavens and the earth in six days, and His Throne was over the water before that, to test which of you is best in deeds. If you tell them: You will be raised after death, the disbelievers will say: This is nothing but clear magic.</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أَخَّرْنَا عَنْهُمُ الْعَذَابَ إِلَىٰ أُمَّةٍ مَّعْدُودَةٍ لَّيَقُولُنَّ مَا يَحْبِسُهُ أَلَا يَوْمَ يَأْتِيهِمْ لَيْسَ مَصْرُوفًا عَنْهُمْ وَحَاقَ بِهِم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delay the punishment for them until a set time, they will say mockingly: What is holding it back? Surely, on the Day it comes to them, it will not be turned away from them, and what they used to mock will surround them.</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أَذَقْنَا الْإِنسَٰنَ مِنَّا رَحْمَةً ثُمَّ نَزَعْنَٰهَا مِنْهُ إِنَّهُ لَيَـُٔوسٌ 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give man a blessing and then take it away from him, he becomes completely hopeless and ungrateful.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أَذَقْنَٰهُ نَعْمَآءَ بَعْدَ ضَرَّآءَ مَسَّتْهُ لَيَقُولَنَّ ذَهَبَ السَّيِّـَٔاتُ عَنِّي إِنَّهُ لَفَرِحٌ فَخُورٌ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give him a blessing after hardship has touched him, he says: The bad times have gone from me. He becomes proud and boastful towards people,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صَبَرُواْ وَعَمِلُواْ الصَّـٰلِحَٰتِ أُوْلَـٰئِكَ لَهُم مَّغْفِرَةٌ وَأَجْرٌ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are patient in hardship and do good deeds in times of blessing; they will have forgiveness and a great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فَلَعَلَّكَ تَارِكٌ بَعْضَ مَا يُوحَىٰ إِلَيْكَ وَضَآئِقٌ بِهِ صَدْرُكَ أَن يَقُولُواْ لَوْلَآ أُنزِلَ عَلَيْهِ كَنزٌ أَوْ جَآءَ مَعَهُ مَلَكٌ إِنَّمَآ أَنتَ نَذِيرٌ وَاللَّهُ عَلَىٰ كُلِّ شَيْءٍ 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O Muhammad, you might leave out some of what is revealed to you, and your chest feels tight because they say: Why has no treasure been sent down to him, or an angel come with him? You are only a warner, and Allah is Guardian over everything.</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افْتَرَىٰهُ قُلْ فَأْتُواْ بِعَشْرِ سُوَرٍ مِّثْلِهِ مُفْتَرَيَٰتٍ وَادْعُواْ مَنِ اسْتَطَعْتُم مِّن دُونِ اللَّهِ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Muhammad made up the Qur'an? Say: Then bring ten made-up surahs like it, and call whoever you can besides Allah,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فَإِلَّمْ يَسْتَجِيبُواْ لَكُمْ فَاعْلَمُواْ أَنَّمَآ أُنزِلَ بِعِلْمِ اللَّهِ وَأَن لَّآ إِلَٰهَ إِلَّا هُوَ فَهَلْ أَنتُم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do not answer you, know that the Qur'an has been sent down with Allah's knowledge, and that there is no god but Him. So will you submit?</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يُرِيدُ الْحَيَوٰةَ الدُّنْيَا وَزِينَتَهَا نُوَفِّ إِلَيْهِمْ أَعْمَٰلَهُمْ فِيهَا وَهُمْ فِيهَا لَا يُبْخَسُونَ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wants only the life of this world and its decoration by his deeds, We give them the full reward of their deeds in it, and they are not cheated in it.</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لَيْسَ لَهُمْ فِي الْأخِرَةِ إِلَّا النَّارُ وَحَبِطَ مَا صَنَعُواْ فِيهَا وَبَٰطِلٌ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nothing in the Hereafter but the Fire, and what they did in the world is lost, because it was not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60270"/>
            <a:ext cx="548640" cy="548640"/>
          </a:xfrm>
          <a:prstGeom prst="star8">
            <a:avLst/>
          </a:prstGeom>
          <a:solidFill>
            <a:schemeClr val="accent2"/>
          </a:solidFill>
          <a:ln/>
        </p:spPr>
      </p:sp>
      <p:sp>
        <p:nvSpPr>
          <p:cNvPr id="6" name="Shape 4"/>
          <p:cNvSpPr/>
          <p:nvPr/>
        </p:nvSpPr>
        <p:spPr>
          <a:xfrm>
            <a:off x="822960" y="226999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602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2141982"/>
            <a:ext cx="10012680" cy="313182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كَانَ عَلَىٰ بَيِّنَةٍ مِّن رَّبِّهِ وَيَتْلُوهُ شَاهِدٌ مِّنْهُ وَمِن قَبْلِهِ كِتَٰبُ مُوسَىٰ إِمَامًا وَرَحْمَةً أُوْلَـٰئِكَ يُؤْمِنُونَ بِهِ وَمَن يَكْفُرْ بِهِ مِنَ الْأَحْزَابِ فَالنَّارُ مَوْعِدُهُ فَلَا تَكُ فِي مِرْيَةٍ مِّنْهُ إِنَّهُ الْحَقُّ مِن رَّبِّكَ وَلَٰكِنَّ أَكْثَرَ النَّاسِ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one who stands on clear proof from his Lord, the Prophet (peace be upon him) and the believers, followed by a witness from Allah, Jibril or the Qur'an, and before it the Torah as a guide and mercy, like one who wants only this world? They believe in the Qur'an, and whoever of the groups disbelieves in it, the Fire is his promised place. So do not be in doubt about it; it is the truth from your Lord, but most people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أُوْلَـٰئِكَ يُعْرَضُونَ عَلَىٰ رَبِّهِمْ وَيَقُولُ الْأَشْهَٰدُ هَـٰؤُلَآءِ الَّذِينَ كَذَبُواْ عَلَىٰ رَبِّهِمْ أَلَا لَعْنَةُ اللَّهِ عَلَى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more unjust than one who lies about Allah? They will be brought before their Lord, and the witnesses from the angels and prophets will say: These are the ones who lied about their Lord. Surely, the curse of Allah is on the wrongdoers,</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يَصُدُّونَ عَن سَبِيلِ اللَّهِ وَيَبْغُونَهَا عِوَجًا وَهُم بِالْأخِرَةِ 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block people from Allah's religion, want it crooked, and disbelieve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لَمْ يَكُونُواْ مُعْجِزِينَ فِي الْأَرْضِ وَمَا كَانَ لَهُم مِّن دُونِ اللَّهِ مِنْ أَوْلِيَآءَ يُضَٰعَفُ لَهُمُ الْعَذَابُ مَا كَانُواْ يَسْتَطِيعُونَ السَّمْعَ وَمَا كَانُواْ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could not escape Allah on earth, and they had no protectors besides Allah. Their punishment will be doubled. They could not bear to hear the truth or see it because they turned away so much.</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خَسِرُواْ أَنفُسَهُمْ وَضَلَّ عَنْهُم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have lost themselves, and what they used to make up has abandoned them.</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جَرَمَ أَنَّهُمْ فِي الْأخِرَةِ هُمُ الْأَخْسَرُونَ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in the Hereafter they will be the greatest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وَأَخْبَتُواْ إِلَىٰ رَبِّهِمْ أُوْلَـٰئِكَ أَصْحَٰبُ الْجَنَّةِ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who humble themselves before their Lord are the people of Paradise, staying there forever.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الْفَرِيقَيْنِ كَالْأَعْمَىٰ وَالْأَصَمِّ وَالْبَصِيرِ وَالسَّمِيعِ هَلْ يَسْتَوِيَانِ مَثَلًا 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example of the disbelievers and the believers is like one blind and deaf, and one who sees and hears. Are they equal? Will you not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Nuh and the Flood</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25 – 49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Hud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Nuh's call to his people and their arguing, building the ark while they mocked him, the flood and Nuh calling to his son, and the ark coming to rest on Mount Judi.</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نُوحًا إِلَىٰ قَوْمِهِ إِنِّي لَكُمْ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Nuh to his people: I am a clear warner to you,</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لَّا تَعْبُدُواْ إِلَّا اللَّهَ إِنِّي أَخَافُ عَلَيْكُمْ عَذَابَ يَوْمٍ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you worship none but Allah. I fear for you the punishment of a painful Day.</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الْمَلَأُ الَّذِينَ كَفَرُواْ مِن قَوْمِهِ مَا نَرَىٰكَ إِلَّا بَشَرًا مِّثْلَنَا وَمَا نَرَىٰكَ اتَّبَعَكَ إِلَّا الَّذِينَ هُمْ أَرَاذِلُنَا بَادِيَ الرَّأْيِ وَمَا نَرَىٰ لَكُمْ عَلَيْنَا مِن فَضْلٍ بَلْ نَظُنُّكُمْ 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disbelieving chiefs of his people said: We see you as nothing but a human like us, and we see only the weakest and poorest following you without thinking. We see no advantage in you over us; rather, we think you are liars.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أَرَءَيْتُمْ إِن كُنتُ عَلَىٰ بَيِّنَةٍ مِّن رَّبِّي وَءَاتَىٰنِي رَحْمَةً مِّنْ عِندِهِ فَعُمِّيَتْ عَلَيْكُمْ أَنُلْزِمُكُمُوهَا وَأَنتُمْ لَهَا كَٰرِهُونَ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 my people, tell me, if I stand on clear proof from my Lord and He has given me prophethood as a mercy from Him, but it is hidden from you, should we force it on you while you hate it?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لَآ أَسْـَٔلُكُمْ عَلَيْهِ مَالًا إِنْ أَجْرِيَ إِلَّا عَلَى اللَّهِ وَمَآ أَنَا بِطَارِدِ الَّذِينَ ءَامَنُواْ إِنَّهُم مُّلَٰقُواْ رَبِّهِمْ وَلَٰكِنِّي أَرَىٰكُمْ قَوْمًا تَجْهَلُونَ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I ask you for no money for my advice; my reward is only with Allah. I will not drive away the believers; they will meet their Lord. But I see you are an ignorant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مَن يَنصُرُنِي مِنَ اللَّهِ إِن طَرَدتُّهُمْ 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who would protect me from Allah's punishment if I drove them away? Will you not take heed?</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أَقُولُ لَكُمْ عِندِي خَزَآئِنُ اللَّهِ وَلَآ أَعْلَمُ الْغَيْبَ وَلَآ أَقُولُ إِنِّي مَلَكٌ وَلَآ أَقُولُ لِلَّذِينَ تَزْدَرِي أَعْيُنُكُمْ لَن يُؤْتِيَهُمُ اللَّهُ خَيْرًا اللَّهُ أَعْلَمُ بِمَا فِي أَنفُسِهِمْ إِنِّي إِذًا لَّمِنَ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tell you I have Allah's treasures, nor that I know the unseen, nor that I am an angel. Nor do I say about the poor whom you look down on that Allah will never give them good. Allah knows best what is in their hearts; if I said that, I would be a wrongdoer.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يَٰنُوحُ قَدْ جَٰدَلْتَنَا فَأَكْثَرْتَ جِدَٰلَنَا فَأْتِنَا بِمَا تَعِدُنَآ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Nuh, you have argued with us and argued too much, so bring us the punishment you promise us, if you are truthful.</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إِنَّمَا يَأْتِيكُم بِهِ اللَّهُ إِن شَآءَ وَمَآ أَنتُم بِمُعْجِزِينَ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Only Allah will bring it to you if He wills, and you cannot escape it.</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يَنفَعُكُمْ نُصْحِي إِنْ أَرَدتُّ أَنْ أَنصَحَ لَكُمْ إِن كَانَ اللَّهُ يُرِيدُ أَن يُغْوِيَكُمْ هُوَ رَبُّكُمْ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advice will not help you, even if I want to advise you, if Allah wants to leave you astray because of your stubbornness. He is your Lord, and to Him you will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افْتَرَىٰهُ قُلْ إِنِ افْتَرَيْتُهُ فَعَلَيَّ إِجْرَامِي وَأَنَا بَرِيءٌ مِّمَّا تُجْرِمُونَ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Muhammad made up this story? Say: If I made it up, the sin is on me, and I am free of your crimes.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وَأُوحِيَ إِلَىٰ نُوحٍ أَنَّهُ لَن يُؤْمِنَ مِن قَوْمِكَ إِلَّا مَن قَدْ ءَامَنَ فَلَا تَبْتَئِسْ بِمَا كَانُواْ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revealed to Nuh: None of your people will believe except those who have already believed, so do not be sad about what they do.</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وَاصْنَعِ الْفُلْكَ بِأَعْيُنِنَا وَوَحْيِنَا وَلَا تُخَٰطِبْنِي فِي الَّذِينَ ظَلَمُواْ إِنَّهُم مُّغْرَقُونَ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Build the ark under Our eyes, care and teaching, and do not speak to Me about the wrongdoers; they will be drowned.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وَيَصْنَعُ الْفُلْكَ وَكُلَّمَا مَرَّ عَلَيْهِ مَلَأٌ مِّن قَوْمِهِ سَخِرُواْ مِنْهُ قَالَ إِن تَسْخَرُواْ مِنَّا فَإِنَّا نَسْخَرُ مِنكُمْ كَمَا تَسْخَرُونَ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began building the ark, and whenever chiefs of his people passed by him, they mocked him. He said: If you mock us now, we will mock you at the drowning as you mock us.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فَسَوْفَ تَعْلَمُونَ مَن يَأْتِيهِ عَذَابٌ يُخْزِيهِ وَيَحِلُّ عَلَيْهِ عَذَابٌ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soon know who will get a punishment that disgraces him in this world, and on whom a lasting punishment will fall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جَآءَ أَمْرُنَا وَفَارَ التَّنُّورُ قُلْنَا احْمِلْ فِيهَا مِن كُلٍّ زَوْجَيْنِ اثْنَيْنِ وَأَهْلَكَ إِلَّا مَن سَبَقَ عَلَيْهِ الْقَوْلُ وَمَنْ ءَامَنَ وَمَآ ءَامَنَ مَعَهُ إِلَّا قَلِيلٌ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Our command came and water gushed from the oven as a sign of the flood, We said: Load into it a pair of every kind, male and female, and your family, except those against whom the word has gone, and those who believe. Only a few believed with him.</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ارْكَبُواْ فِيهَا بِسْمِ اللَّهِ مَجْرٜىٰهَا وَمُرْسَىٰهَآ إِنَّ رَبِّي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Board it. In the name of Allah it sails and anchors. My Lord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وَهِيَ تَجْرِي بِهِمْ فِي مَوْجٍ كَالْجِبَالِ وَنَادَىٰ نُوحٌ ابْنَهُ وَكَانَ فِي مَعْزِلٍ يَٰبُنَيَّ ارْكَب مَّعَنَا وَلَا تَكُن مَّعَ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sailed with them through waves like mountains. Nuh called to his son, who was standing apart: My son, ride with us and do not be with the disbelievers.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سَـَٔاوِي إِلَىٰ جَبَلٍ يَعْصِمُنِي مِنَ الْمَآءِ قَالَ لَا عَاصِمَ الْيَوْمَ مِنْ أَمْرِ اللَّهِ إِلَّا مَن رَّحِمَ وَحَالَ بَيْنَهُمَا الْمَوْجُ فَكَانَ مِنَ الْمُغْرَقِينَ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son said: I will take refuge on a mountain that will protect me from the water. Nuh said: There is no protection today from Allah's command except for whoever He has mercy on. A wave came between them, and he was among the drowned.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يَـٰأَرْضُ ابْلَعِي مَآءَكِ وَيَٰسَمَآءُ أَقْلِعِي وَغِيضَ الْمَآءُ وَقُضِيَ الْأَمْرُ وَاسْتَوَتْ عَلَى الْجُودِيِّ وَقِيلَ بُعْدًا لِّلْقَوْمِ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it was said: O earth, swallow your water, and O sky, stop your rain. The water went down, the matter was settled with the destruction of the disbelievers, and the ark came to rest on Mount Judi. And it was said: Away with the wrongdoing people!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وَنَادَىٰ نُوحٌ رَّبَّهُ فَقَالَ رَبِّ إِنَّ ابْنِي مِنْ أَهْلِي وَإِنَّ وَعْدَكَ الْحَقُّ وَأَنتَ أَحْكَمُ الْحَٰكِمِينَ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called on his Lord and said: My Lord, my son is from my family, and You promised to save my family, and Your promise is true, and You are the wisest of judges.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يَٰنُوحُ إِنَّهُ لَيْسَ مِنْ أَهْلِكَ إِنَّهُ عَمَلٌ غَيْرُ صَٰلِحٍ فَلَا تَسْـَٔلْنِ مَا لَيْسَ لَكَ بِهِ عِلْمٌ إِنِّي أَعِظُكَ أَن تَكُونَ مِنَ الْجَٰهِلِينَ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O Nuh, he is not one of your family whom I promised to save, because he did unrighteous deeds by his disbelief. So do not ask Me about what you have no knowledge of. I advise you not to be among the ignorant.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أَعُوذُ بِكَ أَنْ أَسْـَٔلَكَ مَا لَيْسَ لِي بِهِ عِلْمٌ وَإِلَّا تَغْفِرْ لِي وَتَرْحَمْنِي أَكُن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My Lord, I seek refuge in You from asking You about what I have no knowledge of. If You do not forgive me and have mercy on me, I will be among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قِيلَ يَٰنُوحُ اهْبِطْ بِسَلَٰمٍ مِّنَّا وَبَرَكَٰتٍ عَلَيْكَ وَعَلَىٰ أُمَمٍ مِّمَّن مَّعَكَ وَأُمَمٌ سَنُمَتِّعُهُمْ ثُمَّ يَمَسُّهُم مِّنَّا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was said: O Nuh, come down from the ark with peace from Us and blessings on you and on nations from the descendants of those with you. And other nations We will let enjoy this world, then a painful punishment from Us will touch them.</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مِنْ أَنبَآءِ الْغَيْبِ نُوحِيهَآ إِلَيْكَ مَا كُنتَ تَعْلَمُهَآ أَنتَ وَلَا قَوْمُكَ مِن قَبْلِ هَٰذَا فَاصْبِرْ إِنَّ الْعَٰقِبَةَ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story is from the news of the unseen that We reveal to you. Neither you nor your people knew it before this. So be patient as Nuh was; the good end is for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Hud, Salih, Ibrahim, Lut</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50 – 83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Hud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Hud's call to 'Ad, Salih's she-camel and the destruction of Thamud, Ibrahim's guests and the good news of Ishaq, and the saving of Lut and the destruction of his people.</a:t>
            </a:r>
            <a:endParaRPr lang="en-US" sz="17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عَادٍ أَخَاهُمْ هُودًا قَالَ يَٰقَوْمِ اعْبُدُواْ اللَّهَ مَا لَكُم مِّنْ إِلَٰهٍ غَيْرُهُ إِنْ أَنتُمْ إِلَّا مُفْتَرُونَ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'Ad We sent their brother Hud. He said: O my people, worship Allah; you have no god but Him. You are only lying in worshipping idols.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يَٰقَوْمِ لَآ أَسْـَٔلُكُمْ عَلَيْهِ أَجْرًا إِنْ أَجْرِيَ إِلَّا عَلَى الَّذِي فَطَرَنِي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I ask you for no reward for my advice; my reward is only with the One who created me.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اسْتَغْفِرُواْ رَبَّكُمْ ثُمَّ تُوبُواْ إِلَيْهِ يُرْسِلِ السَّمَآءَ عَلَيْكُم مِّدْرَارًا وَيَزِدْكُمْ قُوَّةً إِلَىٰ قُوَّتِكُمْ وَلَا تَتَوَلَّوْاْ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ask forgiveness from your Lord, then turn to Him in repentance; He will send you plenty of rain and add strength to your strength. Do not turn away as criminals.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يَٰهُودُ مَا جِئْتَنَا بِبَيِّنَةٍ وَمَا نَحْنُ بِتَارِكِي ءَالِهَتِنَا عَن قَوْلِكَ وَمَا نَحْنُ لَكَ بِمُؤْمِنِينَ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Hud, you have not brought us any clear proof. We will not leave our gods because of your words, and we will not believe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نَّقُولُ إِلَّا اعْتَرَىٰكَ بَعْضُ ءَالِهَتِنَا بِسُوءٍ قَالَ إِنِّي أُشْهِدُ اللَّهَ وَاشْهَدُواْ أَنِّي بَرِيءٌ مِّمَّا تُشْرِكُونَ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say that one of our gods has struck you with madness. He said: I call Allah to witness, and you bear witness too, that I am free of what you associate with Him</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دُونِهِ فَكِيدُونِي جَمِيعًا ثُمَّ لَا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besides Allah. So plot against me, all of you, and give me no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تَوَكَّلْتُ عَلَى اللَّهِ رَبِّي وَرَبِّكُم مَّا مِن دَآبَّةٍ إِلَّا هُوَ ءَاخِذٌ بِنَاصِيَتِهَآ إِنَّ رَبِّي عَلَىٰ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have put my trust in Allah, my Lord and your Lord. There is no creature but He holds it by its forelock. My Lord is on a straight path of justice.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تَوَلَّوْاْ فَقَدْ أَبْلَغْتُكُم مَّآ أُرْسِلْتُ بِهِ إِلَيْكُمْ وَيَسْتَخْلِفُ رَبِّي قَوْمًا غَيْرَكُمْ وَلَا تَضُرُّونَهُ شَيْـًٔا إِنَّ رَبِّي عَلَىٰ كُلِّ شَيْءٍ حَفِيظٌ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turn away, I have delivered to you what I was sent with. My Lord will replace you with another people, and you will not harm Him at all. My Lord is Guardian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 أَمْرُنَا نَجَّيْنَا هُودًا وَالَّذِينَ ءَامَنُواْ مَعَهُ بِرَحْمَةٍ مِّنَّا وَنَجَّيْنَٰهُم مِّنْ عَذَابٍ غَلِيظٍ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command came, We saved Hud and the believers with him by mercy from Us, and saved them from a severe punishment.</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وَتِلْكَ عَادٌ جَحَدُواْ بِـَٔايَٰتِ رَبِّهِمْ وَعَصَوْاْ رُسُلَهُ وَاتَّبَعُواْ أَمْرَ كُلِّ جَبَّارٍ عَنِيدٍ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'Ad. They rejected their Lord's signs, disobeyed His messengers, and followed the command of every arrogant, stubborn tyrant.</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وَأُتْبِعُواْ فِي هَٰذِهِ الدُّنْيَا لَعْنَةً وَيَوْمَ الْقِيَٰمَةِ أَلَآ إِنَّ عَادًا كَفَرُواْ رَبَّهُمْ أَلَا بُعْدًا لِّعَادٍ قَوْمِ هُودٍ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followed by a curse in this world and on the Day of Resurrection. Surely, 'Ad disbelieved in their Lord. Away with 'Ad, the people of Hud!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ثَمُودَ أَخَاهُمْ صَٰلِحًا قَالَ يَٰقَوْمِ اعْبُدُواْ اللَّهَ مَا لَكُم مِّنْ إِلَٰهٍ غَيْرُهُ هُوَ أَنشَأَكُم مِّنَ الْأَرْضِ وَاسْتَعْمَرَكُمْ فِيهَا فَاسْتَغْفِرُوهُ ثُمَّ تُوبُواْ إِلَيْهِ إِنَّ رَبِّي قَرِيبٌ مُّجِيبٌ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Thamud We sent their brother Salih. He said: O my people, worship Allah; you have no god but Him. He created you from the earth and settled you in it. So ask His forgiveness, then turn to Him in repentance. My Lord is near and answers prayers.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يَٰصَٰلِحُ قَدْ كُنتَ فِينَا مَرْجُوًّا قَبْلَ هَٰذَآ أَتَنْهَىٰنَآ أَن نَّعْبُدَ مَا يَعْبُدُ ءَابَآؤُنَا وَإِنَّنَا لَفِي شَكٍّ مِّمَّا تَدْعُونَآ إِلَيْهِ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Salih, we had hopes for you before this. Do you forbid us to worship what our fathers worshipped? We are in great doubt about what you call us to.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أَرَءَيْتُمْ إِن كُنتُ عَلَىٰ بَيِّنَةٍ مِّن رَّبِّي وَءَاتَىٰنِي مِنْهُ رَحْمَةً فَمَن يَنصُرُنِي مِنَ اللَّهِ إِنْ عَصَيْتُهُ فَمَا تَزِيدُونَنِي غَيْرَ تَخْسِيرٍ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 my people, tell me, if I stand on clear proof from my Lord and He has given me prophethood, who would protect me from Allah if I disobeyed Him? Following you would only add to my loss.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هَٰذِهِ نَاقَةُ اللَّهِ لَكُمْ ءَايَةً فَذَرُوهَا تَأْكُلْ فِي أَرْضِ اللَّهِ وَلَا تَمَسُّوهَا بِسُوءٍ فَيَأْخُذَكُمْ عَذَابٌ 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this she-camel of Allah is a sign for you. Leave her to eat on Allah's earth and do not harm her, or a near punishment will seize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فَعَقَرُوهَا فَقَالَ تَمَتَّعُواْ فِي دَارِكُمْ ثَلَٰثَةَ أَيَّامٍ ذَٰلِكَ وَعْدٌ غَيْرُ مَكْذُوبٍ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killed her, so he said: Enjoy yourselves in your homes for three days. That is a promise that will not be broken.</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 أَمْرُنَا نَجَّيْنَا صَٰلِحًا وَالَّذِينَ ءَامَنُواْ مَعَهُ بِرَحْمَةٍ مِّنَّا وَمِنْ خِزْيِ يَوْمِئِذٍ إِنَّ رَبَّكَ هُوَ الْقَوِيُّ الْعَزِيزُ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command came, We saved Salih and the believers with him by mercy from Us, and from the disgrace of that day. Your Lord is the Strong, the Almighty.</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وَأَخَذَ الَّذِينَ ظَلَمُواْ الصَّيْحَةُ فَأَصْبَحُواْ فِي دِيَٰرِهِمْ جَٰثِمِينَ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mighty Blast seized the wrongdoers, and they lay dead in their homes,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 لَّمْ يَغْنَوْاْ فِيهَآ أَلَآ إِنَّ ثَمُودَاْ كَفَرُواْ رَبَّهُمْ أَلَا بُعْدًا لِّثَمُودَ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if they had never lived there. Surely, Thamud disbelieved in their Lord. Away with Thamud!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جَآءَتْ رُسُلُنَآ إِبْرَٰهِيمَ بِالْبُشْرَىٰ قَالُواْ سَلَٰمًا قَالَ سَلَٰمٌ فَمَا لَبِثَ أَن جَآءَ بِعِجْلٍ حَنِيذٍ</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angels came to Ibrahim with good news of Ishaq. They said: Peace. He said: Peace, and soon brought a fat roasted calf.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رَءَآ أَيْدِيَهُمْ لَا تَصِلُ إِلَيْهِ نَكِرَهُمْ وَأَوْجَسَ مِنْهُمْ خِيفَةً قَالُواْ لَا تَخَفْ إِنَّآ أُرْسِلْنَآ إِلَىٰ قَوْمِ لُوطٍ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saw their hands not reaching for the food, he found them strange and felt afraid of them. They said: Do not be afraid; we are angels sent to the people of Lut.</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وَامْرَأَتُهُ قَآئِمَةٌ فَضَحِكَتْ فَبَشَّرْنَٰهَا بِإِسْحَٰقَ وَمِن وَرَآءِ إِسْحَٰقَ يَعْقُوبَ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wife Sarah was standing there and laughed with joy, and We gave her good news of Ishaq, and after Ishaq, her grandson Ya'qub.</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يَٰوَيْلَتَىٰ ءَأَلِدُ وَأَنَا عَجُوزٌ وَهَٰذَا بَعْلِي شَيْخًا إِنَّ هَٰذَا لَشَيْءٌ عَجِيبٌ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in amazement: Oh my! Will I give birth when I am an old woman and this husband of mine is an old man? That is truly amazing!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أَتَعْجَبِينَ مِنْ أَمْرِ اللَّهِ رَحْمَتُ اللَّهِ وَبَرَكَٰتُهُ عَلَيْكُمْ أَهْلَ الْبَيْتِ إِنَّهُ حَمِيدٌ مَّجِيدٌ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said: Are you amazed at Allah's command? Allah's mercy and blessings are upon you, people of the house. He is Praiseworthy, Glorious.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ذَهَبَ عَنْ إِبْرَٰهِيمَ الرَّوْعُ وَجَآءَتْهُ الْبُشْرَىٰ يُجَٰدِلُنَا فِي قَوْمِ لُوطٍ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fear left Ibrahim and the good news came to him, he began arguing with Our messengers about the people of Lut, hoping they would be given more time.</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إِبْرَٰهِيمَ لَحَلِيمٌ أَوَّـٰهٌ مُّنِيبٌ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was forbearing, often humbly praying, and always turning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يَـٰإِبْرَٰهِيمُ أَعْرِضْ عَنْ هَٰذَآ إِنَّهُ قَدْ جَآءَ أَمْرُ رَبِّكَ وَإِنَّهُمْ ءَاتِيهِمْ عَذَابٌ غَيْرُ مَرْدُودٍ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said: O Ibrahim, leave this argument. Your Lord's command has come, and a punishment that cannot be turned back is coming to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جَآءَتْ رُسُلُنَا لُوطًا سِيءَ بِهِمْ وَضَاقَ بِهِمْ ذَرْعًا وَقَالَ هَٰذَا يَوْمٌ عَصِيبٌ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angels came to Lut in the form of handsome young men, he was distressed by their coming and his chest felt tight with fear for them from his people. He said: This is a hard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849374"/>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وَجَآءَهُ قَوْمُهُ يُهْرَعُونَ إِلَيْهِ وَمِن قَبْلُ كَانُواْ يَعْمَلُونَ السَّيِّـَٔاتِ قَالَ يَٰقَوْمِ هَـٰؤُلَآءِ بَنَاتِي هُنَّ أَطْهَرُ لَكُمْ فَاتَّقُواْ اللَّهَ وَلَا تُخْزُونِ فِي ضَيْفِي أَلَيْسَ مِنكُمْ رَجُلٌ رَّشِيدٌ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people came rushing to him; they used to commit shameful deeds before that. He said: O my people, here are my daughters, meaning the women of his nation, for a prophet is like a father to his nation; marry them, that is purer for you. So have taqwa of Allah and do not disgrace me with my guests. Is there not one sensible man among you?</a:t>
            </a:r>
            <a:endParaRPr lang="en-US" sz="3000" dirty="0"/>
          </a:p>
        </p:txBody>
      </p:sp>
      <p:sp>
        <p:nvSpPr>
          <p:cNvPr id="9" name="Shape 7"/>
          <p:cNvSpPr/>
          <p:nvPr/>
        </p:nvSpPr>
        <p:spPr>
          <a:xfrm>
            <a:off x="1444752" y="4359402"/>
            <a:ext cx="8641080" cy="0"/>
          </a:xfrm>
          <a:prstGeom prst="line">
            <a:avLst/>
          </a:prstGeom>
          <a:noFill/>
          <a:ln w="9525">
            <a:solidFill>
              <a:schemeClr val="accent2"/>
            </a:solidFill>
            <a:prstDash val="dash"/>
          </a:ln>
        </p:spPr>
      </p:sp>
      <p:sp>
        <p:nvSpPr>
          <p:cNvPr id="10" name="Shape 8"/>
          <p:cNvSpPr/>
          <p:nvPr/>
        </p:nvSpPr>
        <p:spPr>
          <a:xfrm>
            <a:off x="713232" y="4592574"/>
            <a:ext cx="548640" cy="548640"/>
          </a:xfrm>
          <a:prstGeom prst="star8">
            <a:avLst/>
          </a:prstGeom>
          <a:solidFill>
            <a:schemeClr val="accent2"/>
          </a:solidFill>
          <a:ln/>
        </p:spPr>
      </p:sp>
      <p:sp>
        <p:nvSpPr>
          <p:cNvPr id="11" name="Shape 9"/>
          <p:cNvSpPr/>
          <p:nvPr/>
        </p:nvSpPr>
        <p:spPr>
          <a:xfrm>
            <a:off x="822960" y="470230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5925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457428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لَقَدْ عَلِمْتَ مَا لَنَا فِي بَنَاتِكَ مِنْ حَقٍّ وَإِنَّكَ لَتَعْلَمُ مَا نُرِيدُ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You know we have no interest in your daughters, and you know well what we want.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لَوْ أَنَّ لِي بِكُمْ قُوَّةً أَوْ ءَاوِي إِلَىٰ رُكْنٍ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If only I had strength against you, or could take refuge with a powerful clan to protect me from you!</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يَٰلُوطُ إِنَّا رُسُلُ رَبِّكَ لَن يَصِلُواْ إِلَيْكَ فَأَسْرِ بِأَهْلِكَ بِقِطْعٍ مِّنَ الَّيْلِ وَلَا يَلْتَفِتْ مِنكُمْ أَحَدٌ إِلَّا امْرَأَتَكَ إِنَّهُ مُصِيبُهَا مَآ أَصَابَهُمْ إِنَّ مَوْعِدَهُمُ الصُّبْحُ أَلَيْسَ الصُّبْحُ بِقَرِيبٍ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said: O Lut, we are messengers of your Lord; they will not reach you with harm. Leave with your family in part of the night, and let none of you look back, except your wife; what strikes them will strike her. Their appointed time is the morning. Is the morning not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 أَمْرُنَا جَعَلْنَا عَٰلِيَهَا سَافِلَهَا وَأَمْطَرْنَا عَلَيْهَا حِجَارَةً مِّن سِجِّيلٍ مَّنضُودٍ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command came, We turned their towns upside down and rained down on them stones of hardened clay, one after another,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مُّسَوَّمَةً عِندَ رَبِّكَ وَمَا هِيَ مِنَ الظَّـٰلِمِينَ بِبَعِيدٍ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marked by your Lord. And it is never far from the wrongdoers of any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Shu'ayb; Lessons</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84 – 123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Hud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Mas'ud (may Allah be pleased with him) said: A man did a small wrong with a woman, then came to the Prophet (peace be upon him) and told him. So Allah revealed: “Perform the prayer at the two ends of the day and in hours of the night. Good deeds wipe away bad deeds”. The man asked: Is this for me? He said: "For all of my Ummah"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Shu'ayb's call to fairness in measuring and weighing, the destruction of Madyan, then lessons from the stories of the nations: staying upright, prayer, and that good deeds wipe away bad deeds.</a:t>
            </a:r>
            <a:endParaRPr lang="en-US" sz="17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مَدْيَنَ أَخَاهُمْ شُعَيْبًا قَالَ يَٰقَوْمِ اعْبُدُواْ اللَّهَ مَا لَكُم مِّنْ إِلَٰهٍ غَيْرُهُ وَلَا تَنقُصُواْ الْمِكْيَالَ وَالْمِيزَانَ إِنِّي أَرَىٰكُم بِخَيْرٍ وَإِنِّي أَخَافُ عَلَيْكُمْ عَذَابَ يَوْمٍ مُّحِيطٍ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Madyan We sent their brother Shu'ayb. He said: O my people, worship Allah; you have no god but Him. Do not give short measure and weight. I see you are well off, but I fear for you the punishment of an encompassing Day.</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أَوْفُواْ الْمِكْيَالَ وَالْمِيزَانَ بِالْقِسْطِ وَلَا تَبْخَسُواْ النَّاسَ أَشْيَآءَهُمْ وَلَا تَعْثَوْاْ فِي الْأَرْضِ 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give full measure and weight with justice, do not cheat people of their things, and do not go about the earth spreading corruption.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بَقِيَّتُ اللَّهِ خَيْرٌ لَّكُمْ إِن كُنتُم مُّؤْمِنِينَ وَمَآ أَنَا عَلَيْكُم بِحَفِيظٍ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lawful profit left after giving full measure is better for you than the forbidden, if you are believers, and I am not a guard over you.</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يَٰشُعَيْبُ أَصَلَوٰتُكَ تَأْمُرُكَ أَن نَّتْرُكَ مَا يَعْبُدُ ءَابَآؤُنَآ أَوْ أَن نَّفْعَلَ فِي أَمْوَٰلِنَا مَا نَشَـٰؤُاْ إِنَّكَ لَأَنتَ الْحَلِيمُ الرَّشِيدُ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mockingly: O Shu'ayb, does your prayer command you that we leave what our fathers worshipped, or that we stop doing what we like with our wealth? You are truly the forbearing, the sensible one! They said it to mock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أَرَءَيْتُمْ إِن كُنتُ عَلَىٰ بَيِّنَةٍ مِّن رَّبِّي وَرَزَقَنِي مِنْهُ رِزْقًا حَسَنًا وَمَآ أُرِيدُ أَنْ أُخَالِفَكُمْ إِلَىٰ مَآ أَنْهَىٰكُمْ عَنْهُ إِنْ أُرِيدُ إِلَّا الْإِصْلَٰحَ مَا اسْتَطَعْتُ وَمَا تَوْفِيقِي إِلَّا بِاللَّهِ عَلَيْهِ تَوَكَّلْتُ وَإِلَيْهِ أُنِيبُ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 my people, tell me, if I stand on clear proof from my Lord and He has provided me with good lawful provision from Himself... I do not want to do what I forbid you from. I only want to put things right as much as I can, and my success is only through Allah. In Him I trust and to Him I turn.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لَا يَجْرِمَنَّكُمْ شِقَاقِي أَن يُصِيبَكُم مِّثْلُ مَآ أَصَابَ قَوْمَ نُوحٍ أَوْ قَوْمَ هُودٍ أَوْ قَوْمَ صَٰلِحٍ وَمَا قَوْمُ لُوطٍ مِّنكُم بِبَعِيدٍ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do not let your hostility to me lead you to be struck by what struck the people of Nuh, Hud or Salih, and the people of Lut are not far from you in time or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وَاسْتَغْفِرُواْ رَبَّكُمْ ثُمَّ تُوبُواْ إِلَيْهِ إِنَّ رَبِّي رَحِيمٌ وَدُودٌ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forgiveness from your Lord, then turn to Him in repentance. My Lord is Most Merciful, Most Loving to those who repent.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يَٰشُعَيْبُ مَا نَفْقَهُ كَثِيرًا مِّمَّا تَقُولُ وَإِنَّا لَنَرَىٰكَ فِينَا ضَعِيفًا وَلَوْلَا رَهْطُكَ لَرَجَمْنَٰكَ وَمَآ أَنتَ عَلَيْنَا بِعَزِيزٍ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Shu'ayb, we do not understand much of what you say, and we see you as weak among us. If not for your clan, we would have stoned you, and you are not powerful against 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أَرَهْطِي أَعَزُّ عَلَيْكُم مِّنَ اللَّهِ وَاتَّخَذْتُمُوهُ وَرَآءَكُمْ ظِهْرِيًّا إِنَّ رَبِّي بِمَا تَعْمَلُونَ مُحِيطٌ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 my people, is my clan more powerful in your eyes than Allah, whom you have put behind your backs? My Lord surrounds what you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وَيَٰقَوْمِ اعْمَلُواْ عَلَىٰ مَكَانَتِكُمْ إِنِّي عَٰمِلٌ سَوْفَ تَعْلَمُونَ مَن يَأْتِيهِ عَذَابٌ يُخْزِيهِ وَمَنْ هُوَ كَٰذِبٌ وَارْتَقِبُواْ إِنِّي مَعَكُمْ رَقِيبٌ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people, work in your way and I will work in mine. You will come to know who will get a punishment that disgraces him, and who is the liar. Wait; I am waiting with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 أَمْرُنَا نَجَّيْنَا شُعَيْبًا وَالَّذِينَ ءَامَنُواْ مَعَهُ بِرَحْمَةٍ مِّنَّا وَأَخَذَتِ الَّذِينَ ظَلَمُواْ الصَّيْحَةُ فَأَصْبَحُواْ فِي دِيَٰرِهِمْ جَٰثِمِينَ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command came, We saved Shu'ayb and the believers with him by mercy from Us, and the Blast seized the wrongdoers, and they lay dead in their homes,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 لَّمْ يَغْنَوْاْ فِيهَآ أَلَا بُعْدًا لِّمَدْيَنَ كَمَا بَعِدَتْ ثَمُودُ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if they had never lived there. Away with Madyan, as Thamud was done away with!</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مُوسَىٰ بِـَٔايَٰتِنَا وَسُلْطَٰنٍ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Musa with Our signs and clear proof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فِرْعَوْنَ وَمَلَإِيْهِ فَاتَّبَعُواْ أَمْرَ فِرْعَوْنَ وَمَآ أَمْرُ فِرْعَوْنَ بِرَشِيدٍ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Pharaoh and his chiefs, but they followed Pharaoh's command, and Pharaoh's command was not right.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يَقْدُمُ قَوْمَهُ يَوْمَ الْقِيَٰمَةِ فَأَوْرَدَهُمُ النَّارَ وَبِئْسَ الْوِرْدُ الْمَوْرُودُ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lead his people on the Day of Resurrection and bring them down into the Fire, and how evil is the place they are brought to!</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وَأُتْبِعُواْ فِي هَٰذِهِ لَعْنَةً وَيَوْمَ الْقِيَٰمَةِ بِئْسَ الرِّفْدُ الْمَرْفُودُ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followed by a curse in this world and on the Day of Resurrection. How evil is the gift they are given!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100 –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مِنْ أَنبَآءِ الْقُرَىٰ نَقُصُّهُ عَلَيْكَ مِنْهَا قَآئِمٌ وَحَصِيدٌ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from the news of the destroyed towns that We tell you. Some of them still have ruins standing, and some are gone like a harvested field.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ظَلَمْنَٰهُمْ وَلَٰكِن ظَلَمُواْ أَنفُسَهُمْ فَمَآ أَغْنَتْ عَنْهُمْ ءَالِهَتُهُمُ الَّتِي يَدْعُونَ مِن دُونِ اللَّهِ مِن شَيْءٍ لَّمَّا جَآءَ أَمْرُ رَبِّكَ وَمَا زَادُوهُمْ غَيْرَ تَتْبِيبٍ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wrong them by destroying them; they wronged themselves. Their gods whom they called on besides Allah did not help them at all when your Lord's command came, and they only added to their ruin.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102 – 104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34416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أَخْذُ رَبِّكَ إِذَآ أَخَذَ الْقُرَىٰ وَهِيَ ظَٰلِمَةٌ إِنَّ أَخْذَهُ أَلِيمٌ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Such is the seizing of your Lord when He seizes towns that are doing wrong. His seizing is painful and severe. The Prophet (peace be upon him) said: "Allah gives the wrongdoer time, but when He seizes him, He does not let him go," then he recited this verse (Bukhari and Muslim).</a:t>
            </a:r>
            <a:endParaRPr lang="en-US" sz="3000" dirty="0"/>
          </a:p>
        </p:txBody>
      </p:sp>
      <p:sp>
        <p:nvSpPr>
          <p:cNvPr id="9" name="Shape 7"/>
          <p:cNvSpPr/>
          <p:nvPr/>
        </p:nvSpPr>
        <p:spPr>
          <a:xfrm>
            <a:off x="1444752" y="2948940"/>
            <a:ext cx="8641080" cy="0"/>
          </a:xfrm>
          <a:prstGeom prst="line">
            <a:avLst/>
          </a:prstGeom>
          <a:noFill/>
          <a:ln w="9525">
            <a:solidFill>
              <a:schemeClr val="accent2"/>
            </a:solidFill>
            <a:prstDash val="dash"/>
          </a:ln>
        </p:spPr>
      </p:sp>
      <p:sp>
        <p:nvSpPr>
          <p:cNvPr id="10" name="Shape 8"/>
          <p:cNvSpPr/>
          <p:nvPr/>
        </p:nvSpPr>
        <p:spPr>
          <a:xfrm>
            <a:off x="713232" y="3086100"/>
            <a:ext cx="548640" cy="548640"/>
          </a:xfrm>
          <a:prstGeom prst="star8">
            <a:avLst/>
          </a:prstGeom>
          <a:solidFill>
            <a:schemeClr val="accent2"/>
          </a:solidFill>
          <a:ln/>
        </p:spPr>
      </p:sp>
      <p:sp>
        <p:nvSpPr>
          <p:cNvPr id="11" name="Shape 9"/>
          <p:cNvSpPr/>
          <p:nvPr/>
        </p:nvSpPr>
        <p:spPr>
          <a:xfrm>
            <a:off x="822960" y="319582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8610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3" name="Text 11"/>
          <p:cNvSpPr txBox="1"/>
          <p:nvPr/>
        </p:nvSpPr>
        <p:spPr>
          <a:xfrm>
            <a:off x="1444752" y="306781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لِّمَنْ خَافَ عَذَابَ الْأخِرَةِ ذَٰلِكَ يَوْمٌ مَّجْمُوعٌ لَّهُ النَّاسُ وَذَٰلِكَ يَوْمٌ مَّشْهُودٌ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sign for whoever fears the punishment of the Hereafter. That is a Day for which people will be gathered, a Day everyone will witness.</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نُؤَخِّرُهُ إِلَّا لِأَجَلٍ مَّعْدُودٍ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delay it for a counted, fixed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105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يَأْتِ لَا تَكَلَّمُ نَفْسٌ إِلَّا بِإِذْنِهِ فَمِنْهُمْ شَقِيٌّ وَسَعِيدٌ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it comes, no soul will speak except by Allah's permission. Some of them will be wretched and some happy.</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الَّذِينَ شَقُواْ فَفِي النَّارِ لَهُمْ فِيهَا زَفِيرٌ وَشَهِيقٌ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wretched, they will be in the Fire, with heavy sighing and groaning in it,</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مَا دَامَتِ السَّمَٰوَٰتُ وَالْأَرْضُ إِلَّا مَا شَآءَ رَبُّكَ إِنَّ رَبَّكَ فَعَّالٌ لِّمَا يُرِيدُ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there as long as the heavens and the earth remain, except as your Lord wills. Your Lord does whatever He wants.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سُعِدُواْ فَفِي الْجَنَّةِ خَٰلِدِينَ فِيهَا مَا دَامَتِ السَّمَٰوَٰتُ وَالْأَرْضُ إِلَّا مَا شَآءَ رَبُّكَ عَطَآءً غَيْرَ مَجْذُوذٍ</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happy, they will be in Paradise, staying there as long as the heavens and the earth remain, except as your Lord wills: a gift that never ends.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تَكُ فِي مِرْيَةٍ مِّمَّا يَعْبُدُ هَـٰؤُلَآءِ مَا يَعْبُدُونَ إِلَّا كَمَا يَعْبُدُ ءَابَآؤُهُم مِّن قَبْلُ وَإِنَّا لَمُوَفُّوهُمْ نَصِيبَهُمْ غَيْرَ مَنقُوصٍ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be in doubt about the falseness of what these idol-worshippers worship. They only worship as their fathers worshipped before, and We will give them their full share without any reduction.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110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فَاخْتُلِفَ فِيهِ وَلَوْلَا كَلِمَةٌ سَبَقَتْ مِن رَّبِّكَ لَقُضِيَ بَيْنَهُمْ وَإِنَّهُمْ لَفِي شَكٍّ مِّنْهُ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and his people differed about it. If not for a word from your Lord already given to delay the punishment, they would have been judged. And they are in great doubt about the Qur'an.</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كُلًّا لَّمَّا لَيُوَفِّيَنَّهُمْ رَبُّكَ أَعْمَٰلَهُمْ إِنَّهُ بِمَا يَعْمَلُونَ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will surely repay all those who differ in full for their deeds; He is aware of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84937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فَاسْتَقِمْ كَمَآ أُمِرْتَ وَمَن تَابَ مَعَكَ وَلَا تَطْغَوْاْ إِنَّهُ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stay firm on Allah's religion as you have been commanded, you and those who repent with you, and do not overstep. He sees what you do. Ibn 'Abbas said: No verse was harder on the Prophet (peace be upon him) than this one.</a:t>
            </a:r>
            <a:endParaRPr lang="en-US" sz="3000" dirty="0"/>
          </a:p>
        </p:txBody>
      </p:sp>
      <p:sp>
        <p:nvSpPr>
          <p:cNvPr id="9" name="Shape 7"/>
          <p:cNvSpPr/>
          <p:nvPr/>
        </p:nvSpPr>
        <p:spPr>
          <a:xfrm>
            <a:off x="1444752" y="3550158"/>
            <a:ext cx="8641080" cy="0"/>
          </a:xfrm>
          <a:prstGeom prst="line">
            <a:avLst/>
          </a:prstGeom>
          <a:noFill/>
          <a:ln w="9525">
            <a:solidFill>
              <a:schemeClr val="accent2"/>
            </a:solidFill>
            <a:prstDash val="dash"/>
          </a:ln>
        </p:spPr>
      </p:sp>
      <p:sp>
        <p:nvSpPr>
          <p:cNvPr id="10" name="Shape 8"/>
          <p:cNvSpPr/>
          <p:nvPr/>
        </p:nvSpPr>
        <p:spPr>
          <a:xfrm>
            <a:off x="713232" y="3783330"/>
            <a:ext cx="548640" cy="548640"/>
          </a:xfrm>
          <a:prstGeom prst="star8">
            <a:avLst/>
          </a:prstGeom>
          <a:solidFill>
            <a:schemeClr val="accent2"/>
          </a:solidFill>
          <a:ln/>
        </p:spPr>
      </p:sp>
      <p:sp>
        <p:nvSpPr>
          <p:cNvPr id="11" name="Shape 9"/>
          <p:cNvSpPr/>
          <p:nvPr/>
        </p:nvSpPr>
        <p:spPr>
          <a:xfrm>
            <a:off x="822960" y="389305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8333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376504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تَرْكَنُواْ إِلَى الَّذِينَ ظَلَمُواْ فَتَمَسَّكُمُ النَّارُ وَمَا لَكُم مِّن دُونِ اللَّهِ مِنْ أَوْلِيَآءَ ثُمَّ لَا تُنصَرُونَ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lean towards the wrongdoers, or the Fire will touch you, and you will have no protectors besides Allah, then you will not be helped.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وَأَقِمِ الصَّلَوٰةَ طَرَفَيِ النَّهَارِ وَزُلَفًا مِّنَ الَّيْلِ إِنَّ الْحَسَنَٰتِ يُذْهِبْنَ السَّيِّـَٔاتِ ذَٰلِكَ ذِكْرَىٰ لِلذَّـٰكِرِينَ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Perform the prayer at the two ends of the day and in hours of the night. Good deeds wipe away bad deeds. That is a reminder for those who take heed.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وَاصْبِرْ فَإِنَّ اللَّهَ لَا يُضِيعُ أَجْرَ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 patient in obedience; Allah does not let the reward of those who do good be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كَانَ مِنَ الْقُرُونِ مِن قَبْلِكُمْ أُوْلُواْ بَقِيَّةٍ يَنْهَوْنَ عَنِ الْفَسَادِ فِي الْأَرْضِ إِلَّا قَلِيلًا مِّمَّنْ أَنجَيْنَا مِنْهُمْ وَاتَّبَعَ الَّذِينَ ظَلَمُواْ مَآ أُتْرِفُواْ فِيهِ وَكَانُواْ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there had been among the nations before you people of virtue and sense forbidding corruption on earth, except a few of those We saved! The wrongdoers followed the luxury they were given and were criminals.</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رَبُّكَ لِيُهْلِكَ الْقُرَىٰ بِظُلْمٍ وَأَهْلُهَا مُصْلِحُونَ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would never destroy towns unjustly while their people were putting things right.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شَآءَ رَبُّكَ لَجَعَلَ النَّاسَ أُمَّةً وَٰحِدَةً وَلَا يَزَالُونَ مُخْتَلِفِينَ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your Lord had willed, He would have made all people one religion, but they will not stop differing,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119 – 120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رَّحِمَ رَبُّكَ وَلِذَٰلِكَ خَلَقَهُمْ وَتَمَّتْ كَلِمَةُ رَبِّكَ لَأَمْلَأَنَّ جَهَنَّمَ مِنَ الْجِنَّةِ وَالنَّاسِ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your Lord has mercy on among the believers, who do not differ about the truth. For that test He created them. And your Lord's word is fulfilled: I will fill Hell with all the disbelievers of the jinn and mankind.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وَكُلًّا نَّقُصُّ عَلَيْكَ مِنْ أَنبَآءِ الرُّسُلِ مَا نُثَبِّتُ بِهِ فُؤَادَكَ وَجَآءَكَ فِي هَٰذِهِ الْحَقُّ وَمَوْعِظَةٌ وَذِكْرَىٰ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story of the messengers We tell you is to make your heart firm. In this surah the truth has come to you, and advice and a reminder for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Hud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121 – 123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لِّلَّذِينَ لَا يُؤْمِنُونَ اعْمَلُواْ عَلَىٰ مَكَانَتِكُمْ إِنَّا 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those who do not believe: Work in your way; we are working in ours.</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وَانتَظِرُواْ إِنَّا مُنتَظِرُونَ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wait for the outcome; we are waiting too.</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غَيْبُ السَّمَٰوَٰتِ وَالْأَرْضِ وَإِلَيْهِ يُرْجَعُ الْأَمْرُ كُلُّهُ فَاعْبُدْهُ وَتَوَكَّلْ عَلَيْهِ وَمَا رَبُّكَ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knowledge of the unseen in the heavens and the earth, and to Him every matter returns. So worship Him and put your trust in Him. Your Lord is not unaware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The Dream and the Well</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20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Yusuf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Sa'd ibn Abi Waqqas (may Allah be pleased with him) said: The Qur'an was revealed to the Prophet (peace be upon him) and he recited it to them for a time. They said: O Messenger of Allah, if only you would tell us stories. So Allah revealed: “Alif Lam Ra. These are the verses of the clear Book... We tell you the best of stories” (Al-Hakim, who graded it authentic).</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Yusuf's dream and his father's warning, his brothers' envy and plot, throwing him into the well, Ya'qub's beautiful patience, then Yusuf being sold for a low price.</a:t>
            </a:r>
            <a:endParaRPr lang="en-US" sz="17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 تِلْكَ ءَايَٰتُ الْكِتَٰبِ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These are the verses of the clear Book.</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أَنزَلْنَٰهُ قُرْءَٰنًا عَرَبِيًّا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it down as a Qur'an in Arabic so that you may understand.</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نَقُصُّ عَلَيْكَ أَحْسَنَ الْقَصَصِ بِمَآ أَوْحَيْنَآ إِلَيْكَ هَٰذَا الْقُرْءَانَ وَإِن كُنتَ مِن قَبْلِهِ لَمِنَ الْغَٰفِلِينَ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tell you the best of stories through this Qur'an We have revealed to you, though before it you knew nothing of these stories.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يُوسُفُ لِأَبِيهِ يَـٰأَبَتِ إِنِّي رَأَيْتُ أَحَدَ عَشَرَ كَوْكَبًا وَالشَّمْسَ وَالْقَمَرَ رَأَيْتُهُمْ لِي سَٰجِدِينَ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Yusuf said to his father Ya'qub: O my father, I saw in a dream eleven stars and the sun and the moon; I saw them bowing down to me.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يَٰبُنَيَّ لَا تَقْصُصْ رُءْيَاكَ عَلَىٰ إِخْوَتِكَ فَيَكِيدُواْ لَكَ كَيْدًا إِنَّ الشَّيْطَٰنَ لِلْإِنسَٰنِ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Ya'qub said: My son, do not tell your brothers about your dream, or they will envy you and plot against you. Satan is a clear enemy to man.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يَجْتَبِيكَ رَبُّكَ وَيُعَلِّمُكَ مِن تَأْوِيلِ الْأَحَادِيثِ وَيُتِمُّ نِعْمَتَهُ عَلَيْكَ وَعَلَىٰ ءَالِ يَعْقُوبَ كَمَآ أَتَمَّهَا عَلَىٰ أَبَوَيْكَ مِن قَبْلُ إِبْرَٰهِيمَ وَإِسْحَٰقَ إِنَّ رَبَّكَ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He showed you this dream, your Lord will choose you, teach you the meaning of dreams, and complete His blessing on you with prophethood and on the family of Ya'qub, as He completed it on your forefathers Ibrahim and Ishaq. Your Lord is All-Knowing, All-Wise.</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كَانَ فِي يُوسُفَ وَإِخْوَتِهِ ءَايَٰتٌ لِّلسَّآئِلِينَ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story of Yusuf and his brothers are lessons and signs for those who ask.</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قَالُواْ لَيُوسُفُ وَأَخُوهُ أَحَبُّ إِلَىٰ أَبِينَا مِنَّا وَنَحْنُ عُصْبَةٌ إِنَّ أَبَانَا لَفِي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his brothers said: Yusuf and his full brother Binyamin are dearer to our father than we are, though we are a strong group. Our father is clearly wrong in preferring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اقْتُلُواْ يُوسُفَ أَوِ اطْرَحُوهُ أَرْضًا يَخْلُ لَكُمْ وَجْهُ أَبِيكُمْ وَتَكُونُواْ مِن بَعْدِهِ قَوْمًا صَٰلِحِينَ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Kill Yusuf or throw him into some distant land, so that your father's attention will be yours alone, and after that you can become righteous by repenting.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قَآئِلٌ مِّنْهُمْ لَا تَقْتُلُواْ يُوسُفَ وَأَلْقُوهُ فِي غَيَٰبَتِ الْجُبِّ يَلْتَقِطْهُ بَعْضُ السَّيَّارَةِ إِن كُنتُمْ فَٰعِلِينَ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One of them said: Do not kill Yusuf; throw him into the bottom of the well, and some travellers will pick him up, if you must do something.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يَـٰأَبَانَا مَا لَكَ لَا تَأْمَ۬نَّا عَلَىٰ يُوسُفَ وَإِنَّا لَهُ لَنَٰصِحُونَ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our father, why do you not trust us with Yusuf, when we truly wish him well?</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أَرْسِلْهُ مَعَنَا غَدًا يَرْتَعْ وَيَلْعَبْ وَإِنَّا لَهُ لَحَٰفِظُونَ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Send him with us tomorrow to eat and play, and we will take care of him.</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إِنِّي لَيَحْزُنُنِي أَن تَذْهَبُواْ بِهِ وَأَخَافُ أَن يَأْكُلَهُ الذِّئْبُ وَأَنتُمْ عَنْهُ 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Ya'qub said: It saddens me that you take him away, and I fear a wolf may eat him while you are not paying attention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لَئِنْ أَكَلَهُ الذِّئْبُ وَنَحْنُ عُصْبَةٌ إِنَّآ إِذًا 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If a wolf ate him while we are such a strong group, we would truly be losers.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ذَهَبُواْ بِهِ وَأَجْمَعُواْ أَن يَجْعَلُوهُ فِي غَيَٰبَتِ الْجُبِّ وَأَوْحَيْنَآ إِلَيْهِ لَتُنَبِّئَنَّهُم بِأَمْرِهِمْ هَٰذَا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when they took him away and agreed to throw him into the bottom of the well, they did it. And We revealed to him: You will one day tell them about this deed of theirs while they do not realise who you are.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وَجَآءُو أَبَاهُمْ عِشَآءً يَبْكُونَ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evening they came to their father, weeping.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يَـٰأَبَانَآ إِنَّا ذَهَبْنَا نَسْتَبِقُ وَتَرَكْنَا يُوسُفَ عِندَ مَتَٰعِنَا فَأَكَلَهُ الذِّئْبُ وَمَآ أَنتَ بِمُؤْمِنٍ لَّنَا وَلَوْ كُنَّا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our father, we went racing and left Yusuf with our things, and a wolf ate him. You will not believe us, even though we are telling the truth.</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وَجَآءُو عَلَىٰ قَمِيصِهِ بِدَمٍ كَذِبٍ قَالَ بَلْ سَوَّلَتْ لَكُمْ أَنفُسُكُمْ أَمْرًا فَصَبْرٌ جَمِيلٌ وَاللَّهُ الْمُسْتَعَانُ عَلَىٰ مَا تَصِفُونَ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brought his shirt with false blood on it. Ya'qub said: No, your souls have made something bad look good to you. So I will be beautifully patient, with no complaining, and Allah is the One whose help is sought against what you describe.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وَجَآءَتْ سَيَّارَةٌ فَأَرْسَلُواْ وَارِدَهُمْ فَأَدْلَىٰ دَلْوَهُ قَالَ يَٰبُشْرَىٰ هَٰذَا غُلَٰمٌ وَأَسَرُّوهُ بِضَٰعَةً وَاللَّهُ عَلِيمٌ بِمَا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caravan of travellers came and sent someone to fetch water. He let down his bucket into the well, and Yusuf held on to it. He said: Good news! Here is a boy! They hid him as goods for trade, and Allah knew what they were doing.</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وَشَرَوْهُ بِثَمَنٍ بَخْسٍ دَرَٰهِمَ مَعْدُودَةٍ وَكَانُواْ فِيهِ مِنَ الزَّـٰهِدِينَ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sold him for a low price, a few coins, and they did not value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In the Minister's House</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21 – 35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Yusuf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Yusuf settled in the house of the minister of Egypt, his firmness against temptation and his purity, his innocence becoming clear, then his choosing prison over sin.</a:t>
            </a:r>
            <a:endParaRPr lang="en-US" sz="17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 اشْتَرَىٰهُ مِن مِّصْرَ لِامْرَأَتِهِ أَكْرِمِي مَثْوَىٰهُ عَسَىٰ أَن يَنفَعَنَآ أَوْ نَتَّخِذَهُ وَلَدًا وَكَذَٰلِكَ مَكَّنَّا لِيُوسُفَ فِي الْأَرْضِ وَلِنُعَلِّمَهُ مِن تَأْوِيلِ الْأَحَادِيثِ وَاللَّهُ غَالِبٌ عَلَىٰ أَمْرِهِ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chief minister of Egypt who bought him said to his wife: Look after him well; perhaps he will benefit us or we may adopt him as a son. In this way We established Yusuf in the land, and to teach him the meaning of dreams. Allah always carries out His plan, but most people do not know.</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بَلَغَ أَشُدَّهُ ءَاتَيْنَٰهُ حُكْمًا وَعِلْمًا وَكَذَٰلِكَ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Yusuf reached his full strength, We gave him wisdom and knowledge. That is how We reward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وَرَٰوَدَتْهُ الَّتِي هُوَ فِي بَيْتِهَا عَن نَّفْسِهِ وَغَلَّقَتِ الْأَبْوَٰبَ وَقَالَتْ هَيْتَ لَكَ قَالَ مَعَاذَ اللَّهِ إِنَّهُ رَبِّي أَحْسَنَ مَثْوَايَ إِنَّهُ لَا يُفْلِحُ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minister's wife, in whose house he was, tried to tempt him to do wrong. She closed the doors and said: Come to me. He said: I seek refuge in Allah! Your husband, my master, has been good to me, so I will not betray him. The wrongdoers never succeed.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هَمَّتْ بِهِ وَهَمَّ بِهَا لَوْلَآ أَن رَّءَا بُرْهَٰنَ رَبِّهِ كَذَٰلِكَ لِنَصْرِفَ عَنْهُ السُّوءَ وَالْفَحْشَآءَ إِنَّهُ مِنْ عِبَادِنَا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was determined to sin, and a passing thought came to him that he did not act on, as he had seen a clear sign from his Lord, so he refused. That is how We turned evil and indecency away from him. He was one of Our sincere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وَاسْتَبَقَا الْبَابَ وَقَدَّتْ قَمِيصَهُ مِن دُبُرٍ وَأَلْفَيَا سَيِّدَهَا لَدَا الْبَابِ قَالَتْ مَا جَزَآءُ مَنْ أَرَادَ بِأَهْلِكَ سُوءًا إِلَّآ أَن يُسْجَنَ أَوْ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raced to the door, he running away and she chasing him, and she tore his shirt from behind. They found her husband at the door. She said: What should be the punishment for one who wanted to harm your family, except prison or a painful punishment?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هِيَ رَٰوَدَتْنِي عَن نَّفْسِي وَشَهِدَ شَاهِدٌ مِّنْ أَهْلِهَآ إِن كَانَ قَمِيصُهُ قُدَّ مِن قُبُلٍ فَصَدَقَتْ وَهُوَ 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said: She is the one who tried to tempt me. A witness from her family said: If his shirt is torn from the front, she is telling the truth and he is lying.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 قَمِيصُهُ قُدَّ مِن دُبُرٍ فَكَذَبَتْ وَهُوَ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his shirt is torn from behind, she is lying and he is telling the truth.</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رَءَا قَمِيصَهُ قُدَّ مِن دُبُرٍ قَالَ إِنَّهُ مِن كَيْدِكُنَّ إِنَّ كَيْدَكُنَّ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minister saw his shirt was torn from behind, he said: This is one of your plots, women; your plotting is great.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يُوسُفُ أَعْرِضْ عَنْ هَٰذَا وَاسْتَغْفِرِي لِذَنبِكِ إِنَّكِ كُنتِ مِنَ الْخَاطِـِٔينَ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turn away from this and do not mention it. And you, ask forgiveness for your sin; you were in the wrong.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نِسْوَةٌ فِي الْمَدِينَةِ امْرَأَتُ الْعَزِيزِ تُرَٰوِدُ فَتَىٰهَا عَن نَّفْسِهِ قَدْ شَغَفَهَا حُبًّا إِنَّا لَنَرَىٰهَا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Women in the city began talking: The minister's wife is trying to tempt her servant; love for him has filled her heart. We see her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سَمِعَتْ بِمَكْرِهِنَّ أَرْسَلَتْ إِلَيْهِنَّ وَأَعْتَدَتْ لَهُنَّ مُتَّكَـًٔا وَءَاتَتْ كُلَّ وَٰحِدَةٍ مِّنْهُنَّ سِكِّينًا وَقَالَتِ اخْرُجْ عَلَيْهِنَّ فَلَمَّا رَأَيْنَهُ أَكْبَرْنَهُ وَقَطَّعْنَ أَيْدِيَهُنَّ وَقُلْنَ حَٰشَ لِلَّهِ مَا هَٰذَا بَشَرًا إِنْ هَٰذَآ إِلَّا مَلَكٌ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she heard their talk, she invited them, prepared a gathering with cushions and food, and gave each of them a knife. She said to Yusuf: Come out before them. When they saw him, they were amazed by him and cut their hands with the knives in astonishment, and said: Allah forbid! This is no human; this is a noble angel!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فَذَٰلِكُنَّ الَّذِي لُمْتُنَّنِي فِيهِ وَلَقَدْ رَٰوَدتُّهُ عَن نَّفْسِهِ فَاسْتَعْصَمَ وَلَئِن لَّمْ يَفْعَلْ مَآ ءَامُرُهُ لَيُسْجَنَنَّ وَلَيَكُونًا مِّنَ الصَّـٰغِرِينَ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This is the one you blamed me about. I did try to tempt him, but he refused. If he does not do what I command, he will be put in prison and be among the humiliated.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السِّجْنُ أَحَبُّ إِلَيَّ مِمَّا يَدْعُونَنِي إِلَيْهِ وَإِلَّا تَصْرِفْ عَنِّي كَيْدَهُنَّ أَصْبُ إِلَيْهِنَّ وَأَكُن مِّنَ الْجَٰهِلِينَ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said: My Lord, prison is dearer to me than what they are calling me to. If You do not turn their plots away from me, I may lean towards them and be among the ignorant.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فَاسْتَجَابَ لَهُ رَبُّهُ فَصَرَفَ عَنْهُ كَيْدَهُنَّ إِنَّهُ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his Lord answered him and turned their plots away from him. He is the All-Hearing, the All-Knowing.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بَدَا لَهُم مِّن بَعْدِ مَا رَأَوُاْ الْأيَٰتِ لَيَسْجُنُنَّهُ حَتَّىٰ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even after they had seen the proofs of his innocence, the minister and his household decided to imprison him for a while, to silence people's talk.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Prison, Then Power</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36 – 57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Yusuf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Yusuf calling his two prison companions to tawhid, explaining their dreams and the king's dream, his innocence being made clear, and his being put in charge of the storehouses of Egypt.</a:t>
            </a:r>
            <a:endParaRPr lang="en-US" sz="17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وَدَخَلَ مَعَهُ السِّجْنَ فَتَيَانِ قَالَ أَحَدُهُمَآ إِنِّي أَرَىٰنِي أَعْصِرُ خَمْرًا وَقَالَ الْأخَرُ إِنِّي أَرَىٰنِي أَحْمِلُ فَوْقَ رَأْسِي خُبْزًا تَأْكُلُ الطَّيْرُ مِنْهُ نَبِّئْنَا بِتَأْوِيلِهِ إِنَّا نَرَىٰكَ مِنَ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Two young men entered prison with him. One said: I saw myself in a dream pressing grapes to make wine. The other said: I saw myself carrying bread on my head, and birds were eating from it. Tell us its meaning; we see you are one of those who do good.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لَا يَأْتِيكُمَا طَعَامٌ تُرْزَقَانِهِ إِلَّا نَبَّأْتُكُمَا بِتَأْوِيلِهِ قَبْلَ أَن يَأْتِيَكُمَا ذَٰلِكُمَا مِمَّا عَلَّمَنِي رَبِّي إِنِّي تَرَكْتُ مِلَّةَ قَوْمٍ لَّا يُؤْمِنُونَ بِاللَّهِ وَهُم بِالْأخِرَةِ 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Before any food you are given comes to you, I will tell you the meaning. That is part of what my Lord has taught me. I have left the religion of a people who do not believe in Allah and who disbelieve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وَاتَّبَعْتُ مِلَّةَ ءَابَآءِي إِبْرَٰهِيمَ وَإِسْحَٰقَ وَيَعْقُوبَ مَا كَانَ لَنَآ أَن نُّشْرِكَ بِاللَّهِ مِن شَيْءٍ ذَٰلِكَ مِن فَضْلِ اللَّهِ عَلَيْنَا وَعَلَى النَّاسِ وَلَٰكِنَّ أَكْثَرَ النَّاسِ 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follow the religion of my fathers Ibrahim, Ishaq and Ya'qub. It is not right for us to associate anything with Allah. That is from Allah's favour on us and on people, but most people are not thankful.</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يَٰصَٰحِبَيِ السِّجْنِ ءَأَرْبَابٌ مُّتَفَرِّقُونَ خَيْرٌ أَمِ اللَّهُ الْوَٰحِدُ الْقَهَّارُ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two prison companions, are many different gods better, or Allah, the One, the Irresistible?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تَعْبُدُونَ مِن دُونِهِ إِلَّآ أَسْمَآءً سَمَّيْتُمُوهَآ أَنتُمْ وَءَابَآؤُكُم مَّآ أَنزَلَ اللَّهُ بِهَا مِن سُلْطَٰنٍ إِنِ الْحُكْمُ إِلَّا لِلَّهِ أَمَرَ أَلَّا تَعْبُدُواْ إِلَّآ إِيَّاهُ ذَٰلِكَ الدِّينُ الْقَيِّمُ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you worship besides Him are only names you and your fathers made up, for which Allah sent down no proof. Judgement belongs only to Allah. He has commanded that you worship none but Him. That is the upright religion, but most people do not know. So he called them to tawhid before explaining their dreams.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يَٰصَٰحِبَيِ السِّجْنِ أَمَّآ أَحَدُكُمَا فَيَسْقِي رَبَّهُ خَمْرًا وَأَمَّا الْأخَرُ فَيُصْلَبُ فَتَأْكُلُ الطَّيْرُ مِن رَّأْسِهِ قُضِيَ الْأَمْرُ الَّذِي فِيهِ تَسْتَفْتِيَانِ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two prison companions, one of you will be released and pour wine for his master, and the other will be crucified and birds will eat from his head. The matter you asked about has been decided.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لِلَّذِي ظَنَّ أَنَّهُ نَاجٍ مِّنْهُمَا اذْكُرْنِي عِندَ رَبِّكَ فَأَنسَىٰهُ الشَّيْطَٰنُ ذِكْرَ رَبِّهِ فَلَبِثَ فِي السِّجْنِ بِضْعَ 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said to the one he knew would be saved: Mention me to your master, the king. But Satan made him forget to mention him to the king, so Yusuf stayed in prison for several years.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الْمَلِكُ إِنِّي أَرَىٰ سَبْعَ بَقَرَٰتٍ سِمَانٍ يَأْكُلُهُنَّ سَبْعٌ عِجَافٌ وَسَبْعَ سُنبُلَٰتٍ خُضْرٍ وَأُخَرَ يَابِسَٰتٍ يَـٰأَيُّهَا الْمَلَأُ أَفْتُونِي فِي رُءْيَٰيَ إِن كُنتُمْ لِلرُّءْيَا تَعْبُرُونَ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king said: I saw in a dream seven fat cows being eaten by seven thin cows, and seven green ears of corn and seven others dry. O chiefs, explain my dream to me, if you can interpret dreams.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أَضْغَٰثُ أَحْلَٰمٍ وَمَا نَحْنُ بِتَأْوِيلِ الْأَحْلَٰمِ بِعَٰلِمِينَ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These are confused dreams, and we do not know how to interpret dreams.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 نَجَا مِنْهُمَا وَادَّكَرَ بَعْدَ أُمَّةٍ أَنَا أُنَبِّئُكُم بِتَأْوِيلِهِ فَأَرْسِلُونِ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of the two prisoners who had been saved, remembering Yusuf after a long time, said: I will tell you its meaning, so send me to Yusuf.</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يُوسُفُ أَيُّهَا الصِّدِّيقُ أَفْتِنَا فِي سَبْعِ بَقَرَٰتٍ سِمَانٍ يَأْكُلُهُنَّ سَبْعٌ عِجَافٌ وَسَبْعِ سُنبُلَٰتٍ خُضْرٍ وَأُخَرَ يَابِسَٰتٍ لَّعَلِّي أَرْجِعُ إِلَى النَّاسِ لَعَلَّهُمْ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Yusuf, O truthful one, explain to us the dream of seven fat cows being eaten by seven thin ones, and seven green ears of corn and others dry, so that I may go back to the people and they may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تَزْرَعُونَ سَبْعَ سِنِينَ دَأَبًا فَمَا حَصَدتُّمْ فَذَرُوهُ فِي سُنبُلِهِ إِلَّا قَلِيلًا مِّمَّا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said: Farm hard for seven years in a row. Leave what you harvest in its ears to protect it from insects, except a little that you eat.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يَأْتِي مِن بَعْدِ ذَٰلِكَ سَبْعٌ شِدَادٌ يَأْكُلْنَ مَا قَدَّمْتُمْ لَهُنَّ إِلَّا قَلِيلًا مِّمَّا تُحْصِنُونَ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that will come seven years of terrible drought, which will eat up what you stored for them, except a little that you keep for seed.</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يَأْتِي مِن بَعْدِ ذَٰلِكَ عَامٌ فِيهِ يُغَاثُ النَّاسُ وَفِيهِ يَعْصِرُونَ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that will come a year in which people will be given plenty of rain and will press grapes and olives because of the abundance.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الْمَلِكُ ائْتُونِي بِهِ فَلَمَّا جَآءَهُ الرَّسُولُ قَالَ ارْجِعْ إِلَىٰ رَبِّكَ فَسْـَٔلْهُ مَا بَالُ النِّسْوَةِ الَّـٰتِي قَطَّعْنَ أَيْدِيَهُنَّ إِنَّ رَبِّي بِكَيْدِهِنَّ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king said: Bring him to me. When the messenger came to him, Yusuf said: Go back to your master and ask him: What about the women who cut their hands? My Lord knows their plotting well. He wanted his innocence made clear before leaving.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مَا خَطْبُكُنَّ إِذْ رَٰوَدتُّنَّ يُوسُفَ عَن نَّفْسِهِ قُلْنَ حَٰشَ لِلَّهِ مَا عَلِمْنَا عَلَيْهِ مِن سُوءٍ قَالَتِ امْرَأَتُ الْعَزِيزِ الْـَٰٔنَ حَصْحَصَ الْحَقُّ أَنَا رَٰوَدتُّهُ عَن نَّفْسِهِ وَإِنَّهُ لَمِنَ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king said to the women: What happened when you tried to tempt Yusuf? They said: Allah forbid! We know nothing bad about him. The minister's wife said: Now the truth has come out. I tried to tempt him, and he is truthful.</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لِيَعْلَمَ أَنِّي لَمْ أَخُنْهُ بِالْغَيْبِ وَأَنَّ اللَّهَ لَا يَهْدِي كَيْدَ الْخَآئِنِينَ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I admit this so that Yusuf knows I did not betray him behind his back by lying about him, and that Allah does not guide the plots of the betrayers.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أُبَرِّئُ نَفْسِي إِنَّ النَّفْسَ لَأَمَّارَةٌ بِالسُّوءِ إِلَّا مَا رَحِمَ رَبِّي إِنَّ رَبِّي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claim my soul is innocent; the soul often commands evil, except when my Lord has mercy. My Lord is Forgiving, Most Merciful.</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الْمَلِكُ ائْتُونِي بِهِ أَسْتَخْلِصْهُ لِنَفْسِي فَلَمَّا كَلَّمَهُ قَالَ إِنَّكَ الْيَوْمَ لَدَيْنَا مَكِينٌ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king said: Bring him to me; I will take him as my close adviser. When he spoke to him and saw his knowledge, he said: Today you have a high and trusted position with us.</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اجْعَلْنِي عَلَىٰ خَزَآئِنِ الْأَرْضِ إِنِّي حَفِيظٌ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 said: Put me in charge of the storehouses of the land of Egypt. I am a careful guardian and know how to manage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مَكَّنَّا لِيُوسُفَ فِي الْأَرْضِ يَتَبَوَّأُ مِنْهَا حَيْثُ يَشَآءُ نُصِيبُ بِرَحْمَتِنَا مَن نَّشَآءُ وَلَا نُضِيعُ أَجْرَ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established Yusuf in the land of Egypt, to settle wherever he wished. We give Our mercy to whom We will, and We do not let the reward of those who do good be lost.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وَلَأَجْرُ الْأخِرَةِ خَيْرٌ لِّلَّذِينَ ءَامَنُواْ وَكَانُواْ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reward of the Hereafter is better for those who believe and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Meeting the Brothers</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58 – 82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Yusuf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Yusuf's brothers coming for food, his asking them to bring their brother Binyamin, the plan with the king's cup so his brother would stay with him, and the brothers' confusion.</a:t>
            </a:r>
            <a:endParaRPr lang="en-US" sz="17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إِخْوَةُ يُوسُفَ فَدَخَلُواْ عَلَيْهِ فَعَرَفَهُمْ وَهُمْ لَهُ مُنكِرُونَ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Yusuf's brothers came to Egypt asking for food in the years of drought. They came in to him, and he recognised them, but they did not recognise him.</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جَهَّزَهُم بِجَهَازِهِمْ قَالَ ائْتُونِي بِأَخٍ لَّكُم مِّنْ أَبِيكُمْ أَلَا تَرَوْنَ أَنِّي أُوفِي الْكَيْلَ وَأَنَا خَيْرُ الْمُنزِلِينَ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had given them the food they asked for, he said: Bring me your brother from your father. Do you not see that I give full measure and am the best of hosts?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لَّمْ تَأْتُونِي بِهِ فَلَا كَيْلَ لَكُمْ عِندِي وَلَا تَقْرَبُونِ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not bring him to me, you will get no food from me, and do not come near my land.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سَنُرَٰوِدُ عَنْهُ أَبَاهُ وَإِنَّا لَفَٰعِلُونَ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will ask his father for him and try to convince him; we will surely do it.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لِفِتْيَٰنِهِ اجْعَلُواْ بِضَٰعَتَهُمْ فِي رِحَالِهِمْ لَعَلَّهُمْ يَعْرِفُونَهَآ إِذَا انقَلَبُواْ إِلَىٰ أَهْلِهِمْ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told his servants: Put the money they paid back into their bags, so they will recognise it when they return to their family, and perhaps they will come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رَجَعُواْ إِلَىٰ أَبِيهِمْ قَالُواْ يَـٰأَبَانَا مُنِعَ مِنَّا الْكَيْلُ فَأَرْسِلْ مَعَنَآ أَخَانَا نَكْتَلْ وَإِنَّا لَهُ لَحَٰفِظُونَ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returned to their father they said: O our father, food will be refused to us unless we take our brother, so send him with us to get food, and we will take care of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هَلْ ءَامَنُكُمْ عَلَيْهِ إِلَّا كَمَآ أَمِنتُكُمْ عَلَىٰ أَخِيهِ مِن قَبْلُ فَاللَّهُ خَيْرٌ حَٰفِظًا وَهُوَ أَرْحَمُ الرَّـٰحِمِينَ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Should I trust you with him as I trusted you with his brother Yusuf before? But Allah is the best Guardian, and He is the Most Merciful of the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95603"/>
            <a:ext cx="548640" cy="548640"/>
          </a:xfrm>
          <a:prstGeom prst="star8">
            <a:avLst/>
          </a:prstGeom>
          <a:solidFill>
            <a:schemeClr val="accent2"/>
          </a:solidFill>
          <a:ln/>
        </p:spPr>
      </p:sp>
      <p:sp>
        <p:nvSpPr>
          <p:cNvPr id="6" name="Shape 4"/>
          <p:cNvSpPr/>
          <p:nvPr/>
        </p:nvSpPr>
        <p:spPr>
          <a:xfrm>
            <a:off x="822960" y="150533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956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377315"/>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فَتَحُواْ مَتَٰعَهُمْ وَجَدُواْ بِضَٰعَتَهُمْ رُدَّتْ إِلَيْهِمْ قَالُواْ يَـٰأَبَانَا مَا نَبْغِي هَٰذِهِ بِضَٰعَتُنَا رُدَّتْ إِلَيْنَا وَنَمِيرُ أَهْلَنَا وَنَحْفَظُ أَخَانَا وَنَزْدَادُ كَيْلَ بَعِيرٍ ذَٰلِكَ كَيْلٌ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opened their bags, they found their money returned to them. They said: O our father, what more could we want after this kindness? Here is our money returned to us. We will bring food for our family, take care of our brother, and get an extra camel-load. That is an easy amount for the king.</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3994785"/>
            <a:ext cx="548640" cy="548640"/>
          </a:xfrm>
          <a:prstGeom prst="star8">
            <a:avLst/>
          </a:prstGeom>
          <a:solidFill>
            <a:schemeClr val="accent2"/>
          </a:solidFill>
          <a:ln/>
        </p:spPr>
      </p:sp>
      <p:sp>
        <p:nvSpPr>
          <p:cNvPr id="11" name="Shape 9"/>
          <p:cNvSpPr/>
          <p:nvPr/>
        </p:nvSpPr>
        <p:spPr>
          <a:xfrm>
            <a:off x="822960" y="4104513"/>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9478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976497"/>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لَنْ أُرْسِلَهُ مَعَكُمْ حَتَّىٰ تُؤْتُونِ مَوْثِقًا مِّنَ اللَّهِ لَتَأْتُنَّنِي بِهِ إِلَّآ أَن يُحَاطَ بِكُمْ فَلَمَّآ ءَاتَوْهُ مَوْثِقَهُمْ قَالَ اللَّهُ عَلَىٰ مَا نَقُولُ 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will not send him with you until you give me a firm promise by Allah that you will bring him back to me, unless you are all overpowered. When they gave him their promise, he said: Allah is Witness over what we say.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يَٰبَنِيَّ لَا تَدْخُلُواْ مِن بَابٍ وَٰحِدٍ وَادْخُلُواْ مِنْ أَبْوَٰبٍ مُّتَفَرِّقَةٍ وَمَآ أُغْنِي عَنكُم مِّنَ اللَّهِ مِن شَيْءٍ إِنِ الْحُكْمُ إِلَّا لِلَّهِ عَلَيْهِ تَوَكَّلْتُ وَعَلَيْهِ فَلْيَتَوَكَّلِ الْمُتَوَكِّلُونَ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sons, do not enter by one gate; enter by different gates, fearing the evil eye for you. But I cannot help you at all against Allah. Judgement belongs only to Allah. In Him I put my trust, and in Him let all who trust put their trust.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دَخَلُواْ مِنْ حَيْثُ أَمَرَهُمْ أَبُوهُم مَّا كَانَ يُغْنِي عَنْهُم مِّنَ اللَّهِ مِن شَيْءٍ إِلَّا حَاجَةً فِي نَفْسِ يَعْقُوبَ قَضَىٰهَا وَإِنَّهُ لَذُو عِلْمٍ لِّمَا عَلَّمْنَٰهُ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entered as their father told them, it could not protect them from anything Allah had decreed; it was only a wish in Ya'qub's heart that he fulfilled. He had knowledge because We taught him, but most people do not know.</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دَخَلُواْ عَلَىٰ يُوسُفَ ءَاوَىٰ إِلَيْهِ أَخَاهُ قَالَ إِنِّي أَنَا أَخُوكَ فَلَا تَبْتَئِسْ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in to Yusuf, he took his brother Binyamin aside and said: I am your brother Yusuf, so do not be sad about what they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جَهَّزَهُم بِجَهَازِهِمْ جَعَلَ السِّقَايَةَ فِي رَحْلِ أَخِيهِ ثُمَّ أَذَّنَ مُؤَذِّنٌ أَيَّتُهَا الْعِيرُ إِنَّكُمْ لَسَٰرِقُونَ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had given them their food, he put the king's cup in his brother's bag. Then a caller announced: O caravan, you are thieves!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وَأَقْبَلُواْ عَلَيْهِم مَّاذَا تَفْقِدُونَ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turned towards them and said: What are you missing?</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نَفْقِدُ صُوَاعَ الْمَلِكِ وَلِمَن جَآءَ بِهِ حِمْلُ بَعِيرٍ وَأَنَا بِهِ زَعِيمٌ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are missing the king's cup. Whoever brings it will get a camel-load, and I guarantee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تَاللَّهِ لَقَدْ عَلِمْتُم مَّا جِئْنَا لِنُفْسِدَ فِي الْأَرْضِ وَمَا كُنَّا سَٰرِقِينَ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By Allah, you know we did not come to spread corruption in the land, and we are not thieves.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فَمَا جَزَـٰؤُهُ إِن كُنتُمْ 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Then what should be the punishment if you are lying?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جَزَـٰؤُهُ مَن وُجِدَ فِي رَحْلِهِ فَهُوَ جَزَـٰؤُهُ كَذَٰلِكَ نَجْزِي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 punishment is that the one in whose bag it is found becomes a servant. That is how we punish wrongdoers in our law.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فَبَدَأَ بِأَوْعِيَتِهِمْ قَبْلَ وِعَآءِ أَخِيهِ ثُمَّ اسْتَخْرَجَهَا مِن وِعَآءِ أَخِيهِ كَذَٰلِكَ كِدْنَا لِيُوسُفَ مَا كَانَ لِيَأْخُذَ أَخَاهُ فِي دِينِ الْمَلِكِ إِلَّآ أَن يَشَآءَ اللَّهُ نَرْفَعُ دَرَجَٰتٍ مَّن نَّشَآءُ وَفَوْقَ كُلِّ ذِي عِلْمٍ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began searching their bags before his brother's bag, then brought the cup out of his brother's bag. That is how We planned for Yusuf. He could not have kept his brother under the king's law unless Allah willed. We raise in rank whom We will, and above everyone with knowledge is One more 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 يَسْرِقْ فَقَدْ سَرَقَ أَخٌ لَّهُ مِن قَبْلُ فَأَسَرَّهَا يُوسُفُ فِي نَفْسِهِ وَلَمْ يُبْدِهَا لَهُمْ قَالَ أَنتُمْ شَرٌّ مَّكَانًا وَاللَّهُ أَعْلَمُ بِمَا تَصِفُونَ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If he steals, a brother of his stole before, meaning Yusuf. But Yusuf kept it to himself and did not show it to them. He said to himself: You are in a worse position, and Allah knows best what you describe.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يَـٰأَيُّهَا الْعَزِيزُ إِنَّ لَهُ أَبًا شَيْخًا كَبِيرًا فَخُذْ أَحَدَنَا مَكَانَهُ إِنَّا نَرَىٰكَ مِنَ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minister, he has a very old father who loves him, so take one of us in his place. We see you are one of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مَعَاذَ اللَّهِ أَن نَّأْخُذَ إِلَّا مَن وَجَدْنَا مَتَٰعَنَا عِندَهُ إِنَّآ إِذًا لَّظَٰلِمُونَ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Allah forbid that we take anyone except the one with whom we found our property; then we would be wrongdoers.</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اسْتَيْـَٔسُواْ مِنْهُ خَلَصُواْ نَجِيًّا قَالَ كَبِيرُهُمْ أَلَمْ تَعْلَمُواْ أَنَّ أَبَاكُمْ قَدْ أَخَذَ عَلَيْكُم مَّوْثِقًا مِّنَ اللَّهِ وَمِن قَبْلُ مَا فَرَّطتُمْ فِي يُوسُفَ فَلَنْ أَبْرَحَ الْأَرْضَ حَتَّىٰ يَأْذَنَ لِي أَبِي أَوْ يَحْكُمَ اللَّهُ لِي وَهُوَ خَيْرُ الْحَٰكِمِينَ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lost hope in him, they went aside to talk privately. Their eldest said: Do you not know that your father took a promise from you by Allah, and before that you failed with Yusuf? I will not leave the land of Egypt until my father allows me or Allah judges for me, and He is the best of judges.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ارْجِعُواْ إِلَىٰ أَبِيكُمْ فَقُولُواْ يَـٰأَبَانَآ إِنَّ ابْنَكَ سَرَقَ وَمَا شَهِدْنَآ إِلَّا بِمَا عَلِمْنَا وَمَا كُنَّا لِلْغَيْبِ حَٰفِظِينَ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back to your father and say: O our father, your son stole. We only testify to what we know, and we could not know the unseen.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وَسْـَٔلِ الْقَرْيَةَ الَّتِي كُنَّا فِيهَا وَالْعِيرَ الَّتِي أَقْبَلْنَا فِيهَا وَإِنَّا لَصَٰدِقُونَ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the people of the town we were in and the caravan we came with; we are telling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The Family Reunited</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83 – 111</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Yusuf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Ya'qub's grief and hope in Allah's mercy, Yusuf revealing himself and forgiving his brothers, Ya'qub's sight returning, the dream coming true, and Yusuf's prayer for a good end.</a:t>
            </a:r>
            <a:endParaRPr lang="en-US" sz="17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بَلْ سَوَّلَتْ لَكُمْ أَنفُسُكُمْ أَمْرًا فَصَبْرٌ جَمِيلٌ عَسَى اللَّهُ أَن يَأْتِيَنِي بِهِمْ جَمِيعًا إِنَّهُ هُوَ الْعَلِيمُ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Ya'qub said: No, your souls have made something look good to you. So I will be beautifully patient. Perhaps Allah will bring them all back to me. He is the All-Knowing, the All-Wise.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وَتَوَلَّىٰ عَنْهُمْ وَقَالَ يَـٰأَسَفَىٰ عَلَىٰ يُوسُفَ وَابْيَضَّتْ عَيْنَاهُ مِنَ الْحُزْنِ فَهُوَ كَظِيمٌ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turned away from them and said: Oh, my sorrow for Yusuf! His eyes turned white from so much grief and weeping, and he held back his sadness.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تَاللَّهِ تَفْتَؤُاْ تَذْكُرُ يُوسُفَ حَتَّىٰ تَكُونَ حَرَضًا أَوْ تَكُونَ مِنَ الْهَٰلِكِينَ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By Allah, you will keep remembering Yusuf until you become ill or die.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إِنَّمَآ أَشْكُواْ بَثِّي وَحُزْنِي إِلَى اللَّهِ وَأَعْلَمُ مِنَ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only complain of my sorrow and grief to Allah, and I know from Allah what you do not know.</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اذْهَبُواْ فَتَحَسَّسُواْ مِن يُوسُفَ وَأَخِيهِ وَلَا تَاْيْـَٔسُواْ مِن رَّوْحِ اللَّهِ إِنَّهُ لَا يَاْيْـَٔسُ مِن رَّوْحِ اللَّهِ إِلَّا الْقَوْمُ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sons, go and search for Yusuf and his brother, and do not lose hope in Allah's mercy. No one loses hope in Allah's mercy except the disbelieving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دَخَلُواْ عَلَيْهِ قَالُواْ يَـٰأَيُّهَا الْعَزِيزُ مَسَّنَا وَأَهْلَنَا الضُّرُّ وَجِئْنَا بِبِضَٰعَةٍ مُّزْجَىٰةٍ فَأَوْفِ لَنَا الْكَيْلَ وَتَصَدَّقْ عَلَيْنَآ إِنَّ اللَّهَ يَجْزِي الْمُتَصَدِّقِينَ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in to Yusuf, they said: O minister, hardship has struck us and our family, and we have brought a small, poor payment. So give us full measure and be charitable to us; Allah rewards the charitable.</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هَلْ عَلِمْتُم مَّا فَعَلْتُم بِيُوسُفَ وَأَخِيهِ إِذْ أَنتُمْ 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Do you know what you did to Yusuf and his brother when you were ignorant?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أَءِنَّكَ لَأَنتَ يُوسُفُ قَالَ أَنَا يُوسُفُ وَهَٰذَآ أَخِي قَدْ مَنَّ اللَّهُ عَلَيْنَآ إِنَّهُ مَن يَتَّقِ وَيَصْبِرْ فَإِنَّ اللَّهَ لَا يُضِيعُ أَجْرَ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Are you really Yusuf? He said: I am Yusuf, and this is my brother. Allah has been gracious to us. Whoever has taqwa and is patient, Allah does not let the reward of those who do good be lost.</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تَاللَّهِ لَقَدْ ءَاثَرَكَ اللَّهُ عَلَيْنَا وَإِن كُنَّا لَخَٰطِـِٔينَ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By Allah, Allah has preferred you over us, and we were truly in the wrong.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39217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لَا تَثْرِيبَ عَلَيْكُمُ الْيَوْمَ يَغْفِرُ اللَّهُ لَكُمْ وَهُوَ أَرْحَمُ الرَّـٰحِمِينَ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No blame on you today. May Allah forgive you; He is the Most Merciful of the merciful. The Prophet (peace be upon him) said these same words to Quraysh on the day of the Conquest of Makkah.</a:t>
            </a:r>
            <a:endParaRPr lang="en-US" sz="3000" dirty="0"/>
          </a:p>
        </p:txBody>
      </p:sp>
      <p:sp>
        <p:nvSpPr>
          <p:cNvPr id="9" name="Shape 7"/>
          <p:cNvSpPr/>
          <p:nvPr/>
        </p:nvSpPr>
        <p:spPr>
          <a:xfrm>
            <a:off x="1444752" y="3044952"/>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اذْهَبُواْ بِقَمِيصِي هَٰذَا فَأَلْقُوهُ عَلَىٰ وَجْهِ أَبِي يَأْتِ بَصِيرًا وَأْتُونِي بِأَهْلِكُمْ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Take this shirt of mine and put it on my father's face; he will be able to see again. And bring me all your family.</a:t>
            </a:r>
            <a:endParaRPr lang="en-US" sz="3000" dirty="0"/>
          </a:p>
        </p:txBody>
      </p:sp>
      <p:sp>
        <p:nvSpPr>
          <p:cNvPr id="14" name="Shape 12"/>
          <p:cNvSpPr/>
          <p:nvPr/>
        </p:nvSpPr>
        <p:spPr>
          <a:xfrm>
            <a:off x="1444752" y="4604004"/>
            <a:ext cx="8641080" cy="0"/>
          </a:xfrm>
          <a:prstGeom prst="line">
            <a:avLst/>
          </a:prstGeom>
          <a:noFill/>
          <a:ln w="9525">
            <a:solidFill>
              <a:schemeClr val="accent2"/>
            </a:solidFill>
            <a:prstDash val="dash"/>
          </a:ln>
        </p:spPr>
      </p:sp>
      <p:sp>
        <p:nvSpPr>
          <p:cNvPr id="15" name="Shape 13"/>
          <p:cNvSpPr/>
          <p:nvPr/>
        </p:nvSpPr>
        <p:spPr>
          <a:xfrm>
            <a:off x="713232" y="4789170"/>
            <a:ext cx="548640" cy="548640"/>
          </a:xfrm>
          <a:prstGeom prst="star8">
            <a:avLst/>
          </a:prstGeom>
          <a:solidFill>
            <a:schemeClr val="accent2"/>
          </a:solidFill>
          <a:ln/>
        </p:spPr>
      </p:sp>
      <p:sp>
        <p:nvSpPr>
          <p:cNvPr id="16" name="Shape 14"/>
          <p:cNvSpPr/>
          <p:nvPr/>
        </p:nvSpPr>
        <p:spPr>
          <a:xfrm>
            <a:off x="822960" y="489889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891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8" name="Text 16"/>
          <p:cNvSpPr txBox="1"/>
          <p:nvPr/>
        </p:nvSpPr>
        <p:spPr>
          <a:xfrm>
            <a:off x="1444752" y="47708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فَصَلَتِ الْعِيرُ قَالَ أَبُوهُمْ إِنِّي لَأَجِدُ رِيحَ يُوسُفَ لَوْلَآ أَن تُفَنِّدُونِ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caravan left Egypt, Ya'qub said to those with him: I can smell Yusuf, if you will not say I have lost my mind.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95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تَاللَّهِ إِنَّكَ لَفِي ضَلَٰلِكَ الْقَدِيمِ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By Allah, you are still in your old mistake of loving Yusuf.</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أَن جَآءَ الْبَشِيرُ أَلْقَىٰهُ عَلَىٰ وَجْهِهِ فَارْتَدَّ بَصِيرًا قَالَ أَلَمْ أَقُل لَّكُمْ إِنِّي أَعْلَمُ مِنَ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bearer of good news came, he put the shirt on his face, and he could see again. He said: Did I not tell you that I know from Allah what you do not know?</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يَـٰأَبَانَا اسْتَغْفِرْ لَنَا ذُنُوبَنَآ إِنَّا كُنَّا خَٰطِـِٔينَ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our father, ask forgiveness for our sins; we were truly in the wrong.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238429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سَوْفَ أَسْتَغْفِرُ لَكُمْ رَبِّي إِنَّهُ هُوَ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will ask my Lord to forgive you; He is the Forgiving, the Most Merciful.</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77875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دَخَلُواْ عَلَىٰ يُوسُفَ ءَاوَىٰ إِلَيْهِ أَبَوَيْهِ وَقَالَ ادْخُلُواْ مِصْرَ إِن شَآءَ اللَّهُ ءَامِنِينَ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in to Yusuf, he took his parents to himself and said: Enter Egypt, if Allah wills, in safety.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وَرَفَعَ أَبَوَيْهِ عَلَى الْعَرْشِ وَخَرُّواْ لَهُ سُجَّدًا وَقَالَ يَـٰأَبَتِ هَٰذَا تَأْوِيلُ رُءْيَٰيَ مِن قَبْلُ قَدْ جَعَلَهَا رَبِّي حَقًّا وَقَدْ أَحْسَنَ بِي إِذْ أَخْرَجَنِي مِنَ السِّجْنِ وَجَآءَ بِكُم مِّنَ الْبَدْوِ مِن بَعْدِ أَن نَّزَغَ الشَّيْطَٰنُ بَيْنِي وَبَيْنَ إِخْوَتِي إِنَّ رَبِّي لَطِيفٌ لِّمَا يَشَآءُ إِنَّهُ هُوَ الْعَلِيمُ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raised his parents onto the throne, and they all bowed down to him as a greeting and honour, which was allowed in their law. He said: O my father, this is the meaning of my dream of long ago; my Lord has made it come true. He was good to me when He brought me out of prison and brought you from the desert, after Satan had come between me and my brothers. My Lord is Gentle in what He wills; He is the All-Knowing,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قَدْ ءَاتَيْتَنِي مِنَ الْمُلْكِ وَعَلَّمْتَنِي مِن تَأْوِيلِ الْأَحَادِيثِ فَاطِرَ السَّمَٰوَٰتِ وَالْأَرْضِ أَنتَ وَلِيِّ فِي الدُّنْيَا وَالْأخِرَةِ تَوَفَّنِي مُسْلِمًا وَأَلْحِقْنِي بِالصَّـٰلِحِينَ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You have given me some authority and taught me the meaning of dreams. Creator of the heavens and the earth, You are my Protector in this world and the Hereafter. Let me die as a Muslim and join me with the righteous.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مِنْ أَنبَآءِ الْغَيْبِ نُوحِيهِ إِلَيْكَ وَمَا كُنتَ لَدَيْهِمْ إِذْ أَجْمَعُواْ أَمْرَهُمْ وَهُمْ يَمْكُرُونَ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from the news of the unseen that We reveal to you, O Muhammad. You were not with them when they agreed to throw Yusuf into the well and plotted.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أَكْثَرُ النَّاسِ وَلَوْ حَرَصْتَ بِمُؤْمِنِينَ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Most people will not believe, however much you want them to.</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تَسْـَٔلُهُمْ عَلَيْهِ مِنْ أَجْرٍ إِنْ هُوَ إِلَّا ذِكْرٌ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do not ask them for any payment for the Qur'an; it is only a reminder for the worlds.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وَكَأَيِّن مِّنْ ءَايَةٍ فِي السَّمَٰوَٰتِ وَالْأَرْضِ يَمُرُّونَ عَلَيْهَا وَهُمْ عَنْهَا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signs in the heavens and the earth they pass by while turning away from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يُؤْمِنُ أَكْثَرُهُم بِاللَّهِ إِلَّا وَهُم مُّشْرِكُونَ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Most of them do not believe that Allah is their Creator without also associating others with Him in worship.</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أَفَأَمِنُواْ أَن تَأْتِيَهُمْ غَٰشِيَةٌ مِّنْ عَذَابِ اللَّهِ أَوْ تَأْتِيَهُمُ السَّاعَةُ بَغْتَةً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feel safe that a covering punishment from Allah will not come to them, or that the Hour will not come upon them suddenly while they do not expect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هَٰذِهِ سَبِيلِي أَدْعُواْ إِلَى اللَّهِ عَلَىٰ بَصِيرَةٍ أَنَا وَمَنِ اتَّبَعَنِي وَسُبْحَٰنَ اللَّهِ وَمَآ أَنَا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This is my way: I call to Allah with knowledge and certainty, I and those who follow me. Glory be to Allah, and I am not one of the idol-worshippers.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مِن قَبْلِكَ إِلَّا رِجَالًا نُّوحِي إِلَيْهِم مِّنْ أَهْلِ الْقُرَىٰ أَفَلَمْ يَسِيرُواْ فِي الْأَرْضِ فَيَنظُرُواْ كَيْفَ كَانَ عَٰقِبَةُ الَّذِينَ مِن قَبْلِهِمْ وَلَدَارُ الْأخِرَةِ خَيْرٌ لِّلَّذِينَ اتَّقَوْاْ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before you only men to whom We gave revelation, from the people of the towns. Have they not travelled through the land and seen what happened to those before them? The Home of the Hereafter is better for those with taqwa.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Yusuf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110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اسْتَيْـَٔسَ الرُّسُلُ وَظَنُّواْ أَنَّهُمْ قَدْ كُذِبُواْ جَآءَهُمْ نَصْرُنَا فَنُجِّيَ مَن نَّشَآءُ وَلَا يُرَدُّ بَأْسُنَا عَنِ الْقَوْمِ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the messengers lost hope that their people would believe, and the disbelievers thought the messengers had been lied to about the promised help, Our help came to them. We saved whom We willed, and Our punishment cannot be turned away from the criminal people.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كَانَ فِي قَصَصِهِمْ عِبْرَةٌ لِّأُوْلِي الْأَلْبَٰبِ مَا كَانَ حَدِيثًا يُفْتَرَىٰ وَلَٰكِن تَصْدِيقَ الَّذِي بَيْنَ يَدَيْهِ وَتَفْصِيلَ كُلِّ شَيْءٍ وَهُدًى وَرَحْمَةً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stories of the prophets is a lesson for people of understanding. The Qur'an is not a made-up story; it confirms the Books before it, explains everything in detail, and is guidance and mercy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Truth and Falsehood</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2</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18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Ar-Ra'd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that 'Amir ibn At-Tufayl and Arbad ibn Rabi'ah came to the Prophet (peace be upon him) wanting to betray him, but went back disappointed. Then Allah sent a thunderbolt on Arbad that burned him, and this was revealed: “He sends thunderbolts and strikes with them whom He wills, while they argue about Allah”.</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Signs of Allah's power in raising the sky, spreading the earth and the variety of fruits, His all-encompassing knowledge, the guardian angels, the thunder glorifying Him, and the example of truth and falsehood as water and foam.</a:t>
            </a:r>
            <a:endParaRPr lang="en-US" sz="17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المر تِلْكَ ءَايَٰتُ الْكِتَٰبِ وَالَّذِي أُنزِلَ إِلَيْكَ مِن رَّبِّكَ الْحَقُّ وَلَٰكِنَّ أَكْثَرَ النَّاسِ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These are the verses of the Book, and what has been sent down to you from your Lord is the truth, but most people do not believe.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رَفَعَ السَّمَٰوَٰتِ بِغَيْرِ عَمَدٍ تَرَوْنَهَا ثُمَّ اسْتَوَىٰ عَلَى الْعَرْشِ وَسَخَّرَ الشَّمْسَ وَالْقَمَرَ كُلٌّ يَجْرِي لِأَجَلٍ مُّسَمًّى يُدَبِّرُ الْأَمْرَ يُفَصِّلُ الْأيَٰتِ لَعَلَّكُم بِلِقَآءِ رَبِّكُمْ تُوقِنُونَ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raised the heavens without pillars that you can see, then rose over the Throne in a way that suits His majesty. He made the sun and the moon serve, each running for a set time. He manages every affair and explains the signs so that you may be certain of meeting your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مَدَّ الْأَرْضَ وَجَعَلَ فِيهَا رَوَٰسِيَ وَأَنْهَٰرًا وَمِن كُلِّ الثَّمَرَٰتِ جَعَلَ فِيهَا زَوْجَيْنِ اثْنَيْنِ يُغْشِي الَّيْلَ النَّهَارَ إِنَّ فِي ذَٰلِكَ لَأيَٰتٍ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spread out the earth and placed firm mountains and rivers in it, and of every fruit He made pairs. He covers the day with the night. In that are signs for people who think.</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الْأَرْضِ قِطَعٌ مُّتَجَٰوِرَٰتٌ وَجَنَّـٰتٌ مِّنْ أَعْنَٰبٍ وَزَرْعٌ وَنَخِيلٌ صِنْوَانٌ وَغَيْرُ صِنْوَانٍ يُسْقَىٰ بِمَآءٍ وَٰحِدٍ وَنُفَضِّلُ بَعْضَهَا عَلَىٰ بَعْضٍ فِي الْأُكُلِ إِنَّ فِي ذَٰلِكَ لَأيَٰتٍ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earth are neighbouring plots that differ in quality, gardens of grapes, crops, and palm trees growing from one root or separately, all watered with the same water, yet We make some taste better than others. In that are signs for people who use their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95603"/>
            <a:ext cx="548640" cy="548640"/>
          </a:xfrm>
          <a:prstGeom prst="star8">
            <a:avLst/>
          </a:prstGeom>
          <a:solidFill>
            <a:schemeClr val="accent2"/>
          </a:solidFill>
          <a:ln/>
        </p:spPr>
      </p:sp>
      <p:sp>
        <p:nvSpPr>
          <p:cNvPr id="6" name="Shape 4"/>
          <p:cNvSpPr/>
          <p:nvPr/>
        </p:nvSpPr>
        <p:spPr>
          <a:xfrm>
            <a:off x="822960" y="150533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956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77315"/>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تَعْجَبْ فَعَجَبٌ قَوْلُهُمْ أَءِذَا كُنَّا تُرَٰبًا أَءِنَّا لَفِي خَلْقٍ جَدِيدٍ أُوْلَـٰئِكَ الَّذِينَ كَفَرُواْ بِرَبِّهِمْ وَأُوْلَـٰئِكَ الْأَغْلَٰلُ فِي أَعْنَاقِهِمْ وَأُوْلَـٰئِكَ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are amazed, O Muhammad, at their denial, more amazing is their saying: When we have become dust, will we really be created again? Those are the ones who disbelieve in their Lord; they will have chains around their necks on the Day of Resurrection, and they are the people of the Fire, staying there forever.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3994785"/>
            <a:ext cx="548640" cy="548640"/>
          </a:xfrm>
          <a:prstGeom prst="star8">
            <a:avLst/>
          </a:prstGeom>
          <a:solidFill>
            <a:schemeClr val="accent2"/>
          </a:solidFill>
          <a:ln/>
        </p:spPr>
      </p:sp>
      <p:sp>
        <p:nvSpPr>
          <p:cNvPr id="11" name="Shape 9"/>
          <p:cNvSpPr/>
          <p:nvPr/>
        </p:nvSpPr>
        <p:spPr>
          <a:xfrm>
            <a:off x="822960" y="4104513"/>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9478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976497"/>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وَيَسْتَعْجِلُونَكَ بِالسَّيِّئَةِ قَبْلَ الْحَسَنَةِ وَقَدْ خَلَتْ مِن قَبْلِهِمُ الْمَثُلَٰتُ وَإِنَّ رَبَّكَ لَذُو مَغْفِرَةٍ لِّلنَّاسِ عَلَىٰ ظُلْمِهِمْ وَإِنَّ رَبَّكَ لَشَدِيدُ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to hurry the punishment before mercy, though punishments have already come to the nations before them. Your Lord is full of forgiveness for people despite their wrongdoing, and your Lord is severe in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 الَّذِينَ كَفَرُواْ لَوْلَآ أُنزِلَ عَلَيْهِ ءَايَةٌ مِّن رَّبِّهِ إِنَّمَآ أَنتَ مُنذِرٌ وَلِكُلِّ قَوْمٍ 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say: Why has a miracle not been sent down to him from his Lord? You are only a warner, and every people has a guide.</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يَعْلَمُ مَا تَحْمِلُ كُلُّ أُنثَىٰ وَمَا تَغِيضُ الْأَرْحَامُ وَمَا تَزْدَادُ وَكُلُّ شَيْءٍ عِندَهُ بِمِقْدَارٍ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what every female carries, and how much the wombs fall short or exceed in the time of pregnancy. Everything with Him is in exact measure.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 الْغَيْبِ وَالشَّهَٰدَةِ الْكَبِيرُ الْمُتَعَالِ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Knower of the unseen and the seen, the Great, the Most High above His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4447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سَوَآءٌ مِّنكُم مَّنْ أَسَرَّ الْقَوْلَ وَمَن جَهَرَ بِهِ وَمَنْ هُوَ مُسْتَخْفٍ بِالَّيْلِ وَسَارِبٌ بِالنَّهَارِ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same to Him whether one of you hides his words or says them openly, whether he hides by night or goes about by day.</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099816"/>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مُعَقِّبَٰتٌ مِّن بَيْنِ يَدَيْهِ وَمِنْ خَلْفِهِ يَحْفَظُونَهُ مِنْ أَمْرِ اللَّهِ إِنَّ اللَّهَ لَا يُغَيِّرُ مَا بِقَوْمٍ حَتَّىٰ يُغَيِّرُواْ مَا بِأَنفُسِهِمْ وَإِذَآ أَرَادَ اللَّهُ بِقَوْمٍ سُوءًا فَلَا مَرَدَّ لَهُ وَمَا لَهُم مِّن دُونِهِ مِن وَالٍ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person has angels following one another in front of him and behind him, guarding him by Allah's command. Allah does not change the blessing a people have until they change their obedience within themselves. If Allah wants harm for a people, no one can turn it back, and they have no protector besides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يُرِيكُمُ الْبَرْقَ خَوْفًا وَطَمَعًا وَيُنشِئُ السَّحَابَ الثِّقَالَ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shows you the lightning, bringing fear of thunderbolts and hope of rain, and forms the clouds heavy with water.</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وَيُسَبِّحُ الرَّعْدُ بِحَمْدِهِ وَالْمَلَـٰئِكَةُ مِنْ خِيفَتِهِ وَيُرْسِلُ الصَّوَٰعِقَ فَيُصِيبُ بِهَا مَن يَشَآءُ وَهُمْ يُجَٰدِلُونَ فِي اللَّهِ وَهُوَ شَدِيدُ الْمِحَالِ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thunder glorifies Him with praise, and so do the angels out of awe of Him. He sends thunderbolts and strikes with them whom He wills, while they argue about Allah. He is mighty in power and in seizing.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دَعْوَةُ الْحَقِّ وَالَّذِينَ يَدْعُونَ مِن دُونِهِ لَا يَسْتَجِيبُونَ لَهُم بِشَيْءٍ إِلَّا كَبَٰسِطِ كَفَّيْهِ إِلَى الْمَآءِ لِيَبْلُغَ فَاهُ وَمَا هُوَ بِبَٰلِغِهِ وَمَا دُعَآءُ الْكَٰفِرِينَ إِلَّا فِي ضَلَٰلٍ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alone belongs the true call, tawhid. Those they call on besides Him do not answer them at all, like someone stretching out his hands towards water from far away so that it reaches his mouth, but it never reaches it. The disbelievers' prayers are only lost.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يَسْجُدُ مَن فِي السَّمَٰوَٰتِ وَالْأَرْضِ طَوْعًا وَكَرْهًا وَظِلَٰلُهُم بِالْغُدُوِّ وَالْأصَالِ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bow down all in the heavens and the earth, willingly or unwillingly, and so do their shadows in the mornings and evenings.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رَّبُّ السَّمَٰوَٰتِ وَالْأَرْضِ قُلِ اللَّهُ قُلْ أَفَاتَّخَذْتُم مِّن دُونِهِ أَوْلِيَآءَ لَا يَمْلِكُونَ لِأَنفُسِهِمْ نَفْعًا وَلَا ضَرًّا قُلْ هَلْ يَسْتَوِي الْأَعْمَىٰ وَالْبَصِيرُ أَمْ هَلْ تَسْتَوِي الظُّلُمَٰتُ وَالنُّورُ أَمْ جَعَلُواْ لِلَّهِ شُرَكَآءَ خَلَقُواْ كَخَلْقِهِ فَتَشَٰبَهَ الْخَلْقُ عَلَيْهِمْ قُلِ اللَّهُ خَٰلِقُ كُلِّ شَيْءٍ وَهُوَ الْوَٰحِدُ الْقَهَّـٰرُ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is the Lord of the heavens and the earth? Say: Allah. Say: Then have you taken besides Him gods who have no power to benefit or harm even themselves? Say: Are the blind and the seeing equal? Or are darkness and light equal? Or have they made partners with Allah who created as He creates, so that creation seems alike to them? Say: Allah is the Creator of everything, and He is the One, the Irresistible.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أَنزَلَ مِنَ السَّمَآءِ مَآءً فَسَالَتْ أَوْدِيَةٌ بِقَدَرِهَا فَاحْتَمَلَ السَّيْلُ زَبَدًا رَّابِيًا وَمِمَّا يُوقِدُونَ عَلَيْهِ فِي النَّارِ ابْتِغَآءَ حِلْيَةٍ أَوْ مَتَٰعٍ زَبَدٌ مِّثْلُهُ كَذَٰلِكَ يَضْرِبُ اللَّهُ الْحَقَّ وَالْبَٰطِلَ فَأَمَّا الزَّبَدُ فَيَذْهَبُ جُفَآءً وَأَمَّا مَا يَنفَعُ النَّاسَ فَيَمْكُثُ فِي الْأَرْضِ كَذَٰلِكَ يَضْرِبُ اللَّهُ الْأَمْثَالَ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sends down rain from the sky, and valleys flow according to their size. The flood carries foam on its surface. And from what they heat in fire, like gold, silver and iron, comes a similar foam. That is how Allah gives the example of truth and falsehood: the foam goes away as waste, while what benefits people stays on the earth. That is how Allah gives examples.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لِلَّذِينَ اسْتَجَابُواْ لِرَبِّهِمُ الْحُسْنَىٰ وَالَّذِينَ لَمْ يَسْتَجِيبُواْ لَهُ لَوْ أَنَّ لَهُم مَّا فِي الْأَرْضِ جَمِيعًا وَمِثْلَهُ مَعَهُ لَافْتَدَوْاْ بِهِ أُوْلَـٰئِكَ لَهُمْ سُوءُ الْحِسَابِ وَمَأْوَىٰهُمْ جَهَنَّمُ وَبِئْسَ الْمِهَادُ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those who answer their Lord is Paradise. As for those who do not answer Him, even if they had everything on earth and as much again, they would offer it as ransom. They will have the worst reckoning, and their home is Hell, and what an evil resting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People of Understanding</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2</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19 – 43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Ar-Ra'd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qualities of people of understanding: keeping promises, joining family ties, patience, prayer, spending, pushing away evil with good, and that hearts find rest in the remembrance of Allah.</a:t>
            </a:r>
            <a:endParaRPr lang="en-US" sz="17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يَعْلَمُ أَنَّمَآ أُنزِلَ إِلَيْكَ مِن رَّبِّكَ الْحَقُّ كَمَنْ هُوَ أَعْمَىٰ إِنَّمَا يَتَذَكَّرُ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one who knows that what has been sent down to you from your Lord is the truth like one who is blind? Only people of understanding take heed: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يُوفُونَ بِعَهْدِ اللَّهِ وَلَا يَنقُضُونَ الْمِيثَٰقَ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fulfil Allah's covenant and do not break their promises,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يَصِلُونَ مَآ أَمَرَ اللَّهُ بِهِ أَن يُوصَلَ وَيَخْشَوْنَ رَبَّهُمْ وَيَخَافُونَ سُوءَ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join what Allah has commanded to be joined, like family ties, fear their Lord, and fear the worst reckoning,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صَبَرُواْ ابْتِغَآءَ وَجْهِ رَبِّهِمْ وَأَقَامُواْ الصَّلَوٰةَ وَأَنفَقُواْ مِمَّا رَزَقْنَٰهُمْ سِرًّا وَعَلَانِيَةً وَيَدْرَءُونَ بِالْحَسَنَةِ السَّيِّئَةَ أُوْلَـٰئِكَ لَهُمْ عُقْبَى الدَّارِ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are patient seeking their Lord's Face, perform the prayer, spend from what We have provided them secretly and openly, and push away evil with good. They will have the good end: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جَنَّـٰتُ عَدْنٍ يَدْخُلُونَهَا وَمَن صَلَحَ مِنْ ءَابَآئِهِمْ وَأَزْوَٰجِهِمْ وَذُرِّيَّـٰتِهِمْ وَالْمَلَـٰئِكَةُ يَدْخُلُونَ عَلَيْهِم مِّن كُلِّ بَابٍ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of everlasting stay, which they will enter along with the righteous among their fathers, spouses and children. The angels will come in to them from every gate: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عَلَيْكُم بِمَا صَبَرْتُمْ فَنِعْمَ عُقْبَى الدَّارِ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be upon you for your patience. How excellent is your final home!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يَنقُضُونَ عَهْدَ اللَّهِ مِن بَعْدِ مِيثَٰقِهِ وَيَقْطَعُونَ مَآ أَمَرَ اللَّهُ بِهِ أَن يُوصَلَ وَيُفْسِدُونَ فِي الْأَرْضِ أُوْلَـٰئِكَ لَهُمُ اللَّعْنَةُ وَلَهُمْ سُوءُ الدَّارِ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break Allah's covenant after making it firm, cut what Allah has commanded to be joined, and spread corruption on earth, they will have the curse and the worst home.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يَبْسُطُ الرِّزْقَ لِمَن يَشَآءُ وَيَقْدِرُ وَفَرِحُواْ بِالْحَيَوٰةِ الدُّنْيَا وَمَا الْحَيَوٰةُ الدُّنْيَا فِي الْأخِرَةِ إِلَّا مَتَٰعٌ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plenty of provision to whom He wills and limits it. The disbelievers rejoice in the life of this world, but the life of this world compared to the Hereafter is only a small enjoyment.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 الَّذِينَ كَفَرُواْ لَوْلَآ أُنزِلَ عَلَيْهِ ءَايَةٌ مِّن رَّبِّهِ قُلْ إِنَّ اللَّهَ يُضِلُّ مَن يَشَآءُ وَيَهْدِي إِلَيْهِ مَنْ أَنَابَ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say: Why has a miracle not been sent down to him from his Lord? Say: Allah leaves astray whom He wills and guides to Himself whoever turns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وَتَطْمَئِنُّ قُلُوبُهُم بِذِكْرِ اللَّهِ أَلَا بِذِكْرِ اللَّهِ تَطْمَئِنُّ الْقُلُوبُ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and whose hearts find rest and comfort in the remembrance of Allah. Surely, in the remembrance of Allah hearts find rest.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وَعَمِلُواْ الصَّـٰلِحَٰتِ طُوبَىٰ لَهُمْ وَحُسْنُ 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have joy, good and a good life, and a beautiful place of return in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أَرْسَلْنَٰكَ فِي أُمَّةٍ قَدْ خَلَتْ مِن قَبْلِهَآ أُمَمٌ لِّتَتْلُوَاْ عَلَيْهِمُ الَّذِي أَوْحَيْنَآ إِلَيْكَ وَهُمْ يَكْفُرُونَ بِالرَّحْمَٰنِ قُلْ هُوَ رَبِّي لَآ إِلَٰهَ إِلَّا هُوَ عَلَيْهِ تَوَكَّلْتُ وَإِلَيْهِ مَتَابِ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have sent you to a nation before which other nations passed away, to recite to them what We revealed to you, while they disbelieve in the Most Merciful. Say: He is my Lord; there is no god but Him. In Him I put my trust, and to Him I turn in repentance.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 قُرْءَانًا سُيِّرَتْ بِهِ الْجِبَالُ أَوْ قُطِّعَتْ بِهِ الْأَرْضُ أَوْ كُلِّمَ بِهِ الْمَوْتَىٰ بَل لِّلَّهِ الْأَمْرُ جَمِيعًا أَفَلَمْ يَاْيْـَٔسِ الَّذِينَ ءَامَنُواْ أَن لَّوْ يَشَآءُ اللَّهُ لَهَدَى النَّاسَ جَمِيعًا وَلَا يَزَالُ الَّذِينَ كَفَرُواْ تُصِيبُهُم بِمَا صَنَعُواْ قَارِعَةٌ أَوْ تَحُلُّ قَرِيبًا مِّن دَارِهِمْ حَتَّىٰ يَأْتِيَ وَعْدُ اللَّهِ إِنَّ اللَّهَ لَا يُخْلِفُ الْمِيعَادَ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there were a Qur'an by which mountains were moved, or the earth split apart, or the dead made to speak, it would be this Qur'an. Rather, the whole matter belongs to Allah. Do the believers not know that if Allah willed, He would have guided all people? Disaster will keep striking the disbelievers for what they do, or landing near their homes, until Allah's promise comes. Allah never breaks His promise.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اسْتُهْزِئَ بِرُسُلٍ مِّن قَبْلِكَ فَأَمْلَيْتُ لِلَّذِينَ كَفَرُواْ ثُمَّ أَخَذْتُهُمْ فَكَيْفَ كَانَ 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Messengers before you were mocked, and I gave the disbelievers time, then I seized them. So how was My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60270"/>
            <a:ext cx="548640" cy="548640"/>
          </a:xfrm>
          <a:prstGeom prst="star8">
            <a:avLst/>
          </a:prstGeom>
          <a:solidFill>
            <a:schemeClr val="accent2"/>
          </a:solidFill>
          <a:ln/>
        </p:spPr>
      </p:sp>
      <p:sp>
        <p:nvSpPr>
          <p:cNvPr id="6" name="Shape 4"/>
          <p:cNvSpPr/>
          <p:nvPr/>
        </p:nvSpPr>
        <p:spPr>
          <a:xfrm>
            <a:off x="822960" y="226999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602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2141982"/>
            <a:ext cx="10012680" cy="313182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هُوَ قَآئِمٌ عَلَىٰ كُلِّ نَفْسٍ بِمَا كَسَبَتْ وَجَعَلُواْ لِلَّهِ شُرَكَآءَ قُلْ سَمُّوهُمْ أَمْ تُنَبِّـُٔونَهُ بِمَا لَا يَعْلَمُ فِي الْأَرْضِ أَم بِظَٰهِرٍ مِّنَ الْقَوْلِ بَلْ زُيِّنَ لِلَّذِينَ كَفَرُواْ مَكْرُهُمْ وَصُدُّواْ عَنِ السَّبِيلِ وَمَن يُضْلِلِ اللَّهُ فَمَا لَهُ مِنْ 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 watches over every soul and what it does like one who owns nothing? Yet they set up partners with Allah. Say: Name them, if they are gods. Or will you tell Allah of something on earth He does not know, or is it just empty words? Rather, the disbelievers' plotting has been made to look good to them, and they have been blocked from the path. Whoever Allah leaves astray has no guide.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عَذَابٌ فِي الْحَيَوٰةِ الدُّنْيَا وَلَعَذَابُ الْأخِرَةِ أَشَقُّ وَمَا لَهُم مِّنَ اللَّهِ مِن وَاقٍ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punishment in this world, by killing and capture, and the punishment of the Hereafter is harder, and they will have no protector from Allah.</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الْجَنَّةِ الَّتِي وُعِدَ الْمُتَّقُونَ تَجْرِي مِن تَحْتِهَا الْأَنْهَٰرُ أُكُلُهَا دَآئِمٌ وَظِلُّهَا تِلْكَ عُقْبَى الَّذِينَ اتَّقَواْ وَّعُقْبَى الْكَٰفِرِينَ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description of the Paradise promised to those with taqwa: rivers flow beneath it, its fruit is lasting, and so is its shade. That is the end of those with taqwa, and the end of the disbelievers is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ءَاتَيْنَٰهُمُ الْكِتَٰبَ يَفْرَحُونَ بِمَآ أُنزِلَ إِلَيْكَ وَمِنَ الْأَحْزَابِ مَن يُنكِرُ بَعْضَهُ قُلْ إِنَّمَآ أُمِرْتُ أَنْ أَعْبُدَ اللَّهَ وَلَآ أُشْرِكَ بِهِ إِلَيْهِ أَدْعُواْ وَإِلَيْهِ 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among the People of the Book rejoice in what has been sent down to you, while some of the groups deny part of it. Say: I have only been commanded to worship Allah and not associate anything with Him. To Him I call, and to Him is my return.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أَنزَلْنَٰهُ حُكْمًا عَرَبِيًّا وَلَئِنِ اتَّبَعْتَ أَهْوَآءَهُم بَعْدَ مَا جَآءَكَ مِنَ الْعِلْمِ مَا لَكَ مِنَ اللَّهِ مِن وَلِيٍّ وَلَا وَاقٍ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We sent down the earlier Books, We sent down the Qur'an as a judgement in Arabic. If you followed their desires after the knowledge that has come to you, you would have no protector or defender against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رُسُلًا مِّن قَبْلِكَ وَجَعَلْنَا لَهُمْ أَزْوَٰجًا وَذُرِّيَّةً وَمَا كَانَ لِرَسُولٍ أَن يَأْتِيَ بِـَٔايَةٍ إِلَّا بِإِذْنِ اللَّهِ لِكُلِّ أَجَلٍ كِتَابٌ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messengers before you who were human, and gave them wives and children. No messenger could bring a miracle except by Allah's permission. Every matter has a written time.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يَمْحُواْ اللَّهُ مَا يَشَآءُ وَيُثْبِتُ وَعِندَهُ أُمُّ الْكِتَٰبِ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erases what He wills of rulings and decrees and keeps what He wills, and with Him is the Mother of the Book, the Preserved Tablet.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مَّا نُرِيَنَّكَ بَعْضَ الَّذِي نَعِدُهُمْ أَوْ نَتَوَفَّيَنَّكَ فَإِنَّمَا عَلَيْكَ الْبَلَٰغُ وَعَلَيْنَا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We show you some of the punishment We promise them, or take you before that, your duty is only to deliver the message, and the reckoning is Ours.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أَنَّا نَأْتِي الْأَرْضَ نَنقُصُهَا مِنْ أَطْرَافِهَا وَاللَّهُ يَحْكُمُ لَا مُعَقِّبَ لِحُكْمِهِ وَهُوَ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We come to the land of the disbelievers and reduce it from its edges through the Muslims' victories? Allah judges, and no one can overturn His judgement, and He is swift in reckoning.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مَكَرَ الَّذِينَ مِن قَبْلِهِمْ فَلِلَّهِ الْمَكْرُ جَمِيعًا يَعْلَمُ مَا تَكْسِبُ كُلُّ نَفْسٍ وَسَيَعْلَمُ الْكُفَّـٰرُ لِمَنْ عُقْبَى الدَّارِ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before them plotted against their messengers, but all planning belongs to Allah. He knows what every soul earns, and the disbeliever will come to know who will have the good end.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 الَّذِينَ كَفَرُواْ لَسْتَ مُرْسَلًا قُلْ كَفَىٰ بِاللَّهِ شَهِيدًا بَيْنِي وَبَيْنَكُمْ وَمَنْ عِندَهُ عِلْمُ الْكِتَٰبِ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say: You are not a messenger. Say: Allah is enough as a Witness between me and you, and so are the believers of the People of the Book who have knowledge of the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Good Word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2</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27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Ibrahim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Bringing people out of darkness into light, thankfulness brings more, the messengers' dialogue with their peoples, Satan's speech on the Day of Resurrection, and the good word being like a good tree.</a:t>
            </a:r>
            <a:endParaRPr lang="en-US" sz="17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 كِتَٰبٌ أَنزَلْنَٰهُ إِلَيْكَ لِتُخْرِجَ النَّاسَ مِنَ الظُّلُمَٰتِ إِلَى النُّورِ بِإِذْنِ رَبِّهِمْ إِلَىٰ صِرَٰطِ الْعَزِيزِ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This is a Book We have sent down to you so that you may bring people out of the darkness of disbelief into the light of faith by their Lord's permission, to the path of Allah, the Almighty, the Praiseworthy,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لَهُ مَا فِي السَّمَٰوَٰتِ وَمَا فِي الْأَرْضِ وَوَيْلٌ لِّلْكَٰفِرِينَ مِنْ عَذَابٍ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to whom belongs whatever is in the heavens and whatever is on earth. And woe to the disbelievers from a severe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يَسْتَحِبُّونَ الْحَيَوٰةَ الدُّنْيَا عَلَى الْأخِرَةِ وَيَصُدُّونَ عَن سَبِيلِ اللَّهِ وَيَبْغُونَهَا عِوَجًا أُوْلَـٰئِكَ فِي ضَلَٰلٍ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prefer the life of this world over the Hereafter, block people from Allah's religion and want it crooked. They are far astray.</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مِن رَّسُولٍ إِلَّا بِلِسَانِ قَوْمِهِ لِيُبَيِّنَ لَهُمْ فَيُضِلُّ اللَّهُ مَن يَشَآءُ وَيَهْدِي مَن يَشَآءُ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sent a messenger except in the language of his people, to make things clear to them. Then Allah leaves astray whom He wills and guides whom He wills, and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مُوسَىٰ بِـَٔايَٰتِنَآ أَنْ أَخْرِجْ قَوْمَكَ مِنَ الظُّلُمَٰتِ إِلَى النُّورِ وَذَكِّرْهُم بِأَيَّىٰمِ اللَّهِ إِنَّ فِي ذَٰلِكَ لَأيَٰتٍ لِّكُلِّ صَبَّارٍ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Musa with Our signs: Bring your people out of the darkness into the light, and remind them of Allah's blessings and punishments in days gone by. In that are signs for everyone who is very patient in trials and very thankful for blessings.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مُوسَىٰ لِقَوْمِهِ اذْكُرُواْ نِعْمَةَ اللَّهِ عَلَيْكُمْ إِذْ أَنجَىٰكُم مِّنْ ءَالِ فِرْعَوْنَ يَسُومُونَكُمْ سُوءَ الْعَذَابِ وَيُذَبِّحُونَ أَبْنَآءَكُمْ وَيَسْتَحْيُونَ نِسَآءَكُمْ وَفِي ذَٰلِكُم بَلَآءٌ مِّن رَّبِّكُمْ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Musa said to his people: Remember Allah's blessing on you when He saved you from Pharaoh's people, who made you taste the worst punishment, slaughtering your sons and keeping your women alive. In that was a great test from your Lord.</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تَأَذَّنَ رَبُّكُمْ لَئِن شَكَرْتُمْ لَأَزِيدَنَّكُمْ وَلَئِن كَفَرْتُمْ إِنَّ عَذَابِي لَشَدِيدٌ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your Lord announced: If you are thankful for My blessing, I will surely give you more; but if you are ungrateful, My punishment is severe.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5750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مُوسَىٰ إِن تَكْفُرُواْ أَنتُمْ وَمَن فِي الْأَرْضِ جَمِيعًا فَإِنَّ اللَّهَ لَغَنِيٌّ 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If you and everyone on earth disbelieve, Allah does not need you; He is Praiseworthy.</a:t>
            </a:r>
            <a:endParaRPr lang="en-US" sz="3000" dirty="0"/>
          </a:p>
        </p:txBody>
      </p:sp>
      <p:sp>
        <p:nvSpPr>
          <p:cNvPr id="9" name="Shape 7"/>
          <p:cNvSpPr/>
          <p:nvPr/>
        </p:nvSpPr>
        <p:spPr>
          <a:xfrm>
            <a:off x="1444752" y="2754630"/>
            <a:ext cx="8641080" cy="0"/>
          </a:xfrm>
          <a:prstGeom prst="line">
            <a:avLst/>
          </a:prstGeom>
          <a:noFill/>
          <a:ln w="9525">
            <a:solidFill>
              <a:schemeClr val="accent2"/>
            </a:solidFill>
            <a:prstDash val="dash"/>
          </a:ln>
        </p:spPr>
      </p:sp>
      <p:sp>
        <p:nvSpPr>
          <p:cNvPr id="10" name="Shape 8"/>
          <p:cNvSpPr/>
          <p:nvPr/>
        </p:nvSpPr>
        <p:spPr>
          <a:xfrm>
            <a:off x="713232" y="2987802"/>
            <a:ext cx="548640" cy="548640"/>
          </a:xfrm>
          <a:prstGeom prst="star8">
            <a:avLst/>
          </a:prstGeom>
          <a:solidFill>
            <a:schemeClr val="accent2"/>
          </a:solidFill>
          <a:ln/>
        </p:spPr>
      </p:sp>
      <p:sp>
        <p:nvSpPr>
          <p:cNvPr id="11" name="Shape 9"/>
          <p:cNvSpPr/>
          <p:nvPr/>
        </p:nvSpPr>
        <p:spPr>
          <a:xfrm>
            <a:off x="822960" y="309753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878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96951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يَأْتِكُمْ نَبَؤُاْ الَّذِينَ مِن قَبْلِكُمْ قَوْمِ نُوحٍ وَعَادٍ وَثَمُودَ وَالَّذِينَ مِن بَعْدِهِمْ لَا يَعْلَمُهُمْ إِلَّا اللَّهُ جَآءَتْهُمْ رُسُلُهُم بِالْبَيِّنَٰتِ فَرَدُّواْ أَيْدِيَهُمْ فِي أَفْوَٰهِهِمْ وَقَالُواْ إِنَّا كَفَرْنَا بِمَآ أُرْسِلْتُم بِهِ وَإِنَّا لَفِي شَكٍّ مِّمَّا تَدْعُونَنَآ إِلَيْهِ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news not reached you of the nations before you: the people of Nuh, 'Ad, Thamud, and those after them whom only Allah knows? Their messengers came to them with clear proofs, but they put their hands over their mouths in anger and denial and said: We disbelieve in what you have been sent with, and we are in great doubt about what you call us to.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رُسُلُهُمْ أَفِي اللَّهِ شَكٌّ فَاطِرِ السَّمَٰوَٰتِ وَالْأَرْضِ يَدْعُوكُمْ لِيَغْفِرَ لَكُم مِّن ذُنُوبِكُمْ وَيُؤَخِّرَكُمْ إِلَىٰ أَجَلٍ مُّسَمًّى قَالُواْ إِنْ أَنتُمْ إِلَّا بَشَرٌ مِّثْلُنَا تُرِيدُونَ أَن تَصُدُّونَا عَمَّا كَانَ يَعْبُدُ ءَابَآؤُنَا فَأْتُونَا بِسُلْطَٰنٍ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messengers said: Is there any doubt about Allah, Creator of the heavens and the earth? He calls you to forgive your sins and give you time until your appointed term. They said: You are only humans like us; you want to turn us away from what our fathers worshipped. So bring us clear proof.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لَهُمْ رُسُلُهُمْ إِن نَّحْنُ إِلَّا بَشَرٌ مِّثْلُكُمْ وَلَٰكِنَّ اللَّهَ يَمُنُّ عَلَىٰ مَن يَشَآءُ مِنْ عِبَادِهِ وَمَا كَانَ لَنَآ أَن نَّأْتِيَكُم بِسُلْطَٰنٍ إِلَّا بِإِذْنِ اللَّهِ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messengers said to them: We are only humans like you, but Allah blesses with prophethood whom He wills of His servants. It is not for us to bring you a proof except by Allah's permission. In Allah let the believers put their trust.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لَنَآ أَلَّا نَتَوَكَّلَ عَلَى اللَّهِ وَقَدْ هَدَىٰنَا سُبُلَنَا وَلَنَصْبِرَنَّ عَلَىٰ مَآ ءَاذَيْتُمُونَا وَعَلَى اللَّهِ فَلْيَتَوَكَّلِ الْمُتَوَكِّلُونَ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should we not put our trust in Allah when He has guided us to our ways? We will surely be patient with the harm you do to us. In Allah let those who trust put their trust.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لِرُسُلِهِمْ لَنُخْرِجَنَّكُم مِّنْ أَرْضِنَآ أَوْ لَتَعُودُنَّ فِي مِلَّتِنَا فَأَوْحَىٰ إِلَيْهِمْ رَبُّهُمْ لَنُهْلِكَنَّ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to their messengers: We will drive you out of our land, or you must return to our religion. So their Lord revealed to them: We will surely destroy the wrongdoers,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وَلَنُسْكِنَنَّكُمُ الْأَرْضَ مِن بَعْدِهِمْ ذَٰلِكَ لِمَنْ خَافَ مَقَامِي وَخَافَ وَعِيدِ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settle you in the land after them. That is for whoever fears standing before Me and fears My warning.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وَاسْتَفْتَحُواْ وَخَابَ كُلُّ جَبَّارٍ عَنِيدٍ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messengers asked Allah for victory, and every stubborn tyrant was ruined.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وَرَآئِهِ جَهَنَّمُ وَيُسْقَىٰ مِن مَّآءٍ صَدِيدٍ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Ahead of him is Hell, and he will be given to drink the pus of the people of the Fire.</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يَتَجَرَّعُهُ وَلَا يَكَادُ يُسِيغُهُ وَيَأْتِيهِ الْمَوْتُ مِن كُلِّ مَكَانٍ وَمَا هُوَ بِمَيِّتٍ وَمِن وَرَآئِهِ عَذَابٌ غَلِيظٌ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sip it slowly and hardly be able to swallow it because it is so foul. Death will come at him from every side, but he will not die, and ahead of him is a harsh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الَّذِينَ كَفَرُواْ بِرَبِّهِمْ أَعْمَٰلُهُمْ كَرَمَادٍ اشْتَدَّتْ بِهِ الرِّيحُ فِي يَوْمٍ عَاصِفٍ لَّا يَقْدِرُونَ مِمَّا كَسَبُواْ عَلَىٰ شَيْءٍ ذَٰلِكَ هُوَ الضَّلَٰلُ الْبَعِيدُ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deeds of the disbelievers are like ashes blown about by a strong wind on a stormy day; they will get no reward at all for them. That is being far astray.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خَلَقَ السَّمَٰوَٰتِ وَالْأَرْضَ بِالْحَقِّ إِن يَشَأْ يُذْهِبْكُمْ وَيَأْتِ بِخَلْقٍ جَدِيدٍ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created the heavens and the earth with truth? If He wills, He can remove you and bring a new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5750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ذَٰلِكَ عَلَى اللَّهِ بِعَزِيزٍ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is not hard for Allah.</a:t>
            </a:r>
            <a:endParaRPr lang="en-US" sz="3000" dirty="0"/>
          </a:p>
        </p:txBody>
      </p:sp>
      <p:sp>
        <p:nvSpPr>
          <p:cNvPr id="9" name="Shape 7"/>
          <p:cNvSpPr/>
          <p:nvPr/>
        </p:nvSpPr>
        <p:spPr>
          <a:xfrm>
            <a:off x="1444752" y="2754630"/>
            <a:ext cx="8641080" cy="0"/>
          </a:xfrm>
          <a:prstGeom prst="line">
            <a:avLst/>
          </a:prstGeom>
          <a:noFill/>
          <a:ln w="9525">
            <a:solidFill>
              <a:schemeClr val="accent2"/>
            </a:solidFill>
            <a:prstDash val="dash"/>
          </a:ln>
        </p:spPr>
      </p:sp>
      <p:sp>
        <p:nvSpPr>
          <p:cNvPr id="10" name="Shape 8"/>
          <p:cNvSpPr/>
          <p:nvPr/>
        </p:nvSpPr>
        <p:spPr>
          <a:xfrm>
            <a:off x="713232" y="2987802"/>
            <a:ext cx="548640" cy="548640"/>
          </a:xfrm>
          <a:prstGeom prst="star8">
            <a:avLst/>
          </a:prstGeom>
          <a:solidFill>
            <a:schemeClr val="accent2"/>
          </a:solidFill>
          <a:ln/>
        </p:spPr>
      </p:sp>
      <p:sp>
        <p:nvSpPr>
          <p:cNvPr id="11" name="Shape 9"/>
          <p:cNvSpPr/>
          <p:nvPr/>
        </p:nvSpPr>
        <p:spPr>
          <a:xfrm>
            <a:off x="822960" y="309753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878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96951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وَبَرَزُواْ لِلَّهِ جَمِيعًا فَقَالَ الضُّعَفَـٰؤُاْ لِلَّذِينَ اسْتَكْبَرُواْ إِنَّا كُنَّا لَكُمْ تَبَعًا فَهَلْ أَنتُم مُّغْنُونَ عَنَّا مِنْ عَذَابِ اللَّهِ مِن شَيْءٍ قَالُواْ لَوْ هَدَىٰنَا اللَّهُ لَهَدَيْنَٰكُمْ سَوَآءٌ عَلَيْنَآ أَجَزِعْنَآ أَمْ صَبَرْنَا مَا لَنَا مِن مَّحِيصٍ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all come out of their graves before Allah, and the weak will say to the arrogant: We were your followers, so can you protect us from Allah's punishment at all? They will say: If Allah had guided us, we would have guided you. It is the same for us whether we panic or are patient; we have no escape.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الشَّيْطَٰنُ لَمَّا قُضِيَ الْأَمْرُ إِنَّ اللَّهَ وَعَدَكُمْ وَعْدَ الْحَقِّ وَوَعَدتُّكُمْ فَأَخْلَفْتُكُمْ وَمَا كَانَ لِيَ عَلَيْكُم مِّن سُلْطَٰنٍ إِلَّآ أَن دَعَوْتُكُمْ فَاسْتَجَبْتُمْ لِي فَلَا تَلُومُونِي وَلُومُواْ أَنفُسَكُم مَّآ أَنَا بِمُصْرِخِكُمْ وَمَآ أَنتُم بِمُصْرِخِيَّ إِنِّي كَفَرْتُ بِمَآ أَشْرَكْتُمُونِ مِن قَبْلُ إِنَّ الظَّـٰلِمِينَ 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After the matter has been decided, Satan will say to his followers: Allah gave you a true promise and kept it, and I made you promises and broke them. I had no power over you except that I called you and you answered me. So do not blame me; blame yourselves. I cannot help you, nor can you help me. I reject your making me a partner with Allah. The wrongdoers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وَأُدْخِلَ الَّذِينَ ءَامَنُواْ وَعَمِلُواْ الصَّـٰلِحَٰتِ جَنَّـٰتٍ تَجْرِي مِن تَحْتِهَا الْأَنْهَٰرُ خَٰلِدِينَ فِيهَا بِإِذْنِ رَبِّهِمْ تَحِيَّتُهُمْ فِيهَا سَلَٰمٌ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be admitted to Gardens with rivers flowing beneath them, staying there forever by their Lord's permission. Their greeting there will be: Peace.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كَيْفَ ضَرَبَ اللَّهُ مَثَلًا كَلِمَةً طَيِّبَةً كَشَجَرَةٍ طَيِّبَةٍ أَصْلُهَا ثَابِتٌ وَفَرْعُهَا فِي السَّمَآءِ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how Allah gives the example of the word of tawhid, "La ilaha illallah", as a good tree, the palm tree, with firm roots in the ground and branches high in the sky?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تُؤْتِي أُكُلَهَا كُلَّ حِينٍ بِإِذْنِ رَبِّهَا وَيَضْرِبُ اللَّهُ الْأَمْثَالَ لِلنَّاسِ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gives its fruit at every time by its Lord's permission. So too the believer's deeds rise up at all times. Allah gives examples for people so that they may take heed.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وَمَثَلُ كَلِمَةٍ خَبِيثَةٍ كَشَجَرَةٍ خَبِيثَةٍ اجْتُثَّتْ مِن فَوْقِ الْأَرْضِ مَا لَهَا مِن قَرَارٍ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example of the word of disbelief is like a bad tree, uprooted from the surface of the earth, with no firmness.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يُثَبِّتُ اللَّهُ الَّذِينَ ءَامَنُواْ بِالْقَوْلِ الثَّابِتِ فِي الْحَيَوٰةِ الدُّنْيَا وَفِي الْأخِرَةِ وَيُضِلُّ اللَّهُ الظَّـٰلِمِينَ وَيَفْعَلُ اللَّهُ مَا يَشَآءُ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keeps the believers firm with the word of tawhid in the life of this world and in the grave when they are questioned, and Allah leaves the wrongdoers astray. Allah does what He wills. The Prophet (peace be upon him) said: It was revealed about the punishment of the grave (Bukhari and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Ibrahim's Prayer</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2</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28 – 52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Ibrahim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countless blessings, the prayer of Ibrahim for Makkah and his children for safety, prayer and provision, and scenes of the Day of Resurrection.</a:t>
            </a:r>
            <a:endParaRPr lang="en-US" sz="17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بَدَّلُواْ نِعْمَتَ اللَّهِ كُفْرًا وَأَحَلُّواْ قَوْمَهُمْ دَارَ الْبَوَارِ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who exchanged Allah's blessing for disbelief, like the leaders of Quraysh, and brought their people down into the home of ruin,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جَهَنَّمَ يَصْلَوْنَهَا وَبِئْسَ الْقَرَارُ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Hell, which they will enter? What an evil place to stay!</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وَجَعَلُواْ لِلَّهِ أَندَادًا لِّيُضِلُّواْ عَن سَبِيلِهِ قُلْ تَمَتَّعُواْ فَإِنَّ مَصِيرَكُمْ إِلَى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set up equals to Allah to lead people away from His religion. Say: Enjoy yourselves for a little while; your destination is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لِّعِبَادِيَ الَّذِينَ ءَامَنُواْ يُقِيمُواْ الصَّلَوٰةَ وَيُنفِقُواْ مِمَّا رَزَقْنَٰهُمْ سِرًّا وَعَلَانِيَةً مِّن قَبْلِ أَن يَأْتِيَ يَوْمٌ لَّا بَيْعٌ فِيهِ وَلَا خِلَٰلٌ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Tell My believing servants to perform the prayer and spend from what We have provided them, secretly and openly, before a Day comes in which there is no trade and no friendship that helps.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خَلَقَ السَّمَٰوَٰتِ وَالْأَرْضَ وَأَنزَلَ مِنَ السَّمَآءِ مَآءً فَأَخْرَجَ بِهِ مِنَ الثَّمَرَٰتِ رِزْقًا لَّكُمْ وَسَخَّرَ لَكُمُ الْفُلْكَ لِتَجْرِيَ فِي الْبَحْرِ بِأَمْرِهِ وَسَخَّرَ لَكُمُ الْأَنْهَٰرَ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created the heavens and the earth, sent down rain from the sky and brought out with it fruits as provision for you. He made the ships serve you, sailing on the sea by His command, and made the rivers serve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وَسَخَّرَ لَكُمُ الشَّمْسَ وَالْقَمَرَ دَآئِبَيْنِ وَسَخَّرَ لَكُمُ الَّيْلَ وَالنَّهَارَ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made the sun and the moon serve you, constantly running without stopping, and He made the night and the day serve you.</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وَءَاتَىٰكُم مِّن كُلِّ مَا سَأَلْتُمُوهُ وَإِن تَعُدُّواْ نِعْمَتَ اللَّهِ لَا تُحْصُوهَآ إِنَّ الْإِنسَٰنَ لَظَلُومٌ كَفَّارٌ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gave you all that you asked Him for. If you tried to count Allah's blessings, you could never count them. Man is truly very unjust and very ungrateful.</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إِبْرَٰهِيمُ رَبِّ اجْعَلْ هَٰذَا الْبَلَدَ ءَامِنًا وَاجْنُبْنِي وَبَنِيَّ أَن نَّعْبُدَ الْأَصْنَامَ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Ibrahim said: My Lord, make Makkah a safe city, and keep me and my sons away from worshipping idols.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إِنَّهُنَّ أَضْلَلْنَ كَثِيرًا مِّنَ النَّاسِ فَمَن تَبِعَنِي فَإِنَّهُ مِنِّي وَمَنْ عَصَانِي فَإِنَّكَ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the idols have led many people astray. Whoever follows me in tawhid is from me, and whoever disobeys me, You are Forgiving, Most Merciful.</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إِنِّي أَسْكَنتُ مِن ذُرِّيَّتِي بِوَادٍ غَيْرِ ذِي زَرْعٍ عِندَ بَيْتِكَ الْمُحَرَّمِ رَبَّنَا لِيُقِيمُواْ الصَّلَوٰةَ فَاجْعَلْ أَفْـِٔدَةً مِّنَ النَّاسِ تَهْوِي إِلَيْهِمْ وَارْزُقْهُم مِّنَ الثَّمَرَٰتِ لَعَلَّهُمْ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I have settled some of my children, Isma'il and his mother, in a valley without crops, near Your Sacred House. Our Lord, so that they may perform the prayer. So make the hearts of some people long for them, and provide them with fruits so that they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إِنَّكَ تَعْلَمُ مَا نُخْفِي وَمَا نُعْلِنُ وَمَا يَخْفَىٰ عَلَى اللَّهِ مِن شَيْءٍ فِي الْأَرْضِ وَلَا فِي السَّمَآءِ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You know what we hide and what we show, and nothing on earth or in the sky is hidden from Allah.</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الْحَمْدُ لِلَّهِ الَّذِي وَهَبَ لِي عَلَى الْكِبَرِ إِسْمَٰعِيلَ وَإِسْحَٰقَ إِنَّ رَبِّي لَسَمِيعُ الدُّعَآءِ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praise is for Allah, who gave me Isma'il and Ishaq in my old age. My Lord truly hears prayer.</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اجْعَلْنِي مُقِيمَ الصَّلَوٰةِ وَمِن ذُرِّيَّتِي رَبَّنَا وَتَقَبَّلْ دُعَآءِ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make me one who establishes the prayer, and some of my children too. Our Lord, accept my prayer.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اغْفِرْ لِي وَلِوَٰلِدَيَّ وَلِلْمُؤْمِنِينَ يَوْمَ يَقُومُ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forgive me, my parents and the believers on the Day the Reckoning takes place. That was before it became clear to him that his father was an enemy of Allah.</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تَحْسَبَنَّ اللَّهَ غَٰفِلًا عَمَّا يَعْمَلُ الظَّـٰلِمُونَ إِنَّمَا يُؤَخِّرُهُمْ لِيَوْمٍ تَشْخَصُ فِيهِ 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Never think that Allah is unaware of what the wrongdoers do. He is only delaying them for a Day when eyes will stare in horror,</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مُهْطِعِينَ مُقْنِعِي رُءُوسِهِمْ لَا يَرْتَدُّ إِلَيْهِمْ طَرْفُهُمْ وَأَفْـِٔدَتُهُمْ هَوَآءٌ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rushing forward, heads raised up, their eyes not blinking, and their hearts empty with terror.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وَأَنذِرِ النَّاسَ يَوْمَ يَأْتِيهِمُ الْعَذَابُ فَيَقُولُ الَّذِينَ ظَلَمُواْ رَبَّنَآ أَخِّرْنَآ إِلَىٰ أَجَلٍ قَرِيبٍ نُّجِبْ دَعْوَتَكَ وَنَتَّبِعِ الرُّسُلَ أَوَلَمْ تَكُونُواْ أَقْسَمْتُم مِّن قَبْلُ مَا لَكُم مِّن زَوَالٍ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Warn people of the Day the punishment will come to them, when the wrongdoers will say: Our Lord, give us a little more time; we will answer Your call and follow the messengers. It will be said to them: Did you not swear before that you would never leave this world for the Hereafter?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وَسَكَنتُمْ فِي مَسَٰكِنِ الَّذِينَ ظَلَمُواْ أَنفُسَهُمْ وَتَبَيَّنَ لَكُمْ كَيْفَ فَعَلْنَا بِهِمْ وَضَرَبْنَا لَكُمُ الْأَمْثَالَ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lived in the homes of the wrongdoing nations before you, and it was made clear to you how We dealt with them, and We gave you examples.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مَكَرُواْ مَكْرَهُمْ وَعِندَ اللَّهِ مَكْرُهُمْ وَإِن كَانَ مَكْرُهُمْ لِتَزُولَ مِنْهُ الْجِبَالُ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plotted their great plot, and the repayment for their plot is with Allah, even if their plot was strong enough almost to move mountains; it only harms those who made it.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تَحْسَبَنَّ اللَّهَ مُخْلِفَ وَعْدِهِ رُسُلَهُ إِنَّ اللَّهَ عَزِيزٌ ذُو انتِقَامٍ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never think that Allah will break His promise of victory to His messengers. Allah is Almighty, Able to punish.</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تُبَدَّلُ الْأَرْضُ غَيْرَ الْأَرْضِ وَالسَّمَٰوَٰتُ وَبَرَزُواْ لِلَّهِ الْوَٰحِدِ الْقَهَّارِ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earth will be changed into another earth, and the heavens too, and all creatures will come out of their graves before Allah, the One, the Irresistible.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Ibrahim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 الْمُجْرِمِينَ يَوْمَئِذٍ مُّقَرَّنِينَ فِي الْأَصْفَادِ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you will see the criminals bound together in chains,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سَرَابِيلُهُم مِّن قَطِرَانٍ وَتَغْشَىٰ وُجُوهَهُمُ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clothing of burning tar, and the Fire covering their faces,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لِيَجْزِيَ اللَّهُ كُلَّ نَفْسٍ مَّا كَسَبَتْ إِنَّ 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repay every soul for what it did. Allah is swift in reckoning.</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بَلَٰغٌ لِّلنَّاسِ وَلِيُنذَرُواْ بِهِ وَلِيَعْلَمُواْ أَنَّمَا هُوَ إِلَٰهٌ وَٰحِدٌ وَلِيَذَّكَّرَ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a message for people, so that they may be warned by it, know that He is only One God, and that people of understanding may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228</a:t>
            </a:fld>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spTree>
      <p:nvGrpSpPr>
        <p:cNvPr id="1" name=""/>
        <p:cNvGrpSpPr/>
        <p:nvPr/>
      </p:nvGrpSpPr>
      <p:grpSpPr>
        <a:xfrm>
          <a:off x="0" y="0"/>
          <a:ext cx="0" cy="0"/>
          <a:chOff x="0" y="0"/>
          <a:chExt cx="0" cy="0"/>
        </a:xfrm>
      </p:grpSpPr>
      <p:pic>
        <p:nvPicPr>
          <p:cNvPr id="2" name="Image 0" descr="assets101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"Creator of the heavens and the earth, You are my Protector in this world and the Hereafter. Let me die as a Muslim and join me with the righteous." (Yusuf 12:101)</a:t>
            </a:r>
            <a:endParaRPr lang="en-US" sz="2100" dirty="0"/>
          </a:p>
        </p:txBody>
      </p:sp>
      <p:pic>
        <p:nvPicPr>
          <p:cNvPr id="5" name="Image 1" descr="assets101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Yunus to Ibrahim Tafsir EN">
  <a:themeElements>
    <a:clrScheme name="Yunus to Ibrahim Tafsir EN">
      <a:dk1>
        <a:srgbClr val="222B27"/>
      </a:dk1>
      <a:lt1>
        <a:srgbClr val="FFFFFF"/>
      </a:lt1>
      <a:dk2>
        <a:srgbClr val="0F6B4F"/>
      </a:dk2>
      <a:lt2>
        <a:srgbClr val="F5FBF8"/>
      </a:lt2>
      <a:accent1>
        <a:srgbClr val="0F6B4F"/>
      </a:accent1>
      <a:accent2>
        <a:srgbClr val="C9A04A"/>
      </a:accent2>
      <a:accent3>
        <a:srgbClr val="1C8763"/>
      </a:accent3>
      <a:accent4>
        <a:srgbClr val="5F6B66"/>
      </a:accent4>
      <a:accent5>
        <a:srgbClr val="E3F1EB"/>
      </a:accent5>
      <a:accent6>
        <a:srgbClr val="8A2F2A"/>
      </a:accent6>
      <a:hlink>
        <a:srgbClr val="1C8763"/>
      </a:hlink>
      <a:folHlink>
        <a:srgbClr val="5F6B66"/>
      </a:folHlink>
    </a:clrScheme>
    <a:fontScheme name="Yunus to Ibrahim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229</Slides>
  <Notes>229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229</vt:i4>
      </vt:variant>
    </vt:vector>
  </HeadingPairs>
  <TitlesOfParts>
    <vt:vector size="2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Yunus to Ibrahim — Simplified Tafsir from Ibn Kathir</dc:title>
  <dc:subject>PptxGenJS Presentation</dc:subject>
  <dc:creator>Qur'an Teacher</dc:creator>
  <cp:lastModifiedBy>Qur'an Teacher</cp:lastModifiedBy>
  <cp:revision>1</cp:revision>
  <dcterms:created xsi:type="dcterms:W3CDTF">2026-10-04T04:38:40Z</dcterms:created>
  <dcterms:modified xsi:type="dcterms:W3CDTF">2026-10-04T04:38:40Z</dcterms:modified>
</cp:coreProperties>
</file>