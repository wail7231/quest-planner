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21fd54a-58c5-662a-7017-f5896dd394a8}">
          <p14:sldIdLst>
            <p14:sldId id="256"/>
            <p14:sldId id="257"/>
            <p14:sldId id="258"/>
          </p14:sldIdLst>
        </p14:section>
        <p14:section name="Surah At-Tahrim" id="{7a84c604-73b8-6147-0eef-f8e84b90669a}">
          <p14:sldIdLst>
            <p14:sldId id="259"/>
            <p14:sldId id="260"/>
            <p14:sldId id="261"/>
            <p14:sldId id="262"/>
            <p14:sldId id="263"/>
            <p14:sldId id="264"/>
            <p14:sldId id="265"/>
            <p14:sldId id="266"/>
          </p14:sldIdLst>
        </p14:section>
        <p14:section name="Surah At-Talaq" id="{7d87e9e5-e53e-d7b0-cedd-67d60d67bdc2}">
          <p14:sldIdLst>
            <p14:sldId id="267"/>
            <p14:sldId id="268"/>
            <p14:sldId id="269"/>
            <p14:sldId id="270"/>
            <p14:sldId id="271"/>
            <p14:sldId id="272"/>
            <p14:sldId id="273"/>
            <p14:sldId id="274"/>
            <p14:sldId id="275"/>
          </p14:sldIdLst>
        </p14:section>
        <p14:section name="Surah At-Taghabun" id="{7fd08620-0e17-e481-c82f-1b250654bc24}">
          <p14:sldIdLst>
            <p14:sldId id="276"/>
            <p14:sldId id="277"/>
            <p14:sldId id="278"/>
            <p14:sldId id="279"/>
            <p14:sldId id="280"/>
            <p14:sldId id="281"/>
            <p14:sldId id="282"/>
            <p14:sldId id="283"/>
          </p14:sldIdLst>
        </p14:section>
        <p14:section name="Surah Al-Munafiqun" id="{b179442a-d68e-83bf-a205-0c026d3fd256}">
          <p14:sldIdLst>
            <p14:sldId id="284"/>
            <p14:sldId id="285"/>
            <p14:sldId id="286"/>
            <p14:sldId id="287"/>
            <p14:sldId id="288"/>
            <p14:sldId id="289"/>
            <p14:sldId id="290"/>
          </p14:sldIdLst>
        </p14:section>
        <p14:section name="Surah Al-Jumu'ah" id="{cedae522-5eef-8e64-84c3-0dd178ebb06d}">
          <p14:sldIdLst>
            <p14:sldId id="291"/>
            <p14:sldId id="292"/>
            <p14:sldId id="293"/>
            <p14:sldId id="294"/>
            <p14:sldId id="295"/>
            <p14:sldId id="296"/>
          </p14:sldIdLst>
        </p14:section>
        <p14:section name="Surah As-Saff" id="{31e0b655-5173-a391-9f7e-a76d42533121}">
          <p14:sldIdLst>
            <p14:sldId id="297"/>
            <p14:sldId id="298"/>
            <p14:sldId id="299"/>
            <p14:sldId id="300"/>
            <p14:sldId id="301"/>
            <p14:sldId id="302"/>
            <p14:sldId id="303"/>
          </p14:sldIdLst>
        </p14:section>
        <p14:section name="Surah Al-Mumtahanah" id="{751fd9b2-70b8-a1bb-3396-e76ae6c50feb}">
          <p14:sldIdLst>
            <p14:sldId id="304"/>
            <p14:sldId id="305"/>
            <p14:sldId id="306"/>
            <p14:sldId id="307"/>
            <p14:sldId id="308"/>
            <p14:sldId id="309"/>
            <p14:sldId id="310"/>
            <p14:sldId id="311"/>
            <p14:sldId id="312"/>
          </p14:sldIdLst>
        </p14:section>
        <p14:section name="Surah Al-Hashr" id="{ec404346-154d-604c-dc8c-1de9ef274f99}">
          <p14:sldIdLst>
            <p14:sldId id="313"/>
            <p14:sldId id="314"/>
            <p14:sldId id="315"/>
            <p14:sldId id="316"/>
            <p14:sldId id="317"/>
            <p14:sldId id="318"/>
            <p14:sldId id="319"/>
            <p14:sldId id="320"/>
            <p14:sldId id="321"/>
            <p14:sldId id="322"/>
            <p14:sldId id="323"/>
            <p14:sldId id="324"/>
          </p14:sldIdLst>
        </p14:section>
        <p14:section name="Surah Al-Mujadilah" id="{f48bcd5c-0ada-ffdf-2ec1-d30156213773}">
          <p14:sldIdLst>
            <p14:sldId id="325"/>
            <p14:sldId id="326"/>
            <p14:sldId id="327"/>
            <p14:sldId id="328"/>
            <p14:sldId id="329"/>
            <p14:sldId id="330"/>
            <p14:sldId id="331"/>
            <p14:sldId id="332"/>
            <p14:sldId id="333"/>
            <p14:sldId id="334"/>
            <p14:sldId id="335"/>
            <p14:sldId id="336"/>
            <p14:sldId id="337"/>
          </p14:sldIdLst>
        </p14:section>
        <p14:section name="Closing" id="{2a714850-946b-e954-77f4-4c56db54c3f3}">
          <p14:sldIdLst>
            <p14:sldId id="3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Surah At-Tahrim and move back, surah by surah, until we reach Surah Al-Mujadilah.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two examples does Allah give for the believers at the end of the surah? What lesson do we learn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rewards does Allah promise in this surah to those who have taqwa?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Why is the Day of Resurrection called "the Day of Mutual Loss and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Mention two traits of the hypocrites in this surah. How can we protect ourselves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must a Muslim do when he hears the call to the Friday prayer? And what should he do after the prayer?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is the "trade" that saves from punishment, according to verses 10 and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When may a Muslim be kind and just to non-Muslims, according to verse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How does Allah describe the Ansar in verse 9? How can we follow their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manners of gatherings do verses 9–11 teach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8/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8/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8/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slideLayout" Target="../slideLayouts/slideLayout4.xml"/><Relationship Id="rId4"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8/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Juz Qad Sami'a</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28/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28 • From Surah At-Tahrim back to Surah Al-Mujadilah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burgundy</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At-Tahrim and moves back to Surah Al-Mujadilah</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At-Tahrim</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At-Talaq</a:t>
            </a:r>
            <a:endParaRPr lang="en-US" sz="1400" dirty="0"/>
          </a:p>
        </p:txBody>
      </p:sp>
      <p:sp>
        <p:nvSpPr>
          <p:cNvPr id="8" name="Shape 6"/>
          <p:cNvSpPr/>
          <p:nvPr/>
        </p:nvSpPr>
        <p:spPr>
          <a:xfrm>
            <a:off x="6150712" y="1828800"/>
            <a:ext cx="2622728" cy="566928"/>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6150712"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3. </a:t>
            </a:r>
            <a:pPr algn="ctr" indent="0" marL="0">
              <a:buNone/>
            </a:pPr>
            <a:r>
              <a:rPr lang="en-US" altLang="en-US" sz="1400" b="1" dirty="0">
                <a:solidFill>
                  <a:schemeClr val="tx2"/>
                </a:solidFill>
                <a:latin typeface="Arial" pitchFamily="34" charset="0"/>
                <a:ea typeface="Arial" pitchFamily="34" charset="-122"/>
                <a:cs typeface="Arial" pitchFamily="34" charset="-120"/>
              </a:rPr>
              <a:t>At-Taghabun</a:t>
            </a:r>
            <a:endParaRPr lang="en-US" sz="1400" dirty="0"/>
          </a:p>
        </p:txBody>
      </p:sp>
      <p:sp>
        <p:nvSpPr>
          <p:cNvPr id="10" name="Shape 8"/>
          <p:cNvSpPr/>
          <p:nvPr/>
        </p:nvSpPr>
        <p:spPr>
          <a:xfrm>
            <a:off x="8883167" y="1828800"/>
            <a:ext cx="2622728" cy="566928"/>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8883167"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4. </a:t>
            </a:r>
            <a:pPr algn="ctr" indent="0" marL="0">
              <a:buNone/>
            </a:pPr>
            <a:r>
              <a:rPr lang="en-US" altLang="en-US" sz="1400" b="1" dirty="0">
                <a:solidFill>
                  <a:schemeClr val="tx2"/>
                </a:solidFill>
                <a:latin typeface="Arial" pitchFamily="34" charset="0"/>
                <a:ea typeface="Arial" pitchFamily="34" charset="-122"/>
                <a:cs typeface="Arial" pitchFamily="34" charset="-120"/>
              </a:rPr>
              <a:t>Al-Munafiqun</a:t>
            </a:r>
            <a:endParaRPr lang="en-US" sz="1400" dirty="0"/>
          </a:p>
        </p:txBody>
      </p:sp>
      <p:sp>
        <p:nvSpPr>
          <p:cNvPr id="12" name="Shape 10"/>
          <p:cNvSpPr/>
          <p:nvPr/>
        </p:nvSpPr>
        <p:spPr>
          <a:xfrm>
            <a:off x="685800" y="2487168"/>
            <a:ext cx="2622728" cy="566928"/>
          </a:xfrm>
          <a:prstGeom prst="roundRect">
            <a:avLst>
              <a:gd name="adj" fmla="val 50000"/>
            </a:avLst>
          </a:prstGeom>
          <a:solidFill>
            <a:schemeClr val="bg1"/>
          </a:solidFill>
          <a:ln w="12700">
            <a:solidFill>
              <a:schemeClr val="accent2"/>
            </a:solidFill>
            <a:prstDash val="solid"/>
          </a:ln>
        </p:spPr>
      </p:sp>
      <p:sp>
        <p:nvSpPr>
          <p:cNvPr id="13" name="Text 11"/>
          <p:cNvSpPr txBox="1"/>
          <p:nvPr/>
        </p:nvSpPr>
        <p:spPr>
          <a:xfrm>
            <a:off x="685800"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5. </a:t>
            </a:r>
            <a:pPr algn="ctr" indent="0" marL="0">
              <a:buNone/>
            </a:pPr>
            <a:r>
              <a:rPr lang="en-US" altLang="en-US" sz="1400" b="1" dirty="0">
                <a:solidFill>
                  <a:schemeClr val="tx2"/>
                </a:solidFill>
                <a:latin typeface="Arial" pitchFamily="34" charset="0"/>
                <a:ea typeface="Arial" pitchFamily="34" charset="-122"/>
                <a:cs typeface="Arial" pitchFamily="34" charset="-120"/>
              </a:rPr>
              <a:t>Al-Jumu'ah</a:t>
            </a:r>
            <a:endParaRPr lang="en-US" sz="1400" dirty="0"/>
          </a:p>
        </p:txBody>
      </p:sp>
      <p:sp>
        <p:nvSpPr>
          <p:cNvPr id="14" name="Shape 12"/>
          <p:cNvSpPr/>
          <p:nvPr/>
        </p:nvSpPr>
        <p:spPr>
          <a:xfrm>
            <a:off x="3418256" y="2487168"/>
            <a:ext cx="2622728" cy="566928"/>
          </a:xfrm>
          <a:prstGeom prst="roundRect">
            <a:avLst>
              <a:gd name="adj" fmla="val 50000"/>
            </a:avLst>
          </a:prstGeom>
          <a:solidFill>
            <a:schemeClr val="accent5"/>
          </a:solidFill>
          <a:ln w="12700">
            <a:solidFill>
              <a:schemeClr val="accent2"/>
            </a:solidFill>
            <a:prstDash val="solid"/>
          </a:ln>
        </p:spPr>
      </p:sp>
      <p:sp>
        <p:nvSpPr>
          <p:cNvPr id="15" name="Text 13"/>
          <p:cNvSpPr txBox="1"/>
          <p:nvPr/>
        </p:nvSpPr>
        <p:spPr>
          <a:xfrm>
            <a:off x="3418256"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6. </a:t>
            </a:r>
            <a:pPr algn="ctr" indent="0" marL="0">
              <a:buNone/>
            </a:pPr>
            <a:r>
              <a:rPr lang="en-US" altLang="en-US" sz="1400" b="1" dirty="0">
                <a:solidFill>
                  <a:schemeClr val="tx2"/>
                </a:solidFill>
                <a:latin typeface="Arial" pitchFamily="34" charset="0"/>
                <a:ea typeface="Arial" pitchFamily="34" charset="-122"/>
                <a:cs typeface="Arial" pitchFamily="34" charset="-120"/>
              </a:rPr>
              <a:t>As-Saff</a:t>
            </a:r>
            <a:endParaRPr lang="en-US" sz="1400" dirty="0"/>
          </a:p>
        </p:txBody>
      </p:sp>
      <p:sp>
        <p:nvSpPr>
          <p:cNvPr id="16" name="Shape 14"/>
          <p:cNvSpPr/>
          <p:nvPr/>
        </p:nvSpPr>
        <p:spPr>
          <a:xfrm>
            <a:off x="6150712" y="2487168"/>
            <a:ext cx="2622728" cy="566928"/>
          </a:xfrm>
          <a:prstGeom prst="roundRect">
            <a:avLst>
              <a:gd name="adj" fmla="val 50000"/>
            </a:avLst>
          </a:prstGeom>
          <a:solidFill>
            <a:schemeClr val="bg1"/>
          </a:solidFill>
          <a:ln w="12700">
            <a:solidFill>
              <a:schemeClr val="accent2"/>
            </a:solidFill>
            <a:prstDash val="solid"/>
          </a:ln>
        </p:spPr>
      </p:sp>
      <p:sp>
        <p:nvSpPr>
          <p:cNvPr id="17" name="Text 15"/>
          <p:cNvSpPr txBox="1"/>
          <p:nvPr/>
        </p:nvSpPr>
        <p:spPr>
          <a:xfrm>
            <a:off x="6150712"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7. </a:t>
            </a:r>
            <a:pPr algn="ctr" indent="0" marL="0">
              <a:buNone/>
            </a:pPr>
            <a:r>
              <a:rPr lang="en-US" altLang="en-US" sz="1400" b="1" dirty="0">
                <a:solidFill>
                  <a:schemeClr val="tx2"/>
                </a:solidFill>
                <a:latin typeface="Arial" pitchFamily="34" charset="0"/>
                <a:ea typeface="Arial" pitchFamily="34" charset="-122"/>
                <a:cs typeface="Arial" pitchFamily="34" charset="-120"/>
              </a:rPr>
              <a:t>Al-Mumtahanah</a:t>
            </a:r>
            <a:endParaRPr lang="en-US" sz="1400" dirty="0"/>
          </a:p>
        </p:txBody>
      </p:sp>
      <p:sp>
        <p:nvSpPr>
          <p:cNvPr id="18" name="Shape 16"/>
          <p:cNvSpPr/>
          <p:nvPr/>
        </p:nvSpPr>
        <p:spPr>
          <a:xfrm>
            <a:off x="8883167" y="2487168"/>
            <a:ext cx="2622728" cy="566928"/>
          </a:xfrm>
          <a:prstGeom prst="roundRect">
            <a:avLst>
              <a:gd name="adj" fmla="val 50000"/>
            </a:avLst>
          </a:prstGeom>
          <a:solidFill>
            <a:schemeClr val="accent5"/>
          </a:solidFill>
          <a:ln w="12700">
            <a:solidFill>
              <a:schemeClr val="accent2"/>
            </a:solidFill>
            <a:prstDash val="solid"/>
          </a:ln>
        </p:spPr>
      </p:sp>
      <p:sp>
        <p:nvSpPr>
          <p:cNvPr id="19" name="Text 17"/>
          <p:cNvSpPr txBox="1"/>
          <p:nvPr/>
        </p:nvSpPr>
        <p:spPr>
          <a:xfrm>
            <a:off x="8883167"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8. </a:t>
            </a:r>
            <a:pPr algn="ctr" indent="0" marL="0">
              <a:buNone/>
            </a:pPr>
            <a:r>
              <a:rPr lang="en-US" altLang="en-US" sz="1400" b="1" dirty="0">
                <a:solidFill>
                  <a:schemeClr val="tx2"/>
                </a:solidFill>
                <a:latin typeface="Arial" pitchFamily="34" charset="0"/>
                <a:ea typeface="Arial" pitchFamily="34" charset="-122"/>
                <a:cs typeface="Arial" pitchFamily="34" charset="-120"/>
              </a:rPr>
              <a:t>Al-Hashr</a:t>
            </a:r>
            <a:endParaRPr lang="en-US" sz="1400" dirty="0"/>
          </a:p>
        </p:txBody>
      </p:sp>
      <p:sp>
        <p:nvSpPr>
          <p:cNvPr id="20" name="Shape 18"/>
          <p:cNvSpPr/>
          <p:nvPr/>
        </p:nvSpPr>
        <p:spPr>
          <a:xfrm>
            <a:off x="685800" y="3145536"/>
            <a:ext cx="2622728" cy="566928"/>
          </a:xfrm>
          <a:prstGeom prst="roundRect">
            <a:avLst>
              <a:gd name="adj" fmla="val 50000"/>
            </a:avLst>
          </a:prstGeom>
          <a:solidFill>
            <a:schemeClr val="bg1"/>
          </a:solidFill>
          <a:ln w="12700">
            <a:solidFill>
              <a:schemeClr val="accent2"/>
            </a:solidFill>
            <a:prstDash val="solid"/>
          </a:ln>
        </p:spPr>
      </p:sp>
      <p:sp>
        <p:nvSpPr>
          <p:cNvPr id="21" name="Text 19"/>
          <p:cNvSpPr txBox="1"/>
          <p:nvPr/>
        </p:nvSpPr>
        <p:spPr>
          <a:xfrm>
            <a:off x="685800" y="3145536"/>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9. </a:t>
            </a:r>
            <a:pPr algn="ctr" indent="0" marL="0">
              <a:buNone/>
            </a:pPr>
            <a:r>
              <a:rPr lang="en-US" altLang="en-US" sz="1400" b="1" dirty="0">
                <a:solidFill>
                  <a:schemeClr val="tx2"/>
                </a:solidFill>
                <a:latin typeface="Arial" pitchFamily="34" charset="0"/>
                <a:ea typeface="Arial" pitchFamily="34" charset="-122"/>
                <a:cs typeface="Arial" pitchFamily="34" charset="-120"/>
              </a:rPr>
              <a:t>Al-Mujadilah</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At-Tahrim</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12 verses • The Prohibition</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66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Prophet (peace be upon him) used to drink honey at the house of his wife Zaynab bint Jahsh. 'A'ishah and Hafsah (may Allah be pleased with them) agreed to tell him: "We notice a smell on you." He said: "I will not drink it again," and these verses were revealed (Bukhari and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Training the Prophet's household and the believers to obey Allah, the command to make sincere repentance, and examples of righteous and unrighteous women.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At-Tahrim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النَّبِيُّ لِمَ تُحَرِّمُ مَآ أَحَلَّ اللَّهُ لَكَ تَبْتَغِي مَرْضَاتَ أَزْوَٰجِكَ وَاللَّهُ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Prophet, why do you forbid yourself what Allah has made lawful for you, seeking to please your wives? And Allah is Forgiving, Merciful.</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فَرَضَ اللَّهُ لَكُمْ تَحِلَّةَ أَيْمَٰنِكُمْ وَاللَّهُ مَوْلَىٰكُمْ وَهُوَ الْعَلِيمُ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given you a way (expiation) to free yourselves from your oaths. Allah is your Protector, and He is the All-Knowing,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At-Tahrim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أَسَرَّ النَّبِيُّ إِلَىٰ بَعْضِ أَزْوَٰجِهِ حَدِيثًا فَلَمَّا نَبَّأَتْ بِهِ وَأَظْهَرَهُ اللَّهُ عَلَيْهِ عَرَّفَ بَعْضَهُ وَأَعْرَضَ عَن بَعْضٍ فَلَمَّا نَبَّأَهَا بِهِ قَالَتْ مَنْ أَنبَأَكَ هَٰذَا قَالَ نَبَّأَنِيَ الْعَلِيمُ الْخَبِيرُ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Prophet (peace be upon him) told his wife Hafsah a secret and she passed it on to 'A'ishah, Allah informed him of it. He mentioned part of it to her and generously left out part. She asked: "Who told you?" He said: "The All-Knowing, the All-Aware told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At-Tahrim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تَتُوبَآ إِلَى اللَّهِ فَقَدْ صَغَتْ قُلُوبُكُمَا وَإِن تَظَٰهَرَا عَلَيْهِ فَإِنَّ اللَّهَ هُوَ مَوْلَىٰهُ وَجِبْرِيلُ وَصَٰلِحُ الْمُؤْمِنِينَ وَالْمَلَـٰئِكَةُ بَعْدَ ذَٰلِكَ ظَهِيرٌ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both ('A'ishah and Hafsah) turn to Allah in repentance, your hearts have indeed leaned. But if you support each other against him, then Allah is his Protector, and Jibril and the righteous believers, and the angels after that are his helpers.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عَسَىٰ رَبُّهُ إِن طَلَّقَكُنَّ أَن يُبْدِلَهُ أَزْوَٰجًا خَيْرًا مِّنكُنَّ مُسْلِمَٰتٍ مُّؤْمِنَٰتٍ قَٰنِتَٰتٍ تَـٰئِبَٰتٍ عَٰبِدَٰتٍ سَـٰئِحَٰتٍ ثَيِّبَٰتٍ وَأَبْكَارًا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Perhaps, if he divorced you, his Lord would give him wives better than you: Muslim, believing, obedient, repentant, worshipping and fasting.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At-Tahrim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قُواْ أَنفُسَكُمْ وَأَهْلِيكُمْ نَارًا وَقُودُهَا النَّاسُ وَالْحِجَارَةُ عَلَيْهَا مَلَـٰئِكَةٌ غِلَاظٌ شِدَادٌ لَّا يَعْصُونَ اللَّهَ مَآ أَمَرَهُمْ وَيَفْعَلُونَ مَا يُؤْمَرُونَ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protect yourselves and your families from the Fire by obeying Allah and teaching them good; a Fire whose fuel is people and stones, over which are stern, strong angels who never disobey Allah.</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كَفَرُواْ لَا تَعْتَذِرُواْ الْيَوْمَ إِنَّمَا تُجْزَوْنَ 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the disbelievers on the Day of Resurrection: Make no excuses today; you are only being repaid for what you used to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At-Tahrim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تُوبُواْ إِلَى اللَّهِ تَوْبَةً نَّصُوحًا عَسَىٰ رَبُّكُمْ أَن يُكَفِّرَ عَنكُمْ سَيِّـَٔاتِكُمْ وَيُدْخِلَكُمْ جَنَّـٰتٍ تَجْرِي مِن تَحْتِهَا الْأَنْهَٰرُ يَوْمَ لَا يُخْزِي اللَّهُ النَّبِيَّ وَالَّذِينَ ءَامَنُواْ مَعَهُ نُورُهُمْ يَسْعَىٰ بَيْنَ أَيْدِيهِمْ وَبِأَيْمَٰنِهِمْ يَقُولُونَ رَبَّنَآ أَتْمِمْ لَنَا نُورَنَا وَاغْفِرْ لَنَآ إِنَّكَ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turn to Allah with sincere, true repentance. Perhaps your Lord will wipe out your sins and admit you into Paradise, on the Day when the believers' light will run ahead of them and on their right.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At-Tahrim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النَّبِيُّ جَٰهِدِ الْكُفَّارَ وَالْمُنَٰفِقِينَ وَاغْلُظْ عَلَيْهِمْ وَمَأْوَىٰهُمْ جَهَنَّمُ وَبِئْسَ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Prophet, strive against the disbelievers with arms and against the hypocrites with proof and by applying the law, and be firm with them. Their final home is Hell.</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ضَرَبَ اللَّهُ مَثَلًا لِّلَّذِينَ كَفَرُواْ امْرَأَتَ نُوحٍ وَامْرَأَتَ لُوطٍ كَانَتَا تَحْتَ عَبْدَيْنِ مِنْ عِبَادِنَا صَٰلِحَيْنِ فَخَانَتَاهُمَا فَلَمْ يُغْنِيَا عَنْهُمَا مِنَ اللَّهِ شَيْـًٔا وَقِيلَ ادْخُلَا النَّارَ مَعَ الدَّـٰخِلِينَ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gives an example for the disbelievers: the wife of Nuh and the wife of Lut. They were married to two righteous prophets but opposed them in faith, so being close to them did not help them at all, and it was said: "Enter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At-Tahrim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وَضَرَبَ اللَّهُ مَثَلًا لِّلَّذِينَ ءَامَنُواْ امْرَأَتَ فِرْعَوْنَ إِذْ قَالَتْ رَبِّ ابْنِ لِي عِندَكَ بَيْتًا فِي الْجَنَّةِ وَنَجِّنِي مِن فِرْعَوْنَ وَعَمَلِهِ وَنَجِّنِي مِنَ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gives an example for the believers: Asiyah, the wife of Pharaoh. Her husband's disbelief did not harm her. She prayed: "My Lord, build for me a house with You in Paradise, and save me from Pharaoh and his deeds and from the wrongdoing people."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وَمَرْيَمَ ابْنَتَ عِمْرَٰنَ الَّتِي أَحْصَنَتْ فَرْجَهَا فَنَفَخْنَا فِيهِ مِن رُّوحِنَا وَصَدَّقَتْ بِكَلِمَٰتِ رَبِّهَا وَكُتُبِهِ وَكَانَتْ مِنَ الْقَٰنِتِينَ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Maryam, the daughter of 'Imran, who guarded her chastity. Allah sent Jibril to her, and she conceived 'Isa. She believed in the words of her Lord and His Books, and she was among the obedient.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At-Talaq</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12 verses • Divorce</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65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'Abdullah ibn 'Umar divorced his wife at a time when divorce is not allowed. 'Umar mentioned this to the Prophet (peace be upon him), who became angry and told him to take her back, explained the proper time for divorce, and recited the beginning of this surah (Bukhari and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Explaining the rulings of divorce and the waiting period with justice and kindness, and urging taqwa (mindfulness of Allah) and reliance on Him.</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النَّبِيُّ إِذَا طَلَّقْتُمُ النِّسَآءَ فَطَلِّقُوهُنَّ لِعِدَّتِهِنَّ وَأَحْصُواْ الْعِدَّةَ وَاتَّقُواْ اللَّهَ رَبَّكُمْ لَا تُخْرِجُوهُنَّ مِن بُيُوتِهِنَّ وَلَا يَخْرُجْنَ إِلَّآ أَن يَأْتِينَ بِفَٰحِشَةٍ مُّبَيِّنَةٍ وَتِلْكَ حُدُودُ اللَّهِ وَمَن يَتَعَدَّ حُدُودَ اللَّهِ فَقَدْ ظَلَمَ نَفْسَهُ لَا تَدْرِي لَعَلَّ اللَّهَ يُحْدِثُ بَعْدَ ذَٰلِكَ أَمْرًا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Prophet, when Muslims want to divorce, let them divorce at the time Allah has prescribed and keep count of the waiting period. The wife should not be put out of her home during it. These are Allah's limits; perhaps Allah will bring about reconciliation after that.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بَلَغْنَ أَجَلَهُنَّ فَأَمْسِكُوهُنَّ بِمَعْرُوفٍ أَوْ فَارِقُوهُنَّ بِمَعْرُوفٍ وَأَشْهِدُواْ ذَوَيْ عَدْلٍ مِّنكُمْ وَأَقِيمُواْ الشَّهَٰدَةَ لِلَّهِ ذَٰلِكُمْ يُوعَظُ بِهِ مَن كَانَ يُؤْمِنُ بِاللَّهِ وَالْيَوْمِ الْأخِرِ وَمَن يَتَّقِ اللَّهَ يَجْعَل لَّهُ مَخْرَجًا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waiting period is about to end, either take them back kindly or part with them kindly, and bring two just men as witnesses. Whoever has taqwa of Allah, He will make a way out for him from every difficulty.</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وَيَرْزُقْهُ مِنْ حَيْثُ لَا يَحْتَسِبُ وَمَن يَتَوَكَّلْ عَلَى اللَّهِ فَهُوَ حَسْبُهُ إِنَّ اللَّهَ بَٰلِغُ أَمْرِهِ قَدْ جَعَلَ اللَّهُ لِكُلِّ شَيْءٍ قَدْرًا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will provide for him from where he never expects. Whoever puts his trust in Allah, He is enough for him. Allah will surely accomplish His purpose, and He has set a measure for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وَالَّـٰـِٔي يَئِسْنَ مِنَ الْمَحِيضِ مِن نِّسَآئِكُمْ إِنِ ارْتَبْتُمْ فَعِدَّتُهُنَّ ثَلَٰثَةُ أَشْهُرٍ وَالَّـٰـِٔي لَمْ يَحِضْنَ وَأُوْلَٰتُ الْأَحْمَالِ أَجَلُهُنَّ أَن يَضَعْنَ حَمْلَهُنَّ وَمَن يَتَّقِ اللَّهَ يَجْعَل لَّهُ مِنْ أَمْرِهِ يُسْرًا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older women who no longer menstruate, and for young girls, the waiting period is three months; for pregnant women it ends when they give birth. Whoever has taqwa of Allah, He will make his affairs easy.</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أَمْرُ اللَّهِ أَنزَلَهُ إِلَيْكُمْ وَمَن يَتَّقِ اللَّهَ يُكَفِّرْ عَنْهُ سَيِّـَٔاتِهِ وَيُعْظِمْ لَهُ أَجْرًا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Allah's command which He sent down to you. Whoever has taqwa of Allah, He will remove his sins and make his reward great.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أَسْكِنُوهُنَّ مِنْ حَيْثُ سَكَنتُم مِّن وُجْدِكُمْ وَلَا تُضَآرُّوهُنَّ لِتُضَيِّقُواْ عَلَيْهِنَّ وَإِن كُنَّ أُوْلَٰتِ حَمْلٍ فَأَنفِقُواْ عَلَيْهِنَّ حَتَّىٰ يَضَعْنَ حَمْلَهُنَّ فَإِنْ أَرْضَعْنَ لَكُمْ فَـَٔاتُوهُنَّ أُجُورَهُنَّ وَأْتَمِرُواْ بَيْنَكُم بِمَعْرُوفٍ وَإِن تَعَاسَرْتُمْ فَسَتُرْضِعُ لَهُ أُخْرَىٰ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House divorced women in the same kind of homes you live in, according to your means, and do not make things hard for them. Spend on the pregnant ones until they give birth; if they nurse your child, pay them, and consult each other kindly.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لِيُنفِقْ ذُو سَعَةٍ مِّن سَعَتِهِ وَمَن قُدِرَ عَلَيْهِ رِزْقُهُ فَلْيُنفِقْ مِمَّآ ءَاتَىٰهُ اللَّهُ لَا يُكَلِّفُ اللَّهُ نَفْسًا إِلَّا مَآ ءَاتَىٰهَا سَيَجْعَلُ اللَّهُ بَعْدَ عُسْرٍ يُسْرًا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Let the wealthy spend according to his wealth, and whoever has limited provision, let him spend from what Allah has given him. Allah does not burden anyone beyond what He has given them. Allah will bring ease after hardship.</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وَكَأَيِّن مِّن قَرْيَةٍ عَتَتْ عَنْ أَمْرِ رَبِّهَا وَرُسُلِهِ فَحَاسَبْنَٰهَا حِسَابًا شَدِيدًا وَعَذَّبْنَٰهَا عَذَابًا نُّكْرًا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Many towns rebelled against the command of their Lord and His messengers, so We called them to a severe account and punished them with a terrible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فَذَاقَتْ وَبَالَ أَمْرِهَا وَكَانَ عَٰقِبَةُ أَمْرِهَا خُسْرًا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tasted the bad result of their disobedience, and their end was loss.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أَعَدَّ اللَّهُ لَهُمْ عَذَابًا شَدِيدًا فَاتَّقُواْ اللَّهَ يَـٰأُوْلِي الْأَلْبَٰبِ الَّذِينَ ءَامَنُواْ قَدْ أَنزَلَ اللَّهُ إِلَيْكُمْ ذِكْرًا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prepared for them a severe punishment. So have taqwa of Allah, O people of understanding who believe; Allah has sent down to you the Qur'an.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رَّسُولًا يَتْلُواْ عَلَيْكُمْ ءَايَٰتِ اللَّهِ مُبَيِّنَٰتٍ لِّيُخْرِجَ الَّذِينَ ءَامَنُواْ وَعَمِلُواْ الصَّـٰلِحَٰتِ مِنَ الظُّلُمَٰتِ إِلَى النُّورِ وَمَن يُؤْمِن بِاللَّهِ وَيَعْمَلْ صَٰلِحًا يُدْخِلْهُ جَنَّـٰتٍ تَجْرِي مِن تَحْتِهَا الْأَنْهَٰرُ خَٰلِدِينَ فِيهَآ أَبَدًا قَدْ أَحْسَنَ اللَّهُ لَهُ رِزْقًا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sent a Messenger who recites to you Allah's clear verses, to bring the believers out of the darkness of disbelief into the light of faith. Whoever believes and does good, He will admit him into Gardens to live there forever.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الَّذِي خَلَقَ سَبْعَ سَمَٰوَٰتٍ وَمِنَ الْأَرْضِ مِثْلَهُنَّ يَتَنَزَّلُ الْأَمْرُ بَيْنَهُنَّ لِتَعْلَمُواْ أَنَّ اللَّهَ عَلَىٰ كُلِّ شَيْءٍ قَدِيرٌ وَأَنَّ اللَّهَ قَدْ أَحَاطَ بِكُلِّ شَيْءٍ عِلْمًا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One who created seven heavens, and of the earth the like of them. His command descends between them, so that you may know that Allah has power over everything and that His knowledge surrounds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At-Taghabun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18 verses • Mutual Loss and Gain</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64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Ibn 'Abbas said about the verse "Among your wives and children are enemies to you": it was revealed about men from Makkah who accepted Islam and wanted to migrate to the Prophet (peace be upon him), but their wives and children held them back (Tirmidhi).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Affirming Allah's greatness and knowledge, belief in the Resurrection and the Day of Mutual Loss and Gain, contentment with Allah's decree, and a warning about being tested by wealth and children.</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At-Taghabun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يُسَبِّحُ لِلَّهِ مَا فِي السَّمَٰوَٰتِ وَمَا فِي الْأَرْضِ لَهُ الْمُلْكُ وَلَهُ الْحَمْدُ وَهُوَ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Everything in the heavens and the earth glorifies Allah. To Him belongs all dominion and all praise, and He has power over everything.</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خَلَقَكُمْ فَمِنكُمْ كَافِرٌ وَمِنكُم مُّؤْمِنٌ وَاللَّهُ بِمَا تَعْمَلُونَ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created you; some of you are disbelievers and some are believers, and Allah sees what you do.</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خَلَقَ السَّمَٰوَٰتِ وَالْأَرْضَ بِالْحَقِّ وَصَوَّرَكُمْ فَأَحْسَنَ صُوَرَكُمْ وَإِلَيْهِ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created the heavens and the earth with truth, shaped you and made your shapes beautiful, and to Him is the final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At-Taghabun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يَعْلَمُ مَا فِي السَّمَٰوَٰتِ وَالْأَرْضِ وَيَعْلَمُ مَا تُسِرُّونَ وَمَا تُعْلِنُونَ وَاللَّهُ عَلِيمٌ بِذَاتِ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knows what is in the heavens and the earth, and He knows what you hide and what you show. He knows well what is in the hearts.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يَأْتِكُمْ نَبَؤُاْ الَّذِينَ كَفَرُواْ مِن قَبْلُ فَذَاقُواْ وَبَالَ أَمْرِهِمْ وَلَهُمْ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the news not reached you of the disbelieving nations before you? They tasted the result of their disbelief in this world, and in the Hereafter they will have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At-Taghabun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بِأَنَّهُ كَانَت تَّأْتِيهِمْ رُسُلُهُم بِالْبَيِّنَٰتِ فَقَالُواْ أَبَشَرٌ يَهْدُونَنَا فَكَفَرُواْ وَتَوَلَّواْ وَّاسْتَغْنَى اللَّهُ وَاللَّهُ غَنِيٌّ 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was because their messengers came to them with clear proofs, but they said: "Shall human beings like us guide us?" So they disbelieved and turned away, and Allah has no need of them; He is Rich, Praiseworthy.</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زَعَمَ الَّذِينَ كَفَرُواْ أَن لَّن يُبْعَثُواْ قُلْ بَلَىٰ وَرَبِّي لَتُبْعَثُنَّ ثُمَّ لَتُنَبَّؤُنَّ بِمَا عَمِلْتُمْ وَذَٰلِكَ عَلَى اللَّهِ يَسِيرٌ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claim they will never be raised again. Say: Yes, by my Lord, you will certainly be raised, then you will be told what you did, and that is easy for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At-Taghabun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فَـَٔامِنُواْ بِاللَّهِ وَرَسُولِهِ وَالنُّورِ الَّذِي أَنزَلْنَا وَاللَّهُ بِمَا تَعْمَلُونَ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believe in Allah and His Messenger and in the Qur'an, the light We have sent down. Allah is fully aware of what you do.</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يَجْمَعُكُمْ لِيَوْمِ الْجَمْعِ ذَٰلِكَ يَوْمُ التَّغَابُنِ وَمَن يُؤْمِن بِاللَّهِ وَيَعْمَلْ صَٰلِحًا يُكَفِّرْ عَنْهُ سَيِّـَٔاتِهِ وَيُدْخِلْهُ جَنَّـٰتٍ تَجْرِي مِن تَحْتِهَا الْأَنْهَٰرُ خَٰلِدِينَ فِيهَآ أَبَدًا ذَٰلِكَ الْفَوْزُ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Day He gathers you for the Day of Gathering, that is the Day of Mutual Loss and Gain, when the winners and losers become clear. Whoever believes and does good, He will remove his sins and admit him into Paradise.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At-Taghabun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كَفَرُواْ وَكَذَّبُواْ بِـَٔايَٰتِنَآ أُوْلَـٰئِكَ أَصْحَٰبُ النَّارِ خَٰلِدِينَ فِيهَا وَبِئْسَ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those who disbelieve and deny Our signs are the people of the Fire, remaining there forever. What an evil destination!</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أَصَابَ مِن مُّصِيبَةٍ إِلَّا بِإِذْنِ اللَّهِ وَمَن يُؤْمِن بِاللَّهِ يَهْدِ قَلْبَهُ وَاللَّهُ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disaster strikes anyone except by Allah's decree. Whoever believes in Allah, He guides his heart, so he knows it is from Allah, and he becomes content and patient.</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وَأَطِيعُواْ اللَّهَ وَأَطِيعُواْ الرَّسُولَ فَإِن تَوَلَّيْتُمْ فَإِنَّمَا عَلَىٰ رَسُولِنَا الْبَلَٰغُ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Obey Allah and obey the Messenger. If you turn away, Our Messenger's duty is only to convey the message clearly.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At-Taghabun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لَآ إِلَٰهَ إِلَّا هُوَ وَعَلَى اللَّهِ فَلْيَتَوَكَّلِ الْمُؤْمِنُونَ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there is no god worthy of worship except Him, so in Allah alone let the believers put their trust.</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67690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إِنَّ مِنْ أَزْوَٰجِكُمْ وَأَوْلَٰدِكُمْ عَدُوًّا لَّكُمْ فَاحْذَرُوهُمْ وَإِن تَعْفُواْ وَتَصْفَحُواْ وَتَغْفِرُواْ فَإِنَّ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some of your wives and children may turn you away from obeying Allah, so beware of them. But if you pardon and forgive, then Allah is Forgiving, Merciful.</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أَمْوَٰلُكُمْ وَأَوْلَٰدُكُمْ فِتْنَةٌ وَاللَّهُ عِندَهُ أَجْرٌ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wealth and your children are only a test for you, and with Allah is a great reward for whoever puts obedience to Him first.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At-Taghabun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فَاتَّقُواْ اللَّهَ مَا اسْتَطَعْتُمْ وَاسْمَعُواْ وَأَطِيعُواْ وَأَنفِقُواْ خَيْرًا لِّأَنفُسِكُمْ وَمَن يُوقَ شُحَّ نَفْسِهِ فَأُوْلَـٰئِكَ هُمُ الْمُفْلِحُونَ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have taqwa of Allah as much as you can, listen and obey, and spend in charity; it is better for you. Whoever is saved from his own greed, those are the successful.</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تُقْرِضُواْ اللَّهَ قَرْضًا حَسَنًا يُضَٰعِفْهُ لَكُمْ وَيَغْفِرْ لَكُمْ وَاللَّهُ شَكُورٌ حَلِيمٌ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lend Allah a goodly loan (by spending in His way), He will multiply it for you and forgive you. Allah is Appreciative, rewarding even a little, and Forbearing, not rushing to punish.</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عَٰلِمُ الْغَيْبِ وَالشَّهَٰدَةِ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knows the unseen and the seen, and He is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Al-Munafiqun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11 verses • The Hypocrites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63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Zayd ibn Arqam said: I was on an expedition and heard 'Abdullah ibn Ubayy say: "Do not spend on those who are with the Messenger of Allah until they leave him. When we return to Madinah, the honoured will surely drive out the humble." I told the Prophet (peace be upon him), but Ibn Ubayy swore he never said it. Then Allah revealed what confirmed my words (Bukhari 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Exposing the traits and lies of the hypocrites, and warning against letting wealth and children distract us from remembering Allah. The Prophet (peace be upon him) used to recite it with Surah Al-Jumu'ah in the Friday prayer (Muslim).</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Al-Munafiqun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إِذَا جَآءَكَ الْمُنَٰفِقُونَ قَالُواْ نَشْهَدُ إِنَّكَ لَرَسُولُ اللَّهِ وَاللَّهُ يَعْلَمُ إِنَّكَ لَرَسُولُهُ وَاللَّهُ يَشْهَدُ إِنَّ الْمُنَٰفِقِينَ لَكَٰذِبُونَ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hypocrites come to you they say with their tongues: "We bear witness that you are the Messenger of Allah." Allah knows you are His Messenger, and Allah bears witness that the hypocrites are liars, because they do not believe it in their hearts.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اتَّخَذُواْ أَيْمَٰنَهُمْ جُنَّةً فَصَدُّواْ عَن سَبِيلِ اللَّهِ إِنَّهُمْ سَآءَ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use their false oaths as a shield to protect themselves, and so they turn people away from Islam. Evil indeed is what they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Al-Munafiqun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بِأَنَّهُمْ ءَامَنُواْ ثُمَّ كَفَرُواْ فَطُبِعَ عَلَىٰ قُلُوبِهِمْ فَهُمْ لَا يَفْقَهُونَ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they showed faith and then disbelieved, so their hearts were sealed and they cannot understand the truth.</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رَأَيْتَهُمْ تُعْجِبُكَ أَجْسَامُهُمْ وَإِن يَقُولُواْ تَسْمَعْ لِقَوْلِهِمْ كَأَنَّهُمْ خُشُبٌ مُّسَنَّدَةٌ يَحْسَبُونَ كُلَّ صَيْحَةٍ عَلَيْهِمْ هُمُ الْعَدُوُّ فَاحْذَرْهُمْ قَٰتَلَهُمُ اللَّهُ أَنَّىٰ يُؤْفَكُونَ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see them, their bodies impress you, and when they speak you listen to their fine words, yet they are like propped-up pieces of wood with no good in them. They think every shout is against them out of fear. They are the enemy, so beware of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Al-Munafiqun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لَهُمْ تَعَالَوْاْ يَسْتَغْفِرْ لَكُمْ رَسُولُ اللَّهِ لَوَّوْاْ رُءُوسَهُمْ وَرَأَيْتَهُمْ يَصُدُّونَ وَهُم مُّسْتَكْبِرُونَ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it is said to them: "Come, the Messenger of Allah will ask forgiveness for you," they turn their heads mockingly, and you see them turning away in arrogance.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سَوَآءٌ عَلَيْهِمْ أَسْتَغْفَرْتَ لَهُمْ أَمْ لَمْ تَسْتَغْفِرْ لَهُمْ لَن يَغْفِرَ اللَّهُ لَهُمْ إِنَّ اللَّهَ لَا يَهْدِي الْقَوْمَ الْفَٰسِقِينَ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the same whether you ask forgiveness for them or not; Allah will not forgive them. Allah does not guide those who rebel against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Al-Munafiqun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هُمُ الَّذِينَ يَقُولُونَ لَا تُنفِقُواْ عَلَىٰ مَنْ عِندَ رَسُولِ اللَّهِ حَتَّىٰ يَنفَضُّواْ وَلِلَّهِ خَزَآئِنُ السَّمَٰوَٰتِ وَالْأَرْضِ وَلَٰكِنَّ الْمُنَٰفِقِينَ لَا يَفْقَهُونَ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who say: "Do not spend on the companions of the Messenger of Allah until they leave him." But to Allah belong the treasures of the heavens and the earth; the hypocrites do not understand.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Al-Munafiqun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يَقُولُونَ لَئِن رَّجَعْنَآ إِلَى الْمَدِينَةِ لَيُخْرِجَنَّ الْأَعَزُّ مِنْهَا الْأَذَلَّ وَلِلَّهِ الْعِزَّةُ وَلِرَسُولِهِ وَلِلْمُؤْمِنِينَ وَلَٰكِنَّ الْمُنَٰفِقِينَ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say: "When we return to Madinah, the honoured will surely drive out the humble." But honour belongs to Allah, His Messenger and the believers; the hypocrites do not know.</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تُلْهِكُمْ أَمْوَٰلُكُمْ وَلَآ أَوْلَٰدُكُمْ عَن ذِكْرِ اللَّهِ وَمَن يَفْعَلْ ذَٰلِكَ فَأُوْلَـٰئِكَ هُمُ الْخَٰسِرُونَ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let your wealth or your children distract you from the remembrance of Allah and prayer. Whoever does that, they are the losers.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Al-Munafiqun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وَأَنفِقُواْ مِن مَّا رَزَقْنَٰكُم مِّن قَبْلِ أَن يَأْتِيَ أَحَدَكُمُ الْمَوْتُ فَيَقُولَ رَبِّ لَوْلَآ أَخَّرْتَنِي إِلَىٰ أَجَلٍ قَرِيبٍ فَأَصَّدَّقَ وَأَكُن 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Spend from what We have given you before death comes to one of you and he says with regret: "My Lord, if only You would delay me a little, I would give charity and be among the righteous."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وَلَن يُؤَخِّرَ اللَّهُ نَفْسًا إِذَا جَآءَ أَجَلُهَا وَاللَّهُ خَبِيرٌ بِمَا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Allah will never delay a soul when its time has come, and Allah is fully aware of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Al-Jumu'ah</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11 verses • Friday</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62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Jabir ibn 'Abdullah said: While we were with the Prophet (peace be upon him) (during the Friday sermon), a caravan arrived carrying food. The people went off to it until only twelve men remained with the Prophet (peace be upon him). Then this verse was revealed: "And when they see some trade or entertainment, they rush off to it" (Bukhari).</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blessing of sending the Prophet (peace be upon him), the rulings and virtue of the Friday prayer, and a warning against being distracted from it.</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Al-Jumu'ah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يُسَبِّحُ لِلَّهِ مَا فِي السَّمَٰوَٰتِ وَمَا فِي الْأَرْضِ الْمَلِكِ الْقُدُّوسِ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Everything in the heavens and the earth glorifies Allah, the King, the Most Pure, free of every defect, the Almighty, the All-Wise.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بَعَثَ فِي الْأُمِّيِّـنَ رَسُولًا مِّنْهُمْ يَتْلُواْ عَلَيْهِمْ ءَايَٰتِهِ وَيُزَكِّيهِمْ وَيُعَلِّمُهُمُ الْكِتَٰبَ وَالْحِكْمَةَ وَإِن كَانُواْ مِن قَبْلُ لَفِي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sent among the Arabs, who could not read or write, a Messenger from among themselves, reciting His verses to them, purifying them and teaching them the Qur'an and the Sunnah, though before that they were clearly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Al-Jumu'ah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وَءَاخَرِينَ مِنْهُمْ لَمَّا يَلْحَقُواْ بِهِمْ وَهُوَ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also sent him to other peoples who have not yet come, meaning everyone who believes in him until the Day of Resurrection.</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فَضْلُ اللَّهِ يُؤْتِيهِ مَن يَشَآءُ وَاللَّهُ ذُو الْفَضْلِ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Allah's favour which He gives to whom He wills, and Allah is the Owner of great favour.</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مَثَلُ الَّذِينَ حُمِّلُواْ التَّوْرَىٰةَ ثُمَّ لَمْ يَحْمِلُوهَا كَمَثَلِ الْحِمَارِ يَحْمِلُ أَسْفَارًا بِئْسَ مَثَلُ الْقَوْمِ الَّذِينَ كَذَّبُواْ بِـَٔايَٰتِ اللَّهِ وَاللَّهُ لَا يَهْدِي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example of the Jews who were given the Torah but did not act on it is like a donkey carrying big books without knowing what is in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Al-Jumu'ah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يَـٰأَيُّهَا الَّذِينَ هَادُواْ إِن زَعَمْتُمْ أَنَّكُمْ أَوْلِيَآءُ لِلَّهِ مِن دُونِ النَّاسِ فَتَمَنَّوُاْ الْمَوْتَ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Jews, if you claim that you alone are Allah's beloved and not other people, then wish for death if you are truthful.</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يَتَمَنَّوْنَهُ أَبَدًا بِمَا قَدَّمَتْ أَيْدِيهِمْ وَاللَّهُ عَلِيمٌ بِالظَّـٰلِمِينَ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they will never wish for it because of the sins they have sent ahead, and Allah knows the wrongdoers well.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Al-Jumu'ah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الْمَوْتَ الَّذِي تَفِرُّونَ مِنْهُ فَإِنَّهُ مُلَٰقِيكُمْ ثُمَّ تُرَدُّونَ إِلَىٰ عَٰلِمِ الْغَيْبِ وَالشَّهَٰدَةِ فَيُنَبِّئُكُم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The death you run away from will surely meet you; then you will be returned to Allah, who will tell you what you used to do.</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إِذَا نُودِيَ لِلصَّلَوٰةِ مِن يَوْمِ الْجُمُعَةِ فَاسْعَوْاْ إِلَىٰ ذِكْرِ اللَّهِ وَذَرُواْ الْبَيْعَ ذَٰلِكُمْ خَيْرٌ لَّكُمْ إِن كُنتُمْ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when the call is made for the Friday prayer, hurry to the sermon and the prayer, and leave off trading. That is better for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Al-Jumu'ah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قُضِيَتِ الصَّلَوٰةُ فَانتَشِرُواْ فِي الْأَرْضِ وَابْتَغُواْ مِن فَضْلِ اللَّهِ وَاذْكُرُواْ اللَّهَ كَثِيرًا لَّعَلَّكُمْ تُفْلِحُونَ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prayer is over, spread out in the land and seek provision, and remember Allah much so that you may succeed.</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رَأَوْاْ تِجَٰرَةً أَوْ لَهْوًا انفَضُّواْ إِلَيْهَا وَتَرَكُوكَ قَآئِمًا قُلْ مَا عِندَ اللَّهِ خَيْرٌ مِّنَ اللَّهْوِ وَمِنَ التِّجَٰرَةِ وَاللَّهُ خَيْرُ الرَّـٰزِقِينَ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Yet when some of them saw trade or entertainment, they went off to it and left you standing giving the sermon. Say: The reward with Allah is better than entertainment and trade, and Allah is the best of providers.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As-Saff</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14 verses • The Ranks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61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'Abdullah ibn Salam said: A group of the Prophet's companions sat together and said: "If only we knew which deeds Allah loves most, we would do them." So Allah revealed this surah, and the Prophet (peace be upon him) recited it to us (Tirmidhi and Ahmad).</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Urging honesty between words and deeds, unity in the ranks of the believers, supporting Allah's religion, and the profitable trade with Allah.</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سَبَّحَ لِلَّهِ مَا فِي السَّمَٰوَٰتِ وَمَا فِي الْأَرْضِ وَهُوَ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Everything in the heavens and the earth glorifies Allah, and He is the Almighty, the All-Wise.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لِمَ تَقُولُونَ مَا لَا تَفْعَلُونَ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why do you say what you do not do?</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كَبُرَ مَقْتًا عِندَ اللَّهِ أَن تَقُولُواْ مَا لَا تَفْعَلُونَ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most hateful to Allah that you say what you do not do.</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يُحِبُّ الَّذِينَ يُقَٰتِلُونَ فِي سَبِيلِهِ صَفًّا كَأَنَّهُم بُنْيَٰنٌ مَّرْصُوصٌ</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loves those who fight in His way in one row, as if they were a solid, joined building.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مُوسَىٰ لِقَوْمِهِ يَٰقَوْمِ لِمَ تُؤْذُونَنِي وَقَد تَّعْلَمُونَ أَنِّي رَسُولُ اللَّهِ إِلَيْكُمْ فَلَمَّا زَاغُواْ أَزَاغَ اللَّهُ قُلُوبَهُمْ وَاللَّهُ لَا يَهْدِي الْقَوْمَ الْفَٰسِقِينَ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Musa said to his people: "Why do you hurt me when you know I am Allah's messenger to you?" When they turned away from the truth, Allah turned their hearts away from guidance.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عِيسَى ابْنُ مَرْيَمَ يَٰبَنِي إِسْرَـٰءِيلَ إِنِّي رَسُولُ اللَّهِ إِلَيْكُم مُّصَدِّقًا لِّمَا بَيْنَ يَدَيَّ مِنَ التَّوْرَىٰةِ وَمُبَشِّرًا بِرَسُولٍ يَأْتِي مِن بَعْدِي اسْمُهُ أَحْمَدُ فَلَمَّا جَآءَهُم بِالْبَيِّنَٰتِ قَالُواْ هَٰذَا سِحْرٌ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'Isa said: "O Children of Israel, I am Allah's messenger to you, confirming the Torah and giving good news of a messenger who will come after me whose name is Ahmad" (that is Muhammad (peace be upon him)). But when he came to them, they said: "This is clear magic."</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أَظْلَمُ مِمَّنِ افْتَرَىٰ عَلَى اللَّهِ الْكَذِبَ وَهُوَ يُدْعَىٰ إِلَى الْإِسْلَٰمِ وَاللَّهُ لَا يَهْدِي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does greater wrong than the one who invents lies about Allah while he is being invited to Islam? Allah does not guide the wrongdoing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يُرِيدُونَ لِيُطْفِـُٔواْ نُورَ اللَّهِ بِأَفْوَٰهِهِمْ وَاللَّهُ مُتِمُّ نُورِهِ وَلَوْ كَرِهَ الْكَٰفِرُونَ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want to put out Allah's religion with their lying words, but Allah will make His religion shine, even if the disbelievers hate it.</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أَرْسَلَ رَسُولَهُ بِالْهُدَىٰ وَدِينِ الْحَقِّ لِيُظْهِرَهُ عَلَى الدِّينِ كُلِّهِ وَلَوْ كَرِهَ الْمُشْرِكُونَ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sent His Messenger with guidance and the true religion of Islam, to make it prevail over all religions, even if the polytheists hate it.</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هَلْ أَدُلُّكُمْ عَلَىٰ تِجَٰرَةٍ تُنجِيكُم مِّنْ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shall I show you a profitable trade that will save you from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تُؤْمِنُونَ بِاللَّهِ وَرَسُولِهِ وَتُجَٰهِدُونَ فِي سَبِيلِ اللَّهِ بِأَمْوَٰلِكُمْ وَأَنفُسِكُمْ ذَٰلِكُمْ خَيْرٌ لَّكُمْ إِن كُنتُمْ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Believe in Allah and His Messenger and strive in Allah's way with your wealth and your lives. That is better for you.</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يَغْفِرْ لَكُمْ ذُنُوبَكُمْ وَيُدْخِلْكُمْ جَنَّـٰتٍ تَجْرِي مِن تَحْتِهَا الْأَنْهَٰرُ وَمَسَٰكِنَ طَيِّبَةً فِي جَنَّـٰتِ عَدْنٍ ذَٰلِكَ الْفَوْزُ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forgive your sins and admit you into Gardens beneath which rivers flow, and into pleasant homes in the Gardens of eternity. That is the great success.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As-Saff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وَأُخْرَىٰ تُحِبُّونَهَا نَصْرٌ مِّنَ اللَّهِ وَفَتْحٌ قَرِيبٌ وَبَشِّرِ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another blessing which you love: help from Allah and a near victory. Give good news to the believers.</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كُونُواْ أَنصَارَ اللَّهِ كَمَا قَالَ عِيسَى ابْنُ مَرْيَمَ لِلْحَوَارِيِّـنَ مَنْ أَنصَارِي إِلَى اللَّهِ قَالَ الْحَوَارِيُّونَ نَحْنُ أَنصَارُ اللَّهِ فَـَٔامَنَت طَّآئِفَةٌ مِّن بَنِي إِسْرَـٰءِيلَ وَكَفَرَت طَّآئِفَةٌ فَأَيَّدْنَا الَّذِينَ ءَامَنُواْ عَلَىٰ عَدُوِّهِمْ فَأَصْبَحُواْ ظَٰهِرِينَ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be helpers of Allah's religion, as 'Isa said to the disciples: "Who will help me in calling to Allah?" They said: "We are Allah's helpers." A group believed and a group disbelieved, so We supported the believers and they became victorious.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Surah Al-Mumtahanah</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13 verses • The Woman Examined</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60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The companion Hatib ibn Abi Balta'ah wrote a letter to Quraysh telling them that the Prophet (peace be upon him) was marching to them. Allah informed His Prophet, who sent 'Ali and al-Zubayr, and they took the letter from a woman on the road. Hatib apologised, saying he only wanted to protect his family in Makkah, and the Prophet (peace be upon him) accepted his excuse. Then the surah was revealed (Bukhari 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Explaining the limits of loyalty to the believers and disowning the enemies of Allah, while still being just and kind to those who do not fight the Muslims.</a:t>
            </a:r>
            <a:endParaRPr lang="en-US" sz="1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Al-Mumtahanah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تَتَّخِذُواْ عَدُوِّي وَعَدُوَّكُمْ أَوْلِيَآءَ تُلْقُونَ إِلَيْهِم بِالْمَوَدَّةِ وَقَدْ كَفَرُواْ بِمَا جَآءَكُم مِّنَ الْحَقِّ يُخْرِجُونَ الرَّسُولَ وَإِيَّاكُمْ أَن تُؤْمِنُواْ بِاللَّهِ رَبِّكُمْ إِن كُنتُمْ خَرَجْتُمْ جِهَٰدًا فِي سَبِيلِي وَابْتِغَآءَ مَرْضَاتِي تُسِرُّونَ إِلَيْهِم بِالْمَوَدَّةِ وَأَنَا أَعْلَمُ بِمَآ أَخْفَيْتُمْ وَمَآ أَعْلَنتُمْ وَمَن يَفْعَلْهُ مِنكُمْ فَقَدْ ضَلَّ سَوَآءَ السَّبِيلِ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take My enemies and your enemies among the disbelievers as close friends, loving them and telling them your secrets, when they have rejected the truth and driven out the Messenger and you, only because you believe in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Al-Mumtahanah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يَثْقَفُوكُمْ يَكُونُواْ لَكُمْ أَعْدَآءً وَيَبْسُطُواْ إِلَيْكُمْ أَيْدِيَهُمْ وَأَلْسِنَتَهُم بِالسُّوءِ وَوَدُّواْ لَوْ تَكْفُرُونَ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gain the upper hand over you, they will show their hostility and hurt you with their hands and tongues, and they wish that you would disbelieve.</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لَن تَنفَعَكُمْ أَرْحَامُكُمْ وَلَآ أَوْلَٰدُكُمْ يَوْمَ الْقِيَٰمَةِ يَفْصِلُ بَيْنَكُمْ وَاللَّهُ بِمَا تَعْمَلُونَ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relatives and children will be of no use to you on the Day of Resurrection if you disobey Allah for their sake, and Allah sees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Al-Mumtahanah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370457"/>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كَانَتْ لَكُمْ أُسْوَةٌ حَسَنَةٌ فِي إِبْرَٰهِيمَ وَالَّذِينَ مَعَهُ إِذْ قَالُواْ لِقَوْمِهِمْ إِنَّا بُرَءَـٰؤُاْ مِنكُمْ وَمِمَّا تَعْبُدُونَ مِن دُونِ اللَّهِ كَفَرْنَا بِكُمْ وَبَدَا بَيْنَنَا وَبَيْنَكُمُ الْعَدَٰوَةُ وَالْبَغْضَآءُ أَبَدًا حَتَّىٰ تُؤْمِنُواْ بِاللَّهِ وَحْدَهُ إِلَّا قَوْلَ إِبْرَٰهِيمَ لِأَبِيهِ لَأَسْتَغْفِرَنَّ لَكَ وَمَآ أَمْلِكُ لَكَ مِنَ اللَّهِ مِن شَيْءٍ رَّبَّنَا عَلَيْكَ تَوَكَّلْنَا وَإِلَيْكَ أَنَبْنَا وَإِلَيْكَ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have an excellent example in Ibrahim and those with him, when they said to their people: "We are free of you and of what you worship besides Allah, until you believe in Allah alone," except Ibrahim's asking forgiveness for his father, so do not follow him in that.</a:t>
            </a:r>
            <a:endParaRPr lang="en-US" sz="3000" dirty="0"/>
          </a:p>
        </p:txBody>
      </p:sp>
      <p:sp>
        <p:nvSpPr>
          <p:cNvPr id="9" name="Shape 7"/>
          <p:cNvSpPr/>
          <p:nvPr/>
        </p:nvSpPr>
        <p:spPr>
          <a:xfrm>
            <a:off x="1444752" y="4647438"/>
            <a:ext cx="8641080" cy="0"/>
          </a:xfrm>
          <a:prstGeom prst="line">
            <a:avLst/>
          </a:prstGeom>
          <a:noFill/>
          <a:ln w="9525">
            <a:solidFill>
              <a:schemeClr val="accent2"/>
            </a:solidFill>
            <a:prstDash val="dash"/>
          </a:ln>
        </p:spPr>
      </p:sp>
      <p:sp>
        <p:nvSpPr>
          <p:cNvPr id="10" name="Shape 8"/>
          <p:cNvSpPr/>
          <p:nvPr/>
        </p:nvSpPr>
        <p:spPr>
          <a:xfrm>
            <a:off x="713232" y="4810887"/>
            <a:ext cx="548640" cy="548640"/>
          </a:xfrm>
          <a:prstGeom prst="star8">
            <a:avLst/>
          </a:prstGeom>
          <a:solidFill>
            <a:schemeClr val="accent2"/>
          </a:solidFill>
          <a:ln/>
        </p:spPr>
      </p:sp>
      <p:sp>
        <p:nvSpPr>
          <p:cNvPr id="11" name="Shape 9"/>
          <p:cNvSpPr/>
          <p:nvPr/>
        </p:nvSpPr>
        <p:spPr>
          <a:xfrm>
            <a:off x="822960" y="492061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81088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4792599"/>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لَا تَجْعَلْنَا فِتْنَةً لِّلَّذِينَ كَفَرُواْ وَاغْفِرْ لَنَا رَبَّنَآ إِنَّكَ أَنتَ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Lord, do not let the disbelievers overpower us and turn us away from our faith, and forgive us. You are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Al-Mumtahanah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كَانَ لَكُمْ فِيهِمْ أُسْوَةٌ حَسَنَةٌ لِّمَن كَانَ يَرْجُواْ اللَّهَ وَالْيَوْمَ الْأخِرَ وَمَن يَتَوَلَّ فَإِنَّ اللَّهَ هُوَ الْغَنِيُّ الْحَمِيدُ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them you have an excellent example, for whoever hopes for Allah and the Last Day. Whoever turns away, Allah is Rich, Praiseworthy.</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عَسَى اللَّهُ أَن يَجْعَلَ بَيْنَكُمْ وَبَيْنَ الَّذِينَ عَادَيْتُم مِّنْهُم مَّوَدَّةً وَاللَّهُ قَدِيرٌ وَاللَّهُ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Perhaps Allah will create love between you and your disbelieving enemies when they accept Islam. Allah is Able, Forgiving,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Al-Mumtahanah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يَنْهَىٰكُمُ اللَّهُ عَنِ الَّذِينَ لَمْ يُقَٰتِلُوكُمْ فِي الدِّينِ وَلَمْ يُخْرِجُوكُم مِّن دِيَٰرِكُمْ أَن تَبَرُّوهُمْ وَتُقْسِطُواْ إِلَيْهِمْ إِنَّ اللَّهَ يُحِبُّ الْمُقْسِطِينَ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does not forbid you from being kind and just to the disbelievers who have not fought you nor driven you from your homes. Allah loves those who are just.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يَنْهَىٰكُمُ اللَّهُ عَنِ الَّذِينَ قَٰتَلُوكُمْ فِي الدِّينِ وَأَخْرَجُوكُم مِّن دِيَٰرِكُمْ وَظَٰهَرُواْ عَلَىٰ إِخْرَاجِكُمْ أَن تَوَلَّوْهُمْ وَمَن يَتَوَلَّهُمْ فَأُوْلَـٰئِكَ هُمُ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only forbids you from allying with those who fought you, drove you from your homes and helped to drive you out. Whoever allies with them, they are the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Al-Mumtahanah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72234"/>
            <a:ext cx="548640" cy="548640"/>
          </a:xfrm>
          <a:prstGeom prst="star8">
            <a:avLst/>
          </a:prstGeom>
          <a:solidFill>
            <a:schemeClr val="accent2"/>
          </a:solidFill>
          <a:ln/>
        </p:spPr>
      </p:sp>
      <p:sp>
        <p:nvSpPr>
          <p:cNvPr id="6" name="Shape 4"/>
          <p:cNvSpPr/>
          <p:nvPr/>
        </p:nvSpPr>
        <p:spPr>
          <a:xfrm>
            <a:off x="822960" y="198196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7223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853946"/>
            <a:ext cx="10012680" cy="370789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إِذَا جَآءَكُمُ الْمُؤْمِنَٰتُ مُهَٰجِرَٰتٍ فَامْتَحِنُوهُنَّ اللَّهُ أَعْلَمُ بِإِيمَٰنِهِنَّ فَإِنْ عَلِمْتُمُوهُنَّ مُؤْمِنَٰتٍ فَلَا تَرْجِعُوهُنَّ إِلَى الْكُفَّارِ لَا هُنَّ حِلٌّ لَّهُمْ وَلَا هُمْ يَحِلُّونَ لَهُنَّ وَءَاتُوهُم مَّآ أَنفَقُواْ وَلَا جُنَاحَ عَلَيْكُمْ أَن تَنكِحُوهُنَّ إِذَآ ءَاتَيْتُمُوهُنَّ أُجُورَهُنَّ وَلَا تُمْسِكُواْ بِعِصَمِ الْكَوَافِرِ وَسْـَٔلُواْ مَآ أَنفَقْتُمْ وَلْيَسْـَٔلُواْ مَآ أَنفَقُواْ ذَٰلِكُمْ حُكْمُ اللَّهِ يَحْكُمُ بَيْنَكُمْ وَاللَّهُ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when believing women come to you as emigrants, test the truth of their faith. If you know they are believers, do not send them back to the disbelievers, and give their husbands what they had spent on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Al-Mumtahanah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فَاتَكُمْ شَيْءٌ مِّنْ أَزْوَٰجِكُمْ إِلَى الْكُفَّارِ فَعَاقَبْتُمْ فَـَٔاتُواْ الَّذِينَ ذَهَبَتْ أَزْوَٰجُهُم مِّثْلَ مَآ أَنفَقُواْ وَاتَّقُواْ اللَّهَ الَّذِي أَنتُم بِهِ مُؤْمِنُونَ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 wife of one of you goes over to the disbelievers and you later gain spoils from them, give those whose wives went the like of what they spent, and have taqwa of Allah in whom you believe.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النَّبِيُّ إِذَا جَآءَكَ الْمُؤْمِنَٰتُ يُبَايِعْنَكَ عَلَىٰ أَن لَّا يُشْرِكْنَ بِاللَّهِ شَيْـًٔا وَلَا يَسْرِقْنَ وَلَا يَزْنِينَ وَلَا يَقْتُلْنَ أَوْلَٰدَهُنَّ وَلَا يَأْتِينَ بِبُهْتَٰنٍ يَفْتَرِينَهُ بَيْنَ أَيْدِيهِنَّ وَأَرْجُلِهِنَّ وَلَا يَعْصِينَكَ فِي مَعْرُوفٍ فَبَايِعْهُنَّ وَاسْتَغْفِرْ لَهُنَّ اللَّهَ 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Prophet, when believing women come to you pledging that they will not associate anything with Allah, nor steal, nor commit indecency, nor kill their children, nor lie, nor disobey you in what is right, then accept their pledge and ask Allah to forgive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Al-Mumtahanah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تَتَوَلَّوْاْ قَوْمًا غَضِبَ اللَّهُ عَلَيْهِمْ قَدْ يَئِسُواْ مِنَ الْأخِرَةِ كَمَا يَئِسَ الْكُفَّارُ مِنْ أَصْحَٰبِ الْقُبُورِ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take as allies a people with whom Allah is angry; they have lost hope of reward in the Hereafter, just as the disbelievers have lost hope of their dead coming back.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Al-Hashr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24 verses • The Gathering</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59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It was revealed about the Jews of Banu al-Nadir when they broke their treaty and plotted to kill the Prophet (peace be upon him). He besieged them and then expelled them from Madinah. Ibn 'Abbas used to call it "the Surah of Banu al-Nadir"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Allah's help for the believers against the Jews of Banu al-Nadir, the virtue of the Muhajirun and the Ansar, exposing the hypocrites, and mentioning Allah's Beautiful Names.</a:t>
            </a:r>
            <a:endParaRPr lang="en-US" sz="17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Al-Hashr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70457"/>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سَبَّحَ لِلَّهِ مَا فِي السَّمَٰوَٰتِ وَمَا فِي الْأَرْضِ وَهُوَ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Everything in the heavens and the earth glorifies Allah, and He is the Almighty, the All-Wise.</a:t>
            </a:r>
            <a:endParaRPr lang="en-US" sz="3000" dirty="0"/>
          </a:p>
        </p:txBody>
      </p:sp>
      <p:sp>
        <p:nvSpPr>
          <p:cNvPr id="9" name="Shape 7"/>
          <p:cNvSpPr/>
          <p:nvPr/>
        </p:nvSpPr>
        <p:spPr>
          <a:xfrm>
            <a:off x="1444752" y="2480310"/>
            <a:ext cx="8641080" cy="0"/>
          </a:xfrm>
          <a:prstGeom prst="line">
            <a:avLst/>
          </a:prstGeom>
          <a:noFill/>
          <a:ln w="9525">
            <a:solidFill>
              <a:schemeClr val="accent2"/>
            </a:solidFill>
            <a:prstDash val="dash"/>
          </a:ln>
        </p:spPr>
      </p:sp>
      <p:sp>
        <p:nvSpPr>
          <p:cNvPr id="10" name="Shape 8"/>
          <p:cNvSpPr/>
          <p:nvPr/>
        </p:nvSpPr>
        <p:spPr>
          <a:xfrm>
            <a:off x="713232" y="2643759"/>
            <a:ext cx="548640" cy="548640"/>
          </a:xfrm>
          <a:prstGeom prst="star8">
            <a:avLst/>
          </a:prstGeom>
          <a:solidFill>
            <a:schemeClr val="accent2"/>
          </a:solidFill>
          <a:ln/>
        </p:spPr>
      </p:sp>
      <p:sp>
        <p:nvSpPr>
          <p:cNvPr id="11" name="Shape 9"/>
          <p:cNvSpPr/>
          <p:nvPr/>
        </p:nvSpPr>
        <p:spPr>
          <a:xfrm>
            <a:off x="822960" y="2753487"/>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4375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625471"/>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أَخْرَجَ الَّذِينَ كَفَرُواْ مِنْ أَهْلِ الْكِتَٰبِ مِن دِيَٰرِهِمْ لِأَوَّلِ الْحَشْرِ مَا ظَنَنتُمْ أَن يَخْرُجُواْ وَظَنُّواْ أَنَّهُم مَّانِعَتُهُمْ حُصُونُهُم مِّنَ اللَّهِ فَأَتَىٰهُمُ اللَّهُ مِنْ حَيْثُ لَمْ يَحْتَسِبُواْ وَقَذَفَ فِي قُلُوبِهِمُ الرُّعْبَ يُخْرِبُونَ بُيُوتَهُم بِأَيْدِيهِمْ وَأَيْدِي الْمُؤْمِنِينَ فَاعْتَبِرُواْ يَـٰأُوْلِي الْأَبْصَٰرِ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drove the Jews of Banu al-Nadir out of their homes at the first gathering. You did not think they would leave, and they thought their fortresses would protect them, but Allah's command came from where they did not expect and He cast terror into their hearts. So take a lesson, O people of insight.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Al-Hashr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وَلَوْلَآ أَن كَتَبَ اللَّهُ عَلَيْهِمُ الْجَلَآءَ لَعَذَّبَهُمْ فِي الدُّنْيَا وَلَهُمْ فِي الْأخِرَةِ عَذَابُ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Had Allah not decreed exile for them, He would have punished them in this world by death, and in the Hereafter they will have the punishment of the Fire.</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بِأَنَّهُمْ شَآقُّواْ اللَّهَ وَرَسُولَهُ وَمَن يُشَآقِّ اللَّهَ فَإِنَّ اللَّهَ شَدِيدُ الْعِقَابِ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they opposed Allah and His Messenger, and whoever opposes Allah, then Allah is severe in punishment.</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قَطَعْتُم مِّن لِّينَةٍ أَوْ تَرَكْتُمُوهَا قَآئِمَةً عَلَىٰ أُصُولِهَا فَبِإِذْنِ اللَّهِ وَلِيُخْزِيَ الْفَٰسِقِينَ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Whatever palm trees you cut down or left standing was by Allah's permission, to disgrace those who rebel against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Al-Hashr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أَفَآءَ اللَّهُ عَلَىٰ رَسُولِهِ مِنْهُمْ فَمَآ أَوْجَفْتُمْ عَلَيْهِ مِنْ خَيْلٍ وَلَا رِكَابٍ وَلَٰكِنَّ اللَّهَ يُسَلِّطُ رُسُلَهُ عَلَىٰ مَن يَشَآءُ وَاللَّهُ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Allah gave His Messenger from their wealth without fighting, you did not ride horses or camels for it, but Allah gives His messengers power over whom He wills.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أَفَآءَ اللَّهُ عَلَىٰ رَسُولِهِ مِنْ أَهْلِ الْقُرَىٰ فَلِلَّهِ وَلِلرَّسُولِ وَلِذِي الْقُرْبَىٰ وَالْيَتَٰمَىٰ وَالْمَسَٰكِينِ وَابْنِ السَّبِيلِ كَيْ لَا يَكُونَ دُولَةً بَيْنَ الْأَغْنِيَآءِ مِنكُمْ وَمَآ ءَاتَىٰكُمُ الرَّسُولُ فَخُذُوهُ وَمَا نَهَىٰكُمْ عَنْهُ فَانتَهُواْ وَاتَّقُواْ اللَّهَ إِنَّ اللَّهَ شَدِيدُ الْعِقَابِ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Allah gives His Messenger from the disbelievers' wealth without fighting is for Allah, the Messenger, relatives, orphans, the poor and travellers, so that it does not just circulate among the rich. Whatever the Messenger commands you, do it, and whatever he forbids you, leave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Al-Hashr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لِلْفُقَرَآءِ الْمُهَٰجِرِينَ الَّذِينَ أُخْرِجُواْ مِن دِيَٰرِهِمْ وَأَمْوَٰلِهِمْ يَبْتَغُونَ فَضْلًا مِّنَ اللَّهِ وَرِضْوَٰنًا وَيَنصُرُونَ اللَّهَ وَرَسُولَهُ أُوْلَـٰئِكَ هُمُ الصَّـٰدِقُونَ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Part of it is for the poor Muhajirun who were driven from their homes and wealth, seeking Allah's favour and pleasure and supporting Allah and His Messenger. They are the truthful ones.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تَبَوَّءُو الدَّارَ وَالْإِيمَٰنَ مِن قَبْلِهِمْ يُحِبُّونَ مَنْ هَاجَرَ إِلَيْهِمْ وَلَا يَجِدُونَ فِي صُدُورِهِمْ حَاجَةً مِّمَّآ أُوتُواْ وَيُؤْثِرُونَ عَلَىٰ أَنفُسِهِمْ وَلَوْ كَانَ بِهِمْ خَصَاصَةٌ وَمَن يُوقَ شُحَّ نَفْسِهِ فَأُوْلَـٰئِكَ هُمُ الْمُفْلِحُونَ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Ansar, who settled in Madinah and believed before the Muhajirun came, love those who migrated to them, feel no envy for what they were given, and prefer them over themselves even when they are in need. Whoever is saved from his own greed, those are the successful.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Al-Hashr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370457"/>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جَآءُو مِن بَعْدِهِمْ يَقُولُونَ رَبَّنَا اغْفِرْ لَنَا وَلِإِخْوَٰنِنَا الَّذِينَ سَبَقُونَا بِالْإِيمَٰنِ وَلَا تَجْعَلْ فِي قُلُوبِنَا غِلًّا لِّلَّذِينَ ءَامَنُواْ رَبَّنَآ إِنَّكَ رَءُوفٌ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came after them pray: "Our Lord, forgive us and our brothers who came before us in faith, and do not put in our hearts any hatred towards the believers. Our Lord, You are Kind, Merciful."</a:t>
            </a:r>
            <a:endParaRPr lang="en-US" sz="3000" dirty="0"/>
          </a:p>
        </p:txBody>
      </p:sp>
      <p:sp>
        <p:nvSpPr>
          <p:cNvPr id="9" name="Shape 7"/>
          <p:cNvSpPr/>
          <p:nvPr/>
        </p:nvSpPr>
        <p:spPr>
          <a:xfrm>
            <a:off x="1444752" y="3550158"/>
            <a:ext cx="8641080" cy="0"/>
          </a:xfrm>
          <a:prstGeom prst="line">
            <a:avLst/>
          </a:prstGeom>
          <a:noFill/>
          <a:ln w="9525">
            <a:solidFill>
              <a:schemeClr val="accent2"/>
            </a:solidFill>
            <a:prstDash val="dash"/>
          </a:ln>
        </p:spPr>
      </p:sp>
      <p:sp>
        <p:nvSpPr>
          <p:cNvPr id="10" name="Shape 8"/>
          <p:cNvSpPr/>
          <p:nvPr/>
        </p:nvSpPr>
        <p:spPr>
          <a:xfrm>
            <a:off x="713232" y="3713607"/>
            <a:ext cx="548640" cy="548640"/>
          </a:xfrm>
          <a:prstGeom prst="star8">
            <a:avLst/>
          </a:prstGeom>
          <a:solidFill>
            <a:schemeClr val="accent2"/>
          </a:solidFill>
          <a:ln/>
        </p:spPr>
      </p:sp>
      <p:sp>
        <p:nvSpPr>
          <p:cNvPr id="11" name="Shape 9"/>
          <p:cNvSpPr/>
          <p:nvPr/>
        </p:nvSpPr>
        <p:spPr>
          <a:xfrm>
            <a:off x="822960" y="382333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1360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3695319"/>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الَّذِينَ نَافَقُواْ يَقُولُونَ لِإِخْوَٰنِهِمُ الَّذِينَ كَفَرُواْ مِنْ أَهْلِ الْكِتَٰبِ لَئِنْ أُخْرِجْتُمْ لَنَخْرُجَنَّ مَعَكُمْ وَلَا نُطِيعُ فِيكُمْ أَحَدًا أَبَدًا وَإِن قُوتِلْتُمْ لَنَنصُرَنَّكُمْ وَاللَّهُ يَشْهَدُ إِنَّهُمْ لَكَٰذِبُونَ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seen the hypocrites telling the Jews of Banu al-Nadir: "If you are driven out we will go with you, and if you are fought we will help you"? Allah bears witness that they are liars.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Al-Hashr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لَئِنْ أُخْرِجُواْ لَا يَخْرُجُونَ مَعَهُمْ وَلَئِن قُوتِلُواْ لَا يَنصُرُونَهُمْ وَلَئِن نَّصَرُوهُمْ لَيُوَلُّنَّ الْأَدْبَٰرَ ثُمَّ لَا يُنصَرُونَ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 Jews are driven out, the hypocrites will not go with them; if they are fought, they will not help them; and if they did help them, they would run away and not be helped.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لَأَنتُمْ أَشَدُّ رَهْبَةً فِي صُدُورِهِم مِّنَ اللَّهِ ذَٰلِكَ بِأَنَّهُمْ قَوْمٌ لَّا يَفْقَهُونَ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fear you more than they fear Allah, because they are a people who do not understand.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Al-Hashr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يُقَٰتِلُونَكُمْ جَمِيعًا إِلَّا فِي قُرًى مُّحَصَّنَةٍ أَوْ مِن وَرَآءِ جُدُرٍ بَأْسُهُم بَيْنَهُمْ شَدِيدٌ تَحْسَبُهُمْ جَمِيعًا وَقُلُوبُهُمْ شَتَّىٰ ذَٰلِكَ بِأَنَّهُمْ قَوْمٌ لَّا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not fight you together except from fortified towns or from behind walls. Their hostility among themselves is severe; you think they are united, but their hearts are divided.</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كَمَثَلِ الَّذِينَ مِن قَبْلِهِمْ قَرِيبًا ذَاقُواْ وَبَالَ أَمْرِهِمْ وَلَهُمْ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like the disbelievers shortly before them, who tasted the bad result of their deeds, and they will have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Al-Hashr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كَمَثَلِ الشَّيْطَٰنِ إِذْ قَالَ لِلْإِنسَٰنِ اكْفُرْ فَلَمَّا كَفَرَ قَالَ إِنِّي بَرِيءٌ مِّنكَ إِنِّي أَخَافُ اللَّهَ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hypocrites with them are like Shaytan: he tells a person "Disbelieve," and when he disbelieves he says: "I have nothing to do with you; I fear Allah, Lord of the worlds."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فَكَانَ عَٰقِبَتَهُمَآ أَنَّهُمَا فِي النَّارِ خَٰلِدَيْنِ فِيهَا وَذَٰلِكَ جَزَـٰؤُاْ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end of Shaytan and the one who obeyed him is the Fire, remaining there forever. That is the reward of the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Al-Hashr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اتَّقُواْ اللَّهَ وَلْتَنظُرْ نَفْسٌ مَّا قَدَّمَتْ لِغَدٍ وَاتَّقُواْ اللَّهَ إِنَّ اللَّهَ خَبِيرٌ بِمَا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have taqwa of Allah, and let every soul look at what it has sent ahead for tomorrow (the Day of Resurrection). Have taqwa of Allah; He is fully aware of what you do.</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تَكُونُواْ كَالَّذِينَ نَسُواْ اللَّهَ فَأَنسَىٰهُمْ أَنفُسَهُمْ أُوْلَـٰئِكَ هُمُ الْفَٰسِقُونَ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do not be like those who forgot Allah's command, so He made them forget to work for their own good. Those are the rebellious ones.</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يَسْتَوِي أَصْحَٰبُ النَّارِ وَأَصْحَٰبُ الْجَنَّةِ أَصْحَٰبُ الْجَنَّةِ هُمُ الْفَآئِزُونَ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the Fire and the people of Paradise are not equal. The people of Paradise are the winners.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Al-Hashr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 أَنزَلْنَا هَٰذَا الْقُرْءَانَ عَلَىٰ جَبَلٍ لَّرَأَيْتَهُ خَٰشِعًا مُّتَصَدِّعًا مِّنْ خَشْيَةِ اللَّهِ وَتِلْكَ الْأَمْثَٰلُ نَضْرِبُهَا لِلنَّاسِ لَعَلَّهُمْ يَتَفَكَّرُونَ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had sent down this Qur'an on a mountain, you would have seen it humbled and splitting apart out of fear of Allah. So what about the human heart? These are examples We give to people so they may reflect.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اللَّهُ الَّذِي لَآ إِلَٰهَ إِلَّا هُوَ عَٰلِمُ الْغَيْبِ وَالشَّهَٰدَةِ هُوَ الرَّحْمَٰنُ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Allah, there is no god worthy of worship except Him, Knower of the unseen and the seen. He is the Most Merciful, the Especially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Al-Hashr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اللَّهُ الَّذِي لَآ إِلَٰهَ إِلَّا هُوَ الْمَلِكُ الْقُدُّوسُ السَّلَٰمُ الْمُؤْمِنُ الْمُهَيْمِنُ الْعَزِيزُ الْجَبَّارُ الْمُتَكَبِّرُ سُبْحَٰنَ اللَّهِ عَمَّا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Allah, the King, the Most Pure, the One free of every flaw, the Giver of security who confirms His messengers, the Watchful, the Almighty, the Compeller, the Supreme. Glory be to Him above what they associate with Him.</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اللَّهُ الْخَٰلِقُ الْبَارِئُ الْمُصَوِّرُ لَهُ الْأَسْمَآءُ الْحُسْنَىٰ يُسَبِّحُ لَهُ مَا فِي السَّمَٰوَٰتِ وَالْأَرْضِ وَهُوَ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Allah, the Creator, the Originator, the Fashioner. His are the Most Beautiful Names. Whatever is in the heavens and the earth glorifies Him, and He is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Al-Mujadilah</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22 verses • The Pleading Woman</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58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300" dirty="0">
                <a:solidFill>
                  <a:schemeClr val="tx1"/>
                </a:solidFill>
                <a:latin typeface="Arial" pitchFamily="34" charset="0"/>
                <a:ea typeface="Arial" pitchFamily="34" charset="-122"/>
                <a:cs typeface="Arial" pitchFamily="34" charset="-120"/>
              </a:rPr>
              <a:t>Khawlah bint Tha'labah came complaining to the Prophet (peace be upon him) that her husband Aws ibn al-Samit had said to her: "You are to me like my mother's back" (zihar), and these verses were revealed. 'A'ishah said: "Praise be to Allah whose hearing encompasses all voices! The pleading woman came speaking to the Prophet (peace be upon him) while I was in a corner of the house and could not hear what she said" (Ahmad and al-Nasa'i; Bukhari mentions it).</a:t>
            </a:r>
            <a:endParaRPr lang="en-US" sz="13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Allah's perfect hearing and all-encompassing knowledge, the ruling on zihar, the manners of gatherings and private talk, and the traits of the party of Allah and the party of Shaytan.</a:t>
            </a:r>
            <a:endParaRPr lang="en-US" sz="17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Al-Mujadilah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سَمِعَ اللَّهُ قَوْلَ الَّتِي تُجَٰدِلُكَ فِي زَوْجِهَا وَتَشْتَكِي إِلَى اللَّهِ وَاللَّهُ يَسْمَعُ تَحَاوُرَكُمَآ إِنَّ اللَّهَ سَمِيعٌ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heard the words of Khawlah bint Tha'labah who was pleading with you about her husband and complaining to Allah. Allah hears your conversation; Allah is All-Hearing, All-Seeing.</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يُظَٰهِرُونَ مِنكُم مِّن نِّسَآئِهِم مَّا هُنَّ أُمَّهَٰتِهِمْ إِنْ أُمَّهَٰتُهُمْ إِلَّا الَّـٰـِٔي وَلَدْنَهُمْ وَإِنَّهُمْ لَيَقُولُونَ مُنكَرًا مِّنَ الْقَوْلِ وَزُورًا وَإِنَّ اللَّهَ لَعَفُوٌّ غَفُورٌ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say to their wives "You are to me like my mother's back" (zihar): their wives are not their mothers; their mothers are only those who gave birth to them. They are saying something wrong and false, yet Allah is Pardoning, Forgiving.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Al-Mujadilah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يُظَٰهِرُونَ مِن نِّسَآئِهِمْ ثُمَّ يَعُودُونَ لِمَا قَالُواْ فَتَحْرِيرُ رَقَبَةٍ مِّن قَبْلِ أَن يَتَمَآسَّا ذَٰلِكُمْ تُوعَظُونَ بِهِ وَاللَّهُ بِمَا تَعْمَلُونَ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do this and then want to return to their wives must free a slave before touching them. This is what you are being taught, and Allah is fully aware of what you do.</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لَّمْ يَجِدْ فَصِيَامُ شَهْرَيْنِ مُتَتَابِعَيْنِ مِن قَبْلِ أَن يَتَمَآسَّا فَمَن لَّمْ يَسْتَطِعْ فَإِطْعَامُ سِتِّينَ مِسْكِينًا ذَٰلِكَ لِتُؤْمِنُواْ بِاللَّهِ وَرَسُولِهِ وَتِلْكَ حُدُودُ اللَّهِ وَلِلْكَٰفِرِينَ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cannot find one must fast two consecutive months, and whoever cannot do that must feed sixty poor people. This is so that you believe in Allah and His Messenger. These are Allah's limits, and the disbelievers will have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Al-Mujadilah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يُحَآدُّونَ اللَّهَ وَرَسُولَهُ كُبِتُواْ كَمَا كُبِتَ الَّذِينَ مِن قَبْلِهِمْ وَقَدْ أَنزَلْنَآ ءَايَٰتٍ بَيِّنَٰتٍ وَلِلْكَٰفِرِينَ عَذَابٌ مُّهِينٌ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oppose Allah and His Messenger will be humiliated as those before them were humiliated. We have sent down clear verses, and the disbelievers will have a humiliating punishment.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يَبْعَثُهُمُ اللَّهُ جَمِيعًا فَيُنَبِّئُهُم بِمَا عَمِلُواْ أَحْصَىٰهُ اللَّهُ وَنَسُوهُ وَاللَّهُ عَلَىٰ كُلِّ شَيْءٍ شَهِيدٌ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Allah raises them all, He will tell them what they did. Allah has counted it while they forgot it, and Allah is Witness over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Al-Mujadilah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أَنَّ اللَّهَ يَعْلَمُ مَا فِي السَّمَٰوَٰتِ وَمَا فِي الْأَرْضِ مَا يَكُونُ مِن نَّجْوَىٰ ثَلَٰثَةٍ إِلَّا هُوَ رَابِعُهُمْ وَلَا خَمْسَةٍ إِلَّا هُوَ سَادِسُهُمْ وَلَآ أَدْنَىٰ مِن ذَٰلِكَ وَلَآ أَكْثَرَ إِلَّا هُوَ مَعَهُمْ أَيْنَ مَا كَانُواْ ثُمَّ يُنَبِّئُهُم بِمَا عَمِلُواْ يَوْمَ الْقِيَٰمَةِ إِنَّ اللَّهَ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that Allah knows what is in the heavens and the earth? No three talk privately without Him being the fourth by His knowledge, nor five without Him being the sixth, nor fewer or more without Him being with them by His knowledge wherever they are. Then He will tell them what they did on the Day of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Al-Mujadilah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الَّذِينَ نُهُواْ عَنِ النَّجْوَىٰ ثُمَّ يَعُودُونَ لِمَا نُهُواْ عَنْهُ وَيَتَنَٰجَوْنَ بِالْإِثْمِ وَالْعُدْوَٰنِ وَمَعْصِيَتِ الرَّسُولِ وَإِذَا جَآءُوكَ حَيَّوْكَ بِمَا لَمْ يُحَيِّكَ بِهِ اللَّهُ وَيَقُولُونَ فِي أَنفُسِهِمْ لَوْلَا يُعَذِّبُنَا اللَّهُ بِمَا نَقُولُ حَسْبُهُمْ جَهَنَّمُ يَصْلَوْنَهَا فَبِئْسَ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seen those who were forbidden from secret evil talk, yet they go back to it, whispering about sin and aggression? When they come to you, they greet you with a greeting Allah never used, saying "As-samu 'alayk" (death be upon you). Hell is enough for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Al-Mujadilah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إِذَا تَنَٰجَيْتُمْ فَلَا تَتَنَٰجَوْاْ بِالْإِثْمِ وَالْعُدْوَٰنِ وَمَعْصِيَتِ الرَّسُولِ وَتَنَٰجَوْاْ بِالْبِرِّ وَالتَّقْوَىٰ وَاتَّقُواْ اللَّهَ الَّذِي إِلَيْهِ تُحْشَرُونَ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when you talk privately, do not talk about sin, aggression and disobeying the Messenger; talk about goodness and taqwa, and have taqwa of Allah to whom you will be gathered.</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النَّجْوَىٰ مِنَ الشَّيْطَٰنِ لِيَحْزُنَ الَّذِينَ ءَامَنُواْ وَلَيْسَ بِضَآرِّهِمْ شَيْـًٔا إِلَّا بِإِذْنِ اللَّهِ وَعَلَى اللَّهِ فَلْيَتَوَكَّلِ الْمُؤْمِنُونَ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Secret evil talk is only from Shaytan, to sadden the believers, but it cannot harm them at all except by Allah's permission. The Prophet (peace be upon him) said: "If you are three, two should not talk privately leaving out the third" (Bukhari and Muslim).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Al-Mujadilah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إِذَا قِيلَ لَكُمْ تَفَسَّحُواْ فِي الْمَجَٰلِسِ فَافْسَحُواْ يَفْسَحِ اللَّهُ لَكُمْ وَإِذَا قِيلَ انشُزُواْ فَانشُزُواْ يَرْفَعِ اللَّهُ الَّذِينَ ءَامَنُواْ مِنكُمْ وَالَّذِينَ أُوتُواْ الْعِلْمَ دَرَجَٰتٍ وَاللَّهُ بِمَا تَعْمَلُونَ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when you are told "Make room in the gatherings," make room, and Allah will make room for you. When you are told "Rise," then rise. Allah will raise the believers and the people of knowledge by many degrees.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Al-Mujadilah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إِذَا نَٰجَيْتُمُ الرَّسُولَ فَقَدِّمُواْ بَيْنَ يَدَيْ نَجْوَىٰكُمْ صَدَقَةً ذَٰلِكَ خَيْرٌ لَّكُمْ وَأَطْهَرُ فَإِن لَّمْ تَجِدُواْ فَإِنَّ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when you want to speak privately with the Messenger, give some charity first. If you cannot find anything, then Allah is Forgiving, Merciful.</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ءَأَشْفَقْتُمْ أَن تُقَدِّمُواْ بَيْنَ يَدَيْ نَجْوَىٰكُمْ صَدَقَٰتٍ فَإِذْ لَمْ تَفْعَلُواْ وَتَابَ اللَّهُ عَلَيْكُمْ فَأَقِيمُواْ الصَّلَوٰةَ وَءَاتُواْ الزَّكَوٰةَ وَأَطِيعُواْ اللَّهَ وَرَسُولَهُ وَاللَّهُ خَبِيرٌ بِمَا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Were you afraid of poverty if you gave charity first? Since you did not do it and Allah forgave you (and cancelled this ruling), then establish prayer, give zakah, and obey Allah and His Messenger.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Al-Mujadilah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الَّذِينَ تَوَلَّوْاْ قَوْمًا غَضِبَ اللَّهُ عَلَيْهِم مَّا هُم مِّنكُمْ وَلَا مِنْهُمْ وَيَحْلِفُونَ عَلَى الْكَذِبِ وَهُمْ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seen the hypocrites who befriended a people with whom Allah is angry? They are neither from you nor from them, and they swear to lies knowingly.</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أَعَدَّ اللَّهُ لَهُمْ عَذَابًا شَدِيدًا إِنَّهُمْ سَآءَ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prepared for them a severe punishment. Evil indeed is what they used to do.</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اتَّخَذُواْ أَيْمَٰنَهُمْ جُنَّةً فَصَدُّواْ عَن سَبِيلِ اللَّهِ فَلَهُمْ عَذَابٌ مُّهِينٌ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used their false oaths as a shield and turned people away from Islam, so they will have a humiliating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Al-Mujadilah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لَّن تُغْنِيَ عَنْهُمْ أَمْوَٰلُهُمْ وَلَآ أَوْلَٰدُهُم مِّنَ اللَّهِ شَيْـًٔا أُوْلَـٰئِكَ أَصْحَٰبُ النَّارِ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Neither their wealth nor their children will help them in any way against Allah. They are the people of the Fire, remaining there forever.</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يَبْعَثُهُمُ اللَّهُ جَمِيعًا فَيَحْلِفُونَ لَهُ كَمَا يَحْلِفُونَ لَكُمْ وَيَحْسَبُونَ أَنَّهُمْ عَلَىٰ شَيْءٍ أَلَآ إِنَّهُمْ هُمُ الْكَٰذِبُونَ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Allah raises them all, they will swear falsely to Him just as they swear to you in this world, thinking it will help them. Indeed, they are the liars.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Al-Mujadilah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اسْتَحْوَذَ عَلَيْهِمُ الشَّيْطَٰنُ فَأَنسَىٰهُمْ ذِكْرَ اللَّهِ أُوْلَـٰئِكَ حِزْبُ الشَّيْطَٰنِ أَلَآ إِنَّ حِزْبَ الشَّيْطَٰنِ هُمُ الْخَٰسِرُونَ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Shaytan has overpowered them and made them forget the remembrance of Allah. They are the party of Shaytan. Indeed, the party of Shaytan are the losers.</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يُحَآدُّونَ اللَّهَ وَرَسُولَهُ أُوْلَـٰئِكَ فِي الْأَذَلِّينَ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oppose Allah and His Messenger will be among the most humiliated.</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كَتَبَ اللَّهُ لَأَغْلِبَنَّ أَنَا وَرُسُلِي إِنَّ اللَّهَ قَوِيٌّ عَزِيزٌ</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written and decreed: "I and My messengers will surely prevail." Allah is Strong, Almighty.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Al-Mujadilah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تَجِدُ قَوْمًا يُؤْمِنُونَ بِاللَّهِ وَالْيَوْمِ الْأخِرِ يُوَآدُّونَ مَنْ حَآدَّ اللَّهَ وَرَسُولَهُ وَلَوْ كَانُواْ ءَابَآءَهُمْ أَوْ أَبْنَآءَهُمْ أَوْ إِخْوَٰنَهُمْ أَوْ عَشِيرَتَهُمْ أُوْلَـٰئِكَ كَتَبَ فِي قُلُوبِهِمُ الْإِيمَٰنَ وَأَيَّدَهُم بِرُوحٍ مِّنْهُ وَيُدْخِلُهُمْ جَنَّـٰتٍ تَجْرِي مِن تَحْتِهَا الْأَنْهَٰرُ خَٰلِدِينَ فِيهَا رَضِيَ اللَّهُ عَنْهُمْ وَرَضُواْ عَنْهُ أُوْلَـٰئِكَ حِزْبُ اللَّهِ أَلَآ إِنَّ حِزْبَ اللَّهِ هُمُ الْمُفْلِحُونَ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not find true believers loving the enemies of Allah and His Messenger, even if they are their closest relatives. Allah has written faith in their hearts, strengthened them with His help, and will admit them into Paradise. Allah is pleased with them and they are pleased with Him. Indeed, the party of Allah are the successful.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pic>
        <p:nvPicPr>
          <p:cNvPr id="2" name="Image 0" descr="assets28/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"O Allah, make the Mighty Qur'an the spring of our hearts, the light of our chests, the remover of our sadness and the reliever of our worries."</a:t>
            </a:r>
            <a:endParaRPr lang="en-US" sz="2100" dirty="0"/>
          </a:p>
        </p:txBody>
      </p:sp>
      <p:pic>
        <p:nvPicPr>
          <p:cNvPr id="5" name="Image 1" descr="assets28/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28 Tafsir EN">
  <a:themeElements>
    <a:clrScheme name="Juz 28 Tafsir EN">
      <a:dk1>
        <a:srgbClr val="2B2426"/>
      </a:dk1>
      <a:lt1>
        <a:srgbClr val="FFFFFF"/>
      </a:lt1>
      <a:dk2>
        <a:srgbClr val="6B1E2E"/>
      </a:dk2>
      <a:lt2>
        <a:srgbClr val="FBF7F3"/>
      </a:lt2>
      <a:accent1>
        <a:srgbClr val="6B1E2E"/>
      </a:accent1>
      <a:accent2>
        <a:srgbClr val="C9A04A"/>
      </a:accent2>
      <a:accent3>
        <a:srgbClr val="8C2F42"/>
      </a:accent3>
      <a:accent4>
        <a:srgbClr val="6E6264"/>
      </a:accent4>
      <a:accent5>
        <a:srgbClr val="F3E8E6"/>
      </a:accent5>
      <a:accent6>
        <a:srgbClr val="2F6B5E"/>
      </a:accent6>
      <a:hlink>
        <a:srgbClr val="8C2F42"/>
      </a:hlink>
      <a:folHlink>
        <a:srgbClr val="6E6264"/>
      </a:folHlink>
    </a:clrScheme>
    <a:fontScheme name="Juz 28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Qad Sami'a — Simplified Tafsir from Ibn Kathir</dc:title>
  <dc:subject>PptxGenJS Presentation</dc:subject>
  <dc:creator>Qur'an Teacher</dc:creator>
  <cp:lastModifiedBy>Qur'an Teacher</cp:lastModifiedBy>
  <cp:revision>1</cp:revision>
  <dcterms:created xsi:type="dcterms:W3CDTF">2026-10-04T03:51:48Z</dcterms:created>
  <dcterms:modified xsi:type="dcterms:W3CDTF">2026-10-04T03:51:48Z</dcterms:modified>
</cp:coreProperties>
</file>