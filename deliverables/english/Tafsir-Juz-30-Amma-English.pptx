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Lst>
  <p:notesMasterIdLst>
    <p:notesMasterId r:id="rId20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a05b22d-0d60-f77c-a362-1aae754b2758}">
          <p14:sldIdLst>
            <p14:sldId id="256"/>
            <p14:sldId id="257"/>
            <p14:sldId id="258"/>
          </p14:sldIdLst>
        </p14:section>
        <p14:section name="Surah An-Nas" id="{c9bdd171-bacc-984a-3b8e-3b79a6cf17ff}">
          <p14:sldIdLst>
            <p14:sldId id="259"/>
            <p14:sldId id="260"/>
            <p14:sldId id="261"/>
          </p14:sldIdLst>
        </p14:section>
        <p14:section name="Surah Al-Falaq" id="{36478881-fdb0-5230-e918-05d855879828}">
          <p14:sldIdLst>
            <p14:sldId id="262"/>
            <p14:sldId id="263"/>
            <p14:sldId id="264"/>
          </p14:sldIdLst>
        </p14:section>
        <p14:section name="Surah Al-Ikhlas" id="{818cb7f4-c332-ae7c-2b4f-0f48ae2a56be}">
          <p14:sldIdLst>
            <p14:sldId id="265"/>
            <p14:sldId id="266"/>
            <p14:sldId id="267"/>
          </p14:sldIdLst>
        </p14:section>
        <p14:section name="Surah Al-Masad" id="{a26407ff-6c8f-4c9b-7bd3-aa4532422af9}">
          <p14:sldIdLst>
            <p14:sldId id="268"/>
            <p14:sldId id="269"/>
            <p14:sldId id="270"/>
          </p14:sldIdLst>
        </p14:section>
        <p14:section name="Surah An-Nasr" id="{4b323bb1-f6f4-61fc-4387-f64a93404ec5}">
          <p14:sldIdLst>
            <p14:sldId id="271"/>
            <p14:sldId id="272"/>
          </p14:sldIdLst>
        </p14:section>
        <p14:section name="Surah Al-Kafirun" id="{49da1681-243e-b004-739e-64b034d48613}">
          <p14:sldIdLst>
            <p14:sldId id="273"/>
            <p14:sldId id="274"/>
            <p14:sldId id="275"/>
          </p14:sldIdLst>
        </p14:section>
        <p14:section name="Surah Al-Kawthar" id="{c84b8335-f529-d10c-5f64-54ea08cf4ff7}">
          <p14:sldIdLst>
            <p14:sldId id="276"/>
            <p14:sldId id="277"/>
          </p14:sldIdLst>
        </p14:section>
        <p14:section name="Surah Al-Ma'un" id="{c28eeba5-84ba-032a-9b7c-7b533059196b}">
          <p14:sldIdLst>
            <p14:sldId id="278"/>
            <p14:sldId id="279"/>
            <p14:sldId id="280"/>
          </p14:sldIdLst>
        </p14:section>
        <p14:section name="Surah Quraysh" id="{9ef1eab1-7063-e392-84b7-d56ffd64f412}">
          <p14:sldIdLst>
            <p14:sldId id="281"/>
            <p14:sldId id="282"/>
            <p14:sldId id="283"/>
          </p14:sldIdLst>
        </p14:section>
        <p14:section name="Surah Al-Fil" id="{2776fc44-abf6-76f3-3bf6-4c5fafb9365c}">
          <p14:sldIdLst>
            <p14:sldId id="284"/>
            <p14:sldId id="285"/>
            <p14:sldId id="286"/>
          </p14:sldIdLst>
        </p14:section>
        <p14:section name="Surah Al-Humazah" id="{4f2d8dfb-c259-3ace-93e9-723e3234618a}">
          <p14:sldIdLst>
            <p14:sldId id="287"/>
            <p14:sldId id="288"/>
            <p14:sldId id="289"/>
            <p14:sldId id="290"/>
          </p14:sldIdLst>
        </p14:section>
        <p14:section name="Surah Al-'Asr" id="{b4e9b490-bfee-04d4-feca-5e4adfc81733}">
          <p14:sldIdLst>
            <p14:sldId id="291"/>
            <p14:sldId id="292"/>
          </p14:sldIdLst>
        </p14:section>
        <p14:section name="Surah At-Takathur" id="{08a139d5-2f81-17d0-c65a-ff7164e7f7e7}">
          <p14:sldIdLst>
            <p14:sldId id="293"/>
            <p14:sldId id="294"/>
            <p14:sldId id="295"/>
            <p14:sldId id="296"/>
          </p14:sldIdLst>
        </p14:section>
        <p14:section name="Surah Al-Qari'ah" id="{39de4150-b2cb-cb54-7bed-7a867efc2570}">
          <p14:sldIdLst>
            <p14:sldId id="297"/>
            <p14:sldId id="298"/>
            <p14:sldId id="299"/>
            <p14:sldId id="300"/>
          </p14:sldIdLst>
        </p14:section>
        <p14:section name="Surah Al-'Adiyat" id="{0cd1a960-c38c-7602-8314-6d4819e03c57}">
          <p14:sldIdLst>
            <p14:sldId id="301"/>
            <p14:sldId id="302"/>
            <p14:sldId id="303"/>
            <p14:sldId id="304"/>
          </p14:sldIdLst>
        </p14:section>
        <p14:section name="Surah Az-Zalzalah" id="{f22fc37a-c99d-9f1f-6bd4-8fc6e9eabbd6}">
          <p14:sldIdLst>
            <p14:sldId id="305"/>
            <p14:sldId id="306"/>
            <p14:sldId id="307"/>
          </p14:sldIdLst>
        </p14:section>
        <p14:section name="Surah Al-Bayyinah" id="{bd0c7812-e64c-b9e0-f938-ef09f03da182}">
          <p14:sldIdLst>
            <p14:sldId id="308"/>
            <p14:sldId id="309"/>
            <p14:sldId id="310"/>
            <p14:sldId id="311"/>
            <p14:sldId id="312"/>
          </p14:sldIdLst>
        </p14:section>
        <p14:section name="Surah Al-Qadr" id="{36bae96d-dfb0-925c-2b85-384b435dfd2c}">
          <p14:sldIdLst>
            <p14:sldId id="313"/>
            <p14:sldId id="314"/>
            <p14:sldId id="315"/>
          </p14:sldIdLst>
        </p14:section>
        <p14:section name="Surah Al-'Alaq" id="{4186f2be-b42b-6d51-349c-1646281c2891}">
          <p14:sldIdLst>
            <p14:sldId id="316"/>
            <p14:sldId id="317"/>
            <p14:sldId id="318"/>
            <p14:sldId id="319"/>
            <p14:sldId id="320"/>
            <p14:sldId id="321"/>
          </p14:sldIdLst>
        </p14:section>
        <p14:section name="Surah At-Tin" id="{2f72a958-3d71-d09b-f699-ec038a80ca5a}">
          <p14:sldIdLst>
            <p14:sldId id="322"/>
            <p14:sldId id="323"/>
            <p14:sldId id="324"/>
          </p14:sldIdLst>
        </p14:section>
        <p14:section name="Surah Ash-Sharh" id="{99a8ba97-06f9-6dde-b02c-af283d2c3021}">
          <p14:sldIdLst>
            <p14:sldId id="325"/>
            <p14:sldId id="326"/>
            <p14:sldId id="327"/>
          </p14:sldIdLst>
        </p14:section>
        <p14:section name="Surah Ad-Duha" id="{dbdc04df-9181-544f-3bcb-ae36039951dc}">
          <p14:sldIdLst>
            <p14:sldId id="328"/>
            <p14:sldId id="329"/>
            <p14:sldId id="330"/>
            <p14:sldId id="331"/>
          </p14:sldIdLst>
        </p14:section>
        <p14:section name="Surah Al-Layl" id="{9156d1c1-eb1e-b983-ec4c-0f3aa47521aa}">
          <p14:sldIdLst>
            <p14:sldId id="332"/>
            <p14:sldId id="333"/>
            <p14:sldId id="334"/>
            <p14:sldId id="335"/>
            <p14:sldId id="336"/>
            <p14:sldId id="337"/>
            <p14:sldId id="338"/>
          </p14:sldIdLst>
        </p14:section>
        <p14:section name="Surah Ash-Shams" id="{2810d118-540d-1db6-7087-a00cb89e810d}">
          <p14:sldIdLst>
            <p14:sldId id="339"/>
            <p14:sldId id="340"/>
            <p14:sldId id="341"/>
            <p14:sldId id="342"/>
            <p14:sldId id="343"/>
          </p14:sldIdLst>
        </p14:section>
        <p14:section name="Surah Al-Balad" id="{d4aa6cae-7a37-6e27-9de3-85a0f47d68f8}">
          <p14:sldIdLst>
            <p14:sldId id="344"/>
            <p14:sldId id="345"/>
            <p14:sldId id="346"/>
            <p14:sldId id="347"/>
            <p14:sldId id="348"/>
            <p14:sldId id="349"/>
          </p14:sldIdLst>
        </p14:section>
        <p14:section name="Surah Al-Fajr" id="{5a4d05e9-6a00-2b25-995a-60a6b8b4cf3b}">
          <p14:sldIdLst>
            <p14:sldId id="350"/>
            <p14:sldId id="351"/>
            <p14:sldId id="352"/>
            <p14:sldId id="353"/>
            <p14:sldId id="354"/>
            <p14:sldId id="355"/>
            <p14:sldId id="356"/>
            <p14:sldId id="357"/>
            <p14:sldId id="358"/>
          </p14:sldIdLst>
        </p14:section>
        <p14:section name="Surah Al-Ghashiyah" id="{a769efbc-abc6-a901-1ce6-ed75f9e641b8}">
          <p14:sldIdLst>
            <p14:sldId id="359"/>
            <p14:sldId id="360"/>
            <p14:sldId id="361"/>
            <p14:sldId id="362"/>
            <p14:sldId id="363"/>
            <p14:sldId id="364"/>
            <p14:sldId id="365"/>
            <p14:sldId id="366"/>
          </p14:sldIdLst>
        </p14:section>
        <p14:section name="Surah Al-A'la" id="{e18e1a0f-0444-0252-e32a-3b949b90282a}">
          <p14:sldIdLst>
            <p14:sldId id="367"/>
            <p14:sldId id="368"/>
            <p14:sldId id="369"/>
            <p14:sldId id="370"/>
            <p14:sldId id="371"/>
            <p14:sldId id="372"/>
          </p14:sldIdLst>
        </p14:section>
        <p14:section name="Surah At-Tariq" id="{10d630dd-036a-cf6b-782d-1fa323cd9860}">
          <p14:sldIdLst>
            <p14:sldId id="373"/>
            <p14:sldId id="374"/>
            <p14:sldId id="375"/>
            <p14:sldId id="376"/>
            <p14:sldId id="377"/>
            <p14:sldId id="378"/>
          </p14:sldIdLst>
        </p14:section>
        <p14:section name="Surah Al-Buruj" id="{d1939dc1-8181-305e-3c28-5926fd764adb}">
          <p14:sldIdLst>
            <p14:sldId id="379"/>
            <p14:sldId id="380"/>
            <p14:sldId id="381"/>
            <p14:sldId id="382"/>
            <p14:sldId id="383"/>
            <p14:sldId id="384"/>
            <p14:sldId id="385"/>
            <p14:sldId id="386"/>
          </p14:sldIdLst>
        </p14:section>
        <p14:section name="Surah Al-Inshiqaq" id="{56174553-ecba-de88-72b5-9ccb490d43df}">
          <p14:sldIdLst>
            <p14:sldId id="387"/>
            <p14:sldId id="388"/>
            <p14:sldId id="389"/>
            <p14:sldId id="390"/>
            <p14:sldId id="391"/>
            <p14:sldId id="392"/>
            <p14:sldId id="393"/>
            <p14:sldId id="394"/>
          </p14:sldIdLst>
        </p14:section>
        <p14:section name="Surah Al-Mutaffifin" id="{87b6cec8-997f-fc03-4ae9-f1ad085cc57f}">
          <p14:sldIdLst>
            <p14:sldId id="395"/>
            <p14:sldId id="396"/>
            <p14:sldId id="397"/>
            <p14:sldId id="398"/>
            <p14:sldId id="399"/>
            <p14:sldId id="400"/>
            <p14:sldId id="401"/>
            <p14:sldId id="402"/>
            <p14:sldId id="403"/>
            <p14:sldId id="404"/>
          </p14:sldIdLst>
        </p14:section>
        <p14:section name="Surah Al-Infitar" id="{fda24a96-ab0a-990d-1e71-0136097cc62e}">
          <p14:sldIdLst>
            <p14:sldId id="405"/>
            <p14:sldId id="406"/>
            <p14:sldId id="407"/>
            <p14:sldId id="408"/>
            <p14:sldId id="409"/>
            <p14:sldId id="410"/>
          </p14:sldIdLst>
        </p14:section>
        <p14:section name="Surah At-Takwir" id="{40cb9794-7696-b8d9-7206-1a5e5250d0cd}">
          <p14:sldIdLst>
            <p14:sldId id="411"/>
            <p14:sldId id="412"/>
            <p14:sldId id="413"/>
            <p14:sldId id="414"/>
            <p14:sldId id="415"/>
            <p14:sldId id="416"/>
            <p14:sldId id="417"/>
            <p14:sldId id="418"/>
            <p14:sldId id="419"/>
          </p14:sldIdLst>
        </p14:section>
        <p14:section name="Surah 'Abasa" id="{884b9a15-3fae-85c8-bae3-b4afc13a1644}">
          <p14:sldIdLst>
            <p14:sldId id="420"/>
            <p14:sldId id="421"/>
            <p14:sldId id="422"/>
            <p14:sldId id="423"/>
            <p14:sldId id="424"/>
            <p14:sldId id="425"/>
            <p14:sldId id="426"/>
            <p14:sldId id="427"/>
            <p14:sldId id="428"/>
            <p14:sldId id="429"/>
            <p14:sldId id="430"/>
            <p14:sldId id="431"/>
          </p14:sldIdLst>
        </p14:section>
        <p14:section name="Surah An-Nazi'at" id="{f73812c7-b8f7-0a8f-8aa8-075a193b1675}">
          <p14:sldIdLst>
            <p14:sldId id="432"/>
            <p14:sldId id="433"/>
            <p14:sldId id="434"/>
            <p14:sldId id="435"/>
            <p14:sldId id="436"/>
            <p14:sldId id="437"/>
            <p14:sldId id="438"/>
            <p14:sldId id="439"/>
            <p14:sldId id="440"/>
            <p14:sldId id="441"/>
            <p14:sldId id="442"/>
            <p14:sldId id="443"/>
            <p14:sldId id="444"/>
          </p14:sldIdLst>
        </p14:section>
        <p14:section name="Surah An-Naba'" id="{03bcfc20-4cf6-0d4f-75cc-7ab3007da0ad}">
          <p14:sldIdLst>
            <p14:sldId id="445"/>
            <p14:sldId id="446"/>
            <p14:sldId id="447"/>
            <p14:sldId id="448"/>
            <p14:sldId id="449"/>
            <p14:sldId id="450"/>
            <p14:sldId id="451"/>
            <p14:sldId id="452"/>
            <p14:sldId id="453"/>
            <p14:sldId id="454"/>
            <p14:sldId id="455"/>
            <p14:sldId id="456"/>
          </p14:sldIdLst>
        </p14:section>
        <p14:section name="Closing" id="{efcbe894-2666-fb5d-8f0c-75d8a80f7440}">
          <p14:sldIdLst>
            <p14:sldId id="4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notesMaster" Target="notesMasters/notesMaster1.xml"/><Relationship Id="rId205" Type="http://schemas.openxmlformats.org/officeDocument/2006/relationships/presProps" Target="presProps.xml"/><Relationship Id="rId206" Type="http://schemas.openxmlformats.org/officeDocument/2006/relationships/viewProps" Target="viewProps.xml"/><Relationship Id="rId207" Type="http://schemas.openxmlformats.org/officeDocument/2006/relationships/theme" Target="theme/theme1.xml"/><Relationship Id="rId20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Surah An-Nas and move back, surah by surah, until we reach Surah An-Naba'.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image" Target="../media/image-202-1.png"/><Relationship Id="rId2" Type="http://schemas.openxmlformats.org/officeDocument/2006/relationships/image" Target="../media/image-202-2.png"/><Relationship Id="rId3" Type="http://schemas.openxmlformats.org/officeDocument/2006/relationships/slideLayout" Target="../slideLayouts/slideLayout4.xml"/><Relationship Id="rId4" Type="http://schemas.openxmlformats.org/officeDocument/2006/relationships/notesSlide" Target="../notesSlides/notesSlide20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'Amma</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30 • From Surah An-Nas back to Surah An-Naba'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green</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An-Nas and moves back to Surah An-Naba'</a:t>
            </a:r>
            <a:endParaRPr lang="en-US" sz="1600" dirty="0"/>
          </a:p>
        </p:txBody>
      </p:sp>
      <p:sp>
        <p:nvSpPr>
          <p:cNvPr id="4" name="Shape 2"/>
          <p:cNvSpPr/>
          <p:nvPr/>
        </p:nvSpPr>
        <p:spPr>
          <a:xfrm>
            <a:off x="685800" y="1828800"/>
            <a:ext cx="1711909"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 </a:t>
            </a:r>
            <a:pPr algn="ctr" indent="0" marL="0">
              <a:buNone/>
            </a:pPr>
            <a:r>
              <a:rPr lang="en-US" altLang="en-US" sz="1200" b="1" dirty="0">
                <a:solidFill>
                  <a:schemeClr val="tx2"/>
                </a:solidFill>
                <a:latin typeface="Arial" pitchFamily="34" charset="0"/>
                <a:ea typeface="Arial" pitchFamily="34" charset="-122"/>
                <a:cs typeface="Arial" pitchFamily="34" charset="-120"/>
              </a:rPr>
              <a:t>An-Nas</a:t>
            </a:r>
            <a:endParaRPr lang="en-US" sz="1200" dirty="0"/>
          </a:p>
        </p:txBody>
      </p:sp>
      <p:sp>
        <p:nvSpPr>
          <p:cNvPr id="6" name="Shape 4"/>
          <p:cNvSpPr/>
          <p:nvPr/>
        </p:nvSpPr>
        <p:spPr>
          <a:xfrm>
            <a:off x="2507437" y="1828800"/>
            <a:ext cx="1711909"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2507437" y="182880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 </a:t>
            </a:r>
            <a:pPr algn="ctr" indent="0" marL="0">
              <a:buNone/>
            </a:pPr>
            <a:r>
              <a:rPr lang="en-US" altLang="en-US" sz="1200" b="1" dirty="0">
                <a:solidFill>
                  <a:schemeClr val="tx2"/>
                </a:solidFill>
                <a:latin typeface="Arial" pitchFamily="34" charset="0"/>
                <a:ea typeface="Arial" pitchFamily="34" charset="-122"/>
                <a:cs typeface="Arial" pitchFamily="34" charset="-120"/>
              </a:rPr>
              <a:t>Al-Falaq</a:t>
            </a:r>
            <a:endParaRPr lang="en-US" sz="1200" dirty="0"/>
          </a:p>
        </p:txBody>
      </p:sp>
      <p:sp>
        <p:nvSpPr>
          <p:cNvPr id="8" name="Shape 6"/>
          <p:cNvSpPr/>
          <p:nvPr/>
        </p:nvSpPr>
        <p:spPr>
          <a:xfrm>
            <a:off x="4329074" y="1828800"/>
            <a:ext cx="1711909"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4329074" y="182880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3. </a:t>
            </a:r>
            <a:pPr algn="ctr" indent="0" marL="0">
              <a:buNone/>
            </a:pPr>
            <a:r>
              <a:rPr lang="en-US" altLang="en-US" sz="1200" b="1" dirty="0">
                <a:solidFill>
                  <a:schemeClr val="tx2"/>
                </a:solidFill>
                <a:latin typeface="Arial" pitchFamily="34" charset="0"/>
                <a:ea typeface="Arial" pitchFamily="34" charset="-122"/>
                <a:cs typeface="Arial" pitchFamily="34" charset="-120"/>
              </a:rPr>
              <a:t>Al-Ikhlas</a:t>
            </a:r>
            <a:endParaRPr lang="en-US" sz="1200" dirty="0"/>
          </a:p>
        </p:txBody>
      </p:sp>
      <p:sp>
        <p:nvSpPr>
          <p:cNvPr id="10" name="Shape 8"/>
          <p:cNvSpPr/>
          <p:nvPr/>
        </p:nvSpPr>
        <p:spPr>
          <a:xfrm>
            <a:off x="6150712" y="1828800"/>
            <a:ext cx="1711909" cy="566928"/>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6150712" y="182880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4. </a:t>
            </a:r>
            <a:pPr algn="ctr" indent="0" marL="0">
              <a:buNone/>
            </a:pPr>
            <a:r>
              <a:rPr lang="en-US" altLang="en-US" sz="1200" b="1" dirty="0">
                <a:solidFill>
                  <a:schemeClr val="tx2"/>
                </a:solidFill>
                <a:latin typeface="Arial" pitchFamily="34" charset="0"/>
                <a:ea typeface="Arial" pitchFamily="34" charset="-122"/>
                <a:cs typeface="Arial" pitchFamily="34" charset="-120"/>
              </a:rPr>
              <a:t>Al-Masad</a:t>
            </a:r>
            <a:endParaRPr lang="en-US" sz="1200" dirty="0"/>
          </a:p>
        </p:txBody>
      </p:sp>
      <p:sp>
        <p:nvSpPr>
          <p:cNvPr id="12" name="Shape 10"/>
          <p:cNvSpPr/>
          <p:nvPr/>
        </p:nvSpPr>
        <p:spPr>
          <a:xfrm>
            <a:off x="7972349" y="1828800"/>
            <a:ext cx="1711909" cy="566928"/>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7972349" y="182880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5. </a:t>
            </a:r>
            <a:pPr algn="ctr" indent="0" marL="0">
              <a:buNone/>
            </a:pPr>
            <a:r>
              <a:rPr lang="en-US" altLang="en-US" sz="1200" b="1" dirty="0">
                <a:solidFill>
                  <a:schemeClr val="tx2"/>
                </a:solidFill>
                <a:latin typeface="Arial" pitchFamily="34" charset="0"/>
                <a:ea typeface="Arial" pitchFamily="34" charset="-122"/>
                <a:cs typeface="Arial" pitchFamily="34" charset="-120"/>
              </a:rPr>
              <a:t>An-Nasr</a:t>
            </a:r>
            <a:endParaRPr lang="en-US" sz="1200" dirty="0"/>
          </a:p>
        </p:txBody>
      </p:sp>
      <p:sp>
        <p:nvSpPr>
          <p:cNvPr id="14" name="Shape 12"/>
          <p:cNvSpPr/>
          <p:nvPr/>
        </p:nvSpPr>
        <p:spPr>
          <a:xfrm>
            <a:off x="9793986" y="1828800"/>
            <a:ext cx="1711909" cy="566928"/>
          </a:xfrm>
          <a:prstGeom prst="roundRect">
            <a:avLst>
              <a:gd name="adj" fmla="val 50000"/>
            </a:avLst>
          </a:prstGeom>
          <a:solidFill>
            <a:schemeClr val="accent5"/>
          </a:solidFill>
          <a:ln w="12700">
            <a:solidFill>
              <a:schemeClr val="accent2"/>
            </a:solidFill>
            <a:prstDash val="solid"/>
          </a:ln>
        </p:spPr>
      </p:sp>
      <p:sp>
        <p:nvSpPr>
          <p:cNvPr id="15" name="Text 13"/>
          <p:cNvSpPr txBox="1"/>
          <p:nvPr/>
        </p:nvSpPr>
        <p:spPr>
          <a:xfrm>
            <a:off x="9793986" y="182880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6. </a:t>
            </a:r>
            <a:pPr algn="ctr" indent="0" marL="0">
              <a:buNone/>
            </a:pPr>
            <a:r>
              <a:rPr lang="en-US" altLang="en-US" sz="1200" b="1" dirty="0">
                <a:solidFill>
                  <a:schemeClr val="tx2"/>
                </a:solidFill>
                <a:latin typeface="Arial" pitchFamily="34" charset="0"/>
                <a:ea typeface="Arial" pitchFamily="34" charset="-122"/>
                <a:cs typeface="Arial" pitchFamily="34" charset="-120"/>
              </a:rPr>
              <a:t>Al-Kafirun</a:t>
            </a:r>
            <a:endParaRPr lang="en-US" sz="1200" dirty="0"/>
          </a:p>
        </p:txBody>
      </p:sp>
      <p:sp>
        <p:nvSpPr>
          <p:cNvPr id="16" name="Shape 14"/>
          <p:cNvSpPr/>
          <p:nvPr/>
        </p:nvSpPr>
        <p:spPr>
          <a:xfrm>
            <a:off x="685800" y="2487168"/>
            <a:ext cx="1711909" cy="566928"/>
          </a:xfrm>
          <a:prstGeom prst="roundRect">
            <a:avLst>
              <a:gd name="adj" fmla="val 50000"/>
            </a:avLst>
          </a:prstGeom>
          <a:solidFill>
            <a:schemeClr val="bg1"/>
          </a:solidFill>
          <a:ln w="12700">
            <a:solidFill>
              <a:schemeClr val="accent2"/>
            </a:solidFill>
            <a:prstDash val="solid"/>
          </a:ln>
        </p:spPr>
      </p:sp>
      <p:sp>
        <p:nvSpPr>
          <p:cNvPr id="17" name="Text 15"/>
          <p:cNvSpPr txBox="1"/>
          <p:nvPr/>
        </p:nvSpPr>
        <p:spPr>
          <a:xfrm>
            <a:off x="685800" y="2487168"/>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7. </a:t>
            </a:r>
            <a:pPr algn="ctr" indent="0" marL="0">
              <a:buNone/>
            </a:pPr>
            <a:r>
              <a:rPr lang="en-US" altLang="en-US" sz="1200" b="1" dirty="0">
                <a:solidFill>
                  <a:schemeClr val="tx2"/>
                </a:solidFill>
                <a:latin typeface="Arial" pitchFamily="34" charset="0"/>
                <a:ea typeface="Arial" pitchFamily="34" charset="-122"/>
                <a:cs typeface="Arial" pitchFamily="34" charset="-120"/>
              </a:rPr>
              <a:t>Al-Kawthar</a:t>
            </a:r>
            <a:endParaRPr lang="en-US" sz="1200" dirty="0"/>
          </a:p>
        </p:txBody>
      </p:sp>
      <p:sp>
        <p:nvSpPr>
          <p:cNvPr id="18" name="Shape 16"/>
          <p:cNvSpPr/>
          <p:nvPr/>
        </p:nvSpPr>
        <p:spPr>
          <a:xfrm>
            <a:off x="2507437" y="2487168"/>
            <a:ext cx="1711909" cy="566928"/>
          </a:xfrm>
          <a:prstGeom prst="roundRect">
            <a:avLst>
              <a:gd name="adj" fmla="val 50000"/>
            </a:avLst>
          </a:prstGeom>
          <a:solidFill>
            <a:schemeClr val="accent5"/>
          </a:solidFill>
          <a:ln w="12700">
            <a:solidFill>
              <a:schemeClr val="accent2"/>
            </a:solidFill>
            <a:prstDash val="solid"/>
          </a:ln>
        </p:spPr>
      </p:sp>
      <p:sp>
        <p:nvSpPr>
          <p:cNvPr id="19" name="Text 17"/>
          <p:cNvSpPr txBox="1"/>
          <p:nvPr/>
        </p:nvSpPr>
        <p:spPr>
          <a:xfrm>
            <a:off x="2507437" y="2487168"/>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8. </a:t>
            </a:r>
            <a:pPr algn="ctr" indent="0" marL="0">
              <a:buNone/>
            </a:pPr>
            <a:r>
              <a:rPr lang="en-US" altLang="en-US" sz="1200" b="1" dirty="0">
                <a:solidFill>
                  <a:schemeClr val="tx2"/>
                </a:solidFill>
                <a:latin typeface="Arial" pitchFamily="34" charset="0"/>
                <a:ea typeface="Arial" pitchFamily="34" charset="-122"/>
                <a:cs typeface="Arial" pitchFamily="34" charset="-120"/>
              </a:rPr>
              <a:t>Al-Ma'un</a:t>
            </a:r>
            <a:endParaRPr lang="en-US" sz="1200" dirty="0"/>
          </a:p>
        </p:txBody>
      </p:sp>
      <p:sp>
        <p:nvSpPr>
          <p:cNvPr id="20" name="Shape 18"/>
          <p:cNvSpPr/>
          <p:nvPr/>
        </p:nvSpPr>
        <p:spPr>
          <a:xfrm>
            <a:off x="4329074" y="2487168"/>
            <a:ext cx="1711909" cy="566928"/>
          </a:xfrm>
          <a:prstGeom prst="roundRect">
            <a:avLst>
              <a:gd name="adj" fmla="val 50000"/>
            </a:avLst>
          </a:prstGeom>
          <a:solidFill>
            <a:schemeClr val="bg1"/>
          </a:solidFill>
          <a:ln w="12700">
            <a:solidFill>
              <a:schemeClr val="accent2"/>
            </a:solidFill>
            <a:prstDash val="solid"/>
          </a:ln>
        </p:spPr>
      </p:sp>
      <p:sp>
        <p:nvSpPr>
          <p:cNvPr id="21" name="Text 19"/>
          <p:cNvSpPr txBox="1"/>
          <p:nvPr/>
        </p:nvSpPr>
        <p:spPr>
          <a:xfrm>
            <a:off x="4329074" y="2487168"/>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9. </a:t>
            </a:r>
            <a:pPr algn="ctr" indent="0" marL="0">
              <a:buNone/>
            </a:pPr>
            <a:r>
              <a:rPr lang="en-US" altLang="en-US" sz="1200" b="1" dirty="0">
                <a:solidFill>
                  <a:schemeClr val="tx2"/>
                </a:solidFill>
                <a:latin typeface="Arial" pitchFamily="34" charset="0"/>
                <a:ea typeface="Arial" pitchFamily="34" charset="-122"/>
                <a:cs typeface="Arial" pitchFamily="34" charset="-120"/>
              </a:rPr>
              <a:t>Quraysh</a:t>
            </a:r>
            <a:endParaRPr lang="en-US" sz="1200" dirty="0"/>
          </a:p>
        </p:txBody>
      </p:sp>
      <p:sp>
        <p:nvSpPr>
          <p:cNvPr id="22" name="Shape 20"/>
          <p:cNvSpPr/>
          <p:nvPr/>
        </p:nvSpPr>
        <p:spPr>
          <a:xfrm>
            <a:off x="6150712" y="2487168"/>
            <a:ext cx="1711909" cy="566928"/>
          </a:xfrm>
          <a:prstGeom prst="roundRect">
            <a:avLst>
              <a:gd name="adj" fmla="val 50000"/>
            </a:avLst>
          </a:prstGeom>
          <a:solidFill>
            <a:schemeClr val="accent5"/>
          </a:solidFill>
          <a:ln w="12700">
            <a:solidFill>
              <a:schemeClr val="accent2"/>
            </a:solidFill>
            <a:prstDash val="solid"/>
          </a:ln>
        </p:spPr>
      </p:sp>
      <p:sp>
        <p:nvSpPr>
          <p:cNvPr id="23" name="Text 21"/>
          <p:cNvSpPr txBox="1"/>
          <p:nvPr/>
        </p:nvSpPr>
        <p:spPr>
          <a:xfrm>
            <a:off x="6150712" y="2487168"/>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10. </a:t>
            </a:r>
            <a:pPr algn="ctr" indent="0" marL="0">
              <a:buNone/>
            </a:pPr>
            <a:r>
              <a:rPr lang="en-US" altLang="en-US" sz="1200" b="1" dirty="0">
                <a:solidFill>
                  <a:schemeClr val="tx2"/>
                </a:solidFill>
                <a:latin typeface="Arial" pitchFamily="34" charset="0"/>
                <a:ea typeface="Arial" pitchFamily="34" charset="-122"/>
                <a:cs typeface="Arial" pitchFamily="34" charset="-120"/>
              </a:rPr>
              <a:t>Al-Fil</a:t>
            </a:r>
            <a:endParaRPr lang="en-US" sz="1200" dirty="0"/>
          </a:p>
        </p:txBody>
      </p:sp>
      <p:sp>
        <p:nvSpPr>
          <p:cNvPr id="24" name="Shape 22"/>
          <p:cNvSpPr/>
          <p:nvPr/>
        </p:nvSpPr>
        <p:spPr>
          <a:xfrm>
            <a:off x="7972349" y="2487168"/>
            <a:ext cx="1711909" cy="566928"/>
          </a:xfrm>
          <a:prstGeom prst="roundRect">
            <a:avLst>
              <a:gd name="adj" fmla="val 50000"/>
            </a:avLst>
          </a:prstGeom>
          <a:solidFill>
            <a:schemeClr val="bg1"/>
          </a:solidFill>
          <a:ln w="12700">
            <a:solidFill>
              <a:schemeClr val="accent2"/>
            </a:solidFill>
            <a:prstDash val="solid"/>
          </a:ln>
        </p:spPr>
      </p:sp>
      <p:sp>
        <p:nvSpPr>
          <p:cNvPr id="25" name="Text 23"/>
          <p:cNvSpPr txBox="1"/>
          <p:nvPr/>
        </p:nvSpPr>
        <p:spPr>
          <a:xfrm>
            <a:off x="7972349" y="2487168"/>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11. </a:t>
            </a:r>
            <a:pPr algn="ctr" indent="0" marL="0">
              <a:buNone/>
            </a:pPr>
            <a:r>
              <a:rPr lang="en-US" altLang="en-US" sz="1200" b="1" dirty="0">
                <a:solidFill>
                  <a:schemeClr val="tx2"/>
                </a:solidFill>
                <a:latin typeface="Arial" pitchFamily="34" charset="0"/>
                <a:ea typeface="Arial" pitchFamily="34" charset="-122"/>
                <a:cs typeface="Arial" pitchFamily="34" charset="-120"/>
              </a:rPr>
              <a:t>Al-Humazah</a:t>
            </a:r>
            <a:endParaRPr lang="en-US" sz="1200" dirty="0"/>
          </a:p>
        </p:txBody>
      </p:sp>
      <p:sp>
        <p:nvSpPr>
          <p:cNvPr id="26" name="Shape 24"/>
          <p:cNvSpPr/>
          <p:nvPr/>
        </p:nvSpPr>
        <p:spPr>
          <a:xfrm>
            <a:off x="9793986" y="2487168"/>
            <a:ext cx="1711909" cy="566928"/>
          </a:xfrm>
          <a:prstGeom prst="roundRect">
            <a:avLst>
              <a:gd name="adj" fmla="val 50000"/>
            </a:avLst>
          </a:prstGeom>
          <a:solidFill>
            <a:schemeClr val="accent5"/>
          </a:solidFill>
          <a:ln w="12700">
            <a:solidFill>
              <a:schemeClr val="accent2"/>
            </a:solidFill>
            <a:prstDash val="solid"/>
          </a:ln>
        </p:spPr>
      </p:sp>
      <p:sp>
        <p:nvSpPr>
          <p:cNvPr id="27" name="Text 25"/>
          <p:cNvSpPr txBox="1"/>
          <p:nvPr/>
        </p:nvSpPr>
        <p:spPr>
          <a:xfrm>
            <a:off x="9793986" y="2487168"/>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12. </a:t>
            </a:r>
            <a:pPr algn="ctr" indent="0" marL="0">
              <a:buNone/>
            </a:pPr>
            <a:r>
              <a:rPr lang="en-US" altLang="en-US" sz="1200" b="1" dirty="0">
                <a:solidFill>
                  <a:schemeClr val="tx2"/>
                </a:solidFill>
                <a:latin typeface="Arial" pitchFamily="34" charset="0"/>
                <a:ea typeface="Arial" pitchFamily="34" charset="-122"/>
                <a:cs typeface="Arial" pitchFamily="34" charset="-120"/>
              </a:rPr>
              <a:t>Al-'Asr</a:t>
            </a:r>
            <a:endParaRPr lang="en-US" sz="1200" dirty="0"/>
          </a:p>
        </p:txBody>
      </p:sp>
      <p:sp>
        <p:nvSpPr>
          <p:cNvPr id="28" name="Shape 26"/>
          <p:cNvSpPr/>
          <p:nvPr/>
        </p:nvSpPr>
        <p:spPr>
          <a:xfrm>
            <a:off x="685800" y="3145536"/>
            <a:ext cx="1711909" cy="566928"/>
          </a:xfrm>
          <a:prstGeom prst="roundRect">
            <a:avLst>
              <a:gd name="adj" fmla="val 50000"/>
            </a:avLst>
          </a:prstGeom>
          <a:solidFill>
            <a:schemeClr val="bg1"/>
          </a:solidFill>
          <a:ln w="12700">
            <a:solidFill>
              <a:schemeClr val="accent2"/>
            </a:solidFill>
            <a:prstDash val="solid"/>
          </a:ln>
        </p:spPr>
      </p:sp>
      <p:sp>
        <p:nvSpPr>
          <p:cNvPr id="29" name="Text 27"/>
          <p:cNvSpPr txBox="1"/>
          <p:nvPr/>
        </p:nvSpPr>
        <p:spPr>
          <a:xfrm>
            <a:off x="685800" y="3145536"/>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13. </a:t>
            </a:r>
            <a:pPr algn="ctr" indent="0" marL="0">
              <a:buNone/>
            </a:pPr>
            <a:r>
              <a:rPr lang="en-US" altLang="en-US" sz="1200" b="1" dirty="0">
                <a:solidFill>
                  <a:schemeClr val="tx2"/>
                </a:solidFill>
                <a:latin typeface="Arial" pitchFamily="34" charset="0"/>
                <a:ea typeface="Arial" pitchFamily="34" charset="-122"/>
                <a:cs typeface="Arial" pitchFamily="34" charset="-120"/>
              </a:rPr>
              <a:t>At-Takathur</a:t>
            </a:r>
            <a:endParaRPr lang="en-US" sz="1200" dirty="0"/>
          </a:p>
        </p:txBody>
      </p:sp>
      <p:sp>
        <p:nvSpPr>
          <p:cNvPr id="30" name="Shape 28"/>
          <p:cNvSpPr/>
          <p:nvPr/>
        </p:nvSpPr>
        <p:spPr>
          <a:xfrm>
            <a:off x="2507437" y="3145536"/>
            <a:ext cx="1711909" cy="566928"/>
          </a:xfrm>
          <a:prstGeom prst="roundRect">
            <a:avLst>
              <a:gd name="adj" fmla="val 50000"/>
            </a:avLst>
          </a:prstGeom>
          <a:solidFill>
            <a:schemeClr val="accent5"/>
          </a:solidFill>
          <a:ln w="12700">
            <a:solidFill>
              <a:schemeClr val="accent2"/>
            </a:solidFill>
            <a:prstDash val="solid"/>
          </a:ln>
        </p:spPr>
      </p:sp>
      <p:sp>
        <p:nvSpPr>
          <p:cNvPr id="31" name="Text 29"/>
          <p:cNvSpPr txBox="1"/>
          <p:nvPr/>
        </p:nvSpPr>
        <p:spPr>
          <a:xfrm>
            <a:off x="2507437" y="3145536"/>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14. </a:t>
            </a:r>
            <a:pPr algn="ctr" indent="0" marL="0">
              <a:buNone/>
            </a:pPr>
            <a:r>
              <a:rPr lang="en-US" altLang="en-US" sz="1200" b="1" dirty="0">
                <a:solidFill>
                  <a:schemeClr val="tx2"/>
                </a:solidFill>
                <a:latin typeface="Arial" pitchFamily="34" charset="0"/>
                <a:ea typeface="Arial" pitchFamily="34" charset="-122"/>
                <a:cs typeface="Arial" pitchFamily="34" charset="-120"/>
              </a:rPr>
              <a:t>Al-Qari'ah</a:t>
            </a:r>
            <a:endParaRPr lang="en-US" sz="1200" dirty="0"/>
          </a:p>
        </p:txBody>
      </p:sp>
      <p:sp>
        <p:nvSpPr>
          <p:cNvPr id="32" name="Shape 30"/>
          <p:cNvSpPr/>
          <p:nvPr/>
        </p:nvSpPr>
        <p:spPr>
          <a:xfrm>
            <a:off x="4329074" y="3145536"/>
            <a:ext cx="1711909" cy="566928"/>
          </a:xfrm>
          <a:prstGeom prst="roundRect">
            <a:avLst>
              <a:gd name="adj" fmla="val 50000"/>
            </a:avLst>
          </a:prstGeom>
          <a:solidFill>
            <a:schemeClr val="bg1"/>
          </a:solidFill>
          <a:ln w="12700">
            <a:solidFill>
              <a:schemeClr val="accent2"/>
            </a:solidFill>
            <a:prstDash val="solid"/>
          </a:ln>
        </p:spPr>
      </p:sp>
      <p:sp>
        <p:nvSpPr>
          <p:cNvPr id="33" name="Text 31"/>
          <p:cNvSpPr txBox="1"/>
          <p:nvPr/>
        </p:nvSpPr>
        <p:spPr>
          <a:xfrm>
            <a:off x="4329074" y="3145536"/>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15. </a:t>
            </a:r>
            <a:pPr algn="ctr" indent="0" marL="0">
              <a:buNone/>
            </a:pPr>
            <a:r>
              <a:rPr lang="en-US" altLang="en-US" sz="1200" b="1" dirty="0">
                <a:solidFill>
                  <a:schemeClr val="tx2"/>
                </a:solidFill>
                <a:latin typeface="Arial" pitchFamily="34" charset="0"/>
                <a:ea typeface="Arial" pitchFamily="34" charset="-122"/>
                <a:cs typeface="Arial" pitchFamily="34" charset="-120"/>
              </a:rPr>
              <a:t>Al-'Adiyat</a:t>
            </a:r>
            <a:endParaRPr lang="en-US" sz="1200" dirty="0"/>
          </a:p>
        </p:txBody>
      </p:sp>
      <p:sp>
        <p:nvSpPr>
          <p:cNvPr id="34" name="Shape 32"/>
          <p:cNvSpPr/>
          <p:nvPr/>
        </p:nvSpPr>
        <p:spPr>
          <a:xfrm>
            <a:off x="6150712" y="3145536"/>
            <a:ext cx="1711909" cy="566928"/>
          </a:xfrm>
          <a:prstGeom prst="roundRect">
            <a:avLst>
              <a:gd name="adj" fmla="val 50000"/>
            </a:avLst>
          </a:prstGeom>
          <a:solidFill>
            <a:schemeClr val="accent5"/>
          </a:solidFill>
          <a:ln w="12700">
            <a:solidFill>
              <a:schemeClr val="accent2"/>
            </a:solidFill>
            <a:prstDash val="solid"/>
          </a:ln>
        </p:spPr>
      </p:sp>
      <p:sp>
        <p:nvSpPr>
          <p:cNvPr id="35" name="Text 33"/>
          <p:cNvSpPr txBox="1"/>
          <p:nvPr/>
        </p:nvSpPr>
        <p:spPr>
          <a:xfrm>
            <a:off x="6150712" y="3145536"/>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16. </a:t>
            </a:r>
            <a:pPr algn="ctr" indent="0" marL="0">
              <a:buNone/>
            </a:pPr>
            <a:r>
              <a:rPr lang="en-US" altLang="en-US" sz="1200" b="1" dirty="0">
                <a:solidFill>
                  <a:schemeClr val="tx2"/>
                </a:solidFill>
                <a:latin typeface="Arial" pitchFamily="34" charset="0"/>
                <a:ea typeface="Arial" pitchFamily="34" charset="-122"/>
                <a:cs typeface="Arial" pitchFamily="34" charset="-120"/>
              </a:rPr>
              <a:t>Az-Zalzalah</a:t>
            </a:r>
            <a:endParaRPr lang="en-US" sz="1200" dirty="0"/>
          </a:p>
        </p:txBody>
      </p:sp>
      <p:sp>
        <p:nvSpPr>
          <p:cNvPr id="36" name="Shape 34"/>
          <p:cNvSpPr/>
          <p:nvPr/>
        </p:nvSpPr>
        <p:spPr>
          <a:xfrm>
            <a:off x="7972349" y="3145536"/>
            <a:ext cx="1711909" cy="566928"/>
          </a:xfrm>
          <a:prstGeom prst="roundRect">
            <a:avLst>
              <a:gd name="adj" fmla="val 50000"/>
            </a:avLst>
          </a:prstGeom>
          <a:solidFill>
            <a:schemeClr val="bg1"/>
          </a:solidFill>
          <a:ln w="12700">
            <a:solidFill>
              <a:schemeClr val="accent2"/>
            </a:solidFill>
            <a:prstDash val="solid"/>
          </a:ln>
        </p:spPr>
      </p:sp>
      <p:sp>
        <p:nvSpPr>
          <p:cNvPr id="37" name="Text 35"/>
          <p:cNvSpPr txBox="1"/>
          <p:nvPr/>
        </p:nvSpPr>
        <p:spPr>
          <a:xfrm>
            <a:off x="7972349" y="3145536"/>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17. </a:t>
            </a:r>
            <a:pPr algn="ctr" indent="0" marL="0">
              <a:buNone/>
            </a:pPr>
            <a:r>
              <a:rPr lang="en-US" altLang="en-US" sz="1200" b="1" dirty="0">
                <a:solidFill>
                  <a:schemeClr val="tx2"/>
                </a:solidFill>
                <a:latin typeface="Arial" pitchFamily="34" charset="0"/>
                <a:ea typeface="Arial" pitchFamily="34" charset="-122"/>
                <a:cs typeface="Arial" pitchFamily="34" charset="-120"/>
              </a:rPr>
              <a:t>Al-Bayyinah</a:t>
            </a:r>
            <a:endParaRPr lang="en-US" sz="1200" dirty="0"/>
          </a:p>
        </p:txBody>
      </p:sp>
      <p:sp>
        <p:nvSpPr>
          <p:cNvPr id="38" name="Shape 36"/>
          <p:cNvSpPr/>
          <p:nvPr/>
        </p:nvSpPr>
        <p:spPr>
          <a:xfrm>
            <a:off x="9793986" y="3145536"/>
            <a:ext cx="1711909" cy="566928"/>
          </a:xfrm>
          <a:prstGeom prst="roundRect">
            <a:avLst>
              <a:gd name="adj" fmla="val 50000"/>
            </a:avLst>
          </a:prstGeom>
          <a:solidFill>
            <a:schemeClr val="accent5"/>
          </a:solidFill>
          <a:ln w="12700">
            <a:solidFill>
              <a:schemeClr val="accent2"/>
            </a:solidFill>
            <a:prstDash val="solid"/>
          </a:ln>
        </p:spPr>
      </p:sp>
      <p:sp>
        <p:nvSpPr>
          <p:cNvPr id="39" name="Text 37"/>
          <p:cNvSpPr txBox="1"/>
          <p:nvPr/>
        </p:nvSpPr>
        <p:spPr>
          <a:xfrm>
            <a:off x="9793986" y="3145536"/>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18. </a:t>
            </a:r>
            <a:pPr algn="ctr" indent="0" marL="0">
              <a:buNone/>
            </a:pPr>
            <a:r>
              <a:rPr lang="en-US" altLang="en-US" sz="1200" b="1" dirty="0">
                <a:solidFill>
                  <a:schemeClr val="tx2"/>
                </a:solidFill>
                <a:latin typeface="Arial" pitchFamily="34" charset="0"/>
                <a:ea typeface="Arial" pitchFamily="34" charset="-122"/>
                <a:cs typeface="Arial" pitchFamily="34" charset="-120"/>
              </a:rPr>
              <a:t>Al-Qadr</a:t>
            </a:r>
            <a:endParaRPr lang="en-US" sz="1200" dirty="0"/>
          </a:p>
        </p:txBody>
      </p:sp>
      <p:sp>
        <p:nvSpPr>
          <p:cNvPr id="40" name="Shape 38"/>
          <p:cNvSpPr/>
          <p:nvPr/>
        </p:nvSpPr>
        <p:spPr>
          <a:xfrm>
            <a:off x="685800" y="3803904"/>
            <a:ext cx="1711909" cy="566928"/>
          </a:xfrm>
          <a:prstGeom prst="roundRect">
            <a:avLst>
              <a:gd name="adj" fmla="val 50000"/>
            </a:avLst>
          </a:prstGeom>
          <a:solidFill>
            <a:schemeClr val="bg1"/>
          </a:solidFill>
          <a:ln w="12700">
            <a:solidFill>
              <a:schemeClr val="accent2"/>
            </a:solidFill>
            <a:prstDash val="solid"/>
          </a:ln>
        </p:spPr>
      </p:sp>
      <p:sp>
        <p:nvSpPr>
          <p:cNvPr id="41" name="Text 39"/>
          <p:cNvSpPr txBox="1"/>
          <p:nvPr/>
        </p:nvSpPr>
        <p:spPr>
          <a:xfrm>
            <a:off x="685800" y="3803904"/>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19. </a:t>
            </a:r>
            <a:pPr algn="ctr" indent="0" marL="0">
              <a:buNone/>
            </a:pPr>
            <a:r>
              <a:rPr lang="en-US" altLang="en-US" sz="1200" b="1" dirty="0">
                <a:solidFill>
                  <a:schemeClr val="tx2"/>
                </a:solidFill>
                <a:latin typeface="Arial" pitchFamily="34" charset="0"/>
                <a:ea typeface="Arial" pitchFamily="34" charset="-122"/>
                <a:cs typeface="Arial" pitchFamily="34" charset="-120"/>
              </a:rPr>
              <a:t>Al-'Alaq</a:t>
            </a:r>
            <a:endParaRPr lang="en-US" sz="1200" dirty="0"/>
          </a:p>
        </p:txBody>
      </p:sp>
      <p:sp>
        <p:nvSpPr>
          <p:cNvPr id="42" name="Shape 40"/>
          <p:cNvSpPr/>
          <p:nvPr/>
        </p:nvSpPr>
        <p:spPr>
          <a:xfrm>
            <a:off x="2507437" y="3803904"/>
            <a:ext cx="1711909" cy="566928"/>
          </a:xfrm>
          <a:prstGeom prst="roundRect">
            <a:avLst>
              <a:gd name="adj" fmla="val 50000"/>
            </a:avLst>
          </a:prstGeom>
          <a:solidFill>
            <a:schemeClr val="accent5"/>
          </a:solidFill>
          <a:ln w="12700">
            <a:solidFill>
              <a:schemeClr val="accent2"/>
            </a:solidFill>
            <a:prstDash val="solid"/>
          </a:ln>
        </p:spPr>
      </p:sp>
      <p:sp>
        <p:nvSpPr>
          <p:cNvPr id="43" name="Text 41"/>
          <p:cNvSpPr txBox="1"/>
          <p:nvPr/>
        </p:nvSpPr>
        <p:spPr>
          <a:xfrm>
            <a:off x="2507437" y="3803904"/>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20. </a:t>
            </a:r>
            <a:pPr algn="ctr" indent="0" marL="0">
              <a:buNone/>
            </a:pPr>
            <a:r>
              <a:rPr lang="en-US" altLang="en-US" sz="1200" b="1" dirty="0">
                <a:solidFill>
                  <a:schemeClr val="tx2"/>
                </a:solidFill>
                <a:latin typeface="Arial" pitchFamily="34" charset="0"/>
                <a:ea typeface="Arial" pitchFamily="34" charset="-122"/>
                <a:cs typeface="Arial" pitchFamily="34" charset="-120"/>
              </a:rPr>
              <a:t>At-Tin</a:t>
            </a:r>
            <a:endParaRPr lang="en-US" sz="1200" dirty="0"/>
          </a:p>
        </p:txBody>
      </p:sp>
      <p:sp>
        <p:nvSpPr>
          <p:cNvPr id="44" name="Shape 42"/>
          <p:cNvSpPr/>
          <p:nvPr/>
        </p:nvSpPr>
        <p:spPr>
          <a:xfrm>
            <a:off x="4329074" y="3803904"/>
            <a:ext cx="1711909" cy="566928"/>
          </a:xfrm>
          <a:prstGeom prst="roundRect">
            <a:avLst>
              <a:gd name="adj" fmla="val 50000"/>
            </a:avLst>
          </a:prstGeom>
          <a:solidFill>
            <a:schemeClr val="bg1"/>
          </a:solidFill>
          <a:ln w="12700">
            <a:solidFill>
              <a:schemeClr val="accent2"/>
            </a:solidFill>
            <a:prstDash val="solid"/>
          </a:ln>
        </p:spPr>
      </p:sp>
      <p:sp>
        <p:nvSpPr>
          <p:cNvPr id="45" name="Text 43"/>
          <p:cNvSpPr txBox="1"/>
          <p:nvPr/>
        </p:nvSpPr>
        <p:spPr>
          <a:xfrm>
            <a:off x="4329074" y="3803904"/>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21. </a:t>
            </a:r>
            <a:pPr algn="ctr" indent="0" marL="0">
              <a:buNone/>
            </a:pPr>
            <a:r>
              <a:rPr lang="en-US" altLang="en-US" sz="1200" b="1" dirty="0">
                <a:solidFill>
                  <a:schemeClr val="tx2"/>
                </a:solidFill>
                <a:latin typeface="Arial" pitchFamily="34" charset="0"/>
                <a:ea typeface="Arial" pitchFamily="34" charset="-122"/>
                <a:cs typeface="Arial" pitchFamily="34" charset="-120"/>
              </a:rPr>
              <a:t>Ash-Sharh</a:t>
            </a:r>
            <a:endParaRPr lang="en-US" sz="1200" dirty="0"/>
          </a:p>
        </p:txBody>
      </p:sp>
      <p:sp>
        <p:nvSpPr>
          <p:cNvPr id="46" name="Shape 44"/>
          <p:cNvSpPr/>
          <p:nvPr/>
        </p:nvSpPr>
        <p:spPr>
          <a:xfrm>
            <a:off x="6150712" y="3803904"/>
            <a:ext cx="1711909" cy="566928"/>
          </a:xfrm>
          <a:prstGeom prst="roundRect">
            <a:avLst>
              <a:gd name="adj" fmla="val 50000"/>
            </a:avLst>
          </a:prstGeom>
          <a:solidFill>
            <a:schemeClr val="accent5"/>
          </a:solidFill>
          <a:ln w="12700">
            <a:solidFill>
              <a:schemeClr val="accent2"/>
            </a:solidFill>
            <a:prstDash val="solid"/>
          </a:ln>
        </p:spPr>
      </p:sp>
      <p:sp>
        <p:nvSpPr>
          <p:cNvPr id="47" name="Text 45"/>
          <p:cNvSpPr txBox="1"/>
          <p:nvPr/>
        </p:nvSpPr>
        <p:spPr>
          <a:xfrm>
            <a:off x="6150712" y="3803904"/>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22. </a:t>
            </a:r>
            <a:pPr algn="ctr" indent="0" marL="0">
              <a:buNone/>
            </a:pPr>
            <a:r>
              <a:rPr lang="en-US" altLang="en-US" sz="1200" b="1" dirty="0">
                <a:solidFill>
                  <a:schemeClr val="tx2"/>
                </a:solidFill>
                <a:latin typeface="Arial" pitchFamily="34" charset="0"/>
                <a:ea typeface="Arial" pitchFamily="34" charset="-122"/>
                <a:cs typeface="Arial" pitchFamily="34" charset="-120"/>
              </a:rPr>
              <a:t>Ad-Duha</a:t>
            </a:r>
            <a:endParaRPr lang="en-US" sz="1200" dirty="0"/>
          </a:p>
        </p:txBody>
      </p:sp>
      <p:sp>
        <p:nvSpPr>
          <p:cNvPr id="48" name="Shape 46"/>
          <p:cNvSpPr/>
          <p:nvPr/>
        </p:nvSpPr>
        <p:spPr>
          <a:xfrm>
            <a:off x="7972349" y="3803904"/>
            <a:ext cx="1711909" cy="566928"/>
          </a:xfrm>
          <a:prstGeom prst="roundRect">
            <a:avLst>
              <a:gd name="adj" fmla="val 50000"/>
            </a:avLst>
          </a:prstGeom>
          <a:solidFill>
            <a:schemeClr val="bg1"/>
          </a:solidFill>
          <a:ln w="12700">
            <a:solidFill>
              <a:schemeClr val="accent2"/>
            </a:solidFill>
            <a:prstDash val="solid"/>
          </a:ln>
        </p:spPr>
      </p:sp>
      <p:sp>
        <p:nvSpPr>
          <p:cNvPr id="49" name="Text 47"/>
          <p:cNvSpPr txBox="1"/>
          <p:nvPr/>
        </p:nvSpPr>
        <p:spPr>
          <a:xfrm>
            <a:off x="7972349" y="3803904"/>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23. </a:t>
            </a:r>
            <a:pPr algn="ctr" indent="0" marL="0">
              <a:buNone/>
            </a:pPr>
            <a:r>
              <a:rPr lang="en-US" altLang="en-US" sz="1200" b="1" dirty="0">
                <a:solidFill>
                  <a:schemeClr val="tx2"/>
                </a:solidFill>
                <a:latin typeface="Arial" pitchFamily="34" charset="0"/>
                <a:ea typeface="Arial" pitchFamily="34" charset="-122"/>
                <a:cs typeface="Arial" pitchFamily="34" charset="-120"/>
              </a:rPr>
              <a:t>Al-Layl</a:t>
            </a:r>
            <a:endParaRPr lang="en-US" sz="1200" dirty="0"/>
          </a:p>
        </p:txBody>
      </p:sp>
      <p:sp>
        <p:nvSpPr>
          <p:cNvPr id="50" name="Shape 48"/>
          <p:cNvSpPr/>
          <p:nvPr/>
        </p:nvSpPr>
        <p:spPr>
          <a:xfrm>
            <a:off x="9793986" y="3803904"/>
            <a:ext cx="1711909" cy="566928"/>
          </a:xfrm>
          <a:prstGeom prst="roundRect">
            <a:avLst>
              <a:gd name="adj" fmla="val 50000"/>
            </a:avLst>
          </a:prstGeom>
          <a:solidFill>
            <a:schemeClr val="accent5"/>
          </a:solidFill>
          <a:ln w="12700">
            <a:solidFill>
              <a:schemeClr val="accent2"/>
            </a:solidFill>
            <a:prstDash val="solid"/>
          </a:ln>
        </p:spPr>
      </p:sp>
      <p:sp>
        <p:nvSpPr>
          <p:cNvPr id="51" name="Text 49"/>
          <p:cNvSpPr txBox="1"/>
          <p:nvPr/>
        </p:nvSpPr>
        <p:spPr>
          <a:xfrm>
            <a:off x="9793986" y="3803904"/>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24. </a:t>
            </a:r>
            <a:pPr algn="ctr" indent="0" marL="0">
              <a:buNone/>
            </a:pPr>
            <a:r>
              <a:rPr lang="en-US" altLang="en-US" sz="1200" b="1" dirty="0">
                <a:solidFill>
                  <a:schemeClr val="tx2"/>
                </a:solidFill>
                <a:latin typeface="Arial" pitchFamily="34" charset="0"/>
                <a:ea typeface="Arial" pitchFamily="34" charset="-122"/>
                <a:cs typeface="Arial" pitchFamily="34" charset="-120"/>
              </a:rPr>
              <a:t>Ash-Shams</a:t>
            </a:r>
            <a:endParaRPr lang="en-US" sz="1200" dirty="0"/>
          </a:p>
        </p:txBody>
      </p:sp>
      <p:sp>
        <p:nvSpPr>
          <p:cNvPr id="52" name="Shape 50"/>
          <p:cNvSpPr/>
          <p:nvPr/>
        </p:nvSpPr>
        <p:spPr>
          <a:xfrm>
            <a:off x="685800" y="4462272"/>
            <a:ext cx="1711909" cy="566928"/>
          </a:xfrm>
          <a:prstGeom prst="roundRect">
            <a:avLst>
              <a:gd name="adj" fmla="val 50000"/>
            </a:avLst>
          </a:prstGeom>
          <a:solidFill>
            <a:schemeClr val="bg1"/>
          </a:solidFill>
          <a:ln w="12700">
            <a:solidFill>
              <a:schemeClr val="accent2"/>
            </a:solidFill>
            <a:prstDash val="solid"/>
          </a:ln>
        </p:spPr>
      </p:sp>
      <p:sp>
        <p:nvSpPr>
          <p:cNvPr id="53" name="Text 51"/>
          <p:cNvSpPr txBox="1"/>
          <p:nvPr/>
        </p:nvSpPr>
        <p:spPr>
          <a:xfrm>
            <a:off x="685800" y="4462272"/>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25. </a:t>
            </a:r>
            <a:pPr algn="ctr" indent="0" marL="0">
              <a:buNone/>
            </a:pPr>
            <a:r>
              <a:rPr lang="en-US" altLang="en-US" sz="1200" b="1" dirty="0">
                <a:solidFill>
                  <a:schemeClr val="tx2"/>
                </a:solidFill>
                <a:latin typeface="Arial" pitchFamily="34" charset="0"/>
                <a:ea typeface="Arial" pitchFamily="34" charset="-122"/>
                <a:cs typeface="Arial" pitchFamily="34" charset="-120"/>
              </a:rPr>
              <a:t>Al-Balad</a:t>
            </a:r>
            <a:endParaRPr lang="en-US" sz="1200" dirty="0"/>
          </a:p>
        </p:txBody>
      </p:sp>
      <p:sp>
        <p:nvSpPr>
          <p:cNvPr id="54" name="Shape 52"/>
          <p:cNvSpPr/>
          <p:nvPr/>
        </p:nvSpPr>
        <p:spPr>
          <a:xfrm>
            <a:off x="2507437" y="4462272"/>
            <a:ext cx="1711909" cy="566928"/>
          </a:xfrm>
          <a:prstGeom prst="roundRect">
            <a:avLst>
              <a:gd name="adj" fmla="val 50000"/>
            </a:avLst>
          </a:prstGeom>
          <a:solidFill>
            <a:schemeClr val="accent5"/>
          </a:solidFill>
          <a:ln w="12700">
            <a:solidFill>
              <a:schemeClr val="accent2"/>
            </a:solidFill>
            <a:prstDash val="solid"/>
          </a:ln>
        </p:spPr>
      </p:sp>
      <p:sp>
        <p:nvSpPr>
          <p:cNvPr id="55" name="Text 53"/>
          <p:cNvSpPr txBox="1"/>
          <p:nvPr/>
        </p:nvSpPr>
        <p:spPr>
          <a:xfrm>
            <a:off x="2507437" y="4462272"/>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26. </a:t>
            </a:r>
            <a:pPr algn="ctr" indent="0" marL="0">
              <a:buNone/>
            </a:pPr>
            <a:r>
              <a:rPr lang="en-US" altLang="en-US" sz="1200" b="1" dirty="0">
                <a:solidFill>
                  <a:schemeClr val="tx2"/>
                </a:solidFill>
                <a:latin typeface="Arial" pitchFamily="34" charset="0"/>
                <a:ea typeface="Arial" pitchFamily="34" charset="-122"/>
                <a:cs typeface="Arial" pitchFamily="34" charset="-120"/>
              </a:rPr>
              <a:t>Al-Fajr</a:t>
            </a:r>
            <a:endParaRPr lang="en-US" sz="1200" dirty="0"/>
          </a:p>
        </p:txBody>
      </p:sp>
      <p:sp>
        <p:nvSpPr>
          <p:cNvPr id="56" name="Shape 54"/>
          <p:cNvSpPr/>
          <p:nvPr/>
        </p:nvSpPr>
        <p:spPr>
          <a:xfrm>
            <a:off x="4329074" y="4462272"/>
            <a:ext cx="1711909" cy="566928"/>
          </a:xfrm>
          <a:prstGeom prst="roundRect">
            <a:avLst>
              <a:gd name="adj" fmla="val 50000"/>
            </a:avLst>
          </a:prstGeom>
          <a:solidFill>
            <a:schemeClr val="bg1"/>
          </a:solidFill>
          <a:ln w="12700">
            <a:solidFill>
              <a:schemeClr val="accent2"/>
            </a:solidFill>
            <a:prstDash val="solid"/>
          </a:ln>
        </p:spPr>
      </p:sp>
      <p:sp>
        <p:nvSpPr>
          <p:cNvPr id="57" name="Text 55"/>
          <p:cNvSpPr txBox="1"/>
          <p:nvPr/>
        </p:nvSpPr>
        <p:spPr>
          <a:xfrm>
            <a:off x="4329074" y="4462272"/>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27. </a:t>
            </a:r>
            <a:pPr algn="ctr" indent="0" marL="0">
              <a:buNone/>
            </a:pPr>
            <a:r>
              <a:rPr lang="en-US" altLang="en-US" sz="1200" b="1" dirty="0">
                <a:solidFill>
                  <a:schemeClr val="tx2"/>
                </a:solidFill>
                <a:latin typeface="Arial" pitchFamily="34" charset="0"/>
                <a:ea typeface="Arial" pitchFamily="34" charset="-122"/>
                <a:cs typeface="Arial" pitchFamily="34" charset="-120"/>
              </a:rPr>
              <a:t>Al-Ghashiyah</a:t>
            </a:r>
            <a:endParaRPr lang="en-US" sz="1200" dirty="0"/>
          </a:p>
        </p:txBody>
      </p:sp>
      <p:sp>
        <p:nvSpPr>
          <p:cNvPr id="58" name="Shape 56"/>
          <p:cNvSpPr/>
          <p:nvPr/>
        </p:nvSpPr>
        <p:spPr>
          <a:xfrm>
            <a:off x="6150712" y="4462272"/>
            <a:ext cx="1711909" cy="566928"/>
          </a:xfrm>
          <a:prstGeom prst="roundRect">
            <a:avLst>
              <a:gd name="adj" fmla="val 50000"/>
            </a:avLst>
          </a:prstGeom>
          <a:solidFill>
            <a:schemeClr val="accent5"/>
          </a:solidFill>
          <a:ln w="12700">
            <a:solidFill>
              <a:schemeClr val="accent2"/>
            </a:solidFill>
            <a:prstDash val="solid"/>
          </a:ln>
        </p:spPr>
      </p:sp>
      <p:sp>
        <p:nvSpPr>
          <p:cNvPr id="59" name="Text 57"/>
          <p:cNvSpPr txBox="1"/>
          <p:nvPr/>
        </p:nvSpPr>
        <p:spPr>
          <a:xfrm>
            <a:off x="6150712" y="4462272"/>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28. </a:t>
            </a:r>
            <a:pPr algn="ctr" indent="0" marL="0">
              <a:buNone/>
            </a:pPr>
            <a:r>
              <a:rPr lang="en-US" altLang="en-US" sz="1200" b="1" dirty="0">
                <a:solidFill>
                  <a:schemeClr val="tx2"/>
                </a:solidFill>
                <a:latin typeface="Arial" pitchFamily="34" charset="0"/>
                <a:ea typeface="Arial" pitchFamily="34" charset="-122"/>
                <a:cs typeface="Arial" pitchFamily="34" charset="-120"/>
              </a:rPr>
              <a:t>Al-A'la</a:t>
            </a:r>
            <a:endParaRPr lang="en-US" sz="1200" dirty="0"/>
          </a:p>
        </p:txBody>
      </p:sp>
      <p:sp>
        <p:nvSpPr>
          <p:cNvPr id="60" name="Shape 58"/>
          <p:cNvSpPr/>
          <p:nvPr/>
        </p:nvSpPr>
        <p:spPr>
          <a:xfrm>
            <a:off x="7972349" y="4462272"/>
            <a:ext cx="1711909" cy="566928"/>
          </a:xfrm>
          <a:prstGeom prst="roundRect">
            <a:avLst>
              <a:gd name="adj" fmla="val 50000"/>
            </a:avLst>
          </a:prstGeom>
          <a:solidFill>
            <a:schemeClr val="bg1"/>
          </a:solidFill>
          <a:ln w="12700">
            <a:solidFill>
              <a:schemeClr val="accent2"/>
            </a:solidFill>
            <a:prstDash val="solid"/>
          </a:ln>
        </p:spPr>
      </p:sp>
      <p:sp>
        <p:nvSpPr>
          <p:cNvPr id="61" name="Text 59"/>
          <p:cNvSpPr txBox="1"/>
          <p:nvPr/>
        </p:nvSpPr>
        <p:spPr>
          <a:xfrm>
            <a:off x="7972349" y="4462272"/>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29. </a:t>
            </a:r>
            <a:pPr algn="ctr" indent="0" marL="0">
              <a:buNone/>
            </a:pPr>
            <a:r>
              <a:rPr lang="en-US" altLang="en-US" sz="1200" b="1" dirty="0">
                <a:solidFill>
                  <a:schemeClr val="tx2"/>
                </a:solidFill>
                <a:latin typeface="Arial" pitchFamily="34" charset="0"/>
                <a:ea typeface="Arial" pitchFamily="34" charset="-122"/>
                <a:cs typeface="Arial" pitchFamily="34" charset="-120"/>
              </a:rPr>
              <a:t>At-Tariq</a:t>
            </a:r>
            <a:endParaRPr lang="en-US" sz="1200" dirty="0"/>
          </a:p>
        </p:txBody>
      </p:sp>
      <p:sp>
        <p:nvSpPr>
          <p:cNvPr id="62" name="Shape 60"/>
          <p:cNvSpPr/>
          <p:nvPr/>
        </p:nvSpPr>
        <p:spPr>
          <a:xfrm>
            <a:off x="9793986" y="4462272"/>
            <a:ext cx="1711909" cy="566928"/>
          </a:xfrm>
          <a:prstGeom prst="roundRect">
            <a:avLst>
              <a:gd name="adj" fmla="val 50000"/>
            </a:avLst>
          </a:prstGeom>
          <a:solidFill>
            <a:schemeClr val="accent5"/>
          </a:solidFill>
          <a:ln w="12700">
            <a:solidFill>
              <a:schemeClr val="accent2"/>
            </a:solidFill>
            <a:prstDash val="solid"/>
          </a:ln>
        </p:spPr>
      </p:sp>
      <p:sp>
        <p:nvSpPr>
          <p:cNvPr id="63" name="Text 61"/>
          <p:cNvSpPr txBox="1"/>
          <p:nvPr/>
        </p:nvSpPr>
        <p:spPr>
          <a:xfrm>
            <a:off x="9793986" y="4462272"/>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30. </a:t>
            </a:r>
            <a:pPr algn="ctr" indent="0" marL="0">
              <a:buNone/>
            </a:pPr>
            <a:r>
              <a:rPr lang="en-US" altLang="en-US" sz="1200" b="1" dirty="0">
                <a:solidFill>
                  <a:schemeClr val="tx2"/>
                </a:solidFill>
                <a:latin typeface="Arial" pitchFamily="34" charset="0"/>
                <a:ea typeface="Arial" pitchFamily="34" charset="-122"/>
                <a:cs typeface="Arial" pitchFamily="34" charset="-120"/>
              </a:rPr>
              <a:t>Al-Buruj</a:t>
            </a:r>
            <a:endParaRPr lang="en-US" sz="1200" dirty="0"/>
          </a:p>
        </p:txBody>
      </p:sp>
      <p:sp>
        <p:nvSpPr>
          <p:cNvPr id="64" name="Shape 62"/>
          <p:cNvSpPr/>
          <p:nvPr/>
        </p:nvSpPr>
        <p:spPr>
          <a:xfrm>
            <a:off x="685800" y="5120640"/>
            <a:ext cx="1711909" cy="566928"/>
          </a:xfrm>
          <a:prstGeom prst="roundRect">
            <a:avLst>
              <a:gd name="adj" fmla="val 50000"/>
            </a:avLst>
          </a:prstGeom>
          <a:solidFill>
            <a:schemeClr val="bg1"/>
          </a:solidFill>
          <a:ln w="12700">
            <a:solidFill>
              <a:schemeClr val="accent2"/>
            </a:solidFill>
            <a:prstDash val="solid"/>
          </a:ln>
        </p:spPr>
      </p:sp>
      <p:sp>
        <p:nvSpPr>
          <p:cNvPr id="65" name="Text 63"/>
          <p:cNvSpPr txBox="1"/>
          <p:nvPr/>
        </p:nvSpPr>
        <p:spPr>
          <a:xfrm>
            <a:off x="685800" y="512064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31. </a:t>
            </a:r>
            <a:pPr algn="ctr" indent="0" marL="0">
              <a:buNone/>
            </a:pPr>
            <a:r>
              <a:rPr lang="en-US" altLang="en-US" sz="1200" b="1" dirty="0">
                <a:solidFill>
                  <a:schemeClr val="tx2"/>
                </a:solidFill>
                <a:latin typeface="Arial" pitchFamily="34" charset="0"/>
                <a:ea typeface="Arial" pitchFamily="34" charset="-122"/>
                <a:cs typeface="Arial" pitchFamily="34" charset="-120"/>
              </a:rPr>
              <a:t>Al-Inshiqaq</a:t>
            </a:r>
            <a:endParaRPr lang="en-US" sz="1200" dirty="0"/>
          </a:p>
        </p:txBody>
      </p:sp>
      <p:sp>
        <p:nvSpPr>
          <p:cNvPr id="66" name="Shape 64"/>
          <p:cNvSpPr/>
          <p:nvPr/>
        </p:nvSpPr>
        <p:spPr>
          <a:xfrm>
            <a:off x="2507437" y="5120640"/>
            <a:ext cx="1711909" cy="566928"/>
          </a:xfrm>
          <a:prstGeom prst="roundRect">
            <a:avLst>
              <a:gd name="adj" fmla="val 50000"/>
            </a:avLst>
          </a:prstGeom>
          <a:solidFill>
            <a:schemeClr val="accent5"/>
          </a:solidFill>
          <a:ln w="12700">
            <a:solidFill>
              <a:schemeClr val="accent2"/>
            </a:solidFill>
            <a:prstDash val="solid"/>
          </a:ln>
        </p:spPr>
      </p:sp>
      <p:sp>
        <p:nvSpPr>
          <p:cNvPr id="67" name="Text 65"/>
          <p:cNvSpPr txBox="1"/>
          <p:nvPr/>
        </p:nvSpPr>
        <p:spPr>
          <a:xfrm>
            <a:off x="2507437" y="512064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32. </a:t>
            </a:r>
            <a:pPr algn="ctr" indent="0" marL="0">
              <a:buNone/>
            </a:pPr>
            <a:r>
              <a:rPr lang="en-US" altLang="en-US" sz="1200" b="1" dirty="0">
                <a:solidFill>
                  <a:schemeClr val="tx2"/>
                </a:solidFill>
                <a:latin typeface="Arial" pitchFamily="34" charset="0"/>
                <a:ea typeface="Arial" pitchFamily="34" charset="-122"/>
                <a:cs typeface="Arial" pitchFamily="34" charset="-120"/>
              </a:rPr>
              <a:t>Al-Mutaffifin</a:t>
            </a:r>
            <a:endParaRPr lang="en-US" sz="1200" dirty="0"/>
          </a:p>
        </p:txBody>
      </p:sp>
      <p:sp>
        <p:nvSpPr>
          <p:cNvPr id="68" name="Shape 66"/>
          <p:cNvSpPr/>
          <p:nvPr/>
        </p:nvSpPr>
        <p:spPr>
          <a:xfrm>
            <a:off x="4329074" y="5120640"/>
            <a:ext cx="1711909" cy="566928"/>
          </a:xfrm>
          <a:prstGeom prst="roundRect">
            <a:avLst>
              <a:gd name="adj" fmla="val 50000"/>
            </a:avLst>
          </a:prstGeom>
          <a:solidFill>
            <a:schemeClr val="bg1"/>
          </a:solidFill>
          <a:ln w="12700">
            <a:solidFill>
              <a:schemeClr val="accent2"/>
            </a:solidFill>
            <a:prstDash val="solid"/>
          </a:ln>
        </p:spPr>
      </p:sp>
      <p:sp>
        <p:nvSpPr>
          <p:cNvPr id="69" name="Text 67"/>
          <p:cNvSpPr txBox="1"/>
          <p:nvPr/>
        </p:nvSpPr>
        <p:spPr>
          <a:xfrm>
            <a:off x="4329074" y="512064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33. </a:t>
            </a:r>
            <a:pPr algn="ctr" indent="0" marL="0">
              <a:buNone/>
            </a:pPr>
            <a:r>
              <a:rPr lang="en-US" altLang="en-US" sz="1200" b="1" dirty="0">
                <a:solidFill>
                  <a:schemeClr val="tx2"/>
                </a:solidFill>
                <a:latin typeface="Arial" pitchFamily="34" charset="0"/>
                <a:ea typeface="Arial" pitchFamily="34" charset="-122"/>
                <a:cs typeface="Arial" pitchFamily="34" charset="-120"/>
              </a:rPr>
              <a:t>Al-Infitar</a:t>
            </a:r>
            <a:endParaRPr lang="en-US" sz="1200" dirty="0"/>
          </a:p>
        </p:txBody>
      </p:sp>
      <p:sp>
        <p:nvSpPr>
          <p:cNvPr id="70" name="Shape 68"/>
          <p:cNvSpPr/>
          <p:nvPr/>
        </p:nvSpPr>
        <p:spPr>
          <a:xfrm>
            <a:off x="6150712" y="5120640"/>
            <a:ext cx="1711909" cy="566928"/>
          </a:xfrm>
          <a:prstGeom prst="roundRect">
            <a:avLst>
              <a:gd name="adj" fmla="val 50000"/>
            </a:avLst>
          </a:prstGeom>
          <a:solidFill>
            <a:schemeClr val="accent5"/>
          </a:solidFill>
          <a:ln w="12700">
            <a:solidFill>
              <a:schemeClr val="accent2"/>
            </a:solidFill>
            <a:prstDash val="solid"/>
          </a:ln>
        </p:spPr>
      </p:sp>
      <p:sp>
        <p:nvSpPr>
          <p:cNvPr id="71" name="Text 69"/>
          <p:cNvSpPr txBox="1"/>
          <p:nvPr/>
        </p:nvSpPr>
        <p:spPr>
          <a:xfrm>
            <a:off x="6150712" y="512064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34. </a:t>
            </a:r>
            <a:pPr algn="ctr" indent="0" marL="0">
              <a:buNone/>
            </a:pPr>
            <a:r>
              <a:rPr lang="en-US" altLang="en-US" sz="1200" b="1" dirty="0">
                <a:solidFill>
                  <a:schemeClr val="tx2"/>
                </a:solidFill>
                <a:latin typeface="Arial" pitchFamily="34" charset="0"/>
                <a:ea typeface="Arial" pitchFamily="34" charset="-122"/>
                <a:cs typeface="Arial" pitchFamily="34" charset="-120"/>
              </a:rPr>
              <a:t>At-Takwir</a:t>
            </a:r>
            <a:endParaRPr lang="en-US" sz="1200" dirty="0"/>
          </a:p>
        </p:txBody>
      </p:sp>
      <p:sp>
        <p:nvSpPr>
          <p:cNvPr id="72" name="Shape 70"/>
          <p:cNvSpPr/>
          <p:nvPr/>
        </p:nvSpPr>
        <p:spPr>
          <a:xfrm>
            <a:off x="7972349" y="5120640"/>
            <a:ext cx="1711909" cy="566928"/>
          </a:xfrm>
          <a:prstGeom prst="roundRect">
            <a:avLst>
              <a:gd name="adj" fmla="val 50000"/>
            </a:avLst>
          </a:prstGeom>
          <a:solidFill>
            <a:schemeClr val="bg1"/>
          </a:solidFill>
          <a:ln w="12700">
            <a:solidFill>
              <a:schemeClr val="accent2"/>
            </a:solidFill>
            <a:prstDash val="solid"/>
          </a:ln>
        </p:spPr>
      </p:sp>
      <p:sp>
        <p:nvSpPr>
          <p:cNvPr id="73" name="Text 71"/>
          <p:cNvSpPr txBox="1"/>
          <p:nvPr/>
        </p:nvSpPr>
        <p:spPr>
          <a:xfrm>
            <a:off x="7972349" y="512064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35. </a:t>
            </a:r>
            <a:pPr algn="ctr" indent="0" marL="0">
              <a:buNone/>
            </a:pPr>
            <a:r>
              <a:rPr lang="en-US" altLang="en-US" sz="1200" b="1" dirty="0">
                <a:solidFill>
                  <a:schemeClr val="tx2"/>
                </a:solidFill>
                <a:latin typeface="Arial" pitchFamily="34" charset="0"/>
                <a:ea typeface="Arial" pitchFamily="34" charset="-122"/>
                <a:cs typeface="Arial" pitchFamily="34" charset="-120"/>
              </a:rPr>
              <a:t>'Abasa</a:t>
            </a:r>
            <a:endParaRPr lang="en-US" sz="1200" dirty="0"/>
          </a:p>
        </p:txBody>
      </p:sp>
      <p:sp>
        <p:nvSpPr>
          <p:cNvPr id="74" name="Shape 72"/>
          <p:cNvSpPr/>
          <p:nvPr/>
        </p:nvSpPr>
        <p:spPr>
          <a:xfrm>
            <a:off x="9793986" y="5120640"/>
            <a:ext cx="1711909" cy="566928"/>
          </a:xfrm>
          <a:prstGeom prst="roundRect">
            <a:avLst>
              <a:gd name="adj" fmla="val 50000"/>
            </a:avLst>
          </a:prstGeom>
          <a:solidFill>
            <a:schemeClr val="accent5"/>
          </a:solidFill>
          <a:ln w="12700">
            <a:solidFill>
              <a:schemeClr val="accent2"/>
            </a:solidFill>
            <a:prstDash val="solid"/>
          </a:ln>
        </p:spPr>
      </p:sp>
      <p:sp>
        <p:nvSpPr>
          <p:cNvPr id="75" name="Text 73"/>
          <p:cNvSpPr txBox="1"/>
          <p:nvPr/>
        </p:nvSpPr>
        <p:spPr>
          <a:xfrm>
            <a:off x="9793986" y="5120640"/>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36. </a:t>
            </a:r>
            <a:pPr algn="ctr" indent="0" marL="0">
              <a:buNone/>
            </a:pPr>
            <a:r>
              <a:rPr lang="en-US" altLang="en-US" sz="1200" b="1" dirty="0">
                <a:solidFill>
                  <a:schemeClr val="tx2"/>
                </a:solidFill>
                <a:latin typeface="Arial" pitchFamily="34" charset="0"/>
                <a:ea typeface="Arial" pitchFamily="34" charset="-122"/>
                <a:cs typeface="Arial" pitchFamily="34" charset="-120"/>
              </a:rPr>
              <a:t>An-Nazi'at</a:t>
            </a:r>
            <a:endParaRPr lang="en-US" sz="1200" dirty="0"/>
          </a:p>
        </p:txBody>
      </p:sp>
      <p:sp>
        <p:nvSpPr>
          <p:cNvPr id="76" name="Shape 74"/>
          <p:cNvSpPr/>
          <p:nvPr/>
        </p:nvSpPr>
        <p:spPr>
          <a:xfrm>
            <a:off x="685800" y="5779008"/>
            <a:ext cx="1711909" cy="566928"/>
          </a:xfrm>
          <a:prstGeom prst="roundRect">
            <a:avLst>
              <a:gd name="adj" fmla="val 50000"/>
            </a:avLst>
          </a:prstGeom>
          <a:solidFill>
            <a:schemeClr val="bg1"/>
          </a:solidFill>
          <a:ln w="12700">
            <a:solidFill>
              <a:schemeClr val="accent2"/>
            </a:solidFill>
            <a:prstDash val="solid"/>
          </a:ln>
        </p:spPr>
      </p:sp>
      <p:sp>
        <p:nvSpPr>
          <p:cNvPr id="77" name="Text 75"/>
          <p:cNvSpPr txBox="1"/>
          <p:nvPr/>
        </p:nvSpPr>
        <p:spPr>
          <a:xfrm>
            <a:off x="685800" y="5779008"/>
            <a:ext cx="1711909" cy="566928"/>
          </a:xfrm>
          <a:prstGeom prst="rect">
            <a:avLst/>
          </a:prstGeom>
          <a:noFill/>
          <a:ln/>
        </p:spPr>
        <p:txBody>
          <a:bodyPr wrap="square" lIns="0" tIns="0" rIns="0" bIns="0" rtlCol="0" anchor="ctr"/>
          <a:lstStyle/>
          <a:p>
            <a:pPr algn="ctr" indent="0" marL="0">
              <a:buNone/>
            </a:pPr>
            <a:r>
              <a:rPr lang="en-US" altLang="en-US" sz="1200" b="1" dirty="0">
                <a:solidFill>
                  <a:schemeClr val="accent2"/>
                </a:solidFill>
                <a:latin typeface="Arial" pitchFamily="34" charset="0"/>
                <a:ea typeface="Arial" pitchFamily="34" charset="-122"/>
                <a:cs typeface="Arial" pitchFamily="34" charset="-120"/>
              </a:rPr>
              <a:t>37. </a:t>
            </a:r>
            <a:pPr algn="ctr" indent="0" marL="0">
              <a:buNone/>
            </a:pPr>
            <a:r>
              <a:rPr lang="en-US" altLang="en-US" sz="1200" b="1" dirty="0">
                <a:solidFill>
                  <a:schemeClr val="tx2"/>
                </a:solidFill>
                <a:latin typeface="Arial" pitchFamily="34" charset="0"/>
                <a:ea typeface="Arial" pitchFamily="34" charset="-122"/>
                <a:cs typeface="Arial" pitchFamily="34" charset="-120"/>
              </a:rPr>
              <a:t>An-Naba'</a:t>
            </a:r>
            <a:endParaRPr lang="en-US" sz="12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An-Nas</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6 verses • Mankind</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114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It is mentioned that, together with Surah Al-Falaq, it was revealed when a man called Labid ibn al-A'sam cast magic on the Prophet (peace be upon him). Allah revealed the two surahs of refuge and cured him. The basic story of the magic is in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Seeking refuge with Allah from hidden evil: the whispering of devils from among jinn and people.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أَعُوذُ بِرَبِّ النَّاسِ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Muhammad: I seek shelter and protection with Allah, the Lord of mankind, who created them, cares for them and runs their affairs.</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مَلِكِ النَّاسِ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King of all people, who does with them as He wills; they have no king besides Him.</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إِلَٰهِ النَّاسِ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true God of mankind; no one else deserves to be worshipped.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شَرِّ الْوَسْوَاسِ الْخَنَّاسِ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seek refuge in Him from the evil of the devil who whispers to people; when a servant remembers his Lord, the devil shrinks back and hides.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يُوَسْوِسُ فِي صُدُورِ النَّاسِ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puts bad thoughts into hearts and makes sins look attractive, to turn people away from good.</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الْجِنَّةِ وَالنَّاسِ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whisper are of two kinds: devils from the jinn, and devils from among people who make evil look nice.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Al-Falaq</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 verses • The Daybreak</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113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Some scholars of tafsir say it was revealed with Surah An-Nas when the Prophet (peace be upon him) was affected by magic. The Prophet (peace be upon him) said about them: "Have you not seen verses revealed tonight, the like of which has never been seen?"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Seeking refuge with Allah from open evils: the evil of creatures, the night, magic and envy.</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أَعُوذُ بِرَبِّ الْفَلَقِ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seek shelter with Allah, the Lord of the daybreak, the morning that splits the darkness of the night, as Ibn 'Abbas said.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شَرِّ مَا خَلَقَ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seek refuge in Him from the evil of every created thing that has evil in it, whether people, jinn, animals or anything else.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شَرِّ غَاسِقٍ إِذَا وَقَبَ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from the evil of the night when its darkness comes, because harmful things and evils spread in it.</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شَرِّ النَّفَّـٰثَٰتِ فِي الْعُقَدِ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from the evil of the witches who blow on knots, blowing on them while doing magic.</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شَرِّ حَاسِدٍ إِذَا حَسَدَ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from the evil of the envier, who wishes others to lose their blessings, when he shows his envy and acts on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Al-Ikhlas</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4 verses • Sincerity</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112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idol-worshippers said to the Prophet (peace be upon him): "Describe your Lord to us," so Allah revealed this surah (Ahmad and Tirmidhi).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Oneness of Allah, and that He is far above having a partner, a child or an equal. It is equal to one third of the Qur'an (Bukhari).</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Al-Ikhlas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هُوَ اللَّهُ أَحَدٌ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Muhammad: He is Allah, the One and Only; He has no partner, no equal and nothing like Him.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الصَّمَدُ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As-Samad: the Master who is perfect in His qualities, to whom all creation turns for their needs, as Ibn 'Abbas said.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Al-Ikhlas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532888"/>
            <a:ext cx="548640" cy="548640"/>
          </a:xfrm>
          <a:prstGeom prst="star8">
            <a:avLst/>
          </a:prstGeom>
          <a:solidFill>
            <a:schemeClr val="accent2"/>
          </a:solidFill>
          <a:ln/>
        </p:spPr>
      </p:sp>
      <p:sp>
        <p:nvSpPr>
          <p:cNvPr id="6" name="Shape 4"/>
          <p:cNvSpPr/>
          <p:nvPr/>
        </p:nvSpPr>
        <p:spPr>
          <a:xfrm>
            <a:off x="822960" y="264261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53288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251460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لَمْ يَلِدْ وَلَمْ يُولَدْ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no child, no parent and no wife, glory be to Him, the Most High.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90906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 يَكُن لَّهُ كُفُوًا أَحَدٌ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there is nothing in His creation equal to Him or like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Al-Masad</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 verses • The Palm Fibre</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111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Prophet (peace be upon him) climbed Mount As-Safa, called Quraysh and invited them to Islam. Abu Lahab said: "May you perish! Is this why you gathered us?" So Allah revealed this surah (Bukhari).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end of Abu Lahab and his wife because of their hatred of the Prophet (peace be upon him), and that being a relative is of no benefit without faith.</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تَبَّتْ يَدَآ أَبِي لَهَبٍ وَتَبَّ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hands of Abu Lahab have lost, his efforts have failed, and he is ruined. Abu Lahab was the Prophet's (peace be upon him) uncle and was his bitter enemy.</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أَغْنَىٰ عَنْهُ مَالُهُ وَمَا كَسَبَ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wealth and what he earned of children and position did not help him, and did not keep Allah's punishment away from him.</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سَيَصْلَىٰ نَارًا ذَاتَ لَهَبٍ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of Resurrection he will enter a Fire of blazing flames.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Al-Masad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وَامْرَأَتُهُ حَمَّالَةَ الْحَطَبِ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his wife, Umm Jamil, will enter the Fire with him. She used to put thorns in the Prophet's (peace be upon him) path to hurt him; it is also said she used to spread gossip.</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جِيدِهَا حَبْلٌ مِّن مَّسَدٍ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of Resurrection there will be a twisted rope of palm fibre around her neck, by which she will be punished.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An-Nasr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 verses • The Help</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110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Ibn 'Abbas said: It was the last complete surah of the Qur'an to be revealed (Muslim). He and 'Umar (may Allah be pleased with them) understood from it that the Prophet's (peace be upon him) death was near.</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Good news of the Conquest of Makkah and of people entering Islam, and a sign that the Prophet's (peace be upon him) life was nearing its end.</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An-Nasr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جَآءَ نَصْرُ اللَّهِ وَالْفَتْحُ</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Allah's help comes to you, O Muhammad, against your enemies, and the Conquest of Makkah comes,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وَرَأَيْتَ النَّاسَ يَدْخُلُونَ فِي دِينِ اللَّهِ أَفْوَاجًا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see people entering Islam in crowds after crowds, after they used to enter it one by one,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فَسَبِّحْ بِحَمْدِ رَبِّكَ وَاسْتَغْفِرْهُ إِنَّهُ كَانَ تَوَّابًا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glorify your Lord a lot, praise Him and ask His forgiveness; He always accepts the repentance of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Al-Kafirun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6 verses • The Disbelievers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109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Ibn Kathir mentions that the idol-worshippers invited the Prophet (peace be upon him) to worship their gods for a year while they would worship his God for a year, so Allah revealed this surah.</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Being free from shirk, and being completely clear about one's belief.</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Al-Kafirun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يَـٰأَيُّهَا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Muhammad, to the disbelievers who worship other than Allah: O disbelievers!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أَعْبُدُ مَا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do not worship the idols and false gods that you worship.</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أَنتُمْ عَٰبِدُونَ مَآ أَعْبُدُ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do you worship Allah alone as I worship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Al-Kafirun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أَنَا عَابِدٌ مَّا عَبَدتُّمْ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will I follow your way of worship or copy it.</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أَنتُمْ عَٰبِدُونَ مَآ أَعْبُدُ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do you worship Allah in the way He has laid down for His servants.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لَكُمْ دِينُكُمْ وَلِيَ 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your false religion that you chose, and I have my true religion that Allah sent down.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Al-Kawthar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 verses • Abundance</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108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Ibn Kathir mentions that whenever the Prophet (peace be upon him) was mentioned, Al-'As ibn Wa'il used to say: "Leave him, he is cut off", meaning he has no son, so when he dies he will be forgotten. So Allah revealed this surah.</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Honouring the Prophet (peace be upon him) with great good and the river of Al-Kawthar, and the command to make prayer and sacrifice sincerely for Allah.</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Al-Kawthar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أَعْطَيْنَٰكَ الْكَوْثَرَ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given you, O Muhammad, abundant good, including the river of Al-Kawthar in Paradise.</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فَصَلِّ لِرَبِّكَ وَانْحَرْ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as We have given you this good, pray sincerely to your Lord, and offer your sacrifice for Allah alone.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شَانِئَكَ هُوَ الْأَبْتَرُ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the one who hates you who is cut off from good and remembrance; as for you, you will be remembered until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Al-Ma'un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7 verses • Small Kindnesses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107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qualities of those who deny the Day of Judgement, and a warning against being careless with prayer and holding back good.</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أَرَءَيْتَ الَّذِي يُكَذِّبُ بِالدِّينِ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seen, O Muhammad, the one who denies the Day of Reckoning and Reward?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فَذَٰلِكَ الَّذِي يَدُعُّ الْيَتِيمَ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pushes the orphan away harshly, wrongs him and does not give him his right,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يَحُضُّ عَلَىٰ طَعَامِ الْمِسْكِينِ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does not encourage others to feed the needy poor.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فَوَيْلٌ لِّلْمُصَلِّينَ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ruin and punishment be to those who pray, whom Allah describes next: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Al-Ma'un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هُمْ عَن صَلَاتِهِمْ سَاهُونَ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are careless about their prayer: they delay it past its time, or do not perform it as Allah commanded, or have no humility in it,</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هُمْ يُرَآءُونَ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do their deeds so that people see them and praise them, not for Allah,</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وَيَمْنَعُونَ الْمَاعُونَ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 refuse small kindnesses: everyday tools people borrow, like a pot, a bucket or an axe; they are mean even with small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Quraysh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4 verses • Quraysh</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106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Reminding Quraysh of the blessings of safety and provision, and that thanking Allah for them means worshipping Him alone.</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Quraysh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لِإِيلَٰفِ قُرَيْشٍ</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protected Makkah from the people of the elephant so that Quraysh would be used to safety and stay united, as many scholars said.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إِلَٰفِهِمْ رِحْلَةَ الشِّتَآءِ وَالصَّيْفِ</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became used to two safe trade journeys every year: the winter journey to Yemen and the summer journey to Syria.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Quraysh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238429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فَلْيَعْبُدُواْ رَبَّ هَٰذَا الْبَيْتِ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let them thank Allah for this blessing by worshipping the Lord of this House, the Ka'bah, alone, with no partner.</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403936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أَطْعَمَهُم مِّن جُوعٍ وَءَامَنَهُم مِّنْ خَوْفٍ</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fed them after hunger and made them safe from fear, while the people around them were afraid.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Al-Fil</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 verses • The Elephant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105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Allah's protection of His Sacred House from the army of Abrahah.</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Al-Fil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كَيْفَ فَعَلَ رَبُّكَ بِأَصْحَٰبِ الْفِيلِ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know, O Muhammad, how your Lord dealt with the people of the elephant: Abrahah and his army who came to destroy the Ka'bah?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يَجْعَلْ كَيْدَهُمْ فِي تَضْلِيلٍ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He not make their plot and their plan go to waste and loss, so they did not get what they wanted?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Al-Fil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وَأَرْسَلَ عَلَيْهِمْ طَيْرًا أَبَابِيلَ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sent against them many birds coming in flocks, one after another,</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تَرْمِيهِم بِحِجَارَةٍ مِّن سِجِّيلٍ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throwing at them small stones of hardened clay.</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فَجَعَلَهُمْ كَعَصْفٍ مَّأْكُولٍ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made them like dry stalks of crops that animals have eaten and trampled.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Al-Humazah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9 verses • The Slanderer</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104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Some scholars of tafsir say it was revealed about some idol-worshippers who used to insult people, like Al-Akhnas ibn Shariq, and its ruling covers everyone who does the same.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 warning against mocking people and looking down on them, and against being fooled by wealth.</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Al-Humazah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لِّكُلِّ هُمَزَةٍ لُّمَزَةٍ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Ruin and punishment to everyone who insults people with his tongue (humazah) and looks down on them with his actions and gestures (lumazah),</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جَمَعَ مَالًا وَعَدَّدَهُ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whose only concern is gathering wealth and counting it again and again, out of love for it and stinginess,</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يَحْسَبُ أَنَّ مَالَهُ أَخْلَدَهُ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thinking that his wealth will make him live forever in this world, never dying.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Al-Humazah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لَيُنبَذَنَّ فِي الْحُطَمَةِ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it is not as he thinks! He will surely be thrown into Al-Hutamah, a Fire that crushes everything thrown into it.</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الْحُطَمَةُ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O Muhammad, what Al-Hutamah is? A question to show how great and terrifying it is.</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نَارُ اللَّهِ الْمُوقَدَةُ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the blazing Fire of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Al-Humazah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الَّتِي تَطَّلِعُ عَلَى الْأَفْـِٔدَةِ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whose heat reaches from the bodies to the hearts.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إِنَّهَا عَلَيْهِم مُّؤْصَدَةٌ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closed over them; they will not get out of it,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عَمَدٍ مُّمَدَّدَةٍ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will be tied in it to long, stretched-out pillars.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Al-'Asr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 verses • Time</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103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way to be saved from loss. Imam Ash-Shafi'i said: "If people reflected on this surah, it would be enough for them."</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Al-'Asr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وَالْعَصْرِ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time, in which people do good and evil,</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الْإِنسَٰنَ لَفِي خُسْرٍ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every human being is in loss and ruin,</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ءَامَنُواْ وَعَمِلُواْ الصَّـٰلِحَٰتِ وَتَوَاصَوْاْ بِالْحَقِّ وَتَوَاصَوْاْ بِالصَّبْرِ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have four qualities: they believe with their hearts, do good deeds, advise one another to the truth, and advise one another to patience.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At-Takathur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8 verses • Competing for More</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102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Some scholars of tafsir say it was revealed about two tribes who boasted about how many men they had, until they even counted their dead in the graveyards.</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 warning against being busy boasting about wealth and children instead of preparing for the Hereafter.</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At-Takathur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أَلْهَىٰكُمُ التَّكَاثُرُ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Boasting about having more wealth and children has kept you busy from obeying Allah and preparing for the Hereafter,</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زُرْتُمُ الْمَقَابِرَ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death came to you and you were buried in the graves.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سَوْفَ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you should not be like this! You will come to know the result of being busy with this world.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At-Takathur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كَلَّا سَوْفَ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Again, no! You will come to know. This is a warning after a warning.</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لَوْ تَعْلَمُونَ عِلْمَ الْيَقِينِ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knew with certainty what is ahead of you, competing for more would not keep you busy from the Hereafter.</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لَتَرَوُنَّ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swear that you will surely see the Fire of Hell on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At-Takathur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238429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لَتَرَوُنَّهَا عَيْنَ الْيَقِينِ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you will surely see it with your own eyes, with no doubt.</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77875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لَتُسْـَٔلُنَّ يَوْمَئِذٍ عَنِ النَّعِيمِ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on the Day of Resurrection you will surely be asked about every blessing: health, safety, food and drink. Did you thank Allah for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Al-Qari'ah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11 verses • The Striking Calamity</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101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terrors of the Day of Resurrection, and the weighing of deeds on the Scale.</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Al-Qari'ah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الْقَارِعَةُ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Al-Qari'ah is one of the names of the Day of Resurrection, because it strikes hearts and terrifies them with its horrors.</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الْقَارِعَةُ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is Al-Qari'ah? A question to show how great it is.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الْقَارِعَةُ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what Al-Qari'ah is? This stresses how terrifying it is.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Al-Qari'ah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يَكُونُ النَّاسُ كَالْفَرَاشِ الْمَبْثُوثِ</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Day when people, from extreme fear, will be scattered and confused, like moths flying here and there,</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وَتَكُونُ الْجِبَالُ كَالْعِهْنِ الْمَنفُوشِ</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mountains will be like fluffed-up coloured wool, after being hard and firm.</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مَن ثَقُلَتْ مَوَٰزِينُهُ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one whose good deeds are heavier than his bad deeds on the Scale,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فَهُوَ فِي عِيشَةٍ رَّاضِيَةٍ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live a pleasant life that pleases him, in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Al-Qari'ah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مَنْ خَفَّتْ مَوَٰزِينُهُ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as for the one whose good deeds are light and whose bad deeds are heavier,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فَأُمُّهُ هَاوِيَةٌ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home will be Al-Hawiyah, one of the names of the Fire; it is also said he will fall into it head first.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هِيَهْ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what it is? This shows how great it is.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نَارٌ حَامِيَةٌ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a Fire of intense heat.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Al-'Adiyat</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11 verses • The Racing Horses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100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Man's ungratefulness for his Lord's blessings, his strong love of wealth, and a reminder of the Resurrection.</a:t>
            </a:r>
            <a:endParaRPr lang="en-US" sz="17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Al-'Adiyat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وَالْعَٰدِيَٰتِ ضَبْحًا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horses that run fast in the way of Allah until their panting breath is heard,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فَالْمُورِيَٰتِ قَدْحًا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horses that strike sparks with their hooves when they hit the stones,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فَالْمُغِيرَٰتِ صُبْحًا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horses that charge at the enemy in the morning,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فَأَثَرْنَ بِهِ نَقْعًا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raising dust with their running at the place of battle,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Al-'Adiyat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فَوَسَطْنَ بِهِ جَمْعًا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carrying their riders into the middle of the enemy's crowds.</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الْإِنسَٰنَ لِرَبِّهِ لَكَنُودٌ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man is very ungrateful to his Lord; he remembers his troubles and forgets the blessings.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عَلَىٰ ذَٰلِكَ لَشَهِيدٌ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man himself bears witness to his ungratefulness by his actions; it is also said: Allah is a Witness over that.</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لِحُبِّ الْخَيْرِ لَشَدِيدٌ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his love of wealth is very strong.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Al-'Adiyat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أَفَلَا يَعْلَمُ إِذَا بُعْثِرَ مَا فِي الْقُبُورِ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this person not know what will happen when the dead are brought out of their graves for the Reckoning,</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وَحُصِّلَ مَا فِي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was hidden in the hearts, the intentions and secrets, is brought out into the open?</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رَبَّهُم بِهِمْ يَوْمَئِذٍ لَّخَبِيرٌ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Lord, on that Day, is fully aware of them and their deeds, and He will reward them for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Az-Zalzalah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8 verses • The Earthquake</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99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earth shaking on the Day of Resurrection, and every person being held to account for the smallest deeds.</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Az-Zalzalah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زُلْزِلَتِ الْأَرْضُ زِلْزَالَهَا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earth is shaken with a violent shaking on the Day of Resurrection,</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وَأَخْرَجَتِ الْأَرْضُ أَثْقَالَهَا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brings out what is inside it of the dead and of treasures,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الْإِنسَٰنُ مَا لَهَا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man says, amazed and afraid: What is wrong with the earth, moving and shaking?</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يَوْمَئِذٍ تُحَدِّثُ أَخْبَارَهَا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the earth will report what people did on it, good or bad, and will bear witness against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Az-Zalzalah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بِأَنَّ رَبَّكَ أَوْحَىٰ لَهَا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because Allah has commanded it and allowed it to tell.</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يَوْمَئِذٍ يَصْدُرُ النَّاسُ أَشْتَاتًا لِّيُرَوْاْ أَعْمَٰلَهُمْ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people will come back from the place of Reckoning in separate groups, to be shown what they did.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يَعْمَلْ مِثْقَالَ ذَرَّةٍ خَيْرًا يَرَهُ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whoever does good the weight of a tiny atom will see its reward,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يَعْمَلْ مِثْقَالَ ذَرَّةٍ شَرًّا يَرَهُ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whoever does evil the weight of a tiny atom will see its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Al-Bayyinah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8 verses • The Clear Proof</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98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Sincere worship of Allah, and showing that the believers are the best of creation and the disbelievers are the worst.</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Al-Bayyinah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لَمْ يَكُنِ الَّذِينَ كَفَرُواْ مِنْ أَهْلِ الْكِتَٰبِ وَالْمُشْرِكِينَ مُنفَكِّينَ حَتَّىٰ تَأْتِيَهُمُ الْبَيِّنَةُ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among the Jews, the Christians and the idol-worshippers were not going to leave their disbelief until the clear proof came to them.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رَسُولٌ مِّنَ اللَّهِ يَتْلُواْ صُحُفًا مُّطَهَّرَةً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proof is a Messenger from Allah, Muhammad (peace be upon him), reciting to them the Qur'an written on pure pages,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Al-Bayyinah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238429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فِيهَا كُتُبٌ قَيِّمَةٌ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containing straight and just news and rulings, with no error in them.</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77875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تَفَرَّقَ الَّذِينَ أُوتُواْ الْكِتَٰبَ إِلَّا مِن بَعْدِ مَا جَآءَتْهُمُ الْبَيِّنَةُ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Jews and Christians only differed in their religion after the clear proof had come to them, so their differing was out of stubbornness.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Al-Bayyinah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أُمِرُواْ إِلَّا لِيَعْبُدُواْ اللَّهَ مُخْلِصِينَ لَهُ الدِّينَ حُنَفَآءَ وَيُقِيمُواْ الصَّلَوٰةَ وَيُؤْتُواْ الزَّكَوٰةَ وَذَٰلِكَ دِينُ الْقَيِّمَةِ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were only commanded to worship Allah alone, sincerely, leaving shirk, and to establish the prayer and give the zakah; that is the straight religion.</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مِنْ أَهْلِ الْكِتَٰبِ وَالْمُشْرِكِينَ فِي نَارِ جَهَنَّمَ خَٰلِدِينَ فِيهَآ أُوْلَـٰئِكَ هُمْ شَرُّ الْبَرِيَّةِ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among the People of the Book and the idol-worshippers will end up in the Fire of Hell, staying in it forever; they are the worst of creation.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Al-Bayyinah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أُوْلَـٰئِكَ هُمْ خَيْرُ الْبَرِيَّةِ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and do good deeds are the best of creation.</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جَزَآؤُهُمْ عِندَ رَبِّهِمْ جَنَّـٰتُ عَدْنٍ تَجْرِي مِن تَحْتِهَا الْأَنْهَٰرُ خَٰلِدِينَ فِيهَآ أَبَدًا رَّضِيَ اللَّهُ عَنْهُمْ وَرَضُواْ عَنْهُ ذَٰلِكَ لِمَنْ خَشِيَ رَبَّهُ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reward with their Lord is Gardens of everlasting stay. Allah is pleased with them and they are pleased with Him. That is for whoever fears his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Al-Qadr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 verses • The Night of Decree</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97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virtue of Laylat al-Qadr, the night in which the Qur'an was sent down.</a:t>
            </a:r>
            <a:endParaRPr lang="en-US" sz="17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Al-Qadr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أَنزَلْنَٰهُ فِي لَيْلَةِ الْقَدْرِ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down the Qur'an on Laylat al-Qadr, a great night among the nights of Ramadan.</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لَيْلَةُ الْقَدْرِ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O Muhammad, what Laylat al-Qadr is? A question to show how great it is.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لَيْلَةُ الْقَدْرِ خَيْرٌ مِّنْ أَلْفِ شَهْرٍ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Good deeds on it are better than deeds done for a thousand months that do not have Laylat al-Qadr in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Al-Qadr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238429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تَنَزَّلُ الْمَلَـٰئِكَةُ وَالرُّوحُ فِيهَا بِإِذْنِ رَبِّهِم مِّن كُلِّ أَمْرٍ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it the angels and Jibril come down in great numbers, by their Lord's permission, with every matter Allah has decreed for that year.</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403936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سَلَٰمٌ هِيَ حَتَّىٰ مَطْلَعِ الْفَجْرِ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a night of peace, safety and goodness until the rising of dawn.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Al-'Alaq</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19 verses • The Clinging Clot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96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Its beginning was the very first part of the Qur'an revealed, in the Cave of Hira', as in the hadith of 'A'ishah (Bukhari). Its end was revealed about Abu Jahl when he threatened the Prophet (peace be upon him) if he saw him praying at the Ka'bah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first part of the Qur'an to be revealed: a call to reading and knowledge, a warning against arrogance, and the command to prostrate.</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اقْرَأْ بِاسْمِ رَبِّكَ الَّذِي خَلَقَ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Read, O Muhammad, beginning with the name of your Lord who created all things. This is the first verse of the Qur'an ever revealed.</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الْإِنسَٰنَ مِنْ عَلَقٍ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man from an 'alaqah, a clot of thick blood.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اقْرَأْ وَرَبُّكَ الْأَكْرَمُ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Read, and your Lord is the Most Generous, full of goodness and giving,</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عَلَّمَ بِالْقَلَمِ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taught man writing with the pen, through which knowledge is preserved,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عَلَّمَ الْإِنسَٰنَ مَا لَمْ يَعْلَمْ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taught man what he did not know, bringing him out of ignorance into knowledge.</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إِنَّ الْإِنسَٰنَ لَيَطْغَىٰ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Truly, man goes beyond his limits and becomes arrogant</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رَّءَاهُ اسْتَغْنَىٰ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sees himself rich with his wealth, thinking he does not need his Lord.</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إِلَىٰ رَبِّكَ الرُّجْعَىٰ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to your Lord is the return on the Day of Resurrection, and He will hold him to account for his deeds.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أَرَءَيْتَ الَّذِي يَنْهَىٰ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seen anything stranger than this tyrant, Abu Jahl, who forbids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عَبْدًا إِذَا صَلَّىٰ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servant of Allah, Muhammad (peace be upon him), from praying at the Ka'bah?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أَرَءَيْتَ إِن كَانَ عَلَى الْهُدَىٰ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considered if this praying servant is upon guidance and the truth,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أَمَرَ بِالتَّقْوَىٰ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commands others to have taqwa of Allah, how can he forbid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أَرَءَيْتَ إِن كَذَّبَ وَتَوَلَّىٰ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considered if the one who forbids denies the truth and turns away from faith?</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يَعْلَم بِأَنَّ اللَّهَ يَرَىٰ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he not know that Allah sees him and his actions, and will repay him for them?</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لَئِن لَّمْ يَنتَهِ لَنَسْفَعًا بِالنَّاصِيَةِ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If he does not stop hurting him, We will seize him firmly by his forelock (the front of his head) and drag him to the Fire,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نَاصِيَةٍ كَٰذِبَةٍ خَاطِئَةٍ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forelock whose owner lies in his words and sins in his actions.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Al-'Alaq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فَلْيَدْعُ نَادِيَهُ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let him call the people of his gathering and his friends to help him.</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سَنَدْعُ الزَّبَانِيَةَ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call the Zabaniyah, the strong angels of punishment.</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لَا تُطِعْهُ وَاسْجُدْ وَاقْتَرِب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Do not obey him, O Muhammad; prostrate to your Lord and come closer to Him through obedience. (This is a place of prostration.)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At-Tin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8 verses • The Fig</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95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 honoured man by creating him in the best form, and man is raised high through faith and good deeds.</a:t>
            </a:r>
            <a:endParaRPr lang="en-US" sz="17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وَالتِّينِ وَالزَّيْتُونِ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fig and the olive; it is said this means the land of Jerusalem, where figs and olives grow a lot and where 'Isa (peace be upon him) was sent.</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وَطُورِ سِينِينَ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swears by Mount Tur in Sinai, where Allah spoke to Musa (peace be upon him).</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وَهَٰذَا الْبَلَدِ الْأَمِينِ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swears by this safe city, Makkah, where Muhammad (peace be upon him) was sent.</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خَلَقْنَا الْإِنسَٰنَ فِي أَحْسَنِ تَقْوِيمٍ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created man in the best form, standing upright, with a complete body.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رَدَدْنَٰهُ أَسْفَلَ سَٰفِلِينَ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return him to the Fire if he does not obey Allah; it is also said: to the weakest stage of old age.</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ءَامَنُواْ وَعَمِلُواْ الصَّـٰلِحَٰتِ فَلَهُمْ أَجْرٌ غَيْرُ مَمْنُونٍ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believe and do good deeds; they will have a reward that never ends.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يُكَذِّبُكَ بَعْدُ بِالدِّينِ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what makes you, O man, deny the Day of Judgement after these signs?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أَلَيْسَ اللَّهُ بِأَحْكَمِ الْحَٰكِمِينَ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Allah not the Wisest of judges? Yes indeed, He is the most just of judges and wrongs no one.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Ash-Sharh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8 verses • The Opening Up</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94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Listing Allah's favours on His Prophet (peace be upon him), and the good news that with hardship comes ease.</a:t>
            </a:r>
            <a:endParaRPr lang="en-US" sz="17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Ash-Sharh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نَشْرَحْ لَكَ صَدْرَكَ</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We not open your chest, O Muhammad, and make it wide and ready for faith and guidance?</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وَوَضَعْنَا عَنكَ وِزْرَكَ</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removed from you your heavy burden</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أَنقَضَ ظَهْرَكَ</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which weighed down your back.</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وَرَفَعْنَا لَكَ ذِكْرَكَ</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raised your mention, so Allah is not mentioned without you being mentioned with Him, as in the call to prayer and the two testimonies of faith.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Ash-Sharh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مَعَ الْعُسْرِ يُسْرًا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surely with difficulty and hardship comes relief and ease.</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مَعَ الْعُسْرِ يُسْرًا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Surely with difficulty comes relief. It is repeated for emphasis: one hardship will never overcome two eases.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فَرَغْتَ فَانصَبْ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when you have finished your worldly work and duties, work hard in worshipping your Lord,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رَبِّكَ فَارْغَب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turn all your hopes and intentions to your Lord alone.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Ad-Duha</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11 verses • The Morning Light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93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revelation stopped coming to the Prophet (peace be upon him) for some days, so a woman from the idol-worshippers said: "I think your companion has left you." So Allah revealed this surah (Bukhari and Muslim).</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Comforting the Prophet (peace be upon him) and reminding him of Allah's favours on him, and the command to be kind to the weak.</a:t>
            </a:r>
            <a:endParaRPr lang="en-US" sz="17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وَالضُّحَىٰ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morning light, the bright early part of the day,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وَالَّيْلِ إِذَا سَجَىٰ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swears by the night when it is still and dark.</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وَدَّعَكَ رَبُّكَ وَمَا قَلَىٰ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has not left you, O Muhammad, nor is He displeased with you.</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وَلَلْأخِرَةُ خَيْرٌ لَّكَ مِنَ الْأُولَىٰ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Hereafter is better for you than this world.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وَلَسَوْفَ يُعْطِيكَ رَبُّكَ فَتَرْضَىٰ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your Lord will give you, in the Hereafter, so much honour and blessing that you will be pleased.</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يَجِدْكَ يَتِيمًا فَـَٔاوَىٰ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He not find you an orphan whose father had died, then give you a home and put you with someone to look after you?</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وَوَجَدَكَ ضَآلًّا فَهَدَىٰ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found you not knowing the Book and faith, and guided you to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Ad-Duha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وَوَجَدَكَ عَآئِلًا فَأَغْنَىٰ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found you poor and made you rich and provided for you.</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الْيَتِيمَ فَلَا تَقْهَرْ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as for the orphan, do not humiliate or wrong him; be kind to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السَّآئِلَ فَلَا تَنْهَرْ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as for the one who asks, do not scold him; give to him or turn him away gently.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بِنِعْمَةِ رَبِّكَ فَحَدِّثْ</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as for the blessing of your Lord on you, speak about it in thanks to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Al-Layl</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21 verses • The Night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92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Ibn Kathir mentions that many scholars of tafsir said its last part was revealed about Abu Bakr As-Siddiq (may Allah be pleased with him), who used to free weak, oppressed slaves seeking only the Face of Allah.</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People's efforts are different, and the path of good is made easy for the one who gives and has taqwa.</a:t>
            </a:r>
            <a:endParaRPr lang="en-US" sz="17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Al-Layl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وَالَّيْلِ إِذَا يَغْشَىٰ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night when it covers everything with its darkness,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وَالنَّهَارِ إِذَا تَجَلَّىٰ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swears by the day when it appears and shines,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خَلَقَ الذَّكَرَ وَالْأُنثَىٰ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swears by His creation of the male and the female: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سَعْيَكُمْ لَشَتَّىٰ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deeds, O people, are different: some of you do good, and some of you do evil.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Al-Layl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مَنْ أَعْطَىٰ وَاتَّقَىٰ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one who gives his wealth in the way of Allah and has taqwa of Allah,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وَصَدَّقَ بِالْحُسْنَىٰ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believes in the reward,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فَسَنُيَسِّرُهُ لِلْيُسْرَىٰ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make the path of goodness and good deeds easy for him.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مَن بَخِلَ وَاسْتَغْنَىٰ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as for the one who is stingy with his wealth and thinks he does not need his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Al-Layl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وَكَذَّبَ بِالْحُسْنَىٰ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denies the reward,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فَسَنُيَسِّرُهُ لِلْعُسْرَىٰ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make the path of evil easy for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يُغْنِي عَنْهُ مَالُهُ إِذَا تَرَدَّىٰ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his wealth that he held back do for him when he dies and falls into the Fire?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عَلَيْنَا لَلْهُدَىٰ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upon Us to make clear the path of guidance from the path of misguidance.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Al-Layl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لَنَا لَلْأخِرَةَ وَالْأُولَىٰ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Us belong the Hereafter and this world.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فَأَنذَرْتُكُمْ نَارًا تَلَظَّىٰ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 have warned you of a Fire that blazes and burns.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يَصْلَىٰهَآ إِلَّا الْأَشْقَى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will enter it except the most wretched,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كَذَّبَ وَتَوَلَّىٰ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denied with his heart and turned away from obedience with his actions.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Al-Layl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وَسَيُجَنَّبُهَا الْأَتْقَى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God-fearing one who fears his Lord will be kept far away from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يُؤْتِي مَالَهُ يَتَزَكَّىٰ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one who spends his wealth to purify himself from sins,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لِأَحَدٍ عِندَهُ مِن نِّعْمَةٍ تُجْزَىٰ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not to repay a favour that someone did for him,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ابْتِغَآءَ وَجْهِ رَبِّهِ الْأَعْلَىٰ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only seeking the Face of his Lord, the Most High.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Al-Layl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230118"/>
            <a:ext cx="548640" cy="548640"/>
          </a:xfrm>
          <a:prstGeom prst="star8">
            <a:avLst/>
          </a:prstGeom>
          <a:solidFill>
            <a:schemeClr val="accent2"/>
          </a:solidFill>
          <a:ln/>
        </p:spPr>
      </p:sp>
      <p:sp>
        <p:nvSpPr>
          <p:cNvPr id="6" name="Shape 4"/>
          <p:cNvSpPr/>
          <p:nvPr/>
        </p:nvSpPr>
        <p:spPr>
          <a:xfrm>
            <a:off x="822960" y="333984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وَلَسَوْفَ يَرْضَىٰ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will surely be pleased with the reward Allah gives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Ash-Shams</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15 verses • The Sun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91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Purifying the soul is the way to success, and the story of Thamud is a lesson for those who deny.</a:t>
            </a:r>
            <a:endParaRPr lang="en-US" sz="17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Ash-Shams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وَالشَّمْسِ وَضُحَىٰهَا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sun and its light in the morning,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وَالْقَمَرِ إِذَا تَلَىٰهَا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moon when it follows it, appearing after it sets,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وَالنَّهَارِ إِذَا جَلَّىٰهَا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day when it shows the earth and lights it up,</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وَالَّيْلِ إِذَا يَغْشَىٰهَا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night when it covers it with darkness,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Ash-Shams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وَالسَّمَآءِ وَمَا بَنَىٰهَا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sky and how firmly it is built,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وَالْأَرْضِ وَمَا طَحَىٰهَا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earth and how it is spread out,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وَنَفْسٍ وَمَا سَوَّىٰهَا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soul and how He shaped it, creating it upright upon the natural way (fitrah),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فَأَلْهَمَهَا فُجُورَهَا وَتَقْوَىٰهَا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showed it the path of good and the path of evil.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Ash-Shams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أَفْلَحَ مَن زَكَّىٰهَا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Successful indeed is the one who purifies his soul through obedience,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وَقَدْ خَابَ مَن دَسَّىٰهَا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lost indeed is the one who stains his soul with sins.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كَذَّبَتْ ثَمُودُ بِطَغْوَىٰهَآ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tribe of Thamud denied their prophet Salih because of their arrogance,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انبَعَثَ أَشْقَىٰهَا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most wretched of the tribe rushed off to kill the she-camel.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Ash-Shams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 لَهُمْ رَسُولُ اللَّهِ نَاقَةَ اللَّهِ وَسُقْيَٰهَا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Salih (peace be upon him) said to them: Beware of harming Allah's she-camel, and leave her share of the water for her.</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فَكَذَّبُوهُ فَعَقَرُوهَا فَدَمْدَمَ عَلَيْهِمْ رَبُّهُم بِذَنبِهِمْ فَسَوَّىٰهَا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denied him and killed the she-camel, so their Lord destroyed them all because of their sin.</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يَخَافُ عُقْبَٰهَا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Allah does not fear the outcome of what He did to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Al-Balad</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20 verses • The City</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90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Allah's blessings on man, and the way to climb the steep path through good deeds.</a:t>
            </a:r>
            <a:endParaRPr lang="en-US" sz="17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Al-Balad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أُقْسِمُ بِهَٰذَا الْبَلَدِ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this sacred city, Makkah,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وَأَنتَ حِلٌّ بِهَٰذَا الْبَلَدِ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O Muhammad, were permitted to fight in it at the hour of the Conquest of Makkah,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وَوَالِدٍ وَمَا وَلَدَ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swears by every parent and child; it is also said: Adam and his children.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خَلَقْنَا الْإِنسَٰنَ فِي كَبَدٍ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created man in toil and hardship, struggling with the affairs of this world and the Hereafter.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Al-Balad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أَيَحْسَبُ أَن لَّن يَقْدِرَ عَلَيْهِ أَحَدٌ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this person think that no one has power over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يَقُولُ أَهْلَكْتُ مَالًا لُّبَدًا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says, boasting: I have spent a lot of wealth.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أَيَحْسَبُ أَن لَّمْ يَرَهُ أَحَدٌ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he think that Allah did not see him or know what he spent?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نَجْعَل لَّهُ عَيْنَيْنِ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We not give him two eyes to see with,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Al-Balad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وَلِسَانًا وَشَفَتَيْنِ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 tongue to speak with, and two lips?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وَهَدَيْنَٰهُ النَّجْدَيْنِ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showed him the two paths of good and evil.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اقْتَحَمَ الْعَقَبَةَ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why has he not climbed the steep path, doing what will save him?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الْعَقَبَةُ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what the steep path is?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Al-Balad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 رَقَبَةٍ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freeing a slave,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إِطْعَٰمٌ فِي يَوْمٍ ذِي مَسْغَبَةٍ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feeding others on a day of severe hunger: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يَتِيمًا ذَا مَقْرَبَةٍ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 orphan who is a relative,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مِسْكِينًا ذَا مَتْرَبَةٍ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a very poor person, as if stuck to the dust.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Al-Balad</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كَانَ مِنَ الَّذِينَ ءَامَنُواْ وَتَوَاصَوْاْ بِالصَّبْرِ وَتَوَاصَوْاْ بِالْمَرْحَمَةِ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along with these deeds, he is one of the believers who advise one another to patience and to mercy for creation.</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أَصْحَٰبُ الْمَيْمَنَةِ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are the companions of the right, the people of Paradise.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بِـَٔايَٰتِنَا هُمْ أَصْحَٰبُ الْمَشْـَٔمَةِ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disbelieve in Our verses are the companions of the left, the people of the Fire.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عَلَيْهِمْ نَارٌ مُّؤْصَدَةٌ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Over them will be a Fire closed in; they will not get out of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Al-Fajr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30 verses • The Dawn</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89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end of the tyrant nations, the truth about being tested with wealth and poverty, and the reward of the soul at peace.</a:t>
            </a:r>
            <a:endParaRPr lang="en-US" sz="17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وَالْفَجْرِ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dawn, the time of morning,</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وَلَيَالٍ عَشْرٍ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ten nights, the first ten nights of Dhul-Hijjah, as Ibn 'Abbas said,</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وَالشَّفْعِ وَالْوَتْرِ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even and the odd; it is said: the odd is the Day of 'Arafah and the even is the Day of Sacrifice, and it is also said: everything paired and single,</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وَالَّيْلِ إِذَا يَسْرِ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night as it passes and goes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فِي ذَٰلِكَ قَسَمٌ لِّذِي حِجْرٍ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there not in that an oath enough for a person of understanding?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كَيْفَ فَعَلَ رَبُّكَ بِعَادٍ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how your Lord dealt with the people of 'Ad,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إِرَمَ ذَاتِ الْعِمَادِ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tribe of Iram, with strong bodies and tall buildings,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الَّتِي لَمْ يُخْلَقْ مِثْلُهَا فِي الْبِلَٰدِ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like of which had never been created in any land in strength and power?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وَثَمُودَ الَّذِينَ جَابُواْ الصَّخْرَ بِالْوَادِ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people of Thamud, who carved the rocks in the valley and built houses from them,</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وَفِرْعَوْنَ ذِي الْأَوْتَادِ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Pharaoh, the man of the stakes; it is said: the soldiers who held up his kingdom, and it is also said: he used to torture people with stakes.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طَغَوْاْ فِي الْبِلَٰدِ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all went beyond the limits in wrongdoing in their lands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فَأَكْثَرُواْ فِيهَا الْفَسَادَ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spread a lot of disbelief and sin in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فَصَبَّ عَلَيْهِمْ رَبُّكَ سَوْطَ عَذَابٍ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your Lord poured on them a severe punishment.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رَبَّكَ لَبِالْمِرْصَادِ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always watching: He sees people's deeds and will repay them for them.</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الْإِنسَٰنُ إِذَا مَا ابْتَلَىٰهُ رَبُّهُ فَأَكْرَمَهُ وَنَعَّمَهُ فَيَقُولُ رَبِّي أَكْرَمَنِ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man, when his Lord tests him by honouring him with wealth and blessings, he thinks this means Allah has honoured him.</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إِذَا مَا ابْتَلَىٰهُ فَقَدَرَ عَلَيْهِ رِزْقَهُ فَيَقُولُ رَبِّي أَهَٰنَنِ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when He tests him by limiting his provision, he thinks this means he has been humiliated.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بَل لَّا تُكْرِمُونَ الْيَتِيمَ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it is not as he thinks! Rather, you do not honour the orphan,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تَحَـٰضُّونَ عَلَىٰ طَعَامِ الْمِسْكِينِ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do not encourage one another to feed the poor,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وَتَأْكُلُونَ التُّرَاثَ أَكْلًا لَّمًّا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devour inheritance greedily, without separating the lawful from the unlawful,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وَتُحِبُّونَ الْمَالَ حُبًّا جَمًّا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love wealth with a great love.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إِذَا دُكَّتِ الْأَرْضُ دَكًّا دَكًّا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When the earth is pounded, shaken and flattened on the Day of Resurrection,</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 رَبُّكَ وَالْمَلَكُ صَفًّا صَفًّا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your Lord comes to judge between His servants, in a way that suits His majesty, with the angels in rows upon rows,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وَجِاْيءَ يَوْمَئِذٍ بِجَهَنَّمَ يَوْمَئِذٍ يَتَذَكَّرُ الْإِنسَٰنُ وَأَنَّىٰ لَهُ الذِّكْرَىٰ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Hell is brought on that Day, on that Day man will remember his deeds, but remembering will not help him then.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يَقُولُ يَٰلَيْتَنِي قَدَّمْتُ لِحَيَاتِي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say with regret: If only I had sent ahead good deeds for my lasting life in the Hereafter!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فَيَوْمَئِذٍ لَّا يُعَذِّبُ عَذَابَهُ أَحَدٌ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on that Day no one will punish like Allah punishes the one who disobeyed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يُوثِقُ وَثَاقَهُ أَحَدٌ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no one will bind like Allah binds the disbelievers.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يَـٰأَيَّتُهَا النَّفْسُ الْمُطْمَئِنَّةُ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believing soul, at peace and firm upon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Al-Fajr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ارْجِعِي إِلَىٰ رَبِّكِ رَاضِيَةً مَّرْضِيَّةً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return to your Lord, pleased with His reward, and He pleased with you.</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فَادْخُلِي فِي عِبَٰدِي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enter among My righteous servants,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وَادْخُلِي جَنَّتِي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enter My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Al-Ghashiyah</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26 verses • The Overwhelming Event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88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states of people on the Day of Resurrection, and a call to reflect on Allah's creation.</a:t>
            </a:r>
            <a:endParaRPr lang="en-US" sz="17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Al-Ghashiyah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أَتَىٰكَ حَدِيثُ الْغَٰشِيَةِ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news reached you, O Muhammad, of the Resurrection that will cover all people with its horrors?</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وُجُوهٌ يَوْمَئِذٍ خَٰشِعَةٌ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faces on that Day will be humbled and lowered; they are the faces of the disbelievers.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عَامِلَةٌ نَّاصِبَةٌ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worked hard in this world without guidance, so they grew tired and gained nothing.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Al-Ghashiyah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تَصْلَىٰ نَارًا حَامِيَةً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enter an intensely hot Fire,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تُسْقَىٰ مِنْ عَيْنٍ ءَانِيَةٍ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 given drink from a boiling spring.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لَهُمْ طَعَامٌ إِلَّا مِن ضَرِيعٍ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no food except dari', a thorny plant,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يُسْمِنُ وَلَا يُغْنِي مِن جُوعٍ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which neither fattens nor removes hunger.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Al-Ghashiyah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وُجُوهٌ يَوْمَئِذٍ نَّاعِمَةٌ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other faces on that Day will be joyful; they are the faces of the believers,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لِّسَعْيِهَا رَاضِيَةٌ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pleased with the reward of their good deeds in this world,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جَنَّةٍ عَالِيَةٍ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a Garden high in place and rank,</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تَسْمَعُ فِيهَا لَٰغِيَةً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where they will hear no idle or false talk.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Al-Ghashiyah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فِيهَا عَيْنٌ جَارِيَةٌ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it is a flowing spring of water.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فِيهَا سُرُرٌ مَّرْفُوعَةٌ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it are raised couches,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وَأَكْوَابٌ مَّوْضُوعَةٌ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cups placed ready for drinking,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وَنَمَارِقُ مَصْفُوفَةٌ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cushions lined up side by side,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Al-Ghashiyah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وَزَرَابِيُّ مَبْثُوثَةٌ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fine carpets spread everywhere.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أَفَلَا يَنظُرُونَ إِلَى الْإِبِلِ كَيْفَ خُلِقَتْ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look at the camels, how wonderfully they were created, strong and obedient to man?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السَّمَآءِ كَيْفَ رُفِعَتْ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at the sky, how it was raised without pillars?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الْجِبَالِ كَيْفَ نُصِبَتْ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at the mountains, how they were set firm and steady?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Al-Ghashiyah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الْأَرْضِ كَيْفَ سُطِحَتْ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at the earth, how it was spread out and made smooth?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فَذَكِّرْ إِنَّمَآ أَنتَ مُذَكِّرٌ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remind people, O Muhammad, of what you were sent with; you are only a reminder.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لَّسْتَ عَلَيْهِم بِمُصَيْطِرٍ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are not a controller over them to force them to believe.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تَوَلَّىٰ وَكَفَرَ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whoever turns away from the truth and disbelieves,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Al-Ghashiyah</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فَيُعَذِّبُهُ اللَّهُ الْعَذَابَ الْأَكْبَرَ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punish him with the greatest punishment, in the Fire.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إِلَيْنَآ إِيَابَهُمْ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to Us is their return after death.</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 عَلَيْنَا حِسَابَهُم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it is upon Us to hold them to account and repay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Al-A'la</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19 verses • The Most High</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87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Glorifying and exalting Allah, and that success comes from purifying the soul. The Prophet (peace be upon him) used to recite it in the two 'Eid prayers and in Jumu'ah.</a:t>
            </a:r>
            <a:endParaRPr lang="en-US" sz="17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Al-A'la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سَبِّحِ اسْمَ رَبِّكَ الْأَعْلَى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Declare the name of your Lord, the Most High, free from every imperfection; remember Him and glorify Him. When it was revealed, the Prophet (peace be upon him) said: "Put it in your prostration."</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خَلَقَ فَسَوَّىٰ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all creatures, made them perfectly and shaped them well,</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 قَدَّرَ فَهَدَىٰ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measured out everything, and guided each creature to what suits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Al-A'la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 أَخْرَجَ الْمَرْعَىٰ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brought out plants and green pasture from the earth,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فَجَعَلَهُ غُثَآءً أَحْوَىٰ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made it dry and dark in colour.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سَنُقْرِئُكَ فَلَا تَنسَىٰ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make you recite this Qur'an, O Muhammad, and you will not forget it,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مَا شَآءَ اللَّهُ إِنَّهُ يَعْلَمُ الْجَهْرَ وَمَا يَخْفَىٰ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what Allah wills you to forget. He knows what is said openly and what is hidden.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Al-A'la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وَنُيَسِّرُكَ لِلْيُسْرَىٰ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will make good deeds easy for you, and make your religion easy and gentle.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فَذَكِّرْ إِن نَّفَعَتِ الذِّكْرَىٰ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remind people with the Qur'an wherever reminding is of benefit.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سَيَذَّكَّرُ مَن يَخْشَىٰ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one who fears Allah will take heed,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وَيَتَجَنَّبُهَا الْأَشْقَى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wretched one will stay away from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Al-A'la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يَصْلَى النَّارَ الْكُبْرَىٰ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will enter the greatest Fire and suffer its heat,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لَا يَمُوتُ فِيهَا وَلَا يَحْيَىٰ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will neither die in it and rest, nor live a good life.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أَفْلَحَ مَن تَزَكَّىٰ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Successful indeed is the one who purifies himself from shirk and bad manners,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وَذَكَرَ اسْمَ رَبِّهِ فَصَلَّىٰ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remembers the name of his Lord and prays as Allah commanded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Al-A'la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تُؤْثِرُونَ الْحَيَوٰةَ الدُّنْيَا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you prefer the life of this world over the Hereafter,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وَالْأخِرَةُ خَيْرٌ وَأَبْقَىٰ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while the Hereafter is better than this world and more lasting.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لَفِي الصُّحُفِ الْأُولَىٰ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this is written in the earlier scriptures,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صُحُفِ إِبْرَٰهِيمَ وَمُوسَىٰ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scriptures of Ibrahim and Musa (peace be upon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At-Tariq</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17 verses • The Night Star</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86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 watches over every soul, He is able to bring creation back, and the Qur'an is true.</a:t>
            </a:r>
            <a:endParaRPr lang="en-US" sz="17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At-Tariq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وَالسَّمَآءِ وَالطَّارِقِ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sky and by the star that comes at night, appearing in the night.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الطَّارِقُ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what At-Tariq is?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النَّجْمُ الثَّاقِبُ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the shining star that pierces the darkness with its light.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كُلُّ نَفْسٍ لَّمَّا عَلَيْهَا حَافِظٌ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soul without a guardian from Allah over it, protecting it and recording its deeds.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At-Tariq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فَلْيَنظُرِ الْإِنسَٰنُ مِمَّ خُلِقَ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let man look at what he was created from, so he knows how weak his origin is.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مِن مَّآءٍ دَافِقٍ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was created from a gushing fluid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يَخْرُجُ مِن بَيْنِ الصُّلْبِ وَالتَّرَآئِبِ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comes out from between the backbone of the man and the chest of the woman.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عَلَىٰ رَجْعِهِ لَقَادِرٌ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who created him the first time, is surely able to bring him back after his death,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At-Tariq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تُبْلَى السَّرَآئِرُ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when secrets are revealed and what was hidden in hearts comes out.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لَهُ مِن قُوَّةٍ وَلَا نَاصِرٍ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man will have no strength to defend himself and no helper to help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وَالسَّمَآءِ ذَاتِ الرَّجْعِ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Allah swears by the sky with its rain that returns again and again,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وَالْأَرْضِ ذَاتِ الصَّدْعِ</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earth that cracks open with plants: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At-Tariq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لَقَوْلٌ فَصْلٌ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a decisive word that separates truth from falsehood,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هُوَ بِالْهَزْلِ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it is not a joke or something false; it is serious and true.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 يَكِيدُونَ كَيْدًا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are making plots to reject the truth,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وَأَكِيدُ كَيْدًا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am planning against them what will ruin their plots, and I will repay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At-Tariq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099816"/>
            <a:ext cx="548640" cy="548640"/>
          </a:xfrm>
          <a:prstGeom prst="star8">
            <a:avLst/>
          </a:prstGeom>
          <a:solidFill>
            <a:schemeClr val="accent2"/>
          </a:solidFill>
          <a:ln/>
        </p:spPr>
      </p:sp>
      <p:sp>
        <p:nvSpPr>
          <p:cNvPr id="6" name="Shape 4"/>
          <p:cNvSpPr/>
          <p:nvPr/>
        </p:nvSpPr>
        <p:spPr>
          <a:xfrm>
            <a:off x="822960" y="320954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فَمَهِّلِ الْكَٰفِرِينَ أَمْهِلْهُمْ رُوَيْدًا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give the disbelievers time, O Muhammad, and do not hurry their punishment; you will see what happens to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Al-Buruj</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22 verses • The Great Stars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85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story of the People of the Ditch, and holding firm to faith in the face of oppression.</a:t>
            </a:r>
            <a:endParaRPr lang="en-US" sz="17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Al-Buruj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وَالسَّمَآءِ ذَاتِ الْبُرُوجِ</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sky with its great stars and stations,</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وَالْيَوْمِ الْمَوْعُودِ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swears by the Day of Resurrection that Allah has promised creation,</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وَشَاهِدٍ وَمَشْهُودٍ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swears by every witness and what is witnessed; it is said: the witness is Friday and what is witnessed is the Day of 'Arafah.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Al-Buruj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قُتِلَ أَصْحَٰبُ الْأُخْدُودِ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Cursed were the People of the Ditch, people who dug a long trench in the ground to burn the believers in it:</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النَّارِ ذَاتِ الْوَقُودِ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ditch of fire with plenty of fuel,</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هُمْ عَلَيْهَا قُعُودٌ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were sitting around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Al-Buruj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وَهُمْ عَلَىٰ مَا يَفْعَلُونَ بِالْمُؤْمِنِينَ شُهُودٌ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watching what they were doing to the believers in torturing them.</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نَقَمُواْ مِنْهُمْ إِلَّآ أَن يُؤْمِنُواْ بِاللَّهِ الْعَزِيزِ الْحَمِيدِ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hated nothing about them except that they believed in Allah, the Almighty, the Praiseworthy in all His actions,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لَهُ مُلْكُ السَّمَٰوَٰتِ وَالْأَرْضِ وَاللَّهُ عَلَىٰ كُلِّ شَيْءٍ شَهِيدٌ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whom belongs the kingdom of the heavens and the earth. And Allah is a Witness over everything; nothing is hidden from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Al-Buruj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فَتَنُواْ الْمُؤْمِنِينَ وَالْمُؤْمِنَٰتِ ثُمَّ لَمْ يَتُوبُواْ فَلَهُمْ عَذَابُ جَهَنَّمَ وَلَهُمْ عَذَابُ الْحَرِيقِ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tortured the believing men and women to turn them away from their religion, and then did not repent, will have the punishment of Hell and the punishment of burning.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لَهُمْ جَنَّـٰتٌ تَجْرِي مِن تَحْتِهَا الْأَنْهَٰرُ ذَٰلِكَ الْفَوْزُ الْكَبِيرُ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and do good deeds will have Gardens with rivers flowing beneath them; that is the great success.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Al-Buruj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بَطْشَ رَبِّكَ لَشَدِيدٌ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your Lord's punishment of His enemies is severe.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هُوَ يُبْدِئُ وَيُعِيدُ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He who begins creation and then brings it back after death.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الْغَفُورُ الْوَدُودُ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is the Forgiving of the sins of those who repent, the Loving: who loves His close friends,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ذُو الْعَرْشِ الْمَجِيدُ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Owner of the Mighty Throne, the Glorious: full of goodness and glory,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Al-Buruj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فَعَّالٌ لِّمَا يُرِيدُ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does whatever He wills; nothing can stop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أَتَىٰكَ حَدِيثُ الْجُنُودِ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story reached you, O Muhammad, of the armies who denied: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فِرْعَوْنَ وَثَمُودَ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and the tribe of Thamud, and the punishment that came upon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الَّذِينَ كَفَرُواْ فِي تَكْذِيبٍ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disbelievers go on denying,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Al-Buruj</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مِن وَرَآئِهِم مُّحِيطٌ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Allah surrounds them with His knowledge and power; they cannot escape Him.</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هُوَ قُرْءَانٌ مَّجِيدٌ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it is a great and noble Qur'an,</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لَوْحٍ مَّحْفُوظٍ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written on a Preserved Tablet, protected from any change, addition or loss.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Al-Inshiqaq</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25 verses • The Splitting Apart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84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Every person is heading to meet his Lord, then comes the Reckoning and receiving the Book of deeds.</a:t>
            </a:r>
            <a:endParaRPr lang="en-US" sz="17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Al-Inshiqaq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السَّمَآءُ انشَقَّتْ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sky splits apart on the Day of Resurrection,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وَأَذِنَتْ لِرَبِّهَا وَحُقَّتْ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obeys the command of its Lord and submits to Him, as it must rightly obey,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الْأَرْضُ مُدَّتْ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earth is stretched out and widened,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وَأَلْقَتْ مَا فِيهَا وَتَخَلَّتْ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throws out the dead that are inside it and becomes empty of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Al-Inshiqaq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وَأَذِنَتْ لِرَبِّهَا وَحُقَّتْ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obeys the command of its Lord, as it must rightly obey,</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الْإِنسَٰنُ إِنَّكَ كَادِحٌ إِلَىٰ رَبِّكَ كَدْحًا فَمُلَٰقِيهِ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man, you are working hard and striving toward your Lord, then you will meet your Lord and your deeds.</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مَنْ أُوتِيَ كِتَٰبَهُ بِيَمِينِهِ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as for the one who is given his Book of deeds in his right hand, the believer,</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فَسَوْفَ يُحَاسَبُ حِسَابًا يَسِيرًا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have an easy reckoning: his deeds will only be shown to him, without questioning,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Al-Inshiqaq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وَيَنقَلِبُ إِلَىٰ أَهْلِهِ مَسْرُورًا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will return to his family in Paradise, happy and joyful.</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مَنْ أُوتِيَ كِتَٰبَهُ وَرَآءَ ظَهْرِهِ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as for the one who is given his Book in his left hand from behind his back, the disbeliever,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فَسَوْفَ يَدْعُواْ ثُبُورًا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cry out for destruction and loss,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وَيَصْلَىٰ سَعِيرًا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will enter a blazing Fire and suffer its heat.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Al-Inshiqaq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كَانَ فِي أَهْلِهِ مَسْرُورًا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world he was happy and proud among his family, not thinking about the outcome.</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ظَنَّ أَن لَّن يَحُورَ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thought he would never return to Allah after death.</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بَلَىٰ إِنَّ رَبَّهُ كَانَ بِهِ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Yes indeed, Allah will bring him back and repay him; his Lord was always seeing him and knowing his deeds.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أُقْسِمُ بِالشَّفَقِ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 swear by the redness in the sky after sunset,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Al-Inshiqaq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وَالَّيْلِ وَمَا وَسَقَ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night and everything it gathers and holds,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وَالْقَمَرِ إِذَا اتَّسَقَ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moon when its light is full on the nights of the full moon: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لَتَرْكَبُنَّ طَبَقًا عَن طَبَقٍ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O people, will surely move from one stage to another, as Ibn 'Abbas said.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لَهُمْ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what is wrong with the disbelievers that they do not believe after these signs,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Al-Inshiqaq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قُرِئَ عَلَيْهِمُ الْقُرْءَانُ لَا يَسْجُدُونَ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Qur'an is recited to them, they do not humble themselves and prostrate to Allah? (This is a place of prostration.)</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الَّذِينَ كَفَرُواْ يُكَذِّبُونَ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those who disbelieve deny the truth,</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أَعْلَمُ بِمَا يُوعُونَ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Allah knows best what they hide in their chests.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فَبَشِّرْهُم بِعَذَابٍ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give them news of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Al-Inshiqaq</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230118"/>
            <a:ext cx="548640" cy="548640"/>
          </a:xfrm>
          <a:prstGeom prst="star8">
            <a:avLst/>
          </a:prstGeom>
          <a:solidFill>
            <a:schemeClr val="accent2"/>
          </a:solidFill>
          <a:ln/>
        </p:spPr>
      </p:sp>
      <p:sp>
        <p:nvSpPr>
          <p:cNvPr id="6" name="Shape 4"/>
          <p:cNvSpPr/>
          <p:nvPr/>
        </p:nvSpPr>
        <p:spPr>
          <a:xfrm>
            <a:off x="822960" y="333984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ءَامَنُواْ وَعَمِلُواْ الصَّـٰلِحَٰتِ لَهُمْ أَجْرٌ غَيْرُ مَمْنُونٍ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believe and do good deeds; they will have a reward that never ends.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Al-Mutaffifin</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36 verses • Those Who Cheat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83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Ibn 'Abbas said: When the Prophet (peace be upon him) came to Madinah, its people were among the worst at measuring, so Allah revealed ﴿Woe to those who give less﴾, and after that they measured fairly (An-Nasa'i and Ibn Majah).</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Cheating in measuring and weighing is forbidden, and the end of the wicked and the righteous.</a:t>
            </a:r>
            <a:endParaRPr lang="en-US" sz="17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Al-Mutaffifin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لِّلْمُطَفِّفِينَ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Ruin and punishment to those who cheat by giving less in measuring and weighing,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إِذَا اكْتَالُواْ عَلَى النَّاسِ يَسْتَوْفُونَ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when they buy from people, take their full right,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كَالُوهُمْ أَو وَّزَنُوهُمْ يُخْسِرُونَ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when they sell to people, measuring or weighing for them, give them less than their right.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يَظُنُّ أُوْلَـٰئِكَ أَنَّهُم مَّبْعُوثُونَ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these people not think that they will be raised up after death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Al-Mutaffifin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لِيَوْمٍ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a Day of great horrors,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يَقُومُ النَّاسُ لِرَبِّ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Day when people will stand before the Lord of the worlds for a long time?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إِنَّ كِتَٰبَ الْفُجَّارِ لَفِي سِجِّينٍ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Truly, the record of the wicked is in Sijjin, a narrow place in the lowest part of the earth.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سِجِّينٌ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what Sijjin is? A question to show how serious it is.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Al-Mutaffifin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كِتَٰبٌ مَّرْقُومٌ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a book that is written and finished; nothing will be added to it or taken from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Ruin on that Day to the deniers,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يُكَذِّبُونَ بِيَوْمِ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deny the Day of Judgement and Reckoning.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يُكَذِّبُ بِهِ إِلَّا كُلُّ مُعْتَدٍ أَثِيمٍ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no one denies it except every aggressor who sins a lot.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Al-Mutaffifin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تُتْلَىٰ عَلَيْهِ ءَايَٰتُنَا قَالَ أَسَٰطِيرُ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verses of the Qur'an are recited to him, he says: These are tales of the ancients.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بَلْ رَانَ عَلَىٰ قُلُوبِهِم 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Rather, the sins they did have covered their hearts, so they no longer accept the truth.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إِنَّهُمْ عَن رَّبِّهِمْ يَوْمَئِذٍ لَّمَحْجُوبُونَ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 the Day of Resurrection they will be blocked from seeing their Lord.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إِنَّهُمْ لَصَالُواْ الْجَحِيمِ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they will enter the Fire and suffer its heat.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Al-Mutaffifin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يُقَالُ هَٰذَا الَّذِي كُنتُم بِهِ تُكَذِّبُونَ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it will be said to them in blame: This is the punishment you used to deny.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إِنَّ كِتَٰبَ الْأَبْرَارِ لَفِي عِلِّيِّينَ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Truly, the record of the righteous is in 'Illiyyin, a high and noble place in the heavens.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عِلِّيُّونَ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what 'Illiyyun is?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كِتَٰبٌ مَّرْقُومٌ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a book that is written; nothing will be added to it or taken from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Al-Mutaffifin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يَشْهَدُهُ الْمُقَرَّبُونَ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witnessed by the angels who are close to Allah.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الْأَبْرَارَ لَفِي 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the righteous will be in lasting bliss in Paradise,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عَلَى الْأَرَآئِكِ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decorated couches, looking at the delights Allah has prepared for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تَعْرِفُ فِي وُجُوهِهِمْ نَضْرَةَ النَّعِيمِ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see on their faces the joy and brightness of bliss.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Al-Mutaffifin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يُسْقَوْنَ مِن رَّحِيقٍ مَّخْتُومٍ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given a pure drink of Paradise, sealed on its container,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خِتَٰمُهُ مِسْكٌ وَفِي ذَٰلِكَ فَلْيَتَنَافَسِ الْمُتَنَٰفِسُونَ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whose last taste is the scent of musk. So for this let those who compete, compete.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وَمِزَاجُهُ مِن تَسْنِيمٍ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this drink is mixed from the spring of Tasnim, the most noble drink of the people of Paradise,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عَيْنًا يَشْرَبُ بِهَا الْمُقَرَّبُونَ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spring from which those brought close to Allah drink, pure.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Al-Mutaffifin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أَجْرَمُواْ كَانُواْ مِنَ الَّذِينَ ءَامَنُواْ يَضْحَكُونَ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world the criminals used to laugh at the believers, mocking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مَرُّواْ بِهِمْ يَتَغَامَزُونَ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believers passed by them, they would wink at one another, making fun of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انقَلَبُواْ إِلَىٰ أَهْلِهِمُ انقَلَبُواْ فَكِهِينَ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they went back to their families, they went back pleased with what they had done,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رَأَوْهُمْ قَالُواْ إِنَّ هَـٰؤُلَآءِ لَضَآلُّونَ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they saw the believers, they said: These people have truly gone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Al-Mutaffifin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أُرْسِلُواْ عَلَيْهِمْ حَٰفِظِينَ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disbelievers were not sent as guards over the believers to hold them to account.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فَالْيَوْمَ الَّذِينَ ءَامَنُواْ مِنَ الْكُفَّارِ يَضْحَكُونَ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Today, the Day of Resurrection, the believers are the ones laughing at the disbelievers,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عَلَى الْأَرَآئِكِ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couches, looking at the bliss they are in.</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ثُوِّبَ الْكُفَّارُ مَا كَانُواْ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 disbelievers been repaid for the mocking they used to do? Yes, they have been repaid in full.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Al-Infitar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19 verses • The Cleaving</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82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Reminding man of his Generous Lord, and of the guardian angels who write down his deeds.</a:t>
            </a:r>
            <a:endParaRPr lang="en-US" sz="17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Al-Infitar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السَّمَآءُ انفَطَرَتْ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sky is split open on the Day of Resurrection,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الْكَوَاكِبُ انتَثَرَتْ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stars fall and scatter,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الْبِحَارُ فُجِّرَتْ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seas burst into one another and mix,</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الْقُبُورُ بُعْثِرَتْ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graves are turned over and the dead inside them are brought out,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Al-Infitar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عَلِمَتْ نَفْسٌ مَّا قَدَّمَتْ وَأَخَّرَتْ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every soul will know all its deeds, what it did first and what it did last.</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الْإِنسَٰنُ مَا غَرَّكَ بِرَبِّكَ الْكَرِيمِ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man, what has fooled you into disobeying your Generous Lord? This is a warning, as Ibn Kathir said,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خَلَقَكَ فَسَوَّىٰكَ فَعَدَلَكَ</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created you, gave you balanced limbs and an upright body,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Al-Infitar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أَيِّ صُورَةٍ مَّا شَآءَ رَكَّبَكَ</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put you together in whatever form He willed.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بَلْ تُكَذِّبُونَ بِالدِّينِ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Rather, you deny the Day of Reckoning and Reward.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عَلَيْكُمْ لَحَٰفِظِينَ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over you there are angels guarding your deeds,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كِرَامًا كَٰتِبِينَ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noble ones writing down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Al-Infitar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يَعْلَمُونَ مَا تَفْعَلُونَ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know what you do, so they write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الْأَبْرَارَ لَفِي نَعِيمٍ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the obedient righteous will be in the bliss of Paradise,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الْفُجَّارَ لَفِي جَحِيمٍ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disobedient wicked will be in the Fire,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يَصْلَوْنَهَا 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entering it and suffering its heat on the Day of Judgement,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Al-Infitar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هُمْ عَنْهَا بِغَآئِبِينَ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will never be away from it or get out of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أَدْرَىٰكَ مَا 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will make you realise what the Day of Judgement is? A question to show how great it is.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مَآ أَدْرَىٰكَ مَا 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Again, what will make you realise what the Day of Judgement is? This stresses how terrifying it is.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لَا تَمْلِكُ نَفْسٌ لِّنَفْسٍ شَيْـًٔا وَالْأَمْرُ يَوْمَئِذٍ لِّلَّهِ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Day when no one can help anyone at all, and the whole matter on that Day belongs to Allah alone.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At-Takwir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29 verses • The Folding Up</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81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Scenes of the universe changing on the Day of Resurrection, and the truth of the Qur'an and its coming down through Jibril.</a:t>
            </a:r>
            <a:endParaRPr lang="en-US" sz="17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At-Takwir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إِذَا الشَّمْسُ كُوِّرَتْ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sun is wrapped up and its light goes,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النُّجُومُ انكَدَرَتْ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stars fall and scatter,</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الْجِبَالُ سُيِّرَتْ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mountains are moved from their places,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At-Takwir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الْعِشَارُ عُطِّلَتْ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pregnant she-camels, the most precious wealth of the Arabs, are left uncared for because of the terror,</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الْوُحُوشُ حُشِرَتْ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wild animals are gathered,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الْبِحَارُ سُجِّرَتْ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seas are set on fire and become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At-Takwir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النُّفُوسُ زُوِّجَتْ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souls are paired with their like: every person with those whose deeds are like his,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الْمَوْءُدَةُ سُئِلَتْ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baby girl who was buried alive is asked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بِأَيِّ ذَنبٍ قُتِلَتْ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what sin she was killed. This is a rebuke to the one who killed her.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الصُّحُفُ نُشِرَتْ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records of deeds are spread open,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At-Takwir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السَّمَآءُ كُشِطَتْ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sky is stripped away and removed,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الْجَحِيمُ سُعِّرَتْ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the Fire is set ablaze,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الْجَنَّةُ أُزْلِفَتْ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when Paradise is brought near to those with taqwa,</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عَلِمَتْ نَفْسٌ مَّآ أَحْضَرَتْ</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every soul will know what it has brought of good or evil.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At-Takwir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أُقْسِمُ بِالْخُنَّسِ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 swear by the stars that hide during the day,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الْجَوَارِ الْكُنَّسِ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moving in their orbits, which set and disappear,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وَالَّيْلِ إِذَا عَسْعَسَ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night when it comes with its darkness, and it is also said: when it leaves,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وَالصُّبْحِ إِذَا تَنَفَّسَ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by the morning when it brightens and its light appears: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At-Takwir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لَقَوْلُ رَسُولٍ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the word of a noble messenger, Jibril (peace be upon him), who delivers it from Allah,</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ذِي قُوَّةٍ عِندَ ذِي الْعَرْشِ مَكِينٍ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full of strength, and with a high position with Allah, Owner of the Throne,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مُّطَاعٍ ثَمَّ 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obeyed by the angels in heaven, and trustworthy with the revelation.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صَاحِبُكُم بِمَجْنُونٍ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your companion Muhammad (peace be upon him) is not mad, as you claim.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At-Takwir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رَءَاهُ بِالْأُفُقِ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Muhammad (peace be upon him) certainly saw Jibril in his true form on the clear horizon.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هُوَ عَلَى الْغَيْبِ بِضَنِينٍ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does not hold back the revelation; he delivers it completely.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هُوَ بِقَوْلِ شَيْطَٰنٍ رَّجِيمٍ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this Qur'an is not the word of a devil who is driven away from Allah's mercy.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فَأَيْنَ تَذْهَبُونَ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where are you going, away from this clear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At-Takwir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هُوَ إِلَّا ذِكْرٌ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nothing but a reminder and lesson for all people,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لِمَن شَآءَ مِنكُمْ أَن يَسْتَقِيمَ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whoever among you wants to stay straight upon the truth.</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تَشَآءُونَ إِلَّآ أَن يَشَآءَ اللَّهُ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you cannot want to be straight unless Allah, the Lord of the worlds, wills.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'Abasa</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42 verses • He Frowned</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80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blind Companion 'Abdullah ibn Umm Maktum came to the Prophet (peace be upon him) with a question while he (peace be upon him) was busy inviting some leaders of Quraysh, hoping they would accept Islam. He frowned and turned away from him, so these verses were revealed (Tirmidhi).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 person's worth is in his faith and his wish for guidance, and a reminder of Allah's blessings and the terrors of the Day of Resurrection.</a:t>
            </a:r>
            <a:endParaRPr lang="en-US" sz="17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عَبَسَ وَتَوَلَّىٰ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Prophet (peace be upon him) frowned and turned away</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جَآءَهُ الْأَعْمَىٰ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because the blind man, 'Abdullah ibn Umm Maktum, came to ask him.</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يُدْرِيكَ لَعَلَّهُ يَزَّكَّىٰ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how do you know, O Muhammad? Perhaps this blind man would purify himself from sins with what he learns from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يَذَّكَّرُ فَتَنفَعَهُ الذِّكْرَىٰ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take a reminder and benefit from the advice.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أَمَّا مَنِ اسْتَغْنَىٰ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one who thinks he does not need faith because of his wealth and status,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فَأَنتَ لَهُ تَصَدَّىٰ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give him your attention and care.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عَلَيْكَ أَلَّا يَزَّكَّىٰ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is it to you if he does not purify himself from his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مَن جَآءَكَ يَسْعَىٰ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as for the one who came to you hurrying, seeking good,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يَخْشَىٰ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while he fears Allah,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فَأَنتَ عَنْهُ تَلَهَّىٰ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are distracted from him.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إِنَّهَا تَذْكِرَةٌ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it should not be like that! These verses are a reminder and lesson.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شَآءَ ذَكَرَهُ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whoever wills will remember Allah and take heed from the Qur'an.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 صُحُفٍ مُّكَرَّمَةٍ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in honoured pages with Allah,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مَّرْفُوعَةٍ مُّطَهَّرَةٍ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raised high in status, purified from any filth or change,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بِأَيْدِي سَفَرَةٍ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hands of angels who are messengers between Allah and His creation,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كِرَامٍ بَرَرَةٍ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noble before Allah, obedient to Him, truthful.</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قُتِلَ الْإِنسَٰنُ مَآ أَكْفَرَهُ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Cursed is the disbelieving man; how great is his disbelief in his Lord!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أَيِّ شَيْءٍ خَلَقَهُ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what thing did Allah create him, that he should be arrogant?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نُّطْفَةٍ خَلَقَهُ فَقَدَّرَهُ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a weak fluid He created him, then measured out the stages of his creation.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السَّبِيلَ يَسَّرَهُ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made the way out of his mother's womb easy for him, and showed him the path of good and evil.</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أَمَاتَهُ فَأَقْبَرَهُ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causes him to die and gives him a grave to be buried in, as an honour to him.</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إِذَا شَآءَ أَنشَرَهُ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when Allah wills, He brings him back to life and raises him after death.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لَمَّا يَقْضِ مَآ أَمَرَهُ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Man has not done what Allah commanded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فَلْيَنظُرِ الْإِنسَٰنُ إِلَىٰ طَعَامِهِ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let man look at his food, how Allah created it and made it easy for him: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أَنَّا صَبَبْنَا الْمَآءَ صَبًّا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We pour down rain from the sky,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شَقَقْنَا الْأَرْضَ شَقًّا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split the earth open with plants,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فَأَنبَتْنَا فِيهَا حَبًّا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make grain grow in it,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وَعِنَبًا وَقَضْبًا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grapes, and fresh fodder for animals,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وَزَيْتُونًا وَنَخْلًا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olives and palm trees,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وَحَدَآئِقَ غُلْبًا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gardens thick with trees,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وَفَٰكِهَةً وَأَبًّا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fruit, and grass that animals graze 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مَّتَٰعًا لَّكُمْ وَلِأَنْعَٰمِكُمْ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enjoyment for you and your livestock.</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جَآءَتِ الصَّآخَّةُ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when the deafening Blast comes on the Day of Resurrection,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يَفِرُّ الْمَرْءُ مِنْ أَخِيهِ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when a man will run away from his brother,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وَأُمِّهِ وَأَبِيهِ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from his mother and his father,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وَصَٰحِبَتِهِ وَبَنِيهِ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from his wife and his children.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لِكُلِّ امْرِيٍٕ مِّنْهُمْ يَوْمَئِذٍ شَأْنٌ يُغْنِيهِ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Each one of them on that Day will have a matter that keeps him busy from others.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وُجُوهٌ يَوْمَئِذٍ مُّسْفِرَةٌ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faces on that Day will be bright and shining; they are the faces of the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'Abasa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ضَاحِكَةٌ مُّسْتَبْشِرَةٌ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laughing, happy and full of good news.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وَوُجُوهٌ يَوْمَئِذٍ عَلَيْهَا غَبَرَةٌ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some faces on that Day will have dust on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تَرْهَقُهَا قَتَرَةٌ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covered in darkness and gloom.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هُمُ الْكَفَرَةُ الْفَجَرَةُ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are the wicked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An-Nazi'at</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46 verses • Those Who Pull Out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79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It is mentioned that the idol-worshippers used to ask the Prophet (peace be upon him) when the Hour would come, mocking and denying, so Allah revealed: ﴿They ask you about the Hour: when will it happen?﴾ to the end of the surah.</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terrors of the Day of Resurrection, the story of Musa and Pharaoh, and the signs of Allah's power to raise the dead.</a:t>
            </a:r>
            <a:endParaRPr lang="en-US" sz="17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وَالنَّـٰزِعَٰتِ غَرْقًا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angels who pull out the souls of the disbelievers harshly,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وَالنَّـٰشِطَٰتِ نَشْطًا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angels who take the souls of the believers easily and gently,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وَالسَّـٰبِحَٰتِ سَبْحًا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angels who glide as they come down from the sky and go up,</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فَالسَّـٰبِقَٰتِ سَبْقًا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angels who race to carry out Allah's command,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فَالْمُدَبِّرَٰتِ أَمْرًا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angels who arrange the affairs of the universe that Allah commands them.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تَرْجُفُ الرَّاجِفَةُ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when the earth quakes at the first Blowing of the Horn,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تَتْبَعُهَا الرَّادِفَةُ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followed by the second Blowing,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قُلُوبٌ يَوْمَئِذٍ وَاجِفَةٌ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hearts on that Day will be afraid and shaking,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أَبْصَٰرُهَا خَٰشِعَةٌ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their owners' eyes will be lowered from intense fear.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يَقُولُونَ أَءِنَّا لَمَرْدُودُونَ فِي الْحَافِرَةِ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deniers say: Will we really be brought back to life after death?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أَءِذَا كُنَّا عِظَٰمًا نَّخِرَةً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Will we be raised after we have become crumbled bones?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تِلْكَ إِذًا كَرَّةٌ خَاسِرَةٌ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If we return to life, then that would be a losing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فَإِنَّمَا هِيَ زَجْرَةٌ وَٰحِدَةٌ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it will only be a single Blast,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هُم بِالسَّاهِرَةِ</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then they will be alive on the face of the earth.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أَتَىٰكَ حَدِيثُ 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story of Musa (peace be upon him) reached you, O Muhammad?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نَادَىٰهُ رَبُّهُ بِالْوَادِ الْمُقَدَّسِ طُوًى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his Lord called him in the sacred valley named Tuwa: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اذْهَبْ إِلَىٰ فِرْعَوْنَ إِنَّهُ طَغَىٰ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 to Pharaoh; he has gone beyond all limits in disbelief and wrongdoing,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فَقُلْ هَل لَّكَ إِلَىٰ أَن تَزَكَّىٰ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to him: Would you like to purify yourself from disbelief and sins,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وَأَهْدِيَكَ إِلَىٰ رَبِّكَ فَتَخْشَىٰ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let me guide you to the way of your Lord, so you will fear Him?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فَأَرَىٰهُ الْأيَةَ الْكُبْرَىٰ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Musa showed him the great miracle: the staff and the hand.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فَكَذَّبَ وَعَصَىٰ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Pharaoh denied and disobeyed,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أَدْبَرَ يَسْعَىٰ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turned his back, working hard against the truth.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فَحَشَرَ فَنَادَىٰ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gathered the people of his kingdom and called out to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 أَنَا رَبُّكُمُ الْأَعْلَىٰ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saying: I am your lord, the most high!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فَأَخَذَهُ اللَّهُ نَكَالَ الْأخِرَةِ وَالْأُولَىٰ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Allah punished him with the Fire in the Hereafter and with drowning in this world.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لَعِبْرَةً لِّمَن يَخْشَىٰ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in that is a lesson for whoever fears Allah.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ءَأَنتُمْ أَشَدُّ خَلْقًا أَمِ السَّمَآءُ بَنَىٰهَا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you, O people, harder to create, or the sky that Allah built?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رَفَعَ سَمْكَهَا فَسَوَّىٰهَا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raised its ceiling high and made it smooth, without cracks,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وَأَغْطَشَ لَيْلَهَا وَأَخْرَجَ ضُحَىٰهَا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its night dark and brought out its bright day.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وَالْأَرْضَ بَعْدَ ذَٰلِكَ دَحَىٰهَآ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after that He spread out the earth,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أَخْرَجَ مِنْهَا مَآءَهَا وَمَرْعَىٰهَا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brought out of it its water from springs, and its pasture of plants.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وَالْجِبَالَ أَرْسَىٰهَا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mountains He fixed firmly in the earth,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مَتَٰعًا لَّكُمْ وَلِأَنْعَٰمِكُمْ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enjoyment for you and your livestock.</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جَآءَتِ الطَّآمَّةُ الْكُبْرَىٰ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when the Greatest Disaster comes, the Day of Resurrection,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يَتَذَكَّرُ الْإِنسَٰنُ مَا سَعَىٰ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when man will remember what he did of good and evil,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وَبُرِّزَتِ الْجَحِيمُ لِمَن يَرَىٰ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Fire will be shown to everyone who sees,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مَن طَغَىٰ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as for the one who went beyond the limits in disbelief and sins,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وَءَاثَرَ الْحَيَوٰةَ الدُّنْيَا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preferred the life of this world over the Hereafter,</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الْجَحِيمَ هِيَ الْمَأْوَىٰ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Fire will be his home and his shelter.</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مَنْ خَافَ مَقَامَ رَبِّهِ وَنَهَى النَّفْسَ عَنِ الْهَوَىٰ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as for the one who feared standing before his Lord and held himself back from his desires,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الْجَنَّةَ هِيَ الْمَأْوَىٰ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Paradise will be his home and his shelter.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يَسْـَٔلُونَكَ عَنِ السَّاعَةِ أَيَّانَ مُرْسَىٰهَا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ask you, O Muhammad, about the Hour: When is its time?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فِيمَ أَنتَ مِن ذِكْرَىٰهَآ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do not know its time to tell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رَبِّكَ مُنتَهَىٰهَآ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knowledge of it ends with your Lord alone.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188</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An-Nazi'at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532888"/>
            <a:ext cx="548640" cy="548640"/>
          </a:xfrm>
          <a:prstGeom prst="star8">
            <a:avLst/>
          </a:prstGeom>
          <a:solidFill>
            <a:schemeClr val="accent2"/>
          </a:solidFill>
          <a:ln/>
        </p:spPr>
      </p:sp>
      <p:sp>
        <p:nvSpPr>
          <p:cNvPr id="6" name="Shape 4"/>
          <p:cNvSpPr/>
          <p:nvPr/>
        </p:nvSpPr>
        <p:spPr>
          <a:xfrm>
            <a:off x="822960" y="264261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53288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251460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أَنتَ مُنذِرُ مَن يَخْشَىٰهَا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are only a warner to those who fear it.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390906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كَأَنَّهُمْ يَوْمَ يَرَوْنَهَا لَمْ يَلْبَثُواْ إِلَّا عَشِيَّةً أَوْ ضُحَىٰهَا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they see it, it will be as if they had stayed in the world only an evening or its morning.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An-Naba'</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40 verses • The Great News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78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When the Prophet (peace be upon him) was sent and told the idol-worshippers about being raised after death, they began asking one another and disagreeing about it, some denying and some doubting, so the surah was revealed.</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Proving the Resurrection and the Reward, and answering those who doubted the Day of Resurrection.</a:t>
            </a:r>
            <a:endParaRPr lang="en-US" sz="17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عَمَّ يَتَسَآءَلُونَ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About what are the idol-worshippers asking one another?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عَنِ النَّبَإِ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asking about the great news: the Resurrection on the Day of Judgement,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هُمْ فِيهِ مُخْتَلِفُونَ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about which they disagree, some denying and some doubting.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سَيَعْلَمُونَ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They will come to know the result of their denial. This is a warning.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كَلَّا سَيَعْلَمُونَ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Again, no! They will come to know. A warning after a warning.</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نَجْعَلِ الْأَرْضَ مِهَٰدًا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We not make the earth smooth and spread out for you,</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وَالْجِبَالَ أَوْتَادًا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mountains as pegs holding it steady so it does not shake with you?</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وَخَلَقْنَٰكُمْ أَزْوَٰجًا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created you in pairs: male and female.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نَوْمَكُمْ سُبَاتًا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made your sleep rest for your bodies,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الَّيْلَ لِبَاسًا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the night cover you with its darkness like clothing,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النَّهَارَ مَعَاشًا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the day a time to work and seek provision.</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وَبَنَيْنَا فَوْقَكُمْ سَبْعًا شِدَادًا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built above you seven strong, firm heavens,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سِرَاجًا وَهَّاجًا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made the sun a bright, blazing lamp,</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وَأَنزَلْنَا مِنَ الْمُعْصِرَٰتِ مَآءً ثَجَّاجًا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sent down plenty of water from the rain clouds,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لِّنُخْرِجَ بِهِ حَبًّا وَنَبَاتًا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bring out with it grain that people eat and plants that animals eat,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وَجَنَّـٰتٍ أَلْفَافًا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gardens thick with trees.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يَوْمَ الْفَصْلِ كَانَ مِيقَٰتًا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the Day of Resurrection is the Day of Decision between all creatures; it has a fixed time that comes neither earlier nor later:</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يُنفَخُ فِي الصُّورِ فَتَأْتُونَ أَفْوَاجًا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Day the Horn is blown and you come in crowds after crowds,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وَفُتِحَتِ السَّمَآءُ فَكَانَتْ أَبْوَٰبًا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sky is opened and becomes many gates from which angels come down,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وَسُيِّرَتِ الْجِبَالُ فَكَانَتْ سَرَابًا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mountains are moved until they become like a mirage.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جَهَنَّمَ كَانَتْ مِرْصَادًا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Hell is lying in wait for its people,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لِّلطَّـٰغِينَ مَـَٔابًا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place of return and a home for the tyrants,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لَّـٰبِثِينَ فِيهَآ أَحْقَابًا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in it for ages that never end.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يَذُوقُونَ فِيهَا بَرْدًا وَلَا شَرَابًا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taste in it no coolness to ease their heat, and no drink to quench their thirst,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حَمِيمًا وَغَسَّاقًا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boiling water and the pus of the people of the Fire,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جَزَآءً وِفَاقًا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fitting reward for their evil deeds.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إِنَّهُمْ كَانُواْ لَا يَرْجُونَ حِسَابًا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did not fear the Reckoning and did not believe in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وَكَذَّبُواْ بِـَٔايَٰتِنَا كِذَّابًا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they denied Our verses completely.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وَكُلَّ شَيْءٍ أَحْصَيْنَٰهُ كِتَٰبًا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everything of their deeds We have counted and written down.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فَذُوقُواْ فَلَن نَّزِيدَكُمْ إِلَّا عَذَابًا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taste the punishment; We will only increase you in punishment.</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لِلْمُتَّقِينَ مَفَازًا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Indeed, for those who have taqwa there is success and safety: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حَدَآئِقَ وَأَعْنَٰبًا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gardens and grapes,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وَكَوَاعِبَ أَتْرَابًا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beautiful wives of the same age,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وَكَأْسًا دِهَاقًا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 full cup.</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يَسْمَعُونَ فِيهَا لَغْوًا وَلَا كِذَّـٰبًا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Paradise they will hear no false talk and no lies,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جَزَآءً مِّن رَّبِّكَ عَطَآءً حِسَابًا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reward from your Lord, a generous and sufficient gift,</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السَّمَٰوَٰتِ وَالْأَرْضِ وَمَا بَيْنَهُمَا الرَّحْمَٰنِ لَا يَمْلِكُونَ مِنْهُ خِطَابًا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Lord of the heavens and the earth and everything between them, the Most Merciful. No one can speak to Him except with His permission.</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يَقُومُ الرُّوحُ وَالْمَلَـٰئِكَةُ صَفًّا لَّا يَتَكَلَّمُونَ إِلَّا مَنْ أَذِنَ لَهُ الرَّحْمَٰنُ وَقَالَ صَوَابًا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when Jibril and the angels stand in rows, no one will speak except whom the Most Merciful allows and who says what is right.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الْيَوْمُ الْحَقُّ فَمَن شَآءَ اتَّخَذَ إِلَىٰ رَبِّهِ مَـَٔابًا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 true Day, with no doubt in it; so whoever wills, let him take a path to his Lord through good deeds.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أَنذَرْنَٰكُمْ عَذَابًا قَرِيبًا يَوْمَ يَنظُرُ الْمَرْءُ مَا قَدَّمَتْ يَدَاهُ وَيَقُولُ الْكَافِرُ يَٰلَيْتَنِي كُنتُ تُرَٰبًا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warned you of a punishment that is near: the Day when a person will look at what his hands sent ahead, and the disbeliever will say: I wish I were dust!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201</a:t>
            </a:fld>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spTree>
      <p:nvGrpSpPr>
        <p:cNvPr id="1" name=""/>
        <p:cNvGrpSpPr/>
        <p:nvPr/>
      </p:nvGrpSpPr>
      <p:grpSpPr>
        <a:xfrm>
          <a:off x="0" y="0"/>
          <a:ext cx="0" cy="0"/>
          <a:chOff x="0" y="0"/>
          <a:chExt cx="0" cy="0"/>
        </a:xfrm>
      </p:grpSpPr>
      <p:pic>
        <p:nvPicPr>
          <p:cNvPr id="2" name="Image 0" descr="assets/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 Allah, make the Mighty Qur'an the spring of our hearts, the light of our chests, the remover of our sadness and the reliever of our worries."</a:t>
            </a:r>
            <a:endParaRPr lang="en-US" sz="2100" dirty="0"/>
          </a:p>
        </p:txBody>
      </p:sp>
      <p:pic>
        <p:nvPicPr>
          <p:cNvPr id="5" name="Image 1" descr="assets/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30 Tafsir EN">
  <a:themeElements>
    <a:clrScheme name="Juz 30 Tafsir EN">
      <a:dk1>
        <a:srgbClr val="2A2A2A"/>
      </a:dk1>
      <a:lt1>
        <a:srgbClr val="FFFFFF"/>
      </a:lt1>
      <a:dk2>
        <a:srgbClr val="0B4D3B"/>
      </a:dk2>
      <a:lt2>
        <a:srgbClr val="FBF8F0"/>
      </a:lt2>
      <a:accent1>
        <a:srgbClr val="0B4D3B"/>
      </a:accent1>
      <a:accent2>
        <a:srgbClr val="C9A04A"/>
      </a:accent2>
      <a:accent3>
        <a:srgbClr val="13654F"/>
      </a:accent3>
      <a:accent4>
        <a:srgbClr val="6F6A5C"/>
      </a:accent4>
      <a:accent5>
        <a:srgbClr val="F3EEDF"/>
      </a:accent5>
      <a:accent6>
        <a:srgbClr val="7B2D26"/>
      </a:accent6>
      <a:hlink>
        <a:srgbClr val="13654F"/>
      </a:hlink>
      <a:folHlink>
        <a:srgbClr val="6F6A5C"/>
      </a:folHlink>
    </a:clrScheme>
    <a:fontScheme name="Juz 30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202</Slides>
  <Notes>202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202</vt:i4>
      </vt:variant>
    </vt:vector>
  </HeadingPairs>
  <TitlesOfParts>
    <vt:vector size="20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'Amma — Simplified Tafsir from Ibn Kathir</dc:title>
  <dc:subject>PptxGenJS Presentation</dc:subject>
  <dc:creator>Qur'an Teacher</dc:creator>
  <cp:lastModifiedBy>Qur'an Teacher</cp:lastModifiedBy>
  <cp:revision>1</cp:revision>
  <dcterms:created xsi:type="dcterms:W3CDTF">2026-10-04T03:58:55Z</dcterms:created>
  <dcterms:modified xsi:type="dcterms:W3CDTF">2026-10-04T03:58:55Z</dcterms:modified>
</cp:coreProperties>
</file>