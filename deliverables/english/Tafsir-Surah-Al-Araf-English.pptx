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Lst>
  <p:notesMasterIdLst>
    <p:notesMasterId r:id="rId1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355b308-8b66-f9a2-c893-b5f2ce2c2d3e}">
          <p14:sldIdLst>
            <p14:sldId id="256"/>
            <p14:sldId id="257"/>
            <p14:sldId id="258"/>
            <p14:sldId id="259"/>
          </p14:sldIdLst>
        </p14:section>
        <p14:section name="1. Adam and Iblis" id="{d389022f-8f0b-2294-acea-d4bd428107d4}">
          <p14:sldIdLst>
            <p14:sldId id="260"/>
            <p14:sldId id="261"/>
            <p14:sldId id="262"/>
            <p14:sldId id="263"/>
            <p14:sldId id="264"/>
            <p14:sldId id="265"/>
            <p14:sldId id="266"/>
            <p14:sldId id="267"/>
            <p14:sldId id="268"/>
            <p14:sldId id="269"/>
            <p14:sldId id="270"/>
          </p14:sldIdLst>
        </p14:section>
        <p14:section name="2. O Children of Adam" id="{cc4d071e-810f-8c85-8276-55f6472e4688}">
          <p14:sldIdLst>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Lst>
        </p14:section>
        <p14:section name="3. Nuh and Hud" id="{ca841f6b-d0a8-dea4-342c-8ee6b28b7371}">
          <p14:sldIdLst>
            <p14:sldId id="291"/>
            <p14:sldId id="292"/>
            <p14:sldId id="293"/>
            <p14:sldId id="294"/>
            <p14:sldId id="295"/>
            <p14:sldId id="296"/>
            <p14:sldId id="297"/>
          </p14:sldIdLst>
        </p14:section>
        <p14:section name="4. Salih, Lut and Shu'ayb" id="{a34ddde2-845c-865f-d80d-54aa78e41584}">
          <p14:sldIdLst>
            <p14:sldId id="298"/>
            <p14:sldId id="299"/>
            <p14:sldId id="300"/>
            <p14:sldId id="301"/>
            <p14:sldId id="302"/>
            <p14:sldId id="303"/>
            <p14:sldId id="304"/>
            <p14:sldId id="305"/>
            <p14:sldId id="306"/>
            <p14:sldId id="307"/>
            <p14:sldId id="308"/>
          </p14:sldIdLst>
        </p14:section>
        <p14:section name="5. Allah's Way With Nations" id="{0cefba71-015d-3498-fc67-d437a26e021a}">
          <p14:sldIdLst>
            <p14:sldId id="309"/>
            <p14:sldId id="310"/>
            <p14:sldId id="311"/>
            <p14:sldId id="312"/>
            <p14:sldId id="313"/>
          </p14:sldIdLst>
        </p14:section>
        <p14:section name="6. Musa, Pharaoh, Magicians" id="{c4b5f24a-7766-2f59-3d54-334571aa7bea}">
          <p14:sldIdLst>
            <p14:sldId id="314"/>
            <p14:sldId id="315"/>
            <p14:sldId id="316"/>
            <p14:sldId id="317"/>
            <p14:sldId id="318"/>
            <p14:sldId id="319"/>
            <p14:sldId id="320"/>
            <p14:sldId id="321"/>
            <p14:sldId id="322"/>
            <p14:sldId id="323"/>
            <p14:sldId id="324"/>
            <p14:sldId id="325"/>
            <p14:sldId id="326"/>
            <p14:sldId id="327"/>
          </p14:sldIdLst>
        </p14:section>
        <p14:section name="7. The Appointment; the Calf" id="{e788c94c-5b1e-56ac-ad32-af119d0c6559}">
          <p14:sldIdLst>
            <p14:sldId id="328"/>
            <p14:sldId id="329"/>
            <p14:sldId id="330"/>
            <p14:sldId id="331"/>
            <p14:sldId id="332"/>
            <p14:sldId id="333"/>
            <p14:sldId id="334"/>
            <p14:sldId id="335"/>
            <p14:sldId id="336"/>
            <p14:sldId id="337"/>
            <p14:sldId id="338"/>
            <p14:sldId id="339"/>
            <p14:sldId id="340"/>
            <p14:sldId id="341"/>
          </p14:sldIdLst>
        </p14:section>
        <p14:section name="8. The People of the Sabbath" id="{b0330dc2-92d4-6b65-8558-c3ad0dec3893}">
          <p14:sldIdLst>
            <p14:sldId id="342"/>
            <p14:sldId id="343"/>
            <p14:sldId id="344"/>
            <p14:sldId id="345"/>
            <p14:sldId id="346"/>
            <p14:sldId id="347"/>
            <p14:sldId id="348"/>
            <p14:sldId id="349"/>
            <p14:sldId id="350"/>
            <p14:sldId id="351"/>
          </p14:sldIdLst>
        </p14:section>
        <p14:section name="9. The Covenant" id="{aca73d7a-4593-7d1c-8253-43180945cd68}">
          <p14:sldIdLst>
            <p14:sldId id="352"/>
            <p14:sldId id="353"/>
            <p14:sldId id="354"/>
            <p14:sldId id="355"/>
            <p14:sldId id="356"/>
            <p14:sldId id="357"/>
            <p14:sldId id="358"/>
            <p14:sldId id="359"/>
          </p14:sldIdLst>
        </p14:section>
        <p14:section name="10. The Hour; Remembrance" id="{0685c942-2ca9-1769-1bdf-621d10a8b998}">
          <p14:sldIdLst>
            <p14:sldId id="360"/>
            <p14:sldId id="361"/>
            <p14:sldId id="362"/>
            <p14:sldId id="363"/>
            <p14:sldId id="364"/>
            <p14:sldId id="365"/>
            <p14:sldId id="366"/>
            <p14:sldId id="367"/>
            <p14:sldId id="368"/>
            <p14:sldId id="369"/>
          </p14:sldIdLst>
        </p14:section>
        <p14:section name="Closing" id="{66b592ca-ebd4-ec5e-9453-64dcdc6f19ac}">
          <p14:sldIdLst>
            <p14:sldId id="3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notesMaster" Target="notesMasters/notesMaster1.xml"/><Relationship Id="rId118" Type="http://schemas.openxmlformats.org/officeDocument/2006/relationships/presProps" Target="presProps.xml"/><Relationship Id="rId119" Type="http://schemas.openxmlformats.org/officeDocument/2006/relationships/viewProps" Target="viewProps.xml"/><Relationship Id="rId120" Type="http://schemas.openxmlformats.org/officeDocument/2006/relationships/theme" Target="theme/theme1.xml"/><Relationship Id="rId1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divided the surah into ten themed sections. Each section opens with a slide giving its reason for revelation and theme, followed by the explanation of its verses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What stopped Iblis from bowing? What did Adam and Hawwa' say after their mistake (verse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Who are the people of the Heights (Al-A'raf)? What manners does verse 31 teach?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How did Nuh and Hud describe themselves while calling their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What did Shu'ayb command his people about their dealings (verse 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What would happen to the people of the towns if they believed and had taqwa (verse 96)?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What did the magicians say when Pharaoh threatened them (verses 125–126)?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What happened to the mountain when Allah revealed Himself to it? What did Musa say (verse 143)?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Which group was saved in the story of the people of the Sabbath (verse 165)?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What was the one who left Allah's verses and followed his desires compared to (verse 176)?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What three manners does verse 199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7/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algn="ctr" indent="0" marL="0">
              <a:buNone/>
              <a:defRPr lang="en-US" sz="2400" b="1" dirty="0">
                <a:solidFill>
                  <a:schemeClr val="bg1"/>
                </a:solidFill>
                <a:latin typeface="Georgia" pitchFamily="34" charset="0"/>
                <a:ea typeface="Georgia" pitchFamily="34" charset="-122"/>
                <a:cs typeface="Georgia" pitchFamily="34" charset="-120"/>
              </a:defRPr>
            </a:lvl1pPr>
          </a:lstStyle>
          <a:p>
            <a:pPr algn="ctr" indent="0" marL="0">
              <a:buNone/>
            </a:pPr>
            <a:endParaRPr lang="en-US" sz="24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7/bg_intro.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7/bg_dark.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image-115-1.png"/><Relationship Id="rId2" Type="http://schemas.openxmlformats.org/officeDocument/2006/relationships/image" Target="../media/image-115-2.png"/><Relationship Id="rId3" Type="http://schemas.openxmlformats.org/officeDocument/2006/relationships/slideLayout" Target="../slideLayouts/slideLayout4.xml"/><Relationship Id="rId4" Type="http://schemas.openxmlformats.org/officeDocument/2006/relationships/notesSlide" Target="../notesSlides/notesSlide1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7/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txBox="1"/>
          <p:nvPr/>
        </p:nvSpPr>
        <p:spPr>
          <a:xfrm>
            <a:off x="731520" y="2468880"/>
            <a:ext cx="10728655" cy="1143000"/>
          </a:xfrm>
          <a:prstGeom prst="rect">
            <a:avLst/>
          </a:prstGeom>
          <a:noFill/>
          <a:ln/>
        </p:spPr>
        <p:txBody>
          <a:bodyPr wrap="square" lIns="0" tIns="0" rIns="0" bIns="0" rtlCol="0" anchor="ctr"/>
          <a:lstStyle/>
          <a:p>
            <a:pPr algn="ctr" indent="0" marL="0">
              <a:buNone/>
            </a:pPr>
            <a:r>
              <a:rPr lang="en-US" altLang="en-US" sz="5200" b="1" dirty="0">
                <a:solidFill>
                  <a:schemeClr val="bg1"/>
                </a:solidFill>
                <a:latin typeface="Georgia" pitchFamily="34" charset="0"/>
                <a:ea typeface="Georgia" pitchFamily="34" charset="-122"/>
                <a:cs typeface="Georgia" pitchFamily="34" charset="-120"/>
              </a:rPr>
              <a:t>Tafsir of Surah Al-A'raf</a:t>
            </a:r>
            <a:endParaRPr lang="en-US" sz="5200" dirty="0"/>
          </a:p>
        </p:txBody>
      </p:sp>
      <p:sp>
        <p:nvSpPr>
          <p:cNvPr id="4" name="Text 1"/>
          <p:cNvSpPr txBox="1"/>
          <p:nvPr/>
        </p:nvSpPr>
        <p:spPr>
          <a:xfrm>
            <a:off x="1097280" y="3657600"/>
            <a:ext cx="9997135" cy="502920"/>
          </a:xfrm>
          <a:prstGeom prst="rect">
            <a:avLst/>
          </a:prstGeom>
          <a:noFill/>
          <a:ln/>
        </p:spPr>
        <p:txBody>
          <a:bodyPr wrap="square" lIns="0" tIns="0" rIns="0" bIns="0" rtlCol="0" anchor="ctr"/>
          <a:lstStyle/>
          <a:p>
            <a:pPr algn="ctr" indent="0" marL="0">
              <a:buNone/>
            </a:pPr>
            <a:r>
              <a:rPr lang="en-US" altLang="en-US" sz="2200" b="1" dirty="0">
                <a:solidFill>
                  <a:schemeClr val="accent2"/>
                </a:solidFill>
                <a:latin typeface="Arial" pitchFamily="34" charset="0"/>
                <a:ea typeface="Arial" pitchFamily="34" charset="-122"/>
                <a:cs typeface="Arial" pitchFamily="34" charset="-120"/>
              </a:rPr>
              <a:t>A simplified explanation of every verse, drawn from the Tafsir of Imam Ibn Kathir</a:t>
            </a:r>
            <a:endParaRPr lang="en-US" sz="2200" dirty="0"/>
          </a:p>
        </p:txBody>
      </p:sp>
      <p:pic>
        <p:nvPicPr>
          <p:cNvPr id="5" name="Image 1" descr="assets7/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algn="ctr" indent="0" marL="0">
              <a:buNone/>
            </a:pPr>
            <a:r>
              <a:rPr lang="en-US" altLang="en-US" sz="1700" dirty="0">
                <a:solidFill>
                  <a:schemeClr val="bg2"/>
                </a:solidFill>
                <a:latin typeface="Arial" pitchFamily="34" charset="0"/>
                <a:ea typeface="Arial" pitchFamily="34" charset="-122"/>
                <a:cs typeface="Arial" pitchFamily="34" charset="-120"/>
              </a:rPr>
              <a:t>206 verses • Makki • 10 sections with reasons for revelation</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Before We Begin</a:t>
            </a:r>
            <a:endParaRPr lang="en-US" sz="2400" dirty="0"/>
          </a:p>
        </p:txBody>
      </p:sp>
      <p:sp>
        <p:nvSpPr>
          <p:cNvPr id="3" name="Shape 1"/>
          <p:cNvSpPr/>
          <p:nvPr/>
        </p:nvSpPr>
        <p:spPr>
          <a:xfrm>
            <a:off x="64008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868680" y="1645920"/>
            <a:ext cx="4846320" cy="685800"/>
          </a:xfrm>
          <a:prstGeom prst="rect">
            <a:avLst/>
          </a:prstGeom>
          <a:noFill/>
          <a:ln/>
        </p:spPr>
        <p:txBody>
          <a:bodyPr wrap="square" lIns="0" tIns="0" rIns="0" bIns="0" rtlCol="0" anchor="t"/>
          <a:lstStyle/>
          <a:p>
            <a:pPr algn="l" indent="0" marL="0">
              <a:buNone/>
            </a:pPr>
            <a:r>
              <a:rPr lang="en-US" altLang="en-US" sz="1900" b="1" dirty="0">
                <a:solidFill>
                  <a:schemeClr val="tx2"/>
                </a:solidFill>
                <a:latin typeface="Georgia" pitchFamily="34" charset="0"/>
                <a:ea typeface="Georgia" pitchFamily="34" charset="-122"/>
                <a:cs typeface="Georgia" pitchFamily="34" charset="-120"/>
              </a:rPr>
              <a:t>Imam Ibn Kathir (may Allah have mercy on him)</a:t>
            </a:r>
            <a:endParaRPr lang="en-US" sz="1900" dirty="0"/>
          </a:p>
        </p:txBody>
      </p:sp>
      <p:sp>
        <p:nvSpPr>
          <p:cNvPr id="5" name="Text 3"/>
          <p:cNvSpPr txBox="1"/>
          <p:nvPr/>
        </p:nvSpPr>
        <p:spPr>
          <a:xfrm>
            <a:off x="868680" y="2423160"/>
            <a:ext cx="4846320" cy="3520440"/>
          </a:xfrm>
          <a:prstGeom prst="rect">
            <a:avLst/>
          </a:prstGeom>
          <a:noFill/>
          <a:ln/>
        </p:spPr>
        <p:txBody>
          <a:bodyPr wrap="square" lIns="0" tIns="0" rIns="0" bIns="0" rtlCol="0" anchor="t"/>
          <a:lstStyle/>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Name: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Isma'il ibn 'Umar ibn Kathir of Damascus</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Lived: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about 701 – 774 AH (1300 – 1373 CE) in Syria</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Teachers: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Ibn Taymiyyah, al-Mizzi and al-Dhahabi</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book: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Tafsir al-Qur'an al-'Azim, one of the most famous books of tafsir</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method: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He explains the Qur'an by the Qur'an, then by the Sunnah, then by the sayings of the Companions and their students</a:t>
            </a:r>
            <a:endParaRPr lang="en-US" sz="1500" dirty="0"/>
          </a:p>
        </p:txBody>
      </p:sp>
      <p:sp>
        <p:nvSpPr>
          <p:cNvPr id="6" name="Text 4"/>
          <p:cNvSpPr txBox="1"/>
          <p:nvPr/>
        </p:nvSpPr>
        <p:spPr>
          <a:xfrm>
            <a:off x="6263640" y="1600200"/>
            <a:ext cx="5303520" cy="502920"/>
          </a:xfrm>
          <a:prstGeom prst="rect">
            <a:avLst/>
          </a:prstGeom>
          <a:noFill/>
          <a:ln/>
        </p:spPr>
        <p:txBody>
          <a:bodyPr wrap="square" lIns="0" tIns="0" rIns="0" bIns="0" rtlCol="0" anchor="t"/>
          <a:lstStyle/>
          <a:p>
            <a:pPr algn="l" indent="0" marL="0">
              <a:buNone/>
            </a:pPr>
            <a:r>
              <a:rPr lang="en-US" altLang="en-US" sz="2200" b="1" dirty="0">
                <a:solidFill>
                  <a:schemeClr val="tx2"/>
                </a:solidFill>
                <a:latin typeface="Georgia" pitchFamily="34" charset="0"/>
                <a:ea typeface="Georgia" pitchFamily="34" charset="-122"/>
                <a:cs typeface="Georgia" pitchFamily="34" charset="-120"/>
              </a:rPr>
              <a:t>How to read the slides</a:t>
            </a:r>
            <a:endParaRPr lang="en-US" sz="2200" dirty="0"/>
          </a:p>
        </p:txBody>
      </p:sp>
      <p:sp>
        <p:nvSpPr>
          <p:cNvPr id="7" name="Shape 5"/>
          <p:cNvSpPr/>
          <p:nvPr/>
        </p:nvSpPr>
        <p:spPr>
          <a:xfrm>
            <a:off x="6263640" y="2331720"/>
            <a:ext cx="566928" cy="566928"/>
          </a:xfrm>
          <a:prstGeom prst="star8">
            <a:avLst/>
          </a:prstGeom>
          <a:solidFill>
            <a:schemeClr val="accent2"/>
          </a:solidFill>
          <a:ln/>
        </p:spPr>
      </p:sp>
      <p:sp>
        <p:nvSpPr>
          <p:cNvPr id="8" name="Shape 6"/>
          <p:cNvSpPr/>
          <p:nvPr/>
        </p:nvSpPr>
        <p:spPr>
          <a:xfrm>
            <a:off x="63770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6263640" y="2331720"/>
            <a:ext cx="566928" cy="566928"/>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10" name="Text 8"/>
          <p:cNvSpPr txBox="1"/>
          <p:nvPr/>
        </p:nvSpPr>
        <p:spPr>
          <a:xfrm>
            <a:off x="7040880" y="2359152"/>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verse number is inside the golden star</a:t>
            </a:r>
            <a:endParaRPr lang="en-US" sz="1600" dirty="0"/>
          </a:p>
        </p:txBody>
      </p:sp>
      <p:sp>
        <p:nvSpPr>
          <p:cNvPr id="11" name="Shape 9"/>
          <p:cNvSpPr/>
          <p:nvPr/>
        </p:nvSpPr>
        <p:spPr>
          <a:xfrm>
            <a:off x="63367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7040880" y="3291840"/>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Arabic verse is written in violet</a:t>
            </a:r>
            <a:endParaRPr lang="en-US" sz="1600" dirty="0"/>
          </a:p>
        </p:txBody>
      </p:sp>
      <p:sp>
        <p:nvSpPr>
          <p:cNvPr id="13" name="Shape 11"/>
          <p:cNvSpPr/>
          <p:nvPr/>
        </p:nvSpPr>
        <p:spPr>
          <a:xfrm>
            <a:off x="63367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7040880" y="4224528"/>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A simple English explanation comes right under it</a:t>
            </a:r>
            <a:endParaRPr lang="en-US" sz="1600" dirty="0"/>
          </a:p>
        </p:txBody>
      </p:sp>
      <p:sp>
        <p:nvSpPr>
          <p:cNvPr id="15" name="Shape 13"/>
          <p:cNvSpPr/>
          <p:nvPr/>
        </p:nvSpPr>
        <p:spPr>
          <a:xfrm>
            <a:off x="63367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7040880" y="5157216"/>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Each section opens with its reason for revelation and theme</a:t>
            </a:r>
            <a:endParaRPr lang="en-US" sz="16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About Al-A'raf</a:t>
            </a:r>
            <a:endParaRPr lang="en-US" sz="2400" dirty="0"/>
          </a:p>
        </p:txBody>
      </p:sp>
      <p:sp>
        <p:nvSpPr>
          <p:cNvPr id="3" name="Shape 1"/>
          <p:cNvSpPr/>
          <p:nvPr/>
        </p:nvSpPr>
        <p:spPr>
          <a:xfrm>
            <a:off x="685800" y="1463040"/>
            <a:ext cx="3454298" cy="4572000"/>
          </a:xfrm>
          <a:prstGeom prst="roundRect">
            <a:avLst>
              <a:gd name="adj" fmla="val 3971"/>
            </a:avLst>
          </a:prstGeom>
          <a:solidFill>
            <a:schemeClr val="accent5"/>
          </a:solidFill>
          <a:ln w="15875">
            <a:solidFill>
              <a:schemeClr val="accent2"/>
            </a:solidFill>
            <a:prstDash val="solid"/>
          </a:ln>
        </p:spPr>
      </p:sp>
      <p:sp>
        <p:nvSpPr>
          <p:cNvPr id="4" name="Shape 2"/>
          <p:cNvSpPr/>
          <p:nvPr/>
        </p:nvSpPr>
        <p:spPr>
          <a:xfrm>
            <a:off x="2047189" y="1737360"/>
            <a:ext cx="731520" cy="731520"/>
          </a:xfrm>
          <a:prstGeom prst="star8">
            <a:avLst/>
          </a:prstGeom>
          <a:solidFill>
            <a:schemeClr val="accent2"/>
          </a:solidFill>
          <a:ln/>
        </p:spPr>
      </p:sp>
      <p:sp>
        <p:nvSpPr>
          <p:cNvPr id="5" name="Shape 3"/>
          <p:cNvSpPr/>
          <p:nvPr/>
        </p:nvSpPr>
        <p:spPr>
          <a:xfrm>
            <a:off x="2193493" y="1883664"/>
            <a:ext cx="438912" cy="438912"/>
          </a:xfrm>
          <a:prstGeom prst="ellipse">
            <a:avLst/>
          </a:prstGeom>
          <a:solidFill>
            <a:schemeClr val="bg2"/>
          </a:solidFill>
          <a:ln w="19050">
            <a:solidFill>
              <a:schemeClr val="tx2"/>
            </a:solidFill>
            <a:prstDash val="solid"/>
          </a:ln>
        </p:spPr>
      </p:sp>
      <p:sp>
        <p:nvSpPr>
          <p:cNvPr id="6" name="Text 4"/>
          <p:cNvSpPr txBox="1"/>
          <p:nvPr/>
        </p:nvSpPr>
        <p:spPr>
          <a:xfrm>
            <a:off x="2047189" y="1737360"/>
            <a:ext cx="731520" cy="731520"/>
          </a:xfrm>
          <a:prstGeom prst="rect">
            <a:avLst/>
          </a:prstGeom>
          <a:noFill/>
          <a:ln/>
        </p:spPr>
        <p:txBody>
          <a:bodyPr wrap="square" lIns="0" tIns="0" rIns="0" bIns="0" rtlCol="0" anchor="ctr"/>
          <a:lstStyle/>
          <a:p>
            <a:pPr algn="ctr" indent="0" marL="0">
              <a:buNone/>
            </a:pPr>
            <a:r>
              <a:rPr lang="en-US" altLang="en-US" sz="1800" b="1" dirty="0">
                <a:solidFill>
                  <a:schemeClr val="tx2"/>
                </a:solidFill>
                <a:latin typeface="Arial" pitchFamily="34" charset="0"/>
                <a:ea typeface="Arial" pitchFamily="34" charset="-122"/>
                <a:cs typeface="Arial" pitchFamily="34" charset="-120"/>
              </a:rPr>
              <a:t>1</a:t>
            </a:r>
            <a:endParaRPr lang="en-US" sz="1800" dirty="0"/>
          </a:p>
        </p:txBody>
      </p:sp>
      <p:sp>
        <p:nvSpPr>
          <p:cNvPr id="7" name="Text 5"/>
          <p:cNvSpPr txBox="1"/>
          <p:nvPr/>
        </p:nvSpPr>
        <p:spPr>
          <a:xfrm>
            <a:off x="868680" y="2606040"/>
            <a:ext cx="3088538" cy="685800"/>
          </a:xfrm>
          <a:prstGeom prst="rect">
            <a:avLst/>
          </a:prstGeom>
          <a:noFill/>
          <a:ln/>
        </p:spPr>
        <p:txBody>
          <a:bodyPr wrap="square" lIns="0" tIns="0" rIns="0" bIns="0" rtlCol="0" anchor="ctr"/>
          <a:lstStyle/>
          <a:p>
            <a:pPr algn="ctr" indent="0" marL="0">
              <a:buNone/>
            </a:pPr>
            <a:r>
              <a:rPr lang="en-US" altLang="en-US" sz="2000" b="1" dirty="0">
                <a:solidFill>
                  <a:schemeClr val="tx2"/>
                </a:solidFill>
                <a:latin typeface="Georgia" pitchFamily="34" charset="0"/>
                <a:ea typeface="Georgia" pitchFamily="34" charset="-122"/>
                <a:cs typeface="Georgia" pitchFamily="34" charset="-120"/>
              </a:rPr>
              <a:t>One of the Long Seven</a:t>
            </a:r>
            <a:endParaRPr lang="en-US" sz="2000" dirty="0"/>
          </a:p>
        </p:txBody>
      </p:sp>
      <p:sp>
        <p:nvSpPr>
          <p:cNvPr id="8" name="Text 6"/>
          <p:cNvSpPr txBox="1"/>
          <p:nvPr/>
        </p:nvSpPr>
        <p:spPr>
          <a:xfrm>
            <a:off x="914400" y="3383280"/>
            <a:ext cx="2997098" cy="2514600"/>
          </a:xfrm>
          <a:prstGeom prst="rect">
            <a:avLst/>
          </a:prstGeom>
          <a:noFill/>
          <a:ln/>
        </p:spPr>
        <p:txBody>
          <a:bodyPr wrap="square" lIns="0" tIns="0" rIns="0" bIns="0" rtlCol="0" anchor="t"/>
          <a:lstStyle/>
          <a:p>
            <a:pPr algn="ctr"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The Prophet (peace be upon him) said: "Whoever learns the first seven (long surahs) of the Qur'an is a scholar" (Ahmad). Al-A'raf is one of these seven, and the longest Makki surah.</a:t>
            </a:r>
            <a:endParaRPr lang="en-US" sz="1500" dirty="0"/>
          </a:p>
        </p:txBody>
      </p:sp>
      <p:sp>
        <p:nvSpPr>
          <p:cNvPr id="9" name="Shape 7"/>
          <p:cNvSpPr/>
          <p:nvPr/>
        </p:nvSpPr>
        <p:spPr>
          <a:xfrm>
            <a:off x="4368698" y="1463040"/>
            <a:ext cx="3454298" cy="4572000"/>
          </a:xfrm>
          <a:prstGeom prst="roundRect">
            <a:avLst>
              <a:gd name="adj" fmla="val 3971"/>
            </a:avLst>
          </a:prstGeom>
          <a:solidFill>
            <a:schemeClr val="accent5"/>
          </a:solidFill>
          <a:ln w="15875">
            <a:solidFill>
              <a:schemeClr val="accent2"/>
            </a:solidFill>
            <a:prstDash val="solid"/>
          </a:ln>
        </p:spPr>
      </p:sp>
      <p:sp>
        <p:nvSpPr>
          <p:cNvPr id="10" name="Shape 8"/>
          <p:cNvSpPr/>
          <p:nvPr/>
        </p:nvSpPr>
        <p:spPr>
          <a:xfrm>
            <a:off x="5730088" y="1737360"/>
            <a:ext cx="731520" cy="731520"/>
          </a:xfrm>
          <a:prstGeom prst="star8">
            <a:avLst/>
          </a:prstGeom>
          <a:solidFill>
            <a:schemeClr val="accent2"/>
          </a:solidFill>
          <a:ln/>
        </p:spPr>
      </p:sp>
      <p:sp>
        <p:nvSpPr>
          <p:cNvPr id="11" name="Shape 9"/>
          <p:cNvSpPr/>
          <p:nvPr/>
        </p:nvSpPr>
        <p:spPr>
          <a:xfrm>
            <a:off x="5876392" y="1883664"/>
            <a:ext cx="438912" cy="438912"/>
          </a:xfrm>
          <a:prstGeom prst="ellipse">
            <a:avLst/>
          </a:prstGeom>
          <a:solidFill>
            <a:schemeClr val="bg2"/>
          </a:solidFill>
          <a:ln w="19050">
            <a:solidFill>
              <a:schemeClr val="tx2"/>
            </a:solidFill>
            <a:prstDash val="solid"/>
          </a:ln>
        </p:spPr>
      </p:sp>
      <p:sp>
        <p:nvSpPr>
          <p:cNvPr id="12" name="Text 10"/>
          <p:cNvSpPr txBox="1"/>
          <p:nvPr/>
        </p:nvSpPr>
        <p:spPr>
          <a:xfrm>
            <a:off x="5730088" y="1737360"/>
            <a:ext cx="731520" cy="731520"/>
          </a:xfrm>
          <a:prstGeom prst="rect">
            <a:avLst/>
          </a:prstGeom>
          <a:noFill/>
          <a:ln/>
        </p:spPr>
        <p:txBody>
          <a:bodyPr wrap="square" lIns="0" tIns="0" rIns="0" bIns="0" rtlCol="0" anchor="ctr"/>
          <a:lstStyle/>
          <a:p>
            <a:pPr algn="ctr" indent="0" marL="0">
              <a:buNone/>
            </a:pPr>
            <a:r>
              <a:rPr lang="en-US" altLang="en-US" sz="1800" b="1" dirty="0">
                <a:solidFill>
                  <a:schemeClr val="tx2"/>
                </a:solidFill>
                <a:latin typeface="Arial" pitchFamily="34" charset="0"/>
                <a:ea typeface="Arial" pitchFamily="34" charset="-122"/>
                <a:cs typeface="Arial" pitchFamily="34" charset="-120"/>
              </a:rPr>
              <a:t>2</a:t>
            </a:r>
            <a:endParaRPr lang="en-US" sz="1800" dirty="0"/>
          </a:p>
        </p:txBody>
      </p:sp>
      <p:sp>
        <p:nvSpPr>
          <p:cNvPr id="13" name="Text 11"/>
          <p:cNvSpPr txBox="1"/>
          <p:nvPr/>
        </p:nvSpPr>
        <p:spPr>
          <a:xfrm>
            <a:off x="4551578" y="2606040"/>
            <a:ext cx="3088538" cy="685800"/>
          </a:xfrm>
          <a:prstGeom prst="rect">
            <a:avLst/>
          </a:prstGeom>
          <a:noFill/>
          <a:ln/>
        </p:spPr>
        <p:txBody>
          <a:bodyPr wrap="square" lIns="0" tIns="0" rIns="0" bIns="0" rtlCol="0" anchor="ctr"/>
          <a:lstStyle/>
          <a:p>
            <a:pPr algn="ctr" indent="0" marL="0">
              <a:buNone/>
            </a:pPr>
            <a:r>
              <a:rPr lang="en-US" altLang="en-US" sz="2000" b="1" dirty="0">
                <a:solidFill>
                  <a:schemeClr val="tx2"/>
                </a:solidFill>
                <a:latin typeface="Georgia" pitchFamily="34" charset="0"/>
                <a:ea typeface="Georgia" pitchFamily="34" charset="-122"/>
                <a:cs typeface="Georgia" pitchFamily="34" charset="-120"/>
              </a:rPr>
              <a:t>In the Maghrib Prayer</a:t>
            </a:r>
            <a:endParaRPr lang="en-US" sz="2000" dirty="0"/>
          </a:p>
        </p:txBody>
      </p:sp>
      <p:sp>
        <p:nvSpPr>
          <p:cNvPr id="14" name="Text 12"/>
          <p:cNvSpPr txBox="1"/>
          <p:nvPr/>
        </p:nvSpPr>
        <p:spPr>
          <a:xfrm>
            <a:off x="4597298" y="3383280"/>
            <a:ext cx="2997098" cy="2514600"/>
          </a:xfrm>
          <a:prstGeom prst="rect">
            <a:avLst/>
          </a:prstGeom>
          <a:noFill/>
          <a:ln/>
        </p:spPr>
        <p:txBody>
          <a:bodyPr wrap="square" lIns="0" tIns="0" rIns="0" bIns="0" rtlCol="0" anchor="t"/>
          <a:lstStyle/>
          <a:p>
            <a:pPr algn="ctr"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Zayd ibn Thabit (may Allah be pleased with him) said: The Prophet (peace be upon him) used to recite in Maghrib the longer of the two long surahs, meaning Al-A'raf (Bukhari).</a:t>
            </a:r>
            <a:endParaRPr lang="en-US" sz="1500" dirty="0"/>
          </a:p>
        </p:txBody>
      </p:sp>
      <p:sp>
        <p:nvSpPr>
          <p:cNvPr id="15" name="Shape 13"/>
          <p:cNvSpPr/>
          <p:nvPr/>
        </p:nvSpPr>
        <p:spPr>
          <a:xfrm>
            <a:off x="8051597" y="1463040"/>
            <a:ext cx="3454298" cy="4572000"/>
          </a:xfrm>
          <a:prstGeom prst="roundRect">
            <a:avLst>
              <a:gd name="adj" fmla="val 3971"/>
            </a:avLst>
          </a:prstGeom>
          <a:solidFill>
            <a:schemeClr val="accent5"/>
          </a:solidFill>
          <a:ln w="15875">
            <a:solidFill>
              <a:schemeClr val="accent2"/>
            </a:solidFill>
            <a:prstDash val="solid"/>
          </a:ln>
        </p:spPr>
      </p:sp>
      <p:sp>
        <p:nvSpPr>
          <p:cNvPr id="16" name="Shape 14"/>
          <p:cNvSpPr/>
          <p:nvPr/>
        </p:nvSpPr>
        <p:spPr>
          <a:xfrm>
            <a:off x="9412986" y="1737360"/>
            <a:ext cx="731520" cy="731520"/>
          </a:xfrm>
          <a:prstGeom prst="star8">
            <a:avLst/>
          </a:prstGeom>
          <a:solidFill>
            <a:schemeClr val="accent2"/>
          </a:solidFill>
          <a:ln/>
        </p:spPr>
      </p:sp>
      <p:sp>
        <p:nvSpPr>
          <p:cNvPr id="17" name="Shape 15"/>
          <p:cNvSpPr/>
          <p:nvPr/>
        </p:nvSpPr>
        <p:spPr>
          <a:xfrm>
            <a:off x="9559290" y="1883664"/>
            <a:ext cx="438912" cy="438912"/>
          </a:xfrm>
          <a:prstGeom prst="ellipse">
            <a:avLst/>
          </a:prstGeom>
          <a:solidFill>
            <a:schemeClr val="bg2"/>
          </a:solidFill>
          <a:ln w="19050">
            <a:solidFill>
              <a:schemeClr val="tx2"/>
            </a:solidFill>
            <a:prstDash val="solid"/>
          </a:ln>
        </p:spPr>
      </p:sp>
      <p:sp>
        <p:nvSpPr>
          <p:cNvPr id="18" name="Text 16"/>
          <p:cNvSpPr txBox="1"/>
          <p:nvPr/>
        </p:nvSpPr>
        <p:spPr>
          <a:xfrm>
            <a:off x="9412986" y="1737360"/>
            <a:ext cx="731520" cy="731520"/>
          </a:xfrm>
          <a:prstGeom prst="rect">
            <a:avLst/>
          </a:prstGeom>
          <a:noFill/>
          <a:ln/>
        </p:spPr>
        <p:txBody>
          <a:bodyPr wrap="square" lIns="0" tIns="0" rIns="0" bIns="0" rtlCol="0" anchor="ctr"/>
          <a:lstStyle/>
          <a:p>
            <a:pPr algn="ctr" indent="0" marL="0">
              <a:buNone/>
            </a:pPr>
            <a:r>
              <a:rPr lang="en-US" altLang="en-US" sz="1800" b="1" dirty="0">
                <a:solidFill>
                  <a:schemeClr val="tx2"/>
                </a:solidFill>
                <a:latin typeface="Arial" pitchFamily="34" charset="0"/>
                <a:ea typeface="Arial" pitchFamily="34" charset="-122"/>
                <a:cs typeface="Arial" pitchFamily="34" charset="-120"/>
              </a:rPr>
              <a:t>3</a:t>
            </a:r>
            <a:endParaRPr lang="en-US" sz="1800" dirty="0"/>
          </a:p>
        </p:txBody>
      </p:sp>
      <p:sp>
        <p:nvSpPr>
          <p:cNvPr id="19" name="Text 17"/>
          <p:cNvSpPr txBox="1"/>
          <p:nvPr/>
        </p:nvSpPr>
        <p:spPr>
          <a:xfrm>
            <a:off x="8234477" y="2606040"/>
            <a:ext cx="3088538" cy="685800"/>
          </a:xfrm>
          <a:prstGeom prst="rect">
            <a:avLst/>
          </a:prstGeom>
          <a:noFill/>
          <a:ln/>
        </p:spPr>
        <p:txBody>
          <a:bodyPr wrap="square" lIns="0" tIns="0" rIns="0" bIns="0" rtlCol="0" anchor="ctr"/>
          <a:lstStyle/>
          <a:p>
            <a:pPr algn="ctr" indent="0" marL="0">
              <a:buNone/>
            </a:pPr>
            <a:r>
              <a:rPr lang="en-US" altLang="en-US" sz="2000" b="1" dirty="0">
                <a:solidFill>
                  <a:schemeClr val="tx2"/>
                </a:solidFill>
                <a:latin typeface="Georgia" pitchFamily="34" charset="0"/>
                <a:ea typeface="Georgia" pitchFamily="34" charset="-122"/>
                <a:cs typeface="Georgia" pitchFamily="34" charset="-120"/>
              </a:rPr>
              <a:t>The Surah in Brief</a:t>
            </a:r>
            <a:endParaRPr lang="en-US" sz="2000" dirty="0"/>
          </a:p>
        </p:txBody>
      </p:sp>
      <p:sp>
        <p:nvSpPr>
          <p:cNvPr id="20" name="Text 18"/>
          <p:cNvSpPr txBox="1"/>
          <p:nvPr/>
        </p:nvSpPr>
        <p:spPr>
          <a:xfrm>
            <a:off x="8280197" y="3383280"/>
            <a:ext cx="2997098" cy="2514600"/>
          </a:xfrm>
          <a:prstGeom prst="rect">
            <a:avLst/>
          </a:prstGeom>
          <a:noFill/>
          <a:ln/>
        </p:spPr>
        <p:txBody>
          <a:bodyPr wrap="square" lIns="0" tIns="0" rIns="0" bIns="0" rtlCol="0" anchor="t"/>
          <a:lstStyle/>
          <a:p>
            <a:pPr algn="ctr"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206 verses, Makki, the seventh surah in the Mushaf. Al-A'raf (The Heights) is the high wall between Paradise and the Fire, and the surah tells the stories of many prophets.</a:t>
            </a:r>
            <a:endParaRPr lang="en-US" sz="15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Sections of the Surah</a:t>
            </a:r>
            <a:endParaRPr lang="en-US" sz="2400" dirty="0"/>
          </a:p>
        </p:txBody>
      </p:sp>
      <p:sp>
        <p:nvSpPr>
          <p:cNvPr id="3" name="Text 1"/>
          <p:cNvSpPr txBox="1"/>
          <p:nvPr/>
        </p:nvSpPr>
        <p:spPr>
          <a:xfrm>
            <a:off x="685800" y="1280160"/>
            <a:ext cx="10820095" cy="384048"/>
          </a:xfrm>
          <a:prstGeom prst="rect">
            <a:avLst/>
          </a:prstGeom>
          <a:noFill/>
          <a:ln/>
        </p:spPr>
        <p:txBody>
          <a:bodyPr wrap="square" lIns="0" tIns="0" rIns="0" bIns="0" rtlCol="0" anchor="t"/>
          <a:lstStyle/>
          <a:p>
            <a:pPr algn="ctr" indent="0" marL="0">
              <a:buNone/>
            </a:pPr>
            <a:r>
              <a:rPr lang="en-US" altLang="en-US" sz="1600" dirty="0">
                <a:solidFill>
                  <a:schemeClr val="accent4"/>
                </a:solidFill>
                <a:latin typeface="Arial" pitchFamily="34" charset="0"/>
                <a:ea typeface="Arial" pitchFamily="34" charset="-122"/>
                <a:cs typeface="Arial" pitchFamily="34" charset="-120"/>
              </a:rPr>
              <a:t>The surah is divided into ten sections by theme, so we can understand it step by step</a:t>
            </a:r>
            <a:endParaRPr lang="en-US" sz="1600" dirty="0"/>
          </a:p>
        </p:txBody>
      </p:sp>
      <p:sp>
        <p:nvSpPr>
          <p:cNvPr id="4" name="Shape 2"/>
          <p:cNvSpPr/>
          <p:nvPr/>
        </p:nvSpPr>
        <p:spPr>
          <a:xfrm>
            <a:off x="700888" y="1828800"/>
            <a:ext cx="5257800" cy="749808"/>
          </a:xfrm>
          <a:prstGeom prst="roundRect">
            <a:avLst>
              <a:gd name="adj" fmla="val 12195"/>
            </a:avLst>
          </a:prstGeom>
          <a:solidFill>
            <a:schemeClr val="bg1"/>
          </a:solidFill>
          <a:ln w="12700">
            <a:solidFill>
              <a:schemeClr val="accent2"/>
            </a:solidFill>
            <a:prstDash val="solid"/>
          </a:ln>
        </p:spPr>
      </p:sp>
      <p:sp>
        <p:nvSpPr>
          <p:cNvPr id="5" name="Shape 3"/>
          <p:cNvSpPr/>
          <p:nvPr/>
        </p:nvSpPr>
        <p:spPr>
          <a:xfrm>
            <a:off x="792328" y="1938528"/>
            <a:ext cx="530352" cy="530352"/>
          </a:xfrm>
          <a:prstGeom prst="star8">
            <a:avLst/>
          </a:prstGeom>
          <a:solidFill>
            <a:schemeClr val="accent2"/>
          </a:solidFill>
          <a:ln/>
        </p:spPr>
      </p:sp>
      <p:sp>
        <p:nvSpPr>
          <p:cNvPr id="6" name="Shape 4"/>
          <p:cNvSpPr/>
          <p:nvPr/>
        </p:nvSpPr>
        <p:spPr>
          <a:xfrm>
            <a:off x="898398" y="2044598"/>
            <a:ext cx="318211" cy="318211"/>
          </a:xfrm>
          <a:prstGeom prst="ellipse">
            <a:avLst/>
          </a:prstGeom>
          <a:solidFill>
            <a:schemeClr val="bg2"/>
          </a:solidFill>
          <a:ln w="19050">
            <a:solidFill>
              <a:schemeClr val="tx2"/>
            </a:solidFill>
            <a:prstDash val="solid"/>
          </a:ln>
        </p:spPr>
      </p:sp>
      <p:sp>
        <p:nvSpPr>
          <p:cNvPr id="7" name="Text 5"/>
          <p:cNvSpPr txBox="1"/>
          <p:nvPr/>
        </p:nvSpPr>
        <p:spPr>
          <a:xfrm>
            <a:off x="792328" y="193852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1</a:t>
            </a:r>
            <a:endParaRPr lang="en-US" sz="1400" dirty="0"/>
          </a:p>
        </p:txBody>
      </p:sp>
      <p:sp>
        <p:nvSpPr>
          <p:cNvPr id="8" name="Text 6"/>
          <p:cNvSpPr txBox="1"/>
          <p:nvPr/>
        </p:nvSpPr>
        <p:spPr>
          <a:xfrm>
            <a:off x="1414120" y="184708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Adam and Iblis</a:t>
            </a:r>
            <a:endParaRPr lang="en-US" sz="1600" dirty="0"/>
          </a:p>
        </p:txBody>
      </p:sp>
      <p:sp>
        <p:nvSpPr>
          <p:cNvPr id="9" name="Text 7"/>
          <p:cNvSpPr txBox="1"/>
          <p:nvPr/>
        </p:nvSpPr>
        <p:spPr>
          <a:xfrm>
            <a:off x="1414120" y="226368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1 – 25</a:t>
            </a:r>
            <a:endParaRPr lang="en-US" sz="1200" dirty="0"/>
          </a:p>
        </p:txBody>
      </p:sp>
      <p:sp>
        <p:nvSpPr>
          <p:cNvPr id="10" name="Shape 8"/>
          <p:cNvSpPr/>
          <p:nvPr/>
        </p:nvSpPr>
        <p:spPr>
          <a:xfrm>
            <a:off x="6233008" y="1828800"/>
            <a:ext cx="5257800" cy="749808"/>
          </a:xfrm>
          <a:prstGeom prst="roundRect">
            <a:avLst>
              <a:gd name="adj" fmla="val 12195"/>
            </a:avLst>
          </a:prstGeom>
          <a:solidFill>
            <a:schemeClr val="accent5"/>
          </a:solidFill>
          <a:ln w="12700">
            <a:solidFill>
              <a:schemeClr val="accent2"/>
            </a:solidFill>
            <a:prstDash val="solid"/>
          </a:ln>
        </p:spPr>
      </p:sp>
      <p:sp>
        <p:nvSpPr>
          <p:cNvPr id="11" name="Shape 9"/>
          <p:cNvSpPr/>
          <p:nvPr/>
        </p:nvSpPr>
        <p:spPr>
          <a:xfrm>
            <a:off x="6324448" y="1938528"/>
            <a:ext cx="530352" cy="530352"/>
          </a:xfrm>
          <a:prstGeom prst="star8">
            <a:avLst/>
          </a:prstGeom>
          <a:solidFill>
            <a:schemeClr val="accent2"/>
          </a:solidFill>
          <a:ln/>
        </p:spPr>
      </p:sp>
      <p:sp>
        <p:nvSpPr>
          <p:cNvPr id="12" name="Shape 10"/>
          <p:cNvSpPr/>
          <p:nvPr/>
        </p:nvSpPr>
        <p:spPr>
          <a:xfrm>
            <a:off x="6430518" y="2044598"/>
            <a:ext cx="318211" cy="318211"/>
          </a:xfrm>
          <a:prstGeom prst="ellipse">
            <a:avLst/>
          </a:prstGeom>
          <a:solidFill>
            <a:schemeClr val="bg2"/>
          </a:solidFill>
          <a:ln w="19050">
            <a:solidFill>
              <a:schemeClr val="tx2"/>
            </a:solidFill>
            <a:prstDash val="solid"/>
          </a:ln>
        </p:spPr>
      </p:sp>
      <p:sp>
        <p:nvSpPr>
          <p:cNvPr id="13" name="Text 11"/>
          <p:cNvSpPr txBox="1"/>
          <p:nvPr/>
        </p:nvSpPr>
        <p:spPr>
          <a:xfrm>
            <a:off x="6324448" y="193852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6946240" y="184708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O Children of Adam</a:t>
            </a:r>
            <a:endParaRPr lang="en-US" sz="1600" dirty="0"/>
          </a:p>
        </p:txBody>
      </p:sp>
      <p:sp>
        <p:nvSpPr>
          <p:cNvPr id="15" name="Text 13"/>
          <p:cNvSpPr txBox="1"/>
          <p:nvPr/>
        </p:nvSpPr>
        <p:spPr>
          <a:xfrm>
            <a:off x="6946240" y="226368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26 – 58</a:t>
            </a:r>
            <a:endParaRPr lang="en-US" sz="1200" dirty="0"/>
          </a:p>
        </p:txBody>
      </p:sp>
      <p:sp>
        <p:nvSpPr>
          <p:cNvPr id="16" name="Shape 14"/>
          <p:cNvSpPr/>
          <p:nvPr/>
        </p:nvSpPr>
        <p:spPr>
          <a:xfrm>
            <a:off x="700888" y="2697480"/>
            <a:ext cx="5257800" cy="749808"/>
          </a:xfrm>
          <a:prstGeom prst="roundRect">
            <a:avLst>
              <a:gd name="adj" fmla="val 12195"/>
            </a:avLst>
          </a:prstGeom>
          <a:solidFill>
            <a:schemeClr val="bg1"/>
          </a:solidFill>
          <a:ln w="12700">
            <a:solidFill>
              <a:schemeClr val="accent2"/>
            </a:solidFill>
            <a:prstDash val="solid"/>
          </a:ln>
        </p:spPr>
      </p:sp>
      <p:sp>
        <p:nvSpPr>
          <p:cNvPr id="17" name="Shape 15"/>
          <p:cNvSpPr/>
          <p:nvPr/>
        </p:nvSpPr>
        <p:spPr>
          <a:xfrm>
            <a:off x="792328" y="2807208"/>
            <a:ext cx="530352" cy="530352"/>
          </a:xfrm>
          <a:prstGeom prst="star8">
            <a:avLst/>
          </a:prstGeom>
          <a:solidFill>
            <a:schemeClr val="accent2"/>
          </a:solidFill>
          <a:ln/>
        </p:spPr>
      </p:sp>
      <p:sp>
        <p:nvSpPr>
          <p:cNvPr id="18" name="Shape 16"/>
          <p:cNvSpPr/>
          <p:nvPr/>
        </p:nvSpPr>
        <p:spPr>
          <a:xfrm>
            <a:off x="898398" y="2913278"/>
            <a:ext cx="318211" cy="318211"/>
          </a:xfrm>
          <a:prstGeom prst="ellipse">
            <a:avLst/>
          </a:prstGeom>
          <a:solidFill>
            <a:schemeClr val="bg2"/>
          </a:solidFill>
          <a:ln w="19050">
            <a:solidFill>
              <a:schemeClr val="tx2"/>
            </a:solidFill>
            <a:prstDash val="solid"/>
          </a:ln>
        </p:spPr>
      </p:sp>
      <p:sp>
        <p:nvSpPr>
          <p:cNvPr id="19" name="Text 17"/>
          <p:cNvSpPr txBox="1"/>
          <p:nvPr/>
        </p:nvSpPr>
        <p:spPr>
          <a:xfrm>
            <a:off x="792328" y="280720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3</a:t>
            </a:r>
            <a:endParaRPr lang="en-US" sz="1400" dirty="0"/>
          </a:p>
        </p:txBody>
      </p:sp>
      <p:sp>
        <p:nvSpPr>
          <p:cNvPr id="20" name="Text 18"/>
          <p:cNvSpPr txBox="1"/>
          <p:nvPr/>
        </p:nvSpPr>
        <p:spPr>
          <a:xfrm>
            <a:off x="1414120" y="271576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Nuh and Hud</a:t>
            </a:r>
            <a:endParaRPr lang="en-US" sz="1600" dirty="0"/>
          </a:p>
        </p:txBody>
      </p:sp>
      <p:sp>
        <p:nvSpPr>
          <p:cNvPr id="21" name="Text 19"/>
          <p:cNvSpPr txBox="1"/>
          <p:nvPr/>
        </p:nvSpPr>
        <p:spPr>
          <a:xfrm>
            <a:off x="1414120" y="313236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59 – 72</a:t>
            </a:r>
            <a:endParaRPr lang="en-US" sz="1200" dirty="0"/>
          </a:p>
        </p:txBody>
      </p:sp>
      <p:sp>
        <p:nvSpPr>
          <p:cNvPr id="22" name="Shape 20"/>
          <p:cNvSpPr/>
          <p:nvPr/>
        </p:nvSpPr>
        <p:spPr>
          <a:xfrm>
            <a:off x="6233008" y="2697480"/>
            <a:ext cx="5257800" cy="749808"/>
          </a:xfrm>
          <a:prstGeom prst="roundRect">
            <a:avLst>
              <a:gd name="adj" fmla="val 12195"/>
            </a:avLst>
          </a:prstGeom>
          <a:solidFill>
            <a:schemeClr val="accent5"/>
          </a:solidFill>
          <a:ln w="12700">
            <a:solidFill>
              <a:schemeClr val="accent2"/>
            </a:solidFill>
            <a:prstDash val="solid"/>
          </a:ln>
        </p:spPr>
      </p:sp>
      <p:sp>
        <p:nvSpPr>
          <p:cNvPr id="23" name="Shape 21"/>
          <p:cNvSpPr/>
          <p:nvPr/>
        </p:nvSpPr>
        <p:spPr>
          <a:xfrm>
            <a:off x="6324448" y="2807208"/>
            <a:ext cx="530352" cy="530352"/>
          </a:xfrm>
          <a:prstGeom prst="star8">
            <a:avLst/>
          </a:prstGeom>
          <a:solidFill>
            <a:schemeClr val="accent2"/>
          </a:solidFill>
          <a:ln/>
        </p:spPr>
      </p:sp>
      <p:sp>
        <p:nvSpPr>
          <p:cNvPr id="24" name="Shape 22"/>
          <p:cNvSpPr/>
          <p:nvPr/>
        </p:nvSpPr>
        <p:spPr>
          <a:xfrm>
            <a:off x="6430518" y="2913278"/>
            <a:ext cx="318211" cy="318211"/>
          </a:xfrm>
          <a:prstGeom prst="ellipse">
            <a:avLst/>
          </a:prstGeom>
          <a:solidFill>
            <a:schemeClr val="bg2"/>
          </a:solidFill>
          <a:ln w="19050">
            <a:solidFill>
              <a:schemeClr val="tx2"/>
            </a:solidFill>
            <a:prstDash val="solid"/>
          </a:ln>
        </p:spPr>
      </p:sp>
      <p:sp>
        <p:nvSpPr>
          <p:cNvPr id="25" name="Text 23"/>
          <p:cNvSpPr txBox="1"/>
          <p:nvPr/>
        </p:nvSpPr>
        <p:spPr>
          <a:xfrm>
            <a:off x="6324448" y="280720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4</a:t>
            </a:r>
            <a:endParaRPr lang="en-US" sz="1400" dirty="0"/>
          </a:p>
        </p:txBody>
      </p:sp>
      <p:sp>
        <p:nvSpPr>
          <p:cNvPr id="26" name="Text 24"/>
          <p:cNvSpPr txBox="1"/>
          <p:nvPr/>
        </p:nvSpPr>
        <p:spPr>
          <a:xfrm>
            <a:off x="6946240" y="271576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Salih, Lut and Shu'ayb</a:t>
            </a:r>
            <a:endParaRPr lang="en-US" sz="1600" dirty="0"/>
          </a:p>
        </p:txBody>
      </p:sp>
      <p:sp>
        <p:nvSpPr>
          <p:cNvPr id="27" name="Text 25"/>
          <p:cNvSpPr txBox="1"/>
          <p:nvPr/>
        </p:nvSpPr>
        <p:spPr>
          <a:xfrm>
            <a:off x="6946240" y="313236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73 – 93</a:t>
            </a:r>
            <a:endParaRPr lang="en-US" sz="1200" dirty="0"/>
          </a:p>
        </p:txBody>
      </p:sp>
      <p:sp>
        <p:nvSpPr>
          <p:cNvPr id="28" name="Shape 26"/>
          <p:cNvSpPr/>
          <p:nvPr/>
        </p:nvSpPr>
        <p:spPr>
          <a:xfrm>
            <a:off x="700888" y="3566160"/>
            <a:ext cx="5257800" cy="749808"/>
          </a:xfrm>
          <a:prstGeom prst="roundRect">
            <a:avLst>
              <a:gd name="adj" fmla="val 12195"/>
            </a:avLst>
          </a:prstGeom>
          <a:solidFill>
            <a:schemeClr val="bg1"/>
          </a:solidFill>
          <a:ln w="12700">
            <a:solidFill>
              <a:schemeClr val="accent2"/>
            </a:solidFill>
            <a:prstDash val="solid"/>
          </a:ln>
        </p:spPr>
      </p:sp>
      <p:sp>
        <p:nvSpPr>
          <p:cNvPr id="29" name="Shape 27"/>
          <p:cNvSpPr/>
          <p:nvPr/>
        </p:nvSpPr>
        <p:spPr>
          <a:xfrm>
            <a:off x="792328" y="3675888"/>
            <a:ext cx="530352" cy="530352"/>
          </a:xfrm>
          <a:prstGeom prst="star8">
            <a:avLst/>
          </a:prstGeom>
          <a:solidFill>
            <a:schemeClr val="accent2"/>
          </a:solidFill>
          <a:ln/>
        </p:spPr>
      </p:sp>
      <p:sp>
        <p:nvSpPr>
          <p:cNvPr id="30" name="Shape 28"/>
          <p:cNvSpPr/>
          <p:nvPr/>
        </p:nvSpPr>
        <p:spPr>
          <a:xfrm>
            <a:off x="898398" y="3781958"/>
            <a:ext cx="318211" cy="318211"/>
          </a:xfrm>
          <a:prstGeom prst="ellipse">
            <a:avLst/>
          </a:prstGeom>
          <a:solidFill>
            <a:schemeClr val="bg2"/>
          </a:solidFill>
          <a:ln w="19050">
            <a:solidFill>
              <a:schemeClr val="tx2"/>
            </a:solidFill>
            <a:prstDash val="solid"/>
          </a:ln>
        </p:spPr>
      </p:sp>
      <p:sp>
        <p:nvSpPr>
          <p:cNvPr id="31" name="Text 29"/>
          <p:cNvSpPr txBox="1"/>
          <p:nvPr/>
        </p:nvSpPr>
        <p:spPr>
          <a:xfrm>
            <a:off x="792328" y="367588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5</a:t>
            </a:r>
            <a:endParaRPr lang="en-US" sz="1400" dirty="0"/>
          </a:p>
        </p:txBody>
      </p:sp>
      <p:sp>
        <p:nvSpPr>
          <p:cNvPr id="32" name="Text 30"/>
          <p:cNvSpPr txBox="1"/>
          <p:nvPr/>
        </p:nvSpPr>
        <p:spPr>
          <a:xfrm>
            <a:off x="1414120" y="358444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Allah's Way With Nations</a:t>
            </a:r>
            <a:endParaRPr lang="en-US" sz="1600" dirty="0"/>
          </a:p>
        </p:txBody>
      </p:sp>
      <p:sp>
        <p:nvSpPr>
          <p:cNvPr id="33" name="Text 31"/>
          <p:cNvSpPr txBox="1"/>
          <p:nvPr/>
        </p:nvSpPr>
        <p:spPr>
          <a:xfrm>
            <a:off x="1414120" y="400104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94 – 102</a:t>
            </a:r>
            <a:endParaRPr lang="en-US" sz="1200" dirty="0"/>
          </a:p>
        </p:txBody>
      </p:sp>
      <p:sp>
        <p:nvSpPr>
          <p:cNvPr id="34" name="Shape 32"/>
          <p:cNvSpPr/>
          <p:nvPr/>
        </p:nvSpPr>
        <p:spPr>
          <a:xfrm>
            <a:off x="6233008" y="3566160"/>
            <a:ext cx="5257800" cy="749808"/>
          </a:xfrm>
          <a:prstGeom prst="roundRect">
            <a:avLst>
              <a:gd name="adj" fmla="val 12195"/>
            </a:avLst>
          </a:prstGeom>
          <a:solidFill>
            <a:schemeClr val="accent5"/>
          </a:solidFill>
          <a:ln w="12700">
            <a:solidFill>
              <a:schemeClr val="accent2"/>
            </a:solidFill>
            <a:prstDash val="solid"/>
          </a:ln>
        </p:spPr>
      </p:sp>
      <p:sp>
        <p:nvSpPr>
          <p:cNvPr id="35" name="Shape 33"/>
          <p:cNvSpPr/>
          <p:nvPr/>
        </p:nvSpPr>
        <p:spPr>
          <a:xfrm>
            <a:off x="6324448" y="3675888"/>
            <a:ext cx="530352" cy="530352"/>
          </a:xfrm>
          <a:prstGeom prst="star8">
            <a:avLst/>
          </a:prstGeom>
          <a:solidFill>
            <a:schemeClr val="accent2"/>
          </a:solidFill>
          <a:ln/>
        </p:spPr>
      </p:sp>
      <p:sp>
        <p:nvSpPr>
          <p:cNvPr id="36" name="Shape 34"/>
          <p:cNvSpPr/>
          <p:nvPr/>
        </p:nvSpPr>
        <p:spPr>
          <a:xfrm>
            <a:off x="6430518" y="3781958"/>
            <a:ext cx="318211" cy="318211"/>
          </a:xfrm>
          <a:prstGeom prst="ellipse">
            <a:avLst/>
          </a:prstGeom>
          <a:solidFill>
            <a:schemeClr val="bg2"/>
          </a:solidFill>
          <a:ln w="19050">
            <a:solidFill>
              <a:schemeClr val="tx2"/>
            </a:solidFill>
            <a:prstDash val="solid"/>
          </a:ln>
        </p:spPr>
      </p:sp>
      <p:sp>
        <p:nvSpPr>
          <p:cNvPr id="37" name="Text 35"/>
          <p:cNvSpPr txBox="1"/>
          <p:nvPr/>
        </p:nvSpPr>
        <p:spPr>
          <a:xfrm>
            <a:off x="6324448" y="367588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6</a:t>
            </a:r>
            <a:endParaRPr lang="en-US" sz="1400" dirty="0"/>
          </a:p>
        </p:txBody>
      </p:sp>
      <p:sp>
        <p:nvSpPr>
          <p:cNvPr id="38" name="Text 36"/>
          <p:cNvSpPr txBox="1"/>
          <p:nvPr/>
        </p:nvSpPr>
        <p:spPr>
          <a:xfrm>
            <a:off x="6946240" y="358444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Musa, Pharaoh, Magicians</a:t>
            </a:r>
            <a:endParaRPr lang="en-US" sz="1600" dirty="0"/>
          </a:p>
        </p:txBody>
      </p:sp>
      <p:sp>
        <p:nvSpPr>
          <p:cNvPr id="39" name="Text 37"/>
          <p:cNvSpPr txBox="1"/>
          <p:nvPr/>
        </p:nvSpPr>
        <p:spPr>
          <a:xfrm>
            <a:off x="6946240" y="400104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103 – 137</a:t>
            </a:r>
            <a:endParaRPr lang="en-US" sz="1200" dirty="0"/>
          </a:p>
        </p:txBody>
      </p:sp>
      <p:sp>
        <p:nvSpPr>
          <p:cNvPr id="40" name="Shape 38"/>
          <p:cNvSpPr/>
          <p:nvPr/>
        </p:nvSpPr>
        <p:spPr>
          <a:xfrm>
            <a:off x="700888" y="4434840"/>
            <a:ext cx="5257800" cy="749808"/>
          </a:xfrm>
          <a:prstGeom prst="roundRect">
            <a:avLst>
              <a:gd name="adj" fmla="val 12195"/>
            </a:avLst>
          </a:prstGeom>
          <a:solidFill>
            <a:schemeClr val="bg1"/>
          </a:solidFill>
          <a:ln w="12700">
            <a:solidFill>
              <a:schemeClr val="accent2"/>
            </a:solidFill>
            <a:prstDash val="solid"/>
          </a:ln>
        </p:spPr>
      </p:sp>
      <p:sp>
        <p:nvSpPr>
          <p:cNvPr id="41" name="Shape 39"/>
          <p:cNvSpPr/>
          <p:nvPr/>
        </p:nvSpPr>
        <p:spPr>
          <a:xfrm>
            <a:off x="792328" y="4544568"/>
            <a:ext cx="530352" cy="530352"/>
          </a:xfrm>
          <a:prstGeom prst="star8">
            <a:avLst/>
          </a:prstGeom>
          <a:solidFill>
            <a:schemeClr val="accent2"/>
          </a:solidFill>
          <a:ln/>
        </p:spPr>
      </p:sp>
      <p:sp>
        <p:nvSpPr>
          <p:cNvPr id="42" name="Shape 40"/>
          <p:cNvSpPr/>
          <p:nvPr/>
        </p:nvSpPr>
        <p:spPr>
          <a:xfrm>
            <a:off x="898398" y="4650638"/>
            <a:ext cx="318211" cy="318211"/>
          </a:xfrm>
          <a:prstGeom prst="ellipse">
            <a:avLst/>
          </a:prstGeom>
          <a:solidFill>
            <a:schemeClr val="bg2"/>
          </a:solidFill>
          <a:ln w="19050">
            <a:solidFill>
              <a:schemeClr val="tx2"/>
            </a:solidFill>
            <a:prstDash val="solid"/>
          </a:ln>
        </p:spPr>
      </p:sp>
      <p:sp>
        <p:nvSpPr>
          <p:cNvPr id="43" name="Text 41"/>
          <p:cNvSpPr txBox="1"/>
          <p:nvPr/>
        </p:nvSpPr>
        <p:spPr>
          <a:xfrm>
            <a:off x="792328" y="454456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7</a:t>
            </a:r>
            <a:endParaRPr lang="en-US" sz="1400" dirty="0"/>
          </a:p>
        </p:txBody>
      </p:sp>
      <p:sp>
        <p:nvSpPr>
          <p:cNvPr id="44" name="Text 42"/>
          <p:cNvSpPr txBox="1"/>
          <p:nvPr/>
        </p:nvSpPr>
        <p:spPr>
          <a:xfrm>
            <a:off x="1414120" y="445312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The Appointment; the Calf</a:t>
            </a:r>
            <a:endParaRPr lang="en-US" sz="1600" dirty="0"/>
          </a:p>
        </p:txBody>
      </p:sp>
      <p:sp>
        <p:nvSpPr>
          <p:cNvPr id="45" name="Text 43"/>
          <p:cNvSpPr txBox="1"/>
          <p:nvPr/>
        </p:nvSpPr>
        <p:spPr>
          <a:xfrm>
            <a:off x="1414120" y="486972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138 – 157</a:t>
            </a:r>
            <a:endParaRPr lang="en-US" sz="1200" dirty="0"/>
          </a:p>
        </p:txBody>
      </p:sp>
      <p:sp>
        <p:nvSpPr>
          <p:cNvPr id="46" name="Shape 44"/>
          <p:cNvSpPr/>
          <p:nvPr/>
        </p:nvSpPr>
        <p:spPr>
          <a:xfrm>
            <a:off x="6233008" y="4434840"/>
            <a:ext cx="5257800" cy="749808"/>
          </a:xfrm>
          <a:prstGeom prst="roundRect">
            <a:avLst>
              <a:gd name="adj" fmla="val 12195"/>
            </a:avLst>
          </a:prstGeom>
          <a:solidFill>
            <a:schemeClr val="accent5"/>
          </a:solidFill>
          <a:ln w="12700">
            <a:solidFill>
              <a:schemeClr val="accent2"/>
            </a:solidFill>
            <a:prstDash val="solid"/>
          </a:ln>
        </p:spPr>
      </p:sp>
      <p:sp>
        <p:nvSpPr>
          <p:cNvPr id="47" name="Shape 45"/>
          <p:cNvSpPr/>
          <p:nvPr/>
        </p:nvSpPr>
        <p:spPr>
          <a:xfrm>
            <a:off x="6324448" y="4544568"/>
            <a:ext cx="530352" cy="530352"/>
          </a:xfrm>
          <a:prstGeom prst="star8">
            <a:avLst/>
          </a:prstGeom>
          <a:solidFill>
            <a:schemeClr val="accent2"/>
          </a:solidFill>
          <a:ln/>
        </p:spPr>
      </p:sp>
      <p:sp>
        <p:nvSpPr>
          <p:cNvPr id="48" name="Shape 46"/>
          <p:cNvSpPr/>
          <p:nvPr/>
        </p:nvSpPr>
        <p:spPr>
          <a:xfrm>
            <a:off x="6430518" y="4650638"/>
            <a:ext cx="318211" cy="318211"/>
          </a:xfrm>
          <a:prstGeom prst="ellipse">
            <a:avLst/>
          </a:prstGeom>
          <a:solidFill>
            <a:schemeClr val="bg2"/>
          </a:solidFill>
          <a:ln w="19050">
            <a:solidFill>
              <a:schemeClr val="tx2"/>
            </a:solidFill>
            <a:prstDash val="solid"/>
          </a:ln>
        </p:spPr>
      </p:sp>
      <p:sp>
        <p:nvSpPr>
          <p:cNvPr id="49" name="Text 47"/>
          <p:cNvSpPr txBox="1"/>
          <p:nvPr/>
        </p:nvSpPr>
        <p:spPr>
          <a:xfrm>
            <a:off x="6324448" y="454456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8</a:t>
            </a:r>
            <a:endParaRPr lang="en-US" sz="1400" dirty="0"/>
          </a:p>
        </p:txBody>
      </p:sp>
      <p:sp>
        <p:nvSpPr>
          <p:cNvPr id="50" name="Text 48"/>
          <p:cNvSpPr txBox="1"/>
          <p:nvPr/>
        </p:nvSpPr>
        <p:spPr>
          <a:xfrm>
            <a:off x="6946240" y="445312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The People of the Sabbath</a:t>
            </a:r>
            <a:endParaRPr lang="en-US" sz="1600" dirty="0"/>
          </a:p>
        </p:txBody>
      </p:sp>
      <p:sp>
        <p:nvSpPr>
          <p:cNvPr id="51" name="Text 49"/>
          <p:cNvSpPr txBox="1"/>
          <p:nvPr/>
        </p:nvSpPr>
        <p:spPr>
          <a:xfrm>
            <a:off x="6946240" y="486972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158 – 171</a:t>
            </a:r>
            <a:endParaRPr lang="en-US" sz="1200" dirty="0"/>
          </a:p>
        </p:txBody>
      </p:sp>
      <p:sp>
        <p:nvSpPr>
          <p:cNvPr id="52" name="Shape 50"/>
          <p:cNvSpPr/>
          <p:nvPr/>
        </p:nvSpPr>
        <p:spPr>
          <a:xfrm>
            <a:off x="700888" y="5303520"/>
            <a:ext cx="5257800" cy="749808"/>
          </a:xfrm>
          <a:prstGeom prst="roundRect">
            <a:avLst>
              <a:gd name="adj" fmla="val 12195"/>
            </a:avLst>
          </a:prstGeom>
          <a:solidFill>
            <a:schemeClr val="bg1"/>
          </a:solidFill>
          <a:ln w="12700">
            <a:solidFill>
              <a:schemeClr val="accent2"/>
            </a:solidFill>
            <a:prstDash val="solid"/>
          </a:ln>
        </p:spPr>
      </p:sp>
      <p:sp>
        <p:nvSpPr>
          <p:cNvPr id="53" name="Shape 51"/>
          <p:cNvSpPr/>
          <p:nvPr/>
        </p:nvSpPr>
        <p:spPr>
          <a:xfrm>
            <a:off x="792328" y="5413248"/>
            <a:ext cx="530352" cy="530352"/>
          </a:xfrm>
          <a:prstGeom prst="star8">
            <a:avLst/>
          </a:prstGeom>
          <a:solidFill>
            <a:schemeClr val="accent2"/>
          </a:solidFill>
          <a:ln/>
        </p:spPr>
      </p:sp>
      <p:sp>
        <p:nvSpPr>
          <p:cNvPr id="54" name="Shape 52"/>
          <p:cNvSpPr/>
          <p:nvPr/>
        </p:nvSpPr>
        <p:spPr>
          <a:xfrm>
            <a:off x="898398" y="5519318"/>
            <a:ext cx="318211" cy="318211"/>
          </a:xfrm>
          <a:prstGeom prst="ellipse">
            <a:avLst/>
          </a:prstGeom>
          <a:solidFill>
            <a:schemeClr val="bg2"/>
          </a:solidFill>
          <a:ln w="19050">
            <a:solidFill>
              <a:schemeClr val="tx2"/>
            </a:solidFill>
            <a:prstDash val="solid"/>
          </a:ln>
        </p:spPr>
      </p:sp>
      <p:sp>
        <p:nvSpPr>
          <p:cNvPr id="55" name="Text 53"/>
          <p:cNvSpPr txBox="1"/>
          <p:nvPr/>
        </p:nvSpPr>
        <p:spPr>
          <a:xfrm>
            <a:off x="792328" y="541324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9</a:t>
            </a:r>
            <a:endParaRPr lang="en-US" sz="1400" dirty="0"/>
          </a:p>
        </p:txBody>
      </p:sp>
      <p:sp>
        <p:nvSpPr>
          <p:cNvPr id="56" name="Text 54"/>
          <p:cNvSpPr txBox="1"/>
          <p:nvPr/>
        </p:nvSpPr>
        <p:spPr>
          <a:xfrm>
            <a:off x="1414120" y="532180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The Covenant</a:t>
            </a:r>
            <a:endParaRPr lang="en-US" sz="1600" dirty="0"/>
          </a:p>
        </p:txBody>
      </p:sp>
      <p:sp>
        <p:nvSpPr>
          <p:cNvPr id="57" name="Text 55"/>
          <p:cNvSpPr txBox="1"/>
          <p:nvPr/>
        </p:nvSpPr>
        <p:spPr>
          <a:xfrm>
            <a:off x="1414120" y="573840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172 – 186</a:t>
            </a:r>
            <a:endParaRPr lang="en-US" sz="1200" dirty="0"/>
          </a:p>
        </p:txBody>
      </p:sp>
      <p:sp>
        <p:nvSpPr>
          <p:cNvPr id="58" name="Shape 56"/>
          <p:cNvSpPr/>
          <p:nvPr/>
        </p:nvSpPr>
        <p:spPr>
          <a:xfrm>
            <a:off x="6233008" y="5303520"/>
            <a:ext cx="5257800" cy="749808"/>
          </a:xfrm>
          <a:prstGeom prst="roundRect">
            <a:avLst>
              <a:gd name="adj" fmla="val 12195"/>
            </a:avLst>
          </a:prstGeom>
          <a:solidFill>
            <a:schemeClr val="accent5"/>
          </a:solidFill>
          <a:ln w="12700">
            <a:solidFill>
              <a:schemeClr val="accent2"/>
            </a:solidFill>
            <a:prstDash val="solid"/>
          </a:ln>
        </p:spPr>
      </p:sp>
      <p:sp>
        <p:nvSpPr>
          <p:cNvPr id="59" name="Shape 57"/>
          <p:cNvSpPr/>
          <p:nvPr/>
        </p:nvSpPr>
        <p:spPr>
          <a:xfrm>
            <a:off x="6324448" y="5413248"/>
            <a:ext cx="530352" cy="530352"/>
          </a:xfrm>
          <a:prstGeom prst="star8">
            <a:avLst/>
          </a:prstGeom>
          <a:solidFill>
            <a:schemeClr val="accent2"/>
          </a:solidFill>
          <a:ln/>
        </p:spPr>
      </p:sp>
      <p:sp>
        <p:nvSpPr>
          <p:cNvPr id="60" name="Shape 58"/>
          <p:cNvSpPr/>
          <p:nvPr/>
        </p:nvSpPr>
        <p:spPr>
          <a:xfrm>
            <a:off x="6430518" y="5519318"/>
            <a:ext cx="318211" cy="318211"/>
          </a:xfrm>
          <a:prstGeom prst="ellipse">
            <a:avLst/>
          </a:prstGeom>
          <a:solidFill>
            <a:schemeClr val="bg2"/>
          </a:solidFill>
          <a:ln w="19050">
            <a:solidFill>
              <a:schemeClr val="tx2"/>
            </a:solidFill>
            <a:prstDash val="solid"/>
          </a:ln>
        </p:spPr>
      </p:sp>
      <p:sp>
        <p:nvSpPr>
          <p:cNvPr id="61" name="Text 59"/>
          <p:cNvSpPr txBox="1"/>
          <p:nvPr/>
        </p:nvSpPr>
        <p:spPr>
          <a:xfrm>
            <a:off x="6324448" y="541324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10</a:t>
            </a:r>
            <a:endParaRPr lang="en-US" sz="1400" dirty="0"/>
          </a:p>
        </p:txBody>
      </p:sp>
      <p:sp>
        <p:nvSpPr>
          <p:cNvPr id="62" name="Text 60"/>
          <p:cNvSpPr txBox="1"/>
          <p:nvPr/>
        </p:nvSpPr>
        <p:spPr>
          <a:xfrm>
            <a:off x="6946240" y="532180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The Hour; Remembrance</a:t>
            </a:r>
            <a:endParaRPr lang="en-US" sz="1600" dirty="0"/>
          </a:p>
        </p:txBody>
      </p:sp>
      <p:sp>
        <p:nvSpPr>
          <p:cNvPr id="63" name="Text 61"/>
          <p:cNvSpPr txBox="1"/>
          <p:nvPr/>
        </p:nvSpPr>
        <p:spPr>
          <a:xfrm>
            <a:off x="6946240" y="573840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187 – 206</a:t>
            </a:r>
            <a:endParaRPr lang="en-US" sz="12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Adam and Iblis</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1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 – 25</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Al-A'raf • Makki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section;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command to follow the Qur'an, a reminder of the Reckoning and the weighing of deeds, and the story of Adam's creation, Iblis's arrogance and his whispering until Adam and his wife were sent out of Paradise, then their repentance.</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55676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المص</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Separate letters, pointing to the miracle of the Qur'an.</a:t>
            </a:r>
            <a:endParaRPr lang="en-US" sz="3000" dirty="0"/>
          </a:p>
        </p:txBody>
      </p:sp>
      <p:sp>
        <p:nvSpPr>
          <p:cNvPr id="9" name="Shape 7"/>
          <p:cNvSpPr/>
          <p:nvPr/>
        </p:nvSpPr>
        <p:spPr>
          <a:xfrm>
            <a:off x="1444752" y="2736342"/>
            <a:ext cx="8641080" cy="0"/>
          </a:xfrm>
          <a:prstGeom prst="line">
            <a:avLst/>
          </a:prstGeom>
          <a:noFill/>
          <a:ln w="9525">
            <a:solidFill>
              <a:schemeClr val="accent2"/>
            </a:solidFill>
            <a:prstDash val="dash"/>
          </a:ln>
        </p:spPr>
      </p:sp>
      <p:sp>
        <p:nvSpPr>
          <p:cNvPr id="10" name="Shape 8"/>
          <p:cNvSpPr/>
          <p:nvPr/>
        </p:nvSpPr>
        <p:spPr>
          <a:xfrm>
            <a:off x="713232" y="2969514"/>
            <a:ext cx="548640" cy="548640"/>
          </a:xfrm>
          <a:prstGeom prst="star8">
            <a:avLst/>
          </a:prstGeom>
          <a:solidFill>
            <a:schemeClr val="accent2"/>
          </a:solidFill>
          <a:ln/>
        </p:spPr>
      </p:sp>
      <p:sp>
        <p:nvSpPr>
          <p:cNvPr id="11" name="Shape 9"/>
          <p:cNvSpPr/>
          <p:nvPr/>
        </p:nvSpPr>
        <p:spPr>
          <a:xfrm>
            <a:off x="822960" y="307924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6951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95122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كِتَٰبٌ أُنزِلَ إِلَيْكَ فَلَا يَكُن فِي صَدْرِكَ حَرَجٌ مِّنْهُ لِتُنذِرَ بِهِ وَذِكْرَىٰ لِلْمُؤْمِنِينَ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Qur'an is a Book Allah has sent down to you, so let there be no tightness in your chest about delivering it, so that you warn the disbelievers with it and remind the believers.</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اتَّبِعُواْ مَآ أُنزِلَ إِلَيْكُم مِّن رَّبِّكُمْ وَلَا تَتَّبِعُواْ مِن دُونِهِ أَوْلِيَآءَ قَلِيلًا مَّا تَذَكَّرُونَ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Follow, O people, what has been sent down to you from your Lord, and do not follow other protectors besides Him whom you obey. Little do you take heed.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 – 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وَكَم مِّن قَرْيَةٍ أَهْلَكْنَٰهَا فَجَآءَهَا بَأْسُنَا بَيَٰتًا أَوْ هُمْ قَآئِلُونَ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How many towns We destroyed! Our punishment came to them at night while they slept, or at midday while they rested.</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فَمَا كَانَ دَعْوَىٰهُمْ إِذْ جَآءَهُم بَأْسُنَآ إِلَّآ أَن قَالُواْ إِنَّا كُنَّا ظَٰلِمِينَ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punishment came to them, all they could say was to admit: We were wrongdoers.</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فَلَنَسْـَٔلَنَّ الَّذِينَ أُرْسِلَ إِلَيْهِمْ وَلَنَسْـَٔلَنَّ الْمُرْسَلِينَ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will surely ask the nations on the Day of Resurrection: How did you answer the messengers? And We will ask the messengers: Did you deliver the message?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 – 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8" name="Text 6"/>
          <p:cNvSpPr txBox="1"/>
          <p:nvPr/>
        </p:nvSpPr>
        <p:spPr>
          <a:xfrm>
            <a:off x="1444752" y="14356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فَلَنَقُصَّنَّ عَلَيْهِم بِعِلْمٍ وَمَا كُنَّا غَآئِبِينَ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We will tell them what they did with full knowledge; We were never absent from them at any time.</a:t>
            </a:r>
            <a:endParaRPr lang="en-US" sz="3000" dirty="0"/>
          </a:p>
        </p:txBody>
      </p:sp>
      <p:sp>
        <p:nvSpPr>
          <p:cNvPr id="9" name="Shape 7"/>
          <p:cNvSpPr/>
          <p:nvPr/>
        </p:nvSpPr>
        <p:spPr>
          <a:xfrm>
            <a:off x="1444752" y="2871216"/>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وَالْوَزْنُ يَوْمَئِذٍ الْحَقُّ فَمَن ثَقُلَتْ مَوَٰزِينُهُ فَأُوْلَـٰئِكَ هُمُ الْمُفْلِحُونَ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weighing of deeds on the Day of Resurrection is true and just. Those whose good deeds are heavy, they are the successful.</a:t>
            </a:r>
            <a:endParaRPr lang="en-US" sz="3000" dirty="0"/>
          </a:p>
        </p:txBody>
      </p:sp>
      <p:sp>
        <p:nvSpPr>
          <p:cNvPr id="14" name="Shape 12"/>
          <p:cNvSpPr/>
          <p:nvPr/>
        </p:nvSpPr>
        <p:spPr>
          <a:xfrm>
            <a:off x="1444752" y="4517136"/>
            <a:ext cx="8641080" cy="0"/>
          </a:xfrm>
          <a:prstGeom prst="line">
            <a:avLst/>
          </a:prstGeom>
          <a:noFill/>
          <a:ln w="9525">
            <a:solidFill>
              <a:schemeClr val="accent2"/>
            </a:solidFill>
            <a:prstDash val="dash"/>
          </a:ln>
        </p:spPr>
      </p:sp>
      <p:sp>
        <p:nvSpPr>
          <p:cNvPr id="15" name="Shape 13"/>
          <p:cNvSpPr/>
          <p:nvPr/>
        </p:nvSpPr>
        <p:spPr>
          <a:xfrm>
            <a:off x="713232" y="4745736"/>
            <a:ext cx="548640" cy="548640"/>
          </a:xfrm>
          <a:prstGeom prst="star8">
            <a:avLst/>
          </a:prstGeom>
          <a:solidFill>
            <a:schemeClr val="accent2"/>
          </a:solidFill>
          <a:ln/>
        </p:spPr>
      </p:sp>
      <p:sp>
        <p:nvSpPr>
          <p:cNvPr id="16" name="Shape 14"/>
          <p:cNvSpPr/>
          <p:nvPr/>
        </p:nvSpPr>
        <p:spPr>
          <a:xfrm>
            <a:off x="822960" y="48554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457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8" name="Text 16"/>
          <p:cNvSpPr txBox="1"/>
          <p:nvPr/>
        </p:nvSpPr>
        <p:spPr>
          <a:xfrm>
            <a:off x="1444752" y="47274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خَفَّتْ مَوَٰزِينُهُ فَأُوْلَـٰئِكَ الَّذِينَ خَسِرُواْ أَنفُسَهُم بِمَا كَانُواْ بِـَٔايَٰتِنَا يَظْلِمُونَ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those whose good deeds are light, they are the ones who lost themselves because they rejected Our verses.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 – 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8" name="Text 6"/>
          <p:cNvSpPr txBox="1"/>
          <p:nvPr/>
        </p:nvSpPr>
        <p:spPr>
          <a:xfrm>
            <a:off x="1444752" y="210997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مَكَّنَّـٰكُمْ فِي الْأَرْضِ وَجَعَلْنَا لَكُمْ فِيهَا مَعَٰيِشَ قَلِيلًا مَّا تَشْكُرُونَ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established you on earth and gave you in it the means to live. Little are you thankful.</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3" name="Text 11"/>
          <p:cNvSpPr txBox="1"/>
          <p:nvPr/>
        </p:nvSpPr>
        <p:spPr>
          <a:xfrm>
            <a:off x="1444752" y="350443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خَلَقْنَٰكُمْ ثُمَّ صَوَّرْنَٰكُمْ ثُمَّ قُلْنَا لِلْمَلَـٰئِكَةِ اسْجُدُواْ لِأدَمَ فَسَجَدُواْ إِلَّآ إِبْلِيسَ لَمْ يَكُن مِّنَ السَّـٰجِدِينَ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created your father Adam, then shaped him, then said to the angels: Bow down to Adam. They bowed down, except Iblis; he was not among those who bowed.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 – 13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مَا مَنَعَكَ أَلَّا تَسْجُدَ إِذْ أَمَرْتُكَ قَالَ أَنَا خَيْرٌ مِّنْهُ خَلَقْتَنِي مِن نَّارٍ وَخَلَقْتَهُ مِن طِينٍ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said: What stopped you from bowing when I commanded you? He said: I am better than him; You created me from fire and created him from clay.</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فَاهْبِطْ مِنْهَا فَمَا يَكُونُ لَكَ أَن تَتَكَبَّرَ فِيهَا فَاخْرُجْ إِنَّكَ مِنَ الصَّـٰغِرِينَ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said: Then go down from Paradise; it is not for you to be arrogant in it. Get out; you are among the disgraced.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أَنظِرْنِي إِلَىٰ يَوْمِ يُبْعَثُونَ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Iblis said: Give me time until the Day they are raised.</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3" name="Text 11"/>
          <p:cNvSpPr txBox="1"/>
          <p:nvPr/>
        </p:nvSpPr>
        <p:spPr>
          <a:xfrm>
            <a:off x="1444752" y="308152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إِنَّكَ مِنَ الْمُنظَرِينَ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said: You are among those given time.</a:t>
            </a:r>
            <a:endParaRPr lang="en-US" sz="3000" dirty="0"/>
          </a:p>
        </p:txBody>
      </p:sp>
      <p:sp>
        <p:nvSpPr>
          <p:cNvPr id="14" name="Shape 12"/>
          <p:cNvSpPr/>
          <p:nvPr/>
        </p:nvSpPr>
        <p:spPr>
          <a:xfrm>
            <a:off x="1444752" y="4261104"/>
            <a:ext cx="8641080" cy="0"/>
          </a:xfrm>
          <a:prstGeom prst="line">
            <a:avLst/>
          </a:prstGeom>
          <a:noFill/>
          <a:ln w="9525">
            <a:solidFill>
              <a:schemeClr val="accent2"/>
            </a:solidFill>
            <a:prstDash val="dash"/>
          </a:ln>
        </p:spPr>
      </p:sp>
      <p:sp>
        <p:nvSpPr>
          <p:cNvPr id="15" name="Shape 13"/>
          <p:cNvSpPr/>
          <p:nvPr/>
        </p:nvSpPr>
        <p:spPr>
          <a:xfrm>
            <a:off x="713232" y="4494276"/>
            <a:ext cx="548640" cy="548640"/>
          </a:xfrm>
          <a:prstGeom prst="star8">
            <a:avLst/>
          </a:prstGeom>
          <a:solidFill>
            <a:schemeClr val="accent2"/>
          </a:solidFill>
          <a:ln/>
        </p:spPr>
      </p:sp>
      <p:sp>
        <p:nvSpPr>
          <p:cNvPr id="16" name="Shape 14"/>
          <p:cNvSpPr/>
          <p:nvPr/>
        </p:nvSpPr>
        <p:spPr>
          <a:xfrm>
            <a:off x="822960" y="46040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4942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18" name="Text 16"/>
          <p:cNvSpPr txBox="1"/>
          <p:nvPr/>
        </p:nvSpPr>
        <p:spPr>
          <a:xfrm>
            <a:off x="1444752" y="44759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فَبِمَآ أَغْوَيْتَنِي لَأَقْعُدَنَّ لَهُمْ صِرَٰطَكَ الْمُسْتَقِيمَ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Iblis said: Because You have let me go astray, I will sit in wait for the children of Adam on Your straight path, to turn them away from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18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لَأتِيَنَّهُم مِّن بَيْنِ أَيْدِيهِمْ وَمِنْ خَلْفِهِمْ وَعَنْ أَيْمَٰنِهِمْ وَعَن شَمَآئِلِهِمْ وَلَا تَجِدُ أَكْثَرَهُمْ شَٰكِرِينَ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I will come at them from every side: from in front, from behind, from their right and from their left, and You will not find most of them thankful.</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اخْرُجْ مِنْهَا مَذْءُومًا مَّدْحُورًا لَّمَن تَبِعَكَ مِنْهُمْ لَأَمْلَأَنَّ جَهَنَّمَ مِنكُمْ أَجْمَعِينَ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said: Get out of it, blamed and driven away. Whoever of them follows you, I will fill Hell with all of you.</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19 – 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وَيَـٰـَٔادَمُ اسْكُنْ أَنتَ وَزَوْجُكَ الْجَنَّةَ فَكُلَا مِنْ حَيْثُ شِئْتُمَا وَلَا تَقْرَبَا هَٰذِهِ الشَّجَرَةَ فَتَكُونَا مِنَ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O Adam, live with your wife in Paradise and eat from wherever you wish, but do not go near this tree or you will be wrongdoers.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فَوَسْوَسَ لَهُمَا الشَّيْطَٰنُ لِيُبْدِيَ لَهُمَا مَا وُرِيَ عَنْهُمَا مِن سَوْءَٰتِهِمَا وَقَالَ مَا نَهَىٰكُمَا رَبُّكُمَا عَنْ هَٰذِهِ الشَّجَرَةِ إِلَّآ أَن تَكُونَا مَلَكَيْنِ أَوْ تَكُونَا مِنَ الْخَٰلِدِينَ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Satan whispered to them to uncover what had been covered of their bodies, and said: Your Lord only forbade you this tree so that you would not become angels or live forever.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21 – 22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8" name="Text 6"/>
          <p:cNvSpPr txBox="1"/>
          <p:nvPr/>
        </p:nvSpPr>
        <p:spPr>
          <a:xfrm>
            <a:off x="1444752" y="170535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وَقَاسَمَهُمَآ إِنِّي لَكُمَا لَمِنَ النَّـٰصِحِينَ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he swore to them by Allah: I am truly a sincere adviser to you.</a:t>
            </a:r>
            <a:endParaRPr lang="en-US" sz="3000" dirty="0"/>
          </a:p>
        </p:txBody>
      </p:sp>
      <p:sp>
        <p:nvSpPr>
          <p:cNvPr id="9" name="Shape 7"/>
          <p:cNvSpPr/>
          <p:nvPr/>
        </p:nvSpPr>
        <p:spPr>
          <a:xfrm>
            <a:off x="1444752" y="2884932"/>
            <a:ext cx="8641080" cy="0"/>
          </a:xfrm>
          <a:prstGeom prst="line">
            <a:avLst/>
          </a:prstGeom>
          <a:noFill/>
          <a:ln w="9525">
            <a:solidFill>
              <a:schemeClr val="accent2"/>
            </a:solidFill>
            <a:prstDash val="dash"/>
          </a:ln>
        </p:spPr>
      </p:sp>
      <p:sp>
        <p:nvSpPr>
          <p:cNvPr id="10" name="Shape 8"/>
          <p:cNvSpPr/>
          <p:nvPr/>
        </p:nvSpPr>
        <p:spPr>
          <a:xfrm>
            <a:off x="713232" y="3118104"/>
            <a:ext cx="548640" cy="548640"/>
          </a:xfrm>
          <a:prstGeom prst="star8">
            <a:avLst/>
          </a:prstGeom>
          <a:solidFill>
            <a:schemeClr val="accent2"/>
          </a:solidFill>
          <a:ln/>
        </p:spPr>
      </p:sp>
      <p:sp>
        <p:nvSpPr>
          <p:cNvPr id="11" name="Shape 9"/>
          <p:cNvSpPr/>
          <p:nvPr/>
        </p:nvSpPr>
        <p:spPr>
          <a:xfrm>
            <a:off x="822960" y="322783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11810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3" name="Text 11"/>
          <p:cNvSpPr txBox="1"/>
          <p:nvPr/>
        </p:nvSpPr>
        <p:spPr>
          <a:xfrm>
            <a:off x="1444752" y="309981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فَدَلَّىٰهُمَا بِغُرُورٍ فَلَمَّا ذَاقَا الشَّجَرَةَ بَدَتْ لَهُمَا سَوْءَٰتُهُمَا وَطَفِقَا يَخْصِفَانِ عَلَيْهِمَا مِن وَرَقِ الْجَنَّةِ وَنَادَىٰهُمَا رَبُّهُمَآ أَلَمْ أَنْهَكُمَا عَن تِلْكُمَا الشَّجَرَةِ وَأَقُل لَّكُمَآ إِنَّ الشَّيْطَٰنَ لَكُمَا عَدُوٌّ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he tricked them with his lie. When they ate from the tree, their bodies were uncovered to them, and they began covering themselves with leaves of Paradise. Their Lord called them: Did I not forbid you that tree and tell you that Satan is your clear enemy?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23 – 25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8" name="Text 6"/>
          <p:cNvSpPr txBox="1"/>
          <p:nvPr/>
        </p:nvSpPr>
        <p:spPr>
          <a:xfrm>
            <a:off x="1444752" y="14356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قَالَا رَبَّنَا ظَلَمْنَآ أَنفُسَنَا وَإِن لَّمْ تَغْفِرْ لَنَا وَتَرْحَمْنَا لَنَكُونَنَّ مِنَ الْخَٰسِرِينَ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Our Lord, we have wronged ourselves; if You do not forgive us and have mercy on us, we will surely be among the losers. So Allah accepted their repentance.</a:t>
            </a:r>
            <a:endParaRPr lang="en-US" sz="3000" dirty="0"/>
          </a:p>
        </p:txBody>
      </p:sp>
      <p:sp>
        <p:nvSpPr>
          <p:cNvPr id="9" name="Shape 7"/>
          <p:cNvSpPr/>
          <p:nvPr/>
        </p:nvSpPr>
        <p:spPr>
          <a:xfrm>
            <a:off x="1444752" y="2871216"/>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اهْبِطُواْ بَعْضُكُمْ لِبَعْضٍ عَدُوٌّ وَلَكُمْ فِي الْأَرْضِ مُسْتَقَرٌّ وَمَتَٰعٌ إِلَىٰ 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said: Go down to the earth, as enemies to one another. You will have a place to stay on earth and enjoyment until your lives end.</a:t>
            </a:r>
            <a:endParaRPr lang="en-US" sz="3000" dirty="0"/>
          </a:p>
        </p:txBody>
      </p:sp>
      <p:sp>
        <p:nvSpPr>
          <p:cNvPr id="14" name="Shape 12"/>
          <p:cNvSpPr/>
          <p:nvPr/>
        </p:nvSpPr>
        <p:spPr>
          <a:xfrm>
            <a:off x="1444752" y="4517136"/>
            <a:ext cx="8641080" cy="0"/>
          </a:xfrm>
          <a:prstGeom prst="line">
            <a:avLst/>
          </a:prstGeom>
          <a:noFill/>
          <a:ln w="9525">
            <a:solidFill>
              <a:schemeClr val="accent2"/>
            </a:solidFill>
            <a:prstDash val="dash"/>
          </a:ln>
        </p:spPr>
      </p:sp>
      <p:sp>
        <p:nvSpPr>
          <p:cNvPr id="15" name="Shape 13"/>
          <p:cNvSpPr/>
          <p:nvPr/>
        </p:nvSpPr>
        <p:spPr>
          <a:xfrm>
            <a:off x="713232" y="4745736"/>
            <a:ext cx="548640" cy="548640"/>
          </a:xfrm>
          <a:prstGeom prst="star8">
            <a:avLst/>
          </a:prstGeom>
          <a:solidFill>
            <a:schemeClr val="accent2"/>
          </a:solidFill>
          <a:ln/>
        </p:spPr>
      </p:sp>
      <p:sp>
        <p:nvSpPr>
          <p:cNvPr id="16" name="Shape 14"/>
          <p:cNvSpPr/>
          <p:nvPr/>
        </p:nvSpPr>
        <p:spPr>
          <a:xfrm>
            <a:off x="822960" y="48554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457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18" name="Text 16"/>
          <p:cNvSpPr txBox="1"/>
          <p:nvPr/>
        </p:nvSpPr>
        <p:spPr>
          <a:xfrm>
            <a:off x="1444752" y="47274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فِيهَا تَحْيَوْنَ وَفِيهَا تَمُوتُونَ وَمِنْهَا تُخْرَجُونَ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On it you will live, on it you will die, and from it you will be brought out on the Day of Resurrection.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000" b="1" dirty="0">
                <a:solidFill>
                  <a:schemeClr val="accent2"/>
                </a:solidFill>
                <a:latin typeface="Georgia" pitchFamily="34" charset="0"/>
                <a:ea typeface="Georgia" pitchFamily="34" charset="-122"/>
                <a:cs typeface="Georgia" pitchFamily="34" charset="-120"/>
              </a:rPr>
              <a:t>O Children of Adam</a:t>
            </a:r>
            <a:endParaRPr lang="en-US" sz="30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2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26 – 58</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Al-A'raf • Makki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Ibn 'Abbas (may Allah be pleased with them) said: Before Islam, women used to circle the House unclothed, so this was revealed: “O children of Adam, take your adornment at every place of prayer” (Muslim).</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Calls to the children of Adam to cover themselves, dress well and not waste; a warning against Satan's tricks; the scene of the people of Paradise, the people of the Fire and the people of the Heights talking; then the signs of Allah's power in creation.</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يَٰبَنِي ءَادَمَ قَدْ أَنزَلْنَا عَلَيْكُمْ لِبَاسًا يُوَٰرِي سَوْءَٰتِكُمْ وَرِيشًا وَلِبَاسُ التَّقْوَىٰ ذَٰلِكَ خَيْرٌ ذَٰلِكَ مِنْ ءَايَٰتِ اللَّهِ لَعَلَّهُمْ يَذَّكَّرُونَ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children of Adam, We have blessed you with clothing that covers your bodies and clothing for beauty, but the clothing of taqwa is better than all of that. That is one of Allah's signs so that they may take heed.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يَٰبَنِي ءَادَمَ لَا يَفْتِنَنَّكُمُ الشَّيْطَٰنُ كَمَآ أَخْرَجَ أَبَوَيْكُم مِّنَ الْجَنَّةِ يَنزِعُ عَنْهُمَا لِبَاسَهُمَا لِيُرِيَهُمَا سَوْءَٰتِهِمَآ إِنَّهُ يَرَىٰكُمْ هُوَ وَقَبِيلُهُ مِنْ حَيْثُ لَا تَرَوْنَهُمْ إِنَّا جَعَلْنَا الشَّيَٰطِينَ أَوْلِيَآءَ لِلَّذِينَ لَا يُؤْمِنُونَ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children of Adam, do not let Satan deceive you as he got your parents out of Paradise, stripping them of their clothing. He and his soldiers see you from where you cannot see them. We have made the devils friends of those who do not believe.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28 – 29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فَعَلُواْ فَٰحِشَةً قَالُواْ وَجَدْنَا عَلَيْهَآ ءَابَآءَنَا وَاللَّهُ أَمَرَنَا بِهَا قُلْ إِنَّ اللَّهَ لَا يَأْمُرُ بِالْفَحْشَآءِ أَتَقُولُونَ عَلَى اللَّهِ مَا لَا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idol-worshippers do a shameful deed, like circling the Ka'bah unclothed, they say: We found our fathers doing it, and Allah commanded us to. Say: Allah does not command shameful deeds. Do you say about Allah what you do not know?</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أَمَرَ رَبِّي بِالْقِسْطِ وَأَقِيمُواْ وُجُوهَكُمْ عِندَ كُلِّ مَسْجِدٍ وَادْعُوهُ مُخْلِصِينَ لَهُ الدِّينَ كَمَا بَدَأَكُمْ تَعُودُونَ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My Lord has commanded justice, that you turn to Him in every prayer, and that you call on Him with sincere devotion. As He began your creation, you will return to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30 – 31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فَرِيقًا هَدَىٰ وَفَرِيقًا حَقَّ عَلَيْهِمُ الضَّلَٰلَةُ إِنَّهُمُ اتَّخَذُواْ الشَّيَٰطِينَ أَوْلِيَآءَ مِن دُونِ اللَّهِ وَيَحْسَبُونَ أَنَّهُم مُّهْتَدُونَ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Some of you He guided, and some deserved misguidance, because they took the devils as protectors instead of Allah while thinking they were guided.</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يَٰبَنِي ءَادَمَ خُذُواْ زِينَتَكُمْ عِندَ كُلِّ مَسْجِدٍ وَكُلُواْ وَاشْرَبُواْ وَلَا تُسْرِفُواْ إِنَّهُ لَا يُحِبُّ الْمُسْرِفِينَ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children of Adam, wear your best clothes at every prayer, and eat and drink but do not waste; He does not love those who waste.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32 – 33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مَنْ حَرَّمَ زِينَةَ اللَّهِ الَّتِي أَخْرَجَ لِعِبَادِهِ وَالطَّيِّبَٰتِ مِنَ الرِّزْقِ قُلْ هِيَ لِلَّذِينَ ءَامَنُواْ فِي الْحَيَوٰةِ الدُّنْيَا خَالِصَةً يَوْمَ الْقِيَٰمَةِ كَذَٰلِكَ نُفَصِّلُ الْأيَٰتِ لِقَوْمٍ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Who has forbidden the beauty Allah brought out for His servants, and the good things of provision? Say: They are for the believers in this world, and only for them on the Day of Resurrection. That is how We explain the verses for people who know.</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إِنَّمَا حَرَّمَ رَبِّيَ الْفَوَٰحِشَ مَا ظَهَرَ مِنْهَا وَمَا بَطَنَ وَالْإِثْمَ وَالْبَغْيَ بِغَيْرِ الْحَقِّ وَأَن تُشْرِكُواْ بِاللَّهِ مَا لَمْ يُنَزِّلْ بِهِ سُلْطَٰنًا وَأَن تَقُولُواْ عَلَى اللَّهِ مَا لَا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My Lord has only forbidden shameful deeds, open and hidden, sins, wrongful aggression, associating with Allah what He gave you no proof for, and saying about Allah what you do not know.</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34 – 35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وَلِكُلِّ أُمَّةٍ أَجَلٌ فَإِذَا جَآءَ أَجَلُهُمْ لَا يَسْتَأْخِرُونَ سَاعَةً وَلَا يَسْتَقْدِمُونَ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Every nation has a set time for its end. When their time comes, they cannot delay it by an hour or bring it forward.</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يَٰبَنِي ءَادَمَ إِمَّا يَأْتِيَنَّكُمْ رُسُلٌ مِّنكُمْ يَقُصُّونَ عَلَيْكُمْ ءَايَٰتِي فَمَنِ اتَّقَىٰ وَأَصْلَحَ فَلَا خَوْفٌ عَلَيْهِمْ وَلَا هُمْ يَحْزَنُونَ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children of Adam, if messengers come to you from among you, reciting My verses to you, then whoever has taqwa and does good will have no fear and will not grieve.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36 – 37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8" name="Text 6"/>
          <p:cNvSpPr txBox="1"/>
          <p:nvPr/>
        </p:nvSpPr>
        <p:spPr>
          <a:xfrm>
            <a:off x="1444752" y="15750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كَذَّبُواْ بِـَٔايَٰتِنَا وَاسْتَكْبَرُواْ عَنْهَآ أُوْلَـٰئِكَ أَصْحَٰبُ النَّارِ هُمْ فِيهَا خَٰلِدُونَ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those who deny Our verses and are too proud for them are the people of the Fire, staying there forever.</a:t>
            </a:r>
            <a:endParaRPr lang="en-US" sz="3000" dirty="0"/>
          </a:p>
        </p:txBody>
      </p:sp>
      <p:sp>
        <p:nvSpPr>
          <p:cNvPr id="9" name="Shape 7"/>
          <p:cNvSpPr/>
          <p:nvPr/>
        </p:nvSpPr>
        <p:spPr>
          <a:xfrm>
            <a:off x="1444752" y="3015234"/>
            <a:ext cx="8641080" cy="0"/>
          </a:xfrm>
          <a:prstGeom prst="line">
            <a:avLst/>
          </a:prstGeom>
          <a:noFill/>
          <a:ln w="9525">
            <a:solidFill>
              <a:schemeClr val="accent2"/>
            </a:solidFill>
            <a:prstDash val="dash"/>
          </a:ln>
        </p:spPr>
      </p:sp>
      <p:sp>
        <p:nvSpPr>
          <p:cNvPr id="10" name="Shape 8"/>
          <p:cNvSpPr/>
          <p:nvPr/>
        </p:nvSpPr>
        <p:spPr>
          <a:xfrm>
            <a:off x="713232" y="3248406"/>
            <a:ext cx="548640" cy="548640"/>
          </a:xfrm>
          <a:prstGeom prst="star8">
            <a:avLst/>
          </a:prstGeom>
          <a:solidFill>
            <a:schemeClr val="accent2"/>
          </a:solidFill>
          <a:ln/>
        </p:spPr>
      </p:sp>
      <p:sp>
        <p:nvSpPr>
          <p:cNvPr id="11" name="Shape 9"/>
          <p:cNvSpPr/>
          <p:nvPr/>
        </p:nvSpPr>
        <p:spPr>
          <a:xfrm>
            <a:off x="822960" y="335813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4840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13" name="Text 11"/>
          <p:cNvSpPr txBox="1"/>
          <p:nvPr/>
        </p:nvSpPr>
        <p:spPr>
          <a:xfrm>
            <a:off x="1444752" y="3230118"/>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فَمَنْ أَظْلَمُ مِمَّنِ افْتَرَىٰ عَلَى اللَّهِ كَذِبًا أَوْ كَذَّبَ بِـَٔايَٰتِهِ أُوْلَـٰئِكَ يَنَالُهُمْ نَصِيبُهُم مِّنَ الْكِتَٰبِ حَتَّىٰ إِذَا جَآءَتْهُمْ رُسُلُنَا يَتَوَفَّوْنَهُمْ قَالُواْ أَيْنَ مَا كُنتُمْ تَدْعُونَ مِن دُونِ اللَّهِ قَالُواْ ضَلُّواْ عَنَّا وَشَهِدُواْ عَلَىٰ أَنفُسِهِمْ أَنَّهُمْ كَانُواْ 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is more unjust than one who lies about Allah or denies His verses? They will get their written share of provision and life, until when Our angels come to take their souls, they say: Where are your gods? They will say: They have abandoned us, and they will admit they were disbelievers.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38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ادْخُلُواْ فِي أُمَمٍ قَدْ خَلَتْ مِن قَبْلِكُم مِّنَ الْجِنِّ وَالْإِنسِ فِي النَّارِ كُلَّمَا دَخَلَتْ أُمَّةٌ لَّعَنَتْ أُخْتَهَا حَتَّىٰ إِذَا ادَّارَكُواْ فِيهَا جَمِيعًا قَالَتْ أُخْرَىٰهُمْ لِأُولَىٰهُمْ رَبَّنَا هَـٰؤُلَآءِ أَضَلُّونَا فَـَٔاتِهِمْ عَذَابًا ضِعْفًا مِّنَ النَّارِ قَالَ لِكُلٍّ ضِعْفٌ وَلَٰكِن لَّا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will say: Enter the Fire with the nations of jinn and humans before you. Whenever a nation enters, it curses the one before it, until when they are all gathered, the followers say about their leaders: Our Lord, these misled us, so give them double punishment. He will say: Each has double, but you do not know.</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39 – 40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وَقَالَتْ أُولَىٰهُمْ لِأُخْرَىٰهُمْ فَمَا كَانَ لَكُمْ عَلَيْنَا مِن فَضْلٍ فَذُوقُواْ الْعَذَابَ بِمَا كُنتُمْ تَكْسِبُونَ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leaders will say to the followers: You had no advantage over us, so taste the punishment for what you used to do.</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كَذَّبُواْ بِـَٔايَٰتِنَا وَاسْتَكْبَرُواْ عَنْهَا لَا تُفَتَّحُ لَهُمْ أَبْوَٰبُ السَّمَآءِ وَلَا يَدْخُلُونَ الْجَنَّةَ حَتَّىٰ يَلِجَ الْجَمَلُ فِي سَمِّ الْخِيَاطِ وَكَذَٰلِكَ نَجْزِي الْمُجْرِمِينَ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deny Our verses and are too proud for them, the gates of heaven will not be opened for their souls, and they will not enter Paradise until a camel passes through the eye of a needle, which is impossible. That is how We repay the criminals.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41 – 42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8" name="Text 6"/>
          <p:cNvSpPr txBox="1"/>
          <p:nvPr/>
        </p:nvSpPr>
        <p:spPr>
          <a:xfrm>
            <a:off x="1444752" y="210997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لَهُم مِّن جَهَنَّمَ مِهَادٌ وَمِن فَوْقِهِمْ غَوَاشٍ وَكَذَٰلِكَ نَجْزِي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have beds of Hell and coverings of fire over them. That is how We repay the wrongdoers.</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13" name="Text 11"/>
          <p:cNvSpPr txBox="1"/>
          <p:nvPr/>
        </p:nvSpPr>
        <p:spPr>
          <a:xfrm>
            <a:off x="1444752" y="350443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ءَامَنُواْ وَعَمِلُواْ الصَّـٰلِحَٰتِ لَا نُكَلِّفُ نَفْسًا إِلَّا وُسْعَهَآ أُوْلَـٰئِكَ أَصْحَٰبُ الْجَنَّةِ هُمْ فِيهَا خَٰلِدُونَ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righteous believers (We never burden a soul beyond what it can bear), they are the people of Paradise, staying there forever.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43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وَنَزَعْنَا مَا فِي صُدُورِهِم مِّنْ غِلٍّ تَجْرِي مِن تَحْتِهِمُ الْأَنْهَٰرُ وَقَالُواْ الْحَمْدُ لِلَّهِ الَّذِي هَدَىٰنَا لِهَٰذَا وَمَا كُنَّا لِنَهْتَدِيَ لَوْلَآ أَنْ هَدَىٰنَا اللَّهُ لَقَدْ جَآءَتْ رُسُلُ رَبِّنَا بِالْحَقِّ وَنُودُواْ أَن تِلْكُمُ الْجَنَّةُ أُورِثْتُمُوهَا بِمَا كُنتُمْ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will remove any bitterness from their chests, with rivers flowing beneath them. They will say: All praise is for Allah, who guided us to this; we would never have been guided if Allah had not guided us. The messengers of our Lord came with the truth. And they will be called: This is Paradise, given to you for what you used to do.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44 – 45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8" name="Text 6"/>
          <p:cNvSpPr txBox="1"/>
          <p:nvPr/>
        </p:nvSpPr>
        <p:spPr>
          <a:xfrm>
            <a:off x="1444752" y="197967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وَنَادَىٰ أَصْحَٰبُ الْجَنَّةِ أَصْحَٰبَ النَّارِ أَن قَدْ وَجَدْنَا مَا وَعَدَنَا رَبُّنَا حَقًّا فَهَلْ وَجَدتُّم مَّا وَعَدَ رَبُّكُمْ حَقًّا قَالُواْ نَعَمْ فَأَذَّنَ مُؤَذِّنٌ بَيْنَهُمْ أَن لَّعْنَةُ اللَّهِ عَلَى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people of Paradise will call to the people of the Fire: We have found what our Lord promised us to be true; have you found what your Lord promised to be true? They will say: Yes. Then a caller will announce between them: The curse of Allah is on the wrongdoers,</a:t>
            </a:r>
            <a:endParaRPr lang="en-US" sz="3000" dirty="0"/>
          </a:p>
        </p:txBody>
      </p:sp>
      <p:sp>
        <p:nvSpPr>
          <p:cNvPr id="9" name="Shape 7"/>
          <p:cNvSpPr/>
          <p:nvPr/>
        </p:nvSpPr>
        <p:spPr>
          <a:xfrm>
            <a:off x="1444752" y="4229100"/>
            <a:ext cx="8641080" cy="0"/>
          </a:xfrm>
          <a:prstGeom prst="line">
            <a:avLst/>
          </a:prstGeom>
          <a:noFill/>
          <a:ln w="9525">
            <a:solidFill>
              <a:schemeClr val="accent2"/>
            </a:solidFill>
            <a:prstDash val="dash"/>
          </a:ln>
        </p:spPr>
      </p:sp>
      <p:sp>
        <p:nvSpPr>
          <p:cNvPr id="10" name="Shape 8"/>
          <p:cNvSpPr/>
          <p:nvPr/>
        </p:nvSpPr>
        <p:spPr>
          <a:xfrm>
            <a:off x="713232" y="4462272"/>
            <a:ext cx="548640" cy="548640"/>
          </a:xfrm>
          <a:prstGeom prst="star8">
            <a:avLst/>
          </a:prstGeom>
          <a:solidFill>
            <a:schemeClr val="accent2"/>
          </a:solidFill>
          <a:ln/>
        </p:spPr>
      </p:sp>
      <p:sp>
        <p:nvSpPr>
          <p:cNvPr id="11" name="Shape 9"/>
          <p:cNvSpPr/>
          <p:nvPr/>
        </p:nvSpPr>
        <p:spPr>
          <a:xfrm>
            <a:off x="822960" y="45720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4622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13" name="Text 11"/>
          <p:cNvSpPr txBox="1"/>
          <p:nvPr/>
        </p:nvSpPr>
        <p:spPr>
          <a:xfrm>
            <a:off x="1444752" y="44439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يَصُدُّونَ عَن سَبِيلِ اللَّهِ وَيَبْغُونَهَا عِوَجًا وَهُم بِالْأخِرَةِ كَٰفِرُونَ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blocked people from Allah's religion, wanted it crooked, and disbelieved in the Hereafter.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46 – 47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وَبَيْنَهُمَا حِجَابٌ وَعَلَى الْأَعْرَافِ رِجَالٌ يَعْرِفُونَ كُلًّا بِسِيمَىٰهُمْ وَنَادَوْاْ أَصْحَٰبَ الْجَنَّةِ أَن سَلَٰمٌ عَلَيْكُمْ لَمْ يَدْخُلُوهَا وَهُمْ يَطْمَعُونَ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Between Paradise and the Fire is a wall, and on its heights are men whose good and bad deeds are equal. They recognise the people of Paradise and the people of the Fire by their marks. They call to the people of Paradise: Peace be upon you. They have not entered it yet, but they hope to.</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صُرِفَتْ أَبْصَٰرُهُمْ تِلْقَآءَ أَصْحَٰبِ النَّارِ قَالُواْ رَبَّنَا لَا تَجْعَلْنَا مَعَ الْقَوْمِ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their eyes are turned towards the people of the Fire, they say: Our Lord, do not put us with the wrongdoing people.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48 – 49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وَنَادَىٰ أَصْحَٰبُ الْأَعْرَافِ رِجَالًا يَعْرِفُونَهُم بِسِيمَىٰهُمْ قَالُواْ مَآ أَغْنَىٰ عَنكُمْ جَمْعُكُمْ وَمَا كُنتُمْ تَسْتَكْبِرُونَ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people of the Heights will call to some leaders of the disbelievers whom they recognise by their marks: Your gathering of wealth and your arrogance did not help you.</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أَهَـٰؤُلَآءِ الَّذِينَ أَقْسَمْتُمْ لَا يَنَالُهُمُ اللَّهُ بِرَحْمَةٍ ادْخُلُواْ الْجَنَّةَ لَا خَوْفٌ عَلَيْكُمْ وَلَآ أَنتُمْ تَحْزَنُونَ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Are these the weak believers about whom you swore Allah would never have mercy on them? They have been told: Enter Paradise; you will have no fear and will not grieve.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50 – 51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وَنَادَىٰ أَصْحَٰبُ النَّارِ أَصْحَٰبَ الْجَنَّةِ أَنْ أَفِيضُواْ عَلَيْنَا مِنَ الْمَآءِ أَوْ مِمَّا رَزَقَكُمُ اللَّهُ قَالُواْ إِنَّ اللَّهَ حَرَّمَهُمَا عَلَى الْكَٰفِرِينَ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people of the Fire will call to the people of Paradise: Pour some water on us, or some of what Allah has provided you. They will say: Allah has forbidden both to the disbelievers,</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اتَّخَذُواْ دِينَهُمْ لَهْوًا وَلَعِبًا وَغَرَّتْهُمُ الْحَيَوٰةُ الدُّنْيَا فَالْيَوْمَ نَنسَىٰهُمْ كَمَا نَسُواْ لِقَآءَ يَوْمِهِمْ هَٰذَا وَمَا كَانُواْ بِـَٔايَٰتِنَا يَجْحَدُونَ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took their religion as amusement and play and were fooled by the life of this world. Today We leave them in the punishment, as they neglected to prepare for meeting this Day and as they used to reject Our verses.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52 – 53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8" name="Text 6"/>
          <p:cNvSpPr txBox="1"/>
          <p:nvPr/>
        </p:nvSpPr>
        <p:spPr>
          <a:xfrm>
            <a:off x="1444752" y="144475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جِئْنَٰهُم بِكِتَٰبٍ فَصَّلْنَٰهُ عَلَىٰ عِلْمٍ هُدًى وَرَحْمَةً لِّقَوْمٍ يُؤْمِنُونَ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brought them a Book that We explained with knowledge, as guidance and mercy for people who believe.</a:t>
            </a:r>
            <a:endParaRPr lang="en-US" sz="3000" dirty="0"/>
          </a:p>
        </p:txBody>
      </p:sp>
      <p:sp>
        <p:nvSpPr>
          <p:cNvPr id="9" name="Shape 7"/>
          <p:cNvSpPr/>
          <p:nvPr/>
        </p:nvSpPr>
        <p:spPr>
          <a:xfrm>
            <a:off x="1444752" y="2884932"/>
            <a:ext cx="8641080" cy="0"/>
          </a:xfrm>
          <a:prstGeom prst="line">
            <a:avLst/>
          </a:prstGeom>
          <a:noFill/>
          <a:ln w="9525">
            <a:solidFill>
              <a:schemeClr val="accent2"/>
            </a:solidFill>
            <a:prstDash val="dash"/>
          </a:ln>
        </p:spPr>
      </p:sp>
      <p:sp>
        <p:nvSpPr>
          <p:cNvPr id="10" name="Shape 8"/>
          <p:cNvSpPr/>
          <p:nvPr/>
        </p:nvSpPr>
        <p:spPr>
          <a:xfrm>
            <a:off x="713232" y="3118104"/>
            <a:ext cx="548640" cy="548640"/>
          </a:xfrm>
          <a:prstGeom prst="star8">
            <a:avLst/>
          </a:prstGeom>
          <a:solidFill>
            <a:schemeClr val="accent2"/>
          </a:solidFill>
          <a:ln/>
        </p:spPr>
      </p:sp>
      <p:sp>
        <p:nvSpPr>
          <p:cNvPr id="11" name="Shape 9"/>
          <p:cNvSpPr/>
          <p:nvPr/>
        </p:nvSpPr>
        <p:spPr>
          <a:xfrm>
            <a:off x="822960" y="322783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11810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53</a:t>
            </a:r>
            <a:endParaRPr lang="en-US" sz="1600" dirty="0"/>
          </a:p>
        </p:txBody>
      </p:sp>
      <p:sp>
        <p:nvSpPr>
          <p:cNvPr id="13" name="Text 11"/>
          <p:cNvSpPr txBox="1"/>
          <p:nvPr/>
        </p:nvSpPr>
        <p:spPr>
          <a:xfrm>
            <a:off x="1444752" y="3099816"/>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هَلْ يَنظُرُونَ إِلَّا تَأْوِيلَهُ يَوْمَ يَأْتِي تَأْوِيلُهُ يَقُولُ الَّذِينَ نَسُوهُ مِن قَبْلُ قَدْ جَآءَتْ رُسُلُ رَبِّنَا بِالْحَقِّ فَهَل لَّنَا مِن شُفَعَآءَ فَيَشْفَعُواْ لَنَآ أَوْ نُرَدُّ فَنَعْمَلَ غَيْرَ الَّذِي كُنَّا نَعْمَلُ قَدْ خَسِرُواْ أَنفُسَهُمْ وَضَلَّ عَنْهُم مَّا كَانُواْ يَفْتَرُونَ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Are they waiting for anything except what it promised to happen? On the Day it happens, those who forgot it before will say: The messengers of our Lord came with the truth. Are there any intercessors for us, or can we be sent back to do other than what we used to do? They have lost themselves, and what they made up has abandoned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54 – 55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54</a:t>
            </a:r>
            <a:endParaRPr lang="en-US" sz="1600" dirty="0"/>
          </a:p>
        </p:txBody>
      </p:sp>
      <p:sp>
        <p:nvSpPr>
          <p:cNvPr id="8" name="Text 6"/>
          <p:cNvSpPr txBox="1"/>
          <p:nvPr/>
        </p:nvSpPr>
        <p:spPr>
          <a:xfrm>
            <a:off x="1444752" y="1444752"/>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رَبَّكُمُ اللَّهُ الَّذِي خَلَقَ السَّمَٰوَٰتِ وَالْأَرْضَ فِي سِتَّةِ أَيَّامٍ ثُمَّ اسْتَوَىٰ عَلَى الْعَرْشِ يُغْشِي الَّيْلَ النَّهَارَ يَطْلُبُهُ حَثِيثًا وَالشَّمْسَ وَالْقَمَرَ وَالنُّجُومَ مُسَخَّرَٰتٍ بِأَمْرِهِ أَلَا لَهُ الْخَلْقُ وَالْأَمْرُ تَبَارَكَ اللَّهُ رَبُّ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Lord is Allah, who created the heavens and the earth in six days, then rose over the Throne in a way that suits His majesty. He makes the night cover the day, chasing it quickly, and the sun, moon and stars are made to serve by His command. Surely His are the creation and the command. Blessed is Allah, Lord of the worlds.</a:t>
            </a:r>
            <a:endParaRPr lang="en-US" sz="3000" dirty="0"/>
          </a:p>
        </p:txBody>
      </p:sp>
      <p:sp>
        <p:nvSpPr>
          <p:cNvPr id="9" name="Shape 7"/>
          <p:cNvSpPr/>
          <p:nvPr/>
        </p:nvSpPr>
        <p:spPr>
          <a:xfrm>
            <a:off x="1444752" y="4503420"/>
            <a:ext cx="8641080" cy="0"/>
          </a:xfrm>
          <a:prstGeom prst="line">
            <a:avLst/>
          </a:prstGeom>
          <a:noFill/>
          <a:ln w="9525">
            <a:solidFill>
              <a:schemeClr val="accent2"/>
            </a:solidFill>
            <a:prstDash val="dash"/>
          </a:ln>
        </p:spPr>
      </p:sp>
      <p:sp>
        <p:nvSpPr>
          <p:cNvPr id="10" name="Shape 8"/>
          <p:cNvSpPr/>
          <p:nvPr/>
        </p:nvSpPr>
        <p:spPr>
          <a:xfrm>
            <a:off x="713232" y="4736592"/>
            <a:ext cx="548640" cy="548640"/>
          </a:xfrm>
          <a:prstGeom prst="star8">
            <a:avLst/>
          </a:prstGeom>
          <a:solidFill>
            <a:schemeClr val="accent2"/>
          </a:solidFill>
          <a:ln/>
        </p:spPr>
      </p:sp>
      <p:sp>
        <p:nvSpPr>
          <p:cNvPr id="11" name="Shape 9"/>
          <p:cNvSpPr/>
          <p:nvPr/>
        </p:nvSpPr>
        <p:spPr>
          <a:xfrm>
            <a:off x="822960" y="484632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73659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55</a:t>
            </a:r>
            <a:endParaRPr lang="en-US" sz="1600" dirty="0"/>
          </a:p>
        </p:txBody>
      </p:sp>
      <p:sp>
        <p:nvSpPr>
          <p:cNvPr id="13" name="Text 11"/>
          <p:cNvSpPr txBox="1"/>
          <p:nvPr/>
        </p:nvSpPr>
        <p:spPr>
          <a:xfrm>
            <a:off x="1444752" y="471830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ادْعُواْ رَبَّكُمْ تَضَرُّعًا وَخُفْيَةً إِنَّهُ لَا يُحِبُّ الْمُعْتَدِينَ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Call on your Lord humbly and secretly; He does not love those who overstep, in prayer or anything else.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56 – 57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56</a:t>
            </a:r>
            <a:endParaRPr lang="en-US" sz="1600" dirty="0"/>
          </a:p>
        </p:txBody>
      </p:sp>
      <p:sp>
        <p:nvSpPr>
          <p:cNvPr id="8" name="Text 6"/>
          <p:cNvSpPr txBox="1"/>
          <p:nvPr/>
        </p:nvSpPr>
        <p:spPr>
          <a:xfrm>
            <a:off x="1444752" y="1370457"/>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تُفْسِدُواْ فِي الْأَرْضِ بَعْدَ إِصْلَٰحِهَا وَادْعُوهُ خَوْفًا وَطَمَعًا إِنَّ رَحْمَتَ اللَّهِ قَرِيبٌ مِّنَ الْمُحْسِنِينَ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spread corruption on earth with sins after Allah put it right through the messengers. Call on Him in fear of His punishment and hope for His reward. Allah's mercy is near to those who do good.</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453003"/>
            <a:ext cx="548640" cy="548640"/>
          </a:xfrm>
          <a:prstGeom prst="star8">
            <a:avLst/>
          </a:prstGeom>
          <a:solidFill>
            <a:schemeClr val="accent2"/>
          </a:solidFill>
          <a:ln/>
        </p:spPr>
      </p:sp>
      <p:sp>
        <p:nvSpPr>
          <p:cNvPr id="11" name="Shape 9"/>
          <p:cNvSpPr/>
          <p:nvPr/>
        </p:nvSpPr>
        <p:spPr>
          <a:xfrm>
            <a:off x="822960" y="3562731"/>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45300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57</a:t>
            </a:r>
            <a:endParaRPr lang="en-US" sz="1600" dirty="0"/>
          </a:p>
        </p:txBody>
      </p:sp>
      <p:sp>
        <p:nvSpPr>
          <p:cNvPr id="13" name="Text 11"/>
          <p:cNvSpPr txBox="1"/>
          <p:nvPr/>
        </p:nvSpPr>
        <p:spPr>
          <a:xfrm>
            <a:off x="1444752" y="3434715"/>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وَهُوَ الَّذِي يُرْسِلُ الرِّيَٰحَ بُشْرًا بَيْنَ يَدَيْ رَحْمَتِهِ حَتَّىٰ إِذَآ أَقَلَّتْ سَحَابًا ثِقَالًا سُقْنَٰهُ لِبَلَدٍ مَّيِّتٍ فَأَنزَلْنَا بِهِ الْمَآءَ فَأَخْرَجْنَا بِهِ مِن كُلِّ الثَّمَرَٰتِ كَذَٰلِكَ نُخْرِجُ الْمَوْتَىٰ لَعَلَّكُمْ تَذَكَّرُونَ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sends the winds as good news of rain. When they carry heavy clouds full of water, We drive them to a dry land, send down rain on it, and bring out every kind of fruit with it. In the same way We will bring the dead out of their graves, so that you may take heed.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58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58</a:t>
            </a:r>
            <a:endParaRPr lang="en-US" sz="16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وَالْبَلَدُ الطَّيِّبُ يَخْرُجُ نَبَاتُهُ بِإِذْنِ رَبِّهِ وَالَّذِي خَبُثَ لَا يَخْرُجُ إِلَّا نَكِدًا كَذَٰلِكَ نُصَرِّفُ الْأيَٰتِ لِقَوْمٍ يَشْكُرُونَ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Good land brings out its plants well by its Lord's permission, while bad land brings out only a little, with difficulty. So it is with the heart of the believer and the disbeliever. That is how We explain the verses for people who are thankful.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Nuh and Hud</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3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59 – 72</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Al-A'raf • Makki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section;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Nuh's call to his people and the drowning of those who denied, then Hud's call to the powerful tribe of 'Ad, and their destruction when they were arrogant.</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59 – 61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59</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لَقَدْ أَرْسَلْنَا نُوحًا إِلَىٰ قَوْمِهِ فَقَالَ يَٰقَوْمِ اعْبُدُواْ اللَّهَ مَا لَكُم مِّنْ إِلَٰهٍ غَيْرُهُ إِنِّي أَخَافُ عَلَيْكُمْ عَذَابَ يَوْمٍ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sent Nuh to his people. He said: O my people, worship Allah; you have no god but Him. I fear for you the punishment of a great Day.</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60</a:t>
            </a:r>
            <a:endParaRPr lang="en-US" sz="1600" dirty="0"/>
          </a:p>
        </p:txBody>
      </p:sp>
      <p:sp>
        <p:nvSpPr>
          <p:cNvPr id="13" name="Text 11"/>
          <p:cNvSpPr txBox="1"/>
          <p:nvPr/>
        </p:nvSpPr>
        <p:spPr>
          <a:xfrm>
            <a:off x="1444752" y="34861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الْمَلَأُ مِن قَوْمِهِ إِنَّا لَنَرَىٰكَ فِي ضَلَٰلٍ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leaders of his people said: We see you clearly astray.</a:t>
            </a:r>
            <a:endParaRPr lang="en-US" sz="3000" dirty="0"/>
          </a:p>
        </p:txBody>
      </p:sp>
      <p:sp>
        <p:nvSpPr>
          <p:cNvPr id="14" name="Shape 12"/>
          <p:cNvSpPr/>
          <p:nvPr/>
        </p:nvSpPr>
        <p:spPr>
          <a:xfrm>
            <a:off x="1444752" y="4613148"/>
            <a:ext cx="8641080" cy="0"/>
          </a:xfrm>
          <a:prstGeom prst="line">
            <a:avLst/>
          </a:prstGeom>
          <a:noFill/>
          <a:ln w="9525">
            <a:solidFill>
              <a:schemeClr val="accent2"/>
            </a:solidFill>
            <a:prstDash val="dash"/>
          </a:ln>
        </p:spPr>
      </p:sp>
      <p:sp>
        <p:nvSpPr>
          <p:cNvPr id="15" name="Shape 13"/>
          <p:cNvSpPr/>
          <p:nvPr/>
        </p:nvSpPr>
        <p:spPr>
          <a:xfrm>
            <a:off x="713232" y="4793742"/>
            <a:ext cx="548640" cy="548640"/>
          </a:xfrm>
          <a:prstGeom prst="star8">
            <a:avLst/>
          </a:prstGeom>
          <a:solidFill>
            <a:schemeClr val="accent2"/>
          </a:solidFill>
          <a:ln/>
        </p:spPr>
      </p:sp>
      <p:sp>
        <p:nvSpPr>
          <p:cNvPr id="16" name="Shape 14"/>
          <p:cNvSpPr/>
          <p:nvPr/>
        </p:nvSpPr>
        <p:spPr>
          <a:xfrm>
            <a:off x="822960" y="490347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937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61</a:t>
            </a:r>
            <a:endParaRPr lang="en-US" sz="1600" dirty="0"/>
          </a:p>
        </p:txBody>
      </p:sp>
      <p:sp>
        <p:nvSpPr>
          <p:cNvPr id="18" name="Text 16"/>
          <p:cNvSpPr txBox="1"/>
          <p:nvPr/>
        </p:nvSpPr>
        <p:spPr>
          <a:xfrm>
            <a:off x="1444752" y="47754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يَٰقَوْمِ لَيْسَ بِي ضَلَٰلَةٌ وَلَٰكِنِّي رَسُولٌ مِّن رَّبِّ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Nuh said: O my people, there is no straying in me, but I am a messenger from the Lord of the worlds.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62 – 63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62</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أُبَلِّغُكُمْ رِسَٰلَٰتِ رَبِّي وَأَنصَحُ لَكُمْ وَأَعْلَمُ مِنَ اللَّهِ مَا لَا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deliver to you my Lord's messages, I advise you sincerely, and I know from Allah what you do not know.</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63</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أَوَعَجِبْتُمْ أَن جَآءَكُمْ ذِكْرٌ مِّن رَّبِّكُمْ عَلَىٰ رَجُلٍ مِّنكُمْ لِيُنذِرَكُمْ وَلِتَتَّقُواْ وَلَعَلَّكُمْ تُرْحَمُونَ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Are you surprised that a reminder has come to you from your Lord through a man from among you, to warn you so that you have taqwa of Allah and perhaps receive mercy?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64 – 65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64</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فَكَذَّبُوهُ فَأَنجَيْنَٰهُ وَالَّذِينَ مَعَهُ فِي الْفُلْكِ وَأَغْرَقْنَا الَّذِينَ كَذَّبُواْ بِـَٔايَٰتِنَآ إِنَّهُمْ كَانُواْ قَوْمًا عَمِينَ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they denied him, so We saved him and the believers with him in the ark, and drowned those who denied Our signs. They were a people blind in their hearts to the truth.</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65</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وَإِلَىٰ عَادٍ أَخَاهُمْ هُودًا قَالَ يَٰقَوْمِ اعْبُدُواْ اللَّهَ مَا لَكُم مِّنْ إِلَٰهٍ غَيْرُهُ أَفَلَا تَتَّقُونَ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to the tribe of 'Ad We sent their brother Hud. He said: O my people, worship Allah; you have no god but Him. Will you not have taqwa?</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66 – 68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66</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الْمَلَأُ الَّذِينَ كَفَرُواْ مِن قَوْمِهِ إِنَّا لَنَرَىٰكَ فِي سَفَاهَةٍ وَإِنَّا لَنَظُنُّكَ مِنَ الْكَٰذِبِينَ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disbelieving leaders of his people said: We see you in foolishness, and we think you are one of the liars.</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67</a:t>
            </a:r>
            <a:endParaRPr lang="en-US" sz="1600" dirty="0"/>
          </a:p>
        </p:txBody>
      </p:sp>
      <p:sp>
        <p:nvSpPr>
          <p:cNvPr id="13" name="Text 11"/>
          <p:cNvSpPr txBox="1"/>
          <p:nvPr/>
        </p:nvSpPr>
        <p:spPr>
          <a:xfrm>
            <a:off x="1444752" y="321183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يَٰقَوْمِ لَيْسَ بِي سَفَاهَةٌ وَلَٰكِنِّي رَسُولٌ مِّن رَّبِّ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O my people, there is no foolishness in me, but I am a messenger from the Lord of the worlds.</a:t>
            </a:r>
            <a:endParaRPr lang="en-US" sz="3000" dirty="0"/>
          </a:p>
        </p:txBody>
      </p:sp>
      <p:sp>
        <p:nvSpPr>
          <p:cNvPr id="14" name="Shape 12"/>
          <p:cNvSpPr/>
          <p:nvPr/>
        </p:nvSpPr>
        <p:spPr>
          <a:xfrm>
            <a:off x="1444752" y="4652010"/>
            <a:ext cx="8641080" cy="0"/>
          </a:xfrm>
          <a:prstGeom prst="line">
            <a:avLst/>
          </a:prstGeom>
          <a:noFill/>
          <a:ln w="9525">
            <a:solidFill>
              <a:schemeClr val="accent2"/>
            </a:solidFill>
            <a:prstDash val="dash"/>
          </a:ln>
        </p:spPr>
      </p:sp>
      <p:sp>
        <p:nvSpPr>
          <p:cNvPr id="15" name="Shape 13"/>
          <p:cNvSpPr/>
          <p:nvPr/>
        </p:nvSpPr>
        <p:spPr>
          <a:xfrm>
            <a:off x="713232" y="4885182"/>
            <a:ext cx="548640" cy="548640"/>
          </a:xfrm>
          <a:prstGeom prst="star8">
            <a:avLst/>
          </a:prstGeom>
          <a:solidFill>
            <a:schemeClr val="accent2"/>
          </a:solidFill>
          <a:ln/>
        </p:spPr>
      </p:sp>
      <p:sp>
        <p:nvSpPr>
          <p:cNvPr id="16" name="Shape 14"/>
          <p:cNvSpPr/>
          <p:nvPr/>
        </p:nvSpPr>
        <p:spPr>
          <a:xfrm>
            <a:off x="822960" y="499491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851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68</a:t>
            </a:r>
            <a:endParaRPr lang="en-US" sz="1600" dirty="0"/>
          </a:p>
        </p:txBody>
      </p:sp>
      <p:sp>
        <p:nvSpPr>
          <p:cNvPr id="18" name="Text 16"/>
          <p:cNvSpPr txBox="1"/>
          <p:nvPr/>
        </p:nvSpPr>
        <p:spPr>
          <a:xfrm>
            <a:off x="1444752" y="48668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أُبَلِّغُكُمْ رِسَٰلَٰتِ رَبِّي وَأَنَا لَكُمْ نَاصِحٌ أَمِينٌ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deliver to you my Lord's messages, and I am a trustworthy adviser to you.</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69 – 70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69</a:t>
            </a:r>
            <a:endParaRPr lang="en-US" sz="1600" dirty="0"/>
          </a:p>
        </p:txBody>
      </p:sp>
      <p:sp>
        <p:nvSpPr>
          <p:cNvPr id="8" name="Text 6"/>
          <p:cNvSpPr txBox="1"/>
          <p:nvPr/>
        </p:nvSpPr>
        <p:spPr>
          <a:xfrm>
            <a:off x="1444752" y="1370457"/>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أَوَعَجِبْتُمْ أَن جَآءَكُمْ ذِكْرٌ مِّن رَّبِّكُمْ عَلَىٰ رَجُلٍ مِّنكُمْ لِيُنذِرَكُمْ وَاذْكُرُواْ إِذْ جَعَلَكُمْ خُلَفَآءَ مِن بَعْدِ قَوْمِ نُوحٍ وَزَادَكُمْ فِي الْخَلْقِ بَصْطَةً فَاذْكُرُواْ ءَالَآءَ اللَّهِ لَعَلَّكُمْ تُفْلِحُونَ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Are you surprised that a reminder has come to you from your Lord through a man from among you to warn you? Remember when He made you successors on earth after the people of Nuh and gave you extra strength and height. So remember Allah's blessings so that you may succeed.</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262247"/>
            <a:ext cx="548640" cy="548640"/>
          </a:xfrm>
          <a:prstGeom prst="star8">
            <a:avLst/>
          </a:prstGeom>
          <a:solidFill>
            <a:schemeClr val="accent2"/>
          </a:solidFill>
          <a:ln/>
        </p:spPr>
      </p:sp>
      <p:sp>
        <p:nvSpPr>
          <p:cNvPr id="11" name="Shape 9"/>
          <p:cNvSpPr/>
          <p:nvPr/>
        </p:nvSpPr>
        <p:spPr>
          <a:xfrm>
            <a:off x="822960" y="4371975"/>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62247"/>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70</a:t>
            </a:r>
            <a:endParaRPr lang="en-US" sz="1600" dirty="0"/>
          </a:p>
        </p:txBody>
      </p:sp>
      <p:sp>
        <p:nvSpPr>
          <p:cNvPr id="13" name="Text 11"/>
          <p:cNvSpPr txBox="1"/>
          <p:nvPr/>
        </p:nvSpPr>
        <p:spPr>
          <a:xfrm>
            <a:off x="1444752" y="4243959"/>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أَجِئْتَنَا لِنَعْبُدَ اللَّهَ وَحْدَهُ وَنَذَرَ مَا كَانَ يَعْبُدُ ءَابَآؤُنَا فَأْتِنَا بِمَا تَعِدُنَآ إِن كُنتَ مِنَ الصَّـٰدِقِينَ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Have you come to us so that we worship Allah alone and leave what our fathers used to worship? Then bring us the punishment you promise us, if you are truthful.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71 – 72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71</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قَدْ وَقَعَ عَلَيْكُم مِّن رَّبِّكُمْ رِجْسٌ وَغَضَبٌ أَتُجَٰدِلُونَنِي فِي أَسْمَآءٍ سَمَّيْتُمُوهَآ أَنتُمْ وَءَابَآؤُكُم مَّا نَزَّلَ اللَّهُ بِهَا مِن سُلْطَٰنٍ فَانتَظِرُواْ إِنِّي مَعَكُم مِّنَ الْمُنتَظِرِينَ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Punishment and anger from your Lord have already fallen on you. Do you argue with me about idols you and your fathers named as gods, for which Allah sent down no proof? So wait for the punishment; I am waiting with you.</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72</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فَأَنجَيْنَٰهُ وَالَّذِينَ مَعَهُ بِرَحْمَةٍ مِّنَّا وَقَطَعْنَا دَابِرَ الَّذِينَ كَذَّبُواْ بِـَٔايَٰتِنَا وَمَا كَانُواْ 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We saved him and the believers with him by Our mercy, and wiped out to the last those who denied Our signs; they were not believers.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500" b="1" dirty="0">
                <a:solidFill>
                  <a:schemeClr val="accent2"/>
                </a:solidFill>
                <a:latin typeface="Georgia" pitchFamily="34" charset="0"/>
                <a:ea typeface="Georgia" pitchFamily="34" charset="-122"/>
                <a:cs typeface="Georgia" pitchFamily="34" charset="-120"/>
              </a:rPr>
              <a:t>Salih, Lut and Shu'ayb</a:t>
            </a:r>
            <a:endParaRPr lang="en-US" sz="25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4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73 – 93</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Al-A'raf • Makki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section;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story of Salih's she-camel and how Thamud killed her, the people of Lut and their shameful deed, and Shu'ayb's call to the people of Madyan to be fair in measuring and weighing.</a:t>
            </a:r>
            <a:endParaRPr lang="en-US" sz="17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73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73</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وَإِلَىٰ ثَمُودَ أَخَاهُمْ صَٰلِحًا قَالَ يَٰقَوْمِ اعْبُدُواْ اللَّهَ مَا لَكُم مِّنْ إِلَٰهٍ غَيْرُهُ قَدْ جَآءَتْكُم بَيِّنَةٌ مِّن رَّبِّكُمْ هَٰذِهِ نَاقَةُ اللَّهِ لَكُمْ ءَايَةً فَذَرُوهَا تَأْكُلْ فِي أَرْضِ اللَّهِ وَلَا تَمَسُّوهَا بِسُوءٍ فَيَأْخُذَكُمْ عَذَابٌ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to Thamud We sent their brother Salih. He said: O my people, worship Allah; you have no god but Him. A clear sign has come to you from your Lord: this she-camel of Allah is a sign for you. Leave her to eat on Allah's earth and do not harm her, or a painful punishment will seize you.</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74 – 75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74</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وَاذْكُرُواْ إِذْ جَعَلَكُمْ خُلَفَآءَ مِن بَعْدِ عَادٍ وَبَوَّأَكُمْ فِي الْأَرْضِ تَتَّخِذُونَ مِن سُهُولِهَا قُصُورًا وَتَنْحِتُونَ الْجِبَالَ بُيُوتًا فَاذْكُرُواْ ءَالَآءَ اللَّهِ وَلَا تَعْثَوْاْ فِي الْأَرْضِ مُفْسِدِينَ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Remember when He made you successors on earth after 'Ad and settled you in the land. You build palaces on its plains and carve homes out of the mountains. So remember Allah's blessings, and do not go about the earth spreading corruption.</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75</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الْمَلَأُ الَّذِينَ اسْتَكْبَرُواْ مِن قَوْمِهِ لِلَّذِينَ اسْتُضْعِفُواْ لِمَنْ ءَامَنَ مِنْهُمْ أَتَعْلَمُونَ أَنَّ صَٰلِحًا مُّرْسَلٌ مِّن رَّبِّهِ قَالُواْ إِنَّا بِمَآ أُرْسِلَ بِهِ مُؤْمِنُونَ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arrogant leaders of his people said to the weak believers: Do you know that Salih is sent by his Lord? They said: We believe in what he was sent with.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76 – 78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76</a:t>
            </a:r>
            <a:endParaRPr lang="en-US" sz="16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الَّذِينَ اسْتَكْبَرُواْ إِنَّا بِالَّذِي ءَامَنتُم بِهِ كَٰفِرُونَ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arrogant said: We disbelieve in what you believe in.</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77</a:t>
            </a:r>
            <a:endParaRPr lang="en-US" sz="16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فَعَقَرُواْ النَّاقَةَ وَعَتَوْاْ عَنْ أَمْرِ رَبِّهِمْ وَقَالُواْ يَٰصَٰلِحُ ائْتِنَا بِمَا تَعِدُنَآ إِن كُنتَ مِنَ الْمُرْسَلِينَ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they slaughtered the she-camel, arrogantly disobeyed their Lord's command, and said: O Salih, bring us the punishment you promise us, if you are a messenger.</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78</a:t>
            </a:r>
            <a:endParaRPr lang="en-US" sz="16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فَأَخَذَتْهُمُ الرَّجْفَةُ فَأَصْبَحُواْ فِي دَارِهِمْ جَٰثِمِينَ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the violent earthquake seized them, and they lay dead on their knees in their homes.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79 – 81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79</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فَتَوَلَّىٰ عَنْهُمْ وَقَالَ يَٰقَوْمِ لَقَدْ أَبْلَغْتُكُمْ رِسَالَةَ رَبِّي وَنَصَحْتُ لَكُمْ وَلَٰكِن لَّا تُحِبُّونَ النَّـٰصِحِينَ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Salih turned away from them and said: O my people, I delivered to you my Lord's message and advised you sincerely, but you do not like sincere advisers.</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80</a:t>
            </a:r>
            <a:endParaRPr lang="en-US" sz="1600" dirty="0"/>
          </a:p>
        </p:txBody>
      </p:sp>
      <p:sp>
        <p:nvSpPr>
          <p:cNvPr id="13" name="Text 11"/>
          <p:cNvSpPr txBox="1"/>
          <p:nvPr/>
        </p:nvSpPr>
        <p:spPr>
          <a:xfrm>
            <a:off x="1444752" y="348615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وَلُوطًا إِذْ قَالَ لِقَوْمِهِ أَتَأْتُونَ الْفَٰحِشَةَ مَا سَبَقَكُم بِهَا مِنْ أَحَدٍ مِّنَ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remember Lut, when he said to his people: Do you commit a shameful deed that no one in the worlds did before you?</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81</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إِنَّكُمْ لَتَأْتُونَ الرِّجَالَ شَهْوَةً مِّن دُونِ النِّسَآءِ بَلْ أَنتُمْ قَوْمٌ مُّسْرِفُونَ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go to men with desire instead of women; rather, you are a people who overstep the limits.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82 – 84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82</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كَانَ جَوَابَ قَوْمِهِ إِلَّآ أَن قَالُواْ أَخْرِجُوهُم مِّن قَرْيَتِكُمْ إِنَّهُمْ أُنَاسٌ يَتَطَهَّرُونَ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His people's only answer was: Drive Lut and his family out of your town; they are people who keep themselves pure from what we do.</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83</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فَأَنجَيْنَٰهُ وَأَهْلَهُ إِلَّا امْرَأَتَهُ كَانَتْ مِنَ الْغَٰبِرِينَ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We saved him and his family, except his wife; she was among those destroyed.</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84</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وَأَمْطَرْنَا عَلَيْهِم مَّطَرًا فَانظُرْ كَيْفَ كَانَ عَٰقِبَةُ الْمُجْرِمِينَ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We rained stones from the sky on them. See what happened to the criminals.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85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85</a:t>
            </a:r>
            <a:endParaRPr lang="en-US" sz="16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وَإِلَىٰ مَدْيَنَ أَخَاهُمْ شُعَيْبًا قَالَ يَٰقَوْمِ اعْبُدُواْ اللَّهَ مَا لَكُم مِّنْ إِلَٰهٍ غَيْرُهُ قَدْ جَآءَتْكُم بَيِّنَةٌ مِّن رَّبِّكُمْ فَأَوْفُواْ الْكَيْلَ وَالْمِيزَانَ وَلَا تَبْخَسُواْ النَّاسَ أَشْيَآءَهُمْ وَلَا تُفْسِدُواْ فِي الْأَرْضِ بَعْدَ إِصْلَٰحِهَا ذَٰلِكُمْ خَيْرٌ لَّكُمْ إِن كُنتُم 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to Madyan We sent their brother Shu'ayb. He said: O my people, worship Allah. Clear proof has come to you from your Lord, so give full measure and weight, do not cheat people of their things, and do not spread corruption on earth after it has been put right. That is better for you, if you are believers.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86 – 87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86</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تَقْعُدُواْ بِكُلِّ صِرَٰطٍ تُوعِدُونَ وَتَصُدُّونَ عَن سَبِيلِ اللَّهِ مَنْ ءَامَنَ بِهِ وَتَبْغُونَهَا عِوَجًا وَاذْكُرُواْ إِذْ كُنتُمْ قَلِيلًا فَكَثَّرَكُمْ وَانظُرُواْ كَيْفَ كَانَ عَٰقِبَةُ الْمُفْسِدِينَ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sit on every road threatening people and blocking the believers from Allah's religion, wanting it crooked. Remember when you were few and He made you many, and see what happened to the corrupters.</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87</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كَانَ طَآئِفَةٌ مِّنكُمْ ءَامَنُواْ بِالَّذِي أُرْسِلْتُ بِهِ وَطَآئِفَةٌ لَّمْ يُؤْمِنُواْ فَاصْبِرُواْ حَتَّىٰ يَحْكُمَ اللَّهُ بَيْنَنَا وَهُوَ خَيْرُ الْحَٰكِمِينَ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a group of you believes in what I was sent with and another does not, be patient until Allah judges between us; He is the best of judges.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88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825496"/>
            <a:ext cx="548640" cy="548640"/>
          </a:xfrm>
          <a:prstGeom prst="star8">
            <a:avLst/>
          </a:prstGeom>
          <a:solidFill>
            <a:schemeClr val="accent2"/>
          </a:solidFill>
          <a:ln/>
        </p:spPr>
      </p:sp>
      <p:sp>
        <p:nvSpPr>
          <p:cNvPr id="6" name="Shape 4"/>
          <p:cNvSpPr/>
          <p:nvPr/>
        </p:nvSpPr>
        <p:spPr>
          <a:xfrm>
            <a:off x="822960" y="29352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88</a:t>
            </a:r>
            <a:endParaRPr lang="en-US" sz="1600" dirty="0"/>
          </a:p>
        </p:txBody>
      </p:sp>
      <p:sp>
        <p:nvSpPr>
          <p:cNvPr id="8" name="Text 6"/>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الْمَلَأُ الَّذِينَ اسْتَكْبَرُواْ مِن قَوْمِهِ لَنُخْرِجَنَّكَ يَٰشُعَيْبُ وَالَّذِينَ ءَامَنُواْ مَعَكَ مِن قَرْيَتِنَآ أَوْ لَتَعُودُنَّ فِي مِلَّتِنَا قَالَ أَوَلَوْ كُنَّا كَٰرِهِينَ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arrogant leaders said: We will drive you out of our town, O Shu'ayb, and those who believe with you, or you must return to our religion. He said: Even if we hate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89 – 90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89</a:t>
            </a:r>
            <a:endParaRPr lang="en-US" sz="1600" dirty="0"/>
          </a:p>
        </p:txBody>
      </p:sp>
      <p:sp>
        <p:nvSpPr>
          <p:cNvPr id="8" name="Text 6"/>
          <p:cNvSpPr txBox="1"/>
          <p:nvPr/>
        </p:nvSpPr>
        <p:spPr>
          <a:xfrm>
            <a:off x="1444752" y="170535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قَدِ افْتَرَيْنَا عَلَى اللَّهِ كَذِبًا إِنْ عُدْنَا فِي مِلَّتِكُم بَعْدَ إِذْ نَجَّىٰنَا اللَّهُ مِنْهَا وَمَا يَكُونُ لَنَآ أَن نَّعُودَ فِيهَآ إِلَّآ أَن يَشَآءَ اللَّهُ رَبُّنَا وَسِعَ رَبُّنَا كُلَّ شَيْءٍ عِلْمًا عَلَى اللَّهِ تَوَكَّلْنَا رَبَّنَا افْتَحْ بَيْنَنَا وَبَيْنَ قَوْمِنَا بِالْحَقِّ وَأَنتَ خَيْرُ الْفَٰتِحِينَ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would be lying about Allah if we returned to your religion after Allah saved us from it. It is not for us to return to it unless Allah our Lord wills. Our Lord's knowledge covers everything. In Allah we put our trust. Our Lord, judge between us and our people with the truth; You are the best of judges.</a:t>
            </a:r>
            <a:endParaRPr lang="en-US" sz="3000" dirty="0"/>
          </a:p>
        </p:txBody>
      </p:sp>
      <p:sp>
        <p:nvSpPr>
          <p:cNvPr id="9" name="Shape 7"/>
          <p:cNvSpPr/>
          <p:nvPr/>
        </p:nvSpPr>
        <p:spPr>
          <a:xfrm>
            <a:off x="1444752" y="4503420"/>
            <a:ext cx="8641080" cy="0"/>
          </a:xfrm>
          <a:prstGeom prst="line">
            <a:avLst/>
          </a:prstGeom>
          <a:noFill/>
          <a:ln w="9525">
            <a:solidFill>
              <a:schemeClr val="accent2"/>
            </a:solidFill>
            <a:prstDash val="dash"/>
          </a:ln>
        </p:spPr>
      </p:sp>
      <p:sp>
        <p:nvSpPr>
          <p:cNvPr id="10" name="Shape 8"/>
          <p:cNvSpPr/>
          <p:nvPr/>
        </p:nvSpPr>
        <p:spPr>
          <a:xfrm>
            <a:off x="713232" y="4736592"/>
            <a:ext cx="548640" cy="548640"/>
          </a:xfrm>
          <a:prstGeom prst="star8">
            <a:avLst/>
          </a:prstGeom>
          <a:solidFill>
            <a:schemeClr val="accent2"/>
          </a:solidFill>
          <a:ln/>
        </p:spPr>
      </p:sp>
      <p:sp>
        <p:nvSpPr>
          <p:cNvPr id="11" name="Shape 9"/>
          <p:cNvSpPr/>
          <p:nvPr/>
        </p:nvSpPr>
        <p:spPr>
          <a:xfrm>
            <a:off x="822960" y="484632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73659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90</a:t>
            </a:r>
            <a:endParaRPr lang="en-US" sz="1600" dirty="0"/>
          </a:p>
        </p:txBody>
      </p:sp>
      <p:sp>
        <p:nvSpPr>
          <p:cNvPr id="13" name="Text 11"/>
          <p:cNvSpPr txBox="1"/>
          <p:nvPr/>
        </p:nvSpPr>
        <p:spPr>
          <a:xfrm>
            <a:off x="1444752" y="471830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الْمَلَأُ الَّذِينَ كَفَرُواْ مِن قَوْمِهِ لَئِنِ اتَّبَعْتُمْ شُعَيْبًا إِنَّكُمْ إِذًا لَّخَٰسِرُونَ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disbelieving leaders of his people said: If you follow Shu'ayb, you will surely be losers.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91 – 93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91</a:t>
            </a:r>
            <a:endParaRPr lang="en-US" sz="16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فَأَخَذَتْهُمُ الرَّجْفَةُ فَأَصْبَحُواْ فِي دَارِهِمْ جَٰثِمِينَ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the violent earthquake seized them, and they lay dead in their homes.</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92</a:t>
            </a:r>
            <a:endParaRPr lang="en-US" sz="1600" dirty="0"/>
          </a:p>
        </p:txBody>
      </p:sp>
      <p:sp>
        <p:nvSpPr>
          <p:cNvPr id="13" name="Text 11"/>
          <p:cNvSpPr txBox="1"/>
          <p:nvPr/>
        </p:nvSpPr>
        <p:spPr>
          <a:xfrm>
            <a:off x="1444752" y="267690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كَذَّبُواْ شُعَيْبًا كَأَن لَّمْ يَغْنَوْاْ فِيهَا الَّذِينَ كَذَّبُواْ شُعَيْبًا كَانُواْ هُمُ الْخَٰسِرِينَ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denied Shu'ayb were wiped out as if they had never lived there. Those who denied Shu'ayb were the losers.</a:t>
            </a:r>
            <a:endParaRPr lang="en-US" sz="3000" dirty="0"/>
          </a:p>
        </p:txBody>
      </p:sp>
      <p:sp>
        <p:nvSpPr>
          <p:cNvPr id="14" name="Shape 12"/>
          <p:cNvSpPr/>
          <p:nvPr/>
        </p:nvSpPr>
        <p:spPr>
          <a:xfrm>
            <a:off x="1444752" y="4064508"/>
            <a:ext cx="8641080" cy="0"/>
          </a:xfrm>
          <a:prstGeom prst="line">
            <a:avLst/>
          </a:prstGeom>
          <a:noFill/>
          <a:ln w="9525">
            <a:solidFill>
              <a:schemeClr val="accent2"/>
            </a:solidFill>
            <a:prstDash val="dash"/>
          </a:ln>
        </p:spPr>
      </p:sp>
      <p:sp>
        <p:nvSpPr>
          <p:cNvPr id="15" name="Shape 13"/>
          <p:cNvSpPr/>
          <p:nvPr/>
        </p:nvSpPr>
        <p:spPr>
          <a:xfrm>
            <a:off x="713232" y="4245102"/>
            <a:ext cx="548640" cy="548640"/>
          </a:xfrm>
          <a:prstGeom prst="star8">
            <a:avLst/>
          </a:prstGeom>
          <a:solidFill>
            <a:schemeClr val="accent2"/>
          </a:solidFill>
          <a:ln/>
        </p:spPr>
      </p:sp>
      <p:sp>
        <p:nvSpPr>
          <p:cNvPr id="16" name="Shape 14"/>
          <p:cNvSpPr/>
          <p:nvPr/>
        </p:nvSpPr>
        <p:spPr>
          <a:xfrm>
            <a:off x="822960" y="435483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4510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93</a:t>
            </a:r>
            <a:endParaRPr lang="en-US" sz="1600" dirty="0"/>
          </a:p>
        </p:txBody>
      </p:sp>
      <p:sp>
        <p:nvSpPr>
          <p:cNvPr id="18" name="Text 16"/>
          <p:cNvSpPr txBox="1"/>
          <p:nvPr/>
        </p:nvSpPr>
        <p:spPr>
          <a:xfrm>
            <a:off x="1444752" y="422681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فَتَوَلَّىٰ عَنْهُمْ وَقَالَ يَٰقَوْمِ لَقَدْ أَبْلَغْتُكُمْ رِسَٰلَٰتِ رَبِّي وَنَصَحْتُ لَكُمْ فَكَيْفَ ءَاسَىٰ عَلَىٰ قَوْمٍ 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Shu'ayb turned away from them and said: O my people, I delivered to you my Lord's messages and advised you sincerely, so how can I grieve for a disbelieving people?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300" b="1" dirty="0">
                <a:solidFill>
                  <a:schemeClr val="accent2"/>
                </a:solidFill>
                <a:latin typeface="Georgia" pitchFamily="34" charset="0"/>
                <a:ea typeface="Georgia" pitchFamily="34" charset="-122"/>
                <a:cs typeface="Georgia" pitchFamily="34" charset="-120"/>
              </a:rPr>
              <a:t>Allah's Way With Nations</a:t>
            </a:r>
            <a:endParaRPr lang="en-US" sz="23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5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94 – 102</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Al-A'raf • Makki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section;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Allah's way with nations: He tests them with hardship, then with ease. If they believe, blessings are opened for them; if they deny, they are seized suddenly.</a:t>
            </a:r>
            <a:endParaRPr lang="en-US" sz="17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94 – 95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94</a:t>
            </a:r>
            <a:endParaRPr lang="en-US" sz="1600" dirty="0"/>
          </a:p>
        </p:txBody>
      </p:sp>
      <p:sp>
        <p:nvSpPr>
          <p:cNvPr id="8" name="Text 6"/>
          <p:cNvSpPr txBox="1"/>
          <p:nvPr/>
        </p:nvSpPr>
        <p:spPr>
          <a:xfrm>
            <a:off x="1444752" y="18493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أَرْسَلْنَا فِي قَرْيَةٍ مِّن نَّبِيٍّ إِلَّآ أَخَذْنَآ أَهْلَهَا بِالْبَأْسَآءِ وَالضَّرَّآءِ لَعَلَّهُمْ يَضَّرَّعُونَ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never sent a prophet to a town that denied him without testing its people with poverty and illness so that they might humble themselves before Allah.</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95</a:t>
            </a:r>
            <a:endParaRPr lang="en-US" sz="1600" dirty="0"/>
          </a:p>
        </p:txBody>
      </p:sp>
      <p:sp>
        <p:nvSpPr>
          <p:cNvPr id="13" name="Text 11"/>
          <p:cNvSpPr txBox="1"/>
          <p:nvPr/>
        </p:nvSpPr>
        <p:spPr>
          <a:xfrm>
            <a:off x="1444752" y="350443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بَدَّلْنَا مَكَانَ السَّيِّئَةِ الْحَسَنَةَ حَتَّىٰ عَفَواْ وَّقَالُواْ قَدْ مَسَّ ءَابَآءَنَا الضَّرَّآءُ وَالسَّرَّآءُ فَأَخَذْنَٰهُم بَغْتَةً وَهُمْ لَا يَشْعُرُونَ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We changed hardship into ease until they grew in number and wealth and said: This is just how time goes; our fathers had hardship and ease too. So We seized them suddenly when they did not expect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96 – 98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96</a:t>
            </a:r>
            <a:endParaRPr lang="en-US" sz="1600" dirty="0"/>
          </a:p>
        </p:txBody>
      </p:sp>
      <p:sp>
        <p:nvSpPr>
          <p:cNvPr id="8" name="Text 6"/>
          <p:cNvSpPr txBox="1"/>
          <p:nvPr/>
        </p:nvSpPr>
        <p:spPr>
          <a:xfrm>
            <a:off x="1444752" y="134416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أَنَّ أَهْلَ الْقُرَىٰ ءَامَنُواْ وَاتَّقَوْاْ لَفَتَحْنَا عَلَيْهِم بَرَكَٰتٍ مِّنَ السَّمَآءِ وَالْأَرْضِ وَلَٰكِن كَذَّبُواْ فَأَخَذْنَٰهُم بِمَا كَانُواْ يَكْسِبُونَ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 people of the towns had believed and had taqwa, We would have opened for them blessings from the sky and the earth, but they denied, so We seized them for what they earned.</a:t>
            </a:r>
            <a:endParaRPr lang="en-US" sz="3000" dirty="0"/>
          </a:p>
        </p:txBody>
      </p:sp>
      <p:sp>
        <p:nvSpPr>
          <p:cNvPr id="9" name="Shape 7"/>
          <p:cNvSpPr/>
          <p:nvPr/>
        </p:nvSpPr>
        <p:spPr>
          <a:xfrm>
            <a:off x="1444752" y="3236976"/>
            <a:ext cx="8641080" cy="0"/>
          </a:xfrm>
          <a:prstGeom prst="line">
            <a:avLst/>
          </a:prstGeom>
          <a:noFill/>
          <a:ln w="9525">
            <a:solidFill>
              <a:schemeClr val="accent2"/>
            </a:solidFill>
            <a:prstDash val="dash"/>
          </a:ln>
        </p:spPr>
      </p:sp>
      <p:sp>
        <p:nvSpPr>
          <p:cNvPr id="10" name="Shape 8"/>
          <p:cNvSpPr/>
          <p:nvPr/>
        </p:nvSpPr>
        <p:spPr>
          <a:xfrm>
            <a:off x="713232" y="3374136"/>
            <a:ext cx="548640" cy="548640"/>
          </a:xfrm>
          <a:prstGeom prst="star8">
            <a:avLst/>
          </a:prstGeom>
          <a:solidFill>
            <a:schemeClr val="accent2"/>
          </a:solidFill>
          <a:ln/>
        </p:spPr>
      </p:sp>
      <p:sp>
        <p:nvSpPr>
          <p:cNvPr id="11" name="Shape 9"/>
          <p:cNvSpPr/>
          <p:nvPr/>
        </p:nvSpPr>
        <p:spPr>
          <a:xfrm>
            <a:off x="822960" y="348386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741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97</a:t>
            </a:r>
            <a:endParaRPr lang="en-US" sz="1600" dirty="0"/>
          </a:p>
        </p:txBody>
      </p:sp>
      <p:sp>
        <p:nvSpPr>
          <p:cNvPr id="13" name="Text 11"/>
          <p:cNvSpPr txBox="1"/>
          <p:nvPr/>
        </p:nvSpPr>
        <p:spPr>
          <a:xfrm>
            <a:off x="1444752" y="33558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أَفَأَمِنَ أَهْلُ الْقُرَىٰ أَن يَأْتِيَهُم بَأْسُنَا بَيَٰتًا وَهُمْ نَآئِمُونَ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the people of the towns feel safe that Our punishment will not come to them at night while they sleep?</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98</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أَوَأَمِنَ أَهْلُ الْقُرَىٰ أَن يَأْتِيَهُم بَأْسُنَا ضُحًى وَهُمْ يَلْعَبُونَ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do the people of the towns feel safe that Our punishment will not come to them in the morning while they play?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99 – 100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99</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أَفَأَمِنُواْ مَكْرَ اللَّهِ فَلَا يَأْمَنُ مَكْرَ اللَّهِ إِلَّا الْقَوْمُ الْخَٰسِرُونَ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they feel safe from Allah's sudden punishment and His leading them on? No one feels safe from Allah's punishment except the losing people.</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100</a:t>
            </a:r>
            <a:endParaRPr lang="en-US" sz="13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أَوَلَمْ يَهْدِ لِلَّذِينَ يَرِثُونَ الْأَرْضَ مِن بَعْدِ أَهْلِهَآ أَن لَّوْ نَشَآءُ أَصَبْنَٰهُم بِذُنُوبِهِمْ وَنَطْبَعُ عَلَىٰ قُلُوبِهِمْ فَهُمْ لَا يَسْمَعُونَ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Is it not clear to those who inherit the land after its destroyed people that if We willed, We could punish them for their sins and seal their hearts so they do not hear?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101 – 102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101</a:t>
            </a:r>
            <a:endParaRPr lang="en-US" sz="1300" dirty="0"/>
          </a:p>
        </p:txBody>
      </p:sp>
      <p:sp>
        <p:nvSpPr>
          <p:cNvPr id="8" name="Text 6"/>
          <p:cNvSpPr txBox="1"/>
          <p:nvPr/>
        </p:nvSpPr>
        <p:spPr>
          <a:xfrm>
            <a:off x="1444752" y="197967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تِلْكَ الْقُرَىٰ نَقُصُّ عَلَيْكَ مِنْ أَنبَآئِهَا وَلَقَدْ جَآءَتْهُمْ رُسُلُهُم بِالْبَيِّنَٰتِ فَمَا كَانُواْ لِيُؤْمِنُواْ بِمَا كَذَّبُواْ مِن قَبْلُ كَذَٰلِكَ يَطْبَعُ اللَّهُ عَلَىٰ قُلُوبِ الْكَٰفِرِينَ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are the towns whose stories We tell you. Their messengers came to them with clear miracles, but they would not believe in what they had denied before. That is how Allah seals the hearts of the disbelievers.</a:t>
            </a:r>
            <a:endParaRPr lang="en-US" sz="3000" dirty="0"/>
          </a:p>
        </p:txBody>
      </p:sp>
      <p:sp>
        <p:nvSpPr>
          <p:cNvPr id="9" name="Shape 7"/>
          <p:cNvSpPr/>
          <p:nvPr/>
        </p:nvSpPr>
        <p:spPr>
          <a:xfrm>
            <a:off x="1444752" y="4229100"/>
            <a:ext cx="8641080" cy="0"/>
          </a:xfrm>
          <a:prstGeom prst="line">
            <a:avLst/>
          </a:prstGeom>
          <a:noFill/>
          <a:ln w="9525">
            <a:solidFill>
              <a:schemeClr val="accent2"/>
            </a:solidFill>
            <a:prstDash val="dash"/>
          </a:ln>
        </p:spPr>
      </p:sp>
      <p:sp>
        <p:nvSpPr>
          <p:cNvPr id="10" name="Shape 8"/>
          <p:cNvSpPr/>
          <p:nvPr/>
        </p:nvSpPr>
        <p:spPr>
          <a:xfrm>
            <a:off x="713232" y="4462272"/>
            <a:ext cx="548640" cy="548640"/>
          </a:xfrm>
          <a:prstGeom prst="star8">
            <a:avLst/>
          </a:prstGeom>
          <a:solidFill>
            <a:schemeClr val="accent2"/>
          </a:solidFill>
          <a:ln/>
        </p:spPr>
      </p:sp>
      <p:sp>
        <p:nvSpPr>
          <p:cNvPr id="11" name="Shape 9"/>
          <p:cNvSpPr/>
          <p:nvPr/>
        </p:nvSpPr>
        <p:spPr>
          <a:xfrm>
            <a:off x="822960" y="45720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46227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102</a:t>
            </a:r>
            <a:endParaRPr lang="en-US" sz="1300" dirty="0"/>
          </a:p>
        </p:txBody>
      </p:sp>
      <p:sp>
        <p:nvSpPr>
          <p:cNvPr id="13" name="Text 11"/>
          <p:cNvSpPr txBox="1"/>
          <p:nvPr/>
        </p:nvSpPr>
        <p:spPr>
          <a:xfrm>
            <a:off x="1444752" y="44439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وَجَدْنَا لِأَكْثَرِهِم مِّنْ عَهْدٍ وَإِن وَجَدْنَآ أَكْثَرَهُمْ لَفَٰسِقِينَ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did not find most of them keeping their promises; We found most of them disobedient.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300" b="1" dirty="0">
                <a:solidFill>
                  <a:schemeClr val="accent2"/>
                </a:solidFill>
                <a:latin typeface="Georgia" pitchFamily="34" charset="0"/>
                <a:ea typeface="Georgia" pitchFamily="34" charset="-122"/>
                <a:cs typeface="Georgia" pitchFamily="34" charset="-120"/>
              </a:rPr>
              <a:t>Musa, Pharaoh, Magicians</a:t>
            </a:r>
            <a:endParaRPr lang="en-US" sz="23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6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103 – 137</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Al-A'raf • Makki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section;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Musa's call to Pharaoh, the contest with the magicians who believed and stood firm against threats, the signs sent on Pharaoh's people, then their drowning and the victory of the oppressed.</a:t>
            </a:r>
            <a:endParaRPr lang="en-US" sz="17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103 – 104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103</a:t>
            </a:r>
            <a:endParaRPr lang="en-US" sz="1300" dirty="0"/>
          </a:p>
        </p:txBody>
      </p:sp>
      <p:sp>
        <p:nvSpPr>
          <p:cNvPr id="8" name="Text 6"/>
          <p:cNvSpPr txBox="1"/>
          <p:nvPr/>
        </p:nvSpPr>
        <p:spPr>
          <a:xfrm>
            <a:off x="1444752" y="210997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بَعَثْنَا مِن بَعْدِهِم مُّوسَىٰ بِـَٔايَٰتِنَآ إِلَىٰ فِرْعَوْنَ وَمَلَإِيْهِ فَظَلَمُواْ بِهَا فَانظُرْ كَيْفَ كَانَ عَٰقِبَةُ الْمُفْسِدِينَ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after those messengers We sent Musa with Our signs to Pharaoh and his chiefs, but they rejected them. See what happened to the corrupters.</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104</a:t>
            </a:r>
            <a:endParaRPr lang="en-US" sz="1300" dirty="0"/>
          </a:p>
        </p:txBody>
      </p:sp>
      <p:sp>
        <p:nvSpPr>
          <p:cNvPr id="13" name="Text 11"/>
          <p:cNvSpPr txBox="1"/>
          <p:nvPr/>
        </p:nvSpPr>
        <p:spPr>
          <a:xfrm>
            <a:off x="1444752" y="431368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مُوسَىٰ يَٰفِرْعَوْنُ إِنِّي رَسُولٌ مِّن رَّبِّ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Musa said: O Pharaoh, I am a messenger from the Lord of the worlds.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105 – 107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105</a:t>
            </a:r>
            <a:endParaRPr lang="en-US" sz="1300" dirty="0"/>
          </a:p>
        </p:txBody>
      </p:sp>
      <p:sp>
        <p:nvSpPr>
          <p:cNvPr id="8" name="Text 6"/>
          <p:cNvSpPr txBox="1"/>
          <p:nvPr/>
        </p:nvSpPr>
        <p:spPr>
          <a:xfrm>
            <a:off x="1444752" y="143103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حَقِيقٌ عَلَىٰ أَن لَّآ أَقُولَ عَلَى اللَّهِ إِلَّا الْحَقَّ قَدْ جِئْتُكُم بِبَيِّنَةٍ مِّن رَّبِّكُمْ فَأَرْسِلْ مَعِيَ بَنِي إِسْرَـٰءِيلَ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only right that I say nothing about Allah except the truth. I have brought you a clear sign from your Lord, so let the Children of Israel go with me.</a:t>
            </a:r>
            <a:endParaRPr lang="en-US" sz="3000" dirty="0"/>
          </a:p>
        </p:txBody>
      </p:sp>
      <p:sp>
        <p:nvSpPr>
          <p:cNvPr id="9" name="Shape 7"/>
          <p:cNvSpPr/>
          <p:nvPr/>
        </p:nvSpPr>
        <p:spPr>
          <a:xfrm>
            <a:off x="1444752" y="3410712"/>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106</a:t>
            </a:r>
            <a:endParaRPr lang="en-US" sz="1300" dirty="0"/>
          </a:p>
        </p:txBody>
      </p:sp>
      <p:sp>
        <p:nvSpPr>
          <p:cNvPr id="13" name="Text 11"/>
          <p:cNvSpPr txBox="1"/>
          <p:nvPr/>
        </p:nvSpPr>
        <p:spPr>
          <a:xfrm>
            <a:off x="1444752" y="361645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إِن كُنتَ جِئْتَ بِـَٔايَةٍ فَأْتِ بِهَآ إِن كُنتَ مِنَ الصَّـٰدِقِينَ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Pharaoh said: If you have brought a sign, show it, if you are truthful.</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107</a:t>
            </a:r>
            <a:endParaRPr lang="en-US" sz="13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فَأَلْقَىٰ عَصَاهُ فَإِذَا هِيَ ثُعْبَانٌ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he threw down his staff, and suddenly it was a huge, clear serpent.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108 – 111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108</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وَنَزَعَ يَدَهُ فَإِذَا هِيَ بَيْضَآءُ لِلنَّـٰظِرِينَ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he drew out his hand from his clothing, and it was shining white for those looking.</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109</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الْمَلَأُ مِن قَوْمِ فِرْعَوْنَ إِنَّ هَٰذَا لَسَٰحِرٌ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chiefs of Pharaoh's people said: This is a skilled magician</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110</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يُرِيدُ أَن يُخْرِجَكُم مِّنْ أَرْضِكُمْ فَمَاذَا تَأْمُرُونَ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wants to drive you out of your land with his magic. So what do you advise?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111</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أَرْجِهْ وَأَخَاهُ وَأَرْسِلْ فِي الْمَدَآئِنِ حَٰشِرِينَ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Delay him and his brother, and send gatherers to the cities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112 – 115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112</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يَأْتُوكَ بِكُلِّ سَٰحِرٍ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bring you every skilled magician.</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113</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وَجَآءَ السَّحَرَةُ فِرْعَوْنَ قَالُواْ إِنَّ لَنَا لَأَجْرًا إِن كُنَّا نَحْنُ الْغَٰلِبِينَ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magicians came to Pharaoh and said: Will we have a reward if we defeat Musa?</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114</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نَعَمْ وَإِنَّكُمْ لَمِنَ الْمُقَرَّبِينَ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Yes, and you will be among those close to me.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115</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يَٰمُوسَىٰ إِمَّآ أَن تُلْقِيَ وَإِمَّآ أَن نَّكُونَ نَحْنُ الْمُلْقِينَ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O Musa, either you throw first, or we will be the ones to throw.</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116 – 118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116</a:t>
            </a:r>
            <a:endParaRPr lang="en-US" sz="13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أَلْقُواْ فَلَمَّآ أَلْقَوْاْ سَحَرُواْ أَعْيُنَ النَّاسِ وَاسْتَرْهَبُوهُمْ وَجَآءُو بِسِحْرٍ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Musa said: You throw. When they threw their ropes and sticks, they bewitched people's eyes, frightened them, and produced great magic.</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117</a:t>
            </a:r>
            <a:endParaRPr lang="en-US" sz="13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وَأَوْحَيْنَآ إِلَىٰ مُوسَىٰ أَنْ أَلْقِ عَصَاكَ فَإِذَا هِيَ تَلْقَفُ مَا يَأْفِكُونَ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revealed to Musa: Throw your staff. And suddenly it swallowed up their fake tricks.</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118</a:t>
            </a:r>
            <a:endParaRPr lang="en-US" sz="13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فَوَقَعَ الْحَقُّ وَبَطَلَ مَا كَانُواْ يَعْمَلُونَ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the truth was established, and what they were doing of magic was proven false.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119 – 122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119</a:t>
            </a:r>
            <a:endParaRPr lang="en-US" sz="13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فَغُلِبُواْ هُنَالِكَ وَانقَلَبُواْ صَٰغِرِينَ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were defeated there and went back humiliated.</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120</a:t>
            </a:r>
            <a:endParaRPr lang="en-US" sz="13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وَأُلْقِيَ السَّحَرَةُ سَٰجِدِينَ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magicians fell down in prostration to Allah.</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121</a:t>
            </a:r>
            <a:endParaRPr lang="en-US" sz="13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ءَامَنَّا بِرَبِّ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We believe in the Lord of the worlds,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122</a:t>
            </a:r>
            <a:endParaRPr lang="en-US" sz="13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رَبِّ مُوسَىٰ وَهَٰرُونَ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Lord of Musa and Harun.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123 – 125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123</a:t>
            </a:r>
            <a:endParaRPr lang="en-US" sz="13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فِرْعَوْنُ ءَامَنتُم بِهِ قَبْلَ أَنْ ءَاذَنَ لَكُمْ إِنَّ هَٰذَا لَمَكْرٌ مَّكَرْتُمُوهُ فِي الْمَدِينَةِ لِتُخْرِجُواْ مِنْهَآ أَهْلَهَا فَسَوْفَ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Pharaoh said: You believed in him before I gave you permission? This is a plot you planned in the city to drive its people out. You will soon know!</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124</a:t>
            </a:r>
            <a:endParaRPr lang="en-US" sz="1300" dirty="0"/>
          </a:p>
        </p:txBody>
      </p:sp>
      <p:sp>
        <p:nvSpPr>
          <p:cNvPr id="13" name="Text 11"/>
          <p:cNvSpPr txBox="1"/>
          <p:nvPr/>
        </p:nvSpPr>
        <p:spPr>
          <a:xfrm>
            <a:off x="1444752" y="348615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لَأُقَطِّعَنَّ أَيْدِيَكُمْ وَأَرْجُلَكُم مِّنْ خِلَٰفٍ ثُمَّ لَأُصَلِّبَنَّكُمْ أَجْمَعِينَ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will cut off your hands and feet on opposite sides, a hand on one side and a foot on the other, then I will crucify you all.</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125</a:t>
            </a:r>
            <a:endParaRPr lang="en-US" sz="13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إِنَّآ إِلَىٰ رَبِّنَا مُنقَلِبُونَ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We will return to our Lord, so we do not care about your threat.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126 – 127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126</a:t>
            </a:r>
            <a:endParaRPr lang="en-US" sz="13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تَنقِمُ مِنَّآ إِلَّآ أَنْ ءَامَنَّا بِـَٔايَٰتِ رَبِّنَا لَمَّا جَآءَتْنَا رَبَّنَآ أَفْرِغْ عَلَيْنَا صَبْرًا وَتَوَفَّنَا مُسْلِمِينَ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only hold against us that we believed in our Lord's signs when they came to us. Our Lord, pour patience upon us and let us die as Muslims.</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127</a:t>
            </a:r>
            <a:endParaRPr lang="en-US" sz="13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الْمَلَأُ مِن قَوْمِ فِرْعَوْنَ أَتَذَرُ مُوسَىٰ وَقَوْمَهُ لِيُفْسِدُواْ فِي الْأَرْضِ وَيَذَرَكَ وَءَالِهَتَكَ قَالَ سَنُقَتِّلُ أَبْنَآءَهُمْ وَنَسْتَحْيِ نِسَآءَهُمْ وَإِنَّا فَوْقَهُمْ قَٰهِرُونَ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chiefs of Pharaoh's people said: Will you leave Musa and his people to spread corruption in the land and abandon you and your gods? He said: We will kill their sons and keep their women alive, and we have full power over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128 – 129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128</a:t>
            </a:r>
            <a:endParaRPr lang="en-US" sz="13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مُوسَىٰ لِقَوْمِهِ اسْتَعِينُواْ بِاللَّهِ وَاصْبِرُواْ إِنَّ الْأَرْضَ لِلَّهِ يُورِثُهَا مَن يَشَآءُ مِنْ عِبَادِهِ وَالْعَٰقِبَةُ لِلْمُتَّقِينَ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Musa said to his people: Seek help from Allah and be patient. The earth belongs to Allah; He gives it to whom He wills of His servants, and the good end is for those with taqwa.</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129</a:t>
            </a:r>
            <a:endParaRPr lang="en-US" sz="13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أُوذِينَا مِن قَبْلِ أَن تَأْتِيَنَا وَمِن بَعْدِ مَا جِئْتَنَا قَالَ عَسَىٰ رَبُّكُمْ أَن يُهْلِكَ عَدُوَّكُمْ وَيَسْتَخْلِفَكُمْ فِي الْأَرْضِ فَيَنظُرَ كَيْفَ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We were harmed before you came to us and after you came. He said: Perhaps your Lord will destroy your enemy and make you successors in the land, then see how you act.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130 – 131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130</a:t>
            </a:r>
            <a:endParaRPr lang="en-US" sz="1300" dirty="0"/>
          </a:p>
        </p:txBody>
      </p:sp>
      <p:sp>
        <p:nvSpPr>
          <p:cNvPr id="8" name="Text 6"/>
          <p:cNvSpPr txBox="1"/>
          <p:nvPr/>
        </p:nvSpPr>
        <p:spPr>
          <a:xfrm>
            <a:off x="1444752" y="18493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أَخَذْنَآ ءَالَ فِرْعَوْنَ بِالسِّنِينَ وَنَقْصٍ مِّنَ الثَّمَرَٰتِ لَعَلَّهُمْ يَذَّكَّرُونَ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seized Pharaoh's people with years of drought and shortage of fruits so that they might take heed.</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131</a:t>
            </a:r>
            <a:endParaRPr lang="en-US" sz="1300" dirty="0"/>
          </a:p>
        </p:txBody>
      </p:sp>
      <p:sp>
        <p:nvSpPr>
          <p:cNvPr id="13" name="Text 11"/>
          <p:cNvSpPr txBox="1"/>
          <p:nvPr/>
        </p:nvSpPr>
        <p:spPr>
          <a:xfrm>
            <a:off x="1444752" y="350443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فَإِذَا جَآءَتْهُمُ الْحَسَنَةُ قَالُواْ لَنَا هَٰذِهِ وَإِن تُصِبْهُمْ سَيِّئَةٌ يَطَّيَّرُواْ بِمُوسَىٰ وَمَن مَّعَهُ أَلَآ إِنَّمَا طَـٰئِرُهُمْ عِندَ اللَّهِ وَلَٰكِنَّ أَكْثَرَهُمْ لَا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good times and plenty came to them they said: This is ours because we deserve it. And when drought struck them, they blamed it on Musa and those with him as a bad omen. Truly, what struck them was by Allah's decree and because of their sins, but most of them do not know.</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132 – 133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132</a:t>
            </a:r>
            <a:endParaRPr lang="en-US" sz="1300" dirty="0"/>
          </a:p>
        </p:txBody>
      </p:sp>
      <p:sp>
        <p:nvSpPr>
          <p:cNvPr id="8" name="Text 6"/>
          <p:cNvSpPr txBox="1"/>
          <p:nvPr/>
        </p:nvSpPr>
        <p:spPr>
          <a:xfrm>
            <a:off x="1444752" y="210997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وَقَالُواْ مَهْمَا تَأْتِنَا بِهِ مِنْ ءَايَةٍ لِّتَسْحَرَنَا بِهَا فَمَا نَحْنُ لَكَ بِمُؤْمِنِينَ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Whatever sign you bring us to bewitch us, we will not believe you.</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133</a:t>
            </a:r>
            <a:endParaRPr lang="en-US" sz="1300" dirty="0"/>
          </a:p>
        </p:txBody>
      </p:sp>
      <p:sp>
        <p:nvSpPr>
          <p:cNvPr id="13" name="Text 11"/>
          <p:cNvSpPr txBox="1"/>
          <p:nvPr/>
        </p:nvSpPr>
        <p:spPr>
          <a:xfrm>
            <a:off x="1444752" y="350443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فَأَرْسَلْنَا عَلَيْهِمُ الطُّوفَانَ وَالْجَرَادَ وَالْقُمَّلَ وَالضَّفَادِعَ وَالدَّمَ ءَايَٰتٍ مُّفَصَّلَٰتٍ فَاسْتَكْبَرُواْ وَكَانُواْ قَوْمًا مُّجْرِمِينَ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We sent on them the flood, locusts, lice, frogs and blood, clear signs one after another, but they were arrogant and were a criminal people.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134 – 135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134</a:t>
            </a:r>
            <a:endParaRPr lang="en-US" sz="1300" dirty="0"/>
          </a:p>
        </p:txBody>
      </p:sp>
      <p:sp>
        <p:nvSpPr>
          <p:cNvPr id="8" name="Text 6"/>
          <p:cNvSpPr txBox="1"/>
          <p:nvPr/>
        </p:nvSpPr>
        <p:spPr>
          <a:xfrm>
            <a:off x="1444752" y="197967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وَلَمَّا وَقَعَ عَلَيْهِمُ الرِّجْزُ قَالُواْ يَٰمُوسَى ادْعُ لَنَا رَبَّكَ بِمَا عَهِدَ عِندَكَ لَئِن كَشَفْتَ عَنَّا الرِّجْزَ لَنُؤْمِنَنَّ لَكَ وَلَنُرْسِلَنَّ مَعَكَ بَنِي إِسْرَـٰءِيلَ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punishment fell on them they said: O Musa, pray to your Lord for us by the promise He made with you. If you remove the punishment from us, we will believe you and let the Children of Israel go with you.</a:t>
            </a:r>
            <a:endParaRPr lang="en-US" sz="3000" dirty="0"/>
          </a:p>
        </p:txBody>
      </p:sp>
      <p:sp>
        <p:nvSpPr>
          <p:cNvPr id="9" name="Shape 7"/>
          <p:cNvSpPr/>
          <p:nvPr/>
        </p:nvSpPr>
        <p:spPr>
          <a:xfrm>
            <a:off x="1444752" y="4229100"/>
            <a:ext cx="8641080" cy="0"/>
          </a:xfrm>
          <a:prstGeom prst="line">
            <a:avLst/>
          </a:prstGeom>
          <a:noFill/>
          <a:ln w="9525">
            <a:solidFill>
              <a:schemeClr val="accent2"/>
            </a:solidFill>
            <a:prstDash val="dash"/>
          </a:ln>
        </p:spPr>
      </p:sp>
      <p:sp>
        <p:nvSpPr>
          <p:cNvPr id="10" name="Shape 8"/>
          <p:cNvSpPr/>
          <p:nvPr/>
        </p:nvSpPr>
        <p:spPr>
          <a:xfrm>
            <a:off x="713232" y="4462272"/>
            <a:ext cx="548640" cy="548640"/>
          </a:xfrm>
          <a:prstGeom prst="star8">
            <a:avLst/>
          </a:prstGeom>
          <a:solidFill>
            <a:schemeClr val="accent2"/>
          </a:solidFill>
          <a:ln/>
        </p:spPr>
      </p:sp>
      <p:sp>
        <p:nvSpPr>
          <p:cNvPr id="11" name="Shape 9"/>
          <p:cNvSpPr/>
          <p:nvPr/>
        </p:nvSpPr>
        <p:spPr>
          <a:xfrm>
            <a:off x="822960" y="45720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46227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135</a:t>
            </a:r>
            <a:endParaRPr lang="en-US" sz="1300" dirty="0"/>
          </a:p>
        </p:txBody>
      </p:sp>
      <p:sp>
        <p:nvSpPr>
          <p:cNvPr id="13" name="Text 11"/>
          <p:cNvSpPr txBox="1"/>
          <p:nvPr/>
        </p:nvSpPr>
        <p:spPr>
          <a:xfrm>
            <a:off x="1444752" y="44439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كَشَفْنَا عَنْهُمُ الرِّجْزَ إِلَىٰ أَجَلٍ هُم بَٰلِغُوهُ إِذَا هُمْ يَنكُثُونَ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when We removed the punishment from them for a set time, they broke their promise.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136 – 137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136</a:t>
            </a:r>
            <a:endParaRPr lang="en-US" sz="1300" dirty="0"/>
          </a:p>
        </p:txBody>
      </p:sp>
      <p:sp>
        <p:nvSpPr>
          <p:cNvPr id="8" name="Text 6"/>
          <p:cNvSpPr txBox="1"/>
          <p:nvPr/>
        </p:nvSpPr>
        <p:spPr>
          <a:xfrm>
            <a:off x="1444752" y="15750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فَانتَقَمْنَا مِنْهُمْ فَأَغْرَقْنَٰهُمْ فِي الْيَمِّ بِأَنَّهُمْ كَذَّبُواْ بِـَٔايَٰتِنَا وَكَانُواْ عَنْهَا غَٰفِلِينَ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We took revenge on them and drowned them in the sea, because they denied Our signs and were heedless of them.</a:t>
            </a:r>
            <a:endParaRPr lang="en-US" sz="3000" dirty="0"/>
          </a:p>
        </p:txBody>
      </p:sp>
      <p:sp>
        <p:nvSpPr>
          <p:cNvPr id="9" name="Shape 7"/>
          <p:cNvSpPr/>
          <p:nvPr/>
        </p:nvSpPr>
        <p:spPr>
          <a:xfrm>
            <a:off x="1444752" y="3015234"/>
            <a:ext cx="8641080" cy="0"/>
          </a:xfrm>
          <a:prstGeom prst="line">
            <a:avLst/>
          </a:prstGeom>
          <a:noFill/>
          <a:ln w="9525">
            <a:solidFill>
              <a:schemeClr val="accent2"/>
            </a:solidFill>
            <a:prstDash val="dash"/>
          </a:ln>
        </p:spPr>
      </p:sp>
      <p:sp>
        <p:nvSpPr>
          <p:cNvPr id="10" name="Shape 8"/>
          <p:cNvSpPr/>
          <p:nvPr/>
        </p:nvSpPr>
        <p:spPr>
          <a:xfrm>
            <a:off x="713232" y="3248406"/>
            <a:ext cx="548640" cy="548640"/>
          </a:xfrm>
          <a:prstGeom prst="star8">
            <a:avLst/>
          </a:prstGeom>
          <a:solidFill>
            <a:schemeClr val="accent2"/>
          </a:solidFill>
          <a:ln/>
        </p:spPr>
      </p:sp>
      <p:sp>
        <p:nvSpPr>
          <p:cNvPr id="11" name="Shape 9"/>
          <p:cNvSpPr/>
          <p:nvPr/>
        </p:nvSpPr>
        <p:spPr>
          <a:xfrm>
            <a:off x="822960" y="335813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4840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137</a:t>
            </a:r>
            <a:endParaRPr lang="en-US" sz="1300" dirty="0"/>
          </a:p>
        </p:txBody>
      </p:sp>
      <p:sp>
        <p:nvSpPr>
          <p:cNvPr id="13" name="Text 11"/>
          <p:cNvSpPr txBox="1"/>
          <p:nvPr/>
        </p:nvSpPr>
        <p:spPr>
          <a:xfrm>
            <a:off x="1444752" y="3230118"/>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وَأَوْرَثْنَا الْقَوْمَ الَّذِينَ كَانُواْ يُسْتَضْعَفُونَ مَشَٰرِقَ الْأَرْضِ وَمَغَٰرِبَهَا الَّتِي بَٰرَكْنَا فِيهَا وَتَمَّتْ كَلِمَتُ رَبِّكَ الْحُسْنَىٰ عَلَىٰ بَنِي إِسْرَـٰءِيلَ بِمَا صَبَرُواْ وَدَمَّرْنَا مَا كَانَ يَصْنَعُ فِرْعَوْنُ وَقَوْمُهُ وَمَا كَانُواْ يَعْرِشُونَ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We made the Children of Israel, who had been oppressed, inherit the east and west of the blessed land of Sham. Your Lord's good promise to them was fulfilled because of their patience, and We destroyed the palaces and buildings Pharaoh and his people had made.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300" b="1" dirty="0">
                <a:solidFill>
                  <a:schemeClr val="accent2"/>
                </a:solidFill>
                <a:latin typeface="Georgia" pitchFamily="34" charset="0"/>
                <a:ea typeface="Georgia" pitchFamily="34" charset="-122"/>
                <a:cs typeface="Georgia" pitchFamily="34" charset="-120"/>
              </a:rPr>
              <a:t>The Appointment; the Calf</a:t>
            </a:r>
            <a:endParaRPr lang="en-US" sz="23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7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138 – 157</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Al-A'raf • Makki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section;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The Children of Israel asking for a god like the idols, Musa's appointment with his Lord and his asking to see Him, the Tablets, the trial of worshipping the calf, then the good news of the unlettered Prophet (peace be upon him) in the Torah and the Injil.</a:t>
            </a:r>
            <a:endParaRPr lang="en-US" sz="15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138 – 140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138</a:t>
            </a:r>
            <a:endParaRPr lang="en-US" sz="1300" dirty="0"/>
          </a:p>
        </p:txBody>
      </p:sp>
      <p:sp>
        <p:nvSpPr>
          <p:cNvPr id="8" name="Text 6"/>
          <p:cNvSpPr txBox="1"/>
          <p:nvPr/>
        </p:nvSpPr>
        <p:spPr>
          <a:xfrm>
            <a:off x="1444752" y="134416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وَجَٰوَزْنَا بِبَنِي إِسْرَـٰءِيلَ الْبَحْرَ فَأَتَوْاْ عَلَىٰ قَوْمٍ يَعْكُفُونَ عَلَىٰ أَصْنَامٍ لَّهُمْ قَالُواْ يَٰمُوسَى اجْعَل لَّنَآ إِلَٰهًا كَمَا لَهُمْ ءَالِهَةٌ قَالَ إِنَّكُمْ قَوْمٌ تَجْهَلُونَ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took the Children of Israel across the sea, and they passed by a people devoted to their idols. They said: O Musa, make us a god like their gods. He said: You are a people who do not know the greatness of Allah.</a:t>
            </a:r>
            <a:endParaRPr lang="en-US" sz="3000" dirty="0"/>
          </a:p>
        </p:txBody>
      </p:sp>
      <p:sp>
        <p:nvSpPr>
          <p:cNvPr id="9" name="Shape 7"/>
          <p:cNvSpPr/>
          <p:nvPr/>
        </p:nvSpPr>
        <p:spPr>
          <a:xfrm>
            <a:off x="1444752" y="3497580"/>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139</a:t>
            </a:r>
            <a:endParaRPr lang="en-US" sz="1300" dirty="0"/>
          </a:p>
        </p:txBody>
      </p:sp>
      <p:sp>
        <p:nvSpPr>
          <p:cNvPr id="13" name="Text 11"/>
          <p:cNvSpPr txBox="1"/>
          <p:nvPr/>
        </p:nvSpPr>
        <p:spPr>
          <a:xfrm>
            <a:off x="1444752" y="361645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هَـٰؤُلَآءِ مُتَبَّرٌ مَّا هُمْ فِيهِ وَبَٰطِلٌ مَّا كَانُواْ يَعْمَلُونَ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What these people are doing of shirk will be destroyed, and their deeds are false.</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140</a:t>
            </a:r>
            <a:endParaRPr lang="en-US" sz="13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أَغَيْرَ اللَّهِ أَبْغِيكُمْ إِلَٰهًا وَهُوَ فَضَّلَكُمْ عَلَى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Should I seek for you a god other than Allah, when He has preferred you over the people of your time?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141 – 142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141</a:t>
            </a:r>
            <a:endParaRPr lang="en-US" sz="13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أَنجَيْنَٰكُم مِّنْ ءَالِ فِرْعَوْنَ يَسُومُونَكُمْ سُوءَ الْعَذَابِ يُقَتِّلُونَ أَبْنَآءَكُمْ وَيَسْتَحْيُونَ نِسَآءَكُمْ وَفِي ذَٰلِكُم بَلَآءٌ مِّن رَّبِّكُمْ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remember when We saved you from Pharaoh's people, who made you taste the worst punishment, killing your sons and keeping your women alive. In that was a great test from your Lord.</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142</a:t>
            </a:r>
            <a:endParaRPr lang="en-US" sz="13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وَوَٰعَدْنَا مُوسَىٰ ثَلَٰثِينَ لَيْلَةً وَأَتْمَمْنَٰهَا بِعَشْرٍ فَتَمَّ مِيقَٰتُ رَبِّهِ أَرْبَعِينَ لَيْلَةً وَقَالَ مُوسَىٰ لِأَخِيهِ هَٰرُونَ اخْلُفْنِي فِي قَوْمِي وَأَصْلِحْ وَلَا تَتَّبِعْ سَبِيلَ الْمُفْسِدِينَ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appointed thirty nights for Musa to speak with his Lord and completed them with ten more, so the appointed time was forty nights. Musa said to his brother Harun: Take my place among my people, put things right, and do not follow the way of the corrupters.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143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60270"/>
            <a:ext cx="548640" cy="548640"/>
          </a:xfrm>
          <a:prstGeom prst="star8">
            <a:avLst/>
          </a:prstGeom>
          <a:solidFill>
            <a:schemeClr val="accent2"/>
          </a:solidFill>
          <a:ln/>
        </p:spPr>
      </p:sp>
      <p:sp>
        <p:nvSpPr>
          <p:cNvPr id="6" name="Shape 4"/>
          <p:cNvSpPr/>
          <p:nvPr/>
        </p:nvSpPr>
        <p:spPr>
          <a:xfrm>
            <a:off x="822960" y="226999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6027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143</a:t>
            </a:r>
            <a:endParaRPr lang="en-US" sz="1300" dirty="0"/>
          </a:p>
        </p:txBody>
      </p:sp>
      <p:sp>
        <p:nvSpPr>
          <p:cNvPr id="8" name="Text 6"/>
          <p:cNvSpPr txBox="1"/>
          <p:nvPr/>
        </p:nvSpPr>
        <p:spPr>
          <a:xfrm>
            <a:off x="1444752" y="2141982"/>
            <a:ext cx="10012680" cy="3131820"/>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وَلَمَّا جَآءَ مُوسَىٰ لِمِيقَٰتِنَا وَكَلَّمَهُ رَبُّهُ قَالَ رَبِّ أَرِنِي أَنظُرْ إِلَيْكَ قَالَ لَن تَرَىٰنِي وَلَٰكِنِ انظُرْ إِلَى الْجَبَلِ فَإِنِ اسْتَقَرَّ مَكَانَهُ فَسَوْفَ تَرَىٰنِي فَلَمَّا تَجَلَّىٰ رَبُّهُ لِلْجَبَلِ جَعَلَهُ دَكًّا وَخَرَّ مُوسَىٰ صَعِقًا فَلَمَّآ أَفَاقَ قَالَ سُبْحَٰنَكَ تُبْتُ إِلَيْكَ وَأَنَا أَوَّلُ الْمُؤْمِنِينَ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Musa came at Our appointed time and his Lord spoke to him, he said: My Lord, show Yourself to me so I may look at You. He said: You will not see Me in this world, but look at the mountain; if it stays in its place, you will see Me. When his Lord revealed Himself to the mountain, He levelled it, and Musa fell down unconscious. When he woke he said: Glory be to You! I turn to You in repentance, and I am the first of the believers.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144 – 145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144</a:t>
            </a:r>
            <a:endParaRPr lang="en-US" sz="13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يَٰمُوسَىٰ إِنِّي اصْطَفَيْتُكَ عَلَى النَّاسِ بِرِسَٰلَٰتِي وَبِكَلَٰمِي فَخُذْ مَآ ءَاتَيْتُكَ وَكُن مِّنَ الشَّـٰكِرِينَ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said: O Musa, I have chosen you above people with My messages and My speaking to you, so take what I have given you and be among the thankful.</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145</a:t>
            </a:r>
            <a:endParaRPr lang="en-US" sz="13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وَكَتَبْنَا لَهُ فِي الْأَلْوَاحِ مِن كُلِّ شَيْءٍ مَّوْعِظَةً وَتَفْصِيلًا لِّكُلِّ شَيْءٍ فَخُذْهَا بِقُوَّةٍ وَأْمُرْ قَوْمَكَ يَأْخُذُواْ بِأَحْسَنِهَا سَأُوْرِيكُمْ دَارَ الْفَٰسِقِينَ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wrote for him on the Tablets of the Torah lessons and details of everything they needed. Hold to them firmly and command your people to take the best of them. I will show you the end of the disobedient.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146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146</a:t>
            </a:r>
            <a:endParaRPr lang="en-US" sz="13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سَأَصْرِفُ عَنْ ءَايَٰتِيَ الَّذِينَ يَتَكَبَّرُونَ فِي الْأَرْضِ بِغَيْرِ الْحَقِّ وَإِن يَرَوْاْ كُلَّ ءَايَةٍ لَّا يُؤْمِنُواْ بِهَا وَإِن يَرَوْاْ سَبِيلَ الرُّشْدِ لَا يَتَّخِذُوهُ سَبِيلًا وَإِن يَرَوْاْ سَبِيلَ الْغَيِّ يَتَّخِذُوهُ سَبِيلًا ذَٰلِكَ بِأَنَّهُمْ كَذَّبُواْ بِـَٔايَٰتِنَا وَكَانُواْ عَنْهَا غَٰفِلِينَ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will turn away from understanding My verses those who are arrogant on earth without right. Even if they see every sign, they will not believe in it; if they see the path of guidance, they will not take it; and if they see the path of misguidance, they will take it. That is because they denied Our verses and were heedless of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147 – 148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147</a:t>
            </a:r>
            <a:endParaRPr lang="en-US" sz="13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كَذَّبُواْ بِـَٔايَٰتِنَا وَلِقَآءِ الْأخِرَةِ حَبِطَتْ أَعْمَٰلُهُمْ هَلْ يُجْزَوْنَ إِلَّا مَا كَانُواْ يَعْمَلُونَ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deny Our verses and meeting the Hereafter, their deeds are lost. Will they be repaid for anything but what they used to do?</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148</a:t>
            </a:r>
            <a:endParaRPr lang="en-US" sz="13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وَاتَّخَذَ قَوْمُ مُوسَىٰ مِن بَعْدِهِ مِنْ حُلِيِّهِمْ عِجْلًا جَسَدًا لَّهُ خُوَارٌ أَلَمْ يَرَوْاْ أَنَّهُ لَا يُكَلِّمُهُمْ وَلَا يَهْدِيهِمْ سَبِيلًا اتَّخَذُوهُ وَكَانُواْ ظَٰلِمِينَ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While Musa was away, his people made from their jewellery a calf, a body that made a sound like a cow, and they worshipped it. Did they not see that it could not speak to them or guide them to any path? They worshipped it and were wrongdoers.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149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825496"/>
            <a:ext cx="548640" cy="548640"/>
          </a:xfrm>
          <a:prstGeom prst="star8">
            <a:avLst/>
          </a:prstGeom>
          <a:solidFill>
            <a:schemeClr val="accent2"/>
          </a:solidFill>
          <a:ln/>
        </p:spPr>
      </p:sp>
      <p:sp>
        <p:nvSpPr>
          <p:cNvPr id="6" name="Shape 4"/>
          <p:cNvSpPr/>
          <p:nvPr/>
        </p:nvSpPr>
        <p:spPr>
          <a:xfrm>
            <a:off x="822960" y="29352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149</a:t>
            </a:r>
            <a:endParaRPr lang="en-US" sz="1300" dirty="0"/>
          </a:p>
        </p:txBody>
      </p:sp>
      <p:sp>
        <p:nvSpPr>
          <p:cNvPr id="8" name="Text 6"/>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وَلَمَّا سُقِطَ فِي أَيْدِيهِمْ وَرَأَوْاْ أَنَّهُمْ قَدْ ضَلُّواْ قَالُواْ لَئِن لَّمْ يَرْحَمْنَا رَبُّنَا وَيَغْفِرْ لَنَا لَنَكُونَنَّ مِنَ الْخَٰسِرِينَ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regretted it and saw they had gone astray, they said: If our Lord does not have mercy on us and forgive us, we will surely be among the losers.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150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85950"/>
            <a:ext cx="548640" cy="548640"/>
          </a:xfrm>
          <a:prstGeom prst="star8">
            <a:avLst/>
          </a:prstGeom>
          <a:solidFill>
            <a:schemeClr val="accent2"/>
          </a:solidFill>
          <a:ln/>
        </p:spPr>
      </p:sp>
      <p:sp>
        <p:nvSpPr>
          <p:cNvPr id="6" name="Shape 4"/>
          <p:cNvSpPr/>
          <p:nvPr/>
        </p:nvSpPr>
        <p:spPr>
          <a:xfrm>
            <a:off x="822960" y="199567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8595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150</a:t>
            </a:r>
            <a:endParaRPr lang="en-US" sz="1300" dirty="0"/>
          </a:p>
        </p:txBody>
      </p:sp>
      <p:sp>
        <p:nvSpPr>
          <p:cNvPr id="8" name="Text 6"/>
          <p:cNvSpPr txBox="1"/>
          <p:nvPr/>
        </p:nvSpPr>
        <p:spPr>
          <a:xfrm>
            <a:off x="1444752" y="1867662"/>
            <a:ext cx="10012680" cy="3680460"/>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وَلَمَّا رَجَعَ مُوسَىٰ إِلَىٰ قَوْمِهِ غَضْبَٰنَ أَسِفًا قَالَ بِئْسَمَا خَلَفْتُمُونِي مِن بَعْدِي أَعَجِلْتُمْ أَمْرَ رَبِّكُمْ وَأَلْقَى الْأَلْوَاحَ وَأَخَذَ بِرَأْسِ أَخِيهِ يَجُرُّهُ إِلَيْهِ قَالَ ابْنَ أُمَّ إِنَّ الْقَوْمَ اسْتَضْعَفُونِي وَكَادُواْ يَقْتُلُونَنِي فَلَا تُشْمِتْ بِيَ الْأَعْدَآءَ وَلَا تَجْعَلْنِي مَعَ الْقَوْمِ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Musa returned to his people, angry and sad, he said: How evil is what you did after I left! Did you hurry your Lord's command? He threw down the Tablets and seized his brother by the head, pulling him towards himself. Harun said: Son of my mother, the people thought I was weak and almost killed me, so do not let the enemies rejoice over me, and do not count me with the wrongdoing people.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151 – 153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151</a:t>
            </a:r>
            <a:endParaRPr lang="en-US" sz="13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رَبِّ اغْفِرْ لِي وَلِأَخِي وَأَدْخِلْنَا فِي رَحْمَتِكَ وَأَنتَ أَرْحَمُ الرَّـٰحِمِينَ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Musa said: My Lord, forgive me and my brother, and admit us into Your mercy; You are the Most Merciful of the merciful.</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152</a:t>
            </a:r>
            <a:endParaRPr lang="en-US" sz="13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اتَّخَذُواْ الْعِجْلَ سَيَنَالُهُمْ غَضَبٌ مِّن رَّبِّهِمْ وَذِلَّةٌ فِي الْحَيَوٰةِ الدُّنْيَا وَكَذَٰلِكَ نَجْزِي الْمُفْتَرِينَ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worshipped the calf will be struck by anger from their Lord and humiliation in the life of this world. That is how We repay those who make up lies about Allah.</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153</a:t>
            </a:r>
            <a:endParaRPr lang="en-US" sz="13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عَمِلُواْ السَّيِّـَٔاتِ ثُمَّ تَابُواْ مِن بَعْدِهَا وَءَامَنُواْ إِنَّ رَبَّكَ مِن بَعْدِهَا لَغَفُورٌ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those who did evil deeds, then repented and believed, your Lord after that is Forgiving, Most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154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825496"/>
            <a:ext cx="548640" cy="548640"/>
          </a:xfrm>
          <a:prstGeom prst="star8">
            <a:avLst/>
          </a:prstGeom>
          <a:solidFill>
            <a:schemeClr val="accent2"/>
          </a:solidFill>
          <a:ln/>
        </p:spPr>
      </p:sp>
      <p:sp>
        <p:nvSpPr>
          <p:cNvPr id="6" name="Shape 4"/>
          <p:cNvSpPr/>
          <p:nvPr/>
        </p:nvSpPr>
        <p:spPr>
          <a:xfrm>
            <a:off x="822960" y="29352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154</a:t>
            </a:r>
            <a:endParaRPr lang="en-US" sz="1300" dirty="0"/>
          </a:p>
        </p:txBody>
      </p:sp>
      <p:sp>
        <p:nvSpPr>
          <p:cNvPr id="8" name="Text 6"/>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وَلَمَّا سَكَتَ عَن مُّوسَى الْغَضَبُ أَخَذَ الْأَلْوَاحَ وَفِي نُسْخَتِهَا هُدًى وَرَحْمَةٌ لِّلَّذِينَ هُمْ لِرَبِّهِمْ يَرْهَبُونَ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Musa's anger calmed down, he picked up the Tablets, and in what was written on them was guidance and mercy for those who fear their Lord.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155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60270"/>
            <a:ext cx="548640" cy="548640"/>
          </a:xfrm>
          <a:prstGeom prst="star8">
            <a:avLst/>
          </a:prstGeom>
          <a:solidFill>
            <a:schemeClr val="accent2"/>
          </a:solidFill>
          <a:ln/>
        </p:spPr>
      </p:sp>
      <p:sp>
        <p:nvSpPr>
          <p:cNvPr id="6" name="Shape 4"/>
          <p:cNvSpPr/>
          <p:nvPr/>
        </p:nvSpPr>
        <p:spPr>
          <a:xfrm>
            <a:off x="822960" y="226999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6027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155</a:t>
            </a:r>
            <a:endParaRPr lang="en-US" sz="1300" dirty="0"/>
          </a:p>
        </p:txBody>
      </p:sp>
      <p:sp>
        <p:nvSpPr>
          <p:cNvPr id="8" name="Text 6"/>
          <p:cNvSpPr txBox="1"/>
          <p:nvPr/>
        </p:nvSpPr>
        <p:spPr>
          <a:xfrm>
            <a:off x="1444752" y="2141982"/>
            <a:ext cx="10012680" cy="3131820"/>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وَاخْتَارَ مُوسَىٰ قَوْمَهُ سَبْعِينَ رَجُلًا لِّمِيقَٰتِنَا فَلَمَّآ أَخَذَتْهُمُ الرَّجْفَةُ قَالَ رَبِّ لَوْ شِئْتَ أَهْلَكْتَهُم مِّن قَبْلُ وَإِيَّـٰيَ أَتُهْلِكُنَا بِمَا فَعَلَ السُّفَهَآءُ مِنَّآ إِنْ هِيَ إِلَّا فِتْنَتُكَ تُضِلُّ بِهَا مَن تَشَآءُ وَتَهْدِي مَن تَشَآءُ أَنتَ وَلِيُّنَا فَاغْفِرْ لَنَا وَارْحَمْنَا وَأَنتَ خَيْرُ الْغَٰفِرِينَ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Musa chose seventy men from his people for Our appointment to apologise to Allah. When the earthquake seized them he said: My Lord, if You had willed, You could have destroyed them and me before. Will You destroy us for what the foolish among us did? This is only Your test, by which You leave astray whom You will and guide whom You will. You are our Protector, so forgive us and have mercy on us; You are the best of those who forgive.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156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156</a:t>
            </a:r>
            <a:endParaRPr lang="en-US" sz="13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وَاكْتُبْ لَنَا فِي هَٰذِهِ الدُّنْيَا حَسَنَةً وَفِي الْأخِرَةِ إِنَّا هُدْنَآ إِلَيْكَ قَالَ عَذَابِي أُصِيبُ بِهِ مَنْ أَشَآءُ وَرَحْمَتِي وَسِعَتْ كُلَّ شَيْءٍ فَسَأَكْتُبُهَا لِلَّذِينَ يَتَّقُونَ وَيُؤْتُونَ الزَّكَوٰةَ وَالَّذِينَ هُم بِـَٔايَٰتِنَا يُؤْمِنُونَ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write for us good in this world and in the Hereafter; we have turned back to You in repentance. Allah said: My punishment I give to whom I will, but My mercy covers everything. I will write it for those who have taqwa, give the zakah, and believe in Our verses,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157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85950"/>
            <a:ext cx="548640" cy="548640"/>
          </a:xfrm>
          <a:prstGeom prst="star8">
            <a:avLst/>
          </a:prstGeom>
          <a:solidFill>
            <a:schemeClr val="accent2"/>
          </a:solidFill>
          <a:ln/>
        </p:spPr>
      </p:sp>
      <p:sp>
        <p:nvSpPr>
          <p:cNvPr id="6" name="Shape 4"/>
          <p:cNvSpPr/>
          <p:nvPr/>
        </p:nvSpPr>
        <p:spPr>
          <a:xfrm>
            <a:off x="822960" y="199567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8595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157</a:t>
            </a:r>
            <a:endParaRPr lang="en-US" sz="1300" dirty="0"/>
          </a:p>
        </p:txBody>
      </p:sp>
      <p:sp>
        <p:nvSpPr>
          <p:cNvPr id="8" name="Text 6"/>
          <p:cNvSpPr txBox="1"/>
          <p:nvPr/>
        </p:nvSpPr>
        <p:spPr>
          <a:xfrm>
            <a:off x="1444752" y="1867662"/>
            <a:ext cx="10012680" cy="3680460"/>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يَتَّبِعُونَ الرَّسُولَ النَّبِيَّ الْأُمِّيَّ الَّذِي يَجِدُونَهُ مَكْتُوبًا عِندَهُمْ فِي التَّوْرَىٰةِ وَالْإِنجِيلِ يَأْمُرُهُم بِالْمَعْرُوفِ وَيَنْهَىٰهُمْ عَنِ الْمُنكَرِ وَيُحِلُّ لَهُمُ الطَّيِّبَٰتِ وَيُحَرِّمُ عَلَيْهِمُ الْخَبَـٰئِثَ وَيَضَعُ عَنْهُمْ إِصْرَهُمْ وَالْأَغْلَٰلَ الَّتِي كَانَتْ عَلَيْهِمْ فَالَّذِينَ ءَامَنُواْ بِهِ وَعَزَّرُوهُ وَنَصَرُوهُ وَاتَّبَعُواْ النُّورَ الَّذِي أُنزِلَ مَعَهُ أُوْلَـٰئِكَ هُمُ الْمُفْلِحُونَ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follow the Messenger Muhammad (peace be upon him), the unlettered Prophet who could not read or write, whom they find described in the Torah and the Injil. He commands them what is right, forbids them what is wrong, makes good things lawful for them and bad things unlawful, and removes their heavy burdens. Those who believe in him, honour him, support him and follow the Qur'an, they are the successful.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300" b="1" dirty="0">
                <a:solidFill>
                  <a:schemeClr val="accent2"/>
                </a:solidFill>
                <a:latin typeface="Georgia" pitchFamily="34" charset="0"/>
                <a:ea typeface="Georgia" pitchFamily="34" charset="-122"/>
                <a:cs typeface="Georgia" pitchFamily="34" charset="-120"/>
              </a:rPr>
              <a:t>The People of the Sabbath</a:t>
            </a:r>
            <a:endParaRPr lang="en-US" sz="23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8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158 – 171</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Al-A'raf • Makki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section;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Prophet's (peace be upon him) message is for all people, Allah's blessings on the Children of Israel, the story of the people of the Sabbath who tricked their way around Allah's command, and the virtue of those who forbid evil.</a:t>
            </a:r>
            <a:endParaRPr lang="en-US" sz="17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158 – 159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158</a:t>
            </a:r>
            <a:endParaRPr lang="en-US" sz="1300" dirty="0"/>
          </a:p>
        </p:txBody>
      </p:sp>
      <p:sp>
        <p:nvSpPr>
          <p:cNvPr id="8" name="Text 6"/>
          <p:cNvSpPr txBox="1"/>
          <p:nvPr/>
        </p:nvSpPr>
        <p:spPr>
          <a:xfrm>
            <a:off x="1444752" y="157505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يَـٰأَيُّهَا النَّاسُ إِنِّي رَسُولُ اللَّهِ إِلَيْكُمْ جَمِيعًا الَّذِي لَهُ مُلْكُ السَّمَٰوَٰتِ وَالْأَرْضِ لَآ إِلَٰهَ إِلَّا هُوَ يُحْيِ وَيُمِيتُ فَـَٔامِنُواْ بِاللَّهِ وَرَسُولِهِ النَّبِيِّ الْأُمِّيِّ الَّذِي يُؤْمِنُ بِاللَّهِ وَكَلِمَٰتِهِ وَاتَّبِعُوهُ لَعَلَّكُمْ تَهْتَدُونَ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O people, I am the Messenger of Allah to you all, to whom belongs the kingdom of the heavens and the earth. There is no god but Him; He gives life and causes death. So believe in Allah and His Messenger, the unlettered Prophet who believes in Allah and His words, and follow him so that you may be guided.</a:t>
            </a:r>
            <a:endParaRPr lang="en-US" sz="3000" dirty="0"/>
          </a:p>
        </p:txBody>
      </p:sp>
      <p:sp>
        <p:nvSpPr>
          <p:cNvPr id="9" name="Shape 7"/>
          <p:cNvSpPr/>
          <p:nvPr/>
        </p:nvSpPr>
        <p:spPr>
          <a:xfrm>
            <a:off x="1444752" y="4633722"/>
            <a:ext cx="8641080" cy="0"/>
          </a:xfrm>
          <a:prstGeom prst="line">
            <a:avLst/>
          </a:prstGeom>
          <a:noFill/>
          <a:ln w="9525">
            <a:solidFill>
              <a:schemeClr val="accent2"/>
            </a:solidFill>
            <a:prstDash val="dash"/>
          </a:ln>
        </p:spPr>
      </p:sp>
      <p:sp>
        <p:nvSpPr>
          <p:cNvPr id="10" name="Shape 8"/>
          <p:cNvSpPr/>
          <p:nvPr/>
        </p:nvSpPr>
        <p:spPr>
          <a:xfrm>
            <a:off x="713232" y="4866894"/>
            <a:ext cx="548640" cy="548640"/>
          </a:xfrm>
          <a:prstGeom prst="star8">
            <a:avLst/>
          </a:prstGeom>
          <a:solidFill>
            <a:schemeClr val="accent2"/>
          </a:solidFill>
          <a:ln/>
        </p:spPr>
      </p:sp>
      <p:sp>
        <p:nvSpPr>
          <p:cNvPr id="11" name="Shape 9"/>
          <p:cNvSpPr/>
          <p:nvPr/>
        </p:nvSpPr>
        <p:spPr>
          <a:xfrm>
            <a:off x="822960" y="49766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86689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159</a:t>
            </a:r>
            <a:endParaRPr lang="en-US" sz="1300" dirty="0"/>
          </a:p>
        </p:txBody>
      </p:sp>
      <p:sp>
        <p:nvSpPr>
          <p:cNvPr id="13" name="Text 11"/>
          <p:cNvSpPr txBox="1"/>
          <p:nvPr/>
        </p:nvSpPr>
        <p:spPr>
          <a:xfrm>
            <a:off x="1444752" y="484860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قَوْمِ مُوسَىٰ أُمَّةٌ يَهْدُونَ بِالْحَقِّ وَبِهِ يَعْدِلُونَ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Among the people of Musa is a group who guide people with the truth and judge justly by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160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016252"/>
            <a:ext cx="548640" cy="548640"/>
          </a:xfrm>
          <a:prstGeom prst="star8">
            <a:avLst/>
          </a:prstGeom>
          <a:solidFill>
            <a:schemeClr val="accent2"/>
          </a:solidFill>
          <a:ln/>
        </p:spPr>
      </p:sp>
      <p:sp>
        <p:nvSpPr>
          <p:cNvPr id="6" name="Shape 4"/>
          <p:cNvSpPr/>
          <p:nvPr/>
        </p:nvSpPr>
        <p:spPr>
          <a:xfrm>
            <a:off x="822960" y="212598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01625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160</a:t>
            </a:r>
            <a:endParaRPr lang="en-US" sz="1300" dirty="0"/>
          </a:p>
        </p:txBody>
      </p:sp>
      <p:sp>
        <p:nvSpPr>
          <p:cNvPr id="8" name="Text 6"/>
          <p:cNvSpPr txBox="1"/>
          <p:nvPr/>
        </p:nvSpPr>
        <p:spPr>
          <a:xfrm>
            <a:off x="1444752" y="1997964"/>
            <a:ext cx="10012680" cy="341985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وَقَطَّعْنَٰهُمُ اثْنَتَيْ عَشْرَةَ أَسْبَاطًا أُمَمًا وَأَوْحَيْنَآ إِلَىٰ مُوسَىٰ إِذِ اسْتَسْقَىٰهُ قَوْمُهُ أَنِ اضْرِب بِّعَصَاكَ الْحَجَرَ فَانبَجَسَتْ مِنْهُ اثْنَتَا عَشْرَةَ عَيْنًا قَدْ عَلِمَ كُلُّ أُنَاسٍ مَّشْرَبَهُمْ وَظَلَّلْنَا عَلَيْهِمُ الْغَمَٰمَ وَأَنزَلْنَا عَلَيْهِمُ الْمَنَّ وَالسَّلْوَىٰ كُلُواْ مِن طَيِّبَٰتِ مَا رَزَقْنَٰكُمْ وَمَا ظَلَمُونَا وَلَٰكِن كَانُواْ أَنفُسَهُمْ يَظْلِمُونَ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divided the Children of Israel into twelve tribes, and revealed to Musa when his people asked for water: Strike the rock with your staff. Twelve springs gushed out of it, and each tribe knew its drinking place. We shaded them with clouds and sent down to them manna and quails: Eat from the good things We have provided you. They did not wrong Us; they wronged themselves.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161 – 162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161</a:t>
            </a:r>
            <a:endParaRPr lang="en-US" sz="13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قِيلَ لَهُمُ اسْكُنُواْ هَٰذِهِ الْقَرْيَةَ وَكُلُواْ مِنْهَا حَيْثُ شِئْتُمْ وَقُولُواْ حِطَّةٌ وَادْخُلُواْ الْبَابَ سُجَّدًا نَّغْفِرْ لَكُمْ خَطِيـَٰٔتِكُمْ سَنَزِيدُ الْمُحْسِنِينَ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remember when they were told: Live in Jerusalem and eat from it wherever you wish, say: Remove our sins, and enter the gate bowing down; We will forgive your mistakes and give more to those who do good.</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162</a:t>
            </a:r>
            <a:endParaRPr lang="en-US" sz="13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فَبَدَّلَ الَّذِينَ ظَلَمُواْ مِنْهُمْ قَوْلًا غَيْرَ الَّذِي قِيلَ لَهُمْ فَأَرْسَلْنَا عَلَيْهِمْ رِجْزًا مِّنَ السَّمَآءِ بِمَا كَانُواْ يَظْلِمُونَ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the wrongdoers among them changed the words they were told into other words in mockery, so We sent a punishment on them from the sky for their wrongdoing.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163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163</a:t>
            </a:r>
            <a:endParaRPr lang="en-US" sz="13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وَسْـَٔلْهُمْ عَنِ الْقَرْيَةِ الَّتِي كَانَتْ حَاضِرَةَ الْبَحْرِ إِذْ يَعْدُونَ فِي السَّبْتِ إِذْ تَأْتِيهِمْ حِيتَانُهُمْ يَوْمَ سَبْتِهِمْ شُرَّعًا وَيَوْمَ لَا يَسْبِتُونَ لَا تَأْتِيهِمْ كَذَٰلِكَ نَبْلُوهُم بِمَا كَانُواْ يَفْسُقُونَ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Ask them about the town by the sea, when they broke the law of the Sabbath by fishing, which was forbidden to them. The fish came to them on the Sabbath, showing on the surface, but on other days they did not come. That is how We tested them because of their disobedience.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164 – 165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164</a:t>
            </a:r>
            <a:endParaRPr lang="en-US" sz="13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قَالَتْ أُمَّةٌ مِّنْهُمْ لِمَ تَعِظُونَ قَوْمًا اللَّهُ مُهْلِكُهُمْ أَوْ مُعَذِّبُهُمْ عَذَابًا شَدِيدًا قَالُواْ مَعْذِرَةً إِلَىٰ رَبِّكُمْ وَلَعَلَّهُمْ يَتَّقُونَ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remember when a group of them said to those giving advice: Why do you advise a people Allah will destroy or punish? They said: To have an excuse before your Lord, and perhaps they will have taqwa.</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165</a:t>
            </a:r>
            <a:endParaRPr lang="en-US" sz="13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نَسُواْ مَا ذُكِّرُواْ بِهِ أَنجَيْنَا الَّذِينَ يَنْهَوْنَ عَنِ السُّوءِ وَأَخَذْنَا الَّذِينَ ظَلَمُواْ بِعَذَابٍ بَـِٔيسٍ بِمَا كَانُواْ يَفْسُقُونَ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forgot what they were reminded of, We saved those who forbade evil and seized the wrongdoers with a severe punishment for their disobedience.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166 – 167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166</a:t>
            </a:r>
            <a:endParaRPr lang="en-US" sz="1300" dirty="0"/>
          </a:p>
        </p:txBody>
      </p:sp>
      <p:sp>
        <p:nvSpPr>
          <p:cNvPr id="8" name="Text 6"/>
          <p:cNvSpPr txBox="1"/>
          <p:nvPr/>
        </p:nvSpPr>
        <p:spPr>
          <a:xfrm>
            <a:off x="1444752" y="184937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عَتَوْاْ عَن مَّا نُهُواْ عَنْهُ قُلْنَا لَهُمْ كُونُواْ قِرَدَةً خَٰسِـِٔينَ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persisted in what they were forbidden, We said to them: Be apes, despised.</a:t>
            </a:r>
            <a:endParaRPr lang="en-US" sz="3000" dirty="0"/>
          </a:p>
        </p:txBody>
      </p:sp>
      <p:sp>
        <p:nvSpPr>
          <p:cNvPr id="9" name="Shape 7"/>
          <p:cNvSpPr/>
          <p:nvPr/>
        </p:nvSpPr>
        <p:spPr>
          <a:xfrm>
            <a:off x="1444752" y="3028950"/>
            <a:ext cx="8641080" cy="0"/>
          </a:xfrm>
          <a:prstGeom prst="line">
            <a:avLst/>
          </a:prstGeom>
          <a:noFill/>
          <a:ln w="9525">
            <a:solidFill>
              <a:schemeClr val="accent2"/>
            </a:solidFill>
            <a:prstDash val="dash"/>
          </a:ln>
        </p:spPr>
      </p:sp>
      <p:sp>
        <p:nvSpPr>
          <p:cNvPr id="10" name="Shape 8"/>
          <p:cNvSpPr/>
          <p:nvPr/>
        </p:nvSpPr>
        <p:spPr>
          <a:xfrm>
            <a:off x="713232" y="3262122"/>
            <a:ext cx="548640" cy="548640"/>
          </a:xfrm>
          <a:prstGeom prst="star8">
            <a:avLst/>
          </a:prstGeom>
          <a:solidFill>
            <a:schemeClr val="accent2"/>
          </a:solidFill>
          <a:ln/>
        </p:spPr>
      </p:sp>
      <p:sp>
        <p:nvSpPr>
          <p:cNvPr id="11" name="Shape 9"/>
          <p:cNvSpPr/>
          <p:nvPr/>
        </p:nvSpPr>
        <p:spPr>
          <a:xfrm>
            <a:off x="822960" y="337185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6212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167</a:t>
            </a:r>
            <a:endParaRPr lang="en-US" sz="1300" dirty="0"/>
          </a:p>
        </p:txBody>
      </p:sp>
      <p:sp>
        <p:nvSpPr>
          <p:cNvPr id="13" name="Text 11"/>
          <p:cNvSpPr txBox="1"/>
          <p:nvPr/>
        </p:nvSpPr>
        <p:spPr>
          <a:xfrm>
            <a:off x="1444752" y="3243834"/>
            <a:ext cx="10012680" cy="232257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تَأَذَّنَ رَبُّكَ لَيَبْعَثَنَّ عَلَيْهِمْ إِلَىٰ يَوْمِ الْقِيَٰمَةِ مَن يَسُومُهُمْ سُوءَ الْعَذَابِ إِنَّ رَبَّكَ لَسَرِيعُ الْعِقَابِ وَإِنَّهُ لَغَفُورٌ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remember when your Lord announced that He would send against the Jews, until the Day of Resurrection, those who would make them taste the worst punishment because of their disobedience. Your Lord is swift in punishment, and He is Forgiving, Most Merciful to those who repent.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168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825496"/>
            <a:ext cx="548640" cy="548640"/>
          </a:xfrm>
          <a:prstGeom prst="star8">
            <a:avLst/>
          </a:prstGeom>
          <a:solidFill>
            <a:schemeClr val="accent2"/>
          </a:solidFill>
          <a:ln/>
        </p:spPr>
      </p:sp>
      <p:sp>
        <p:nvSpPr>
          <p:cNvPr id="6" name="Shape 4"/>
          <p:cNvSpPr/>
          <p:nvPr/>
        </p:nvSpPr>
        <p:spPr>
          <a:xfrm>
            <a:off x="822960" y="29352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168</a:t>
            </a:r>
            <a:endParaRPr lang="en-US" sz="1300" dirty="0"/>
          </a:p>
        </p:txBody>
      </p:sp>
      <p:sp>
        <p:nvSpPr>
          <p:cNvPr id="8" name="Text 6"/>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وَقَطَّعْنَٰهُمْ فِي الْأَرْضِ أُمَمًا مِّنْهُمُ الصَّـٰلِحُونَ وَمِنْهُمْ دُونَ ذَٰلِكَ وَبَلَوْنَٰهُم بِالْحَسَنَٰتِ وَالسَّيِّـَٔاتِ لَعَلَّهُمْ يَرْجِعُونَ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scattered them in the land in groups: some of them righteous and some less than that. We tested them with good times and bad so that they might return.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169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016252"/>
            <a:ext cx="548640" cy="548640"/>
          </a:xfrm>
          <a:prstGeom prst="star8">
            <a:avLst/>
          </a:prstGeom>
          <a:solidFill>
            <a:schemeClr val="accent2"/>
          </a:solidFill>
          <a:ln/>
        </p:spPr>
      </p:sp>
      <p:sp>
        <p:nvSpPr>
          <p:cNvPr id="6" name="Shape 4"/>
          <p:cNvSpPr/>
          <p:nvPr/>
        </p:nvSpPr>
        <p:spPr>
          <a:xfrm>
            <a:off x="822960" y="212598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01625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169</a:t>
            </a:r>
            <a:endParaRPr lang="en-US" sz="1300" dirty="0"/>
          </a:p>
        </p:txBody>
      </p:sp>
      <p:sp>
        <p:nvSpPr>
          <p:cNvPr id="8" name="Text 6"/>
          <p:cNvSpPr txBox="1"/>
          <p:nvPr/>
        </p:nvSpPr>
        <p:spPr>
          <a:xfrm>
            <a:off x="1444752" y="1997964"/>
            <a:ext cx="10012680" cy="341985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فَخَلَفَ مِن بَعْدِهِمْ خَلْفٌ وَرِثُواْ الْكِتَٰبَ يَأْخُذُونَ عَرَضَ هَٰذَا الْأَدْنَىٰ وَيَقُولُونَ سَيُغْفَرُ لَنَا وَإِن يَأْتِهِمْ عَرَضٌ مِّثْلُهُ يَأْخُذُوهُ أَلَمْ يُؤْخَذْ عَلَيْهِم مِّيثَٰقُ الْكِتَٰبِ أَن لَّا يَقُولُواْ عَلَى اللَّهِ إِلَّا الْحَقَّ وَدَرَسُواْ مَا فِيهِ وَالدَّارُ الْأخِرَةُ خَيْرٌ لِّلَّذِينَ يَتَّقُونَ أَفَلَا تَعْقِلُونَ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after them came a bad generation who inherited the Torah. They take forbidden worldly gains, like bribes, and say: We will be forgiven. If more of the same comes to them, they take it. Was the covenant not taken from them to say nothing about Allah but the truth, when they have studied what is in it? The Home of the Hereafter is better for those with taqwa. Will you not use your minds?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170 – 171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170</a:t>
            </a:r>
            <a:endParaRPr lang="en-US" sz="1300" dirty="0"/>
          </a:p>
        </p:txBody>
      </p:sp>
      <p:sp>
        <p:nvSpPr>
          <p:cNvPr id="8" name="Text 6"/>
          <p:cNvSpPr txBox="1"/>
          <p:nvPr/>
        </p:nvSpPr>
        <p:spPr>
          <a:xfrm>
            <a:off x="1444752" y="18493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يُمَسِّكُونَ بِالْكِتَٰبِ وَأَقَامُواْ الصَّلَوٰةَ إِنَّا لَا نُضِيعُ أَجْرَ الْمُصْلِحِينَ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those who hold firmly to the Book, act on it and perform the prayer, We never let the reward of those who do right be lost.</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171</a:t>
            </a:r>
            <a:endParaRPr lang="en-US" sz="1300" dirty="0"/>
          </a:p>
        </p:txBody>
      </p:sp>
      <p:sp>
        <p:nvSpPr>
          <p:cNvPr id="13" name="Text 11"/>
          <p:cNvSpPr txBox="1"/>
          <p:nvPr/>
        </p:nvSpPr>
        <p:spPr>
          <a:xfrm>
            <a:off x="1444752" y="350443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نَتَقْنَا الْجَبَلَ فَوْقَهُمْ كَأَنَّهُ ظُلَّةٌ وَظَنُّواْ أَنَّهُ وَاقِعٌ بِهِمْ خُذُواْ مَآ ءَاتَيْنَٰكُم بِقُوَّةٍ وَاذْكُرُواْ مَا فِيهِ لَعَلَّكُمْ تَتَّقُونَ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remember when We raised the mountain above the Children of Israel as if it were a cloud, and they thought it would fall on them, and We said: Hold firmly to what We have given you and remember what is in it so that you may have taqwa.</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The Covenant</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9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172 – 186</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Al-A'raf • Makki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section;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covenant of tawhid taken from the children of Adam, the example of the scholar who left Allah's verses and followed his desires, the Most Beautiful Names, and a warning against heedlessness.</a:t>
            </a:r>
            <a:endParaRPr lang="en-US" sz="17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172 – 173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172</a:t>
            </a:r>
            <a:endParaRPr lang="en-US" sz="13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أَخَذَ رَبُّكَ مِن بَنِي ءَادَمَ مِن ظُهُورِهِمْ ذُرِّيَّتَهُمْ وَأَشْهَدَهُمْ عَلَىٰ أَنفُسِهِمْ أَلَسْتُ بِرَبِّكُمْ قَالُواْ بَلَىٰ شَهِدْنَآ أَن تَقُولُواْ يَوْمَ الْقِيَٰمَةِ إِنَّا كُنَّا عَنْ هَٰذَا غَٰفِلِينَ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remember when your Lord brought out from the backs of the children of Adam their descendants and made them bear witness about themselves: Am I not your Lord? They said: Yes, we bear witness. So that you cannot say on the Day of Resurrection: We were unaware of this.</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173</a:t>
            </a:r>
            <a:endParaRPr lang="en-US" sz="13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 تَقُولُواْ إِنَّمَآ أَشْرَكَ ءَابَآؤُنَا مِن قَبْلُ وَكُنَّا ذُرِّيَّةً مِّن بَعْدِهِمْ أَفَتُهْلِكُنَا بِمَا فَعَلَ الْمُبْطِلُونَ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say: It was only our fathers who associated partners with Allah before, and we were their descendants who copied them. Will You destroy us for what the falsifiers did?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174 – 175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72284"/>
            <a:ext cx="548640" cy="548640"/>
          </a:xfrm>
          <a:prstGeom prst="star8">
            <a:avLst/>
          </a:prstGeom>
          <a:solidFill>
            <a:schemeClr val="accent2"/>
          </a:solidFill>
          <a:ln/>
        </p:spPr>
      </p:sp>
      <p:sp>
        <p:nvSpPr>
          <p:cNvPr id="6" name="Shape 4"/>
          <p:cNvSpPr/>
          <p:nvPr/>
        </p:nvSpPr>
        <p:spPr>
          <a:xfrm>
            <a:off x="822960" y="23820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7228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174</a:t>
            </a:r>
            <a:endParaRPr lang="en-US" sz="1300" dirty="0"/>
          </a:p>
        </p:txBody>
      </p:sp>
      <p:sp>
        <p:nvSpPr>
          <p:cNvPr id="8" name="Text 6"/>
          <p:cNvSpPr txBox="1"/>
          <p:nvPr/>
        </p:nvSpPr>
        <p:spPr>
          <a:xfrm>
            <a:off x="1444752" y="225399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وَكَذَٰلِكَ نُفَصِّلُ الْأيَٰتِ وَلَعَلَّهُمْ يَرْجِعُونَ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how We explain the verses, so that they may turn back from shirk.</a:t>
            </a:r>
            <a:endParaRPr lang="en-US" sz="3000" dirty="0"/>
          </a:p>
        </p:txBody>
      </p:sp>
      <p:sp>
        <p:nvSpPr>
          <p:cNvPr id="9" name="Shape 7"/>
          <p:cNvSpPr/>
          <p:nvPr/>
        </p:nvSpPr>
        <p:spPr>
          <a:xfrm>
            <a:off x="1444752" y="3433572"/>
            <a:ext cx="8641080" cy="0"/>
          </a:xfrm>
          <a:prstGeom prst="line">
            <a:avLst/>
          </a:prstGeom>
          <a:noFill/>
          <a:ln w="9525">
            <a:solidFill>
              <a:schemeClr val="accent2"/>
            </a:solidFill>
            <a:prstDash val="dash"/>
          </a:ln>
        </p:spPr>
      </p:sp>
      <p:sp>
        <p:nvSpPr>
          <p:cNvPr id="10" name="Shape 8"/>
          <p:cNvSpPr/>
          <p:nvPr/>
        </p:nvSpPr>
        <p:spPr>
          <a:xfrm>
            <a:off x="713232" y="3666744"/>
            <a:ext cx="548640" cy="548640"/>
          </a:xfrm>
          <a:prstGeom prst="star8">
            <a:avLst/>
          </a:prstGeom>
          <a:solidFill>
            <a:schemeClr val="accent2"/>
          </a:solidFill>
          <a:ln/>
        </p:spPr>
      </p:sp>
      <p:sp>
        <p:nvSpPr>
          <p:cNvPr id="11" name="Shape 9"/>
          <p:cNvSpPr/>
          <p:nvPr/>
        </p:nvSpPr>
        <p:spPr>
          <a:xfrm>
            <a:off x="822960" y="377647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6674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175</a:t>
            </a:r>
            <a:endParaRPr lang="en-US" sz="1300" dirty="0"/>
          </a:p>
        </p:txBody>
      </p:sp>
      <p:sp>
        <p:nvSpPr>
          <p:cNvPr id="13" name="Text 11"/>
          <p:cNvSpPr txBox="1"/>
          <p:nvPr/>
        </p:nvSpPr>
        <p:spPr>
          <a:xfrm>
            <a:off x="1444752" y="3648456"/>
            <a:ext cx="10012680" cy="151333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وَاتْلُ عَلَيْهِمْ نَبَأَ الَّذِي ءَاتَيْنَٰهُ ءَايَٰتِنَا فَانسَلَخَ مِنْهَا فَأَتْبَعَهُ الشَّيْطَٰنُ فَكَانَ مِنَ الْغَاوِينَ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Recite to them the story of a man from the Children of Israel to whom We gave knowledge of Our verses, but he left them and slipped out of them. Then Satan followed him, and he became one of those astray.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176 – 177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176</a:t>
            </a:r>
            <a:endParaRPr lang="en-US" sz="1300" dirty="0"/>
          </a:p>
        </p:txBody>
      </p:sp>
      <p:sp>
        <p:nvSpPr>
          <p:cNvPr id="8" name="Text 6"/>
          <p:cNvSpPr txBox="1"/>
          <p:nvPr/>
        </p:nvSpPr>
        <p:spPr>
          <a:xfrm>
            <a:off x="1444752" y="170535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شِئْنَا لَرَفَعْنَٰهُ بِهَا وَلَٰكِنَّهُ أَخْلَدَ إِلَى الْأَرْضِ وَاتَّبَعَ هَوَىٰهُ فَمَثَلُهُ كَمَثَلِ الْكَلْبِ إِن تَحْمِلْ عَلَيْهِ يَلْهَثْ أَوْ تَتْرُكْهُ يَلْهَث ذَّـٰلِكَ مَثَلُ الْقَوْمِ الَّذِينَ كَذَّبُواْ بِـَٔايَٰتِنَا فَاقْصُصِ الْقَصَصَ لَعَلَّهُمْ يَتَفَكَّرُونَ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We had willed, We would have raised him high with them, but he clung to this world and followed his desires. His example is like a dog that pants in every state: if you chase it, it pants, and if you leave it, it pants. That is the example of those who deny. So tell the stories so that they may reflect.</a:t>
            </a:r>
            <a:endParaRPr lang="en-US" sz="3000" dirty="0"/>
          </a:p>
        </p:txBody>
      </p:sp>
      <p:sp>
        <p:nvSpPr>
          <p:cNvPr id="9" name="Shape 7"/>
          <p:cNvSpPr/>
          <p:nvPr/>
        </p:nvSpPr>
        <p:spPr>
          <a:xfrm>
            <a:off x="1444752" y="4503420"/>
            <a:ext cx="8641080" cy="0"/>
          </a:xfrm>
          <a:prstGeom prst="line">
            <a:avLst/>
          </a:prstGeom>
          <a:noFill/>
          <a:ln w="9525">
            <a:solidFill>
              <a:schemeClr val="accent2"/>
            </a:solidFill>
            <a:prstDash val="dash"/>
          </a:ln>
        </p:spPr>
      </p:sp>
      <p:sp>
        <p:nvSpPr>
          <p:cNvPr id="10" name="Shape 8"/>
          <p:cNvSpPr/>
          <p:nvPr/>
        </p:nvSpPr>
        <p:spPr>
          <a:xfrm>
            <a:off x="713232" y="4736592"/>
            <a:ext cx="548640" cy="548640"/>
          </a:xfrm>
          <a:prstGeom prst="star8">
            <a:avLst/>
          </a:prstGeom>
          <a:solidFill>
            <a:schemeClr val="accent2"/>
          </a:solidFill>
          <a:ln/>
        </p:spPr>
      </p:sp>
      <p:sp>
        <p:nvSpPr>
          <p:cNvPr id="11" name="Shape 9"/>
          <p:cNvSpPr/>
          <p:nvPr/>
        </p:nvSpPr>
        <p:spPr>
          <a:xfrm>
            <a:off x="822960" y="484632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73659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177</a:t>
            </a:r>
            <a:endParaRPr lang="en-US" sz="1300" dirty="0"/>
          </a:p>
        </p:txBody>
      </p:sp>
      <p:sp>
        <p:nvSpPr>
          <p:cNvPr id="13" name="Text 11"/>
          <p:cNvSpPr txBox="1"/>
          <p:nvPr/>
        </p:nvSpPr>
        <p:spPr>
          <a:xfrm>
            <a:off x="1444752" y="471830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سَآءَ مَثَلًا الْقَوْمُ الَّذِينَ كَذَّبُواْ بِـَٔايَٰتِنَا وَأَنفُسَهُمْ كَانُواْ يَظْلِمُونَ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How evil is the example of the people who denied Our verses and wronged themselves!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178 – 179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178</a:t>
            </a:r>
            <a:endParaRPr lang="en-US" sz="1300" dirty="0"/>
          </a:p>
        </p:txBody>
      </p:sp>
      <p:sp>
        <p:nvSpPr>
          <p:cNvPr id="8" name="Text 6"/>
          <p:cNvSpPr txBox="1"/>
          <p:nvPr/>
        </p:nvSpPr>
        <p:spPr>
          <a:xfrm>
            <a:off x="1444752" y="157505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يَهْدِ اللَّهُ فَهُوَ الْمُهْتَدِي وَمَن يُضْلِلْ فَأُوْلَـٰئِكَ هُمُ الْخَٰسِرُونَ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Allah guides is truly guided, and whoever He leaves astray, they are the losers.</a:t>
            </a:r>
            <a:endParaRPr lang="en-US" sz="3000" dirty="0"/>
          </a:p>
        </p:txBody>
      </p:sp>
      <p:sp>
        <p:nvSpPr>
          <p:cNvPr id="9" name="Shape 7"/>
          <p:cNvSpPr/>
          <p:nvPr/>
        </p:nvSpPr>
        <p:spPr>
          <a:xfrm>
            <a:off x="1444752" y="2754630"/>
            <a:ext cx="8641080" cy="0"/>
          </a:xfrm>
          <a:prstGeom prst="line">
            <a:avLst/>
          </a:prstGeom>
          <a:noFill/>
          <a:ln w="9525">
            <a:solidFill>
              <a:schemeClr val="accent2"/>
            </a:solidFill>
            <a:prstDash val="dash"/>
          </a:ln>
        </p:spPr>
      </p:sp>
      <p:sp>
        <p:nvSpPr>
          <p:cNvPr id="10" name="Shape 8"/>
          <p:cNvSpPr/>
          <p:nvPr/>
        </p:nvSpPr>
        <p:spPr>
          <a:xfrm>
            <a:off x="713232" y="2987802"/>
            <a:ext cx="548640" cy="548640"/>
          </a:xfrm>
          <a:prstGeom prst="star8">
            <a:avLst/>
          </a:prstGeom>
          <a:solidFill>
            <a:schemeClr val="accent2"/>
          </a:solidFill>
          <a:ln/>
        </p:spPr>
      </p:sp>
      <p:sp>
        <p:nvSpPr>
          <p:cNvPr id="11" name="Shape 9"/>
          <p:cNvSpPr/>
          <p:nvPr/>
        </p:nvSpPr>
        <p:spPr>
          <a:xfrm>
            <a:off x="822960" y="309753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8780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179</a:t>
            </a:r>
            <a:endParaRPr lang="en-US" sz="1300" dirty="0"/>
          </a:p>
        </p:txBody>
      </p:sp>
      <p:sp>
        <p:nvSpPr>
          <p:cNvPr id="13" name="Text 11"/>
          <p:cNvSpPr txBox="1"/>
          <p:nvPr/>
        </p:nvSpPr>
        <p:spPr>
          <a:xfrm>
            <a:off x="1444752" y="296951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ذَرَأْنَا لِجَهَنَّمَ كَثِيرًا مِّنَ الْجِنِّ وَالْإِنسِ لَهُمْ قُلُوبٌ لَّا يَفْقَهُونَ بِهَا وَلَهُمْ أَعْيُنٌ لَّا يُبْصِرُونَ بِهَا وَلَهُمْ ءَاذَانٌ لَّا يَسْمَعُونَ بِهَآ أُوْلَـٰئِكَ كَالْأَنْعَٰمِ بَلْ هُمْ أَضَلُّ أُوْلَـٰئِكَ هُمُ الْغَٰفِلُونَ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created for Hell many jinn and humans, because We know their deeds. They have hearts with which they do not understand the truth, eyes with which they do not see the signs, and ears with which they do not hear the advice. They are like cattle, or even more astray; they are the heedless.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180 – 181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37360"/>
            <a:ext cx="548640" cy="548640"/>
          </a:xfrm>
          <a:prstGeom prst="star8">
            <a:avLst/>
          </a:prstGeom>
          <a:solidFill>
            <a:schemeClr val="accent2"/>
          </a:solidFill>
          <a:ln/>
        </p:spPr>
      </p:sp>
      <p:sp>
        <p:nvSpPr>
          <p:cNvPr id="6" name="Shape 4"/>
          <p:cNvSpPr/>
          <p:nvPr/>
        </p:nvSpPr>
        <p:spPr>
          <a:xfrm>
            <a:off x="822960" y="184708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3736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180</a:t>
            </a:r>
            <a:endParaRPr lang="en-US" sz="1300" dirty="0"/>
          </a:p>
        </p:txBody>
      </p:sp>
      <p:sp>
        <p:nvSpPr>
          <p:cNvPr id="8" name="Text 6"/>
          <p:cNvSpPr txBox="1"/>
          <p:nvPr/>
        </p:nvSpPr>
        <p:spPr>
          <a:xfrm>
            <a:off x="1444752" y="1719072"/>
            <a:ext cx="10012680" cy="232257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وَلِلَّهِ الْأَسْمَآءُ الْحُسْنَىٰ فَادْعُوهُ بِهَا وَذَرُواْ الَّذِينَ يُلْحِدُونَ فِي أَسْمَـٰئِهِ سَيُجْزَوْنَ مَا كَانُواْ يَعْمَلُونَ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Allah belong the Most Beautiful Names, so call on Him by them, and leave those who twist them and turn them away from the truth; they will be repaid for what they used to do. The Prophet (peace be upon him) said: "Allah has ninety-nine names; whoever learns them and lives by them will enter Paradise" (Bukhari and Muslim).</a:t>
            </a:r>
            <a:endParaRPr lang="en-US" sz="3000" dirty="0"/>
          </a:p>
        </p:txBody>
      </p:sp>
      <p:sp>
        <p:nvSpPr>
          <p:cNvPr id="9" name="Shape 7"/>
          <p:cNvSpPr/>
          <p:nvPr/>
        </p:nvSpPr>
        <p:spPr>
          <a:xfrm>
            <a:off x="1444752" y="4229100"/>
            <a:ext cx="8641080" cy="0"/>
          </a:xfrm>
          <a:prstGeom prst="line">
            <a:avLst/>
          </a:prstGeom>
          <a:noFill/>
          <a:ln w="9525">
            <a:solidFill>
              <a:schemeClr val="accent2"/>
            </a:solidFill>
            <a:prstDash val="dash"/>
          </a:ln>
        </p:spPr>
      </p:sp>
      <p:sp>
        <p:nvSpPr>
          <p:cNvPr id="10" name="Shape 8"/>
          <p:cNvSpPr/>
          <p:nvPr/>
        </p:nvSpPr>
        <p:spPr>
          <a:xfrm>
            <a:off x="713232" y="4462272"/>
            <a:ext cx="548640" cy="548640"/>
          </a:xfrm>
          <a:prstGeom prst="star8">
            <a:avLst/>
          </a:prstGeom>
          <a:solidFill>
            <a:schemeClr val="accent2"/>
          </a:solidFill>
          <a:ln/>
        </p:spPr>
      </p:sp>
      <p:sp>
        <p:nvSpPr>
          <p:cNvPr id="11" name="Shape 9"/>
          <p:cNvSpPr/>
          <p:nvPr/>
        </p:nvSpPr>
        <p:spPr>
          <a:xfrm>
            <a:off x="822960" y="45720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46227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181</a:t>
            </a:r>
            <a:endParaRPr lang="en-US" sz="1300" dirty="0"/>
          </a:p>
        </p:txBody>
      </p:sp>
      <p:sp>
        <p:nvSpPr>
          <p:cNvPr id="13" name="Text 11"/>
          <p:cNvSpPr txBox="1"/>
          <p:nvPr/>
        </p:nvSpPr>
        <p:spPr>
          <a:xfrm>
            <a:off x="1444752" y="444398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وَمِمَّنْ خَلَقْنَآ أُمَّةٌ يَهْدُونَ بِالْحَقِّ وَبِهِ يَعْدِلُونَ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Among those We created is a group who guide with the truth and judge justly by it; they are this Ummah.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182 – 184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182</a:t>
            </a:r>
            <a:endParaRPr lang="en-US" sz="13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كَذَّبُواْ بِـَٔايَٰتِنَا سَنَسْتَدْرِجُهُم مِّنْ حَيْثُ لَا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deny Our verses, We will lead them on step by step from where they do not realise, with many blessings while they keep sinning.</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183</a:t>
            </a:r>
            <a:endParaRPr lang="en-US" sz="13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وَأُمْلِي لَهُمْ إِنَّ كَيْدِي مَتِينٌ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I give them time; My plan is strong and firm.</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184</a:t>
            </a:r>
            <a:endParaRPr lang="en-US" sz="13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أَوَلَمْ يَتَفَكَّرُواْ مَا بِصَاحِبِهِم مِّن جِنَّةٍ إِنْ هُوَ إِلَّا نَذِيرٌ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they not thought? Their companion Muhammad is not mad; he is only a clear warner.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185 – 186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185</a:t>
            </a:r>
            <a:endParaRPr lang="en-US" sz="1300" dirty="0"/>
          </a:p>
        </p:txBody>
      </p:sp>
      <p:sp>
        <p:nvSpPr>
          <p:cNvPr id="8" name="Text 6"/>
          <p:cNvSpPr txBox="1"/>
          <p:nvPr/>
        </p:nvSpPr>
        <p:spPr>
          <a:xfrm>
            <a:off x="1444752" y="210997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أَوَلَمْ يَنظُرُواْ فِي مَلَكُوتِ السَّمَٰوَٰتِ وَالْأَرْضِ وَمَا خَلَقَ اللَّهُ مِن شَيْءٍ وَأَنْ عَسَىٰ أَن يَكُونَ قَدِ اقْتَرَبَ أَجَلُهُمْ فَبِأَيِّ حَدِيثٍ بَعْدَهُ يُؤْمِنُونَ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they not looked at the kingdom of the heavens and the earth and everything Allah has created, and that perhaps their end has come near? In what message after the Qur'an will they believe?</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186</a:t>
            </a:r>
            <a:endParaRPr lang="en-US" sz="1300" dirty="0"/>
          </a:p>
        </p:txBody>
      </p:sp>
      <p:sp>
        <p:nvSpPr>
          <p:cNvPr id="13" name="Text 11"/>
          <p:cNvSpPr txBox="1"/>
          <p:nvPr/>
        </p:nvSpPr>
        <p:spPr>
          <a:xfrm>
            <a:off x="1444752" y="431368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يُضْلِلِ اللَّهُ فَلَا هَادِيَ لَهُ وَيَذَرُهُمْ فِي طُغْيَٰنِهِمْ يَعْمَهُونَ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Allah leaves astray has no guide, and He leaves them wandering blindly in their rebellion.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500" b="1" dirty="0">
                <a:solidFill>
                  <a:schemeClr val="accent2"/>
                </a:solidFill>
                <a:latin typeface="Georgia" pitchFamily="34" charset="0"/>
                <a:ea typeface="Georgia" pitchFamily="34" charset="-122"/>
                <a:cs typeface="Georgia" pitchFamily="34" charset="-120"/>
              </a:rPr>
              <a:t>The Hour; Remembrance</a:t>
            </a:r>
            <a:endParaRPr lang="en-US" sz="25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10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187 – 206</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Al-A'raf • Makki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Ibn Kathir mentions that Quraysh said to the Prophet (peace be upon him): Tell us when the Hour will be. So this was revealed: “They ask you about the Hour: when will it happen?”. Abu Hurayrah said: They used to talk during prayer, so this was revealed: “When the Qur'an is recited, listen to it and be silent”.</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Knowledge of the Hour is with Allah alone, the uselessness of worshipping helpless idols, noble manners, listening silently to the Qur'an, and remembering Allah at all times.</a:t>
            </a:r>
            <a:endParaRPr lang="en-US" sz="17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187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187</a:t>
            </a:r>
            <a:endParaRPr lang="en-US" sz="13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يَسْـَٔلُونَكَ عَنِ السَّاعَةِ أَيَّانَ مُرْسَىٰهَا قُلْ إِنَّمَا عِلْمُهَا عِندَ رَبِّي لَا يُجَلِّيهَا لِوَقْتِهَآ إِلَّا هُوَ ثَقُلَتْ فِي السَّمَٰوَٰتِ وَالْأَرْضِ لَا تَأْتِيكُمْ إِلَّا بَغْتَةً يَسْـَٔلُونَكَ كَأَنَّكَ حَفِيٌّ عَنْهَا قُلْ إِنَّمَا عِلْمُهَا عِندَ اللَّهِ وَلَٰكِنَّ أَكْثَرَ النَّاسِ لَا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ask you about the Hour: When will it come? Say: Its knowledge is only with my Lord; no one but He will reveal it at its time. It weighs heavily on the heavens and the earth. It will come to you only suddenly. They ask you as if you knew about it. Say: Its knowledge is only with Allah, but most people do not know.</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188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188</a:t>
            </a:r>
            <a:endParaRPr lang="en-US" sz="13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لَّآ أَمْلِكُ لِنَفْسِي نَفْعًا وَلَا ضَرًّا إِلَّا مَا شَآءَ اللَّهُ وَلَوْ كُنتُ أَعْلَمُ الْغَيْبَ لَاسْتَكْثَرْتُ مِنَ الْخَيْرِ وَمَا مَسَّنِيَ السُّوءُ إِنْ أَنَا إِلَّا نَذِيرٌ وَبَشِيرٌ لِّقَوْمٍ يُؤْمِنُونَ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I have no power to benefit or harm myself except as Allah wills. If I knew the unseen, I would have gained much good and no harm would have touched me. I am only a warner and a bringer of good news to people who believe.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189 – 190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95603"/>
            <a:ext cx="548640" cy="548640"/>
          </a:xfrm>
          <a:prstGeom prst="star8">
            <a:avLst/>
          </a:prstGeom>
          <a:solidFill>
            <a:schemeClr val="accent2"/>
          </a:solidFill>
          <a:ln/>
        </p:spPr>
      </p:sp>
      <p:sp>
        <p:nvSpPr>
          <p:cNvPr id="6" name="Shape 4"/>
          <p:cNvSpPr/>
          <p:nvPr/>
        </p:nvSpPr>
        <p:spPr>
          <a:xfrm>
            <a:off x="822960" y="150533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95603"/>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189</a:t>
            </a:r>
            <a:endParaRPr lang="en-US" sz="1300" dirty="0"/>
          </a:p>
        </p:txBody>
      </p:sp>
      <p:sp>
        <p:nvSpPr>
          <p:cNvPr id="8" name="Text 6"/>
          <p:cNvSpPr txBox="1"/>
          <p:nvPr/>
        </p:nvSpPr>
        <p:spPr>
          <a:xfrm>
            <a:off x="1444752" y="1377315"/>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هُوَ الَّذِي خَلَقَكُم مِّن نَّفْسٍ وَٰحِدَةٍ وَجَعَلَ مِنْهَا زَوْجَهَا لِيَسْكُنَ إِلَيْهَا فَلَمَّا تَغَشَّىٰهَا حَمَلَتْ حَمْلًا خَفِيفًا فَمَرَّتْ بِهِ فَلَمَّآ أَثْقَلَت دَّعَوَا اللَّهَ رَبَّهُمَا لَئِنْ ءَاتَيْتَنَا صَٰلِحًا لَّنَكُونَنَّ مِنَ الشَّـٰكِرِينَ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created you from a single soul, Adam, and made from him his wife so that he could find comfort with her. When they came together, she carried a light burden and went about with it. When it grew heavy, they both called on Allah their Lord: If You give us a healthy child, we will surely be among the thankful.</a:t>
            </a:r>
            <a:endParaRPr lang="en-US" sz="3000" dirty="0"/>
          </a:p>
        </p:txBody>
      </p:sp>
      <p:sp>
        <p:nvSpPr>
          <p:cNvPr id="9" name="Shape 7"/>
          <p:cNvSpPr/>
          <p:nvPr/>
        </p:nvSpPr>
        <p:spPr>
          <a:xfrm>
            <a:off x="1444752" y="4373118"/>
            <a:ext cx="8641080" cy="0"/>
          </a:xfrm>
          <a:prstGeom prst="line">
            <a:avLst/>
          </a:prstGeom>
          <a:noFill/>
          <a:ln w="9525">
            <a:solidFill>
              <a:schemeClr val="accent2"/>
            </a:solidFill>
            <a:prstDash val="dash"/>
          </a:ln>
        </p:spPr>
      </p:sp>
      <p:sp>
        <p:nvSpPr>
          <p:cNvPr id="10" name="Shape 8"/>
          <p:cNvSpPr/>
          <p:nvPr/>
        </p:nvSpPr>
        <p:spPr>
          <a:xfrm>
            <a:off x="713232" y="4543425"/>
            <a:ext cx="548640" cy="548640"/>
          </a:xfrm>
          <a:prstGeom prst="star8">
            <a:avLst/>
          </a:prstGeom>
          <a:solidFill>
            <a:schemeClr val="accent2"/>
          </a:solidFill>
          <a:ln/>
        </p:spPr>
      </p:sp>
      <p:sp>
        <p:nvSpPr>
          <p:cNvPr id="11" name="Shape 9"/>
          <p:cNvSpPr/>
          <p:nvPr/>
        </p:nvSpPr>
        <p:spPr>
          <a:xfrm>
            <a:off x="822960" y="4653153"/>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543425"/>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190</a:t>
            </a:r>
            <a:endParaRPr lang="en-US" sz="1300" dirty="0"/>
          </a:p>
        </p:txBody>
      </p:sp>
      <p:sp>
        <p:nvSpPr>
          <p:cNvPr id="13" name="Text 11"/>
          <p:cNvSpPr txBox="1"/>
          <p:nvPr/>
        </p:nvSpPr>
        <p:spPr>
          <a:xfrm>
            <a:off x="1444752" y="4525137"/>
            <a:ext cx="10012680" cy="151333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ءَاتَىٰهُمَا صَٰلِحًا جَعَلَا لَهُ شُرَكَآءَ فِيمَآ ءَاتَىٰهُمَا فَتَعَٰلَى اللَّهُ عَمَّا يُشْرِكُونَ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when He gave them a healthy child, the idol-worshippers among Adam's descendants set up partners with Allah in what He gave them. Exalted is Allah above what they associate with Him. This is about the idol-worshippers, not Adam and Hawwa', as Ibn Kathir preferred.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191 – 193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191</a:t>
            </a:r>
            <a:endParaRPr lang="en-US" sz="13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أَيُشْرِكُونَ مَا لَا يَخْلُقُ شَيْـًٔا وَهُمْ يُخْلَقُونَ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they associate with Allah idols that create nothing and are themselves created,</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192</a:t>
            </a:r>
            <a:endParaRPr lang="en-US" sz="1300" dirty="0"/>
          </a:p>
        </p:txBody>
      </p:sp>
      <p:sp>
        <p:nvSpPr>
          <p:cNvPr id="13" name="Text 11"/>
          <p:cNvSpPr txBox="1"/>
          <p:nvPr/>
        </p:nvSpPr>
        <p:spPr>
          <a:xfrm>
            <a:off x="1444752" y="308152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يَسْتَطِيعُونَ لَهُمْ نَصْرًا وَلَآ أَنفُسَهُمْ يَنصُرُونَ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cannot help their worshippers and cannot even help themselves?</a:t>
            </a:r>
            <a:endParaRPr lang="en-US" sz="3000" dirty="0"/>
          </a:p>
        </p:txBody>
      </p:sp>
      <p:sp>
        <p:nvSpPr>
          <p:cNvPr id="14" name="Shape 12"/>
          <p:cNvSpPr/>
          <p:nvPr/>
        </p:nvSpPr>
        <p:spPr>
          <a:xfrm>
            <a:off x="1444752" y="4261104"/>
            <a:ext cx="8641080" cy="0"/>
          </a:xfrm>
          <a:prstGeom prst="line">
            <a:avLst/>
          </a:prstGeom>
          <a:noFill/>
          <a:ln w="9525">
            <a:solidFill>
              <a:schemeClr val="accent2"/>
            </a:solidFill>
            <a:prstDash val="dash"/>
          </a:ln>
        </p:spPr>
      </p:sp>
      <p:sp>
        <p:nvSpPr>
          <p:cNvPr id="15" name="Shape 13"/>
          <p:cNvSpPr/>
          <p:nvPr/>
        </p:nvSpPr>
        <p:spPr>
          <a:xfrm>
            <a:off x="713232" y="4494276"/>
            <a:ext cx="548640" cy="548640"/>
          </a:xfrm>
          <a:prstGeom prst="star8">
            <a:avLst/>
          </a:prstGeom>
          <a:solidFill>
            <a:schemeClr val="accent2"/>
          </a:solidFill>
          <a:ln/>
        </p:spPr>
      </p:sp>
      <p:sp>
        <p:nvSpPr>
          <p:cNvPr id="16" name="Shape 14"/>
          <p:cNvSpPr/>
          <p:nvPr/>
        </p:nvSpPr>
        <p:spPr>
          <a:xfrm>
            <a:off x="822960" y="46040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49427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193</a:t>
            </a:r>
            <a:endParaRPr lang="en-US" sz="1300" dirty="0"/>
          </a:p>
        </p:txBody>
      </p:sp>
      <p:sp>
        <p:nvSpPr>
          <p:cNvPr id="18" name="Text 16"/>
          <p:cNvSpPr txBox="1"/>
          <p:nvPr/>
        </p:nvSpPr>
        <p:spPr>
          <a:xfrm>
            <a:off x="1444752" y="44759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تَدْعُوهُمْ إِلَى الْهُدَىٰ لَا يَتَّبِعُوكُمْ سَوَآءٌ عَلَيْكُمْ أَدَعَوْتُمُوهُمْ أَمْ أَنتُمْ صَٰمِتُونَ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call the idols to guidance, they will not follow you; it is the same to them whether you call them or stay silent.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194 – 195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194</a:t>
            </a:r>
            <a:endParaRPr lang="en-US" sz="13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تَدْعُونَ مِن دُونِ اللَّهِ عِبَادٌ أَمْثَالُكُمْ فَادْعُوهُمْ فَلْيَسْتَجِيبُواْ لَكُمْ إِن كُنتُمْ صَٰدِقِينَ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you worship besides Allah are created like you. So call on them and let them answer you, if you are truthful.</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195</a:t>
            </a:r>
            <a:endParaRPr lang="en-US" sz="13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أَلَهُمْ أَرْجُلٌ يَمْشُونَ بِهَآ أَمْ لَهُمْ أَيْدٍ يَبْطِشُونَ بِهَآ أَمْ لَهُمْ أَعْيُنٌ يُبْصِرُونَ بِهَآ أَمْ لَهُمْ ءَاذَانٌ يَسْمَعُونَ بِهَا قُلِ ادْعُواْ شُرَكَآءَكُمْ ثُمَّ كِيدُونِ فَلَا تُنظِرُونِ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they have feet to walk with, hands to grasp with, eyes to see with, or ears to hear with? Say: Call your partners, then plot against me and give me no time.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196 – 198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196</a:t>
            </a:r>
            <a:endParaRPr lang="en-US" sz="13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وَلِـِّيَ اللَّهُ الَّذِي نَزَّلَ الْكِتَٰبَ وَهُوَ يَتَوَلَّى الصَّـٰلِحِينَ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My Protector is Allah, who sent down the Qur'an, and He takes care of the righteous and helps them.</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197</a:t>
            </a:r>
            <a:endParaRPr lang="en-US" sz="13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تَدْعُونَ مِن دُونِهِ لَا يَسْتَطِيعُونَ نَصْرَكُمْ وَلَآ أَنفُسَهُمْ يَنصُرُونَ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you worship besides Him cannot help you, nor can they help themselves.</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198</a:t>
            </a:r>
            <a:endParaRPr lang="en-US" sz="13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تَدْعُوهُمْ إِلَى الْهُدَىٰ لَا يَسْمَعُواْ وَتَرَىٰهُمْ يَنظُرُونَ إِلَيْكَ وَهُمْ لَا يُبْصِرُونَ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call them to guidance, they do not hear. You see them seeming to look at you with carved eyes, but they do not see.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199 – 201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199</a:t>
            </a:r>
            <a:endParaRPr lang="en-US" sz="13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خُذِ الْعَفْوَ وَأْمُرْ بِالْعُرْفِ وَأَعْرِضْ عَنِ الْجَٰهِلِينَ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Accept what comes easily from people's manners and deeds, command what is right, and turn away from the ignorant.</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200</a:t>
            </a:r>
            <a:endParaRPr lang="en-US" sz="13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وَإِمَّا يَنزَغَنَّكَ مِنَ الشَّيْطَٰنِ نَزْغٌ فَاسْتَعِذْ بِاللَّهِ إِنَّهُ سَمِيعٌ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a whisper from Satan stirs you to anger, seek refuge in Allah; He is All-Hearing, All-Knowing.</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201</a:t>
            </a:r>
            <a:endParaRPr lang="en-US" sz="13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اتَّقَوْاْ إِذَا مَسَّهُمْ طَـٰئِفٌ مِّنَ الشَّيْطَٰنِ تَذَكَّرُواْ فَإِذَا هُم مُّبْصِرُونَ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those with taqwa are touched by a whisper from Satan, they remember Allah's punishment and reward, and suddenly they see the truth clearly and return.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202 – 203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202</a:t>
            </a:r>
            <a:endParaRPr lang="en-US" sz="1300" dirty="0"/>
          </a:p>
        </p:txBody>
      </p:sp>
      <p:sp>
        <p:nvSpPr>
          <p:cNvPr id="8" name="Text 6"/>
          <p:cNvSpPr txBox="1"/>
          <p:nvPr/>
        </p:nvSpPr>
        <p:spPr>
          <a:xfrm>
            <a:off x="1444752" y="18493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وَإِخْوَٰنُهُمْ يَمُدُّونَهُمْ فِي الْغَيِّ ثُمَّ لَا يُقْصِرُونَ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the devils' brothers among the disbelievers, the devils keep pulling them further into misguidance, and they never stop.</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203</a:t>
            </a:r>
            <a:endParaRPr lang="en-US" sz="1300" dirty="0"/>
          </a:p>
        </p:txBody>
      </p:sp>
      <p:sp>
        <p:nvSpPr>
          <p:cNvPr id="13" name="Text 11"/>
          <p:cNvSpPr txBox="1"/>
          <p:nvPr/>
        </p:nvSpPr>
        <p:spPr>
          <a:xfrm>
            <a:off x="1444752" y="350443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لَمْ تَأْتِهِم بِـَٔايَةٍ قَالُواْ لَوْلَا اجْتَبَيْتَهَا قُلْ إِنَّمَآ أَتَّبِعُ مَا يُوحَىٰ إِلَيَّ مِن رَّبِّي هَٰذَا بَصَآئِرُ مِن رَّبِّكُمْ وَهُدًى وَرَحْمَةٌ لِّقَوْمٍ يُؤْمِنُونَ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you do not bring them a miracle they asked for, they say: Why have you not made one up? Say: I only follow what is revealed to me from my Lord. This Qur'an is insight from your Lord, guidance and mercy for people who believe.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Al-A'raf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204 – 206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204</a:t>
            </a:r>
            <a:endParaRPr lang="en-US" sz="13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قُرِئَ الْقُرْءَانُ فَاسْتَمِعُواْ لَهُ وَأَنصِتُواْ لَعَلَّكُمْ تُرْحَمُونَ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Qur'an is recited, listen to it and be silent so that you may receive mercy.</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205</a:t>
            </a:r>
            <a:endParaRPr lang="en-US" sz="1300" dirty="0"/>
          </a:p>
        </p:txBody>
      </p:sp>
      <p:sp>
        <p:nvSpPr>
          <p:cNvPr id="13" name="Text 11"/>
          <p:cNvSpPr txBox="1"/>
          <p:nvPr/>
        </p:nvSpPr>
        <p:spPr>
          <a:xfrm>
            <a:off x="1444752" y="267690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وَاذْكُر رَّبَّكَ فِي نَفْسِكَ تَضَرُّعًا وَخِيفَةً وَدُونَ الْجَهْرِ مِنَ الْقَوْلِ بِالْغُدُوِّ وَالْأصَالِ وَلَا تَكُن مِّنَ الْغَٰفِلِينَ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Remember your Lord within yourself, humbly and with fear, without raising your voice, in the morning and evening, and do not be among the heedless.</a:t>
            </a:r>
            <a:endParaRPr lang="en-US" sz="3000" dirty="0"/>
          </a:p>
        </p:txBody>
      </p:sp>
      <p:sp>
        <p:nvSpPr>
          <p:cNvPr id="14" name="Shape 12"/>
          <p:cNvSpPr/>
          <p:nvPr/>
        </p:nvSpPr>
        <p:spPr>
          <a:xfrm>
            <a:off x="1444752" y="4613148"/>
            <a:ext cx="8641080" cy="0"/>
          </a:xfrm>
          <a:prstGeom prst="line">
            <a:avLst/>
          </a:prstGeom>
          <a:noFill/>
          <a:ln w="9525">
            <a:solidFill>
              <a:schemeClr val="accent2"/>
            </a:solidFill>
            <a:prstDash val="dash"/>
          </a:ln>
        </p:spPr>
      </p:sp>
      <p:sp>
        <p:nvSpPr>
          <p:cNvPr id="15" name="Shape 13"/>
          <p:cNvSpPr/>
          <p:nvPr/>
        </p:nvSpPr>
        <p:spPr>
          <a:xfrm>
            <a:off x="713232" y="4793742"/>
            <a:ext cx="548640" cy="548640"/>
          </a:xfrm>
          <a:prstGeom prst="star8">
            <a:avLst/>
          </a:prstGeom>
          <a:solidFill>
            <a:schemeClr val="accent2"/>
          </a:solidFill>
          <a:ln/>
        </p:spPr>
      </p:sp>
      <p:sp>
        <p:nvSpPr>
          <p:cNvPr id="16" name="Shape 14"/>
          <p:cNvSpPr/>
          <p:nvPr/>
        </p:nvSpPr>
        <p:spPr>
          <a:xfrm>
            <a:off x="822960" y="490347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937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206</a:t>
            </a:r>
            <a:endParaRPr lang="en-US" sz="1300" dirty="0"/>
          </a:p>
        </p:txBody>
      </p:sp>
      <p:sp>
        <p:nvSpPr>
          <p:cNvPr id="18" name="Text 16"/>
          <p:cNvSpPr txBox="1"/>
          <p:nvPr/>
        </p:nvSpPr>
        <p:spPr>
          <a:xfrm>
            <a:off x="1444752" y="47754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عِندَ رَبِّكَ لَا يَسْتَكْبِرُونَ عَنْ عِبَادَتِهِ وَيُسَبِّحُونَهُ وَلَهُ يَسْجُدُونَ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angels who are with your Lord are never too proud to worship Him; they glorify Him and prostrate to Him. This is a place of prostration in recitation.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pic>
        <p:nvPicPr>
          <p:cNvPr id="2" name="Image 0" descr="assets7/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txBox="1"/>
          <p:nvPr/>
        </p:nvSpPr>
        <p:spPr>
          <a:xfrm>
            <a:off x="731520" y="2377440"/>
            <a:ext cx="10728655" cy="1005840"/>
          </a:xfrm>
          <a:prstGeom prst="rect">
            <a:avLst/>
          </a:prstGeom>
          <a:noFill/>
          <a:ln/>
        </p:spPr>
        <p:txBody>
          <a:bodyPr wrap="square" lIns="0" tIns="0" rIns="0" bIns="0" rtlCol="0" anchor="ctr"/>
          <a:lstStyle/>
          <a:p>
            <a:pPr algn="ctr" indent="0" marL="0">
              <a:buNone/>
            </a:pPr>
            <a:r>
              <a:rPr lang="en-US" altLang="en-US" sz="5000" b="1" dirty="0">
                <a:solidFill>
                  <a:schemeClr val="bg1"/>
                </a:solidFill>
                <a:latin typeface="Georgia" pitchFamily="34" charset="0"/>
                <a:ea typeface="Georgia" pitchFamily="34" charset="-122"/>
                <a:cs typeface="Georgia" pitchFamily="34" charset="-120"/>
              </a:rPr>
              <a:t>JazakumAllahu khayran</a:t>
            </a:r>
            <a:endParaRPr lang="en-US" sz="5000" dirty="0"/>
          </a:p>
        </p:txBody>
      </p:sp>
      <p:sp>
        <p:nvSpPr>
          <p:cNvPr id="4" name="Text 1"/>
          <p:cNvSpPr txBox="1"/>
          <p:nvPr/>
        </p:nvSpPr>
        <p:spPr>
          <a:xfrm>
            <a:off x="1371600" y="3611880"/>
            <a:ext cx="9448495" cy="1097280"/>
          </a:xfrm>
          <a:prstGeom prst="rect">
            <a:avLst/>
          </a:prstGeom>
          <a:noFill/>
          <a:ln/>
        </p:spPr>
        <p:txBody>
          <a:bodyPr wrap="square" lIns="0" tIns="0" rIns="0" bIns="0" rtlCol="0" anchor="ctr"/>
          <a:lstStyle/>
          <a:p>
            <a:pPr algn="ctr" indent="0" marL="0">
              <a:buNone/>
            </a:pPr>
            <a:r>
              <a:rPr lang="en-US" altLang="en-US" sz="2100" b="1" i="1" dirty="0">
                <a:solidFill>
                  <a:schemeClr val="accent2"/>
                </a:solidFill>
                <a:latin typeface="Arial" pitchFamily="34" charset="0"/>
                <a:ea typeface="Arial" pitchFamily="34" charset="-122"/>
                <a:cs typeface="Arial" pitchFamily="34" charset="-120"/>
              </a:rPr>
              <a:t>"Our Lord, we have wronged ourselves; if You do not forgive us and have mercy on us, we will surely be among the losers." (Al-A'raf 7:23)</a:t>
            </a:r>
            <a:endParaRPr lang="en-US" sz="2100" dirty="0"/>
          </a:p>
        </p:txBody>
      </p:sp>
      <p:pic>
        <p:nvPicPr>
          <p:cNvPr id="5" name="Image 1" descr="assets7/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algn="ctr" indent="0" marL="0">
              <a:buNone/>
            </a:pPr>
            <a:r>
              <a:rPr lang="en-US" altLang="en-US" sz="1400" dirty="0">
                <a:solidFill>
                  <a:schemeClr val="bg2"/>
                </a:solidFill>
                <a:latin typeface="Arial" pitchFamily="34" charset="0"/>
                <a:ea typeface="Arial" pitchFamily="34" charset="-122"/>
                <a:cs typeface="Arial" pitchFamily="34" charset="-120"/>
              </a:rPr>
              <a:t>Reference: Tafsir al-Qur'an al-'Azim by al-Hafiz Ibn Kathir (may Allah have mercy on him)</a:t>
            </a:r>
            <a:endParaRPr lang="en-US" sz="1400" dirty="0"/>
          </a:p>
        </p:txBody>
      </p:sp>
    </p:spTree>
  </p:cSld>
  <p:clrMapOvr>
    <a:masterClrMapping/>
  </p:clrMapOvr>
</p:sld>
</file>

<file path=ppt/theme/theme1.xml><?xml version="1.0" encoding="utf-8"?>
<a:theme xmlns:a="http://schemas.openxmlformats.org/drawingml/2006/main" name="Al-Araf Tafsir EN">
  <a:themeElements>
    <a:clrScheme name="Al-Araf Tafsir EN">
      <a:dk1>
        <a:srgbClr val="29232F"/>
      </a:dk1>
      <a:lt1>
        <a:srgbClr val="FFFFFF"/>
      </a:lt1>
      <a:dk2>
        <a:srgbClr val="5B2C83"/>
      </a:dk2>
      <a:lt2>
        <a:srgbClr val="FAF7FC"/>
      </a:lt2>
      <a:accent1>
        <a:srgbClr val="5B2C83"/>
      </a:accent1>
      <a:accent2>
        <a:srgbClr val="C9A04A"/>
      </a:accent2>
      <a:accent3>
        <a:srgbClr val="7440A3"/>
      </a:accent3>
      <a:accent4>
        <a:srgbClr val="675F6E"/>
      </a:accent4>
      <a:accent5>
        <a:srgbClr val="EFE8F5"/>
      </a:accent5>
      <a:accent6>
        <a:srgbClr val="2F6B5E"/>
      </a:accent6>
      <a:hlink>
        <a:srgbClr val="7440A3"/>
      </a:hlink>
      <a:folHlink>
        <a:srgbClr val="675F6E"/>
      </a:folHlink>
    </a:clrScheme>
    <a:fontScheme name="Al-Araf Tafsir E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115</Slides>
  <Notes>115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115</vt:i4>
      </vt:variant>
    </vt:vector>
  </HeadingPairs>
  <TitlesOfParts>
    <vt:vector size="1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Tafsir of Surah Al-A'raf — Simplified Tafsir from Ibn Kathir</dc:title>
  <dc:subject>PptxGenJS Presentation</dc:subject>
  <dc:creator>Qur'an Teacher</dc:creator>
  <cp:lastModifiedBy>Qur'an Teacher</cp:lastModifiedBy>
  <cp:revision>1</cp:revision>
  <dcterms:created xsi:type="dcterms:W3CDTF">2026-10-04T04:22:12Z</dcterms:created>
  <dcterms:modified xsi:type="dcterms:W3CDTF">2026-10-04T04:22:12Z</dcterms:modified>
</cp:coreProperties>
</file>