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Lst>
  <p:notesMasterIdLst>
    <p:notesMasterId r:id="rId10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c7e63afa-5ac4-37ef-bf5f-712765be421e}">
          <p14:sldIdLst>
            <p14:sldId id="256"/>
            <p14:sldId id="257"/>
            <p14:sldId id="258"/>
          </p14:sldIdLst>
        </p14:section>
        <p14:section name="Surah An-Naml" id="{31b90288-01bb-003d-f3f2-1e48e3a51305}">
          <p14:sldIdLst>
            <p14:sldId id="259"/>
            <p14:sldId id="260"/>
            <p14:sldId id="261"/>
            <p14:sldId id="262"/>
            <p14:sldId id="263"/>
            <p14:sldId id="264"/>
            <p14:sldId id="265"/>
            <p14:sldId id="266"/>
            <p14:sldId id="267"/>
            <p14:sldId id="268"/>
            <p14:sldId id="269"/>
            <p14:sldId id="270"/>
            <p14:sldId id="271"/>
            <p14:sldId id="272"/>
            <p14:sldId id="273"/>
            <p14:sldId id="274"/>
            <p14:sldId id="275"/>
            <p14:sldId id="276"/>
            <p14:sldId id="277"/>
            <p14:sldId id="278"/>
            <p14:sldId id="279"/>
          </p14:sldIdLst>
        </p14:section>
        <p14:section name="Surah Ash-Shu'ara'" id="{4b92e53b-17af-7c59-778b-99a02ebd4f02}">
          <p14:sldIdLst>
            <p14:sldId id="280"/>
            <p14:sldId id="281"/>
            <p14:sldId id="282"/>
            <p14:sldId id="283"/>
            <p14:sldId id="284"/>
            <p14:sldId id="285"/>
            <p14:sldId id="286"/>
            <p14:sldId id="287"/>
            <p14:sldId id="288"/>
            <p14:sldId id="289"/>
            <p14:sldId id="290"/>
            <p14:sldId id="291"/>
            <p14:sldId id="292"/>
            <p14:sldId id="293"/>
            <p14:sldId id="294"/>
            <p14:sldId id="295"/>
            <p14:sldId id="296"/>
            <p14:sldId id="297"/>
            <p14:sldId id="298"/>
            <p14:sldId id="299"/>
            <p14:sldId id="300"/>
            <p14:sldId id="301"/>
            <p14:sldId id="302"/>
            <p14:sldId id="303"/>
            <p14:sldId id="304"/>
            <p14:sldId id="305"/>
            <p14:sldId id="306"/>
            <p14:sldId id="307"/>
            <p14:sldId id="308"/>
            <p14:sldId id="309"/>
            <p14:sldId id="310"/>
            <p14:sldId id="311"/>
            <p14:sldId id="312"/>
            <p14:sldId id="313"/>
            <p14:sldId id="314"/>
            <p14:sldId id="315"/>
            <p14:sldId id="316"/>
            <p14:sldId id="317"/>
            <p14:sldId id="318"/>
            <p14:sldId id="319"/>
            <p14:sldId id="320"/>
            <p14:sldId id="321"/>
            <p14:sldId id="322"/>
            <p14:sldId id="323"/>
            <p14:sldId id="324"/>
            <p14:sldId id="325"/>
            <p14:sldId id="326"/>
            <p14:sldId id="327"/>
            <p14:sldId id="328"/>
            <p14:sldId id="329"/>
            <p14:sldId id="330"/>
            <p14:sldId id="331"/>
            <p14:sldId id="332"/>
            <p14:sldId id="333"/>
            <p14:sldId id="334"/>
            <p14:sldId id="335"/>
            <p14:sldId id="336"/>
            <p14:sldId id="337"/>
            <p14:sldId id="338"/>
          </p14:sldIdLst>
        </p14:section>
        <p14:section name="Surah Al-Furqan" id="{74b29ac5-831b-865b-d295-1f53c2a47697}">
          <p14:sldIdLst>
            <p14:sldId id="339"/>
            <p14:sldId id="340"/>
            <p14:sldId id="341"/>
            <p14:sldId id="342"/>
            <p14:sldId id="343"/>
            <p14:sldId id="344"/>
            <p14:sldId id="345"/>
            <p14:sldId id="346"/>
            <p14:sldId id="347"/>
            <p14:sldId id="348"/>
            <p14:sldId id="349"/>
            <p14:sldId id="350"/>
            <p14:sldId id="351"/>
            <p14:sldId id="352"/>
            <p14:sldId id="353"/>
            <p14:sldId id="354"/>
            <p14:sldId id="355"/>
            <p14:sldId id="356"/>
            <p14:sldId id="357"/>
            <p14:sldId id="358"/>
            <p14:sldId id="359"/>
          </p14:sldIdLst>
        </p14:section>
        <p14:section name="Closing" id="{e4ba7545-d409-6893-88cf-da823e454055}">
          <p14:sldIdLst>
            <p14:sldId id="36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notesMaster" Target="notesMasters/notesMaster1.xml"/><Relationship Id="rId108" Type="http://schemas.openxmlformats.org/officeDocument/2006/relationships/presProps" Target="presProps.xml"/><Relationship Id="rId109" Type="http://schemas.openxmlformats.org/officeDocument/2006/relationships/viewProps" Target="viewProps.xml"/><Relationship Id="rId110" Type="http://schemas.openxmlformats.org/officeDocument/2006/relationships/theme" Target="theme/theme1.xml"/><Relationship Id="rId1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begin with the first 55 verses of Surah An-Naml, then move back to Surah Ash-Shu'ara' and the second part of Surah Al-Furqan. Inside each surah, the verses follow their order in the Mushaf.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question after this surah: What did Sulayman pray for when he heard the ant's words (verse 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question after this surah: What did Musa say to his companions when they said: We are surely caught (verse 62)?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question after this surah: List five qualities of the servants of the Most Merciful in verses 63–74.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jp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jp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jp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AGE">
    <p:bg>
      <p:bgPr>
        <a:solidFill>
          <a:schemeClr val="bg2"/>
        </a:solidFill>
      </p:bgPr>
    </p:bg>
    <p:spTree>
      <p:nvGrpSpPr>
        <p:cNvPr id="1" name=""/>
        <p:cNvGrpSpPr/>
        <p:nvPr/>
      </p:nvGrpSpPr>
      <p:grpSpPr>
        <a:xfrm>
          <a:off x="0" y="0"/>
          <a:ext cx="0" cy="0"/>
          <a:chOff x="0" y="0"/>
          <a:chExt cx="0" cy="0"/>
        </a:xfrm>
      </p:grpSpPr>
      <p:pic>
        <p:nvPicPr>
          <p:cNvPr id="2" name="Image 0" descr="assets19/bg_page.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ph idx="101" type="title" hasCustomPrompt="1"/>
          </p:nvPr>
        </p:nvSpPr>
        <p:spPr>
          <a:xfrm>
            <a:off x="4084168" y="384048"/>
            <a:ext cx="4023360" cy="713232"/>
          </a:xfrm>
          <a:prstGeom prst="rect">
            <a:avLst/>
          </a:prstGeom>
          <a:noFill/>
          <a:ln/>
        </p:spPr>
        <p:txBody>
          <a:bodyPr wrap="square" rtlCol="0"/>
          <a:lstStyle>
            <a:lvl1pPr algn="ctr" indent="0" marL="0">
              <a:buNone/>
              <a:defRPr lang="en-US" sz="2400" b="1" dirty="0">
                <a:solidFill>
                  <a:schemeClr val="bg1"/>
                </a:solidFill>
                <a:latin typeface="Georgia" pitchFamily="34" charset="0"/>
                <a:ea typeface="Georgia" pitchFamily="34" charset="-122"/>
                <a:cs typeface="Georgia" pitchFamily="34" charset="-120"/>
              </a:defRPr>
            </a:lvl1pPr>
          </a:lstStyle>
          <a:p>
            <a:pPr algn="ctr" indent="0" marL="0">
              <a:buNone/>
            </a:pPr>
            <a:endParaRPr lang="en-US" sz="24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NTRO">
    <p:bg>
      <p:bgPr>
        <a:solidFill>
          <a:schemeClr val="bg2"/>
        </a:solidFill>
      </p:bgPr>
    </p:bg>
    <p:spTree>
      <p:nvGrpSpPr>
        <p:cNvPr id="1" name=""/>
        <p:cNvGrpSpPr/>
        <p:nvPr/>
      </p:nvGrpSpPr>
      <p:grpSpPr>
        <a:xfrm>
          <a:off x="0" y="0"/>
          <a:ext cx="0" cy="0"/>
          <a:chOff x="0" y="0"/>
          <a:chExt cx="0" cy="0"/>
        </a:xfrm>
      </p:grpSpPr>
      <p:pic>
        <p:nvPicPr>
          <p:cNvPr id="2" name="Image 0" descr="assets19/bg_intro.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chemeClr val="bg2"/>
        </a:solidFill>
      </p:bgPr>
    </p:bg>
    <p:spTree>
      <p:nvGrpSpPr>
        <p:cNvPr id="1" name=""/>
        <p:cNvGrpSpPr/>
        <p:nvPr/>
      </p:nvGrpSpPr>
      <p:grpSpPr>
        <a:xfrm>
          <a:off x="0" y="0"/>
          <a:ext cx="0" cy="0"/>
          <a:chOff x="0" y="0"/>
          <a:chExt cx="0" cy="0"/>
        </a:xfrm>
      </p:grpSpPr>
      <p:pic>
        <p:nvPicPr>
          <p:cNvPr id="2" name="Image 0" descr="assets19/bg_dark.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4.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image" Target="../media/image-105-1.png"/><Relationship Id="rId2" Type="http://schemas.openxmlformats.org/officeDocument/2006/relationships/image" Target="../media/image-105-2.png"/><Relationship Id="rId3" Type="http://schemas.openxmlformats.org/officeDocument/2006/relationships/slideLayout" Target="../slideLayouts/slideLayout4.xml"/><Relationship Id="rId4" Type="http://schemas.openxmlformats.org/officeDocument/2006/relationships/notesSlide" Target="../notesSlides/notesSlide10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assets19/rosette.png">    </p:cNvPr>
          <p:cNvPicPr>
            <a:picLocks noChangeAspect="1"/>
          </p:cNvPicPr>
          <p:nvPr/>
        </p:nvPicPr>
        <p:blipFill>
          <a:blip r:embed="rId1"/>
          <a:stretch>
            <a:fillRect/>
          </a:stretch>
        </p:blipFill>
        <p:spPr>
          <a:xfrm>
            <a:off x="5364328" y="777240"/>
            <a:ext cx="1463040" cy="1463040"/>
          </a:xfrm>
          <a:prstGeom prst="rect">
            <a:avLst/>
          </a:prstGeom>
        </p:spPr>
      </p:pic>
      <p:sp>
        <p:nvSpPr>
          <p:cNvPr id="3" name="Text 0"/>
          <p:cNvSpPr txBox="1"/>
          <p:nvPr/>
        </p:nvSpPr>
        <p:spPr>
          <a:xfrm>
            <a:off x="731520" y="2468880"/>
            <a:ext cx="10728655" cy="1143000"/>
          </a:xfrm>
          <a:prstGeom prst="rect">
            <a:avLst/>
          </a:prstGeom>
          <a:noFill/>
          <a:ln/>
        </p:spPr>
        <p:txBody>
          <a:bodyPr wrap="square" lIns="0" tIns="0" rIns="0" bIns="0" rtlCol="0" anchor="ctr"/>
          <a:lstStyle/>
          <a:p>
            <a:pPr algn="ctr" indent="0" marL="0">
              <a:buNone/>
            </a:pPr>
            <a:r>
              <a:rPr lang="en-US" altLang="en-US" sz="4400" b="1" dirty="0">
                <a:solidFill>
                  <a:schemeClr val="bg1"/>
                </a:solidFill>
                <a:latin typeface="Georgia" pitchFamily="34" charset="0"/>
                <a:ea typeface="Georgia" pitchFamily="34" charset="-122"/>
                <a:cs typeface="Georgia" pitchFamily="34" charset="-120"/>
              </a:rPr>
              <a:t>Tafsir of Juz Wa Qala Alladhina</a:t>
            </a:r>
            <a:endParaRPr lang="en-US" sz="4400" dirty="0"/>
          </a:p>
        </p:txBody>
      </p:sp>
      <p:sp>
        <p:nvSpPr>
          <p:cNvPr id="4" name="Text 1"/>
          <p:cNvSpPr txBox="1"/>
          <p:nvPr/>
        </p:nvSpPr>
        <p:spPr>
          <a:xfrm>
            <a:off x="1097280" y="3657600"/>
            <a:ext cx="9997135" cy="502920"/>
          </a:xfrm>
          <a:prstGeom prst="rect">
            <a:avLst/>
          </a:prstGeom>
          <a:noFill/>
          <a:ln/>
        </p:spPr>
        <p:txBody>
          <a:bodyPr wrap="square" lIns="0" tIns="0" rIns="0" bIns="0" rtlCol="0" anchor="ctr"/>
          <a:lstStyle/>
          <a:p>
            <a:pPr algn="ctr" indent="0" marL="0">
              <a:buNone/>
            </a:pPr>
            <a:r>
              <a:rPr lang="en-US" altLang="en-US" sz="2200" b="1" dirty="0">
                <a:solidFill>
                  <a:schemeClr val="accent2"/>
                </a:solidFill>
                <a:latin typeface="Arial" pitchFamily="34" charset="0"/>
                <a:ea typeface="Arial" pitchFamily="34" charset="-122"/>
                <a:cs typeface="Arial" pitchFamily="34" charset="-120"/>
              </a:rPr>
              <a:t>A simplified explanation of every verse, drawn from the Tafsir of Imam Ibn Kathir</a:t>
            </a:r>
            <a:endParaRPr lang="en-US" sz="2200" dirty="0"/>
          </a:p>
        </p:txBody>
      </p:sp>
      <p:pic>
        <p:nvPicPr>
          <p:cNvPr id="5" name="Image 1" descr="assets19/divider.png">    </p:cNvPr>
          <p:cNvPicPr>
            <a:picLocks noChangeAspect="1"/>
          </p:cNvPicPr>
          <p:nvPr/>
        </p:nvPicPr>
        <p:blipFill>
          <a:blip r:embed="rId2"/>
          <a:stretch>
            <a:fillRect/>
          </a:stretch>
        </p:blipFill>
        <p:spPr>
          <a:xfrm>
            <a:off x="3809848" y="4343400"/>
            <a:ext cx="4572000" cy="228600"/>
          </a:xfrm>
          <a:prstGeom prst="rect">
            <a:avLst/>
          </a:prstGeom>
        </p:spPr>
      </p:pic>
      <p:sp>
        <p:nvSpPr>
          <p:cNvPr id="6" name="Text 2"/>
          <p:cNvSpPr txBox="1"/>
          <p:nvPr/>
        </p:nvSpPr>
        <p:spPr>
          <a:xfrm>
            <a:off x="1097280" y="4754880"/>
            <a:ext cx="9997135" cy="457200"/>
          </a:xfrm>
          <a:prstGeom prst="rect">
            <a:avLst/>
          </a:prstGeom>
          <a:noFill/>
          <a:ln/>
        </p:spPr>
        <p:txBody>
          <a:bodyPr wrap="square" lIns="0" tIns="0" rIns="0" bIns="0" rtlCol="0" anchor="t"/>
          <a:lstStyle/>
          <a:p>
            <a:pPr algn="ctr" indent="0" marL="0">
              <a:buNone/>
            </a:pPr>
            <a:r>
              <a:rPr lang="en-US" altLang="en-US" sz="1700" dirty="0">
                <a:solidFill>
                  <a:schemeClr val="bg2"/>
                </a:solidFill>
                <a:latin typeface="Arial" pitchFamily="34" charset="0"/>
                <a:ea typeface="Arial" pitchFamily="34" charset="-122"/>
                <a:cs typeface="Arial" pitchFamily="34" charset="-120"/>
              </a:rPr>
              <a:t>Juz 19 • An-Naml (1–55), Ash-Shu'ara', then Al-Furqan (21–77) • with reasons for revelation</a:t>
            </a:r>
            <a:endParaRPr lang="en-US" sz="1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Before We Begin</a:t>
            </a:r>
            <a:endParaRPr lang="en-US" sz="2400" dirty="0"/>
          </a:p>
        </p:txBody>
      </p:sp>
      <p:sp>
        <p:nvSpPr>
          <p:cNvPr id="3" name="Shape 1"/>
          <p:cNvSpPr/>
          <p:nvPr/>
        </p:nvSpPr>
        <p:spPr>
          <a:xfrm>
            <a:off x="640080" y="1463040"/>
            <a:ext cx="5303520" cy="4617720"/>
          </a:xfrm>
          <a:prstGeom prst="roundRect">
            <a:avLst>
              <a:gd name="adj" fmla="val 2970"/>
            </a:avLst>
          </a:prstGeom>
          <a:solidFill>
            <a:schemeClr val="accent5"/>
          </a:solidFill>
          <a:ln w="15875">
            <a:solidFill>
              <a:schemeClr val="accent2"/>
            </a:solidFill>
            <a:prstDash val="solid"/>
          </a:ln>
        </p:spPr>
      </p:sp>
      <p:sp>
        <p:nvSpPr>
          <p:cNvPr id="4" name="Text 2"/>
          <p:cNvSpPr txBox="1"/>
          <p:nvPr/>
        </p:nvSpPr>
        <p:spPr>
          <a:xfrm>
            <a:off x="868680" y="1645920"/>
            <a:ext cx="4846320" cy="685800"/>
          </a:xfrm>
          <a:prstGeom prst="rect">
            <a:avLst/>
          </a:prstGeom>
          <a:noFill/>
          <a:ln/>
        </p:spPr>
        <p:txBody>
          <a:bodyPr wrap="square" lIns="0" tIns="0" rIns="0" bIns="0" rtlCol="0" anchor="t"/>
          <a:lstStyle/>
          <a:p>
            <a:pPr algn="l" indent="0" marL="0">
              <a:buNone/>
            </a:pPr>
            <a:r>
              <a:rPr lang="en-US" altLang="en-US" sz="1900" b="1" dirty="0">
                <a:solidFill>
                  <a:schemeClr val="tx2"/>
                </a:solidFill>
                <a:latin typeface="Georgia" pitchFamily="34" charset="0"/>
                <a:ea typeface="Georgia" pitchFamily="34" charset="-122"/>
                <a:cs typeface="Georgia" pitchFamily="34" charset="-120"/>
              </a:rPr>
              <a:t>Imam Ibn Kathir (may Allah have mercy on him)</a:t>
            </a:r>
            <a:endParaRPr lang="en-US" sz="1900" dirty="0"/>
          </a:p>
        </p:txBody>
      </p:sp>
      <p:sp>
        <p:nvSpPr>
          <p:cNvPr id="5" name="Text 3"/>
          <p:cNvSpPr txBox="1"/>
          <p:nvPr/>
        </p:nvSpPr>
        <p:spPr>
          <a:xfrm>
            <a:off x="868680" y="2423160"/>
            <a:ext cx="4846320" cy="3520440"/>
          </a:xfrm>
          <a:prstGeom prst="rect">
            <a:avLst/>
          </a:prstGeom>
          <a:noFill/>
          <a:ln/>
        </p:spPr>
        <p:txBody>
          <a:bodyPr wrap="square" lIns="0" tIns="0" rIns="0" bIns="0" rtlCol="0" anchor="t"/>
          <a:lstStyle/>
          <a:p>
            <a:pPr algn="l" indent="0" marL="0">
              <a:spcAft>
                <a:spcPts val="900"/>
              </a:spcAft>
              <a:buNone/>
            </a:pPr>
            <a:r>
              <a:rPr lang="en-US" altLang="en-US" sz="1500" b="1" dirty="0">
                <a:solidFill>
                  <a:schemeClr val="tx2"/>
                </a:solidFill>
                <a:latin typeface="Arial" pitchFamily="34" charset="0"/>
                <a:ea typeface="Arial" pitchFamily="34" charset="-122"/>
                <a:cs typeface="Arial" pitchFamily="34" charset="-120"/>
              </a:rPr>
              <a:t>Name: </a:t>
            </a:r>
            <a:pPr algn="l" indent="0" marL="0">
              <a:spcAft>
                <a:spcPts val="900"/>
              </a:spcAft>
              <a:buNone/>
            </a:pPr>
            <a:r>
              <a:rPr lang="en-US" altLang="en-US" sz="1500" dirty="0">
                <a:solidFill>
                  <a:schemeClr val="tx1"/>
                </a:solidFill>
                <a:latin typeface="Arial" pitchFamily="34" charset="0"/>
                <a:ea typeface="Arial" pitchFamily="34" charset="-122"/>
                <a:cs typeface="Arial" pitchFamily="34" charset="-120"/>
              </a:rPr>
              <a:t>Isma'il ibn 'Umar ibn Kathir of Damascus</a:t>
            </a:r>
            <a:endParaRPr lang="en-US" sz="1500" dirty="0"/>
          </a:p>
          <a:p>
            <a:pPr algn="l" indent="0" marL="0">
              <a:spcAft>
                <a:spcPts val="900"/>
              </a:spcAft>
              <a:buNone/>
            </a:pPr>
            <a:r>
              <a:rPr lang="en-US" altLang="en-US" sz="1500" b="1" dirty="0">
                <a:solidFill>
                  <a:schemeClr val="tx2"/>
                </a:solidFill>
                <a:latin typeface="Arial" pitchFamily="34" charset="0"/>
                <a:ea typeface="Arial" pitchFamily="34" charset="-122"/>
                <a:cs typeface="Arial" pitchFamily="34" charset="-120"/>
              </a:rPr>
              <a:t>Lived: </a:t>
            </a:r>
            <a:pPr algn="l" indent="0" marL="0">
              <a:spcAft>
                <a:spcPts val="900"/>
              </a:spcAft>
              <a:buNone/>
            </a:pPr>
            <a:r>
              <a:rPr lang="en-US" altLang="en-US" sz="1500" dirty="0">
                <a:solidFill>
                  <a:schemeClr val="tx1"/>
                </a:solidFill>
                <a:latin typeface="Arial" pitchFamily="34" charset="0"/>
                <a:ea typeface="Arial" pitchFamily="34" charset="-122"/>
                <a:cs typeface="Arial" pitchFamily="34" charset="-120"/>
              </a:rPr>
              <a:t>about 701 – 774 AH (1300 – 1373 CE) in Syria</a:t>
            </a:r>
            <a:endParaRPr lang="en-US" sz="1500" dirty="0"/>
          </a:p>
          <a:p>
            <a:pPr algn="l" indent="0" marL="0">
              <a:spcAft>
                <a:spcPts val="900"/>
              </a:spcAft>
              <a:buNone/>
            </a:pPr>
            <a:r>
              <a:rPr lang="en-US" altLang="en-US" sz="1500" b="1" dirty="0">
                <a:solidFill>
                  <a:schemeClr val="tx2"/>
                </a:solidFill>
                <a:latin typeface="Arial" pitchFamily="34" charset="0"/>
                <a:ea typeface="Arial" pitchFamily="34" charset="-122"/>
                <a:cs typeface="Arial" pitchFamily="34" charset="-120"/>
              </a:rPr>
              <a:t>Teachers: </a:t>
            </a:r>
            <a:pPr algn="l" indent="0" marL="0">
              <a:spcAft>
                <a:spcPts val="900"/>
              </a:spcAft>
              <a:buNone/>
            </a:pPr>
            <a:r>
              <a:rPr lang="en-US" altLang="en-US" sz="1500" dirty="0">
                <a:solidFill>
                  <a:schemeClr val="tx1"/>
                </a:solidFill>
                <a:latin typeface="Arial" pitchFamily="34" charset="0"/>
                <a:ea typeface="Arial" pitchFamily="34" charset="-122"/>
                <a:cs typeface="Arial" pitchFamily="34" charset="-120"/>
              </a:rPr>
              <a:t>Ibn Taymiyyah, al-Mizzi and al-Dhahabi</a:t>
            </a:r>
            <a:endParaRPr lang="en-US" sz="1500" dirty="0"/>
          </a:p>
          <a:p>
            <a:pPr algn="l" indent="0" marL="0">
              <a:spcAft>
                <a:spcPts val="900"/>
              </a:spcAft>
              <a:buNone/>
            </a:pPr>
            <a:r>
              <a:rPr lang="en-US" altLang="en-US" sz="1500" b="1" dirty="0">
                <a:solidFill>
                  <a:schemeClr val="tx2"/>
                </a:solidFill>
                <a:latin typeface="Arial" pitchFamily="34" charset="0"/>
                <a:ea typeface="Arial" pitchFamily="34" charset="-122"/>
                <a:cs typeface="Arial" pitchFamily="34" charset="-120"/>
              </a:rPr>
              <a:t>His book: </a:t>
            </a:r>
            <a:pPr algn="l" indent="0" marL="0">
              <a:spcAft>
                <a:spcPts val="900"/>
              </a:spcAft>
              <a:buNone/>
            </a:pPr>
            <a:r>
              <a:rPr lang="en-US" altLang="en-US" sz="1500" dirty="0">
                <a:solidFill>
                  <a:schemeClr val="tx1"/>
                </a:solidFill>
                <a:latin typeface="Arial" pitchFamily="34" charset="0"/>
                <a:ea typeface="Arial" pitchFamily="34" charset="-122"/>
                <a:cs typeface="Arial" pitchFamily="34" charset="-120"/>
              </a:rPr>
              <a:t>Tafsir al-Qur'an al-'Azim, one of the most famous books of tafsir</a:t>
            </a:r>
            <a:endParaRPr lang="en-US" sz="1500" dirty="0"/>
          </a:p>
          <a:p>
            <a:pPr algn="l" indent="0" marL="0">
              <a:spcAft>
                <a:spcPts val="900"/>
              </a:spcAft>
              <a:buNone/>
            </a:pPr>
            <a:r>
              <a:rPr lang="en-US" altLang="en-US" sz="1500" b="1" dirty="0">
                <a:solidFill>
                  <a:schemeClr val="tx2"/>
                </a:solidFill>
                <a:latin typeface="Arial" pitchFamily="34" charset="0"/>
                <a:ea typeface="Arial" pitchFamily="34" charset="-122"/>
                <a:cs typeface="Arial" pitchFamily="34" charset="-120"/>
              </a:rPr>
              <a:t>His method: </a:t>
            </a:r>
            <a:pPr algn="l" indent="0" marL="0">
              <a:spcAft>
                <a:spcPts val="900"/>
              </a:spcAft>
              <a:buNone/>
            </a:pPr>
            <a:r>
              <a:rPr lang="en-US" altLang="en-US" sz="1500" dirty="0">
                <a:solidFill>
                  <a:schemeClr val="tx1"/>
                </a:solidFill>
                <a:latin typeface="Arial" pitchFamily="34" charset="0"/>
                <a:ea typeface="Arial" pitchFamily="34" charset="-122"/>
                <a:cs typeface="Arial" pitchFamily="34" charset="-120"/>
              </a:rPr>
              <a:t>He explains the Qur'an by the Qur'an, then by the Sunnah, then by the sayings of the Companions and their students</a:t>
            </a:r>
            <a:endParaRPr lang="en-US" sz="1500" dirty="0"/>
          </a:p>
        </p:txBody>
      </p:sp>
      <p:sp>
        <p:nvSpPr>
          <p:cNvPr id="6" name="Text 4"/>
          <p:cNvSpPr txBox="1"/>
          <p:nvPr/>
        </p:nvSpPr>
        <p:spPr>
          <a:xfrm>
            <a:off x="6263640" y="1600200"/>
            <a:ext cx="5303520" cy="502920"/>
          </a:xfrm>
          <a:prstGeom prst="rect">
            <a:avLst/>
          </a:prstGeom>
          <a:noFill/>
          <a:ln/>
        </p:spPr>
        <p:txBody>
          <a:bodyPr wrap="square" lIns="0" tIns="0" rIns="0" bIns="0" rtlCol="0" anchor="t"/>
          <a:lstStyle/>
          <a:p>
            <a:pPr algn="l" indent="0" marL="0">
              <a:buNone/>
            </a:pPr>
            <a:r>
              <a:rPr lang="en-US" altLang="en-US" sz="2200" b="1" dirty="0">
                <a:solidFill>
                  <a:schemeClr val="tx2"/>
                </a:solidFill>
                <a:latin typeface="Georgia" pitchFamily="34" charset="0"/>
                <a:ea typeface="Georgia" pitchFamily="34" charset="-122"/>
                <a:cs typeface="Georgia" pitchFamily="34" charset="-120"/>
              </a:rPr>
              <a:t>How to read the slides</a:t>
            </a:r>
            <a:endParaRPr lang="en-US" sz="2200" dirty="0"/>
          </a:p>
        </p:txBody>
      </p:sp>
      <p:sp>
        <p:nvSpPr>
          <p:cNvPr id="7" name="Shape 5"/>
          <p:cNvSpPr/>
          <p:nvPr/>
        </p:nvSpPr>
        <p:spPr>
          <a:xfrm>
            <a:off x="6263640" y="2331720"/>
            <a:ext cx="566928" cy="566928"/>
          </a:xfrm>
          <a:prstGeom prst="star8">
            <a:avLst/>
          </a:prstGeom>
          <a:solidFill>
            <a:schemeClr val="accent2"/>
          </a:solidFill>
          <a:ln/>
        </p:spPr>
      </p:sp>
      <p:sp>
        <p:nvSpPr>
          <p:cNvPr id="8" name="Shape 6"/>
          <p:cNvSpPr/>
          <p:nvPr/>
        </p:nvSpPr>
        <p:spPr>
          <a:xfrm>
            <a:off x="6377026" y="2445106"/>
            <a:ext cx="340157" cy="340157"/>
          </a:xfrm>
          <a:prstGeom prst="ellipse">
            <a:avLst/>
          </a:prstGeom>
          <a:solidFill>
            <a:schemeClr val="bg2"/>
          </a:solidFill>
          <a:ln w="19050">
            <a:solidFill>
              <a:schemeClr val="tx2"/>
            </a:solidFill>
            <a:prstDash val="solid"/>
          </a:ln>
        </p:spPr>
      </p:sp>
      <p:sp>
        <p:nvSpPr>
          <p:cNvPr id="9" name="Text 7"/>
          <p:cNvSpPr txBox="1"/>
          <p:nvPr/>
        </p:nvSpPr>
        <p:spPr>
          <a:xfrm>
            <a:off x="6263640" y="2331720"/>
            <a:ext cx="566928" cy="566928"/>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a:t>
            </a:r>
            <a:endParaRPr lang="en-US" sz="1600" dirty="0"/>
          </a:p>
        </p:txBody>
      </p:sp>
      <p:sp>
        <p:nvSpPr>
          <p:cNvPr id="10" name="Text 8"/>
          <p:cNvSpPr txBox="1"/>
          <p:nvPr/>
        </p:nvSpPr>
        <p:spPr>
          <a:xfrm>
            <a:off x="7040880" y="2359152"/>
            <a:ext cx="4526280" cy="512064"/>
          </a:xfrm>
          <a:prstGeom prst="rect">
            <a:avLst/>
          </a:prstGeom>
          <a:noFill/>
          <a:ln/>
        </p:spPr>
        <p:txBody>
          <a:bodyPr wrap="square" lIns="0" tIns="0" rIns="0" bIns="0" rtlCol="0" anchor="ctr"/>
          <a:lstStyle/>
          <a:p>
            <a:pPr algn="l" indent="0" marL="0">
              <a:buNone/>
            </a:pPr>
            <a:r>
              <a:rPr lang="en-US" altLang="en-US" sz="1600" dirty="0">
                <a:solidFill>
                  <a:schemeClr val="tx1"/>
                </a:solidFill>
                <a:latin typeface="Arial" pitchFamily="34" charset="0"/>
                <a:ea typeface="Arial" pitchFamily="34" charset="-122"/>
                <a:cs typeface="Arial" pitchFamily="34" charset="-120"/>
              </a:rPr>
              <a:t>The verse number is inside the golden star</a:t>
            </a:r>
            <a:endParaRPr lang="en-US" sz="1600" dirty="0"/>
          </a:p>
        </p:txBody>
      </p:sp>
      <p:sp>
        <p:nvSpPr>
          <p:cNvPr id="11" name="Shape 9"/>
          <p:cNvSpPr/>
          <p:nvPr/>
        </p:nvSpPr>
        <p:spPr>
          <a:xfrm>
            <a:off x="6336792" y="3337560"/>
            <a:ext cx="420624" cy="420624"/>
          </a:xfrm>
          <a:prstGeom prst="ellipse">
            <a:avLst/>
          </a:prstGeom>
          <a:solidFill>
            <a:schemeClr val="tx2"/>
          </a:solidFill>
          <a:ln w="19050">
            <a:solidFill>
              <a:schemeClr val="accent2"/>
            </a:solidFill>
            <a:prstDash val="solid"/>
          </a:ln>
        </p:spPr>
      </p:sp>
      <p:sp>
        <p:nvSpPr>
          <p:cNvPr id="12" name="Text 10"/>
          <p:cNvSpPr txBox="1"/>
          <p:nvPr/>
        </p:nvSpPr>
        <p:spPr>
          <a:xfrm>
            <a:off x="7040880" y="3291840"/>
            <a:ext cx="4526280" cy="512064"/>
          </a:xfrm>
          <a:prstGeom prst="rect">
            <a:avLst/>
          </a:prstGeom>
          <a:noFill/>
          <a:ln/>
        </p:spPr>
        <p:txBody>
          <a:bodyPr wrap="square" lIns="0" tIns="0" rIns="0" bIns="0" rtlCol="0" anchor="ctr"/>
          <a:lstStyle/>
          <a:p>
            <a:pPr algn="l" indent="0" marL="0">
              <a:buNone/>
            </a:pPr>
            <a:r>
              <a:rPr lang="en-US" altLang="en-US" sz="1600" dirty="0">
                <a:solidFill>
                  <a:schemeClr val="tx1"/>
                </a:solidFill>
                <a:latin typeface="Arial" pitchFamily="34" charset="0"/>
                <a:ea typeface="Arial" pitchFamily="34" charset="-122"/>
                <a:cs typeface="Arial" pitchFamily="34" charset="-120"/>
              </a:rPr>
              <a:t>The Arabic verse is written in burgundy</a:t>
            </a:r>
            <a:endParaRPr lang="en-US" sz="1600" dirty="0"/>
          </a:p>
        </p:txBody>
      </p:sp>
      <p:sp>
        <p:nvSpPr>
          <p:cNvPr id="13" name="Shape 11"/>
          <p:cNvSpPr/>
          <p:nvPr/>
        </p:nvSpPr>
        <p:spPr>
          <a:xfrm>
            <a:off x="6336792" y="4270248"/>
            <a:ext cx="420624" cy="420624"/>
          </a:xfrm>
          <a:prstGeom prst="ellipse">
            <a:avLst/>
          </a:prstGeom>
          <a:solidFill>
            <a:schemeClr val="tx1"/>
          </a:solidFill>
          <a:ln w="19050">
            <a:solidFill>
              <a:schemeClr val="accent2"/>
            </a:solidFill>
            <a:prstDash val="solid"/>
          </a:ln>
        </p:spPr>
      </p:sp>
      <p:sp>
        <p:nvSpPr>
          <p:cNvPr id="14" name="Text 12"/>
          <p:cNvSpPr txBox="1"/>
          <p:nvPr/>
        </p:nvSpPr>
        <p:spPr>
          <a:xfrm>
            <a:off x="7040880" y="4224528"/>
            <a:ext cx="4526280" cy="512064"/>
          </a:xfrm>
          <a:prstGeom prst="rect">
            <a:avLst/>
          </a:prstGeom>
          <a:noFill/>
          <a:ln/>
        </p:spPr>
        <p:txBody>
          <a:bodyPr wrap="square" lIns="0" tIns="0" rIns="0" bIns="0" rtlCol="0" anchor="ctr"/>
          <a:lstStyle/>
          <a:p>
            <a:pPr algn="l" indent="0" marL="0">
              <a:buNone/>
            </a:pPr>
            <a:r>
              <a:rPr lang="en-US" altLang="en-US" sz="1600" dirty="0">
                <a:solidFill>
                  <a:schemeClr val="tx1"/>
                </a:solidFill>
                <a:latin typeface="Arial" pitchFamily="34" charset="0"/>
                <a:ea typeface="Arial" pitchFamily="34" charset="-122"/>
                <a:cs typeface="Arial" pitchFamily="34" charset="-120"/>
              </a:rPr>
              <a:t>A simple English explanation comes right under it</a:t>
            </a:r>
            <a:endParaRPr lang="en-US" sz="1600" dirty="0"/>
          </a:p>
        </p:txBody>
      </p:sp>
      <p:sp>
        <p:nvSpPr>
          <p:cNvPr id="15" name="Shape 13"/>
          <p:cNvSpPr/>
          <p:nvPr/>
        </p:nvSpPr>
        <p:spPr>
          <a:xfrm>
            <a:off x="6336792" y="5202936"/>
            <a:ext cx="420624" cy="420624"/>
          </a:xfrm>
          <a:prstGeom prst="ellipse">
            <a:avLst/>
          </a:prstGeom>
          <a:solidFill>
            <a:schemeClr val="accent6"/>
          </a:solidFill>
          <a:ln w="19050">
            <a:solidFill>
              <a:schemeClr val="accent2"/>
            </a:solidFill>
            <a:prstDash val="solid"/>
          </a:ln>
        </p:spPr>
      </p:sp>
      <p:sp>
        <p:nvSpPr>
          <p:cNvPr id="16" name="Text 14"/>
          <p:cNvSpPr txBox="1"/>
          <p:nvPr/>
        </p:nvSpPr>
        <p:spPr>
          <a:xfrm>
            <a:off x="7040880" y="5157216"/>
            <a:ext cx="4526280" cy="512064"/>
          </a:xfrm>
          <a:prstGeom prst="rect">
            <a:avLst/>
          </a:prstGeom>
          <a:noFill/>
          <a:ln/>
        </p:spPr>
        <p:txBody>
          <a:bodyPr wrap="square" lIns="0" tIns="0" rIns="0" bIns="0" rtlCol="0" anchor="ctr"/>
          <a:lstStyle/>
          <a:p>
            <a:pPr algn="l" indent="0" marL="0">
              <a:buNone/>
            </a:pPr>
            <a:r>
              <a:rPr lang="en-US" altLang="en-US" sz="1600" dirty="0">
                <a:solidFill>
                  <a:schemeClr val="tx1"/>
                </a:solidFill>
                <a:latin typeface="Arial" pitchFamily="34" charset="0"/>
                <a:ea typeface="Arial" pitchFamily="34" charset="-122"/>
                <a:cs typeface="Arial" pitchFamily="34" charset="-120"/>
              </a:rPr>
              <a:t>Each surah opens with its reason for revelation and theme</a:t>
            </a:r>
            <a:endParaRPr lang="en-US" sz="16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Surahs of This Juz</a:t>
            </a:r>
            <a:endParaRPr lang="en-US" sz="2400" dirty="0"/>
          </a:p>
        </p:txBody>
      </p:sp>
      <p:sp>
        <p:nvSpPr>
          <p:cNvPr id="3" name="Text 1"/>
          <p:cNvSpPr txBox="1"/>
          <p:nvPr/>
        </p:nvSpPr>
        <p:spPr>
          <a:xfrm>
            <a:off x="685800" y="1280160"/>
            <a:ext cx="10820095" cy="384048"/>
          </a:xfrm>
          <a:prstGeom prst="rect">
            <a:avLst/>
          </a:prstGeom>
          <a:noFill/>
          <a:ln/>
        </p:spPr>
        <p:txBody>
          <a:bodyPr wrap="square" lIns="0" tIns="0" rIns="0" bIns="0" rtlCol="0" anchor="t"/>
          <a:lstStyle/>
          <a:p>
            <a:pPr algn="ctr" indent="0" marL="0">
              <a:buNone/>
            </a:pPr>
            <a:r>
              <a:rPr lang="en-US" altLang="en-US" sz="1600" dirty="0">
                <a:solidFill>
                  <a:schemeClr val="accent4"/>
                </a:solidFill>
                <a:latin typeface="Arial" pitchFamily="34" charset="0"/>
                <a:ea typeface="Arial" pitchFamily="34" charset="-122"/>
                <a:cs typeface="Arial" pitchFamily="34" charset="-120"/>
              </a:rPr>
              <a:t>Our journey starts with Surah An-Naml and moves back to Surah Al-Furqan</a:t>
            </a:r>
            <a:endParaRPr lang="en-US" sz="1600" dirty="0"/>
          </a:p>
        </p:txBody>
      </p:sp>
      <p:sp>
        <p:nvSpPr>
          <p:cNvPr id="4" name="Shape 2"/>
          <p:cNvSpPr/>
          <p:nvPr/>
        </p:nvSpPr>
        <p:spPr>
          <a:xfrm>
            <a:off x="685800" y="1828800"/>
            <a:ext cx="2622728" cy="566928"/>
          </a:xfrm>
          <a:prstGeom prst="roundRect">
            <a:avLst>
              <a:gd name="adj" fmla="val 50000"/>
            </a:avLst>
          </a:prstGeom>
          <a:solidFill>
            <a:schemeClr val="bg1"/>
          </a:solidFill>
          <a:ln w="12700">
            <a:solidFill>
              <a:schemeClr val="accent2"/>
            </a:solidFill>
            <a:prstDash val="solid"/>
          </a:ln>
        </p:spPr>
      </p:sp>
      <p:sp>
        <p:nvSpPr>
          <p:cNvPr id="5" name="Text 3"/>
          <p:cNvSpPr txBox="1"/>
          <p:nvPr/>
        </p:nvSpPr>
        <p:spPr>
          <a:xfrm>
            <a:off x="685800" y="1828800"/>
            <a:ext cx="2622728" cy="566928"/>
          </a:xfrm>
          <a:prstGeom prst="rect">
            <a:avLst/>
          </a:prstGeom>
          <a:noFill/>
          <a:ln/>
        </p:spPr>
        <p:txBody>
          <a:bodyPr wrap="square" lIns="0" tIns="0" rIns="0" bIns="0" rtlCol="0" anchor="ctr"/>
          <a:lstStyle/>
          <a:p>
            <a:pPr algn="ctr" indent="0" marL="0">
              <a:buNone/>
            </a:pPr>
            <a:r>
              <a:rPr lang="en-US" altLang="en-US" sz="1400" b="1" dirty="0">
                <a:solidFill>
                  <a:schemeClr val="accent2"/>
                </a:solidFill>
                <a:latin typeface="Arial" pitchFamily="34" charset="0"/>
                <a:ea typeface="Arial" pitchFamily="34" charset="-122"/>
                <a:cs typeface="Arial" pitchFamily="34" charset="-120"/>
              </a:rPr>
              <a:t>1. </a:t>
            </a:r>
            <a:pPr algn="ctr" indent="0" marL="0">
              <a:buNone/>
            </a:pPr>
            <a:r>
              <a:rPr lang="en-US" altLang="en-US" sz="1400" b="1" dirty="0">
                <a:solidFill>
                  <a:schemeClr val="tx2"/>
                </a:solidFill>
                <a:latin typeface="Arial" pitchFamily="34" charset="0"/>
                <a:ea typeface="Arial" pitchFamily="34" charset="-122"/>
                <a:cs typeface="Arial" pitchFamily="34" charset="-120"/>
              </a:rPr>
              <a:t>An-Naml</a:t>
            </a:r>
            <a:endParaRPr lang="en-US" sz="1400" dirty="0"/>
          </a:p>
        </p:txBody>
      </p:sp>
      <p:sp>
        <p:nvSpPr>
          <p:cNvPr id="6" name="Shape 4"/>
          <p:cNvSpPr/>
          <p:nvPr/>
        </p:nvSpPr>
        <p:spPr>
          <a:xfrm>
            <a:off x="3418256" y="1828800"/>
            <a:ext cx="2622728" cy="566928"/>
          </a:xfrm>
          <a:prstGeom prst="roundRect">
            <a:avLst>
              <a:gd name="adj" fmla="val 50000"/>
            </a:avLst>
          </a:prstGeom>
          <a:solidFill>
            <a:schemeClr val="accent5"/>
          </a:solidFill>
          <a:ln w="12700">
            <a:solidFill>
              <a:schemeClr val="accent2"/>
            </a:solidFill>
            <a:prstDash val="solid"/>
          </a:ln>
        </p:spPr>
      </p:sp>
      <p:sp>
        <p:nvSpPr>
          <p:cNvPr id="7" name="Text 5"/>
          <p:cNvSpPr txBox="1"/>
          <p:nvPr/>
        </p:nvSpPr>
        <p:spPr>
          <a:xfrm>
            <a:off x="3418256" y="1828800"/>
            <a:ext cx="2622728" cy="566928"/>
          </a:xfrm>
          <a:prstGeom prst="rect">
            <a:avLst/>
          </a:prstGeom>
          <a:noFill/>
          <a:ln/>
        </p:spPr>
        <p:txBody>
          <a:bodyPr wrap="square" lIns="0" tIns="0" rIns="0" bIns="0" rtlCol="0" anchor="ctr"/>
          <a:lstStyle/>
          <a:p>
            <a:pPr algn="ctr" indent="0" marL="0">
              <a:buNone/>
            </a:pPr>
            <a:r>
              <a:rPr lang="en-US" altLang="en-US" sz="1400" b="1" dirty="0">
                <a:solidFill>
                  <a:schemeClr val="accent2"/>
                </a:solidFill>
                <a:latin typeface="Arial" pitchFamily="34" charset="0"/>
                <a:ea typeface="Arial" pitchFamily="34" charset="-122"/>
                <a:cs typeface="Arial" pitchFamily="34" charset="-120"/>
              </a:rPr>
              <a:t>2. </a:t>
            </a:r>
            <a:pPr algn="ctr" indent="0" marL="0">
              <a:buNone/>
            </a:pPr>
            <a:r>
              <a:rPr lang="en-US" altLang="en-US" sz="1400" b="1" dirty="0">
                <a:solidFill>
                  <a:schemeClr val="tx2"/>
                </a:solidFill>
                <a:latin typeface="Arial" pitchFamily="34" charset="0"/>
                <a:ea typeface="Arial" pitchFamily="34" charset="-122"/>
                <a:cs typeface="Arial" pitchFamily="34" charset="-120"/>
              </a:rPr>
              <a:t>Ash-Shu'ara'</a:t>
            </a:r>
            <a:endParaRPr lang="en-US" sz="1400" dirty="0"/>
          </a:p>
        </p:txBody>
      </p:sp>
      <p:sp>
        <p:nvSpPr>
          <p:cNvPr id="8" name="Shape 6"/>
          <p:cNvSpPr/>
          <p:nvPr/>
        </p:nvSpPr>
        <p:spPr>
          <a:xfrm>
            <a:off x="6150712" y="1828800"/>
            <a:ext cx="2622728" cy="566928"/>
          </a:xfrm>
          <a:prstGeom prst="roundRect">
            <a:avLst>
              <a:gd name="adj" fmla="val 50000"/>
            </a:avLst>
          </a:prstGeom>
          <a:solidFill>
            <a:schemeClr val="bg1"/>
          </a:solidFill>
          <a:ln w="12700">
            <a:solidFill>
              <a:schemeClr val="accent2"/>
            </a:solidFill>
            <a:prstDash val="solid"/>
          </a:ln>
        </p:spPr>
      </p:sp>
      <p:sp>
        <p:nvSpPr>
          <p:cNvPr id="9" name="Text 7"/>
          <p:cNvSpPr txBox="1"/>
          <p:nvPr/>
        </p:nvSpPr>
        <p:spPr>
          <a:xfrm>
            <a:off x="6150712" y="1828800"/>
            <a:ext cx="2622728" cy="566928"/>
          </a:xfrm>
          <a:prstGeom prst="rect">
            <a:avLst/>
          </a:prstGeom>
          <a:noFill/>
          <a:ln/>
        </p:spPr>
        <p:txBody>
          <a:bodyPr wrap="square" lIns="0" tIns="0" rIns="0" bIns="0" rtlCol="0" anchor="ctr"/>
          <a:lstStyle/>
          <a:p>
            <a:pPr algn="ctr" indent="0" marL="0">
              <a:buNone/>
            </a:pPr>
            <a:r>
              <a:rPr lang="en-US" altLang="en-US" sz="1400" b="1" dirty="0">
                <a:solidFill>
                  <a:schemeClr val="accent2"/>
                </a:solidFill>
                <a:latin typeface="Arial" pitchFamily="34" charset="0"/>
                <a:ea typeface="Arial" pitchFamily="34" charset="-122"/>
                <a:cs typeface="Arial" pitchFamily="34" charset="-120"/>
              </a:rPr>
              <a:t>3. </a:t>
            </a:r>
            <a:pPr algn="ctr" indent="0" marL="0">
              <a:buNone/>
            </a:pPr>
            <a:r>
              <a:rPr lang="en-US" altLang="en-US" sz="1400" b="1" dirty="0">
                <a:solidFill>
                  <a:schemeClr val="tx2"/>
                </a:solidFill>
                <a:latin typeface="Arial" pitchFamily="34" charset="0"/>
                <a:ea typeface="Arial" pitchFamily="34" charset="-122"/>
                <a:cs typeface="Arial" pitchFamily="34" charset="-120"/>
              </a:rPr>
              <a:t>Al-Furqan</a:t>
            </a:r>
            <a:endParaRPr lang="en-US" sz="14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3600" b="1" dirty="0">
                <a:solidFill>
                  <a:schemeClr val="accent2"/>
                </a:solidFill>
                <a:latin typeface="Georgia" pitchFamily="34" charset="0"/>
                <a:ea typeface="Georgia" pitchFamily="34" charset="-122"/>
                <a:cs typeface="Georgia" pitchFamily="34" charset="-120"/>
              </a:rPr>
              <a:t>Surah An-Naml</a:t>
            </a:r>
            <a:endParaRPr lang="en-US" sz="36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In this juz: verses 1 – 55</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Makki</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no. 27 in the Mushaf</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No specific, well-known reason for revelation is reported for this surah; it was revealed to remind and guide people.</a:t>
            </a:r>
            <a:endParaRPr lang="en-US" sz="17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Surah</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500" dirty="0">
                <a:solidFill>
                  <a:schemeClr val="tx1"/>
                </a:solidFill>
                <a:latin typeface="Arial" pitchFamily="34" charset="0"/>
                <a:ea typeface="Arial" pitchFamily="34" charset="-122"/>
                <a:cs typeface="Arial" pitchFamily="34" charset="-120"/>
              </a:rPr>
              <a:t>This juz ends at verse 55: the Qur'an is guidance and good news for the believers, the miracles of Musa, the great kingdom of Sulayman, the story of the ant, the hoopoe and the Queen of Saba' who became Muslim, then the plot of Salih's people and their destruction.</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An-Naml</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 – 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45882"/>
            <a:ext cx="548640" cy="548640"/>
          </a:xfrm>
          <a:prstGeom prst="star8">
            <a:avLst/>
          </a:prstGeom>
          <a:solidFill>
            <a:schemeClr val="accent2"/>
          </a:solidFill>
          <a:ln/>
        </p:spPr>
      </p:sp>
      <p:sp>
        <p:nvSpPr>
          <p:cNvPr id="6" name="Shape 4"/>
          <p:cNvSpPr/>
          <p:nvPr/>
        </p:nvSpPr>
        <p:spPr>
          <a:xfrm>
            <a:off x="822960" y="1455611"/>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4588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a:t>
            </a:r>
            <a:endParaRPr lang="en-US" sz="1600" dirty="0"/>
          </a:p>
        </p:txBody>
      </p:sp>
      <p:sp>
        <p:nvSpPr>
          <p:cNvPr id="8" name="Text 6"/>
          <p:cNvSpPr txBox="1"/>
          <p:nvPr/>
        </p:nvSpPr>
        <p:spPr>
          <a:xfrm>
            <a:off x="1444752" y="132759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طس تِلْكَ ءَايَٰتُ الْقُرْءَانِ وَكِتَابٍ مُّبِينٍ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Separate letters. These are the verses of the Qur'an and a clear Book,</a:t>
            </a:r>
            <a:endParaRPr lang="en-US" sz="3000" dirty="0"/>
          </a:p>
        </p:txBody>
      </p:sp>
      <p:sp>
        <p:nvSpPr>
          <p:cNvPr id="9" name="Shape 7"/>
          <p:cNvSpPr/>
          <p:nvPr/>
        </p:nvSpPr>
        <p:spPr>
          <a:xfrm>
            <a:off x="1444752" y="2394585"/>
            <a:ext cx="8641080" cy="0"/>
          </a:xfrm>
          <a:prstGeom prst="line">
            <a:avLst/>
          </a:prstGeom>
          <a:noFill/>
          <a:ln w="9525">
            <a:solidFill>
              <a:schemeClr val="accent2"/>
            </a:solidFill>
            <a:prstDash val="dash"/>
          </a:ln>
        </p:spPr>
      </p:sp>
      <p:sp>
        <p:nvSpPr>
          <p:cNvPr id="10" name="Shape 8"/>
          <p:cNvSpPr/>
          <p:nvPr/>
        </p:nvSpPr>
        <p:spPr>
          <a:xfrm>
            <a:off x="713232" y="2515172"/>
            <a:ext cx="548640" cy="548640"/>
          </a:xfrm>
          <a:prstGeom prst="star8">
            <a:avLst/>
          </a:prstGeom>
          <a:solidFill>
            <a:schemeClr val="accent2"/>
          </a:solidFill>
          <a:ln/>
        </p:spPr>
      </p:sp>
      <p:sp>
        <p:nvSpPr>
          <p:cNvPr id="11" name="Shape 9"/>
          <p:cNvSpPr/>
          <p:nvPr/>
        </p:nvSpPr>
        <p:spPr>
          <a:xfrm>
            <a:off x="822960" y="262490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51517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a:t>
            </a:r>
            <a:endParaRPr lang="en-US" sz="1600" dirty="0"/>
          </a:p>
        </p:txBody>
      </p:sp>
      <p:sp>
        <p:nvSpPr>
          <p:cNvPr id="13" name="Text 11"/>
          <p:cNvSpPr txBox="1"/>
          <p:nvPr/>
        </p:nvSpPr>
        <p:spPr>
          <a:xfrm>
            <a:off x="1444752" y="249688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هُدًى وَبُشْرَىٰ لِلْمُؤْمِنِينَ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guidance and good news for the believers,</a:t>
            </a:r>
            <a:endParaRPr lang="en-US" sz="3000" dirty="0"/>
          </a:p>
        </p:txBody>
      </p:sp>
      <p:sp>
        <p:nvSpPr>
          <p:cNvPr id="14" name="Shape 12"/>
          <p:cNvSpPr/>
          <p:nvPr/>
        </p:nvSpPr>
        <p:spPr>
          <a:xfrm>
            <a:off x="1444752" y="3563874"/>
            <a:ext cx="8641080" cy="0"/>
          </a:xfrm>
          <a:prstGeom prst="line">
            <a:avLst/>
          </a:prstGeom>
          <a:noFill/>
          <a:ln w="9525">
            <a:solidFill>
              <a:schemeClr val="accent2"/>
            </a:solidFill>
            <a:prstDash val="dash"/>
          </a:ln>
        </p:spPr>
      </p:sp>
      <p:sp>
        <p:nvSpPr>
          <p:cNvPr id="15" name="Shape 13"/>
          <p:cNvSpPr/>
          <p:nvPr/>
        </p:nvSpPr>
        <p:spPr>
          <a:xfrm>
            <a:off x="713232" y="3684460"/>
            <a:ext cx="548640" cy="548640"/>
          </a:xfrm>
          <a:prstGeom prst="star8">
            <a:avLst/>
          </a:prstGeom>
          <a:solidFill>
            <a:schemeClr val="accent2"/>
          </a:solidFill>
          <a:ln/>
        </p:spPr>
      </p:sp>
      <p:sp>
        <p:nvSpPr>
          <p:cNvPr id="16" name="Shape 14"/>
          <p:cNvSpPr/>
          <p:nvPr/>
        </p:nvSpPr>
        <p:spPr>
          <a:xfrm>
            <a:off x="822960" y="3794188"/>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68446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a:t>
            </a:r>
            <a:endParaRPr lang="en-US" sz="1600" dirty="0"/>
          </a:p>
        </p:txBody>
      </p:sp>
      <p:sp>
        <p:nvSpPr>
          <p:cNvPr id="18" name="Text 16"/>
          <p:cNvSpPr txBox="1"/>
          <p:nvPr/>
        </p:nvSpPr>
        <p:spPr>
          <a:xfrm>
            <a:off x="1444752" y="366617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الَّذِينَ يُقِيمُونَ الصَّلَوٰةَ وَيُؤْتُونَ الزَّكَوٰةَ وَهُم بِالْأخِرَةِ هُمْ يُوقِنُونَ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who establish the prayer, give the zakah, and are certain of the Hereafter.</a:t>
            </a:r>
            <a:endParaRPr lang="en-US" sz="3000" dirty="0"/>
          </a:p>
        </p:txBody>
      </p:sp>
      <p:sp>
        <p:nvSpPr>
          <p:cNvPr id="19" name="Shape 17"/>
          <p:cNvSpPr/>
          <p:nvPr/>
        </p:nvSpPr>
        <p:spPr>
          <a:xfrm>
            <a:off x="1444752" y="4733163"/>
            <a:ext cx="8641080" cy="0"/>
          </a:xfrm>
          <a:prstGeom prst="line">
            <a:avLst/>
          </a:prstGeom>
          <a:noFill/>
          <a:ln w="9525">
            <a:solidFill>
              <a:schemeClr val="accent2"/>
            </a:solidFill>
            <a:prstDash val="dash"/>
          </a:ln>
        </p:spPr>
      </p:sp>
      <p:sp>
        <p:nvSpPr>
          <p:cNvPr id="20" name="Shape 18"/>
          <p:cNvSpPr/>
          <p:nvPr/>
        </p:nvSpPr>
        <p:spPr>
          <a:xfrm>
            <a:off x="713232" y="4853749"/>
            <a:ext cx="548640" cy="548640"/>
          </a:xfrm>
          <a:prstGeom prst="star8">
            <a:avLst/>
          </a:prstGeom>
          <a:solidFill>
            <a:schemeClr val="accent2"/>
          </a:solidFill>
          <a:ln/>
        </p:spPr>
      </p:sp>
      <p:sp>
        <p:nvSpPr>
          <p:cNvPr id="21" name="Shape 19"/>
          <p:cNvSpPr/>
          <p:nvPr/>
        </p:nvSpPr>
        <p:spPr>
          <a:xfrm>
            <a:off x="822960" y="4963477"/>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4853749"/>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a:t>
            </a:r>
            <a:endParaRPr lang="en-US" sz="1600" dirty="0"/>
          </a:p>
        </p:txBody>
      </p:sp>
      <p:sp>
        <p:nvSpPr>
          <p:cNvPr id="23" name="Text 21"/>
          <p:cNvSpPr txBox="1"/>
          <p:nvPr/>
        </p:nvSpPr>
        <p:spPr>
          <a:xfrm>
            <a:off x="1444752" y="4835461"/>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الَّذِينَ لَا يُؤْمِنُونَ بِالْأخِرَةِ زَيَّنَّا لَهُمْ أَعْمَٰلَهُمْ فَهُمْ يَعْمَهُونَ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who do not believe in the Hereafter, We have made their evil deeds look good to them, so they wander in confusion.</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An-Naml</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 – 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05890"/>
            <a:ext cx="548640" cy="548640"/>
          </a:xfrm>
          <a:prstGeom prst="star8">
            <a:avLst/>
          </a:prstGeom>
          <a:solidFill>
            <a:schemeClr val="accent2"/>
          </a:solidFill>
          <a:ln/>
        </p:spPr>
      </p:sp>
      <p:sp>
        <p:nvSpPr>
          <p:cNvPr id="6" name="Shape 4"/>
          <p:cNvSpPr/>
          <p:nvPr/>
        </p:nvSpPr>
        <p:spPr>
          <a:xfrm>
            <a:off x="822960" y="151561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0589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a:t>
            </a:r>
            <a:endParaRPr lang="en-US" sz="1600" dirty="0"/>
          </a:p>
        </p:txBody>
      </p:sp>
      <p:sp>
        <p:nvSpPr>
          <p:cNvPr id="8" name="Text 6"/>
          <p:cNvSpPr txBox="1"/>
          <p:nvPr/>
        </p:nvSpPr>
        <p:spPr>
          <a:xfrm>
            <a:off x="1444752" y="138760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أُوْلَـٰئِكَ الَّذِينَ لَهُمْ سُوءُ الْعَذَابِ وَهُمْ فِي الْأخِرَةِ هُمُ الْأَخْسَرُونَ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are the ones who will have the worst punishment, and in the Hereafter they are the greatest losers.</a:t>
            </a:r>
            <a:endParaRPr lang="en-US" sz="3000" dirty="0"/>
          </a:p>
        </p:txBody>
      </p:sp>
      <p:sp>
        <p:nvSpPr>
          <p:cNvPr id="9" name="Shape 7"/>
          <p:cNvSpPr/>
          <p:nvPr/>
        </p:nvSpPr>
        <p:spPr>
          <a:xfrm>
            <a:off x="1444752" y="2775204"/>
            <a:ext cx="8641080" cy="0"/>
          </a:xfrm>
          <a:prstGeom prst="line">
            <a:avLst/>
          </a:prstGeom>
          <a:noFill/>
          <a:ln w="9525">
            <a:solidFill>
              <a:schemeClr val="accent2"/>
            </a:solidFill>
            <a:prstDash val="dash"/>
          </a:ln>
        </p:spPr>
      </p:sp>
      <p:sp>
        <p:nvSpPr>
          <p:cNvPr id="10" name="Shape 8"/>
          <p:cNvSpPr/>
          <p:nvPr/>
        </p:nvSpPr>
        <p:spPr>
          <a:xfrm>
            <a:off x="713232" y="2955798"/>
            <a:ext cx="548640" cy="548640"/>
          </a:xfrm>
          <a:prstGeom prst="star8">
            <a:avLst/>
          </a:prstGeom>
          <a:solidFill>
            <a:schemeClr val="accent2"/>
          </a:solidFill>
          <a:ln/>
        </p:spPr>
      </p:sp>
      <p:sp>
        <p:nvSpPr>
          <p:cNvPr id="11" name="Shape 9"/>
          <p:cNvSpPr/>
          <p:nvPr/>
        </p:nvSpPr>
        <p:spPr>
          <a:xfrm>
            <a:off x="822960" y="30655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9557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a:t>
            </a:r>
            <a:endParaRPr lang="en-US" sz="1600" dirty="0"/>
          </a:p>
        </p:txBody>
      </p:sp>
      <p:sp>
        <p:nvSpPr>
          <p:cNvPr id="13" name="Text 11"/>
          <p:cNvSpPr txBox="1"/>
          <p:nvPr/>
        </p:nvSpPr>
        <p:spPr>
          <a:xfrm>
            <a:off x="1444752" y="29375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وَإِنَّكَ لَتُلَقَّى الْقُرْءَانَ مِن لَّدُنْ حَكِيمٍ عَلِيمٍ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you surely receive the Qur'an from One who is All-Wise, All-Knowing.</a:t>
            </a:r>
            <a:endParaRPr lang="en-US" sz="3000" dirty="0"/>
          </a:p>
        </p:txBody>
      </p:sp>
      <p:sp>
        <p:nvSpPr>
          <p:cNvPr id="14" name="Shape 12"/>
          <p:cNvSpPr/>
          <p:nvPr/>
        </p:nvSpPr>
        <p:spPr>
          <a:xfrm>
            <a:off x="1444752" y="4064508"/>
            <a:ext cx="8641080" cy="0"/>
          </a:xfrm>
          <a:prstGeom prst="line">
            <a:avLst/>
          </a:prstGeom>
          <a:noFill/>
          <a:ln w="9525">
            <a:solidFill>
              <a:schemeClr val="accent2"/>
            </a:solidFill>
            <a:prstDash val="dash"/>
          </a:ln>
        </p:spPr>
      </p:sp>
      <p:sp>
        <p:nvSpPr>
          <p:cNvPr id="15" name="Shape 13"/>
          <p:cNvSpPr/>
          <p:nvPr/>
        </p:nvSpPr>
        <p:spPr>
          <a:xfrm>
            <a:off x="713232" y="4245102"/>
            <a:ext cx="548640" cy="548640"/>
          </a:xfrm>
          <a:prstGeom prst="star8">
            <a:avLst/>
          </a:prstGeom>
          <a:solidFill>
            <a:schemeClr val="accent2"/>
          </a:solidFill>
          <a:ln/>
        </p:spPr>
      </p:sp>
      <p:sp>
        <p:nvSpPr>
          <p:cNvPr id="16" name="Shape 14"/>
          <p:cNvSpPr/>
          <p:nvPr/>
        </p:nvSpPr>
        <p:spPr>
          <a:xfrm>
            <a:off x="822960" y="4354830"/>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24510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a:t>
            </a:r>
            <a:endParaRPr lang="en-US" sz="1600" dirty="0"/>
          </a:p>
        </p:txBody>
      </p:sp>
      <p:sp>
        <p:nvSpPr>
          <p:cNvPr id="18" name="Text 16"/>
          <p:cNvSpPr txBox="1"/>
          <p:nvPr/>
        </p:nvSpPr>
        <p:spPr>
          <a:xfrm>
            <a:off x="1444752" y="4226814"/>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إِذْ قَالَ مُوسَىٰ لِأَهْلِهِ إِنِّي ءَانَسْتُ نَارًا سَـَٔاتِيكُم مِّنْهَا بِخَبَرٍ أَوْ ءَاتِيكُم بِشِهَابٍ قَبَسٍ لَّعَلَّكُمْ تَصْطَلُونَ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Remember when Musa said to his family on his way from Madyan: I have seen a fire. I will bring you news from it about the way, or bring you a burning torch so that you may warm yourselves.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An-Naml</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8 – 10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05890"/>
            <a:ext cx="548640" cy="548640"/>
          </a:xfrm>
          <a:prstGeom prst="star8">
            <a:avLst/>
          </a:prstGeom>
          <a:solidFill>
            <a:schemeClr val="accent2"/>
          </a:solidFill>
          <a:ln/>
        </p:spPr>
      </p:sp>
      <p:sp>
        <p:nvSpPr>
          <p:cNvPr id="6" name="Shape 4"/>
          <p:cNvSpPr/>
          <p:nvPr/>
        </p:nvSpPr>
        <p:spPr>
          <a:xfrm>
            <a:off x="822960" y="151561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0589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a:t>
            </a:r>
            <a:endParaRPr lang="en-US" sz="1600" dirty="0"/>
          </a:p>
        </p:txBody>
      </p:sp>
      <p:sp>
        <p:nvSpPr>
          <p:cNvPr id="8" name="Text 6"/>
          <p:cNvSpPr txBox="1"/>
          <p:nvPr/>
        </p:nvSpPr>
        <p:spPr>
          <a:xfrm>
            <a:off x="1444752" y="138760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فَلَمَّا جَآءَهَا نُودِيَ أَن بُورِكَ مَن فِي النَّارِ وَمَنْ حَوْلَهَا وَسُبْحَٰنَ اللَّهِ رَبِّ الْعَٰلَمِينَ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he came to it, he was called: Blessed is whoever is at the place of the fire and the angels around it, and glory be to Allah, Lord of the worlds.</a:t>
            </a:r>
            <a:endParaRPr lang="en-US" sz="3000" dirty="0"/>
          </a:p>
        </p:txBody>
      </p:sp>
      <p:sp>
        <p:nvSpPr>
          <p:cNvPr id="9" name="Shape 7"/>
          <p:cNvSpPr/>
          <p:nvPr/>
        </p:nvSpPr>
        <p:spPr>
          <a:xfrm>
            <a:off x="1444752" y="2775204"/>
            <a:ext cx="8641080" cy="0"/>
          </a:xfrm>
          <a:prstGeom prst="line">
            <a:avLst/>
          </a:prstGeom>
          <a:noFill/>
          <a:ln w="9525">
            <a:solidFill>
              <a:schemeClr val="accent2"/>
            </a:solidFill>
            <a:prstDash val="dash"/>
          </a:ln>
        </p:spPr>
      </p:sp>
      <p:sp>
        <p:nvSpPr>
          <p:cNvPr id="10" name="Shape 8"/>
          <p:cNvSpPr/>
          <p:nvPr/>
        </p:nvSpPr>
        <p:spPr>
          <a:xfrm>
            <a:off x="713232" y="2955798"/>
            <a:ext cx="548640" cy="548640"/>
          </a:xfrm>
          <a:prstGeom prst="star8">
            <a:avLst/>
          </a:prstGeom>
          <a:solidFill>
            <a:schemeClr val="accent2"/>
          </a:solidFill>
          <a:ln/>
        </p:spPr>
      </p:sp>
      <p:sp>
        <p:nvSpPr>
          <p:cNvPr id="11" name="Shape 9"/>
          <p:cNvSpPr/>
          <p:nvPr/>
        </p:nvSpPr>
        <p:spPr>
          <a:xfrm>
            <a:off x="822960" y="30655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9557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a:t>
            </a:r>
            <a:endParaRPr lang="en-US" sz="1600" dirty="0"/>
          </a:p>
        </p:txBody>
      </p:sp>
      <p:sp>
        <p:nvSpPr>
          <p:cNvPr id="13" name="Text 11"/>
          <p:cNvSpPr txBox="1"/>
          <p:nvPr/>
        </p:nvSpPr>
        <p:spPr>
          <a:xfrm>
            <a:off x="1444752" y="29375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يَٰمُوسَىٰ إِنَّهُ أَنَا اللَّهُ الْعَزِيزُ الْحَكِيمُ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Musa, it is I, Allah, the Almighty, the All-Wise.</a:t>
            </a:r>
            <a:endParaRPr lang="en-US" sz="3000" dirty="0"/>
          </a:p>
        </p:txBody>
      </p:sp>
      <p:sp>
        <p:nvSpPr>
          <p:cNvPr id="14" name="Shape 12"/>
          <p:cNvSpPr/>
          <p:nvPr/>
        </p:nvSpPr>
        <p:spPr>
          <a:xfrm>
            <a:off x="1444752" y="4064508"/>
            <a:ext cx="8641080" cy="0"/>
          </a:xfrm>
          <a:prstGeom prst="line">
            <a:avLst/>
          </a:prstGeom>
          <a:noFill/>
          <a:ln w="9525">
            <a:solidFill>
              <a:schemeClr val="accent2"/>
            </a:solidFill>
            <a:prstDash val="dash"/>
          </a:ln>
        </p:spPr>
      </p:sp>
      <p:sp>
        <p:nvSpPr>
          <p:cNvPr id="15" name="Shape 13"/>
          <p:cNvSpPr/>
          <p:nvPr/>
        </p:nvSpPr>
        <p:spPr>
          <a:xfrm>
            <a:off x="713232" y="4245102"/>
            <a:ext cx="548640" cy="548640"/>
          </a:xfrm>
          <a:prstGeom prst="star8">
            <a:avLst/>
          </a:prstGeom>
          <a:solidFill>
            <a:schemeClr val="accent2"/>
          </a:solidFill>
          <a:ln/>
        </p:spPr>
      </p:sp>
      <p:sp>
        <p:nvSpPr>
          <p:cNvPr id="16" name="Shape 14"/>
          <p:cNvSpPr/>
          <p:nvPr/>
        </p:nvSpPr>
        <p:spPr>
          <a:xfrm>
            <a:off x="822960" y="4354830"/>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24510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10</a:t>
            </a:r>
            <a:endParaRPr lang="en-US" sz="1600" dirty="0"/>
          </a:p>
        </p:txBody>
      </p:sp>
      <p:sp>
        <p:nvSpPr>
          <p:cNvPr id="18" name="Text 16"/>
          <p:cNvSpPr txBox="1"/>
          <p:nvPr/>
        </p:nvSpPr>
        <p:spPr>
          <a:xfrm>
            <a:off x="1444752" y="4226814"/>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وَأَلْقِ عَصَاكَ فَلَمَّا رَءَاهَا تَهْتَزُّ كَأَنَّهَا جَآنٌّ وَلَّىٰ مُدْبِرًا وَلَمْ يُعَقِّبْ يَٰمُوسَىٰ لَا تَخَفْ إِنِّي لَا يَخَافُ لَدَيَّ الْمُرْسَلُونَ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Throw down your staff. When he saw it moving like a quick snake, he turned and ran without looking back. O Musa, do not be afraid; the messengers do not fear in My presence,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An-Naml</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11 – 13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05890"/>
            <a:ext cx="548640" cy="548640"/>
          </a:xfrm>
          <a:prstGeom prst="star8">
            <a:avLst/>
          </a:prstGeom>
          <a:solidFill>
            <a:schemeClr val="accent2"/>
          </a:solidFill>
          <a:ln/>
        </p:spPr>
      </p:sp>
      <p:sp>
        <p:nvSpPr>
          <p:cNvPr id="6" name="Shape 4"/>
          <p:cNvSpPr/>
          <p:nvPr/>
        </p:nvSpPr>
        <p:spPr>
          <a:xfrm>
            <a:off x="822960" y="151561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0589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11</a:t>
            </a:r>
            <a:endParaRPr lang="en-US" sz="1600" dirty="0"/>
          </a:p>
        </p:txBody>
      </p:sp>
      <p:sp>
        <p:nvSpPr>
          <p:cNvPr id="8" name="Text 6"/>
          <p:cNvSpPr txBox="1"/>
          <p:nvPr/>
        </p:nvSpPr>
        <p:spPr>
          <a:xfrm>
            <a:off x="1444752" y="138760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إِلَّا مَن ظَلَمَ ثُمَّ بَدَّلَ حُسْنًا بَعْدَ سُوءٍ فَإِنِّي غَفُورٌ رَّحِيمٌ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except one who did wrong and then replaced the bad with good by repenting; I am Forgiving, Most Merciful.</a:t>
            </a:r>
            <a:endParaRPr lang="en-US" sz="3000" dirty="0"/>
          </a:p>
        </p:txBody>
      </p:sp>
      <p:sp>
        <p:nvSpPr>
          <p:cNvPr id="9" name="Shape 7"/>
          <p:cNvSpPr/>
          <p:nvPr/>
        </p:nvSpPr>
        <p:spPr>
          <a:xfrm>
            <a:off x="1444752" y="2775204"/>
            <a:ext cx="8641080" cy="0"/>
          </a:xfrm>
          <a:prstGeom prst="line">
            <a:avLst/>
          </a:prstGeom>
          <a:noFill/>
          <a:ln w="9525">
            <a:solidFill>
              <a:schemeClr val="accent2"/>
            </a:solidFill>
            <a:prstDash val="dash"/>
          </a:ln>
        </p:spPr>
      </p:sp>
      <p:sp>
        <p:nvSpPr>
          <p:cNvPr id="10" name="Shape 8"/>
          <p:cNvSpPr/>
          <p:nvPr/>
        </p:nvSpPr>
        <p:spPr>
          <a:xfrm>
            <a:off x="713232" y="2955798"/>
            <a:ext cx="548640" cy="548640"/>
          </a:xfrm>
          <a:prstGeom prst="star8">
            <a:avLst/>
          </a:prstGeom>
          <a:solidFill>
            <a:schemeClr val="accent2"/>
          </a:solidFill>
          <a:ln/>
        </p:spPr>
      </p:sp>
      <p:sp>
        <p:nvSpPr>
          <p:cNvPr id="11" name="Shape 9"/>
          <p:cNvSpPr/>
          <p:nvPr/>
        </p:nvSpPr>
        <p:spPr>
          <a:xfrm>
            <a:off x="822960" y="30655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9557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12</a:t>
            </a:r>
            <a:endParaRPr lang="en-US" sz="1600" dirty="0"/>
          </a:p>
        </p:txBody>
      </p:sp>
      <p:sp>
        <p:nvSpPr>
          <p:cNvPr id="13" name="Text 11"/>
          <p:cNvSpPr txBox="1"/>
          <p:nvPr/>
        </p:nvSpPr>
        <p:spPr>
          <a:xfrm>
            <a:off x="1444752" y="293751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وَأَدْخِلْ يَدَكَ فِي جَيْبِكَ تَخْرُجْ بَيْضَآءَ مِنْ غَيْرِ سُوءٍ فِي تِسْعِ ءَايَٰتٍ إِلَىٰ فِرْعَوْنَ وَقَوْمِهِ إِنَّهُمْ كَانُواْ قَوْمًا فَٰسِقِينَ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put your hand into the opening of your garment; it will come out white without any illness. These are among nine signs for Pharaoh and his people; they were a disobedient people.</a:t>
            </a:r>
            <a:endParaRPr lang="en-US" sz="3000" dirty="0"/>
          </a:p>
        </p:txBody>
      </p:sp>
      <p:sp>
        <p:nvSpPr>
          <p:cNvPr id="14" name="Shape 12"/>
          <p:cNvSpPr/>
          <p:nvPr/>
        </p:nvSpPr>
        <p:spPr>
          <a:xfrm>
            <a:off x="1444752" y="4873752"/>
            <a:ext cx="8641080" cy="0"/>
          </a:xfrm>
          <a:prstGeom prst="line">
            <a:avLst/>
          </a:prstGeom>
          <a:noFill/>
          <a:ln w="9525">
            <a:solidFill>
              <a:schemeClr val="accent2"/>
            </a:solidFill>
            <a:prstDash val="dash"/>
          </a:ln>
        </p:spPr>
      </p:sp>
      <p:sp>
        <p:nvSpPr>
          <p:cNvPr id="15" name="Shape 13"/>
          <p:cNvSpPr/>
          <p:nvPr/>
        </p:nvSpPr>
        <p:spPr>
          <a:xfrm>
            <a:off x="713232" y="5054346"/>
            <a:ext cx="548640" cy="548640"/>
          </a:xfrm>
          <a:prstGeom prst="star8">
            <a:avLst/>
          </a:prstGeom>
          <a:solidFill>
            <a:schemeClr val="accent2"/>
          </a:solidFill>
          <a:ln/>
        </p:spPr>
      </p:sp>
      <p:sp>
        <p:nvSpPr>
          <p:cNvPr id="16" name="Shape 14"/>
          <p:cNvSpPr/>
          <p:nvPr/>
        </p:nvSpPr>
        <p:spPr>
          <a:xfrm>
            <a:off x="822960" y="516407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505434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13</a:t>
            </a:r>
            <a:endParaRPr lang="en-US" sz="1600" dirty="0"/>
          </a:p>
        </p:txBody>
      </p:sp>
      <p:sp>
        <p:nvSpPr>
          <p:cNvPr id="18" name="Text 16"/>
          <p:cNvSpPr txBox="1"/>
          <p:nvPr/>
        </p:nvSpPr>
        <p:spPr>
          <a:xfrm>
            <a:off x="1444752" y="503605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فَلَمَّا جَآءَتْهُمْ ءَايَٰتُنَا مُبْصِرَةً قَالُواْ هَٰذَا سِحْرٌ مُّبِينٌ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Our clear signs came to them, they said: This is obvious magic.</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An-Naml</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14 – 15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14</a:t>
            </a:r>
            <a:endParaRPr lang="en-US" sz="1600" dirty="0"/>
          </a:p>
        </p:txBody>
      </p:sp>
      <p:sp>
        <p:nvSpPr>
          <p:cNvPr id="8" name="Text 6"/>
          <p:cNvSpPr txBox="1"/>
          <p:nvPr/>
        </p:nvSpPr>
        <p:spPr>
          <a:xfrm>
            <a:off x="1444752" y="197967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وَجَحَدُواْ بِهَا وَاسْتَيْقَنَتْهَآ أَنفُسُهُمْ ظُلْمًا وَعُلُوًّا فَانظُرْ كَيْفَ كَانَ عَٰقِبَةُ الْمُفْسِدِينَ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denied them with their tongues while their hearts were sure they were true, out of wrongdoing and arrogance. See what the end of the corrupters was!</a:t>
            </a:r>
            <a:endParaRPr lang="en-US" sz="3000" dirty="0"/>
          </a:p>
        </p:txBody>
      </p:sp>
      <p:sp>
        <p:nvSpPr>
          <p:cNvPr id="9" name="Shape 7"/>
          <p:cNvSpPr/>
          <p:nvPr/>
        </p:nvSpPr>
        <p:spPr>
          <a:xfrm>
            <a:off x="1444752" y="3419856"/>
            <a:ext cx="8641080" cy="0"/>
          </a:xfrm>
          <a:prstGeom prst="line">
            <a:avLst/>
          </a:prstGeom>
          <a:noFill/>
          <a:ln w="9525">
            <a:solidFill>
              <a:schemeClr val="accent2"/>
            </a:solidFill>
            <a:prstDash val="dash"/>
          </a:ln>
        </p:spPr>
      </p:sp>
      <p:sp>
        <p:nvSpPr>
          <p:cNvPr id="10" name="Shape 8"/>
          <p:cNvSpPr/>
          <p:nvPr/>
        </p:nvSpPr>
        <p:spPr>
          <a:xfrm>
            <a:off x="713232" y="3653028"/>
            <a:ext cx="548640" cy="548640"/>
          </a:xfrm>
          <a:prstGeom prst="star8">
            <a:avLst/>
          </a:prstGeom>
          <a:solidFill>
            <a:schemeClr val="accent2"/>
          </a:solidFill>
          <a:ln/>
        </p:spPr>
      </p:sp>
      <p:sp>
        <p:nvSpPr>
          <p:cNvPr id="11" name="Shape 9"/>
          <p:cNvSpPr/>
          <p:nvPr/>
        </p:nvSpPr>
        <p:spPr>
          <a:xfrm>
            <a:off x="822960" y="376275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65302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15</a:t>
            </a:r>
            <a:endParaRPr lang="en-US" sz="1600" dirty="0"/>
          </a:p>
        </p:txBody>
      </p:sp>
      <p:sp>
        <p:nvSpPr>
          <p:cNvPr id="13" name="Text 11"/>
          <p:cNvSpPr txBox="1"/>
          <p:nvPr/>
        </p:nvSpPr>
        <p:spPr>
          <a:xfrm>
            <a:off x="1444752" y="363474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وَلَقَدْ ءَاتَيْنَا دَاوُدَ وَسُلَيْمَٰنَ عِلْمًا وَقَالَا الْحَمْدُ لِلَّهِ الَّذِي فَضَّلَنَا عَلَىٰ كَثِيرٍ مِّنْ عِبَادِهِ الْمُؤْمِنِينَ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gave Dawud and Sulayman knowledge, and they said: All praise is for Allah, who has favoured us over many of His believing servants.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An-Naml</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16 – 17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16</a:t>
            </a:r>
            <a:endParaRPr lang="en-US" sz="1600" dirty="0"/>
          </a:p>
        </p:txBody>
      </p:sp>
      <p:sp>
        <p:nvSpPr>
          <p:cNvPr id="8" name="Text 6"/>
          <p:cNvSpPr txBox="1"/>
          <p:nvPr/>
        </p:nvSpPr>
        <p:spPr>
          <a:xfrm>
            <a:off x="1444752" y="197967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وَوَرِثَ سُلَيْمَٰنُ دَاوُدَ وَقَالَ يَـٰأَيُّهَا النَّاسُ عُلِّمْنَا مَنطِقَ الطَّيْرِ وَأُوتِينَا مِن كُلِّ شَيْءٍ إِنَّ هَٰذَا لَهُوَ الْفَضْلُ الْمُبِينُ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Sulayman inherited from his father Dawud prophethood and kingship, and said: O people, we have been taught the language of birds and given a share of everything. This is clear favour.</a:t>
            </a:r>
            <a:endParaRPr lang="en-US" sz="3000" dirty="0"/>
          </a:p>
        </p:txBody>
      </p:sp>
      <p:sp>
        <p:nvSpPr>
          <p:cNvPr id="9" name="Shape 7"/>
          <p:cNvSpPr/>
          <p:nvPr/>
        </p:nvSpPr>
        <p:spPr>
          <a:xfrm>
            <a:off x="1444752" y="3968496"/>
            <a:ext cx="8641080" cy="0"/>
          </a:xfrm>
          <a:prstGeom prst="line">
            <a:avLst/>
          </a:prstGeom>
          <a:noFill/>
          <a:ln w="9525">
            <a:solidFill>
              <a:schemeClr val="accent2"/>
            </a:solidFill>
            <a:prstDash val="dash"/>
          </a:ln>
        </p:spPr>
      </p:sp>
      <p:sp>
        <p:nvSpPr>
          <p:cNvPr id="10" name="Shape 8"/>
          <p:cNvSpPr/>
          <p:nvPr/>
        </p:nvSpPr>
        <p:spPr>
          <a:xfrm>
            <a:off x="713232" y="4201668"/>
            <a:ext cx="548640" cy="548640"/>
          </a:xfrm>
          <a:prstGeom prst="star8">
            <a:avLst/>
          </a:prstGeom>
          <a:solidFill>
            <a:schemeClr val="accent2"/>
          </a:solidFill>
          <a:ln/>
        </p:spPr>
      </p:sp>
      <p:sp>
        <p:nvSpPr>
          <p:cNvPr id="11" name="Shape 9"/>
          <p:cNvSpPr/>
          <p:nvPr/>
        </p:nvSpPr>
        <p:spPr>
          <a:xfrm>
            <a:off x="822960" y="431139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20166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17</a:t>
            </a:r>
            <a:endParaRPr lang="en-US" sz="1600" dirty="0"/>
          </a:p>
        </p:txBody>
      </p:sp>
      <p:sp>
        <p:nvSpPr>
          <p:cNvPr id="13" name="Text 11"/>
          <p:cNvSpPr txBox="1"/>
          <p:nvPr/>
        </p:nvSpPr>
        <p:spPr>
          <a:xfrm>
            <a:off x="1444752" y="418338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وَحُشِرَ لِسُلَيْمَٰنَ جُنُودُهُ مِنَ الْجِنِّ وَالْإِنسِ وَالطَّيْرِ فَهُمْ يُوزَعُونَ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Sulayman's armies of jinn, humans and birds were gathered for him, kept in order, the first held back for the last to catch up.</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An-Naml</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18 – 19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18</a:t>
            </a:r>
            <a:endParaRPr lang="en-US" sz="1600" dirty="0"/>
          </a:p>
        </p:txBody>
      </p:sp>
      <p:sp>
        <p:nvSpPr>
          <p:cNvPr id="8" name="Text 6"/>
          <p:cNvSpPr txBox="1"/>
          <p:nvPr/>
        </p:nvSpPr>
        <p:spPr>
          <a:xfrm>
            <a:off x="1444752" y="1575054"/>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حَتَّىٰ إِذَآ أَتَوْاْ عَلَىٰ وَادِ النَّمْلِ قَالَتْ نَمْلَةٌ يَـٰأَيُّهَا النَّمْلُ ادْخُلُواْ مَسَٰكِنَكُمْ لَا يَحْطِمَنَّكُمْ سُلَيْمَٰنُ وَجُنُودُهُ وَهُمْ لَا يَشْعُرُونَ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they came to the valley of the ants, an ant said: O ants, go into your homes so that Sulayman and his armies do not crush you without realising.</a:t>
            </a:r>
            <a:endParaRPr lang="en-US" sz="3000" dirty="0"/>
          </a:p>
        </p:txBody>
      </p:sp>
      <p:sp>
        <p:nvSpPr>
          <p:cNvPr id="9" name="Shape 7"/>
          <p:cNvSpPr/>
          <p:nvPr/>
        </p:nvSpPr>
        <p:spPr>
          <a:xfrm>
            <a:off x="1444752" y="3563874"/>
            <a:ext cx="8641080" cy="0"/>
          </a:xfrm>
          <a:prstGeom prst="line">
            <a:avLst/>
          </a:prstGeom>
          <a:noFill/>
          <a:ln w="9525">
            <a:solidFill>
              <a:schemeClr val="accent2"/>
            </a:solidFill>
            <a:prstDash val="dash"/>
          </a:ln>
        </p:spPr>
      </p:sp>
      <p:sp>
        <p:nvSpPr>
          <p:cNvPr id="10" name="Shape 8"/>
          <p:cNvSpPr/>
          <p:nvPr/>
        </p:nvSpPr>
        <p:spPr>
          <a:xfrm>
            <a:off x="713232" y="3797046"/>
            <a:ext cx="548640" cy="548640"/>
          </a:xfrm>
          <a:prstGeom prst="star8">
            <a:avLst/>
          </a:prstGeom>
          <a:solidFill>
            <a:schemeClr val="accent2"/>
          </a:solidFill>
          <a:ln/>
        </p:spPr>
      </p:sp>
      <p:sp>
        <p:nvSpPr>
          <p:cNvPr id="11" name="Shape 9"/>
          <p:cNvSpPr/>
          <p:nvPr/>
        </p:nvSpPr>
        <p:spPr>
          <a:xfrm>
            <a:off x="822960" y="390677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79704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19</a:t>
            </a:r>
            <a:endParaRPr lang="en-US" sz="1600" dirty="0"/>
          </a:p>
        </p:txBody>
      </p:sp>
      <p:sp>
        <p:nvSpPr>
          <p:cNvPr id="13" name="Text 11"/>
          <p:cNvSpPr txBox="1"/>
          <p:nvPr/>
        </p:nvSpPr>
        <p:spPr>
          <a:xfrm>
            <a:off x="1444752" y="3778758"/>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فَتَبَسَّمَ ضَاحِكًا مِّن قَوْلِهَا وَقَالَ رَبِّ أَوْزِعْنِي أَنْ أَشْكُرَ نِعْمَتَكَ الَّتِي أَنْعَمْتَ عَلَيَّ وَعَلَىٰ وَٰلِدَيَّ وَأَنْ أَعْمَلَ صَٰلِحًا تَرْضَىٰهُ وَأَدْخِلْنِي بِرَحْمَتِكَ فِي عِبَادِكَ الصَّـٰلِحِينَ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Sulayman smiled, laughing at her words, and said: My Lord, inspire me to thank You for Your blessing on me and my parents, and to do good deeds that please You, and admit me by Your mercy among Your righteous servants.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An-Naml</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20 – 23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45882"/>
            <a:ext cx="548640" cy="548640"/>
          </a:xfrm>
          <a:prstGeom prst="star8">
            <a:avLst/>
          </a:prstGeom>
          <a:solidFill>
            <a:schemeClr val="accent2"/>
          </a:solidFill>
          <a:ln/>
        </p:spPr>
      </p:sp>
      <p:sp>
        <p:nvSpPr>
          <p:cNvPr id="6" name="Shape 4"/>
          <p:cNvSpPr/>
          <p:nvPr/>
        </p:nvSpPr>
        <p:spPr>
          <a:xfrm>
            <a:off x="822960" y="1455611"/>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4588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20</a:t>
            </a:r>
            <a:endParaRPr lang="en-US" sz="1600" dirty="0"/>
          </a:p>
        </p:txBody>
      </p:sp>
      <p:sp>
        <p:nvSpPr>
          <p:cNvPr id="8" name="Text 6"/>
          <p:cNvSpPr txBox="1"/>
          <p:nvPr/>
        </p:nvSpPr>
        <p:spPr>
          <a:xfrm>
            <a:off x="1444752" y="132759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وَتَفَقَّدَ الطَّيْرَ فَقَالَ مَالِيَ لَآ أَرَى الْهُدْهُدَ أَمْ كَانَ مِنَ الْغَآئِبِينَ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checked the birds and said: Why do I not see the hoopoe? Or is he absent?</a:t>
            </a:r>
            <a:endParaRPr lang="en-US" sz="3000" dirty="0"/>
          </a:p>
        </p:txBody>
      </p:sp>
      <p:sp>
        <p:nvSpPr>
          <p:cNvPr id="9" name="Shape 7"/>
          <p:cNvSpPr/>
          <p:nvPr/>
        </p:nvSpPr>
        <p:spPr>
          <a:xfrm>
            <a:off x="1444752" y="2394585"/>
            <a:ext cx="8641080" cy="0"/>
          </a:xfrm>
          <a:prstGeom prst="line">
            <a:avLst/>
          </a:prstGeom>
          <a:noFill/>
          <a:ln w="9525">
            <a:solidFill>
              <a:schemeClr val="accent2"/>
            </a:solidFill>
            <a:prstDash val="dash"/>
          </a:ln>
        </p:spPr>
      </p:sp>
      <p:sp>
        <p:nvSpPr>
          <p:cNvPr id="10" name="Shape 8"/>
          <p:cNvSpPr/>
          <p:nvPr/>
        </p:nvSpPr>
        <p:spPr>
          <a:xfrm>
            <a:off x="713232" y="2515172"/>
            <a:ext cx="548640" cy="548640"/>
          </a:xfrm>
          <a:prstGeom prst="star8">
            <a:avLst/>
          </a:prstGeom>
          <a:solidFill>
            <a:schemeClr val="accent2"/>
          </a:solidFill>
          <a:ln/>
        </p:spPr>
      </p:sp>
      <p:sp>
        <p:nvSpPr>
          <p:cNvPr id="11" name="Shape 9"/>
          <p:cNvSpPr/>
          <p:nvPr/>
        </p:nvSpPr>
        <p:spPr>
          <a:xfrm>
            <a:off x="822960" y="262490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51517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21</a:t>
            </a:r>
            <a:endParaRPr lang="en-US" sz="1600" dirty="0"/>
          </a:p>
        </p:txBody>
      </p:sp>
      <p:sp>
        <p:nvSpPr>
          <p:cNvPr id="13" name="Text 11"/>
          <p:cNvSpPr txBox="1"/>
          <p:nvPr/>
        </p:nvSpPr>
        <p:spPr>
          <a:xfrm>
            <a:off x="1444752" y="249688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لَأُعَذِّبَنَّهُ عَذَابًا شَدِيدًا أَوْ لَأَاْذْبَحَنَّهُ أَوْ لَيَأْتِيَنِّي بِسُلْطَٰنٍ مُّبِينٍ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 will punish him severely or slaughter him, unless he brings me a clear excuse.</a:t>
            </a:r>
            <a:endParaRPr lang="en-US" sz="3000" dirty="0"/>
          </a:p>
        </p:txBody>
      </p:sp>
      <p:sp>
        <p:nvSpPr>
          <p:cNvPr id="14" name="Shape 12"/>
          <p:cNvSpPr/>
          <p:nvPr/>
        </p:nvSpPr>
        <p:spPr>
          <a:xfrm>
            <a:off x="1444752" y="3563874"/>
            <a:ext cx="8641080" cy="0"/>
          </a:xfrm>
          <a:prstGeom prst="line">
            <a:avLst/>
          </a:prstGeom>
          <a:noFill/>
          <a:ln w="9525">
            <a:solidFill>
              <a:schemeClr val="accent2"/>
            </a:solidFill>
            <a:prstDash val="dash"/>
          </a:ln>
        </p:spPr>
      </p:sp>
      <p:sp>
        <p:nvSpPr>
          <p:cNvPr id="15" name="Shape 13"/>
          <p:cNvSpPr/>
          <p:nvPr/>
        </p:nvSpPr>
        <p:spPr>
          <a:xfrm>
            <a:off x="713232" y="3684460"/>
            <a:ext cx="548640" cy="548640"/>
          </a:xfrm>
          <a:prstGeom prst="star8">
            <a:avLst/>
          </a:prstGeom>
          <a:solidFill>
            <a:schemeClr val="accent2"/>
          </a:solidFill>
          <a:ln/>
        </p:spPr>
      </p:sp>
      <p:sp>
        <p:nvSpPr>
          <p:cNvPr id="16" name="Shape 14"/>
          <p:cNvSpPr/>
          <p:nvPr/>
        </p:nvSpPr>
        <p:spPr>
          <a:xfrm>
            <a:off x="822960" y="3794188"/>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68446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22</a:t>
            </a:r>
            <a:endParaRPr lang="en-US" sz="1600" dirty="0"/>
          </a:p>
        </p:txBody>
      </p:sp>
      <p:sp>
        <p:nvSpPr>
          <p:cNvPr id="18" name="Text 16"/>
          <p:cNvSpPr txBox="1"/>
          <p:nvPr/>
        </p:nvSpPr>
        <p:spPr>
          <a:xfrm>
            <a:off x="1444752" y="366617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فَمَكَثَ غَيْرَ بَعِيدٍ فَقَالَ أَحَطتُ بِمَا لَمْ تُحِطْ بِهِ وَجِئْتُكَ مِن سَبَإٍ بِنَبَإٍ يَقِينٍ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hoopoe did not stay away long, then came and said: I have learned something you have not learned, and I have come to you from the kingdom of Saba' with certain news.</a:t>
            </a:r>
            <a:endParaRPr lang="en-US" sz="3000" dirty="0"/>
          </a:p>
        </p:txBody>
      </p:sp>
      <p:sp>
        <p:nvSpPr>
          <p:cNvPr id="19" name="Shape 17"/>
          <p:cNvSpPr/>
          <p:nvPr/>
        </p:nvSpPr>
        <p:spPr>
          <a:xfrm>
            <a:off x="1444752" y="4993767"/>
            <a:ext cx="8641080" cy="0"/>
          </a:xfrm>
          <a:prstGeom prst="line">
            <a:avLst/>
          </a:prstGeom>
          <a:noFill/>
          <a:ln w="9525">
            <a:solidFill>
              <a:schemeClr val="accent2"/>
            </a:solidFill>
            <a:prstDash val="dash"/>
          </a:ln>
        </p:spPr>
      </p:sp>
      <p:sp>
        <p:nvSpPr>
          <p:cNvPr id="20" name="Shape 18"/>
          <p:cNvSpPr/>
          <p:nvPr/>
        </p:nvSpPr>
        <p:spPr>
          <a:xfrm>
            <a:off x="713232" y="5114353"/>
            <a:ext cx="548640" cy="548640"/>
          </a:xfrm>
          <a:prstGeom prst="star8">
            <a:avLst/>
          </a:prstGeom>
          <a:solidFill>
            <a:schemeClr val="accent2"/>
          </a:solidFill>
          <a:ln/>
        </p:spPr>
      </p:sp>
      <p:sp>
        <p:nvSpPr>
          <p:cNvPr id="21" name="Shape 19"/>
          <p:cNvSpPr/>
          <p:nvPr/>
        </p:nvSpPr>
        <p:spPr>
          <a:xfrm>
            <a:off x="822960" y="5224081"/>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114353"/>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23</a:t>
            </a:r>
            <a:endParaRPr lang="en-US" sz="1600" dirty="0"/>
          </a:p>
        </p:txBody>
      </p:sp>
      <p:sp>
        <p:nvSpPr>
          <p:cNvPr id="23" name="Text 21"/>
          <p:cNvSpPr txBox="1"/>
          <p:nvPr/>
        </p:nvSpPr>
        <p:spPr>
          <a:xfrm>
            <a:off x="1444752" y="5096065"/>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إِنِّي وَجَدتُّ امْرَأَةً تَمْلِكُهُمْ وَأُوتِيَتْ مِن كُلِّ شَيْءٍ وَلَهَا عَرْشٌ عَظِيمٌ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 found a woman ruling them; she has been given a share of everything and has a great throne.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An-Naml</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24 – 25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23644"/>
            <a:ext cx="548640" cy="548640"/>
          </a:xfrm>
          <a:prstGeom prst="star8">
            <a:avLst/>
          </a:prstGeom>
          <a:solidFill>
            <a:schemeClr val="accent2"/>
          </a:solidFill>
          <a:ln/>
        </p:spPr>
      </p:sp>
      <p:sp>
        <p:nvSpPr>
          <p:cNvPr id="6" name="Shape 4"/>
          <p:cNvSpPr/>
          <p:nvPr/>
        </p:nvSpPr>
        <p:spPr>
          <a:xfrm>
            <a:off x="822960" y="183337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2364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24</a:t>
            </a:r>
            <a:endParaRPr lang="en-US" sz="1600" dirty="0"/>
          </a:p>
        </p:txBody>
      </p:sp>
      <p:sp>
        <p:nvSpPr>
          <p:cNvPr id="8" name="Text 6"/>
          <p:cNvSpPr txBox="1"/>
          <p:nvPr/>
        </p:nvSpPr>
        <p:spPr>
          <a:xfrm>
            <a:off x="1444752" y="170535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وَجَدتُّهَا وَقَوْمَهَا يَسْجُدُونَ لِلشَّمْسِ مِن دُونِ اللَّهِ وَزَيَّنَ لَهُمُ الشَّيْطَٰنُ أَعْمَٰلَهُمْ فَصَدَّهُمْ عَنِ السَّبِيلِ فَهُمْ لَا يَهْتَدُونَ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 found her and her people bowing down to the sun instead of Allah. Satan has made their deeds look good to them and blocked them from the path of truth, so they are not guided,</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25</a:t>
            </a:r>
            <a:endParaRPr lang="en-US" sz="1600" dirty="0"/>
          </a:p>
        </p:txBody>
      </p:sp>
      <p:sp>
        <p:nvSpPr>
          <p:cNvPr id="13" name="Text 11"/>
          <p:cNvSpPr txBox="1"/>
          <p:nvPr/>
        </p:nvSpPr>
        <p:spPr>
          <a:xfrm>
            <a:off x="1444752" y="390906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أَلَّا يَسْجُدُواْ لِلَّهِ الَّذِي يُخْرِجُ الْخَبْءَ فِي السَّمَٰوَٰتِ وَالْأَرْضِ وَيَعْلَمُ مَا تُخْفُونَ وَمَا تُعْلِنُونَ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that they do not bow down to Allah, who brings out what is hidden in the heavens, like rain, and in the earth, like plants, and knows what you hide and what you show.</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An-Naml</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26 – 29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45882"/>
            <a:ext cx="548640" cy="548640"/>
          </a:xfrm>
          <a:prstGeom prst="star8">
            <a:avLst/>
          </a:prstGeom>
          <a:solidFill>
            <a:schemeClr val="accent2"/>
          </a:solidFill>
          <a:ln/>
        </p:spPr>
      </p:sp>
      <p:sp>
        <p:nvSpPr>
          <p:cNvPr id="6" name="Shape 4"/>
          <p:cNvSpPr/>
          <p:nvPr/>
        </p:nvSpPr>
        <p:spPr>
          <a:xfrm>
            <a:off x="822960" y="1455611"/>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4588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26</a:t>
            </a:r>
            <a:endParaRPr lang="en-US" sz="1600" dirty="0"/>
          </a:p>
        </p:txBody>
      </p:sp>
      <p:sp>
        <p:nvSpPr>
          <p:cNvPr id="8" name="Text 6"/>
          <p:cNvSpPr txBox="1"/>
          <p:nvPr/>
        </p:nvSpPr>
        <p:spPr>
          <a:xfrm>
            <a:off x="1444752" y="132759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اللَّهُ لَآ إِلَٰهَ إِلَّا هُوَ رَبُّ الْعَرْشِ الْعَظِيمِ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there is no god but Him, Lord of the Mighty Throne. This is a place of prostration in recitation.</a:t>
            </a:r>
            <a:endParaRPr lang="en-US" sz="3000" dirty="0"/>
          </a:p>
        </p:txBody>
      </p:sp>
      <p:sp>
        <p:nvSpPr>
          <p:cNvPr id="9" name="Shape 7"/>
          <p:cNvSpPr/>
          <p:nvPr/>
        </p:nvSpPr>
        <p:spPr>
          <a:xfrm>
            <a:off x="1444752" y="2394585"/>
            <a:ext cx="8641080" cy="0"/>
          </a:xfrm>
          <a:prstGeom prst="line">
            <a:avLst/>
          </a:prstGeom>
          <a:noFill/>
          <a:ln w="9525">
            <a:solidFill>
              <a:schemeClr val="accent2"/>
            </a:solidFill>
            <a:prstDash val="dash"/>
          </a:ln>
        </p:spPr>
      </p:sp>
      <p:sp>
        <p:nvSpPr>
          <p:cNvPr id="10" name="Shape 8"/>
          <p:cNvSpPr/>
          <p:nvPr/>
        </p:nvSpPr>
        <p:spPr>
          <a:xfrm>
            <a:off x="713232" y="2515172"/>
            <a:ext cx="548640" cy="548640"/>
          </a:xfrm>
          <a:prstGeom prst="star8">
            <a:avLst/>
          </a:prstGeom>
          <a:solidFill>
            <a:schemeClr val="accent2"/>
          </a:solidFill>
          <a:ln/>
        </p:spPr>
      </p:sp>
      <p:sp>
        <p:nvSpPr>
          <p:cNvPr id="11" name="Shape 9"/>
          <p:cNvSpPr/>
          <p:nvPr/>
        </p:nvSpPr>
        <p:spPr>
          <a:xfrm>
            <a:off x="822960" y="262490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51517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27</a:t>
            </a:r>
            <a:endParaRPr lang="en-US" sz="1600" dirty="0"/>
          </a:p>
        </p:txBody>
      </p:sp>
      <p:sp>
        <p:nvSpPr>
          <p:cNvPr id="13" name="Text 11"/>
          <p:cNvSpPr txBox="1"/>
          <p:nvPr/>
        </p:nvSpPr>
        <p:spPr>
          <a:xfrm>
            <a:off x="1444752" y="249688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سَنَنظُرُ أَصَدَقْتَ أَمْ كُنتَ مِنَ الْكَٰذِبِينَ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Sulayman said: We will see whether you have told the truth or are one of the liars.</a:t>
            </a:r>
            <a:endParaRPr lang="en-US" sz="3000" dirty="0"/>
          </a:p>
        </p:txBody>
      </p:sp>
      <p:sp>
        <p:nvSpPr>
          <p:cNvPr id="14" name="Shape 12"/>
          <p:cNvSpPr/>
          <p:nvPr/>
        </p:nvSpPr>
        <p:spPr>
          <a:xfrm>
            <a:off x="1444752" y="3563874"/>
            <a:ext cx="8641080" cy="0"/>
          </a:xfrm>
          <a:prstGeom prst="line">
            <a:avLst/>
          </a:prstGeom>
          <a:noFill/>
          <a:ln w="9525">
            <a:solidFill>
              <a:schemeClr val="accent2"/>
            </a:solidFill>
            <a:prstDash val="dash"/>
          </a:ln>
        </p:spPr>
      </p:sp>
      <p:sp>
        <p:nvSpPr>
          <p:cNvPr id="15" name="Shape 13"/>
          <p:cNvSpPr/>
          <p:nvPr/>
        </p:nvSpPr>
        <p:spPr>
          <a:xfrm>
            <a:off x="713232" y="3684460"/>
            <a:ext cx="548640" cy="548640"/>
          </a:xfrm>
          <a:prstGeom prst="star8">
            <a:avLst/>
          </a:prstGeom>
          <a:solidFill>
            <a:schemeClr val="accent2"/>
          </a:solidFill>
          <a:ln/>
        </p:spPr>
      </p:sp>
      <p:sp>
        <p:nvSpPr>
          <p:cNvPr id="16" name="Shape 14"/>
          <p:cNvSpPr/>
          <p:nvPr/>
        </p:nvSpPr>
        <p:spPr>
          <a:xfrm>
            <a:off x="822960" y="3794188"/>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68446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28</a:t>
            </a:r>
            <a:endParaRPr lang="en-US" sz="1600" dirty="0"/>
          </a:p>
        </p:txBody>
      </p:sp>
      <p:sp>
        <p:nvSpPr>
          <p:cNvPr id="18" name="Text 16"/>
          <p:cNvSpPr txBox="1"/>
          <p:nvPr/>
        </p:nvSpPr>
        <p:spPr>
          <a:xfrm>
            <a:off x="1444752" y="366617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اذْهَب بِّكِتَٰبِي هَٰذَا فَأَلْقِهْ إِلَيْهِمْ ثُمَّ تَوَلَّ عَنْهُمْ فَانظُرْ مَاذَا يَرْجِعُونَ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Take this letter of mine and drop it to them, then move a little away from them and see what they reply.</a:t>
            </a:r>
            <a:endParaRPr lang="en-US" sz="3000" dirty="0"/>
          </a:p>
        </p:txBody>
      </p:sp>
      <p:sp>
        <p:nvSpPr>
          <p:cNvPr id="19" name="Shape 17"/>
          <p:cNvSpPr/>
          <p:nvPr/>
        </p:nvSpPr>
        <p:spPr>
          <a:xfrm>
            <a:off x="1444752" y="4993767"/>
            <a:ext cx="8641080" cy="0"/>
          </a:xfrm>
          <a:prstGeom prst="line">
            <a:avLst/>
          </a:prstGeom>
          <a:noFill/>
          <a:ln w="9525">
            <a:solidFill>
              <a:schemeClr val="accent2"/>
            </a:solidFill>
            <a:prstDash val="dash"/>
          </a:ln>
        </p:spPr>
      </p:sp>
      <p:sp>
        <p:nvSpPr>
          <p:cNvPr id="20" name="Shape 18"/>
          <p:cNvSpPr/>
          <p:nvPr/>
        </p:nvSpPr>
        <p:spPr>
          <a:xfrm>
            <a:off x="713232" y="5114353"/>
            <a:ext cx="548640" cy="548640"/>
          </a:xfrm>
          <a:prstGeom prst="star8">
            <a:avLst/>
          </a:prstGeom>
          <a:solidFill>
            <a:schemeClr val="accent2"/>
          </a:solidFill>
          <a:ln/>
        </p:spPr>
      </p:sp>
      <p:sp>
        <p:nvSpPr>
          <p:cNvPr id="21" name="Shape 19"/>
          <p:cNvSpPr/>
          <p:nvPr/>
        </p:nvSpPr>
        <p:spPr>
          <a:xfrm>
            <a:off x="822960" y="5224081"/>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114353"/>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29</a:t>
            </a:r>
            <a:endParaRPr lang="en-US" sz="1600" dirty="0"/>
          </a:p>
        </p:txBody>
      </p:sp>
      <p:sp>
        <p:nvSpPr>
          <p:cNvPr id="23" name="Text 21"/>
          <p:cNvSpPr txBox="1"/>
          <p:nvPr/>
        </p:nvSpPr>
        <p:spPr>
          <a:xfrm>
            <a:off x="1444752" y="5096065"/>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قَالَتْ يَـٰأَيُّهَا الْمَلَؤُاْ إِنِّي أُلْقِيَ إِلَيَّ كِتَٰبٌ كَرِيمٌ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queen said: O chiefs, a noble letter has been dropped to me.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An-Naml</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30 – 32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05356"/>
            <a:ext cx="548640" cy="548640"/>
          </a:xfrm>
          <a:prstGeom prst="star8">
            <a:avLst/>
          </a:prstGeom>
          <a:solidFill>
            <a:schemeClr val="accent2"/>
          </a:solidFill>
          <a:ln/>
        </p:spPr>
      </p:sp>
      <p:sp>
        <p:nvSpPr>
          <p:cNvPr id="6" name="Shape 4"/>
          <p:cNvSpPr/>
          <p:nvPr/>
        </p:nvSpPr>
        <p:spPr>
          <a:xfrm>
            <a:off x="822960" y="18150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053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30</a:t>
            </a:r>
            <a:endParaRPr lang="en-US" sz="1600" dirty="0"/>
          </a:p>
        </p:txBody>
      </p:sp>
      <p:sp>
        <p:nvSpPr>
          <p:cNvPr id="8" name="Text 6"/>
          <p:cNvSpPr txBox="1"/>
          <p:nvPr/>
        </p:nvSpPr>
        <p:spPr>
          <a:xfrm>
            <a:off x="1444752" y="168706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إِنَّهُ مِن سُلَيْمَٰنَ وَإِنَّهُ بِسْمِ اللَّهِ الرَّحْمَٰنِ الرَّحِيمِ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It is from Sulayman, and it begins: "In the name of Allah, the Most Merciful, the Most Kind."</a:t>
            </a:r>
            <a:endParaRPr lang="en-US" sz="3000" dirty="0"/>
          </a:p>
        </p:txBody>
      </p:sp>
      <p:sp>
        <p:nvSpPr>
          <p:cNvPr id="9" name="Shape 7"/>
          <p:cNvSpPr/>
          <p:nvPr/>
        </p:nvSpPr>
        <p:spPr>
          <a:xfrm>
            <a:off x="1444752" y="2866644"/>
            <a:ext cx="8641080" cy="0"/>
          </a:xfrm>
          <a:prstGeom prst="line">
            <a:avLst/>
          </a:prstGeom>
          <a:noFill/>
          <a:ln w="9525">
            <a:solidFill>
              <a:schemeClr val="accent2"/>
            </a:solidFill>
            <a:prstDash val="dash"/>
          </a:ln>
        </p:spPr>
      </p:sp>
      <p:sp>
        <p:nvSpPr>
          <p:cNvPr id="10" name="Shape 8"/>
          <p:cNvSpPr/>
          <p:nvPr/>
        </p:nvSpPr>
        <p:spPr>
          <a:xfrm>
            <a:off x="713232" y="3099816"/>
            <a:ext cx="548640" cy="548640"/>
          </a:xfrm>
          <a:prstGeom prst="star8">
            <a:avLst/>
          </a:prstGeom>
          <a:solidFill>
            <a:schemeClr val="accent2"/>
          </a:solidFill>
          <a:ln/>
        </p:spPr>
      </p:sp>
      <p:sp>
        <p:nvSpPr>
          <p:cNvPr id="11" name="Shape 9"/>
          <p:cNvSpPr/>
          <p:nvPr/>
        </p:nvSpPr>
        <p:spPr>
          <a:xfrm>
            <a:off x="822960" y="320954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09981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31</a:t>
            </a:r>
            <a:endParaRPr lang="en-US" sz="1600" dirty="0"/>
          </a:p>
        </p:txBody>
      </p:sp>
      <p:sp>
        <p:nvSpPr>
          <p:cNvPr id="13" name="Text 11"/>
          <p:cNvSpPr txBox="1"/>
          <p:nvPr/>
        </p:nvSpPr>
        <p:spPr>
          <a:xfrm>
            <a:off x="1444752" y="308152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أَلَّا تَعْلُواْ عَلَيَّ وَأْتُونِي مُسْلِمِينَ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Do not be arrogant towards me, and come to me in submission.</a:t>
            </a:r>
            <a:endParaRPr lang="en-US" sz="3000" dirty="0"/>
          </a:p>
        </p:txBody>
      </p:sp>
      <p:sp>
        <p:nvSpPr>
          <p:cNvPr id="14" name="Shape 12"/>
          <p:cNvSpPr/>
          <p:nvPr/>
        </p:nvSpPr>
        <p:spPr>
          <a:xfrm>
            <a:off x="1444752" y="4261104"/>
            <a:ext cx="8641080" cy="0"/>
          </a:xfrm>
          <a:prstGeom prst="line">
            <a:avLst/>
          </a:prstGeom>
          <a:noFill/>
          <a:ln w="9525">
            <a:solidFill>
              <a:schemeClr val="accent2"/>
            </a:solidFill>
            <a:prstDash val="dash"/>
          </a:ln>
        </p:spPr>
      </p:sp>
      <p:sp>
        <p:nvSpPr>
          <p:cNvPr id="15" name="Shape 13"/>
          <p:cNvSpPr/>
          <p:nvPr/>
        </p:nvSpPr>
        <p:spPr>
          <a:xfrm>
            <a:off x="713232" y="4494276"/>
            <a:ext cx="548640" cy="548640"/>
          </a:xfrm>
          <a:prstGeom prst="star8">
            <a:avLst/>
          </a:prstGeom>
          <a:solidFill>
            <a:schemeClr val="accent2"/>
          </a:solidFill>
          <a:ln/>
        </p:spPr>
      </p:sp>
      <p:sp>
        <p:nvSpPr>
          <p:cNvPr id="16" name="Shape 14"/>
          <p:cNvSpPr/>
          <p:nvPr/>
        </p:nvSpPr>
        <p:spPr>
          <a:xfrm>
            <a:off x="822960" y="460400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49427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32</a:t>
            </a:r>
            <a:endParaRPr lang="en-US" sz="1600" dirty="0"/>
          </a:p>
        </p:txBody>
      </p:sp>
      <p:sp>
        <p:nvSpPr>
          <p:cNvPr id="18" name="Text 16"/>
          <p:cNvSpPr txBox="1"/>
          <p:nvPr/>
        </p:nvSpPr>
        <p:spPr>
          <a:xfrm>
            <a:off x="1444752" y="447598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قَالَتْ يَـٰأَيُّهَا الْمَلَؤُاْ أَفْتُونِي فِي أَمْرِي مَا كُنتُ قَاطِعَةً أَمْرًا حَتَّىٰ تَشْهَدُونِ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She said: O chiefs, advise me in my matter. I never decide anything until you are present and advise me.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An-Naml</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33 – 35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05890"/>
            <a:ext cx="548640" cy="548640"/>
          </a:xfrm>
          <a:prstGeom prst="star8">
            <a:avLst/>
          </a:prstGeom>
          <a:solidFill>
            <a:schemeClr val="accent2"/>
          </a:solidFill>
          <a:ln/>
        </p:spPr>
      </p:sp>
      <p:sp>
        <p:nvSpPr>
          <p:cNvPr id="6" name="Shape 4"/>
          <p:cNvSpPr/>
          <p:nvPr/>
        </p:nvSpPr>
        <p:spPr>
          <a:xfrm>
            <a:off x="822960" y="151561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0589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33</a:t>
            </a:r>
            <a:endParaRPr lang="en-US" sz="1600" dirty="0"/>
          </a:p>
        </p:txBody>
      </p:sp>
      <p:sp>
        <p:nvSpPr>
          <p:cNvPr id="8" name="Text 6"/>
          <p:cNvSpPr txBox="1"/>
          <p:nvPr/>
        </p:nvSpPr>
        <p:spPr>
          <a:xfrm>
            <a:off x="1444752" y="138760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قَالُواْ نَحْنُ أُوْلُواْ قُوَّةٍ وَأُوْلُواْ بَأْسٍ شَدِيدٍ وَالْأَمْرُ إِلَيْكِ فَانظُرِي مَاذَا تَأْمُرِينَ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said: We are people of strength and great courage in war, but the decision is yours, so think what you will command.</a:t>
            </a:r>
            <a:endParaRPr lang="en-US" sz="3000" dirty="0"/>
          </a:p>
        </p:txBody>
      </p:sp>
      <p:sp>
        <p:nvSpPr>
          <p:cNvPr id="9" name="Shape 7"/>
          <p:cNvSpPr/>
          <p:nvPr/>
        </p:nvSpPr>
        <p:spPr>
          <a:xfrm>
            <a:off x="1444752" y="2775204"/>
            <a:ext cx="8641080" cy="0"/>
          </a:xfrm>
          <a:prstGeom prst="line">
            <a:avLst/>
          </a:prstGeom>
          <a:noFill/>
          <a:ln w="9525">
            <a:solidFill>
              <a:schemeClr val="accent2"/>
            </a:solidFill>
            <a:prstDash val="dash"/>
          </a:ln>
        </p:spPr>
      </p:sp>
      <p:sp>
        <p:nvSpPr>
          <p:cNvPr id="10" name="Shape 8"/>
          <p:cNvSpPr/>
          <p:nvPr/>
        </p:nvSpPr>
        <p:spPr>
          <a:xfrm>
            <a:off x="713232" y="2955798"/>
            <a:ext cx="548640" cy="548640"/>
          </a:xfrm>
          <a:prstGeom prst="star8">
            <a:avLst/>
          </a:prstGeom>
          <a:solidFill>
            <a:schemeClr val="accent2"/>
          </a:solidFill>
          <a:ln/>
        </p:spPr>
      </p:sp>
      <p:sp>
        <p:nvSpPr>
          <p:cNvPr id="11" name="Shape 9"/>
          <p:cNvSpPr/>
          <p:nvPr/>
        </p:nvSpPr>
        <p:spPr>
          <a:xfrm>
            <a:off x="822960" y="30655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9557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34</a:t>
            </a:r>
            <a:endParaRPr lang="en-US" sz="1600" dirty="0"/>
          </a:p>
        </p:txBody>
      </p:sp>
      <p:sp>
        <p:nvSpPr>
          <p:cNvPr id="13" name="Text 11"/>
          <p:cNvSpPr txBox="1"/>
          <p:nvPr/>
        </p:nvSpPr>
        <p:spPr>
          <a:xfrm>
            <a:off x="1444752" y="293751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قَالَتْ إِنَّ الْمُلُوكَ إِذَا دَخَلُواْ قَرْيَةً أَفْسَدُوهَا وَجَعَلُواْ أَعِزَّةَ أَهْلِهَآ أَذِلَّةً وَكَذَٰلِكَ يَفْعَلُونَ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She said: When kings enter a town by force, they ruin it and make its honoured people humble; that is what they do.</a:t>
            </a:r>
            <a:endParaRPr lang="en-US" sz="3000" dirty="0"/>
          </a:p>
        </p:txBody>
      </p:sp>
      <p:sp>
        <p:nvSpPr>
          <p:cNvPr id="14" name="Shape 12"/>
          <p:cNvSpPr/>
          <p:nvPr/>
        </p:nvSpPr>
        <p:spPr>
          <a:xfrm>
            <a:off x="1444752" y="4873752"/>
            <a:ext cx="8641080" cy="0"/>
          </a:xfrm>
          <a:prstGeom prst="line">
            <a:avLst/>
          </a:prstGeom>
          <a:noFill/>
          <a:ln w="9525">
            <a:solidFill>
              <a:schemeClr val="accent2"/>
            </a:solidFill>
            <a:prstDash val="dash"/>
          </a:ln>
        </p:spPr>
      </p:sp>
      <p:sp>
        <p:nvSpPr>
          <p:cNvPr id="15" name="Shape 13"/>
          <p:cNvSpPr/>
          <p:nvPr/>
        </p:nvSpPr>
        <p:spPr>
          <a:xfrm>
            <a:off x="713232" y="5054346"/>
            <a:ext cx="548640" cy="548640"/>
          </a:xfrm>
          <a:prstGeom prst="star8">
            <a:avLst/>
          </a:prstGeom>
          <a:solidFill>
            <a:schemeClr val="accent2"/>
          </a:solidFill>
          <a:ln/>
        </p:spPr>
      </p:sp>
      <p:sp>
        <p:nvSpPr>
          <p:cNvPr id="16" name="Shape 14"/>
          <p:cNvSpPr/>
          <p:nvPr/>
        </p:nvSpPr>
        <p:spPr>
          <a:xfrm>
            <a:off x="822960" y="516407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505434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35</a:t>
            </a:r>
            <a:endParaRPr lang="en-US" sz="1600" dirty="0"/>
          </a:p>
        </p:txBody>
      </p:sp>
      <p:sp>
        <p:nvSpPr>
          <p:cNvPr id="18" name="Text 16"/>
          <p:cNvSpPr txBox="1"/>
          <p:nvPr/>
        </p:nvSpPr>
        <p:spPr>
          <a:xfrm>
            <a:off x="1444752" y="503605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وَإِنِّي مُرْسِلَةٌ إِلَيْهِم بِهَدِيَّةٍ فَنَاظِرَةٌ بِمَ يَرْجِعُ الْمُرْسَلُونَ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 will send them a gift and see what the messengers bring back.</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An-Naml</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36 – 37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867662"/>
            <a:ext cx="548640" cy="548640"/>
          </a:xfrm>
          <a:prstGeom prst="star8">
            <a:avLst/>
          </a:prstGeom>
          <a:solidFill>
            <a:schemeClr val="accent2"/>
          </a:solidFill>
          <a:ln/>
        </p:spPr>
      </p:sp>
      <p:sp>
        <p:nvSpPr>
          <p:cNvPr id="6" name="Shape 4"/>
          <p:cNvSpPr/>
          <p:nvPr/>
        </p:nvSpPr>
        <p:spPr>
          <a:xfrm>
            <a:off x="822960" y="197739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86766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36</a:t>
            </a:r>
            <a:endParaRPr lang="en-US" sz="1600" dirty="0"/>
          </a:p>
        </p:txBody>
      </p:sp>
      <p:sp>
        <p:nvSpPr>
          <p:cNvPr id="8" name="Text 6"/>
          <p:cNvSpPr txBox="1"/>
          <p:nvPr/>
        </p:nvSpPr>
        <p:spPr>
          <a:xfrm>
            <a:off x="1444752" y="184937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فَلَمَّا جَآءَ سُلَيْمَٰنَ قَالَ أَتُمِدُّونَنِ بِمَالٍ فَمَآ ءَاتَىٰنَِ اللَّهُ خَيْرٌ مِّمَّآ ءَاتَىٰكُم بَلْ أَنتُم بِهَدِيَّتِكُمْ تَفْرَحُونَ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her messenger came to Sulayman, he said: Do you offer me wealth? What Allah has given me of prophethood and kingship is better than what He has given you. Rather, it is you who rejoice in your gift.</a:t>
            </a:r>
            <a:endParaRPr lang="en-US" sz="3000" dirty="0"/>
          </a:p>
        </p:txBody>
      </p:sp>
      <p:sp>
        <p:nvSpPr>
          <p:cNvPr id="9" name="Shape 7"/>
          <p:cNvSpPr/>
          <p:nvPr/>
        </p:nvSpPr>
        <p:spPr>
          <a:xfrm>
            <a:off x="1444752" y="4098798"/>
            <a:ext cx="8641080" cy="0"/>
          </a:xfrm>
          <a:prstGeom prst="line">
            <a:avLst/>
          </a:prstGeom>
          <a:noFill/>
          <a:ln w="9525">
            <a:solidFill>
              <a:schemeClr val="accent2"/>
            </a:solidFill>
            <a:prstDash val="dash"/>
          </a:ln>
        </p:spPr>
      </p:sp>
      <p:sp>
        <p:nvSpPr>
          <p:cNvPr id="10" name="Shape 8"/>
          <p:cNvSpPr/>
          <p:nvPr/>
        </p:nvSpPr>
        <p:spPr>
          <a:xfrm>
            <a:off x="713232" y="4331970"/>
            <a:ext cx="548640" cy="548640"/>
          </a:xfrm>
          <a:prstGeom prst="star8">
            <a:avLst/>
          </a:prstGeom>
          <a:solidFill>
            <a:schemeClr val="accent2"/>
          </a:solidFill>
          <a:ln/>
        </p:spPr>
      </p:sp>
      <p:sp>
        <p:nvSpPr>
          <p:cNvPr id="11" name="Shape 9"/>
          <p:cNvSpPr/>
          <p:nvPr/>
        </p:nvSpPr>
        <p:spPr>
          <a:xfrm>
            <a:off x="822960" y="444169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33197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37</a:t>
            </a:r>
            <a:endParaRPr lang="en-US" sz="1600" dirty="0"/>
          </a:p>
        </p:txBody>
      </p:sp>
      <p:sp>
        <p:nvSpPr>
          <p:cNvPr id="13" name="Text 11"/>
          <p:cNvSpPr txBox="1"/>
          <p:nvPr/>
        </p:nvSpPr>
        <p:spPr>
          <a:xfrm>
            <a:off x="1444752" y="431368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ارْجِعْ إِلَيْهِمْ فَلَنَأْتِيَنَّهُم بِجُنُودٍ لَّا قِبَلَ لَهُم بِهَا وَلَنُخْرِجَنَّهُم مِّنْهَآ أَذِلَّةً وَهُمْ صَٰغِرُونَ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Go back to them. We will come to them with armies they cannot face, and we will drive them out of their land humbled, if they do not submit.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An-Naml</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38 – 39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38</a:t>
            </a:r>
            <a:endParaRPr lang="en-US" sz="1600" dirty="0"/>
          </a:p>
        </p:txBody>
      </p:sp>
      <p:sp>
        <p:nvSpPr>
          <p:cNvPr id="8" name="Text 6"/>
          <p:cNvSpPr txBox="1"/>
          <p:nvPr/>
        </p:nvSpPr>
        <p:spPr>
          <a:xfrm>
            <a:off x="1444752" y="197967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يَـٰأَيُّهَا الْمَلَؤُاْ أَيُّكُمْ يَأْتِينِي بِعَرْشِهَا قَبْلَ أَن يَأْتُونِي مُسْلِمِينَ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Sulayman said: O chiefs, which of you will bring me her throne before they come to me in submission?</a:t>
            </a:r>
            <a:endParaRPr lang="en-US" sz="3000" dirty="0"/>
          </a:p>
        </p:txBody>
      </p:sp>
      <p:sp>
        <p:nvSpPr>
          <p:cNvPr id="9" name="Shape 7"/>
          <p:cNvSpPr/>
          <p:nvPr/>
        </p:nvSpPr>
        <p:spPr>
          <a:xfrm>
            <a:off x="1444752" y="3419856"/>
            <a:ext cx="8641080" cy="0"/>
          </a:xfrm>
          <a:prstGeom prst="line">
            <a:avLst/>
          </a:prstGeom>
          <a:noFill/>
          <a:ln w="9525">
            <a:solidFill>
              <a:schemeClr val="accent2"/>
            </a:solidFill>
            <a:prstDash val="dash"/>
          </a:ln>
        </p:spPr>
      </p:sp>
      <p:sp>
        <p:nvSpPr>
          <p:cNvPr id="10" name="Shape 8"/>
          <p:cNvSpPr/>
          <p:nvPr/>
        </p:nvSpPr>
        <p:spPr>
          <a:xfrm>
            <a:off x="713232" y="3653028"/>
            <a:ext cx="548640" cy="548640"/>
          </a:xfrm>
          <a:prstGeom prst="star8">
            <a:avLst/>
          </a:prstGeom>
          <a:solidFill>
            <a:schemeClr val="accent2"/>
          </a:solidFill>
          <a:ln/>
        </p:spPr>
      </p:sp>
      <p:sp>
        <p:nvSpPr>
          <p:cNvPr id="11" name="Shape 9"/>
          <p:cNvSpPr/>
          <p:nvPr/>
        </p:nvSpPr>
        <p:spPr>
          <a:xfrm>
            <a:off x="822960" y="376275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65302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39</a:t>
            </a:r>
            <a:endParaRPr lang="en-US" sz="1600" dirty="0"/>
          </a:p>
        </p:txBody>
      </p:sp>
      <p:sp>
        <p:nvSpPr>
          <p:cNvPr id="13" name="Text 11"/>
          <p:cNvSpPr txBox="1"/>
          <p:nvPr/>
        </p:nvSpPr>
        <p:spPr>
          <a:xfrm>
            <a:off x="1444752" y="363474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عِفْرِيتٌ مِّنَ الْجِنِّ أَنَا ءَاتِيكَ بِهِ قَبْلَ أَن تَقُومَ مِن مَّقَامِكَ وَإِنِّي عَلَيْهِ لَقَوِيٌّ أَمِينٌ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 powerful one of the jinn said: I will bring it to you before you rise from your seat; I am strong and trustworthy for it.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An-Naml</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40 – 41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63040"/>
            <a:ext cx="548640" cy="548640"/>
          </a:xfrm>
          <a:prstGeom prst="star8">
            <a:avLst/>
          </a:prstGeom>
          <a:solidFill>
            <a:schemeClr val="accent2"/>
          </a:solidFill>
          <a:ln/>
        </p:spPr>
      </p:sp>
      <p:sp>
        <p:nvSpPr>
          <p:cNvPr id="6" name="Shape 4"/>
          <p:cNvSpPr/>
          <p:nvPr/>
        </p:nvSpPr>
        <p:spPr>
          <a:xfrm>
            <a:off x="822960" y="157276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6304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40</a:t>
            </a:r>
            <a:endParaRPr lang="en-US" sz="1600" dirty="0"/>
          </a:p>
        </p:txBody>
      </p:sp>
      <p:sp>
        <p:nvSpPr>
          <p:cNvPr id="8" name="Text 6"/>
          <p:cNvSpPr txBox="1"/>
          <p:nvPr/>
        </p:nvSpPr>
        <p:spPr>
          <a:xfrm>
            <a:off x="1444752" y="1444752"/>
            <a:ext cx="10012680" cy="2871216"/>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الَّذِي عِندَهُ عِلْمٌ مِّنَ الْكِتَٰبِ أَنَا ءَاتِيكَ بِهِ قَبْلَ أَن يَرْتَدَّ إِلَيْكَ طَرْفُكَ فَلَمَّا رَءَاهُ مُسْتَقِرًّا عِندَهُ قَالَ هَٰذَا مِن فَضْلِ رَبِّي لِيَبْلُوَنِي ءَأَشْكُرُ أَمْ أَكْفُرُ وَمَن شَكَرَ فَإِنَّمَا يَشْكُرُ لِنَفْسِهِ وَمَن كَفَرَ فَإِنَّ رَبِّي غَنِيٌّ كَرِيمٌ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one who had knowledge of the Book said: I will bring it to you before you blink. When he saw it placed before him, he said: This is from my Lord's favour, to test me whether I am thankful or ungrateful. Whoever is thankful is thankful for his own good, and whoever is ungrateful, my Lord is Free of need, Most Generous.</a:t>
            </a:r>
            <a:endParaRPr lang="en-US" sz="3000" dirty="0"/>
          </a:p>
        </p:txBody>
      </p:sp>
      <p:sp>
        <p:nvSpPr>
          <p:cNvPr id="9" name="Shape 7"/>
          <p:cNvSpPr/>
          <p:nvPr/>
        </p:nvSpPr>
        <p:spPr>
          <a:xfrm>
            <a:off x="1444752" y="4503420"/>
            <a:ext cx="8641080" cy="0"/>
          </a:xfrm>
          <a:prstGeom prst="line">
            <a:avLst/>
          </a:prstGeom>
          <a:noFill/>
          <a:ln w="9525">
            <a:solidFill>
              <a:schemeClr val="accent2"/>
            </a:solidFill>
            <a:prstDash val="dash"/>
          </a:ln>
        </p:spPr>
      </p:sp>
      <p:sp>
        <p:nvSpPr>
          <p:cNvPr id="10" name="Shape 8"/>
          <p:cNvSpPr/>
          <p:nvPr/>
        </p:nvSpPr>
        <p:spPr>
          <a:xfrm>
            <a:off x="713232" y="4736592"/>
            <a:ext cx="548640" cy="548640"/>
          </a:xfrm>
          <a:prstGeom prst="star8">
            <a:avLst/>
          </a:prstGeom>
          <a:solidFill>
            <a:schemeClr val="accent2"/>
          </a:solidFill>
          <a:ln/>
        </p:spPr>
      </p:sp>
      <p:sp>
        <p:nvSpPr>
          <p:cNvPr id="11" name="Shape 9"/>
          <p:cNvSpPr/>
          <p:nvPr/>
        </p:nvSpPr>
        <p:spPr>
          <a:xfrm>
            <a:off x="822960" y="484632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73659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41</a:t>
            </a:r>
            <a:endParaRPr lang="en-US" sz="1600" dirty="0"/>
          </a:p>
        </p:txBody>
      </p:sp>
      <p:sp>
        <p:nvSpPr>
          <p:cNvPr id="13" name="Text 11"/>
          <p:cNvSpPr txBox="1"/>
          <p:nvPr/>
        </p:nvSpPr>
        <p:spPr>
          <a:xfrm>
            <a:off x="1444752" y="471830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نَكِّرُواْ لَهَا عَرْشَهَا نَنظُرْ أَتَهْتَدِي أَمْ تَكُونُ مِنَ الَّذِينَ لَا يَهْتَدُونَ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said: Change the look of her throne; we will see whether she recognises it or is one of those who are not guided.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An-Naml</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42 – 43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42</a:t>
            </a:r>
            <a:endParaRPr lang="en-US" sz="1600" dirty="0"/>
          </a:p>
        </p:txBody>
      </p:sp>
      <p:sp>
        <p:nvSpPr>
          <p:cNvPr id="8" name="Text 6"/>
          <p:cNvSpPr txBox="1"/>
          <p:nvPr/>
        </p:nvSpPr>
        <p:spPr>
          <a:xfrm>
            <a:off x="1444752" y="197967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فَلَمَّا جَآءَتْ قِيلَ أَهَٰكَذَا عَرْشُكِ قَالَتْ كَأَنَّهُ هُوَ وَأُوتِينَا الْعِلْمَ مِن قَبْلِهَا وَكُنَّا مُسْلِمِينَ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she came, she was asked: Is your throne like this? She said: It is as if it is the same. Sulayman said: We were given knowledge of Allah before her, and we were Muslims.</a:t>
            </a:r>
            <a:endParaRPr lang="en-US" sz="3000" dirty="0"/>
          </a:p>
        </p:txBody>
      </p:sp>
      <p:sp>
        <p:nvSpPr>
          <p:cNvPr id="9" name="Shape 7"/>
          <p:cNvSpPr/>
          <p:nvPr/>
        </p:nvSpPr>
        <p:spPr>
          <a:xfrm>
            <a:off x="1444752" y="3968496"/>
            <a:ext cx="8641080" cy="0"/>
          </a:xfrm>
          <a:prstGeom prst="line">
            <a:avLst/>
          </a:prstGeom>
          <a:noFill/>
          <a:ln w="9525">
            <a:solidFill>
              <a:schemeClr val="accent2"/>
            </a:solidFill>
            <a:prstDash val="dash"/>
          </a:ln>
        </p:spPr>
      </p:sp>
      <p:sp>
        <p:nvSpPr>
          <p:cNvPr id="10" name="Shape 8"/>
          <p:cNvSpPr/>
          <p:nvPr/>
        </p:nvSpPr>
        <p:spPr>
          <a:xfrm>
            <a:off x="713232" y="4201668"/>
            <a:ext cx="548640" cy="548640"/>
          </a:xfrm>
          <a:prstGeom prst="star8">
            <a:avLst/>
          </a:prstGeom>
          <a:solidFill>
            <a:schemeClr val="accent2"/>
          </a:solidFill>
          <a:ln/>
        </p:spPr>
      </p:sp>
      <p:sp>
        <p:nvSpPr>
          <p:cNvPr id="11" name="Shape 9"/>
          <p:cNvSpPr/>
          <p:nvPr/>
        </p:nvSpPr>
        <p:spPr>
          <a:xfrm>
            <a:off x="822960" y="431139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20166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43</a:t>
            </a:r>
            <a:endParaRPr lang="en-US" sz="1600" dirty="0"/>
          </a:p>
        </p:txBody>
      </p:sp>
      <p:sp>
        <p:nvSpPr>
          <p:cNvPr id="13" name="Text 11"/>
          <p:cNvSpPr txBox="1"/>
          <p:nvPr/>
        </p:nvSpPr>
        <p:spPr>
          <a:xfrm>
            <a:off x="1444752" y="418338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وَصَدَّهَا مَا كَانَت تَّعْبُدُ مِن دُونِ اللَّهِ إِنَّهَا كَانَتْ مِن قَوْمٍ كَٰفِرِينَ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What she used to worship besides Allah kept her from worshipping Him; she came from a disbelieving people.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An-Naml</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44 – 45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867662"/>
            <a:ext cx="548640" cy="548640"/>
          </a:xfrm>
          <a:prstGeom prst="star8">
            <a:avLst/>
          </a:prstGeom>
          <a:solidFill>
            <a:schemeClr val="accent2"/>
          </a:solidFill>
          <a:ln/>
        </p:spPr>
      </p:sp>
      <p:sp>
        <p:nvSpPr>
          <p:cNvPr id="6" name="Shape 4"/>
          <p:cNvSpPr/>
          <p:nvPr/>
        </p:nvSpPr>
        <p:spPr>
          <a:xfrm>
            <a:off x="822960" y="197739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86766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44</a:t>
            </a:r>
            <a:endParaRPr lang="en-US" sz="1600" dirty="0"/>
          </a:p>
        </p:txBody>
      </p:sp>
      <p:sp>
        <p:nvSpPr>
          <p:cNvPr id="8" name="Text 6"/>
          <p:cNvSpPr txBox="1"/>
          <p:nvPr/>
        </p:nvSpPr>
        <p:spPr>
          <a:xfrm>
            <a:off x="1444752" y="184937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قِيلَ لَهَا ادْخُلِي الصَّرْحَ فَلَمَّا رَأَتْهُ حَسِبَتْهُ لُجَّةً وَكَشَفَتْ عَن سَاقَيْهَا قَالَ إِنَّهُ صَرْحٌ مُّمَرَّدٌ مِّن قَوَارِيرَ قَالَتْ رَبِّ إِنِّي ظَلَمْتُ نَفْسِي وَأَسْلَمْتُ مَعَ سُلَيْمَٰنَ لِلَّهِ رَبِّ الْعَٰلَمِينَ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She was told: Enter the palace. When she saw its floor, she thought it was deep water and lifted her dress from her ankles. Sulayman said: It is a smooth palace made of glass. She said: My Lord, I have wronged myself by shirk, and I submit with Sulayman to Allah, Lord of the worlds.</a:t>
            </a:r>
            <a:endParaRPr lang="en-US" sz="3000" dirty="0"/>
          </a:p>
        </p:txBody>
      </p:sp>
      <p:sp>
        <p:nvSpPr>
          <p:cNvPr id="9" name="Shape 7"/>
          <p:cNvSpPr/>
          <p:nvPr/>
        </p:nvSpPr>
        <p:spPr>
          <a:xfrm>
            <a:off x="1444752" y="4098798"/>
            <a:ext cx="8641080" cy="0"/>
          </a:xfrm>
          <a:prstGeom prst="line">
            <a:avLst/>
          </a:prstGeom>
          <a:noFill/>
          <a:ln w="9525">
            <a:solidFill>
              <a:schemeClr val="accent2"/>
            </a:solidFill>
            <a:prstDash val="dash"/>
          </a:ln>
        </p:spPr>
      </p:sp>
      <p:sp>
        <p:nvSpPr>
          <p:cNvPr id="10" name="Shape 8"/>
          <p:cNvSpPr/>
          <p:nvPr/>
        </p:nvSpPr>
        <p:spPr>
          <a:xfrm>
            <a:off x="713232" y="4331970"/>
            <a:ext cx="548640" cy="548640"/>
          </a:xfrm>
          <a:prstGeom prst="star8">
            <a:avLst/>
          </a:prstGeom>
          <a:solidFill>
            <a:schemeClr val="accent2"/>
          </a:solidFill>
          <a:ln/>
        </p:spPr>
      </p:sp>
      <p:sp>
        <p:nvSpPr>
          <p:cNvPr id="11" name="Shape 9"/>
          <p:cNvSpPr/>
          <p:nvPr/>
        </p:nvSpPr>
        <p:spPr>
          <a:xfrm>
            <a:off x="822960" y="444169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33197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45</a:t>
            </a:r>
            <a:endParaRPr lang="en-US" sz="1600" dirty="0"/>
          </a:p>
        </p:txBody>
      </p:sp>
      <p:sp>
        <p:nvSpPr>
          <p:cNvPr id="13" name="Text 11"/>
          <p:cNvSpPr txBox="1"/>
          <p:nvPr/>
        </p:nvSpPr>
        <p:spPr>
          <a:xfrm>
            <a:off x="1444752" y="431368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وَلَقَدْ أَرْسَلْنَآ إِلَىٰ ثَمُودَ أَخَاهُمْ صَٰلِحًا أَنِ اعْبُدُواْ اللَّهَ فَإِذَا هُمْ فَرِيقَانِ يَخْتَصِمُونَ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sent to Thamud their brother Salih: Worship Allah. But they became two groups, believers and disbelievers, arguing with each other.</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An-Naml</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46 – 48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75054"/>
            <a:ext cx="548640" cy="548640"/>
          </a:xfrm>
          <a:prstGeom prst="star8">
            <a:avLst/>
          </a:prstGeom>
          <a:solidFill>
            <a:schemeClr val="accent2"/>
          </a:solidFill>
          <a:ln/>
        </p:spPr>
      </p:sp>
      <p:sp>
        <p:nvSpPr>
          <p:cNvPr id="6" name="Shape 4"/>
          <p:cNvSpPr/>
          <p:nvPr/>
        </p:nvSpPr>
        <p:spPr>
          <a:xfrm>
            <a:off x="822960" y="168478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7505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46</a:t>
            </a:r>
            <a:endParaRPr lang="en-US" sz="1600" dirty="0"/>
          </a:p>
        </p:txBody>
      </p:sp>
      <p:sp>
        <p:nvSpPr>
          <p:cNvPr id="8" name="Text 6"/>
          <p:cNvSpPr txBox="1"/>
          <p:nvPr/>
        </p:nvSpPr>
        <p:spPr>
          <a:xfrm>
            <a:off x="1444752" y="155676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يَٰقَوْمِ لِمَ تَسْتَعْجِلُونَ بِالسَّيِّئَةِ قَبْلَ الْحَسَنَةِ لَوْلَا تَسْتَغْفِرُونَ اللَّهَ لَعَلَّكُمْ تُرْحَمُونَ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said: O my people, why do you hurry the punishment before mercy? Why do you not ask Allah's forgiveness so that you may receive mercy?</a:t>
            </a:r>
            <a:endParaRPr lang="en-US" sz="3000" dirty="0"/>
          </a:p>
        </p:txBody>
      </p:sp>
      <p:sp>
        <p:nvSpPr>
          <p:cNvPr id="9" name="Shape 7"/>
          <p:cNvSpPr/>
          <p:nvPr/>
        </p:nvSpPr>
        <p:spPr>
          <a:xfrm>
            <a:off x="1444752" y="2996946"/>
            <a:ext cx="8641080" cy="0"/>
          </a:xfrm>
          <a:prstGeom prst="line">
            <a:avLst/>
          </a:prstGeom>
          <a:noFill/>
          <a:ln w="9525">
            <a:solidFill>
              <a:schemeClr val="accent2"/>
            </a:solidFill>
            <a:prstDash val="dash"/>
          </a:ln>
        </p:spPr>
      </p:sp>
      <p:sp>
        <p:nvSpPr>
          <p:cNvPr id="10" name="Shape 8"/>
          <p:cNvSpPr/>
          <p:nvPr/>
        </p:nvSpPr>
        <p:spPr>
          <a:xfrm>
            <a:off x="713232" y="3230118"/>
            <a:ext cx="548640" cy="548640"/>
          </a:xfrm>
          <a:prstGeom prst="star8">
            <a:avLst/>
          </a:prstGeom>
          <a:solidFill>
            <a:schemeClr val="accent2"/>
          </a:solidFill>
          <a:ln/>
        </p:spPr>
      </p:sp>
      <p:sp>
        <p:nvSpPr>
          <p:cNvPr id="11" name="Shape 9"/>
          <p:cNvSpPr/>
          <p:nvPr/>
        </p:nvSpPr>
        <p:spPr>
          <a:xfrm>
            <a:off x="822960" y="333984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23011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47</a:t>
            </a:r>
            <a:endParaRPr lang="en-US" sz="1600" dirty="0"/>
          </a:p>
        </p:txBody>
      </p:sp>
      <p:sp>
        <p:nvSpPr>
          <p:cNvPr id="13" name="Text 11"/>
          <p:cNvSpPr txBox="1"/>
          <p:nvPr/>
        </p:nvSpPr>
        <p:spPr>
          <a:xfrm>
            <a:off x="1444752" y="321183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قَالُواْ اطَّيَّرْنَا بِكَ وَبِمَن مَّعَكَ قَالَ طَـٰئِرُكُمْ عِندَ اللَّهِ بَلْ أَنتُمْ قَوْمٌ تُفْتَنُونَ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said: We see you and those with you as bad luck. He said: Your bad luck is with Allah because of your sins; rather, you are a people being tested.</a:t>
            </a:r>
            <a:endParaRPr lang="en-US" sz="3000" dirty="0"/>
          </a:p>
        </p:txBody>
      </p:sp>
      <p:sp>
        <p:nvSpPr>
          <p:cNvPr id="14" name="Shape 12"/>
          <p:cNvSpPr/>
          <p:nvPr/>
        </p:nvSpPr>
        <p:spPr>
          <a:xfrm>
            <a:off x="1444752" y="4652010"/>
            <a:ext cx="8641080" cy="0"/>
          </a:xfrm>
          <a:prstGeom prst="line">
            <a:avLst/>
          </a:prstGeom>
          <a:noFill/>
          <a:ln w="9525">
            <a:solidFill>
              <a:schemeClr val="accent2"/>
            </a:solidFill>
            <a:prstDash val="dash"/>
          </a:ln>
        </p:spPr>
      </p:sp>
      <p:sp>
        <p:nvSpPr>
          <p:cNvPr id="15" name="Shape 13"/>
          <p:cNvSpPr/>
          <p:nvPr/>
        </p:nvSpPr>
        <p:spPr>
          <a:xfrm>
            <a:off x="713232" y="4885182"/>
            <a:ext cx="548640" cy="548640"/>
          </a:xfrm>
          <a:prstGeom prst="star8">
            <a:avLst/>
          </a:prstGeom>
          <a:solidFill>
            <a:schemeClr val="accent2"/>
          </a:solidFill>
          <a:ln/>
        </p:spPr>
      </p:sp>
      <p:sp>
        <p:nvSpPr>
          <p:cNvPr id="16" name="Shape 14"/>
          <p:cNvSpPr/>
          <p:nvPr/>
        </p:nvSpPr>
        <p:spPr>
          <a:xfrm>
            <a:off x="822960" y="4994910"/>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88518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48</a:t>
            </a:r>
            <a:endParaRPr lang="en-US" sz="1600" dirty="0"/>
          </a:p>
        </p:txBody>
      </p:sp>
      <p:sp>
        <p:nvSpPr>
          <p:cNvPr id="18" name="Text 16"/>
          <p:cNvSpPr txBox="1"/>
          <p:nvPr/>
        </p:nvSpPr>
        <p:spPr>
          <a:xfrm>
            <a:off x="1444752" y="486689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وَكَانَ فِي الْمَدِينَةِ تِسْعَةُ رَهْطٍ يُفْسِدُونَ فِي الْأَرْضِ وَلَا يُصْلِحُونَ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In the city of Thamud there were nine men who spread corruption in the land and did no good.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An-Naml</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49 – 52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45882"/>
            <a:ext cx="548640" cy="548640"/>
          </a:xfrm>
          <a:prstGeom prst="star8">
            <a:avLst/>
          </a:prstGeom>
          <a:solidFill>
            <a:schemeClr val="accent2"/>
          </a:solidFill>
          <a:ln/>
        </p:spPr>
      </p:sp>
      <p:sp>
        <p:nvSpPr>
          <p:cNvPr id="6" name="Shape 4"/>
          <p:cNvSpPr/>
          <p:nvPr/>
        </p:nvSpPr>
        <p:spPr>
          <a:xfrm>
            <a:off x="822960" y="1455611"/>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4588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49</a:t>
            </a:r>
            <a:endParaRPr lang="en-US" sz="1600" dirty="0"/>
          </a:p>
        </p:txBody>
      </p:sp>
      <p:sp>
        <p:nvSpPr>
          <p:cNvPr id="8" name="Text 6"/>
          <p:cNvSpPr txBox="1"/>
          <p:nvPr/>
        </p:nvSpPr>
        <p:spPr>
          <a:xfrm>
            <a:off x="1444752" y="132759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قَالُواْ تَقَاسَمُواْ بِاللَّهِ لَنُبَيِّتَنَّهُ وَأَهْلَهُ ثُمَّ لَنَقُولَنَّ لِوَلِيِّهِ مَا شَهِدْنَا مَهْلِكَ أَهْلِهِ وَإِنَّا لَصَٰدِقُونَ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said: Swear to one another by Allah that we will attack Salih and his family at night and kill them, then tell his guardian: We did not witness the killing of his family, and we are telling the truth.</a:t>
            </a:r>
            <a:endParaRPr lang="en-US" sz="3000" dirty="0"/>
          </a:p>
        </p:txBody>
      </p:sp>
      <p:sp>
        <p:nvSpPr>
          <p:cNvPr id="9" name="Shape 7"/>
          <p:cNvSpPr/>
          <p:nvPr/>
        </p:nvSpPr>
        <p:spPr>
          <a:xfrm>
            <a:off x="1444752" y="2655189"/>
            <a:ext cx="8641080" cy="0"/>
          </a:xfrm>
          <a:prstGeom prst="line">
            <a:avLst/>
          </a:prstGeom>
          <a:noFill/>
          <a:ln w="9525">
            <a:solidFill>
              <a:schemeClr val="accent2"/>
            </a:solidFill>
            <a:prstDash val="dash"/>
          </a:ln>
        </p:spPr>
      </p:sp>
      <p:sp>
        <p:nvSpPr>
          <p:cNvPr id="10" name="Shape 8"/>
          <p:cNvSpPr/>
          <p:nvPr/>
        </p:nvSpPr>
        <p:spPr>
          <a:xfrm>
            <a:off x="713232" y="2775776"/>
            <a:ext cx="548640" cy="548640"/>
          </a:xfrm>
          <a:prstGeom prst="star8">
            <a:avLst/>
          </a:prstGeom>
          <a:solidFill>
            <a:schemeClr val="accent2"/>
          </a:solidFill>
          <a:ln/>
        </p:spPr>
      </p:sp>
      <p:sp>
        <p:nvSpPr>
          <p:cNvPr id="11" name="Shape 9"/>
          <p:cNvSpPr/>
          <p:nvPr/>
        </p:nvSpPr>
        <p:spPr>
          <a:xfrm>
            <a:off x="822960" y="288550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77577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50</a:t>
            </a:r>
            <a:endParaRPr lang="en-US" sz="1600" dirty="0"/>
          </a:p>
        </p:txBody>
      </p:sp>
      <p:sp>
        <p:nvSpPr>
          <p:cNvPr id="13" name="Text 11"/>
          <p:cNvSpPr txBox="1"/>
          <p:nvPr/>
        </p:nvSpPr>
        <p:spPr>
          <a:xfrm>
            <a:off x="1444752" y="275748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وَمَكَرُواْ مَكْرًا وَمَكَرْنَا مَكْرًا وَهُمْ لَا يَشْعُرُونَ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made a plot, and We made a plan for their punishment while they did not realise.</a:t>
            </a:r>
            <a:endParaRPr lang="en-US" sz="3000" dirty="0"/>
          </a:p>
        </p:txBody>
      </p:sp>
      <p:sp>
        <p:nvSpPr>
          <p:cNvPr id="14" name="Shape 12"/>
          <p:cNvSpPr/>
          <p:nvPr/>
        </p:nvSpPr>
        <p:spPr>
          <a:xfrm>
            <a:off x="1444752" y="3824478"/>
            <a:ext cx="8641080" cy="0"/>
          </a:xfrm>
          <a:prstGeom prst="line">
            <a:avLst/>
          </a:prstGeom>
          <a:noFill/>
          <a:ln w="9525">
            <a:solidFill>
              <a:schemeClr val="accent2"/>
            </a:solidFill>
            <a:prstDash val="dash"/>
          </a:ln>
        </p:spPr>
      </p:sp>
      <p:sp>
        <p:nvSpPr>
          <p:cNvPr id="15" name="Shape 13"/>
          <p:cNvSpPr/>
          <p:nvPr/>
        </p:nvSpPr>
        <p:spPr>
          <a:xfrm>
            <a:off x="713232" y="3945064"/>
            <a:ext cx="548640" cy="548640"/>
          </a:xfrm>
          <a:prstGeom prst="star8">
            <a:avLst/>
          </a:prstGeom>
          <a:solidFill>
            <a:schemeClr val="accent2"/>
          </a:solidFill>
          <a:ln/>
        </p:spPr>
      </p:sp>
      <p:sp>
        <p:nvSpPr>
          <p:cNvPr id="16" name="Shape 14"/>
          <p:cNvSpPr/>
          <p:nvPr/>
        </p:nvSpPr>
        <p:spPr>
          <a:xfrm>
            <a:off x="822960" y="4054792"/>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9450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51</a:t>
            </a:r>
            <a:endParaRPr lang="en-US" sz="1600" dirty="0"/>
          </a:p>
        </p:txBody>
      </p:sp>
      <p:sp>
        <p:nvSpPr>
          <p:cNvPr id="18" name="Text 16"/>
          <p:cNvSpPr txBox="1"/>
          <p:nvPr/>
        </p:nvSpPr>
        <p:spPr>
          <a:xfrm>
            <a:off x="1444752" y="392677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فَانظُرْ كَيْفَ كَانَ عَٰقِبَةُ مَكْرِهِمْ أَنَّا دَمَّرْنَٰهُمْ وَقَوْمَهُمْ أَجْمَعِينَ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See what the end of their plot was: We destroyed them and all their people.</a:t>
            </a:r>
            <a:endParaRPr lang="en-US" sz="3000" dirty="0"/>
          </a:p>
        </p:txBody>
      </p:sp>
      <p:sp>
        <p:nvSpPr>
          <p:cNvPr id="19" name="Shape 17"/>
          <p:cNvSpPr/>
          <p:nvPr/>
        </p:nvSpPr>
        <p:spPr>
          <a:xfrm>
            <a:off x="1444752" y="4993767"/>
            <a:ext cx="8641080" cy="0"/>
          </a:xfrm>
          <a:prstGeom prst="line">
            <a:avLst/>
          </a:prstGeom>
          <a:noFill/>
          <a:ln w="9525">
            <a:solidFill>
              <a:schemeClr val="accent2"/>
            </a:solidFill>
            <a:prstDash val="dash"/>
          </a:ln>
        </p:spPr>
      </p:sp>
      <p:sp>
        <p:nvSpPr>
          <p:cNvPr id="20" name="Shape 18"/>
          <p:cNvSpPr/>
          <p:nvPr/>
        </p:nvSpPr>
        <p:spPr>
          <a:xfrm>
            <a:off x="713232" y="5114353"/>
            <a:ext cx="548640" cy="548640"/>
          </a:xfrm>
          <a:prstGeom prst="star8">
            <a:avLst/>
          </a:prstGeom>
          <a:solidFill>
            <a:schemeClr val="accent2"/>
          </a:solidFill>
          <a:ln/>
        </p:spPr>
      </p:sp>
      <p:sp>
        <p:nvSpPr>
          <p:cNvPr id="21" name="Shape 19"/>
          <p:cNvSpPr/>
          <p:nvPr/>
        </p:nvSpPr>
        <p:spPr>
          <a:xfrm>
            <a:off x="822960" y="5224081"/>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114353"/>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52</a:t>
            </a:r>
            <a:endParaRPr lang="en-US" sz="1600" dirty="0"/>
          </a:p>
        </p:txBody>
      </p:sp>
      <p:sp>
        <p:nvSpPr>
          <p:cNvPr id="23" name="Text 21"/>
          <p:cNvSpPr txBox="1"/>
          <p:nvPr/>
        </p:nvSpPr>
        <p:spPr>
          <a:xfrm>
            <a:off x="1444752" y="5096065"/>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فَتِلْكَ بُيُوتُهُمْ خَاوِيَةً بِمَا ظَلَمُواْ إِنَّ فِي ذَٰلِكَ لَأيَةً لِّقَوْمٍ يَعْلَمُونَ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There are their houses, empty because of their wrongdoing. In that is a lesson for people who know.</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An-Naml</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53 – 55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05356"/>
            <a:ext cx="548640" cy="548640"/>
          </a:xfrm>
          <a:prstGeom prst="star8">
            <a:avLst/>
          </a:prstGeom>
          <a:solidFill>
            <a:schemeClr val="accent2"/>
          </a:solidFill>
          <a:ln/>
        </p:spPr>
      </p:sp>
      <p:sp>
        <p:nvSpPr>
          <p:cNvPr id="6" name="Shape 4"/>
          <p:cNvSpPr/>
          <p:nvPr/>
        </p:nvSpPr>
        <p:spPr>
          <a:xfrm>
            <a:off x="822960" y="18150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053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53</a:t>
            </a:r>
            <a:endParaRPr lang="en-US" sz="1600" dirty="0"/>
          </a:p>
        </p:txBody>
      </p:sp>
      <p:sp>
        <p:nvSpPr>
          <p:cNvPr id="8" name="Text 6"/>
          <p:cNvSpPr txBox="1"/>
          <p:nvPr/>
        </p:nvSpPr>
        <p:spPr>
          <a:xfrm>
            <a:off x="1444752" y="168706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وَأَنجَيْنَا الَّذِينَ ءَامَنُواْ وَكَانُواْ يَتَّقُونَ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We saved those who believed and had taqwa.</a:t>
            </a:r>
            <a:endParaRPr lang="en-US" sz="3000" dirty="0"/>
          </a:p>
        </p:txBody>
      </p:sp>
      <p:sp>
        <p:nvSpPr>
          <p:cNvPr id="9" name="Shape 7"/>
          <p:cNvSpPr/>
          <p:nvPr/>
        </p:nvSpPr>
        <p:spPr>
          <a:xfrm>
            <a:off x="1444752" y="2866644"/>
            <a:ext cx="8641080" cy="0"/>
          </a:xfrm>
          <a:prstGeom prst="line">
            <a:avLst/>
          </a:prstGeom>
          <a:noFill/>
          <a:ln w="9525">
            <a:solidFill>
              <a:schemeClr val="accent2"/>
            </a:solidFill>
            <a:prstDash val="dash"/>
          </a:ln>
        </p:spPr>
      </p:sp>
      <p:sp>
        <p:nvSpPr>
          <p:cNvPr id="10" name="Shape 8"/>
          <p:cNvSpPr/>
          <p:nvPr/>
        </p:nvSpPr>
        <p:spPr>
          <a:xfrm>
            <a:off x="713232" y="3099816"/>
            <a:ext cx="548640" cy="548640"/>
          </a:xfrm>
          <a:prstGeom prst="star8">
            <a:avLst/>
          </a:prstGeom>
          <a:solidFill>
            <a:schemeClr val="accent2"/>
          </a:solidFill>
          <a:ln/>
        </p:spPr>
      </p:sp>
      <p:sp>
        <p:nvSpPr>
          <p:cNvPr id="11" name="Shape 9"/>
          <p:cNvSpPr/>
          <p:nvPr/>
        </p:nvSpPr>
        <p:spPr>
          <a:xfrm>
            <a:off x="822960" y="320954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09981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54</a:t>
            </a:r>
            <a:endParaRPr lang="en-US" sz="1600" dirty="0"/>
          </a:p>
        </p:txBody>
      </p:sp>
      <p:sp>
        <p:nvSpPr>
          <p:cNvPr id="13" name="Text 11"/>
          <p:cNvSpPr txBox="1"/>
          <p:nvPr/>
        </p:nvSpPr>
        <p:spPr>
          <a:xfrm>
            <a:off x="1444752" y="308152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وَلُوطًا إِذْ قَالَ لِقَوْمِهِ أَتَأْتُونَ الْفَٰحِشَةَ وَأَنتُمْ تُبْصِرُونَ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remember Lut, when he said to his people: Do you commit this shameful sin while you know how ugly it is?</a:t>
            </a:r>
            <a:endParaRPr lang="en-US" sz="3000" dirty="0"/>
          </a:p>
        </p:txBody>
      </p:sp>
      <p:sp>
        <p:nvSpPr>
          <p:cNvPr id="14" name="Shape 12"/>
          <p:cNvSpPr/>
          <p:nvPr/>
        </p:nvSpPr>
        <p:spPr>
          <a:xfrm>
            <a:off x="1444752" y="4521708"/>
            <a:ext cx="8641080" cy="0"/>
          </a:xfrm>
          <a:prstGeom prst="line">
            <a:avLst/>
          </a:prstGeom>
          <a:noFill/>
          <a:ln w="9525">
            <a:solidFill>
              <a:schemeClr val="accent2"/>
            </a:solidFill>
            <a:prstDash val="dash"/>
          </a:ln>
        </p:spPr>
      </p:sp>
      <p:sp>
        <p:nvSpPr>
          <p:cNvPr id="15" name="Shape 13"/>
          <p:cNvSpPr/>
          <p:nvPr/>
        </p:nvSpPr>
        <p:spPr>
          <a:xfrm>
            <a:off x="713232" y="4754880"/>
            <a:ext cx="548640" cy="548640"/>
          </a:xfrm>
          <a:prstGeom prst="star8">
            <a:avLst/>
          </a:prstGeom>
          <a:solidFill>
            <a:schemeClr val="accent2"/>
          </a:solidFill>
          <a:ln/>
        </p:spPr>
      </p:sp>
      <p:sp>
        <p:nvSpPr>
          <p:cNvPr id="16" name="Shape 14"/>
          <p:cNvSpPr/>
          <p:nvPr/>
        </p:nvSpPr>
        <p:spPr>
          <a:xfrm>
            <a:off x="822960" y="4864608"/>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75488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55</a:t>
            </a:r>
            <a:endParaRPr lang="en-US" sz="1600" dirty="0"/>
          </a:p>
        </p:txBody>
      </p:sp>
      <p:sp>
        <p:nvSpPr>
          <p:cNvPr id="18" name="Text 16"/>
          <p:cNvSpPr txBox="1"/>
          <p:nvPr/>
        </p:nvSpPr>
        <p:spPr>
          <a:xfrm>
            <a:off x="1444752" y="473659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أَئِنَّكُمْ لَتَأْتُونَ الرِّجَالَ شَهْوَةً مِّن دُونِ النِّسَآءِ بَلْ أَنتُمْ قَوْمٌ تَجْهَلُونَ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Do you go to men with desire instead of women? Rather, you are an ignorant people.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3000" b="1" dirty="0">
                <a:solidFill>
                  <a:schemeClr val="accent2"/>
                </a:solidFill>
                <a:latin typeface="Georgia" pitchFamily="34" charset="0"/>
                <a:ea typeface="Georgia" pitchFamily="34" charset="-122"/>
                <a:cs typeface="Georgia" pitchFamily="34" charset="-120"/>
              </a:rPr>
              <a:t>Surah Ash-Shu'ara'</a:t>
            </a:r>
            <a:endParaRPr lang="en-US" sz="30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227 verses • The Poets</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Makki</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no. 26 in the Mushaf</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400" dirty="0">
                <a:solidFill>
                  <a:schemeClr val="tx1"/>
                </a:solidFill>
                <a:latin typeface="Arial" pitchFamily="34" charset="0"/>
                <a:ea typeface="Arial" pitchFamily="34" charset="-122"/>
                <a:cs typeface="Arial" pitchFamily="34" charset="-120"/>
              </a:rPr>
              <a:t>When “And warn your nearest relatives” was revealed, the Prophet (peace be upon him) climbed As-Safa and called out to the clans of Quraysh until they gathered. He said: "If I told you that horsemen in the valley were about to attack you, would you believe me?" They said: We have only ever known you to be truthful. He said: "Then I am a warner to you before a severe punishment" (Bukhari and Muslim).</a:t>
            </a:r>
            <a:endParaRPr lang="en-US" sz="14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Surah</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400" dirty="0">
                <a:solidFill>
                  <a:schemeClr val="tx1"/>
                </a:solidFill>
                <a:latin typeface="Arial" pitchFamily="34" charset="0"/>
                <a:ea typeface="Arial" pitchFamily="34" charset="-122"/>
                <a:cs typeface="Arial" pitchFamily="34" charset="-120"/>
              </a:rPr>
              <a:t>Comforting the Prophet (peace be upon him) with the stories of the prophets: Musa with Pharaoh, Ibrahim with his people, then Nuh, Hud, Salih, Lut and Shu'ayb. After each story comes: “In that is a lesson, yet most of them do not believe. Your Lord is the Almighty, the Most Merciful”. It ends by proving the Qur'an is sent down by the Lord of the worlds.</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Ash-Shu'ara'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 – 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45882"/>
            <a:ext cx="548640" cy="548640"/>
          </a:xfrm>
          <a:prstGeom prst="star8">
            <a:avLst/>
          </a:prstGeom>
          <a:solidFill>
            <a:schemeClr val="accent2"/>
          </a:solidFill>
          <a:ln/>
        </p:spPr>
      </p:sp>
      <p:sp>
        <p:nvSpPr>
          <p:cNvPr id="6" name="Shape 4"/>
          <p:cNvSpPr/>
          <p:nvPr/>
        </p:nvSpPr>
        <p:spPr>
          <a:xfrm>
            <a:off x="822960" y="1455611"/>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4588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a:t>
            </a:r>
            <a:endParaRPr lang="en-US" sz="1600" dirty="0"/>
          </a:p>
        </p:txBody>
      </p:sp>
      <p:sp>
        <p:nvSpPr>
          <p:cNvPr id="8" name="Text 6"/>
          <p:cNvSpPr txBox="1"/>
          <p:nvPr/>
        </p:nvSpPr>
        <p:spPr>
          <a:xfrm>
            <a:off x="1444752" y="132759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طسم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Separate letters, pointing to the miracle of the Qur'an.</a:t>
            </a:r>
            <a:endParaRPr lang="en-US" sz="3000" dirty="0"/>
          </a:p>
        </p:txBody>
      </p:sp>
      <p:sp>
        <p:nvSpPr>
          <p:cNvPr id="9" name="Shape 7"/>
          <p:cNvSpPr/>
          <p:nvPr/>
        </p:nvSpPr>
        <p:spPr>
          <a:xfrm>
            <a:off x="1444752" y="2394585"/>
            <a:ext cx="8641080" cy="0"/>
          </a:xfrm>
          <a:prstGeom prst="line">
            <a:avLst/>
          </a:prstGeom>
          <a:noFill/>
          <a:ln w="9525">
            <a:solidFill>
              <a:schemeClr val="accent2"/>
            </a:solidFill>
            <a:prstDash val="dash"/>
          </a:ln>
        </p:spPr>
      </p:sp>
      <p:sp>
        <p:nvSpPr>
          <p:cNvPr id="10" name="Shape 8"/>
          <p:cNvSpPr/>
          <p:nvPr/>
        </p:nvSpPr>
        <p:spPr>
          <a:xfrm>
            <a:off x="713232" y="2515172"/>
            <a:ext cx="548640" cy="548640"/>
          </a:xfrm>
          <a:prstGeom prst="star8">
            <a:avLst/>
          </a:prstGeom>
          <a:solidFill>
            <a:schemeClr val="accent2"/>
          </a:solidFill>
          <a:ln/>
        </p:spPr>
      </p:sp>
      <p:sp>
        <p:nvSpPr>
          <p:cNvPr id="11" name="Shape 9"/>
          <p:cNvSpPr/>
          <p:nvPr/>
        </p:nvSpPr>
        <p:spPr>
          <a:xfrm>
            <a:off x="822960" y="262490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51517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a:t>
            </a:r>
            <a:endParaRPr lang="en-US" sz="1600" dirty="0"/>
          </a:p>
        </p:txBody>
      </p:sp>
      <p:sp>
        <p:nvSpPr>
          <p:cNvPr id="13" name="Text 11"/>
          <p:cNvSpPr txBox="1"/>
          <p:nvPr/>
        </p:nvSpPr>
        <p:spPr>
          <a:xfrm>
            <a:off x="1444752" y="249688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تِلْكَ ءَايَٰتُ الْكِتَٰبِ الْمُبِينِ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These are the verses of the clear Book.</a:t>
            </a:r>
            <a:endParaRPr lang="en-US" sz="3000" dirty="0"/>
          </a:p>
        </p:txBody>
      </p:sp>
      <p:sp>
        <p:nvSpPr>
          <p:cNvPr id="14" name="Shape 12"/>
          <p:cNvSpPr/>
          <p:nvPr/>
        </p:nvSpPr>
        <p:spPr>
          <a:xfrm>
            <a:off x="1444752" y="3563874"/>
            <a:ext cx="8641080" cy="0"/>
          </a:xfrm>
          <a:prstGeom prst="line">
            <a:avLst/>
          </a:prstGeom>
          <a:noFill/>
          <a:ln w="9525">
            <a:solidFill>
              <a:schemeClr val="accent2"/>
            </a:solidFill>
            <a:prstDash val="dash"/>
          </a:ln>
        </p:spPr>
      </p:sp>
      <p:sp>
        <p:nvSpPr>
          <p:cNvPr id="15" name="Shape 13"/>
          <p:cNvSpPr/>
          <p:nvPr/>
        </p:nvSpPr>
        <p:spPr>
          <a:xfrm>
            <a:off x="713232" y="3684460"/>
            <a:ext cx="548640" cy="548640"/>
          </a:xfrm>
          <a:prstGeom prst="star8">
            <a:avLst/>
          </a:prstGeom>
          <a:solidFill>
            <a:schemeClr val="accent2"/>
          </a:solidFill>
          <a:ln/>
        </p:spPr>
      </p:sp>
      <p:sp>
        <p:nvSpPr>
          <p:cNvPr id="16" name="Shape 14"/>
          <p:cNvSpPr/>
          <p:nvPr/>
        </p:nvSpPr>
        <p:spPr>
          <a:xfrm>
            <a:off x="822960" y="3794188"/>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68446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a:t>
            </a:r>
            <a:endParaRPr lang="en-US" sz="1600" dirty="0"/>
          </a:p>
        </p:txBody>
      </p:sp>
      <p:sp>
        <p:nvSpPr>
          <p:cNvPr id="18" name="Text 16"/>
          <p:cNvSpPr txBox="1"/>
          <p:nvPr/>
        </p:nvSpPr>
        <p:spPr>
          <a:xfrm>
            <a:off x="1444752" y="366617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لَعَلَّكَ بَٰخِعٌ نَّفْسَكَ أَلَّا يَكُونُواْ مُؤْمِنِينَ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Perhaps you will destroy yourself with grief because they do not become believers.</a:t>
            </a:r>
            <a:endParaRPr lang="en-US" sz="3000" dirty="0"/>
          </a:p>
        </p:txBody>
      </p:sp>
      <p:sp>
        <p:nvSpPr>
          <p:cNvPr id="19" name="Shape 17"/>
          <p:cNvSpPr/>
          <p:nvPr/>
        </p:nvSpPr>
        <p:spPr>
          <a:xfrm>
            <a:off x="1444752" y="4733163"/>
            <a:ext cx="8641080" cy="0"/>
          </a:xfrm>
          <a:prstGeom prst="line">
            <a:avLst/>
          </a:prstGeom>
          <a:noFill/>
          <a:ln w="9525">
            <a:solidFill>
              <a:schemeClr val="accent2"/>
            </a:solidFill>
            <a:prstDash val="dash"/>
          </a:ln>
        </p:spPr>
      </p:sp>
      <p:sp>
        <p:nvSpPr>
          <p:cNvPr id="20" name="Shape 18"/>
          <p:cNvSpPr/>
          <p:nvPr/>
        </p:nvSpPr>
        <p:spPr>
          <a:xfrm>
            <a:off x="713232" y="4853749"/>
            <a:ext cx="548640" cy="548640"/>
          </a:xfrm>
          <a:prstGeom prst="star8">
            <a:avLst/>
          </a:prstGeom>
          <a:solidFill>
            <a:schemeClr val="accent2"/>
          </a:solidFill>
          <a:ln/>
        </p:spPr>
      </p:sp>
      <p:sp>
        <p:nvSpPr>
          <p:cNvPr id="21" name="Shape 19"/>
          <p:cNvSpPr/>
          <p:nvPr/>
        </p:nvSpPr>
        <p:spPr>
          <a:xfrm>
            <a:off x="822960" y="4963477"/>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4853749"/>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a:t>
            </a:r>
            <a:endParaRPr lang="en-US" sz="1600" dirty="0"/>
          </a:p>
        </p:txBody>
      </p:sp>
      <p:sp>
        <p:nvSpPr>
          <p:cNvPr id="23" name="Text 21"/>
          <p:cNvSpPr txBox="1"/>
          <p:nvPr/>
        </p:nvSpPr>
        <p:spPr>
          <a:xfrm>
            <a:off x="1444752" y="4835461"/>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نَّشَأْ نُنَزِّلْ عَلَيْهِم مِّنَ السَّمَآءِ ءَايَةً فَظَلَّتْ أَعْنَٰقُهُمْ لَهَا خَٰضِعِينَ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We willed, We could send down on them a sign from the sky that forces them to believe, so their necks would bow to it. But We did not will that, so that their faith would be by choice.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Ash-Shu'ara'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 – 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يَأْتِيهِم مِّن ذِكْرٍ مِّنَ الرَّحْمَٰنِ مُحْدَثٍ إِلَّا كَانُواْ عَنْهُ مُعْرِضِينَ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No new reminder from the Most Merciful comes to them without them turning away from it.</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فَقَدْ كَذَّبُواْ فَسَيَأْتِيهِمْ أَنبَـٰؤُاْ مَا كَانُواْ بِهِ يَسْتَهْزِءُونَ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have denied, so the result of what they used to mock will come to them.</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أَوَلَمْ يَرَوْاْ إِلَى الْأَرْضِ كَمْ أَنبَتْنَا فِيهَا مِن كُلِّ زَوْجٍ كَرِيمٍ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Have they not looked at the earth, how many good, useful kinds of plants We have made grow in it?</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فِي ذَٰلِكَ لَأيَةً وَمَا كَانَ أَكْثَرُهُم مُّؤْمِنِينَ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In that is a proof of Allah's power, yet most of them do not believe.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Ash-Shu'ara'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9 – 12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وَإِنَّ رَبَّكَ لَهُوَ الْعَزِيزُ الرَّحِيمُ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Your Lord is the Almighty, who punishes His enemies, the Most Merciful to His close servants.</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10</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 نَادَىٰ رَبُّكَ مُوسَىٰ أَنِ ائْتِ الْقَوْمَ الظَّـٰلِمِينَ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Remember when your Lord called Musa: Go to the wrongdoing people,</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11</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قَوْمَ فِرْعَوْنَ أَلَا يَتَّقُونَ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people of Pharaoh. Will they not have taqwa of Allah?</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12</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رَبِّ إِنِّي أَخَافُ أَن يُكَذِّبُونِ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Musa said: My Lord, I fear they will deny me,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Ash-Shu'ara'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13 – 16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45882"/>
            <a:ext cx="548640" cy="548640"/>
          </a:xfrm>
          <a:prstGeom prst="star8">
            <a:avLst/>
          </a:prstGeom>
          <a:solidFill>
            <a:schemeClr val="accent2"/>
          </a:solidFill>
          <a:ln/>
        </p:spPr>
      </p:sp>
      <p:sp>
        <p:nvSpPr>
          <p:cNvPr id="6" name="Shape 4"/>
          <p:cNvSpPr/>
          <p:nvPr/>
        </p:nvSpPr>
        <p:spPr>
          <a:xfrm>
            <a:off x="822960" y="1455611"/>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4588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13</a:t>
            </a:r>
            <a:endParaRPr lang="en-US" sz="1600" dirty="0"/>
          </a:p>
        </p:txBody>
      </p:sp>
      <p:sp>
        <p:nvSpPr>
          <p:cNvPr id="8" name="Text 6"/>
          <p:cNvSpPr txBox="1"/>
          <p:nvPr/>
        </p:nvSpPr>
        <p:spPr>
          <a:xfrm>
            <a:off x="1444752" y="132759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وَيَضِيقُ صَدْرِي وَلَا يَنطَلِقُ لِسَانِي فَأَرْسِلْ إِلَىٰ هَٰرُونَ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my chest will feel tight and my tongue will not speak freely, so send Jibril to my brother Harun to be with me.</a:t>
            </a:r>
            <a:endParaRPr lang="en-US" sz="3000" dirty="0"/>
          </a:p>
        </p:txBody>
      </p:sp>
      <p:sp>
        <p:nvSpPr>
          <p:cNvPr id="9" name="Shape 7"/>
          <p:cNvSpPr/>
          <p:nvPr/>
        </p:nvSpPr>
        <p:spPr>
          <a:xfrm>
            <a:off x="1444752" y="2655189"/>
            <a:ext cx="8641080" cy="0"/>
          </a:xfrm>
          <a:prstGeom prst="line">
            <a:avLst/>
          </a:prstGeom>
          <a:noFill/>
          <a:ln w="9525">
            <a:solidFill>
              <a:schemeClr val="accent2"/>
            </a:solidFill>
            <a:prstDash val="dash"/>
          </a:ln>
        </p:spPr>
      </p:sp>
      <p:sp>
        <p:nvSpPr>
          <p:cNvPr id="10" name="Shape 8"/>
          <p:cNvSpPr/>
          <p:nvPr/>
        </p:nvSpPr>
        <p:spPr>
          <a:xfrm>
            <a:off x="713232" y="2775776"/>
            <a:ext cx="548640" cy="548640"/>
          </a:xfrm>
          <a:prstGeom prst="star8">
            <a:avLst/>
          </a:prstGeom>
          <a:solidFill>
            <a:schemeClr val="accent2"/>
          </a:solidFill>
          <a:ln/>
        </p:spPr>
      </p:sp>
      <p:sp>
        <p:nvSpPr>
          <p:cNvPr id="11" name="Shape 9"/>
          <p:cNvSpPr/>
          <p:nvPr/>
        </p:nvSpPr>
        <p:spPr>
          <a:xfrm>
            <a:off x="822960" y="288550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77577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14</a:t>
            </a:r>
            <a:endParaRPr lang="en-US" sz="1600" dirty="0"/>
          </a:p>
        </p:txBody>
      </p:sp>
      <p:sp>
        <p:nvSpPr>
          <p:cNvPr id="13" name="Text 11"/>
          <p:cNvSpPr txBox="1"/>
          <p:nvPr/>
        </p:nvSpPr>
        <p:spPr>
          <a:xfrm>
            <a:off x="1444752" y="275748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وَلَهُمْ عَلَيَّ ذَنبٌ فَأَخَافُ أَن يَقْتُلُونِ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they have a charge against me for killing the Egyptian man, so I fear they will kill me.</a:t>
            </a:r>
            <a:endParaRPr lang="en-US" sz="3000" dirty="0"/>
          </a:p>
        </p:txBody>
      </p:sp>
      <p:sp>
        <p:nvSpPr>
          <p:cNvPr id="14" name="Shape 12"/>
          <p:cNvSpPr/>
          <p:nvPr/>
        </p:nvSpPr>
        <p:spPr>
          <a:xfrm>
            <a:off x="1444752" y="3824478"/>
            <a:ext cx="8641080" cy="0"/>
          </a:xfrm>
          <a:prstGeom prst="line">
            <a:avLst/>
          </a:prstGeom>
          <a:noFill/>
          <a:ln w="9525">
            <a:solidFill>
              <a:schemeClr val="accent2"/>
            </a:solidFill>
            <a:prstDash val="dash"/>
          </a:ln>
        </p:spPr>
      </p:sp>
      <p:sp>
        <p:nvSpPr>
          <p:cNvPr id="15" name="Shape 13"/>
          <p:cNvSpPr/>
          <p:nvPr/>
        </p:nvSpPr>
        <p:spPr>
          <a:xfrm>
            <a:off x="713232" y="3945064"/>
            <a:ext cx="548640" cy="548640"/>
          </a:xfrm>
          <a:prstGeom prst="star8">
            <a:avLst/>
          </a:prstGeom>
          <a:solidFill>
            <a:schemeClr val="accent2"/>
          </a:solidFill>
          <a:ln/>
        </p:spPr>
      </p:sp>
      <p:sp>
        <p:nvSpPr>
          <p:cNvPr id="16" name="Shape 14"/>
          <p:cNvSpPr/>
          <p:nvPr/>
        </p:nvSpPr>
        <p:spPr>
          <a:xfrm>
            <a:off x="822960" y="4054792"/>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9450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15</a:t>
            </a:r>
            <a:endParaRPr lang="en-US" sz="1600" dirty="0"/>
          </a:p>
        </p:txBody>
      </p:sp>
      <p:sp>
        <p:nvSpPr>
          <p:cNvPr id="18" name="Text 16"/>
          <p:cNvSpPr txBox="1"/>
          <p:nvPr/>
        </p:nvSpPr>
        <p:spPr>
          <a:xfrm>
            <a:off x="1444752" y="392677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كَلَّا فَاذْهَبَا بِـَٔايَٰتِنَآ إِنَّا مَعَكُم مُّسْتَمِعُونَ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said: No, they will not kill you. Go, both of you, with Our signs; We are with you, listening.</a:t>
            </a:r>
            <a:endParaRPr lang="en-US" sz="3000" dirty="0"/>
          </a:p>
        </p:txBody>
      </p:sp>
      <p:sp>
        <p:nvSpPr>
          <p:cNvPr id="19" name="Shape 17"/>
          <p:cNvSpPr/>
          <p:nvPr/>
        </p:nvSpPr>
        <p:spPr>
          <a:xfrm>
            <a:off x="1444752" y="4993767"/>
            <a:ext cx="8641080" cy="0"/>
          </a:xfrm>
          <a:prstGeom prst="line">
            <a:avLst/>
          </a:prstGeom>
          <a:noFill/>
          <a:ln w="9525">
            <a:solidFill>
              <a:schemeClr val="accent2"/>
            </a:solidFill>
            <a:prstDash val="dash"/>
          </a:ln>
        </p:spPr>
      </p:sp>
      <p:sp>
        <p:nvSpPr>
          <p:cNvPr id="20" name="Shape 18"/>
          <p:cNvSpPr/>
          <p:nvPr/>
        </p:nvSpPr>
        <p:spPr>
          <a:xfrm>
            <a:off x="713232" y="5114353"/>
            <a:ext cx="548640" cy="548640"/>
          </a:xfrm>
          <a:prstGeom prst="star8">
            <a:avLst/>
          </a:prstGeom>
          <a:solidFill>
            <a:schemeClr val="accent2"/>
          </a:solidFill>
          <a:ln/>
        </p:spPr>
      </p:sp>
      <p:sp>
        <p:nvSpPr>
          <p:cNvPr id="21" name="Shape 19"/>
          <p:cNvSpPr/>
          <p:nvPr/>
        </p:nvSpPr>
        <p:spPr>
          <a:xfrm>
            <a:off x="822960" y="5224081"/>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114353"/>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16</a:t>
            </a:r>
            <a:endParaRPr lang="en-US" sz="1600" dirty="0"/>
          </a:p>
        </p:txBody>
      </p:sp>
      <p:sp>
        <p:nvSpPr>
          <p:cNvPr id="23" name="Text 21"/>
          <p:cNvSpPr txBox="1"/>
          <p:nvPr/>
        </p:nvSpPr>
        <p:spPr>
          <a:xfrm>
            <a:off x="1444752" y="5096065"/>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فَأْتِيَا فِرْعَوْنَ فَقُولَآ إِنَّا رَسُولُ رَبِّ الْعَٰلَمِينَ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go to Pharaoh and say: We are messengers of the Lord of the worlds: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Ash-Shu'ara'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17 – 20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45882"/>
            <a:ext cx="548640" cy="548640"/>
          </a:xfrm>
          <a:prstGeom prst="star8">
            <a:avLst/>
          </a:prstGeom>
          <a:solidFill>
            <a:schemeClr val="accent2"/>
          </a:solidFill>
          <a:ln/>
        </p:spPr>
      </p:sp>
      <p:sp>
        <p:nvSpPr>
          <p:cNvPr id="6" name="Shape 4"/>
          <p:cNvSpPr/>
          <p:nvPr/>
        </p:nvSpPr>
        <p:spPr>
          <a:xfrm>
            <a:off x="822960" y="1455611"/>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4588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17</a:t>
            </a:r>
            <a:endParaRPr lang="en-US" sz="1600" dirty="0"/>
          </a:p>
        </p:txBody>
      </p:sp>
      <p:sp>
        <p:nvSpPr>
          <p:cNvPr id="8" name="Text 6"/>
          <p:cNvSpPr txBox="1"/>
          <p:nvPr/>
        </p:nvSpPr>
        <p:spPr>
          <a:xfrm>
            <a:off x="1444752" y="132759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أَنْ أَرْسِلْ مَعَنَا بَنِي إِسْرَـٰءِيلَ</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Let the Children of Israel go with us.</a:t>
            </a:r>
            <a:endParaRPr lang="en-US" sz="3000" dirty="0"/>
          </a:p>
        </p:txBody>
      </p:sp>
      <p:sp>
        <p:nvSpPr>
          <p:cNvPr id="9" name="Shape 7"/>
          <p:cNvSpPr/>
          <p:nvPr/>
        </p:nvSpPr>
        <p:spPr>
          <a:xfrm>
            <a:off x="1444752" y="2394585"/>
            <a:ext cx="8641080" cy="0"/>
          </a:xfrm>
          <a:prstGeom prst="line">
            <a:avLst/>
          </a:prstGeom>
          <a:noFill/>
          <a:ln w="9525">
            <a:solidFill>
              <a:schemeClr val="accent2"/>
            </a:solidFill>
            <a:prstDash val="dash"/>
          </a:ln>
        </p:spPr>
      </p:sp>
      <p:sp>
        <p:nvSpPr>
          <p:cNvPr id="10" name="Shape 8"/>
          <p:cNvSpPr/>
          <p:nvPr/>
        </p:nvSpPr>
        <p:spPr>
          <a:xfrm>
            <a:off x="713232" y="2515172"/>
            <a:ext cx="548640" cy="548640"/>
          </a:xfrm>
          <a:prstGeom prst="star8">
            <a:avLst/>
          </a:prstGeom>
          <a:solidFill>
            <a:schemeClr val="accent2"/>
          </a:solidFill>
          <a:ln/>
        </p:spPr>
      </p:sp>
      <p:sp>
        <p:nvSpPr>
          <p:cNvPr id="11" name="Shape 9"/>
          <p:cNvSpPr/>
          <p:nvPr/>
        </p:nvSpPr>
        <p:spPr>
          <a:xfrm>
            <a:off x="822960" y="262490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51517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18</a:t>
            </a:r>
            <a:endParaRPr lang="en-US" sz="1600" dirty="0"/>
          </a:p>
        </p:txBody>
      </p:sp>
      <p:sp>
        <p:nvSpPr>
          <p:cNvPr id="13" name="Text 11"/>
          <p:cNvSpPr txBox="1"/>
          <p:nvPr/>
        </p:nvSpPr>
        <p:spPr>
          <a:xfrm>
            <a:off x="1444752" y="249688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أَلَمْ نُرَبِّكَ فِينَا وَلِيدًا وَلَبِثْتَ فِينَا مِنْ عُمُرِكَ سِنِينَ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Pharaoh said to Musa: Did we not raise you among us as a child, and you stayed among us for years of your life?</a:t>
            </a:r>
            <a:endParaRPr lang="en-US" sz="3000" dirty="0"/>
          </a:p>
        </p:txBody>
      </p:sp>
      <p:sp>
        <p:nvSpPr>
          <p:cNvPr id="14" name="Shape 12"/>
          <p:cNvSpPr/>
          <p:nvPr/>
        </p:nvSpPr>
        <p:spPr>
          <a:xfrm>
            <a:off x="1444752" y="3824478"/>
            <a:ext cx="8641080" cy="0"/>
          </a:xfrm>
          <a:prstGeom prst="line">
            <a:avLst/>
          </a:prstGeom>
          <a:noFill/>
          <a:ln w="9525">
            <a:solidFill>
              <a:schemeClr val="accent2"/>
            </a:solidFill>
            <a:prstDash val="dash"/>
          </a:ln>
        </p:spPr>
      </p:sp>
      <p:sp>
        <p:nvSpPr>
          <p:cNvPr id="15" name="Shape 13"/>
          <p:cNvSpPr/>
          <p:nvPr/>
        </p:nvSpPr>
        <p:spPr>
          <a:xfrm>
            <a:off x="713232" y="3945064"/>
            <a:ext cx="548640" cy="548640"/>
          </a:xfrm>
          <a:prstGeom prst="star8">
            <a:avLst/>
          </a:prstGeom>
          <a:solidFill>
            <a:schemeClr val="accent2"/>
          </a:solidFill>
          <a:ln/>
        </p:spPr>
      </p:sp>
      <p:sp>
        <p:nvSpPr>
          <p:cNvPr id="16" name="Shape 14"/>
          <p:cNvSpPr/>
          <p:nvPr/>
        </p:nvSpPr>
        <p:spPr>
          <a:xfrm>
            <a:off x="822960" y="4054792"/>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9450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19</a:t>
            </a:r>
            <a:endParaRPr lang="en-US" sz="1600" dirty="0"/>
          </a:p>
        </p:txBody>
      </p:sp>
      <p:sp>
        <p:nvSpPr>
          <p:cNvPr id="18" name="Text 16"/>
          <p:cNvSpPr txBox="1"/>
          <p:nvPr/>
        </p:nvSpPr>
        <p:spPr>
          <a:xfrm>
            <a:off x="1444752" y="392677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وَفَعَلْتَ فَعْلَتَكَ الَّتِي فَعَلْتَ وَأَنتَ مِنَ الْكَٰفِرِينَ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you did that deed of yours, killing the Egyptian, and you were ungrateful for our favours.</a:t>
            </a:r>
            <a:endParaRPr lang="en-US" sz="3000" dirty="0"/>
          </a:p>
        </p:txBody>
      </p:sp>
      <p:sp>
        <p:nvSpPr>
          <p:cNvPr id="19" name="Shape 17"/>
          <p:cNvSpPr/>
          <p:nvPr/>
        </p:nvSpPr>
        <p:spPr>
          <a:xfrm>
            <a:off x="1444752" y="4993767"/>
            <a:ext cx="8641080" cy="0"/>
          </a:xfrm>
          <a:prstGeom prst="line">
            <a:avLst/>
          </a:prstGeom>
          <a:noFill/>
          <a:ln w="9525">
            <a:solidFill>
              <a:schemeClr val="accent2"/>
            </a:solidFill>
            <a:prstDash val="dash"/>
          </a:ln>
        </p:spPr>
      </p:sp>
      <p:sp>
        <p:nvSpPr>
          <p:cNvPr id="20" name="Shape 18"/>
          <p:cNvSpPr/>
          <p:nvPr/>
        </p:nvSpPr>
        <p:spPr>
          <a:xfrm>
            <a:off x="713232" y="5114353"/>
            <a:ext cx="548640" cy="548640"/>
          </a:xfrm>
          <a:prstGeom prst="star8">
            <a:avLst/>
          </a:prstGeom>
          <a:solidFill>
            <a:schemeClr val="accent2"/>
          </a:solidFill>
          <a:ln/>
        </p:spPr>
      </p:sp>
      <p:sp>
        <p:nvSpPr>
          <p:cNvPr id="21" name="Shape 19"/>
          <p:cNvSpPr/>
          <p:nvPr/>
        </p:nvSpPr>
        <p:spPr>
          <a:xfrm>
            <a:off x="822960" y="5224081"/>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114353"/>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20</a:t>
            </a:r>
            <a:endParaRPr lang="en-US" sz="1600" dirty="0"/>
          </a:p>
        </p:txBody>
      </p:sp>
      <p:sp>
        <p:nvSpPr>
          <p:cNvPr id="23" name="Text 21"/>
          <p:cNvSpPr txBox="1"/>
          <p:nvPr/>
        </p:nvSpPr>
        <p:spPr>
          <a:xfrm>
            <a:off x="1444752" y="5096065"/>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فَعَلْتُهَآ إِذًا وَأَنَا مِنَ الضَّآلِّينَ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Musa said: I did it then while I was mistaken, before revelation came to me.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Ash-Shu'ara'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21 – 24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45882"/>
            <a:ext cx="548640" cy="548640"/>
          </a:xfrm>
          <a:prstGeom prst="star8">
            <a:avLst/>
          </a:prstGeom>
          <a:solidFill>
            <a:schemeClr val="accent2"/>
          </a:solidFill>
          <a:ln/>
        </p:spPr>
      </p:sp>
      <p:sp>
        <p:nvSpPr>
          <p:cNvPr id="6" name="Shape 4"/>
          <p:cNvSpPr/>
          <p:nvPr/>
        </p:nvSpPr>
        <p:spPr>
          <a:xfrm>
            <a:off x="822960" y="1455611"/>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4588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21</a:t>
            </a:r>
            <a:endParaRPr lang="en-US" sz="1600" dirty="0"/>
          </a:p>
        </p:txBody>
      </p:sp>
      <p:sp>
        <p:nvSpPr>
          <p:cNvPr id="8" name="Text 6"/>
          <p:cNvSpPr txBox="1"/>
          <p:nvPr/>
        </p:nvSpPr>
        <p:spPr>
          <a:xfrm>
            <a:off x="1444752" y="132759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فَفَرَرْتُ مِنكُمْ لَمَّا خِفْتُكُمْ فَوَهَبَ لِي رَبِّي حُكْمًا وَجَعَلَنِي مِنَ الْمُرْسَلِينَ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I ran away from you when I feared you, then my Lord gave me knowledge and understanding and made me one of the messengers.</a:t>
            </a:r>
            <a:endParaRPr lang="en-US" sz="3000" dirty="0"/>
          </a:p>
        </p:txBody>
      </p:sp>
      <p:sp>
        <p:nvSpPr>
          <p:cNvPr id="9" name="Shape 7"/>
          <p:cNvSpPr/>
          <p:nvPr/>
        </p:nvSpPr>
        <p:spPr>
          <a:xfrm>
            <a:off x="1444752" y="2655189"/>
            <a:ext cx="8641080" cy="0"/>
          </a:xfrm>
          <a:prstGeom prst="line">
            <a:avLst/>
          </a:prstGeom>
          <a:noFill/>
          <a:ln w="9525">
            <a:solidFill>
              <a:schemeClr val="accent2"/>
            </a:solidFill>
            <a:prstDash val="dash"/>
          </a:ln>
        </p:spPr>
      </p:sp>
      <p:sp>
        <p:nvSpPr>
          <p:cNvPr id="10" name="Shape 8"/>
          <p:cNvSpPr/>
          <p:nvPr/>
        </p:nvSpPr>
        <p:spPr>
          <a:xfrm>
            <a:off x="713232" y="2775776"/>
            <a:ext cx="548640" cy="548640"/>
          </a:xfrm>
          <a:prstGeom prst="star8">
            <a:avLst/>
          </a:prstGeom>
          <a:solidFill>
            <a:schemeClr val="accent2"/>
          </a:solidFill>
          <a:ln/>
        </p:spPr>
      </p:sp>
      <p:sp>
        <p:nvSpPr>
          <p:cNvPr id="11" name="Shape 9"/>
          <p:cNvSpPr/>
          <p:nvPr/>
        </p:nvSpPr>
        <p:spPr>
          <a:xfrm>
            <a:off x="822960" y="288550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77577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22</a:t>
            </a:r>
            <a:endParaRPr lang="en-US" sz="1600" dirty="0"/>
          </a:p>
        </p:txBody>
      </p:sp>
      <p:sp>
        <p:nvSpPr>
          <p:cNvPr id="13" name="Text 11"/>
          <p:cNvSpPr txBox="1"/>
          <p:nvPr/>
        </p:nvSpPr>
        <p:spPr>
          <a:xfrm>
            <a:off x="1444752" y="275748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وَتِلْكَ نِعْمَةٌ تَمُنُّهَا عَلَيَّ أَنْ عَبَّدتَّ بَنِي إِسْرَـٰءِيلَ</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Is that upbringing a favour you remind me of, while you have enslaved the Children of Israel?</a:t>
            </a:r>
            <a:endParaRPr lang="en-US" sz="3000" dirty="0"/>
          </a:p>
        </p:txBody>
      </p:sp>
      <p:sp>
        <p:nvSpPr>
          <p:cNvPr id="14" name="Shape 12"/>
          <p:cNvSpPr/>
          <p:nvPr/>
        </p:nvSpPr>
        <p:spPr>
          <a:xfrm>
            <a:off x="1444752" y="3824478"/>
            <a:ext cx="8641080" cy="0"/>
          </a:xfrm>
          <a:prstGeom prst="line">
            <a:avLst/>
          </a:prstGeom>
          <a:noFill/>
          <a:ln w="9525">
            <a:solidFill>
              <a:schemeClr val="accent2"/>
            </a:solidFill>
            <a:prstDash val="dash"/>
          </a:ln>
        </p:spPr>
      </p:sp>
      <p:sp>
        <p:nvSpPr>
          <p:cNvPr id="15" name="Shape 13"/>
          <p:cNvSpPr/>
          <p:nvPr/>
        </p:nvSpPr>
        <p:spPr>
          <a:xfrm>
            <a:off x="713232" y="3945064"/>
            <a:ext cx="548640" cy="548640"/>
          </a:xfrm>
          <a:prstGeom prst="star8">
            <a:avLst/>
          </a:prstGeom>
          <a:solidFill>
            <a:schemeClr val="accent2"/>
          </a:solidFill>
          <a:ln/>
        </p:spPr>
      </p:sp>
      <p:sp>
        <p:nvSpPr>
          <p:cNvPr id="16" name="Shape 14"/>
          <p:cNvSpPr/>
          <p:nvPr/>
        </p:nvSpPr>
        <p:spPr>
          <a:xfrm>
            <a:off x="822960" y="4054792"/>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9450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23</a:t>
            </a:r>
            <a:endParaRPr lang="en-US" sz="1600" dirty="0"/>
          </a:p>
        </p:txBody>
      </p:sp>
      <p:sp>
        <p:nvSpPr>
          <p:cNvPr id="18" name="Text 16"/>
          <p:cNvSpPr txBox="1"/>
          <p:nvPr/>
        </p:nvSpPr>
        <p:spPr>
          <a:xfrm>
            <a:off x="1444752" y="392677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فِرْعَوْنُ وَمَا رَبُّ الْعَٰلَمِينَ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Pharaoh said, rejecting: And what is the Lord of the worlds?</a:t>
            </a:r>
            <a:endParaRPr lang="en-US" sz="3000" dirty="0"/>
          </a:p>
        </p:txBody>
      </p:sp>
      <p:sp>
        <p:nvSpPr>
          <p:cNvPr id="19" name="Shape 17"/>
          <p:cNvSpPr/>
          <p:nvPr/>
        </p:nvSpPr>
        <p:spPr>
          <a:xfrm>
            <a:off x="1444752" y="4993767"/>
            <a:ext cx="8641080" cy="0"/>
          </a:xfrm>
          <a:prstGeom prst="line">
            <a:avLst/>
          </a:prstGeom>
          <a:noFill/>
          <a:ln w="9525">
            <a:solidFill>
              <a:schemeClr val="accent2"/>
            </a:solidFill>
            <a:prstDash val="dash"/>
          </a:ln>
        </p:spPr>
      </p:sp>
      <p:sp>
        <p:nvSpPr>
          <p:cNvPr id="20" name="Shape 18"/>
          <p:cNvSpPr/>
          <p:nvPr/>
        </p:nvSpPr>
        <p:spPr>
          <a:xfrm>
            <a:off x="713232" y="5114353"/>
            <a:ext cx="548640" cy="548640"/>
          </a:xfrm>
          <a:prstGeom prst="star8">
            <a:avLst/>
          </a:prstGeom>
          <a:solidFill>
            <a:schemeClr val="accent2"/>
          </a:solidFill>
          <a:ln/>
        </p:spPr>
      </p:sp>
      <p:sp>
        <p:nvSpPr>
          <p:cNvPr id="21" name="Shape 19"/>
          <p:cNvSpPr/>
          <p:nvPr/>
        </p:nvSpPr>
        <p:spPr>
          <a:xfrm>
            <a:off x="822960" y="5224081"/>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114353"/>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24</a:t>
            </a:r>
            <a:endParaRPr lang="en-US" sz="1600" dirty="0"/>
          </a:p>
        </p:txBody>
      </p:sp>
      <p:sp>
        <p:nvSpPr>
          <p:cNvPr id="23" name="Text 21"/>
          <p:cNvSpPr txBox="1"/>
          <p:nvPr/>
        </p:nvSpPr>
        <p:spPr>
          <a:xfrm>
            <a:off x="1444752" y="5096065"/>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رَبُّ السَّمَٰوَٰتِ وَالْأَرْضِ وَمَا بَيْنَهُمَآ إِن كُنتُم مُّوقِنِينَ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Musa said: The Lord of the heavens and the earth and what is between them, if you are certain.</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Ash-Shu'ara'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25 – 28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25</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لِمَنْ حَوْلَهُ أَلَا تَسْتَمِعُونَ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Pharaoh said in surprise to those around him: Do you not hear what he says?</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26</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رَبُّكُمْ وَرَبُّ ءَابَآئِكُمُ الْأَوَّلِينَ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Musa said: Your Lord and the Lord of your forefathers.</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27</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إِنَّ رَسُولَكُمُ الَّذِي أُرْسِلَ إِلَيْكُمْ لَمَجْنُونٌ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Pharaoh said: Your messenger who has been sent to you is surely mad.</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28</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رَبُّ الْمَشْرِقِ وَالْمَغْرِبِ وَمَا بَيْنَهُمَآ إِن كُنتُمْ تَعْقِلُونَ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Musa said: The Lord of the east and the west and what is between them, if you use your minds.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Ash-Shu'ara'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29 – 32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29</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لَئِنِ اتَّخَذْتَ إِلَٰهًا غَيْرِي لَأَجْعَلَنَّكَ مِنَ الْمَسْجُونِينَ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Pharaoh threatened: If you take a god other than me, I will surely put you in prison.</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30</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أَوَلَوْ جِئْتُكَ بِشَيْءٍ مُّبِينٍ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Musa said: Even if I bring you something clear that proves I am truthful?</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31</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فَأْتِ بِهِ إِن كُنتَ مِنَ الصَّـٰدِقِينَ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Pharaoh said: Bring it then, if you are truthful.</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32</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فَأَلْقَىٰ عَصَاهُ فَإِذَا هِيَ ثُعْبَانٌ مُّبِينٌ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he threw down his staff, and it became a huge, clear snake.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Ash-Shu'ara'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33 – 36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33</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وَنَزَعَ يَدَهُ فَإِذَا هِيَ بَيْضَآءُ لِلنَّـٰظِرِينَ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he drew out his hand from his garment, and it was white and shining for the onlookers.</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34</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لِلْمَلَإِ حَوْلَهُ إِنَّ هَٰذَا لَسَٰحِرٌ عَلِيمٌ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Pharaoh said to his chiefs: This is a skilled magician.</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35</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يُرِيدُ أَن يُخْرِجَكُم مِّنْ أَرْضِكُم بِسِحْرِهِ فَمَاذَا تَأْمُرُونَ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wants to drive you out of your land with his magic, so what do you advise?</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36</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قَالُواْ أَرْجِهْ وَأَخَاهُ وَابْعَثْ فِي الْمَدَآئِنِ حَٰشِرِينَ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said: Delay him and his brother, and send gatherers of magicians into the cities,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Ash-Shu'ara'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37 – 40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37</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يَأْتُوكَ بِكُلِّ سَحَّارٍ عَلِيمٍ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to bring you every skilled magician.</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38</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فَجُمِعَ السَّحَرَةُ لِمِيقَٰتِ يَوْمٍ مَّعْلُومٍ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the magicians were gathered for the appointed time on a known day, the day of the festival.</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39</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وَقِيلَ لِلنَّاسِ هَلْ أَنتُم مُّجْتَمِعُونَ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people were told: Will you gather to watch,</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40</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لَعَلَّنَا نَتَّبِعُ السَّحَرَةَ إِن كَانُواْ هُمُ الْغَٰلِبِينَ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that we may follow the magicians if they are the winners?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Ash-Shu'ara'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41 – 44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41</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فَلَمَّا جَآءَ السَّحَرَةُ قَالُواْ لِفِرْعَوْنَ أَئِنَّ لَنَا لَأَجْرًا إِن كُنَّا نَحْنُ الْغَٰلِبِينَ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the magicians came, they said to Pharaoh: Will we have a reward if we are the winners?</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42</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نَعَمْ وَإِنَّكُمْ إِذًا لَّمِنَ الْمُقَرَّبِينَ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said: Yes, and then you will be among those close to me.</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43</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لَهُم مُّوسَىٰ أَلْقُواْ مَآ أَنتُم مُّلْقُونَ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Musa said to them: Throw what you are going to throw.</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44</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فَأَلْقَوْاْ حِبَالَهُمْ وَعِصِيَّهُمْ وَقَالُواْ بِعِزَّةِ فِرْعَوْنَ إِنَّا لَنَحْنُ الْغَٰلِبُونَ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they threw their ropes and sticks and said: By the might of Pharaoh, we will surely win.</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Ash-Shu'ara'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45 – 48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45</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فَأَلْقَىٰ مُوسَىٰ عَصَاهُ فَإِذَا هِيَ تَلْقَفُ مَا يَأْفِكُونَ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Then Musa threw his staff, and it swallowed up the fake magic they made.</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46</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فَأُلْقِيَ السَّحَرَةُ سَٰجِدِينَ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the magicians fell down in prostration to Allah.</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47</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قَالُواْ ءَامَنَّا بِرَبِّ الْعَٰلَمِينَ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said: We believe in the Lord of the worlds,</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48</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رَبِّ مُوسَىٰ وَهَٰرُونَ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Lord of Musa and Harun.</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Ash-Shu'ara'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49 – 51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05890"/>
            <a:ext cx="548640" cy="548640"/>
          </a:xfrm>
          <a:prstGeom prst="star8">
            <a:avLst/>
          </a:prstGeom>
          <a:solidFill>
            <a:schemeClr val="accent2"/>
          </a:solidFill>
          <a:ln/>
        </p:spPr>
      </p:sp>
      <p:sp>
        <p:nvSpPr>
          <p:cNvPr id="6" name="Shape 4"/>
          <p:cNvSpPr/>
          <p:nvPr/>
        </p:nvSpPr>
        <p:spPr>
          <a:xfrm>
            <a:off x="822960" y="151561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0589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49</a:t>
            </a:r>
            <a:endParaRPr lang="en-US" sz="1600" dirty="0"/>
          </a:p>
        </p:txBody>
      </p:sp>
      <p:sp>
        <p:nvSpPr>
          <p:cNvPr id="8" name="Text 6"/>
          <p:cNvSpPr txBox="1"/>
          <p:nvPr/>
        </p:nvSpPr>
        <p:spPr>
          <a:xfrm>
            <a:off x="1444752" y="1387602"/>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ءَامَنتُمْ لَهُ قَبْلَ أَنْ ءَاذَنَ لَكُمْ إِنَّهُ لَكَبِيرُكُمُ الَّذِي عَلَّمَكُمُ السِّحْرَ فَلَسَوْفَ تَعْلَمُونَ لَأُقَطِّعَنَّ أَيْدِيَكُمْ وَأَرْجُلَكُم مِّنْ خِلَٰفٍ وَلَأُصَلِّبَنَّكُمْ أَجْمَعِينَ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Pharaoh said: You believed in him before I gave you permission? He must be your chief who taught you magic. You will soon know! I will cut off your hands and feet on opposite sides and crucify you all.</a:t>
            </a:r>
            <a:endParaRPr lang="en-US" sz="3000" dirty="0"/>
          </a:p>
        </p:txBody>
      </p:sp>
      <p:sp>
        <p:nvSpPr>
          <p:cNvPr id="9" name="Shape 7"/>
          <p:cNvSpPr/>
          <p:nvPr/>
        </p:nvSpPr>
        <p:spPr>
          <a:xfrm>
            <a:off x="1444752" y="3584448"/>
            <a:ext cx="8641080" cy="0"/>
          </a:xfrm>
          <a:prstGeom prst="line">
            <a:avLst/>
          </a:prstGeom>
          <a:noFill/>
          <a:ln w="9525">
            <a:solidFill>
              <a:schemeClr val="accent2"/>
            </a:solidFill>
            <a:prstDash val="dash"/>
          </a:ln>
        </p:spPr>
      </p:sp>
      <p:sp>
        <p:nvSpPr>
          <p:cNvPr id="10" name="Shape 8"/>
          <p:cNvSpPr/>
          <p:nvPr/>
        </p:nvSpPr>
        <p:spPr>
          <a:xfrm>
            <a:off x="713232" y="3765042"/>
            <a:ext cx="548640" cy="548640"/>
          </a:xfrm>
          <a:prstGeom prst="star8">
            <a:avLst/>
          </a:prstGeom>
          <a:solidFill>
            <a:schemeClr val="accent2"/>
          </a:solidFill>
          <a:ln/>
        </p:spPr>
      </p:sp>
      <p:sp>
        <p:nvSpPr>
          <p:cNvPr id="11" name="Shape 9"/>
          <p:cNvSpPr/>
          <p:nvPr/>
        </p:nvSpPr>
        <p:spPr>
          <a:xfrm>
            <a:off x="822960" y="387477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7650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50</a:t>
            </a:r>
            <a:endParaRPr lang="en-US" sz="1600" dirty="0"/>
          </a:p>
        </p:txBody>
      </p:sp>
      <p:sp>
        <p:nvSpPr>
          <p:cNvPr id="13" name="Text 11"/>
          <p:cNvSpPr txBox="1"/>
          <p:nvPr/>
        </p:nvSpPr>
        <p:spPr>
          <a:xfrm>
            <a:off x="1444752" y="374675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قَالُواْ لَا ضَيْرَ إِنَّآ إِلَىٰ رَبِّنَا مُنقَلِبُونَ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said: No harm to us; we are returning to our Lord.</a:t>
            </a:r>
            <a:endParaRPr lang="en-US" sz="3000" dirty="0"/>
          </a:p>
        </p:txBody>
      </p:sp>
      <p:sp>
        <p:nvSpPr>
          <p:cNvPr id="14" name="Shape 12"/>
          <p:cNvSpPr/>
          <p:nvPr/>
        </p:nvSpPr>
        <p:spPr>
          <a:xfrm>
            <a:off x="1444752" y="4873752"/>
            <a:ext cx="8641080" cy="0"/>
          </a:xfrm>
          <a:prstGeom prst="line">
            <a:avLst/>
          </a:prstGeom>
          <a:noFill/>
          <a:ln w="9525">
            <a:solidFill>
              <a:schemeClr val="accent2"/>
            </a:solidFill>
            <a:prstDash val="dash"/>
          </a:ln>
        </p:spPr>
      </p:sp>
      <p:sp>
        <p:nvSpPr>
          <p:cNvPr id="15" name="Shape 13"/>
          <p:cNvSpPr/>
          <p:nvPr/>
        </p:nvSpPr>
        <p:spPr>
          <a:xfrm>
            <a:off x="713232" y="5054346"/>
            <a:ext cx="548640" cy="548640"/>
          </a:xfrm>
          <a:prstGeom prst="star8">
            <a:avLst/>
          </a:prstGeom>
          <a:solidFill>
            <a:schemeClr val="accent2"/>
          </a:solidFill>
          <a:ln/>
        </p:spPr>
      </p:sp>
      <p:sp>
        <p:nvSpPr>
          <p:cNvPr id="16" name="Shape 14"/>
          <p:cNvSpPr/>
          <p:nvPr/>
        </p:nvSpPr>
        <p:spPr>
          <a:xfrm>
            <a:off x="822960" y="516407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505434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51</a:t>
            </a:r>
            <a:endParaRPr lang="en-US" sz="1600" dirty="0"/>
          </a:p>
        </p:txBody>
      </p:sp>
      <p:sp>
        <p:nvSpPr>
          <p:cNvPr id="18" name="Text 16"/>
          <p:cNvSpPr txBox="1"/>
          <p:nvPr/>
        </p:nvSpPr>
        <p:spPr>
          <a:xfrm>
            <a:off x="1444752" y="503605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إِنَّا نَطْمَعُ أَن يَغْفِرَ لَنَا رَبُّنَا خَطَٰيَٰنَآ أَن كُنَّآ أَوَّلَ الْمُؤْمِنِينَ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hope our Lord will forgive us our sins, because we were the first of Pharaoh's people to believe.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Ash-Shu'ara'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52 – 55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45882"/>
            <a:ext cx="548640" cy="548640"/>
          </a:xfrm>
          <a:prstGeom prst="star8">
            <a:avLst/>
          </a:prstGeom>
          <a:solidFill>
            <a:schemeClr val="accent2"/>
          </a:solidFill>
          <a:ln/>
        </p:spPr>
      </p:sp>
      <p:sp>
        <p:nvSpPr>
          <p:cNvPr id="6" name="Shape 4"/>
          <p:cNvSpPr/>
          <p:nvPr/>
        </p:nvSpPr>
        <p:spPr>
          <a:xfrm>
            <a:off x="822960" y="1455611"/>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4588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52</a:t>
            </a:r>
            <a:endParaRPr lang="en-US" sz="1600" dirty="0"/>
          </a:p>
        </p:txBody>
      </p:sp>
      <p:sp>
        <p:nvSpPr>
          <p:cNvPr id="8" name="Text 6"/>
          <p:cNvSpPr txBox="1"/>
          <p:nvPr/>
        </p:nvSpPr>
        <p:spPr>
          <a:xfrm>
            <a:off x="1444752" y="132759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وَأَوْحَيْنَآ إِلَىٰ مُوسَىٰ أَنْ أَسْرِ بِعِبَادِي إِنَّكُم مُّتَّبَعُونَ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revealed to Musa: Travel with My servants by night; you will be followed by Pharaoh and his armies.</a:t>
            </a:r>
            <a:endParaRPr lang="en-US" sz="3000" dirty="0"/>
          </a:p>
        </p:txBody>
      </p:sp>
      <p:sp>
        <p:nvSpPr>
          <p:cNvPr id="9" name="Shape 7"/>
          <p:cNvSpPr/>
          <p:nvPr/>
        </p:nvSpPr>
        <p:spPr>
          <a:xfrm>
            <a:off x="1444752" y="2655189"/>
            <a:ext cx="8641080" cy="0"/>
          </a:xfrm>
          <a:prstGeom prst="line">
            <a:avLst/>
          </a:prstGeom>
          <a:noFill/>
          <a:ln w="9525">
            <a:solidFill>
              <a:schemeClr val="accent2"/>
            </a:solidFill>
            <a:prstDash val="dash"/>
          </a:ln>
        </p:spPr>
      </p:sp>
      <p:sp>
        <p:nvSpPr>
          <p:cNvPr id="10" name="Shape 8"/>
          <p:cNvSpPr/>
          <p:nvPr/>
        </p:nvSpPr>
        <p:spPr>
          <a:xfrm>
            <a:off x="713232" y="2775776"/>
            <a:ext cx="548640" cy="548640"/>
          </a:xfrm>
          <a:prstGeom prst="star8">
            <a:avLst/>
          </a:prstGeom>
          <a:solidFill>
            <a:schemeClr val="accent2"/>
          </a:solidFill>
          <a:ln/>
        </p:spPr>
      </p:sp>
      <p:sp>
        <p:nvSpPr>
          <p:cNvPr id="11" name="Shape 9"/>
          <p:cNvSpPr/>
          <p:nvPr/>
        </p:nvSpPr>
        <p:spPr>
          <a:xfrm>
            <a:off x="822960" y="288550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77577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53</a:t>
            </a:r>
            <a:endParaRPr lang="en-US" sz="1600" dirty="0"/>
          </a:p>
        </p:txBody>
      </p:sp>
      <p:sp>
        <p:nvSpPr>
          <p:cNvPr id="13" name="Text 11"/>
          <p:cNvSpPr txBox="1"/>
          <p:nvPr/>
        </p:nvSpPr>
        <p:spPr>
          <a:xfrm>
            <a:off x="1444752" y="275748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فَأَرْسَلَ فِرْعَوْنُ فِي الْمَدَآئِنِ حَٰشِرِينَ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Pharaoh sent gatherers into the cities to collect soldiers,</a:t>
            </a:r>
            <a:endParaRPr lang="en-US" sz="3000" dirty="0"/>
          </a:p>
        </p:txBody>
      </p:sp>
      <p:sp>
        <p:nvSpPr>
          <p:cNvPr id="14" name="Shape 12"/>
          <p:cNvSpPr/>
          <p:nvPr/>
        </p:nvSpPr>
        <p:spPr>
          <a:xfrm>
            <a:off x="1444752" y="3824478"/>
            <a:ext cx="8641080" cy="0"/>
          </a:xfrm>
          <a:prstGeom prst="line">
            <a:avLst/>
          </a:prstGeom>
          <a:noFill/>
          <a:ln w="9525">
            <a:solidFill>
              <a:schemeClr val="accent2"/>
            </a:solidFill>
            <a:prstDash val="dash"/>
          </a:ln>
        </p:spPr>
      </p:sp>
      <p:sp>
        <p:nvSpPr>
          <p:cNvPr id="15" name="Shape 13"/>
          <p:cNvSpPr/>
          <p:nvPr/>
        </p:nvSpPr>
        <p:spPr>
          <a:xfrm>
            <a:off x="713232" y="3945064"/>
            <a:ext cx="548640" cy="548640"/>
          </a:xfrm>
          <a:prstGeom prst="star8">
            <a:avLst/>
          </a:prstGeom>
          <a:solidFill>
            <a:schemeClr val="accent2"/>
          </a:solidFill>
          <a:ln/>
        </p:spPr>
      </p:sp>
      <p:sp>
        <p:nvSpPr>
          <p:cNvPr id="16" name="Shape 14"/>
          <p:cNvSpPr/>
          <p:nvPr/>
        </p:nvSpPr>
        <p:spPr>
          <a:xfrm>
            <a:off x="822960" y="4054792"/>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9450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54</a:t>
            </a:r>
            <a:endParaRPr lang="en-US" sz="1600" dirty="0"/>
          </a:p>
        </p:txBody>
      </p:sp>
      <p:sp>
        <p:nvSpPr>
          <p:cNvPr id="18" name="Text 16"/>
          <p:cNvSpPr txBox="1"/>
          <p:nvPr/>
        </p:nvSpPr>
        <p:spPr>
          <a:xfrm>
            <a:off x="1444752" y="392677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هَـٰؤُلَآءِ لَشِرْذِمَةٌ قَلِيلُونَ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said: These are only a small group,</a:t>
            </a:r>
            <a:endParaRPr lang="en-US" sz="3000" dirty="0"/>
          </a:p>
        </p:txBody>
      </p:sp>
      <p:sp>
        <p:nvSpPr>
          <p:cNvPr id="19" name="Shape 17"/>
          <p:cNvSpPr/>
          <p:nvPr/>
        </p:nvSpPr>
        <p:spPr>
          <a:xfrm>
            <a:off x="1444752" y="4993767"/>
            <a:ext cx="8641080" cy="0"/>
          </a:xfrm>
          <a:prstGeom prst="line">
            <a:avLst/>
          </a:prstGeom>
          <a:noFill/>
          <a:ln w="9525">
            <a:solidFill>
              <a:schemeClr val="accent2"/>
            </a:solidFill>
            <a:prstDash val="dash"/>
          </a:ln>
        </p:spPr>
      </p:sp>
      <p:sp>
        <p:nvSpPr>
          <p:cNvPr id="20" name="Shape 18"/>
          <p:cNvSpPr/>
          <p:nvPr/>
        </p:nvSpPr>
        <p:spPr>
          <a:xfrm>
            <a:off x="713232" y="5114353"/>
            <a:ext cx="548640" cy="548640"/>
          </a:xfrm>
          <a:prstGeom prst="star8">
            <a:avLst/>
          </a:prstGeom>
          <a:solidFill>
            <a:schemeClr val="accent2"/>
          </a:solidFill>
          <a:ln/>
        </p:spPr>
      </p:sp>
      <p:sp>
        <p:nvSpPr>
          <p:cNvPr id="21" name="Shape 19"/>
          <p:cNvSpPr/>
          <p:nvPr/>
        </p:nvSpPr>
        <p:spPr>
          <a:xfrm>
            <a:off x="822960" y="5224081"/>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114353"/>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55</a:t>
            </a:r>
            <a:endParaRPr lang="en-US" sz="1600" dirty="0"/>
          </a:p>
        </p:txBody>
      </p:sp>
      <p:sp>
        <p:nvSpPr>
          <p:cNvPr id="23" name="Text 21"/>
          <p:cNvSpPr txBox="1"/>
          <p:nvPr/>
        </p:nvSpPr>
        <p:spPr>
          <a:xfrm>
            <a:off x="1444752" y="5096065"/>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وَإِنَّهُمْ لَنَا لَغَآئِظُونَ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they have made us angry by leaving,</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Ash-Shu'ara'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56 – 59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56</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وَإِنَّا لَجَمِيعٌ حَٰذِرُونَ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we are all ready and on guard.</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57</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فَأَخْرَجْنَٰهُم مِّن جَنَّـٰتٍ وَعُيُونٍ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We drove Pharaoh and his people out of gardens and flowing springs,</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58</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وَكُنُوزٍ وَمَقَامٍ كَرِيمٍ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treasures and fine homes.</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59</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كَذَٰلِكَ وَأَوْرَثْنَٰهَا بَنِي إِسْرَـٰءِيلَ</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it was, and We gave those blessings to the Children of Israel.</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Ash-Shu'ara'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60 – 62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835658"/>
            <a:ext cx="548640" cy="548640"/>
          </a:xfrm>
          <a:prstGeom prst="star8">
            <a:avLst/>
          </a:prstGeom>
          <a:solidFill>
            <a:schemeClr val="accent2"/>
          </a:solidFill>
          <a:ln/>
        </p:spPr>
      </p:sp>
      <p:sp>
        <p:nvSpPr>
          <p:cNvPr id="6" name="Shape 4"/>
          <p:cNvSpPr/>
          <p:nvPr/>
        </p:nvSpPr>
        <p:spPr>
          <a:xfrm>
            <a:off x="822960" y="19453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8356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60</a:t>
            </a:r>
            <a:endParaRPr lang="en-US" sz="1600" dirty="0"/>
          </a:p>
        </p:txBody>
      </p:sp>
      <p:sp>
        <p:nvSpPr>
          <p:cNvPr id="8" name="Text 6"/>
          <p:cNvSpPr txBox="1"/>
          <p:nvPr/>
        </p:nvSpPr>
        <p:spPr>
          <a:xfrm>
            <a:off x="1444752" y="18173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فَأَتْبَعُوهُم مُّشْرِقِينَ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Pharaoh and his armies caught up with the Children of Israel at sunrise.</a:t>
            </a:r>
            <a:endParaRPr lang="en-US" sz="3000" dirty="0"/>
          </a:p>
        </p:txBody>
      </p:sp>
      <p:sp>
        <p:nvSpPr>
          <p:cNvPr id="9" name="Shape 7"/>
          <p:cNvSpPr/>
          <p:nvPr/>
        </p:nvSpPr>
        <p:spPr>
          <a:xfrm>
            <a:off x="1444752" y="2996946"/>
            <a:ext cx="8641080" cy="0"/>
          </a:xfrm>
          <a:prstGeom prst="line">
            <a:avLst/>
          </a:prstGeom>
          <a:noFill/>
          <a:ln w="9525">
            <a:solidFill>
              <a:schemeClr val="accent2"/>
            </a:solidFill>
            <a:prstDash val="dash"/>
          </a:ln>
        </p:spPr>
      </p:sp>
      <p:sp>
        <p:nvSpPr>
          <p:cNvPr id="10" name="Shape 8"/>
          <p:cNvSpPr/>
          <p:nvPr/>
        </p:nvSpPr>
        <p:spPr>
          <a:xfrm>
            <a:off x="713232" y="3230118"/>
            <a:ext cx="548640" cy="548640"/>
          </a:xfrm>
          <a:prstGeom prst="star8">
            <a:avLst/>
          </a:prstGeom>
          <a:solidFill>
            <a:schemeClr val="accent2"/>
          </a:solidFill>
          <a:ln/>
        </p:spPr>
      </p:sp>
      <p:sp>
        <p:nvSpPr>
          <p:cNvPr id="11" name="Shape 9"/>
          <p:cNvSpPr/>
          <p:nvPr/>
        </p:nvSpPr>
        <p:spPr>
          <a:xfrm>
            <a:off x="822960" y="333984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23011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61</a:t>
            </a:r>
            <a:endParaRPr lang="en-US" sz="1600" dirty="0"/>
          </a:p>
        </p:txBody>
      </p:sp>
      <p:sp>
        <p:nvSpPr>
          <p:cNvPr id="13" name="Text 11"/>
          <p:cNvSpPr txBox="1"/>
          <p:nvPr/>
        </p:nvSpPr>
        <p:spPr>
          <a:xfrm>
            <a:off x="1444752" y="321183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فَلَمَّا تَرَـٰءَا الْجَمْعَانِ قَالَ أَصْحَٰبُ مُوسَىٰ إِنَّا لَمُدْرَكُونَ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the two groups saw each other, Musa's companions said: We are surely caught!</a:t>
            </a:r>
            <a:endParaRPr lang="en-US" sz="3000" dirty="0"/>
          </a:p>
        </p:txBody>
      </p:sp>
      <p:sp>
        <p:nvSpPr>
          <p:cNvPr id="14" name="Shape 12"/>
          <p:cNvSpPr/>
          <p:nvPr/>
        </p:nvSpPr>
        <p:spPr>
          <a:xfrm>
            <a:off x="1444752" y="4391406"/>
            <a:ext cx="8641080" cy="0"/>
          </a:xfrm>
          <a:prstGeom prst="line">
            <a:avLst/>
          </a:prstGeom>
          <a:noFill/>
          <a:ln w="9525">
            <a:solidFill>
              <a:schemeClr val="accent2"/>
            </a:solidFill>
            <a:prstDash val="dash"/>
          </a:ln>
        </p:spPr>
      </p:sp>
      <p:sp>
        <p:nvSpPr>
          <p:cNvPr id="15" name="Shape 13"/>
          <p:cNvSpPr/>
          <p:nvPr/>
        </p:nvSpPr>
        <p:spPr>
          <a:xfrm>
            <a:off x="713232" y="4624578"/>
            <a:ext cx="548640" cy="548640"/>
          </a:xfrm>
          <a:prstGeom prst="star8">
            <a:avLst/>
          </a:prstGeom>
          <a:solidFill>
            <a:schemeClr val="accent2"/>
          </a:solidFill>
          <a:ln/>
        </p:spPr>
      </p:sp>
      <p:sp>
        <p:nvSpPr>
          <p:cNvPr id="16" name="Shape 14"/>
          <p:cNvSpPr/>
          <p:nvPr/>
        </p:nvSpPr>
        <p:spPr>
          <a:xfrm>
            <a:off x="822960" y="473430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6245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62</a:t>
            </a:r>
            <a:endParaRPr lang="en-US" sz="1600" dirty="0"/>
          </a:p>
        </p:txBody>
      </p:sp>
      <p:sp>
        <p:nvSpPr>
          <p:cNvPr id="18" name="Text 16"/>
          <p:cNvSpPr txBox="1"/>
          <p:nvPr/>
        </p:nvSpPr>
        <p:spPr>
          <a:xfrm>
            <a:off x="1444752" y="46062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كَلَّآ إِنَّ مَعِيَ رَبِّي سَيَهْدِينِ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Musa said with confidence: No! My Lord is with me; He will guide me to the way of safety.</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Ash-Shu'ara'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63 – 65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49324"/>
            <a:ext cx="548640" cy="548640"/>
          </a:xfrm>
          <a:prstGeom prst="star8">
            <a:avLst/>
          </a:prstGeom>
          <a:solidFill>
            <a:schemeClr val="accent2"/>
          </a:solidFill>
          <a:ln/>
        </p:spPr>
      </p:sp>
      <p:sp>
        <p:nvSpPr>
          <p:cNvPr id="6" name="Shape 4"/>
          <p:cNvSpPr/>
          <p:nvPr/>
        </p:nvSpPr>
        <p:spPr>
          <a:xfrm>
            <a:off x="822960" y="155905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4932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63</a:t>
            </a:r>
            <a:endParaRPr lang="en-US" sz="1600" dirty="0"/>
          </a:p>
        </p:txBody>
      </p:sp>
      <p:sp>
        <p:nvSpPr>
          <p:cNvPr id="8" name="Text 6"/>
          <p:cNvSpPr txBox="1"/>
          <p:nvPr/>
        </p:nvSpPr>
        <p:spPr>
          <a:xfrm>
            <a:off x="1444752" y="143103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فَأَوْحَيْنَآ إِلَىٰ مُوسَىٰ أَنِ اضْرِب بِّعَصَاكَ الْبَحْرَ فَانفَلَقَ فَكَانَ كُلُّ فِرْقٍ كَالطَّوْدِ الْعَظِيمِ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We revealed to Musa: Strike the sea with your staff. It split into twelve paths, each part like a huge mountain.</a:t>
            </a:r>
            <a:endParaRPr lang="en-US" sz="3000" dirty="0"/>
          </a:p>
        </p:txBody>
      </p:sp>
      <p:sp>
        <p:nvSpPr>
          <p:cNvPr id="9" name="Shape 7"/>
          <p:cNvSpPr/>
          <p:nvPr/>
        </p:nvSpPr>
        <p:spPr>
          <a:xfrm>
            <a:off x="1444752" y="3410712"/>
            <a:ext cx="8641080" cy="0"/>
          </a:xfrm>
          <a:prstGeom prst="line">
            <a:avLst/>
          </a:prstGeom>
          <a:noFill/>
          <a:ln w="9525">
            <a:solidFill>
              <a:schemeClr val="accent2"/>
            </a:solidFill>
            <a:prstDash val="dash"/>
          </a:ln>
        </p:spPr>
      </p:sp>
      <p:sp>
        <p:nvSpPr>
          <p:cNvPr id="10" name="Shape 8"/>
          <p:cNvSpPr/>
          <p:nvPr/>
        </p:nvSpPr>
        <p:spPr>
          <a:xfrm>
            <a:off x="713232" y="3634740"/>
            <a:ext cx="548640" cy="548640"/>
          </a:xfrm>
          <a:prstGeom prst="star8">
            <a:avLst/>
          </a:prstGeom>
          <a:solidFill>
            <a:schemeClr val="accent2"/>
          </a:solidFill>
          <a:ln/>
        </p:spPr>
      </p:sp>
      <p:sp>
        <p:nvSpPr>
          <p:cNvPr id="11" name="Shape 9"/>
          <p:cNvSpPr/>
          <p:nvPr/>
        </p:nvSpPr>
        <p:spPr>
          <a:xfrm>
            <a:off x="822960" y="374446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63474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64</a:t>
            </a:r>
            <a:endParaRPr lang="en-US" sz="1600" dirty="0"/>
          </a:p>
        </p:txBody>
      </p:sp>
      <p:sp>
        <p:nvSpPr>
          <p:cNvPr id="13" name="Text 11"/>
          <p:cNvSpPr txBox="1"/>
          <p:nvPr/>
        </p:nvSpPr>
        <p:spPr>
          <a:xfrm>
            <a:off x="1444752" y="361645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وَأَزْلَفْنَا ثَمَّ الْأخَرِينَ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there We brought Pharaoh and his armies close to the sea.</a:t>
            </a:r>
            <a:endParaRPr lang="en-US" sz="3000" dirty="0"/>
          </a:p>
        </p:txBody>
      </p:sp>
      <p:sp>
        <p:nvSpPr>
          <p:cNvPr id="14" name="Shape 12"/>
          <p:cNvSpPr/>
          <p:nvPr/>
        </p:nvSpPr>
        <p:spPr>
          <a:xfrm>
            <a:off x="1444752" y="4786884"/>
            <a:ext cx="8641080" cy="0"/>
          </a:xfrm>
          <a:prstGeom prst="line">
            <a:avLst/>
          </a:prstGeom>
          <a:noFill/>
          <a:ln w="9525">
            <a:solidFill>
              <a:schemeClr val="accent2"/>
            </a:solidFill>
            <a:prstDash val="dash"/>
          </a:ln>
        </p:spPr>
      </p:sp>
      <p:sp>
        <p:nvSpPr>
          <p:cNvPr id="15" name="Shape 13"/>
          <p:cNvSpPr/>
          <p:nvPr/>
        </p:nvSpPr>
        <p:spPr>
          <a:xfrm>
            <a:off x="713232" y="5010912"/>
            <a:ext cx="548640" cy="548640"/>
          </a:xfrm>
          <a:prstGeom prst="star8">
            <a:avLst/>
          </a:prstGeom>
          <a:solidFill>
            <a:schemeClr val="accent2"/>
          </a:solidFill>
          <a:ln/>
        </p:spPr>
      </p:sp>
      <p:sp>
        <p:nvSpPr>
          <p:cNvPr id="16" name="Shape 14"/>
          <p:cNvSpPr/>
          <p:nvPr/>
        </p:nvSpPr>
        <p:spPr>
          <a:xfrm>
            <a:off x="822960" y="5120640"/>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501091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65</a:t>
            </a:r>
            <a:endParaRPr lang="en-US" sz="1600" dirty="0"/>
          </a:p>
        </p:txBody>
      </p:sp>
      <p:sp>
        <p:nvSpPr>
          <p:cNvPr id="18" name="Text 16"/>
          <p:cNvSpPr txBox="1"/>
          <p:nvPr/>
        </p:nvSpPr>
        <p:spPr>
          <a:xfrm>
            <a:off x="1444752" y="499262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وَأَنجَيْنَا مُوسَىٰ وَمَن مَّعَهُ أَجْمَعِينَ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saved Musa and all those with him.</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Ash-Shu'ara'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66 – 69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66</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ثُمَّ أَغْرَقْنَا الْأخَرِينَ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Then We drowned Pharaoh and his armies.</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67</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فِي ذَٰلِكَ لَأيَةً وَمَا كَانَ أَكْثَرُهُم مُّؤْمِنِينَ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In that is a lesson, yet most of them do not believe.</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68</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وَإِنَّ رَبَّكَ لَهُوَ الْعَزِيزُ الرَّحِيمُ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Your Lord is the Almighty, the Most Merciful.</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69</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وَاتْلُ عَلَيْهِمْ نَبَأَ إِبْرَٰهِيمَ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Recite to them the story of Ibrahim,</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Ash-Shu'ara'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70 – 73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70</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إِذْ قَالَ لِأَبِيهِ وَقَوْمِهِ مَا تَعْبُدُونَ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he said to his father and his people: What do you worship?</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71</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قَالُواْ نَعْبُدُ أَصْنَامًا فَنَظَلُّ لَهَا عَٰكِفِينَ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said: We worship idols and keep devoted to them.</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72</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هَلْ يَسْمَعُونَكُمْ إِذْ تَدْعُونَ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said: Do they hear you when you call on them?</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73</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أَوْ يَنفَعُونَكُمْ أَوْ يَضُرُّونَ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Or do they benefit you if you worship them, or harm you if you leave them?</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Ash-Shu'ara'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74 – 77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74</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قَالُواْ بَلْ وَجَدْنَآ ءَابَآءَنَا كَذَٰلِكَ يَفْعَلُونَ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said: No, but we found our fathers doing so, so we copied them.</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75</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أَفَرَءَيْتُم مَّا كُنتُمْ تَعْبُدُونَ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said: Have you thought about what you have been worshipping,</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76</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أَنتُمْ وَءَابَآؤُكُمُ الْأَقْدَمُونَ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you and your ancient forefathers?</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77</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فَإِنَّهُمْ عَدُوٌّ لِّي إِلَّا رَبَّ الْعَٰلَمِينَ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are enemies to me, except the Lord of the worlds, whom I worship,</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Ash-Shu'ara'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78 – 81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78</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الَّذِي خَلَقَنِي فَهُوَ يَهْدِينِ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who created me, and He guides me to what is good for my religion and my life,</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79</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وَالَّذِي هُوَ يُطْعِمُنِي وَيَسْقِينِ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who gives me food and drink,</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80</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وَإِذَا مَرِضْتُ فَهُوَ يَشْفِينِ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when I am ill, He heals me,</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81</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وَالَّذِي يُمِيتُنِي ثُمَّ يُحْيِينِ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who will cause me to die and then bring me to life,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Ash-Shu'ara'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82 – 85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82</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وَالَّذِي أَطْمَعُ أَن يَغْفِرَ لِي خَطِيـَٔتِي يَوْمَ الدِّينِ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who I hope will forgive my mistakes on the Day of Resurrection.</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83</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رَبِّ هَبْ لِي حُكْمًا وَأَلْحِقْنِي بِالصَّـٰلِحِينَ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My Lord, give me knowledge and understanding, and join me with the righteous.</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84</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وَاجْعَل لِّي لِسَانَ صِدْقٍ فِي الْأخِرِينَ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Give me a good name among the later generations.</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85</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وَاجْعَلْنِي مِن وَرَثَةِ جَنَّةِ النَّعِيمِ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Make me one of the inheritors of the Garden of Bliss.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Ash-Shu'ara'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86 – 89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45882"/>
            <a:ext cx="548640" cy="548640"/>
          </a:xfrm>
          <a:prstGeom prst="star8">
            <a:avLst/>
          </a:prstGeom>
          <a:solidFill>
            <a:schemeClr val="accent2"/>
          </a:solidFill>
          <a:ln/>
        </p:spPr>
      </p:sp>
      <p:sp>
        <p:nvSpPr>
          <p:cNvPr id="6" name="Shape 4"/>
          <p:cNvSpPr/>
          <p:nvPr/>
        </p:nvSpPr>
        <p:spPr>
          <a:xfrm>
            <a:off x="822960" y="1455611"/>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4588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86</a:t>
            </a:r>
            <a:endParaRPr lang="en-US" sz="1600" dirty="0"/>
          </a:p>
        </p:txBody>
      </p:sp>
      <p:sp>
        <p:nvSpPr>
          <p:cNvPr id="8" name="Text 6"/>
          <p:cNvSpPr txBox="1"/>
          <p:nvPr/>
        </p:nvSpPr>
        <p:spPr>
          <a:xfrm>
            <a:off x="1444752" y="132759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وَاغْفِرْ لِأَبِي إِنَّهُ كَانَ مِنَ الضَّآلِّينَ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Forgive my father; he was one of those astray. This was before it became clear to him that his father was an enemy of Allah.</a:t>
            </a:r>
            <a:endParaRPr lang="en-US" sz="3000" dirty="0"/>
          </a:p>
        </p:txBody>
      </p:sp>
      <p:sp>
        <p:nvSpPr>
          <p:cNvPr id="9" name="Shape 7"/>
          <p:cNvSpPr/>
          <p:nvPr/>
        </p:nvSpPr>
        <p:spPr>
          <a:xfrm>
            <a:off x="1444752" y="2655189"/>
            <a:ext cx="8641080" cy="0"/>
          </a:xfrm>
          <a:prstGeom prst="line">
            <a:avLst/>
          </a:prstGeom>
          <a:noFill/>
          <a:ln w="9525">
            <a:solidFill>
              <a:schemeClr val="accent2"/>
            </a:solidFill>
            <a:prstDash val="dash"/>
          </a:ln>
        </p:spPr>
      </p:sp>
      <p:sp>
        <p:nvSpPr>
          <p:cNvPr id="10" name="Shape 8"/>
          <p:cNvSpPr/>
          <p:nvPr/>
        </p:nvSpPr>
        <p:spPr>
          <a:xfrm>
            <a:off x="713232" y="2775776"/>
            <a:ext cx="548640" cy="548640"/>
          </a:xfrm>
          <a:prstGeom prst="star8">
            <a:avLst/>
          </a:prstGeom>
          <a:solidFill>
            <a:schemeClr val="accent2"/>
          </a:solidFill>
          <a:ln/>
        </p:spPr>
      </p:sp>
      <p:sp>
        <p:nvSpPr>
          <p:cNvPr id="11" name="Shape 9"/>
          <p:cNvSpPr/>
          <p:nvPr/>
        </p:nvSpPr>
        <p:spPr>
          <a:xfrm>
            <a:off x="822960" y="288550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77577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87</a:t>
            </a:r>
            <a:endParaRPr lang="en-US" sz="1600" dirty="0"/>
          </a:p>
        </p:txBody>
      </p:sp>
      <p:sp>
        <p:nvSpPr>
          <p:cNvPr id="13" name="Text 11"/>
          <p:cNvSpPr txBox="1"/>
          <p:nvPr/>
        </p:nvSpPr>
        <p:spPr>
          <a:xfrm>
            <a:off x="1444752" y="275748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وَلَا تُخْزِنِي يَوْمَ يُبْعَثُونَ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do not disgrace me on the Day people are raised,</a:t>
            </a:r>
            <a:endParaRPr lang="en-US" sz="3000" dirty="0"/>
          </a:p>
        </p:txBody>
      </p:sp>
      <p:sp>
        <p:nvSpPr>
          <p:cNvPr id="14" name="Shape 12"/>
          <p:cNvSpPr/>
          <p:nvPr/>
        </p:nvSpPr>
        <p:spPr>
          <a:xfrm>
            <a:off x="1444752" y="3824478"/>
            <a:ext cx="8641080" cy="0"/>
          </a:xfrm>
          <a:prstGeom prst="line">
            <a:avLst/>
          </a:prstGeom>
          <a:noFill/>
          <a:ln w="9525">
            <a:solidFill>
              <a:schemeClr val="accent2"/>
            </a:solidFill>
            <a:prstDash val="dash"/>
          </a:ln>
        </p:spPr>
      </p:sp>
      <p:sp>
        <p:nvSpPr>
          <p:cNvPr id="15" name="Shape 13"/>
          <p:cNvSpPr/>
          <p:nvPr/>
        </p:nvSpPr>
        <p:spPr>
          <a:xfrm>
            <a:off x="713232" y="3945064"/>
            <a:ext cx="548640" cy="548640"/>
          </a:xfrm>
          <a:prstGeom prst="star8">
            <a:avLst/>
          </a:prstGeom>
          <a:solidFill>
            <a:schemeClr val="accent2"/>
          </a:solidFill>
          <a:ln/>
        </p:spPr>
      </p:sp>
      <p:sp>
        <p:nvSpPr>
          <p:cNvPr id="16" name="Shape 14"/>
          <p:cNvSpPr/>
          <p:nvPr/>
        </p:nvSpPr>
        <p:spPr>
          <a:xfrm>
            <a:off x="822960" y="4054792"/>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9450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88</a:t>
            </a:r>
            <a:endParaRPr lang="en-US" sz="1600" dirty="0"/>
          </a:p>
        </p:txBody>
      </p:sp>
      <p:sp>
        <p:nvSpPr>
          <p:cNvPr id="18" name="Text 16"/>
          <p:cNvSpPr txBox="1"/>
          <p:nvPr/>
        </p:nvSpPr>
        <p:spPr>
          <a:xfrm>
            <a:off x="1444752" y="392677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يَوْمَ لَا يَنفَعُ مَالٌ وَلَا بَنُونَ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Day when neither wealth nor sons will help,</a:t>
            </a:r>
            <a:endParaRPr lang="en-US" sz="3000" dirty="0"/>
          </a:p>
        </p:txBody>
      </p:sp>
      <p:sp>
        <p:nvSpPr>
          <p:cNvPr id="19" name="Shape 17"/>
          <p:cNvSpPr/>
          <p:nvPr/>
        </p:nvSpPr>
        <p:spPr>
          <a:xfrm>
            <a:off x="1444752" y="4993767"/>
            <a:ext cx="8641080" cy="0"/>
          </a:xfrm>
          <a:prstGeom prst="line">
            <a:avLst/>
          </a:prstGeom>
          <a:noFill/>
          <a:ln w="9525">
            <a:solidFill>
              <a:schemeClr val="accent2"/>
            </a:solidFill>
            <a:prstDash val="dash"/>
          </a:ln>
        </p:spPr>
      </p:sp>
      <p:sp>
        <p:nvSpPr>
          <p:cNvPr id="20" name="Shape 18"/>
          <p:cNvSpPr/>
          <p:nvPr/>
        </p:nvSpPr>
        <p:spPr>
          <a:xfrm>
            <a:off x="713232" y="5114353"/>
            <a:ext cx="548640" cy="548640"/>
          </a:xfrm>
          <a:prstGeom prst="star8">
            <a:avLst/>
          </a:prstGeom>
          <a:solidFill>
            <a:schemeClr val="accent2"/>
          </a:solidFill>
          <a:ln/>
        </p:spPr>
      </p:sp>
      <p:sp>
        <p:nvSpPr>
          <p:cNvPr id="21" name="Shape 19"/>
          <p:cNvSpPr/>
          <p:nvPr/>
        </p:nvSpPr>
        <p:spPr>
          <a:xfrm>
            <a:off x="822960" y="5224081"/>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114353"/>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89</a:t>
            </a:r>
            <a:endParaRPr lang="en-US" sz="1600" dirty="0"/>
          </a:p>
        </p:txBody>
      </p:sp>
      <p:sp>
        <p:nvSpPr>
          <p:cNvPr id="23" name="Text 21"/>
          <p:cNvSpPr txBox="1"/>
          <p:nvPr/>
        </p:nvSpPr>
        <p:spPr>
          <a:xfrm>
            <a:off x="1444752" y="5096065"/>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إِلَّا مَنْ أَتَى اللَّهَ بِقَلْبٍ سَلِيمٍ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except whoever comes to Allah with a heart free of shirk and doubt.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Ash-Shu'ara'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90 – 93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90</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وَأُزْلِفَتِ الْجَنَّةُ لِلْمُتَّقِينَ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Paradise will be brought near for those with taqwa,</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91</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وَبُرِّزَتِ الْجَحِيمُ لِلْغَاوِينَ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Hellfire will be shown to those astray.</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92</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وَقِيلَ لَهُمْ أَيْنَ مَا كُنتُمْ تَعْبُدُونَ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will be asked: Where are those you used to worship</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93</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مِن دُونِ اللَّهِ هَلْ يَنصُرُونَكُمْ أَوْ يَنتَصِرُونَ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besides Allah? Can they help you or help themselves?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Ash-Shu'ara'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94 – 97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94</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فَكُبْكِبُواْ فِيهَا هُمْ وَالْغَاوُنَ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Then they will be thrown into it on their faces, they and those astray,</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95</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وَجُنُودُ إِبْلِيسَ أَجْمَعُونَ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all the armies of Iblis.</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96</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قَالُواْ وَهُمْ فِيهَا يَخْتَصِمُونَ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will say while arguing with their gods in the Fire:</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97</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تَاللَّهِ إِن كُنَّا لَفِي ضَلَٰلٍ مُّبِينٍ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By Allah, we were clearly astray</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Ash-Shu'ara'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98 – 101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98</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إِذْ نُسَوِّيكُم بِرَبِّ الْعَٰلَمِينَ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we made you equal to the Lord of the worlds in worship.</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99</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أَضَلَّنَآ إِلَّا الْمُجْرِمُونَ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No one misled us but the criminals.</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100</a:t>
            </a:r>
            <a:endParaRPr lang="en-US" sz="13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فَمَا لَنَا مِن شَٰفِعِينَ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Now we have no intercessors,</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101</a:t>
            </a:r>
            <a:endParaRPr lang="en-US" sz="13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وَلَا صَدِيقٍ حَمِيمٍ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no close friend who cares about us.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Ash-Shu'ara'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102 – 105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102</a:t>
            </a:r>
            <a:endParaRPr lang="en-US" sz="13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فَلَوْ أَنَّ لَنَا كَرَّةً فَنَكُونَ مِنَ الْمُؤْمِنِينَ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only we had another chance in the world, we would be believers!</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103</a:t>
            </a:r>
            <a:endParaRPr lang="en-US" sz="13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فِي ذَٰلِكَ لَأيَةً وَمَا كَانَ أَكْثَرُهُم مُّؤْمِنِينَ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In that is a lesson, yet most of them do not believe.</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104</a:t>
            </a:r>
            <a:endParaRPr lang="en-US" sz="13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وَإِنَّ رَبَّكَ لَهُوَ الْعَزِيزُ الرَّحِيمُ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Your Lord is the Almighty, the Most Merciful.</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105</a:t>
            </a:r>
            <a:endParaRPr lang="en-US" sz="13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كَذَّبَتْ قَوْمُ نُوحٍ الْمُرْسَلِينَ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people of Nuh denied the messengers; whoever denies one messenger has denied them all.</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Ash-Shu'ara'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106 – 109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106</a:t>
            </a:r>
            <a:endParaRPr lang="en-US" sz="13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إِذْ قَالَ لَهُمْ أَخُوهُمْ نُوحٌ أَلَا تَتَّقُونَ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their brother Nuh said to them: Will you not have taqwa of Allah?</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107</a:t>
            </a:r>
            <a:endParaRPr lang="en-US" sz="13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إِنِّي لَكُمْ رَسُولٌ أَمِينٌ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 am a trustworthy messenger to you,</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108</a:t>
            </a:r>
            <a:endParaRPr lang="en-US" sz="13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فَاتَّقُواْ اللَّهَ وَأَطِيعُونِ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have taqwa of Allah and obey me.</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109</a:t>
            </a:r>
            <a:endParaRPr lang="en-US" sz="13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أَسْـَٔلُكُمْ عَلَيْهِ مِنْ أَجْرٍ إِنْ أَجْرِيَ إِلَّا عَلَىٰ رَبِّ الْعَٰلَمِينَ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 do not ask you for any payment for it; my reward is only from the Lord of the worlds.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Ash-Shu'ara'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110 – 113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110</a:t>
            </a:r>
            <a:endParaRPr lang="en-US" sz="13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فَاتَّقُواْ اللَّهَ وَأَطِيعُونِ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have taqwa of Allah and obey me.</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111</a:t>
            </a:r>
            <a:endParaRPr lang="en-US" sz="13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قَالُواْ أَنُؤْمِنُ لَكَ وَاتَّبَعَكَ الْأَرْذَلُونَ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said: Should we believe you when the weak and poor follow you?</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112</a:t>
            </a:r>
            <a:endParaRPr lang="en-US" sz="13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وَمَا عِلْمِي بِمَا كَانُواْ يَعْمَلُونَ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Nuh said: What do I know about what they used to do? I only accept their outward faith.</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113</a:t>
            </a:r>
            <a:endParaRPr lang="en-US" sz="13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حِسَابُهُمْ إِلَّا عَلَىٰ رَبِّي لَوْ تَشْعُرُونَ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Their reckoning is only with my Lord, if only you knew.</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Ash-Shu'ara'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114 – 117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114</a:t>
            </a:r>
            <a:endParaRPr lang="en-US" sz="13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أَنَا بِطَارِدِ الْمُؤْمِنِينَ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 will not drive away the believers to please you.</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115</a:t>
            </a:r>
            <a:endParaRPr lang="en-US" sz="13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أَنَا إِلَّا نَذِيرٌ مُّبِينٌ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 am only a clear warner.</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116</a:t>
            </a:r>
            <a:endParaRPr lang="en-US" sz="13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قَالُواْ لَئِن لَّمْ تَنتَهِ يَٰنُوحُ لَتَكُونَنَّ مِنَ الْمَرْجُومِينَ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said: If you do not stop your call, O Nuh, you will surely be stoned to death.</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117</a:t>
            </a:r>
            <a:endParaRPr lang="en-US" sz="13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رَبِّ إِنَّ قَوْمِي كَذَّبُونِ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said: My Lord, my people have denied me,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Ash-Shu'ara'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118 – 121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118</a:t>
            </a:r>
            <a:endParaRPr lang="en-US" sz="13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فَافْتَحْ بَيْنِي وَبَيْنَهُمْ فَتْحًا وَنَجِّنِي وَمَن مَّعِيَ مِنَ الْمُؤْمِنِينَ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judge between me and them, and save me and the believers with me.</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119</a:t>
            </a:r>
            <a:endParaRPr lang="en-US" sz="13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فَأَنجَيْنَٰهُ وَمَن مَّعَهُ فِي الْفُلْكِ الْمَشْحُونِ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We saved him and those with him in the loaded ark,</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120</a:t>
            </a:r>
            <a:endParaRPr lang="en-US" sz="13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ثُمَّ أَغْرَقْنَا بَعْدُ الْبَاقِينَ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then after that We drowned the rest who denied.</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121</a:t>
            </a:r>
            <a:endParaRPr lang="en-US" sz="13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فِي ذَٰلِكَ لَأيَةً وَمَا كَانَ أَكْثَرُهُم مُّؤْمِنِينَ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In that is a lesson, yet most of them do not believe.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Ash-Shu'ara'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122 – 125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122</a:t>
            </a:r>
            <a:endParaRPr lang="en-US" sz="13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وَإِنَّ رَبَّكَ لَهُوَ الْعَزِيزُ الرَّحِيمُ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Your Lord is the Almighty, the Most Merciful.</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123</a:t>
            </a:r>
            <a:endParaRPr lang="en-US" sz="13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كَذَّبَتْ عَادٌ الْمُرْسَلِينَ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tribe of 'Ad denied the messengers,</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124</a:t>
            </a:r>
            <a:endParaRPr lang="en-US" sz="13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إِذْ قَالَ لَهُمْ أَخُوهُمْ هُودٌ أَلَا تَتَّقُونَ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their brother Hud said to them: Will you not have taqwa of Allah?</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125</a:t>
            </a:r>
            <a:endParaRPr lang="en-US" sz="13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إِنِّي لَكُمْ رَسُولٌ أَمِينٌ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 am a trustworthy messenger to you,</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Ash-Shu'ara'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126 – 129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126</a:t>
            </a:r>
            <a:endParaRPr lang="en-US" sz="13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فَاتَّقُواْ اللَّهَ وَأَطِيعُونِ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have taqwa of Allah and obey me.</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127</a:t>
            </a:r>
            <a:endParaRPr lang="en-US" sz="13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أَسْـَٔلُكُمْ عَلَيْهِ مِنْ أَجْرٍ إِنْ أَجْرِيَ إِلَّا عَلَىٰ رَبِّ الْعَٰلَمِينَ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 do not ask you for any payment for it; my reward is only from the Lord of the worlds.</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128</a:t>
            </a:r>
            <a:endParaRPr lang="en-US" sz="13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أَتَبْنُونَ بِكُلِّ رِيعٍ ءَايَةً تَعْبَثُونَ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Do you build a tall building on every high place just for amusement and showing off,</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129</a:t>
            </a:r>
            <a:endParaRPr lang="en-US" sz="13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وَتَتَّخِذُونَ مَصَانِعَ لَعَلَّكُمْ تَخْلُدُونَ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take palaces and forts as if you will live forever in this world?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Ash-Shu'ara'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130 – 133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130</a:t>
            </a:r>
            <a:endParaRPr lang="en-US" sz="13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وَإِذَا بَطَشْتُم بَطَشْتُمْ جَبَّارِينَ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you attack someone, you attack harshly like tyrants.</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131</a:t>
            </a:r>
            <a:endParaRPr lang="en-US" sz="13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فَاتَّقُواْ اللَّهَ وَأَطِيعُونِ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have taqwa of Allah and obey me.</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132</a:t>
            </a:r>
            <a:endParaRPr lang="en-US" sz="13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وَاتَّقُواْ الَّذِي أَمَدَّكُم بِمَا تَعْلَمُونَ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Have taqwa of the One who has given you the blessings you know.</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133</a:t>
            </a:r>
            <a:endParaRPr lang="en-US" sz="13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أَمَدَّكُم بِأَنْعَٰمٍ وَبَنِينَ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has given you livestock and sons,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Ash-Shu'ara'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134 – 137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134</a:t>
            </a:r>
            <a:endParaRPr lang="en-US" sz="13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وَجَنَّـٰتٍ وَعُيُونٍ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gardens and flowing springs.</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135</a:t>
            </a:r>
            <a:endParaRPr lang="en-US" sz="13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إِنِّي أَخَافُ عَلَيْكُمْ عَذَابَ يَوْمٍ عَظِيمٍ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 fear for you the punishment of a tremendous Day.</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136</a:t>
            </a:r>
            <a:endParaRPr lang="en-US" sz="13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قَالُواْ سَوَآءٌ عَلَيْنَآ أَوَعَظْتَ أَمْ لَمْ تَكُن مِّنَ الْوَٰعِظِينَ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said: It is the same to us whether you advise us or not; we will not leave our ways.</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137</a:t>
            </a:r>
            <a:endParaRPr lang="en-US" sz="13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هَٰذَآ إِلَّا خُلُقُ الْأَوَّلِينَ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This way of ours is only the custom of the people of old,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Ash-Shu'ara'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138 – 141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45882"/>
            <a:ext cx="548640" cy="548640"/>
          </a:xfrm>
          <a:prstGeom prst="star8">
            <a:avLst/>
          </a:prstGeom>
          <a:solidFill>
            <a:schemeClr val="accent2"/>
          </a:solidFill>
          <a:ln/>
        </p:spPr>
      </p:sp>
      <p:sp>
        <p:nvSpPr>
          <p:cNvPr id="6" name="Shape 4"/>
          <p:cNvSpPr/>
          <p:nvPr/>
        </p:nvSpPr>
        <p:spPr>
          <a:xfrm>
            <a:off x="822960" y="1455611"/>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45882"/>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138</a:t>
            </a:r>
            <a:endParaRPr lang="en-US" sz="1300" dirty="0"/>
          </a:p>
        </p:txBody>
      </p:sp>
      <p:sp>
        <p:nvSpPr>
          <p:cNvPr id="8" name="Text 6"/>
          <p:cNvSpPr txBox="1"/>
          <p:nvPr/>
        </p:nvSpPr>
        <p:spPr>
          <a:xfrm>
            <a:off x="1444752" y="132759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نَحْنُ بِمُعَذَّبِينَ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we will not be punished.</a:t>
            </a:r>
            <a:endParaRPr lang="en-US" sz="3000" dirty="0"/>
          </a:p>
        </p:txBody>
      </p:sp>
      <p:sp>
        <p:nvSpPr>
          <p:cNvPr id="9" name="Shape 7"/>
          <p:cNvSpPr/>
          <p:nvPr/>
        </p:nvSpPr>
        <p:spPr>
          <a:xfrm>
            <a:off x="1444752" y="2394585"/>
            <a:ext cx="8641080" cy="0"/>
          </a:xfrm>
          <a:prstGeom prst="line">
            <a:avLst/>
          </a:prstGeom>
          <a:noFill/>
          <a:ln w="9525">
            <a:solidFill>
              <a:schemeClr val="accent2"/>
            </a:solidFill>
            <a:prstDash val="dash"/>
          </a:ln>
        </p:spPr>
      </p:sp>
      <p:sp>
        <p:nvSpPr>
          <p:cNvPr id="10" name="Shape 8"/>
          <p:cNvSpPr/>
          <p:nvPr/>
        </p:nvSpPr>
        <p:spPr>
          <a:xfrm>
            <a:off x="713232" y="2515172"/>
            <a:ext cx="548640" cy="548640"/>
          </a:xfrm>
          <a:prstGeom prst="star8">
            <a:avLst/>
          </a:prstGeom>
          <a:solidFill>
            <a:schemeClr val="accent2"/>
          </a:solidFill>
          <a:ln/>
        </p:spPr>
      </p:sp>
      <p:sp>
        <p:nvSpPr>
          <p:cNvPr id="11" name="Shape 9"/>
          <p:cNvSpPr/>
          <p:nvPr/>
        </p:nvSpPr>
        <p:spPr>
          <a:xfrm>
            <a:off x="822960" y="262490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515172"/>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139</a:t>
            </a:r>
            <a:endParaRPr lang="en-US" sz="1300" dirty="0"/>
          </a:p>
        </p:txBody>
      </p:sp>
      <p:sp>
        <p:nvSpPr>
          <p:cNvPr id="13" name="Text 11"/>
          <p:cNvSpPr txBox="1"/>
          <p:nvPr/>
        </p:nvSpPr>
        <p:spPr>
          <a:xfrm>
            <a:off x="1444752" y="249688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فَكَذَّبُوهُ فَأَهْلَكْنَٰهُمْ إِنَّ فِي ذَٰلِكَ لَأيَةً وَمَا كَانَ أَكْثَرُهُم مُّؤْمِنِينَ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they denied him, and We destroyed them with the wind. In that is a lesson, yet most of them do not believe.</a:t>
            </a:r>
            <a:endParaRPr lang="en-US" sz="3000" dirty="0"/>
          </a:p>
        </p:txBody>
      </p:sp>
      <p:sp>
        <p:nvSpPr>
          <p:cNvPr id="14" name="Shape 12"/>
          <p:cNvSpPr/>
          <p:nvPr/>
        </p:nvSpPr>
        <p:spPr>
          <a:xfrm>
            <a:off x="1444752" y="3824478"/>
            <a:ext cx="8641080" cy="0"/>
          </a:xfrm>
          <a:prstGeom prst="line">
            <a:avLst/>
          </a:prstGeom>
          <a:noFill/>
          <a:ln w="9525">
            <a:solidFill>
              <a:schemeClr val="accent2"/>
            </a:solidFill>
            <a:prstDash val="dash"/>
          </a:ln>
        </p:spPr>
      </p:sp>
      <p:sp>
        <p:nvSpPr>
          <p:cNvPr id="15" name="Shape 13"/>
          <p:cNvSpPr/>
          <p:nvPr/>
        </p:nvSpPr>
        <p:spPr>
          <a:xfrm>
            <a:off x="713232" y="3945064"/>
            <a:ext cx="548640" cy="548640"/>
          </a:xfrm>
          <a:prstGeom prst="star8">
            <a:avLst/>
          </a:prstGeom>
          <a:solidFill>
            <a:schemeClr val="accent2"/>
          </a:solidFill>
          <a:ln/>
        </p:spPr>
      </p:sp>
      <p:sp>
        <p:nvSpPr>
          <p:cNvPr id="16" name="Shape 14"/>
          <p:cNvSpPr/>
          <p:nvPr/>
        </p:nvSpPr>
        <p:spPr>
          <a:xfrm>
            <a:off x="822960" y="4054792"/>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945064"/>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140</a:t>
            </a:r>
            <a:endParaRPr lang="en-US" sz="1300" dirty="0"/>
          </a:p>
        </p:txBody>
      </p:sp>
      <p:sp>
        <p:nvSpPr>
          <p:cNvPr id="18" name="Text 16"/>
          <p:cNvSpPr txBox="1"/>
          <p:nvPr/>
        </p:nvSpPr>
        <p:spPr>
          <a:xfrm>
            <a:off x="1444752" y="392677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وَإِنَّ رَبَّكَ لَهُوَ الْعَزِيزُ الرَّحِيمُ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Your Lord is the Almighty, the Most Merciful.</a:t>
            </a:r>
            <a:endParaRPr lang="en-US" sz="3000" dirty="0"/>
          </a:p>
        </p:txBody>
      </p:sp>
      <p:sp>
        <p:nvSpPr>
          <p:cNvPr id="19" name="Shape 17"/>
          <p:cNvSpPr/>
          <p:nvPr/>
        </p:nvSpPr>
        <p:spPr>
          <a:xfrm>
            <a:off x="1444752" y="4993767"/>
            <a:ext cx="8641080" cy="0"/>
          </a:xfrm>
          <a:prstGeom prst="line">
            <a:avLst/>
          </a:prstGeom>
          <a:noFill/>
          <a:ln w="9525">
            <a:solidFill>
              <a:schemeClr val="accent2"/>
            </a:solidFill>
            <a:prstDash val="dash"/>
          </a:ln>
        </p:spPr>
      </p:sp>
      <p:sp>
        <p:nvSpPr>
          <p:cNvPr id="20" name="Shape 18"/>
          <p:cNvSpPr/>
          <p:nvPr/>
        </p:nvSpPr>
        <p:spPr>
          <a:xfrm>
            <a:off x="713232" y="5114353"/>
            <a:ext cx="548640" cy="548640"/>
          </a:xfrm>
          <a:prstGeom prst="star8">
            <a:avLst/>
          </a:prstGeom>
          <a:solidFill>
            <a:schemeClr val="accent2"/>
          </a:solidFill>
          <a:ln/>
        </p:spPr>
      </p:sp>
      <p:sp>
        <p:nvSpPr>
          <p:cNvPr id="21" name="Shape 19"/>
          <p:cNvSpPr/>
          <p:nvPr/>
        </p:nvSpPr>
        <p:spPr>
          <a:xfrm>
            <a:off x="822960" y="5224081"/>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114353"/>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141</a:t>
            </a:r>
            <a:endParaRPr lang="en-US" sz="1300" dirty="0"/>
          </a:p>
        </p:txBody>
      </p:sp>
      <p:sp>
        <p:nvSpPr>
          <p:cNvPr id="23" name="Text 21"/>
          <p:cNvSpPr txBox="1"/>
          <p:nvPr/>
        </p:nvSpPr>
        <p:spPr>
          <a:xfrm>
            <a:off x="1444752" y="5096065"/>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كَذَّبَتْ ثَمُودُ الْمُرْسَلِينَ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Thamud denied the messengers,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Ash-Shu'ara'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142 – 145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142</a:t>
            </a:r>
            <a:endParaRPr lang="en-US" sz="13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إِذْ قَالَ لَهُمْ أَخُوهُمْ صَٰلِحٌ أَلَا تَتَّقُونَ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their brother Salih said to them: Will you not have taqwa of Allah?</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143</a:t>
            </a:r>
            <a:endParaRPr lang="en-US" sz="13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إِنِّي لَكُمْ رَسُولٌ أَمِينٌ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 am a trustworthy messenger to you,</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144</a:t>
            </a:r>
            <a:endParaRPr lang="en-US" sz="13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فَاتَّقُواْ اللَّهَ وَأَطِيعُونِ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have taqwa of Allah and obey me.</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145</a:t>
            </a:r>
            <a:endParaRPr lang="en-US" sz="13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أَسْـَٔلُكُمْ عَلَيْهِ مِنْ أَجْرٍ إِنْ أَجْرِيَ إِلَّا عَلَىٰ رَبِّ الْعَٰلَمِينَ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 do not ask you for any payment for it; my reward is only from the Lord of the worlds.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Ash-Shu'ara'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146 – 149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146</a:t>
            </a:r>
            <a:endParaRPr lang="en-US" sz="13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أَتُتْرَكُونَ فِي مَا هَٰهُنَآ ءَامِنِينَ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Do you think you will be left safe in these blessings,</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147</a:t>
            </a:r>
            <a:endParaRPr lang="en-US" sz="13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فِي جَنَّـٰتٍ وَعُيُونٍ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in gardens and springs,</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148</a:t>
            </a:r>
            <a:endParaRPr lang="en-US" sz="13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وَزُرُوعٍ وَنَخْلٍ طَلْعُهَا هَضِيمٌ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crops and palm trees with ripe, soft fruit,</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149</a:t>
            </a:r>
            <a:endParaRPr lang="en-US" sz="13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وَتَنْحِتُونَ مِنَ الْجِبَالِ بُيُوتًا فَٰرِهِينَ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carving houses out of the mountains with skill and pride?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Ash-Shu'ara'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150 – 153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150</a:t>
            </a:r>
            <a:endParaRPr lang="en-US" sz="13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فَاتَّقُواْ اللَّهَ وَأَطِيعُونِ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have taqwa of Allah and obey me.</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151</a:t>
            </a:r>
            <a:endParaRPr lang="en-US" sz="13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وَلَا تُطِيعُواْ أَمْرَ الْمُسْرِفِينَ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Do not obey the command of the wasteful who go too far,</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152</a:t>
            </a:r>
            <a:endParaRPr lang="en-US" sz="13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الَّذِينَ يُفْسِدُونَ فِي الْأَرْضِ وَلَا يُصْلِحُونَ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who spread corruption in the land and do no good.</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153</a:t>
            </a:r>
            <a:endParaRPr lang="en-US" sz="13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قَالُواْ إِنَّمَآ أَنتَ مِنَ الْمُسَحَّرِينَ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said: You are only someone under a spell.</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Ash-Shu'ara'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154 – 157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45882"/>
            <a:ext cx="548640" cy="548640"/>
          </a:xfrm>
          <a:prstGeom prst="star8">
            <a:avLst/>
          </a:prstGeom>
          <a:solidFill>
            <a:schemeClr val="accent2"/>
          </a:solidFill>
          <a:ln/>
        </p:spPr>
      </p:sp>
      <p:sp>
        <p:nvSpPr>
          <p:cNvPr id="6" name="Shape 4"/>
          <p:cNvSpPr/>
          <p:nvPr/>
        </p:nvSpPr>
        <p:spPr>
          <a:xfrm>
            <a:off x="822960" y="1455611"/>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45882"/>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154</a:t>
            </a:r>
            <a:endParaRPr lang="en-US" sz="1300" dirty="0"/>
          </a:p>
        </p:txBody>
      </p:sp>
      <p:sp>
        <p:nvSpPr>
          <p:cNvPr id="8" name="Text 6"/>
          <p:cNvSpPr txBox="1"/>
          <p:nvPr/>
        </p:nvSpPr>
        <p:spPr>
          <a:xfrm>
            <a:off x="1444752" y="132759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مَآ أَنتَ إِلَّا بَشَرٌ مِّثْلُنَا فَأْتِ بِـَٔايَةٍ إِن كُنتَ مِنَ الصَّـٰدِقِينَ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You are only a human like us, so bring a miracle if you are truthful.</a:t>
            </a:r>
            <a:endParaRPr lang="en-US" sz="3000" dirty="0"/>
          </a:p>
        </p:txBody>
      </p:sp>
      <p:sp>
        <p:nvSpPr>
          <p:cNvPr id="9" name="Shape 7"/>
          <p:cNvSpPr/>
          <p:nvPr/>
        </p:nvSpPr>
        <p:spPr>
          <a:xfrm>
            <a:off x="1444752" y="2394585"/>
            <a:ext cx="8641080" cy="0"/>
          </a:xfrm>
          <a:prstGeom prst="line">
            <a:avLst/>
          </a:prstGeom>
          <a:noFill/>
          <a:ln w="9525">
            <a:solidFill>
              <a:schemeClr val="accent2"/>
            </a:solidFill>
            <a:prstDash val="dash"/>
          </a:ln>
        </p:spPr>
      </p:sp>
      <p:sp>
        <p:nvSpPr>
          <p:cNvPr id="10" name="Shape 8"/>
          <p:cNvSpPr/>
          <p:nvPr/>
        </p:nvSpPr>
        <p:spPr>
          <a:xfrm>
            <a:off x="713232" y="2515172"/>
            <a:ext cx="548640" cy="548640"/>
          </a:xfrm>
          <a:prstGeom prst="star8">
            <a:avLst/>
          </a:prstGeom>
          <a:solidFill>
            <a:schemeClr val="accent2"/>
          </a:solidFill>
          <a:ln/>
        </p:spPr>
      </p:sp>
      <p:sp>
        <p:nvSpPr>
          <p:cNvPr id="11" name="Shape 9"/>
          <p:cNvSpPr/>
          <p:nvPr/>
        </p:nvSpPr>
        <p:spPr>
          <a:xfrm>
            <a:off x="822960" y="262490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515172"/>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155</a:t>
            </a:r>
            <a:endParaRPr lang="en-US" sz="1300" dirty="0"/>
          </a:p>
        </p:txBody>
      </p:sp>
      <p:sp>
        <p:nvSpPr>
          <p:cNvPr id="13" name="Text 11"/>
          <p:cNvSpPr txBox="1"/>
          <p:nvPr/>
        </p:nvSpPr>
        <p:spPr>
          <a:xfrm>
            <a:off x="1444752" y="249688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هَٰذِهِ نَاقَةٌ لَّهَا شِرْبٌ وَلَكُمْ شِرْبُ يَوْمٍ مَّعْلُومٍ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said: This is a she-camel, a miracle. She has her share of water on one day, and you have your share on a known day.</a:t>
            </a:r>
            <a:endParaRPr lang="en-US" sz="3000" dirty="0"/>
          </a:p>
        </p:txBody>
      </p:sp>
      <p:sp>
        <p:nvSpPr>
          <p:cNvPr id="14" name="Shape 12"/>
          <p:cNvSpPr/>
          <p:nvPr/>
        </p:nvSpPr>
        <p:spPr>
          <a:xfrm>
            <a:off x="1444752" y="3824478"/>
            <a:ext cx="8641080" cy="0"/>
          </a:xfrm>
          <a:prstGeom prst="line">
            <a:avLst/>
          </a:prstGeom>
          <a:noFill/>
          <a:ln w="9525">
            <a:solidFill>
              <a:schemeClr val="accent2"/>
            </a:solidFill>
            <a:prstDash val="dash"/>
          </a:ln>
        </p:spPr>
      </p:sp>
      <p:sp>
        <p:nvSpPr>
          <p:cNvPr id="15" name="Shape 13"/>
          <p:cNvSpPr/>
          <p:nvPr/>
        </p:nvSpPr>
        <p:spPr>
          <a:xfrm>
            <a:off x="713232" y="3945064"/>
            <a:ext cx="548640" cy="548640"/>
          </a:xfrm>
          <a:prstGeom prst="star8">
            <a:avLst/>
          </a:prstGeom>
          <a:solidFill>
            <a:schemeClr val="accent2"/>
          </a:solidFill>
          <a:ln/>
        </p:spPr>
      </p:sp>
      <p:sp>
        <p:nvSpPr>
          <p:cNvPr id="16" name="Shape 14"/>
          <p:cNvSpPr/>
          <p:nvPr/>
        </p:nvSpPr>
        <p:spPr>
          <a:xfrm>
            <a:off x="822960" y="4054792"/>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945064"/>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156</a:t>
            </a:r>
            <a:endParaRPr lang="en-US" sz="1300" dirty="0"/>
          </a:p>
        </p:txBody>
      </p:sp>
      <p:sp>
        <p:nvSpPr>
          <p:cNvPr id="18" name="Text 16"/>
          <p:cNvSpPr txBox="1"/>
          <p:nvPr/>
        </p:nvSpPr>
        <p:spPr>
          <a:xfrm>
            <a:off x="1444752" y="392677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وَلَا تَمَسُّوهَا بِسُوءٍ فَيَأْخُذَكُمْ عَذَابُ يَوْمٍ عَظِيمٍ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Do not harm her, or the punishment of a tremendous Day will seize you.</a:t>
            </a:r>
            <a:endParaRPr lang="en-US" sz="3000" dirty="0"/>
          </a:p>
        </p:txBody>
      </p:sp>
      <p:sp>
        <p:nvSpPr>
          <p:cNvPr id="19" name="Shape 17"/>
          <p:cNvSpPr/>
          <p:nvPr/>
        </p:nvSpPr>
        <p:spPr>
          <a:xfrm>
            <a:off x="1444752" y="4993767"/>
            <a:ext cx="8641080" cy="0"/>
          </a:xfrm>
          <a:prstGeom prst="line">
            <a:avLst/>
          </a:prstGeom>
          <a:noFill/>
          <a:ln w="9525">
            <a:solidFill>
              <a:schemeClr val="accent2"/>
            </a:solidFill>
            <a:prstDash val="dash"/>
          </a:ln>
        </p:spPr>
      </p:sp>
      <p:sp>
        <p:nvSpPr>
          <p:cNvPr id="20" name="Shape 18"/>
          <p:cNvSpPr/>
          <p:nvPr/>
        </p:nvSpPr>
        <p:spPr>
          <a:xfrm>
            <a:off x="713232" y="5114353"/>
            <a:ext cx="548640" cy="548640"/>
          </a:xfrm>
          <a:prstGeom prst="star8">
            <a:avLst/>
          </a:prstGeom>
          <a:solidFill>
            <a:schemeClr val="accent2"/>
          </a:solidFill>
          <a:ln/>
        </p:spPr>
      </p:sp>
      <p:sp>
        <p:nvSpPr>
          <p:cNvPr id="21" name="Shape 19"/>
          <p:cNvSpPr/>
          <p:nvPr/>
        </p:nvSpPr>
        <p:spPr>
          <a:xfrm>
            <a:off x="822960" y="5224081"/>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114353"/>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157</a:t>
            </a:r>
            <a:endParaRPr lang="en-US" sz="1300" dirty="0"/>
          </a:p>
        </p:txBody>
      </p:sp>
      <p:sp>
        <p:nvSpPr>
          <p:cNvPr id="23" name="Text 21"/>
          <p:cNvSpPr txBox="1"/>
          <p:nvPr/>
        </p:nvSpPr>
        <p:spPr>
          <a:xfrm>
            <a:off x="1444752" y="5096065"/>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فَعَقَرُوهَا فَأَصْبَحُواْ نَٰدِمِينَ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But they slaughtered her, then became regretful when regret did not help.</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Ash-Shu'ara'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158 – 161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158</a:t>
            </a:r>
            <a:endParaRPr lang="en-US" sz="13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فَأَخَذَهُمُ الْعَذَابُ إِنَّ فِي ذَٰلِكَ لَأيَةً وَمَا كَانَ أَكْثَرُهُم مُّؤْمِنِينَ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the punishment seized them. In that is a lesson, yet most of them do not believe.</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159</a:t>
            </a:r>
            <a:endParaRPr lang="en-US" sz="13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وَإِنَّ رَبَّكَ لَهُوَ الْعَزِيزُ الرَّحِيمُ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Your Lord is the Almighty, the Most Merciful.</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160</a:t>
            </a:r>
            <a:endParaRPr lang="en-US" sz="13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كَذَّبَتْ قَوْمُ لُوطٍ الْمُرْسَلِينَ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people of Lut denied the messengers,</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161</a:t>
            </a:r>
            <a:endParaRPr lang="en-US" sz="13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إِذْ قَالَ لَهُمْ أَخُوهُمْ لُوطٌ أَلَا تَتَّقُونَ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their brother Lut said to them: Will you not have taqwa of Allah?</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Ash-Shu'ara'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162 – 165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162</a:t>
            </a:r>
            <a:endParaRPr lang="en-US" sz="13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إِنِّي لَكُمْ رَسُولٌ أَمِينٌ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 am a trustworthy messenger to you,</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163</a:t>
            </a:r>
            <a:endParaRPr lang="en-US" sz="13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فَاتَّقُواْ اللَّهَ وَأَطِيعُونِ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have taqwa of Allah and obey me.</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164</a:t>
            </a:r>
            <a:endParaRPr lang="en-US" sz="13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أَسْـَٔلُكُمْ عَلَيْهِ مِنْ أَجْرٍ إِنْ أَجْرِيَ إِلَّا عَلَىٰ رَبِّ الْعَٰلَمِينَ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 do not ask you for any payment for it; my reward is only from the Lord of the worlds.</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165</a:t>
            </a:r>
            <a:endParaRPr lang="en-US" sz="13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أَتَأْتُونَ الذُّكْرَانَ مِنَ الْعَٰلَمِينَ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Do you commit the shameful sin with men,</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Ash-Shu'ara'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166 – 169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166</a:t>
            </a:r>
            <a:endParaRPr lang="en-US" sz="13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وَتَذَرُونَ مَا خَلَقَ لَكُمْ رَبُّكُم مِّنْ أَزْوَٰجِكُم بَلْ أَنتُمْ قَوْمٌ عَادُونَ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leave the wives your Lord created for you? Rather, you are a people who go too far.</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167</a:t>
            </a:r>
            <a:endParaRPr lang="en-US" sz="13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قَالُواْ لَئِن لَّمْ تَنتَهِ يَٰلُوطُ لَتَكُونَنَّ مِنَ الْمُخْرَجِينَ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said: If you do not stop, O Lut, you will surely be driven out of our town.</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168</a:t>
            </a:r>
            <a:endParaRPr lang="en-US" sz="13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إِنِّي لِعَمَلِكُم مِّنَ الْقَالِينَ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said: I truly hate what you do.</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169</a:t>
            </a:r>
            <a:endParaRPr lang="en-US" sz="13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رَبِّ نَجِّنِي وَأَهْلِي مِمَّا يَعْمَلُونَ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My Lord, save me and my family from the punishment for what they do.</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Ash-Shu'ara'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170 – 173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170</a:t>
            </a:r>
            <a:endParaRPr lang="en-US" sz="13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فَنَجَّيْنَٰهُ وَأَهْلَهُ أَجْمَعِينَ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We saved him and all his family,</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171</a:t>
            </a:r>
            <a:endParaRPr lang="en-US" sz="13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إِلَّا عَجُوزًا فِي الْغَٰبِرِينَ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except an old woman, his wife, who was among those destroyed.</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172</a:t>
            </a:r>
            <a:endParaRPr lang="en-US" sz="13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ثُمَّ دَمَّرْنَا الْأخَرِينَ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Then We destroyed the others,</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173</a:t>
            </a:r>
            <a:endParaRPr lang="en-US" sz="13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وَأَمْطَرْنَا عَلَيْهِم مَّطَرًا فَسَآءَ مَطَرُ الْمُنذَرِينَ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rained stones on them from the sky. How evil was the rain of those who were warned!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Ash-Shu'ara'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174 – 177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174</a:t>
            </a:r>
            <a:endParaRPr lang="en-US" sz="13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فِي ذَٰلِكَ لَأيَةً وَمَا كَانَ أَكْثَرُهُم مُّؤْمِنِينَ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In that is a lesson, yet most of them do not believe.</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175</a:t>
            </a:r>
            <a:endParaRPr lang="en-US" sz="13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وَإِنَّ رَبَّكَ لَهُوَ الْعَزِيزُ الرَّحِيمُ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Your Lord is the Almighty, the Most Merciful.</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176</a:t>
            </a:r>
            <a:endParaRPr lang="en-US" sz="13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كَذَّبَ أَصْحَٰبُ لْـَٔيْكَةِ الْمُرْسَلِينَ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people of the thick forest denied the messengers,</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177</a:t>
            </a:r>
            <a:endParaRPr lang="en-US" sz="13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إِذْ قَالَ لَهُمْ شُعَيْبٌ أَلَا تَتَّقُونَ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Shu'ayb said to them: Will you not have taqwa of Allah?</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Ash-Shu'ara'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178 – 181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178</a:t>
            </a:r>
            <a:endParaRPr lang="en-US" sz="13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إِنِّي لَكُمْ رَسُولٌ أَمِينٌ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 am a trustworthy messenger to you,</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179</a:t>
            </a:r>
            <a:endParaRPr lang="en-US" sz="13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فَاتَّقُواْ اللَّهَ وَأَطِيعُونِ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have taqwa of Allah and obey me.</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180</a:t>
            </a:r>
            <a:endParaRPr lang="en-US" sz="13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أَسْـَٔلُكُمْ عَلَيْهِ مِنْ أَجْرٍ إِنْ أَجْرِيَ إِلَّا عَلَىٰ رَبِّ الْعَٰلَمِينَ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 do not ask you for any payment for it; my reward is only from the Lord of the worlds.</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181</a:t>
            </a:r>
            <a:endParaRPr lang="en-US" sz="13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أَوْفُواْ الْكَيْلَ وَلَا تَكُونُواْ مِنَ الْمُخْسِرِينَ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Give full measure, and do not be among those who give people less than their right.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Ash-Shu'ara'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182 – 185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182</a:t>
            </a:r>
            <a:endParaRPr lang="en-US" sz="13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وَزِنُواْ بِالْقِسْطَاسِ الْمُسْتَقِيمِ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Weigh with a fair, straight scale.</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183</a:t>
            </a:r>
            <a:endParaRPr lang="en-US" sz="13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وَلَا تَبْخَسُواْ النَّاسَ أَشْيَآءَهُمْ وَلَا تَعْثَوْاْ فِي الْأَرْضِ مُفْسِدِينَ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Do not give people less than what is theirs, and do not spread corruption in the land.</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184</a:t>
            </a:r>
            <a:endParaRPr lang="en-US" sz="13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وَاتَّقُواْ الَّذِي خَلَقَكُمْ وَالْجِبِلَّةَ الْأَوَّلِينَ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Have taqwa of the One who created you and the nations before you.</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185</a:t>
            </a:r>
            <a:endParaRPr lang="en-US" sz="13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قَالُواْ إِنَّمَآ أَنتَ مِنَ الْمُسَحَّرِينَ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said: You are only someone under a spell.</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Ash-Shu'ara'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186 – 189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45882"/>
            <a:ext cx="548640" cy="548640"/>
          </a:xfrm>
          <a:prstGeom prst="star8">
            <a:avLst/>
          </a:prstGeom>
          <a:solidFill>
            <a:schemeClr val="accent2"/>
          </a:solidFill>
          <a:ln/>
        </p:spPr>
      </p:sp>
      <p:sp>
        <p:nvSpPr>
          <p:cNvPr id="6" name="Shape 4"/>
          <p:cNvSpPr/>
          <p:nvPr/>
        </p:nvSpPr>
        <p:spPr>
          <a:xfrm>
            <a:off x="822960" y="1455611"/>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45882"/>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186</a:t>
            </a:r>
            <a:endParaRPr lang="en-US" sz="1300" dirty="0"/>
          </a:p>
        </p:txBody>
      </p:sp>
      <p:sp>
        <p:nvSpPr>
          <p:cNvPr id="8" name="Text 6"/>
          <p:cNvSpPr txBox="1"/>
          <p:nvPr/>
        </p:nvSpPr>
        <p:spPr>
          <a:xfrm>
            <a:off x="1444752" y="132759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أَنتَ إِلَّا بَشَرٌ مِّثْلُنَا وَإِن نَّظُنُّكَ لَمِنَ الْكَٰذِبِينَ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You are only a human like us, and we think you are one of the liars.</a:t>
            </a:r>
            <a:endParaRPr lang="en-US" sz="3000" dirty="0"/>
          </a:p>
        </p:txBody>
      </p:sp>
      <p:sp>
        <p:nvSpPr>
          <p:cNvPr id="9" name="Shape 7"/>
          <p:cNvSpPr/>
          <p:nvPr/>
        </p:nvSpPr>
        <p:spPr>
          <a:xfrm>
            <a:off x="1444752" y="2394585"/>
            <a:ext cx="8641080" cy="0"/>
          </a:xfrm>
          <a:prstGeom prst="line">
            <a:avLst/>
          </a:prstGeom>
          <a:noFill/>
          <a:ln w="9525">
            <a:solidFill>
              <a:schemeClr val="accent2"/>
            </a:solidFill>
            <a:prstDash val="dash"/>
          </a:ln>
        </p:spPr>
      </p:sp>
      <p:sp>
        <p:nvSpPr>
          <p:cNvPr id="10" name="Shape 8"/>
          <p:cNvSpPr/>
          <p:nvPr/>
        </p:nvSpPr>
        <p:spPr>
          <a:xfrm>
            <a:off x="713232" y="2515172"/>
            <a:ext cx="548640" cy="548640"/>
          </a:xfrm>
          <a:prstGeom prst="star8">
            <a:avLst/>
          </a:prstGeom>
          <a:solidFill>
            <a:schemeClr val="accent2"/>
          </a:solidFill>
          <a:ln/>
        </p:spPr>
      </p:sp>
      <p:sp>
        <p:nvSpPr>
          <p:cNvPr id="11" name="Shape 9"/>
          <p:cNvSpPr/>
          <p:nvPr/>
        </p:nvSpPr>
        <p:spPr>
          <a:xfrm>
            <a:off x="822960" y="262490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515172"/>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187</a:t>
            </a:r>
            <a:endParaRPr lang="en-US" sz="1300" dirty="0"/>
          </a:p>
        </p:txBody>
      </p:sp>
      <p:sp>
        <p:nvSpPr>
          <p:cNvPr id="13" name="Text 11"/>
          <p:cNvSpPr txBox="1"/>
          <p:nvPr/>
        </p:nvSpPr>
        <p:spPr>
          <a:xfrm>
            <a:off x="1444752" y="249688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فَأَسْقِطْ عَلَيْنَا كِسَفًا مِّنَ السَّمَآءِ إِن كُنتَ مِنَ الصَّـٰدِقِينَ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make pieces of the sky fall on us, if you are truthful.</a:t>
            </a:r>
            <a:endParaRPr lang="en-US" sz="3000" dirty="0"/>
          </a:p>
        </p:txBody>
      </p:sp>
      <p:sp>
        <p:nvSpPr>
          <p:cNvPr id="14" name="Shape 12"/>
          <p:cNvSpPr/>
          <p:nvPr/>
        </p:nvSpPr>
        <p:spPr>
          <a:xfrm>
            <a:off x="1444752" y="3563874"/>
            <a:ext cx="8641080" cy="0"/>
          </a:xfrm>
          <a:prstGeom prst="line">
            <a:avLst/>
          </a:prstGeom>
          <a:noFill/>
          <a:ln w="9525">
            <a:solidFill>
              <a:schemeClr val="accent2"/>
            </a:solidFill>
            <a:prstDash val="dash"/>
          </a:ln>
        </p:spPr>
      </p:sp>
      <p:sp>
        <p:nvSpPr>
          <p:cNvPr id="15" name="Shape 13"/>
          <p:cNvSpPr/>
          <p:nvPr/>
        </p:nvSpPr>
        <p:spPr>
          <a:xfrm>
            <a:off x="713232" y="3684460"/>
            <a:ext cx="548640" cy="548640"/>
          </a:xfrm>
          <a:prstGeom prst="star8">
            <a:avLst/>
          </a:prstGeom>
          <a:solidFill>
            <a:schemeClr val="accent2"/>
          </a:solidFill>
          <a:ln/>
        </p:spPr>
      </p:sp>
      <p:sp>
        <p:nvSpPr>
          <p:cNvPr id="16" name="Shape 14"/>
          <p:cNvSpPr/>
          <p:nvPr/>
        </p:nvSpPr>
        <p:spPr>
          <a:xfrm>
            <a:off x="822960" y="3794188"/>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684460"/>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188</a:t>
            </a:r>
            <a:endParaRPr lang="en-US" sz="1300" dirty="0"/>
          </a:p>
        </p:txBody>
      </p:sp>
      <p:sp>
        <p:nvSpPr>
          <p:cNvPr id="18" name="Text 16"/>
          <p:cNvSpPr txBox="1"/>
          <p:nvPr/>
        </p:nvSpPr>
        <p:spPr>
          <a:xfrm>
            <a:off x="1444752" y="366617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رَبِّي أَعْلَمُ بِمَا تَعْمَلُونَ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said: My Lord knows best what you do, and He will repay you.</a:t>
            </a:r>
            <a:endParaRPr lang="en-US" sz="3000" dirty="0"/>
          </a:p>
        </p:txBody>
      </p:sp>
      <p:sp>
        <p:nvSpPr>
          <p:cNvPr id="19" name="Shape 17"/>
          <p:cNvSpPr/>
          <p:nvPr/>
        </p:nvSpPr>
        <p:spPr>
          <a:xfrm>
            <a:off x="1444752" y="4733163"/>
            <a:ext cx="8641080" cy="0"/>
          </a:xfrm>
          <a:prstGeom prst="line">
            <a:avLst/>
          </a:prstGeom>
          <a:noFill/>
          <a:ln w="9525">
            <a:solidFill>
              <a:schemeClr val="accent2"/>
            </a:solidFill>
            <a:prstDash val="dash"/>
          </a:ln>
        </p:spPr>
      </p:sp>
      <p:sp>
        <p:nvSpPr>
          <p:cNvPr id="20" name="Shape 18"/>
          <p:cNvSpPr/>
          <p:nvPr/>
        </p:nvSpPr>
        <p:spPr>
          <a:xfrm>
            <a:off x="713232" y="4853749"/>
            <a:ext cx="548640" cy="548640"/>
          </a:xfrm>
          <a:prstGeom prst="star8">
            <a:avLst/>
          </a:prstGeom>
          <a:solidFill>
            <a:schemeClr val="accent2"/>
          </a:solidFill>
          <a:ln/>
        </p:spPr>
      </p:sp>
      <p:sp>
        <p:nvSpPr>
          <p:cNvPr id="21" name="Shape 19"/>
          <p:cNvSpPr/>
          <p:nvPr/>
        </p:nvSpPr>
        <p:spPr>
          <a:xfrm>
            <a:off x="822960" y="4963477"/>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4853749"/>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189</a:t>
            </a:r>
            <a:endParaRPr lang="en-US" sz="1300" dirty="0"/>
          </a:p>
        </p:txBody>
      </p:sp>
      <p:sp>
        <p:nvSpPr>
          <p:cNvPr id="23" name="Text 21"/>
          <p:cNvSpPr txBox="1"/>
          <p:nvPr/>
        </p:nvSpPr>
        <p:spPr>
          <a:xfrm>
            <a:off x="1444752" y="4835461"/>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فَكَذَّبُوهُ فَأَخَذَهُمْ عَذَابُ يَوْمِ الظُّلَّةِ إِنَّهُ كَانَ عَذَابَ يَوْمٍ عَظِيمٍ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denied him, so the punishment of the Day of the Cloud seized them: it shaded them, then rained fire on them. It was the punishment of a tremendous Day.</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Ash-Shu'ara'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190 – 193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190</a:t>
            </a:r>
            <a:endParaRPr lang="en-US" sz="13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فِي ذَٰلِكَ لَأيَةً وَمَا كَانَ أَكْثَرُهُم مُّؤْمِنِينَ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In that is a lesson, yet most of them do not believe.</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191</a:t>
            </a:r>
            <a:endParaRPr lang="en-US" sz="13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وَإِنَّ رَبَّكَ لَهُوَ الْعَزِيزُ الرَّحِيمُ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Your Lord is the Almighty, the Most Merciful.</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192</a:t>
            </a:r>
            <a:endParaRPr lang="en-US" sz="13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وَإِنَّهُ لَتَنزِيلُ رَبِّ الْعَٰلَمِينَ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This Qur'an is truly sent down by the Lord of the worlds.</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193</a:t>
            </a:r>
            <a:endParaRPr lang="en-US" sz="13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نَزَلَ بِهِ الرُّوحُ الْأَمِينُ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trustworthy spirit, Jibril, brought it down</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Ash-Shu'ara'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194 – 197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45882"/>
            <a:ext cx="548640" cy="548640"/>
          </a:xfrm>
          <a:prstGeom prst="star8">
            <a:avLst/>
          </a:prstGeom>
          <a:solidFill>
            <a:schemeClr val="accent2"/>
          </a:solidFill>
          <a:ln/>
        </p:spPr>
      </p:sp>
      <p:sp>
        <p:nvSpPr>
          <p:cNvPr id="6" name="Shape 4"/>
          <p:cNvSpPr/>
          <p:nvPr/>
        </p:nvSpPr>
        <p:spPr>
          <a:xfrm>
            <a:off x="822960" y="1455611"/>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45882"/>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194</a:t>
            </a:r>
            <a:endParaRPr lang="en-US" sz="1300" dirty="0"/>
          </a:p>
        </p:txBody>
      </p:sp>
      <p:sp>
        <p:nvSpPr>
          <p:cNvPr id="8" name="Text 6"/>
          <p:cNvSpPr txBox="1"/>
          <p:nvPr/>
        </p:nvSpPr>
        <p:spPr>
          <a:xfrm>
            <a:off x="1444752" y="132759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عَلَىٰ قَلْبِكَ لِتَكُونَ مِنَ الْمُنذِرِينَ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upon your heart, so that you may be one of the warners,</a:t>
            </a:r>
            <a:endParaRPr lang="en-US" sz="3000" dirty="0"/>
          </a:p>
        </p:txBody>
      </p:sp>
      <p:sp>
        <p:nvSpPr>
          <p:cNvPr id="9" name="Shape 7"/>
          <p:cNvSpPr/>
          <p:nvPr/>
        </p:nvSpPr>
        <p:spPr>
          <a:xfrm>
            <a:off x="1444752" y="2394585"/>
            <a:ext cx="8641080" cy="0"/>
          </a:xfrm>
          <a:prstGeom prst="line">
            <a:avLst/>
          </a:prstGeom>
          <a:noFill/>
          <a:ln w="9525">
            <a:solidFill>
              <a:schemeClr val="accent2"/>
            </a:solidFill>
            <a:prstDash val="dash"/>
          </a:ln>
        </p:spPr>
      </p:sp>
      <p:sp>
        <p:nvSpPr>
          <p:cNvPr id="10" name="Shape 8"/>
          <p:cNvSpPr/>
          <p:nvPr/>
        </p:nvSpPr>
        <p:spPr>
          <a:xfrm>
            <a:off x="713232" y="2515172"/>
            <a:ext cx="548640" cy="548640"/>
          </a:xfrm>
          <a:prstGeom prst="star8">
            <a:avLst/>
          </a:prstGeom>
          <a:solidFill>
            <a:schemeClr val="accent2"/>
          </a:solidFill>
          <a:ln/>
        </p:spPr>
      </p:sp>
      <p:sp>
        <p:nvSpPr>
          <p:cNvPr id="11" name="Shape 9"/>
          <p:cNvSpPr/>
          <p:nvPr/>
        </p:nvSpPr>
        <p:spPr>
          <a:xfrm>
            <a:off x="822960" y="262490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515172"/>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195</a:t>
            </a:r>
            <a:endParaRPr lang="en-US" sz="1300" dirty="0"/>
          </a:p>
        </p:txBody>
      </p:sp>
      <p:sp>
        <p:nvSpPr>
          <p:cNvPr id="13" name="Text 11"/>
          <p:cNvSpPr txBox="1"/>
          <p:nvPr/>
        </p:nvSpPr>
        <p:spPr>
          <a:xfrm>
            <a:off x="1444752" y="249688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بِلِسَانٍ عَرَبِيٍّ مُّبِينٍ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in a clear Arabic language.</a:t>
            </a:r>
            <a:endParaRPr lang="en-US" sz="3000" dirty="0"/>
          </a:p>
        </p:txBody>
      </p:sp>
      <p:sp>
        <p:nvSpPr>
          <p:cNvPr id="14" name="Shape 12"/>
          <p:cNvSpPr/>
          <p:nvPr/>
        </p:nvSpPr>
        <p:spPr>
          <a:xfrm>
            <a:off x="1444752" y="3563874"/>
            <a:ext cx="8641080" cy="0"/>
          </a:xfrm>
          <a:prstGeom prst="line">
            <a:avLst/>
          </a:prstGeom>
          <a:noFill/>
          <a:ln w="9525">
            <a:solidFill>
              <a:schemeClr val="accent2"/>
            </a:solidFill>
            <a:prstDash val="dash"/>
          </a:ln>
        </p:spPr>
      </p:sp>
      <p:sp>
        <p:nvSpPr>
          <p:cNvPr id="15" name="Shape 13"/>
          <p:cNvSpPr/>
          <p:nvPr/>
        </p:nvSpPr>
        <p:spPr>
          <a:xfrm>
            <a:off x="713232" y="3684460"/>
            <a:ext cx="548640" cy="548640"/>
          </a:xfrm>
          <a:prstGeom prst="star8">
            <a:avLst/>
          </a:prstGeom>
          <a:solidFill>
            <a:schemeClr val="accent2"/>
          </a:solidFill>
          <a:ln/>
        </p:spPr>
      </p:sp>
      <p:sp>
        <p:nvSpPr>
          <p:cNvPr id="16" name="Shape 14"/>
          <p:cNvSpPr/>
          <p:nvPr/>
        </p:nvSpPr>
        <p:spPr>
          <a:xfrm>
            <a:off x="822960" y="3794188"/>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684460"/>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196</a:t>
            </a:r>
            <a:endParaRPr lang="en-US" sz="1300" dirty="0"/>
          </a:p>
        </p:txBody>
      </p:sp>
      <p:sp>
        <p:nvSpPr>
          <p:cNvPr id="18" name="Text 16"/>
          <p:cNvSpPr txBox="1"/>
          <p:nvPr/>
        </p:nvSpPr>
        <p:spPr>
          <a:xfrm>
            <a:off x="1444752" y="366617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وَإِنَّهُ لَفِي زُبُرِ الْأَوَّلِينَ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Its mention and the good news about it are in the Books of the earlier prophets.</a:t>
            </a:r>
            <a:endParaRPr lang="en-US" sz="3000" dirty="0"/>
          </a:p>
        </p:txBody>
      </p:sp>
      <p:sp>
        <p:nvSpPr>
          <p:cNvPr id="19" name="Shape 17"/>
          <p:cNvSpPr/>
          <p:nvPr/>
        </p:nvSpPr>
        <p:spPr>
          <a:xfrm>
            <a:off x="1444752" y="4733163"/>
            <a:ext cx="8641080" cy="0"/>
          </a:xfrm>
          <a:prstGeom prst="line">
            <a:avLst/>
          </a:prstGeom>
          <a:noFill/>
          <a:ln w="9525">
            <a:solidFill>
              <a:schemeClr val="accent2"/>
            </a:solidFill>
            <a:prstDash val="dash"/>
          </a:ln>
        </p:spPr>
      </p:sp>
      <p:sp>
        <p:nvSpPr>
          <p:cNvPr id="20" name="Shape 18"/>
          <p:cNvSpPr/>
          <p:nvPr/>
        </p:nvSpPr>
        <p:spPr>
          <a:xfrm>
            <a:off x="713232" y="4853749"/>
            <a:ext cx="548640" cy="548640"/>
          </a:xfrm>
          <a:prstGeom prst="star8">
            <a:avLst/>
          </a:prstGeom>
          <a:solidFill>
            <a:schemeClr val="accent2"/>
          </a:solidFill>
          <a:ln/>
        </p:spPr>
      </p:sp>
      <p:sp>
        <p:nvSpPr>
          <p:cNvPr id="21" name="Shape 19"/>
          <p:cNvSpPr/>
          <p:nvPr/>
        </p:nvSpPr>
        <p:spPr>
          <a:xfrm>
            <a:off x="822960" y="4963477"/>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4853749"/>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197</a:t>
            </a:r>
            <a:endParaRPr lang="en-US" sz="1300" dirty="0"/>
          </a:p>
        </p:txBody>
      </p:sp>
      <p:sp>
        <p:nvSpPr>
          <p:cNvPr id="23" name="Text 21"/>
          <p:cNvSpPr txBox="1"/>
          <p:nvPr/>
        </p:nvSpPr>
        <p:spPr>
          <a:xfrm>
            <a:off x="1444752" y="4835461"/>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أَوَلَمْ يَكُن لَّهُمْ ءَايَةً أَن يَعْلَمَهُ عُلَمَـٰؤُاْ بَنِي إِسْرَـٰءِيلَ</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Is it not a proof to them of its truth that the scholars of the Children of Israel, like 'Abdullah ibn Salam, know it?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Ash-Shu'ara'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198 – 201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198</a:t>
            </a:r>
            <a:endParaRPr lang="en-US" sz="13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وَلَوْ نَزَّلْنَٰهُ عَلَىٰ بَعْضِ الْأَعْجَمِينَ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We had sent it down to someone who was not an Arab,</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199</a:t>
            </a:r>
            <a:endParaRPr lang="en-US" sz="13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فَقَرَأَهُ عَلَيْهِم مَّا كَانُواْ بِهِ مُؤْمِنِينَ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he had recited it to them, they would not have believed in it, out of stubbornness.</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200</a:t>
            </a:r>
            <a:endParaRPr lang="en-US" sz="13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كَذَٰلِكَ سَلَكْنَٰهُ فِي قُلُوبِ الْمُجْرِمِينَ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In this way We have let denial enter the hearts of the criminals.</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201</a:t>
            </a:r>
            <a:endParaRPr lang="en-US" sz="13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لَا يُؤْمِنُونَ بِهِ حَتَّىٰ يَرَوُاْ الْعَذَابَ الْأَلِيمَ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will not believe in it until they see the painful punishment.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76</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Ash-Shu'ara'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202 – 205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202</a:t>
            </a:r>
            <a:endParaRPr lang="en-US" sz="13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فَيَأْتِيَهُم بَغْتَةً وَهُمْ لَا يَشْعُرُونَ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It will come to them suddenly while they do not realise,</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203</a:t>
            </a:r>
            <a:endParaRPr lang="en-US" sz="13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فَيَقُولُواْ هَلْ نَحْنُ مُنظَرُونَ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they will say: Will we be given more time?</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204</a:t>
            </a:r>
            <a:endParaRPr lang="en-US" sz="13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أَفَبِعَذَابِنَا يَسْتَعْجِلُونَ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Do they want Our punishment to come sooner?</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205</a:t>
            </a:r>
            <a:endParaRPr lang="en-US" sz="13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أَفَرَءَيْتَ إِن مَّتَّعْنَٰهُمْ سِنِينَ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Have you thought: if We let them enjoy life for many years,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77</a:t>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Ash-Shu'ara'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206 – 209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206</a:t>
            </a:r>
            <a:endParaRPr lang="en-US" sz="13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ثُمَّ جَآءَهُم مَّا كَانُواْ يُوعَدُونَ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then the punishment they were promised came to them,</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207</a:t>
            </a:r>
            <a:endParaRPr lang="en-US" sz="13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مَآ أَغْنَىٰ عَنْهُم مَّا كَانُواْ يُمَتَّعُونَ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what they enjoyed would not help them at all.</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208</a:t>
            </a:r>
            <a:endParaRPr lang="en-US" sz="13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أَهْلَكْنَا مِن قَرْيَةٍ إِلَّا لَهَا مُنذِرُونَ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never destroyed a town without it having messengers to warn it,</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209</a:t>
            </a:r>
            <a:endParaRPr lang="en-US" sz="13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ذِكْرَىٰ وَمَا كُنَّا ظَٰلِمِينَ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as a reminder, and We were never unjust.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78</a:t>
            </a:fld>
            <a:endParaRPr 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Ash-Shu'ara'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210 – 213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210</a:t>
            </a:r>
            <a:endParaRPr lang="en-US" sz="13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تَنَزَّلَتْ بِهِ الشَّيَٰطِينُ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devils did not bring down the Qur'an, as the idol-worshippers claim.</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211</a:t>
            </a:r>
            <a:endParaRPr lang="en-US" sz="13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يَنبَغِي لَهُمْ وَمَا يَسْتَطِيعُونَ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It is not fitting for them, and they are not able to.</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212</a:t>
            </a:r>
            <a:endParaRPr lang="en-US" sz="13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إِنَّهُمْ عَنِ السَّمْعِ لَمَعْزُولُونَ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are kept away from hearing the revelation from the sky.</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213</a:t>
            </a:r>
            <a:endParaRPr lang="en-US" sz="13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فَلَا تَدْعُ مَعَ اللَّهِ إِلَٰهًا ءَاخَرَ فَتَكُونَ مِنَ الْمُعَذَّبِينَ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do not call on another god with Allah, or you will be among those punished.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79</a:t>
            </a:fld>
            <a:endParaRPr 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Ash-Shu'ara'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214 – 217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45882"/>
            <a:ext cx="548640" cy="548640"/>
          </a:xfrm>
          <a:prstGeom prst="star8">
            <a:avLst/>
          </a:prstGeom>
          <a:solidFill>
            <a:schemeClr val="accent2"/>
          </a:solidFill>
          <a:ln/>
        </p:spPr>
      </p:sp>
      <p:sp>
        <p:nvSpPr>
          <p:cNvPr id="6" name="Shape 4"/>
          <p:cNvSpPr/>
          <p:nvPr/>
        </p:nvSpPr>
        <p:spPr>
          <a:xfrm>
            <a:off x="822960" y="1455611"/>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45882"/>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214</a:t>
            </a:r>
            <a:endParaRPr lang="en-US" sz="1300" dirty="0"/>
          </a:p>
        </p:txBody>
      </p:sp>
      <p:sp>
        <p:nvSpPr>
          <p:cNvPr id="8" name="Text 6"/>
          <p:cNvSpPr txBox="1"/>
          <p:nvPr/>
        </p:nvSpPr>
        <p:spPr>
          <a:xfrm>
            <a:off x="1444752" y="132759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وَأَنذِرْ عَشِيرَتَكَ الْأَقْرَبِينَ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warn your nearest relatives. So the Prophet (peace be upon him) climbed As-Safa, called the clans of Quraysh and warned them (Bukhari and Muslim).</a:t>
            </a:r>
            <a:endParaRPr lang="en-US" sz="3000" dirty="0"/>
          </a:p>
        </p:txBody>
      </p:sp>
      <p:sp>
        <p:nvSpPr>
          <p:cNvPr id="9" name="Shape 7"/>
          <p:cNvSpPr/>
          <p:nvPr/>
        </p:nvSpPr>
        <p:spPr>
          <a:xfrm>
            <a:off x="1444752" y="2655189"/>
            <a:ext cx="8641080" cy="0"/>
          </a:xfrm>
          <a:prstGeom prst="line">
            <a:avLst/>
          </a:prstGeom>
          <a:noFill/>
          <a:ln w="9525">
            <a:solidFill>
              <a:schemeClr val="accent2"/>
            </a:solidFill>
            <a:prstDash val="dash"/>
          </a:ln>
        </p:spPr>
      </p:sp>
      <p:sp>
        <p:nvSpPr>
          <p:cNvPr id="10" name="Shape 8"/>
          <p:cNvSpPr/>
          <p:nvPr/>
        </p:nvSpPr>
        <p:spPr>
          <a:xfrm>
            <a:off x="713232" y="2775776"/>
            <a:ext cx="548640" cy="548640"/>
          </a:xfrm>
          <a:prstGeom prst="star8">
            <a:avLst/>
          </a:prstGeom>
          <a:solidFill>
            <a:schemeClr val="accent2"/>
          </a:solidFill>
          <a:ln/>
        </p:spPr>
      </p:sp>
      <p:sp>
        <p:nvSpPr>
          <p:cNvPr id="11" name="Shape 9"/>
          <p:cNvSpPr/>
          <p:nvPr/>
        </p:nvSpPr>
        <p:spPr>
          <a:xfrm>
            <a:off x="822960" y="288550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77577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215</a:t>
            </a:r>
            <a:endParaRPr lang="en-US" sz="1300" dirty="0"/>
          </a:p>
        </p:txBody>
      </p:sp>
      <p:sp>
        <p:nvSpPr>
          <p:cNvPr id="13" name="Text 11"/>
          <p:cNvSpPr txBox="1"/>
          <p:nvPr/>
        </p:nvSpPr>
        <p:spPr>
          <a:xfrm>
            <a:off x="1444752" y="275748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وَاخْفِضْ جَنَاحَكَ لِمَنِ اتَّبَعَكَ مِنَ الْمُؤْمِنِينَ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Be humble and gentle with the believers who follow you.</a:t>
            </a:r>
            <a:endParaRPr lang="en-US" sz="3000" dirty="0"/>
          </a:p>
        </p:txBody>
      </p:sp>
      <p:sp>
        <p:nvSpPr>
          <p:cNvPr id="14" name="Shape 12"/>
          <p:cNvSpPr/>
          <p:nvPr/>
        </p:nvSpPr>
        <p:spPr>
          <a:xfrm>
            <a:off x="1444752" y="3824478"/>
            <a:ext cx="8641080" cy="0"/>
          </a:xfrm>
          <a:prstGeom prst="line">
            <a:avLst/>
          </a:prstGeom>
          <a:noFill/>
          <a:ln w="9525">
            <a:solidFill>
              <a:schemeClr val="accent2"/>
            </a:solidFill>
            <a:prstDash val="dash"/>
          </a:ln>
        </p:spPr>
      </p:sp>
      <p:sp>
        <p:nvSpPr>
          <p:cNvPr id="15" name="Shape 13"/>
          <p:cNvSpPr/>
          <p:nvPr/>
        </p:nvSpPr>
        <p:spPr>
          <a:xfrm>
            <a:off x="713232" y="3945064"/>
            <a:ext cx="548640" cy="548640"/>
          </a:xfrm>
          <a:prstGeom prst="star8">
            <a:avLst/>
          </a:prstGeom>
          <a:solidFill>
            <a:schemeClr val="accent2"/>
          </a:solidFill>
          <a:ln/>
        </p:spPr>
      </p:sp>
      <p:sp>
        <p:nvSpPr>
          <p:cNvPr id="16" name="Shape 14"/>
          <p:cNvSpPr/>
          <p:nvPr/>
        </p:nvSpPr>
        <p:spPr>
          <a:xfrm>
            <a:off x="822960" y="4054792"/>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945064"/>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216</a:t>
            </a:r>
            <a:endParaRPr lang="en-US" sz="1300" dirty="0"/>
          </a:p>
        </p:txBody>
      </p:sp>
      <p:sp>
        <p:nvSpPr>
          <p:cNvPr id="18" name="Text 16"/>
          <p:cNvSpPr txBox="1"/>
          <p:nvPr/>
        </p:nvSpPr>
        <p:spPr>
          <a:xfrm>
            <a:off x="1444752" y="392677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فَإِنْ عَصَوْكَ فَقُلْ إِنِّي بَرِيءٌ مِّمَّا تَعْمَلُونَ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they disobey you, say: I am free of what you do.</a:t>
            </a:r>
            <a:endParaRPr lang="en-US" sz="3000" dirty="0"/>
          </a:p>
        </p:txBody>
      </p:sp>
      <p:sp>
        <p:nvSpPr>
          <p:cNvPr id="19" name="Shape 17"/>
          <p:cNvSpPr/>
          <p:nvPr/>
        </p:nvSpPr>
        <p:spPr>
          <a:xfrm>
            <a:off x="1444752" y="4993767"/>
            <a:ext cx="8641080" cy="0"/>
          </a:xfrm>
          <a:prstGeom prst="line">
            <a:avLst/>
          </a:prstGeom>
          <a:noFill/>
          <a:ln w="9525">
            <a:solidFill>
              <a:schemeClr val="accent2"/>
            </a:solidFill>
            <a:prstDash val="dash"/>
          </a:ln>
        </p:spPr>
      </p:sp>
      <p:sp>
        <p:nvSpPr>
          <p:cNvPr id="20" name="Shape 18"/>
          <p:cNvSpPr/>
          <p:nvPr/>
        </p:nvSpPr>
        <p:spPr>
          <a:xfrm>
            <a:off x="713232" y="5114353"/>
            <a:ext cx="548640" cy="548640"/>
          </a:xfrm>
          <a:prstGeom prst="star8">
            <a:avLst/>
          </a:prstGeom>
          <a:solidFill>
            <a:schemeClr val="accent2"/>
          </a:solidFill>
          <a:ln/>
        </p:spPr>
      </p:sp>
      <p:sp>
        <p:nvSpPr>
          <p:cNvPr id="21" name="Shape 19"/>
          <p:cNvSpPr/>
          <p:nvPr/>
        </p:nvSpPr>
        <p:spPr>
          <a:xfrm>
            <a:off x="822960" y="5224081"/>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114353"/>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217</a:t>
            </a:r>
            <a:endParaRPr lang="en-US" sz="1300" dirty="0"/>
          </a:p>
        </p:txBody>
      </p:sp>
      <p:sp>
        <p:nvSpPr>
          <p:cNvPr id="23" name="Text 21"/>
          <p:cNvSpPr txBox="1"/>
          <p:nvPr/>
        </p:nvSpPr>
        <p:spPr>
          <a:xfrm>
            <a:off x="1444752" y="5096065"/>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وَتَوَكَّلْ عَلَى الْعَزِيزِ الرَّحِيمِ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put your trust in the Almighty, the Most Merciful,</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80</a:t>
            </a:fld>
            <a:endParaRPr 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Ash-Shu'ara'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218 – 221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218</a:t>
            </a:r>
            <a:endParaRPr lang="en-US" sz="13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الَّذِي يَرَىٰكَ حِينَ تَقُومُ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who sees you when you stand for prayer,</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219</a:t>
            </a:r>
            <a:endParaRPr lang="en-US" sz="13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وَتَقَلُّبَكَ فِي السَّـٰجِدِينَ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sees your movements among those who prostrate in your prayer.</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220</a:t>
            </a:r>
            <a:endParaRPr lang="en-US" sz="13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إِنَّهُ هُوَ السَّمِيعُ الْعَلِيمُ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is the All-Hearing, the All-Knowing.</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221</a:t>
            </a:r>
            <a:endParaRPr lang="en-US" sz="13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هَلْ أُنَبِّئُكُمْ عَلَىٰ مَن تَنَزَّلُ الشَّيَٰطِينُ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Shall I tell you on whom the devils come down?</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81</a:t>
            </a:fld>
            <a:endParaRPr 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Ash-Shu'ara'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222 – 225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222</a:t>
            </a:r>
            <a:endParaRPr lang="en-US" sz="13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تَنَزَّلُ عَلَىٰ كُلِّ أَفَّاكٍ أَثِيمٍ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come down on every lying, sinful person, like fortune-tellers.</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223</a:t>
            </a:r>
            <a:endParaRPr lang="en-US" sz="13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يُلْقُونَ السَّمْعَ وَأَكْثَرُهُمْ كَٰذِبُونَ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steal a word they overhear and pass it on to them, and most of them are liars.</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224</a:t>
            </a:r>
            <a:endParaRPr lang="en-US" sz="13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وَالشُّعَرَآءُ يَتَّبِعُهُمُ الْغَاوُنَ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As for poets who say falsehood, those who are astray follow them.</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225</a:t>
            </a:r>
            <a:endParaRPr lang="en-US" sz="13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أَلَمْ تَرَ أَنَّهُمْ فِي كُلِّ وَادٍ يَهِيمُونَ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Do you not see that they wander in every kind of talk without purpose,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82</a:t>
            </a:fld>
            <a:endParaRPr lang="en-US"/>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Ash-Shu'ara'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226 – 227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226</a:t>
            </a:r>
            <a:endParaRPr lang="en-US" sz="1300" dirty="0"/>
          </a:p>
        </p:txBody>
      </p:sp>
      <p:sp>
        <p:nvSpPr>
          <p:cNvPr id="8" name="Text 6"/>
          <p:cNvSpPr txBox="1"/>
          <p:nvPr/>
        </p:nvSpPr>
        <p:spPr>
          <a:xfrm>
            <a:off x="1444752" y="197967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وَأَنَّهُمْ يَقُولُونَ مَا لَا يَفْعَلُونَ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that they say what they do not do?</a:t>
            </a:r>
            <a:endParaRPr lang="en-US" sz="3000" dirty="0"/>
          </a:p>
        </p:txBody>
      </p:sp>
      <p:sp>
        <p:nvSpPr>
          <p:cNvPr id="9" name="Shape 7"/>
          <p:cNvSpPr/>
          <p:nvPr/>
        </p:nvSpPr>
        <p:spPr>
          <a:xfrm>
            <a:off x="1444752" y="3159252"/>
            <a:ext cx="8641080" cy="0"/>
          </a:xfrm>
          <a:prstGeom prst="line">
            <a:avLst/>
          </a:prstGeom>
          <a:noFill/>
          <a:ln w="9525">
            <a:solidFill>
              <a:schemeClr val="accent2"/>
            </a:solidFill>
            <a:prstDash val="dash"/>
          </a:ln>
        </p:spPr>
      </p:sp>
      <p:sp>
        <p:nvSpPr>
          <p:cNvPr id="10" name="Shape 8"/>
          <p:cNvSpPr/>
          <p:nvPr/>
        </p:nvSpPr>
        <p:spPr>
          <a:xfrm>
            <a:off x="713232" y="3392424"/>
            <a:ext cx="548640" cy="548640"/>
          </a:xfrm>
          <a:prstGeom prst="star8">
            <a:avLst/>
          </a:prstGeom>
          <a:solidFill>
            <a:schemeClr val="accent2"/>
          </a:solidFill>
          <a:ln/>
        </p:spPr>
      </p:sp>
      <p:sp>
        <p:nvSpPr>
          <p:cNvPr id="11" name="Shape 9"/>
          <p:cNvSpPr/>
          <p:nvPr/>
        </p:nvSpPr>
        <p:spPr>
          <a:xfrm>
            <a:off x="822960" y="3502152"/>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392424"/>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227</a:t>
            </a:r>
            <a:endParaRPr lang="en-US" sz="1300" dirty="0"/>
          </a:p>
        </p:txBody>
      </p:sp>
      <p:sp>
        <p:nvSpPr>
          <p:cNvPr id="13" name="Text 11"/>
          <p:cNvSpPr txBox="1"/>
          <p:nvPr/>
        </p:nvSpPr>
        <p:spPr>
          <a:xfrm>
            <a:off x="1444752" y="3374136"/>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إِلَّا الَّذِينَ ءَامَنُواْ وَعَمِلُواْ الصَّـٰلِحَٰتِ وَذَكَرُواْ اللَّهَ كَثِيرًا وَانتَصَرُواْ مِن بَعْدِ مَا ظُلِمُواْ وَسَيَعْلَمُ الَّذِينَ ظَلَمُواْ أَيَّ مُنقَلَبٍ يَنقَلِبُونَ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Except the poets who believe, do good deeds, remember Allah often, and defend Islam with their poetry after being wronged, like Hassan ibn Thabit. The wrongdoers will soon know what return they will return to.</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83</a:t>
            </a:fld>
            <a:endParaRPr 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3600" b="1" dirty="0">
                <a:solidFill>
                  <a:schemeClr val="accent2"/>
                </a:solidFill>
                <a:latin typeface="Georgia" pitchFamily="34" charset="0"/>
                <a:ea typeface="Georgia" pitchFamily="34" charset="-122"/>
                <a:cs typeface="Georgia" pitchFamily="34" charset="-120"/>
              </a:rPr>
              <a:t>Surah Al-Furqan</a:t>
            </a:r>
            <a:endParaRPr lang="en-US" sz="36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In this juz: verses 21 – 77</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Makki</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no. 25 in the Mushaf</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400" dirty="0">
                <a:solidFill>
                  <a:schemeClr val="tx1"/>
                </a:solidFill>
                <a:latin typeface="Arial" pitchFamily="34" charset="0"/>
                <a:ea typeface="Arial" pitchFamily="34" charset="-122"/>
                <a:cs typeface="Arial" pitchFamily="34" charset="-120"/>
              </a:rPr>
              <a:t>Ibn Kathir mentions that 'Uqbah ibn Abi Mu'ayt used to sit with the Prophet (peace be upon him), but his friend Ubayy ibn Khalaf blamed him, so he turned back and harmed the Prophet (peace be upon him). About him was revealed: “On that Day the wrongdoer will bite his hands, saying: If only I had taken a path with the Messenger! Woe to me! If only I had not taken so-and-so as a close friend”.</a:t>
            </a:r>
            <a:endParaRPr lang="en-US" sz="14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Surah</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500" dirty="0">
                <a:solidFill>
                  <a:schemeClr val="tx1"/>
                </a:solidFill>
                <a:latin typeface="Arial" pitchFamily="34" charset="0"/>
                <a:ea typeface="Arial" pitchFamily="34" charset="-122"/>
                <a:cs typeface="Arial" pitchFamily="34" charset="-120"/>
              </a:rPr>
              <a:t>This juz starts from verse 21: the wrongdoer's regret on the Day of Resurrection for keeping bad company, the wisdom of sending the Qur'an down in parts, signs of Allah's power in the shadow, the winds and water, then the qualities of the servants of the Most Merciful.</a:t>
            </a:r>
            <a:endParaRPr lang="en-US" sz="15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Al-Furqan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21 – 22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37360"/>
            <a:ext cx="548640" cy="548640"/>
          </a:xfrm>
          <a:prstGeom prst="star8">
            <a:avLst/>
          </a:prstGeom>
          <a:solidFill>
            <a:schemeClr val="accent2"/>
          </a:solidFill>
          <a:ln/>
        </p:spPr>
      </p:sp>
      <p:sp>
        <p:nvSpPr>
          <p:cNvPr id="6" name="Shape 4"/>
          <p:cNvSpPr/>
          <p:nvPr/>
        </p:nvSpPr>
        <p:spPr>
          <a:xfrm>
            <a:off x="822960" y="184708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3736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21</a:t>
            </a:r>
            <a:endParaRPr lang="en-US" sz="1600" dirty="0"/>
          </a:p>
        </p:txBody>
      </p:sp>
      <p:sp>
        <p:nvSpPr>
          <p:cNvPr id="8" name="Text 6"/>
          <p:cNvSpPr txBox="1"/>
          <p:nvPr/>
        </p:nvSpPr>
        <p:spPr>
          <a:xfrm>
            <a:off x="1444752" y="1719072"/>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وَقَالَ الَّذِينَ لَا يَرْجُونَ لِقَآءَنَا لَوْلَآ أُنزِلَ عَلَيْنَا الْمَلَـٰئِكَةُ أَوْ نَرَىٰ رَبَّنَا لَقَدِ اسْتَكْبَرُواْ فِي أَنفُسِهِمْ وَعَتَوْ عُتُوًّا كَبِيرًا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who do not expect to meet Us said: Why are angels not sent down to us to tell us Muhammad is truthful, or why do we not see our Lord? They have become arrogant within themselves and gone far beyond the limits.</a:t>
            </a:r>
            <a:endParaRPr lang="en-US" sz="3000" dirty="0"/>
          </a:p>
        </p:txBody>
      </p:sp>
      <p:sp>
        <p:nvSpPr>
          <p:cNvPr id="9" name="Shape 7"/>
          <p:cNvSpPr/>
          <p:nvPr/>
        </p:nvSpPr>
        <p:spPr>
          <a:xfrm>
            <a:off x="1444752" y="3968496"/>
            <a:ext cx="8641080" cy="0"/>
          </a:xfrm>
          <a:prstGeom prst="line">
            <a:avLst/>
          </a:prstGeom>
          <a:noFill/>
          <a:ln w="9525">
            <a:solidFill>
              <a:schemeClr val="accent2"/>
            </a:solidFill>
            <a:prstDash val="dash"/>
          </a:ln>
        </p:spPr>
      </p:sp>
      <p:sp>
        <p:nvSpPr>
          <p:cNvPr id="10" name="Shape 8"/>
          <p:cNvSpPr/>
          <p:nvPr/>
        </p:nvSpPr>
        <p:spPr>
          <a:xfrm>
            <a:off x="713232" y="4201668"/>
            <a:ext cx="548640" cy="548640"/>
          </a:xfrm>
          <a:prstGeom prst="star8">
            <a:avLst/>
          </a:prstGeom>
          <a:solidFill>
            <a:schemeClr val="accent2"/>
          </a:solidFill>
          <a:ln/>
        </p:spPr>
      </p:sp>
      <p:sp>
        <p:nvSpPr>
          <p:cNvPr id="11" name="Shape 9"/>
          <p:cNvSpPr/>
          <p:nvPr/>
        </p:nvSpPr>
        <p:spPr>
          <a:xfrm>
            <a:off x="822960" y="431139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20166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22</a:t>
            </a:r>
            <a:endParaRPr lang="en-US" sz="1600" dirty="0"/>
          </a:p>
        </p:txBody>
      </p:sp>
      <p:sp>
        <p:nvSpPr>
          <p:cNvPr id="13" name="Text 11"/>
          <p:cNvSpPr txBox="1"/>
          <p:nvPr/>
        </p:nvSpPr>
        <p:spPr>
          <a:xfrm>
            <a:off x="1444752" y="4183380"/>
            <a:ext cx="10012680" cy="151333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يَوْمَ يَرَوْنَ الْمَلَـٰئِكَةَ لَا بُشْرَىٰ يَوْمَئِذٍ لِّلْمُجْرِمِينَ وَيَقُولُونَ حِجْرًا مَّحْجُورًا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On the Day they see the angels, at death and on the Day of Resurrection, there will be no good news that Day for the criminals, and the angels will say to them: Paradise is completely forbidden to you.</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85</a:t>
            </a:fld>
            <a:endParaRPr lang="en-US"/>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Al-Furqan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23 – 25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05356"/>
            <a:ext cx="548640" cy="548640"/>
          </a:xfrm>
          <a:prstGeom prst="star8">
            <a:avLst/>
          </a:prstGeom>
          <a:solidFill>
            <a:schemeClr val="accent2"/>
          </a:solidFill>
          <a:ln/>
        </p:spPr>
      </p:sp>
      <p:sp>
        <p:nvSpPr>
          <p:cNvPr id="6" name="Shape 4"/>
          <p:cNvSpPr/>
          <p:nvPr/>
        </p:nvSpPr>
        <p:spPr>
          <a:xfrm>
            <a:off x="822960" y="18150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053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23</a:t>
            </a:r>
            <a:endParaRPr lang="en-US" sz="1600" dirty="0"/>
          </a:p>
        </p:txBody>
      </p:sp>
      <p:sp>
        <p:nvSpPr>
          <p:cNvPr id="8" name="Text 6"/>
          <p:cNvSpPr txBox="1"/>
          <p:nvPr/>
        </p:nvSpPr>
        <p:spPr>
          <a:xfrm>
            <a:off x="1444752" y="168706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وَقَدِمْنَآ إِلَىٰ مَا عَمِلُواْ مِنْ عَمَلٍ فَجَعَلْنَٰهُ هَبَآءً مَّنثُورًا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will turn to the good deeds they did in the world and make them like scattered dust with no value, because they were done without faith.</a:t>
            </a:r>
            <a:endParaRPr lang="en-US" sz="3000" dirty="0"/>
          </a:p>
        </p:txBody>
      </p:sp>
      <p:sp>
        <p:nvSpPr>
          <p:cNvPr id="9" name="Shape 7"/>
          <p:cNvSpPr/>
          <p:nvPr/>
        </p:nvSpPr>
        <p:spPr>
          <a:xfrm>
            <a:off x="1444752" y="3127248"/>
            <a:ext cx="8641080" cy="0"/>
          </a:xfrm>
          <a:prstGeom prst="line">
            <a:avLst/>
          </a:prstGeom>
          <a:noFill/>
          <a:ln w="9525">
            <a:solidFill>
              <a:schemeClr val="accent2"/>
            </a:solidFill>
            <a:prstDash val="dash"/>
          </a:ln>
        </p:spPr>
      </p:sp>
      <p:sp>
        <p:nvSpPr>
          <p:cNvPr id="10" name="Shape 8"/>
          <p:cNvSpPr/>
          <p:nvPr/>
        </p:nvSpPr>
        <p:spPr>
          <a:xfrm>
            <a:off x="713232" y="3360420"/>
            <a:ext cx="548640" cy="548640"/>
          </a:xfrm>
          <a:prstGeom prst="star8">
            <a:avLst/>
          </a:prstGeom>
          <a:solidFill>
            <a:schemeClr val="accent2"/>
          </a:solidFill>
          <a:ln/>
        </p:spPr>
      </p:sp>
      <p:sp>
        <p:nvSpPr>
          <p:cNvPr id="11" name="Shape 9"/>
          <p:cNvSpPr/>
          <p:nvPr/>
        </p:nvSpPr>
        <p:spPr>
          <a:xfrm>
            <a:off x="822960" y="347014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36042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24</a:t>
            </a:r>
            <a:endParaRPr lang="en-US" sz="1600" dirty="0"/>
          </a:p>
        </p:txBody>
      </p:sp>
      <p:sp>
        <p:nvSpPr>
          <p:cNvPr id="13" name="Text 11"/>
          <p:cNvSpPr txBox="1"/>
          <p:nvPr/>
        </p:nvSpPr>
        <p:spPr>
          <a:xfrm>
            <a:off x="1444752" y="334213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أَصْحَٰبُ الْجَنَّةِ يَوْمَئِذٍ خَيْرٌ مُّسْتَقَرًّا وَأَحْسَنُ مَقِيلًا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people of Paradise that Day will have the best home and the finest place of rest.</a:t>
            </a:r>
            <a:endParaRPr lang="en-US" sz="3000" dirty="0"/>
          </a:p>
        </p:txBody>
      </p:sp>
      <p:sp>
        <p:nvSpPr>
          <p:cNvPr id="14" name="Shape 12"/>
          <p:cNvSpPr/>
          <p:nvPr/>
        </p:nvSpPr>
        <p:spPr>
          <a:xfrm>
            <a:off x="1444752" y="4521708"/>
            <a:ext cx="8641080" cy="0"/>
          </a:xfrm>
          <a:prstGeom prst="line">
            <a:avLst/>
          </a:prstGeom>
          <a:noFill/>
          <a:ln w="9525">
            <a:solidFill>
              <a:schemeClr val="accent2"/>
            </a:solidFill>
            <a:prstDash val="dash"/>
          </a:ln>
        </p:spPr>
      </p:sp>
      <p:sp>
        <p:nvSpPr>
          <p:cNvPr id="15" name="Shape 13"/>
          <p:cNvSpPr/>
          <p:nvPr/>
        </p:nvSpPr>
        <p:spPr>
          <a:xfrm>
            <a:off x="713232" y="4754880"/>
            <a:ext cx="548640" cy="548640"/>
          </a:xfrm>
          <a:prstGeom prst="star8">
            <a:avLst/>
          </a:prstGeom>
          <a:solidFill>
            <a:schemeClr val="accent2"/>
          </a:solidFill>
          <a:ln/>
        </p:spPr>
      </p:sp>
      <p:sp>
        <p:nvSpPr>
          <p:cNvPr id="16" name="Shape 14"/>
          <p:cNvSpPr/>
          <p:nvPr/>
        </p:nvSpPr>
        <p:spPr>
          <a:xfrm>
            <a:off x="822960" y="4864608"/>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75488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25</a:t>
            </a:r>
            <a:endParaRPr lang="en-US" sz="1600" dirty="0"/>
          </a:p>
        </p:txBody>
      </p:sp>
      <p:sp>
        <p:nvSpPr>
          <p:cNvPr id="18" name="Text 16"/>
          <p:cNvSpPr txBox="1"/>
          <p:nvPr/>
        </p:nvSpPr>
        <p:spPr>
          <a:xfrm>
            <a:off x="1444752" y="473659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وَيَوْمَ تَشَقَّقُ السَّمَآءُ بِالْغَمَٰمِ وَنُزِّلَ الْمَلَـٰئِكَةُ تَنزِيلًا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On the Day the sky splits open and clouds appear above it, and the angels are sent down in ranks,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86</a:t>
            </a:fld>
            <a:endParaRPr lang="en-US"/>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Al-Furqan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26 – 28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75054"/>
            <a:ext cx="548640" cy="548640"/>
          </a:xfrm>
          <a:prstGeom prst="star8">
            <a:avLst/>
          </a:prstGeom>
          <a:solidFill>
            <a:schemeClr val="accent2"/>
          </a:solidFill>
          <a:ln/>
        </p:spPr>
      </p:sp>
      <p:sp>
        <p:nvSpPr>
          <p:cNvPr id="6" name="Shape 4"/>
          <p:cNvSpPr/>
          <p:nvPr/>
        </p:nvSpPr>
        <p:spPr>
          <a:xfrm>
            <a:off x="822960" y="168478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7505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26</a:t>
            </a:r>
            <a:endParaRPr lang="en-US" sz="1600" dirty="0"/>
          </a:p>
        </p:txBody>
      </p:sp>
      <p:sp>
        <p:nvSpPr>
          <p:cNvPr id="8" name="Text 6"/>
          <p:cNvSpPr txBox="1"/>
          <p:nvPr/>
        </p:nvSpPr>
        <p:spPr>
          <a:xfrm>
            <a:off x="1444752" y="155676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الْمُلْكُ يَوْمَئِذٍ الْحَقُّ لِلرَّحْمَٰنِ وَكَانَ يَوْمًا عَلَى الْكَٰفِرِينَ عَسِيرًا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true kingship that Day belongs to the Most Merciful alone, and it will be a hard Day for the disbelievers.</a:t>
            </a:r>
            <a:endParaRPr lang="en-US" sz="3000" dirty="0"/>
          </a:p>
        </p:txBody>
      </p:sp>
      <p:sp>
        <p:nvSpPr>
          <p:cNvPr id="9" name="Shape 7"/>
          <p:cNvSpPr/>
          <p:nvPr/>
        </p:nvSpPr>
        <p:spPr>
          <a:xfrm>
            <a:off x="1444752" y="2996946"/>
            <a:ext cx="8641080" cy="0"/>
          </a:xfrm>
          <a:prstGeom prst="line">
            <a:avLst/>
          </a:prstGeom>
          <a:noFill/>
          <a:ln w="9525">
            <a:solidFill>
              <a:schemeClr val="accent2"/>
            </a:solidFill>
            <a:prstDash val="dash"/>
          </a:ln>
        </p:spPr>
      </p:sp>
      <p:sp>
        <p:nvSpPr>
          <p:cNvPr id="10" name="Shape 8"/>
          <p:cNvSpPr/>
          <p:nvPr/>
        </p:nvSpPr>
        <p:spPr>
          <a:xfrm>
            <a:off x="713232" y="3230118"/>
            <a:ext cx="548640" cy="548640"/>
          </a:xfrm>
          <a:prstGeom prst="star8">
            <a:avLst/>
          </a:prstGeom>
          <a:solidFill>
            <a:schemeClr val="accent2"/>
          </a:solidFill>
          <a:ln/>
        </p:spPr>
      </p:sp>
      <p:sp>
        <p:nvSpPr>
          <p:cNvPr id="11" name="Shape 9"/>
          <p:cNvSpPr/>
          <p:nvPr/>
        </p:nvSpPr>
        <p:spPr>
          <a:xfrm>
            <a:off x="822960" y="333984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23011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27</a:t>
            </a:r>
            <a:endParaRPr lang="en-US" sz="1600" dirty="0"/>
          </a:p>
        </p:txBody>
      </p:sp>
      <p:sp>
        <p:nvSpPr>
          <p:cNvPr id="13" name="Text 11"/>
          <p:cNvSpPr txBox="1"/>
          <p:nvPr/>
        </p:nvSpPr>
        <p:spPr>
          <a:xfrm>
            <a:off x="1444752" y="321183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وَيَوْمَ يَعَضُّ الظَّالِمُ عَلَىٰ يَدَيْهِ يَقُولُ يَٰلَيْتَنِي اتَّخَذْتُ مَعَ الرَّسُولِ سَبِيلًا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On that Day the wrongdoer will bite his hands in regret, saying: If only I had taken a path to guidance with the Messenger!</a:t>
            </a:r>
            <a:endParaRPr lang="en-US" sz="3000" dirty="0"/>
          </a:p>
        </p:txBody>
      </p:sp>
      <p:sp>
        <p:nvSpPr>
          <p:cNvPr id="14" name="Shape 12"/>
          <p:cNvSpPr/>
          <p:nvPr/>
        </p:nvSpPr>
        <p:spPr>
          <a:xfrm>
            <a:off x="1444752" y="4652010"/>
            <a:ext cx="8641080" cy="0"/>
          </a:xfrm>
          <a:prstGeom prst="line">
            <a:avLst/>
          </a:prstGeom>
          <a:noFill/>
          <a:ln w="9525">
            <a:solidFill>
              <a:schemeClr val="accent2"/>
            </a:solidFill>
            <a:prstDash val="dash"/>
          </a:ln>
        </p:spPr>
      </p:sp>
      <p:sp>
        <p:nvSpPr>
          <p:cNvPr id="15" name="Shape 13"/>
          <p:cNvSpPr/>
          <p:nvPr/>
        </p:nvSpPr>
        <p:spPr>
          <a:xfrm>
            <a:off x="713232" y="4885182"/>
            <a:ext cx="548640" cy="548640"/>
          </a:xfrm>
          <a:prstGeom prst="star8">
            <a:avLst/>
          </a:prstGeom>
          <a:solidFill>
            <a:schemeClr val="accent2"/>
          </a:solidFill>
          <a:ln/>
        </p:spPr>
      </p:sp>
      <p:sp>
        <p:nvSpPr>
          <p:cNvPr id="16" name="Shape 14"/>
          <p:cNvSpPr/>
          <p:nvPr/>
        </p:nvSpPr>
        <p:spPr>
          <a:xfrm>
            <a:off x="822960" y="4994910"/>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88518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28</a:t>
            </a:r>
            <a:endParaRPr lang="en-US" sz="1600" dirty="0"/>
          </a:p>
        </p:txBody>
      </p:sp>
      <p:sp>
        <p:nvSpPr>
          <p:cNvPr id="18" name="Text 16"/>
          <p:cNvSpPr txBox="1"/>
          <p:nvPr/>
        </p:nvSpPr>
        <p:spPr>
          <a:xfrm>
            <a:off x="1444752" y="486689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يَٰوَيْلَتَىٰ لَيْتَنِي لَمْ أَتَّخِذْ فُلَانًا خَلِيلًا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Woe to me! If only I had not taken so-and-so, who misled me, as a close friend.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87</a:t>
            </a:fld>
            <a:endParaRPr lang="en-US"/>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Al-Furqan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29 – 31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75054"/>
            <a:ext cx="548640" cy="548640"/>
          </a:xfrm>
          <a:prstGeom prst="star8">
            <a:avLst/>
          </a:prstGeom>
          <a:solidFill>
            <a:schemeClr val="accent2"/>
          </a:solidFill>
          <a:ln/>
        </p:spPr>
      </p:sp>
      <p:sp>
        <p:nvSpPr>
          <p:cNvPr id="6" name="Shape 4"/>
          <p:cNvSpPr/>
          <p:nvPr/>
        </p:nvSpPr>
        <p:spPr>
          <a:xfrm>
            <a:off x="822960" y="168478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7505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29</a:t>
            </a:r>
            <a:endParaRPr lang="en-US" sz="1600" dirty="0"/>
          </a:p>
        </p:txBody>
      </p:sp>
      <p:sp>
        <p:nvSpPr>
          <p:cNvPr id="8" name="Text 6"/>
          <p:cNvSpPr txBox="1"/>
          <p:nvPr/>
        </p:nvSpPr>
        <p:spPr>
          <a:xfrm>
            <a:off x="1444752" y="155676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لَّقَدْ أَضَلَّنِي عَنِ الذِّكْرِ بَعْدَ إِذْ جَآءَنِي وَكَانَ الشَّيْطَٰنُ لِلْإِنسَٰنِ خَذُولًا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led me away from the Qur'an after it had come to me. Satan always lets man down.</a:t>
            </a:r>
            <a:endParaRPr lang="en-US" sz="3000" dirty="0"/>
          </a:p>
        </p:txBody>
      </p:sp>
      <p:sp>
        <p:nvSpPr>
          <p:cNvPr id="9" name="Shape 7"/>
          <p:cNvSpPr/>
          <p:nvPr/>
        </p:nvSpPr>
        <p:spPr>
          <a:xfrm>
            <a:off x="1444752" y="2736342"/>
            <a:ext cx="8641080" cy="0"/>
          </a:xfrm>
          <a:prstGeom prst="line">
            <a:avLst/>
          </a:prstGeom>
          <a:noFill/>
          <a:ln w="9525">
            <a:solidFill>
              <a:schemeClr val="accent2"/>
            </a:solidFill>
            <a:prstDash val="dash"/>
          </a:ln>
        </p:spPr>
      </p:sp>
      <p:sp>
        <p:nvSpPr>
          <p:cNvPr id="10" name="Shape 8"/>
          <p:cNvSpPr/>
          <p:nvPr/>
        </p:nvSpPr>
        <p:spPr>
          <a:xfrm>
            <a:off x="713232" y="2969514"/>
            <a:ext cx="548640" cy="548640"/>
          </a:xfrm>
          <a:prstGeom prst="star8">
            <a:avLst/>
          </a:prstGeom>
          <a:solidFill>
            <a:schemeClr val="accent2"/>
          </a:solidFill>
          <a:ln/>
        </p:spPr>
      </p:sp>
      <p:sp>
        <p:nvSpPr>
          <p:cNvPr id="11" name="Shape 9"/>
          <p:cNvSpPr/>
          <p:nvPr/>
        </p:nvSpPr>
        <p:spPr>
          <a:xfrm>
            <a:off x="822960" y="3079242"/>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96951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30</a:t>
            </a:r>
            <a:endParaRPr lang="en-US" sz="1600" dirty="0"/>
          </a:p>
        </p:txBody>
      </p:sp>
      <p:sp>
        <p:nvSpPr>
          <p:cNvPr id="13" name="Text 11"/>
          <p:cNvSpPr txBox="1"/>
          <p:nvPr/>
        </p:nvSpPr>
        <p:spPr>
          <a:xfrm>
            <a:off x="1444752" y="295122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وَقَالَ الرَّسُولُ يَٰرَبِّ إِنَّ قَوْمِي اتَّخَذُواْ هَٰذَا الْقُرْءَانَ مَهْجُورًا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Messenger will complain: O my Lord, my people abandoned this Qur'an and turned away from it. Abandoning the Qur'an means leaving its recitation, reflection and acting on it.</a:t>
            </a:r>
            <a:endParaRPr lang="en-US" sz="3000" dirty="0"/>
          </a:p>
        </p:txBody>
      </p:sp>
      <p:sp>
        <p:nvSpPr>
          <p:cNvPr id="14" name="Shape 12"/>
          <p:cNvSpPr/>
          <p:nvPr/>
        </p:nvSpPr>
        <p:spPr>
          <a:xfrm>
            <a:off x="1444752" y="4391406"/>
            <a:ext cx="8641080" cy="0"/>
          </a:xfrm>
          <a:prstGeom prst="line">
            <a:avLst/>
          </a:prstGeom>
          <a:noFill/>
          <a:ln w="9525">
            <a:solidFill>
              <a:schemeClr val="accent2"/>
            </a:solidFill>
            <a:prstDash val="dash"/>
          </a:ln>
        </p:spPr>
      </p:sp>
      <p:sp>
        <p:nvSpPr>
          <p:cNvPr id="15" name="Shape 13"/>
          <p:cNvSpPr/>
          <p:nvPr/>
        </p:nvSpPr>
        <p:spPr>
          <a:xfrm>
            <a:off x="713232" y="4624578"/>
            <a:ext cx="548640" cy="548640"/>
          </a:xfrm>
          <a:prstGeom prst="star8">
            <a:avLst/>
          </a:prstGeom>
          <a:solidFill>
            <a:schemeClr val="accent2"/>
          </a:solidFill>
          <a:ln/>
        </p:spPr>
      </p:sp>
      <p:sp>
        <p:nvSpPr>
          <p:cNvPr id="16" name="Shape 14"/>
          <p:cNvSpPr/>
          <p:nvPr/>
        </p:nvSpPr>
        <p:spPr>
          <a:xfrm>
            <a:off x="822960" y="473430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6245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31</a:t>
            </a:r>
            <a:endParaRPr lang="en-US" sz="1600" dirty="0"/>
          </a:p>
        </p:txBody>
      </p:sp>
      <p:sp>
        <p:nvSpPr>
          <p:cNvPr id="18" name="Text 16"/>
          <p:cNvSpPr txBox="1"/>
          <p:nvPr/>
        </p:nvSpPr>
        <p:spPr>
          <a:xfrm>
            <a:off x="1444752" y="460629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وَكَذَٰلِكَ جَعَلْنَا لِكُلِّ نَبِيٍّ عَدُوًّا مِّنَ الْمُجْرِمِينَ وَكَفَىٰ بِرَبِّكَ هَادِيًا وَنَصِيرًا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Just as We made enemies for you, We made for every prophet an enemy from among the criminals. Your Lord is enough as a Guide and Helper.</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88</a:t>
            </a:fld>
            <a:endParaRPr lang="en-US"/>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Al-Furqan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32 – 34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62456"/>
            <a:ext cx="548640" cy="548640"/>
          </a:xfrm>
          <a:prstGeom prst="star8">
            <a:avLst/>
          </a:prstGeom>
          <a:solidFill>
            <a:schemeClr val="accent2"/>
          </a:solidFill>
          <a:ln/>
        </p:spPr>
      </p:sp>
      <p:sp>
        <p:nvSpPr>
          <p:cNvPr id="6" name="Shape 4"/>
          <p:cNvSpPr/>
          <p:nvPr/>
        </p:nvSpPr>
        <p:spPr>
          <a:xfrm>
            <a:off x="822960"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624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32</a:t>
            </a:r>
            <a:endParaRPr lang="en-US" sz="1600" dirty="0"/>
          </a:p>
        </p:txBody>
      </p:sp>
      <p:sp>
        <p:nvSpPr>
          <p:cNvPr id="8" name="Text 6"/>
          <p:cNvSpPr txBox="1"/>
          <p:nvPr/>
        </p:nvSpPr>
        <p:spPr>
          <a:xfrm>
            <a:off x="1444752" y="134416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وَقَالَ الَّذِينَ كَفَرُواْ لَوْلَا نُزِّلَ عَلَيْهِ الْقُرْءَانُ جُمْلَةً وَٰحِدَةً كَذَٰلِكَ لِنُثَبِّتَ بِهِ فُؤَادَكَ وَرَتَّلْنَٰهُ تَرْتِيلًا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disbelievers said: Why was the Qur'an not sent down to him all at once? We sent it down in parts to make your heart firm with it, and We recited it to you bit by bit, slowly.</a:t>
            </a:r>
            <a:endParaRPr lang="en-US" sz="3000" dirty="0"/>
          </a:p>
        </p:txBody>
      </p:sp>
      <p:sp>
        <p:nvSpPr>
          <p:cNvPr id="9" name="Shape 7"/>
          <p:cNvSpPr/>
          <p:nvPr/>
        </p:nvSpPr>
        <p:spPr>
          <a:xfrm>
            <a:off x="1444752" y="3236976"/>
            <a:ext cx="8641080" cy="0"/>
          </a:xfrm>
          <a:prstGeom prst="line">
            <a:avLst/>
          </a:prstGeom>
          <a:noFill/>
          <a:ln w="9525">
            <a:solidFill>
              <a:schemeClr val="accent2"/>
            </a:solidFill>
            <a:prstDash val="dash"/>
          </a:ln>
        </p:spPr>
      </p:sp>
      <p:sp>
        <p:nvSpPr>
          <p:cNvPr id="10" name="Shape 8"/>
          <p:cNvSpPr/>
          <p:nvPr/>
        </p:nvSpPr>
        <p:spPr>
          <a:xfrm>
            <a:off x="713232" y="3374136"/>
            <a:ext cx="548640" cy="548640"/>
          </a:xfrm>
          <a:prstGeom prst="star8">
            <a:avLst/>
          </a:prstGeom>
          <a:solidFill>
            <a:schemeClr val="accent2"/>
          </a:solidFill>
          <a:ln/>
        </p:spPr>
      </p:sp>
      <p:sp>
        <p:nvSpPr>
          <p:cNvPr id="11" name="Shape 9"/>
          <p:cNvSpPr/>
          <p:nvPr/>
        </p:nvSpPr>
        <p:spPr>
          <a:xfrm>
            <a:off x="822960" y="348386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37413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33</a:t>
            </a:r>
            <a:endParaRPr lang="en-US" sz="1600" dirty="0"/>
          </a:p>
        </p:txBody>
      </p:sp>
      <p:sp>
        <p:nvSpPr>
          <p:cNvPr id="13" name="Text 11"/>
          <p:cNvSpPr txBox="1"/>
          <p:nvPr/>
        </p:nvSpPr>
        <p:spPr>
          <a:xfrm>
            <a:off x="1444752" y="335584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وَلَا يَأْتُونَكَ بِمَثَلٍ إِلَّا جِئْنَٰكَ بِالْحَقِّ وَأَحْسَنَ تَفْسِيرًا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do not bring you any example or objection without Us bringing you the true answer and the best explanation.</a:t>
            </a:r>
            <a:endParaRPr lang="en-US" sz="3000" dirty="0"/>
          </a:p>
        </p:txBody>
      </p:sp>
      <p:sp>
        <p:nvSpPr>
          <p:cNvPr id="14" name="Shape 12"/>
          <p:cNvSpPr/>
          <p:nvPr/>
        </p:nvSpPr>
        <p:spPr>
          <a:xfrm>
            <a:off x="1444752" y="4700016"/>
            <a:ext cx="8641080" cy="0"/>
          </a:xfrm>
          <a:prstGeom prst="line">
            <a:avLst/>
          </a:prstGeom>
          <a:noFill/>
          <a:ln w="9525">
            <a:solidFill>
              <a:schemeClr val="accent2"/>
            </a:solidFill>
            <a:prstDash val="dash"/>
          </a:ln>
        </p:spPr>
      </p:sp>
      <p:sp>
        <p:nvSpPr>
          <p:cNvPr id="15" name="Shape 13"/>
          <p:cNvSpPr/>
          <p:nvPr/>
        </p:nvSpPr>
        <p:spPr>
          <a:xfrm>
            <a:off x="713232" y="4837176"/>
            <a:ext cx="548640" cy="548640"/>
          </a:xfrm>
          <a:prstGeom prst="star8">
            <a:avLst/>
          </a:prstGeom>
          <a:solidFill>
            <a:schemeClr val="accent2"/>
          </a:solidFill>
          <a:ln/>
        </p:spPr>
      </p:sp>
      <p:sp>
        <p:nvSpPr>
          <p:cNvPr id="16" name="Shape 14"/>
          <p:cNvSpPr/>
          <p:nvPr/>
        </p:nvSpPr>
        <p:spPr>
          <a:xfrm>
            <a:off x="822960" y="494690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83717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34</a:t>
            </a:r>
            <a:endParaRPr lang="en-US" sz="1600" dirty="0"/>
          </a:p>
        </p:txBody>
      </p:sp>
      <p:sp>
        <p:nvSpPr>
          <p:cNvPr id="18" name="Text 16"/>
          <p:cNvSpPr txBox="1"/>
          <p:nvPr/>
        </p:nvSpPr>
        <p:spPr>
          <a:xfrm>
            <a:off x="1444752" y="481888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الَّذِينَ يُحْشَرُونَ عَلَىٰ وُجُوهِهِمْ إِلَىٰ جَهَنَّمَ أُوْلَـٰئِكَ شَرٌّ مَّكَانًا وَأَضَلُّ سَبِيلًا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who will be gathered on their faces to Hell, they are in the worst place and furthest astray from the path.</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89</a:t>
            </a:fld>
            <a:endParaRPr lang="en-US"/>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Al-Furqan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35 – 37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05890"/>
            <a:ext cx="548640" cy="548640"/>
          </a:xfrm>
          <a:prstGeom prst="star8">
            <a:avLst/>
          </a:prstGeom>
          <a:solidFill>
            <a:schemeClr val="accent2"/>
          </a:solidFill>
          <a:ln/>
        </p:spPr>
      </p:sp>
      <p:sp>
        <p:nvSpPr>
          <p:cNvPr id="6" name="Shape 4"/>
          <p:cNvSpPr/>
          <p:nvPr/>
        </p:nvSpPr>
        <p:spPr>
          <a:xfrm>
            <a:off x="822960" y="151561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0589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35</a:t>
            </a:r>
            <a:endParaRPr lang="en-US" sz="1600" dirty="0"/>
          </a:p>
        </p:txBody>
      </p:sp>
      <p:sp>
        <p:nvSpPr>
          <p:cNvPr id="8" name="Text 6"/>
          <p:cNvSpPr txBox="1"/>
          <p:nvPr/>
        </p:nvSpPr>
        <p:spPr>
          <a:xfrm>
            <a:off x="1444752" y="138760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وَلَقَدْ ءَاتَيْنَا مُوسَى الْكِتَٰبَ وَجَعَلْنَا مَعَهُ أَخَاهُ هَٰرُونَ وَزِيرًا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gave Musa the Torah and made his brother Harun a helper with him.</a:t>
            </a:r>
            <a:endParaRPr lang="en-US" sz="3000" dirty="0"/>
          </a:p>
        </p:txBody>
      </p:sp>
      <p:sp>
        <p:nvSpPr>
          <p:cNvPr id="9" name="Shape 7"/>
          <p:cNvSpPr/>
          <p:nvPr/>
        </p:nvSpPr>
        <p:spPr>
          <a:xfrm>
            <a:off x="1444752" y="2514600"/>
            <a:ext cx="8641080" cy="0"/>
          </a:xfrm>
          <a:prstGeom prst="line">
            <a:avLst/>
          </a:prstGeom>
          <a:noFill/>
          <a:ln w="9525">
            <a:solidFill>
              <a:schemeClr val="accent2"/>
            </a:solidFill>
            <a:prstDash val="dash"/>
          </a:ln>
        </p:spPr>
      </p:sp>
      <p:sp>
        <p:nvSpPr>
          <p:cNvPr id="10" name="Shape 8"/>
          <p:cNvSpPr/>
          <p:nvPr/>
        </p:nvSpPr>
        <p:spPr>
          <a:xfrm>
            <a:off x="713232" y="2695194"/>
            <a:ext cx="548640" cy="548640"/>
          </a:xfrm>
          <a:prstGeom prst="star8">
            <a:avLst/>
          </a:prstGeom>
          <a:solidFill>
            <a:schemeClr val="accent2"/>
          </a:solidFill>
          <a:ln/>
        </p:spPr>
      </p:sp>
      <p:sp>
        <p:nvSpPr>
          <p:cNvPr id="11" name="Shape 9"/>
          <p:cNvSpPr/>
          <p:nvPr/>
        </p:nvSpPr>
        <p:spPr>
          <a:xfrm>
            <a:off x="822960" y="2804922"/>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9519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36</a:t>
            </a:r>
            <a:endParaRPr lang="en-US" sz="1600" dirty="0"/>
          </a:p>
        </p:txBody>
      </p:sp>
      <p:sp>
        <p:nvSpPr>
          <p:cNvPr id="13" name="Text 11"/>
          <p:cNvSpPr txBox="1"/>
          <p:nvPr/>
        </p:nvSpPr>
        <p:spPr>
          <a:xfrm>
            <a:off x="1444752" y="267690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فَقُلْنَا اذْهَبَآ إِلَى الْقَوْمِ الَّذِينَ كَذَّبُواْ بِـَٔايَٰتِنَا فَدَمَّرْنَٰهُمْ تَدْمِيرًا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said: Go, both of you, to Pharaoh and his people who denied Our signs. They denied them, so We destroyed them completely.</a:t>
            </a:r>
            <a:endParaRPr lang="en-US" sz="3000" dirty="0"/>
          </a:p>
        </p:txBody>
      </p:sp>
      <p:sp>
        <p:nvSpPr>
          <p:cNvPr id="14" name="Shape 12"/>
          <p:cNvSpPr/>
          <p:nvPr/>
        </p:nvSpPr>
        <p:spPr>
          <a:xfrm>
            <a:off x="1444752" y="4064508"/>
            <a:ext cx="8641080" cy="0"/>
          </a:xfrm>
          <a:prstGeom prst="line">
            <a:avLst/>
          </a:prstGeom>
          <a:noFill/>
          <a:ln w="9525">
            <a:solidFill>
              <a:schemeClr val="accent2"/>
            </a:solidFill>
            <a:prstDash val="dash"/>
          </a:ln>
        </p:spPr>
      </p:sp>
      <p:sp>
        <p:nvSpPr>
          <p:cNvPr id="15" name="Shape 13"/>
          <p:cNvSpPr/>
          <p:nvPr/>
        </p:nvSpPr>
        <p:spPr>
          <a:xfrm>
            <a:off x="713232" y="4245102"/>
            <a:ext cx="548640" cy="548640"/>
          </a:xfrm>
          <a:prstGeom prst="star8">
            <a:avLst/>
          </a:prstGeom>
          <a:solidFill>
            <a:schemeClr val="accent2"/>
          </a:solidFill>
          <a:ln/>
        </p:spPr>
      </p:sp>
      <p:sp>
        <p:nvSpPr>
          <p:cNvPr id="16" name="Shape 14"/>
          <p:cNvSpPr/>
          <p:nvPr/>
        </p:nvSpPr>
        <p:spPr>
          <a:xfrm>
            <a:off x="822960" y="4354830"/>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24510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37</a:t>
            </a:r>
            <a:endParaRPr lang="en-US" sz="1600" dirty="0"/>
          </a:p>
        </p:txBody>
      </p:sp>
      <p:sp>
        <p:nvSpPr>
          <p:cNvPr id="18" name="Text 16"/>
          <p:cNvSpPr txBox="1"/>
          <p:nvPr/>
        </p:nvSpPr>
        <p:spPr>
          <a:xfrm>
            <a:off x="1444752" y="4226814"/>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وَقَوْمَ نُوحٍ لَّمَّا كَذَّبُواْ الرُّسُلَ أَغْرَقْنَٰهُمْ وَجَعَلْنَٰهُمْ لِلنَّاسِ ءَايَةً وَأَعْتَدْنَا لِلظَّـٰلِمِينَ عَذَابًا أَلِيمًا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the people of Nuh, when they denied the messengers, We drowned them and made them a lesson for people, and We have prepared a painful punishment for the wrongdoers.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90</a:t>
            </a:fld>
            <a:endParaRPr lang="en-US"/>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Al-Furqan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38 – 40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05890"/>
            <a:ext cx="548640" cy="548640"/>
          </a:xfrm>
          <a:prstGeom prst="star8">
            <a:avLst/>
          </a:prstGeom>
          <a:solidFill>
            <a:schemeClr val="accent2"/>
          </a:solidFill>
          <a:ln/>
        </p:spPr>
      </p:sp>
      <p:sp>
        <p:nvSpPr>
          <p:cNvPr id="6" name="Shape 4"/>
          <p:cNvSpPr/>
          <p:nvPr/>
        </p:nvSpPr>
        <p:spPr>
          <a:xfrm>
            <a:off x="822960" y="151561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0589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38</a:t>
            </a:r>
            <a:endParaRPr lang="en-US" sz="1600" dirty="0"/>
          </a:p>
        </p:txBody>
      </p:sp>
      <p:sp>
        <p:nvSpPr>
          <p:cNvPr id="8" name="Text 6"/>
          <p:cNvSpPr txBox="1"/>
          <p:nvPr/>
        </p:nvSpPr>
        <p:spPr>
          <a:xfrm>
            <a:off x="1444752" y="138760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وَعَادًا وَثَمُودَاْ وَأَصْحَٰبَ الرَّسِّ وَقُرُونًا بَيْنَ ذَٰلِكَ كَثِيرًا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We destroyed 'Ad, Thamud, the people of the well, and many nations in between.</a:t>
            </a:r>
            <a:endParaRPr lang="en-US" sz="3000" dirty="0"/>
          </a:p>
        </p:txBody>
      </p:sp>
      <p:sp>
        <p:nvSpPr>
          <p:cNvPr id="9" name="Shape 7"/>
          <p:cNvSpPr/>
          <p:nvPr/>
        </p:nvSpPr>
        <p:spPr>
          <a:xfrm>
            <a:off x="1444752" y="2514600"/>
            <a:ext cx="8641080" cy="0"/>
          </a:xfrm>
          <a:prstGeom prst="line">
            <a:avLst/>
          </a:prstGeom>
          <a:noFill/>
          <a:ln w="9525">
            <a:solidFill>
              <a:schemeClr val="accent2"/>
            </a:solidFill>
            <a:prstDash val="dash"/>
          </a:ln>
        </p:spPr>
      </p:sp>
      <p:sp>
        <p:nvSpPr>
          <p:cNvPr id="10" name="Shape 8"/>
          <p:cNvSpPr/>
          <p:nvPr/>
        </p:nvSpPr>
        <p:spPr>
          <a:xfrm>
            <a:off x="713232" y="2695194"/>
            <a:ext cx="548640" cy="548640"/>
          </a:xfrm>
          <a:prstGeom prst="star8">
            <a:avLst/>
          </a:prstGeom>
          <a:solidFill>
            <a:schemeClr val="accent2"/>
          </a:solidFill>
          <a:ln/>
        </p:spPr>
      </p:sp>
      <p:sp>
        <p:nvSpPr>
          <p:cNvPr id="11" name="Shape 9"/>
          <p:cNvSpPr/>
          <p:nvPr/>
        </p:nvSpPr>
        <p:spPr>
          <a:xfrm>
            <a:off x="822960" y="2804922"/>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9519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39</a:t>
            </a:r>
            <a:endParaRPr lang="en-US" sz="1600" dirty="0"/>
          </a:p>
        </p:txBody>
      </p:sp>
      <p:sp>
        <p:nvSpPr>
          <p:cNvPr id="13" name="Text 11"/>
          <p:cNvSpPr txBox="1"/>
          <p:nvPr/>
        </p:nvSpPr>
        <p:spPr>
          <a:xfrm>
            <a:off x="1444752" y="267690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وَكُلًّا ضَرَبْنَا لَهُ الْأَمْثَٰلَ وَكُلًّا تَبَّرْنَا تَتْبِيرًا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To each We gave examples and lessons, and each We destroyed completely.</a:t>
            </a:r>
            <a:endParaRPr lang="en-US" sz="3000" dirty="0"/>
          </a:p>
        </p:txBody>
      </p:sp>
      <p:sp>
        <p:nvSpPr>
          <p:cNvPr id="14" name="Shape 12"/>
          <p:cNvSpPr/>
          <p:nvPr/>
        </p:nvSpPr>
        <p:spPr>
          <a:xfrm>
            <a:off x="1444752" y="3803904"/>
            <a:ext cx="8641080" cy="0"/>
          </a:xfrm>
          <a:prstGeom prst="line">
            <a:avLst/>
          </a:prstGeom>
          <a:noFill/>
          <a:ln w="9525">
            <a:solidFill>
              <a:schemeClr val="accent2"/>
            </a:solidFill>
            <a:prstDash val="dash"/>
          </a:ln>
        </p:spPr>
      </p:sp>
      <p:sp>
        <p:nvSpPr>
          <p:cNvPr id="15" name="Shape 13"/>
          <p:cNvSpPr/>
          <p:nvPr/>
        </p:nvSpPr>
        <p:spPr>
          <a:xfrm>
            <a:off x="713232" y="3984498"/>
            <a:ext cx="548640" cy="548640"/>
          </a:xfrm>
          <a:prstGeom prst="star8">
            <a:avLst/>
          </a:prstGeom>
          <a:solidFill>
            <a:schemeClr val="accent2"/>
          </a:solidFill>
          <a:ln/>
        </p:spPr>
      </p:sp>
      <p:sp>
        <p:nvSpPr>
          <p:cNvPr id="16" name="Shape 14"/>
          <p:cNvSpPr/>
          <p:nvPr/>
        </p:nvSpPr>
        <p:spPr>
          <a:xfrm>
            <a:off x="822960" y="409422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9844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40</a:t>
            </a:r>
            <a:endParaRPr lang="en-US" sz="1600" dirty="0"/>
          </a:p>
        </p:txBody>
      </p:sp>
      <p:sp>
        <p:nvSpPr>
          <p:cNvPr id="18" name="Text 16"/>
          <p:cNvSpPr txBox="1"/>
          <p:nvPr/>
        </p:nvSpPr>
        <p:spPr>
          <a:xfrm>
            <a:off x="1444752" y="3966210"/>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وَلَقَدْ أَتَوْاْ عَلَى الْقَرْيَةِ الَّتِي أُمْطِرَتْ مَطَرَ السَّوْءِ أَفَلَمْ يَكُونُواْ يَرَوْنَهَا بَلْ كَانُواْ لَا يَرْجُونَ نُشُورًا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disbelievers of Quraysh have passed on their journeys by the town of Lut's people, on which stones were rained. Did they not see it and take a lesson? Rather, they did not expect a resurrection.</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91</a:t>
            </a:fld>
            <a:endParaRPr lang="en-US"/>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Al-Furqan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41 – 43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05890"/>
            <a:ext cx="548640" cy="548640"/>
          </a:xfrm>
          <a:prstGeom prst="star8">
            <a:avLst/>
          </a:prstGeom>
          <a:solidFill>
            <a:schemeClr val="accent2"/>
          </a:solidFill>
          <a:ln/>
        </p:spPr>
      </p:sp>
      <p:sp>
        <p:nvSpPr>
          <p:cNvPr id="6" name="Shape 4"/>
          <p:cNvSpPr/>
          <p:nvPr/>
        </p:nvSpPr>
        <p:spPr>
          <a:xfrm>
            <a:off x="822960" y="151561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0589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41</a:t>
            </a:r>
            <a:endParaRPr lang="en-US" sz="1600" dirty="0"/>
          </a:p>
        </p:txBody>
      </p:sp>
      <p:sp>
        <p:nvSpPr>
          <p:cNvPr id="8" name="Text 6"/>
          <p:cNvSpPr txBox="1"/>
          <p:nvPr/>
        </p:nvSpPr>
        <p:spPr>
          <a:xfrm>
            <a:off x="1444752" y="138760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وَإِذَا رَأَوْكَ إِن يَتَّخِذُونَكَ إِلَّا هُزُوًا أَهَٰذَا الَّذِي بَعَثَ اللَّهُ رَسُولًا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they see you, they only make fun of you: Is this the one Allah has sent as a messenger?</a:t>
            </a:r>
            <a:endParaRPr lang="en-US" sz="3000" dirty="0"/>
          </a:p>
        </p:txBody>
      </p:sp>
      <p:sp>
        <p:nvSpPr>
          <p:cNvPr id="9" name="Shape 7"/>
          <p:cNvSpPr/>
          <p:nvPr/>
        </p:nvSpPr>
        <p:spPr>
          <a:xfrm>
            <a:off x="1444752" y="2514600"/>
            <a:ext cx="8641080" cy="0"/>
          </a:xfrm>
          <a:prstGeom prst="line">
            <a:avLst/>
          </a:prstGeom>
          <a:noFill/>
          <a:ln w="9525">
            <a:solidFill>
              <a:schemeClr val="accent2"/>
            </a:solidFill>
            <a:prstDash val="dash"/>
          </a:ln>
        </p:spPr>
      </p:sp>
      <p:sp>
        <p:nvSpPr>
          <p:cNvPr id="10" name="Shape 8"/>
          <p:cNvSpPr/>
          <p:nvPr/>
        </p:nvSpPr>
        <p:spPr>
          <a:xfrm>
            <a:off x="713232" y="2695194"/>
            <a:ext cx="548640" cy="548640"/>
          </a:xfrm>
          <a:prstGeom prst="star8">
            <a:avLst/>
          </a:prstGeom>
          <a:solidFill>
            <a:schemeClr val="accent2"/>
          </a:solidFill>
          <a:ln/>
        </p:spPr>
      </p:sp>
      <p:sp>
        <p:nvSpPr>
          <p:cNvPr id="11" name="Shape 9"/>
          <p:cNvSpPr/>
          <p:nvPr/>
        </p:nvSpPr>
        <p:spPr>
          <a:xfrm>
            <a:off x="822960" y="2804922"/>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9519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42</a:t>
            </a:r>
            <a:endParaRPr lang="en-US" sz="1600" dirty="0"/>
          </a:p>
        </p:txBody>
      </p:sp>
      <p:sp>
        <p:nvSpPr>
          <p:cNvPr id="13" name="Text 11"/>
          <p:cNvSpPr txBox="1"/>
          <p:nvPr/>
        </p:nvSpPr>
        <p:spPr>
          <a:xfrm>
            <a:off x="1444752" y="267690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كَادَ لَيُضِلُّنَا عَنْ ءَالِهَتِنَا لَوْلَآ أَن صَبَرْنَا عَلَيْهَا وَسَوْفَ يَعْلَمُونَ حِينَ يَرَوْنَ الْعَذَابَ مَنْ أَضَلُّ سَبِيلًا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almost turned us away from our gods, if we had not stayed patient with them. They will know when they see the punishment who is furthest astray from the path.</a:t>
            </a:r>
            <a:endParaRPr lang="en-US" sz="3000" dirty="0"/>
          </a:p>
        </p:txBody>
      </p:sp>
      <p:sp>
        <p:nvSpPr>
          <p:cNvPr id="14" name="Shape 12"/>
          <p:cNvSpPr/>
          <p:nvPr/>
        </p:nvSpPr>
        <p:spPr>
          <a:xfrm>
            <a:off x="1444752" y="4613148"/>
            <a:ext cx="8641080" cy="0"/>
          </a:xfrm>
          <a:prstGeom prst="line">
            <a:avLst/>
          </a:prstGeom>
          <a:noFill/>
          <a:ln w="9525">
            <a:solidFill>
              <a:schemeClr val="accent2"/>
            </a:solidFill>
            <a:prstDash val="dash"/>
          </a:ln>
        </p:spPr>
      </p:sp>
      <p:sp>
        <p:nvSpPr>
          <p:cNvPr id="15" name="Shape 13"/>
          <p:cNvSpPr/>
          <p:nvPr/>
        </p:nvSpPr>
        <p:spPr>
          <a:xfrm>
            <a:off x="713232" y="4793742"/>
            <a:ext cx="548640" cy="548640"/>
          </a:xfrm>
          <a:prstGeom prst="star8">
            <a:avLst/>
          </a:prstGeom>
          <a:solidFill>
            <a:schemeClr val="accent2"/>
          </a:solidFill>
          <a:ln/>
        </p:spPr>
      </p:sp>
      <p:sp>
        <p:nvSpPr>
          <p:cNvPr id="16" name="Shape 14"/>
          <p:cNvSpPr/>
          <p:nvPr/>
        </p:nvSpPr>
        <p:spPr>
          <a:xfrm>
            <a:off x="822960" y="4903470"/>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7937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43</a:t>
            </a:r>
            <a:endParaRPr lang="en-US" sz="1600" dirty="0"/>
          </a:p>
        </p:txBody>
      </p:sp>
      <p:sp>
        <p:nvSpPr>
          <p:cNvPr id="18" name="Text 16"/>
          <p:cNvSpPr txBox="1"/>
          <p:nvPr/>
        </p:nvSpPr>
        <p:spPr>
          <a:xfrm>
            <a:off x="1444752" y="477545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أَرَءَيْتَ مَنِ اتَّخَذَ إِلَٰهَهُ هَوَىٰهُ أَفَأَنتَ تَكُونُ عَلَيْهِ وَكِيلًا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Have you seen the one who has taken his desire as his god, obeying it in all he wants? Can you be his guardian, turning him away from it?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92</a:t>
            </a:fld>
            <a:endParaRPr lang="en-US"/>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Al-Furqan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44 – 45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23644"/>
            <a:ext cx="548640" cy="548640"/>
          </a:xfrm>
          <a:prstGeom prst="star8">
            <a:avLst/>
          </a:prstGeom>
          <a:solidFill>
            <a:schemeClr val="accent2"/>
          </a:solidFill>
          <a:ln/>
        </p:spPr>
      </p:sp>
      <p:sp>
        <p:nvSpPr>
          <p:cNvPr id="6" name="Shape 4"/>
          <p:cNvSpPr/>
          <p:nvPr/>
        </p:nvSpPr>
        <p:spPr>
          <a:xfrm>
            <a:off x="822960" y="183337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2364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44</a:t>
            </a:r>
            <a:endParaRPr lang="en-US" sz="1600" dirty="0"/>
          </a:p>
        </p:txBody>
      </p:sp>
      <p:sp>
        <p:nvSpPr>
          <p:cNvPr id="8" name="Text 6"/>
          <p:cNvSpPr txBox="1"/>
          <p:nvPr/>
        </p:nvSpPr>
        <p:spPr>
          <a:xfrm>
            <a:off x="1444752" y="170535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أَمْ تَحْسَبُ أَنَّ أَكْثَرَهُمْ يَسْمَعُونَ أَوْ يَعْقِلُونَ إِنْ هُمْ إِلَّا كَالْأَنْعَٰمِ بَلْ هُمْ أَضَلُّ سَبِيلًا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Or do you think most of them hear or understand? They are only like cattle; rather, they are further astray from the path.</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45</a:t>
            </a:r>
            <a:endParaRPr lang="en-US" sz="1600" dirty="0"/>
          </a:p>
        </p:txBody>
      </p:sp>
      <p:sp>
        <p:nvSpPr>
          <p:cNvPr id="13" name="Text 11"/>
          <p:cNvSpPr txBox="1"/>
          <p:nvPr/>
        </p:nvSpPr>
        <p:spPr>
          <a:xfrm>
            <a:off x="1444752" y="390906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أَلَمْ تَرَ إِلَىٰ رَبِّكَ كَيْفَ مَدَّ الظِّلَّ وَلَوْ شَآءَ لَجَعَلَهُ سَاكِنًا ثُمَّ جَعَلْنَا الشَّمْسَ عَلَيْهِ دَلِيلًا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Have you not seen your Lord's work, how He stretches the shadow from dawn until sunrise? If He willed, He could have made it still. Then We made the sun a guide to it.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93</a:t>
            </a:fld>
            <a:endParaRPr lang="en-US"/>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Al-Furqan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46 – 48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75054"/>
            <a:ext cx="548640" cy="548640"/>
          </a:xfrm>
          <a:prstGeom prst="star8">
            <a:avLst/>
          </a:prstGeom>
          <a:solidFill>
            <a:schemeClr val="accent2"/>
          </a:solidFill>
          <a:ln/>
        </p:spPr>
      </p:sp>
      <p:sp>
        <p:nvSpPr>
          <p:cNvPr id="6" name="Shape 4"/>
          <p:cNvSpPr/>
          <p:nvPr/>
        </p:nvSpPr>
        <p:spPr>
          <a:xfrm>
            <a:off x="822960" y="168478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7505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46</a:t>
            </a:r>
            <a:endParaRPr lang="en-US" sz="1600" dirty="0"/>
          </a:p>
        </p:txBody>
      </p:sp>
      <p:sp>
        <p:nvSpPr>
          <p:cNvPr id="8" name="Text 6"/>
          <p:cNvSpPr txBox="1"/>
          <p:nvPr/>
        </p:nvSpPr>
        <p:spPr>
          <a:xfrm>
            <a:off x="1444752" y="155676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ثُمَّ قَبَضْنَٰهُ إِلَيْنَا قَبْضًا يَسِيرًا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Then We pull the shadow back to Us little by little as the sun rises.</a:t>
            </a:r>
            <a:endParaRPr lang="en-US" sz="3000" dirty="0"/>
          </a:p>
        </p:txBody>
      </p:sp>
      <p:sp>
        <p:nvSpPr>
          <p:cNvPr id="9" name="Shape 7"/>
          <p:cNvSpPr/>
          <p:nvPr/>
        </p:nvSpPr>
        <p:spPr>
          <a:xfrm>
            <a:off x="1444752" y="2736342"/>
            <a:ext cx="8641080" cy="0"/>
          </a:xfrm>
          <a:prstGeom prst="line">
            <a:avLst/>
          </a:prstGeom>
          <a:noFill/>
          <a:ln w="9525">
            <a:solidFill>
              <a:schemeClr val="accent2"/>
            </a:solidFill>
            <a:prstDash val="dash"/>
          </a:ln>
        </p:spPr>
      </p:sp>
      <p:sp>
        <p:nvSpPr>
          <p:cNvPr id="10" name="Shape 8"/>
          <p:cNvSpPr/>
          <p:nvPr/>
        </p:nvSpPr>
        <p:spPr>
          <a:xfrm>
            <a:off x="713232" y="2969514"/>
            <a:ext cx="548640" cy="548640"/>
          </a:xfrm>
          <a:prstGeom prst="star8">
            <a:avLst/>
          </a:prstGeom>
          <a:solidFill>
            <a:schemeClr val="accent2"/>
          </a:solidFill>
          <a:ln/>
        </p:spPr>
      </p:sp>
      <p:sp>
        <p:nvSpPr>
          <p:cNvPr id="11" name="Shape 9"/>
          <p:cNvSpPr/>
          <p:nvPr/>
        </p:nvSpPr>
        <p:spPr>
          <a:xfrm>
            <a:off x="822960" y="3079242"/>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96951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47</a:t>
            </a:r>
            <a:endParaRPr lang="en-US" sz="1600" dirty="0"/>
          </a:p>
        </p:txBody>
      </p:sp>
      <p:sp>
        <p:nvSpPr>
          <p:cNvPr id="13" name="Text 11"/>
          <p:cNvSpPr txBox="1"/>
          <p:nvPr/>
        </p:nvSpPr>
        <p:spPr>
          <a:xfrm>
            <a:off x="1444752" y="295122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وَهُوَ الَّذِي جَعَلَ لَكُمُ الَّيْلَ لِبَاسًا وَالنَّوْمَ سُبَاتًا وَجَعَلَ النَّهَارَ نُشُورًا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is the One who made the night a covering for you like clothing, sleep a rest for your bodies, and the day for going out to seek provision.</a:t>
            </a:r>
            <a:endParaRPr lang="en-US" sz="3000" dirty="0"/>
          </a:p>
        </p:txBody>
      </p:sp>
      <p:sp>
        <p:nvSpPr>
          <p:cNvPr id="14" name="Shape 12"/>
          <p:cNvSpPr/>
          <p:nvPr/>
        </p:nvSpPr>
        <p:spPr>
          <a:xfrm>
            <a:off x="1444752" y="4391406"/>
            <a:ext cx="8641080" cy="0"/>
          </a:xfrm>
          <a:prstGeom prst="line">
            <a:avLst/>
          </a:prstGeom>
          <a:noFill/>
          <a:ln w="9525">
            <a:solidFill>
              <a:schemeClr val="accent2"/>
            </a:solidFill>
            <a:prstDash val="dash"/>
          </a:ln>
        </p:spPr>
      </p:sp>
      <p:sp>
        <p:nvSpPr>
          <p:cNvPr id="15" name="Shape 13"/>
          <p:cNvSpPr/>
          <p:nvPr/>
        </p:nvSpPr>
        <p:spPr>
          <a:xfrm>
            <a:off x="713232" y="4624578"/>
            <a:ext cx="548640" cy="548640"/>
          </a:xfrm>
          <a:prstGeom prst="star8">
            <a:avLst/>
          </a:prstGeom>
          <a:solidFill>
            <a:schemeClr val="accent2"/>
          </a:solidFill>
          <a:ln/>
        </p:spPr>
      </p:sp>
      <p:sp>
        <p:nvSpPr>
          <p:cNvPr id="16" name="Shape 14"/>
          <p:cNvSpPr/>
          <p:nvPr/>
        </p:nvSpPr>
        <p:spPr>
          <a:xfrm>
            <a:off x="822960" y="473430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6245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48</a:t>
            </a:r>
            <a:endParaRPr lang="en-US" sz="1600" dirty="0"/>
          </a:p>
        </p:txBody>
      </p:sp>
      <p:sp>
        <p:nvSpPr>
          <p:cNvPr id="18" name="Text 16"/>
          <p:cNvSpPr txBox="1"/>
          <p:nvPr/>
        </p:nvSpPr>
        <p:spPr>
          <a:xfrm>
            <a:off x="1444752" y="460629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وَهُوَ الَّذِي أَرْسَلَ الرِّيَٰحَ بُشْرًا بَيْنَ يَدَيْ رَحْمَتِهِ وَأَنزَلْنَا مِنَ السَّمَآءِ مَآءً طَهُورًا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is the One who sends the winds as good news of rain, and We send down pure, purifying water from the sky,</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94</a:t>
            </a:fld>
            <a:endParaRPr lang="en-US"/>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Al-Furqan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49 – 51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75054"/>
            <a:ext cx="548640" cy="548640"/>
          </a:xfrm>
          <a:prstGeom prst="star8">
            <a:avLst/>
          </a:prstGeom>
          <a:solidFill>
            <a:schemeClr val="accent2"/>
          </a:solidFill>
          <a:ln/>
        </p:spPr>
      </p:sp>
      <p:sp>
        <p:nvSpPr>
          <p:cNvPr id="6" name="Shape 4"/>
          <p:cNvSpPr/>
          <p:nvPr/>
        </p:nvSpPr>
        <p:spPr>
          <a:xfrm>
            <a:off x="822960" y="168478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7505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49</a:t>
            </a:r>
            <a:endParaRPr lang="en-US" sz="1600" dirty="0"/>
          </a:p>
        </p:txBody>
      </p:sp>
      <p:sp>
        <p:nvSpPr>
          <p:cNvPr id="8" name="Text 6"/>
          <p:cNvSpPr txBox="1"/>
          <p:nvPr/>
        </p:nvSpPr>
        <p:spPr>
          <a:xfrm>
            <a:off x="1444752" y="155676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لِّنُحْـِيَ بِهِ بَلْدَةً مَّيْتًا وَنُسْقِيَهُ مِمَّا خَلَقْنَآ أَنْعَٰمًا وَأَنَاسِيَّ كَثِيرًا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to bring dead land to life with it, and give drink with it to many animals and people We have created.</a:t>
            </a:r>
            <a:endParaRPr lang="en-US" sz="3000" dirty="0"/>
          </a:p>
        </p:txBody>
      </p:sp>
      <p:sp>
        <p:nvSpPr>
          <p:cNvPr id="9" name="Shape 7"/>
          <p:cNvSpPr/>
          <p:nvPr/>
        </p:nvSpPr>
        <p:spPr>
          <a:xfrm>
            <a:off x="1444752" y="2736342"/>
            <a:ext cx="8641080" cy="0"/>
          </a:xfrm>
          <a:prstGeom prst="line">
            <a:avLst/>
          </a:prstGeom>
          <a:noFill/>
          <a:ln w="9525">
            <a:solidFill>
              <a:schemeClr val="accent2"/>
            </a:solidFill>
            <a:prstDash val="dash"/>
          </a:ln>
        </p:spPr>
      </p:sp>
      <p:sp>
        <p:nvSpPr>
          <p:cNvPr id="10" name="Shape 8"/>
          <p:cNvSpPr/>
          <p:nvPr/>
        </p:nvSpPr>
        <p:spPr>
          <a:xfrm>
            <a:off x="713232" y="2969514"/>
            <a:ext cx="548640" cy="548640"/>
          </a:xfrm>
          <a:prstGeom prst="star8">
            <a:avLst/>
          </a:prstGeom>
          <a:solidFill>
            <a:schemeClr val="accent2"/>
          </a:solidFill>
          <a:ln/>
        </p:spPr>
      </p:sp>
      <p:sp>
        <p:nvSpPr>
          <p:cNvPr id="11" name="Shape 9"/>
          <p:cNvSpPr/>
          <p:nvPr/>
        </p:nvSpPr>
        <p:spPr>
          <a:xfrm>
            <a:off x="822960" y="3079242"/>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96951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50</a:t>
            </a:r>
            <a:endParaRPr lang="en-US" sz="1600" dirty="0"/>
          </a:p>
        </p:txBody>
      </p:sp>
      <p:sp>
        <p:nvSpPr>
          <p:cNvPr id="13" name="Text 11"/>
          <p:cNvSpPr txBox="1"/>
          <p:nvPr/>
        </p:nvSpPr>
        <p:spPr>
          <a:xfrm>
            <a:off x="1444752" y="295122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وَلَقَدْ صَرَّفْنَٰهُ بَيْنَهُمْ لِيَذَّكَّرُواْ فَأَبَىٰ أَكْثَرُ النَّاسِ إِلَّا كُفُورًا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have spread the rain among them and repeated the signs so that they may take heed, but most people refuse everything but ingratitude.</a:t>
            </a:r>
            <a:endParaRPr lang="en-US" sz="3000" dirty="0"/>
          </a:p>
        </p:txBody>
      </p:sp>
      <p:sp>
        <p:nvSpPr>
          <p:cNvPr id="14" name="Shape 12"/>
          <p:cNvSpPr/>
          <p:nvPr/>
        </p:nvSpPr>
        <p:spPr>
          <a:xfrm>
            <a:off x="1444752" y="4391406"/>
            <a:ext cx="8641080" cy="0"/>
          </a:xfrm>
          <a:prstGeom prst="line">
            <a:avLst/>
          </a:prstGeom>
          <a:noFill/>
          <a:ln w="9525">
            <a:solidFill>
              <a:schemeClr val="accent2"/>
            </a:solidFill>
            <a:prstDash val="dash"/>
          </a:ln>
        </p:spPr>
      </p:sp>
      <p:sp>
        <p:nvSpPr>
          <p:cNvPr id="15" name="Shape 13"/>
          <p:cNvSpPr/>
          <p:nvPr/>
        </p:nvSpPr>
        <p:spPr>
          <a:xfrm>
            <a:off x="713232" y="4624578"/>
            <a:ext cx="548640" cy="548640"/>
          </a:xfrm>
          <a:prstGeom prst="star8">
            <a:avLst/>
          </a:prstGeom>
          <a:solidFill>
            <a:schemeClr val="accent2"/>
          </a:solidFill>
          <a:ln/>
        </p:spPr>
      </p:sp>
      <p:sp>
        <p:nvSpPr>
          <p:cNvPr id="16" name="Shape 14"/>
          <p:cNvSpPr/>
          <p:nvPr/>
        </p:nvSpPr>
        <p:spPr>
          <a:xfrm>
            <a:off x="822960" y="473430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6245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51</a:t>
            </a:r>
            <a:endParaRPr lang="en-US" sz="1600" dirty="0"/>
          </a:p>
        </p:txBody>
      </p:sp>
      <p:sp>
        <p:nvSpPr>
          <p:cNvPr id="18" name="Text 16"/>
          <p:cNvSpPr txBox="1"/>
          <p:nvPr/>
        </p:nvSpPr>
        <p:spPr>
          <a:xfrm>
            <a:off x="1444752" y="460629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وَلَوْ شِئْنَا لَبَعَثْنَا فِي كُلِّ قَرْيَةٍ نَّذِيرًا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We willed, We could have sent a warner to every town, but We made you a messenger to all people.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95</a:t>
            </a:fld>
            <a:endParaRPr lang="en-US"/>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Al-Furqan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52 – 54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05890"/>
            <a:ext cx="548640" cy="548640"/>
          </a:xfrm>
          <a:prstGeom prst="star8">
            <a:avLst/>
          </a:prstGeom>
          <a:solidFill>
            <a:schemeClr val="accent2"/>
          </a:solidFill>
          <a:ln/>
        </p:spPr>
      </p:sp>
      <p:sp>
        <p:nvSpPr>
          <p:cNvPr id="6" name="Shape 4"/>
          <p:cNvSpPr/>
          <p:nvPr/>
        </p:nvSpPr>
        <p:spPr>
          <a:xfrm>
            <a:off x="822960" y="151561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0589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52</a:t>
            </a:r>
            <a:endParaRPr lang="en-US" sz="1600" dirty="0"/>
          </a:p>
        </p:txBody>
      </p:sp>
      <p:sp>
        <p:nvSpPr>
          <p:cNvPr id="8" name="Text 6"/>
          <p:cNvSpPr txBox="1"/>
          <p:nvPr/>
        </p:nvSpPr>
        <p:spPr>
          <a:xfrm>
            <a:off x="1444752" y="138760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فَلَا تُطِعِ الْكَٰفِرِينَ وَجَٰهِدْهُم بِهِ جِهَادًا كَبِيرًا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do not obey the disbelievers; strive against them with the Qur'an in a great struggle.</a:t>
            </a:r>
            <a:endParaRPr lang="en-US" sz="3000" dirty="0"/>
          </a:p>
        </p:txBody>
      </p:sp>
      <p:sp>
        <p:nvSpPr>
          <p:cNvPr id="9" name="Shape 7"/>
          <p:cNvSpPr/>
          <p:nvPr/>
        </p:nvSpPr>
        <p:spPr>
          <a:xfrm>
            <a:off x="1444752" y="2514600"/>
            <a:ext cx="8641080" cy="0"/>
          </a:xfrm>
          <a:prstGeom prst="line">
            <a:avLst/>
          </a:prstGeom>
          <a:noFill/>
          <a:ln w="9525">
            <a:solidFill>
              <a:schemeClr val="accent2"/>
            </a:solidFill>
            <a:prstDash val="dash"/>
          </a:ln>
        </p:spPr>
      </p:sp>
      <p:sp>
        <p:nvSpPr>
          <p:cNvPr id="10" name="Shape 8"/>
          <p:cNvSpPr/>
          <p:nvPr/>
        </p:nvSpPr>
        <p:spPr>
          <a:xfrm>
            <a:off x="713232" y="2695194"/>
            <a:ext cx="548640" cy="548640"/>
          </a:xfrm>
          <a:prstGeom prst="star8">
            <a:avLst/>
          </a:prstGeom>
          <a:solidFill>
            <a:schemeClr val="accent2"/>
          </a:solidFill>
          <a:ln/>
        </p:spPr>
      </p:sp>
      <p:sp>
        <p:nvSpPr>
          <p:cNvPr id="11" name="Shape 9"/>
          <p:cNvSpPr/>
          <p:nvPr/>
        </p:nvSpPr>
        <p:spPr>
          <a:xfrm>
            <a:off x="822960" y="2804922"/>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9519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53</a:t>
            </a:r>
            <a:endParaRPr lang="en-US" sz="1600" dirty="0"/>
          </a:p>
        </p:txBody>
      </p:sp>
      <p:sp>
        <p:nvSpPr>
          <p:cNvPr id="13" name="Text 11"/>
          <p:cNvSpPr txBox="1"/>
          <p:nvPr/>
        </p:nvSpPr>
        <p:spPr>
          <a:xfrm>
            <a:off x="1444752" y="267690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وَهُوَ الَّذِي مَرَجَ الْبَحْرَيْنِ هَٰذَا عَذْبٌ فُرَاتٌ وَهَٰذَا مِلْحٌ أُجَاجٌ وَجَعَلَ بَيْنَهُمَا بَرْزَخًا وَحِجْرًا مَّحْجُورًا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is the One who let two seas flow side by side: this one sweet and fresh, and that one very salty, and placed a barrier between them that keeps them from mixing.</a:t>
            </a:r>
            <a:endParaRPr lang="en-US" sz="3000" dirty="0"/>
          </a:p>
        </p:txBody>
      </p:sp>
      <p:sp>
        <p:nvSpPr>
          <p:cNvPr id="14" name="Shape 12"/>
          <p:cNvSpPr/>
          <p:nvPr/>
        </p:nvSpPr>
        <p:spPr>
          <a:xfrm>
            <a:off x="1444752" y="4613148"/>
            <a:ext cx="8641080" cy="0"/>
          </a:xfrm>
          <a:prstGeom prst="line">
            <a:avLst/>
          </a:prstGeom>
          <a:noFill/>
          <a:ln w="9525">
            <a:solidFill>
              <a:schemeClr val="accent2"/>
            </a:solidFill>
            <a:prstDash val="dash"/>
          </a:ln>
        </p:spPr>
      </p:sp>
      <p:sp>
        <p:nvSpPr>
          <p:cNvPr id="15" name="Shape 13"/>
          <p:cNvSpPr/>
          <p:nvPr/>
        </p:nvSpPr>
        <p:spPr>
          <a:xfrm>
            <a:off x="713232" y="4793742"/>
            <a:ext cx="548640" cy="548640"/>
          </a:xfrm>
          <a:prstGeom prst="star8">
            <a:avLst/>
          </a:prstGeom>
          <a:solidFill>
            <a:schemeClr val="accent2"/>
          </a:solidFill>
          <a:ln/>
        </p:spPr>
      </p:sp>
      <p:sp>
        <p:nvSpPr>
          <p:cNvPr id="16" name="Shape 14"/>
          <p:cNvSpPr/>
          <p:nvPr/>
        </p:nvSpPr>
        <p:spPr>
          <a:xfrm>
            <a:off x="822960" y="4903470"/>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7937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54</a:t>
            </a:r>
            <a:endParaRPr lang="en-US" sz="1600" dirty="0"/>
          </a:p>
        </p:txBody>
      </p:sp>
      <p:sp>
        <p:nvSpPr>
          <p:cNvPr id="18" name="Text 16"/>
          <p:cNvSpPr txBox="1"/>
          <p:nvPr/>
        </p:nvSpPr>
        <p:spPr>
          <a:xfrm>
            <a:off x="1444752" y="477545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وَهُوَ الَّذِي خَلَقَ مِنَ الْمَآءِ بَشَرًا فَجَعَلَهُ نَسَبًا وَصِهْرًا وَكَانَ رَبُّكَ قَدِيرًا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is the One who created humans from water and gave them family ties by birth and marriage. Your Lord is All-Powerful.</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96</a:t>
            </a:fld>
            <a:endParaRPr lang="en-US"/>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Al-Furqan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55 – 57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75054"/>
            <a:ext cx="548640" cy="548640"/>
          </a:xfrm>
          <a:prstGeom prst="star8">
            <a:avLst/>
          </a:prstGeom>
          <a:solidFill>
            <a:schemeClr val="accent2"/>
          </a:solidFill>
          <a:ln/>
        </p:spPr>
      </p:sp>
      <p:sp>
        <p:nvSpPr>
          <p:cNvPr id="6" name="Shape 4"/>
          <p:cNvSpPr/>
          <p:nvPr/>
        </p:nvSpPr>
        <p:spPr>
          <a:xfrm>
            <a:off x="822960" y="168478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7505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55</a:t>
            </a:r>
            <a:endParaRPr lang="en-US" sz="1600" dirty="0"/>
          </a:p>
        </p:txBody>
      </p:sp>
      <p:sp>
        <p:nvSpPr>
          <p:cNvPr id="8" name="Text 6"/>
          <p:cNvSpPr txBox="1"/>
          <p:nvPr/>
        </p:nvSpPr>
        <p:spPr>
          <a:xfrm>
            <a:off x="1444752" y="155676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وَيَعْبُدُونَ مِن دُونِ اللَّهِ مَا لَا يَنفَعُهُمْ وَلَا يَضُرُّهُمْ وَكَانَ الْكَافِرُ عَلَىٰ رَبِّهِ ظَهِيرًا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Yet they worship besides Allah what can neither benefit nor harm them, and the disbeliever helps Satan against his Lord.</a:t>
            </a:r>
            <a:endParaRPr lang="en-US" sz="3000" dirty="0"/>
          </a:p>
        </p:txBody>
      </p:sp>
      <p:sp>
        <p:nvSpPr>
          <p:cNvPr id="9" name="Shape 7"/>
          <p:cNvSpPr/>
          <p:nvPr/>
        </p:nvSpPr>
        <p:spPr>
          <a:xfrm>
            <a:off x="1444752" y="2996946"/>
            <a:ext cx="8641080" cy="0"/>
          </a:xfrm>
          <a:prstGeom prst="line">
            <a:avLst/>
          </a:prstGeom>
          <a:noFill/>
          <a:ln w="9525">
            <a:solidFill>
              <a:schemeClr val="accent2"/>
            </a:solidFill>
            <a:prstDash val="dash"/>
          </a:ln>
        </p:spPr>
      </p:sp>
      <p:sp>
        <p:nvSpPr>
          <p:cNvPr id="10" name="Shape 8"/>
          <p:cNvSpPr/>
          <p:nvPr/>
        </p:nvSpPr>
        <p:spPr>
          <a:xfrm>
            <a:off x="713232" y="3230118"/>
            <a:ext cx="548640" cy="548640"/>
          </a:xfrm>
          <a:prstGeom prst="star8">
            <a:avLst/>
          </a:prstGeom>
          <a:solidFill>
            <a:schemeClr val="accent2"/>
          </a:solidFill>
          <a:ln/>
        </p:spPr>
      </p:sp>
      <p:sp>
        <p:nvSpPr>
          <p:cNvPr id="11" name="Shape 9"/>
          <p:cNvSpPr/>
          <p:nvPr/>
        </p:nvSpPr>
        <p:spPr>
          <a:xfrm>
            <a:off x="822960" y="333984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23011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56</a:t>
            </a:r>
            <a:endParaRPr lang="en-US" sz="1600" dirty="0"/>
          </a:p>
        </p:txBody>
      </p:sp>
      <p:sp>
        <p:nvSpPr>
          <p:cNvPr id="13" name="Text 11"/>
          <p:cNvSpPr txBox="1"/>
          <p:nvPr/>
        </p:nvSpPr>
        <p:spPr>
          <a:xfrm>
            <a:off x="1444752" y="321183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أَرْسَلْنَٰكَ إِلَّا مُبَشِّرًا وَنَذِيرًا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have only sent you to give good news to the believers and to warn the disbelievers.</a:t>
            </a:r>
            <a:endParaRPr lang="en-US" sz="3000" dirty="0"/>
          </a:p>
        </p:txBody>
      </p:sp>
      <p:sp>
        <p:nvSpPr>
          <p:cNvPr id="14" name="Shape 12"/>
          <p:cNvSpPr/>
          <p:nvPr/>
        </p:nvSpPr>
        <p:spPr>
          <a:xfrm>
            <a:off x="1444752" y="4391406"/>
            <a:ext cx="8641080" cy="0"/>
          </a:xfrm>
          <a:prstGeom prst="line">
            <a:avLst/>
          </a:prstGeom>
          <a:noFill/>
          <a:ln w="9525">
            <a:solidFill>
              <a:schemeClr val="accent2"/>
            </a:solidFill>
            <a:prstDash val="dash"/>
          </a:ln>
        </p:spPr>
      </p:sp>
      <p:sp>
        <p:nvSpPr>
          <p:cNvPr id="15" name="Shape 13"/>
          <p:cNvSpPr/>
          <p:nvPr/>
        </p:nvSpPr>
        <p:spPr>
          <a:xfrm>
            <a:off x="713232" y="4624578"/>
            <a:ext cx="548640" cy="548640"/>
          </a:xfrm>
          <a:prstGeom prst="star8">
            <a:avLst/>
          </a:prstGeom>
          <a:solidFill>
            <a:schemeClr val="accent2"/>
          </a:solidFill>
          <a:ln/>
        </p:spPr>
      </p:sp>
      <p:sp>
        <p:nvSpPr>
          <p:cNvPr id="16" name="Shape 14"/>
          <p:cNvSpPr/>
          <p:nvPr/>
        </p:nvSpPr>
        <p:spPr>
          <a:xfrm>
            <a:off x="822960" y="473430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6245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57</a:t>
            </a:r>
            <a:endParaRPr lang="en-US" sz="1600" dirty="0"/>
          </a:p>
        </p:txBody>
      </p:sp>
      <p:sp>
        <p:nvSpPr>
          <p:cNvPr id="18" name="Text 16"/>
          <p:cNvSpPr txBox="1"/>
          <p:nvPr/>
        </p:nvSpPr>
        <p:spPr>
          <a:xfrm>
            <a:off x="1444752" y="460629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مَآ أَسْـَٔلُكُمْ عَلَيْهِ مِنْ أَجْرٍ إِلَّا مَن شَآءَ أَن يَتَّخِذَ إِلَىٰ رَبِّهِ سَبِيلًا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I do not ask you for any payment for delivering the message, only that whoever wishes may take a path to his Lord through faith and obedience.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97</a:t>
            </a:fld>
            <a:endParaRPr lang="en-US"/>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Al-Furqan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58 – 59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58</a:t>
            </a:r>
            <a:endParaRPr lang="en-US" sz="1600" dirty="0"/>
          </a:p>
        </p:txBody>
      </p:sp>
      <p:sp>
        <p:nvSpPr>
          <p:cNvPr id="8" name="Text 6"/>
          <p:cNvSpPr txBox="1"/>
          <p:nvPr/>
        </p:nvSpPr>
        <p:spPr>
          <a:xfrm>
            <a:off x="1444752" y="197967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وَتَوَكَّلْ عَلَى الْحَيِّ الَّذِي لَا يَمُوتُ وَسَبِّحْ بِحَمْدِهِ وَكَفَىٰ بِهِ بِذُنُوبِ عِبَادِهِ خَبِيرًا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Put your trust in the Ever-Living who never dies, and glorify Him with praise. He is enough as One who knows the sins of His servants.</a:t>
            </a:r>
            <a:endParaRPr lang="en-US" sz="3000" dirty="0"/>
          </a:p>
        </p:txBody>
      </p:sp>
      <p:sp>
        <p:nvSpPr>
          <p:cNvPr id="9" name="Shape 7"/>
          <p:cNvSpPr/>
          <p:nvPr/>
        </p:nvSpPr>
        <p:spPr>
          <a:xfrm>
            <a:off x="1444752" y="3419856"/>
            <a:ext cx="8641080" cy="0"/>
          </a:xfrm>
          <a:prstGeom prst="line">
            <a:avLst/>
          </a:prstGeom>
          <a:noFill/>
          <a:ln w="9525">
            <a:solidFill>
              <a:schemeClr val="accent2"/>
            </a:solidFill>
            <a:prstDash val="dash"/>
          </a:ln>
        </p:spPr>
      </p:sp>
      <p:sp>
        <p:nvSpPr>
          <p:cNvPr id="10" name="Shape 8"/>
          <p:cNvSpPr/>
          <p:nvPr/>
        </p:nvSpPr>
        <p:spPr>
          <a:xfrm>
            <a:off x="713232" y="3653028"/>
            <a:ext cx="548640" cy="548640"/>
          </a:xfrm>
          <a:prstGeom prst="star8">
            <a:avLst/>
          </a:prstGeom>
          <a:solidFill>
            <a:schemeClr val="accent2"/>
          </a:solidFill>
          <a:ln/>
        </p:spPr>
      </p:sp>
      <p:sp>
        <p:nvSpPr>
          <p:cNvPr id="11" name="Shape 9"/>
          <p:cNvSpPr/>
          <p:nvPr/>
        </p:nvSpPr>
        <p:spPr>
          <a:xfrm>
            <a:off x="822960" y="376275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65302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59</a:t>
            </a:r>
            <a:endParaRPr lang="en-US" sz="1600" dirty="0"/>
          </a:p>
        </p:txBody>
      </p:sp>
      <p:sp>
        <p:nvSpPr>
          <p:cNvPr id="13" name="Text 11"/>
          <p:cNvSpPr txBox="1"/>
          <p:nvPr/>
        </p:nvSpPr>
        <p:spPr>
          <a:xfrm>
            <a:off x="1444752" y="363474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الَّذِي خَلَقَ السَّمَٰوَٰتِ وَالْأَرْضَ وَمَا بَيْنَهُمَا فِي سِتَّةِ أَيَّامٍ ثُمَّ اسْتَوَىٰ عَلَى الْعَرْشِ الرَّحْمَٰنُ فَسْـَٔلْ بِهِ خَبِيرًا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created the heavens and the earth and what is between them in six days, then rose above the Throne in a way that suits His majesty. He is the Most Merciful, so ask about Him one who knows.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98</a:t>
            </a:fld>
            <a:endParaRPr lang="en-US"/>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Al-Furqan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60 – 62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10462"/>
            <a:ext cx="548640" cy="548640"/>
          </a:xfrm>
          <a:prstGeom prst="star8">
            <a:avLst/>
          </a:prstGeom>
          <a:solidFill>
            <a:schemeClr val="accent2"/>
          </a:solidFill>
          <a:ln/>
        </p:spPr>
      </p:sp>
      <p:sp>
        <p:nvSpPr>
          <p:cNvPr id="6" name="Shape 4"/>
          <p:cNvSpPr/>
          <p:nvPr/>
        </p:nvSpPr>
        <p:spPr>
          <a:xfrm>
            <a:off x="822960" y="152019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1046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60</a:t>
            </a:r>
            <a:endParaRPr lang="en-US" sz="1600" dirty="0"/>
          </a:p>
        </p:txBody>
      </p:sp>
      <p:sp>
        <p:nvSpPr>
          <p:cNvPr id="8" name="Text 6"/>
          <p:cNvSpPr txBox="1"/>
          <p:nvPr/>
        </p:nvSpPr>
        <p:spPr>
          <a:xfrm>
            <a:off x="1444752" y="1392174"/>
            <a:ext cx="10012680" cy="151333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وَإِذَا قِيلَ لَهُمُ اسْجُدُواْ لِلرَّحْمَٰنِ قَالُواْ وَمَا الرَّحْمَٰنُ أَنَسْجُدُ لِمَا تَأْمُرُنَا وَزَادَهُمْ نُفُورًا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the idol-worshippers are told: Bow down to the Most Merciful, they say: And what is the Most Merciful? Should we bow down to whatever you tell us? And it only makes them run away more. This is a place of prostration in recitation.</a:t>
            </a:r>
            <a:endParaRPr lang="en-US" sz="3000" dirty="0"/>
          </a:p>
        </p:txBody>
      </p:sp>
      <p:sp>
        <p:nvSpPr>
          <p:cNvPr id="9" name="Shape 7"/>
          <p:cNvSpPr/>
          <p:nvPr/>
        </p:nvSpPr>
        <p:spPr>
          <a:xfrm>
            <a:off x="1444752" y="3044952"/>
            <a:ext cx="8641080" cy="0"/>
          </a:xfrm>
          <a:prstGeom prst="line">
            <a:avLst/>
          </a:prstGeom>
          <a:noFill/>
          <a:ln w="9525">
            <a:solidFill>
              <a:schemeClr val="accent2"/>
            </a:solidFill>
            <a:prstDash val="dash"/>
          </a:ln>
        </p:spPr>
      </p:sp>
      <p:sp>
        <p:nvSpPr>
          <p:cNvPr id="10" name="Shape 8"/>
          <p:cNvSpPr/>
          <p:nvPr/>
        </p:nvSpPr>
        <p:spPr>
          <a:xfrm>
            <a:off x="713232" y="3230118"/>
            <a:ext cx="548640" cy="548640"/>
          </a:xfrm>
          <a:prstGeom prst="star8">
            <a:avLst/>
          </a:prstGeom>
          <a:solidFill>
            <a:schemeClr val="accent2"/>
          </a:solidFill>
          <a:ln/>
        </p:spPr>
      </p:sp>
      <p:sp>
        <p:nvSpPr>
          <p:cNvPr id="11" name="Shape 9"/>
          <p:cNvSpPr/>
          <p:nvPr/>
        </p:nvSpPr>
        <p:spPr>
          <a:xfrm>
            <a:off x="822960" y="333984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23011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61</a:t>
            </a:r>
            <a:endParaRPr lang="en-US" sz="1600" dirty="0"/>
          </a:p>
        </p:txBody>
      </p:sp>
      <p:sp>
        <p:nvSpPr>
          <p:cNvPr id="13" name="Text 11"/>
          <p:cNvSpPr txBox="1"/>
          <p:nvPr/>
        </p:nvSpPr>
        <p:spPr>
          <a:xfrm>
            <a:off x="1444752" y="321183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تَبَارَكَ الَّذِي جَعَلَ فِي السَّمَآءِ بُرُوجًا وَجَعَلَ فِيهَا سِرَٰجًا وَقَمَرًا مُّنِيرًا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Blessed is Allah, who placed in the sky positions for the stars, and placed in it the sun like a lamp and a shining moon.</a:t>
            </a:r>
            <a:endParaRPr lang="en-US" sz="3000" dirty="0"/>
          </a:p>
        </p:txBody>
      </p:sp>
      <p:sp>
        <p:nvSpPr>
          <p:cNvPr id="14" name="Shape 12"/>
          <p:cNvSpPr/>
          <p:nvPr/>
        </p:nvSpPr>
        <p:spPr>
          <a:xfrm>
            <a:off x="1444752" y="4604004"/>
            <a:ext cx="8641080" cy="0"/>
          </a:xfrm>
          <a:prstGeom prst="line">
            <a:avLst/>
          </a:prstGeom>
          <a:noFill/>
          <a:ln w="9525">
            <a:solidFill>
              <a:schemeClr val="accent2"/>
            </a:solidFill>
            <a:prstDash val="dash"/>
          </a:ln>
        </p:spPr>
      </p:sp>
      <p:sp>
        <p:nvSpPr>
          <p:cNvPr id="15" name="Shape 13"/>
          <p:cNvSpPr/>
          <p:nvPr/>
        </p:nvSpPr>
        <p:spPr>
          <a:xfrm>
            <a:off x="713232" y="4789170"/>
            <a:ext cx="548640" cy="548640"/>
          </a:xfrm>
          <a:prstGeom prst="star8">
            <a:avLst/>
          </a:prstGeom>
          <a:solidFill>
            <a:schemeClr val="accent2"/>
          </a:solidFill>
          <a:ln/>
        </p:spPr>
      </p:sp>
      <p:sp>
        <p:nvSpPr>
          <p:cNvPr id="16" name="Shape 14"/>
          <p:cNvSpPr/>
          <p:nvPr/>
        </p:nvSpPr>
        <p:spPr>
          <a:xfrm>
            <a:off x="822960" y="4898898"/>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78917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62</a:t>
            </a:r>
            <a:endParaRPr lang="en-US" sz="1600" dirty="0"/>
          </a:p>
        </p:txBody>
      </p:sp>
      <p:sp>
        <p:nvSpPr>
          <p:cNvPr id="18" name="Text 16"/>
          <p:cNvSpPr txBox="1"/>
          <p:nvPr/>
        </p:nvSpPr>
        <p:spPr>
          <a:xfrm>
            <a:off x="1444752" y="477088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وَهُوَ الَّذِي جَعَلَ الَّيْلَ وَالنَّهَارَ خِلْفَةً لِّمَنْ أَرَادَ أَن يَذَّكَّرَ أَوْ أَرَادَ شُكُورًا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is the One who made the night and the day follow each other, for whoever wants to take heed or be thankful. Whoever misses a good deed in one can make it up in the other.</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99</a:t>
            </a:fld>
            <a:endParaRPr lang="en-US"/>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Al-Furqan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63 – 65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75054"/>
            <a:ext cx="548640" cy="548640"/>
          </a:xfrm>
          <a:prstGeom prst="star8">
            <a:avLst/>
          </a:prstGeom>
          <a:solidFill>
            <a:schemeClr val="accent2"/>
          </a:solidFill>
          <a:ln/>
        </p:spPr>
      </p:sp>
      <p:sp>
        <p:nvSpPr>
          <p:cNvPr id="6" name="Shape 4"/>
          <p:cNvSpPr/>
          <p:nvPr/>
        </p:nvSpPr>
        <p:spPr>
          <a:xfrm>
            <a:off x="822960" y="168478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7505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63</a:t>
            </a:r>
            <a:endParaRPr lang="en-US" sz="1600" dirty="0"/>
          </a:p>
        </p:txBody>
      </p:sp>
      <p:sp>
        <p:nvSpPr>
          <p:cNvPr id="8" name="Text 6"/>
          <p:cNvSpPr txBox="1"/>
          <p:nvPr/>
        </p:nvSpPr>
        <p:spPr>
          <a:xfrm>
            <a:off x="1444752" y="155676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وَعِبَادُ الرَّحْمَٰنِ الَّذِينَ يَمْشُونَ عَلَى الْأَرْضِ هَوْنًا وَإِذَا خَاطَبَهُمُ الْجَٰهِلُونَ قَالُواْ سَلَٰمًا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servants of the Most Merciful are those who walk on the earth humbly and calmly, and when the ignorant speak badly to them, they reply with words free of sin,</a:t>
            </a:r>
            <a:endParaRPr lang="en-US" sz="3000" dirty="0"/>
          </a:p>
        </p:txBody>
      </p:sp>
      <p:sp>
        <p:nvSpPr>
          <p:cNvPr id="9" name="Shape 7"/>
          <p:cNvSpPr/>
          <p:nvPr/>
        </p:nvSpPr>
        <p:spPr>
          <a:xfrm>
            <a:off x="1444752" y="2996946"/>
            <a:ext cx="8641080" cy="0"/>
          </a:xfrm>
          <a:prstGeom prst="line">
            <a:avLst/>
          </a:prstGeom>
          <a:noFill/>
          <a:ln w="9525">
            <a:solidFill>
              <a:schemeClr val="accent2"/>
            </a:solidFill>
            <a:prstDash val="dash"/>
          </a:ln>
        </p:spPr>
      </p:sp>
      <p:sp>
        <p:nvSpPr>
          <p:cNvPr id="10" name="Shape 8"/>
          <p:cNvSpPr/>
          <p:nvPr/>
        </p:nvSpPr>
        <p:spPr>
          <a:xfrm>
            <a:off x="713232" y="3230118"/>
            <a:ext cx="548640" cy="548640"/>
          </a:xfrm>
          <a:prstGeom prst="star8">
            <a:avLst/>
          </a:prstGeom>
          <a:solidFill>
            <a:schemeClr val="accent2"/>
          </a:solidFill>
          <a:ln/>
        </p:spPr>
      </p:sp>
      <p:sp>
        <p:nvSpPr>
          <p:cNvPr id="11" name="Shape 9"/>
          <p:cNvSpPr/>
          <p:nvPr/>
        </p:nvSpPr>
        <p:spPr>
          <a:xfrm>
            <a:off x="822960" y="333984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23011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64</a:t>
            </a:r>
            <a:endParaRPr lang="en-US" sz="1600" dirty="0"/>
          </a:p>
        </p:txBody>
      </p:sp>
      <p:sp>
        <p:nvSpPr>
          <p:cNvPr id="13" name="Text 11"/>
          <p:cNvSpPr txBox="1"/>
          <p:nvPr/>
        </p:nvSpPr>
        <p:spPr>
          <a:xfrm>
            <a:off x="1444752" y="321183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وَالَّذِينَ يَبِيتُونَ لِرَبِّهِمْ سُجَّدًا وَقِيَٰمًا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those who spend the night bowing down and standing in prayer to their Lord,</a:t>
            </a:r>
            <a:endParaRPr lang="en-US" sz="3000" dirty="0"/>
          </a:p>
        </p:txBody>
      </p:sp>
      <p:sp>
        <p:nvSpPr>
          <p:cNvPr id="14" name="Shape 12"/>
          <p:cNvSpPr/>
          <p:nvPr/>
        </p:nvSpPr>
        <p:spPr>
          <a:xfrm>
            <a:off x="1444752" y="4391406"/>
            <a:ext cx="8641080" cy="0"/>
          </a:xfrm>
          <a:prstGeom prst="line">
            <a:avLst/>
          </a:prstGeom>
          <a:noFill/>
          <a:ln w="9525">
            <a:solidFill>
              <a:schemeClr val="accent2"/>
            </a:solidFill>
            <a:prstDash val="dash"/>
          </a:ln>
        </p:spPr>
      </p:sp>
      <p:sp>
        <p:nvSpPr>
          <p:cNvPr id="15" name="Shape 13"/>
          <p:cNvSpPr/>
          <p:nvPr/>
        </p:nvSpPr>
        <p:spPr>
          <a:xfrm>
            <a:off x="713232" y="4624578"/>
            <a:ext cx="548640" cy="548640"/>
          </a:xfrm>
          <a:prstGeom prst="star8">
            <a:avLst/>
          </a:prstGeom>
          <a:solidFill>
            <a:schemeClr val="accent2"/>
          </a:solidFill>
          <a:ln/>
        </p:spPr>
      </p:sp>
      <p:sp>
        <p:nvSpPr>
          <p:cNvPr id="16" name="Shape 14"/>
          <p:cNvSpPr/>
          <p:nvPr/>
        </p:nvSpPr>
        <p:spPr>
          <a:xfrm>
            <a:off x="822960" y="473430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6245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65</a:t>
            </a:r>
            <a:endParaRPr lang="en-US" sz="1600" dirty="0"/>
          </a:p>
        </p:txBody>
      </p:sp>
      <p:sp>
        <p:nvSpPr>
          <p:cNvPr id="18" name="Text 16"/>
          <p:cNvSpPr txBox="1"/>
          <p:nvPr/>
        </p:nvSpPr>
        <p:spPr>
          <a:xfrm>
            <a:off x="1444752" y="460629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وَالَّذِينَ يَقُولُونَ رَبَّنَا اصْرِفْ عَنَّا عَذَابَ جَهَنَّمَ إِنَّ عَذَابَهَا كَانَ غَرَامًا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those who say: Our Lord, turn away from us the punishment of Hell; its punishment never leaves its people.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a:t>
            </a:fld>
            <a:endParaRPr lang="en-US"/>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Al-Furqan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66 – 68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49324"/>
            <a:ext cx="548640" cy="548640"/>
          </a:xfrm>
          <a:prstGeom prst="star8">
            <a:avLst/>
          </a:prstGeom>
          <a:solidFill>
            <a:schemeClr val="accent2"/>
          </a:solidFill>
          <a:ln/>
        </p:spPr>
      </p:sp>
      <p:sp>
        <p:nvSpPr>
          <p:cNvPr id="6" name="Shape 4"/>
          <p:cNvSpPr/>
          <p:nvPr/>
        </p:nvSpPr>
        <p:spPr>
          <a:xfrm>
            <a:off x="822960" y="155905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4932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66</a:t>
            </a:r>
            <a:endParaRPr lang="en-US" sz="1600" dirty="0"/>
          </a:p>
        </p:txBody>
      </p:sp>
      <p:sp>
        <p:nvSpPr>
          <p:cNvPr id="8" name="Text 6"/>
          <p:cNvSpPr txBox="1"/>
          <p:nvPr/>
        </p:nvSpPr>
        <p:spPr>
          <a:xfrm>
            <a:off x="1444752" y="143103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إِنَّهَا سَآءَتْ مُسْتَقَرًّا وَمُقَامًا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It is an evil place to settle and stay.</a:t>
            </a:r>
            <a:endParaRPr lang="en-US" sz="3000" dirty="0"/>
          </a:p>
        </p:txBody>
      </p:sp>
      <p:sp>
        <p:nvSpPr>
          <p:cNvPr id="9" name="Shape 7"/>
          <p:cNvSpPr/>
          <p:nvPr/>
        </p:nvSpPr>
        <p:spPr>
          <a:xfrm>
            <a:off x="1444752" y="2601468"/>
            <a:ext cx="8641080" cy="0"/>
          </a:xfrm>
          <a:prstGeom prst="line">
            <a:avLst/>
          </a:prstGeom>
          <a:noFill/>
          <a:ln w="9525">
            <a:solidFill>
              <a:schemeClr val="accent2"/>
            </a:solidFill>
            <a:prstDash val="dash"/>
          </a:ln>
        </p:spPr>
      </p:sp>
      <p:sp>
        <p:nvSpPr>
          <p:cNvPr id="10" name="Shape 8"/>
          <p:cNvSpPr/>
          <p:nvPr/>
        </p:nvSpPr>
        <p:spPr>
          <a:xfrm>
            <a:off x="713232" y="2825496"/>
            <a:ext cx="548640" cy="548640"/>
          </a:xfrm>
          <a:prstGeom prst="star8">
            <a:avLst/>
          </a:prstGeom>
          <a:solidFill>
            <a:schemeClr val="accent2"/>
          </a:solidFill>
          <a:ln/>
        </p:spPr>
      </p:sp>
      <p:sp>
        <p:nvSpPr>
          <p:cNvPr id="11" name="Shape 9"/>
          <p:cNvSpPr/>
          <p:nvPr/>
        </p:nvSpPr>
        <p:spPr>
          <a:xfrm>
            <a:off x="822960" y="293522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82549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67</a:t>
            </a:r>
            <a:endParaRPr lang="en-US" sz="1600" dirty="0"/>
          </a:p>
        </p:txBody>
      </p:sp>
      <p:sp>
        <p:nvSpPr>
          <p:cNvPr id="13" name="Text 11"/>
          <p:cNvSpPr txBox="1"/>
          <p:nvPr/>
        </p:nvSpPr>
        <p:spPr>
          <a:xfrm>
            <a:off x="1444752" y="280720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وَالَّذِينَ إِذَآ أَنفَقُواْ لَمْ يُسْرِفُواْ وَلَمْ يَقْتُرُواْ وَكَانَ بَيْنَ ذَٰلِكَ قَوَامًا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those who, when they spend, are neither wasteful nor stingy, but in between, balanced,</a:t>
            </a:r>
            <a:endParaRPr lang="en-US" sz="3000" dirty="0"/>
          </a:p>
        </p:txBody>
      </p:sp>
      <p:sp>
        <p:nvSpPr>
          <p:cNvPr id="14" name="Shape 12"/>
          <p:cNvSpPr/>
          <p:nvPr/>
        </p:nvSpPr>
        <p:spPr>
          <a:xfrm>
            <a:off x="1444752" y="3977640"/>
            <a:ext cx="8641080" cy="0"/>
          </a:xfrm>
          <a:prstGeom prst="line">
            <a:avLst/>
          </a:prstGeom>
          <a:noFill/>
          <a:ln w="9525">
            <a:solidFill>
              <a:schemeClr val="accent2"/>
            </a:solidFill>
            <a:prstDash val="dash"/>
          </a:ln>
        </p:spPr>
      </p:sp>
      <p:sp>
        <p:nvSpPr>
          <p:cNvPr id="15" name="Shape 13"/>
          <p:cNvSpPr/>
          <p:nvPr/>
        </p:nvSpPr>
        <p:spPr>
          <a:xfrm>
            <a:off x="713232" y="4201668"/>
            <a:ext cx="548640" cy="548640"/>
          </a:xfrm>
          <a:prstGeom prst="star8">
            <a:avLst/>
          </a:prstGeom>
          <a:solidFill>
            <a:schemeClr val="accent2"/>
          </a:solidFill>
          <a:ln/>
        </p:spPr>
      </p:sp>
      <p:sp>
        <p:nvSpPr>
          <p:cNvPr id="16" name="Shape 14"/>
          <p:cNvSpPr/>
          <p:nvPr/>
        </p:nvSpPr>
        <p:spPr>
          <a:xfrm>
            <a:off x="822960" y="431139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20166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68</a:t>
            </a:r>
            <a:endParaRPr lang="en-US" sz="1600" dirty="0"/>
          </a:p>
        </p:txBody>
      </p:sp>
      <p:sp>
        <p:nvSpPr>
          <p:cNvPr id="18" name="Text 16"/>
          <p:cNvSpPr txBox="1"/>
          <p:nvPr/>
        </p:nvSpPr>
        <p:spPr>
          <a:xfrm>
            <a:off x="1444752" y="418338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وَالَّذِينَ لَا يَدْعُونَ مَعَ اللَّهِ إِلَٰهًا ءَاخَرَ وَلَا يَقْتُلُونَ النَّفْسَ الَّتِي حَرَّمَ اللَّهُ إِلَّا بِالْحَقِّ وَلَا يَزْنُونَ وَمَن يَفْعَلْ ذَٰلِكَ يَلْقَ أَثَامًا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those who do not call on another god with Allah, do not take a life Allah has made sacred except by right, and do not commit zina. Whoever does that will meet punishment,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101</a:t>
            </a:fld>
            <a:endParaRPr lang="en-US"/>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Al-Furqan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69 – 71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05890"/>
            <a:ext cx="548640" cy="548640"/>
          </a:xfrm>
          <a:prstGeom prst="star8">
            <a:avLst/>
          </a:prstGeom>
          <a:solidFill>
            <a:schemeClr val="accent2"/>
          </a:solidFill>
          <a:ln/>
        </p:spPr>
      </p:sp>
      <p:sp>
        <p:nvSpPr>
          <p:cNvPr id="6" name="Shape 4"/>
          <p:cNvSpPr/>
          <p:nvPr/>
        </p:nvSpPr>
        <p:spPr>
          <a:xfrm>
            <a:off x="822960" y="151561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0589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69</a:t>
            </a:r>
            <a:endParaRPr lang="en-US" sz="1600" dirty="0"/>
          </a:p>
        </p:txBody>
      </p:sp>
      <p:sp>
        <p:nvSpPr>
          <p:cNvPr id="8" name="Text 6"/>
          <p:cNvSpPr txBox="1"/>
          <p:nvPr/>
        </p:nvSpPr>
        <p:spPr>
          <a:xfrm>
            <a:off x="1444752" y="138760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يُضَٰعَفْ لَهُ الْعَذَابُ يَوْمَ الْقِيَٰمَةِ وَيَخْلُدْ فِيهِ مُهَانًا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punishment will be doubled for him on the Day of Resurrection, and he will stay in it forever, humiliated,</a:t>
            </a:r>
            <a:endParaRPr lang="en-US" sz="3000" dirty="0"/>
          </a:p>
        </p:txBody>
      </p:sp>
      <p:sp>
        <p:nvSpPr>
          <p:cNvPr id="9" name="Shape 7"/>
          <p:cNvSpPr/>
          <p:nvPr/>
        </p:nvSpPr>
        <p:spPr>
          <a:xfrm>
            <a:off x="1444752" y="2775204"/>
            <a:ext cx="8641080" cy="0"/>
          </a:xfrm>
          <a:prstGeom prst="line">
            <a:avLst/>
          </a:prstGeom>
          <a:noFill/>
          <a:ln w="9525">
            <a:solidFill>
              <a:schemeClr val="accent2"/>
            </a:solidFill>
            <a:prstDash val="dash"/>
          </a:ln>
        </p:spPr>
      </p:sp>
      <p:sp>
        <p:nvSpPr>
          <p:cNvPr id="10" name="Shape 8"/>
          <p:cNvSpPr/>
          <p:nvPr/>
        </p:nvSpPr>
        <p:spPr>
          <a:xfrm>
            <a:off x="713232" y="2955798"/>
            <a:ext cx="548640" cy="548640"/>
          </a:xfrm>
          <a:prstGeom prst="star8">
            <a:avLst/>
          </a:prstGeom>
          <a:solidFill>
            <a:schemeClr val="accent2"/>
          </a:solidFill>
          <a:ln/>
        </p:spPr>
      </p:sp>
      <p:sp>
        <p:nvSpPr>
          <p:cNvPr id="11" name="Shape 9"/>
          <p:cNvSpPr/>
          <p:nvPr/>
        </p:nvSpPr>
        <p:spPr>
          <a:xfrm>
            <a:off x="822960" y="30655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9557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70</a:t>
            </a:r>
            <a:endParaRPr lang="en-US" sz="1600" dirty="0"/>
          </a:p>
        </p:txBody>
      </p:sp>
      <p:sp>
        <p:nvSpPr>
          <p:cNvPr id="13" name="Text 11"/>
          <p:cNvSpPr txBox="1"/>
          <p:nvPr/>
        </p:nvSpPr>
        <p:spPr>
          <a:xfrm>
            <a:off x="1444752" y="293751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إِلَّا مَن تَابَ وَءَامَنَ وَعَمِلَ عَمَلًا صَٰلِحًا فَأُوْلَـٰئِكَ يُبَدِّلُ اللَّهُ سَيِّـَٔاتِهِمْ حَسَنَٰتٍ وَكَانَ اللَّهُ غَفُورًا رَّحِيمًا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except those who repent, believe and do good deeds. For them Allah will change their bad deeds into good deeds. Allah is Forgiving, Most Merciful.</a:t>
            </a:r>
            <a:endParaRPr lang="en-US" sz="3000" dirty="0"/>
          </a:p>
        </p:txBody>
      </p:sp>
      <p:sp>
        <p:nvSpPr>
          <p:cNvPr id="14" name="Shape 12"/>
          <p:cNvSpPr/>
          <p:nvPr/>
        </p:nvSpPr>
        <p:spPr>
          <a:xfrm>
            <a:off x="1444752" y="4873752"/>
            <a:ext cx="8641080" cy="0"/>
          </a:xfrm>
          <a:prstGeom prst="line">
            <a:avLst/>
          </a:prstGeom>
          <a:noFill/>
          <a:ln w="9525">
            <a:solidFill>
              <a:schemeClr val="accent2"/>
            </a:solidFill>
            <a:prstDash val="dash"/>
          </a:ln>
        </p:spPr>
      </p:sp>
      <p:sp>
        <p:nvSpPr>
          <p:cNvPr id="15" name="Shape 13"/>
          <p:cNvSpPr/>
          <p:nvPr/>
        </p:nvSpPr>
        <p:spPr>
          <a:xfrm>
            <a:off x="713232" y="5054346"/>
            <a:ext cx="548640" cy="548640"/>
          </a:xfrm>
          <a:prstGeom prst="star8">
            <a:avLst/>
          </a:prstGeom>
          <a:solidFill>
            <a:schemeClr val="accent2"/>
          </a:solidFill>
          <a:ln/>
        </p:spPr>
      </p:sp>
      <p:sp>
        <p:nvSpPr>
          <p:cNvPr id="16" name="Shape 14"/>
          <p:cNvSpPr/>
          <p:nvPr/>
        </p:nvSpPr>
        <p:spPr>
          <a:xfrm>
            <a:off x="822960" y="516407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505434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71</a:t>
            </a:r>
            <a:endParaRPr lang="en-US" sz="1600" dirty="0"/>
          </a:p>
        </p:txBody>
      </p:sp>
      <p:sp>
        <p:nvSpPr>
          <p:cNvPr id="18" name="Text 16"/>
          <p:cNvSpPr txBox="1"/>
          <p:nvPr/>
        </p:nvSpPr>
        <p:spPr>
          <a:xfrm>
            <a:off x="1444752" y="503605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وَمَن تَابَ وَعَمِلَ صَٰلِحًا فَإِنَّهُ يَتُوبُ إِلَى اللَّهِ مَتَابًا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Whoever repents and does good truly returns to Allah with a sincere, accepted return.</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102</a:t>
            </a:fld>
            <a:endParaRPr lang="en-US"/>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Al-Furqan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72 – 74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53896"/>
            <a:ext cx="548640" cy="548640"/>
          </a:xfrm>
          <a:prstGeom prst="star8">
            <a:avLst/>
          </a:prstGeom>
          <a:solidFill>
            <a:schemeClr val="accent2"/>
          </a:solidFill>
          <a:ln/>
        </p:spPr>
      </p:sp>
      <p:sp>
        <p:nvSpPr>
          <p:cNvPr id="6" name="Shape 4"/>
          <p:cNvSpPr/>
          <p:nvPr/>
        </p:nvSpPr>
        <p:spPr>
          <a:xfrm>
            <a:off x="822960" y="156362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5389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72</a:t>
            </a:r>
            <a:endParaRPr lang="en-US" sz="1600" dirty="0"/>
          </a:p>
        </p:txBody>
      </p:sp>
      <p:sp>
        <p:nvSpPr>
          <p:cNvPr id="8" name="Text 6"/>
          <p:cNvSpPr txBox="1"/>
          <p:nvPr/>
        </p:nvSpPr>
        <p:spPr>
          <a:xfrm>
            <a:off x="1444752" y="143560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وَالَّذِينَ لَا يَشْهَدُونَ الزُّورَ وَإِذَا مَرُّواْ بِاللَّغْوِ مَرُّواْ كِرَامًا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those who do not attend gatherings of falsehood and lies, and when they pass by idle talk, they pass by with dignity, turning away,</a:t>
            </a:r>
            <a:endParaRPr lang="en-US" sz="3000" dirty="0"/>
          </a:p>
        </p:txBody>
      </p:sp>
      <p:sp>
        <p:nvSpPr>
          <p:cNvPr id="9" name="Shape 7"/>
          <p:cNvSpPr/>
          <p:nvPr/>
        </p:nvSpPr>
        <p:spPr>
          <a:xfrm>
            <a:off x="1444752" y="2871216"/>
            <a:ext cx="8641080" cy="0"/>
          </a:xfrm>
          <a:prstGeom prst="line">
            <a:avLst/>
          </a:prstGeom>
          <a:noFill/>
          <a:ln w="9525">
            <a:solidFill>
              <a:schemeClr val="accent2"/>
            </a:solidFill>
            <a:prstDash val="dash"/>
          </a:ln>
        </p:spPr>
      </p:sp>
      <p:sp>
        <p:nvSpPr>
          <p:cNvPr id="10" name="Shape 8"/>
          <p:cNvSpPr/>
          <p:nvPr/>
        </p:nvSpPr>
        <p:spPr>
          <a:xfrm>
            <a:off x="713232" y="3099816"/>
            <a:ext cx="548640" cy="548640"/>
          </a:xfrm>
          <a:prstGeom prst="star8">
            <a:avLst/>
          </a:prstGeom>
          <a:solidFill>
            <a:schemeClr val="accent2"/>
          </a:solidFill>
          <a:ln/>
        </p:spPr>
      </p:sp>
      <p:sp>
        <p:nvSpPr>
          <p:cNvPr id="11" name="Shape 9"/>
          <p:cNvSpPr/>
          <p:nvPr/>
        </p:nvSpPr>
        <p:spPr>
          <a:xfrm>
            <a:off x="822960" y="320954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09981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73</a:t>
            </a:r>
            <a:endParaRPr lang="en-US" sz="1600" dirty="0"/>
          </a:p>
        </p:txBody>
      </p:sp>
      <p:sp>
        <p:nvSpPr>
          <p:cNvPr id="13" name="Text 11"/>
          <p:cNvSpPr txBox="1"/>
          <p:nvPr/>
        </p:nvSpPr>
        <p:spPr>
          <a:xfrm>
            <a:off x="1444752" y="308152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وَالَّذِينَ إِذَا ذُكِّرُواْ بِـَٔايَٰتِ رَبِّهِمْ لَمْ يَخِرُّواْ عَلَيْهَا صُمًّا وَعُمْيَانًا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those who, when reminded of their Lord's verses, do not ignore them as if deaf and blind, but reflect on them,</a:t>
            </a:r>
            <a:endParaRPr lang="en-US" sz="3000" dirty="0"/>
          </a:p>
        </p:txBody>
      </p:sp>
      <p:sp>
        <p:nvSpPr>
          <p:cNvPr id="14" name="Shape 12"/>
          <p:cNvSpPr/>
          <p:nvPr/>
        </p:nvSpPr>
        <p:spPr>
          <a:xfrm>
            <a:off x="1444752" y="4517136"/>
            <a:ext cx="8641080" cy="0"/>
          </a:xfrm>
          <a:prstGeom prst="line">
            <a:avLst/>
          </a:prstGeom>
          <a:noFill/>
          <a:ln w="9525">
            <a:solidFill>
              <a:schemeClr val="accent2"/>
            </a:solidFill>
            <a:prstDash val="dash"/>
          </a:ln>
        </p:spPr>
      </p:sp>
      <p:sp>
        <p:nvSpPr>
          <p:cNvPr id="15" name="Shape 13"/>
          <p:cNvSpPr/>
          <p:nvPr/>
        </p:nvSpPr>
        <p:spPr>
          <a:xfrm>
            <a:off x="713232" y="4745736"/>
            <a:ext cx="548640" cy="548640"/>
          </a:xfrm>
          <a:prstGeom prst="star8">
            <a:avLst/>
          </a:prstGeom>
          <a:solidFill>
            <a:schemeClr val="accent2"/>
          </a:solidFill>
          <a:ln/>
        </p:spPr>
      </p:sp>
      <p:sp>
        <p:nvSpPr>
          <p:cNvPr id="16" name="Shape 14"/>
          <p:cNvSpPr/>
          <p:nvPr/>
        </p:nvSpPr>
        <p:spPr>
          <a:xfrm>
            <a:off x="822960" y="485546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74573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74</a:t>
            </a:r>
            <a:endParaRPr lang="en-US" sz="1600" dirty="0"/>
          </a:p>
        </p:txBody>
      </p:sp>
      <p:sp>
        <p:nvSpPr>
          <p:cNvPr id="18" name="Text 16"/>
          <p:cNvSpPr txBox="1"/>
          <p:nvPr/>
        </p:nvSpPr>
        <p:spPr>
          <a:xfrm>
            <a:off x="1444752" y="472744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وَالَّذِينَ يَقُولُونَ رَبَّنَا هَبْ لَنَا مِنْ أَزْوَٰجِنَا وَذُرِّيَّـٰتِنَا قُرَّةَ أَعْيُنٍ وَاجْعَلْنَا لِلْمُتَّقِينَ إِمَامًا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those who say: Our Lord, give us joy in our spouses and children through their righteousness, and make us leaders for those with taqwa.</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103</a:t>
            </a:fld>
            <a:endParaRPr lang="en-US"/>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Al-Furqan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75 – 77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75054"/>
            <a:ext cx="548640" cy="548640"/>
          </a:xfrm>
          <a:prstGeom prst="star8">
            <a:avLst/>
          </a:prstGeom>
          <a:solidFill>
            <a:schemeClr val="accent2"/>
          </a:solidFill>
          <a:ln/>
        </p:spPr>
      </p:sp>
      <p:sp>
        <p:nvSpPr>
          <p:cNvPr id="6" name="Shape 4"/>
          <p:cNvSpPr/>
          <p:nvPr/>
        </p:nvSpPr>
        <p:spPr>
          <a:xfrm>
            <a:off x="822960" y="168478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7505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75</a:t>
            </a:r>
            <a:endParaRPr lang="en-US" sz="1600" dirty="0"/>
          </a:p>
        </p:txBody>
      </p:sp>
      <p:sp>
        <p:nvSpPr>
          <p:cNvPr id="8" name="Text 6"/>
          <p:cNvSpPr txBox="1"/>
          <p:nvPr/>
        </p:nvSpPr>
        <p:spPr>
          <a:xfrm>
            <a:off x="1444752" y="155676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أُوْلَـٰئِكَ يُجْزَوْنَ الْغُرْفَةَ بِمَا صَبَرُواْ وَيُلَقَّوْنَ فِيهَا تَحِيَّةً وَسَلَٰمًا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will be rewarded with high places in Paradise for their patience, and will be greeted there with welcome and peace,</a:t>
            </a:r>
            <a:endParaRPr lang="en-US" sz="3000" dirty="0"/>
          </a:p>
        </p:txBody>
      </p:sp>
      <p:sp>
        <p:nvSpPr>
          <p:cNvPr id="9" name="Shape 7"/>
          <p:cNvSpPr/>
          <p:nvPr/>
        </p:nvSpPr>
        <p:spPr>
          <a:xfrm>
            <a:off x="1444752" y="2996946"/>
            <a:ext cx="8641080" cy="0"/>
          </a:xfrm>
          <a:prstGeom prst="line">
            <a:avLst/>
          </a:prstGeom>
          <a:noFill/>
          <a:ln w="9525">
            <a:solidFill>
              <a:schemeClr val="accent2"/>
            </a:solidFill>
            <a:prstDash val="dash"/>
          </a:ln>
        </p:spPr>
      </p:sp>
      <p:sp>
        <p:nvSpPr>
          <p:cNvPr id="10" name="Shape 8"/>
          <p:cNvSpPr/>
          <p:nvPr/>
        </p:nvSpPr>
        <p:spPr>
          <a:xfrm>
            <a:off x="713232" y="3230118"/>
            <a:ext cx="548640" cy="548640"/>
          </a:xfrm>
          <a:prstGeom prst="star8">
            <a:avLst/>
          </a:prstGeom>
          <a:solidFill>
            <a:schemeClr val="accent2"/>
          </a:solidFill>
          <a:ln/>
        </p:spPr>
      </p:sp>
      <p:sp>
        <p:nvSpPr>
          <p:cNvPr id="11" name="Shape 9"/>
          <p:cNvSpPr/>
          <p:nvPr/>
        </p:nvSpPr>
        <p:spPr>
          <a:xfrm>
            <a:off x="822960" y="333984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23011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76</a:t>
            </a:r>
            <a:endParaRPr lang="en-US" sz="1600" dirty="0"/>
          </a:p>
        </p:txBody>
      </p:sp>
      <p:sp>
        <p:nvSpPr>
          <p:cNvPr id="13" name="Text 11"/>
          <p:cNvSpPr txBox="1"/>
          <p:nvPr/>
        </p:nvSpPr>
        <p:spPr>
          <a:xfrm>
            <a:off x="1444752" y="321183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خَٰلِدِينَ فِيهَا حَسُنَتْ مُسْتَقَرًّا وَمُقَامًا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staying there forever. How excellent it is as a place to settle and stay!</a:t>
            </a:r>
            <a:endParaRPr lang="en-US" sz="3000" dirty="0"/>
          </a:p>
        </p:txBody>
      </p:sp>
      <p:sp>
        <p:nvSpPr>
          <p:cNvPr id="14" name="Shape 12"/>
          <p:cNvSpPr/>
          <p:nvPr/>
        </p:nvSpPr>
        <p:spPr>
          <a:xfrm>
            <a:off x="1444752" y="4391406"/>
            <a:ext cx="8641080" cy="0"/>
          </a:xfrm>
          <a:prstGeom prst="line">
            <a:avLst/>
          </a:prstGeom>
          <a:noFill/>
          <a:ln w="9525">
            <a:solidFill>
              <a:schemeClr val="accent2"/>
            </a:solidFill>
            <a:prstDash val="dash"/>
          </a:ln>
        </p:spPr>
      </p:sp>
      <p:sp>
        <p:nvSpPr>
          <p:cNvPr id="15" name="Shape 13"/>
          <p:cNvSpPr/>
          <p:nvPr/>
        </p:nvSpPr>
        <p:spPr>
          <a:xfrm>
            <a:off x="713232" y="4624578"/>
            <a:ext cx="548640" cy="548640"/>
          </a:xfrm>
          <a:prstGeom prst="star8">
            <a:avLst/>
          </a:prstGeom>
          <a:solidFill>
            <a:schemeClr val="accent2"/>
          </a:solidFill>
          <a:ln/>
        </p:spPr>
      </p:sp>
      <p:sp>
        <p:nvSpPr>
          <p:cNvPr id="16" name="Shape 14"/>
          <p:cNvSpPr/>
          <p:nvPr/>
        </p:nvSpPr>
        <p:spPr>
          <a:xfrm>
            <a:off x="822960" y="473430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6245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77</a:t>
            </a:r>
            <a:endParaRPr lang="en-US" sz="1600" dirty="0"/>
          </a:p>
        </p:txBody>
      </p:sp>
      <p:sp>
        <p:nvSpPr>
          <p:cNvPr id="18" name="Text 16"/>
          <p:cNvSpPr txBox="1"/>
          <p:nvPr/>
        </p:nvSpPr>
        <p:spPr>
          <a:xfrm>
            <a:off x="1444752" y="460629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مَا يَعْبَؤُاْ بِكُمْ رَبِّي لَوْلَا دُعَآؤُكُمْ فَقَدْ كَذَّبْتُمْ فَسَوْفَ يَكُونُ لِزَامًا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My Lord would not care about you were it not for your prayer and worship. But you disbelievers have denied, so the punishment will cling to you.</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104</a:t>
            </a:fld>
            <a:endParaRPr lang="en-US"/>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spTree>
      <p:nvGrpSpPr>
        <p:cNvPr id="1" name=""/>
        <p:cNvGrpSpPr/>
        <p:nvPr/>
      </p:nvGrpSpPr>
      <p:grpSpPr>
        <a:xfrm>
          <a:off x="0" y="0"/>
          <a:ext cx="0" cy="0"/>
          <a:chOff x="0" y="0"/>
          <a:chExt cx="0" cy="0"/>
        </a:xfrm>
      </p:grpSpPr>
      <p:pic>
        <p:nvPicPr>
          <p:cNvPr id="2" name="Image 0" descr="assets19/rosette.png">    </p:cNvPr>
          <p:cNvPicPr>
            <a:picLocks noChangeAspect="1"/>
          </p:cNvPicPr>
          <p:nvPr/>
        </p:nvPicPr>
        <p:blipFill>
          <a:blip r:embed="rId1"/>
          <a:stretch>
            <a:fillRect/>
          </a:stretch>
        </p:blipFill>
        <p:spPr>
          <a:xfrm>
            <a:off x="5455768" y="822960"/>
            <a:ext cx="1280160" cy="1280160"/>
          </a:xfrm>
          <a:prstGeom prst="rect">
            <a:avLst/>
          </a:prstGeom>
        </p:spPr>
      </p:pic>
      <p:sp>
        <p:nvSpPr>
          <p:cNvPr id="3" name="Text 0"/>
          <p:cNvSpPr txBox="1"/>
          <p:nvPr/>
        </p:nvSpPr>
        <p:spPr>
          <a:xfrm>
            <a:off x="731520" y="2377440"/>
            <a:ext cx="10728655" cy="1005840"/>
          </a:xfrm>
          <a:prstGeom prst="rect">
            <a:avLst/>
          </a:prstGeom>
          <a:noFill/>
          <a:ln/>
        </p:spPr>
        <p:txBody>
          <a:bodyPr wrap="square" lIns="0" tIns="0" rIns="0" bIns="0" rtlCol="0" anchor="ctr"/>
          <a:lstStyle/>
          <a:p>
            <a:pPr algn="ctr" indent="0" marL="0">
              <a:buNone/>
            </a:pPr>
            <a:r>
              <a:rPr lang="en-US" altLang="en-US" sz="5000" b="1" dirty="0">
                <a:solidFill>
                  <a:schemeClr val="bg1"/>
                </a:solidFill>
                <a:latin typeface="Georgia" pitchFamily="34" charset="0"/>
                <a:ea typeface="Georgia" pitchFamily="34" charset="-122"/>
                <a:cs typeface="Georgia" pitchFamily="34" charset="-120"/>
              </a:rPr>
              <a:t>JazakumAllahu khayran</a:t>
            </a:r>
            <a:endParaRPr lang="en-US" sz="5000" dirty="0"/>
          </a:p>
        </p:txBody>
      </p:sp>
      <p:sp>
        <p:nvSpPr>
          <p:cNvPr id="4" name="Text 1"/>
          <p:cNvSpPr txBox="1"/>
          <p:nvPr/>
        </p:nvSpPr>
        <p:spPr>
          <a:xfrm>
            <a:off x="1371600" y="3611880"/>
            <a:ext cx="9448495" cy="1097280"/>
          </a:xfrm>
          <a:prstGeom prst="rect">
            <a:avLst/>
          </a:prstGeom>
          <a:noFill/>
          <a:ln/>
        </p:spPr>
        <p:txBody>
          <a:bodyPr wrap="square" lIns="0" tIns="0" rIns="0" bIns="0" rtlCol="0" anchor="ctr"/>
          <a:lstStyle/>
          <a:p>
            <a:pPr algn="ctr" indent="0" marL="0">
              <a:buNone/>
            </a:pPr>
            <a:r>
              <a:rPr lang="en-US" altLang="en-US" sz="2100" b="1" i="1" dirty="0">
                <a:solidFill>
                  <a:schemeClr val="accent2"/>
                </a:solidFill>
                <a:latin typeface="Arial" pitchFamily="34" charset="0"/>
                <a:ea typeface="Arial" pitchFamily="34" charset="-122"/>
                <a:cs typeface="Arial" pitchFamily="34" charset="-120"/>
              </a:rPr>
              <a:t>"Our Lord, give us joy in our spouses and children, and make us leaders for those with taqwa." (Al-Furqan 25:74)</a:t>
            </a:r>
            <a:endParaRPr lang="en-US" sz="2100" dirty="0"/>
          </a:p>
        </p:txBody>
      </p:sp>
      <p:pic>
        <p:nvPicPr>
          <p:cNvPr id="5" name="Image 1" descr="assets19/divider.png">    </p:cNvPr>
          <p:cNvPicPr>
            <a:picLocks noChangeAspect="1"/>
          </p:cNvPicPr>
          <p:nvPr/>
        </p:nvPicPr>
        <p:blipFill>
          <a:blip r:embed="rId2"/>
          <a:stretch>
            <a:fillRect/>
          </a:stretch>
        </p:blipFill>
        <p:spPr>
          <a:xfrm>
            <a:off x="3809848" y="4846320"/>
            <a:ext cx="4572000" cy="228600"/>
          </a:xfrm>
          <a:prstGeom prst="rect">
            <a:avLst/>
          </a:prstGeom>
        </p:spPr>
      </p:pic>
      <p:sp>
        <p:nvSpPr>
          <p:cNvPr id="6" name="Text 2"/>
          <p:cNvSpPr txBox="1"/>
          <p:nvPr/>
        </p:nvSpPr>
        <p:spPr>
          <a:xfrm>
            <a:off x="1371600" y="5257800"/>
            <a:ext cx="9448495" cy="365760"/>
          </a:xfrm>
          <a:prstGeom prst="rect">
            <a:avLst/>
          </a:prstGeom>
          <a:noFill/>
          <a:ln/>
        </p:spPr>
        <p:txBody>
          <a:bodyPr wrap="square" lIns="0" tIns="0" rIns="0" bIns="0" rtlCol="0" anchor="t"/>
          <a:lstStyle/>
          <a:p>
            <a:pPr algn="ctr" indent="0" marL="0">
              <a:buNone/>
            </a:pPr>
            <a:r>
              <a:rPr lang="en-US" altLang="en-US" sz="1400" dirty="0">
                <a:solidFill>
                  <a:schemeClr val="bg2"/>
                </a:solidFill>
                <a:latin typeface="Arial" pitchFamily="34" charset="0"/>
                <a:ea typeface="Arial" pitchFamily="34" charset="-122"/>
                <a:cs typeface="Arial" pitchFamily="34" charset="-120"/>
              </a:rPr>
              <a:t>Reference: Tafsir al-Qur'an al-'Azim by al-Hafiz Ibn Kathir (may Allah have mercy on him)</a:t>
            </a:r>
            <a:endParaRPr lang="en-US" sz="1400" dirty="0"/>
          </a:p>
        </p:txBody>
      </p:sp>
    </p:spTree>
  </p:cSld>
  <p:clrMapOvr>
    <a:masterClrMapping/>
  </p:clrMapOvr>
</p:sld>
</file>

<file path=ppt/theme/theme1.xml><?xml version="1.0" encoding="utf-8"?>
<a:theme xmlns:a="http://schemas.openxmlformats.org/drawingml/2006/main" name="Juz 19 Tafsir EN">
  <a:themeElements>
    <a:clrScheme name="Juz 19 Tafsir EN">
      <a:dk1>
        <a:srgbClr val="2D2224"/>
      </a:dk1>
      <a:lt1>
        <a:srgbClr val="FFFFFF"/>
      </a:lt1>
      <a:dk2>
        <a:srgbClr val="7A2E3A"/>
      </a:dk2>
      <a:lt2>
        <a:srgbClr val="FCF7F7"/>
      </a:lt2>
      <a:accent1>
        <a:srgbClr val="7A2E3A"/>
      </a:accent1>
      <a:accent2>
        <a:srgbClr val="C9A04A"/>
      </a:accent2>
      <a:accent3>
        <a:srgbClr val="943F4D"/>
      </a:accent3>
      <a:accent4>
        <a:srgbClr val="6B5F61"/>
      </a:accent4>
      <a:accent5>
        <a:srgbClr val="F3E5E7"/>
      </a:accent5>
      <a:accent6>
        <a:srgbClr val="2F6B5E"/>
      </a:accent6>
      <a:hlink>
        <a:srgbClr val="943F4D"/>
      </a:hlink>
      <a:folHlink>
        <a:srgbClr val="6B5F61"/>
      </a:folHlink>
    </a:clrScheme>
    <a:fontScheme name="Juz 19 Tafsir EN">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105</Slides>
  <Notes>105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105</vt:i4>
      </vt:variant>
    </vt:vector>
  </HeadingPairs>
  <TitlesOfParts>
    <vt:vector size="10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Tafsir of Juz Wa Qala Alladhina — Simplified Tafsir from Ibn Kathir</dc:title>
  <dc:subject>PptxGenJS Presentation</dc:subject>
  <dc:creator>Qur'an Teacher</dc:creator>
  <cp:lastModifiedBy>Qur'an Teacher</cp:lastModifiedBy>
  <cp:revision>1</cp:revision>
  <dcterms:created xsi:type="dcterms:W3CDTF">2026-10-06T20:08:52Z</dcterms:created>
  <dcterms:modified xsi:type="dcterms:W3CDTF">2026-10-06T20:08:52Z</dcterms:modified>
</cp:coreProperties>
</file>