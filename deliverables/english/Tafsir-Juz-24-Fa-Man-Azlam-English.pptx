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notesMasterIdLst>
    <p:notesMasterId r:id="rId8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7879085-bdc0-2acd-375e-67d8345f41ee}">
          <p14:sldIdLst>
            <p14:sldId id="256"/>
            <p14:sldId id="257"/>
            <p14:sldId id="258"/>
          </p14:sldIdLst>
        </p14:section>
        <p14:section name="Surah Fussilat" id="{ee476881-9cdd-360d-7ab0-3f76cfd8b5a5}">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Lst>
        </p14:section>
        <p14:section name="Surah Ghafir" id="{10b7d5b3-fd37-6adf-ceca-3310324b215e}">
          <p14:sldIdLst>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Lst>
        </p14:section>
        <p14:section name="Surah Az-Zumar" id="{5956641a-df5c-754b-9e88-0589baebcdc2}">
          <p14:sldIdLst>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Lst>
        </p14:section>
        <p14:section name="Closing" id="{6190a207-53bc-8a2b-1ae9-4c3c1fb3553e}">
          <p14:sldIdLst>
            <p14:sldId id="33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notesMaster" Target="notesMasters/notesMaster1.xml"/><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the first 46 verses of Surah Fussilat, then move back to Surah Ghafir and the second part of Surah Az-Zumar. Inside each surah, the verses follow their order in the Mushaf.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will testify against a person on the Day of Resurrection according to verse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did the angels pray for the believers in verses 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Which is the most hopeful verse in this part, and why? Read verse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4/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4/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4/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4.xml"/><Relationship Id="rId4"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4/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Juz Fa Man Azlam</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24/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Juz 24 • From Fussilat (1–46) back to Az-Zumar (32–75)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indigo</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surah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Surahs of This Juz</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Our journey starts with Surah Fussilat and moves back to Surah Az-Zumar</a:t>
            </a:r>
            <a:endParaRPr lang="en-US" sz="1600" dirty="0"/>
          </a:p>
        </p:txBody>
      </p:sp>
      <p:sp>
        <p:nvSpPr>
          <p:cNvPr id="4" name="Shape 2"/>
          <p:cNvSpPr/>
          <p:nvPr/>
        </p:nvSpPr>
        <p:spPr>
          <a:xfrm>
            <a:off x="685800" y="1828800"/>
            <a:ext cx="2622728" cy="566928"/>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685800"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 </a:t>
            </a:r>
            <a:pPr algn="ctr" indent="0" marL="0">
              <a:buNone/>
            </a:pPr>
            <a:r>
              <a:rPr lang="en-US" altLang="en-US" sz="1400" b="1" dirty="0">
                <a:solidFill>
                  <a:schemeClr val="tx2"/>
                </a:solidFill>
                <a:latin typeface="Arial" pitchFamily="34" charset="0"/>
                <a:ea typeface="Arial" pitchFamily="34" charset="-122"/>
                <a:cs typeface="Arial" pitchFamily="34" charset="-120"/>
              </a:rPr>
              <a:t>Fussilat</a:t>
            </a:r>
            <a:endParaRPr lang="en-US" sz="1400" dirty="0"/>
          </a:p>
        </p:txBody>
      </p:sp>
      <p:sp>
        <p:nvSpPr>
          <p:cNvPr id="6" name="Shape 4"/>
          <p:cNvSpPr/>
          <p:nvPr/>
        </p:nvSpPr>
        <p:spPr>
          <a:xfrm>
            <a:off x="3418256" y="1828800"/>
            <a:ext cx="2622728" cy="566928"/>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3418256"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2. </a:t>
            </a:r>
            <a:pPr algn="ctr" indent="0" marL="0">
              <a:buNone/>
            </a:pPr>
            <a:r>
              <a:rPr lang="en-US" altLang="en-US" sz="1400" b="1" dirty="0">
                <a:solidFill>
                  <a:schemeClr val="tx2"/>
                </a:solidFill>
                <a:latin typeface="Arial" pitchFamily="34" charset="0"/>
                <a:ea typeface="Arial" pitchFamily="34" charset="-122"/>
                <a:cs typeface="Arial" pitchFamily="34" charset="-120"/>
              </a:rPr>
              <a:t>Ghafir</a:t>
            </a:r>
            <a:endParaRPr lang="en-US" sz="1400" dirty="0"/>
          </a:p>
        </p:txBody>
      </p:sp>
      <p:sp>
        <p:nvSpPr>
          <p:cNvPr id="8" name="Shape 6"/>
          <p:cNvSpPr/>
          <p:nvPr/>
        </p:nvSpPr>
        <p:spPr>
          <a:xfrm>
            <a:off x="6150712" y="1828800"/>
            <a:ext cx="2622728" cy="566928"/>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6150712"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3. </a:t>
            </a:r>
            <a:pPr algn="ctr" indent="0" marL="0">
              <a:buNone/>
            </a:pPr>
            <a:r>
              <a:rPr lang="en-US" altLang="en-US" sz="1400" b="1" dirty="0">
                <a:solidFill>
                  <a:schemeClr val="tx2"/>
                </a:solidFill>
                <a:latin typeface="Arial" pitchFamily="34" charset="0"/>
                <a:ea typeface="Arial" pitchFamily="34" charset="-122"/>
                <a:cs typeface="Arial" pitchFamily="34" charset="-120"/>
              </a:rPr>
              <a:t>Az-Zumar</a:t>
            </a:r>
            <a:endParaRPr lang="en-US" sz="1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Fussilat</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1 – 46</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41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Mas'ud (may Allah be pleased with him) said: Three men gathered by the Ka'bah. One said: Do you think Allah hears what we say? Another said: He hears if we speak loudly but not if we whisper. The third said: If He hears when we speak loudly, He hears when we whisper. So Allah sent down: “You did not hide yourselves out of fear that your hearing, sight and skins would testify against you” (Bukhari and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greatness of the Qur'an explained in detail, the creation of the heavens and the earth, the destruction of 'Ad and Thamud, the body parts testifying against their owners on the Day of Resurrection, good news for those who stay upright, and the command to push away evil with what is better.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pointing to the miracle of the Qur'an.</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تَنزِيلٌ مِّنَ الرَّحْمَٰنِ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sent down from the Most Merciful, the Most Kind,</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كِتَٰبٌ فُصِّلَتْ ءَايَٰتُهُ قُرْءَانًا عَرَبِيًّا لِّقَوْمٍ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Book whose verses are made clear and whose rulings are explained in detail, an Arabic Qur'an for people who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بَشِيرًا وَنَذِيرًا فَأَعْرَضَ أَكْثَرُهُمْ فَهُمْ لَا يَسْمَعُونَ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giving good news of Paradise to the believers and warning the disbelievers of the Fire. But most of them turn away and do not listen to accept.</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قُلُوبُنَا فِي أَكِنَّةٍ مِّمَّا تَدْعُونَآ إِلَيْهِ وَفِي ءَاذَانِنَا وَقْرٌ وَمِن بَيْنِنَا وَبَيْنِكَ حِجَابٌ فَاعْمَلْ إِنَّنَا 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Our hearts are wrapped up so they do not understand what you call us to, there is deafness in our ears, and there is a barrier between us and you. So do as you wish with your religion; we will do as we wish with ours.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إِنَّمَآ أَنَا بَشَرٌ مِّثْلُكُمْ يُوحَىٰ إِلَيَّ أَنَّمَآ إِلَٰهُكُمْ إِلَٰهٌ وَٰحِدٌ فَاسْتَقِيمُواْ إِلَيْهِ وَاسْتَغْفِرُوهُ وَوَيْلٌ لِّلْمُشْرِكِينَ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am only a human like you. It is revealed to me that your God is One God, so stay upright in obeying Him and ask His forgiveness. Woe to the idol-worshippers,</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لَا يُؤْتُونَ الزَّكَوٰةَ وَهُم بِالْأخِرَةِ هُمْ 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do not purify themselves with tawhid, do not give the zakah of their wealth, and disbelieve in the Hereafter.</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لَهُمْ أَجْرٌ غَيْرُ مَمْنُونٍ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righteous believers will have a reward that never ends.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أَئِنَّكُمْ لَتَكْفُرُونَ بِالَّذِي خَلَقَ الْأَرْضَ فِي يَوْمَيْنِ وَتَجْعَلُونَ لَهُ أَندَادًا ذَٰلِكَ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Do you really disbelieve in Allah, who created the earth in two days, and set up partners with Him? That is the Lord of the worlds.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 فِيهَا رَوَٰسِيَ مِن فَوْقِهَا وَبَٰرَكَ فِيهَا وَقَدَّرَ فِيهَآ أَقْوَٰتَهَا فِي أَرْبَعَةِ أَيَّامٍ سَوَآءً لِّلسَّآئِلِينَ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placed firm mountains on the earth, blessed it, and measured out its people's provision in it, in four complete days, as an answer to those who ask.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اسْتَوَىٰ إِلَى السَّمَآءِ وَهِيَ دُخَانٌ فَقَالَ لَهَا وَلِلْأَرْضِ ائْتِيَا طَوْعًا أَوْ كَرْهًا قَالَتَآ أَتَيْنَا طَآئِعِينَ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turned to the creation of the sky while it was smoke, and said to it and the earth: Come, willingly or unwillingly. They said: We come willingly.</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فَقَضَىٰهُنَّ سَبْعَ سَمَٰوَاتٍ فِي يَوْمَيْنِ وَأَوْحَىٰ فِي كُلِّ سَمَآءٍ أَمْرَهَا وَزَيَّنَّا السَّمَآءَ الدُّنْيَا بِمَصَٰبِيحَ وَحِفْظًا ذَٰلِكَ تَقْدِيرُ الْعَزِيزِ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He completed them as seven heavens in two days and revealed in each heaven its command. We decorated the nearest sky with stars and guarded it from the devils. That is the decree of the Almighty, the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أَعْرَضُواْ فَقُلْ أَنذَرْتُكُمْ صَٰعِقَةً مِّثْلَ صَٰعِقَةِ عَادٍ وَثَمُودَ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 idol-worshippers turn away, say: I warn you of a destroying punishment like that of 'Ad and Thamud,</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جَآءَتْهُمُ الرُّسُلُ مِن بَيْنِ أَيْدِيهِمْ وَمِنْ خَلْفِهِمْ أَلَّا تَعْبُدُواْ إِلَّا اللَّهَ قَالُواْ لَوْ شَآءَ رَبُّنَا لَأَنزَلَ مَلَـٰئِكَةً فَإِنَّا بِمَآ أُرْسِلْتُم بِهِ 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messengers came to them from every direction saying: Worship none but Allah. They said: If our Lord had wanted, He would have sent down angels, so we disbelieve in what you have been sent with.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فَأَمَّا عَادٌ فَاسْتَكْبَرُواْ فِي الْأَرْضِ بِغَيْرِ الْحَقِّ وَقَالُواْ مَنْ أَشَدُّ مِنَّا قُوَّةً أَوَلَمْ يَرَوْاْ أَنَّ اللَّهَ الَّذِي خَلَقَهُمْ هُوَ أَشَدُّ مِنْهُمْ قُوَّةً وَكَانُواْ بِـَٔايَٰتِنَا يَجْحَدُونَ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'Ad, they were arrogant in the land without right and said: Who is stronger than us? Did they not see that Allah, who created them, is stronger than them? And they used to deny Our signs.</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فَأَرْسَلْنَا عَلَيْهِمْ رِيحًا صَرْصَرًا فِي أَيَّامٍ نَّحِسَاتٍ لِّنُذِيقَهُمْ عَذَابَ الْخِزْيِ فِي الْحَيَوٰةِ الدُّنْيَا وَلَعَذَابُ الْأخِرَةِ أَخْزَىٰ وَهُمْ لَا يُنصَرُونَ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sent against them a freezing, roaring wind on unlucky days, to make them taste the punishment of disgrace in this world, and the punishment of the Hereafter is more disgraceful, and they will not be helped.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ثَمُودُ فَهَدَيْنَٰهُمْ فَاسْتَحَبُّواْ الْعَمَىٰ عَلَى الْهُدَىٰ فَأَخَذَتْهُمْ صَٰعِقَةُ الْعَذَابِ الْهُونِ بِمَا كَانُواْ يَكْسِبُونَ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Thamud, We showed them the way of truth, but they chose misguidance over guidance, so the humiliating Blast destroyed them because of what they did.</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وَنَجَّيْنَا الَّذِينَ ءَامَنُواْ وَكَانُواْ يَتَّقُونَ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saved the believers who had taqwa of Allah.</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يُحْشَرُ أَعْدَآءُ اللَّهِ إِلَى النَّارِ فَهُمْ يُوزَعُونَ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 enemies of Allah are gathered to the Fire, they will be driven along, the first held back for the last to catch up,</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حَتَّىٰ إِذَا مَا جَآءُوهَا شَهِدَ عَلَيْهِمْ سَمْعُهُمْ وَأَبْصَٰرُهُمْ وَجُلُودُهُم بِمَا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until when they reach it, their hearing, sight and skins will testify against them about what they used to do.</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لِجُلُودِهِمْ لِمَ شَهِدتُّمْ عَلَيْنَا قَالُواْ أَنطَقَنَا اللَّهُ الَّذِي أَنطَقَ كُلَّ شَيْءٍ وَهُوَ خَلَقَكُمْ أَوَّلَ مَرَّةٍ وَإِلَيْهِ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to their skins: Why did you testify against us? They will say: Allah made us speak, who makes everything speak. He created you the first time, and to Him you are returned.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كُنتُمْ تَسْتَتِرُونَ أَن يَشْهَدَ عَلَيْكُمْ سَمْعُكُمْ وَلَآ أَبْصَٰرُكُمْ وَلَا جُلُودُكُمْ وَلَٰكِن ظَنَنتُمْ أَنَّ اللَّهَ لَا يَعْلَمُ كَثِيرًا مِّمَّا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did not hide yourselves when sinning out of fear that your hearing, sight and skins would testify against you, but you thought Allah did not know much of what you did.</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وَذَٰلِكُمْ ظَنُّكُمُ الَّذِي ظَنَنتُم بِرَبِّكُمْ أَرْدَىٰكُمْ فَأَصْبَحْتُم مِّنَ الْخَٰسِرِينَ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bad thought you had about your Lord has ruined you, and you have become losers.</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يَصْبِرُواْ فَالنَّارُ مَثْوًى لَّهُمْ وَإِن يَسْتَعْتِبُواْ فَمَا هُم مِّنَ الْمُعْتَبِينَ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are patient, the Fire is their home, and if they ask to please Allah, they will not be answered.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وَقَيَّضْنَا لَهُمْ قُرَنَآءَ فَزَيَّنُواْ لَهُم مَّا بَيْنَ أَيْدِيهِمْ وَمَا خَلْفَهُمْ وَحَقَّ عَلَيْهِمُ الْقَوْلُ فِي أُمَمٍ قَدْ خَلَتْ مِن قَبْلِهِم مِّنَ الْجِنِّ وَالْإِنسِ إِنَّهُمْ كَانُواْ 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them devils as companions, who made this world look good to them and made them forget the Hereafter. The punishment became due on them along with nations of jinn and humans before them; they were losers.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كَفَرُواْ لَا تَسْمَعُواْ لِهَٰذَا الْقُرْءَانِ وَالْغَوْاْ فِيهِ لَعَلَّكُمْ تَغْلِبُونَ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said: Do not listen to this Qur'an, and make noise when it is recited so that you may overcome Muhammad.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فَلَنُذِيقَنَّ الَّذِينَ كَفَرُواْ عَذَابًا شَدِيدًا وَلَنَجْزِيَنَّهُمْ أَسْوَأَ الَّذِي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surely make the disbelievers taste a severe punishment and repay them for the worst of what they did.</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28072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جَزَآءُ أَعْدَآءِ اللَّهِ النَّارُ لَهُمْ فِيهَا دَارُ الْخُلْدِ جَزَآءً بِمَا كَانُواْ بِـَٔايَٰتِنَا يَجْحَدُونَ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the repayment of Allah's enemies: the Fire, their everlasting home, as a repayment for denying Our verses.</a:t>
            </a:r>
            <a:endParaRPr lang="en-US" sz="3000" dirty="0"/>
          </a:p>
        </p:txBody>
      </p:sp>
      <p:sp>
        <p:nvSpPr>
          <p:cNvPr id="14" name="Shape 12"/>
          <p:cNvSpPr/>
          <p:nvPr/>
        </p:nvSpPr>
        <p:spPr>
          <a:xfrm>
            <a:off x="1444752" y="4151376"/>
            <a:ext cx="8641080" cy="0"/>
          </a:xfrm>
          <a:prstGeom prst="line">
            <a:avLst/>
          </a:prstGeom>
          <a:noFill/>
          <a:ln w="9525">
            <a:solidFill>
              <a:schemeClr val="accent2"/>
            </a:solidFill>
            <a:prstDash val="dash"/>
          </a:ln>
        </p:spPr>
      </p:sp>
      <p:sp>
        <p:nvSpPr>
          <p:cNvPr id="15" name="Shape 13"/>
          <p:cNvSpPr/>
          <p:nvPr/>
        </p:nvSpPr>
        <p:spPr>
          <a:xfrm>
            <a:off x="713232" y="4288536"/>
            <a:ext cx="548640" cy="548640"/>
          </a:xfrm>
          <a:prstGeom prst="star8">
            <a:avLst/>
          </a:prstGeom>
          <a:solidFill>
            <a:schemeClr val="accent2"/>
          </a:solidFill>
          <a:ln/>
        </p:spPr>
      </p:sp>
      <p:sp>
        <p:nvSpPr>
          <p:cNvPr id="16" name="Shape 14"/>
          <p:cNvSpPr/>
          <p:nvPr/>
        </p:nvSpPr>
        <p:spPr>
          <a:xfrm>
            <a:off x="822960" y="43982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885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8" name="Text 16"/>
          <p:cNvSpPr txBox="1"/>
          <p:nvPr/>
        </p:nvSpPr>
        <p:spPr>
          <a:xfrm>
            <a:off x="1444752" y="427024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كَفَرُواْ رَبَّنَآ أَرِنَا الَّذَيْنِ أَضَلَّانَا مِنَ الْجِنِّ وَالْإِنسِ نَجْعَلْهُمَا تَحْتَ أَقْدَامِنَا لِيَكُونَا مِنَ الْأَسْفَلِينَ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in the Fire will say: Our Lord, show us the jinn and humans who misled us, so we can put them under our feet and they will be in the lowest part of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قَالُواْ رَبُّنَا اللَّهُ ثُمَّ اسْتَقَٰمُواْ تَتَنَزَّلُ عَلَيْهِمُ الْمَلَـٰئِكَةُ أَلَّا تَخَافُواْ وَلَا تَحْزَنُواْ وَأَبْشِرُواْ بِالْجَنَّةِ الَّتِي كُنتُمْ تُوعَدُونَ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say: Our Lord is Allah, then stay firm on faith and obedience, the angels come down to them at death: Do not fear or grieve, and receive the good news of the Paradise you were promised.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نَحْنُ أَوْلِيَآؤُكُمْ فِي الْحَيَوٰةِ الدُّنْيَا وَفِي الْأخِرَةِ وَلَكُمْ فِيهَا مَا تَشْتَهِي أَنفُسُكُمْ وَلَكُمْ فِيهَا مَا تَدَّعُونَ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are your helpers in the life of this world and in the Hereafter. In Paradise you will have whatever your souls desire and whatever you ask for,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نُزُلًا مِّنْ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welcome and honour from a Forgiving, Most Merciful Lord.</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أَحْسَنُ قَوْلًا مِّمَّن دَعَآ إِلَى اللَّهِ وَعَمِلَ صَٰلِحًا وَقَالَ إِنَّنِي مِنَ الْمُسْلِمِينَ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has better words than one who calls people to Allah, does good, and says: I am one of the Muslims?</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تَسْتَوِي الْحَسَنَةُ وَلَا السَّيِّئَةُ ادْفَعْ بِالَّتِي هِيَ أَحْسَنُ فَإِذَا الَّذِي بَيْنَكَ وَبَيْنَهُ عَدَٰوَةٌ كَأَنَّهُ وَلِيٌّ حَمِيمٌ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Good and evil are not equal. Push away the wrong of whoever wrongs you with kindness, and the one with whom you had hostility will become like a close friend.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35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يُلَقَّىٰهَآ إِلَّا الَّذِينَ صَبَرُواْ وَمَا يُلَقَّىٰهَآ إِلَّا ذُو حَظٍّ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one is given this quality except those who are patient, and no one is given it except one with a great share of goodness.</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3" name="Text 11"/>
          <p:cNvSpPr txBox="1"/>
          <p:nvPr/>
        </p:nvSpPr>
        <p:spPr>
          <a:xfrm>
            <a:off x="1444752" y="28072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وَإِمَّا يَنزَغَنَّكَ مِنَ الشَّيْطَٰنِ نَزْغٌ فَاسْتَعِذْ بِاللَّهِ إِنَّهُ هُوَ السَّمِيعُ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Satan whispers to you to turn you away from this, seek refuge in Allah. He is the All-Hearing, the All-Knowing.</a:t>
            </a:r>
            <a:endParaRPr lang="en-US" sz="3000" dirty="0"/>
          </a:p>
        </p:txBody>
      </p:sp>
      <p:sp>
        <p:nvSpPr>
          <p:cNvPr id="14" name="Shape 12"/>
          <p:cNvSpPr/>
          <p:nvPr/>
        </p:nvSpPr>
        <p:spPr>
          <a:xfrm>
            <a:off x="1444752" y="4151376"/>
            <a:ext cx="8641080" cy="0"/>
          </a:xfrm>
          <a:prstGeom prst="line">
            <a:avLst/>
          </a:prstGeom>
          <a:noFill/>
          <a:ln w="9525">
            <a:solidFill>
              <a:schemeClr val="accent2"/>
            </a:solidFill>
            <a:prstDash val="dash"/>
          </a:ln>
        </p:spPr>
      </p:sp>
      <p:sp>
        <p:nvSpPr>
          <p:cNvPr id="15" name="Shape 13"/>
          <p:cNvSpPr/>
          <p:nvPr/>
        </p:nvSpPr>
        <p:spPr>
          <a:xfrm>
            <a:off x="713232" y="4288536"/>
            <a:ext cx="548640" cy="548640"/>
          </a:xfrm>
          <a:prstGeom prst="star8">
            <a:avLst/>
          </a:prstGeom>
          <a:solidFill>
            <a:schemeClr val="accent2"/>
          </a:solidFill>
          <a:ln/>
        </p:spPr>
      </p:sp>
      <p:sp>
        <p:nvSpPr>
          <p:cNvPr id="16" name="Shape 14"/>
          <p:cNvSpPr/>
          <p:nvPr/>
        </p:nvSpPr>
        <p:spPr>
          <a:xfrm>
            <a:off x="822960" y="43982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885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8" name="Text 16"/>
          <p:cNvSpPr txBox="1"/>
          <p:nvPr/>
        </p:nvSpPr>
        <p:spPr>
          <a:xfrm>
            <a:off x="1444752" y="427024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ءَايَٰتِهِ الَّيْلُ وَالنَّهَارُ وَالشَّمْسُ وَالْقَمَرُ لَا تَسْجُدُواْ لِلشَّمْسِ وَلَا لِلْقَمَرِ وَاسْجُدُواْ لِلَّهِ الَّذِي خَلَقَهُنَّ إِن كُنتُمْ إِيَّاهُ تَعْبُدُونَ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His signs are the night and the day, the sun and the moon. Do not bow down to the sun or the moon; bow down to Allah, who created them, if you truly worship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اسْتَكْبَرُواْ فَالَّذِينَ عِندَ رَبِّكَ يُسَبِّحُونَ لَهُ بِالَّيْلِ وَالنَّهَارِ وَهُمْ لَا يَسْـَٔمُونَ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 idol-worshippers are too proud to bow down to Allah, the angels with your Lord glorify Him night and day and never grow tired. This is a place of prostration in recitation.</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ءَايَٰتِهِ أَنَّكَ تَرَى الْأَرْضَ خَٰشِعَةً فَإِذَآ أَنزَلْنَا عَلَيْهَا الْمَآءَ اهْتَزَّتْ وَرَبَتْ إِنَّ الَّذِي أَحْيَاهَا لَمُحْيِ الْمَوْتَىٰ إِنَّهُ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His signs is that you see the earth dry, but when We send down rain on it, it stirs with plants and swells. The One who gave it life will surely give life to the dead.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40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يُلْحِدُونَ فِي ءَايَٰتِنَا لَا يَخْفَوْنَ عَلَيْنَآ أَفَمَن يُلْقَىٰ فِي النَّارِ خَيْرٌ أَم مَّن يَأْتِي ءَامِنًا يَوْمَ الْقِيَٰمَةِ اعْمَلُواْ مَا شِئْتُمْ إِنَّهُ بِمَا تَعْمَلُونَ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twist the meaning of Our verses are not hidden from Us. Is the one thrown into the Fire better, or the one who comes safe on the Day of Resurrection? Do what you wish, as a warning; He sees what you do.</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كَفَرُواْ بِالذِّكْرِ لَمَّا جَآءَهُمْ وَإِنَّهُ لَكِتَٰبٌ عَزِيزٌ</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disbelieve in the Qur'an when it comes to them will be repaid. It is a mighty, protected Book.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1982"/>
            <a:ext cx="548640" cy="548640"/>
          </a:xfrm>
          <a:prstGeom prst="star8">
            <a:avLst/>
          </a:prstGeom>
          <a:solidFill>
            <a:schemeClr val="accent2"/>
          </a:solidFill>
          <a:ln/>
        </p:spPr>
      </p:sp>
      <p:sp>
        <p:nvSpPr>
          <p:cNvPr id="6" name="Shape 4"/>
          <p:cNvSpPr/>
          <p:nvPr/>
        </p:nvSpPr>
        <p:spPr>
          <a:xfrm>
            <a:off x="822960" y="225171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19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21236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يَأْتِيهِ الْبَٰطِلُ مِن بَيْنِ يَدَيْهِ وَلَا مِنْ خَلْفِهِ تَنزِيلٌ مِّنْ حَكِيمٍ حَمِيدٍ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Falsehood cannot come to it from any direction; it is protected, sent down from One who is Wise in His command and Praiseworthy in His qualities.</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3778758"/>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يُقَالُ لَكَ إِلَّا مَا قَدْ قِيلَ لِلرُّسُلِ مِن قَبْلِكَ إِنَّ رَبَّكَ لَذُو مَغْفِرَةٍ وَذُو عِقَابٍ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say nothing to you except what the nations said to their messengers before you. Your Lord is full of forgiveness for those who repent and painful punishment for those who persist.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جَعَلْنَٰهُ قُرْءَانًا أَعْجَمِيًّا لَّقَالُواْ لَوْلَا فُصِّلَتْ ءَايَٰتُهُ ءَا۬عْجَمِيٌّ وَعَرَبِيٌّ قُلْ هُوَ لِلَّذِينَ ءَامَنُواْ هُدًى وَشِفَآءٌ وَالَّذِينَ لَا يُؤْمِنُونَ فِي ءَاذَانِهِمْ وَقْرٌ وَهُوَ عَلَيْهِمْ عَمًى أُوْلَـٰئِكَ يُنَادَوْنَ مِن مَّكَانٍ بَعِيدٍ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had made the Qur'an in a non-Arabic language, they would have said: Why are its verses not made clear? A foreign Book and an Arab prophet? Say: It is guidance and healing for the believers. Those who do not believe have deafness in their ears towards it and are blind to it, as if they are called from a faraway place and cannot hear.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ءَاتَيْنَا مُوسَى الْكِتَٰبَ فَاخْتُلِفَ فِيهِ وَلَوْلَا كَلِمَةٌ سَبَقَتْ مِن رَّبِّكَ لَقُضِيَ بَيْنَهُمْ وَإِنَّهُمْ لَفِي شَكٍّ مِّنْهُ مُرِيبٍ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Musa the Torah, but his people differed about it. If not for Allah's decision to delay the punishment, it would have been settled between them. And they are in doubt about the Qur'an.</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عَمِلَ صَٰلِحًا فَلِنَفْسِهِ وَمَنْ أَسَآءَ فَعَلَيْهَا وَمَا رَبُّكَ بِظَلَّـٰمٍ لِّلْعَبِيدِ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does good does it for himself, and whoever does evil does it against himself. Your Lord is never unjust to His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Ghafir</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85 verses • The Forgiver</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40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There is no well-known reason for the revelation of the surah as a whole. In Bukhari, 'Uqbah ibn Abi Mu'ayt choked the Prophet (peace be upon him) while he was praying in the courtyard of the Ka'bah. Abu Bakr (may Allah be pleased with him) pushed him away and said: “Will you kill a man for saying: My Lord is Allah, when he has brought you clear proofs from your Lord?”, using the words of the believer from Pharaoh's family.</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Showing that Allah forgives sins and is severe in punishment, the angels' prayers for the believers, the story of the believing man from Pharaoh's family who defended Musa with wisdom, and the command to call on Allah and be patient.</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pointing to the miracle of the Qur'an.</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تَنزِيلُ الْكِتَٰبِ مِنَ اللَّهِ الْعَزِيزِ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sent down from Allah, the Almighty, the All-Knowing,</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غَافِرِ الذَّنبِ وَقَابِلِ التَّوْبِ شَدِيدِ الْعِقَابِ ذِي الطَّوْلِ لَآ إِلَٰهَ إِلَّا هُوَ إِلَيْهِ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Forgiver of sins, the Accepter of repentance, severe in punishment for those who disobey, the Owner of favour and blessings. None deserves worship but Him; to Him is the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يُجَٰدِلُ فِي ءَايَٰتِ اللَّهِ إِلَّا الَّذِينَ كَفَرُواْ فَلَا يَغْرُرْكَ تَقَلُّبُهُمْ فِي الْبِلَٰدِ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one argues about Allah's verses falsely except the disbelievers, so do not be fooled by their travelling through the lands for trade and enjoyment.</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280720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كَذَّبَتْ قَبْلَهُمْ قَوْمُ نُوحٍ وَالْأَحْزَابُ مِن بَعْدِهِمْ وَهَمَّتْ كُلُّ أُمَّةٍ بِرَسُولِهِمْ لِيَأْخُذُوهُ وَجَٰدَلُواْ بِالْبَٰطِلِ لِيُدْحِضُواْ بِهِ الْحَقَّ فَأَخَذْتُهُمْ فَكَيْفَ كَانَ عِقَابِ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Before them the people of Nuh denied, and the nations after them. Every nation planned to seize its messenger to kill him and argued falsely to defeat the truth. So I seized them, and how was My punishment!</a:t>
            </a:r>
            <a:endParaRPr lang="en-US" sz="3000" dirty="0"/>
          </a:p>
        </p:txBody>
      </p:sp>
      <p:sp>
        <p:nvSpPr>
          <p:cNvPr id="14" name="Shape 12"/>
          <p:cNvSpPr/>
          <p:nvPr/>
        </p:nvSpPr>
        <p:spPr>
          <a:xfrm>
            <a:off x="1444752" y="4960620"/>
            <a:ext cx="8641080" cy="0"/>
          </a:xfrm>
          <a:prstGeom prst="line">
            <a:avLst/>
          </a:prstGeom>
          <a:noFill/>
          <a:ln w="9525">
            <a:solidFill>
              <a:schemeClr val="accent2"/>
            </a:solidFill>
            <a:prstDash val="dash"/>
          </a:ln>
        </p:spPr>
      </p:sp>
      <p:sp>
        <p:nvSpPr>
          <p:cNvPr id="15" name="Shape 13"/>
          <p:cNvSpPr/>
          <p:nvPr/>
        </p:nvSpPr>
        <p:spPr>
          <a:xfrm>
            <a:off x="713232" y="5097780"/>
            <a:ext cx="548640" cy="548640"/>
          </a:xfrm>
          <a:prstGeom prst="star8">
            <a:avLst/>
          </a:prstGeom>
          <a:solidFill>
            <a:schemeClr val="accent2"/>
          </a:solidFill>
          <a:ln/>
        </p:spPr>
      </p:sp>
      <p:sp>
        <p:nvSpPr>
          <p:cNvPr id="16" name="Shape 14"/>
          <p:cNvSpPr/>
          <p:nvPr/>
        </p:nvSpPr>
        <p:spPr>
          <a:xfrm>
            <a:off x="822960" y="52075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977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50794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حَقَّتْ كَلِمَتُ رَبِّكَ عَلَى الَّذِينَ كَفَرُواْ أَنَّهُمْ أَصْحَٰبُ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your Lord's word has become due on the disbelievers: they are the people of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يَحْمِلُونَ الْعَرْشَ وَمَنْ حَوْلَهُ يُسَبِّحُونَ بِحَمْدِ رَبِّهِمْ وَيُؤْمِنُونَ بِهِ وَيَسْتَغْفِرُونَ لِلَّذِينَ ءَامَنُواْ رَبَّنَا وَسِعْتَ كُلَّ شَيْءٍ رَّحْمَةً وَعِلْمًا فَاغْفِرْ لِلَّذِينَ تَابُواْ وَاتَّبَعُواْ سَبِيلَكَ وَقِهِمْ عَذَابَ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angels who carry the Throne and those around it glorify their Lord with praise, believe in Him, and ask forgiveness for the believers: Our Lord, Your mercy and knowledge cover everything, so forgive those who repent and follow Your way, and protect them from the punishment of Hellfire.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رَبَّنَا وَأَدْخِلْهُمْ جَنَّـٰتِ عَدْنٍ الَّتِي وَعَدتَّهُمْ وَمَن صَلَحَ مِنْ ءَابَآئِهِمْ وَأَزْوَٰجِهِمْ وَذُرِّيَّـٰتِهِمْ إِنَّكَ أَنتَ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Lord, admit them to the Gardens of Eternity You have promised them, and the righteous among their fathers, spouses and children. You are the Almighty, the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وَقِهِمُ السَّيِّـَٔاتِ وَمَن تَقِ السَّيِّـَٔاتِ يَوْمَئِذٍ فَقَدْ رَحِمْتَهُ وَذَٰلِكَ هُوَ الْفَوْزُ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Protect them from the punishment of bad deeds. Whoever You protect from them on that Day, You have shown him mercy, and that is the great success.</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كَفَرُواْ يُنَادَوْنَ لَمَقْتُ اللَّهِ أَكْبَرُ مِن مَّقْتِكُمْ أَنفُسَكُمْ إِذْ تُدْعَوْنَ إِلَى الْإِيمَٰنِ فَتَكْفُرُونَ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will be called out to in the Fire: Allah's hatred for you in the world, when you were called to faith and disbelieved, was greater than your hatred of yourselves today.</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رَبَّنَآ أَمَتَّنَا اثْنَتَيْنِ وَأَحْيَيْتَنَا اثْنَتَيْنِ فَاعْتَرَفْنَا بِذُنُوبِنَا فَهَلْ إِلَىٰ خُرُوجٍ مِّن سَبِيلٍ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Our Lord, You caused us to die twice and gave us life twice, and we have admitted our sins. Is there any way out of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ذَٰلِكُم بِأَنَّهُ إِذَا دُعِيَ اللَّهُ وَحْدَهُ كَفَرْتُمْ وَإِن يُشْرَكْ بِهِ تُؤْمِنُواْ فَالْحُكْمُ لِلَّهِ الْعَلِيِّ الْكَبِيرِ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punishment is because when Allah alone was called on, you disbelieved, but when partners were set up with Him, you believed. Judgement belongs to Allah, the Most High, the Most Great.</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يُرِيكُمْ ءَايَٰتِهِ وَيُنَزِّلُ لَكُم مِّنَ السَّمَآءِ رِزْقًا وَمَا يَتَذَكَّرُ إِلَّا مَن يُنِيبُ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shows you His signs and sends down rain from the sky as provision for you. No one takes heed except the one who turns to Allah.</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فَادْعُواْ اللَّهَ مُخْلِصِينَ لَهُ الدِّينَ وَلَوْ كَرِهَ الْكَٰفِرُونَ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call on Allah alone, making your worship sincere for Him, even if the disbelievers hate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رَفِيعُ الدَّرَجَٰتِ ذُو الْعَرْشِ يُلْقِي الرُّوحَ مِنْ أَمْرِهِ عَلَىٰ مَن يَشَآءُ مِنْ عِبَادِهِ لِيُنذِرَ يَوْمَ التَّلَاقِ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Highest in rank, Owner of the Throne. He sends revelation by His command to whom He wills of His servants, to warn people of the Day of Meeting, when all creation will meet.</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هُم بَٰرِزُونَ لَا يَخْفَىٰ عَلَى اللَّهِ مِنْهُمْ شَيْءٌ لِّمَنِ الْمُلْكُ الْيَوْمَ لِلَّهِ الْوَٰحِدِ الْقَهَّارِ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Day they come out in the open, nothing about them hidden from Allah. Allah will say: To whom does the kingdom belong today? To Allah, the One, the All-Conquering.</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الْيَوْمَ تُجْزَىٰ كُلُّ نَفْسٍ بِمَا كَسَبَتْ لَا ظُلْمَ الْيَوْمَ إِنَّ اللَّهَ سَرِيعُ الْحِسَابِ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Today every soul will be repaid for what it did. No injustice today! Allah is swift in reckoning.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وَأَنذِرْهُمْ يَوْمَ الْأزِفَةِ إِذِ الْقُلُوبُ لَدَى الْحَنَاجِرِ كَٰظِمِينَ مَا لِلظَّـٰلِمِينَ مِنْ حَمِيمٍ وَلَا شَفِيعٍ يُطَاعُ</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Warn them of the approaching Day, when hearts will rise up to the throats in fear, full of distress. The wrongdoers will have no friend, nor any intercessor who is obeyed.</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يَعْلَمُ خَآئِنَةَ الْأَعْيُنِ وَمَا تُخْفِي الصُّدُورُ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knows the sneaky look of the eye and what the hearts hide.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يَقْضِي بِالْحَقِّ وَالَّذِينَ يَدْعُونَ مِن دُونِهِ لَا يَقْضُونَ بِشَيْءٍ إِنَّ اللَّهَ هُوَ السَّمِيعُ الْبَصِيرُ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judges with justice, while the gods they worship besides Him judge nothing. Allah is the All-Hearing, the All-Seeing.</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يَسِيرُواْ فِي الْأَرْضِ فَيَنظُرُواْ كَيْفَ كَانَ عَٰقِبَةُ الَّذِينَ كَانُواْ مِن قَبْلِهِمْ كَانُواْ هُمْ أَشَدَّ مِنْهُمْ قُوَّةً وَءَاثَارًا فِي الْأَرْضِ فَأَخَذَهُمُ اللَّهُ بِذُنُوبِهِمْ وَمَا كَانَ لَهُم مِّنَ اللَّهِ مِن وَاقٍ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they not travelled through the land and seen the end of the nations before them? They were stronger than them and left greater marks on the earth, but Allah seized them for their sins, and they had no one to protect them from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بِأَنَّهُمْ كَانَت تَّأْتِيهِمْ رُسُلُهُم بِالْبَيِّنَٰتِ فَكَفَرُواْ فَأَخَذَهُمُ اللَّهُ إِنَّهُ قَوِيٌّ شَدِيدُ الْعِقَابِ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was because their messengers came to them with miracles, but they disbelieved, so Allah seized them. He is Strong, severe in punishment.</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أَرْسَلْنَا مُوسَىٰ بِـَٔايَٰتِنَا وَسُلْطَٰنٍ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Musa with Our signs and a clear proof</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إِلَىٰ فِرْعَوْنَ وَهَٰمَٰنَ وَقَٰرُونَ فَقَالُواْ سَٰحِرٌ كَذَّابٌ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Pharaoh, his minister Haman and Qarun, but they said: A lying magician.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جَآءَهُم بِالْحَقِّ مِنْ عِندِنَا قَالُواْ اقْتُلُواْ أَبْنَآءَ الَّذِينَ ءَامَنُواْ مَعَهُ وَاسْتَحْيُواْ نِسَآءَهُمْ وَمَا كَيْدُ الْكَٰفِرِينَ إِلَّا فِي ضَلَٰلٍ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brought them the truth, they said: Kill the sons of those who believe with him and keep their women alive to serve. But the plotting of the disbelievers only ends in failure.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فِرْعَوْنُ ذَرُونِي أَقْتُلْ مُوسَىٰ وَلْيَدْعُ رَبَّهُ إِنِّي أَخَافُ أَن يُبَدِّلَ دِينَكُمْ أَوْ أَن يُظْهِرَ فِي الْأَرْضِ الْفَسَادَ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said: Let me kill Musa, and let him call on his Lord to stop me. I fear he will change your religion or spread corruption in the land.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5750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مُوسَىٰ إِنِّي عُذْتُ بِرَبِّي وَرَبِّكُم مِّن كُلِّ مُتَكَبِّرٍ لَّا يُؤْمِنُ بِيَوْمِ الْحِسَابِ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I seek refuge in my Lord and your Lord from every arrogant one who does not believe in the Day of Reckoning.</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248406"/>
            <a:ext cx="548640" cy="548640"/>
          </a:xfrm>
          <a:prstGeom prst="star8">
            <a:avLst/>
          </a:prstGeom>
          <a:solidFill>
            <a:schemeClr val="accent2"/>
          </a:solidFill>
          <a:ln/>
        </p:spPr>
      </p:sp>
      <p:sp>
        <p:nvSpPr>
          <p:cNvPr id="11" name="Shape 9"/>
          <p:cNvSpPr/>
          <p:nvPr/>
        </p:nvSpPr>
        <p:spPr>
          <a:xfrm>
            <a:off x="822960" y="335813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4840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3230118"/>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رَجُلٌ مُّؤْمِنٌ مِّنْ ءَالِ فِرْعَوْنَ يَكْتُمُ إِيمَٰنَهُ أَتَقْتُلُونَ رَجُلًا أَن يَقُولَ رَبِّيَ اللَّهُ وَقَدْ جَآءَكُم بِالْبَيِّنَٰتِ مِن رَّبِّكُمْ وَإِن يَكُ كَٰذِبًا فَعَلَيْهِ كَذِبُهُ وَإِن يَكُ صَادِقًا يُصِبْكُم بَعْضُ الَّذِي يَعِدُكُمْ إِنَّ اللَّهَ لَا يَهْدِي مَنْ هُوَ مُسْرِفٌ كَذَّابٌ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believing man from Pharaoh's people, who hid his faith, said: Will you kill a man for saying: My Lord is Allah, when he has brought you miracles? If he is lying, his lie is on him, and if he is truthful, some of what he warns you of will strike you. Allah does not guide one who goes too far and lies.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يَٰقَوْمِ لَكُمُ الْمُلْكُ الْيَوْمَ ظَٰهِرِينَ فِي الْأَرْضِ فَمَن يَنصُرُنَا مِن بَأْسِ اللَّهِ إِن جَآءَنَا قَالَ فِرْعَوْنُ مَآ أُرِيكُمْ إِلَّا مَآ أَرَىٰ وَمَآ أَهْدِيكُمْ إِلَّا سَبِيلَ الرَّشَادِ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people, today the kingdom is yours and you rule the land, but who will help us against Allah's punishment if it comes to us? Pharaoh said: I only advise you what I think is right, and I only guide you to the right way.</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 ءَامَنَ يَٰقَوْمِ إِنِّي أَخَافُ عَلَيْكُم مِّثْلَ يَوْمِ الْأَحْزَابِ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believer said: O my people, I fear for you a day like the day of the destroyed nations that denied,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مِثْلَ دَأْبِ قَوْمِ نُوحٍ وَعَادٍ وَثَمُودَ وَالَّذِينَ مِن بَعْدِهِمْ وَمَا اللَّهُ يُرِيدُ ظُلْمًا لِّلْعِبَادِ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like the way of the people of Nuh, 'Ad, Thamud and those after them in denial and destruction. Allah does not want any injustice for His servants.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وَيَٰقَوْمِ إِنِّي أَخَافُ عَلَيْكُمْ يَوْمَ التَّنَادِ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people, I fear for you the Day of Resurrection, when people will call out to one another,</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تُوَلُّونَ مُدْبِرِينَ مَا لَكُم مِّنَ اللَّهِ مِنْ عَاصِمٍ وَمَن يُضْلِلِ اللَّهُ فَمَا لَهُ مِنْ هَادٍ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Day you will turn and run, with no one to protect you from Allah. Whoever Allah lets go astray has no guide.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جَآءَكُمْ يُوسُفُ مِن قَبْلُ بِالْبَيِّنَٰتِ فَمَا زِلْتُمْ فِي شَكٍّ مِّمَّا جَآءَكُم بِهِ حَتَّىٰ إِذَا هَلَكَ قُلْتُمْ لَن يَبْعَثَ اللَّهُ مِن بَعْدِهِ رَسُولًا كَذَٰلِكَ يُضِلُّ اللَّهُ مَنْ هُوَ مُسْرِفٌ مُّرْتَابٌ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Yusuf came to you before with miracles, but you kept doubting what he brought until, when he died, you said: Allah will never send a messenger after him. In this way Allah lets go astray the one who goes too far and doubts.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يُجَٰدِلُونَ فِي ءَايَٰتِ اللَّهِ بِغَيْرِ سُلْطَٰنٍ أَتَىٰهُمْ كَبُرَ مَقْتًا عِندَ اللَّهِ وَعِندَ الَّذِينَ ءَامَنُواْ كَذَٰلِكَ يَطْبَعُ اللَّهُ عَلَىٰ كُلِّ قَلْبِ مُتَكَبِّرٍ جَبَّارٍ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argue about Allah's verses without any proof are greatly hated by Allah and the believers. In this way Allah seals the heart of every arrogant tyrant.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فِرْعَوْنُ يَٰهَٰمَٰنُ ابْنِ لِي صَرْحًا لَّعَلِّي أَبْلُغُ الْأَسْبَٰبَ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said: O Haman, build me a tall tower so that I may reach the pathways,</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أَسْبَٰبَ السَّمَٰوَٰتِ فَأَطَّلِعَ إِلَىٰ إِلَٰهِ مُوسَىٰ وَإِنِّي لَأَظُنُّهُ كَٰذِبًا وَكَذَٰلِكَ زُيِّنَ لِفِرْعَوْنَ سُوءُ عَمَلِهِ وَصُدَّ عَنِ السَّبِيلِ وَمَا كَيْدُ فِرْعَوْنَ إِلَّا فِي تَبَابٍ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pathways of the heavens, and look at the God of Musa, though I think he is a liar. In this way Pharaoh's evil deed was made to look good to him, and he was blocked from the truth. Pharaoh's plotting only ended in loss.</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 ءَامَنَ يَٰقَوْمِ اتَّبِعُونِ أَهْدِكُمْ سَبِيلَ الرَّشَادِ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believer said: O my people, follow me; I will guide you to the right 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يَٰقَوْمِ إِنَّمَا هَٰذِهِ الْحَيَوٰةُ الدُّنْيَا مَتَٰعٌ وَإِنَّ الْأخِرَةَ هِيَ دَارُ الْقَرَارِ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people, this worldly life is only a small, passing enjoyment, and the Hereafter is the home that lasts.</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عَمِلَ سَيِّئَةً فَلَا يُجْزَىٰ إِلَّا مِثْلَهَا وَمَنْ عَمِلَ صَٰلِحًا مِّن ذَكَرٍ أَوْ أُنثَىٰ وَهُوَ مُؤْمِنٌ فَأُوْلَـٰئِكَ يَدْخُلُونَ الْجَنَّةَ يُرْزَقُونَ فِيهَا بِغَيْرِ 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does a bad deed will only be repaid with its like, and whoever does good, male or female, while being a believer, they will enter Paradise and be provided for there without limit.</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وَيَٰقَوْمِ مَا لِي أَدْعُوكُمْ إِلَى النَّجَوٰةِ وَتَدْعُونَنِي إِلَى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people, why is it that I call you to safety from the Fire while you call me to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تَدْعُونَنِي لِأَكْفُرَ بِاللَّهِ وَأُشْرِكَ بِهِ مَا لَيْسَ لِي بِهِ عِلْمٌ وَأَنَا أَدْعُوكُمْ إِلَى الْعَزِيزِ الْغَفَّـٰرِ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call me to disbelieve in Allah and set up partners with Him that I have no knowledge deserve worship, while I call you to the Almighty, the Ever-Forgiving.</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جَرَمَ أَنَّمَا تَدْعُونَنِي إِلَيْهِ لَيْسَ لَهُ دَعْوَةٌ فِي الدُّنْيَا وَلَا فِي الْأخِرَةِ وَأَنَّ مَرَدَّنَآ إِلَى اللَّهِ وَأَنَّ الْمُسْرِفِينَ هُمْ أَصْحَٰبُ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Surely what you call me to cannot answer any call in this world or the Hereafter. Our return is to Allah, and those who go too far are the people of the Fire.</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فَسَتَذْكُرُونَ مَآ أَقُولُ لَكُمْ وَأُفَوِّضُ أَمْرِي إِلَى اللَّهِ إِنَّ اللَّهَ بَصِيرٌ بِالْعِبَادِ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will remember my advice when remembering will not help. I leave my affair to Allah; Allah sees His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فَوَقَىٰهُ اللَّهُ سَيِّـَٔاتِ مَا مَكَرُواْ وَحَاقَ بِـَٔالِ فِرْعَوْنَ سُوءُ الْعَذَابِ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Allah protected him from their evil plots, and the worst punishment fell on Pharaoh's people:</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النَّارُ يُعْرَضُونَ عَلَيْهَا غُدُوًّا وَعَشِيًّا وَيَوْمَ تَقُومُ السَّاعَةُ أَدْخِلُواْ ءَالَ فِرْعَوْنَ أَشَدَّ الْعَذَابِ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Fire, which they are shown morning and evening in their graves. On the Day the Hour comes, it will be said: Put Pharaoh's people into the severest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47 –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يَتَحَآجُّونَ فِي النَّارِ فَيَقُولُ الضُّعَفَـٰؤُاْ لِلَّذِينَ اسْتَكْبَرُواْ إِنَّا كُنَّا لَكُمْ تَبَعًا فَهَلْ أَنتُم مُّغْنُونَ عَنَّا نَصِيبًا مِّنَ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they argue in the Fire, and the weak say to the arrogant: We were your followers, so can you take some of the Fire off us?</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الَّذِينَ اسْتَكْبَرُواْ إِنَّا كُلٌّ فِيهَآ إِنَّ اللَّهَ قَدْ حَكَمَ بَيْنَ الْعِبَادِ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arrogant will say: We are all in it. Allah has judged between His servants.</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فِي النَّارِ لِخَزَنَةِ جَهَنَّمَ ادْعُواْ رَبَّكُمْ يُخَفِّفْ عَنَّا يَوْمًا مِّنَ الْعَذَابِ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the Fire will say to the keepers of Hell: Call on your Lord to lighten the punishment for us for one day.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50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أَوَلَمْ تَكُ تَأْتِيكُمْ رُسُلُكُم بِالْبَيِّنَٰتِ قَالُواْ بَلَىٰ قَالُواْ فَادْعُواْ وَمَا دُعَـٰؤُاْ الْكَٰفِرِينَ إِلَّا فِي ضَلَٰلٍ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keepers will say: Did your messengers not come to you with clear proofs? They will say: Yes. They will say: Then call yourselves, but the call of the disbelievers is only lost.</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لَنَنصُرُ رُسُلَنَا وَالَّذِينَ ءَامَنُواْ فِي الْحَيَوٰةِ الدُّنْيَا وَيَوْمَ يَقُومُ الْأَشْهَٰدُ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surely help Our messengers and the believers in the life of this world and on the Day when the witnesses stand,</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لَا يَنفَعُ الظَّـٰلِمِينَ مَعْذِرَتُهُمْ وَلَهُمُ اللَّعْنَةُ وَلَهُمْ سُوءُ الدَّارِ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Day when the wrongdoers' excuses will not help them. They will be cast out of Allah's mercy, and they will have the worst home,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ءَاتَيْنَا مُوسَى الْهُدَىٰ وَأَوْرَثْنَا بَنِي إِسْرَـٰءِيلَ الْكِتَٰبَ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Musa guidance and made the Children of Israel inherit the Torah,</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هُدًى وَذِكْرَىٰ لِأُوْلِي الْأَلْبَٰبِ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guidance and a reminder for people of understanding.</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فَاصْبِرْ إِنَّ وَعْدَ اللَّهِ حَقٌّ وَاسْتَغْفِرْ لِذَنبِكَ وَسَبِّحْ بِحَمْدِ رَبِّكَ بِالْعَشِيِّ وَالْإِبْكَٰرِ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be patient, O Muhammad; Allah's promise is true. Ask forgiveness for your sin and glorify your Lord with praise in the evening and the morning.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56 – 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يُجَٰدِلُونَ فِي ءَايَٰتِ اللَّهِ بِغَيْرِ سُلْطَٰنٍ أَتَىٰهُمْ إِن فِي صُدُورِهِمْ إِلَّا كِبْرٌ مَّا هُم بِبَٰلِغِيهِ فَاسْتَعِذْ بِاللَّهِ إِنَّهُ هُوَ السَّمِيعُ الْبَصِيرُ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argue about Allah's verses without proof have only arrogance in their hearts, which they will never achieve their goal with. So seek refuge in Allah; He is the All-Hearing, the All-Seeing.</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لَخَلْقُ السَّمَٰوَٰتِ وَالْأَرْضِ أَكْبَرُ مِنْ خَلْقِ النَّاسِ وَلَٰكِنَّ أَكْثَرَ النَّاسِ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Creating the heavens and the earth is greater than creating people and bringing them back, but most people do not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58 – 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يَسْتَوِي الْأَعْمَىٰ وَالْبَصِيرُ وَالَّذِينَ ءَامَنُواْ وَعَمِلُواْ الصَّـٰلِحَٰتِ وَلَا الْمُسِيءُ قَلِيلًا مَّا تَتَذَكَّرُونَ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blind and the seeing are not equal, nor are the righteous believers and the evildoer. Little do you take heed.</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السَّاعَةَ لَأتِيَةٌ لَّا رَيْبَ فِيهَا وَلَٰكِنَّ أَكْثَرَ النَّاسِ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Hour is surely coming, with no doubt about it, but most people do not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60 – 61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رَبُّكُمُ ادْعُونِي أَسْتَجِبْ لَكُمْ إِنَّ الَّذِينَ يَسْتَكْبِرُونَ عَنْ عِبَادَتِي سَيَدْخُلُونَ جَهَنَّمَ دَاخِرِينَ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said: Call on Me, and I will answer you. Those who are too proud to worship Me will enter Hell humbled. The Prophet (peace be upon him) said: "Du'a' is worship" (Tirmidhi).</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الَّذِي جَعَلَ لَكُمُ الَّيْلَ لِتَسْكُنُواْ فِيهِ وَالنَّهَارَ مُبْصِرًا إِنَّ اللَّهَ لَذُو فَضْلٍ عَلَى النَّاسِ وَلَٰكِنَّ أَكْثَرَ النَّاسِ لَا يَشْكُرُونَ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the One who made the night for you to rest in and the day full of light. Allah is full of favour to people, but most of them are not thankful.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62 – 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ذَٰلِكُمُ اللَّهُ رَبُّكُمْ خَٰلِقُ كُلِّ شَيْءٍ لَّآ إِلَٰهَ إِلَّا هُوَ فَأَنَّىٰ تُؤْفَكُونَ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Allah, your Lord, Creator of everything. None deserves worship but Him. So how are you turned away from worshipping Him?</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كَذَٰلِكَ يُؤْفَكُ الَّذِينَ كَانُواْ بِـَٔايَٰتِ اللَّهِ يَجْحَدُونَ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those who used to deny Allah's signs are turned away from the truth.</a:t>
            </a:r>
            <a:endParaRPr lang="en-US" sz="3000" dirty="0"/>
          </a:p>
        </p:txBody>
      </p:sp>
      <p:sp>
        <p:nvSpPr>
          <p:cNvPr id="14" name="Shape 12"/>
          <p:cNvSpPr/>
          <p:nvPr/>
        </p:nvSpPr>
        <p:spPr>
          <a:xfrm>
            <a:off x="1444752" y="3890772"/>
            <a:ext cx="8641080" cy="0"/>
          </a:xfrm>
          <a:prstGeom prst="line">
            <a:avLst/>
          </a:prstGeom>
          <a:noFill/>
          <a:ln w="9525">
            <a:solidFill>
              <a:schemeClr val="accent2"/>
            </a:solidFill>
            <a:prstDash val="dash"/>
          </a:ln>
        </p:spPr>
      </p:sp>
      <p:sp>
        <p:nvSpPr>
          <p:cNvPr id="15" name="Shape 13"/>
          <p:cNvSpPr/>
          <p:nvPr/>
        </p:nvSpPr>
        <p:spPr>
          <a:xfrm>
            <a:off x="713232" y="4027932"/>
            <a:ext cx="548640" cy="548640"/>
          </a:xfrm>
          <a:prstGeom prst="star8">
            <a:avLst/>
          </a:prstGeom>
          <a:solidFill>
            <a:schemeClr val="accent2"/>
          </a:solidFill>
          <a:ln/>
        </p:spPr>
      </p:sp>
      <p:sp>
        <p:nvSpPr>
          <p:cNvPr id="16" name="Shape 14"/>
          <p:cNvSpPr/>
          <p:nvPr/>
        </p:nvSpPr>
        <p:spPr>
          <a:xfrm>
            <a:off x="822960" y="413766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02793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8" name="Text 16"/>
          <p:cNvSpPr txBox="1"/>
          <p:nvPr/>
        </p:nvSpPr>
        <p:spPr>
          <a:xfrm>
            <a:off x="1444752" y="400964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الَّذِي جَعَلَ لَكُمُ الْأَرْضَ قَرَارًا وَالسَّمَآءَ بِنَآءً وَصَوَّرَكُمْ فَأَحْسَنَ صُوَرَكُمْ وَرَزَقَكُم مِّنَ الطَّيِّبَٰتِ ذَٰلِكُمُ اللَّهُ رَبُّكُمْ فَتَبَارَكَ اللَّهُ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the One who made the earth a place to settle and the sky a firm ceiling. He shaped you and made your shapes beautiful, and provided you with good things. That is Allah, your Lord, so blessed is Allah, Lord of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65 – 66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الْحَيُّ لَآ إِلَٰهَ إِلَّا هُوَ فَادْعُوهُ مُخْلِصِينَ لَهُ الدِّينَ الْحَمْدُ لِلَّهِ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Ever-Living who never dies. None deserves worship but Him, so call on Him, making your worship sincere for Him. All praise is for Allah, Lord of the worlds.</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إِنِّي نُهِيتُ أَنْ أَعْبُدَ الَّذِينَ تَدْعُونَ مِن دُونِ اللَّهِ لَمَّا جَآءَنِيَ الْبَيِّنَٰتُ مِن رَّبِّي وَأُمِرْتُ أَنْ أُسْلِمَ لِرَبِّ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have been forbidden to worship what you worship besides Allah, since clear proofs came to me from my Lord, and I have been commanded to submit to the Lord of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67 – 68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خَلَقَكُم مِّن تُرَابٍ ثُمَّ مِن نُّطْفَةٍ ثُمَّ مِنْ عَلَقَةٍ ثُمَّ يُخْرِجُكُمْ طِفْلًا ثُمَّ لِتَبْلُغُواْ أَشُدَّكُمْ ثُمَّ لِتَكُونُواْ شُيُوخًا وَمِنكُم مَّن يُتَوَفَّىٰ مِن قَبْلُ وَلِتَبْلُغُواْ أَجَلًا مُّسَمًّى وَلَعَلَّكُمْ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created you from dust, then from a drop of fluid, then from a clot, then brings you out as babies, then lets you reach your full strength, then become old. Some of you die before that. And you reach a set time, so that you may use your minds.</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يُحْيِ وَيُمِيتُ فَإِذَا قَضَىٰ أَمْرًا فَإِنَّمَا يَقُولُ لَهُ كُن فَيَكُونُ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gives life and causes death. When He decides something, He only says to it: Be, and it is.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69 – 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إِلَى الَّذِينَ يُجَٰدِلُونَ فِي ءَايَٰتِ اللَّهِ أَنَّىٰ يُصْرَفُونَ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see those who argue about Allah's verses, how they are turned away from the truth?</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كَذَّبُواْ بِالْكِتَٰبِ وَبِمَآ أَرْسَلْنَا بِهِ رُسُلَنَا فَسَوْفَ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deny the Qur'an and what We sent Our messengers with will soon know the result of their denial,</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الْأَغْلَٰلُ فِي أَعْنَٰقِهِمْ وَالسَّلَٰسِلُ يُسْحَبُونَ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iron collars are around their necks and chains, as they are dragged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72 – 74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الْحَمِيمِ ثُمَّ فِي النَّارِ يُسْجَرُونَ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into boiling water, then burned in the Fire.</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قِيلَ لَهُمْ أَيْنَ مَا كُنتُمْ تُشْرِكُونَ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they will be asked, in blame: Where are those you used to worship</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دُونِ اللَّهِ قَالُواْ ضَلُّواْ عَنَّا بَل لَّمْ نَكُن نَّدْعُواْ مِن قَبْلُ شَيْـًٔا كَذَٰلِكَ يُضِلُّ اللَّهُ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besides Allah? They will say: They have left us; rather, we were not worshipping anything that could help before. In this way Allah lets the disbelievers go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75 – 77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ذَٰلِكُم بِمَا كُنتُمْ تَفْرَحُونَ فِي الْأَرْضِ بِغَيْرِ الْحَقِّ وَبِمَا كُنتُمْ تَمْرَحُونَ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punishment is because you used to rejoice in falsehood in the world and because you were arrogant.</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ادْخُلُواْ أَبْوَٰبَ جَهَنَّمَ خَٰلِدِينَ فِيهَا فَبِئْسَ مَثْوَى الْمُتَكَبِّرِينَ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Enter the gates of Hell, staying there forever. How evil is the home of the arrogant!</a:t>
            </a:r>
            <a:endParaRPr lang="en-US" sz="3000" dirty="0"/>
          </a:p>
        </p:txBody>
      </p:sp>
      <p:sp>
        <p:nvSpPr>
          <p:cNvPr id="14" name="Shape 12"/>
          <p:cNvSpPr/>
          <p:nvPr/>
        </p:nvSpPr>
        <p:spPr>
          <a:xfrm>
            <a:off x="1444752" y="4256532"/>
            <a:ext cx="8641080" cy="0"/>
          </a:xfrm>
          <a:prstGeom prst="line">
            <a:avLst/>
          </a:prstGeom>
          <a:noFill/>
          <a:ln w="9525">
            <a:solidFill>
              <a:schemeClr val="accent2"/>
            </a:solidFill>
            <a:prstDash val="dash"/>
          </a:ln>
        </p:spPr>
      </p:sp>
      <p:sp>
        <p:nvSpPr>
          <p:cNvPr id="15" name="Shape 13"/>
          <p:cNvSpPr/>
          <p:nvPr/>
        </p:nvSpPr>
        <p:spPr>
          <a:xfrm>
            <a:off x="713232" y="4485132"/>
            <a:ext cx="548640" cy="548640"/>
          </a:xfrm>
          <a:prstGeom prst="star8">
            <a:avLst/>
          </a:prstGeom>
          <a:solidFill>
            <a:schemeClr val="accent2"/>
          </a:solidFill>
          <a:ln/>
        </p:spPr>
      </p:sp>
      <p:sp>
        <p:nvSpPr>
          <p:cNvPr id="16" name="Shape 14"/>
          <p:cNvSpPr/>
          <p:nvPr/>
        </p:nvSpPr>
        <p:spPr>
          <a:xfrm>
            <a:off x="822960" y="459486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8513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18" name="Text 16"/>
          <p:cNvSpPr txBox="1"/>
          <p:nvPr/>
        </p:nvSpPr>
        <p:spPr>
          <a:xfrm>
            <a:off x="1444752" y="4466844"/>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فَاصْبِرْ إِنَّ وَعْدَ اللَّهِ حَقٌّ فَإِمَّا نُرِيَنَّكَ بَعْضَ الَّذِي نَعِدُهُمْ أَوْ نَتَوَفَّيَنَّكَ فَإِلَيْنَا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be patient, O Muhammad; Allah's promise is true. Whether We show you some of the punishment We promise them in your lifetime, or take your soul before that, to Us they will be returned.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78 – 79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أَرْسَلْنَا رُسُلًا مِّن قَبْلِكَ مِنْهُم مَّن قَصَصْنَا عَلَيْكَ وَمِنْهُم مَّن لَّمْ نَقْصُصْ عَلَيْكَ وَمَا كَانَ لِرَسُولٍ أَن يَأْتِيَ بِـَٔايَةٍ إِلَّا بِإِذْنِ اللَّهِ فَإِذَا جَآءَ أَمْرُ اللَّهِ قُضِيَ بِالْحَقِّ وَخَسِرَ هُنَالِكَ الْمُبْطِلُونَ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messengers before you. We told you the stories of some of them and did not tell you about others. No messenger could bring a miracle except with Allah's permission. When Allah's command comes, judgement is made with justice, and the people of falsehood lose.</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الَّذِي جَعَلَ لَكُمُ الْأَنْعَٰمَ لِتَرْكَبُواْ مِنْهَا وَمِنْهَا تَأْكُلُونَ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the One who made camels, cattle and sheep for you, so that you ride some of them and eat from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80 – 82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وَلَكُمْ فِيهَا مَنَٰفِعُ وَلِتَبْلُغُواْ عَلَيْهَا حَاجَةً فِي صُدُورِكُمْ وَعَلَيْهَا وَعَلَى الْفُلْكِ تُحْمَلُونَ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have other benefits from them, like milk and wool, and you reach your needs on them when travelling, and you are carried on them and on ships.</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وَيُرِيكُمْ ءَايَٰتِهِ فَأَيَّ ءَايَٰتِ اللَّهِ تُنكِرُونَ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shows you His signs, so which of Allah's signs will you deny?</a:t>
            </a:r>
            <a:endParaRPr lang="en-US" sz="3000" dirty="0"/>
          </a:p>
        </p:txBody>
      </p:sp>
      <p:sp>
        <p:nvSpPr>
          <p:cNvPr id="14" name="Shape 12"/>
          <p:cNvSpPr/>
          <p:nvPr/>
        </p:nvSpPr>
        <p:spPr>
          <a:xfrm>
            <a:off x="1444752" y="3890772"/>
            <a:ext cx="8641080" cy="0"/>
          </a:xfrm>
          <a:prstGeom prst="line">
            <a:avLst/>
          </a:prstGeom>
          <a:noFill/>
          <a:ln w="9525">
            <a:solidFill>
              <a:schemeClr val="accent2"/>
            </a:solidFill>
            <a:prstDash val="dash"/>
          </a:ln>
        </p:spPr>
      </p:sp>
      <p:sp>
        <p:nvSpPr>
          <p:cNvPr id="15" name="Shape 13"/>
          <p:cNvSpPr/>
          <p:nvPr/>
        </p:nvSpPr>
        <p:spPr>
          <a:xfrm>
            <a:off x="713232" y="4027932"/>
            <a:ext cx="548640" cy="548640"/>
          </a:xfrm>
          <a:prstGeom prst="star8">
            <a:avLst/>
          </a:prstGeom>
          <a:solidFill>
            <a:schemeClr val="accent2"/>
          </a:solidFill>
          <a:ln/>
        </p:spPr>
      </p:sp>
      <p:sp>
        <p:nvSpPr>
          <p:cNvPr id="16" name="Shape 14"/>
          <p:cNvSpPr/>
          <p:nvPr/>
        </p:nvSpPr>
        <p:spPr>
          <a:xfrm>
            <a:off x="822960" y="413766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02793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8" name="Text 16"/>
          <p:cNvSpPr txBox="1"/>
          <p:nvPr/>
        </p:nvSpPr>
        <p:spPr>
          <a:xfrm>
            <a:off x="1444752" y="400964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أَفَلَمْ يَسِيرُواْ فِي الْأَرْضِ فَيَنظُرُواْ كَيْفَ كَانَ عَٰقِبَةُ الَّذِينَ مِن قَبْلِهِمْ كَانُواْ أَكْثَرَ مِنْهُمْ وَأَشَدَّ قُوَّةً وَءَاثَارًا فِي الْأَرْضِ فَمَآ أَغْنَىٰ عَنْهُم مَّا كَانُواْ يَكْسِبُونَ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they not travelled through the land and seen the end of the nations before them? They were more numerous, stronger, and left greater marks on the earth, but what they gathered did not help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83 – 84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جَآءَتْهُمْ رُسُلُهُم بِالْبَيِّنَٰتِ فَرِحُواْ بِمَا عِندَهُم مِّنَ الْعِلْمِ وَحَاقَ بِهِم مَّا كَانُواْ بِهِ يَسْتَهْزِءُونَ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their messengers came to them with miracles, they rejoiced in the worldly knowledge they had, and the punishment they used to mock came down on them.</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رَأَوْاْ بَأْسَنَا قَالُواْ ءَامَنَّا بِاللَّهِ وَحْدَهُ وَكَفَرْنَا بِمَا كُنَّا بِهِ 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saw Our punishment, they said: We believe in Allah alone and reject what we used to set up as partners with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Ghafir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85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 يَكُ يَنفَعُهُمْ إِيمَٰنُهُمْ لَمَّا رَأَوْاْ بَأْسَنَا سُنَّتَ اللَّهِ الَّتِي قَدْ خَلَتْ فِي عِبَادِهِ وَخَسِرَ هُنَالِكَ الْكَٰفِرُونَ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their faith did not help them when they saw Our punishment. That has always been Allah's way with His servants, and there the disbelievers lost.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Az-Zumar</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32 – 75</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39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'Abbas (may Allah be pleased with them) said: Some idol-worshippers had killed many people and committed many great sins. They came to the Prophet (peace be upon him) and said: What you say and call to is good; if only you would tell us that there is a way to wipe out what we have done. Then “Say: O My servants who have wronged themselves, do not lose hope of Allah's mercy” was revealed (Bukhari and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This juz starts from verse 32: Allah is enough for His servant who trusts Him, the door of repentance is open to all who have sinned a lot, and scenes of the Day of Resurrection when the disbelievers are driven to the Fire in groups and those with taqwa are led to Paradise in groups.</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أَظْلَمُ مِمَّن كَذَبَ عَلَى اللَّهِ وَكَذَّبَ بِالصِّدْقِ إِذْ جَآءَهُ أَلَيْسَ فِي جَهَنَّمَ مَثْوًى لِّلْكَٰفِرِينَ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does more wrong than one who lies about Allah by giving Him a partner and a child, and denies the Qur'an when it comes to him? Is there not a home in Hell for the disbelievers?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 جَآءَ بِالصِّدْقِ وَصَدَّقَ بِهِ أُوْلَـٰئِكَ هُمُ الْمُتَّقُونَ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one who brought the truth, the Prophet (peace be upon him), and the believers who believed in it, they are the ones with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10462"/>
            <a:ext cx="548640" cy="548640"/>
          </a:xfrm>
          <a:prstGeom prst="star8">
            <a:avLst/>
          </a:prstGeom>
          <a:solidFill>
            <a:schemeClr val="accent2"/>
          </a:solidFill>
          <a:ln/>
        </p:spPr>
      </p:sp>
      <p:sp>
        <p:nvSpPr>
          <p:cNvPr id="6" name="Shape 4"/>
          <p:cNvSpPr/>
          <p:nvPr/>
        </p:nvSpPr>
        <p:spPr>
          <a:xfrm>
            <a:off x="822960" y="15201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104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3921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لَهُم مَّا يَشَآءُونَ عِندَ رَبِّهِمْ ذَٰلِكَ جَزَآءُ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have whatever they wish with their Lord in Paradise. That is the reward of those who do good,</a:t>
            </a:r>
            <a:endParaRPr lang="en-US" sz="3000" dirty="0"/>
          </a:p>
        </p:txBody>
      </p:sp>
      <p:sp>
        <p:nvSpPr>
          <p:cNvPr id="9" name="Shape 7"/>
          <p:cNvSpPr/>
          <p:nvPr/>
        </p:nvSpPr>
        <p:spPr>
          <a:xfrm>
            <a:off x="1444752" y="2784348"/>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لِيُكَفِّرَ اللَّهُ عَنْهُمْ أَسْوَأَ الَّذِي عَمِلُواْ وَيَجْزِيَهُمْ أَجْرَهُم بِأَحْسَنِ الَّذِي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Allah may wipe away the worst of what they did and reward them for the best of what they did.</a:t>
            </a:r>
            <a:endParaRPr lang="en-US" sz="3000" dirty="0"/>
          </a:p>
        </p:txBody>
      </p:sp>
      <p:sp>
        <p:nvSpPr>
          <p:cNvPr id="14" name="Shape 12"/>
          <p:cNvSpPr/>
          <p:nvPr/>
        </p:nvSpPr>
        <p:spPr>
          <a:xfrm>
            <a:off x="1444752" y="4343400"/>
            <a:ext cx="8641080" cy="0"/>
          </a:xfrm>
          <a:prstGeom prst="line">
            <a:avLst/>
          </a:prstGeom>
          <a:noFill/>
          <a:ln w="9525">
            <a:solidFill>
              <a:schemeClr val="accent2"/>
            </a:solidFill>
            <a:prstDash val="dash"/>
          </a:ln>
        </p:spPr>
      </p:sp>
      <p:sp>
        <p:nvSpPr>
          <p:cNvPr id="15" name="Shape 13"/>
          <p:cNvSpPr/>
          <p:nvPr/>
        </p:nvSpPr>
        <p:spPr>
          <a:xfrm>
            <a:off x="713232" y="4528566"/>
            <a:ext cx="548640" cy="548640"/>
          </a:xfrm>
          <a:prstGeom prst="star8">
            <a:avLst/>
          </a:prstGeom>
          <a:solidFill>
            <a:schemeClr val="accent2"/>
          </a:solidFill>
          <a:ln/>
        </p:spPr>
      </p:sp>
      <p:sp>
        <p:nvSpPr>
          <p:cNvPr id="16" name="Shape 14"/>
          <p:cNvSpPr/>
          <p:nvPr/>
        </p:nvSpPr>
        <p:spPr>
          <a:xfrm>
            <a:off x="822960" y="463829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5285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8" name="Text 16"/>
          <p:cNvSpPr txBox="1"/>
          <p:nvPr/>
        </p:nvSpPr>
        <p:spPr>
          <a:xfrm>
            <a:off x="1444752" y="4510278"/>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أَلَيْسَ اللَّهُ بِكَافٍ عَبْدَهُ وَيُخَوِّفُونَكَ بِالَّذِينَ مِن دُونِهِ وَمَن يُضْلِلِ اللَّهُ فَمَا لَهُ مِنْ هَادٍ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Allah not enough for His servant Muhammad (peace be upon him) and every servant who trusts Him? The idol-worshippers try to scare you with their idols. Whoever Allah lets go astray has no guide.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37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70535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يَهْدِ اللَّهُ فَمَا لَهُ مِن مُّضِلٍّ أَلَيْسَ اللَّهُ بِعَزِيزٍ ذِي انتِقَامٍ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Allah guides, no one can mislead. Is Allah not Almighty, punishing His enemies?</a:t>
            </a:r>
            <a:endParaRPr lang="en-US" sz="3000" dirty="0"/>
          </a:p>
        </p:txBody>
      </p:sp>
      <p:sp>
        <p:nvSpPr>
          <p:cNvPr id="9" name="Shape 7"/>
          <p:cNvSpPr/>
          <p:nvPr/>
        </p:nvSpPr>
        <p:spPr>
          <a:xfrm>
            <a:off x="1444752" y="2884932"/>
            <a:ext cx="8641080" cy="0"/>
          </a:xfrm>
          <a:prstGeom prst="line">
            <a:avLst/>
          </a:prstGeom>
          <a:noFill/>
          <a:ln w="9525">
            <a:solidFill>
              <a:schemeClr val="accent2"/>
            </a:solidFill>
            <a:prstDash val="dash"/>
          </a:ln>
        </p:spPr>
      </p:sp>
      <p:sp>
        <p:nvSpPr>
          <p:cNvPr id="10" name="Shape 8"/>
          <p:cNvSpPr/>
          <p:nvPr/>
        </p:nvSpPr>
        <p:spPr>
          <a:xfrm>
            <a:off x="713232" y="3118104"/>
            <a:ext cx="548640" cy="548640"/>
          </a:xfrm>
          <a:prstGeom prst="star8">
            <a:avLst/>
          </a:prstGeom>
          <a:solidFill>
            <a:schemeClr val="accent2"/>
          </a:solidFill>
          <a:ln/>
        </p:spPr>
      </p:sp>
      <p:sp>
        <p:nvSpPr>
          <p:cNvPr id="11" name="Shape 9"/>
          <p:cNvSpPr/>
          <p:nvPr/>
        </p:nvSpPr>
        <p:spPr>
          <a:xfrm>
            <a:off x="822960" y="322783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11810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3" name="Text 11"/>
          <p:cNvSpPr txBox="1"/>
          <p:nvPr/>
        </p:nvSpPr>
        <p:spPr>
          <a:xfrm>
            <a:off x="1444752" y="309981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سَأَلْتَهُم مَّنْ خَلَقَ السَّمَٰوَٰتِ وَالْأَرْضَ لَيَقُولُنَّ اللَّهُ قُلْ أَفَرَءَيْتُم مَّا تَدْعُونَ مِن دُونِ اللَّهِ إِنْ أَرَادَنِيَ اللَّهُ بِضُرٍّ هَلْ هُنَّ كَٰشِفَٰتُ ضُرِّهِ أَوْ أَرَادَنِي بِرَحْمَةٍ هَلْ هُنَّ مُمْسِكَٰتُ رَحْمَتِهِ قُلْ حَسْبِيَ اللَّهُ عَلَيْهِ يَتَوَكَّلُ الْمُتَوَكِّلُونَ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ask them who created the heavens and the earth, they will surely say: Allah. Say: Tell me, if Allah wanted harm for me, could your idols remove it? Or if He wanted mercy for me, could they hold it back? Say: Allah is enough for me; in Him those who trust put their trust.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يَٰقَوْمِ اعْمَلُواْ عَلَىٰ مَكَانَتِكُمْ إِنِّي عَٰمِلٌ فَسَوْفَ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my people, do as you wish in your way; I will do my part. You will soon know</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يَأْتِيهِ عَذَابٌ يُخْزِيهِ وَيَحِلُّ عَلَيْهِ عَذَابٌ مُّقِيمٌ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will get a punishment that disgraces him in this world, and on whom a lasting punishment will fall in the Hereafter.</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أَنزَلْنَا عَلَيْكَ الْكِتَٰبَ لِلنَّاسِ بِالْحَقِّ فَمَنِ اهْتَدَىٰ فَلِنَفْسِهِ وَمَن ضَلَّ فَإِنَّمَا يَضِلُّ عَلَيْهَا وَمَآ أَنتَ عَلَيْهِم بِوَكِيلٍ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sent down the Qur'an to you with the truth to guide people. Whoever is guided, it is for his own good, and whoever goes astray, it is against himself. You are not responsible for guiding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يَتَوَفَّى الْأَنفُسَ حِينَ مَوْتِهَا وَالَّتِي لَمْ تَمُتْ فِي مَنَامِهَا فَيُمْسِكُ الَّتِي قَضَىٰ عَلَيْهَا الْمَوْتَ وَيُرْسِلُ الْأُخْرَىٰ إِلَىٰ أَجَلٍ مُّسَمًّى إِنَّ فِي ذَٰلِكَ لَأيَٰتٍ لِّقَوْمٍ يَتَفَكَّرُونَ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takes the souls at the time of death, and the souls of those who sleep during their sleep. He keeps those for whom He has decreed death and sends the others back until a set time. In that are signs for people who think.</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اتَّخَذُواْ مِن دُونِ اللَّهِ شُفَعَآءَ قُلْ أَوَلَوْ كَانُواْ لَا يَمْلِكُونَ شَيْـًٔا وَلَا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the idol-worshippers have taken intercessors besides Allah. Say: Even though they own nothing and do not understand?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لِّلَّهِ الشَّفَٰعَةُ جَمِيعًا لَّهُ مُلْكُ السَّمَٰوَٰتِ وَالْأَرْضِ ثُمَّ إِلَيْهِ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All intercession belongs to Allah; no one intercedes except with His permission. His is the kingdom of the heavens and the earth, then to Him you will be returned.</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ذُكِرَ اللَّهُ وَحْدَهُ اشْمَأَزَّتْ قُلُوبُ الَّذِينَ لَا يُؤْمِنُونَ بِالْأخِرَةِ وَإِذَا ذُكِرَ الَّذِينَ مِن دُونِهِ إِذَا هُمْ يَسْتَبْشِرُونَ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Allah alone is mentioned, the hearts of those who do not believe in the Hereafter shrink away, but when their idols are mentioned, they rejoice.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اللَّهُمَّ فَاطِرَ السَّمَٰوَٰتِ وَالْأَرْضِ عَٰلِمَ الْغَيْبِ وَالشَّهَٰدَةِ أَنتَ تَحْكُمُ بَيْنَ عِبَادِكَ فِي مَا كَانُواْ فِيهِ يَخْتَلِفُونَ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Allah, Creator of the heavens and the earth, Knower of the unseen and the seen, You will judge between Your servants in what they used to differ about.</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أَنَّ لِلَّذِينَ ظَلَمُواْ مَا فِي الْأَرْضِ جَمِيعًا وَمِثْلَهُ مَعَهُ لَافْتَدَوْاْ بِهِ مِن سُوءِ الْعَذَابِ يَوْمَ الْقِيَٰمَةِ وَبَدَا لَهُم مِّنَ اللَّهِ مَا لَمْ يَكُونُواْ يَحْتَسِبُونَ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 wrongdoers owned everything on earth and as much again, they would offer it to ransom themselves from the punishment on the Day of Resurrection, and they will see from Allah what they never expected.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48 –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وَبَدَا لَهُمْ سَيِّـَٔاتُ مَا كَسَبُواْ وَحَاقَ بِهِم مَّا كَانُواْ بِهِ يَسْتَهْزِءُونَ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punishment for their bad deeds will appear to them, and what they used to mock will come down on them.</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مَسَّ الْإِنسَٰنَ ضُرٌّ دَعَانَا ثُمَّ إِذَا خَوَّلْنَٰهُ نِعْمَةً مِّنَّا قَالَ إِنَّمَآ أُوتِيتُهُ عَلَىٰ عِلْمٍ بَلْ هِيَ فِتْنَةٌ وَلَٰكِنَّ أَكْثَرَهُمْ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harm touches a person, he calls on Us. Then when We give him a blessing, he says: I was only given it because of my knowledge and skill. Rather, it is a test, but most of them do not know.</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قَالَهَا الَّذِينَ مِن قَبْلِهِمْ فَمَآ أَغْنَىٰ عَنْهُم مَّا كَانُواْ يَكْسِبُونَ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before them said the same, like Qarun, but what they gathered did not help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51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فَأَصَابَهُمْ سَيِّـَٔاتُ مَا كَسَبُواْ وَالَّذِينَ ظَلَمُواْ مِنْ هَـٰؤُلَآءِ سَيُصِيبُهُمْ سَيِّـَٔاتُ مَا كَسَبُواْ وَمَا هُم بِمُعْجِزِينَ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 punishment for their bad deeds struck them. The wrongdoers among these people will be struck in the same way, and they cannot escape Allah's punishment.</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يَعْلَمُواْ أَنَّ اللَّهَ يَبْسُطُ الرِّزْقَ لِمَن يَشَآءُ وَيَقْدِرُ إِنَّ فِي ذَٰلِكَ لَأيَٰتٍ لِّقَوْمٍ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know that Allah gives plenty of provision to whom He wills and gives little? In that are signs for people who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يَٰعِبَادِيَ الَّذِينَ أَسْرَفُواْ عَلَىٰ أَنفُسِهِمْ لَا تَقْنَطُواْ مِن رَّحْمَةِ اللَّهِ إِنَّ اللَّهَ يَغْفِرُ الذُّنُوبَ جَمِيعًا إِنَّهُ هُوَ الْغَفُورُ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My servants who have committed many sins, do not lose hope of Allah's mercy. Allah forgives all sins for whoever repents. He is the Forgiving, the Most Merciful.</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وَأَنِيبُواْ إِلَىٰ رَبِّكُمْ وَأَسْلِمُواْ لَهُ مِن قَبْلِ أَن يَأْتِيَكُمُ الْعَذَابُ ثُمَّ لَا تُنصَرُونَ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Turn back to your Lord in repentance and submit to Him in obedience before the punishment comes to you, when you will not be helped.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وَاتَّبِعُواْ أَحْسَنَ مَآ أُنزِلَ إِلَيْكُم مِّن رَّبِّكُم مِّن قَبْلِ أَن يَأْتِيَكُمُ الْعَذَابُ بَغْتَةً وَأَنتُمْ لَا تَشْعُرُونَ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Follow the Qur'an, the best of what has been sent down to you from your Lord, before the punishment comes to you suddenly while you do not realise,</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 تَقُولَ نَفْسٌ يَٰحَسْرَتَىٰ عَلَىٰ مَا فَرَّطتُ فِي جَنبِ اللَّهِ وَإِن كُنتُ لَمِنَ السَّـٰخِرِينَ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no soul will say: How sad I am for what I neglected of obeying Allah, and I was one of the mockers!</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تَقُولَ لَوْ أَنَّ اللَّهَ هَدَىٰنِي لَكُنتُ مِنَ الْمُتَّقِينَ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say: If Allah had guided me, I would have been one of those with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58 – 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تَقُولَ حِينَ تَرَى الْعَذَابَ لَوْ أَنَّ لِي كَرَّةً فَأَكُونَ مِنَ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say when it sees the punishment: If only I had another chance in the world, I would be one of those who do good.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بَلَىٰ قَدْ جَآءَتْكَ ءَايَٰتِي فَكَذَّبْتَ بِهَا وَاسْتَكْبَرْتَ وَكُنتَ مِنَ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will say: Yes, My verses came to you, but you denied them, were too arrogant to accept them, and were one of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60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الْقِيَٰمَةِ تَرَى الَّذِينَ كَذَبُواْ عَلَى اللَّهِ وُجُوهُهُم مُّسْوَدَّةٌ أَلَيْسَ فِي جَهَنَّمَ مَثْوًى لِّلْمُتَكَبِّرِينَ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of Resurrection you will see those who lied about Allah with their faces blackened. Is there not a home in Hell for the arrogant?</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وَيُنَجِّي اللَّهُ الَّذِينَ اتَّقَوْاْ بِمَفَازَتِهِمْ لَا يَمَسُّهُمُ السُّوءُ وَلَا هُمْ يَحْزَنُونَ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will save those with taqwa by their winning of Paradise. No evil will touch them, and they will not grieve.</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خَٰلِقُ كُلِّ شَيْءٍ وَهُوَ عَلَىٰ كُلِّ شَيْءٍ وَكِيلٌ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the Creator of everything, and He is the Guardian and Arranger over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63 – 65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 مَقَالِيدُ السَّمَٰوَٰتِ وَالْأَرْضِ وَالَّذِينَ كَفَرُواْ بِـَٔايَٰتِ اللَّهِ أُوْلَـٰئِكَ هُمُ الْخَٰسِرُونَ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Him belong the keys of the treasures of the heavens and the earth. Those who disbelieve in Allah's verses, they are the losers.</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3" name="Text 11"/>
          <p:cNvSpPr txBox="1"/>
          <p:nvPr/>
        </p:nvSpPr>
        <p:spPr>
          <a:xfrm>
            <a:off x="1444752" y="29375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أَفَغَيْرَ اللَّهِ تَأْمُرُونِّي أَعْبُدُ أَيُّهَا الْجَٰهِلُونَ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Do you command me to worship other than Allah, O ignorant ones?</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أُوحِيَ إِلَيْكَ وَإِلَى الَّذِينَ مِن قَبْلِكَ لَئِنْ أَشْرَكْتَ لَيَحْبَطَنَّ عَمَلُكَ وَلَتَكُونَنَّ مِنَ الْخَٰسِرِينَ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has been revealed to you and to the prophets before you: If you associate partners with Allah, your deeds will be lost and you will be among the losers.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66 – 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8" name="Text 6"/>
          <p:cNvSpPr txBox="1"/>
          <p:nvPr/>
        </p:nvSpPr>
        <p:spPr>
          <a:xfrm>
            <a:off x="1444752" y="19796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اللَّهَ فَاعْبُدْ وَكُن مِّنَ الشَّـٰكِرِينَ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worship Allah alone and be among those thankful for His blessings.</a:t>
            </a:r>
            <a:endParaRPr lang="en-US" sz="3000" dirty="0"/>
          </a:p>
        </p:txBody>
      </p:sp>
      <p:sp>
        <p:nvSpPr>
          <p:cNvPr id="9" name="Shape 7"/>
          <p:cNvSpPr/>
          <p:nvPr/>
        </p:nvSpPr>
        <p:spPr>
          <a:xfrm>
            <a:off x="1444752" y="3159252"/>
            <a:ext cx="8641080" cy="0"/>
          </a:xfrm>
          <a:prstGeom prst="line">
            <a:avLst/>
          </a:prstGeom>
          <a:noFill/>
          <a:ln w="9525">
            <a:solidFill>
              <a:schemeClr val="accent2"/>
            </a:solidFill>
            <a:prstDash val="dash"/>
          </a:ln>
        </p:spPr>
      </p:sp>
      <p:sp>
        <p:nvSpPr>
          <p:cNvPr id="10" name="Shape 8"/>
          <p:cNvSpPr/>
          <p:nvPr/>
        </p:nvSpPr>
        <p:spPr>
          <a:xfrm>
            <a:off x="713232" y="3392424"/>
            <a:ext cx="548640" cy="548640"/>
          </a:xfrm>
          <a:prstGeom prst="star8">
            <a:avLst/>
          </a:prstGeom>
          <a:solidFill>
            <a:schemeClr val="accent2"/>
          </a:solidFill>
          <a:ln/>
        </p:spPr>
      </p:sp>
      <p:sp>
        <p:nvSpPr>
          <p:cNvPr id="11" name="Shape 9"/>
          <p:cNvSpPr/>
          <p:nvPr/>
        </p:nvSpPr>
        <p:spPr>
          <a:xfrm>
            <a:off x="822960" y="350215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924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3" name="Text 11"/>
          <p:cNvSpPr txBox="1"/>
          <p:nvPr/>
        </p:nvSpPr>
        <p:spPr>
          <a:xfrm>
            <a:off x="1444752" y="337413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قَدَرُواْ اللَّهَ حَقَّ قَدْرِهِ وَالْأَرْضُ جَمِيعًا قَبْضَتُهُ يَوْمَ الْقِيَٰمَةِ وَالسَّمَٰوَٰتُ مَطْوِيَّـٰتٌ بِيَمِينِهِ سُبْحَٰنَهُ وَتَعَٰلَىٰ عَمَّا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have not honoured Allah as He deserves. The whole earth will be in His grip on the Day of Resurrection, and the heavens will be rolled up in His right hand. Glory be to Him, high above what they associate with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68 – 69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وَنُفِخَ فِي الصُّورِ فَصَعِقَ مَن فِي السَّمَٰوَٰتِ وَمَن فِي الْأَرْضِ إِلَّا مَن شَآءَ اللَّهُ ثُمَّ نُفِخَ فِيهِ أُخْرَىٰ فَإِذَا هُمْ قِيَامٌ يَنظُرُونَ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Horn will be blown, and everyone in the heavens and on earth will die, except whom Allah wills. Then it will be blown again, and they will stand up, looking.</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وَأَشْرَقَتِ الْأَرْضُ بِنُورِ رَبِّهَا وَوُضِعَ الْكِتَٰبُ وَجِاْيءَ بِالنَّبِيِّـنَ وَالشُّهَدَآءِ وَقُضِيَ بَيْنَهُم بِالْحَقِّ وَهُمْ لَا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land of the Gathering will shine with the light of its Lord, the records of deeds will be placed, the prophets and witnesses will be brought, and judgement will be made between people with justice, and they will not be wronged.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70 – 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8" name="Text 6"/>
          <p:cNvSpPr txBox="1"/>
          <p:nvPr/>
        </p:nvSpPr>
        <p:spPr>
          <a:xfrm>
            <a:off x="1444752" y="157505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وَوُفِّيَتْ كُلُّ نَفْسٍ مَّا عَمِلَتْ وَهُوَ أَعْلَمُ بِمَا يَفْعَلُونَ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 soul will be paid in full for what it did, and He knows best what they do.</a:t>
            </a:r>
            <a:endParaRPr lang="en-US" sz="3000" dirty="0"/>
          </a:p>
        </p:txBody>
      </p:sp>
      <p:sp>
        <p:nvSpPr>
          <p:cNvPr id="9" name="Shape 7"/>
          <p:cNvSpPr/>
          <p:nvPr/>
        </p:nvSpPr>
        <p:spPr>
          <a:xfrm>
            <a:off x="1444752" y="2754630"/>
            <a:ext cx="8641080" cy="0"/>
          </a:xfrm>
          <a:prstGeom prst="line">
            <a:avLst/>
          </a:prstGeom>
          <a:noFill/>
          <a:ln w="9525">
            <a:solidFill>
              <a:schemeClr val="accent2"/>
            </a:solidFill>
            <a:prstDash val="dash"/>
          </a:ln>
        </p:spPr>
      </p:sp>
      <p:sp>
        <p:nvSpPr>
          <p:cNvPr id="10" name="Shape 8"/>
          <p:cNvSpPr/>
          <p:nvPr/>
        </p:nvSpPr>
        <p:spPr>
          <a:xfrm>
            <a:off x="713232" y="2987802"/>
            <a:ext cx="548640" cy="548640"/>
          </a:xfrm>
          <a:prstGeom prst="star8">
            <a:avLst/>
          </a:prstGeom>
          <a:solidFill>
            <a:schemeClr val="accent2"/>
          </a:solidFill>
          <a:ln/>
        </p:spPr>
      </p:sp>
      <p:sp>
        <p:nvSpPr>
          <p:cNvPr id="11" name="Shape 9"/>
          <p:cNvSpPr/>
          <p:nvPr/>
        </p:nvSpPr>
        <p:spPr>
          <a:xfrm>
            <a:off x="822960" y="309753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878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13" name="Text 11"/>
          <p:cNvSpPr txBox="1"/>
          <p:nvPr/>
        </p:nvSpPr>
        <p:spPr>
          <a:xfrm>
            <a:off x="1444752" y="296951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وَسِيقَ الَّذِينَ كَفَرُواْ إِلَىٰ جَهَنَّمَ زُمَرًا حَتَّىٰ إِذَا جَآءُوهَا فُتِحَتْ أَبْوَٰبُهَا وَقَالَ لَهُمْ خَزَنَتُهَآ أَلَمْ يَأْتِكُمْ رُسُلٌ مِّنكُمْ يَتْلُونَ عَلَيْكُمْ ءَايَٰتِ رَبِّكُمْ وَيُنذِرُونَكُمْ لِقَآءَ يَوْمِكُمْ هَٰذَا قَالُواْ بَلَىٰ وَلَٰكِنْ حَقَّتْ كَلِمَةُ الْعَذَابِ عَلَى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will be driven to Hell in groups. When they reach it, its gates will be opened, and its keepers will say to them: Did messengers from among yourselves not come to you, reciting your Lord's verses to you and warning you of this Day? They will say: Yes, but the punishment has become due on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72 – 73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قِيلَ ادْخُلُواْ أَبْوَٰبَ جَهَنَّمَ خَٰلِدِينَ فِيهَا فَبِئْسَ مَثْوَى الْمُتَكَبِّرِينَ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to them: Enter the gates of Hell, staying there forever. How evil is the home of the arrogant!</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وَسِيقَ الَّذِينَ اتَّقَوْاْ رَبَّهُمْ إِلَى الْجَنَّةِ زُمَرًا حَتَّىٰ إِذَا جَآءُوهَا وَفُتِحَتْ أَبْوَٰبُهَا وَقَالَ لَهُمْ خَزَنَتُهَا سَلَٰمٌ عَلَيْكُمْ طِبْتُمْ فَادْخُلُوهَا خَٰلِدِينَ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had taqwa of their Lord will be led to Paradise in groups. When they reach it, its gates already opened, its keepers will say to them: Peace be on you; you have done well, so enter it to stay forever.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74 – 75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الْحَمْدُ لِلَّهِ الَّذِي صَدَقَنَا وَعْدَهُ وَأَوْرَثَنَا الْأَرْضَ نَتَبَوَّأُ مِنَ الْجَنَّةِ حَيْثُ نَشَآءُ فَنِعْمَ أَجْرُ الْعَٰمِلِينَ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All praise is for Allah, who has kept His promise to us and given us the land of Paradise to settle wherever we wish. How excellent is the reward of those who work!</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وَتَرَى الْمَلَـٰئِكَةَ حَآفِّينَ مِنْ حَوْلِ الْعَرْشِ يُسَبِّحُونَ بِحَمْدِ رَبِّهِمْ وَقُضِيَ بَيْنَهُم بِالْحَقِّ وَقِيلَ الْحَمْدُ لِلَّهِ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will see the angels surrounding the Throne, glorifying their Lord with praise. Judgement will be made between creation with justice, and it will be said: All praise is for Allah, Lord of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pic>
        <p:nvPicPr>
          <p:cNvPr id="2" name="Image 0" descr="assets24/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"Call on Me, and I will answer you." (Ghafir 40:60)</a:t>
            </a:r>
            <a:endParaRPr lang="en-US" sz="2100" dirty="0"/>
          </a:p>
        </p:txBody>
      </p:sp>
      <p:pic>
        <p:nvPicPr>
          <p:cNvPr id="5" name="Image 1" descr="assets24/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Juz 24 Tafsir EN">
  <a:themeElements>
    <a:clrScheme name="Juz 24 Tafsir EN">
      <a:dk1>
        <a:srgbClr val="23263A"/>
      </a:dk1>
      <a:lt1>
        <a:srgbClr val="FFFFFF"/>
      </a:lt1>
      <a:dk2>
        <a:srgbClr val="2E3A87"/>
      </a:dk2>
      <a:lt2>
        <a:srgbClr val="F6F7FC"/>
      </a:lt2>
      <a:accent1>
        <a:srgbClr val="2E3A87"/>
      </a:accent1>
      <a:accent2>
        <a:srgbClr val="C9A04A"/>
      </a:accent2>
      <a:accent3>
        <a:srgbClr val="3F4FA8"/>
      </a:accent3>
      <a:accent4>
        <a:srgbClr val="62657A"/>
      </a:accent4>
      <a:accent5>
        <a:srgbClr val="E7E9F6"/>
      </a:accent5>
      <a:accent6>
        <a:srgbClr val="8A2F2A"/>
      </a:accent6>
      <a:hlink>
        <a:srgbClr val="3F4FA8"/>
      </a:hlink>
      <a:folHlink>
        <a:srgbClr val="62657A"/>
      </a:folHlink>
    </a:clrScheme>
    <a:fontScheme name="Juz 24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80</Slides>
  <Notes>80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80</vt:i4>
      </vt:variant>
    </vt:vector>
  </HeadingPairs>
  <TitlesOfParts>
    <vt:vector size="8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Juz Fa Man Azlam — Simplified Tafsir from Ibn Kathir</dc:title>
  <dc:subject>PptxGenJS Presentation</dc:subject>
  <dc:creator>Qur'an Teacher</dc:creator>
  <cp:lastModifiedBy>Qur'an Teacher</cp:lastModifiedBy>
  <cp:revision>1</cp:revision>
  <dcterms:created xsi:type="dcterms:W3CDTF">2026-10-06T20:57:08Z</dcterms:created>
  <dcterms:modified xsi:type="dcterms:W3CDTF">2026-10-06T20:57:08Z</dcterms:modified>
</cp:coreProperties>
</file>