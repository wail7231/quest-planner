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slideMasters/slideMaster30.xml" ContentType="application/vnd.openxmlformats-officedocument.presentationml.slideMaster+xml"/>
  <Override PartName="/ppt/slides/slide30.xml" ContentType="application/vnd.openxmlformats-officedocument.presentationml.slide+xml"/>
  <Override PartName="/ppt/slideMasters/slideMaster31.xml" ContentType="application/vnd.openxmlformats-officedocument.presentationml.slideMaster+xml"/>
  <Override PartName="/ppt/slides/slide31.xml" ContentType="application/vnd.openxmlformats-officedocument.presentationml.slide+xml"/>
  <Override PartName="/ppt/slideMasters/slideMaster32.xml" ContentType="application/vnd.openxmlformats-officedocument.presentationml.slideMaster+xml"/>
  <Override PartName="/ppt/slides/slide32.xml" ContentType="application/vnd.openxmlformats-officedocument.presentationml.slide+xml"/>
  <Override PartName="/ppt/slideMasters/slideMaster33.xml" ContentType="application/vnd.openxmlformats-officedocument.presentationml.slideMaster+xml"/>
  <Override PartName="/ppt/slides/slide33.xml" ContentType="application/vnd.openxmlformats-officedocument.presentationml.slide+xml"/>
  <Override PartName="/ppt/slideMasters/slideMaster34.xml" ContentType="application/vnd.openxmlformats-officedocument.presentationml.slideMaster+xml"/>
  <Override PartName="/ppt/slides/slide34.xml" ContentType="application/vnd.openxmlformats-officedocument.presentationml.slide+xml"/>
  <Override PartName="/ppt/slideMasters/slideMaster35.xml" ContentType="application/vnd.openxmlformats-officedocument.presentationml.slideMaster+xml"/>
  <Override PartName="/ppt/slides/slide35.xml" ContentType="application/vnd.openxmlformats-officedocument.presentationml.slide+xml"/>
  <Override PartName="/ppt/slideMasters/slideMaster36.xml" ContentType="application/vnd.openxmlformats-officedocument.presentationml.slideMaster+xml"/>
  <Override PartName="/ppt/slides/slide36.xml" ContentType="application/vnd.openxmlformats-officedocument.presentationml.slide+xml"/>
  <Override PartName="/ppt/slideMasters/slideMaster37.xml" ContentType="application/vnd.openxmlformats-officedocument.presentationml.slideMaster+xml"/>
  <Override PartName="/ppt/slides/slide37.xml" ContentType="application/vnd.openxmlformats-officedocument.presentationml.slide+xml"/>
  <Override PartName="/ppt/slideMasters/slideMaster38.xml" ContentType="application/vnd.openxmlformats-officedocument.presentationml.slideMaster+xml"/>
  <Override PartName="/ppt/slides/slide38.xml" ContentType="application/vnd.openxmlformats-officedocument.presentationml.slide+xml"/>
  <Override PartName="/ppt/slideMasters/slideMaster39.xml" ContentType="application/vnd.openxmlformats-officedocument.presentationml.slideMaster+xml"/>
  <Override PartName="/ppt/slides/slide39.xml" ContentType="application/vnd.openxmlformats-officedocument.presentationml.slide+xml"/>
  <Override PartName="/ppt/slideMasters/slideMaster40.xml" ContentType="application/vnd.openxmlformats-officedocument.presentationml.slideMaster+xml"/>
  <Override PartName="/ppt/slides/slide40.xml" ContentType="application/vnd.openxmlformats-officedocument.presentationml.slide+xml"/>
  <Override PartName="/ppt/slideMasters/slideMaster41.xml" ContentType="application/vnd.openxmlformats-officedocument.presentationml.slideMaster+xml"/>
  <Override PartName="/ppt/slides/slide41.xml" ContentType="application/vnd.openxmlformats-officedocument.presentationml.slide+xml"/>
  <Override PartName="/ppt/slideMasters/slideMaster42.xml" ContentType="application/vnd.openxmlformats-officedocument.presentationml.slideMaster+xml"/>
  <Override PartName="/ppt/slides/slide42.xml" ContentType="application/vnd.openxmlformats-officedocument.presentationml.slide+xml"/>
  <Override PartName="/ppt/slideMasters/slideMaster43.xml" ContentType="application/vnd.openxmlformats-officedocument.presentationml.slideMaster+xml"/>
  <Override PartName="/ppt/slides/slide43.xml" ContentType="application/vnd.openxmlformats-officedocument.presentationml.slide+xml"/>
  <Override PartName="/ppt/slideMasters/slideMaster44.xml" ContentType="application/vnd.openxmlformats-officedocument.presentationml.slideMaster+xml"/>
  <Override PartName="/ppt/slides/slide44.xml" ContentType="application/vnd.openxmlformats-officedocument.presentationml.slide+xml"/>
  <Override PartName="/ppt/slideMasters/slideMaster45.xml" ContentType="application/vnd.openxmlformats-officedocument.presentationml.slideMaster+xml"/>
  <Override PartName="/ppt/slides/slide45.xml" ContentType="application/vnd.openxmlformats-officedocument.presentationml.slide+xml"/>
  <Override PartName="/ppt/slideMasters/slideMaster46.xml" ContentType="application/vnd.openxmlformats-officedocument.presentationml.slideMaster+xml"/>
  <Override PartName="/ppt/slides/slide46.xml" ContentType="application/vnd.openxmlformats-officedocument.presentationml.slide+xml"/>
  <Override PartName="/ppt/slideMasters/slideMaster47.xml" ContentType="application/vnd.openxmlformats-officedocument.presentationml.slideMaster+xml"/>
  <Override PartName="/ppt/slides/slide47.xml" ContentType="application/vnd.openxmlformats-officedocument.presentationml.slide+xml"/>
  <Override PartName="/ppt/slideMasters/slideMaster48.xml" ContentType="application/vnd.openxmlformats-officedocument.presentationml.slideMaster+xml"/>
  <Override PartName="/ppt/slides/slide48.xml" ContentType="application/vnd.openxmlformats-officedocument.presentationml.slide+xml"/>
  <Override PartName="/ppt/slideMasters/slideMaster49.xml" ContentType="application/vnd.openxmlformats-officedocument.presentationml.slideMaster+xml"/>
  <Override PartName="/ppt/slides/slide49.xml" ContentType="application/vnd.openxmlformats-officedocument.presentationml.slide+xml"/>
  <Override PartName="/ppt/slideMasters/slideMaster50.xml" ContentType="application/vnd.openxmlformats-officedocument.presentationml.slideMaster+xml"/>
  <Override PartName="/ppt/slides/slide50.xml" ContentType="application/vnd.openxmlformats-officedocument.presentationml.slide+xml"/>
  <Override PartName="/ppt/slideMasters/slideMaster51.xml" ContentType="application/vnd.openxmlformats-officedocument.presentationml.slideMaster+xml"/>
  <Override PartName="/ppt/slides/slide51.xml" ContentType="application/vnd.openxmlformats-officedocument.presentationml.slide+xml"/>
  <Override PartName="/ppt/slideMasters/slideMaster52.xml" ContentType="application/vnd.openxmlformats-officedocument.presentationml.slideMaster+xml"/>
  <Override PartName="/ppt/slides/slide52.xml" ContentType="application/vnd.openxmlformats-officedocument.presentationml.slide+xml"/>
  <Override PartName="/ppt/slideMasters/slideMaster53.xml" ContentType="application/vnd.openxmlformats-officedocument.presentationml.slideMaster+xml"/>
  <Override PartName="/ppt/slides/slide53.xml" ContentType="application/vnd.openxmlformats-officedocument.presentationml.slide+xml"/>
  <Override PartName="/ppt/slideMasters/slideMaster54.xml" ContentType="application/vnd.openxmlformats-officedocument.presentationml.slideMaster+xml"/>
  <Override PartName="/ppt/slides/slide54.xml" ContentType="application/vnd.openxmlformats-officedocument.presentationml.slide+xml"/>
  <Override PartName="/ppt/slideMasters/slideMaster55.xml" ContentType="application/vnd.openxmlformats-officedocument.presentationml.slideMaster+xml"/>
  <Override PartName="/ppt/slides/slide55.xml" ContentType="application/vnd.openxmlformats-officedocument.presentationml.slide+xml"/>
  <Override PartName="/ppt/slideMasters/slideMaster56.xml" ContentType="application/vnd.openxmlformats-officedocument.presentationml.slideMaster+xml"/>
  <Override PartName="/ppt/slides/slide56.xml" ContentType="application/vnd.openxmlformats-officedocument.presentationml.slide+xml"/>
  <Override PartName="/ppt/slideMasters/slideMaster57.xml" ContentType="application/vnd.openxmlformats-officedocument.presentationml.slideMaster+xml"/>
  <Override PartName="/ppt/slides/slide57.xml" ContentType="application/vnd.openxmlformats-officedocument.presentationml.slide+xml"/>
  <Override PartName="/ppt/slideMasters/slideMaster58.xml" ContentType="application/vnd.openxmlformats-officedocument.presentationml.slideMaster+xml"/>
  <Override PartName="/ppt/slides/slide58.xml" ContentType="application/vnd.openxmlformats-officedocument.presentationml.slide+xml"/>
  <Override PartName="/ppt/slideMasters/slideMaster59.xml" ContentType="application/vnd.openxmlformats-officedocument.presentationml.slideMaster+xml"/>
  <Override PartName="/ppt/slides/slide59.xml" ContentType="application/vnd.openxmlformats-officedocument.presentationml.slide+xml"/>
  <Override PartName="/ppt/slideMasters/slideMaster60.xml" ContentType="application/vnd.openxmlformats-officedocument.presentationml.slideMaster+xml"/>
  <Override PartName="/ppt/slides/slide60.xml" ContentType="application/vnd.openxmlformats-officedocument.presentationml.slide+xml"/>
  <Override PartName="/ppt/slideMasters/slideMaster61.xml" ContentType="application/vnd.openxmlformats-officedocument.presentationml.slideMaster+xml"/>
  <Override PartName="/ppt/slides/slide61.xml" ContentType="application/vnd.openxmlformats-officedocument.presentationml.slide+xml"/>
  <Override PartName="/ppt/slideMasters/slideMaster62.xml" ContentType="application/vnd.openxmlformats-officedocument.presentationml.slideMaster+xml"/>
  <Override PartName="/ppt/slides/slide62.xml" ContentType="application/vnd.openxmlformats-officedocument.presentationml.slide+xml"/>
  <Override PartName="/ppt/slideMasters/slideMaster63.xml" ContentType="application/vnd.openxmlformats-officedocument.presentationml.slideMaster+xml"/>
  <Override PartName="/ppt/slides/slide63.xml" ContentType="application/vnd.openxmlformats-officedocument.presentationml.slide+xml"/>
  <Override PartName="/ppt/slideMasters/slideMaster64.xml" ContentType="application/vnd.openxmlformats-officedocument.presentationml.slideMaster+xml"/>
  <Override PartName="/ppt/slides/slide64.xml" ContentType="application/vnd.openxmlformats-officedocument.presentationml.slide+xml"/>
  <Override PartName="/ppt/slideMasters/slideMaster65.xml" ContentType="application/vnd.openxmlformats-officedocument.presentationml.slideMaster+xml"/>
  <Override PartName="/ppt/slides/slide65.xml" ContentType="application/vnd.openxmlformats-officedocument.presentationml.slide+xml"/>
  <Override PartName="/ppt/slideMasters/slideMaster66.xml" ContentType="application/vnd.openxmlformats-officedocument.presentationml.slideMaster+xml"/>
  <Override PartName="/ppt/slides/slide66.xml" ContentType="application/vnd.openxmlformats-officedocument.presentationml.slide+xml"/>
  <Override PartName="/ppt/slideMasters/slideMaster67.xml" ContentType="application/vnd.openxmlformats-officedocument.presentationml.slideMaster+xml"/>
  <Override PartName="/ppt/slides/slide67.xml" ContentType="application/vnd.openxmlformats-officedocument.presentationml.slide+xml"/>
  <Override PartName="/ppt/slideMasters/slideMaster68.xml" ContentType="application/vnd.openxmlformats-officedocument.presentationml.slideMaster+xml"/>
  <Override PartName="/ppt/slides/slide68.xml" ContentType="application/vnd.openxmlformats-officedocument.presentationml.slide+xml"/>
  <Override PartName="/ppt/slideMasters/slideMaster69.xml" ContentType="application/vnd.openxmlformats-officedocument.presentationml.slideMaster+xml"/>
  <Override PartName="/ppt/slides/slide69.xml" ContentType="application/vnd.openxmlformats-officedocument.presentationml.slide+xml"/>
  <Override PartName="/ppt/slideMasters/slideMaster70.xml" ContentType="application/vnd.openxmlformats-officedocument.presentationml.slideMaster+xml"/>
  <Override PartName="/ppt/slides/slide70.xml" ContentType="application/vnd.openxmlformats-officedocument.presentationml.slide+xml"/>
  <Override PartName="/ppt/slideMasters/slideMaster71.xml" ContentType="application/vnd.openxmlformats-officedocument.presentationml.slideMaster+xml"/>
  <Override PartName="/ppt/slides/slide71.xml" ContentType="application/vnd.openxmlformats-officedocument.presentationml.slide+xml"/>
  <Override PartName="/ppt/slideMasters/slideMaster72.xml" ContentType="application/vnd.openxmlformats-officedocument.presentationml.slideMaster+xml"/>
  <Override PartName="/ppt/slides/slide72.xml" ContentType="application/vnd.openxmlformats-officedocument.presentationml.slide+xml"/>
  <Override PartName="/ppt/slideMasters/slideMaster73.xml" ContentType="application/vnd.openxmlformats-officedocument.presentationml.slideMaster+xml"/>
  <Override PartName="/ppt/slides/slide73.xml" ContentType="application/vnd.openxmlformats-officedocument.presentationml.slide+xml"/>
  <Override PartName="/ppt/slideMasters/slideMaster74.xml" ContentType="application/vnd.openxmlformats-officedocument.presentationml.slideMaster+xml"/>
  <Override PartName="/ppt/slides/slide74.xml" ContentType="application/vnd.openxmlformats-officedocument.presentationml.slide+xml"/>
  <Override PartName="/ppt/slideMasters/slideMaster75.xml" ContentType="application/vnd.openxmlformats-officedocument.presentationml.slideMaster+xml"/>
  <Override PartName="/ppt/slides/slide75.xml" ContentType="application/vnd.openxmlformats-officedocument.presentationml.slide+xml"/>
  <Override PartName="/ppt/slideMasters/slideMaster76.xml" ContentType="application/vnd.openxmlformats-officedocument.presentationml.slideMaster+xml"/>
  <Override PartName="/ppt/slides/slide76.xml" ContentType="application/vnd.openxmlformats-officedocument.presentationml.slide+xml"/>
  <Override PartName="/ppt/slideMasters/slideMaster77.xml" ContentType="application/vnd.openxmlformats-officedocument.presentationml.slideMaster+xml"/>
  <Override PartName="/ppt/slides/slide77.xml" ContentType="application/vnd.openxmlformats-officedocument.presentationml.slide+xml"/>
  <Override PartName="/ppt/slideMasters/slideMaster78.xml" ContentType="application/vnd.openxmlformats-officedocument.presentationml.slideMaster+xml"/>
  <Override PartName="/ppt/slides/slide78.xml" ContentType="application/vnd.openxmlformats-officedocument.presentationml.slide+xml"/>
  <Override PartName="/ppt/slideMasters/slideMaster79.xml" ContentType="application/vnd.openxmlformats-officedocument.presentationml.slideMaster+xml"/>
  <Override PartName="/ppt/slides/slide79.xml" ContentType="application/vnd.openxmlformats-officedocument.presentationml.slide+xml"/>
  <Override PartName="/ppt/slideMasters/slideMaster80.xml" ContentType="application/vnd.openxmlformats-officedocument.presentationml.slideMaster+xml"/>
  <Override PartName="/ppt/slides/slide80.xml" ContentType="application/vnd.openxmlformats-officedocument.presentationml.slide+xml"/>
  <Override PartName="/ppt/slideMasters/slideMaster81.xml" ContentType="application/vnd.openxmlformats-officedocument.presentationml.slideMaster+xml"/>
  <Override PartName="/ppt/slides/slide81.xml" ContentType="application/vnd.openxmlformats-officedocument.presentationml.slide+xml"/>
  <Override PartName="/ppt/slideMasters/slideMaster82.xml" ContentType="application/vnd.openxmlformats-officedocument.presentationml.slideMaster+xml"/>
  <Override PartName="/ppt/slides/slide82.xml" ContentType="application/vnd.openxmlformats-officedocument.presentationml.slide+xml"/>
  <Override PartName="/ppt/slideMasters/slideMaster83.xml" ContentType="application/vnd.openxmlformats-officedocument.presentationml.slideMaster+xml"/>
  <Override PartName="/ppt/slides/slide83.xml" ContentType="application/vnd.openxmlformats-officedocument.presentationml.slide+xml"/>
  <Override PartName="/ppt/slideMasters/slideMaster84.xml" ContentType="application/vnd.openxmlformats-officedocument.presentationml.slideMaster+xml"/>
  <Override PartName="/ppt/slides/slide84.xml" ContentType="application/vnd.openxmlformats-officedocument.presentationml.slide+xml"/>
  <Override PartName="/ppt/slideMasters/slideMaster85.xml" ContentType="application/vnd.openxmlformats-officedocument.presentationml.slideMaster+xml"/>
  <Override PartName="/ppt/slides/slide85.xml" ContentType="application/vnd.openxmlformats-officedocument.presentationml.slide+xml"/>
  <Override PartName="/ppt/slideMasters/slideMaster86.xml" ContentType="application/vnd.openxmlformats-officedocument.presentationml.slideMaster+xml"/>
  <Override PartName="/ppt/slides/slide86.xml" ContentType="application/vnd.openxmlformats-officedocument.presentationml.slide+xml"/>
  <Override PartName="/ppt/slideMasters/slideMaster87.xml" ContentType="application/vnd.openxmlformats-officedocument.presentationml.slideMaster+xml"/>
  <Override PartName="/ppt/slides/slide87.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notesSlides/notesSlide60.xml" ContentType="application/vnd.openxmlformats-officedocument.presentationml.notesSlide+xml"/>
  <Override PartName="/ppt/notesSlides/notesSlide61.xml" ContentType="application/vnd.openxmlformats-officedocument.presentationml.notesSlide+xml"/>
  <Override PartName="/ppt/notesSlides/notesSlide62.xml" ContentType="application/vnd.openxmlformats-officedocument.presentationml.notesSlide+xml"/>
  <Override PartName="/ppt/notesSlides/notesSlide63.xml" ContentType="application/vnd.openxmlformats-officedocument.presentationml.notesSlide+xml"/>
  <Override PartName="/ppt/notesSlides/notesSlide64.xml" ContentType="application/vnd.openxmlformats-officedocument.presentationml.notesSlide+xml"/>
  <Override PartName="/ppt/notesSlides/notesSlide65.xml" ContentType="application/vnd.openxmlformats-officedocument.presentationml.notesSlide+xml"/>
  <Override PartName="/ppt/notesSlides/notesSlide66.xml" ContentType="application/vnd.openxmlformats-officedocument.presentationml.notesSlide+xml"/>
  <Override PartName="/ppt/notesSlides/notesSlide67.xml" ContentType="application/vnd.openxmlformats-officedocument.presentationml.notesSlide+xml"/>
  <Override PartName="/ppt/notesSlides/notesSlide68.xml" ContentType="application/vnd.openxmlformats-officedocument.presentationml.notesSlide+xml"/>
  <Override PartName="/ppt/notesSlides/notesSlide69.xml" ContentType="application/vnd.openxmlformats-officedocument.presentationml.notesSlide+xml"/>
  <Override PartName="/ppt/notesSlides/notesSlide70.xml" ContentType="application/vnd.openxmlformats-officedocument.presentationml.notesSlide+xml"/>
  <Override PartName="/ppt/notesSlides/notesSlide71.xml" ContentType="application/vnd.openxmlformats-officedocument.presentationml.notesSlide+xml"/>
  <Override PartName="/ppt/notesSlides/notesSlide72.xml" ContentType="application/vnd.openxmlformats-officedocument.presentationml.notesSlide+xml"/>
  <Override PartName="/ppt/notesSlides/notesSlide73.xml" ContentType="application/vnd.openxmlformats-officedocument.presentationml.notesSlide+xml"/>
  <Override PartName="/ppt/notesSlides/notesSlide74.xml" ContentType="application/vnd.openxmlformats-officedocument.presentationml.notesSlide+xml"/>
  <Override PartName="/ppt/notesSlides/notesSlide75.xml" ContentType="application/vnd.openxmlformats-officedocument.presentationml.notesSlide+xml"/>
  <Override PartName="/ppt/notesSlides/notesSlide76.xml" ContentType="application/vnd.openxmlformats-officedocument.presentationml.notesSlide+xml"/>
  <Override PartName="/ppt/notesSlides/notesSlide77.xml" ContentType="application/vnd.openxmlformats-officedocument.presentationml.notesSlide+xml"/>
  <Override PartName="/ppt/notesSlides/notesSlide78.xml" ContentType="application/vnd.openxmlformats-officedocument.presentationml.notesSlide+xml"/>
  <Override PartName="/ppt/notesSlides/notesSlide79.xml" ContentType="application/vnd.openxmlformats-officedocument.presentationml.notesSlide+xml"/>
  <Override PartName="/ppt/notesSlides/notesSlide80.xml" ContentType="application/vnd.openxmlformats-officedocument.presentationml.notesSlide+xml"/>
  <Override PartName="/ppt/notesSlides/notesSlide81.xml" ContentType="application/vnd.openxmlformats-officedocument.presentationml.notesSlide+xml"/>
  <Override PartName="/ppt/notesSlides/notesSlide82.xml" ContentType="application/vnd.openxmlformats-officedocument.presentationml.notesSlide+xml"/>
  <Override PartName="/ppt/notesSlides/notesSlide83.xml" ContentType="application/vnd.openxmlformats-officedocument.presentationml.notesSlide+xml"/>
  <Override PartName="/ppt/notesSlides/notesSlide84.xml" ContentType="application/vnd.openxmlformats-officedocument.presentationml.notesSlide+xml"/>
  <Override PartName="/ppt/notesSlides/notesSlide85.xml" ContentType="application/vnd.openxmlformats-officedocument.presentationml.notesSlide+xml"/>
  <Override PartName="/ppt/notesSlides/notesSlide86.xml" ContentType="application/vnd.openxmlformats-officedocument.presentationml.notesSlide+xml"/>
  <Override PartName="/ppt/notesSlides/notesSlide8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 id="296" r:id="rId42"/>
    <p:sldId id="297" r:id="rId43"/>
    <p:sldId id="298" r:id="rId44"/>
    <p:sldId id="299" r:id="rId45"/>
    <p:sldId id="300" r:id="rId46"/>
    <p:sldId id="301" r:id="rId47"/>
    <p:sldId id="302" r:id="rId48"/>
    <p:sldId id="303" r:id="rId49"/>
    <p:sldId id="304" r:id="rId50"/>
    <p:sldId id="305" r:id="rId51"/>
    <p:sldId id="306" r:id="rId52"/>
    <p:sldId id="307" r:id="rId53"/>
    <p:sldId id="308" r:id="rId54"/>
    <p:sldId id="309" r:id="rId55"/>
    <p:sldId id="310" r:id="rId56"/>
    <p:sldId id="311" r:id="rId57"/>
    <p:sldId id="312" r:id="rId58"/>
    <p:sldId id="313" r:id="rId59"/>
    <p:sldId id="314" r:id="rId60"/>
    <p:sldId id="315" r:id="rId61"/>
    <p:sldId id="316" r:id="rId62"/>
    <p:sldId id="317" r:id="rId63"/>
    <p:sldId id="318" r:id="rId64"/>
    <p:sldId id="319" r:id="rId65"/>
    <p:sldId id="320" r:id="rId66"/>
    <p:sldId id="321" r:id="rId67"/>
    <p:sldId id="322" r:id="rId68"/>
    <p:sldId id="323" r:id="rId69"/>
    <p:sldId id="324" r:id="rId70"/>
    <p:sldId id="325" r:id="rId71"/>
    <p:sldId id="326" r:id="rId72"/>
    <p:sldId id="327" r:id="rId73"/>
    <p:sldId id="328" r:id="rId74"/>
    <p:sldId id="329" r:id="rId75"/>
    <p:sldId id="330" r:id="rId76"/>
    <p:sldId id="331" r:id="rId77"/>
    <p:sldId id="332" r:id="rId78"/>
    <p:sldId id="333" r:id="rId79"/>
    <p:sldId id="334" r:id="rId80"/>
    <p:sldId id="335" r:id="rId81"/>
    <p:sldId id="336" r:id="rId82"/>
    <p:sldId id="337" r:id="rId83"/>
    <p:sldId id="338" r:id="rId84"/>
    <p:sldId id="339" r:id="rId85"/>
    <p:sldId id="340" r:id="rId86"/>
    <p:sldId id="341" r:id="rId87"/>
    <p:sldId id="342" r:id="rId88"/>
  </p:sldIdLst>
  <p:notesMasterIdLst>
    <p:notesMasterId r:id="rId89"/>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Introduction" id="{54dce1a3-2005-4796-a7ab-349cc622a1e5}">
          <p14:sldIdLst>
            <p14:sldId id="256"/>
            <p14:sldId id="257"/>
            <p14:sldId id="258"/>
          </p14:sldIdLst>
        </p14:section>
        <p14:section name="Surah Al-Ahzab" id="{1afa7075-3fcb-1966-976e-146c6296e615}">
          <p14:sldIdLst>
            <p14:sldId id="259"/>
            <p14:sldId id="260"/>
            <p14:sldId id="261"/>
            <p14:sldId id="262"/>
            <p14:sldId id="263"/>
            <p14:sldId id="264"/>
            <p14:sldId id="265"/>
            <p14:sldId id="266"/>
            <p14:sldId id="267"/>
            <p14:sldId id="268"/>
            <p14:sldId id="269"/>
            <p14:sldId id="270"/>
            <p14:sldId id="271"/>
            <p14:sldId id="272"/>
            <p14:sldId id="273"/>
            <p14:sldId id="274"/>
            <p14:sldId id="275"/>
          </p14:sldIdLst>
        </p14:section>
        <p14:section name="Surah As-Sajdah" id="{19321370-72d7-55d7-8dd0-cd67e72bc996}">
          <p14:sldIdLst>
            <p14:sldId id="276"/>
            <p14:sldId id="277"/>
            <p14:sldId id="278"/>
            <p14:sldId id="279"/>
            <p14:sldId id="280"/>
            <p14:sldId id="281"/>
            <p14:sldId id="282"/>
            <p14:sldId id="283"/>
            <p14:sldId id="284"/>
            <p14:sldId id="285"/>
            <p14:sldId id="286"/>
            <p14:sldId id="287"/>
            <p14:sldId id="288"/>
          </p14:sldIdLst>
        </p14:section>
        <p14:section name="Surah Luqman" id="{8cd4e297-2432-3854-95e8-9802c0a74c3c}">
          <p14:sldIdLst>
            <p14:sldId id="289"/>
            <p14:sldId id="290"/>
            <p14:sldId id="291"/>
            <p14:sldId id="292"/>
            <p14:sldId id="293"/>
            <p14:sldId id="294"/>
            <p14:sldId id="295"/>
            <p14:sldId id="296"/>
            <p14:sldId id="297"/>
            <p14:sldId id="298"/>
            <p14:sldId id="299"/>
            <p14:sldId id="300"/>
            <p14:sldId id="301"/>
            <p14:sldId id="302"/>
            <p14:sldId id="303"/>
            <p14:sldId id="304"/>
            <p14:sldId id="305"/>
          </p14:sldIdLst>
        </p14:section>
        <p14:section name="Surah Ar-Rum" id="{451f9bfe-00fb-9d75-024a-4b6fe0fd4ead}">
          <p14:sldIdLst>
            <p14:sldId id="306"/>
            <p14:sldId id="307"/>
            <p14:sldId id="308"/>
            <p14:sldId id="309"/>
            <p14:sldId id="310"/>
            <p14:sldId id="311"/>
            <p14:sldId id="312"/>
            <p14:sldId id="313"/>
            <p14:sldId id="314"/>
            <p14:sldId id="315"/>
            <p14:sldId id="316"/>
            <p14:sldId id="317"/>
            <p14:sldId id="318"/>
            <p14:sldId id="319"/>
            <p14:sldId id="320"/>
            <p14:sldId id="321"/>
            <p14:sldId id="322"/>
            <p14:sldId id="323"/>
            <p14:sldId id="324"/>
            <p14:sldId id="325"/>
            <p14:sldId id="326"/>
            <p14:sldId id="327"/>
            <p14:sldId id="328"/>
            <p14:sldId id="329"/>
            <p14:sldId id="330"/>
          </p14:sldIdLst>
        </p14:section>
        <p14:section name="Surah Al-'Ankabut" id="{4c9fb881-f8a8-688d-17fd-99fa65b5d672}">
          <p14:sldIdLst>
            <p14:sldId id="331"/>
            <p14:sldId id="332"/>
            <p14:sldId id="333"/>
            <p14:sldId id="334"/>
            <p14:sldId id="335"/>
            <p14:sldId id="336"/>
            <p14:sldId id="337"/>
            <p14:sldId id="338"/>
            <p14:sldId id="339"/>
            <p14:sldId id="340"/>
            <p14:sldId id="341"/>
          </p14:sldIdLst>
        </p14:section>
        <p14:section name="Closing" id="{46182f35-968d-3b92-c43c-0dbde4565fcd}">
          <p14:sldIdLst>
            <p14:sldId id="342"/>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slide" Target="slides/slide35.xml"/><Relationship Id="rId37" Type="http://schemas.openxmlformats.org/officeDocument/2006/relationships/slide" Target="slides/slide36.xml"/><Relationship Id="rId38" Type="http://schemas.openxmlformats.org/officeDocument/2006/relationships/slide" Target="slides/slide37.xml"/><Relationship Id="rId39" Type="http://schemas.openxmlformats.org/officeDocument/2006/relationships/slide" Target="slides/slide38.xml"/><Relationship Id="rId40" Type="http://schemas.openxmlformats.org/officeDocument/2006/relationships/slide" Target="slides/slide39.xml"/><Relationship Id="rId41" Type="http://schemas.openxmlformats.org/officeDocument/2006/relationships/slide" Target="slides/slide40.xml"/><Relationship Id="rId42" Type="http://schemas.openxmlformats.org/officeDocument/2006/relationships/slide" Target="slides/slide41.xml"/><Relationship Id="rId43" Type="http://schemas.openxmlformats.org/officeDocument/2006/relationships/slide" Target="slides/slide42.xml"/><Relationship Id="rId44" Type="http://schemas.openxmlformats.org/officeDocument/2006/relationships/slide" Target="slides/slide43.xml"/><Relationship Id="rId45" Type="http://schemas.openxmlformats.org/officeDocument/2006/relationships/slide" Target="slides/slide44.xml"/><Relationship Id="rId46" Type="http://schemas.openxmlformats.org/officeDocument/2006/relationships/slide" Target="slides/slide45.xml"/><Relationship Id="rId47" Type="http://schemas.openxmlformats.org/officeDocument/2006/relationships/slide" Target="slides/slide46.xml"/><Relationship Id="rId48" Type="http://schemas.openxmlformats.org/officeDocument/2006/relationships/slide" Target="slides/slide47.xml"/><Relationship Id="rId49" Type="http://schemas.openxmlformats.org/officeDocument/2006/relationships/slide" Target="slides/slide48.xml"/><Relationship Id="rId50" Type="http://schemas.openxmlformats.org/officeDocument/2006/relationships/slide" Target="slides/slide49.xml"/><Relationship Id="rId51" Type="http://schemas.openxmlformats.org/officeDocument/2006/relationships/slide" Target="slides/slide50.xml"/><Relationship Id="rId52" Type="http://schemas.openxmlformats.org/officeDocument/2006/relationships/slide" Target="slides/slide51.xml"/><Relationship Id="rId53" Type="http://schemas.openxmlformats.org/officeDocument/2006/relationships/slide" Target="slides/slide52.xml"/><Relationship Id="rId54" Type="http://schemas.openxmlformats.org/officeDocument/2006/relationships/slide" Target="slides/slide53.xml"/><Relationship Id="rId55" Type="http://schemas.openxmlformats.org/officeDocument/2006/relationships/slide" Target="slides/slide54.xml"/><Relationship Id="rId56" Type="http://schemas.openxmlformats.org/officeDocument/2006/relationships/slide" Target="slides/slide55.xml"/><Relationship Id="rId57" Type="http://schemas.openxmlformats.org/officeDocument/2006/relationships/slide" Target="slides/slide56.xml"/><Relationship Id="rId58" Type="http://schemas.openxmlformats.org/officeDocument/2006/relationships/slide" Target="slides/slide57.xml"/><Relationship Id="rId59" Type="http://schemas.openxmlformats.org/officeDocument/2006/relationships/slide" Target="slides/slide58.xml"/><Relationship Id="rId60" Type="http://schemas.openxmlformats.org/officeDocument/2006/relationships/slide" Target="slides/slide59.xml"/><Relationship Id="rId61" Type="http://schemas.openxmlformats.org/officeDocument/2006/relationships/slide" Target="slides/slide60.xml"/><Relationship Id="rId62" Type="http://schemas.openxmlformats.org/officeDocument/2006/relationships/slide" Target="slides/slide61.xml"/><Relationship Id="rId63" Type="http://schemas.openxmlformats.org/officeDocument/2006/relationships/slide" Target="slides/slide62.xml"/><Relationship Id="rId64" Type="http://schemas.openxmlformats.org/officeDocument/2006/relationships/slide" Target="slides/slide63.xml"/><Relationship Id="rId65" Type="http://schemas.openxmlformats.org/officeDocument/2006/relationships/slide" Target="slides/slide64.xml"/><Relationship Id="rId66" Type="http://schemas.openxmlformats.org/officeDocument/2006/relationships/slide" Target="slides/slide65.xml"/><Relationship Id="rId67" Type="http://schemas.openxmlformats.org/officeDocument/2006/relationships/slide" Target="slides/slide66.xml"/><Relationship Id="rId68" Type="http://schemas.openxmlformats.org/officeDocument/2006/relationships/slide" Target="slides/slide67.xml"/><Relationship Id="rId69" Type="http://schemas.openxmlformats.org/officeDocument/2006/relationships/slide" Target="slides/slide68.xml"/><Relationship Id="rId70" Type="http://schemas.openxmlformats.org/officeDocument/2006/relationships/slide" Target="slides/slide69.xml"/><Relationship Id="rId71" Type="http://schemas.openxmlformats.org/officeDocument/2006/relationships/slide" Target="slides/slide70.xml"/><Relationship Id="rId72" Type="http://schemas.openxmlformats.org/officeDocument/2006/relationships/slide" Target="slides/slide71.xml"/><Relationship Id="rId73" Type="http://schemas.openxmlformats.org/officeDocument/2006/relationships/slide" Target="slides/slide72.xml"/><Relationship Id="rId74" Type="http://schemas.openxmlformats.org/officeDocument/2006/relationships/slide" Target="slides/slide73.xml"/><Relationship Id="rId75" Type="http://schemas.openxmlformats.org/officeDocument/2006/relationships/slide" Target="slides/slide74.xml"/><Relationship Id="rId76" Type="http://schemas.openxmlformats.org/officeDocument/2006/relationships/slide" Target="slides/slide75.xml"/><Relationship Id="rId77" Type="http://schemas.openxmlformats.org/officeDocument/2006/relationships/slide" Target="slides/slide76.xml"/><Relationship Id="rId78" Type="http://schemas.openxmlformats.org/officeDocument/2006/relationships/slide" Target="slides/slide77.xml"/><Relationship Id="rId79" Type="http://schemas.openxmlformats.org/officeDocument/2006/relationships/slide" Target="slides/slide78.xml"/><Relationship Id="rId80" Type="http://schemas.openxmlformats.org/officeDocument/2006/relationships/slide" Target="slides/slide79.xml"/><Relationship Id="rId81" Type="http://schemas.openxmlformats.org/officeDocument/2006/relationships/slide" Target="slides/slide80.xml"/><Relationship Id="rId82" Type="http://schemas.openxmlformats.org/officeDocument/2006/relationships/slide" Target="slides/slide81.xml"/><Relationship Id="rId83" Type="http://schemas.openxmlformats.org/officeDocument/2006/relationships/slide" Target="slides/slide82.xml"/><Relationship Id="rId84" Type="http://schemas.openxmlformats.org/officeDocument/2006/relationships/slide" Target="slides/slide83.xml"/><Relationship Id="rId85" Type="http://schemas.openxmlformats.org/officeDocument/2006/relationships/slide" Target="slides/slide84.xml"/><Relationship Id="rId86" Type="http://schemas.openxmlformats.org/officeDocument/2006/relationships/slide" Target="slides/slide85.xml"/><Relationship Id="rId87" Type="http://schemas.openxmlformats.org/officeDocument/2006/relationships/slide" Target="slides/slide86.xml"/><Relationship Id="rId88" Type="http://schemas.openxmlformats.org/officeDocument/2006/relationships/slide" Target="slides/slide87.xml"/><Relationship Id="rId89" Type="http://schemas.openxmlformats.org/officeDocument/2006/relationships/notesMaster" Target="notesMasters/notesMaster1.xml"/><Relationship Id="rId90" Type="http://schemas.openxmlformats.org/officeDocument/2006/relationships/presProps" Target="presProps.xml"/><Relationship Id="rId91" Type="http://schemas.openxmlformats.org/officeDocument/2006/relationships/viewProps" Target="viewProps.xml"/><Relationship Id="rId92" Type="http://schemas.openxmlformats.org/officeDocument/2006/relationships/theme" Target="theme/theme1.xml"/><Relationship Id="rId93"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_rels/notesSlide3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1.xml"/>
		</Relationships>
</file>

<file path=ppt/notesSlides/_rels/notesSlide3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2.xml"/>
		</Relationships>
</file>

<file path=ppt/notesSlides/_rels/notesSlide3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3.xml"/>
		</Relationships>
</file>

<file path=ppt/notesSlides/_rels/notesSlide3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4.xml"/>
		</Relationships>
</file>

<file path=ppt/notesSlides/_rels/notesSlide3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5.xml"/>
		</Relationships>
</file>

<file path=ppt/notesSlides/_rels/notesSlide3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6.xml"/>
		</Relationships>
</file>

<file path=ppt/notesSlides/_rels/notesSlide3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7.xml"/>
		</Relationships>
</file>

<file path=ppt/notesSlides/_rels/notesSlide3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8.xml"/>
		</Relationships>
</file>

<file path=ppt/notesSlides/_rels/notesSlide3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9.xml"/>
		</Relationships>
</file>

<file path=ppt/notesSlides/_rels/notesSlide4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0.xml"/>
		</Relationships>
</file>

<file path=ppt/notesSlides/_rels/notesSlide4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1.xml"/>
		</Relationships>
</file>

<file path=ppt/notesSlides/_rels/notesSlide4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2.xml"/>
		</Relationships>
</file>

<file path=ppt/notesSlides/_rels/notesSlide4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3.xml"/>
		</Relationships>
</file>

<file path=ppt/notesSlides/_rels/notesSlide4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4.xml"/>
		</Relationships>
</file>

<file path=ppt/notesSlides/_rels/notesSlide4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5.xml"/>
		</Relationships>
</file>

<file path=ppt/notesSlides/_rels/notesSlide4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6.xml"/>
		</Relationships>
</file>

<file path=ppt/notesSlides/_rels/notesSlide4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7.xml"/>
		</Relationships>
</file>

<file path=ppt/notesSlides/_rels/notesSlide4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8.xml"/>
		</Relationships>
</file>

<file path=ppt/notesSlides/_rels/notesSlide4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9.xml"/>
		</Relationships>
</file>

<file path=ppt/notesSlides/_rels/notesSlide5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0.xml"/>
		</Relationships>
</file>

<file path=ppt/notesSlides/_rels/notesSlide5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1.xml"/>
		</Relationships>
</file>

<file path=ppt/notesSlides/_rels/notesSlide5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2.xml"/>
		</Relationships>
</file>

<file path=ppt/notesSlides/_rels/notesSlide5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3.xml"/>
		</Relationships>
</file>

<file path=ppt/notesSlides/_rels/notesSlide5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4.xml"/>
		</Relationships>
</file>

<file path=ppt/notesSlides/_rels/notesSlide5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5.xml"/>
		</Relationships>
</file>

<file path=ppt/notesSlides/_rels/notesSlide5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6.xml"/>
		</Relationships>
</file>

<file path=ppt/notesSlides/_rels/notesSlide5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7.xml"/>
		</Relationships>
</file>

<file path=ppt/notesSlides/_rels/notesSlide5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8.xml"/>
		</Relationships>
</file>

<file path=ppt/notesSlides/_rels/notesSlide5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9.xml"/>
		</Relationships>
</file>

<file path=ppt/notesSlides/_rels/notesSlide6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0.xml"/>
		</Relationships>
</file>

<file path=ppt/notesSlides/_rels/notesSlide6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1.xml"/>
		</Relationships>
</file>

<file path=ppt/notesSlides/_rels/notesSlide6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2.xml"/>
		</Relationships>
</file>

<file path=ppt/notesSlides/_rels/notesSlide6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3.xml"/>
		</Relationships>
</file>

<file path=ppt/notesSlides/_rels/notesSlide6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4.xml"/>
		</Relationships>
</file>

<file path=ppt/notesSlides/_rels/notesSlide6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5.xml"/>
		</Relationships>
</file>

<file path=ppt/notesSlides/_rels/notesSlide6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6.xml"/>
		</Relationships>
</file>

<file path=ppt/notesSlides/_rels/notesSlide6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7.xml"/>
		</Relationships>
</file>

<file path=ppt/notesSlides/_rels/notesSlide6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8.xml"/>
		</Relationships>
</file>

<file path=ppt/notesSlides/_rels/notesSlide6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9.xml"/>
		</Relationships>
</file>

<file path=ppt/notesSlides/_rels/notesSlide7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0.xml"/>
		</Relationships>
</file>

<file path=ppt/notesSlides/_rels/notesSlide7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1.xml"/>
		</Relationships>
</file>

<file path=ppt/notesSlides/_rels/notesSlide7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2.xml"/>
		</Relationships>
</file>

<file path=ppt/notesSlides/_rels/notesSlide7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3.xml"/>
		</Relationships>
</file>

<file path=ppt/notesSlides/_rels/notesSlide7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4.xml"/>
		</Relationships>
</file>

<file path=ppt/notesSlides/_rels/notesSlide7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5.xml"/>
		</Relationships>
</file>

<file path=ppt/notesSlides/_rels/notesSlide7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6.xml"/>
		</Relationships>
</file>

<file path=ppt/notesSlides/_rels/notesSlide7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7.xml"/>
		</Relationships>
</file>

<file path=ppt/notesSlides/_rels/notesSlide7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8.xml"/>
		</Relationships>
</file>

<file path=ppt/notesSlides/_rels/notesSlide7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9.xml"/>
		</Relationships>
</file>

<file path=ppt/notesSlides/_rels/notesSlide8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0.xml"/>
		</Relationships>
</file>

<file path=ppt/notesSlides/_rels/notesSlide8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1.xml"/>
		</Relationships>
</file>

<file path=ppt/notesSlides/_rels/notesSlide8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2.xml"/>
		</Relationships>
</file>

<file path=ppt/notesSlides/_rels/notesSlide8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3.xml"/>
		</Relationships>
</file>

<file path=ppt/notesSlides/_rels/notesSlide8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4.xml"/>
		</Relationships>
</file>

<file path=ppt/notesSlides/_rels/notesSlide8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5.xml"/>
		</Relationships>
</file>

<file path=ppt/notesSlides/_rels/notesSlide8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6.xml"/>
		</Relationships>
</file>

<file path=ppt/notesSlides/_rels/notesSlide8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7.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begin with the first 30 verses of Surah Al-Ahzab, then move back through As-Sajdah, Luqman and Ar-Rum to the end of Surah Al-'Ankabut. Inside each surah, the verses follow their order in the Mushaf.</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Discussion question after this surah: Who is our best example according to verse 21? Mention one moment from his life that you will follow.</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Discussion question after this surah: What do the believers do at night according to verse 16?</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Discussion question after this surah: Mention three pieces of Luqman's advice to his son in verses 13–19.</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Discussion question after this surah: Mention three of Allah's signs in verses 20–25.</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Discussion question after this surah: What has Allah promised those who strive for His sake in verse 69?</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87</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image" Target="../media/image-1002-1.jpg"/><Relationship Id="rId2"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image" Target="../media/image-1003-1.jpg"/><Relationship Id="rId2"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image" Target="../media/image-1004-1.jpg"/><Relationship Id="rId2"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PAGE">
    <p:bg>
      <p:bgPr>
        <a:solidFill>
          <a:schemeClr val="bg2"/>
        </a:solidFill>
      </p:bgPr>
    </p:bg>
    <p:spTree>
      <p:nvGrpSpPr>
        <p:cNvPr id="1" name=""/>
        <p:cNvGrpSpPr/>
        <p:nvPr/>
      </p:nvGrpSpPr>
      <p:grpSpPr>
        <a:xfrm>
          <a:off x="0" y="0"/>
          <a:ext cx="0" cy="0"/>
          <a:chOff x="0" y="0"/>
          <a:chExt cx="0" cy="0"/>
        </a:xfrm>
      </p:grpSpPr>
      <p:pic>
        <p:nvPicPr>
          <p:cNvPr id="2" name="Image 0" descr="assets21/bg_page.jpg">    </p:cNvPr>
          <p:cNvPicPr>
            <a:picLocks noChangeAspect="1"/>
          </p:cNvPicPr>
          <p:nvPr/>
        </p:nvPicPr>
        <p:blipFill>
          <a:blip r:embed="rId1"/>
          <a:stretch>
            <a:fillRect/>
          </a:stretch>
        </p:blipFill>
        <p:spPr>
          <a:xfrm>
            <a:off x="0" y="0"/>
            <a:ext cx="12191695" cy="6858000"/>
          </a:xfrm>
          <a:prstGeom prst="rect">
            <a:avLst/>
          </a:prstGeom>
        </p:spPr>
      </p:pic>
      <p:sp>
        <p:nvSpPr>
          <p:cNvPr id="3" name="Text 0"/>
          <p:cNvSpPr/>
          <p:nvPr>
            <p:ph idx="101" type="title" hasCustomPrompt="1"/>
          </p:nvPr>
        </p:nvSpPr>
        <p:spPr>
          <a:xfrm>
            <a:off x="4084168" y="384048"/>
            <a:ext cx="4023360" cy="713232"/>
          </a:xfrm>
          <a:prstGeom prst="rect">
            <a:avLst/>
          </a:prstGeom>
          <a:noFill/>
          <a:ln/>
        </p:spPr>
        <p:txBody>
          <a:bodyPr wrap="square" rtlCol="0"/>
          <a:lstStyle>
            <a:lvl1pPr algn="ctr" indent="0" marL="0">
              <a:buNone/>
              <a:defRPr lang="en-US" sz="2400" b="1" dirty="0">
                <a:solidFill>
                  <a:schemeClr val="bg1"/>
                </a:solidFill>
                <a:latin typeface="Georgia" pitchFamily="34" charset="0"/>
                <a:ea typeface="Georgia" pitchFamily="34" charset="-122"/>
                <a:cs typeface="Georgia" pitchFamily="34" charset="-120"/>
              </a:defRPr>
            </a:lvl1pPr>
          </a:lstStyle>
          <a:p>
            <a:pPr algn="ctr" indent="0" marL="0">
              <a:buNone/>
            </a:pPr>
            <a:endParaRPr lang="en-US" sz="2400" dirty="0"/>
          </a:p>
        </p:txBody>
      </p:sp>
      <p:sp>
        <p:nvSpPr>
          <p:cNvPr id="25" name="Slide Number Placeholder 0"/>
          <p:cNvSpPr>
            <a:spLocks noGrp="1"/>
          </p:cNvSpPr>
          <p:nvPr>
            <p:ph type="sldNum" sz="quarter" idx="4294967295"/>
          </p:nvPr>
        </p:nvSpPr>
        <p:spPr>
          <a:xfrm>
            <a:off x="1115568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1002</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INTRO">
    <p:bg>
      <p:bgPr>
        <a:solidFill>
          <a:schemeClr val="bg2"/>
        </a:solidFill>
      </p:bgPr>
    </p:bg>
    <p:spTree>
      <p:nvGrpSpPr>
        <p:cNvPr id="1" name=""/>
        <p:cNvGrpSpPr/>
        <p:nvPr/>
      </p:nvGrpSpPr>
      <p:grpSpPr>
        <a:xfrm>
          <a:off x="0" y="0"/>
          <a:ext cx="0" cy="0"/>
          <a:chOff x="0" y="0"/>
          <a:chExt cx="0" cy="0"/>
        </a:xfrm>
      </p:grpSpPr>
      <p:pic>
        <p:nvPicPr>
          <p:cNvPr id="2" name="Image 0" descr="assets21/bg_intro.jpg">    </p:cNvPr>
          <p:cNvPicPr>
            <a:picLocks noChangeAspect="1"/>
          </p:cNvPicPr>
          <p:nvPr/>
        </p:nvPicPr>
        <p:blipFill>
          <a:blip r:embed="rId1"/>
          <a:stretch>
            <a:fillRect/>
          </a:stretch>
        </p:blipFill>
        <p:spPr>
          <a:xfrm>
            <a:off x="0" y="0"/>
            <a:ext cx="12191695" cy="6858000"/>
          </a:xfrm>
          <a:prstGeom prst="rect">
            <a:avLst/>
          </a:prstGeom>
        </p:spPr>
      </p:pic>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DARK">
    <p:bg>
      <p:bgPr>
        <a:solidFill>
          <a:schemeClr val="bg2"/>
        </a:solidFill>
      </p:bgPr>
    </p:bg>
    <p:spTree>
      <p:nvGrpSpPr>
        <p:cNvPr id="1" name=""/>
        <p:cNvGrpSpPr/>
        <p:nvPr/>
      </p:nvGrpSpPr>
      <p:grpSpPr>
        <a:xfrm>
          <a:off x="0" y="0"/>
          <a:ext cx="0" cy="0"/>
          <a:chOff x="0" y="0"/>
          <a:chExt cx="0" cy="0"/>
        </a:xfrm>
      </p:grpSpPr>
      <p:pic>
        <p:nvPicPr>
          <p:cNvPr id="2" name="Image 0" descr="assets21/bg_dark.jpg">    </p:cNvPr>
          <p:cNvPicPr>
            <a:picLocks noChangeAspect="1"/>
          </p:cNvPicPr>
          <p:nvPr/>
        </p:nvPicPr>
        <p:blipFill>
          <a:blip r:embed="rId1"/>
          <a:stretch>
            <a:fillRect/>
          </a:stretch>
        </p:blipFill>
        <p:spPr>
          <a:xfrm>
            <a:off x="0" y="0"/>
            <a:ext cx="12191695" cy="6858000"/>
          </a:xfrm>
          <a:prstGeom prst="rect">
            <a:avLst/>
          </a:prstGeom>
        </p:spPr>
      </p:pic>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15568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image" Target="../media/image-1-2.png"/><Relationship Id="rId3" Type="http://schemas.openxmlformats.org/officeDocument/2006/relationships/slideLayout" Target="../slideLayouts/slideLayout4.xml"/><Relationship Id="rId4"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5.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6.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7.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8.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9.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0.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1.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3.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4.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5.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6.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7.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8.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9.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0.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1.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2.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3.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4.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5.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6.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7.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8.xm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9.xml"/></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0.xml"/></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1.xml"/></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2.xml"/></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3.xml"/></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4.xml"/></Relationships>
</file>

<file path=ppt/slides/_rels/slide7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5.xml"/></Relationships>
</file>

<file path=ppt/slides/_rels/slide7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6.xml"/></Relationships>
</file>

<file path=ppt/slides/_rels/slide7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7.xml"/></Relationships>
</file>

<file path=ppt/slides/_rels/slide7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8.xml"/></Relationships>
</file>

<file path=ppt/slides/_rels/slide7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9.xml"/></Relationships>
</file>

<file path=ppt/slides/_rels/slide8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0.xml"/></Relationships>
</file>

<file path=ppt/slides/_rels/slide8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1.xml"/></Relationships>
</file>

<file path=ppt/slides/_rels/slide8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2.xml"/></Relationships>
</file>

<file path=ppt/slides/_rels/slide8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3.xml"/></Relationships>
</file>

<file path=ppt/slides/_rels/slide8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4.xml"/></Relationships>
</file>

<file path=ppt/slides/_rels/slide8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5.xml"/></Relationships>
</file>

<file path=ppt/slides/_rels/slide8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6.xml"/></Relationships>
</file>

<file path=ppt/slides/_rels/slide87.xml.rels><?xml version="1.0" encoding="UTF-8" standalone="yes"?>
<Relationships xmlns="http://schemas.openxmlformats.org/package/2006/relationships"><Relationship Id="rId1" Type="http://schemas.openxmlformats.org/officeDocument/2006/relationships/image" Target="../media/image-87-1.png"/><Relationship Id="rId2" Type="http://schemas.openxmlformats.org/officeDocument/2006/relationships/image" Target="../media/image-87-2.png"/><Relationship Id="rId3" Type="http://schemas.openxmlformats.org/officeDocument/2006/relationships/slideLayout" Target="../slideLayouts/slideLayout4.xml"/><Relationship Id="rId4" Type="http://schemas.openxmlformats.org/officeDocument/2006/relationships/notesSlide" Target="../notesSlides/notesSlide87.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pic>
        <p:nvPicPr>
          <p:cNvPr id="2" name="Image 0" descr="assets21/rosette.png">    </p:cNvPr>
          <p:cNvPicPr>
            <a:picLocks noChangeAspect="1"/>
          </p:cNvPicPr>
          <p:nvPr/>
        </p:nvPicPr>
        <p:blipFill>
          <a:blip r:embed="rId1"/>
          <a:stretch>
            <a:fillRect/>
          </a:stretch>
        </p:blipFill>
        <p:spPr>
          <a:xfrm>
            <a:off x="5364328" y="777240"/>
            <a:ext cx="1463040" cy="1463040"/>
          </a:xfrm>
          <a:prstGeom prst="rect">
            <a:avLst/>
          </a:prstGeom>
        </p:spPr>
      </p:pic>
      <p:sp>
        <p:nvSpPr>
          <p:cNvPr id="3" name="Text 0"/>
          <p:cNvSpPr txBox="1"/>
          <p:nvPr/>
        </p:nvSpPr>
        <p:spPr>
          <a:xfrm>
            <a:off x="731520" y="2468880"/>
            <a:ext cx="10728655" cy="1143000"/>
          </a:xfrm>
          <a:prstGeom prst="rect">
            <a:avLst/>
          </a:prstGeom>
          <a:noFill/>
          <a:ln/>
        </p:spPr>
        <p:txBody>
          <a:bodyPr wrap="square" lIns="0" tIns="0" rIns="0" bIns="0" rtlCol="0" anchor="ctr"/>
          <a:lstStyle/>
          <a:p>
            <a:pPr algn="ctr" indent="0" marL="0">
              <a:buNone/>
            </a:pPr>
            <a:r>
              <a:rPr lang="en-US" altLang="en-US" sz="4400" b="1" dirty="0">
                <a:solidFill>
                  <a:schemeClr val="bg1"/>
                </a:solidFill>
                <a:latin typeface="Georgia" pitchFamily="34" charset="0"/>
                <a:ea typeface="Georgia" pitchFamily="34" charset="-122"/>
                <a:cs typeface="Georgia" pitchFamily="34" charset="-120"/>
              </a:rPr>
              <a:t>Tafsir of Juz Utlu Ma Uhiya</a:t>
            </a:r>
            <a:endParaRPr lang="en-US" sz="4400" dirty="0"/>
          </a:p>
        </p:txBody>
      </p:sp>
      <p:sp>
        <p:nvSpPr>
          <p:cNvPr id="4" name="Text 1"/>
          <p:cNvSpPr txBox="1"/>
          <p:nvPr/>
        </p:nvSpPr>
        <p:spPr>
          <a:xfrm>
            <a:off x="1097280" y="3657600"/>
            <a:ext cx="9997135" cy="502920"/>
          </a:xfrm>
          <a:prstGeom prst="rect">
            <a:avLst/>
          </a:prstGeom>
          <a:noFill/>
          <a:ln/>
        </p:spPr>
        <p:txBody>
          <a:bodyPr wrap="square" lIns="0" tIns="0" rIns="0" bIns="0" rtlCol="0" anchor="ctr"/>
          <a:lstStyle/>
          <a:p>
            <a:pPr algn="ctr" indent="0" marL="0">
              <a:buNone/>
            </a:pPr>
            <a:r>
              <a:rPr lang="en-US" altLang="en-US" sz="2200" b="1" dirty="0">
                <a:solidFill>
                  <a:schemeClr val="accent2"/>
                </a:solidFill>
                <a:latin typeface="Arial" pitchFamily="34" charset="0"/>
                <a:ea typeface="Arial" pitchFamily="34" charset="-122"/>
                <a:cs typeface="Arial" pitchFamily="34" charset="-120"/>
              </a:rPr>
              <a:t>A simplified explanation of every verse, drawn from the Tafsir of Imam Ibn Kathir</a:t>
            </a:r>
            <a:endParaRPr lang="en-US" sz="2200" dirty="0"/>
          </a:p>
        </p:txBody>
      </p:sp>
      <p:pic>
        <p:nvPicPr>
          <p:cNvPr id="5" name="Image 1" descr="assets21/divider.png">    </p:cNvPr>
          <p:cNvPicPr>
            <a:picLocks noChangeAspect="1"/>
          </p:cNvPicPr>
          <p:nvPr/>
        </p:nvPicPr>
        <p:blipFill>
          <a:blip r:embed="rId2"/>
          <a:stretch>
            <a:fillRect/>
          </a:stretch>
        </p:blipFill>
        <p:spPr>
          <a:xfrm>
            <a:off x="3809848" y="4343400"/>
            <a:ext cx="4572000" cy="228600"/>
          </a:xfrm>
          <a:prstGeom prst="rect">
            <a:avLst/>
          </a:prstGeom>
        </p:spPr>
      </p:pic>
      <p:sp>
        <p:nvSpPr>
          <p:cNvPr id="6" name="Text 2"/>
          <p:cNvSpPr txBox="1"/>
          <p:nvPr/>
        </p:nvSpPr>
        <p:spPr>
          <a:xfrm>
            <a:off x="1097280" y="4754880"/>
            <a:ext cx="9997135" cy="457200"/>
          </a:xfrm>
          <a:prstGeom prst="rect">
            <a:avLst/>
          </a:prstGeom>
          <a:noFill/>
          <a:ln/>
        </p:spPr>
        <p:txBody>
          <a:bodyPr wrap="square" lIns="0" tIns="0" rIns="0" bIns="0" rtlCol="0" anchor="t"/>
          <a:lstStyle/>
          <a:p>
            <a:pPr algn="ctr" indent="0" marL="0">
              <a:buNone/>
            </a:pPr>
            <a:r>
              <a:rPr lang="en-US" altLang="en-US" sz="1700" dirty="0">
                <a:solidFill>
                  <a:schemeClr val="bg2"/>
                </a:solidFill>
                <a:latin typeface="Arial" pitchFamily="34" charset="0"/>
                <a:ea typeface="Arial" pitchFamily="34" charset="-122"/>
                <a:cs typeface="Arial" pitchFamily="34" charset="-120"/>
              </a:rPr>
              <a:t>Juz 21 • From Al-Ahzab (1–30) back to Al-'Ankabut (46–69) • with reasons for revelation</a:t>
            </a:r>
            <a:endParaRPr lang="en-US" sz="17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algn="ctr" indent="0" marL="0">
              <a:buNone/>
            </a:pPr>
            <a:r>
              <a:rPr lang="en-US" sz="2400" b="1" dirty="0">
                <a:solidFill>
                  <a:schemeClr val="bg1"/>
                </a:solidFill>
                <a:latin typeface="Georgia" pitchFamily="34" charset="0"/>
                <a:ea typeface="Georgia" pitchFamily="34" charset="-122"/>
                <a:cs typeface="Georgia" pitchFamily="34" charset="-120"/>
              </a:rPr>
              <a:t>Before We Begin</a:t>
            </a:r>
            <a:endParaRPr lang="en-US" sz="2400" dirty="0"/>
          </a:p>
        </p:txBody>
      </p:sp>
      <p:sp>
        <p:nvSpPr>
          <p:cNvPr id="3" name="Shape 1"/>
          <p:cNvSpPr/>
          <p:nvPr/>
        </p:nvSpPr>
        <p:spPr>
          <a:xfrm>
            <a:off x="640080" y="1463040"/>
            <a:ext cx="5303520" cy="4617720"/>
          </a:xfrm>
          <a:prstGeom prst="roundRect">
            <a:avLst>
              <a:gd name="adj" fmla="val 2970"/>
            </a:avLst>
          </a:prstGeom>
          <a:solidFill>
            <a:schemeClr val="accent5"/>
          </a:solidFill>
          <a:ln w="15875">
            <a:solidFill>
              <a:schemeClr val="accent2"/>
            </a:solidFill>
            <a:prstDash val="solid"/>
          </a:ln>
        </p:spPr>
      </p:sp>
      <p:sp>
        <p:nvSpPr>
          <p:cNvPr id="4" name="Text 2"/>
          <p:cNvSpPr txBox="1"/>
          <p:nvPr/>
        </p:nvSpPr>
        <p:spPr>
          <a:xfrm>
            <a:off x="868680" y="1645920"/>
            <a:ext cx="4846320" cy="685800"/>
          </a:xfrm>
          <a:prstGeom prst="rect">
            <a:avLst/>
          </a:prstGeom>
          <a:noFill/>
          <a:ln/>
        </p:spPr>
        <p:txBody>
          <a:bodyPr wrap="square" lIns="0" tIns="0" rIns="0" bIns="0" rtlCol="0" anchor="t"/>
          <a:lstStyle/>
          <a:p>
            <a:pPr algn="l" indent="0" marL="0">
              <a:buNone/>
            </a:pPr>
            <a:r>
              <a:rPr lang="en-US" altLang="en-US" sz="1900" b="1" dirty="0">
                <a:solidFill>
                  <a:schemeClr val="tx2"/>
                </a:solidFill>
                <a:latin typeface="Georgia" pitchFamily="34" charset="0"/>
                <a:ea typeface="Georgia" pitchFamily="34" charset="-122"/>
                <a:cs typeface="Georgia" pitchFamily="34" charset="-120"/>
              </a:rPr>
              <a:t>Imam Ibn Kathir (may Allah have mercy on him)</a:t>
            </a:r>
            <a:endParaRPr lang="en-US" sz="1900" dirty="0"/>
          </a:p>
        </p:txBody>
      </p:sp>
      <p:sp>
        <p:nvSpPr>
          <p:cNvPr id="5" name="Text 3"/>
          <p:cNvSpPr txBox="1"/>
          <p:nvPr/>
        </p:nvSpPr>
        <p:spPr>
          <a:xfrm>
            <a:off x="868680" y="2423160"/>
            <a:ext cx="4846320" cy="3520440"/>
          </a:xfrm>
          <a:prstGeom prst="rect">
            <a:avLst/>
          </a:prstGeom>
          <a:noFill/>
          <a:ln/>
        </p:spPr>
        <p:txBody>
          <a:bodyPr wrap="square" lIns="0" tIns="0" rIns="0" bIns="0" rtlCol="0" anchor="t"/>
          <a:lstStyle/>
          <a:p>
            <a:pPr algn="l" indent="0" marL="0">
              <a:spcAft>
                <a:spcPts val="900"/>
              </a:spcAft>
              <a:buNone/>
            </a:pPr>
            <a:r>
              <a:rPr lang="en-US" altLang="en-US" sz="1500" b="1" dirty="0">
                <a:solidFill>
                  <a:schemeClr val="tx2"/>
                </a:solidFill>
                <a:latin typeface="Arial" pitchFamily="34" charset="0"/>
                <a:ea typeface="Arial" pitchFamily="34" charset="-122"/>
                <a:cs typeface="Arial" pitchFamily="34" charset="-120"/>
              </a:rPr>
              <a:t>Name: </a:t>
            </a:r>
            <a:pPr algn="l" indent="0" marL="0">
              <a:spcAft>
                <a:spcPts val="900"/>
              </a:spcAft>
              <a:buNone/>
            </a:pPr>
            <a:r>
              <a:rPr lang="en-US" altLang="en-US" sz="1500" dirty="0">
                <a:solidFill>
                  <a:schemeClr val="tx1"/>
                </a:solidFill>
                <a:latin typeface="Arial" pitchFamily="34" charset="0"/>
                <a:ea typeface="Arial" pitchFamily="34" charset="-122"/>
                <a:cs typeface="Arial" pitchFamily="34" charset="-120"/>
              </a:rPr>
              <a:t>Isma'il ibn 'Umar ibn Kathir of Damascus</a:t>
            </a:r>
            <a:endParaRPr lang="en-US" sz="1500" dirty="0"/>
          </a:p>
          <a:p>
            <a:pPr algn="l" indent="0" marL="0">
              <a:spcAft>
                <a:spcPts val="900"/>
              </a:spcAft>
              <a:buNone/>
            </a:pPr>
            <a:r>
              <a:rPr lang="en-US" altLang="en-US" sz="1500" b="1" dirty="0">
                <a:solidFill>
                  <a:schemeClr val="tx2"/>
                </a:solidFill>
                <a:latin typeface="Arial" pitchFamily="34" charset="0"/>
                <a:ea typeface="Arial" pitchFamily="34" charset="-122"/>
                <a:cs typeface="Arial" pitchFamily="34" charset="-120"/>
              </a:rPr>
              <a:t>Lived: </a:t>
            </a:r>
            <a:pPr algn="l" indent="0" marL="0">
              <a:spcAft>
                <a:spcPts val="900"/>
              </a:spcAft>
              <a:buNone/>
            </a:pPr>
            <a:r>
              <a:rPr lang="en-US" altLang="en-US" sz="1500" dirty="0">
                <a:solidFill>
                  <a:schemeClr val="tx1"/>
                </a:solidFill>
                <a:latin typeface="Arial" pitchFamily="34" charset="0"/>
                <a:ea typeface="Arial" pitchFamily="34" charset="-122"/>
                <a:cs typeface="Arial" pitchFamily="34" charset="-120"/>
              </a:rPr>
              <a:t>about 701 – 774 AH (1300 – 1373 CE) in Syria</a:t>
            </a:r>
            <a:endParaRPr lang="en-US" sz="1500" dirty="0"/>
          </a:p>
          <a:p>
            <a:pPr algn="l" indent="0" marL="0">
              <a:spcAft>
                <a:spcPts val="900"/>
              </a:spcAft>
              <a:buNone/>
            </a:pPr>
            <a:r>
              <a:rPr lang="en-US" altLang="en-US" sz="1500" b="1" dirty="0">
                <a:solidFill>
                  <a:schemeClr val="tx2"/>
                </a:solidFill>
                <a:latin typeface="Arial" pitchFamily="34" charset="0"/>
                <a:ea typeface="Arial" pitchFamily="34" charset="-122"/>
                <a:cs typeface="Arial" pitchFamily="34" charset="-120"/>
              </a:rPr>
              <a:t>Teachers: </a:t>
            </a:r>
            <a:pPr algn="l" indent="0" marL="0">
              <a:spcAft>
                <a:spcPts val="900"/>
              </a:spcAft>
              <a:buNone/>
            </a:pPr>
            <a:r>
              <a:rPr lang="en-US" altLang="en-US" sz="1500" dirty="0">
                <a:solidFill>
                  <a:schemeClr val="tx1"/>
                </a:solidFill>
                <a:latin typeface="Arial" pitchFamily="34" charset="0"/>
                <a:ea typeface="Arial" pitchFamily="34" charset="-122"/>
                <a:cs typeface="Arial" pitchFamily="34" charset="-120"/>
              </a:rPr>
              <a:t>Ibn Taymiyyah, al-Mizzi and al-Dhahabi</a:t>
            </a:r>
            <a:endParaRPr lang="en-US" sz="1500" dirty="0"/>
          </a:p>
          <a:p>
            <a:pPr algn="l" indent="0" marL="0">
              <a:spcAft>
                <a:spcPts val="900"/>
              </a:spcAft>
              <a:buNone/>
            </a:pPr>
            <a:r>
              <a:rPr lang="en-US" altLang="en-US" sz="1500" b="1" dirty="0">
                <a:solidFill>
                  <a:schemeClr val="tx2"/>
                </a:solidFill>
                <a:latin typeface="Arial" pitchFamily="34" charset="0"/>
                <a:ea typeface="Arial" pitchFamily="34" charset="-122"/>
                <a:cs typeface="Arial" pitchFamily="34" charset="-120"/>
              </a:rPr>
              <a:t>His book: </a:t>
            </a:r>
            <a:pPr algn="l" indent="0" marL="0">
              <a:spcAft>
                <a:spcPts val="900"/>
              </a:spcAft>
              <a:buNone/>
            </a:pPr>
            <a:r>
              <a:rPr lang="en-US" altLang="en-US" sz="1500" dirty="0">
                <a:solidFill>
                  <a:schemeClr val="tx1"/>
                </a:solidFill>
                <a:latin typeface="Arial" pitchFamily="34" charset="0"/>
                <a:ea typeface="Arial" pitchFamily="34" charset="-122"/>
                <a:cs typeface="Arial" pitchFamily="34" charset="-120"/>
              </a:rPr>
              <a:t>Tafsir al-Qur'an al-'Azim, one of the most famous books of tafsir</a:t>
            </a:r>
            <a:endParaRPr lang="en-US" sz="1500" dirty="0"/>
          </a:p>
          <a:p>
            <a:pPr algn="l" indent="0" marL="0">
              <a:spcAft>
                <a:spcPts val="900"/>
              </a:spcAft>
              <a:buNone/>
            </a:pPr>
            <a:r>
              <a:rPr lang="en-US" altLang="en-US" sz="1500" b="1" dirty="0">
                <a:solidFill>
                  <a:schemeClr val="tx2"/>
                </a:solidFill>
                <a:latin typeface="Arial" pitchFamily="34" charset="0"/>
                <a:ea typeface="Arial" pitchFamily="34" charset="-122"/>
                <a:cs typeface="Arial" pitchFamily="34" charset="-120"/>
              </a:rPr>
              <a:t>His method: </a:t>
            </a:r>
            <a:pPr algn="l" indent="0" marL="0">
              <a:spcAft>
                <a:spcPts val="900"/>
              </a:spcAft>
              <a:buNone/>
            </a:pPr>
            <a:r>
              <a:rPr lang="en-US" altLang="en-US" sz="1500" dirty="0">
                <a:solidFill>
                  <a:schemeClr val="tx1"/>
                </a:solidFill>
                <a:latin typeface="Arial" pitchFamily="34" charset="0"/>
                <a:ea typeface="Arial" pitchFamily="34" charset="-122"/>
                <a:cs typeface="Arial" pitchFamily="34" charset="-120"/>
              </a:rPr>
              <a:t>He explains the Qur'an by the Qur'an, then by the Sunnah, then by the sayings of the Companions and their students</a:t>
            </a:r>
            <a:endParaRPr lang="en-US" sz="1500" dirty="0"/>
          </a:p>
        </p:txBody>
      </p:sp>
      <p:sp>
        <p:nvSpPr>
          <p:cNvPr id="6" name="Text 4"/>
          <p:cNvSpPr txBox="1"/>
          <p:nvPr/>
        </p:nvSpPr>
        <p:spPr>
          <a:xfrm>
            <a:off x="6263640" y="1600200"/>
            <a:ext cx="5303520" cy="502920"/>
          </a:xfrm>
          <a:prstGeom prst="rect">
            <a:avLst/>
          </a:prstGeom>
          <a:noFill/>
          <a:ln/>
        </p:spPr>
        <p:txBody>
          <a:bodyPr wrap="square" lIns="0" tIns="0" rIns="0" bIns="0" rtlCol="0" anchor="t"/>
          <a:lstStyle/>
          <a:p>
            <a:pPr algn="l" indent="0" marL="0">
              <a:buNone/>
            </a:pPr>
            <a:r>
              <a:rPr lang="en-US" altLang="en-US" sz="2200" b="1" dirty="0">
                <a:solidFill>
                  <a:schemeClr val="tx2"/>
                </a:solidFill>
                <a:latin typeface="Georgia" pitchFamily="34" charset="0"/>
                <a:ea typeface="Georgia" pitchFamily="34" charset="-122"/>
                <a:cs typeface="Georgia" pitchFamily="34" charset="-120"/>
              </a:rPr>
              <a:t>How to read the slides</a:t>
            </a:r>
            <a:endParaRPr lang="en-US" sz="2200" dirty="0"/>
          </a:p>
        </p:txBody>
      </p:sp>
      <p:sp>
        <p:nvSpPr>
          <p:cNvPr id="7" name="Shape 5"/>
          <p:cNvSpPr/>
          <p:nvPr/>
        </p:nvSpPr>
        <p:spPr>
          <a:xfrm>
            <a:off x="6263640" y="2331720"/>
            <a:ext cx="566928" cy="566928"/>
          </a:xfrm>
          <a:prstGeom prst="star8">
            <a:avLst/>
          </a:prstGeom>
          <a:solidFill>
            <a:schemeClr val="accent2"/>
          </a:solidFill>
          <a:ln/>
        </p:spPr>
      </p:sp>
      <p:sp>
        <p:nvSpPr>
          <p:cNvPr id="8" name="Shape 6"/>
          <p:cNvSpPr/>
          <p:nvPr/>
        </p:nvSpPr>
        <p:spPr>
          <a:xfrm>
            <a:off x="6377026" y="2445106"/>
            <a:ext cx="340157" cy="340157"/>
          </a:xfrm>
          <a:prstGeom prst="ellipse">
            <a:avLst/>
          </a:prstGeom>
          <a:solidFill>
            <a:schemeClr val="bg2"/>
          </a:solidFill>
          <a:ln w="19050">
            <a:solidFill>
              <a:schemeClr val="tx2"/>
            </a:solidFill>
            <a:prstDash val="solid"/>
          </a:ln>
        </p:spPr>
      </p:sp>
      <p:sp>
        <p:nvSpPr>
          <p:cNvPr id="9" name="Text 7"/>
          <p:cNvSpPr txBox="1"/>
          <p:nvPr/>
        </p:nvSpPr>
        <p:spPr>
          <a:xfrm>
            <a:off x="6263640" y="2331720"/>
            <a:ext cx="566928" cy="566928"/>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1</a:t>
            </a:r>
            <a:endParaRPr lang="en-US" sz="1600" dirty="0"/>
          </a:p>
        </p:txBody>
      </p:sp>
      <p:sp>
        <p:nvSpPr>
          <p:cNvPr id="10" name="Text 8"/>
          <p:cNvSpPr txBox="1"/>
          <p:nvPr/>
        </p:nvSpPr>
        <p:spPr>
          <a:xfrm>
            <a:off x="7040880" y="2359152"/>
            <a:ext cx="4526280" cy="512064"/>
          </a:xfrm>
          <a:prstGeom prst="rect">
            <a:avLst/>
          </a:prstGeom>
          <a:noFill/>
          <a:ln/>
        </p:spPr>
        <p:txBody>
          <a:bodyPr wrap="square" lIns="0" tIns="0" rIns="0" bIns="0" rtlCol="0" anchor="ctr"/>
          <a:lstStyle/>
          <a:p>
            <a:pPr algn="l" indent="0" marL="0">
              <a:buNone/>
            </a:pPr>
            <a:r>
              <a:rPr lang="en-US" altLang="en-US" sz="1600" dirty="0">
                <a:solidFill>
                  <a:schemeClr val="tx1"/>
                </a:solidFill>
                <a:latin typeface="Arial" pitchFamily="34" charset="0"/>
                <a:ea typeface="Arial" pitchFamily="34" charset="-122"/>
                <a:cs typeface="Arial" pitchFamily="34" charset="-120"/>
              </a:rPr>
              <a:t>The verse number is inside the golden star</a:t>
            </a:r>
            <a:endParaRPr lang="en-US" sz="1600" dirty="0"/>
          </a:p>
        </p:txBody>
      </p:sp>
      <p:sp>
        <p:nvSpPr>
          <p:cNvPr id="11" name="Shape 9"/>
          <p:cNvSpPr/>
          <p:nvPr/>
        </p:nvSpPr>
        <p:spPr>
          <a:xfrm>
            <a:off x="6336792" y="3337560"/>
            <a:ext cx="420624" cy="420624"/>
          </a:xfrm>
          <a:prstGeom prst="ellipse">
            <a:avLst/>
          </a:prstGeom>
          <a:solidFill>
            <a:schemeClr val="tx2"/>
          </a:solidFill>
          <a:ln w="19050">
            <a:solidFill>
              <a:schemeClr val="accent2"/>
            </a:solidFill>
            <a:prstDash val="solid"/>
          </a:ln>
        </p:spPr>
      </p:sp>
      <p:sp>
        <p:nvSpPr>
          <p:cNvPr id="12" name="Text 10"/>
          <p:cNvSpPr txBox="1"/>
          <p:nvPr/>
        </p:nvSpPr>
        <p:spPr>
          <a:xfrm>
            <a:off x="7040880" y="3291840"/>
            <a:ext cx="4526280" cy="512064"/>
          </a:xfrm>
          <a:prstGeom prst="rect">
            <a:avLst/>
          </a:prstGeom>
          <a:noFill/>
          <a:ln/>
        </p:spPr>
        <p:txBody>
          <a:bodyPr wrap="square" lIns="0" tIns="0" rIns="0" bIns="0" rtlCol="0" anchor="ctr"/>
          <a:lstStyle/>
          <a:p>
            <a:pPr algn="l" indent="0" marL="0">
              <a:buNone/>
            </a:pPr>
            <a:r>
              <a:rPr lang="en-US" altLang="en-US" sz="1600" dirty="0">
                <a:solidFill>
                  <a:schemeClr val="tx1"/>
                </a:solidFill>
                <a:latin typeface="Arial" pitchFamily="34" charset="0"/>
                <a:ea typeface="Arial" pitchFamily="34" charset="-122"/>
                <a:cs typeface="Arial" pitchFamily="34" charset="-120"/>
              </a:rPr>
              <a:t>The Arabic verse is written in slate blue</a:t>
            </a:r>
            <a:endParaRPr lang="en-US" sz="1600" dirty="0"/>
          </a:p>
        </p:txBody>
      </p:sp>
      <p:sp>
        <p:nvSpPr>
          <p:cNvPr id="13" name="Shape 11"/>
          <p:cNvSpPr/>
          <p:nvPr/>
        </p:nvSpPr>
        <p:spPr>
          <a:xfrm>
            <a:off x="6336792" y="4270248"/>
            <a:ext cx="420624" cy="420624"/>
          </a:xfrm>
          <a:prstGeom prst="ellipse">
            <a:avLst/>
          </a:prstGeom>
          <a:solidFill>
            <a:schemeClr val="tx1"/>
          </a:solidFill>
          <a:ln w="19050">
            <a:solidFill>
              <a:schemeClr val="accent2"/>
            </a:solidFill>
            <a:prstDash val="solid"/>
          </a:ln>
        </p:spPr>
      </p:sp>
      <p:sp>
        <p:nvSpPr>
          <p:cNvPr id="14" name="Text 12"/>
          <p:cNvSpPr txBox="1"/>
          <p:nvPr/>
        </p:nvSpPr>
        <p:spPr>
          <a:xfrm>
            <a:off x="7040880" y="4224528"/>
            <a:ext cx="4526280" cy="512064"/>
          </a:xfrm>
          <a:prstGeom prst="rect">
            <a:avLst/>
          </a:prstGeom>
          <a:noFill/>
          <a:ln/>
        </p:spPr>
        <p:txBody>
          <a:bodyPr wrap="square" lIns="0" tIns="0" rIns="0" bIns="0" rtlCol="0" anchor="ctr"/>
          <a:lstStyle/>
          <a:p>
            <a:pPr algn="l" indent="0" marL="0">
              <a:buNone/>
            </a:pPr>
            <a:r>
              <a:rPr lang="en-US" altLang="en-US" sz="1600" dirty="0">
                <a:solidFill>
                  <a:schemeClr val="tx1"/>
                </a:solidFill>
                <a:latin typeface="Arial" pitchFamily="34" charset="0"/>
                <a:ea typeface="Arial" pitchFamily="34" charset="-122"/>
                <a:cs typeface="Arial" pitchFamily="34" charset="-120"/>
              </a:rPr>
              <a:t>A simple English explanation comes right under it</a:t>
            </a:r>
            <a:endParaRPr lang="en-US" sz="1600" dirty="0"/>
          </a:p>
        </p:txBody>
      </p:sp>
      <p:sp>
        <p:nvSpPr>
          <p:cNvPr id="15" name="Shape 13"/>
          <p:cNvSpPr/>
          <p:nvPr/>
        </p:nvSpPr>
        <p:spPr>
          <a:xfrm>
            <a:off x="6336792" y="5202936"/>
            <a:ext cx="420624" cy="420624"/>
          </a:xfrm>
          <a:prstGeom prst="ellipse">
            <a:avLst/>
          </a:prstGeom>
          <a:solidFill>
            <a:schemeClr val="accent6"/>
          </a:solidFill>
          <a:ln w="19050">
            <a:solidFill>
              <a:schemeClr val="accent2"/>
            </a:solidFill>
            <a:prstDash val="solid"/>
          </a:ln>
        </p:spPr>
      </p:sp>
      <p:sp>
        <p:nvSpPr>
          <p:cNvPr id="16" name="Text 14"/>
          <p:cNvSpPr txBox="1"/>
          <p:nvPr/>
        </p:nvSpPr>
        <p:spPr>
          <a:xfrm>
            <a:off x="7040880" y="5157216"/>
            <a:ext cx="4526280" cy="512064"/>
          </a:xfrm>
          <a:prstGeom prst="rect">
            <a:avLst/>
          </a:prstGeom>
          <a:noFill/>
          <a:ln/>
        </p:spPr>
        <p:txBody>
          <a:bodyPr wrap="square" lIns="0" tIns="0" rIns="0" bIns="0" rtlCol="0" anchor="ctr"/>
          <a:lstStyle/>
          <a:p>
            <a:pPr algn="l" indent="0" marL="0">
              <a:buNone/>
            </a:pPr>
            <a:r>
              <a:rPr lang="en-US" altLang="en-US" sz="1600" dirty="0">
                <a:solidFill>
                  <a:schemeClr val="tx1"/>
                </a:solidFill>
                <a:latin typeface="Arial" pitchFamily="34" charset="0"/>
                <a:ea typeface="Arial" pitchFamily="34" charset="-122"/>
                <a:cs typeface="Arial" pitchFamily="34" charset="-120"/>
              </a:rPr>
              <a:t>Each surah opens with its reason for revelation and theme</a:t>
            </a:r>
            <a:endParaRPr lang="en-US" sz="1600" dirty="0"/>
          </a:p>
        </p:txBody>
      </p:sp>
      <p:sp>
        <p:nvSpPr>
          <p:cNvPr id="25" name="Slide Number Placeholder 0"/>
          <p:cNvSpPr>
            <a:spLocks noGrp="1"/>
          </p:cNvSpPr>
          <p:nvPr>
            <p:ph type="sldNum" sz="quarter" idx="4294967295"/>
          </p:nvPr>
        </p:nvSpPr>
        <p:spPr>
          <a:xfrm>
            <a:off x="1115568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algn="ctr" indent="0" marL="0">
              <a:buNone/>
            </a:pPr>
            <a:r>
              <a:rPr lang="en-US" sz="2400" b="1" dirty="0">
                <a:solidFill>
                  <a:schemeClr val="bg1"/>
                </a:solidFill>
                <a:latin typeface="Georgia" pitchFamily="34" charset="0"/>
                <a:ea typeface="Georgia" pitchFamily="34" charset="-122"/>
                <a:cs typeface="Georgia" pitchFamily="34" charset="-120"/>
              </a:rPr>
              <a:t>Surahs of This Juz</a:t>
            </a:r>
            <a:endParaRPr lang="en-US" sz="2400" dirty="0"/>
          </a:p>
        </p:txBody>
      </p:sp>
      <p:sp>
        <p:nvSpPr>
          <p:cNvPr id="3" name="Text 1"/>
          <p:cNvSpPr txBox="1"/>
          <p:nvPr/>
        </p:nvSpPr>
        <p:spPr>
          <a:xfrm>
            <a:off x="685800" y="1280160"/>
            <a:ext cx="10820095" cy="384048"/>
          </a:xfrm>
          <a:prstGeom prst="rect">
            <a:avLst/>
          </a:prstGeom>
          <a:noFill/>
          <a:ln/>
        </p:spPr>
        <p:txBody>
          <a:bodyPr wrap="square" lIns="0" tIns="0" rIns="0" bIns="0" rtlCol="0" anchor="t"/>
          <a:lstStyle/>
          <a:p>
            <a:pPr algn="ctr" indent="0" marL="0">
              <a:buNone/>
            </a:pPr>
            <a:r>
              <a:rPr lang="en-US" altLang="en-US" sz="1600" dirty="0">
                <a:solidFill>
                  <a:schemeClr val="accent4"/>
                </a:solidFill>
                <a:latin typeface="Arial" pitchFamily="34" charset="0"/>
                <a:ea typeface="Arial" pitchFamily="34" charset="-122"/>
                <a:cs typeface="Arial" pitchFamily="34" charset="-120"/>
              </a:rPr>
              <a:t>Our journey starts with Surah Al-Ahzab and moves back to Surah Al-'Ankabut</a:t>
            </a:r>
            <a:endParaRPr lang="en-US" sz="1600" dirty="0"/>
          </a:p>
        </p:txBody>
      </p:sp>
      <p:sp>
        <p:nvSpPr>
          <p:cNvPr id="4" name="Shape 2"/>
          <p:cNvSpPr/>
          <p:nvPr/>
        </p:nvSpPr>
        <p:spPr>
          <a:xfrm>
            <a:off x="685800" y="1828800"/>
            <a:ext cx="2622728" cy="566928"/>
          </a:xfrm>
          <a:prstGeom prst="roundRect">
            <a:avLst>
              <a:gd name="adj" fmla="val 50000"/>
            </a:avLst>
          </a:prstGeom>
          <a:solidFill>
            <a:schemeClr val="bg1"/>
          </a:solidFill>
          <a:ln w="12700">
            <a:solidFill>
              <a:schemeClr val="accent2"/>
            </a:solidFill>
            <a:prstDash val="solid"/>
          </a:ln>
        </p:spPr>
      </p:sp>
      <p:sp>
        <p:nvSpPr>
          <p:cNvPr id="5" name="Text 3"/>
          <p:cNvSpPr txBox="1"/>
          <p:nvPr/>
        </p:nvSpPr>
        <p:spPr>
          <a:xfrm>
            <a:off x="685800" y="1828800"/>
            <a:ext cx="2622728" cy="566928"/>
          </a:xfrm>
          <a:prstGeom prst="rect">
            <a:avLst/>
          </a:prstGeom>
          <a:noFill/>
          <a:ln/>
        </p:spPr>
        <p:txBody>
          <a:bodyPr wrap="square" lIns="0" tIns="0" rIns="0" bIns="0" rtlCol="0" anchor="ctr"/>
          <a:lstStyle/>
          <a:p>
            <a:pPr algn="ctr" indent="0" marL="0">
              <a:buNone/>
            </a:pPr>
            <a:r>
              <a:rPr lang="en-US" altLang="en-US" sz="1400" b="1" dirty="0">
                <a:solidFill>
                  <a:schemeClr val="accent2"/>
                </a:solidFill>
                <a:latin typeface="Arial" pitchFamily="34" charset="0"/>
                <a:ea typeface="Arial" pitchFamily="34" charset="-122"/>
                <a:cs typeface="Arial" pitchFamily="34" charset="-120"/>
              </a:rPr>
              <a:t>1. </a:t>
            </a:r>
            <a:pPr algn="ctr" indent="0" marL="0">
              <a:buNone/>
            </a:pPr>
            <a:r>
              <a:rPr lang="en-US" altLang="en-US" sz="1400" b="1" dirty="0">
                <a:solidFill>
                  <a:schemeClr val="tx2"/>
                </a:solidFill>
                <a:latin typeface="Arial" pitchFamily="34" charset="0"/>
                <a:ea typeface="Arial" pitchFamily="34" charset="-122"/>
                <a:cs typeface="Arial" pitchFamily="34" charset="-120"/>
              </a:rPr>
              <a:t>Al-Ahzab</a:t>
            </a:r>
            <a:endParaRPr lang="en-US" sz="1400" dirty="0"/>
          </a:p>
        </p:txBody>
      </p:sp>
      <p:sp>
        <p:nvSpPr>
          <p:cNvPr id="6" name="Shape 4"/>
          <p:cNvSpPr/>
          <p:nvPr/>
        </p:nvSpPr>
        <p:spPr>
          <a:xfrm>
            <a:off x="3418256" y="1828800"/>
            <a:ext cx="2622728" cy="566928"/>
          </a:xfrm>
          <a:prstGeom prst="roundRect">
            <a:avLst>
              <a:gd name="adj" fmla="val 50000"/>
            </a:avLst>
          </a:prstGeom>
          <a:solidFill>
            <a:schemeClr val="accent5"/>
          </a:solidFill>
          <a:ln w="12700">
            <a:solidFill>
              <a:schemeClr val="accent2"/>
            </a:solidFill>
            <a:prstDash val="solid"/>
          </a:ln>
        </p:spPr>
      </p:sp>
      <p:sp>
        <p:nvSpPr>
          <p:cNvPr id="7" name="Text 5"/>
          <p:cNvSpPr txBox="1"/>
          <p:nvPr/>
        </p:nvSpPr>
        <p:spPr>
          <a:xfrm>
            <a:off x="3418256" y="1828800"/>
            <a:ext cx="2622728" cy="566928"/>
          </a:xfrm>
          <a:prstGeom prst="rect">
            <a:avLst/>
          </a:prstGeom>
          <a:noFill/>
          <a:ln/>
        </p:spPr>
        <p:txBody>
          <a:bodyPr wrap="square" lIns="0" tIns="0" rIns="0" bIns="0" rtlCol="0" anchor="ctr"/>
          <a:lstStyle/>
          <a:p>
            <a:pPr algn="ctr" indent="0" marL="0">
              <a:buNone/>
            </a:pPr>
            <a:r>
              <a:rPr lang="en-US" altLang="en-US" sz="1400" b="1" dirty="0">
                <a:solidFill>
                  <a:schemeClr val="accent2"/>
                </a:solidFill>
                <a:latin typeface="Arial" pitchFamily="34" charset="0"/>
                <a:ea typeface="Arial" pitchFamily="34" charset="-122"/>
                <a:cs typeface="Arial" pitchFamily="34" charset="-120"/>
              </a:rPr>
              <a:t>2. </a:t>
            </a:r>
            <a:pPr algn="ctr" indent="0" marL="0">
              <a:buNone/>
            </a:pPr>
            <a:r>
              <a:rPr lang="en-US" altLang="en-US" sz="1400" b="1" dirty="0">
                <a:solidFill>
                  <a:schemeClr val="tx2"/>
                </a:solidFill>
                <a:latin typeface="Arial" pitchFamily="34" charset="0"/>
                <a:ea typeface="Arial" pitchFamily="34" charset="-122"/>
                <a:cs typeface="Arial" pitchFamily="34" charset="-120"/>
              </a:rPr>
              <a:t>As-Sajdah</a:t>
            </a:r>
            <a:endParaRPr lang="en-US" sz="1400" dirty="0"/>
          </a:p>
        </p:txBody>
      </p:sp>
      <p:sp>
        <p:nvSpPr>
          <p:cNvPr id="8" name="Shape 6"/>
          <p:cNvSpPr/>
          <p:nvPr/>
        </p:nvSpPr>
        <p:spPr>
          <a:xfrm>
            <a:off x="6150712" y="1828800"/>
            <a:ext cx="2622728" cy="566928"/>
          </a:xfrm>
          <a:prstGeom prst="roundRect">
            <a:avLst>
              <a:gd name="adj" fmla="val 50000"/>
            </a:avLst>
          </a:prstGeom>
          <a:solidFill>
            <a:schemeClr val="bg1"/>
          </a:solidFill>
          <a:ln w="12700">
            <a:solidFill>
              <a:schemeClr val="accent2"/>
            </a:solidFill>
            <a:prstDash val="solid"/>
          </a:ln>
        </p:spPr>
      </p:sp>
      <p:sp>
        <p:nvSpPr>
          <p:cNvPr id="9" name="Text 7"/>
          <p:cNvSpPr txBox="1"/>
          <p:nvPr/>
        </p:nvSpPr>
        <p:spPr>
          <a:xfrm>
            <a:off x="6150712" y="1828800"/>
            <a:ext cx="2622728" cy="566928"/>
          </a:xfrm>
          <a:prstGeom prst="rect">
            <a:avLst/>
          </a:prstGeom>
          <a:noFill/>
          <a:ln/>
        </p:spPr>
        <p:txBody>
          <a:bodyPr wrap="square" lIns="0" tIns="0" rIns="0" bIns="0" rtlCol="0" anchor="ctr"/>
          <a:lstStyle/>
          <a:p>
            <a:pPr algn="ctr" indent="0" marL="0">
              <a:buNone/>
            </a:pPr>
            <a:r>
              <a:rPr lang="en-US" altLang="en-US" sz="1400" b="1" dirty="0">
                <a:solidFill>
                  <a:schemeClr val="accent2"/>
                </a:solidFill>
                <a:latin typeface="Arial" pitchFamily="34" charset="0"/>
                <a:ea typeface="Arial" pitchFamily="34" charset="-122"/>
                <a:cs typeface="Arial" pitchFamily="34" charset="-120"/>
              </a:rPr>
              <a:t>3. </a:t>
            </a:r>
            <a:pPr algn="ctr" indent="0" marL="0">
              <a:buNone/>
            </a:pPr>
            <a:r>
              <a:rPr lang="en-US" altLang="en-US" sz="1400" b="1" dirty="0">
                <a:solidFill>
                  <a:schemeClr val="tx2"/>
                </a:solidFill>
                <a:latin typeface="Arial" pitchFamily="34" charset="0"/>
                <a:ea typeface="Arial" pitchFamily="34" charset="-122"/>
                <a:cs typeface="Arial" pitchFamily="34" charset="-120"/>
              </a:rPr>
              <a:t>Luqman</a:t>
            </a:r>
            <a:endParaRPr lang="en-US" sz="1400" dirty="0"/>
          </a:p>
        </p:txBody>
      </p:sp>
      <p:sp>
        <p:nvSpPr>
          <p:cNvPr id="10" name="Shape 8"/>
          <p:cNvSpPr/>
          <p:nvPr/>
        </p:nvSpPr>
        <p:spPr>
          <a:xfrm>
            <a:off x="8883167" y="1828800"/>
            <a:ext cx="2622728" cy="566928"/>
          </a:xfrm>
          <a:prstGeom prst="roundRect">
            <a:avLst>
              <a:gd name="adj" fmla="val 50000"/>
            </a:avLst>
          </a:prstGeom>
          <a:solidFill>
            <a:schemeClr val="accent5"/>
          </a:solidFill>
          <a:ln w="12700">
            <a:solidFill>
              <a:schemeClr val="accent2"/>
            </a:solidFill>
            <a:prstDash val="solid"/>
          </a:ln>
        </p:spPr>
      </p:sp>
      <p:sp>
        <p:nvSpPr>
          <p:cNvPr id="11" name="Text 9"/>
          <p:cNvSpPr txBox="1"/>
          <p:nvPr/>
        </p:nvSpPr>
        <p:spPr>
          <a:xfrm>
            <a:off x="8883167" y="1828800"/>
            <a:ext cx="2622728" cy="566928"/>
          </a:xfrm>
          <a:prstGeom prst="rect">
            <a:avLst/>
          </a:prstGeom>
          <a:noFill/>
          <a:ln/>
        </p:spPr>
        <p:txBody>
          <a:bodyPr wrap="square" lIns="0" tIns="0" rIns="0" bIns="0" rtlCol="0" anchor="ctr"/>
          <a:lstStyle/>
          <a:p>
            <a:pPr algn="ctr" indent="0" marL="0">
              <a:buNone/>
            </a:pPr>
            <a:r>
              <a:rPr lang="en-US" altLang="en-US" sz="1400" b="1" dirty="0">
                <a:solidFill>
                  <a:schemeClr val="accent2"/>
                </a:solidFill>
                <a:latin typeface="Arial" pitchFamily="34" charset="0"/>
                <a:ea typeface="Arial" pitchFamily="34" charset="-122"/>
                <a:cs typeface="Arial" pitchFamily="34" charset="-120"/>
              </a:rPr>
              <a:t>4. </a:t>
            </a:r>
            <a:pPr algn="ctr" indent="0" marL="0">
              <a:buNone/>
            </a:pPr>
            <a:r>
              <a:rPr lang="en-US" altLang="en-US" sz="1400" b="1" dirty="0">
                <a:solidFill>
                  <a:schemeClr val="tx2"/>
                </a:solidFill>
                <a:latin typeface="Arial" pitchFamily="34" charset="0"/>
                <a:ea typeface="Arial" pitchFamily="34" charset="-122"/>
                <a:cs typeface="Arial" pitchFamily="34" charset="-120"/>
              </a:rPr>
              <a:t>Ar-Rum</a:t>
            </a:r>
            <a:endParaRPr lang="en-US" sz="1400" dirty="0"/>
          </a:p>
        </p:txBody>
      </p:sp>
      <p:sp>
        <p:nvSpPr>
          <p:cNvPr id="12" name="Shape 10"/>
          <p:cNvSpPr/>
          <p:nvPr/>
        </p:nvSpPr>
        <p:spPr>
          <a:xfrm>
            <a:off x="685800" y="2487168"/>
            <a:ext cx="2622728" cy="566928"/>
          </a:xfrm>
          <a:prstGeom prst="roundRect">
            <a:avLst>
              <a:gd name="adj" fmla="val 50000"/>
            </a:avLst>
          </a:prstGeom>
          <a:solidFill>
            <a:schemeClr val="bg1"/>
          </a:solidFill>
          <a:ln w="12700">
            <a:solidFill>
              <a:schemeClr val="accent2"/>
            </a:solidFill>
            <a:prstDash val="solid"/>
          </a:ln>
        </p:spPr>
      </p:sp>
      <p:sp>
        <p:nvSpPr>
          <p:cNvPr id="13" name="Text 11"/>
          <p:cNvSpPr txBox="1"/>
          <p:nvPr/>
        </p:nvSpPr>
        <p:spPr>
          <a:xfrm>
            <a:off x="685800" y="2487168"/>
            <a:ext cx="2622728" cy="566928"/>
          </a:xfrm>
          <a:prstGeom prst="rect">
            <a:avLst/>
          </a:prstGeom>
          <a:noFill/>
          <a:ln/>
        </p:spPr>
        <p:txBody>
          <a:bodyPr wrap="square" lIns="0" tIns="0" rIns="0" bIns="0" rtlCol="0" anchor="ctr"/>
          <a:lstStyle/>
          <a:p>
            <a:pPr algn="ctr" indent="0" marL="0">
              <a:buNone/>
            </a:pPr>
            <a:r>
              <a:rPr lang="en-US" altLang="en-US" sz="1400" b="1" dirty="0">
                <a:solidFill>
                  <a:schemeClr val="accent2"/>
                </a:solidFill>
                <a:latin typeface="Arial" pitchFamily="34" charset="0"/>
                <a:ea typeface="Arial" pitchFamily="34" charset="-122"/>
                <a:cs typeface="Arial" pitchFamily="34" charset="-120"/>
              </a:rPr>
              <a:t>5. </a:t>
            </a:r>
            <a:pPr algn="ctr" indent="0" marL="0">
              <a:buNone/>
            </a:pPr>
            <a:r>
              <a:rPr lang="en-US" altLang="en-US" sz="1400" b="1" dirty="0">
                <a:solidFill>
                  <a:schemeClr val="tx2"/>
                </a:solidFill>
                <a:latin typeface="Arial" pitchFamily="34" charset="0"/>
                <a:ea typeface="Arial" pitchFamily="34" charset="-122"/>
                <a:cs typeface="Arial" pitchFamily="34" charset="-120"/>
              </a:rPr>
              <a:t>Al-'Ankabut</a:t>
            </a:r>
            <a:endParaRPr lang="en-US" sz="1400" dirty="0"/>
          </a:p>
        </p:txBody>
      </p:sp>
      <p:sp>
        <p:nvSpPr>
          <p:cNvPr id="25" name="Slide Number Placeholder 0"/>
          <p:cNvSpPr>
            <a:spLocks noGrp="1"/>
          </p:cNvSpPr>
          <p:nvPr>
            <p:ph type="sldNum" sz="quarter" idx="4294967295"/>
          </p:nvPr>
        </p:nvSpPr>
        <p:spPr>
          <a:xfrm>
            <a:off x="1115568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txBox="1"/>
          <p:nvPr/>
        </p:nvSpPr>
        <p:spPr>
          <a:xfrm>
            <a:off x="3581248" y="603504"/>
            <a:ext cx="5029200" cy="987552"/>
          </a:xfrm>
          <a:prstGeom prst="rect">
            <a:avLst/>
          </a:prstGeom>
          <a:noFill/>
          <a:ln/>
        </p:spPr>
        <p:txBody>
          <a:bodyPr wrap="square" lIns="0" tIns="0" rIns="0" bIns="0" rtlCol="0" anchor="ctr"/>
          <a:lstStyle/>
          <a:p>
            <a:pPr algn="ctr" indent="0" marL="0">
              <a:buNone/>
            </a:pPr>
            <a:r>
              <a:rPr lang="en-US" altLang="en-US" sz="3600" b="1" dirty="0">
                <a:solidFill>
                  <a:schemeClr val="accent2"/>
                </a:solidFill>
                <a:latin typeface="Georgia" pitchFamily="34" charset="0"/>
                <a:ea typeface="Georgia" pitchFamily="34" charset="-122"/>
                <a:cs typeface="Georgia" pitchFamily="34" charset="-120"/>
              </a:rPr>
              <a:t>Surah Al-Ahzab</a:t>
            </a:r>
            <a:endParaRPr lang="en-US" sz="3600" dirty="0"/>
          </a:p>
        </p:txBody>
      </p:sp>
      <p:sp>
        <p:nvSpPr>
          <p:cNvPr id="3" name="Shape 1"/>
          <p:cNvSpPr/>
          <p:nvPr/>
        </p:nvSpPr>
        <p:spPr>
          <a:xfrm>
            <a:off x="975208" y="1828800"/>
            <a:ext cx="3291840" cy="457200"/>
          </a:xfrm>
          <a:prstGeom prst="roundRect">
            <a:avLst>
              <a:gd name="adj" fmla="val 50000"/>
            </a:avLst>
          </a:prstGeom>
          <a:solidFill>
            <a:schemeClr val="tx2"/>
          </a:solidFill>
          <a:ln w="15875">
            <a:solidFill>
              <a:schemeClr val="accent2"/>
            </a:solidFill>
            <a:prstDash val="solid"/>
          </a:ln>
        </p:spPr>
      </p:sp>
      <p:sp>
        <p:nvSpPr>
          <p:cNvPr id="4" name="Text 2"/>
          <p:cNvSpPr txBox="1"/>
          <p:nvPr/>
        </p:nvSpPr>
        <p:spPr>
          <a:xfrm>
            <a:off x="1066648" y="1828800"/>
            <a:ext cx="3108960" cy="457200"/>
          </a:xfrm>
          <a:prstGeom prst="rect">
            <a:avLst/>
          </a:prstGeom>
          <a:noFill/>
          <a:ln/>
        </p:spPr>
        <p:txBody>
          <a:bodyPr wrap="square" lIns="0" tIns="0" rIns="0" bIns="0" rtlCol="0" anchor="ctr">
            <a:normAutofit/>
          </a:bodyPr>
          <a:lstStyle/>
          <a:p>
            <a:pPr algn="ctr" indent="0" marL="0">
              <a:buNone/>
            </a:pPr>
            <a:r>
              <a:rPr lang="en-US" altLang="en-US" sz="1400" b="1" dirty="0">
                <a:solidFill>
                  <a:schemeClr val="bg1"/>
                </a:solidFill>
                <a:latin typeface="Arial" pitchFamily="34" charset="0"/>
                <a:ea typeface="Arial" pitchFamily="34" charset="-122"/>
                <a:cs typeface="Arial" pitchFamily="34" charset="-120"/>
              </a:rPr>
              <a:t>In this juz: verses 1 – 30</a:t>
            </a:r>
            <a:endParaRPr lang="en-US" sz="1400" dirty="0"/>
          </a:p>
        </p:txBody>
      </p:sp>
      <p:sp>
        <p:nvSpPr>
          <p:cNvPr id="5" name="Shape 3"/>
          <p:cNvSpPr/>
          <p:nvPr/>
        </p:nvSpPr>
        <p:spPr>
          <a:xfrm>
            <a:off x="4449928" y="1828800"/>
            <a:ext cx="3291840" cy="457200"/>
          </a:xfrm>
          <a:prstGeom prst="roundRect">
            <a:avLst>
              <a:gd name="adj" fmla="val 50000"/>
            </a:avLst>
          </a:prstGeom>
          <a:solidFill>
            <a:schemeClr val="tx2"/>
          </a:solidFill>
          <a:ln w="15875">
            <a:solidFill>
              <a:schemeClr val="accent2"/>
            </a:solidFill>
            <a:prstDash val="solid"/>
          </a:ln>
        </p:spPr>
      </p:sp>
      <p:sp>
        <p:nvSpPr>
          <p:cNvPr id="6" name="Text 4"/>
          <p:cNvSpPr txBox="1"/>
          <p:nvPr/>
        </p:nvSpPr>
        <p:spPr>
          <a:xfrm>
            <a:off x="4541368" y="1828800"/>
            <a:ext cx="3108960" cy="457200"/>
          </a:xfrm>
          <a:prstGeom prst="rect">
            <a:avLst/>
          </a:prstGeom>
          <a:noFill/>
          <a:ln/>
        </p:spPr>
        <p:txBody>
          <a:bodyPr wrap="square" lIns="0" tIns="0" rIns="0" bIns="0" rtlCol="0" anchor="ctr">
            <a:normAutofit/>
          </a:bodyPr>
          <a:lstStyle/>
          <a:p>
            <a:pPr algn="ctr" indent="0" marL="0">
              <a:buNone/>
            </a:pPr>
            <a:r>
              <a:rPr lang="en-US" altLang="en-US" sz="1400" b="1" dirty="0">
                <a:solidFill>
                  <a:schemeClr val="bg1"/>
                </a:solidFill>
                <a:latin typeface="Arial" pitchFamily="34" charset="0"/>
                <a:ea typeface="Arial" pitchFamily="34" charset="-122"/>
                <a:cs typeface="Arial" pitchFamily="34" charset="-120"/>
              </a:rPr>
              <a:t>Madani</a:t>
            </a:r>
            <a:endParaRPr lang="en-US" sz="1400" dirty="0"/>
          </a:p>
        </p:txBody>
      </p:sp>
      <p:sp>
        <p:nvSpPr>
          <p:cNvPr id="7" name="Shape 5"/>
          <p:cNvSpPr/>
          <p:nvPr/>
        </p:nvSpPr>
        <p:spPr>
          <a:xfrm>
            <a:off x="7924648" y="1828800"/>
            <a:ext cx="3291840" cy="457200"/>
          </a:xfrm>
          <a:prstGeom prst="roundRect">
            <a:avLst>
              <a:gd name="adj" fmla="val 50000"/>
            </a:avLst>
          </a:prstGeom>
          <a:solidFill>
            <a:schemeClr val="tx2"/>
          </a:solidFill>
          <a:ln w="15875">
            <a:solidFill>
              <a:schemeClr val="accent2"/>
            </a:solidFill>
            <a:prstDash val="solid"/>
          </a:ln>
        </p:spPr>
      </p:sp>
      <p:sp>
        <p:nvSpPr>
          <p:cNvPr id="8" name="Text 6"/>
          <p:cNvSpPr txBox="1"/>
          <p:nvPr/>
        </p:nvSpPr>
        <p:spPr>
          <a:xfrm>
            <a:off x="8016088" y="1828800"/>
            <a:ext cx="3108960" cy="457200"/>
          </a:xfrm>
          <a:prstGeom prst="rect">
            <a:avLst/>
          </a:prstGeom>
          <a:noFill/>
          <a:ln/>
        </p:spPr>
        <p:txBody>
          <a:bodyPr wrap="square" lIns="0" tIns="0" rIns="0" bIns="0" rtlCol="0" anchor="ctr">
            <a:normAutofit/>
          </a:bodyPr>
          <a:lstStyle/>
          <a:p>
            <a:pPr algn="ctr" indent="0" marL="0">
              <a:buNone/>
            </a:pPr>
            <a:r>
              <a:rPr lang="en-US" altLang="en-US" sz="1400" b="1" dirty="0">
                <a:solidFill>
                  <a:schemeClr val="bg1"/>
                </a:solidFill>
                <a:latin typeface="Arial" pitchFamily="34" charset="0"/>
                <a:ea typeface="Arial" pitchFamily="34" charset="-122"/>
                <a:cs typeface="Arial" pitchFamily="34" charset="-120"/>
              </a:rPr>
              <a:t>Surah no. 33 in the Mushaf</a:t>
            </a:r>
            <a:endParaRPr lang="en-US" sz="1400" dirty="0"/>
          </a:p>
        </p:txBody>
      </p:sp>
      <p:sp>
        <p:nvSpPr>
          <p:cNvPr id="9" name="Shape 7"/>
          <p:cNvSpPr/>
          <p:nvPr/>
        </p:nvSpPr>
        <p:spPr>
          <a:xfrm>
            <a:off x="655168" y="2880360"/>
            <a:ext cx="5257800" cy="3246120"/>
          </a:xfrm>
          <a:prstGeom prst="roundRect">
            <a:avLst>
              <a:gd name="adj" fmla="val 4225"/>
            </a:avLst>
          </a:prstGeom>
          <a:solidFill>
            <a:schemeClr val="bg2"/>
          </a:solidFill>
          <a:ln w="25400">
            <a:solidFill>
              <a:schemeClr val="accent2"/>
            </a:solidFill>
            <a:prstDash val="solid"/>
          </a:ln>
        </p:spPr>
      </p:sp>
      <p:sp>
        <p:nvSpPr>
          <p:cNvPr id="10" name="Shape 8"/>
          <p:cNvSpPr/>
          <p:nvPr/>
        </p:nvSpPr>
        <p:spPr>
          <a:xfrm>
            <a:off x="1821028" y="2651760"/>
            <a:ext cx="2926080" cy="457200"/>
          </a:xfrm>
          <a:prstGeom prst="roundRect">
            <a:avLst>
              <a:gd name="adj" fmla="val 50000"/>
            </a:avLst>
          </a:prstGeom>
          <a:solidFill>
            <a:schemeClr val="accent6"/>
          </a:solidFill>
          <a:ln w="15875">
            <a:solidFill>
              <a:schemeClr val="accent2"/>
            </a:solidFill>
            <a:prstDash val="solid"/>
          </a:ln>
        </p:spPr>
      </p:sp>
      <p:sp>
        <p:nvSpPr>
          <p:cNvPr id="11" name="Text 9"/>
          <p:cNvSpPr txBox="1"/>
          <p:nvPr/>
        </p:nvSpPr>
        <p:spPr>
          <a:xfrm>
            <a:off x="1821028" y="2651760"/>
            <a:ext cx="2926080" cy="457200"/>
          </a:xfrm>
          <a:prstGeom prst="rect">
            <a:avLst/>
          </a:prstGeom>
          <a:noFill/>
          <a:ln/>
        </p:spPr>
        <p:txBody>
          <a:bodyPr wrap="square" lIns="0" tIns="0" rIns="0" bIns="0" rtlCol="0" anchor="ctr"/>
          <a:lstStyle/>
          <a:p>
            <a:pPr algn="ctr" indent="0" marL="0">
              <a:buNone/>
            </a:pPr>
            <a:r>
              <a:rPr lang="en-US" altLang="en-US" sz="1600" b="1" dirty="0">
                <a:solidFill>
                  <a:schemeClr val="bg1"/>
                </a:solidFill>
                <a:latin typeface="Arial" pitchFamily="34" charset="0"/>
                <a:ea typeface="Arial" pitchFamily="34" charset="-122"/>
                <a:cs typeface="Arial" pitchFamily="34" charset="-120"/>
              </a:rPr>
              <a:t>Reason for Revelation</a:t>
            </a:r>
            <a:endParaRPr lang="en-US" sz="1600" dirty="0"/>
          </a:p>
        </p:txBody>
      </p:sp>
      <p:sp>
        <p:nvSpPr>
          <p:cNvPr id="12" name="Text 10"/>
          <p:cNvSpPr txBox="1"/>
          <p:nvPr/>
        </p:nvSpPr>
        <p:spPr>
          <a:xfrm>
            <a:off x="975208" y="3246120"/>
            <a:ext cx="4617720" cy="2697480"/>
          </a:xfrm>
          <a:prstGeom prst="rect">
            <a:avLst/>
          </a:prstGeom>
          <a:noFill/>
          <a:ln/>
        </p:spPr>
        <p:txBody>
          <a:bodyPr wrap="square" lIns="0" tIns="0" rIns="0" bIns="0" rtlCol="0" anchor="ctr"/>
          <a:lstStyle/>
          <a:p>
            <a:pPr algn="l" indent="0" marL="0">
              <a:lnSpc>
                <a:spcPct val="110000"/>
              </a:lnSpc>
              <a:buNone/>
            </a:pPr>
            <a:r>
              <a:rPr lang="en-US" altLang="en-US" sz="1700" dirty="0">
                <a:solidFill>
                  <a:schemeClr val="tx1"/>
                </a:solidFill>
                <a:latin typeface="Arial" pitchFamily="34" charset="0"/>
                <a:ea typeface="Arial" pitchFamily="34" charset="-122"/>
                <a:cs typeface="Arial" pitchFamily="34" charset="-120"/>
              </a:rPr>
              <a:t>'Abdullah ibn 'Umar (may Allah be pleased with them) said: We used to call Zayd ibn Harithah only "Zayd son of Muhammad" until the Qur'an came down: “Call them by their fathers' names; that is more just with Allah” (Bukhari and Muslim).</a:t>
            </a:r>
            <a:endParaRPr lang="en-US" sz="1700" dirty="0"/>
          </a:p>
        </p:txBody>
      </p:sp>
      <p:sp>
        <p:nvSpPr>
          <p:cNvPr id="13" name="Shape 11"/>
          <p:cNvSpPr/>
          <p:nvPr/>
        </p:nvSpPr>
        <p:spPr>
          <a:xfrm>
            <a:off x="6278728" y="2880360"/>
            <a:ext cx="5257800" cy="3246120"/>
          </a:xfrm>
          <a:prstGeom prst="roundRect">
            <a:avLst>
              <a:gd name="adj" fmla="val 4225"/>
            </a:avLst>
          </a:prstGeom>
          <a:solidFill>
            <a:schemeClr val="bg2"/>
          </a:solidFill>
          <a:ln w="25400">
            <a:solidFill>
              <a:schemeClr val="accent2"/>
            </a:solidFill>
            <a:prstDash val="solid"/>
          </a:ln>
        </p:spPr>
      </p:sp>
      <p:sp>
        <p:nvSpPr>
          <p:cNvPr id="14" name="Shape 12"/>
          <p:cNvSpPr/>
          <p:nvPr/>
        </p:nvSpPr>
        <p:spPr>
          <a:xfrm>
            <a:off x="7444588" y="2651760"/>
            <a:ext cx="2926080" cy="457200"/>
          </a:xfrm>
          <a:prstGeom prst="roundRect">
            <a:avLst>
              <a:gd name="adj" fmla="val 50000"/>
            </a:avLst>
          </a:prstGeom>
          <a:solidFill>
            <a:schemeClr val="tx2"/>
          </a:solidFill>
          <a:ln w="15875">
            <a:solidFill>
              <a:schemeClr val="accent2"/>
            </a:solidFill>
            <a:prstDash val="solid"/>
          </a:ln>
        </p:spPr>
      </p:sp>
      <p:sp>
        <p:nvSpPr>
          <p:cNvPr id="15" name="Text 13"/>
          <p:cNvSpPr txBox="1"/>
          <p:nvPr/>
        </p:nvSpPr>
        <p:spPr>
          <a:xfrm>
            <a:off x="7444588" y="2651760"/>
            <a:ext cx="2926080" cy="457200"/>
          </a:xfrm>
          <a:prstGeom prst="rect">
            <a:avLst/>
          </a:prstGeom>
          <a:noFill/>
          <a:ln/>
        </p:spPr>
        <p:txBody>
          <a:bodyPr wrap="square" lIns="0" tIns="0" rIns="0" bIns="0" rtlCol="0" anchor="ctr"/>
          <a:lstStyle/>
          <a:p>
            <a:pPr algn="ctr" indent="0" marL="0">
              <a:buNone/>
            </a:pPr>
            <a:r>
              <a:rPr lang="en-US" altLang="en-US" sz="1600" b="1" dirty="0">
                <a:solidFill>
                  <a:schemeClr val="bg1"/>
                </a:solidFill>
                <a:latin typeface="Arial" pitchFamily="34" charset="0"/>
                <a:ea typeface="Arial" pitchFamily="34" charset="-122"/>
                <a:cs typeface="Arial" pitchFamily="34" charset="-120"/>
              </a:rPr>
              <a:t>Theme of the Surah</a:t>
            </a:r>
            <a:endParaRPr lang="en-US" sz="1600" dirty="0"/>
          </a:p>
        </p:txBody>
      </p:sp>
      <p:sp>
        <p:nvSpPr>
          <p:cNvPr id="16" name="Text 14"/>
          <p:cNvSpPr txBox="1"/>
          <p:nvPr/>
        </p:nvSpPr>
        <p:spPr>
          <a:xfrm>
            <a:off x="6598768" y="3246120"/>
            <a:ext cx="4617720" cy="2697480"/>
          </a:xfrm>
          <a:prstGeom prst="rect">
            <a:avLst/>
          </a:prstGeom>
          <a:noFill/>
          <a:ln/>
        </p:spPr>
        <p:txBody>
          <a:bodyPr wrap="square" lIns="0" tIns="0" rIns="0" bIns="0" rtlCol="0" anchor="ctr"/>
          <a:lstStyle/>
          <a:p>
            <a:pPr algn="l" indent="0" marL="0">
              <a:lnSpc>
                <a:spcPct val="110000"/>
              </a:lnSpc>
              <a:buNone/>
            </a:pPr>
            <a:r>
              <a:rPr lang="en-US" altLang="en-US" sz="1400" dirty="0">
                <a:solidFill>
                  <a:schemeClr val="tx1"/>
                </a:solidFill>
                <a:latin typeface="Arial" pitchFamily="34" charset="0"/>
                <a:ea typeface="Arial" pitchFamily="34" charset="-122"/>
                <a:cs typeface="Arial" pitchFamily="34" charset="-120"/>
              </a:rPr>
              <a:t>This juz ends at verse 30: ending adoption as true sonship so children are named after their real fathers, the high status of the Prophet (peace be upon him) and his wives, the story of the Battle of the Allies (Al-Khandaq), the Prophet (peace be upon him) as the best example, and the choice given to the Mothers of the Believers.</a:t>
            </a:r>
            <a:endParaRPr lang="en-US" sz="14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algn="ctr" indent="0" marL="0">
              <a:buNone/>
            </a:pPr>
            <a:r>
              <a:rPr lang="en-US" sz="2400" b="1" dirty="0">
                <a:solidFill>
                  <a:schemeClr val="bg1"/>
                </a:solidFill>
                <a:latin typeface="Georgia" pitchFamily="34" charset="0"/>
                <a:ea typeface="Georgia" pitchFamily="34" charset="-122"/>
                <a:cs typeface="Georgia" pitchFamily="34" charset="-120"/>
              </a:rPr>
              <a:t>Surah Al-Ahzab</a:t>
            </a:r>
            <a:endParaRPr lang="en-US" sz="2400" dirty="0"/>
          </a:p>
        </p:txBody>
      </p:sp>
      <p:sp>
        <p:nvSpPr>
          <p:cNvPr id="3" name="Text 1"/>
          <p:cNvSpPr txBox="1"/>
          <p:nvPr/>
        </p:nvSpPr>
        <p:spPr>
          <a:xfrm>
            <a:off x="777240" y="548640"/>
            <a:ext cx="2651760" cy="384048"/>
          </a:xfrm>
          <a:prstGeom prst="rect">
            <a:avLst/>
          </a:prstGeom>
          <a:noFill/>
          <a:ln/>
        </p:spPr>
        <p:txBody>
          <a:bodyPr wrap="square" lIns="0" tIns="0" rIns="0" bIns="0" rtlCol="0" anchor="ctr"/>
          <a:lstStyle/>
          <a:p>
            <a:pPr algn="l" indent="0" marL="0">
              <a:buNone/>
            </a:pPr>
            <a:r>
              <a:rPr lang="en-US" altLang="en-US" sz="1500" b="1" dirty="0">
                <a:solidFill>
                  <a:schemeClr val="accent2"/>
                </a:solidFill>
                <a:latin typeface="Arial" pitchFamily="34" charset="0"/>
                <a:ea typeface="Arial" pitchFamily="34" charset="-122"/>
                <a:cs typeface="Arial" pitchFamily="34" charset="-120"/>
              </a:rPr>
              <a:t>Verses 1 – 3</a:t>
            </a:r>
            <a:endParaRPr lang="en-US" sz="1500" dirty="0"/>
          </a:p>
        </p:txBody>
      </p:sp>
      <p:sp>
        <p:nvSpPr>
          <p:cNvPr id="4" name="Text 2"/>
          <p:cNvSpPr txBox="1"/>
          <p:nvPr/>
        </p:nvSpPr>
        <p:spPr>
          <a:xfrm>
            <a:off x="8732520" y="548640"/>
            <a:ext cx="2651760" cy="384048"/>
          </a:xfrm>
          <a:prstGeom prst="rect">
            <a:avLst/>
          </a:prstGeom>
          <a:noFill/>
          <a:ln/>
        </p:spPr>
        <p:txBody>
          <a:bodyPr wrap="square" lIns="0" tIns="0" rIns="0" bIns="0" rtlCol="0" anchor="ctr"/>
          <a:lstStyle/>
          <a:p>
            <a:pPr algn="r" indent="0" marL="0">
              <a:buNone/>
            </a:pPr>
            <a:r>
              <a:rPr lang="en-US" altLang="en-US" sz="1300" i="1" dirty="0">
                <a:solidFill>
                  <a:schemeClr val="accent4"/>
                </a:solidFill>
                <a:latin typeface="Arial" pitchFamily="34" charset="0"/>
                <a:ea typeface="Arial" pitchFamily="34" charset="-122"/>
                <a:cs typeface="Arial" pitchFamily="34" charset="-120"/>
              </a:rPr>
              <a:t>Ibn Kathir, simplified</a:t>
            </a:r>
            <a:endParaRPr lang="en-US" sz="1300" dirty="0"/>
          </a:p>
        </p:txBody>
      </p:sp>
      <p:sp>
        <p:nvSpPr>
          <p:cNvPr id="5" name="Shape 3"/>
          <p:cNvSpPr/>
          <p:nvPr/>
        </p:nvSpPr>
        <p:spPr>
          <a:xfrm>
            <a:off x="713232" y="1705356"/>
            <a:ext cx="548640" cy="548640"/>
          </a:xfrm>
          <a:prstGeom prst="star8">
            <a:avLst/>
          </a:prstGeom>
          <a:solidFill>
            <a:schemeClr val="accent2"/>
          </a:solidFill>
          <a:ln/>
        </p:spPr>
      </p:sp>
      <p:sp>
        <p:nvSpPr>
          <p:cNvPr id="6" name="Shape 4"/>
          <p:cNvSpPr/>
          <p:nvPr/>
        </p:nvSpPr>
        <p:spPr>
          <a:xfrm>
            <a:off x="822960" y="1815084"/>
            <a:ext cx="329184" cy="329184"/>
          </a:xfrm>
          <a:prstGeom prst="ellipse">
            <a:avLst/>
          </a:prstGeom>
          <a:solidFill>
            <a:schemeClr val="bg2"/>
          </a:solidFill>
          <a:ln w="19050">
            <a:solidFill>
              <a:schemeClr val="tx2"/>
            </a:solidFill>
            <a:prstDash val="solid"/>
          </a:ln>
        </p:spPr>
      </p:sp>
      <p:sp>
        <p:nvSpPr>
          <p:cNvPr id="7" name="Text 5"/>
          <p:cNvSpPr txBox="1"/>
          <p:nvPr/>
        </p:nvSpPr>
        <p:spPr>
          <a:xfrm>
            <a:off x="713232" y="1705356"/>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1</a:t>
            </a:r>
            <a:endParaRPr lang="en-US" sz="1600" dirty="0"/>
          </a:p>
        </p:txBody>
      </p:sp>
      <p:sp>
        <p:nvSpPr>
          <p:cNvPr id="8" name="Text 6"/>
          <p:cNvSpPr txBox="1"/>
          <p:nvPr/>
        </p:nvSpPr>
        <p:spPr>
          <a:xfrm>
            <a:off x="1444752" y="1687068"/>
            <a:ext cx="10012680" cy="1252728"/>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يَـٰأَيُّهَا النَّبِيُّ اتَّقِ اللَّهَ وَلَا تُطِعِ الْكَٰفِرِينَ وَالْمُنَٰفِقِينَ إِنَّ اللَّهَ كَانَ عَلِيمًا حَكِيمًا</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O Prophet, stay firm on taqwa of Allah, and do not obey the disbelievers and the hypocrites. Allah is All-Knowing, All-Wise.</a:t>
            </a:r>
            <a:endParaRPr lang="en-US" sz="3000" dirty="0"/>
          </a:p>
        </p:txBody>
      </p:sp>
      <p:sp>
        <p:nvSpPr>
          <p:cNvPr id="9" name="Shape 7"/>
          <p:cNvSpPr/>
          <p:nvPr/>
        </p:nvSpPr>
        <p:spPr>
          <a:xfrm>
            <a:off x="1444752" y="3127248"/>
            <a:ext cx="8641080" cy="0"/>
          </a:xfrm>
          <a:prstGeom prst="line">
            <a:avLst/>
          </a:prstGeom>
          <a:noFill/>
          <a:ln w="9525">
            <a:solidFill>
              <a:schemeClr val="accent2"/>
            </a:solidFill>
            <a:prstDash val="dash"/>
          </a:ln>
        </p:spPr>
      </p:sp>
      <p:sp>
        <p:nvSpPr>
          <p:cNvPr id="10" name="Shape 8"/>
          <p:cNvSpPr/>
          <p:nvPr/>
        </p:nvSpPr>
        <p:spPr>
          <a:xfrm>
            <a:off x="713232" y="3360420"/>
            <a:ext cx="548640" cy="548640"/>
          </a:xfrm>
          <a:prstGeom prst="star8">
            <a:avLst/>
          </a:prstGeom>
          <a:solidFill>
            <a:schemeClr val="accent2"/>
          </a:solidFill>
          <a:ln/>
        </p:spPr>
      </p:sp>
      <p:sp>
        <p:nvSpPr>
          <p:cNvPr id="11" name="Shape 9"/>
          <p:cNvSpPr/>
          <p:nvPr/>
        </p:nvSpPr>
        <p:spPr>
          <a:xfrm>
            <a:off x="822960" y="3470148"/>
            <a:ext cx="329184" cy="329184"/>
          </a:xfrm>
          <a:prstGeom prst="ellipse">
            <a:avLst/>
          </a:prstGeom>
          <a:solidFill>
            <a:schemeClr val="bg2"/>
          </a:solidFill>
          <a:ln w="19050">
            <a:solidFill>
              <a:schemeClr val="tx2"/>
            </a:solidFill>
            <a:prstDash val="solid"/>
          </a:ln>
        </p:spPr>
      </p:sp>
      <p:sp>
        <p:nvSpPr>
          <p:cNvPr id="12" name="Text 10"/>
          <p:cNvSpPr txBox="1"/>
          <p:nvPr/>
        </p:nvSpPr>
        <p:spPr>
          <a:xfrm>
            <a:off x="713232" y="3360420"/>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2</a:t>
            </a:r>
            <a:endParaRPr lang="en-US" sz="1600" dirty="0"/>
          </a:p>
        </p:txBody>
      </p:sp>
      <p:sp>
        <p:nvSpPr>
          <p:cNvPr id="13" name="Text 11"/>
          <p:cNvSpPr txBox="1"/>
          <p:nvPr/>
        </p:nvSpPr>
        <p:spPr>
          <a:xfrm>
            <a:off x="1444752" y="3342132"/>
            <a:ext cx="10012680" cy="992124"/>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وَاتَّبِعْ مَا يُوحَىٰ إِلَيْكَ مِن رَّبِّكَ إِنَّ اللَّهَ كَانَ بِمَا تَعْمَلُونَ خَبِيرًا</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Follow what is revealed to you from your Lord. Allah is aware of what you do.</a:t>
            </a:r>
            <a:endParaRPr lang="en-US" sz="3000" dirty="0"/>
          </a:p>
        </p:txBody>
      </p:sp>
      <p:sp>
        <p:nvSpPr>
          <p:cNvPr id="14" name="Shape 12"/>
          <p:cNvSpPr/>
          <p:nvPr/>
        </p:nvSpPr>
        <p:spPr>
          <a:xfrm>
            <a:off x="1444752" y="4521708"/>
            <a:ext cx="8641080" cy="0"/>
          </a:xfrm>
          <a:prstGeom prst="line">
            <a:avLst/>
          </a:prstGeom>
          <a:noFill/>
          <a:ln w="9525">
            <a:solidFill>
              <a:schemeClr val="accent2"/>
            </a:solidFill>
            <a:prstDash val="dash"/>
          </a:ln>
        </p:spPr>
      </p:sp>
      <p:sp>
        <p:nvSpPr>
          <p:cNvPr id="15" name="Shape 13"/>
          <p:cNvSpPr/>
          <p:nvPr/>
        </p:nvSpPr>
        <p:spPr>
          <a:xfrm>
            <a:off x="713232" y="4754880"/>
            <a:ext cx="548640" cy="548640"/>
          </a:xfrm>
          <a:prstGeom prst="star8">
            <a:avLst/>
          </a:prstGeom>
          <a:solidFill>
            <a:schemeClr val="accent2"/>
          </a:solidFill>
          <a:ln/>
        </p:spPr>
      </p:sp>
      <p:sp>
        <p:nvSpPr>
          <p:cNvPr id="16" name="Shape 14"/>
          <p:cNvSpPr/>
          <p:nvPr/>
        </p:nvSpPr>
        <p:spPr>
          <a:xfrm>
            <a:off x="822960" y="4864608"/>
            <a:ext cx="329184" cy="329184"/>
          </a:xfrm>
          <a:prstGeom prst="ellipse">
            <a:avLst/>
          </a:prstGeom>
          <a:solidFill>
            <a:schemeClr val="bg2"/>
          </a:solidFill>
          <a:ln w="19050">
            <a:solidFill>
              <a:schemeClr val="tx2"/>
            </a:solidFill>
            <a:prstDash val="solid"/>
          </a:ln>
        </p:spPr>
      </p:sp>
      <p:sp>
        <p:nvSpPr>
          <p:cNvPr id="17" name="Text 15"/>
          <p:cNvSpPr txBox="1"/>
          <p:nvPr/>
        </p:nvSpPr>
        <p:spPr>
          <a:xfrm>
            <a:off x="713232" y="4754880"/>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3</a:t>
            </a:r>
            <a:endParaRPr lang="en-US" sz="1600" dirty="0"/>
          </a:p>
        </p:txBody>
      </p:sp>
      <p:sp>
        <p:nvSpPr>
          <p:cNvPr id="18" name="Text 16"/>
          <p:cNvSpPr txBox="1"/>
          <p:nvPr/>
        </p:nvSpPr>
        <p:spPr>
          <a:xfrm>
            <a:off x="1444752" y="4736592"/>
            <a:ext cx="10012680" cy="992124"/>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وَتَوَكَّلْ عَلَى اللَّهِ وَكَفَىٰ بِاللَّهِ وَكِيلًا</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Put your trust in Allah in all your affairs; Allah is enough as a Guardian.</a:t>
            </a:r>
            <a:endParaRPr lang="en-US" sz="3000" dirty="0"/>
          </a:p>
        </p:txBody>
      </p:sp>
      <p:sp>
        <p:nvSpPr>
          <p:cNvPr id="25" name="Slide Number Placeholder 0"/>
          <p:cNvSpPr>
            <a:spLocks noGrp="1"/>
          </p:cNvSpPr>
          <p:nvPr>
            <p:ph type="sldNum" sz="quarter" idx="4294967295"/>
          </p:nvPr>
        </p:nvSpPr>
        <p:spPr>
          <a:xfrm>
            <a:off x="1115568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algn="ctr" indent="0" marL="0">
              <a:buNone/>
            </a:pPr>
            <a:r>
              <a:rPr lang="en-US" sz="2400" b="1" dirty="0">
                <a:solidFill>
                  <a:schemeClr val="bg1"/>
                </a:solidFill>
                <a:latin typeface="Georgia" pitchFamily="34" charset="0"/>
                <a:ea typeface="Georgia" pitchFamily="34" charset="-122"/>
                <a:cs typeface="Georgia" pitchFamily="34" charset="-120"/>
              </a:rPr>
              <a:t>Surah Al-Ahzab</a:t>
            </a:r>
            <a:endParaRPr lang="en-US" sz="2400" dirty="0"/>
          </a:p>
        </p:txBody>
      </p:sp>
      <p:sp>
        <p:nvSpPr>
          <p:cNvPr id="3" name="Text 1"/>
          <p:cNvSpPr txBox="1"/>
          <p:nvPr/>
        </p:nvSpPr>
        <p:spPr>
          <a:xfrm>
            <a:off x="777240" y="548640"/>
            <a:ext cx="2651760" cy="384048"/>
          </a:xfrm>
          <a:prstGeom prst="rect">
            <a:avLst/>
          </a:prstGeom>
          <a:noFill/>
          <a:ln/>
        </p:spPr>
        <p:txBody>
          <a:bodyPr wrap="square" lIns="0" tIns="0" rIns="0" bIns="0" rtlCol="0" anchor="ctr"/>
          <a:lstStyle/>
          <a:p>
            <a:pPr algn="l" indent="0" marL="0">
              <a:buNone/>
            </a:pPr>
            <a:r>
              <a:rPr lang="en-US" altLang="en-US" sz="1500" b="1" dirty="0">
                <a:solidFill>
                  <a:schemeClr val="accent2"/>
                </a:solidFill>
                <a:latin typeface="Arial" pitchFamily="34" charset="0"/>
                <a:ea typeface="Arial" pitchFamily="34" charset="-122"/>
                <a:cs typeface="Arial" pitchFamily="34" charset="-120"/>
              </a:rPr>
              <a:t>Verse 4</a:t>
            </a:r>
            <a:endParaRPr lang="en-US" sz="1500" dirty="0"/>
          </a:p>
        </p:txBody>
      </p:sp>
      <p:sp>
        <p:nvSpPr>
          <p:cNvPr id="4" name="Text 2"/>
          <p:cNvSpPr txBox="1"/>
          <p:nvPr/>
        </p:nvSpPr>
        <p:spPr>
          <a:xfrm>
            <a:off x="8732520" y="548640"/>
            <a:ext cx="2651760" cy="384048"/>
          </a:xfrm>
          <a:prstGeom prst="rect">
            <a:avLst/>
          </a:prstGeom>
          <a:noFill/>
          <a:ln/>
        </p:spPr>
        <p:txBody>
          <a:bodyPr wrap="square" lIns="0" tIns="0" rIns="0" bIns="0" rtlCol="0" anchor="ctr"/>
          <a:lstStyle/>
          <a:p>
            <a:pPr algn="r" indent="0" marL="0">
              <a:buNone/>
            </a:pPr>
            <a:r>
              <a:rPr lang="en-US" altLang="en-US" sz="1300" i="1" dirty="0">
                <a:solidFill>
                  <a:schemeClr val="accent4"/>
                </a:solidFill>
                <a:latin typeface="Arial" pitchFamily="34" charset="0"/>
                <a:ea typeface="Arial" pitchFamily="34" charset="-122"/>
                <a:cs typeface="Arial" pitchFamily="34" charset="-120"/>
              </a:rPr>
              <a:t>Ibn Kathir, simplified</a:t>
            </a:r>
            <a:endParaRPr lang="en-US" sz="1300" dirty="0"/>
          </a:p>
        </p:txBody>
      </p:sp>
      <p:sp>
        <p:nvSpPr>
          <p:cNvPr id="5" name="Shape 3"/>
          <p:cNvSpPr/>
          <p:nvPr/>
        </p:nvSpPr>
        <p:spPr>
          <a:xfrm>
            <a:off x="713232" y="2290572"/>
            <a:ext cx="548640" cy="548640"/>
          </a:xfrm>
          <a:prstGeom prst="star8">
            <a:avLst/>
          </a:prstGeom>
          <a:solidFill>
            <a:schemeClr val="accent2"/>
          </a:solidFill>
          <a:ln/>
        </p:spPr>
      </p:sp>
      <p:sp>
        <p:nvSpPr>
          <p:cNvPr id="6" name="Shape 4"/>
          <p:cNvSpPr/>
          <p:nvPr/>
        </p:nvSpPr>
        <p:spPr>
          <a:xfrm>
            <a:off x="822960" y="2400300"/>
            <a:ext cx="329184" cy="329184"/>
          </a:xfrm>
          <a:prstGeom prst="ellipse">
            <a:avLst/>
          </a:prstGeom>
          <a:solidFill>
            <a:schemeClr val="bg2"/>
          </a:solidFill>
          <a:ln w="19050">
            <a:solidFill>
              <a:schemeClr val="tx2"/>
            </a:solidFill>
            <a:prstDash val="solid"/>
          </a:ln>
        </p:spPr>
      </p:sp>
      <p:sp>
        <p:nvSpPr>
          <p:cNvPr id="7" name="Text 5"/>
          <p:cNvSpPr txBox="1"/>
          <p:nvPr/>
        </p:nvSpPr>
        <p:spPr>
          <a:xfrm>
            <a:off x="713232" y="2290572"/>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4</a:t>
            </a:r>
            <a:endParaRPr lang="en-US" sz="1600" dirty="0"/>
          </a:p>
        </p:txBody>
      </p:sp>
      <p:sp>
        <p:nvSpPr>
          <p:cNvPr id="8" name="Text 6"/>
          <p:cNvSpPr txBox="1"/>
          <p:nvPr/>
        </p:nvSpPr>
        <p:spPr>
          <a:xfrm>
            <a:off x="1444752" y="2272284"/>
            <a:ext cx="10012680" cy="2871216"/>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مَّا جَعَلَ اللَّهُ لِرَجُلٍ مِّن قَلْبَيْنِ فِي جَوْفِهِ وَمَا جَعَلَ أَزْوَٰجَكُمُ الَّـٰـِٔي تُظَٰهِرُونَ مِنْهُنَّ أُمَّهَٰتِكُمْ وَمَا جَعَلَ أَدْعِيَآءَكُمْ أَبْنَآءَكُمْ ذَٰلِكُمْ قَوْلُكُم بِأَفْوَٰهِكُمْ وَاللَّهُ يَقُولُ الْحَقَّ وَهُوَ يَهْدِي السَّبِيلَ</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Allah has not put two hearts inside any man. He has not made your wives your mothers when you say to them: You are like my mother to me. Nor has He made your adopted children your real sons. That is only something you say with your mouths, with no truth in it. Allah says the truth and guides to the right way.</a:t>
            </a:r>
            <a:endParaRPr lang="en-US" sz="3000" dirty="0"/>
          </a:p>
        </p:txBody>
      </p:sp>
      <p:sp>
        <p:nvSpPr>
          <p:cNvPr id="25" name="Slide Number Placeholder 0"/>
          <p:cNvSpPr>
            <a:spLocks noGrp="1"/>
          </p:cNvSpPr>
          <p:nvPr>
            <p:ph type="sldNum" sz="quarter" idx="4294967295"/>
          </p:nvPr>
        </p:nvSpPr>
        <p:spPr>
          <a:xfrm>
            <a:off x="1115568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algn="ctr" indent="0" marL="0">
              <a:buNone/>
            </a:pPr>
            <a:r>
              <a:rPr lang="en-US" sz="2400" b="1" dirty="0">
                <a:solidFill>
                  <a:schemeClr val="bg1"/>
                </a:solidFill>
                <a:latin typeface="Georgia" pitchFamily="34" charset="0"/>
                <a:ea typeface="Georgia" pitchFamily="34" charset="-122"/>
                <a:cs typeface="Georgia" pitchFamily="34" charset="-120"/>
              </a:rPr>
              <a:t>Surah Al-Ahzab</a:t>
            </a:r>
            <a:endParaRPr lang="en-US" sz="2400" dirty="0"/>
          </a:p>
        </p:txBody>
      </p:sp>
      <p:sp>
        <p:nvSpPr>
          <p:cNvPr id="3" name="Text 1"/>
          <p:cNvSpPr txBox="1"/>
          <p:nvPr/>
        </p:nvSpPr>
        <p:spPr>
          <a:xfrm>
            <a:off x="777240" y="548640"/>
            <a:ext cx="2651760" cy="384048"/>
          </a:xfrm>
          <a:prstGeom prst="rect">
            <a:avLst/>
          </a:prstGeom>
          <a:noFill/>
          <a:ln/>
        </p:spPr>
        <p:txBody>
          <a:bodyPr wrap="square" lIns="0" tIns="0" rIns="0" bIns="0" rtlCol="0" anchor="ctr"/>
          <a:lstStyle/>
          <a:p>
            <a:pPr algn="l" indent="0" marL="0">
              <a:buNone/>
            </a:pPr>
            <a:r>
              <a:rPr lang="en-US" altLang="en-US" sz="1500" b="1" dirty="0">
                <a:solidFill>
                  <a:schemeClr val="accent2"/>
                </a:solidFill>
                <a:latin typeface="Arial" pitchFamily="34" charset="0"/>
                <a:ea typeface="Arial" pitchFamily="34" charset="-122"/>
                <a:cs typeface="Arial" pitchFamily="34" charset="-120"/>
              </a:rPr>
              <a:t>Verse 5</a:t>
            </a:r>
            <a:endParaRPr lang="en-US" sz="1500" dirty="0"/>
          </a:p>
        </p:txBody>
      </p:sp>
      <p:sp>
        <p:nvSpPr>
          <p:cNvPr id="4" name="Text 2"/>
          <p:cNvSpPr txBox="1"/>
          <p:nvPr/>
        </p:nvSpPr>
        <p:spPr>
          <a:xfrm>
            <a:off x="8732520" y="548640"/>
            <a:ext cx="2651760" cy="384048"/>
          </a:xfrm>
          <a:prstGeom prst="rect">
            <a:avLst/>
          </a:prstGeom>
          <a:noFill/>
          <a:ln/>
        </p:spPr>
        <p:txBody>
          <a:bodyPr wrap="square" lIns="0" tIns="0" rIns="0" bIns="0" rtlCol="0" anchor="ctr"/>
          <a:lstStyle/>
          <a:p>
            <a:pPr algn="r" indent="0" marL="0">
              <a:buNone/>
            </a:pPr>
            <a:r>
              <a:rPr lang="en-US" altLang="en-US" sz="1300" i="1" dirty="0">
                <a:solidFill>
                  <a:schemeClr val="accent4"/>
                </a:solidFill>
                <a:latin typeface="Arial" pitchFamily="34" charset="0"/>
                <a:ea typeface="Arial" pitchFamily="34" charset="-122"/>
                <a:cs typeface="Arial" pitchFamily="34" charset="-120"/>
              </a:rPr>
              <a:t>Ibn Kathir, simplified</a:t>
            </a:r>
            <a:endParaRPr lang="en-US" sz="1300" dirty="0"/>
          </a:p>
        </p:txBody>
      </p:sp>
      <p:sp>
        <p:nvSpPr>
          <p:cNvPr id="5" name="Shape 3"/>
          <p:cNvSpPr/>
          <p:nvPr/>
        </p:nvSpPr>
        <p:spPr>
          <a:xfrm>
            <a:off x="713232" y="2420874"/>
            <a:ext cx="548640" cy="548640"/>
          </a:xfrm>
          <a:prstGeom prst="star8">
            <a:avLst/>
          </a:prstGeom>
          <a:solidFill>
            <a:schemeClr val="accent2"/>
          </a:solidFill>
          <a:ln/>
        </p:spPr>
      </p:sp>
      <p:sp>
        <p:nvSpPr>
          <p:cNvPr id="6" name="Shape 4"/>
          <p:cNvSpPr/>
          <p:nvPr/>
        </p:nvSpPr>
        <p:spPr>
          <a:xfrm>
            <a:off x="822960" y="2530602"/>
            <a:ext cx="329184" cy="329184"/>
          </a:xfrm>
          <a:prstGeom prst="ellipse">
            <a:avLst/>
          </a:prstGeom>
          <a:solidFill>
            <a:schemeClr val="bg2"/>
          </a:solidFill>
          <a:ln w="19050">
            <a:solidFill>
              <a:schemeClr val="tx2"/>
            </a:solidFill>
            <a:prstDash val="solid"/>
          </a:ln>
        </p:spPr>
      </p:sp>
      <p:sp>
        <p:nvSpPr>
          <p:cNvPr id="7" name="Text 5"/>
          <p:cNvSpPr txBox="1"/>
          <p:nvPr/>
        </p:nvSpPr>
        <p:spPr>
          <a:xfrm>
            <a:off x="713232" y="2420874"/>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5</a:t>
            </a:r>
            <a:endParaRPr lang="en-US" sz="1600" dirty="0"/>
          </a:p>
        </p:txBody>
      </p:sp>
      <p:sp>
        <p:nvSpPr>
          <p:cNvPr id="8" name="Text 6"/>
          <p:cNvSpPr txBox="1"/>
          <p:nvPr/>
        </p:nvSpPr>
        <p:spPr>
          <a:xfrm>
            <a:off x="1444752" y="2402586"/>
            <a:ext cx="10012680" cy="2610612"/>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ادْعُوهُمْ لِأبَآئِهِمْ هُوَ أَقْسَطُ عِندَ اللَّهِ فَإِن لَّمْ تَعْلَمُواْ ءَابَآءَهُمْ فَإِخْوَٰنُكُمْ فِي الدِّينِ وَمَوَٰلِيكُمْ وَلَيْسَ عَلَيْكُمْ جُنَاحٌ فِيمَآ أَخْطَأْتُم بِهِ وَلَٰكِن مَّا تَعَمَّدَتْ قُلُوبُكُمْ وَكَانَ اللَّهُ غَفُورًا رَّحِيمًا</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Name adopted children after their real fathers; that is more just with Allah. If you do not know their fathers, they are your brothers in religion and your friends. There is no sin on you for mistakes, only for what you do on purpose. Allah is Forgiving, Most Merciful.</a:t>
            </a:r>
            <a:endParaRPr lang="en-US" sz="3000" dirty="0"/>
          </a:p>
        </p:txBody>
      </p:sp>
      <p:sp>
        <p:nvSpPr>
          <p:cNvPr id="25" name="Slide Number Placeholder 0"/>
          <p:cNvSpPr>
            <a:spLocks noGrp="1"/>
          </p:cNvSpPr>
          <p:nvPr>
            <p:ph type="sldNum" sz="quarter" idx="4294967295"/>
          </p:nvPr>
        </p:nvSpPr>
        <p:spPr>
          <a:xfrm>
            <a:off x="1115568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algn="ctr" indent="0" marL="0">
              <a:buNone/>
            </a:pPr>
            <a:r>
              <a:rPr lang="en-US" sz="2400" b="1" dirty="0">
                <a:solidFill>
                  <a:schemeClr val="bg1"/>
                </a:solidFill>
                <a:latin typeface="Georgia" pitchFamily="34" charset="0"/>
                <a:ea typeface="Georgia" pitchFamily="34" charset="-122"/>
                <a:cs typeface="Georgia" pitchFamily="34" charset="-120"/>
              </a:rPr>
              <a:t>Surah Al-Ahzab</a:t>
            </a:r>
            <a:endParaRPr lang="en-US" sz="2400" dirty="0"/>
          </a:p>
        </p:txBody>
      </p:sp>
      <p:sp>
        <p:nvSpPr>
          <p:cNvPr id="3" name="Text 1"/>
          <p:cNvSpPr txBox="1"/>
          <p:nvPr/>
        </p:nvSpPr>
        <p:spPr>
          <a:xfrm>
            <a:off x="777240" y="548640"/>
            <a:ext cx="2651760" cy="384048"/>
          </a:xfrm>
          <a:prstGeom prst="rect">
            <a:avLst/>
          </a:prstGeom>
          <a:noFill/>
          <a:ln/>
        </p:spPr>
        <p:txBody>
          <a:bodyPr wrap="square" lIns="0" tIns="0" rIns="0" bIns="0" rtlCol="0" anchor="ctr"/>
          <a:lstStyle/>
          <a:p>
            <a:pPr algn="l" indent="0" marL="0">
              <a:buNone/>
            </a:pPr>
            <a:r>
              <a:rPr lang="en-US" altLang="en-US" sz="1500" b="1" dirty="0">
                <a:solidFill>
                  <a:schemeClr val="accent2"/>
                </a:solidFill>
                <a:latin typeface="Arial" pitchFamily="34" charset="0"/>
                <a:ea typeface="Arial" pitchFamily="34" charset="-122"/>
                <a:cs typeface="Arial" pitchFamily="34" charset="-120"/>
              </a:rPr>
              <a:t>Verse 6</a:t>
            </a:r>
            <a:endParaRPr lang="en-US" sz="1500" dirty="0"/>
          </a:p>
        </p:txBody>
      </p:sp>
      <p:sp>
        <p:nvSpPr>
          <p:cNvPr id="4" name="Text 2"/>
          <p:cNvSpPr txBox="1"/>
          <p:nvPr/>
        </p:nvSpPr>
        <p:spPr>
          <a:xfrm>
            <a:off x="8732520" y="548640"/>
            <a:ext cx="2651760" cy="384048"/>
          </a:xfrm>
          <a:prstGeom prst="rect">
            <a:avLst/>
          </a:prstGeom>
          <a:noFill/>
          <a:ln/>
        </p:spPr>
        <p:txBody>
          <a:bodyPr wrap="square" lIns="0" tIns="0" rIns="0" bIns="0" rtlCol="0" anchor="ctr"/>
          <a:lstStyle/>
          <a:p>
            <a:pPr algn="r" indent="0" marL="0">
              <a:buNone/>
            </a:pPr>
            <a:r>
              <a:rPr lang="en-US" altLang="en-US" sz="1300" i="1" dirty="0">
                <a:solidFill>
                  <a:schemeClr val="accent4"/>
                </a:solidFill>
                <a:latin typeface="Arial" pitchFamily="34" charset="0"/>
                <a:ea typeface="Arial" pitchFamily="34" charset="-122"/>
                <a:cs typeface="Arial" pitchFamily="34" charset="-120"/>
              </a:rPr>
              <a:t>Ibn Kathir, simplified</a:t>
            </a:r>
            <a:endParaRPr lang="en-US" sz="1300" dirty="0"/>
          </a:p>
        </p:txBody>
      </p:sp>
      <p:sp>
        <p:nvSpPr>
          <p:cNvPr id="5" name="Shape 3"/>
          <p:cNvSpPr/>
          <p:nvPr/>
        </p:nvSpPr>
        <p:spPr>
          <a:xfrm>
            <a:off x="713232" y="2290572"/>
            <a:ext cx="548640" cy="548640"/>
          </a:xfrm>
          <a:prstGeom prst="star8">
            <a:avLst/>
          </a:prstGeom>
          <a:solidFill>
            <a:schemeClr val="accent2"/>
          </a:solidFill>
          <a:ln/>
        </p:spPr>
      </p:sp>
      <p:sp>
        <p:nvSpPr>
          <p:cNvPr id="6" name="Shape 4"/>
          <p:cNvSpPr/>
          <p:nvPr/>
        </p:nvSpPr>
        <p:spPr>
          <a:xfrm>
            <a:off x="822960" y="2400300"/>
            <a:ext cx="329184" cy="329184"/>
          </a:xfrm>
          <a:prstGeom prst="ellipse">
            <a:avLst/>
          </a:prstGeom>
          <a:solidFill>
            <a:schemeClr val="bg2"/>
          </a:solidFill>
          <a:ln w="19050">
            <a:solidFill>
              <a:schemeClr val="tx2"/>
            </a:solidFill>
            <a:prstDash val="solid"/>
          </a:ln>
        </p:spPr>
      </p:sp>
      <p:sp>
        <p:nvSpPr>
          <p:cNvPr id="7" name="Text 5"/>
          <p:cNvSpPr txBox="1"/>
          <p:nvPr/>
        </p:nvSpPr>
        <p:spPr>
          <a:xfrm>
            <a:off x="713232" y="2290572"/>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6</a:t>
            </a:r>
            <a:endParaRPr lang="en-US" sz="1600" dirty="0"/>
          </a:p>
        </p:txBody>
      </p:sp>
      <p:sp>
        <p:nvSpPr>
          <p:cNvPr id="8" name="Text 6"/>
          <p:cNvSpPr txBox="1"/>
          <p:nvPr/>
        </p:nvSpPr>
        <p:spPr>
          <a:xfrm>
            <a:off x="1444752" y="2272284"/>
            <a:ext cx="10012680" cy="2871216"/>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النَّبِيُّ أَوْلَىٰ بِالْمُؤْمِنِينَ مِنْ أَنفُسِهِمْ وَأَزْوَٰجُهُ أُمَّهَٰتُهُمْ وَأُوْلُواْ الْأَرْحَامِ بَعْضُهُمْ أَوْلَىٰ بِبَعْضٍ فِي كِتَٰبِ اللَّهِ مِنَ الْمُؤْمِنِينَ وَالْمُهَٰجِرِينَ إِلَّآ أَن تَفْعَلُواْ إِلَىٰ أَوْلِيَآئِكُم مَّعْرُوفًا كَانَ ذَٰلِكَ فِي الْكِتَٰبِ مَسْطُورًا</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The Prophet is closer to the believers and kinder to them than they are to themselves, and his wives are the Mothers of the Believers in respect and in that none may marry them. Relatives have more right to inherit from each other than other believers and emigrants, unless you do a kindness to your friends through a bequest. That is written in the Preserved Tablet.</a:t>
            </a:r>
            <a:endParaRPr lang="en-US" sz="3000" dirty="0"/>
          </a:p>
        </p:txBody>
      </p:sp>
      <p:sp>
        <p:nvSpPr>
          <p:cNvPr id="25" name="Slide Number Placeholder 0"/>
          <p:cNvSpPr>
            <a:spLocks noGrp="1"/>
          </p:cNvSpPr>
          <p:nvPr>
            <p:ph type="sldNum" sz="quarter" idx="4294967295"/>
          </p:nvPr>
        </p:nvSpPr>
        <p:spPr>
          <a:xfrm>
            <a:off x="1115568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algn="ctr" indent="0" marL="0">
              <a:buNone/>
            </a:pPr>
            <a:r>
              <a:rPr lang="en-US" sz="2400" b="1" dirty="0">
                <a:solidFill>
                  <a:schemeClr val="bg1"/>
                </a:solidFill>
                <a:latin typeface="Georgia" pitchFamily="34" charset="0"/>
                <a:ea typeface="Georgia" pitchFamily="34" charset="-122"/>
                <a:cs typeface="Georgia" pitchFamily="34" charset="-120"/>
              </a:rPr>
              <a:t>Surah Al-Ahzab</a:t>
            </a:r>
            <a:endParaRPr lang="en-US" sz="2400" dirty="0"/>
          </a:p>
        </p:txBody>
      </p:sp>
      <p:sp>
        <p:nvSpPr>
          <p:cNvPr id="3" name="Text 1"/>
          <p:cNvSpPr txBox="1"/>
          <p:nvPr/>
        </p:nvSpPr>
        <p:spPr>
          <a:xfrm>
            <a:off x="777240" y="548640"/>
            <a:ext cx="2651760" cy="384048"/>
          </a:xfrm>
          <a:prstGeom prst="rect">
            <a:avLst/>
          </a:prstGeom>
          <a:noFill/>
          <a:ln/>
        </p:spPr>
        <p:txBody>
          <a:bodyPr wrap="square" lIns="0" tIns="0" rIns="0" bIns="0" rtlCol="0" anchor="ctr"/>
          <a:lstStyle/>
          <a:p>
            <a:pPr algn="l" indent="0" marL="0">
              <a:buNone/>
            </a:pPr>
            <a:r>
              <a:rPr lang="en-US" altLang="en-US" sz="1500" b="1" dirty="0">
                <a:solidFill>
                  <a:schemeClr val="accent2"/>
                </a:solidFill>
                <a:latin typeface="Arial" pitchFamily="34" charset="0"/>
                <a:ea typeface="Arial" pitchFamily="34" charset="-122"/>
                <a:cs typeface="Arial" pitchFamily="34" charset="-120"/>
              </a:rPr>
              <a:t>Verses 7 – 8</a:t>
            </a:r>
            <a:endParaRPr lang="en-US" sz="1500" dirty="0"/>
          </a:p>
        </p:txBody>
      </p:sp>
      <p:sp>
        <p:nvSpPr>
          <p:cNvPr id="4" name="Text 2"/>
          <p:cNvSpPr txBox="1"/>
          <p:nvPr/>
        </p:nvSpPr>
        <p:spPr>
          <a:xfrm>
            <a:off x="8732520" y="548640"/>
            <a:ext cx="2651760" cy="384048"/>
          </a:xfrm>
          <a:prstGeom prst="rect">
            <a:avLst/>
          </a:prstGeom>
          <a:noFill/>
          <a:ln/>
        </p:spPr>
        <p:txBody>
          <a:bodyPr wrap="square" lIns="0" tIns="0" rIns="0" bIns="0" rtlCol="0" anchor="ctr"/>
          <a:lstStyle/>
          <a:p>
            <a:pPr algn="r" indent="0" marL="0">
              <a:buNone/>
            </a:pPr>
            <a:r>
              <a:rPr lang="en-US" altLang="en-US" sz="1300" i="1" dirty="0">
                <a:solidFill>
                  <a:schemeClr val="accent4"/>
                </a:solidFill>
                <a:latin typeface="Arial" pitchFamily="34" charset="0"/>
                <a:ea typeface="Arial" pitchFamily="34" charset="-122"/>
                <a:cs typeface="Arial" pitchFamily="34" charset="-120"/>
              </a:rPr>
              <a:t>Ibn Kathir, simplified</a:t>
            </a:r>
            <a:endParaRPr lang="en-US" sz="1300" dirty="0"/>
          </a:p>
        </p:txBody>
      </p:sp>
      <p:sp>
        <p:nvSpPr>
          <p:cNvPr id="5" name="Shape 3"/>
          <p:cNvSpPr/>
          <p:nvPr/>
        </p:nvSpPr>
        <p:spPr>
          <a:xfrm>
            <a:off x="713232" y="1997964"/>
            <a:ext cx="548640" cy="548640"/>
          </a:xfrm>
          <a:prstGeom prst="star8">
            <a:avLst/>
          </a:prstGeom>
          <a:solidFill>
            <a:schemeClr val="accent2"/>
          </a:solidFill>
          <a:ln/>
        </p:spPr>
      </p:sp>
      <p:sp>
        <p:nvSpPr>
          <p:cNvPr id="6" name="Shape 4"/>
          <p:cNvSpPr/>
          <p:nvPr/>
        </p:nvSpPr>
        <p:spPr>
          <a:xfrm>
            <a:off x="822960" y="2107692"/>
            <a:ext cx="329184" cy="329184"/>
          </a:xfrm>
          <a:prstGeom prst="ellipse">
            <a:avLst/>
          </a:prstGeom>
          <a:solidFill>
            <a:schemeClr val="bg2"/>
          </a:solidFill>
          <a:ln w="19050">
            <a:solidFill>
              <a:schemeClr val="tx2"/>
            </a:solidFill>
            <a:prstDash val="solid"/>
          </a:ln>
        </p:spPr>
      </p:sp>
      <p:sp>
        <p:nvSpPr>
          <p:cNvPr id="7" name="Text 5"/>
          <p:cNvSpPr txBox="1"/>
          <p:nvPr/>
        </p:nvSpPr>
        <p:spPr>
          <a:xfrm>
            <a:off x="713232" y="1997964"/>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7</a:t>
            </a:r>
            <a:endParaRPr lang="en-US" sz="1600" dirty="0"/>
          </a:p>
        </p:txBody>
      </p:sp>
      <p:sp>
        <p:nvSpPr>
          <p:cNvPr id="8" name="Text 6"/>
          <p:cNvSpPr txBox="1"/>
          <p:nvPr/>
        </p:nvSpPr>
        <p:spPr>
          <a:xfrm>
            <a:off x="1444752" y="1979676"/>
            <a:ext cx="10012680" cy="1801368"/>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وَإِذْ أَخَذْنَا مِنَ النَّبِيِّـنَ مِيثَٰقَهُمْ وَمِنكَ وَمِن نُّوحٍ وَإِبْرَٰهِيمَ وَمُوسَىٰ وَعِيسَى ابْنِ مَرْيَمَ وَأَخَذْنَا مِنْهُم مِّيثَٰقًا غَلِيظًا</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Remember when We took a covenant from the prophets to deliver the message: from you, from Nuh, Ibrahim, Musa and 'Isa son of Maryam. We took a firm covenant from them,</a:t>
            </a:r>
            <a:endParaRPr lang="en-US" sz="3000" dirty="0"/>
          </a:p>
        </p:txBody>
      </p:sp>
      <p:sp>
        <p:nvSpPr>
          <p:cNvPr id="9" name="Shape 7"/>
          <p:cNvSpPr/>
          <p:nvPr/>
        </p:nvSpPr>
        <p:spPr>
          <a:xfrm>
            <a:off x="1444752" y="3968496"/>
            <a:ext cx="8641080" cy="0"/>
          </a:xfrm>
          <a:prstGeom prst="line">
            <a:avLst/>
          </a:prstGeom>
          <a:noFill/>
          <a:ln w="9525">
            <a:solidFill>
              <a:schemeClr val="accent2"/>
            </a:solidFill>
            <a:prstDash val="dash"/>
          </a:ln>
        </p:spPr>
      </p:sp>
      <p:sp>
        <p:nvSpPr>
          <p:cNvPr id="10" name="Shape 8"/>
          <p:cNvSpPr/>
          <p:nvPr/>
        </p:nvSpPr>
        <p:spPr>
          <a:xfrm>
            <a:off x="713232" y="4201668"/>
            <a:ext cx="548640" cy="548640"/>
          </a:xfrm>
          <a:prstGeom prst="star8">
            <a:avLst/>
          </a:prstGeom>
          <a:solidFill>
            <a:schemeClr val="accent2"/>
          </a:solidFill>
          <a:ln/>
        </p:spPr>
      </p:sp>
      <p:sp>
        <p:nvSpPr>
          <p:cNvPr id="11" name="Shape 9"/>
          <p:cNvSpPr/>
          <p:nvPr/>
        </p:nvSpPr>
        <p:spPr>
          <a:xfrm>
            <a:off x="822960" y="4311396"/>
            <a:ext cx="329184" cy="329184"/>
          </a:xfrm>
          <a:prstGeom prst="ellipse">
            <a:avLst/>
          </a:prstGeom>
          <a:solidFill>
            <a:schemeClr val="bg2"/>
          </a:solidFill>
          <a:ln w="19050">
            <a:solidFill>
              <a:schemeClr val="tx2"/>
            </a:solidFill>
            <a:prstDash val="solid"/>
          </a:ln>
        </p:spPr>
      </p:sp>
      <p:sp>
        <p:nvSpPr>
          <p:cNvPr id="12" name="Text 10"/>
          <p:cNvSpPr txBox="1"/>
          <p:nvPr/>
        </p:nvSpPr>
        <p:spPr>
          <a:xfrm>
            <a:off x="713232" y="4201668"/>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8</a:t>
            </a:r>
            <a:endParaRPr lang="en-US" sz="1600" dirty="0"/>
          </a:p>
        </p:txBody>
      </p:sp>
      <p:sp>
        <p:nvSpPr>
          <p:cNvPr id="13" name="Text 11"/>
          <p:cNvSpPr txBox="1"/>
          <p:nvPr/>
        </p:nvSpPr>
        <p:spPr>
          <a:xfrm>
            <a:off x="1444752" y="4183380"/>
            <a:ext cx="10012680" cy="1252728"/>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لِّيَسْـَٔلَ الصَّـٰدِقِينَ عَن صِدْقِهِمْ وَأَعَدَّ لِلْكَٰفِرِينَ عَذَابًا أَلِيمًا</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so that Allah may ask the truthful messengers about their delivering the message. And He has prepared a painful punishment for the disbelievers.</a:t>
            </a:r>
            <a:endParaRPr lang="en-US" sz="3000" dirty="0"/>
          </a:p>
        </p:txBody>
      </p:sp>
      <p:sp>
        <p:nvSpPr>
          <p:cNvPr id="25" name="Slide Number Placeholder 0"/>
          <p:cNvSpPr>
            <a:spLocks noGrp="1"/>
          </p:cNvSpPr>
          <p:nvPr>
            <p:ph type="sldNum" sz="quarter" idx="4294967295"/>
          </p:nvPr>
        </p:nvSpPr>
        <p:spPr>
          <a:xfrm>
            <a:off x="1115568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algn="ctr" indent="0" marL="0">
              <a:buNone/>
            </a:pPr>
            <a:r>
              <a:rPr lang="en-US" sz="2400" b="1" dirty="0">
                <a:solidFill>
                  <a:schemeClr val="bg1"/>
                </a:solidFill>
                <a:latin typeface="Georgia" pitchFamily="34" charset="0"/>
                <a:ea typeface="Georgia" pitchFamily="34" charset="-122"/>
                <a:cs typeface="Georgia" pitchFamily="34" charset="-120"/>
              </a:rPr>
              <a:t>Surah Al-Ahzab</a:t>
            </a:r>
            <a:endParaRPr lang="en-US" sz="2400" dirty="0"/>
          </a:p>
        </p:txBody>
      </p:sp>
      <p:sp>
        <p:nvSpPr>
          <p:cNvPr id="3" name="Text 1"/>
          <p:cNvSpPr txBox="1"/>
          <p:nvPr/>
        </p:nvSpPr>
        <p:spPr>
          <a:xfrm>
            <a:off x="777240" y="548640"/>
            <a:ext cx="2651760" cy="384048"/>
          </a:xfrm>
          <a:prstGeom prst="rect">
            <a:avLst/>
          </a:prstGeom>
          <a:noFill/>
          <a:ln/>
        </p:spPr>
        <p:txBody>
          <a:bodyPr wrap="square" lIns="0" tIns="0" rIns="0" bIns="0" rtlCol="0" anchor="ctr"/>
          <a:lstStyle/>
          <a:p>
            <a:pPr algn="l" indent="0" marL="0">
              <a:buNone/>
            </a:pPr>
            <a:r>
              <a:rPr lang="en-US" altLang="en-US" sz="1500" b="1" dirty="0">
                <a:solidFill>
                  <a:schemeClr val="accent2"/>
                </a:solidFill>
                <a:latin typeface="Arial" pitchFamily="34" charset="0"/>
                <a:ea typeface="Arial" pitchFamily="34" charset="-122"/>
                <a:cs typeface="Arial" pitchFamily="34" charset="-120"/>
              </a:rPr>
              <a:t>Verses 9 – 10</a:t>
            </a:r>
            <a:endParaRPr lang="en-US" sz="1500" dirty="0"/>
          </a:p>
        </p:txBody>
      </p:sp>
      <p:sp>
        <p:nvSpPr>
          <p:cNvPr id="4" name="Text 2"/>
          <p:cNvSpPr txBox="1"/>
          <p:nvPr/>
        </p:nvSpPr>
        <p:spPr>
          <a:xfrm>
            <a:off x="8732520" y="548640"/>
            <a:ext cx="2651760" cy="384048"/>
          </a:xfrm>
          <a:prstGeom prst="rect">
            <a:avLst/>
          </a:prstGeom>
          <a:noFill/>
          <a:ln/>
        </p:spPr>
        <p:txBody>
          <a:bodyPr wrap="square" lIns="0" tIns="0" rIns="0" bIns="0" rtlCol="0" anchor="ctr"/>
          <a:lstStyle/>
          <a:p>
            <a:pPr algn="r" indent="0" marL="0">
              <a:buNone/>
            </a:pPr>
            <a:r>
              <a:rPr lang="en-US" altLang="en-US" sz="1300" i="1" dirty="0">
                <a:solidFill>
                  <a:schemeClr val="accent4"/>
                </a:solidFill>
                <a:latin typeface="Arial" pitchFamily="34" charset="0"/>
                <a:ea typeface="Arial" pitchFamily="34" charset="-122"/>
                <a:cs typeface="Arial" pitchFamily="34" charset="-120"/>
              </a:rPr>
              <a:t>Ibn Kathir, simplified</a:t>
            </a:r>
            <a:endParaRPr lang="en-US" sz="1300" dirty="0"/>
          </a:p>
        </p:txBody>
      </p:sp>
      <p:sp>
        <p:nvSpPr>
          <p:cNvPr id="5" name="Shape 3"/>
          <p:cNvSpPr/>
          <p:nvPr/>
        </p:nvSpPr>
        <p:spPr>
          <a:xfrm>
            <a:off x="713232" y="1723644"/>
            <a:ext cx="548640" cy="548640"/>
          </a:xfrm>
          <a:prstGeom prst="star8">
            <a:avLst/>
          </a:prstGeom>
          <a:solidFill>
            <a:schemeClr val="accent2"/>
          </a:solidFill>
          <a:ln/>
        </p:spPr>
      </p:sp>
      <p:sp>
        <p:nvSpPr>
          <p:cNvPr id="6" name="Shape 4"/>
          <p:cNvSpPr/>
          <p:nvPr/>
        </p:nvSpPr>
        <p:spPr>
          <a:xfrm>
            <a:off x="822960" y="1833372"/>
            <a:ext cx="329184" cy="329184"/>
          </a:xfrm>
          <a:prstGeom prst="ellipse">
            <a:avLst/>
          </a:prstGeom>
          <a:solidFill>
            <a:schemeClr val="bg2"/>
          </a:solidFill>
          <a:ln w="19050">
            <a:solidFill>
              <a:schemeClr val="tx2"/>
            </a:solidFill>
            <a:prstDash val="solid"/>
          </a:ln>
        </p:spPr>
      </p:sp>
      <p:sp>
        <p:nvSpPr>
          <p:cNvPr id="7" name="Text 5"/>
          <p:cNvSpPr txBox="1"/>
          <p:nvPr/>
        </p:nvSpPr>
        <p:spPr>
          <a:xfrm>
            <a:off x="713232" y="1723644"/>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9</a:t>
            </a:r>
            <a:endParaRPr lang="en-US" sz="1600" dirty="0"/>
          </a:p>
        </p:txBody>
      </p:sp>
      <p:sp>
        <p:nvSpPr>
          <p:cNvPr id="8" name="Text 6"/>
          <p:cNvSpPr txBox="1"/>
          <p:nvPr/>
        </p:nvSpPr>
        <p:spPr>
          <a:xfrm>
            <a:off x="1444752" y="1705356"/>
            <a:ext cx="10012680" cy="1801368"/>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يَـٰأَيُّهَا الَّذِينَ ءَامَنُواْ اذْكُرُواْ نِعْمَةَ اللَّهِ عَلَيْكُمْ إِذْ جَآءَتْكُمْ جُنُودٌ فَأَرْسَلْنَا عَلَيْهِمْ رِيحًا وَجُنُودًا لَّمْ تَرَوْهَا وَكَانَ اللَّهُ بِمَا تَعْمَلُونَ بَصِيرًا</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O believers, remember Allah's blessing on you when the armies of the allies came against you, and We sent against them a fierce wind and armies of angels you did not see. Allah sees what you do.</a:t>
            </a:r>
            <a:endParaRPr lang="en-US" sz="3000" dirty="0"/>
          </a:p>
        </p:txBody>
      </p:sp>
      <p:sp>
        <p:nvSpPr>
          <p:cNvPr id="9" name="Shape 7"/>
          <p:cNvSpPr/>
          <p:nvPr/>
        </p:nvSpPr>
        <p:spPr>
          <a:xfrm>
            <a:off x="1444752" y="3694176"/>
            <a:ext cx="8641080" cy="0"/>
          </a:xfrm>
          <a:prstGeom prst="line">
            <a:avLst/>
          </a:prstGeom>
          <a:noFill/>
          <a:ln w="9525">
            <a:solidFill>
              <a:schemeClr val="accent2"/>
            </a:solidFill>
            <a:prstDash val="dash"/>
          </a:ln>
        </p:spPr>
      </p:sp>
      <p:sp>
        <p:nvSpPr>
          <p:cNvPr id="10" name="Shape 8"/>
          <p:cNvSpPr/>
          <p:nvPr/>
        </p:nvSpPr>
        <p:spPr>
          <a:xfrm>
            <a:off x="713232" y="3927348"/>
            <a:ext cx="548640" cy="548640"/>
          </a:xfrm>
          <a:prstGeom prst="star8">
            <a:avLst/>
          </a:prstGeom>
          <a:solidFill>
            <a:schemeClr val="accent2"/>
          </a:solidFill>
          <a:ln/>
        </p:spPr>
      </p:sp>
      <p:sp>
        <p:nvSpPr>
          <p:cNvPr id="11" name="Shape 9"/>
          <p:cNvSpPr/>
          <p:nvPr/>
        </p:nvSpPr>
        <p:spPr>
          <a:xfrm>
            <a:off x="822960" y="4037076"/>
            <a:ext cx="329184" cy="329184"/>
          </a:xfrm>
          <a:prstGeom prst="ellipse">
            <a:avLst/>
          </a:prstGeom>
          <a:solidFill>
            <a:schemeClr val="bg2"/>
          </a:solidFill>
          <a:ln w="19050">
            <a:solidFill>
              <a:schemeClr val="tx2"/>
            </a:solidFill>
            <a:prstDash val="solid"/>
          </a:ln>
        </p:spPr>
      </p:sp>
      <p:sp>
        <p:nvSpPr>
          <p:cNvPr id="12" name="Text 10"/>
          <p:cNvSpPr txBox="1"/>
          <p:nvPr/>
        </p:nvSpPr>
        <p:spPr>
          <a:xfrm>
            <a:off x="713232" y="3927348"/>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10</a:t>
            </a:r>
            <a:endParaRPr lang="en-US" sz="1600" dirty="0"/>
          </a:p>
        </p:txBody>
      </p:sp>
      <p:sp>
        <p:nvSpPr>
          <p:cNvPr id="13" name="Text 11"/>
          <p:cNvSpPr txBox="1"/>
          <p:nvPr/>
        </p:nvSpPr>
        <p:spPr>
          <a:xfrm>
            <a:off x="1444752" y="3909060"/>
            <a:ext cx="10012680" cy="1801368"/>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إِذْ جَآءُوكُم مِّن فَوْقِكُمْ وَمِنْ أَسْفَلَ مِنكُمْ وَإِذْ زَاغَتِ الْأَبْصَٰرُ وَبَلَغَتِ الْقُلُوبُ الْحَنَاجِرَ وَتَظُنُّونَ بِاللَّهِ الظُّنُونَا</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When they came at you from above you and from below you in the valley, when eyes turned aside in fear, hearts rose up to the throats, and you thought all kinds of thoughts about Allah.</a:t>
            </a:r>
            <a:endParaRPr lang="en-US" sz="3000" dirty="0"/>
          </a:p>
        </p:txBody>
      </p:sp>
      <p:sp>
        <p:nvSpPr>
          <p:cNvPr id="25" name="Slide Number Placeholder 0"/>
          <p:cNvSpPr>
            <a:spLocks noGrp="1"/>
          </p:cNvSpPr>
          <p:nvPr>
            <p:ph type="sldNum" sz="quarter" idx="4294967295"/>
          </p:nvPr>
        </p:nvSpPr>
        <p:spPr>
          <a:xfrm>
            <a:off x="1115568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algn="ctr" indent="0" marL="0">
              <a:buNone/>
            </a:pPr>
            <a:r>
              <a:rPr lang="en-US" sz="2400" b="1" dirty="0">
                <a:solidFill>
                  <a:schemeClr val="bg1"/>
                </a:solidFill>
                <a:latin typeface="Georgia" pitchFamily="34" charset="0"/>
                <a:ea typeface="Georgia" pitchFamily="34" charset="-122"/>
                <a:cs typeface="Georgia" pitchFamily="34" charset="-120"/>
              </a:rPr>
              <a:t>Surah Al-Ahzab</a:t>
            </a:r>
            <a:endParaRPr lang="en-US" sz="2400" dirty="0"/>
          </a:p>
        </p:txBody>
      </p:sp>
      <p:sp>
        <p:nvSpPr>
          <p:cNvPr id="3" name="Text 1"/>
          <p:cNvSpPr txBox="1"/>
          <p:nvPr/>
        </p:nvSpPr>
        <p:spPr>
          <a:xfrm>
            <a:off x="777240" y="548640"/>
            <a:ext cx="2651760" cy="384048"/>
          </a:xfrm>
          <a:prstGeom prst="rect">
            <a:avLst/>
          </a:prstGeom>
          <a:noFill/>
          <a:ln/>
        </p:spPr>
        <p:txBody>
          <a:bodyPr wrap="square" lIns="0" tIns="0" rIns="0" bIns="0" rtlCol="0" anchor="ctr"/>
          <a:lstStyle/>
          <a:p>
            <a:pPr algn="l" indent="0" marL="0">
              <a:buNone/>
            </a:pPr>
            <a:r>
              <a:rPr lang="en-US" altLang="en-US" sz="1500" b="1" dirty="0">
                <a:solidFill>
                  <a:schemeClr val="accent2"/>
                </a:solidFill>
                <a:latin typeface="Arial" pitchFamily="34" charset="0"/>
                <a:ea typeface="Arial" pitchFamily="34" charset="-122"/>
                <a:cs typeface="Arial" pitchFamily="34" charset="-120"/>
              </a:rPr>
              <a:t>Verses 11 – 13</a:t>
            </a:r>
            <a:endParaRPr lang="en-US" sz="1500" dirty="0"/>
          </a:p>
        </p:txBody>
      </p:sp>
      <p:sp>
        <p:nvSpPr>
          <p:cNvPr id="4" name="Text 2"/>
          <p:cNvSpPr txBox="1"/>
          <p:nvPr/>
        </p:nvSpPr>
        <p:spPr>
          <a:xfrm>
            <a:off x="8732520" y="548640"/>
            <a:ext cx="2651760" cy="384048"/>
          </a:xfrm>
          <a:prstGeom prst="rect">
            <a:avLst/>
          </a:prstGeom>
          <a:noFill/>
          <a:ln/>
        </p:spPr>
        <p:txBody>
          <a:bodyPr wrap="square" lIns="0" tIns="0" rIns="0" bIns="0" rtlCol="0" anchor="ctr"/>
          <a:lstStyle/>
          <a:p>
            <a:pPr algn="r" indent="0" marL="0">
              <a:buNone/>
            </a:pPr>
            <a:r>
              <a:rPr lang="en-US" altLang="en-US" sz="1300" i="1" dirty="0">
                <a:solidFill>
                  <a:schemeClr val="accent4"/>
                </a:solidFill>
                <a:latin typeface="Arial" pitchFamily="34" charset="0"/>
                <a:ea typeface="Arial" pitchFamily="34" charset="-122"/>
                <a:cs typeface="Arial" pitchFamily="34" charset="-120"/>
              </a:rPr>
              <a:t>Ibn Kathir, simplified</a:t>
            </a:r>
            <a:endParaRPr lang="en-US" sz="1300" dirty="0"/>
          </a:p>
        </p:txBody>
      </p:sp>
      <p:sp>
        <p:nvSpPr>
          <p:cNvPr id="5" name="Shape 3"/>
          <p:cNvSpPr/>
          <p:nvPr/>
        </p:nvSpPr>
        <p:spPr>
          <a:xfrm>
            <a:off x="713232" y="1362456"/>
            <a:ext cx="548640" cy="548640"/>
          </a:xfrm>
          <a:prstGeom prst="star8">
            <a:avLst/>
          </a:prstGeom>
          <a:solidFill>
            <a:schemeClr val="accent2"/>
          </a:solidFill>
          <a:ln/>
        </p:spPr>
      </p:sp>
      <p:sp>
        <p:nvSpPr>
          <p:cNvPr id="6" name="Shape 4"/>
          <p:cNvSpPr/>
          <p:nvPr/>
        </p:nvSpPr>
        <p:spPr>
          <a:xfrm>
            <a:off x="822960" y="1472184"/>
            <a:ext cx="329184" cy="329184"/>
          </a:xfrm>
          <a:prstGeom prst="ellipse">
            <a:avLst/>
          </a:prstGeom>
          <a:solidFill>
            <a:schemeClr val="bg2"/>
          </a:solidFill>
          <a:ln w="19050">
            <a:solidFill>
              <a:schemeClr val="tx2"/>
            </a:solidFill>
            <a:prstDash val="solid"/>
          </a:ln>
        </p:spPr>
      </p:sp>
      <p:sp>
        <p:nvSpPr>
          <p:cNvPr id="7" name="Text 5"/>
          <p:cNvSpPr txBox="1"/>
          <p:nvPr/>
        </p:nvSpPr>
        <p:spPr>
          <a:xfrm>
            <a:off x="713232" y="1362456"/>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11</a:t>
            </a:r>
            <a:endParaRPr lang="en-US" sz="1600" dirty="0"/>
          </a:p>
        </p:txBody>
      </p:sp>
      <p:sp>
        <p:nvSpPr>
          <p:cNvPr id="8" name="Text 6"/>
          <p:cNvSpPr txBox="1"/>
          <p:nvPr/>
        </p:nvSpPr>
        <p:spPr>
          <a:xfrm>
            <a:off x="1444752" y="1344168"/>
            <a:ext cx="10012680" cy="992124"/>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هُنَالِكَ ابْتُلِيَ الْمُؤْمِنُونَ وَزُلْزِلُواْ زِلْزَالًا شَدِيدًا</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There the believers were tested and shaken very severely.</a:t>
            </a:r>
            <a:endParaRPr lang="en-US" sz="3000" dirty="0"/>
          </a:p>
        </p:txBody>
      </p:sp>
      <p:sp>
        <p:nvSpPr>
          <p:cNvPr id="9" name="Shape 7"/>
          <p:cNvSpPr/>
          <p:nvPr/>
        </p:nvSpPr>
        <p:spPr>
          <a:xfrm>
            <a:off x="1444752" y="2427732"/>
            <a:ext cx="8641080" cy="0"/>
          </a:xfrm>
          <a:prstGeom prst="line">
            <a:avLst/>
          </a:prstGeom>
          <a:noFill/>
          <a:ln w="9525">
            <a:solidFill>
              <a:schemeClr val="accent2"/>
            </a:solidFill>
            <a:prstDash val="dash"/>
          </a:ln>
        </p:spPr>
      </p:sp>
      <p:sp>
        <p:nvSpPr>
          <p:cNvPr id="10" name="Shape 8"/>
          <p:cNvSpPr/>
          <p:nvPr/>
        </p:nvSpPr>
        <p:spPr>
          <a:xfrm>
            <a:off x="713232" y="2564892"/>
            <a:ext cx="548640" cy="548640"/>
          </a:xfrm>
          <a:prstGeom prst="star8">
            <a:avLst/>
          </a:prstGeom>
          <a:solidFill>
            <a:schemeClr val="accent2"/>
          </a:solidFill>
          <a:ln/>
        </p:spPr>
      </p:sp>
      <p:sp>
        <p:nvSpPr>
          <p:cNvPr id="11" name="Shape 9"/>
          <p:cNvSpPr/>
          <p:nvPr/>
        </p:nvSpPr>
        <p:spPr>
          <a:xfrm>
            <a:off x="822960" y="2674620"/>
            <a:ext cx="329184" cy="329184"/>
          </a:xfrm>
          <a:prstGeom prst="ellipse">
            <a:avLst/>
          </a:prstGeom>
          <a:solidFill>
            <a:schemeClr val="bg2"/>
          </a:solidFill>
          <a:ln w="19050">
            <a:solidFill>
              <a:schemeClr val="tx2"/>
            </a:solidFill>
            <a:prstDash val="solid"/>
          </a:ln>
        </p:spPr>
      </p:sp>
      <p:sp>
        <p:nvSpPr>
          <p:cNvPr id="12" name="Text 10"/>
          <p:cNvSpPr txBox="1"/>
          <p:nvPr/>
        </p:nvSpPr>
        <p:spPr>
          <a:xfrm>
            <a:off x="713232" y="2564892"/>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12</a:t>
            </a:r>
            <a:endParaRPr lang="en-US" sz="1600" dirty="0"/>
          </a:p>
        </p:txBody>
      </p:sp>
      <p:sp>
        <p:nvSpPr>
          <p:cNvPr id="13" name="Text 11"/>
          <p:cNvSpPr txBox="1"/>
          <p:nvPr/>
        </p:nvSpPr>
        <p:spPr>
          <a:xfrm>
            <a:off x="1444752" y="2546604"/>
            <a:ext cx="10012680" cy="1252728"/>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وَإِذْ يَقُولُ الْمُنَٰفِقُونَ وَالَّذِينَ فِي قُلُوبِهِم مَّرَضٌ مَّا وَعَدَنَا اللَّهُ وَرَسُولُهُ إِلَّا غُرُورًا</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And when the hypocrites and those with doubt in their hearts said: Allah and His Messenger only promised us victory to trick us.</a:t>
            </a:r>
            <a:endParaRPr lang="en-US" sz="3000" dirty="0"/>
          </a:p>
        </p:txBody>
      </p:sp>
      <p:sp>
        <p:nvSpPr>
          <p:cNvPr id="14" name="Shape 12"/>
          <p:cNvSpPr/>
          <p:nvPr/>
        </p:nvSpPr>
        <p:spPr>
          <a:xfrm>
            <a:off x="1444752" y="3890772"/>
            <a:ext cx="8641080" cy="0"/>
          </a:xfrm>
          <a:prstGeom prst="line">
            <a:avLst/>
          </a:prstGeom>
          <a:noFill/>
          <a:ln w="9525">
            <a:solidFill>
              <a:schemeClr val="accent2"/>
            </a:solidFill>
            <a:prstDash val="dash"/>
          </a:ln>
        </p:spPr>
      </p:sp>
      <p:sp>
        <p:nvSpPr>
          <p:cNvPr id="15" name="Shape 13"/>
          <p:cNvSpPr/>
          <p:nvPr/>
        </p:nvSpPr>
        <p:spPr>
          <a:xfrm>
            <a:off x="713232" y="4027932"/>
            <a:ext cx="548640" cy="548640"/>
          </a:xfrm>
          <a:prstGeom prst="star8">
            <a:avLst/>
          </a:prstGeom>
          <a:solidFill>
            <a:schemeClr val="accent2"/>
          </a:solidFill>
          <a:ln/>
        </p:spPr>
      </p:sp>
      <p:sp>
        <p:nvSpPr>
          <p:cNvPr id="16" name="Shape 14"/>
          <p:cNvSpPr/>
          <p:nvPr/>
        </p:nvSpPr>
        <p:spPr>
          <a:xfrm>
            <a:off x="822960" y="4137660"/>
            <a:ext cx="329184" cy="329184"/>
          </a:xfrm>
          <a:prstGeom prst="ellipse">
            <a:avLst/>
          </a:prstGeom>
          <a:solidFill>
            <a:schemeClr val="bg2"/>
          </a:solidFill>
          <a:ln w="19050">
            <a:solidFill>
              <a:schemeClr val="tx2"/>
            </a:solidFill>
            <a:prstDash val="solid"/>
          </a:ln>
        </p:spPr>
      </p:sp>
      <p:sp>
        <p:nvSpPr>
          <p:cNvPr id="17" name="Text 15"/>
          <p:cNvSpPr txBox="1"/>
          <p:nvPr/>
        </p:nvSpPr>
        <p:spPr>
          <a:xfrm>
            <a:off x="713232" y="4027932"/>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13</a:t>
            </a:r>
            <a:endParaRPr lang="en-US" sz="1600" dirty="0"/>
          </a:p>
        </p:txBody>
      </p:sp>
      <p:sp>
        <p:nvSpPr>
          <p:cNvPr id="18" name="Text 16"/>
          <p:cNvSpPr txBox="1"/>
          <p:nvPr/>
        </p:nvSpPr>
        <p:spPr>
          <a:xfrm>
            <a:off x="1444752" y="4009644"/>
            <a:ext cx="10012680" cy="2061972"/>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وَإِذْ قَالَت طَّآئِفَةٌ مِّنْهُمْ يَـٰأَهْلَ يَثْرِبَ لَا مُقَامَ لَكُمْ فَارْجِعُواْ وَيَسْتَـْٔذِنُ فَرِيقٌ مِّنْهُمُ النَّبِيَّ يَقُولُونَ إِنَّ بُيُوتَنَا عَوْرَةٌ وَمَا هِيَ بِعَوْرَةٍ إِن يُرِيدُونَ إِلَّا فِرَارًا</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And when a group of them said: O people of Madinah, there is no place for you here, so go back home. Another group asked the Prophet (peace be upon him) for permission, saying: Our houses are open to the enemy, though they were not; they only wanted to run away.</a:t>
            </a:r>
            <a:endParaRPr lang="en-US" sz="3000" dirty="0"/>
          </a:p>
        </p:txBody>
      </p:sp>
      <p:sp>
        <p:nvSpPr>
          <p:cNvPr id="25" name="Slide Number Placeholder 0"/>
          <p:cNvSpPr>
            <a:spLocks noGrp="1"/>
          </p:cNvSpPr>
          <p:nvPr>
            <p:ph type="sldNum" sz="quarter" idx="4294967295"/>
          </p:nvPr>
        </p:nvSpPr>
        <p:spPr>
          <a:xfrm>
            <a:off x="1115568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algn="ctr" indent="0" marL="0">
              <a:buNone/>
            </a:pPr>
            <a:r>
              <a:rPr lang="en-US" sz="2400" b="1" dirty="0">
                <a:solidFill>
                  <a:schemeClr val="bg1"/>
                </a:solidFill>
                <a:latin typeface="Georgia" pitchFamily="34" charset="0"/>
                <a:ea typeface="Georgia" pitchFamily="34" charset="-122"/>
                <a:cs typeface="Georgia" pitchFamily="34" charset="-120"/>
              </a:rPr>
              <a:t>Surah Al-Ahzab</a:t>
            </a:r>
            <a:endParaRPr lang="en-US" sz="2400" dirty="0"/>
          </a:p>
        </p:txBody>
      </p:sp>
      <p:sp>
        <p:nvSpPr>
          <p:cNvPr id="3" name="Text 1"/>
          <p:cNvSpPr txBox="1"/>
          <p:nvPr/>
        </p:nvSpPr>
        <p:spPr>
          <a:xfrm>
            <a:off x="777240" y="548640"/>
            <a:ext cx="2651760" cy="384048"/>
          </a:xfrm>
          <a:prstGeom prst="rect">
            <a:avLst/>
          </a:prstGeom>
          <a:noFill/>
          <a:ln/>
        </p:spPr>
        <p:txBody>
          <a:bodyPr wrap="square" lIns="0" tIns="0" rIns="0" bIns="0" rtlCol="0" anchor="ctr"/>
          <a:lstStyle/>
          <a:p>
            <a:pPr algn="l" indent="0" marL="0">
              <a:buNone/>
            </a:pPr>
            <a:r>
              <a:rPr lang="en-US" altLang="en-US" sz="1500" b="1" dirty="0">
                <a:solidFill>
                  <a:schemeClr val="accent2"/>
                </a:solidFill>
                <a:latin typeface="Arial" pitchFamily="34" charset="0"/>
                <a:ea typeface="Arial" pitchFamily="34" charset="-122"/>
                <a:cs typeface="Arial" pitchFamily="34" charset="-120"/>
              </a:rPr>
              <a:t>Verses 14 – 16</a:t>
            </a:r>
            <a:endParaRPr lang="en-US" sz="1500" dirty="0"/>
          </a:p>
        </p:txBody>
      </p:sp>
      <p:sp>
        <p:nvSpPr>
          <p:cNvPr id="4" name="Text 2"/>
          <p:cNvSpPr txBox="1"/>
          <p:nvPr/>
        </p:nvSpPr>
        <p:spPr>
          <a:xfrm>
            <a:off x="8732520" y="548640"/>
            <a:ext cx="2651760" cy="384048"/>
          </a:xfrm>
          <a:prstGeom prst="rect">
            <a:avLst/>
          </a:prstGeom>
          <a:noFill/>
          <a:ln/>
        </p:spPr>
        <p:txBody>
          <a:bodyPr wrap="square" lIns="0" tIns="0" rIns="0" bIns="0" rtlCol="0" anchor="ctr"/>
          <a:lstStyle/>
          <a:p>
            <a:pPr algn="r" indent="0" marL="0">
              <a:buNone/>
            </a:pPr>
            <a:r>
              <a:rPr lang="en-US" altLang="en-US" sz="1300" i="1" dirty="0">
                <a:solidFill>
                  <a:schemeClr val="accent4"/>
                </a:solidFill>
                <a:latin typeface="Arial" pitchFamily="34" charset="0"/>
                <a:ea typeface="Arial" pitchFamily="34" charset="-122"/>
                <a:cs typeface="Arial" pitchFamily="34" charset="-120"/>
              </a:rPr>
              <a:t>Ibn Kathir, simplified</a:t>
            </a:r>
            <a:endParaRPr lang="en-US" sz="1300" dirty="0"/>
          </a:p>
        </p:txBody>
      </p:sp>
      <p:sp>
        <p:nvSpPr>
          <p:cNvPr id="5" name="Shape 3"/>
          <p:cNvSpPr/>
          <p:nvPr/>
        </p:nvSpPr>
        <p:spPr>
          <a:xfrm>
            <a:off x="713232" y="1453896"/>
            <a:ext cx="548640" cy="548640"/>
          </a:xfrm>
          <a:prstGeom prst="star8">
            <a:avLst/>
          </a:prstGeom>
          <a:solidFill>
            <a:schemeClr val="accent2"/>
          </a:solidFill>
          <a:ln/>
        </p:spPr>
      </p:sp>
      <p:sp>
        <p:nvSpPr>
          <p:cNvPr id="6" name="Shape 4"/>
          <p:cNvSpPr/>
          <p:nvPr/>
        </p:nvSpPr>
        <p:spPr>
          <a:xfrm>
            <a:off x="822960" y="1563624"/>
            <a:ext cx="329184" cy="329184"/>
          </a:xfrm>
          <a:prstGeom prst="ellipse">
            <a:avLst/>
          </a:prstGeom>
          <a:solidFill>
            <a:schemeClr val="bg2"/>
          </a:solidFill>
          <a:ln w="19050">
            <a:solidFill>
              <a:schemeClr val="tx2"/>
            </a:solidFill>
            <a:prstDash val="solid"/>
          </a:ln>
        </p:spPr>
      </p:sp>
      <p:sp>
        <p:nvSpPr>
          <p:cNvPr id="7" name="Text 5"/>
          <p:cNvSpPr txBox="1"/>
          <p:nvPr/>
        </p:nvSpPr>
        <p:spPr>
          <a:xfrm>
            <a:off x="713232" y="1453896"/>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14</a:t>
            </a:r>
            <a:endParaRPr lang="en-US" sz="1600" dirty="0"/>
          </a:p>
        </p:txBody>
      </p:sp>
      <p:sp>
        <p:nvSpPr>
          <p:cNvPr id="8" name="Text 6"/>
          <p:cNvSpPr txBox="1"/>
          <p:nvPr/>
        </p:nvSpPr>
        <p:spPr>
          <a:xfrm>
            <a:off x="1444752" y="1435608"/>
            <a:ext cx="10012680" cy="1252728"/>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وَلَوْ دُخِلَتْ عَلَيْهِم مِّنْ أَقْطَارِهَا ثُمَّ سُئِلُواْ الْفِتْنَةَ لَأتَوْهَا وَمَا تَلَبَّثُواْ بِهَآ إِلَّا يَسِيرًا</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If the enemy had entered Madinah from all sides and they had been asked to return to disbelief, they would have done it quickly without much delay.</a:t>
            </a:r>
            <a:endParaRPr lang="en-US" sz="3000" dirty="0"/>
          </a:p>
        </p:txBody>
      </p:sp>
      <p:sp>
        <p:nvSpPr>
          <p:cNvPr id="9" name="Shape 7"/>
          <p:cNvSpPr/>
          <p:nvPr/>
        </p:nvSpPr>
        <p:spPr>
          <a:xfrm>
            <a:off x="1444752" y="2871216"/>
            <a:ext cx="8641080" cy="0"/>
          </a:xfrm>
          <a:prstGeom prst="line">
            <a:avLst/>
          </a:prstGeom>
          <a:noFill/>
          <a:ln w="9525">
            <a:solidFill>
              <a:schemeClr val="accent2"/>
            </a:solidFill>
            <a:prstDash val="dash"/>
          </a:ln>
        </p:spPr>
      </p:sp>
      <p:sp>
        <p:nvSpPr>
          <p:cNvPr id="10" name="Shape 8"/>
          <p:cNvSpPr/>
          <p:nvPr/>
        </p:nvSpPr>
        <p:spPr>
          <a:xfrm>
            <a:off x="713232" y="3099816"/>
            <a:ext cx="548640" cy="548640"/>
          </a:xfrm>
          <a:prstGeom prst="star8">
            <a:avLst/>
          </a:prstGeom>
          <a:solidFill>
            <a:schemeClr val="accent2"/>
          </a:solidFill>
          <a:ln/>
        </p:spPr>
      </p:sp>
      <p:sp>
        <p:nvSpPr>
          <p:cNvPr id="11" name="Shape 9"/>
          <p:cNvSpPr/>
          <p:nvPr/>
        </p:nvSpPr>
        <p:spPr>
          <a:xfrm>
            <a:off x="822960" y="3209544"/>
            <a:ext cx="329184" cy="329184"/>
          </a:xfrm>
          <a:prstGeom prst="ellipse">
            <a:avLst/>
          </a:prstGeom>
          <a:solidFill>
            <a:schemeClr val="bg2"/>
          </a:solidFill>
          <a:ln w="19050">
            <a:solidFill>
              <a:schemeClr val="tx2"/>
            </a:solidFill>
            <a:prstDash val="solid"/>
          </a:ln>
        </p:spPr>
      </p:sp>
      <p:sp>
        <p:nvSpPr>
          <p:cNvPr id="12" name="Text 10"/>
          <p:cNvSpPr txBox="1"/>
          <p:nvPr/>
        </p:nvSpPr>
        <p:spPr>
          <a:xfrm>
            <a:off x="713232" y="3099816"/>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15</a:t>
            </a:r>
            <a:endParaRPr lang="en-US" sz="1600" dirty="0"/>
          </a:p>
        </p:txBody>
      </p:sp>
      <p:sp>
        <p:nvSpPr>
          <p:cNvPr id="13" name="Text 11"/>
          <p:cNvSpPr txBox="1"/>
          <p:nvPr/>
        </p:nvSpPr>
        <p:spPr>
          <a:xfrm>
            <a:off x="1444752" y="3081528"/>
            <a:ext cx="10012680" cy="1252728"/>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وَلَقَدْ كَانُواْ عَٰهَدُواْ اللَّهَ مِن قَبْلُ لَا يُوَلُّونَ الْأَدْبَٰرَ وَكَانَ عَهْدُ اللَّهِ مَسْـُٔولًا</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They had promised Allah before that they would not run away from battle, and a promise made to Allah will be asked about.</a:t>
            </a:r>
            <a:endParaRPr lang="en-US" sz="3000" dirty="0"/>
          </a:p>
        </p:txBody>
      </p:sp>
      <p:sp>
        <p:nvSpPr>
          <p:cNvPr id="14" name="Shape 12"/>
          <p:cNvSpPr/>
          <p:nvPr/>
        </p:nvSpPr>
        <p:spPr>
          <a:xfrm>
            <a:off x="1444752" y="4517136"/>
            <a:ext cx="8641080" cy="0"/>
          </a:xfrm>
          <a:prstGeom prst="line">
            <a:avLst/>
          </a:prstGeom>
          <a:noFill/>
          <a:ln w="9525">
            <a:solidFill>
              <a:schemeClr val="accent2"/>
            </a:solidFill>
            <a:prstDash val="dash"/>
          </a:ln>
        </p:spPr>
      </p:sp>
      <p:sp>
        <p:nvSpPr>
          <p:cNvPr id="15" name="Shape 13"/>
          <p:cNvSpPr/>
          <p:nvPr/>
        </p:nvSpPr>
        <p:spPr>
          <a:xfrm>
            <a:off x="713232" y="4745736"/>
            <a:ext cx="548640" cy="548640"/>
          </a:xfrm>
          <a:prstGeom prst="star8">
            <a:avLst/>
          </a:prstGeom>
          <a:solidFill>
            <a:schemeClr val="accent2"/>
          </a:solidFill>
          <a:ln/>
        </p:spPr>
      </p:sp>
      <p:sp>
        <p:nvSpPr>
          <p:cNvPr id="16" name="Shape 14"/>
          <p:cNvSpPr/>
          <p:nvPr/>
        </p:nvSpPr>
        <p:spPr>
          <a:xfrm>
            <a:off x="822960" y="4855464"/>
            <a:ext cx="329184" cy="329184"/>
          </a:xfrm>
          <a:prstGeom prst="ellipse">
            <a:avLst/>
          </a:prstGeom>
          <a:solidFill>
            <a:schemeClr val="bg2"/>
          </a:solidFill>
          <a:ln w="19050">
            <a:solidFill>
              <a:schemeClr val="tx2"/>
            </a:solidFill>
            <a:prstDash val="solid"/>
          </a:ln>
        </p:spPr>
      </p:sp>
      <p:sp>
        <p:nvSpPr>
          <p:cNvPr id="17" name="Text 15"/>
          <p:cNvSpPr txBox="1"/>
          <p:nvPr/>
        </p:nvSpPr>
        <p:spPr>
          <a:xfrm>
            <a:off x="713232" y="4745736"/>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16</a:t>
            </a:r>
            <a:endParaRPr lang="en-US" sz="1600" dirty="0"/>
          </a:p>
        </p:txBody>
      </p:sp>
      <p:sp>
        <p:nvSpPr>
          <p:cNvPr id="18" name="Text 16"/>
          <p:cNvSpPr txBox="1"/>
          <p:nvPr/>
        </p:nvSpPr>
        <p:spPr>
          <a:xfrm>
            <a:off x="1444752" y="4727448"/>
            <a:ext cx="10012680" cy="1252728"/>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قُل لَّن يَنفَعَكُمُ الْفِرَارُ إِن فَرَرْتُم مِّنَ الْمَوْتِ أَوِ الْقَتْلِ وَإِذًا لَّا تُمَتَّعُونَ إِلَّا قَلِيلًا</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Say: Running away will not help you if you run from death or being killed, and even if you do, you will only enjoy life a little while.</a:t>
            </a:r>
            <a:endParaRPr lang="en-US" sz="3000" dirty="0"/>
          </a:p>
        </p:txBody>
      </p:sp>
      <p:sp>
        <p:nvSpPr>
          <p:cNvPr id="25" name="Slide Number Placeholder 0"/>
          <p:cNvSpPr>
            <a:spLocks noGrp="1"/>
          </p:cNvSpPr>
          <p:nvPr>
            <p:ph type="sldNum" sz="quarter" idx="4294967295"/>
          </p:nvPr>
        </p:nvSpPr>
        <p:spPr>
          <a:xfrm>
            <a:off x="1115568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algn="ctr" indent="0" marL="0">
              <a:buNone/>
            </a:pPr>
            <a:r>
              <a:rPr lang="en-US" sz="2400" b="1" dirty="0">
                <a:solidFill>
                  <a:schemeClr val="bg1"/>
                </a:solidFill>
                <a:latin typeface="Georgia" pitchFamily="34" charset="0"/>
                <a:ea typeface="Georgia" pitchFamily="34" charset="-122"/>
                <a:cs typeface="Georgia" pitchFamily="34" charset="-120"/>
              </a:rPr>
              <a:t>Surah Al-Ahzab</a:t>
            </a:r>
            <a:endParaRPr lang="en-US" sz="2400" dirty="0"/>
          </a:p>
        </p:txBody>
      </p:sp>
      <p:sp>
        <p:nvSpPr>
          <p:cNvPr id="3" name="Text 1"/>
          <p:cNvSpPr txBox="1"/>
          <p:nvPr/>
        </p:nvSpPr>
        <p:spPr>
          <a:xfrm>
            <a:off x="777240" y="548640"/>
            <a:ext cx="2651760" cy="384048"/>
          </a:xfrm>
          <a:prstGeom prst="rect">
            <a:avLst/>
          </a:prstGeom>
          <a:noFill/>
          <a:ln/>
        </p:spPr>
        <p:txBody>
          <a:bodyPr wrap="square" lIns="0" tIns="0" rIns="0" bIns="0" rtlCol="0" anchor="ctr"/>
          <a:lstStyle/>
          <a:p>
            <a:pPr algn="l" indent="0" marL="0">
              <a:buNone/>
            </a:pPr>
            <a:r>
              <a:rPr lang="en-US" altLang="en-US" sz="1500" b="1" dirty="0">
                <a:solidFill>
                  <a:schemeClr val="accent2"/>
                </a:solidFill>
                <a:latin typeface="Arial" pitchFamily="34" charset="0"/>
                <a:ea typeface="Arial" pitchFamily="34" charset="-122"/>
                <a:cs typeface="Arial" pitchFamily="34" charset="-120"/>
              </a:rPr>
              <a:t>Verses 17 – 18</a:t>
            </a:r>
            <a:endParaRPr lang="en-US" sz="1500" dirty="0"/>
          </a:p>
        </p:txBody>
      </p:sp>
      <p:sp>
        <p:nvSpPr>
          <p:cNvPr id="4" name="Text 2"/>
          <p:cNvSpPr txBox="1"/>
          <p:nvPr/>
        </p:nvSpPr>
        <p:spPr>
          <a:xfrm>
            <a:off x="8732520" y="548640"/>
            <a:ext cx="2651760" cy="384048"/>
          </a:xfrm>
          <a:prstGeom prst="rect">
            <a:avLst/>
          </a:prstGeom>
          <a:noFill/>
          <a:ln/>
        </p:spPr>
        <p:txBody>
          <a:bodyPr wrap="square" lIns="0" tIns="0" rIns="0" bIns="0" rtlCol="0" anchor="ctr"/>
          <a:lstStyle/>
          <a:p>
            <a:pPr algn="r" indent="0" marL="0">
              <a:buNone/>
            </a:pPr>
            <a:r>
              <a:rPr lang="en-US" altLang="en-US" sz="1300" i="1" dirty="0">
                <a:solidFill>
                  <a:schemeClr val="accent4"/>
                </a:solidFill>
                <a:latin typeface="Arial" pitchFamily="34" charset="0"/>
                <a:ea typeface="Arial" pitchFamily="34" charset="-122"/>
                <a:cs typeface="Arial" pitchFamily="34" charset="-120"/>
              </a:rPr>
              <a:t>Ibn Kathir, simplified</a:t>
            </a:r>
            <a:endParaRPr lang="en-US" sz="1300" dirty="0"/>
          </a:p>
        </p:txBody>
      </p:sp>
      <p:sp>
        <p:nvSpPr>
          <p:cNvPr id="5" name="Shape 3"/>
          <p:cNvSpPr/>
          <p:nvPr/>
        </p:nvSpPr>
        <p:spPr>
          <a:xfrm>
            <a:off x="713232" y="1723644"/>
            <a:ext cx="548640" cy="548640"/>
          </a:xfrm>
          <a:prstGeom prst="star8">
            <a:avLst/>
          </a:prstGeom>
          <a:solidFill>
            <a:schemeClr val="accent2"/>
          </a:solidFill>
          <a:ln/>
        </p:spPr>
      </p:sp>
      <p:sp>
        <p:nvSpPr>
          <p:cNvPr id="6" name="Shape 4"/>
          <p:cNvSpPr/>
          <p:nvPr/>
        </p:nvSpPr>
        <p:spPr>
          <a:xfrm>
            <a:off x="822960" y="1833372"/>
            <a:ext cx="329184" cy="329184"/>
          </a:xfrm>
          <a:prstGeom prst="ellipse">
            <a:avLst/>
          </a:prstGeom>
          <a:solidFill>
            <a:schemeClr val="bg2"/>
          </a:solidFill>
          <a:ln w="19050">
            <a:solidFill>
              <a:schemeClr val="tx2"/>
            </a:solidFill>
            <a:prstDash val="solid"/>
          </a:ln>
        </p:spPr>
      </p:sp>
      <p:sp>
        <p:nvSpPr>
          <p:cNvPr id="7" name="Text 5"/>
          <p:cNvSpPr txBox="1"/>
          <p:nvPr/>
        </p:nvSpPr>
        <p:spPr>
          <a:xfrm>
            <a:off x="713232" y="1723644"/>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17</a:t>
            </a:r>
            <a:endParaRPr lang="en-US" sz="1600" dirty="0"/>
          </a:p>
        </p:txBody>
      </p:sp>
      <p:sp>
        <p:nvSpPr>
          <p:cNvPr id="8" name="Text 6"/>
          <p:cNvSpPr txBox="1"/>
          <p:nvPr/>
        </p:nvSpPr>
        <p:spPr>
          <a:xfrm>
            <a:off x="1444752" y="1705356"/>
            <a:ext cx="10012680" cy="1801368"/>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قُلْ مَن ذَا الَّذِي يَعْصِمُكُم مِّنَ اللَّهِ إِنْ أَرَادَ بِكُمْ سُوءًا أَوْ أَرَادَ بِكُمْ رَحْمَةً وَلَا يَجِدُونَ لَهُم مِّن دُونِ اللَّهِ وَلِيًّا وَلَا نَصِيرًا</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Say: Who can protect you from Allah if He wants harm for you or wants mercy for you? They will find no protector or helper besides Allah.</a:t>
            </a:r>
            <a:endParaRPr lang="en-US" sz="3000" dirty="0"/>
          </a:p>
        </p:txBody>
      </p:sp>
      <p:sp>
        <p:nvSpPr>
          <p:cNvPr id="9" name="Shape 7"/>
          <p:cNvSpPr/>
          <p:nvPr/>
        </p:nvSpPr>
        <p:spPr>
          <a:xfrm>
            <a:off x="1444752" y="3694176"/>
            <a:ext cx="8641080" cy="0"/>
          </a:xfrm>
          <a:prstGeom prst="line">
            <a:avLst/>
          </a:prstGeom>
          <a:noFill/>
          <a:ln w="9525">
            <a:solidFill>
              <a:schemeClr val="accent2"/>
            </a:solidFill>
            <a:prstDash val="dash"/>
          </a:ln>
        </p:spPr>
      </p:sp>
      <p:sp>
        <p:nvSpPr>
          <p:cNvPr id="10" name="Shape 8"/>
          <p:cNvSpPr/>
          <p:nvPr/>
        </p:nvSpPr>
        <p:spPr>
          <a:xfrm>
            <a:off x="713232" y="3927348"/>
            <a:ext cx="548640" cy="548640"/>
          </a:xfrm>
          <a:prstGeom prst="star8">
            <a:avLst/>
          </a:prstGeom>
          <a:solidFill>
            <a:schemeClr val="accent2"/>
          </a:solidFill>
          <a:ln/>
        </p:spPr>
      </p:sp>
      <p:sp>
        <p:nvSpPr>
          <p:cNvPr id="11" name="Shape 9"/>
          <p:cNvSpPr/>
          <p:nvPr/>
        </p:nvSpPr>
        <p:spPr>
          <a:xfrm>
            <a:off x="822960" y="4037076"/>
            <a:ext cx="329184" cy="329184"/>
          </a:xfrm>
          <a:prstGeom prst="ellipse">
            <a:avLst/>
          </a:prstGeom>
          <a:solidFill>
            <a:schemeClr val="bg2"/>
          </a:solidFill>
          <a:ln w="19050">
            <a:solidFill>
              <a:schemeClr val="tx2"/>
            </a:solidFill>
            <a:prstDash val="solid"/>
          </a:ln>
        </p:spPr>
      </p:sp>
      <p:sp>
        <p:nvSpPr>
          <p:cNvPr id="12" name="Text 10"/>
          <p:cNvSpPr txBox="1"/>
          <p:nvPr/>
        </p:nvSpPr>
        <p:spPr>
          <a:xfrm>
            <a:off x="713232" y="3927348"/>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18</a:t>
            </a:r>
            <a:endParaRPr lang="en-US" sz="1600" dirty="0"/>
          </a:p>
        </p:txBody>
      </p:sp>
      <p:sp>
        <p:nvSpPr>
          <p:cNvPr id="13" name="Text 11"/>
          <p:cNvSpPr txBox="1"/>
          <p:nvPr/>
        </p:nvSpPr>
        <p:spPr>
          <a:xfrm>
            <a:off x="1444752" y="3909060"/>
            <a:ext cx="10012680" cy="1801368"/>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قَدْ يَعْلَمُ اللَّهُ الْمُعَوِّقِينَ مِنكُمْ وَالْقَآئِلِينَ لِإِخْوَٰنِهِمْ هَلُمَّ إِلَيْنَا وَلَا يَأْتُونَ الْبَأْسَ إِلَّا قَلِيلًا</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Allah knows those among you who hold others back from fighting, and those who say to their brothers: Come to us and leave Muhammad. They only come to the battle a little.</a:t>
            </a:r>
            <a:endParaRPr lang="en-US" sz="3000" dirty="0"/>
          </a:p>
        </p:txBody>
      </p:sp>
      <p:sp>
        <p:nvSpPr>
          <p:cNvPr id="25" name="Slide Number Placeholder 0"/>
          <p:cNvSpPr>
            <a:spLocks noGrp="1"/>
          </p:cNvSpPr>
          <p:nvPr>
            <p:ph type="sldNum" sz="quarter" idx="4294967295"/>
          </p:nvPr>
        </p:nvSpPr>
        <p:spPr>
          <a:xfrm>
            <a:off x="1115568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algn="ctr" indent="0" marL="0">
              <a:buNone/>
            </a:pPr>
            <a:r>
              <a:rPr lang="en-US" sz="2400" b="1" dirty="0">
                <a:solidFill>
                  <a:schemeClr val="bg1"/>
                </a:solidFill>
                <a:latin typeface="Georgia" pitchFamily="34" charset="0"/>
                <a:ea typeface="Georgia" pitchFamily="34" charset="-122"/>
                <a:cs typeface="Georgia" pitchFamily="34" charset="-120"/>
              </a:rPr>
              <a:t>Surah Al-Ahzab</a:t>
            </a:r>
            <a:endParaRPr lang="en-US" sz="2400" dirty="0"/>
          </a:p>
        </p:txBody>
      </p:sp>
      <p:sp>
        <p:nvSpPr>
          <p:cNvPr id="3" name="Text 1"/>
          <p:cNvSpPr txBox="1"/>
          <p:nvPr/>
        </p:nvSpPr>
        <p:spPr>
          <a:xfrm>
            <a:off x="777240" y="548640"/>
            <a:ext cx="2651760" cy="384048"/>
          </a:xfrm>
          <a:prstGeom prst="rect">
            <a:avLst/>
          </a:prstGeom>
          <a:noFill/>
          <a:ln/>
        </p:spPr>
        <p:txBody>
          <a:bodyPr wrap="square" lIns="0" tIns="0" rIns="0" bIns="0" rtlCol="0" anchor="ctr"/>
          <a:lstStyle/>
          <a:p>
            <a:pPr algn="l" indent="0" marL="0">
              <a:buNone/>
            </a:pPr>
            <a:r>
              <a:rPr lang="en-US" altLang="en-US" sz="1500" b="1" dirty="0">
                <a:solidFill>
                  <a:schemeClr val="accent2"/>
                </a:solidFill>
                <a:latin typeface="Arial" pitchFamily="34" charset="0"/>
                <a:ea typeface="Arial" pitchFamily="34" charset="-122"/>
                <a:cs typeface="Arial" pitchFamily="34" charset="-120"/>
              </a:rPr>
              <a:t>Verse 19</a:t>
            </a:r>
            <a:endParaRPr lang="en-US" sz="1500" dirty="0"/>
          </a:p>
        </p:txBody>
      </p:sp>
      <p:sp>
        <p:nvSpPr>
          <p:cNvPr id="4" name="Text 2"/>
          <p:cNvSpPr txBox="1"/>
          <p:nvPr/>
        </p:nvSpPr>
        <p:spPr>
          <a:xfrm>
            <a:off x="8732520" y="548640"/>
            <a:ext cx="2651760" cy="384048"/>
          </a:xfrm>
          <a:prstGeom prst="rect">
            <a:avLst/>
          </a:prstGeom>
          <a:noFill/>
          <a:ln/>
        </p:spPr>
        <p:txBody>
          <a:bodyPr wrap="square" lIns="0" tIns="0" rIns="0" bIns="0" rtlCol="0" anchor="ctr"/>
          <a:lstStyle/>
          <a:p>
            <a:pPr algn="r" indent="0" marL="0">
              <a:buNone/>
            </a:pPr>
            <a:r>
              <a:rPr lang="en-US" altLang="en-US" sz="1300" i="1" dirty="0">
                <a:solidFill>
                  <a:schemeClr val="accent4"/>
                </a:solidFill>
                <a:latin typeface="Arial" pitchFamily="34" charset="0"/>
                <a:ea typeface="Arial" pitchFamily="34" charset="-122"/>
                <a:cs typeface="Arial" pitchFamily="34" charset="-120"/>
              </a:rPr>
              <a:t>Ibn Kathir, simplified</a:t>
            </a:r>
            <a:endParaRPr lang="en-US" sz="1300" dirty="0"/>
          </a:p>
        </p:txBody>
      </p:sp>
      <p:sp>
        <p:nvSpPr>
          <p:cNvPr id="5" name="Shape 3"/>
          <p:cNvSpPr/>
          <p:nvPr/>
        </p:nvSpPr>
        <p:spPr>
          <a:xfrm>
            <a:off x="713232" y="2420874"/>
            <a:ext cx="548640" cy="548640"/>
          </a:xfrm>
          <a:prstGeom prst="star8">
            <a:avLst/>
          </a:prstGeom>
          <a:solidFill>
            <a:schemeClr val="accent2"/>
          </a:solidFill>
          <a:ln/>
        </p:spPr>
      </p:sp>
      <p:sp>
        <p:nvSpPr>
          <p:cNvPr id="6" name="Shape 4"/>
          <p:cNvSpPr/>
          <p:nvPr/>
        </p:nvSpPr>
        <p:spPr>
          <a:xfrm>
            <a:off x="822960" y="2530602"/>
            <a:ext cx="329184" cy="329184"/>
          </a:xfrm>
          <a:prstGeom prst="ellipse">
            <a:avLst/>
          </a:prstGeom>
          <a:solidFill>
            <a:schemeClr val="bg2"/>
          </a:solidFill>
          <a:ln w="19050">
            <a:solidFill>
              <a:schemeClr val="tx2"/>
            </a:solidFill>
            <a:prstDash val="solid"/>
          </a:ln>
        </p:spPr>
      </p:sp>
      <p:sp>
        <p:nvSpPr>
          <p:cNvPr id="7" name="Text 5"/>
          <p:cNvSpPr txBox="1"/>
          <p:nvPr/>
        </p:nvSpPr>
        <p:spPr>
          <a:xfrm>
            <a:off x="713232" y="2420874"/>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19</a:t>
            </a:r>
            <a:endParaRPr lang="en-US" sz="1600" dirty="0"/>
          </a:p>
        </p:txBody>
      </p:sp>
      <p:sp>
        <p:nvSpPr>
          <p:cNvPr id="8" name="Text 6"/>
          <p:cNvSpPr txBox="1"/>
          <p:nvPr/>
        </p:nvSpPr>
        <p:spPr>
          <a:xfrm>
            <a:off x="1444752" y="2402586"/>
            <a:ext cx="10012680" cy="2610612"/>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أَشِحَّةً عَلَيْكُمْ فَإِذَا جَآءَ الْخَوْفُ رَأَيْتَهُمْ يَنظُرُونَ إِلَيْكَ تَدُورُ أَعْيُنُهُمْ كَالَّذِي يُغْشَىٰ عَلَيْهِ مِنَ الْمَوْتِ فَإِذَا ذَهَبَ الْخَوْفُ سَلَقُوكُم بِأَلْسِنَةٍ حِدَادٍ أَشِحَّةً عَلَى الْخَيْرِ أُوْلَـٰئِكَ لَمْ يُؤْمِنُواْ فَأَحْبَطَ اللَّهُ أَعْمَٰلَهُمْ وَكَانَ ذَٰلِكَ عَلَى اللَّهِ يَسِيرًا</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They are stingy in helping you. When fear comes, you see them looking at you with their eyes rolling like someone fainting at death. When the fear passes, they hurt you with sharp tongues, greedy for the spoils. They have not believed, so Allah has cancelled their deeds.</a:t>
            </a:r>
            <a:endParaRPr lang="en-US" sz="3000" dirty="0"/>
          </a:p>
        </p:txBody>
      </p:sp>
      <p:sp>
        <p:nvSpPr>
          <p:cNvPr id="25" name="Slide Number Placeholder 0"/>
          <p:cNvSpPr>
            <a:spLocks noGrp="1"/>
          </p:cNvSpPr>
          <p:nvPr>
            <p:ph type="sldNum" sz="quarter" idx="4294967295"/>
          </p:nvPr>
        </p:nvSpPr>
        <p:spPr>
          <a:xfrm>
            <a:off x="1115568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algn="ctr" indent="0" marL="0">
              <a:buNone/>
            </a:pPr>
            <a:r>
              <a:rPr lang="en-US" sz="2400" b="1" dirty="0">
                <a:solidFill>
                  <a:schemeClr val="bg1"/>
                </a:solidFill>
                <a:latin typeface="Georgia" pitchFamily="34" charset="0"/>
                <a:ea typeface="Georgia" pitchFamily="34" charset="-122"/>
                <a:cs typeface="Georgia" pitchFamily="34" charset="-120"/>
              </a:rPr>
              <a:t>Surah Al-Ahzab</a:t>
            </a:r>
            <a:endParaRPr lang="en-US" sz="2400" dirty="0"/>
          </a:p>
        </p:txBody>
      </p:sp>
      <p:sp>
        <p:nvSpPr>
          <p:cNvPr id="3" name="Text 1"/>
          <p:cNvSpPr txBox="1"/>
          <p:nvPr/>
        </p:nvSpPr>
        <p:spPr>
          <a:xfrm>
            <a:off x="777240" y="548640"/>
            <a:ext cx="2651760" cy="384048"/>
          </a:xfrm>
          <a:prstGeom prst="rect">
            <a:avLst/>
          </a:prstGeom>
          <a:noFill/>
          <a:ln/>
        </p:spPr>
        <p:txBody>
          <a:bodyPr wrap="square" lIns="0" tIns="0" rIns="0" bIns="0" rtlCol="0" anchor="ctr"/>
          <a:lstStyle/>
          <a:p>
            <a:pPr algn="l" indent="0" marL="0">
              <a:buNone/>
            </a:pPr>
            <a:r>
              <a:rPr lang="en-US" altLang="en-US" sz="1500" b="1" dirty="0">
                <a:solidFill>
                  <a:schemeClr val="accent2"/>
                </a:solidFill>
                <a:latin typeface="Arial" pitchFamily="34" charset="0"/>
                <a:ea typeface="Arial" pitchFamily="34" charset="-122"/>
                <a:cs typeface="Arial" pitchFamily="34" charset="-120"/>
              </a:rPr>
              <a:t>Verses 20 – 21</a:t>
            </a:r>
            <a:endParaRPr lang="en-US" sz="1500" dirty="0"/>
          </a:p>
        </p:txBody>
      </p:sp>
      <p:sp>
        <p:nvSpPr>
          <p:cNvPr id="4" name="Text 2"/>
          <p:cNvSpPr txBox="1"/>
          <p:nvPr/>
        </p:nvSpPr>
        <p:spPr>
          <a:xfrm>
            <a:off x="8732520" y="548640"/>
            <a:ext cx="2651760" cy="384048"/>
          </a:xfrm>
          <a:prstGeom prst="rect">
            <a:avLst/>
          </a:prstGeom>
          <a:noFill/>
          <a:ln/>
        </p:spPr>
        <p:txBody>
          <a:bodyPr wrap="square" lIns="0" tIns="0" rIns="0" bIns="0" rtlCol="0" anchor="ctr"/>
          <a:lstStyle/>
          <a:p>
            <a:pPr algn="r" indent="0" marL="0">
              <a:buNone/>
            </a:pPr>
            <a:r>
              <a:rPr lang="en-US" altLang="en-US" sz="1300" i="1" dirty="0">
                <a:solidFill>
                  <a:schemeClr val="accent4"/>
                </a:solidFill>
                <a:latin typeface="Arial" pitchFamily="34" charset="0"/>
                <a:ea typeface="Arial" pitchFamily="34" charset="-122"/>
                <a:cs typeface="Arial" pitchFamily="34" charset="-120"/>
              </a:rPr>
              <a:t>Ibn Kathir, simplified</a:t>
            </a:r>
            <a:endParaRPr lang="en-US" sz="1300" dirty="0"/>
          </a:p>
        </p:txBody>
      </p:sp>
      <p:sp>
        <p:nvSpPr>
          <p:cNvPr id="5" name="Shape 3"/>
          <p:cNvSpPr/>
          <p:nvPr/>
        </p:nvSpPr>
        <p:spPr>
          <a:xfrm>
            <a:off x="713232" y="1593342"/>
            <a:ext cx="548640" cy="548640"/>
          </a:xfrm>
          <a:prstGeom prst="star8">
            <a:avLst/>
          </a:prstGeom>
          <a:solidFill>
            <a:schemeClr val="accent2"/>
          </a:solidFill>
          <a:ln/>
        </p:spPr>
      </p:sp>
      <p:sp>
        <p:nvSpPr>
          <p:cNvPr id="6" name="Shape 4"/>
          <p:cNvSpPr/>
          <p:nvPr/>
        </p:nvSpPr>
        <p:spPr>
          <a:xfrm>
            <a:off x="822960" y="1703070"/>
            <a:ext cx="329184" cy="329184"/>
          </a:xfrm>
          <a:prstGeom prst="ellipse">
            <a:avLst/>
          </a:prstGeom>
          <a:solidFill>
            <a:schemeClr val="bg2"/>
          </a:solidFill>
          <a:ln w="19050">
            <a:solidFill>
              <a:schemeClr val="tx2"/>
            </a:solidFill>
            <a:prstDash val="solid"/>
          </a:ln>
        </p:spPr>
      </p:sp>
      <p:sp>
        <p:nvSpPr>
          <p:cNvPr id="7" name="Text 5"/>
          <p:cNvSpPr txBox="1"/>
          <p:nvPr/>
        </p:nvSpPr>
        <p:spPr>
          <a:xfrm>
            <a:off x="713232" y="1593342"/>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20</a:t>
            </a:r>
            <a:endParaRPr lang="en-US" sz="1600" dirty="0"/>
          </a:p>
        </p:txBody>
      </p:sp>
      <p:sp>
        <p:nvSpPr>
          <p:cNvPr id="8" name="Text 6"/>
          <p:cNvSpPr txBox="1"/>
          <p:nvPr/>
        </p:nvSpPr>
        <p:spPr>
          <a:xfrm>
            <a:off x="1444752" y="1575054"/>
            <a:ext cx="10012680" cy="2061972"/>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يَحْسَبُونَ الْأَحْزَابَ لَمْ يَذْهَبُواْ وَإِن يَأْتِ الْأَحْزَابُ يَوَدُّواْ لَوْ أَنَّهُم بَادُونَ فِي الْأَعْرَابِ يَسْـَٔلُونَ عَنْ أَنبَآئِكُمْ وَلَوْ كَانُواْ فِيكُم مَّا قَٰتَلُواْ إِلَّا قَلِيلًا</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Out of great fear, the hypocrites think the allies have not left. If the allies came again, they would wish they were out in the desert with the Bedouins, asking for news about you. Even if they were with you, they would fight only a little.</a:t>
            </a:r>
            <a:endParaRPr lang="en-US" sz="3000" dirty="0"/>
          </a:p>
        </p:txBody>
      </p:sp>
      <p:sp>
        <p:nvSpPr>
          <p:cNvPr id="9" name="Shape 7"/>
          <p:cNvSpPr/>
          <p:nvPr/>
        </p:nvSpPr>
        <p:spPr>
          <a:xfrm>
            <a:off x="1444752" y="3824478"/>
            <a:ext cx="8641080" cy="0"/>
          </a:xfrm>
          <a:prstGeom prst="line">
            <a:avLst/>
          </a:prstGeom>
          <a:noFill/>
          <a:ln w="9525">
            <a:solidFill>
              <a:schemeClr val="accent2"/>
            </a:solidFill>
            <a:prstDash val="dash"/>
          </a:ln>
        </p:spPr>
      </p:sp>
      <p:sp>
        <p:nvSpPr>
          <p:cNvPr id="10" name="Shape 8"/>
          <p:cNvSpPr/>
          <p:nvPr/>
        </p:nvSpPr>
        <p:spPr>
          <a:xfrm>
            <a:off x="713232" y="4057650"/>
            <a:ext cx="548640" cy="548640"/>
          </a:xfrm>
          <a:prstGeom prst="star8">
            <a:avLst/>
          </a:prstGeom>
          <a:solidFill>
            <a:schemeClr val="accent2"/>
          </a:solidFill>
          <a:ln/>
        </p:spPr>
      </p:sp>
      <p:sp>
        <p:nvSpPr>
          <p:cNvPr id="11" name="Shape 9"/>
          <p:cNvSpPr/>
          <p:nvPr/>
        </p:nvSpPr>
        <p:spPr>
          <a:xfrm>
            <a:off x="822960" y="4167378"/>
            <a:ext cx="329184" cy="329184"/>
          </a:xfrm>
          <a:prstGeom prst="ellipse">
            <a:avLst/>
          </a:prstGeom>
          <a:solidFill>
            <a:schemeClr val="bg2"/>
          </a:solidFill>
          <a:ln w="19050">
            <a:solidFill>
              <a:schemeClr val="tx2"/>
            </a:solidFill>
            <a:prstDash val="solid"/>
          </a:ln>
        </p:spPr>
      </p:sp>
      <p:sp>
        <p:nvSpPr>
          <p:cNvPr id="12" name="Text 10"/>
          <p:cNvSpPr txBox="1"/>
          <p:nvPr/>
        </p:nvSpPr>
        <p:spPr>
          <a:xfrm>
            <a:off x="713232" y="4057650"/>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21</a:t>
            </a:r>
            <a:endParaRPr lang="en-US" sz="1600" dirty="0"/>
          </a:p>
        </p:txBody>
      </p:sp>
      <p:sp>
        <p:nvSpPr>
          <p:cNvPr id="13" name="Text 11"/>
          <p:cNvSpPr txBox="1"/>
          <p:nvPr/>
        </p:nvSpPr>
        <p:spPr>
          <a:xfrm>
            <a:off x="1444752" y="4039362"/>
            <a:ext cx="10012680" cy="1801368"/>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لَّقَدْ كَانَ لَكُمْ فِي رَسُولِ اللَّهِ أُسْوَةٌ حَسَنَةٌ لِّمَن كَانَ يَرْجُواْ اللَّهَ وَالْيَوْمَ الْأخِرَ وَذَكَرَ اللَّهَ كَثِيرًا</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In the Messenger of Allah you have an excellent example in his words, actions and patience, for whoever hopes for Allah's reward and the Last Day and remembers Allah often.</a:t>
            </a:r>
            <a:endParaRPr lang="en-US" sz="3000" dirty="0"/>
          </a:p>
        </p:txBody>
      </p:sp>
      <p:sp>
        <p:nvSpPr>
          <p:cNvPr id="25" name="Slide Number Placeholder 0"/>
          <p:cNvSpPr>
            <a:spLocks noGrp="1"/>
          </p:cNvSpPr>
          <p:nvPr>
            <p:ph type="sldNum" sz="quarter" idx="4294967295"/>
          </p:nvPr>
        </p:nvSpPr>
        <p:spPr>
          <a:xfrm>
            <a:off x="1115568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15</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algn="ctr" indent="0" marL="0">
              <a:buNone/>
            </a:pPr>
            <a:r>
              <a:rPr lang="en-US" sz="2400" b="1" dirty="0">
                <a:solidFill>
                  <a:schemeClr val="bg1"/>
                </a:solidFill>
                <a:latin typeface="Georgia" pitchFamily="34" charset="0"/>
                <a:ea typeface="Georgia" pitchFamily="34" charset="-122"/>
                <a:cs typeface="Georgia" pitchFamily="34" charset="-120"/>
              </a:rPr>
              <a:t>Surah Al-Ahzab</a:t>
            </a:r>
            <a:endParaRPr lang="en-US" sz="2400" dirty="0"/>
          </a:p>
        </p:txBody>
      </p:sp>
      <p:sp>
        <p:nvSpPr>
          <p:cNvPr id="3" name="Text 1"/>
          <p:cNvSpPr txBox="1"/>
          <p:nvPr/>
        </p:nvSpPr>
        <p:spPr>
          <a:xfrm>
            <a:off x="777240" y="548640"/>
            <a:ext cx="2651760" cy="384048"/>
          </a:xfrm>
          <a:prstGeom prst="rect">
            <a:avLst/>
          </a:prstGeom>
          <a:noFill/>
          <a:ln/>
        </p:spPr>
        <p:txBody>
          <a:bodyPr wrap="square" lIns="0" tIns="0" rIns="0" bIns="0" rtlCol="0" anchor="ctr"/>
          <a:lstStyle/>
          <a:p>
            <a:pPr algn="l" indent="0" marL="0">
              <a:buNone/>
            </a:pPr>
            <a:r>
              <a:rPr lang="en-US" altLang="en-US" sz="1500" b="1" dirty="0">
                <a:solidFill>
                  <a:schemeClr val="accent2"/>
                </a:solidFill>
                <a:latin typeface="Arial" pitchFamily="34" charset="0"/>
                <a:ea typeface="Arial" pitchFamily="34" charset="-122"/>
                <a:cs typeface="Arial" pitchFamily="34" charset="-120"/>
              </a:rPr>
              <a:t>Verses 22 – 23</a:t>
            </a:r>
            <a:endParaRPr lang="en-US" sz="1500" dirty="0"/>
          </a:p>
        </p:txBody>
      </p:sp>
      <p:sp>
        <p:nvSpPr>
          <p:cNvPr id="4" name="Text 2"/>
          <p:cNvSpPr txBox="1"/>
          <p:nvPr/>
        </p:nvSpPr>
        <p:spPr>
          <a:xfrm>
            <a:off x="8732520" y="548640"/>
            <a:ext cx="2651760" cy="384048"/>
          </a:xfrm>
          <a:prstGeom prst="rect">
            <a:avLst/>
          </a:prstGeom>
          <a:noFill/>
          <a:ln/>
        </p:spPr>
        <p:txBody>
          <a:bodyPr wrap="square" lIns="0" tIns="0" rIns="0" bIns="0" rtlCol="0" anchor="ctr"/>
          <a:lstStyle/>
          <a:p>
            <a:pPr algn="r" indent="0" marL="0">
              <a:buNone/>
            </a:pPr>
            <a:r>
              <a:rPr lang="en-US" altLang="en-US" sz="1300" i="1" dirty="0">
                <a:solidFill>
                  <a:schemeClr val="accent4"/>
                </a:solidFill>
                <a:latin typeface="Arial" pitchFamily="34" charset="0"/>
                <a:ea typeface="Arial" pitchFamily="34" charset="-122"/>
                <a:cs typeface="Arial" pitchFamily="34" charset="-120"/>
              </a:rPr>
              <a:t>Ibn Kathir, simplified</a:t>
            </a:r>
            <a:endParaRPr lang="en-US" sz="1300" dirty="0"/>
          </a:p>
        </p:txBody>
      </p:sp>
      <p:sp>
        <p:nvSpPr>
          <p:cNvPr id="5" name="Shape 3"/>
          <p:cNvSpPr/>
          <p:nvPr/>
        </p:nvSpPr>
        <p:spPr>
          <a:xfrm>
            <a:off x="713232" y="1463040"/>
            <a:ext cx="548640" cy="548640"/>
          </a:xfrm>
          <a:prstGeom prst="star8">
            <a:avLst/>
          </a:prstGeom>
          <a:solidFill>
            <a:schemeClr val="accent2"/>
          </a:solidFill>
          <a:ln/>
        </p:spPr>
      </p:sp>
      <p:sp>
        <p:nvSpPr>
          <p:cNvPr id="6" name="Shape 4"/>
          <p:cNvSpPr/>
          <p:nvPr/>
        </p:nvSpPr>
        <p:spPr>
          <a:xfrm>
            <a:off x="822960" y="1572768"/>
            <a:ext cx="329184" cy="329184"/>
          </a:xfrm>
          <a:prstGeom prst="ellipse">
            <a:avLst/>
          </a:prstGeom>
          <a:solidFill>
            <a:schemeClr val="bg2"/>
          </a:solidFill>
          <a:ln w="19050">
            <a:solidFill>
              <a:schemeClr val="tx2"/>
            </a:solidFill>
            <a:prstDash val="solid"/>
          </a:ln>
        </p:spPr>
      </p:sp>
      <p:sp>
        <p:nvSpPr>
          <p:cNvPr id="7" name="Text 5"/>
          <p:cNvSpPr txBox="1"/>
          <p:nvPr/>
        </p:nvSpPr>
        <p:spPr>
          <a:xfrm>
            <a:off x="713232" y="1463040"/>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22</a:t>
            </a:r>
            <a:endParaRPr lang="en-US" sz="1600" dirty="0"/>
          </a:p>
        </p:txBody>
      </p:sp>
      <p:sp>
        <p:nvSpPr>
          <p:cNvPr id="8" name="Text 6"/>
          <p:cNvSpPr txBox="1"/>
          <p:nvPr/>
        </p:nvSpPr>
        <p:spPr>
          <a:xfrm>
            <a:off x="1444752" y="1444752"/>
            <a:ext cx="10012680" cy="2061972"/>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وَلَمَّا رَءَا الْمُؤْمِنُونَ الْأَحْزَابَ قَالُواْ هَٰذَا مَا وَعَدَنَا اللَّهُ وَرَسُولُهُ وَصَدَقَ اللَّهُ وَرَسُولُهُ وَمَا زَادَهُمْ إِلَّآ إِيمَٰنًا وَتَسْلِيمًا</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When the believers saw the allies, they said: This is what Allah and His Messenger promised us, testing and then victory, and Allah and His Messenger told the truth. It only increased them in faith and submission.</a:t>
            </a:r>
            <a:endParaRPr lang="en-US" sz="3000" dirty="0"/>
          </a:p>
        </p:txBody>
      </p:sp>
      <p:sp>
        <p:nvSpPr>
          <p:cNvPr id="9" name="Shape 7"/>
          <p:cNvSpPr/>
          <p:nvPr/>
        </p:nvSpPr>
        <p:spPr>
          <a:xfrm>
            <a:off x="1444752" y="3694176"/>
            <a:ext cx="8641080" cy="0"/>
          </a:xfrm>
          <a:prstGeom prst="line">
            <a:avLst/>
          </a:prstGeom>
          <a:noFill/>
          <a:ln w="9525">
            <a:solidFill>
              <a:schemeClr val="accent2"/>
            </a:solidFill>
            <a:prstDash val="dash"/>
          </a:ln>
        </p:spPr>
      </p:sp>
      <p:sp>
        <p:nvSpPr>
          <p:cNvPr id="10" name="Shape 8"/>
          <p:cNvSpPr/>
          <p:nvPr/>
        </p:nvSpPr>
        <p:spPr>
          <a:xfrm>
            <a:off x="713232" y="3927348"/>
            <a:ext cx="548640" cy="548640"/>
          </a:xfrm>
          <a:prstGeom prst="star8">
            <a:avLst/>
          </a:prstGeom>
          <a:solidFill>
            <a:schemeClr val="accent2"/>
          </a:solidFill>
          <a:ln/>
        </p:spPr>
      </p:sp>
      <p:sp>
        <p:nvSpPr>
          <p:cNvPr id="11" name="Shape 9"/>
          <p:cNvSpPr/>
          <p:nvPr/>
        </p:nvSpPr>
        <p:spPr>
          <a:xfrm>
            <a:off x="822960" y="4037076"/>
            <a:ext cx="329184" cy="329184"/>
          </a:xfrm>
          <a:prstGeom prst="ellipse">
            <a:avLst/>
          </a:prstGeom>
          <a:solidFill>
            <a:schemeClr val="bg2"/>
          </a:solidFill>
          <a:ln w="19050">
            <a:solidFill>
              <a:schemeClr val="tx2"/>
            </a:solidFill>
            <a:prstDash val="solid"/>
          </a:ln>
        </p:spPr>
      </p:sp>
      <p:sp>
        <p:nvSpPr>
          <p:cNvPr id="12" name="Text 10"/>
          <p:cNvSpPr txBox="1"/>
          <p:nvPr/>
        </p:nvSpPr>
        <p:spPr>
          <a:xfrm>
            <a:off x="713232" y="3927348"/>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23</a:t>
            </a:r>
            <a:endParaRPr lang="en-US" sz="1600" dirty="0"/>
          </a:p>
        </p:txBody>
      </p:sp>
      <p:sp>
        <p:nvSpPr>
          <p:cNvPr id="13" name="Text 11"/>
          <p:cNvSpPr txBox="1"/>
          <p:nvPr/>
        </p:nvSpPr>
        <p:spPr>
          <a:xfrm>
            <a:off x="1444752" y="3909060"/>
            <a:ext cx="10012680" cy="2061972"/>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مِّنَ الْمُؤْمِنِينَ رِجَالٌ صَدَقُواْ مَا عَٰهَدُواْ اللَّهَ عَلَيْهِ فَمِنْهُم مَّن قَضَىٰ نَحْبَهُ وَمِنْهُم مَّن يَنتَظِرُ وَمَا بَدَّلُواْ تَبْدِيلًا</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Among the believers are men who have been true to their promise to Allah to stand firm. Some have died as martyrs, and some are still waiting, and they have never changed. It was revealed about Anas ibn An-Nadr and others like him (Bukhari).</a:t>
            </a:r>
            <a:endParaRPr lang="en-US" sz="3000" dirty="0"/>
          </a:p>
        </p:txBody>
      </p:sp>
      <p:sp>
        <p:nvSpPr>
          <p:cNvPr id="25" name="Slide Number Placeholder 0"/>
          <p:cNvSpPr>
            <a:spLocks noGrp="1"/>
          </p:cNvSpPr>
          <p:nvPr>
            <p:ph type="sldNum" sz="quarter" idx="4294967295"/>
          </p:nvPr>
        </p:nvSpPr>
        <p:spPr>
          <a:xfrm>
            <a:off x="1115568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16</a:t>
            </a:fld>
            <a:endParaRPr 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algn="ctr" indent="0" marL="0">
              <a:buNone/>
            </a:pPr>
            <a:r>
              <a:rPr lang="en-US" sz="2400" b="1" dirty="0">
                <a:solidFill>
                  <a:schemeClr val="bg1"/>
                </a:solidFill>
                <a:latin typeface="Georgia" pitchFamily="34" charset="0"/>
                <a:ea typeface="Georgia" pitchFamily="34" charset="-122"/>
                <a:cs typeface="Georgia" pitchFamily="34" charset="-120"/>
              </a:rPr>
              <a:t>Surah Al-Ahzab</a:t>
            </a:r>
            <a:endParaRPr lang="en-US" sz="2400" dirty="0"/>
          </a:p>
        </p:txBody>
      </p:sp>
      <p:sp>
        <p:nvSpPr>
          <p:cNvPr id="3" name="Text 1"/>
          <p:cNvSpPr txBox="1"/>
          <p:nvPr/>
        </p:nvSpPr>
        <p:spPr>
          <a:xfrm>
            <a:off x="777240" y="548640"/>
            <a:ext cx="2651760" cy="384048"/>
          </a:xfrm>
          <a:prstGeom prst="rect">
            <a:avLst/>
          </a:prstGeom>
          <a:noFill/>
          <a:ln/>
        </p:spPr>
        <p:txBody>
          <a:bodyPr wrap="square" lIns="0" tIns="0" rIns="0" bIns="0" rtlCol="0" anchor="ctr"/>
          <a:lstStyle/>
          <a:p>
            <a:pPr algn="l" indent="0" marL="0">
              <a:buNone/>
            </a:pPr>
            <a:r>
              <a:rPr lang="en-US" altLang="en-US" sz="1500" b="1" dirty="0">
                <a:solidFill>
                  <a:schemeClr val="accent2"/>
                </a:solidFill>
                <a:latin typeface="Arial" pitchFamily="34" charset="0"/>
                <a:ea typeface="Arial" pitchFamily="34" charset="-122"/>
                <a:cs typeface="Arial" pitchFamily="34" charset="-120"/>
              </a:rPr>
              <a:t>Verses 24 – 25</a:t>
            </a:r>
            <a:endParaRPr lang="en-US" sz="1500" dirty="0"/>
          </a:p>
        </p:txBody>
      </p:sp>
      <p:sp>
        <p:nvSpPr>
          <p:cNvPr id="4" name="Text 2"/>
          <p:cNvSpPr txBox="1"/>
          <p:nvPr/>
        </p:nvSpPr>
        <p:spPr>
          <a:xfrm>
            <a:off x="8732520" y="548640"/>
            <a:ext cx="2651760" cy="384048"/>
          </a:xfrm>
          <a:prstGeom prst="rect">
            <a:avLst/>
          </a:prstGeom>
          <a:noFill/>
          <a:ln/>
        </p:spPr>
        <p:txBody>
          <a:bodyPr wrap="square" lIns="0" tIns="0" rIns="0" bIns="0" rtlCol="0" anchor="ctr"/>
          <a:lstStyle/>
          <a:p>
            <a:pPr algn="r" indent="0" marL="0">
              <a:buNone/>
            </a:pPr>
            <a:r>
              <a:rPr lang="en-US" altLang="en-US" sz="1300" i="1" dirty="0">
                <a:solidFill>
                  <a:schemeClr val="accent4"/>
                </a:solidFill>
                <a:latin typeface="Arial" pitchFamily="34" charset="0"/>
                <a:ea typeface="Arial" pitchFamily="34" charset="-122"/>
                <a:cs typeface="Arial" pitchFamily="34" charset="-120"/>
              </a:rPr>
              <a:t>Ibn Kathir, simplified</a:t>
            </a:r>
            <a:endParaRPr lang="en-US" sz="1300" dirty="0"/>
          </a:p>
        </p:txBody>
      </p:sp>
      <p:sp>
        <p:nvSpPr>
          <p:cNvPr id="5" name="Shape 3"/>
          <p:cNvSpPr/>
          <p:nvPr/>
        </p:nvSpPr>
        <p:spPr>
          <a:xfrm>
            <a:off x="713232" y="1723644"/>
            <a:ext cx="548640" cy="548640"/>
          </a:xfrm>
          <a:prstGeom prst="star8">
            <a:avLst/>
          </a:prstGeom>
          <a:solidFill>
            <a:schemeClr val="accent2"/>
          </a:solidFill>
          <a:ln/>
        </p:spPr>
      </p:sp>
      <p:sp>
        <p:nvSpPr>
          <p:cNvPr id="6" name="Shape 4"/>
          <p:cNvSpPr/>
          <p:nvPr/>
        </p:nvSpPr>
        <p:spPr>
          <a:xfrm>
            <a:off x="822960" y="1833372"/>
            <a:ext cx="329184" cy="329184"/>
          </a:xfrm>
          <a:prstGeom prst="ellipse">
            <a:avLst/>
          </a:prstGeom>
          <a:solidFill>
            <a:schemeClr val="bg2"/>
          </a:solidFill>
          <a:ln w="19050">
            <a:solidFill>
              <a:schemeClr val="tx2"/>
            </a:solidFill>
            <a:prstDash val="solid"/>
          </a:ln>
        </p:spPr>
      </p:sp>
      <p:sp>
        <p:nvSpPr>
          <p:cNvPr id="7" name="Text 5"/>
          <p:cNvSpPr txBox="1"/>
          <p:nvPr/>
        </p:nvSpPr>
        <p:spPr>
          <a:xfrm>
            <a:off x="713232" y="1723644"/>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24</a:t>
            </a:r>
            <a:endParaRPr lang="en-US" sz="1600" dirty="0"/>
          </a:p>
        </p:txBody>
      </p:sp>
      <p:sp>
        <p:nvSpPr>
          <p:cNvPr id="8" name="Text 6"/>
          <p:cNvSpPr txBox="1"/>
          <p:nvPr/>
        </p:nvSpPr>
        <p:spPr>
          <a:xfrm>
            <a:off x="1444752" y="1705356"/>
            <a:ext cx="10012680" cy="1801368"/>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لِّيَجْزِيَ اللَّهُ الصَّـٰدِقِينَ بِصِدْقِهِمْ وَيُعَذِّبَ الْمُنَٰفِقِينَ إِن شَآءَ أَوْ يَتُوبَ عَلَيْهِمْ إِنَّ اللَّهَ كَانَ غَفُورًا رَّحِيمًا</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So that Allah may reward the truthful for their truthfulness, and punish the hypocrites if He wills or accept their repentance. Allah is Forgiving, Most Merciful.</a:t>
            </a:r>
            <a:endParaRPr lang="en-US" sz="3000" dirty="0"/>
          </a:p>
        </p:txBody>
      </p:sp>
      <p:sp>
        <p:nvSpPr>
          <p:cNvPr id="9" name="Shape 7"/>
          <p:cNvSpPr/>
          <p:nvPr/>
        </p:nvSpPr>
        <p:spPr>
          <a:xfrm>
            <a:off x="1444752" y="3694176"/>
            <a:ext cx="8641080" cy="0"/>
          </a:xfrm>
          <a:prstGeom prst="line">
            <a:avLst/>
          </a:prstGeom>
          <a:noFill/>
          <a:ln w="9525">
            <a:solidFill>
              <a:schemeClr val="accent2"/>
            </a:solidFill>
            <a:prstDash val="dash"/>
          </a:ln>
        </p:spPr>
      </p:sp>
      <p:sp>
        <p:nvSpPr>
          <p:cNvPr id="10" name="Shape 8"/>
          <p:cNvSpPr/>
          <p:nvPr/>
        </p:nvSpPr>
        <p:spPr>
          <a:xfrm>
            <a:off x="713232" y="3927348"/>
            <a:ext cx="548640" cy="548640"/>
          </a:xfrm>
          <a:prstGeom prst="star8">
            <a:avLst/>
          </a:prstGeom>
          <a:solidFill>
            <a:schemeClr val="accent2"/>
          </a:solidFill>
          <a:ln/>
        </p:spPr>
      </p:sp>
      <p:sp>
        <p:nvSpPr>
          <p:cNvPr id="11" name="Shape 9"/>
          <p:cNvSpPr/>
          <p:nvPr/>
        </p:nvSpPr>
        <p:spPr>
          <a:xfrm>
            <a:off x="822960" y="4037076"/>
            <a:ext cx="329184" cy="329184"/>
          </a:xfrm>
          <a:prstGeom prst="ellipse">
            <a:avLst/>
          </a:prstGeom>
          <a:solidFill>
            <a:schemeClr val="bg2"/>
          </a:solidFill>
          <a:ln w="19050">
            <a:solidFill>
              <a:schemeClr val="tx2"/>
            </a:solidFill>
            <a:prstDash val="solid"/>
          </a:ln>
        </p:spPr>
      </p:sp>
      <p:sp>
        <p:nvSpPr>
          <p:cNvPr id="12" name="Text 10"/>
          <p:cNvSpPr txBox="1"/>
          <p:nvPr/>
        </p:nvSpPr>
        <p:spPr>
          <a:xfrm>
            <a:off x="713232" y="3927348"/>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25</a:t>
            </a:r>
            <a:endParaRPr lang="en-US" sz="1600" dirty="0"/>
          </a:p>
        </p:txBody>
      </p:sp>
      <p:sp>
        <p:nvSpPr>
          <p:cNvPr id="13" name="Text 11"/>
          <p:cNvSpPr txBox="1"/>
          <p:nvPr/>
        </p:nvSpPr>
        <p:spPr>
          <a:xfrm>
            <a:off x="1444752" y="3909060"/>
            <a:ext cx="10012680" cy="1801368"/>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وَرَدَّ اللَّهُ الَّذِينَ كَفَرُواْ بِغَيْظِهِمْ لَمْ يَنَالُواْ خَيْرًا وَكَفَى اللَّهُ الْمُؤْمِنِينَ الْقِتَالَ وَكَانَ اللَّهُ قَوِيًّا عَزِيزًا</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Allah turned the disbelievers back full of rage, having gained nothing good. Allah spared the believers from fighting by the wind and the angels. Allah is Strong, Almighty.</a:t>
            </a:r>
            <a:endParaRPr lang="en-US" sz="3000" dirty="0"/>
          </a:p>
        </p:txBody>
      </p:sp>
      <p:sp>
        <p:nvSpPr>
          <p:cNvPr id="25" name="Slide Number Placeholder 0"/>
          <p:cNvSpPr>
            <a:spLocks noGrp="1"/>
          </p:cNvSpPr>
          <p:nvPr>
            <p:ph type="sldNum" sz="quarter" idx="4294967295"/>
          </p:nvPr>
        </p:nvSpPr>
        <p:spPr>
          <a:xfrm>
            <a:off x="1115568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17</a:t>
            </a:fld>
            <a:endParaRPr lang="en-US"/>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algn="ctr" indent="0" marL="0">
              <a:buNone/>
            </a:pPr>
            <a:r>
              <a:rPr lang="en-US" sz="2400" b="1" dirty="0">
                <a:solidFill>
                  <a:schemeClr val="bg1"/>
                </a:solidFill>
                <a:latin typeface="Georgia" pitchFamily="34" charset="0"/>
                <a:ea typeface="Georgia" pitchFamily="34" charset="-122"/>
                <a:cs typeface="Georgia" pitchFamily="34" charset="-120"/>
              </a:rPr>
              <a:t>Surah Al-Ahzab</a:t>
            </a:r>
            <a:endParaRPr lang="en-US" sz="2400" dirty="0"/>
          </a:p>
        </p:txBody>
      </p:sp>
      <p:sp>
        <p:nvSpPr>
          <p:cNvPr id="3" name="Text 1"/>
          <p:cNvSpPr txBox="1"/>
          <p:nvPr/>
        </p:nvSpPr>
        <p:spPr>
          <a:xfrm>
            <a:off x="777240" y="548640"/>
            <a:ext cx="2651760" cy="384048"/>
          </a:xfrm>
          <a:prstGeom prst="rect">
            <a:avLst/>
          </a:prstGeom>
          <a:noFill/>
          <a:ln/>
        </p:spPr>
        <p:txBody>
          <a:bodyPr wrap="square" lIns="0" tIns="0" rIns="0" bIns="0" rtlCol="0" anchor="ctr"/>
          <a:lstStyle/>
          <a:p>
            <a:pPr algn="l" indent="0" marL="0">
              <a:buNone/>
            </a:pPr>
            <a:r>
              <a:rPr lang="en-US" altLang="en-US" sz="1500" b="1" dirty="0">
                <a:solidFill>
                  <a:schemeClr val="accent2"/>
                </a:solidFill>
                <a:latin typeface="Arial" pitchFamily="34" charset="0"/>
                <a:ea typeface="Arial" pitchFamily="34" charset="-122"/>
                <a:cs typeface="Arial" pitchFamily="34" charset="-120"/>
              </a:rPr>
              <a:t>Verses 26 – 27</a:t>
            </a:r>
            <a:endParaRPr lang="en-US" sz="1500" dirty="0"/>
          </a:p>
        </p:txBody>
      </p:sp>
      <p:sp>
        <p:nvSpPr>
          <p:cNvPr id="4" name="Text 2"/>
          <p:cNvSpPr txBox="1"/>
          <p:nvPr/>
        </p:nvSpPr>
        <p:spPr>
          <a:xfrm>
            <a:off x="8732520" y="548640"/>
            <a:ext cx="2651760" cy="384048"/>
          </a:xfrm>
          <a:prstGeom prst="rect">
            <a:avLst/>
          </a:prstGeom>
          <a:noFill/>
          <a:ln/>
        </p:spPr>
        <p:txBody>
          <a:bodyPr wrap="square" lIns="0" tIns="0" rIns="0" bIns="0" rtlCol="0" anchor="ctr"/>
          <a:lstStyle/>
          <a:p>
            <a:pPr algn="r" indent="0" marL="0">
              <a:buNone/>
            </a:pPr>
            <a:r>
              <a:rPr lang="en-US" altLang="en-US" sz="1300" i="1" dirty="0">
                <a:solidFill>
                  <a:schemeClr val="accent4"/>
                </a:solidFill>
                <a:latin typeface="Arial" pitchFamily="34" charset="0"/>
                <a:ea typeface="Arial" pitchFamily="34" charset="-122"/>
                <a:cs typeface="Arial" pitchFamily="34" charset="-120"/>
              </a:rPr>
              <a:t>Ibn Kathir, simplified</a:t>
            </a:r>
            <a:endParaRPr lang="en-US" sz="1300" dirty="0"/>
          </a:p>
        </p:txBody>
      </p:sp>
      <p:sp>
        <p:nvSpPr>
          <p:cNvPr id="5" name="Shape 3"/>
          <p:cNvSpPr/>
          <p:nvPr/>
        </p:nvSpPr>
        <p:spPr>
          <a:xfrm>
            <a:off x="713232" y="1723644"/>
            <a:ext cx="548640" cy="548640"/>
          </a:xfrm>
          <a:prstGeom prst="star8">
            <a:avLst/>
          </a:prstGeom>
          <a:solidFill>
            <a:schemeClr val="accent2"/>
          </a:solidFill>
          <a:ln/>
        </p:spPr>
      </p:sp>
      <p:sp>
        <p:nvSpPr>
          <p:cNvPr id="6" name="Shape 4"/>
          <p:cNvSpPr/>
          <p:nvPr/>
        </p:nvSpPr>
        <p:spPr>
          <a:xfrm>
            <a:off x="822960" y="1833372"/>
            <a:ext cx="329184" cy="329184"/>
          </a:xfrm>
          <a:prstGeom prst="ellipse">
            <a:avLst/>
          </a:prstGeom>
          <a:solidFill>
            <a:schemeClr val="bg2"/>
          </a:solidFill>
          <a:ln w="19050">
            <a:solidFill>
              <a:schemeClr val="tx2"/>
            </a:solidFill>
            <a:prstDash val="solid"/>
          </a:ln>
        </p:spPr>
      </p:sp>
      <p:sp>
        <p:nvSpPr>
          <p:cNvPr id="7" name="Text 5"/>
          <p:cNvSpPr txBox="1"/>
          <p:nvPr/>
        </p:nvSpPr>
        <p:spPr>
          <a:xfrm>
            <a:off x="713232" y="1723644"/>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26</a:t>
            </a:r>
            <a:endParaRPr lang="en-US" sz="1600" dirty="0"/>
          </a:p>
        </p:txBody>
      </p:sp>
      <p:sp>
        <p:nvSpPr>
          <p:cNvPr id="8" name="Text 6"/>
          <p:cNvSpPr txBox="1"/>
          <p:nvPr/>
        </p:nvSpPr>
        <p:spPr>
          <a:xfrm>
            <a:off x="1444752" y="1705356"/>
            <a:ext cx="10012680" cy="1801368"/>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وَأَنزَلَ الَّذِينَ ظَٰهَرُوهُم مِّنْ أَهْلِ الْكِتَٰبِ مِن صَيَاصِيهِمْ وَقَذَفَ فِي قُلُوبِهِمُ الرُّعْبَ فَرِيقًا تَقْتُلُونَ وَتَأْسِرُونَ فَرِيقًا</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And He brought down from their forts the Jews of Banu Qurayzah who had helped the allies, and put fear into their hearts. Some you killed, and some you took captive.</a:t>
            </a:r>
            <a:endParaRPr lang="en-US" sz="3000" dirty="0"/>
          </a:p>
        </p:txBody>
      </p:sp>
      <p:sp>
        <p:nvSpPr>
          <p:cNvPr id="9" name="Shape 7"/>
          <p:cNvSpPr/>
          <p:nvPr/>
        </p:nvSpPr>
        <p:spPr>
          <a:xfrm>
            <a:off x="1444752" y="3694176"/>
            <a:ext cx="8641080" cy="0"/>
          </a:xfrm>
          <a:prstGeom prst="line">
            <a:avLst/>
          </a:prstGeom>
          <a:noFill/>
          <a:ln w="9525">
            <a:solidFill>
              <a:schemeClr val="accent2"/>
            </a:solidFill>
            <a:prstDash val="dash"/>
          </a:ln>
        </p:spPr>
      </p:sp>
      <p:sp>
        <p:nvSpPr>
          <p:cNvPr id="10" name="Shape 8"/>
          <p:cNvSpPr/>
          <p:nvPr/>
        </p:nvSpPr>
        <p:spPr>
          <a:xfrm>
            <a:off x="713232" y="3927348"/>
            <a:ext cx="548640" cy="548640"/>
          </a:xfrm>
          <a:prstGeom prst="star8">
            <a:avLst/>
          </a:prstGeom>
          <a:solidFill>
            <a:schemeClr val="accent2"/>
          </a:solidFill>
          <a:ln/>
        </p:spPr>
      </p:sp>
      <p:sp>
        <p:nvSpPr>
          <p:cNvPr id="11" name="Shape 9"/>
          <p:cNvSpPr/>
          <p:nvPr/>
        </p:nvSpPr>
        <p:spPr>
          <a:xfrm>
            <a:off x="822960" y="4037076"/>
            <a:ext cx="329184" cy="329184"/>
          </a:xfrm>
          <a:prstGeom prst="ellipse">
            <a:avLst/>
          </a:prstGeom>
          <a:solidFill>
            <a:schemeClr val="bg2"/>
          </a:solidFill>
          <a:ln w="19050">
            <a:solidFill>
              <a:schemeClr val="tx2"/>
            </a:solidFill>
            <a:prstDash val="solid"/>
          </a:ln>
        </p:spPr>
      </p:sp>
      <p:sp>
        <p:nvSpPr>
          <p:cNvPr id="12" name="Text 10"/>
          <p:cNvSpPr txBox="1"/>
          <p:nvPr/>
        </p:nvSpPr>
        <p:spPr>
          <a:xfrm>
            <a:off x="713232" y="3927348"/>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27</a:t>
            </a:r>
            <a:endParaRPr lang="en-US" sz="1600" dirty="0"/>
          </a:p>
        </p:txBody>
      </p:sp>
      <p:sp>
        <p:nvSpPr>
          <p:cNvPr id="13" name="Text 11"/>
          <p:cNvSpPr txBox="1"/>
          <p:nvPr/>
        </p:nvSpPr>
        <p:spPr>
          <a:xfrm>
            <a:off x="1444752" y="3909060"/>
            <a:ext cx="10012680" cy="1801368"/>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وَأَوْرَثَكُمْ أَرْضَهُمْ وَدِيَٰرَهُمْ وَأَمْوَٰلَهُمْ وَأَرْضًا لَّمْ تَطَـُٔوهَا وَكَانَ اللَّهُ عَلَىٰ كُلِّ شَيْءٍ قَدِيرًا</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He gave you their land, homes and wealth, and a land you had not yet set foot on. Allah has power over all things.</a:t>
            </a:r>
            <a:endParaRPr lang="en-US" sz="3000" dirty="0"/>
          </a:p>
        </p:txBody>
      </p:sp>
      <p:sp>
        <p:nvSpPr>
          <p:cNvPr id="25" name="Slide Number Placeholder 0"/>
          <p:cNvSpPr>
            <a:spLocks noGrp="1"/>
          </p:cNvSpPr>
          <p:nvPr>
            <p:ph type="sldNum" sz="quarter" idx="4294967295"/>
          </p:nvPr>
        </p:nvSpPr>
        <p:spPr>
          <a:xfrm>
            <a:off x="1115568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18</a:t>
            </a:fld>
            <a:endParaRPr lang="en-US"/>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algn="ctr" indent="0" marL="0">
              <a:buNone/>
            </a:pPr>
            <a:r>
              <a:rPr lang="en-US" sz="2400" b="1" dirty="0">
                <a:solidFill>
                  <a:schemeClr val="bg1"/>
                </a:solidFill>
                <a:latin typeface="Georgia" pitchFamily="34" charset="0"/>
                <a:ea typeface="Georgia" pitchFamily="34" charset="-122"/>
                <a:cs typeface="Georgia" pitchFamily="34" charset="-120"/>
              </a:rPr>
              <a:t>Surah Al-Ahzab</a:t>
            </a:r>
            <a:endParaRPr lang="en-US" sz="2400" dirty="0"/>
          </a:p>
        </p:txBody>
      </p:sp>
      <p:sp>
        <p:nvSpPr>
          <p:cNvPr id="3" name="Text 1"/>
          <p:cNvSpPr txBox="1"/>
          <p:nvPr/>
        </p:nvSpPr>
        <p:spPr>
          <a:xfrm>
            <a:off x="777240" y="548640"/>
            <a:ext cx="2651760" cy="384048"/>
          </a:xfrm>
          <a:prstGeom prst="rect">
            <a:avLst/>
          </a:prstGeom>
          <a:noFill/>
          <a:ln/>
        </p:spPr>
        <p:txBody>
          <a:bodyPr wrap="square" lIns="0" tIns="0" rIns="0" bIns="0" rtlCol="0" anchor="ctr"/>
          <a:lstStyle/>
          <a:p>
            <a:pPr algn="l" indent="0" marL="0">
              <a:buNone/>
            </a:pPr>
            <a:r>
              <a:rPr lang="en-US" altLang="en-US" sz="1500" b="1" dirty="0">
                <a:solidFill>
                  <a:schemeClr val="accent2"/>
                </a:solidFill>
                <a:latin typeface="Arial" pitchFamily="34" charset="0"/>
                <a:ea typeface="Arial" pitchFamily="34" charset="-122"/>
                <a:cs typeface="Arial" pitchFamily="34" charset="-120"/>
              </a:rPr>
              <a:t>Verses 28 – 29</a:t>
            </a:r>
            <a:endParaRPr lang="en-US" sz="1500" dirty="0"/>
          </a:p>
        </p:txBody>
      </p:sp>
      <p:sp>
        <p:nvSpPr>
          <p:cNvPr id="4" name="Text 2"/>
          <p:cNvSpPr txBox="1"/>
          <p:nvPr/>
        </p:nvSpPr>
        <p:spPr>
          <a:xfrm>
            <a:off x="8732520" y="548640"/>
            <a:ext cx="2651760" cy="384048"/>
          </a:xfrm>
          <a:prstGeom prst="rect">
            <a:avLst/>
          </a:prstGeom>
          <a:noFill/>
          <a:ln/>
        </p:spPr>
        <p:txBody>
          <a:bodyPr wrap="square" lIns="0" tIns="0" rIns="0" bIns="0" rtlCol="0" anchor="ctr"/>
          <a:lstStyle/>
          <a:p>
            <a:pPr algn="r" indent="0" marL="0">
              <a:buNone/>
            </a:pPr>
            <a:r>
              <a:rPr lang="en-US" altLang="en-US" sz="1300" i="1" dirty="0">
                <a:solidFill>
                  <a:schemeClr val="accent4"/>
                </a:solidFill>
                <a:latin typeface="Arial" pitchFamily="34" charset="0"/>
                <a:ea typeface="Arial" pitchFamily="34" charset="-122"/>
                <a:cs typeface="Arial" pitchFamily="34" charset="-120"/>
              </a:rPr>
              <a:t>Ibn Kathir, simplified</a:t>
            </a:r>
            <a:endParaRPr lang="en-US" sz="1300" dirty="0"/>
          </a:p>
        </p:txBody>
      </p:sp>
      <p:sp>
        <p:nvSpPr>
          <p:cNvPr id="5" name="Shape 3"/>
          <p:cNvSpPr/>
          <p:nvPr/>
        </p:nvSpPr>
        <p:spPr>
          <a:xfrm>
            <a:off x="713232" y="1723644"/>
            <a:ext cx="548640" cy="548640"/>
          </a:xfrm>
          <a:prstGeom prst="star8">
            <a:avLst/>
          </a:prstGeom>
          <a:solidFill>
            <a:schemeClr val="accent2"/>
          </a:solidFill>
          <a:ln/>
        </p:spPr>
      </p:sp>
      <p:sp>
        <p:nvSpPr>
          <p:cNvPr id="6" name="Shape 4"/>
          <p:cNvSpPr/>
          <p:nvPr/>
        </p:nvSpPr>
        <p:spPr>
          <a:xfrm>
            <a:off x="822960" y="1833372"/>
            <a:ext cx="329184" cy="329184"/>
          </a:xfrm>
          <a:prstGeom prst="ellipse">
            <a:avLst/>
          </a:prstGeom>
          <a:solidFill>
            <a:schemeClr val="bg2"/>
          </a:solidFill>
          <a:ln w="19050">
            <a:solidFill>
              <a:schemeClr val="tx2"/>
            </a:solidFill>
            <a:prstDash val="solid"/>
          </a:ln>
        </p:spPr>
      </p:sp>
      <p:sp>
        <p:nvSpPr>
          <p:cNvPr id="7" name="Text 5"/>
          <p:cNvSpPr txBox="1"/>
          <p:nvPr/>
        </p:nvSpPr>
        <p:spPr>
          <a:xfrm>
            <a:off x="713232" y="1723644"/>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28</a:t>
            </a:r>
            <a:endParaRPr lang="en-US" sz="1600" dirty="0"/>
          </a:p>
        </p:txBody>
      </p:sp>
      <p:sp>
        <p:nvSpPr>
          <p:cNvPr id="8" name="Text 6"/>
          <p:cNvSpPr txBox="1"/>
          <p:nvPr/>
        </p:nvSpPr>
        <p:spPr>
          <a:xfrm>
            <a:off x="1444752" y="1705356"/>
            <a:ext cx="10012680" cy="1801368"/>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يَـٰأَيُّهَا النَّبِيُّ قُل لِّأَزْوَٰجِكَ إِن كُنتُنَّ تُرِدْنَ الْحَيَوٰةَ الدُّنْيَا وَزِينَتَهَا فَتَعَالَيْنَ أُمَتِّعْكُنَّ وَأُسَرِّحْكُنَّ سَرَاحًا جَمِيلًا</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O Prophet, say to your wives: If you want the life of this world and its decoration, come, I will give you some wealth and let you go in a kind way.</a:t>
            </a:r>
            <a:endParaRPr lang="en-US" sz="3000" dirty="0"/>
          </a:p>
        </p:txBody>
      </p:sp>
      <p:sp>
        <p:nvSpPr>
          <p:cNvPr id="9" name="Shape 7"/>
          <p:cNvSpPr/>
          <p:nvPr/>
        </p:nvSpPr>
        <p:spPr>
          <a:xfrm>
            <a:off x="1444752" y="3694176"/>
            <a:ext cx="8641080" cy="0"/>
          </a:xfrm>
          <a:prstGeom prst="line">
            <a:avLst/>
          </a:prstGeom>
          <a:noFill/>
          <a:ln w="9525">
            <a:solidFill>
              <a:schemeClr val="accent2"/>
            </a:solidFill>
            <a:prstDash val="dash"/>
          </a:ln>
        </p:spPr>
      </p:sp>
      <p:sp>
        <p:nvSpPr>
          <p:cNvPr id="10" name="Shape 8"/>
          <p:cNvSpPr/>
          <p:nvPr/>
        </p:nvSpPr>
        <p:spPr>
          <a:xfrm>
            <a:off x="713232" y="3927348"/>
            <a:ext cx="548640" cy="548640"/>
          </a:xfrm>
          <a:prstGeom prst="star8">
            <a:avLst/>
          </a:prstGeom>
          <a:solidFill>
            <a:schemeClr val="accent2"/>
          </a:solidFill>
          <a:ln/>
        </p:spPr>
      </p:sp>
      <p:sp>
        <p:nvSpPr>
          <p:cNvPr id="11" name="Shape 9"/>
          <p:cNvSpPr/>
          <p:nvPr/>
        </p:nvSpPr>
        <p:spPr>
          <a:xfrm>
            <a:off x="822960" y="4037076"/>
            <a:ext cx="329184" cy="329184"/>
          </a:xfrm>
          <a:prstGeom prst="ellipse">
            <a:avLst/>
          </a:prstGeom>
          <a:solidFill>
            <a:schemeClr val="bg2"/>
          </a:solidFill>
          <a:ln w="19050">
            <a:solidFill>
              <a:schemeClr val="tx2"/>
            </a:solidFill>
            <a:prstDash val="solid"/>
          </a:ln>
        </p:spPr>
      </p:sp>
      <p:sp>
        <p:nvSpPr>
          <p:cNvPr id="12" name="Text 10"/>
          <p:cNvSpPr txBox="1"/>
          <p:nvPr/>
        </p:nvSpPr>
        <p:spPr>
          <a:xfrm>
            <a:off x="713232" y="3927348"/>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29</a:t>
            </a:r>
            <a:endParaRPr lang="en-US" sz="1600" dirty="0"/>
          </a:p>
        </p:txBody>
      </p:sp>
      <p:sp>
        <p:nvSpPr>
          <p:cNvPr id="13" name="Text 11"/>
          <p:cNvSpPr txBox="1"/>
          <p:nvPr/>
        </p:nvSpPr>
        <p:spPr>
          <a:xfrm>
            <a:off x="1444752" y="3909060"/>
            <a:ext cx="10012680" cy="1801368"/>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وَإِن كُنتُنَّ تُرِدْنَ اللَّهَ وَرَسُولَهُ وَالدَّارَ الْأخِرَةَ فَإِنَّ اللَّهَ أَعَدَّ لِلْمُحْسِنَٰتِ مِنكُنَّ أَجْرًا عَظِيمًا</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But if you want Allah, His Messenger and the home of the Hereafter, Allah has prepared a great reward for those of you who do good. And they all chose Allah and His Messenger.</a:t>
            </a:r>
            <a:endParaRPr lang="en-US" sz="3000" dirty="0"/>
          </a:p>
        </p:txBody>
      </p:sp>
      <p:sp>
        <p:nvSpPr>
          <p:cNvPr id="25" name="Slide Number Placeholder 0"/>
          <p:cNvSpPr>
            <a:spLocks noGrp="1"/>
          </p:cNvSpPr>
          <p:nvPr>
            <p:ph type="sldNum" sz="quarter" idx="4294967295"/>
          </p:nvPr>
        </p:nvSpPr>
        <p:spPr>
          <a:xfrm>
            <a:off x="1115568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19</a:t>
            </a:fld>
            <a:endParaRPr lang="en-US"/>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algn="ctr" indent="0" marL="0">
              <a:buNone/>
            </a:pPr>
            <a:r>
              <a:rPr lang="en-US" sz="2400" b="1" dirty="0">
                <a:solidFill>
                  <a:schemeClr val="bg1"/>
                </a:solidFill>
                <a:latin typeface="Georgia" pitchFamily="34" charset="0"/>
                <a:ea typeface="Georgia" pitchFamily="34" charset="-122"/>
                <a:cs typeface="Georgia" pitchFamily="34" charset="-120"/>
              </a:rPr>
              <a:t>Surah Al-Ahzab</a:t>
            </a:r>
            <a:endParaRPr lang="en-US" sz="2400" dirty="0"/>
          </a:p>
        </p:txBody>
      </p:sp>
      <p:sp>
        <p:nvSpPr>
          <p:cNvPr id="3" name="Text 1"/>
          <p:cNvSpPr txBox="1"/>
          <p:nvPr/>
        </p:nvSpPr>
        <p:spPr>
          <a:xfrm>
            <a:off x="777240" y="548640"/>
            <a:ext cx="2651760" cy="384048"/>
          </a:xfrm>
          <a:prstGeom prst="rect">
            <a:avLst/>
          </a:prstGeom>
          <a:noFill/>
          <a:ln/>
        </p:spPr>
        <p:txBody>
          <a:bodyPr wrap="square" lIns="0" tIns="0" rIns="0" bIns="0" rtlCol="0" anchor="ctr"/>
          <a:lstStyle/>
          <a:p>
            <a:pPr algn="l" indent="0" marL="0">
              <a:buNone/>
            </a:pPr>
            <a:r>
              <a:rPr lang="en-US" altLang="en-US" sz="1500" b="1" dirty="0">
                <a:solidFill>
                  <a:schemeClr val="accent2"/>
                </a:solidFill>
                <a:latin typeface="Arial" pitchFamily="34" charset="0"/>
                <a:ea typeface="Arial" pitchFamily="34" charset="-122"/>
                <a:cs typeface="Arial" pitchFamily="34" charset="-120"/>
              </a:rPr>
              <a:t>Verse 30</a:t>
            </a:r>
            <a:endParaRPr lang="en-US" sz="1500" dirty="0"/>
          </a:p>
        </p:txBody>
      </p:sp>
      <p:sp>
        <p:nvSpPr>
          <p:cNvPr id="4" name="Text 2"/>
          <p:cNvSpPr txBox="1"/>
          <p:nvPr/>
        </p:nvSpPr>
        <p:spPr>
          <a:xfrm>
            <a:off x="8732520" y="548640"/>
            <a:ext cx="2651760" cy="384048"/>
          </a:xfrm>
          <a:prstGeom prst="rect">
            <a:avLst/>
          </a:prstGeom>
          <a:noFill/>
          <a:ln/>
        </p:spPr>
        <p:txBody>
          <a:bodyPr wrap="square" lIns="0" tIns="0" rIns="0" bIns="0" rtlCol="0" anchor="ctr"/>
          <a:lstStyle/>
          <a:p>
            <a:pPr algn="r" indent="0" marL="0">
              <a:buNone/>
            </a:pPr>
            <a:r>
              <a:rPr lang="en-US" altLang="en-US" sz="1300" i="1" dirty="0">
                <a:solidFill>
                  <a:schemeClr val="accent4"/>
                </a:solidFill>
                <a:latin typeface="Arial" pitchFamily="34" charset="0"/>
                <a:ea typeface="Arial" pitchFamily="34" charset="-122"/>
                <a:cs typeface="Arial" pitchFamily="34" charset="-120"/>
              </a:rPr>
              <a:t>Ibn Kathir, simplified</a:t>
            </a:r>
            <a:endParaRPr lang="en-US" sz="1300" dirty="0"/>
          </a:p>
        </p:txBody>
      </p:sp>
      <p:sp>
        <p:nvSpPr>
          <p:cNvPr id="5" name="Shape 3"/>
          <p:cNvSpPr/>
          <p:nvPr/>
        </p:nvSpPr>
        <p:spPr>
          <a:xfrm>
            <a:off x="713232" y="2825496"/>
            <a:ext cx="548640" cy="548640"/>
          </a:xfrm>
          <a:prstGeom prst="star8">
            <a:avLst/>
          </a:prstGeom>
          <a:solidFill>
            <a:schemeClr val="accent2"/>
          </a:solidFill>
          <a:ln/>
        </p:spPr>
      </p:sp>
      <p:sp>
        <p:nvSpPr>
          <p:cNvPr id="6" name="Shape 4"/>
          <p:cNvSpPr/>
          <p:nvPr/>
        </p:nvSpPr>
        <p:spPr>
          <a:xfrm>
            <a:off x="822960" y="2935224"/>
            <a:ext cx="329184" cy="329184"/>
          </a:xfrm>
          <a:prstGeom prst="ellipse">
            <a:avLst/>
          </a:prstGeom>
          <a:solidFill>
            <a:schemeClr val="bg2"/>
          </a:solidFill>
          <a:ln w="19050">
            <a:solidFill>
              <a:schemeClr val="tx2"/>
            </a:solidFill>
            <a:prstDash val="solid"/>
          </a:ln>
        </p:spPr>
      </p:sp>
      <p:sp>
        <p:nvSpPr>
          <p:cNvPr id="7" name="Text 5"/>
          <p:cNvSpPr txBox="1"/>
          <p:nvPr/>
        </p:nvSpPr>
        <p:spPr>
          <a:xfrm>
            <a:off x="713232" y="2825496"/>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30</a:t>
            </a:r>
            <a:endParaRPr lang="en-US" sz="1600" dirty="0"/>
          </a:p>
        </p:txBody>
      </p:sp>
      <p:sp>
        <p:nvSpPr>
          <p:cNvPr id="8" name="Text 6"/>
          <p:cNvSpPr txBox="1"/>
          <p:nvPr/>
        </p:nvSpPr>
        <p:spPr>
          <a:xfrm>
            <a:off x="1444752" y="2807208"/>
            <a:ext cx="10012680" cy="1801368"/>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يَٰنِسَآءَ النَّبِيِّ مَن يَأْتِ مِنكُنَّ بِفَٰحِشَةٍ مُّبَيِّنَةٍ يُضَٰعَفْ لَهَا الْعَذَابُ ضِعْفَيْنِ وَكَانَ ذَٰلِكَ عَلَى اللَّهِ يَسِيرًا</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O wives of the Prophet, whoever of you commits an open sin, her punishment will be doubled because of your high position, and that is easy for Allah.</a:t>
            </a:r>
            <a:endParaRPr lang="en-US" sz="3000" dirty="0"/>
          </a:p>
        </p:txBody>
      </p:sp>
      <p:sp>
        <p:nvSpPr>
          <p:cNvPr id="25" name="Slide Number Placeholder 0"/>
          <p:cNvSpPr>
            <a:spLocks noGrp="1"/>
          </p:cNvSpPr>
          <p:nvPr>
            <p:ph type="sldNum" sz="quarter" idx="4294967295"/>
          </p:nvPr>
        </p:nvSpPr>
        <p:spPr>
          <a:xfrm>
            <a:off x="1115568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20</a:t>
            </a:fld>
            <a:endParaRPr lang="en-US"/>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spTree>
      <p:nvGrpSpPr>
        <p:cNvPr id="1" name=""/>
        <p:cNvGrpSpPr/>
        <p:nvPr/>
      </p:nvGrpSpPr>
      <p:grpSpPr>
        <a:xfrm>
          <a:off x="0" y="0"/>
          <a:ext cx="0" cy="0"/>
          <a:chOff x="0" y="0"/>
          <a:chExt cx="0" cy="0"/>
        </a:xfrm>
      </p:grpSpPr>
      <p:sp>
        <p:nvSpPr>
          <p:cNvPr id="2" name="Text 0"/>
          <p:cNvSpPr txBox="1"/>
          <p:nvPr/>
        </p:nvSpPr>
        <p:spPr>
          <a:xfrm>
            <a:off x="3581248" y="603504"/>
            <a:ext cx="5029200" cy="987552"/>
          </a:xfrm>
          <a:prstGeom prst="rect">
            <a:avLst/>
          </a:prstGeom>
          <a:noFill/>
          <a:ln/>
        </p:spPr>
        <p:txBody>
          <a:bodyPr wrap="square" lIns="0" tIns="0" rIns="0" bIns="0" rtlCol="0" anchor="ctr"/>
          <a:lstStyle/>
          <a:p>
            <a:pPr algn="ctr" indent="0" marL="0">
              <a:buNone/>
            </a:pPr>
            <a:r>
              <a:rPr lang="en-US" altLang="en-US" sz="3600" b="1" dirty="0">
                <a:solidFill>
                  <a:schemeClr val="accent2"/>
                </a:solidFill>
                <a:latin typeface="Georgia" pitchFamily="34" charset="0"/>
                <a:ea typeface="Georgia" pitchFamily="34" charset="-122"/>
                <a:cs typeface="Georgia" pitchFamily="34" charset="-120"/>
              </a:rPr>
              <a:t>Surah As-Sajdah</a:t>
            </a:r>
            <a:endParaRPr lang="en-US" sz="3600" dirty="0"/>
          </a:p>
        </p:txBody>
      </p:sp>
      <p:sp>
        <p:nvSpPr>
          <p:cNvPr id="3" name="Shape 1"/>
          <p:cNvSpPr/>
          <p:nvPr/>
        </p:nvSpPr>
        <p:spPr>
          <a:xfrm>
            <a:off x="975208" y="1828800"/>
            <a:ext cx="3291840" cy="457200"/>
          </a:xfrm>
          <a:prstGeom prst="roundRect">
            <a:avLst>
              <a:gd name="adj" fmla="val 50000"/>
            </a:avLst>
          </a:prstGeom>
          <a:solidFill>
            <a:schemeClr val="tx2"/>
          </a:solidFill>
          <a:ln w="15875">
            <a:solidFill>
              <a:schemeClr val="accent2"/>
            </a:solidFill>
            <a:prstDash val="solid"/>
          </a:ln>
        </p:spPr>
      </p:sp>
      <p:sp>
        <p:nvSpPr>
          <p:cNvPr id="4" name="Text 2"/>
          <p:cNvSpPr txBox="1"/>
          <p:nvPr/>
        </p:nvSpPr>
        <p:spPr>
          <a:xfrm>
            <a:off x="1066648" y="1828800"/>
            <a:ext cx="3108960" cy="457200"/>
          </a:xfrm>
          <a:prstGeom prst="rect">
            <a:avLst/>
          </a:prstGeom>
          <a:noFill/>
          <a:ln/>
        </p:spPr>
        <p:txBody>
          <a:bodyPr wrap="square" lIns="0" tIns="0" rIns="0" bIns="0" rtlCol="0" anchor="ctr">
            <a:normAutofit/>
          </a:bodyPr>
          <a:lstStyle/>
          <a:p>
            <a:pPr algn="ctr" indent="0" marL="0">
              <a:buNone/>
            </a:pPr>
            <a:r>
              <a:rPr lang="en-US" altLang="en-US" sz="1400" b="1" dirty="0">
                <a:solidFill>
                  <a:schemeClr val="bg1"/>
                </a:solidFill>
                <a:latin typeface="Arial" pitchFamily="34" charset="0"/>
                <a:ea typeface="Arial" pitchFamily="34" charset="-122"/>
                <a:cs typeface="Arial" pitchFamily="34" charset="-120"/>
              </a:rPr>
              <a:t>30 verses • The Prostration</a:t>
            </a:r>
            <a:endParaRPr lang="en-US" sz="1400" dirty="0"/>
          </a:p>
        </p:txBody>
      </p:sp>
      <p:sp>
        <p:nvSpPr>
          <p:cNvPr id="5" name="Shape 3"/>
          <p:cNvSpPr/>
          <p:nvPr/>
        </p:nvSpPr>
        <p:spPr>
          <a:xfrm>
            <a:off x="4449928" y="1828800"/>
            <a:ext cx="3291840" cy="457200"/>
          </a:xfrm>
          <a:prstGeom prst="roundRect">
            <a:avLst>
              <a:gd name="adj" fmla="val 50000"/>
            </a:avLst>
          </a:prstGeom>
          <a:solidFill>
            <a:schemeClr val="tx2"/>
          </a:solidFill>
          <a:ln w="15875">
            <a:solidFill>
              <a:schemeClr val="accent2"/>
            </a:solidFill>
            <a:prstDash val="solid"/>
          </a:ln>
        </p:spPr>
      </p:sp>
      <p:sp>
        <p:nvSpPr>
          <p:cNvPr id="6" name="Text 4"/>
          <p:cNvSpPr txBox="1"/>
          <p:nvPr/>
        </p:nvSpPr>
        <p:spPr>
          <a:xfrm>
            <a:off x="4541368" y="1828800"/>
            <a:ext cx="3108960" cy="457200"/>
          </a:xfrm>
          <a:prstGeom prst="rect">
            <a:avLst/>
          </a:prstGeom>
          <a:noFill/>
          <a:ln/>
        </p:spPr>
        <p:txBody>
          <a:bodyPr wrap="square" lIns="0" tIns="0" rIns="0" bIns="0" rtlCol="0" anchor="ctr">
            <a:normAutofit/>
          </a:bodyPr>
          <a:lstStyle/>
          <a:p>
            <a:pPr algn="ctr" indent="0" marL="0">
              <a:buNone/>
            </a:pPr>
            <a:r>
              <a:rPr lang="en-US" altLang="en-US" sz="1400" b="1" dirty="0">
                <a:solidFill>
                  <a:schemeClr val="bg1"/>
                </a:solidFill>
                <a:latin typeface="Arial" pitchFamily="34" charset="0"/>
                <a:ea typeface="Arial" pitchFamily="34" charset="-122"/>
                <a:cs typeface="Arial" pitchFamily="34" charset="-120"/>
              </a:rPr>
              <a:t>Makki</a:t>
            </a:r>
            <a:endParaRPr lang="en-US" sz="1400" dirty="0"/>
          </a:p>
        </p:txBody>
      </p:sp>
      <p:sp>
        <p:nvSpPr>
          <p:cNvPr id="7" name="Shape 5"/>
          <p:cNvSpPr/>
          <p:nvPr/>
        </p:nvSpPr>
        <p:spPr>
          <a:xfrm>
            <a:off x="7924648" y="1828800"/>
            <a:ext cx="3291840" cy="457200"/>
          </a:xfrm>
          <a:prstGeom prst="roundRect">
            <a:avLst>
              <a:gd name="adj" fmla="val 50000"/>
            </a:avLst>
          </a:prstGeom>
          <a:solidFill>
            <a:schemeClr val="tx2"/>
          </a:solidFill>
          <a:ln w="15875">
            <a:solidFill>
              <a:schemeClr val="accent2"/>
            </a:solidFill>
            <a:prstDash val="solid"/>
          </a:ln>
        </p:spPr>
      </p:sp>
      <p:sp>
        <p:nvSpPr>
          <p:cNvPr id="8" name="Text 6"/>
          <p:cNvSpPr txBox="1"/>
          <p:nvPr/>
        </p:nvSpPr>
        <p:spPr>
          <a:xfrm>
            <a:off x="8016088" y="1828800"/>
            <a:ext cx="3108960" cy="457200"/>
          </a:xfrm>
          <a:prstGeom prst="rect">
            <a:avLst/>
          </a:prstGeom>
          <a:noFill/>
          <a:ln/>
        </p:spPr>
        <p:txBody>
          <a:bodyPr wrap="square" lIns="0" tIns="0" rIns="0" bIns="0" rtlCol="0" anchor="ctr">
            <a:normAutofit/>
          </a:bodyPr>
          <a:lstStyle/>
          <a:p>
            <a:pPr algn="ctr" indent="0" marL="0">
              <a:buNone/>
            </a:pPr>
            <a:r>
              <a:rPr lang="en-US" altLang="en-US" sz="1400" b="1" dirty="0">
                <a:solidFill>
                  <a:schemeClr val="bg1"/>
                </a:solidFill>
                <a:latin typeface="Arial" pitchFamily="34" charset="0"/>
                <a:ea typeface="Arial" pitchFamily="34" charset="-122"/>
                <a:cs typeface="Arial" pitchFamily="34" charset="-120"/>
              </a:rPr>
              <a:t>Surah no. 32 in the Mushaf</a:t>
            </a:r>
            <a:endParaRPr lang="en-US" sz="1400" dirty="0"/>
          </a:p>
        </p:txBody>
      </p:sp>
      <p:sp>
        <p:nvSpPr>
          <p:cNvPr id="9" name="Shape 7"/>
          <p:cNvSpPr/>
          <p:nvPr/>
        </p:nvSpPr>
        <p:spPr>
          <a:xfrm>
            <a:off x="655168" y="2880360"/>
            <a:ext cx="5257800" cy="3246120"/>
          </a:xfrm>
          <a:prstGeom prst="roundRect">
            <a:avLst>
              <a:gd name="adj" fmla="val 4225"/>
            </a:avLst>
          </a:prstGeom>
          <a:solidFill>
            <a:schemeClr val="bg2"/>
          </a:solidFill>
          <a:ln w="25400">
            <a:solidFill>
              <a:schemeClr val="accent2"/>
            </a:solidFill>
            <a:prstDash val="solid"/>
          </a:ln>
        </p:spPr>
      </p:sp>
      <p:sp>
        <p:nvSpPr>
          <p:cNvPr id="10" name="Shape 8"/>
          <p:cNvSpPr/>
          <p:nvPr/>
        </p:nvSpPr>
        <p:spPr>
          <a:xfrm>
            <a:off x="1821028" y="2651760"/>
            <a:ext cx="2926080" cy="457200"/>
          </a:xfrm>
          <a:prstGeom prst="roundRect">
            <a:avLst>
              <a:gd name="adj" fmla="val 50000"/>
            </a:avLst>
          </a:prstGeom>
          <a:solidFill>
            <a:schemeClr val="accent6"/>
          </a:solidFill>
          <a:ln w="15875">
            <a:solidFill>
              <a:schemeClr val="accent2"/>
            </a:solidFill>
            <a:prstDash val="solid"/>
          </a:ln>
        </p:spPr>
      </p:sp>
      <p:sp>
        <p:nvSpPr>
          <p:cNvPr id="11" name="Text 9"/>
          <p:cNvSpPr txBox="1"/>
          <p:nvPr/>
        </p:nvSpPr>
        <p:spPr>
          <a:xfrm>
            <a:off x="1821028" y="2651760"/>
            <a:ext cx="2926080" cy="457200"/>
          </a:xfrm>
          <a:prstGeom prst="rect">
            <a:avLst/>
          </a:prstGeom>
          <a:noFill/>
          <a:ln/>
        </p:spPr>
        <p:txBody>
          <a:bodyPr wrap="square" lIns="0" tIns="0" rIns="0" bIns="0" rtlCol="0" anchor="ctr"/>
          <a:lstStyle/>
          <a:p>
            <a:pPr algn="ctr" indent="0" marL="0">
              <a:buNone/>
            </a:pPr>
            <a:r>
              <a:rPr lang="en-US" altLang="en-US" sz="1600" b="1" dirty="0">
                <a:solidFill>
                  <a:schemeClr val="bg1"/>
                </a:solidFill>
                <a:latin typeface="Arial" pitchFamily="34" charset="0"/>
                <a:ea typeface="Arial" pitchFamily="34" charset="-122"/>
                <a:cs typeface="Arial" pitchFamily="34" charset="-120"/>
              </a:rPr>
              <a:t>Reason for Revelation</a:t>
            </a:r>
            <a:endParaRPr lang="en-US" sz="1600" dirty="0"/>
          </a:p>
        </p:txBody>
      </p:sp>
      <p:sp>
        <p:nvSpPr>
          <p:cNvPr id="12" name="Text 10"/>
          <p:cNvSpPr txBox="1"/>
          <p:nvPr/>
        </p:nvSpPr>
        <p:spPr>
          <a:xfrm>
            <a:off x="975208" y="3246120"/>
            <a:ext cx="4617720" cy="2697480"/>
          </a:xfrm>
          <a:prstGeom prst="rect">
            <a:avLst/>
          </a:prstGeom>
          <a:noFill/>
          <a:ln/>
        </p:spPr>
        <p:txBody>
          <a:bodyPr wrap="square" lIns="0" tIns="0" rIns="0" bIns="0" rtlCol="0" anchor="ctr"/>
          <a:lstStyle/>
          <a:p>
            <a:pPr algn="l" indent="0" marL="0">
              <a:lnSpc>
                <a:spcPct val="110000"/>
              </a:lnSpc>
              <a:buNone/>
            </a:pPr>
            <a:r>
              <a:rPr lang="en-US" altLang="en-US" sz="1500" dirty="0">
                <a:solidFill>
                  <a:schemeClr val="tx1"/>
                </a:solidFill>
                <a:latin typeface="Arial" pitchFamily="34" charset="0"/>
                <a:ea typeface="Arial" pitchFamily="34" charset="-122"/>
                <a:cs typeface="Arial" pitchFamily="34" charset="-120"/>
              </a:rPr>
              <a:t>Anas ibn Malik (may Allah be pleased with him) said about “Their sides leave their beds”: It was revealed about waiting for the night prayer called Al-'Atamah, the 'Isha' prayer (Tirmidhi, authentic). The Prophet (peace be upon him) used to recite As-Sajdah in the Fajr prayer on Friday (Bukhari).</a:t>
            </a:r>
            <a:endParaRPr lang="en-US" sz="1500" dirty="0"/>
          </a:p>
        </p:txBody>
      </p:sp>
      <p:sp>
        <p:nvSpPr>
          <p:cNvPr id="13" name="Shape 11"/>
          <p:cNvSpPr/>
          <p:nvPr/>
        </p:nvSpPr>
        <p:spPr>
          <a:xfrm>
            <a:off x="6278728" y="2880360"/>
            <a:ext cx="5257800" cy="3246120"/>
          </a:xfrm>
          <a:prstGeom prst="roundRect">
            <a:avLst>
              <a:gd name="adj" fmla="val 4225"/>
            </a:avLst>
          </a:prstGeom>
          <a:solidFill>
            <a:schemeClr val="bg2"/>
          </a:solidFill>
          <a:ln w="25400">
            <a:solidFill>
              <a:schemeClr val="accent2"/>
            </a:solidFill>
            <a:prstDash val="solid"/>
          </a:ln>
        </p:spPr>
      </p:sp>
      <p:sp>
        <p:nvSpPr>
          <p:cNvPr id="14" name="Shape 12"/>
          <p:cNvSpPr/>
          <p:nvPr/>
        </p:nvSpPr>
        <p:spPr>
          <a:xfrm>
            <a:off x="7444588" y="2651760"/>
            <a:ext cx="2926080" cy="457200"/>
          </a:xfrm>
          <a:prstGeom prst="roundRect">
            <a:avLst>
              <a:gd name="adj" fmla="val 50000"/>
            </a:avLst>
          </a:prstGeom>
          <a:solidFill>
            <a:schemeClr val="tx2"/>
          </a:solidFill>
          <a:ln w="15875">
            <a:solidFill>
              <a:schemeClr val="accent2"/>
            </a:solidFill>
            <a:prstDash val="solid"/>
          </a:ln>
        </p:spPr>
      </p:sp>
      <p:sp>
        <p:nvSpPr>
          <p:cNvPr id="15" name="Text 13"/>
          <p:cNvSpPr txBox="1"/>
          <p:nvPr/>
        </p:nvSpPr>
        <p:spPr>
          <a:xfrm>
            <a:off x="7444588" y="2651760"/>
            <a:ext cx="2926080" cy="457200"/>
          </a:xfrm>
          <a:prstGeom prst="rect">
            <a:avLst/>
          </a:prstGeom>
          <a:noFill/>
          <a:ln/>
        </p:spPr>
        <p:txBody>
          <a:bodyPr wrap="square" lIns="0" tIns="0" rIns="0" bIns="0" rtlCol="0" anchor="ctr"/>
          <a:lstStyle/>
          <a:p>
            <a:pPr algn="ctr" indent="0" marL="0">
              <a:buNone/>
            </a:pPr>
            <a:r>
              <a:rPr lang="en-US" altLang="en-US" sz="1600" b="1" dirty="0">
                <a:solidFill>
                  <a:schemeClr val="bg1"/>
                </a:solidFill>
                <a:latin typeface="Arial" pitchFamily="34" charset="0"/>
                <a:ea typeface="Arial" pitchFamily="34" charset="-122"/>
                <a:cs typeface="Arial" pitchFamily="34" charset="-120"/>
              </a:rPr>
              <a:t>Theme of the Surah</a:t>
            </a:r>
            <a:endParaRPr lang="en-US" sz="1600" dirty="0"/>
          </a:p>
        </p:txBody>
      </p:sp>
      <p:sp>
        <p:nvSpPr>
          <p:cNvPr id="16" name="Text 14"/>
          <p:cNvSpPr txBox="1"/>
          <p:nvPr/>
        </p:nvSpPr>
        <p:spPr>
          <a:xfrm>
            <a:off x="6598768" y="3246120"/>
            <a:ext cx="4617720" cy="2697480"/>
          </a:xfrm>
          <a:prstGeom prst="rect">
            <a:avLst/>
          </a:prstGeom>
          <a:noFill/>
          <a:ln/>
        </p:spPr>
        <p:txBody>
          <a:bodyPr wrap="square" lIns="0" tIns="0" rIns="0" bIns="0" rtlCol="0" anchor="ctr"/>
          <a:lstStyle/>
          <a:p>
            <a:pPr algn="l" indent="0" marL="0">
              <a:lnSpc>
                <a:spcPct val="110000"/>
              </a:lnSpc>
              <a:buNone/>
            </a:pPr>
            <a:r>
              <a:rPr lang="en-US" altLang="en-US" sz="1700" dirty="0">
                <a:solidFill>
                  <a:schemeClr val="tx1"/>
                </a:solidFill>
                <a:latin typeface="Arial" pitchFamily="34" charset="0"/>
                <a:ea typeface="Arial" pitchFamily="34" charset="-122"/>
                <a:cs typeface="Arial" pitchFamily="34" charset="-120"/>
              </a:rPr>
              <a:t>Proving that the Qur'an is the truth from Allah, the stages of human creation, the state of the criminals on the Day of Resurrection, the qualities of the believers who pray at night, and the bliss Allah has hidden for them.</a:t>
            </a:r>
            <a:endParaRPr lang="en-US" sz="170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algn="ctr" indent="0" marL="0">
              <a:buNone/>
            </a:pPr>
            <a:r>
              <a:rPr lang="en-US" sz="2400" b="1" dirty="0">
                <a:solidFill>
                  <a:schemeClr val="bg1"/>
                </a:solidFill>
                <a:latin typeface="Georgia" pitchFamily="34" charset="0"/>
                <a:ea typeface="Georgia" pitchFamily="34" charset="-122"/>
                <a:cs typeface="Georgia" pitchFamily="34" charset="-120"/>
              </a:rPr>
              <a:t>Surah As-Sajdah</a:t>
            </a:r>
            <a:endParaRPr lang="en-US" sz="2400" dirty="0"/>
          </a:p>
        </p:txBody>
      </p:sp>
      <p:sp>
        <p:nvSpPr>
          <p:cNvPr id="3" name="Text 1"/>
          <p:cNvSpPr txBox="1"/>
          <p:nvPr/>
        </p:nvSpPr>
        <p:spPr>
          <a:xfrm>
            <a:off x="777240" y="548640"/>
            <a:ext cx="2651760" cy="384048"/>
          </a:xfrm>
          <a:prstGeom prst="rect">
            <a:avLst/>
          </a:prstGeom>
          <a:noFill/>
          <a:ln/>
        </p:spPr>
        <p:txBody>
          <a:bodyPr wrap="square" lIns="0" tIns="0" rIns="0" bIns="0" rtlCol="0" anchor="ctr"/>
          <a:lstStyle/>
          <a:p>
            <a:pPr algn="l" indent="0" marL="0">
              <a:buNone/>
            </a:pPr>
            <a:r>
              <a:rPr lang="en-US" altLang="en-US" sz="1500" b="1" dirty="0">
                <a:solidFill>
                  <a:schemeClr val="accent2"/>
                </a:solidFill>
                <a:latin typeface="Arial" pitchFamily="34" charset="0"/>
                <a:ea typeface="Arial" pitchFamily="34" charset="-122"/>
                <a:cs typeface="Arial" pitchFamily="34" charset="-120"/>
              </a:rPr>
              <a:t>Verses 1 – 3</a:t>
            </a:r>
            <a:endParaRPr lang="en-US" sz="1500" dirty="0"/>
          </a:p>
        </p:txBody>
      </p:sp>
      <p:sp>
        <p:nvSpPr>
          <p:cNvPr id="4" name="Text 2"/>
          <p:cNvSpPr txBox="1"/>
          <p:nvPr/>
        </p:nvSpPr>
        <p:spPr>
          <a:xfrm>
            <a:off x="8732520" y="548640"/>
            <a:ext cx="2651760" cy="384048"/>
          </a:xfrm>
          <a:prstGeom prst="rect">
            <a:avLst/>
          </a:prstGeom>
          <a:noFill/>
          <a:ln/>
        </p:spPr>
        <p:txBody>
          <a:bodyPr wrap="square" lIns="0" tIns="0" rIns="0" bIns="0" rtlCol="0" anchor="ctr"/>
          <a:lstStyle/>
          <a:p>
            <a:pPr algn="r" indent="0" marL="0">
              <a:buNone/>
            </a:pPr>
            <a:r>
              <a:rPr lang="en-US" altLang="en-US" sz="1300" i="1" dirty="0">
                <a:solidFill>
                  <a:schemeClr val="accent4"/>
                </a:solidFill>
                <a:latin typeface="Arial" pitchFamily="34" charset="0"/>
                <a:ea typeface="Arial" pitchFamily="34" charset="-122"/>
                <a:cs typeface="Arial" pitchFamily="34" charset="-120"/>
              </a:rPr>
              <a:t>Ibn Kathir, simplified</a:t>
            </a:r>
            <a:endParaRPr lang="en-US" sz="1300" dirty="0"/>
          </a:p>
        </p:txBody>
      </p:sp>
      <p:sp>
        <p:nvSpPr>
          <p:cNvPr id="5" name="Shape 3"/>
          <p:cNvSpPr/>
          <p:nvPr/>
        </p:nvSpPr>
        <p:spPr>
          <a:xfrm>
            <a:off x="713232" y="1449324"/>
            <a:ext cx="548640" cy="548640"/>
          </a:xfrm>
          <a:prstGeom prst="star8">
            <a:avLst/>
          </a:prstGeom>
          <a:solidFill>
            <a:schemeClr val="accent2"/>
          </a:solidFill>
          <a:ln/>
        </p:spPr>
      </p:sp>
      <p:sp>
        <p:nvSpPr>
          <p:cNvPr id="6" name="Shape 4"/>
          <p:cNvSpPr/>
          <p:nvPr/>
        </p:nvSpPr>
        <p:spPr>
          <a:xfrm>
            <a:off x="822960" y="1559052"/>
            <a:ext cx="329184" cy="329184"/>
          </a:xfrm>
          <a:prstGeom prst="ellipse">
            <a:avLst/>
          </a:prstGeom>
          <a:solidFill>
            <a:schemeClr val="bg2"/>
          </a:solidFill>
          <a:ln w="19050">
            <a:solidFill>
              <a:schemeClr val="tx2"/>
            </a:solidFill>
            <a:prstDash val="solid"/>
          </a:ln>
        </p:spPr>
      </p:sp>
      <p:sp>
        <p:nvSpPr>
          <p:cNvPr id="7" name="Text 5"/>
          <p:cNvSpPr txBox="1"/>
          <p:nvPr/>
        </p:nvSpPr>
        <p:spPr>
          <a:xfrm>
            <a:off x="713232" y="1449324"/>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1</a:t>
            </a:r>
            <a:endParaRPr lang="en-US" sz="1600" dirty="0"/>
          </a:p>
        </p:txBody>
      </p:sp>
      <p:sp>
        <p:nvSpPr>
          <p:cNvPr id="8" name="Text 6"/>
          <p:cNvSpPr txBox="1"/>
          <p:nvPr/>
        </p:nvSpPr>
        <p:spPr>
          <a:xfrm>
            <a:off x="1444752" y="1431036"/>
            <a:ext cx="10012680" cy="992124"/>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الم</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Separate letters, pointing to the miracle of the Qur'an.</a:t>
            </a:r>
            <a:endParaRPr lang="en-US" sz="3000" dirty="0"/>
          </a:p>
        </p:txBody>
      </p:sp>
      <p:sp>
        <p:nvSpPr>
          <p:cNvPr id="9" name="Shape 7"/>
          <p:cNvSpPr/>
          <p:nvPr/>
        </p:nvSpPr>
        <p:spPr>
          <a:xfrm>
            <a:off x="1444752" y="2601468"/>
            <a:ext cx="8641080" cy="0"/>
          </a:xfrm>
          <a:prstGeom prst="line">
            <a:avLst/>
          </a:prstGeom>
          <a:noFill/>
          <a:ln w="9525">
            <a:solidFill>
              <a:schemeClr val="accent2"/>
            </a:solidFill>
            <a:prstDash val="dash"/>
          </a:ln>
        </p:spPr>
      </p:sp>
      <p:sp>
        <p:nvSpPr>
          <p:cNvPr id="10" name="Shape 8"/>
          <p:cNvSpPr/>
          <p:nvPr/>
        </p:nvSpPr>
        <p:spPr>
          <a:xfrm>
            <a:off x="713232" y="2825496"/>
            <a:ext cx="548640" cy="548640"/>
          </a:xfrm>
          <a:prstGeom prst="star8">
            <a:avLst/>
          </a:prstGeom>
          <a:solidFill>
            <a:schemeClr val="accent2"/>
          </a:solidFill>
          <a:ln/>
        </p:spPr>
      </p:sp>
      <p:sp>
        <p:nvSpPr>
          <p:cNvPr id="11" name="Shape 9"/>
          <p:cNvSpPr/>
          <p:nvPr/>
        </p:nvSpPr>
        <p:spPr>
          <a:xfrm>
            <a:off x="822960" y="2935224"/>
            <a:ext cx="329184" cy="329184"/>
          </a:xfrm>
          <a:prstGeom prst="ellipse">
            <a:avLst/>
          </a:prstGeom>
          <a:solidFill>
            <a:schemeClr val="bg2"/>
          </a:solidFill>
          <a:ln w="19050">
            <a:solidFill>
              <a:schemeClr val="tx2"/>
            </a:solidFill>
            <a:prstDash val="solid"/>
          </a:ln>
        </p:spPr>
      </p:sp>
      <p:sp>
        <p:nvSpPr>
          <p:cNvPr id="12" name="Text 10"/>
          <p:cNvSpPr txBox="1"/>
          <p:nvPr/>
        </p:nvSpPr>
        <p:spPr>
          <a:xfrm>
            <a:off x="713232" y="2825496"/>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2</a:t>
            </a:r>
            <a:endParaRPr lang="en-US" sz="1600" dirty="0"/>
          </a:p>
        </p:txBody>
      </p:sp>
      <p:sp>
        <p:nvSpPr>
          <p:cNvPr id="13" name="Text 11"/>
          <p:cNvSpPr txBox="1"/>
          <p:nvPr/>
        </p:nvSpPr>
        <p:spPr>
          <a:xfrm>
            <a:off x="1444752" y="2807208"/>
            <a:ext cx="10012680" cy="992124"/>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تَنزِيلُ الْكِتَٰبِ لَا رَيْبَ فِيهِ مِن رَّبِّ الْعَٰلَمِينَ</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This Qur'an is sent down, with no doubt, from the Lord of the worlds.</a:t>
            </a:r>
            <a:endParaRPr lang="en-US" sz="3000" dirty="0"/>
          </a:p>
        </p:txBody>
      </p:sp>
      <p:sp>
        <p:nvSpPr>
          <p:cNvPr id="14" name="Shape 12"/>
          <p:cNvSpPr/>
          <p:nvPr/>
        </p:nvSpPr>
        <p:spPr>
          <a:xfrm>
            <a:off x="1444752" y="3977640"/>
            <a:ext cx="8641080" cy="0"/>
          </a:xfrm>
          <a:prstGeom prst="line">
            <a:avLst/>
          </a:prstGeom>
          <a:noFill/>
          <a:ln w="9525">
            <a:solidFill>
              <a:schemeClr val="accent2"/>
            </a:solidFill>
            <a:prstDash val="dash"/>
          </a:ln>
        </p:spPr>
      </p:sp>
      <p:sp>
        <p:nvSpPr>
          <p:cNvPr id="15" name="Shape 13"/>
          <p:cNvSpPr/>
          <p:nvPr/>
        </p:nvSpPr>
        <p:spPr>
          <a:xfrm>
            <a:off x="713232" y="4201668"/>
            <a:ext cx="548640" cy="548640"/>
          </a:xfrm>
          <a:prstGeom prst="star8">
            <a:avLst/>
          </a:prstGeom>
          <a:solidFill>
            <a:schemeClr val="accent2"/>
          </a:solidFill>
          <a:ln/>
        </p:spPr>
      </p:sp>
      <p:sp>
        <p:nvSpPr>
          <p:cNvPr id="16" name="Shape 14"/>
          <p:cNvSpPr/>
          <p:nvPr/>
        </p:nvSpPr>
        <p:spPr>
          <a:xfrm>
            <a:off x="822960" y="4311396"/>
            <a:ext cx="329184" cy="329184"/>
          </a:xfrm>
          <a:prstGeom prst="ellipse">
            <a:avLst/>
          </a:prstGeom>
          <a:solidFill>
            <a:schemeClr val="bg2"/>
          </a:solidFill>
          <a:ln w="19050">
            <a:solidFill>
              <a:schemeClr val="tx2"/>
            </a:solidFill>
            <a:prstDash val="solid"/>
          </a:ln>
        </p:spPr>
      </p:sp>
      <p:sp>
        <p:nvSpPr>
          <p:cNvPr id="17" name="Text 15"/>
          <p:cNvSpPr txBox="1"/>
          <p:nvPr/>
        </p:nvSpPr>
        <p:spPr>
          <a:xfrm>
            <a:off x="713232" y="4201668"/>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3</a:t>
            </a:r>
            <a:endParaRPr lang="en-US" sz="1600" dirty="0"/>
          </a:p>
        </p:txBody>
      </p:sp>
      <p:sp>
        <p:nvSpPr>
          <p:cNvPr id="18" name="Text 16"/>
          <p:cNvSpPr txBox="1"/>
          <p:nvPr/>
        </p:nvSpPr>
        <p:spPr>
          <a:xfrm>
            <a:off x="1444752" y="4183380"/>
            <a:ext cx="10012680" cy="1801368"/>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أَمْ يَقُولُونَ افْتَرَىٰهُ بَلْ هُوَ الْحَقُّ مِن رَّبِّكَ لِتُنذِرَ قَوْمًا مَّآ أَتَىٰهُم مِّن نَّذِيرٍ مِّن قَبْلِكَ لَعَلَّهُمْ يَهْتَدُونَ</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Or do they say: Muhammad made it up? No, it is the truth from your Lord, so that you may warn a people to whom no warner came before you, so that they may be guided.</a:t>
            </a:r>
            <a:endParaRPr lang="en-US" sz="3000" dirty="0"/>
          </a:p>
        </p:txBody>
      </p:sp>
      <p:sp>
        <p:nvSpPr>
          <p:cNvPr id="25" name="Slide Number Placeholder 0"/>
          <p:cNvSpPr>
            <a:spLocks noGrp="1"/>
          </p:cNvSpPr>
          <p:nvPr>
            <p:ph type="sldNum" sz="quarter" idx="4294967295"/>
          </p:nvPr>
        </p:nvSpPr>
        <p:spPr>
          <a:xfrm>
            <a:off x="1115568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22</a:t>
            </a:fld>
            <a:endParaRPr lang="en-US"/>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algn="ctr" indent="0" marL="0">
              <a:buNone/>
            </a:pPr>
            <a:r>
              <a:rPr lang="en-US" sz="2400" b="1" dirty="0">
                <a:solidFill>
                  <a:schemeClr val="bg1"/>
                </a:solidFill>
                <a:latin typeface="Georgia" pitchFamily="34" charset="0"/>
                <a:ea typeface="Georgia" pitchFamily="34" charset="-122"/>
                <a:cs typeface="Georgia" pitchFamily="34" charset="-120"/>
              </a:rPr>
              <a:t>Surah As-Sajdah</a:t>
            </a:r>
            <a:endParaRPr lang="en-US" sz="2400" dirty="0"/>
          </a:p>
        </p:txBody>
      </p:sp>
      <p:sp>
        <p:nvSpPr>
          <p:cNvPr id="3" name="Text 1"/>
          <p:cNvSpPr txBox="1"/>
          <p:nvPr/>
        </p:nvSpPr>
        <p:spPr>
          <a:xfrm>
            <a:off x="777240" y="548640"/>
            <a:ext cx="2651760" cy="384048"/>
          </a:xfrm>
          <a:prstGeom prst="rect">
            <a:avLst/>
          </a:prstGeom>
          <a:noFill/>
          <a:ln/>
        </p:spPr>
        <p:txBody>
          <a:bodyPr wrap="square" lIns="0" tIns="0" rIns="0" bIns="0" rtlCol="0" anchor="ctr"/>
          <a:lstStyle/>
          <a:p>
            <a:pPr algn="l" indent="0" marL="0">
              <a:buNone/>
            </a:pPr>
            <a:r>
              <a:rPr lang="en-US" altLang="en-US" sz="1500" b="1" dirty="0">
                <a:solidFill>
                  <a:schemeClr val="accent2"/>
                </a:solidFill>
                <a:latin typeface="Arial" pitchFamily="34" charset="0"/>
                <a:ea typeface="Arial" pitchFamily="34" charset="-122"/>
                <a:cs typeface="Arial" pitchFamily="34" charset="-120"/>
              </a:rPr>
              <a:t>Verses 4 – 5</a:t>
            </a:r>
            <a:endParaRPr lang="en-US" sz="1500" dirty="0"/>
          </a:p>
        </p:txBody>
      </p:sp>
      <p:sp>
        <p:nvSpPr>
          <p:cNvPr id="4" name="Text 2"/>
          <p:cNvSpPr txBox="1"/>
          <p:nvPr/>
        </p:nvSpPr>
        <p:spPr>
          <a:xfrm>
            <a:off x="8732520" y="548640"/>
            <a:ext cx="2651760" cy="384048"/>
          </a:xfrm>
          <a:prstGeom prst="rect">
            <a:avLst/>
          </a:prstGeom>
          <a:noFill/>
          <a:ln/>
        </p:spPr>
        <p:txBody>
          <a:bodyPr wrap="square" lIns="0" tIns="0" rIns="0" bIns="0" rtlCol="0" anchor="ctr"/>
          <a:lstStyle/>
          <a:p>
            <a:pPr algn="r" indent="0" marL="0">
              <a:buNone/>
            </a:pPr>
            <a:r>
              <a:rPr lang="en-US" altLang="en-US" sz="1300" i="1" dirty="0">
                <a:solidFill>
                  <a:schemeClr val="accent4"/>
                </a:solidFill>
                <a:latin typeface="Arial" pitchFamily="34" charset="0"/>
                <a:ea typeface="Arial" pitchFamily="34" charset="-122"/>
                <a:cs typeface="Arial" pitchFamily="34" charset="-120"/>
              </a:rPr>
              <a:t>Ibn Kathir, simplified</a:t>
            </a:r>
            <a:endParaRPr lang="en-US" sz="1300" dirty="0"/>
          </a:p>
        </p:txBody>
      </p:sp>
      <p:sp>
        <p:nvSpPr>
          <p:cNvPr id="5" name="Shape 3"/>
          <p:cNvSpPr/>
          <p:nvPr/>
        </p:nvSpPr>
        <p:spPr>
          <a:xfrm>
            <a:off x="713232" y="1593342"/>
            <a:ext cx="548640" cy="548640"/>
          </a:xfrm>
          <a:prstGeom prst="star8">
            <a:avLst/>
          </a:prstGeom>
          <a:solidFill>
            <a:schemeClr val="accent2"/>
          </a:solidFill>
          <a:ln/>
        </p:spPr>
      </p:sp>
      <p:sp>
        <p:nvSpPr>
          <p:cNvPr id="6" name="Shape 4"/>
          <p:cNvSpPr/>
          <p:nvPr/>
        </p:nvSpPr>
        <p:spPr>
          <a:xfrm>
            <a:off x="822960" y="1703070"/>
            <a:ext cx="329184" cy="329184"/>
          </a:xfrm>
          <a:prstGeom prst="ellipse">
            <a:avLst/>
          </a:prstGeom>
          <a:solidFill>
            <a:schemeClr val="bg2"/>
          </a:solidFill>
          <a:ln w="19050">
            <a:solidFill>
              <a:schemeClr val="tx2"/>
            </a:solidFill>
            <a:prstDash val="solid"/>
          </a:ln>
        </p:spPr>
      </p:sp>
      <p:sp>
        <p:nvSpPr>
          <p:cNvPr id="7" name="Text 5"/>
          <p:cNvSpPr txBox="1"/>
          <p:nvPr/>
        </p:nvSpPr>
        <p:spPr>
          <a:xfrm>
            <a:off x="713232" y="1593342"/>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4</a:t>
            </a:r>
            <a:endParaRPr lang="en-US" sz="1600" dirty="0"/>
          </a:p>
        </p:txBody>
      </p:sp>
      <p:sp>
        <p:nvSpPr>
          <p:cNvPr id="8" name="Text 6"/>
          <p:cNvSpPr txBox="1"/>
          <p:nvPr/>
        </p:nvSpPr>
        <p:spPr>
          <a:xfrm>
            <a:off x="1444752" y="1575054"/>
            <a:ext cx="10012680" cy="2061972"/>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اللَّهُ الَّذِي خَلَقَ السَّمَٰوَٰتِ وَالْأَرْضَ وَمَا بَيْنَهُمَا فِي سِتَّةِ أَيَّامٍ ثُمَّ اسْتَوَىٰ عَلَى الْعَرْشِ مَا لَكُم مِّن دُونِهِ مِن وَلِيٍّ وَلَا شَفِيعٍ أَفَلَا تَتَذَكَّرُونَ</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Allah is the One who created the heavens and the earth and what is between them in six days, then rose above the Throne in a way that suits His majesty. You have no protector or intercessor besides Him. Will you not take heed?</a:t>
            </a:r>
            <a:endParaRPr lang="en-US" sz="3000" dirty="0"/>
          </a:p>
        </p:txBody>
      </p:sp>
      <p:sp>
        <p:nvSpPr>
          <p:cNvPr id="9" name="Shape 7"/>
          <p:cNvSpPr/>
          <p:nvPr/>
        </p:nvSpPr>
        <p:spPr>
          <a:xfrm>
            <a:off x="1444752" y="3824478"/>
            <a:ext cx="8641080" cy="0"/>
          </a:xfrm>
          <a:prstGeom prst="line">
            <a:avLst/>
          </a:prstGeom>
          <a:noFill/>
          <a:ln w="9525">
            <a:solidFill>
              <a:schemeClr val="accent2"/>
            </a:solidFill>
            <a:prstDash val="dash"/>
          </a:ln>
        </p:spPr>
      </p:sp>
      <p:sp>
        <p:nvSpPr>
          <p:cNvPr id="10" name="Shape 8"/>
          <p:cNvSpPr/>
          <p:nvPr/>
        </p:nvSpPr>
        <p:spPr>
          <a:xfrm>
            <a:off x="713232" y="4057650"/>
            <a:ext cx="548640" cy="548640"/>
          </a:xfrm>
          <a:prstGeom prst="star8">
            <a:avLst/>
          </a:prstGeom>
          <a:solidFill>
            <a:schemeClr val="accent2"/>
          </a:solidFill>
          <a:ln/>
        </p:spPr>
      </p:sp>
      <p:sp>
        <p:nvSpPr>
          <p:cNvPr id="11" name="Shape 9"/>
          <p:cNvSpPr/>
          <p:nvPr/>
        </p:nvSpPr>
        <p:spPr>
          <a:xfrm>
            <a:off x="822960" y="4167378"/>
            <a:ext cx="329184" cy="329184"/>
          </a:xfrm>
          <a:prstGeom prst="ellipse">
            <a:avLst/>
          </a:prstGeom>
          <a:solidFill>
            <a:schemeClr val="bg2"/>
          </a:solidFill>
          <a:ln w="19050">
            <a:solidFill>
              <a:schemeClr val="tx2"/>
            </a:solidFill>
            <a:prstDash val="solid"/>
          </a:ln>
        </p:spPr>
      </p:sp>
      <p:sp>
        <p:nvSpPr>
          <p:cNvPr id="12" name="Text 10"/>
          <p:cNvSpPr txBox="1"/>
          <p:nvPr/>
        </p:nvSpPr>
        <p:spPr>
          <a:xfrm>
            <a:off x="713232" y="4057650"/>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5</a:t>
            </a:r>
            <a:endParaRPr lang="en-US" sz="1600" dirty="0"/>
          </a:p>
        </p:txBody>
      </p:sp>
      <p:sp>
        <p:nvSpPr>
          <p:cNvPr id="13" name="Text 11"/>
          <p:cNvSpPr txBox="1"/>
          <p:nvPr/>
        </p:nvSpPr>
        <p:spPr>
          <a:xfrm>
            <a:off x="1444752" y="4039362"/>
            <a:ext cx="10012680" cy="1801368"/>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يُدَبِّرُ الْأَمْرَ مِنَ السَّمَآءِ إِلَى الْأَرْضِ ثُمَّ يَعْرُجُ إِلَيْهِ فِي يَوْمٍ كَانَ مِقْدَارُهُ أَلْفَ سَنَةٍ مِّمَّا تَعُدُّونَ</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He arranges the affairs of creation from the sky to the earth, then the matter goes up to Him in a day whose length is a thousand years of what you count.</a:t>
            </a:r>
            <a:endParaRPr lang="en-US" sz="3000" dirty="0"/>
          </a:p>
        </p:txBody>
      </p:sp>
      <p:sp>
        <p:nvSpPr>
          <p:cNvPr id="25" name="Slide Number Placeholder 0"/>
          <p:cNvSpPr>
            <a:spLocks noGrp="1"/>
          </p:cNvSpPr>
          <p:nvPr>
            <p:ph type="sldNum" sz="quarter" idx="4294967295"/>
          </p:nvPr>
        </p:nvSpPr>
        <p:spPr>
          <a:xfrm>
            <a:off x="1115568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23</a:t>
            </a:fld>
            <a:endParaRPr lang="en-US"/>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algn="ctr" indent="0" marL="0">
              <a:buNone/>
            </a:pPr>
            <a:r>
              <a:rPr lang="en-US" sz="2400" b="1" dirty="0">
                <a:solidFill>
                  <a:schemeClr val="bg1"/>
                </a:solidFill>
                <a:latin typeface="Georgia" pitchFamily="34" charset="0"/>
                <a:ea typeface="Georgia" pitchFamily="34" charset="-122"/>
                <a:cs typeface="Georgia" pitchFamily="34" charset="-120"/>
              </a:rPr>
              <a:t>Surah As-Sajdah</a:t>
            </a:r>
            <a:endParaRPr lang="en-US" sz="2400" dirty="0"/>
          </a:p>
        </p:txBody>
      </p:sp>
      <p:sp>
        <p:nvSpPr>
          <p:cNvPr id="3" name="Text 1"/>
          <p:cNvSpPr txBox="1"/>
          <p:nvPr/>
        </p:nvSpPr>
        <p:spPr>
          <a:xfrm>
            <a:off x="777240" y="548640"/>
            <a:ext cx="2651760" cy="384048"/>
          </a:xfrm>
          <a:prstGeom prst="rect">
            <a:avLst/>
          </a:prstGeom>
          <a:noFill/>
          <a:ln/>
        </p:spPr>
        <p:txBody>
          <a:bodyPr wrap="square" lIns="0" tIns="0" rIns="0" bIns="0" rtlCol="0" anchor="ctr"/>
          <a:lstStyle/>
          <a:p>
            <a:pPr algn="l" indent="0" marL="0">
              <a:buNone/>
            </a:pPr>
            <a:r>
              <a:rPr lang="en-US" altLang="en-US" sz="1500" b="1" dirty="0">
                <a:solidFill>
                  <a:schemeClr val="accent2"/>
                </a:solidFill>
                <a:latin typeface="Arial" pitchFamily="34" charset="0"/>
                <a:ea typeface="Arial" pitchFamily="34" charset="-122"/>
                <a:cs typeface="Arial" pitchFamily="34" charset="-120"/>
              </a:rPr>
              <a:t>Verses 6 – 8</a:t>
            </a:r>
            <a:endParaRPr lang="en-US" sz="1500" dirty="0"/>
          </a:p>
        </p:txBody>
      </p:sp>
      <p:sp>
        <p:nvSpPr>
          <p:cNvPr id="4" name="Text 2"/>
          <p:cNvSpPr txBox="1"/>
          <p:nvPr/>
        </p:nvSpPr>
        <p:spPr>
          <a:xfrm>
            <a:off x="8732520" y="548640"/>
            <a:ext cx="2651760" cy="384048"/>
          </a:xfrm>
          <a:prstGeom prst="rect">
            <a:avLst/>
          </a:prstGeom>
          <a:noFill/>
          <a:ln/>
        </p:spPr>
        <p:txBody>
          <a:bodyPr wrap="square" lIns="0" tIns="0" rIns="0" bIns="0" rtlCol="0" anchor="ctr"/>
          <a:lstStyle/>
          <a:p>
            <a:pPr algn="r" indent="0" marL="0">
              <a:buNone/>
            </a:pPr>
            <a:r>
              <a:rPr lang="en-US" altLang="en-US" sz="1300" i="1" dirty="0">
                <a:solidFill>
                  <a:schemeClr val="accent4"/>
                </a:solidFill>
                <a:latin typeface="Arial" pitchFamily="34" charset="0"/>
                <a:ea typeface="Arial" pitchFamily="34" charset="-122"/>
                <a:cs typeface="Arial" pitchFamily="34" charset="-120"/>
              </a:rPr>
              <a:t>Ibn Kathir, simplified</a:t>
            </a:r>
            <a:endParaRPr lang="en-US" sz="1300" dirty="0"/>
          </a:p>
        </p:txBody>
      </p:sp>
      <p:sp>
        <p:nvSpPr>
          <p:cNvPr id="5" name="Shape 3"/>
          <p:cNvSpPr/>
          <p:nvPr/>
        </p:nvSpPr>
        <p:spPr>
          <a:xfrm>
            <a:off x="713232" y="1705356"/>
            <a:ext cx="548640" cy="548640"/>
          </a:xfrm>
          <a:prstGeom prst="star8">
            <a:avLst/>
          </a:prstGeom>
          <a:solidFill>
            <a:schemeClr val="accent2"/>
          </a:solidFill>
          <a:ln/>
        </p:spPr>
      </p:sp>
      <p:sp>
        <p:nvSpPr>
          <p:cNvPr id="6" name="Shape 4"/>
          <p:cNvSpPr/>
          <p:nvPr/>
        </p:nvSpPr>
        <p:spPr>
          <a:xfrm>
            <a:off x="822960" y="1815084"/>
            <a:ext cx="329184" cy="329184"/>
          </a:xfrm>
          <a:prstGeom prst="ellipse">
            <a:avLst/>
          </a:prstGeom>
          <a:solidFill>
            <a:schemeClr val="bg2"/>
          </a:solidFill>
          <a:ln w="19050">
            <a:solidFill>
              <a:schemeClr val="tx2"/>
            </a:solidFill>
            <a:prstDash val="solid"/>
          </a:ln>
        </p:spPr>
      </p:sp>
      <p:sp>
        <p:nvSpPr>
          <p:cNvPr id="7" name="Text 5"/>
          <p:cNvSpPr txBox="1"/>
          <p:nvPr/>
        </p:nvSpPr>
        <p:spPr>
          <a:xfrm>
            <a:off x="713232" y="1705356"/>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6</a:t>
            </a:r>
            <a:endParaRPr lang="en-US" sz="1600" dirty="0"/>
          </a:p>
        </p:txBody>
      </p:sp>
      <p:sp>
        <p:nvSpPr>
          <p:cNvPr id="8" name="Text 6"/>
          <p:cNvSpPr txBox="1"/>
          <p:nvPr/>
        </p:nvSpPr>
        <p:spPr>
          <a:xfrm>
            <a:off x="1444752" y="1687068"/>
            <a:ext cx="10012680" cy="1252728"/>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ذَٰلِكَ عَٰلِمُ الْغَيْبِ وَالشَّهَٰدَةِ الْعَزِيزُ الرَّحِيمُ</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That Creator and Arranger is the Knower of the unseen and the seen, the Almighty, the Most Merciful,</a:t>
            </a:r>
            <a:endParaRPr lang="en-US" sz="3000" dirty="0"/>
          </a:p>
        </p:txBody>
      </p:sp>
      <p:sp>
        <p:nvSpPr>
          <p:cNvPr id="9" name="Shape 7"/>
          <p:cNvSpPr/>
          <p:nvPr/>
        </p:nvSpPr>
        <p:spPr>
          <a:xfrm>
            <a:off x="1444752" y="3127248"/>
            <a:ext cx="8641080" cy="0"/>
          </a:xfrm>
          <a:prstGeom prst="line">
            <a:avLst/>
          </a:prstGeom>
          <a:noFill/>
          <a:ln w="9525">
            <a:solidFill>
              <a:schemeClr val="accent2"/>
            </a:solidFill>
            <a:prstDash val="dash"/>
          </a:ln>
        </p:spPr>
      </p:sp>
      <p:sp>
        <p:nvSpPr>
          <p:cNvPr id="10" name="Shape 8"/>
          <p:cNvSpPr/>
          <p:nvPr/>
        </p:nvSpPr>
        <p:spPr>
          <a:xfrm>
            <a:off x="713232" y="3360420"/>
            <a:ext cx="548640" cy="548640"/>
          </a:xfrm>
          <a:prstGeom prst="star8">
            <a:avLst/>
          </a:prstGeom>
          <a:solidFill>
            <a:schemeClr val="accent2"/>
          </a:solidFill>
          <a:ln/>
        </p:spPr>
      </p:sp>
      <p:sp>
        <p:nvSpPr>
          <p:cNvPr id="11" name="Shape 9"/>
          <p:cNvSpPr/>
          <p:nvPr/>
        </p:nvSpPr>
        <p:spPr>
          <a:xfrm>
            <a:off x="822960" y="3470148"/>
            <a:ext cx="329184" cy="329184"/>
          </a:xfrm>
          <a:prstGeom prst="ellipse">
            <a:avLst/>
          </a:prstGeom>
          <a:solidFill>
            <a:schemeClr val="bg2"/>
          </a:solidFill>
          <a:ln w="19050">
            <a:solidFill>
              <a:schemeClr val="tx2"/>
            </a:solidFill>
            <a:prstDash val="solid"/>
          </a:ln>
        </p:spPr>
      </p:sp>
      <p:sp>
        <p:nvSpPr>
          <p:cNvPr id="12" name="Text 10"/>
          <p:cNvSpPr txBox="1"/>
          <p:nvPr/>
        </p:nvSpPr>
        <p:spPr>
          <a:xfrm>
            <a:off x="713232" y="3360420"/>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7</a:t>
            </a:r>
            <a:endParaRPr lang="en-US" sz="1600" dirty="0"/>
          </a:p>
        </p:txBody>
      </p:sp>
      <p:sp>
        <p:nvSpPr>
          <p:cNvPr id="13" name="Text 11"/>
          <p:cNvSpPr txBox="1"/>
          <p:nvPr/>
        </p:nvSpPr>
        <p:spPr>
          <a:xfrm>
            <a:off x="1444752" y="3342132"/>
            <a:ext cx="10012680" cy="992124"/>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الَّذِي أَحْسَنَ كُلَّ شَيْءٍ خَلَقَهُ وَبَدَأَ خَلْقَ الْإِنسَٰنِ مِن طِينٍ</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who made everything He created excellent, and began the creation of man, Adam, from clay.</a:t>
            </a:r>
            <a:endParaRPr lang="en-US" sz="3000" dirty="0"/>
          </a:p>
        </p:txBody>
      </p:sp>
      <p:sp>
        <p:nvSpPr>
          <p:cNvPr id="14" name="Shape 12"/>
          <p:cNvSpPr/>
          <p:nvPr/>
        </p:nvSpPr>
        <p:spPr>
          <a:xfrm>
            <a:off x="1444752" y="4521708"/>
            <a:ext cx="8641080" cy="0"/>
          </a:xfrm>
          <a:prstGeom prst="line">
            <a:avLst/>
          </a:prstGeom>
          <a:noFill/>
          <a:ln w="9525">
            <a:solidFill>
              <a:schemeClr val="accent2"/>
            </a:solidFill>
            <a:prstDash val="dash"/>
          </a:ln>
        </p:spPr>
      </p:sp>
      <p:sp>
        <p:nvSpPr>
          <p:cNvPr id="15" name="Shape 13"/>
          <p:cNvSpPr/>
          <p:nvPr/>
        </p:nvSpPr>
        <p:spPr>
          <a:xfrm>
            <a:off x="713232" y="4754880"/>
            <a:ext cx="548640" cy="548640"/>
          </a:xfrm>
          <a:prstGeom prst="star8">
            <a:avLst/>
          </a:prstGeom>
          <a:solidFill>
            <a:schemeClr val="accent2"/>
          </a:solidFill>
          <a:ln/>
        </p:spPr>
      </p:sp>
      <p:sp>
        <p:nvSpPr>
          <p:cNvPr id="16" name="Shape 14"/>
          <p:cNvSpPr/>
          <p:nvPr/>
        </p:nvSpPr>
        <p:spPr>
          <a:xfrm>
            <a:off x="822960" y="4864608"/>
            <a:ext cx="329184" cy="329184"/>
          </a:xfrm>
          <a:prstGeom prst="ellipse">
            <a:avLst/>
          </a:prstGeom>
          <a:solidFill>
            <a:schemeClr val="bg2"/>
          </a:solidFill>
          <a:ln w="19050">
            <a:solidFill>
              <a:schemeClr val="tx2"/>
            </a:solidFill>
            <a:prstDash val="solid"/>
          </a:ln>
        </p:spPr>
      </p:sp>
      <p:sp>
        <p:nvSpPr>
          <p:cNvPr id="17" name="Text 15"/>
          <p:cNvSpPr txBox="1"/>
          <p:nvPr/>
        </p:nvSpPr>
        <p:spPr>
          <a:xfrm>
            <a:off x="713232" y="4754880"/>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8</a:t>
            </a:r>
            <a:endParaRPr lang="en-US" sz="1600" dirty="0"/>
          </a:p>
        </p:txBody>
      </p:sp>
      <p:sp>
        <p:nvSpPr>
          <p:cNvPr id="18" name="Text 16"/>
          <p:cNvSpPr txBox="1"/>
          <p:nvPr/>
        </p:nvSpPr>
        <p:spPr>
          <a:xfrm>
            <a:off x="1444752" y="4736592"/>
            <a:ext cx="10012680" cy="992124"/>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ثُمَّ جَعَلَ نَسْلَهُ مِن سُلَٰلَةٍ مِّن مَّآءٍ مَّهِينٍ</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Then He made his descendants from a weak fluid.</a:t>
            </a:r>
            <a:endParaRPr lang="en-US" sz="3000" dirty="0"/>
          </a:p>
        </p:txBody>
      </p:sp>
      <p:sp>
        <p:nvSpPr>
          <p:cNvPr id="25" name="Slide Number Placeholder 0"/>
          <p:cNvSpPr>
            <a:spLocks noGrp="1"/>
          </p:cNvSpPr>
          <p:nvPr>
            <p:ph type="sldNum" sz="quarter" idx="4294967295"/>
          </p:nvPr>
        </p:nvSpPr>
        <p:spPr>
          <a:xfrm>
            <a:off x="1115568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24</a:t>
            </a:fld>
            <a:endParaRPr lang="en-US"/>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algn="ctr" indent="0" marL="0">
              <a:buNone/>
            </a:pPr>
            <a:r>
              <a:rPr lang="en-US" sz="2400" b="1" dirty="0">
                <a:solidFill>
                  <a:schemeClr val="bg1"/>
                </a:solidFill>
                <a:latin typeface="Georgia" pitchFamily="34" charset="0"/>
                <a:ea typeface="Georgia" pitchFamily="34" charset="-122"/>
                <a:cs typeface="Georgia" pitchFamily="34" charset="-120"/>
              </a:rPr>
              <a:t>Surah As-Sajdah</a:t>
            </a:r>
            <a:endParaRPr lang="en-US" sz="2400" dirty="0"/>
          </a:p>
        </p:txBody>
      </p:sp>
      <p:sp>
        <p:nvSpPr>
          <p:cNvPr id="3" name="Text 1"/>
          <p:cNvSpPr txBox="1"/>
          <p:nvPr/>
        </p:nvSpPr>
        <p:spPr>
          <a:xfrm>
            <a:off x="777240" y="548640"/>
            <a:ext cx="2651760" cy="384048"/>
          </a:xfrm>
          <a:prstGeom prst="rect">
            <a:avLst/>
          </a:prstGeom>
          <a:noFill/>
          <a:ln/>
        </p:spPr>
        <p:txBody>
          <a:bodyPr wrap="square" lIns="0" tIns="0" rIns="0" bIns="0" rtlCol="0" anchor="ctr"/>
          <a:lstStyle/>
          <a:p>
            <a:pPr algn="l" indent="0" marL="0">
              <a:buNone/>
            </a:pPr>
            <a:r>
              <a:rPr lang="en-US" altLang="en-US" sz="1500" b="1" dirty="0">
                <a:solidFill>
                  <a:schemeClr val="accent2"/>
                </a:solidFill>
                <a:latin typeface="Arial" pitchFamily="34" charset="0"/>
                <a:ea typeface="Arial" pitchFamily="34" charset="-122"/>
                <a:cs typeface="Arial" pitchFamily="34" charset="-120"/>
              </a:rPr>
              <a:t>Verses 9 – 11</a:t>
            </a:r>
            <a:endParaRPr lang="en-US" sz="1500" dirty="0"/>
          </a:p>
        </p:txBody>
      </p:sp>
      <p:sp>
        <p:nvSpPr>
          <p:cNvPr id="4" name="Text 2"/>
          <p:cNvSpPr txBox="1"/>
          <p:nvPr/>
        </p:nvSpPr>
        <p:spPr>
          <a:xfrm>
            <a:off x="8732520" y="548640"/>
            <a:ext cx="2651760" cy="384048"/>
          </a:xfrm>
          <a:prstGeom prst="rect">
            <a:avLst/>
          </a:prstGeom>
          <a:noFill/>
          <a:ln/>
        </p:spPr>
        <p:txBody>
          <a:bodyPr wrap="square" lIns="0" tIns="0" rIns="0" bIns="0" rtlCol="0" anchor="ctr"/>
          <a:lstStyle/>
          <a:p>
            <a:pPr algn="r" indent="0" marL="0">
              <a:buNone/>
            </a:pPr>
            <a:r>
              <a:rPr lang="en-US" altLang="en-US" sz="1300" i="1" dirty="0">
                <a:solidFill>
                  <a:schemeClr val="accent4"/>
                </a:solidFill>
                <a:latin typeface="Arial" pitchFamily="34" charset="0"/>
                <a:ea typeface="Arial" pitchFamily="34" charset="-122"/>
                <a:cs typeface="Arial" pitchFamily="34" charset="-120"/>
              </a:rPr>
              <a:t>Ibn Kathir, simplified</a:t>
            </a:r>
            <a:endParaRPr lang="en-US" sz="1300" dirty="0"/>
          </a:p>
        </p:txBody>
      </p:sp>
      <p:sp>
        <p:nvSpPr>
          <p:cNvPr id="5" name="Shape 3"/>
          <p:cNvSpPr/>
          <p:nvPr/>
        </p:nvSpPr>
        <p:spPr>
          <a:xfrm>
            <a:off x="713232" y="1362456"/>
            <a:ext cx="548640" cy="548640"/>
          </a:xfrm>
          <a:prstGeom prst="star8">
            <a:avLst/>
          </a:prstGeom>
          <a:solidFill>
            <a:schemeClr val="accent2"/>
          </a:solidFill>
          <a:ln/>
        </p:spPr>
      </p:sp>
      <p:sp>
        <p:nvSpPr>
          <p:cNvPr id="6" name="Shape 4"/>
          <p:cNvSpPr/>
          <p:nvPr/>
        </p:nvSpPr>
        <p:spPr>
          <a:xfrm>
            <a:off x="822960" y="1472184"/>
            <a:ext cx="329184" cy="329184"/>
          </a:xfrm>
          <a:prstGeom prst="ellipse">
            <a:avLst/>
          </a:prstGeom>
          <a:solidFill>
            <a:schemeClr val="bg2"/>
          </a:solidFill>
          <a:ln w="19050">
            <a:solidFill>
              <a:schemeClr val="tx2"/>
            </a:solidFill>
            <a:prstDash val="solid"/>
          </a:ln>
        </p:spPr>
      </p:sp>
      <p:sp>
        <p:nvSpPr>
          <p:cNvPr id="7" name="Text 5"/>
          <p:cNvSpPr txBox="1"/>
          <p:nvPr/>
        </p:nvSpPr>
        <p:spPr>
          <a:xfrm>
            <a:off x="713232" y="1362456"/>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9</a:t>
            </a:r>
            <a:endParaRPr lang="en-US" sz="1600" dirty="0"/>
          </a:p>
        </p:txBody>
      </p:sp>
      <p:sp>
        <p:nvSpPr>
          <p:cNvPr id="8" name="Text 6"/>
          <p:cNvSpPr txBox="1"/>
          <p:nvPr/>
        </p:nvSpPr>
        <p:spPr>
          <a:xfrm>
            <a:off x="1444752" y="1344168"/>
            <a:ext cx="10012680" cy="1801368"/>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ثُمَّ سَوَّىٰهُ وَنَفَخَ فِيهِ مِن رُّوحِهِ وَجَعَلَ لَكُمُ السَّمْعَ وَالْأَبْصَٰرَ وَالْأَفْـِٔدَةَ قَلِيلًا مَّا تَشْكُرُونَ</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Then He shaped him, completed his creation and breathed the soul into him, and gave you hearing, sight and minds. Little are you thankful.</a:t>
            </a:r>
            <a:endParaRPr lang="en-US" sz="3000" dirty="0"/>
          </a:p>
        </p:txBody>
      </p:sp>
      <p:sp>
        <p:nvSpPr>
          <p:cNvPr id="9" name="Shape 7"/>
          <p:cNvSpPr/>
          <p:nvPr/>
        </p:nvSpPr>
        <p:spPr>
          <a:xfrm>
            <a:off x="1444752" y="3236976"/>
            <a:ext cx="8641080" cy="0"/>
          </a:xfrm>
          <a:prstGeom prst="line">
            <a:avLst/>
          </a:prstGeom>
          <a:noFill/>
          <a:ln w="9525">
            <a:solidFill>
              <a:schemeClr val="accent2"/>
            </a:solidFill>
            <a:prstDash val="dash"/>
          </a:ln>
        </p:spPr>
      </p:sp>
      <p:sp>
        <p:nvSpPr>
          <p:cNvPr id="10" name="Shape 8"/>
          <p:cNvSpPr/>
          <p:nvPr/>
        </p:nvSpPr>
        <p:spPr>
          <a:xfrm>
            <a:off x="713232" y="3374136"/>
            <a:ext cx="548640" cy="548640"/>
          </a:xfrm>
          <a:prstGeom prst="star8">
            <a:avLst/>
          </a:prstGeom>
          <a:solidFill>
            <a:schemeClr val="accent2"/>
          </a:solidFill>
          <a:ln/>
        </p:spPr>
      </p:sp>
      <p:sp>
        <p:nvSpPr>
          <p:cNvPr id="11" name="Shape 9"/>
          <p:cNvSpPr/>
          <p:nvPr/>
        </p:nvSpPr>
        <p:spPr>
          <a:xfrm>
            <a:off x="822960" y="3483864"/>
            <a:ext cx="329184" cy="329184"/>
          </a:xfrm>
          <a:prstGeom prst="ellipse">
            <a:avLst/>
          </a:prstGeom>
          <a:solidFill>
            <a:schemeClr val="bg2"/>
          </a:solidFill>
          <a:ln w="19050">
            <a:solidFill>
              <a:schemeClr val="tx2"/>
            </a:solidFill>
            <a:prstDash val="solid"/>
          </a:ln>
        </p:spPr>
      </p:sp>
      <p:sp>
        <p:nvSpPr>
          <p:cNvPr id="12" name="Text 10"/>
          <p:cNvSpPr txBox="1"/>
          <p:nvPr/>
        </p:nvSpPr>
        <p:spPr>
          <a:xfrm>
            <a:off x="713232" y="3374136"/>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10</a:t>
            </a:r>
            <a:endParaRPr lang="en-US" sz="1600" dirty="0"/>
          </a:p>
        </p:txBody>
      </p:sp>
      <p:sp>
        <p:nvSpPr>
          <p:cNvPr id="13" name="Text 11"/>
          <p:cNvSpPr txBox="1"/>
          <p:nvPr/>
        </p:nvSpPr>
        <p:spPr>
          <a:xfrm>
            <a:off x="1444752" y="3355848"/>
            <a:ext cx="10012680" cy="1252728"/>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وَقَالُواْ أَءِذَا ضَلَلْنَا فِي الْأَرْضِ أَءِنَّا لَفِي خَلْقٍ جَدِيدٍ بَلْ هُم بِلِقَآءِ رَبِّهِمْ كَٰفِرُونَ</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The disbelievers said: When our bodies are scattered in the earth, will we really be created anew? Rather, they disbelieve in meeting their Lord.</a:t>
            </a:r>
            <a:endParaRPr lang="en-US" sz="3000" dirty="0"/>
          </a:p>
        </p:txBody>
      </p:sp>
      <p:sp>
        <p:nvSpPr>
          <p:cNvPr id="14" name="Shape 12"/>
          <p:cNvSpPr/>
          <p:nvPr/>
        </p:nvSpPr>
        <p:spPr>
          <a:xfrm>
            <a:off x="1444752" y="4700016"/>
            <a:ext cx="8641080" cy="0"/>
          </a:xfrm>
          <a:prstGeom prst="line">
            <a:avLst/>
          </a:prstGeom>
          <a:noFill/>
          <a:ln w="9525">
            <a:solidFill>
              <a:schemeClr val="accent2"/>
            </a:solidFill>
            <a:prstDash val="dash"/>
          </a:ln>
        </p:spPr>
      </p:sp>
      <p:sp>
        <p:nvSpPr>
          <p:cNvPr id="15" name="Shape 13"/>
          <p:cNvSpPr/>
          <p:nvPr/>
        </p:nvSpPr>
        <p:spPr>
          <a:xfrm>
            <a:off x="713232" y="4837176"/>
            <a:ext cx="548640" cy="548640"/>
          </a:xfrm>
          <a:prstGeom prst="star8">
            <a:avLst/>
          </a:prstGeom>
          <a:solidFill>
            <a:schemeClr val="accent2"/>
          </a:solidFill>
          <a:ln/>
        </p:spPr>
      </p:sp>
      <p:sp>
        <p:nvSpPr>
          <p:cNvPr id="16" name="Shape 14"/>
          <p:cNvSpPr/>
          <p:nvPr/>
        </p:nvSpPr>
        <p:spPr>
          <a:xfrm>
            <a:off x="822960" y="4946904"/>
            <a:ext cx="329184" cy="329184"/>
          </a:xfrm>
          <a:prstGeom prst="ellipse">
            <a:avLst/>
          </a:prstGeom>
          <a:solidFill>
            <a:schemeClr val="bg2"/>
          </a:solidFill>
          <a:ln w="19050">
            <a:solidFill>
              <a:schemeClr val="tx2"/>
            </a:solidFill>
            <a:prstDash val="solid"/>
          </a:ln>
        </p:spPr>
      </p:sp>
      <p:sp>
        <p:nvSpPr>
          <p:cNvPr id="17" name="Text 15"/>
          <p:cNvSpPr txBox="1"/>
          <p:nvPr/>
        </p:nvSpPr>
        <p:spPr>
          <a:xfrm>
            <a:off x="713232" y="4837176"/>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11</a:t>
            </a:r>
            <a:endParaRPr lang="en-US" sz="1600" dirty="0"/>
          </a:p>
        </p:txBody>
      </p:sp>
      <p:sp>
        <p:nvSpPr>
          <p:cNvPr id="18" name="Text 16"/>
          <p:cNvSpPr txBox="1"/>
          <p:nvPr/>
        </p:nvSpPr>
        <p:spPr>
          <a:xfrm>
            <a:off x="1444752" y="4818888"/>
            <a:ext cx="10012680" cy="1252728"/>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قُلْ يَتَوَفَّىٰكُم مَّلَكُ الْمَوْتِ الَّذِي وُكِّلَ بِكُمْ ثُمَّ إِلَىٰ رَبِّكُمْ تُرْجَعُونَ</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Say: The Angel of Death who is put in charge of you will take your souls, then to your Lord you will be returned.</a:t>
            </a:r>
            <a:endParaRPr lang="en-US" sz="3000" dirty="0"/>
          </a:p>
        </p:txBody>
      </p:sp>
      <p:sp>
        <p:nvSpPr>
          <p:cNvPr id="25" name="Slide Number Placeholder 0"/>
          <p:cNvSpPr>
            <a:spLocks noGrp="1"/>
          </p:cNvSpPr>
          <p:nvPr>
            <p:ph type="sldNum" sz="quarter" idx="4294967295"/>
          </p:nvPr>
        </p:nvSpPr>
        <p:spPr>
          <a:xfrm>
            <a:off x="1115568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25</a:t>
            </a:fld>
            <a:endParaRPr lang="en-US"/>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algn="ctr" indent="0" marL="0">
              <a:buNone/>
            </a:pPr>
            <a:r>
              <a:rPr lang="en-US" sz="2400" b="1" dirty="0">
                <a:solidFill>
                  <a:schemeClr val="bg1"/>
                </a:solidFill>
                <a:latin typeface="Georgia" pitchFamily="34" charset="0"/>
                <a:ea typeface="Georgia" pitchFamily="34" charset="-122"/>
                <a:cs typeface="Georgia" pitchFamily="34" charset="-120"/>
              </a:rPr>
              <a:t>Surah As-Sajdah</a:t>
            </a:r>
            <a:endParaRPr lang="en-US" sz="2400" dirty="0"/>
          </a:p>
        </p:txBody>
      </p:sp>
      <p:sp>
        <p:nvSpPr>
          <p:cNvPr id="3" name="Text 1"/>
          <p:cNvSpPr txBox="1"/>
          <p:nvPr/>
        </p:nvSpPr>
        <p:spPr>
          <a:xfrm>
            <a:off x="777240" y="548640"/>
            <a:ext cx="2651760" cy="384048"/>
          </a:xfrm>
          <a:prstGeom prst="rect">
            <a:avLst/>
          </a:prstGeom>
          <a:noFill/>
          <a:ln/>
        </p:spPr>
        <p:txBody>
          <a:bodyPr wrap="square" lIns="0" tIns="0" rIns="0" bIns="0" rtlCol="0" anchor="ctr"/>
          <a:lstStyle/>
          <a:p>
            <a:pPr algn="l" indent="0" marL="0">
              <a:buNone/>
            </a:pPr>
            <a:r>
              <a:rPr lang="en-US" altLang="en-US" sz="1500" b="1" dirty="0">
                <a:solidFill>
                  <a:schemeClr val="accent2"/>
                </a:solidFill>
                <a:latin typeface="Arial" pitchFamily="34" charset="0"/>
                <a:ea typeface="Arial" pitchFamily="34" charset="-122"/>
                <a:cs typeface="Arial" pitchFamily="34" charset="-120"/>
              </a:rPr>
              <a:t>Verses 12 – 13</a:t>
            </a:r>
            <a:endParaRPr lang="en-US" sz="1500" dirty="0"/>
          </a:p>
        </p:txBody>
      </p:sp>
      <p:sp>
        <p:nvSpPr>
          <p:cNvPr id="4" name="Text 2"/>
          <p:cNvSpPr txBox="1"/>
          <p:nvPr/>
        </p:nvSpPr>
        <p:spPr>
          <a:xfrm>
            <a:off x="8732520" y="548640"/>
            <a:ext cx="2651760" cy="384048"/>
          </a:xfrm>
          <a:prstGeom prst="rect">
            <a:avLst/>
          </a:prstGeom>
          <a:noFill/>
          <a:ln/>
        </p:spPr>
        <p:txBody>
          <a:bodyPr wrap="square" lIns="0" tIns="0" rIns="0" bIns="0" rtlCol="0" anchor="ctr"/>
          <a:lstStyle/>
          <a:p>
            <a:pPr algn="r" indent="0" marL="0">
              <a:buNone/>
            </a:pPr>
            <a:r>
              <a:rPr lang="en-US" altLang="en-US" sz="1300" i="1" dirty="0">
                <a:solidFill>
                  <a:schemeClr val="accent4"/>
                </a:solidFill>
                <a:latin typeface="Arial" pitchFamily="34" charset="0"/>
                <a:ea typeface="Arial" pitchFamily="34" charset="-122"/>
                <a:cs typeface="Arial" pitchFamily="34" charset="-120"/>
              </a:rPr>
              <a:t>Ibn Kathir, simplified</a:t>
            </a:r>
            <a:endParaRPr lang="en-US" sz="1300" dirty="0"/>
          </a:p>
        </p:txBody>
      </p:sp>
      <p:sp>
        <p:nvSpPr>
          <p:cNvPr id="5" name="Shape 3"/>
          <p:cNvSpPr/>
          <p:nvPr/>
        </p:nvSpPr>
        <p:spPr>
          <a:xfrm>
            <a:off x="713232" y="1723644"/>
            <a:ext cx="548640" cy="548640"/>
          </a:xfrm>
          <a:prstGeom prst="star8">
            <a:avLst/>
          </a:prstGeom>
          <a:solidFill>
            <a:schemeClr val="accent2"/>
          </a:solidFill>
          <a:ln/>
        </p:spPr>
      </p:sp>
      <p:sp>
        <p:nvSpPr>
          <p:cNvPr id="6" name="Shape 4"/>
          <p:cNvSpPr/>
          <p:nvPr/>
        </p:nvSpPr>
        <p:spPr>
          <a:xfrm>
            <a:off x="822960" y="1833372"/>
            <a:ext cx="329184" cy="329184"/>
          </a:xfrm>
          <a:prstGeom prst="ellipse">
            <a:avLst/>
          </a:prstGeom>
          <a:solidFill>
            <a:schemeClr val="bg2"/>
          </a:solidFill>
          <a:ln w="19050">
            <a:solidFill>
              <a:schemeClr val="tx2"/>
            </a:solidFill>
            <a:prstDash val="solid"/>
          </a:ln>
        </p:spPr>
      </p:sp>
      <p:sp>
        <p:nvSpPr>
          <p:cNvPr id="7" name="Text 5"/>
          <p:cNvSpPr txBox="1"/>
          <p:nvPr/>
        </p:nvSpPr>
        <p:spPr>
          <a:xfrm>
            <a:off x="713232" y="1723644"/>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12</a:t>
            </a:r>
            <a:endParaRPr lang="en-US" sz="1600" dirty="0"/>
          </a:p>
        </p:txBody>
      </p:sp>
      <p:sp>
        <p:nvSpPr>
          <p:cNvPr id="8" name="Text 6"/>
          <p:cNvSpPr txBox="1"/>
          <p:nvPr/>
        </p:nvSpPr>
        <p:spPr>
          <a:xfrm>
            <a:off x="1444752" y="1705356"/>
            <a:ext cx="10012680" cy="1801368"/>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وَلَوْ تَرَىٰ إِذِ الْمُجْرِمُونَ نَاكِسُواْ رُءُوسِهِمْ عِندَ رَبِّهِمْ رَبَّنَآ أَبْصَرْنَا وَسَمِعْنَا فَارْجِعْنَا نَعْمَلْ صَٰلِحًا إِنَّا مُوقِنُونَ</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If only you could see the criminals hanging their heads in shame before their Lord: Our Lord, we have seen and heard, so send us back to the world to do good; now we are certain.</a:t>
            </a:r>
            <a:endParaRPr lang="en-US" sz="3000" dirty="0"/>
          </a:p>
        </p:txBody>
      </p:sp>
      <p:sp>
        <p:nvSpPr>
          <p:cNvPr id="9" name="Shape 7"/>
          <p:cNvSpPr/>
          <p:nvPr/>
        </p:nvSpPr>
        <p:spPr>
          <a:xfrm>
            <a:off x="1444752" y="3694176"/>
            <a:ext cx="8641080" cy="0"/>
          </a:xfrm>
          <a:prstGeom prst="line">
            <a:avLst/>
          </a:prstGeom>
          <a:noFill/>
          <a:ln w="9525">
            <a:solidFill>
              <a:schemeClr val="accent2"/>
            </a:solidFill>
            <a:prstDash val="dash"/>
          </a:ln>
        </p:spPr>
      </p:sp>
      <p:sp>
        <p:nvSpPr>
          <p:cNvPr id="10" name="Shape 8"/>
          <p:cNvSpPr/>
          <p:nvPr/>
        </p:nvSpPr>
        <p:spPr>
          <a:xfrm>
            <a:off x="713232" y="3927348"/>
            <a:ext cx="548640" cy="548640"/>
          </a:xfrm>
          <a:prstGeom prst="star8">
            <a:avLst/>
          </a:prstGeom>
          <a:solidFill>
            <a:schemeClr val="accent2"/>
          </a:solidFill>
          <a:ln/>
        </p:spPr>
      </p:sp>
      <p:sp>
        <p:nvSpPr>
          <p:cNvPr id="11" name="Shape 9"/>
          <p:cNvSpPr/>
          <p:nvPr/>
        </p:nvSpPr>
        <p:spPr>
          <a:xfrm>
            <a:off x="822960" y="4037076"/>
            <a:ext cx="329184" cy="329184"/>
          </a:xfrm>
          <a:prstGeom prst="ellipse">
            <a:avLst/>
          </a:prstGeom>
          <a:solidFill>
            <a:schemeClr val="bg2"/>
          </a:solidFill>
          <a:ln w="19050">
            <a:solidFill>
              <a:schemeClr val="tx2"/>
            </a:solidFill>
            <a:prstDash val="solid"/>
          </a:ln>
        </p:spPr>
      </p:sp>
      <p:sp>
        <p:nvSpPr>
          <p:cNvPr id="12" name="Text 10"/>
          <p:cNvSpPr txBox="1"/>
          <p:nvPr/>
        </p:nvSpPr>
        <p:spPr>
          <a:xfrm>
            <a:off x="713232" y="3927348"/>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13</a:t>
            </a:r>
            <a:endParaRPr lang="en-US" sz="1600" dirty="0"/>
          </a:p>
        </p:txBody>
      </p:sp>
      <p:sp>
        <p:nvSpPr>
          <p:cNvPr id="13" name="Text 11"/>
          <p:cNvSpPr txBox="1"/>
          <p:nvPr/>
        </p:nvSpPr>
        <p:spPr>
          <a:xfrm>
            <a:off x="1444752" y="3909060"/>
            <a:ext cx="10012680" cy="1801368"/>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وَلَوْ شِئْنَا لَأتَيْنَا كُلَّ نَفْسٍ هُدَىٰهَا وَلَٰكِنْ حَقَّ الْقَوْلُ مِنِّي لَأَمْلَأَنَّ جَهَنَّمَ مِنَ الْجِنَّةِ وَالنَّاسِ أَجْمَعِينَ</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If We had willed, We could have guided every soul, but My word has come true: I will fill Hell with all the disbelievers among jinn and people.</a:t>
            </a:r>
            <a:endParaRPr lang="en-US" sz="3000" dirty="0"/>
          </a:p>
        </p:txBody>
      </p:sp>
      <p:sp>
        <p:nvSpPr>
          <p:cNvPr id="25" name="Slide Number Placeholder 0"/>
          <p:cNvSpPr>
            <a:spLocks noGrp="1"/>
          </p:cNvSpPr>
          <p:nvPr>
            <p:ph type="sldNum" sz="quarter" idx="4294967295"/>
          </p:nvPr>
        </p:nvSpPr>
        <p:spPr>
          <a:xfrm>
            <a:off x="1115568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26</a:t>
            </a:fld>
            <a:endParaRPr lang="en-US"/>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algn="ctr" indent="0" marL="0">
              <a:buNone/>
            </a:pPr>
            <a:r>
              <a:rPr lang="en-US" sz="2400" b="1" dirty="0">
                <a:solidFill>
                  <a:schemeClr val="bg1"/>
                </a:solidFill>
                <a:latin typeface="Georgia" pitchFamily="34" charset="0"/>
                <a:ea typeface="Georgia" pitchFamily="34" charset="-122"/>
                <a:cs typeface="Georgia" pitchFamily="34" charset="-120"/>
              </a:rPr>
              <a:t>Surah As-Sajdah</a:t>
            </a:r>
            <a:endParaRPr lang="en-US" sz="2400" dirty="0"/>
          </a:p>
        </p:txBody>
      </p:sp>
      <p:sp>
        <p:nvSpPr>
          <p:cNvPr id="3" name="Text 1"/>
          <p:cNvSpPr txBox="1"/>
          <p:nvPr/>
        </p:nvSpPr>
        <p:spPr>
          <a:xfrm>
            <a:off x="777240" y="548640"/>
            <a:ext cx="2651760" cy="384048"/>
          </a:xfrm>
          <a:prstGeom prst="rect">
            <a:avLst/>
          </a:prstGeom>
          <a:noFill/>
          <a:ln/>
        </p:spPr>
        <p:txBody>
          <a:bodyPr wrap="square" lIns="0" tIns="0" rIns="0" bIns="0" rtlCol="0" anchor="ctr"/>
          <a:lstStyle/>
          <a:p>
            <a:pPr algn="l" indent="0" marL="0">
              <a:buNone/>
            </a:pPr>
            <a:r>
              <a:rPr lang="en-US" altLang="en-US" sz="1500" b="1" dirty="0">
                <a:solidFill>
                  <a:schemeClr val="accent2"/>
                </a:solidFill>
                <a:latin typeface="Arial" pitchFamily="34" charset="0"/>
                <a:ea typeface="Arial" pitchFamily="34" charset="-122"/>
                <a:cs typeface="Arial" pitchFamily="34" charset="-120"/>
              </a:rPr>
              <a:t>Verses 14 – 15</a:t>
            </a:r>
            <a:endParaRPr lang="en-US" sz="1500" dirty="0"/>
          </a:p>
        </p:txBody>
      </p:sp>
      <p:sp>
        <p:nvSpPr>
          <p:cNvPr id="4" name="Text 2"/>
          <p:cNvSpPr txBox="1"/>
          <p:nvPr/>
        </p:nvSpPr>
        <p:spPr>
          <a:xfrm>
            <a:off x="8732520" y="548640"/>
            <a:ext cx="2651760" cy="384048"/>
          </a:xfrm>
          <a:prstGeom prst="rect">
            <a:avLst/>
          </a:prstGeom>
          <a:noFill/>
          <a:ln/>
        </p:spPr>
        <p:txBody>
          <a:bodyPr wrap="square" lIns="0" tIns="0" rIns="0" bIns="0" rtlCol="0" anchor="ctr"/>
          <a:lstStyle/>
          <a:p>
            <a:pPr algn="r" indent="0" marL="0">
              <a:buNone/>
            </a:pPr>
            <a:r>
              <a:rPr lang="en-US" altLang="en-US" sz="1300" i="1" dirty="0">
                <a:solidFill>
                  <a:schemeClr val="accent4"/>
                </a:solidFill>
                <a:latin typeface="Arial" pitchFamily="34" charset="0"/>
                <a:ea typeface="Arial" pitchFamily="34" charset="-122"/>
                <a:cs typeface="Arial" pitchFamily="34" charset="-120"/>
              </a:rPr>
              <a:t>Ibn Kathir, simplified</a:t>
            </a:r>
            <a:endParaRPr lang="en-US" sz="1300" dirty="0"/>
          </a:p>
        </p:txBody>
      </p:sp>
      <p:sp>
        <p:nvSpPr>
          <p:cNvPr id="5" name="Shape 3"/>
          <p:cNvSpPr/>
          <p:nvPr/>
        </p:nvSpPr>
        <p:spPr>
          <a:xfrm>
            <a:off x="713232" y="1723644"/>
            <a:ext cx="548640" cy="548640"/>
          </a:xfrm>
          <a:prstGeom prst="star8">
            <a:avLst/>
          </a:prstGeom>
          <a:solidFill>
            <a:schemeClr val="accent2"/>
          </a:solidFill>
          <a:ln/>
        </p:spPr>
      </p:sp>
      <p:sp>
        <p:nvSpPr>
          <p:cNvPr id="6" name="Shape 4"/>
          <p:cNvSpPr/>
          <p:nvPr/>
        </p:nvSpPr>
        <p:spPr>
          <a:xfrm>
            <a:off x="822960" y="1833372"/>
            <a:ext cx="329184" cy="329184"/>
          </a:xfrm>
          <a:prstGeom prst="ellipse">
            <a:avLst/>
          </a:prstGeom>
          <a:solidFill>
            <a:schemeClr val="bg2"/>
          </a:solidFill>
          <a:ln w="19050">
            <a:solidFill>
              <a:schemeClr val="tx2"/>
            </a:solidFill>
            <a:prstDash val="solid"/>
          </a:ln>
        </p:spPr>
      </p:sp>
      <p:sp>
        <p:nvSpPr>
          <p:cNvPr id="7" name="Text 5"/>
          <p:cNvSpPr txBox="1"/>
          <p:nvPr/>
        </p:nvSpPr>
        <p:spPr>
          <a:xfrm>
            <a:off x="713232" y="1723644"/>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14</a:t>
            </a:r>
            <a:endParaRPr lang="en-US" sz="1600" dirty="0"/>
          </a:p>
        </p:txBody>
      </p:sp>
      <p:sp>
        <p:nvSpPr>
          <p:cNvPr id="8" name="Text 6"/>
          <p:cNvSpPr txBox="1"/>
          <p:nvPr/>
        </p:nvSpPr>
        <p:spPr>
          <a:xfrm>
            <a:off x="1444752" y="1705356"/>
            <a:ext cx="10012680" cy="1801368"/>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فَذُوقُواْ بِمَا نَسِيتُمْ لِقَآءَ يَوْمِكُمْ هَٰذَآ إِنَّا نَسِينَٰكُمْ وَذُوقُواْ عَذَابَ الْخُلْدِ بِمَا كُنتُمْ تَعْمَلُونَ</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So taste the punishment for forgetting the meeting of this Day of yours. We have left you in the punishment, so taste the everlasting punishment for what you used to do.</a:t>
            </a:r>
            <a:endParaRPr lang="en-US" sz="3000" dirty="0"/>
          </a:p>
        </p:txBody>
      </p:sp>
      <p:sp>
        <p:nvSpPr>
          <p:cNvPr id="9" name="Shape 7"/>
          <p:cNvSpPr/>
          <p:nvPr/>
        </p:nvSpPr>
        <p:spPr>
          <a:xfrm>
            <a:off x="1444752" y="3694176"/>
            <a:ext cx="8641080" cy="0"/>
          </a:xfrm>
          <a:prstGeom prst="line">
            <a:avLst/>
          </a:prstGeom>
          <a:noFill/>
          <a:ln w="9525">
            <a:solidFill>
              <a:schemeClr val="accent2"/>
            </a:solidFill>
            <a:prstDash val="dash"/>
          </a:ln>
        </p:spPr>
      </p:sp>
      <p:sp>
        <p:nvSpPr>
          <p:cNvPr id="10" name="Shape 8"/>
          <p:cNvSpPr/>
          <p:nvPr/>
        </p:nvSpPr>
        <p:spPr>
          <a:xfrm>
            <a:off x="713232" y="3927348"/>
            <a:ext cx="548640" cy="548640"/>
          </a:xfrm>
          <a:prstGeom prst="star8">
            <a:avLst/>
          </a:prstGeom>
          <a:solidFill>
            <a:schemeClr val="accent2"/>
          </a:solidFill>
          <a:ln/>
        </p:spPr>
      </p:sp>
      <p:sp>
        <p:nvSpPr>
          <p:cNvPr id="11" name="Shape 9"/>
          <p:cNvSpPr/>
          <p:nvPr/>
        </p:nvSpPr>
        <p:spPr>
          <a:xfrm>
            <a:off x="822960" y="4037076"/>
            <a:ext cx="329184" cy="329184"/>
          </a:xfrm>
          <a:prstGeom prst="ellipse">
            <a:avLst/>
          </a:prstGeom>
          <a:solidFill>
            <a:schemeClr val="bg2"/>
          </a:solidFill>
          <a:ln w="19050">
            <a:solidFill>
              <a:schemeClr val="tx2"/>
            </a:solidFill>
            <a:prstDash val="solid"/>
          </a:ln>
        </p:spPr>
      </p:sp>
      <p:sp>
        <p:nvSpPr>
          <p:cNvPr id="12" name="Text 10"/>
          <p:cNvSpPr txBox="1"/>
          <p:nvPr/>
        </p:nvSpPr>
        <p:spPr>
          <a:xfrm>
            <a:off x="713232" y="3927348"/>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15</a:t>
            </a:r>
            <a:endParaRPr lang="en-US" sz="1600" dirty="0"/>
          </a:p>
        </p:txBody>
      </p:sp>
      <p:sp>
        <p:nvSpPr>
          <p:cNvPr id="13" name="Text 11"/>
          <p:cNvSpPr txBox="1"/>
          <p:nvPr/>
        </p:nvSpPr>
        <p:spPr>
          <a:xfrm>
            <a:off x="1444752" y="3909060"/>
            <a:ext cx="10012680" cy="1801368"/>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إِنَّمَا يُؤْمِنُ بِـَٔايَٰتِنَا الَّذِينَ إِذَا ذُكِّرُواْ بِهَا خَرُّواْ سُجَّدًا وَسَبَّحُواْ بِحَمْدِ رَبِّهِمْ وَهُمْ لَا يَسْتَكْبِرُونَ</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Only those believe in Our verses who, when reminded of them, fall down in prostration to Allah and glorify their Lord with praise, and they are not arrogant. This is a place of prostration in recitation.</a:t>
            </a:r>
            <a:endParaRPr lang="en-US" sz="3000" dirty="0"/>
          </a:p>
        </p:txBody>
      </p:sp>
      <p:sp>
        <p:nvSpPr>
          <p:cNvPr id="25" name="Slide Number Placeholder 0"/>
          <p:cNvSpPr>
            <a:spLocks noGrp="1"/>
          </p:cNvSpPr>
          <p:nvPr>
            <p:ph type="sldNum" sz="quarter" idx="4294967295"/>
          </p:nvPr>
        </p:nvSpPr>
        <p:spPr>
          <a:xfrm>
            <a:off x="1115568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27</a:t>
            </a:fld>
            <a:endParaRPr lang="en-US"/>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algn="ctr" indent="0" marL="0">
              <a:buNone/>
            </a:pPr>
            <a:r>
              <a:rPr lang="en-US" sz="2400" b="1" dirty="0">
                <a:solidFill>
                  <a:schemeClr val="bg1"/>
                </a:solidFill>
                <a:latin typeface="Georgia" pitchFamily="34" charset="0"/>
                <a:ea typeface="Georgia" pitchFamily="34" charset="-122"/>
                <a:cs typeface="Georgia" pitchFamily="34" charset="-120"/>
              </a:rPr>
              <a:t>Surah As-Sajdah</a:t>
            </a:r>
            <a:endParaRPr lang="en-US" sz="2400" dirty="0"/>
          </a:p>
        </p:txBody>
      </p:sp>
      <p:sp>
        <p:nvSpPr>
          <p:cNvPr id="3" name="Text 1"/>
          <p:cNvSpPr txBox="1"/>
          <p:nvPr/>
        </p:nvSpPr>
        <p:spPr>
          <a:xfrm>
            <a:off x="777240" y="548640"/>
            <a:ext cx="2651760" cy="384048"/>
          </a:xfrm>
          <a:prstGeom prst="rect">
            <a:avLst/>
          </a:prstGeom>
          <a:noFill/>
          <a:ln/>
        </p:spPr>
        <p:txBody>
          <a:bodyPr wrap="square" lIns="0" tIns="0" rIns="0" bIns="0" rtlCol="0" anchor="ctr"/>
          <a:lstStyle/>
          <a:p>
            <a:pPr algn="l" indent="0" marL="0">
              <a:buNone/>
            </a:pPr>
            <a:r>
              <a:rPr lang="en-US" altLang="en-US" sz="1500" b="1" dirty="0">
                <a:solidFill>
                  <a:schemeClr val="accent2"/>
                </a:solidFill>
                <a:latin typeface="Arial" pitchFamily="34" charset="0"/>
                <a:ea typeface="Arial" pitchFamily="34" charset="-122"/>
                <a:cs typeface="Arial" pitchFamily="34" charset="-120"/>
              </a:rPr>
              <a:t>Verses 16 – 18</a:t>
            </a:r>
            <a:endParaRPr lang="en-US" sz="1500" dirty="0"/>
          </a:p>
        </p:txBody>
      </p:sp>
      <p:sp>
        <p:nvSpPr>
          <p:cNvPr id="4" name="Text 2"/>
          <p:cNvSpPr txBox="1"/>
          <p:nvPr/>
        </p:nvSpPr>
        <p:spPr>
          <a:xfrm>
            <a:off x="8732520" y="548640"/>
            <a:ext cx="2651760" cy="384048"/>
          </a:xfrm>
          <a:prstGeom prst="rect">
            <a:avLst/>
          </a:prstGeom>
          <a:noFill/>
          <a:ln/>
        </p:spPr>
        <p:txBody>
          <a:bodyPr wrap="square" lIns="0" tIns="0" rIns="0" bIns="0" rtlCol="0" anchor="ctr"/>
          <a:lstStyle/>
          <a:p>
            <a:pPr algn="r" indent="0" marL="0">
              <a:buNone/>
            </a:pPr>
            <a:r>
              <a:rPr lang="en-US" altLang="en-US" sz="1300" i="1" dirty="0">
                <a:solidFill>
                  <a:schemeClr val="accent4"/>
                </a:solidFill>
                <a:latin typeface="Arial" pitchFamily="34" charset="0"/>
                <a:ea typeface="Arial" pitchFamily="34" charset="-122"/>
                <a:cs typeface="Arial" pitchFamily="34" charset="-120"/>
              </a:rPr>
              <a:t>Ibn Kathir, simplified</a:t>
            </a:r>
            <a:endParaRPr lang="en-US" sz="1300" dirty="0"/>
          </a:p>
        </p:txBody>
      </p:sp>
      <p:sp>
        <p:nvSpPr>
          <p:cNvPr id="5" name="Shape 3"/>
          <p:cNvSpPr/>
          <p:nvPr/>
        </p:nvSpPr>
        <p:spPr>
          <a:xfrm>
            <a:off x="713232" y="1453896"/>
            <a:ext cx="548640" cy="548640"/>
          </a:xfrm>
          <a:prstGeom prst="star8">
            <a:avLst/>
          </a:prstGeom>
          <a:solidFill>
            <a:schemeClr val="accent2"/>
          </a:solidFill>
          <a:ln/>
        </p:spPr>
      </p:sp>
      <p:sp>
        <p:nvSpPr>
          <p:cNvPr id="6" name="Shape 4"/>
          <p:cNvSpPr/>
          <p:nvPr/>
        </p:nvSpPr>
        <p:spPr>
          <a:xfrm>
            <a:off x="822960" y="1563624"/>
            <a:ext cx="329184" cy="329184"/>
          </a:xfrm>
          <a:prstGeom prst="ellipse">
            <a:avLst/>
          </a:prstGeom>
          <a:solidFill>
            <a:schemeClr val="bg2"/>
          </a:solidFill>
          <a:ln w="19050">
            <a:solidFill>
              <a:schemeClr val="tx2"/>
            </a:solidFill>
            <a:prstDash val="solid"/>
          </a:ln>
        </p:spPr>
      </p:sp>
      <p:sp>
        <p:nvSpPr>
          <p:cNvPr id="7" name="Text 5"/>
          <p:cNvSpPr txBox="1"/>
          <p:nvPr/>
        </p:nvSpPr>
        <p:spPr>
          <a:xfrm>
            <a:off x="713232" y="1453896"/>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16</a:t>
            </a:r>
            <a:endParaRPr lang="en-US" sz="1600" dirty="0"/>
          </a:p>
        </p:txBody>
      </p:sp>
      <p:sp>
        <p:nvSpPr>
          <p:cNvPr id="8" name="Text 6"/>
          <p:cNvSpPr txBox="1"/>
          <p:nvPr/>
        </p:nvSpPr>
        <p:spPr>
          <a:xfrm>
            <a:off x="1444752" y="1435608"/>
            <a:ext cx="10012680" cy="1252728"/>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تَتَجَافَىٰ جُنُوبُهُمْ عَنِ الْمَضَاجِعِ يَدْعُونَ رَبَّهُمْ خَوْفًا وَطَمَعًا وَمِمَّا رَزَقْنَٰهُمْ يُنفِقُونَ</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Their sides leave their beds to pray at night, calling on their Lord in fear of His punishment and hope for His mercy, and they spend from what We have provided them.</a:t>
            </a:r>
            <a:endParaRPr lang="en-US" sz="3000" dirty="0"/>
          </a:p>
        </p:txBody>
      </p:sp>
      <p:sp>
        <p:nvSpPr>
          <p:cNvPr id="9" name="Shape 7"/>
          <p:cNvSpPr/>
          <p:nvPr/>
        </p:nvSpPr>
        <p:spPr>
          <a:xfrm>
            <a:off x="1444752" y="2871216"/>
            <a:ext cx="8641080" cy="0"/>
          </a:xfrm>
          <a:prstGeom prst="line">
            <a:avLst/>
          </a:prstGeom>
          <a:noFill/>
          <a:ln w="9525">
            <a:solidFill>
              <a:schemeClr val="accent2"/>
            </a:solidFill>
            <a:prstDash val="dash"/>
          </a:ln>
        </p:spPr>
      </p:sp>
      <p:sp>
        <p:nvSpPr>
          <p:cNvPr id="10" name="Shape 8"/>
          <p:cNvSpPr/>
          <p:nvPr/>
        </p:nvSpPr>
        <p:spPr>
          <a:xfrm>
            <a:off x="713232" y="3099816"/>
            <a:ext cx="548640" cy="548640"/>
          </a:xfrm>
          <a:prstGeom prst="star8">
            <a:avLst/>
          </a:prstGeom>
          <a:solidFill>
            <a:schemeClr val="accent2"/>
          </a:solidFill>
          <a:ln/>
        </p:spPr>
      </p:sp>
      <p:sp>
        <p:nvSpPr>
          <p:cNvPr id="11" name="Shape 9"/>
          <p:cNvSpPr/>
          <p:nvPr/>
        </p:nvSpPr>
        <p:spPr>
          <a:xfrm>
            <a:off x="822960" y="3209544"/>
            <a:ext cx="329184" cy="329184"/>
          </a:xfrm>
          <a:prstGeom prst="ellipse">
            <a:avLst/>
          </a:prstGeom>
          <a:solidFill>
            <a:schemeClr val="bg2"/>
          </a:solidFill>
          <a:ln w="19050">
            <a:solidFill>
              <a:schemeClr val="tx2"/>
            </a:solidFill>
            <a:prstDash val="solid"/>
          </a:ln>
        </p:spPr>
      </p:sp>
      <p:sp>
        <p:nvSpPr>
          <p:cNvPr id="12" name="Text 10"/>
          <p:cNvSpPr txBox="1"/>
          <p:nvPr/>
        </p:nvSpPr>
        <p:spPr>
          <a:xfrm>
            <a:off x="713232" y="3099816"/>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17</a:t>
            </a:r>
            <a:endParaRPr lang="en-US" sz="1600" dirty="0"/>
          </a:p>
        </p:txBody>
      </p:sp>
      <p:sp>
        <p:nvSpPr>
          <p:cNvPr id="13" name="Text 11"/>
          <p:cNvSpPr txBox="1"/>
          <p:nvPr/>
        </p:nvSpPr>
        <p:spPr>
          <a:xfrm>
            <a:off x="1444752" y="3081528"/>
            <a:ext cx="10012680" cy="1513332"/>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فَلَا تَعْلَمُ نَفْسٌ مَّآ أُخْفِيَ لَهُم مِّن قُرَّةِ أَعْيُنٍ جَزَآءً بِمَا كَانُواْ يَعْمَلُونَ</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No soul knows what joy Allah has hidden for them as a reward for what they used to do. The Prophet (peace be upon him) said that Allah says: "I have prepared for My righteous servants what no eye has seen, no ear has heard, and no human heart has ever imagined" (Bukhari and Muslim).</a:t>
            </a:r>
            <a:endParaRPr lang="en-US" sz="3000" dirty="0"/>
          </a:p>
        </p:txBody>
      </p:sp>
      <p:sp>
        <p:nvSpPr>
          <p:cNvPr id="14" name="Shape 12"/>
          <p:cNvSpPr/>
          <p:nvPr/>
        </p:nvSpPr>
        <p:spPr>
          <a:xfrm>
            <a:off x="1444752" y="4777740"/>
            <a:ext cx="8641080" cy="0"/>
          </a:xfrm>
          <a:prstGeom prst="line">
            <a:avLst/>
          </a:prstGeom>
          <a:noFill/>
          <a:ln w="9525">
            <a:solidFill>
              <a:schemeClr val="accent2"/>
            </a:solidFill>
            <a:prstDash val="dash"/>
          </a:ln>
        </p:spPr>
      </p:sp>
      <p:sp>
        <p:nvSpPr>
          <p:cNvPr id="15" name="Shape 13"/>
          <p:cNvSpPr/>
          <p:nvPr/>
        </p:nvSpPr>
        <p:spPr>
          <a:xfrm>
            <a:off x="713232" y="5006340"/>
            <a:ext cx="548640" cy="548640"/>
          </a:xfrm>
          <a:prstGeom prst="star8">
            <a:avLst/>
          </a:prstGeom>
          <a:solidFill>
            <a:schemeClr val="accent2"/>
          </a:solidFill>
          <a:ln/>
        </p:spPr>
      </p:sp>
      <p:sp>
        <p:nvSpPr>
          <p:cNvPr id="16" name="Shape 14"/>
          <p:cNvSpPr/>
          <p:nvPr/>
        </p:nvSpPr>
        <p:spPr>
          <a:xfrm>
            <a:off x="822960" y="5116068"/>
            <a:ext cx="329184" cy="329184"/>
          </a:xfrm>
          <a:prstGeom prst="ellipse">
            <a:avLst/>
          </a:prstGeom>
          <a:solidFill>
            <a:schemeClr val="bg2"/>
          </a:solidFill>
          <a:ln w="19050">
            <a:solidFill>
              <a:schemeClr val="tx2"/>
            </a:solidFill>
            <a:prstDash val="solid"/>
          </a:ln>
        </p:spPr>
      </p:sp>
      <p:sp>
        <p:nvSpPr>
          <p:cNvPr id="17" name="Text 15"/>
          <p:cNvSpPr txBox="1"/>
          <p:nvPr/>
        </p:nvSpPr>
        <p:spPr>
          <a:xfrm>
            <a:off x="713232" y="5006340"/>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18</a:t>
            </a:r>
            <a:endParaRPr lang="en-US" sz="1600" dirty="0"/>
          </a:p>
        </p:txBody>
      </p:sp>
      <p:sp>
        <p:nvSpPr>
          <p:cNvPr id="18" name="Text 16"/>
          <p:cNvSpPr txBox="1"/>
          <p:nvPr/>
        </p:nvSpPr>
        <p:spPr>
          <a:xfrm>
            <a:off x="1444752" y="4988052"/>
            <a:ext cx="10012680" cy="992124"/>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أَفَمَن كَانَ مُؤْمِنًا كَمَن كَانَ فَاسِقًا لَّا يَسْتَوُنَ</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Is the one who is a believer like the one who is disobedient to Allah? They are not equal.</a:t>
            </a:r>
            <a:endParaRPr lang="en-US" sz="3000" dirty="0"/>
          </a:p>
        </p:txBody>
      </p:sp>
      <p:sp>
        <p:nvSpPr>
          <p:cNvPr id="25" name="Slide Number Placeholder 0"/>
          <p:cNvSpPr>
            <a:spLocks noGrp="1"/>
          </p:cNvSpPr>
          <p:nvPr>
            <p:ph type="sldNum" sz="quarter" idx="4294967295"/>
          </p:nvPr>
        </p:nvSpPr>
        <p:spPr>
          <a:xfrm>
            <a:off x="1115568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28</a:t>
            </a:fld>
            <a:endParaRPr lang="en-US"/>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algn="ctr" indent="0" marL="0">
              <a:buNone/>
            </a:pPr>
            <a:r>
              <a:rPr lang="en-US" sz="2400" b="1" dirty="0">
                <a:solidFill>
                  <a:schemeClr val="bg1"/>
                </a:solidFill>
                <a:latin typeface="Georgia" pitchFamily="34" charset="0"/>
                <a:ea typeface="Georgia" pitchFamily="34" charset="-122"/>
                <a:cs typeface="Georgia" pitchFamily="34" charset="-120"/>
              </a:rPr>
              <a:t>Surah As-Sajdah</a:t>
            </a:r>
            <a:endParaRPr lang="en-US" sz="2400" dirty="0"/>
          </a:p>
        </p:txBody>
      </p:sp>
      <p:sp>
        <p:nvSpPr>
          <p:cNvPr id="3" name="Text 1"/>
          <p:cNvSpPr txBox="1"/>
          <p:nvPr/>
        </p:nvSpPr>
        <p:spPr>
          <a:xfrm>
            <a:off x="777240" y="548640"/>
            <a:ext cx="2651760" cy="384048"/>
          </a:xfrm>
          <a:prstGeom prst="rect">
            <a:avLst/>
          </a:prstGeom>
          <a:noFill/>
          <a:ln/>
        </p:spPr>
        <p:txBody>
          <a:bodyPr wrap="square" lIns="0" tIns="0" rIns="0" bIns="0" rtlCol="0" anchor="ctr"/>
          <a:lstStyle/>
          <a:p>
            <a:pPr algn="l" indent="0" marL="0">
              <a:buNone/>
            </a:pPr>
            <a:r>
              <a:rPr lang="en-US" altLang="en-US" sz="1500" b="1" dirty="0">
                <a:solidFill>
                  <a:schemeClr val="accent2"/>
                </a:solidFill>
                <a:latin typeface="Arial" pitchFamily="34" charset="0"/>
                <a:ea typeface="Arial" pitchFamily="34" charset="-122"/>
                <a:cs typeface="Arial" pitchFamily="34" charset="-120"/>
              </a:rPr>
              <a:t>Verses 19 – 21</a:t>
            </a:r>
            <a:endParaRPr lang="en-US" sz="1500" dirty="0"/>
          </a:p>
        </p:txBody>
      </p:sp>
      <p:sp>
        <p:nvSpPr>
          <p:cNvPr id="4" name="Text 2"/>
          <p:cNvSpPr txBox="1"/>
          <p:nvPr/>
        </p:nvSpPr>
        <p:spPr>
          <a:xfrm>
            <a:off x="8732520" y="548640"/>
            <a:ext cx="2651760" cy="384048"/>
          </a:xfrm>
          <a:prstGeom prst="rect">
            <a:avLst/>
          </a:prstGeom>
          <a:noFill/>
          <a:ln/>
        </p:spPr>
        <p:txBody>
          <a:bodyPr wrap="square" lIns="0" tIns="0" rIns="0" bIns="0" rtlCol="0" anchor="ctr"/>
          <a:lstStyle/>
          <a:p>
            <a:pPr algn="r" indent="0" marL="0">
              <a:buNone/>
            </a:pPr>
            <a:r>
              <a:rPr lang="en-US" altLang="en-US" sz="1300" i="1" dirty="0">
                <a:solidFill>
                  <a:schemeClr val="accent4"/>
                </a:solidFill>
                <a:latin typeface="Arial" pitchFamily="34" charset="0"/>
                <a:ea typeface="Arial" pitchFamily="34" charset="-122"/>
                <a:cs typeface="Arial" pitchFamily="34" charset="-120"/>
              </a:rPr>
              <a:t>Ibn Kathir, simplified</a:t>
            </a:r>
            <a:endParaRPr lang="en-US" sz="1300" dirty="0"/>
          </a:p>
        </p:txBody>
      </p:sp>
      <p:sp>
        <p:nvSpPr>
          <p:cNvPr id="5" name="Shape 3"/>
          <p:cNvSpPr/>
          <p:nvPr/>
        </p:nvSpPr>
        <p:spPr>
          <a:xfrm>
            <a:off x="713232" y="1362456"/>
            <a:ext cx="548640" cy="548640"/>
          </a:xfrm>
          <a:prstGeom prst="star8">
            <a:avLst/>
          </a:prstGeom>
          <a:solidFill>
            <a:schemeClr val="accent2"/>
          </a:solidFill>
          <a:ln/>
        </p:spPr>
      </p:sp>
      <p:sp>
        <p:nvSpPr>
          <p:cNvPr id="6" name="Shape 4"/>
          <p:cNvSpPr/>
          <p:nvPr/>
        </p:nvSpPr>
        <p:spPr>
          <a:xfrm>
            <a:off x="822960" y="1472184"/>
            <a:ext cx="329184" cy="329184"/>
          </a:xfrm>
          <a:prstGeom prst="ellipse">
            <a:avLst/>
          </a:prstGeom>
          <a:solidFill>
            <a:schemeClr val="bg2"/>
          </a:solidFill>
          <a:ln w="19050">
            <a:solidFill>
              <a:schemeClr val="tx2"/>
            </a:solidFill>
            <a:prstDash val="solid"/>
          </a:ln>
        </p:spPr>
      </p:sp>
      <p:sp>
        <p:nvSpPr>
          <p:cNvPr id="7" name="Text 5"/>
          <p:cNvSpPr txBox="1"/>
          <p:nvPr/>
        </p:nvSpPr>
        <p:spPr>
          <a:xfrm>
            <a:off x="713232" y="1362456"/>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19</a:t>
            </a:r>
            <a:endParaRPr lang="en-US" sz="1600" dirty="0"/>
          </a:p>
        </p:txBody>
      </p:sp>
      <p:sp>
        <p:nvSpPr>
          <p:cNvPr id="8" name="Text 6"/>
          <p:cNvSpPr txBox="1"/>
          <p:nvPr/>
        </p:nvSpPr>
        <p:spPr>
          <a:xfrm>
            <a:off x="1444752" y="1344168"/>
            <a:ext cx="10012680" cy="1252728"/>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أَمَّا الَّذِينَ ءَامَنُواْ وَعَمِلُواْ الصَّـٰلِحَٰتِ فَلَهُمْ جَنَّـٰتُ الْمَأْوَىٰ نُزُلًا بِمَا كَانُواْ يَعْمَلُونَ</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As for the righteous believers, they will have Gardens of Refuge as a welcome for what they used to do.</a:t>
            </a:r>
            <a:endParaRPr lang="en-US" sz="3000" dirty="0"/>
          </a:p>
        </p:txBody>
      </p:sp>
      <p:sp>
        <p:nvSpPr>
          <p:cNvPr id="9" name="Shape 7"/>
          <p:cNvSpPr/>
          <p:nvPr/>
        </p:nvSpPr>
        <p:spPr>
          <a:xfrm>
            <a:off x="1444752" y="2688336"/>
            <a:ext cx="8641080" cy="0"/>
          </a:xfrm>
          <a:prstGeom prst="line">
            <a:avLst/>
          </a:prstGeom>
          <a:noFill/>
          <a:ln w="9525">
            <a:solidFill>
              <a:schemeClr val="accent2"/>
            </a:solidFill>
            <a:prstDash val="dash"/>
          </a:ln>
        </p:spPr>
      </p:sp>
      <p:sp>
        <p:nvSpPr>
          <p:cNvPr id="10" name="Shape 8"/>
          <p:cNvSpPr/>
          <p:nvPr/>
        </p:nvSpPr>
        <p:spPr>
          <a:xfrm>
            <a:off x="713232" y="2825496"/>
            <a:ext cx="548640" cy="548640"/>
          </a:xfrm>
          <a:prstGeom prst="star8">
            <a:avLst/>
          </a:prstGeom>
          <a:solidFill>
            <a:schemeClr val="accent2"/>
          </a:solidFill>
          <a:ln/>
        </p:spPr>
      </p:sp>
      <p:sp>
        <p:nvSpPr>
          <p:cNvPr id="11" name="Shape 9"/>
          <p:cNvSpPr/>
          <p:nvPr/>
        </p:nvSpPr>
        <p:spPr>
          <a:xfrm>
            <a:off x="822960" y="2935224"/>
            <a:ext cx="329184" cy="329184"/>
          </a:xfrm>
          <a:prstGeom prst="ellipse">
            <a:avLst/>
          </a:prstGeom>
          <a:solidFill>
            <a:schemeClr val="bg2"/>
          </a:solidFill>
          <a:ln w="19050">
            <a:solidFill>
              <a:schemeClr val="tx2"/>
            </a:solidFill>
            <a:prstDash val="solid"/>
          </a:ln>
        </p:spPr>
      </p:sp>
      <p:sp>
        <p:nvSpPr>
          <p:cNvPr id="12" name="Text 10"/>
          <p:cNvSpPr txBox="1"/>
          <p:nvPr/>
        </p:nvSpPr>
        <p:spPr>
          <a:xfrm>
            <a:off x="713232" y="2825496"/>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20</a:t>
            </a:r>
            <a:endParaRPr lang="en-US" sz="1600" dirty="0"/>
          </a:p>
        </p:txBody>
      </p:sp>
      <p:sp>
        <p:nvSpPr>
          <p:cNvPr id="13" name="Text 11"/>
          <p:cNvSpPr txBox="1"/>
          <p:nvPr/>
        </p:nvSpPr>
        <p:spPr>
          <a:xfrm>
            <a:off x="1444752" y="2807208"/>
            <a:ext cx="10012680" cy="1801368"/>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وَأَمَّا الَّذِينَ فَسَقُواْ فَمَأْوَىٰهُمُ النَّارُ كُلَّمَآ أَرَادُواْ أَن يَخْرُجُواْ مِنْهَآ أُعِيدُواْ فِيهَا وَقِيلَ لَهُمْ ذُوقُواْ عَذَابَ النَّارِ الَّذِي كُنتُم بِهِ تُكَذِّبُونَ</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As for the disobedient, their home is the Fire. Whenever they want to get out of it, they will be put back into it and told: Taste the punishment of the Fire that you used to deny.</a:t>
            </a:r>
            <a:endParaRPr lang="en-US" sz="3000" dirty="0"/>
          </a:p>
        </p:txBody>
      </p:sp>
      <p:sp>
        <p:nvSpPr>
          <p:cNvPr id="14" name="Shape 12"/>
          <p:cNvSpPr/>
          <p:nvPr/>
        </p:nvSpPr>
        <p:spPr>
          <a:xfrm>
            <a:off x="1444752" y="4700016"/>
            <a:ext cx="8641080" cy="0"/>
          </a:xfrm>
          <a:prstGeom prst="line">
            <a:avLst/>
          </a:prstGeom>
          <a:noFill/>
          <a:ln w="9525">
            <a:solidFill>
              <a:schemeClr val="accent2"/>
            </a:solidFill>
            <a:prstDash val="dash"/>
          </a:ln>
        </p:spPr>
      </p:sp>
      <p:sp>
        <p:nvSpPr>
          <p:cNvPr id="15" name="Shape 13"/>
          <p:cNvSpPr/>
          <p:nvPr/>
        </p:nvSpPr>
        <p:spPr>
          <a:xfrm>
            <a:off x="713232" y="4837176"/>
            <a:ext cx="548640" cy="548640"/>
          </a:xfrm>
          <a:prstGeom prst="star8">
            <a:avLst/>
          </a:prstGeom>
          <a:solidFill>
            <a:schemeClr val="accent2"/>
          </a:solidFill>
          <a:ln/>
        </p:spPr>
      </p:sp>
      <p:sp>
        <p:nvSpPr>
          <p:cNvPr id="16" name="Shape 14"/>
          <p:cNvSpPr/>
          <p:nvPr/>
        </p:nvSpPr>
        <p:spPr>
          <a:xfrm>
            <a:off x="822960" y="4946904"/>
            <a:ext cx="329184" cy="329184"/>
          </a:xfrm>
          <a:prstGeom prst="ellipse">
            <a:avLst/>
          </a:prstGeom>
          <a:solidFill>
            <a:schemeClr val="bg2"/>
          </a:solidFill>
          <a:ln w="19050">
            <a:solidFill>
              <a:schemeClr val="tx2"/>
            </a:solidFill>
            <a:prstDash val="solid"/>
          </a:ln>
        </p:spPr>
      </p:sp>
      <p:sp>
        <p:nvSpPr>
          <p:cNvPr id="17" name="Text 15"/>
          <p:cNvSpPr txBox="1"/>
          <p:nvPr/>
        </p:nvSpPr>
        <p:spPr>
          <a:xfrm>
            <a:off x="713232" y="4837176"/>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21</a:t>
            </a:r>
            <a:endParaRPr lang="en-US" sz="1600" dirty="0"/>
          </a:p>
        </p:txBody>
      </p:sp>
      <p:sp>
        <p:nvSpPr>
          <p:cNvPr id="18" name="Text 16"/>
          <p:cNvSpPr txBox="1"/>
          <p:nvPr/>
        </p:nvSpPr>
        <p:spPr>
          <a:xfrm>
            <a:off x="1444752" y="4818888"/>
            <a:ext cx="10012680" cy="1252728"/>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وَلَنُذِيقَنَّهُم مِّنَ الْعَذَابِ الْأَدْنَىٰ دُونَ الْعَذَابِ الْأَكْبَرِ لَعَلَّهُمْ يَرْجِعُونَ</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We will make them taste some hardships in this world before the greater punishment of the Hereafter, so that they may return to Allah.</a:t>
            </a:r>
            <a:endParaRPr lang="en-US" sz="3000" dirty="0"/>
          </a:p>
        </p:txBody>
      </p:sp>
      <p:sp>
        <p:nvSpPr>
          <p:cNvPr id="25" name="Slide Number Placeholder 0"/>
          <p:cNvSpPr>
            <a:spLocks noGrp="1"/>
          </p:cNvSpPr>
          <p:nvPr>
            <p:ph type="sldNum" sz="quarter" idx="4294967295"/>
          </p:nvPr>
        </p:nvSpPr>
        <p:spPr>
          <a:xfrm>
            <a:off x="1115568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29</a:t>
            </a:fld>
            <a:endParaRPr lang="en-US"/>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algn="ctr" indent="0" marL="0">
              <a:buNone/>
            </a:pPr>
            <a:r>
              <a:rPr lang="en-US" sz="2400" b="1" dirty="0">
                <a:solidFill>
                  <a:schemeClr val="bg1"/>
                </a:solidFill>
                <a:latin typeface="Georgia" pitchFamily="34" charset="0"/>
                <a:ea typeface="Georgia" pitchFamily="34" charset="-122"/>
                <a:cs typeface="Georgia" pitchFamily="34" charset="-120"/>
              </a:rPr>
              <a:t>Surah As-Sajdah</a:t>
            </a:r>
            <a:endParaRPr lang="en-US" sz="2400" dirty="0"/>
          </a:p>
        </p:txBody>
      </p:sp>
      <p:sp>
        <p:nvSpPr>
          <p:cNvPr id="3" name="Text 1"/>
          <p:cNvSpPr txBox="1"/>
          <p:nvPr/>
        </p:nvSpPr>
        <p:spPr>
          <a:xfrm>
            <a:off x="777240" y="548640"/>
            <a:ext cx="2651760" cy="384048"/>
          </a:xfrm>
          <a:prstGeom prst="rect">
            <a:avLst/>
          </a:prstGeom>
          <a:noFill/>
          <a:ln/>
        </p:spPr>
        <p:txBody>
          <a:bodyPr wrap="square" lIns="0" tIns="0" rIns="0" bIns="0" rtlCol="0" anchor="ctr"/>
          <a:lstStyle/>
          <a:p>
            <a:pPr algn="l" indent="0" marL="0">
              <a:buNone/>
            </a:pPr>
            <a:r>
              <a:rPr lang="en-US" altLang="en-US" sz="1500" b="1" dirty="0">
                <a:solidFill>
                  <a:schemeClr val="accent2"/>
                </a:solidFill>
                <a:latin typeface="Arial" pitchFamily="34" charset="0"/>
                <a:ea typeface="Arial" pitchFamily="34" charset="-122"/>
                <a:cs typeface="Arial" pitchFamily="34" charset="-120"/>
              </a:rPr>
              <a:t>Verses 22 – 24</a:t>
            </a:r>
            <a:endParaRPr lang="en-US" sz="1500" dirty="0"/>
          </a:p>
        </p:txBody>
      </p:sp>
      <p:sp>
        <p:nvSpPr>
          <p:cNvPr id="4" name="Text 2"/>
          <p:cNvSpPr txBox="1"/>
          <p:nvPr/>
        </p:nvSpPr>
        <p:spPr>
          <a:xfrm>
            <a:off x="8732520" y="548640"/>
            <a:ext cx="2651760" cy="384048"/>
          </a:xfrm>
          <a:prstGeom prst="rect">
            <a:avLst/>
          </a:prstGeom>
          <a:noFill/>
          <a:ln/>
        </p:spPr>
        <p:txBody>
          <a:bodyPr wrap="square" lIns="0" tIns="0" rIns="0" bIns="0" rtlCol="0" anchor="ctr"/>
          <a:lstStyle/>
          <a:p>
            <a:pPr algn="r" indent="0" marL="0">
              <a:buNone/>
            </a:pPr>
            <a:r>
              <a:rPr lang="en-US" altLang="en-US" sz="1300" i="1" dirty="0">
                <a:solidFill>
                  <a:schemeClr val="accent4"/>
                </a:solidFill>
                <a:latin typeface="Arial" pitchFamily="34" charset="0"/>
                <a:ea typeface="Arial" pitchFamily="34" charset="-122"/>
                <a:cs typeface="Arial" pitchFamily="34" charset="-120"/>
              </a:rPr>
              <a:t>Ibn Kathir, simplified</a:t>
            </a:r>
            <a:endParaRPr lang="en-US" sz="1300" dirty="0"/>
          </a:p>
        </p:txBody>
      </p:sp>
      <p:sp>
        <p:nvSpPr>
          <p:cNvPr id="5" name="Shape 3"/>
          <p:cNvSpPr/>
          <p:nvPr/>
        </p:nvSpPr>
        <p:spPr>
          <a:xfrm>
            <a:off x="713232" y="1362456"/>
            <a:ext cx="548640" cy="548640"/>
          </a:xfrm>
          <a:prstGeom prst="star8">
            <a:avLst/>
          </a:prstGeom>
          <a:solidFill>
            <a:schemeClr val="accent2"/>
          </a:solidFill>
          <a:ln/>
        </p:spPr>
      </p:sp>
      <p:sp>
        <p:nvSpPr>
          <p:cNvPr id="6" name="Shape 4"/>
          <p:cNvSpPr/>
          <p:nvPr/>
        </p:nvSpPr>
        <p:spPr>
          <a:xfrm>
            <a:off x="822960" y="1472184"/>
            <a:ext cx="329184" cy="329184"/>
          </a:xfrm>
          <a:prstGeom prst="ellipse">
            <a:avLst/>
          </a:prstGeom>
          <a:solidFill>
            <a:schemeClr val="bg2"/>
          </a:solidFill>
          <a:ln w="19050">
            <a:solidFill>
              <a:schemeClr val="tx2"/>
            </a:solidFill>
            <a:prstDash val="solid"/>
          </a:ln>
        </p:spPr>
      </p:sp>
      <p:sp>
        <p:nvSpPr>
          <p:cNvPr id="7" name="Text 5"/>
          <p:cNvSpPr txBox="1"/>
          <p:nvPr/>
        </p:nvSpPr>
        <p:spPr>
          <a:xfrm>
            <a:off x="713232" y="1362456"/>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22</a:t>
            </a:r>
            <a:endParaRPr lang="en-US" sz="1600" dirty="0"/>
          </a:p>
        </p:txBody>
      </p:sp>
      <p:sp>
        <p:nvSpPr>
          <p:cNvPr id="8" name="Text 6"/>
          <p:cNvSpPr txBox="1"/>
          <p:nvPr/>
        </p:nvSpPr>
        <p:spPr>
          <a:xfrm>
            <a:off x="1444752" y="1344168"/>
            <a:ext cx="10012680" cy="1252728"/>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وَمَنْ أَظْلَمُ مِمَّن ذُكِّرَ بِـَٔايَٰتِ رَبِّهِ ثُمَّ أَعْرَضَ عَنْهَآ إِنَّا مِنَ الْمُجْرِمِينَ مُنتَقِمُونَ</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Who does more wrong than one who is reminded of his Lord's verses and then turns away from them? We will surely punish the criminals.</a:t>
            </a:r>
            <a:endParaRPr lang="en-US" sz="3000" dirty="0"/>
          </a:p>
        </p:txBody>
      </p:sp>
      <p:sp>
        <p:nvSpPr>
          <p:cNvPr id="9" name="Shape 7"/>
          <p:cNvSpPr/>
          <p:nvPr/>
        </p:nvSpPr>
        <p:spPr>
          <a:xfrm>
            <a:off x="1444752" y="2688336"/>
            <a:ext cx="8641080" cy="0"/>
          </a:xfrm>
          <a:prstGeom prst="line">
            <a:avLst/>
          </a:prstGeom>
          <a:noFill/>
          <a:ln w="9525">
            <a:solidFill>
              <a:schemeClr val="accent2"/>
            </a:solidFill>
            <a:prstDash val="dash"/>
          </a:ln>
        </p:spPr>
      </p:sp>
      <p:sp>
        <p:nvSpPr>
          <p:cNvPr id="10" name="Shape 8"/>
          <p:cNvSpPr/>
          <p:nvPr/>
        </p:nvSpPr>
        <p:spPr>
          <a:xfrm>
            <a:off x="713232" y="2825496"/>
            <a:ext cx="548640" cy="548640"/>
          </a:xfrm>
          <a:prstGeom prst="star8">
            <a:avLst/>
          </a:prstGeom>
          <a:solidFill>
            <a:schemeClr val="accent2"/>
          </a:solidFill>
          <a:ln/>
        </p:spPr>
      </p:sp>
      <p:sp>
        <p:nvSpPr>
          <p:cNvPr id="11" name="Shape 9"/>
          <p:cNvSpPr/>
          <p:nvPr/>
        </p:nvSpPr>
        <p:spPr>
          <a:xfrm>
            <a:off x="822960" y="2935224"/>
            <a:ext cx="329184" cy="329184"/>
          </a:xfrm>
          <a:prstGeom prst="ellipse">
            <a:avLst/>
          </a:prstGeom>
          <a:solidFill>
            <a:schemeClr val="bg2"/>
          </a:solidFill>
          <a:ln w="19050">
            <a:solidFill>
              <a:schemeClr val="tx2"/>
            </a:solidFill>
            <a:prstDash val="solid"/>
          </a:ln>
        </p:spPr>
      </p:sp>
      <p:sp>
        <p:nvSpPr>
          <p:cNvPr id="12" name="Text 10"/>
          <p:cNvSpPr txBox="1"/>
          <p:nvPr/>
        </p:nvSpPr>
        <p:spPr>
          <a:xfrm>
            <a:off x="713232" y="2825496"/>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23</a:t>
            </a:r>
            <a:endParaRPr lang="en-US" sz="1600" dirty="0"/>
          </a:p>
        </p:txBody>
      </p:sp>
      <p:sp>
        <p:nvSpPr>
          <p:cNvPr id="13" name="Text 11"/>
          <p:cNvSpPr txBox="1"/>
          <p:nvPr/>
        </p:nvSpPr>
        <p:spPr>
          <a:xfrm>
            <a:off x="1444752" y="2807208"/>
            <a:ext cx="10012680" cy="1801368"/>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وَلَقَدْ ءَاتَيْنَا مُوسَى الْكِتَٰبَ فَلَا تَكُن فِي مِرْيَةٍ مِّن لِّقَآئِهِ وَجَعَلْنَٰهُ هُدًى لِّبَنِي إِسْرَـٰءِيلَ</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We gave Musa the Torah, so do not doubt that you met Musa on the Night of Al-Isra'. And We made it guidance for the Children of Israel.</a:t>
            </a:r>
            <a:endParaRPr lang="en-US" sz="3000" dirty="0"/>
          </a:p>
        </p:txBody>
      </p:sp>
      <p:sp>
        <p:nvSpPr>
          <p:cNvPr id="14" name="Shape 12"/>
          <p:cNvSpPr/>
          <p:nvPr/>
        </p:nvSpPr>
        <p:spPr>
          <a:xfrm>
            <a:off x="1444752" y="4700016"/>
            <a:ext cx="8641080" cy="0"/>
          </a:xfrm>
          <a:prstGeom prst="line">
            <a:avLst/>
          </a:prstGeom>
          <a:noFill/>
          <a:ln w="9525">
            <a:solidFill>
              <a:schemeClr val="accent2"/>
            </a:solidFill>
            <a:prstDash val="dash"/>
          </a:ln>
        </p:spPr>
      </p:sp>
      <p:sp>
        <p:nvSpPr>
          <p:cNvPr id="15" name="Shape 13"/>
          <p:cNvSpPr/>
          <p:nvPr/>
        </p:nvSpPr>
        <p:spPr>
          <a:xfrm>
            <a:off x="713232" y="4837176"/>
            <a:ext cx="548640" cy="548640"/>
          </a:xfrm>
          <a:prstGeom prst="star8">
            <a:avLst/>
          </a:prstGeom>
          <a:solidFill>
            <a:schemeClr val="accent2"/>
          </a:solidFill>
          <a:ln/>
        </p:spPr>
      </p:sp>
      <p:sp>
        <p:nvSpPr>
          <p:cNvPr id="16" name="Shape 14"/>
          <p:cNvSpPr/>
          <p:nvPr/>
        </p:nvSpPr>
        <p:spPr>
          <a:xfrm>
            <a:off x="822960" y="4946904"/>
            <a:ext cx="329184" cy="329184"/>
          </a:xfrm>
          <a:prstGeom prst="ellipse">
            <a:avLst/>
          </a:prstGeom>
          <a:solidFill>
            <a:schemeClr val="bg2"/>
          </a:solidFill>
          <a:ln w="19050">
            <a:solidFill>
              <a:schemeClr val="tx2"/>
            </a:solidFill>
            <a:prstDash val="solid"/>
          </a:ln>
        </p:spPr>
      </p:sp>
      <p:sp>
        <p:nvSpPr>
          <p:cNvPr id="17" name="Text 15"/>
          <p:cNvSpPr txBox="1"/>
          <p:nvPr/>
        </p:nvSpPr>
        <p:spPr>
          <a:xfrm>
            <a:off x="713232" y="4837176"/>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24</a:t>
            </a:r>
            <a:endParaRPr lang="en-US" sz="1600" dirty="0"/>
          </a:p>
        </p:txBody>
      </p:sp>
      <p:sp>
        <p:nvSpPr>
          <p:cNvPr id="18" name="Text 16"/>
          <p:cNvSpPr txBox="1"/>
          <p:nvPr/>
        </p:nvSpPr>
        <p:spPr>
          <a:xfrm>
            <a:off x="1444752" y="4818888"/>
            <a:ext cx="10012680" cy="1252728"/>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وَجَعَلْنَا مِنْهُمْ أَئِمَّةً يَهْدُونَ بِأَمْرِنَا لَمَّا صَبَرُواْ وَكَانُواْ بِـَٔايَٰتِنَا يُوقِنُونَ</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We made from among them leaders guiding people by Our command when they were patient, and they were certain of Our verses.</a:t>
            </a:r>
            <a:endParaRPr lang="en-US" sz="3000" dirty="0"/>
          </a:p>
        </p:txBody>
      </p:sp>
      <p:sp>
        <p:nvSpPr>
          <p:cNvPr id="25" name="Slide Number Placeholder 0"/>
          <p:cNvSpPr>
            <a:spLocks noGrp="1"/>
          </p:cNvSpPr>
          <p:nvPr>
            <p:ph type="sldNum" sz="quarter" idx="4294967295"/>
          </p:nvPr>
        </p:nvSpPr>
        <p:spPr>
          <a:xfrm>
            <a:off x="1115568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30</a:t>
            </a:fld>
            <a:endParaRPr lang="en-US"/>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algn="ctr" indent="0" marL="0">
              <a:buNone/>
            </a:pPr>
            <a:r>
              <a:rPr lang="en-US" sz="2400" b="1" dirty="0">
                <a:solidFill>
                  <a:schemeClr val="bg1"/>
                </a:solidFill>
                <a:latin typeface="Georgia" pitchFamily="34" charset="0"/>
                <a:ea typeface="Georgia" pitchFamily="34" charset="-122"/>
                <a:cs typeface="Georgia" pitchFamily="34" charset="-120"/>
              </a:rPr>
              <a:t>Surah As-Sajdah</a:t>
            </a:r>
            <a:endParaRPr lang="en-US" sz="2400" dirty="0"/>
          </a:p>
        </p:txBody>
      </p:sp>
      <p:sp>
        <p:nvSpPr>
          <p:cNvPr id="3" name="Text 1"/>
          <p:cNvSpPr txBox="1"/>
          <p:nvPr/>
        </p:nvSpPr>
        <p:spPr>
          <a:xfrm>
            <a:off x="777240" y="548640"/>
            <a:ext cx="2651760" cy="384048"/>
          </a:xfrm>
          <a:prstGeom prst="rect">
            <a:avLst/>
          </a:prstGeom>
          <a:noFill/>
          <a:ln/>
        </p:spPr>
        <p:txBody>
          <a:bodyPr wrap="square" lIns="0" tIns="0" rIns="0" bIns="0" rtlCol="0" anchor="ctr"/>
          <a:lstStyle/>
          <a:p>
            <a:pPr algn="l" indent="0" marL="0">
              <a:buNone/>
            </a:pPr>
            <a:r>
              <a:rPr lang="en-US" altLang="en-US" sz="1500" b="1" dirty="0">
                <a:solidFill>
                  <a:schemeClr val="accent2"/>
                </a:solidFill>
                <a:latin typeface="Arial" pitchFamily="34" charset="0"/>
                <a:ea typeface="Arial" pitchFamily="34" charset="-122"/>
                <a:cs typeface="Arial" pitchFamily="34" charset="-120"/>
              </a:rPr>
              <a:t>Verses 25 – 26</a:t>
            </a:r>
            <a:endParaRPr lang="en-US" sz="1500" dirty="0"/>
          </a:p>
        </p:txBody>
      </p:sp>
      <p:sp>
        <p:nvSpPr>
          <p:cNvPr id="4" name="Text 2"/>
          <p:cNvSpPr txBox="1"/>
          <p:nvPr/>
        </p:nvSpPr>
        <p:spPr>
          <a:xfrm>
            <a:off x="8732520" y="548640"/>
            <a:ext cx="2651760" cy="384048"/>
          </a:xfrm>
          <a:prstGeom prst="rect">
            <a:avLst/>
          </a:prstGeom>
          <a:noFill/>
          <a:ln/>
        </p:spPr>
        <p:txBody>
          <a:bodyPr wrap="square" lIns="0" tIns="0" rIns="0" bIns="0" rtlCol="0" anchor="ctr"/>
          <a:lstStyle/>
          <a:p>
            <a:pPr algn="r" indent="0" marL="0">
              <a:buNone/>
            </a:pPr>
            <a:r>
              <a:rPr lang="en-US" altLang="en-US" sz="1300" i="1" dirty="0">
                <a:solidFill>
                  <a:schemeClr val="accent4"/>
                </a:solidFill>
                <a:latin typeface="Arial" pitchFamily="34" charset="0"/>
                <a:ea typeface="Arial" pitchFamily="34" charset="-122"/>
                <a:cs typeface="Arial" pitchFamily="34" charset="-120"/>
              </a:rPr>
              <a:t>Ibn Kathir, simplified</a:t>
            </a:r>
            <a:endParaRPr lang="en-US" sz="1300" dirty="0"/>
          </a:p>
        </p:txBody>
      </p:sp>
      <p:sp>
        <p:nvSpPr>
          <p:cNvPr id="5" name="Shape 3"/>
          <p:cNvSpPr/>
          <p:nvPr/>
        </p:nvSpPr>
        <p:spPr>
          <a:xfrm>
            <a:off x="713232" y="2128266"/>
            <a:ext cx="548640" cy="548640"/>
          </a:xfrm>
          <a:prstGeom prst="star8">
            <a:avLst/>
          </a:prstGeom>
          <a:solidFill>
            <a:schemeClr val="accent2"/>
          </a:solidFill>
          <a:ln/>
        </p:spPr>
      </p:sp>
      <p:sp>
        <p:nvSpPr>
          <p:cNvPr id="6" name="Shape 4"/>
          <p:cNvSpPr/>
          <p:nvPr/>
        </p:nvSpPr>
        <p:spPr>
          <a:xfrm>
            <a:off x="822960" y="2237994"/>
            <a:ext cx="329184" cy="329184"/>
          </a:xfrm>
          <a:prstGeom prst="ellipse">
            <a:avLst/>
          </a:prstGeom>
          <a:solidFill>
            <a:schemeClr val="bg2"/>
          </a:solidFill>
          <a:ln w="19050">
            <a:solidFill>
              <a:schemeClr val="tx2"/>
            </a:solidFill>
            <a:prstDash val="solid"/>
          </a:ln>
        </p:spPr>
      </p:sp>
      <p:sp>
        <p:nvSpPr>
          <p:cNvPr id="7" name="Text 5"/>
          <p:cNvSpPr txBox="1"/>
          <p:nvPr/>
        </p:nvSpPr>
        <p:spPr>
          <a:xfrm>
            <a:off x="713232" y="2128266"/>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25</a:t>
            </a:r>
            <a:endParaRPr lang="en-US" sz="1600" dirty="0"/>
          </a:p>
        </p:txBody>
      </p:sp>
      <p:sp>
        <p:nvSpPr>
          <p:cNvPr id="8" name="Text 6"/>
          <p:cNvSpPr txBox="1"/>
          <p:nvPr/>
        </p:nvSpPr>
        <p:spPr>
          <a:xfrm>
            <a:off x="1444752" y="2109978"/>
            <a:ext cx="10012680" cy="992124"/>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إِنَّ رَبَّكَ هُوَ يَفْصِلُ بَيْنَهُمْ يَوْمَ الْقِيَٰمَةِ فِيمَا كَانُواْ فِيهِ يَخْتَلِفُونَ</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Your Lord will judge between them on the Day of Resurrection about what they used to differ on.</a:t>
            </a:r>
            <a:endParaRPr lang="en-US" sz="3000" dirty="0"/>
          </a:p>
        </p:txBody>
      </p:sp>
      <p:sp>
        <p:nvSpPr>
          <p:cNvPr id="9" name="Shape 7"/>
          <p:cNvSpPr/>
          <p:nvPr/>
        </p:nvSpPr>
        <p:spPr>
          <a:xfrm>
            <a:off x="1444752" y="3289554"/>
            <a:ext cx="8641080" cy="0"/>
          </a:xfrm>
          <a:prstGeom prst="line">
            <a:avLst/>
          </a:prstGeom>
          <a:noFill/>
          <a:ln w="9525">
            <a:solidFill>
              <a:schemeClr val="accent2"/>
            </a:solidFill>
            <a:prstDash val="dash"/>
          </a:ln>
        </p:spPr>
      </p:sp>
      <p:sp>
        <p:nvSpPr>
          <p:cNvPr id="10" name="Shape 8"/>
          <p:cNvSpPr/>
          <p:nvPr/>
        </p:nvSpPr>
        <p:spPr>
          <a:xfrm>
            <a:off x="713232" y="3522726"/>
            <a:ext cx="548640" cy="548640"/>
          </a:xfrm>
          <a:prstGeom prst="star8">
            <a:avLst/>
          </a:prstGeom>
          <a:solidFill>
            <a:schemeClr val="accent2"/>
          </a:solidFill>
          <a:ln/>
        </p:spPr>
      </p:sp>
      <p:sp>
        <p:nvSpPr>
          <p:cNvPr id="11" name="Shape 9"/>
          <p:cNvSpPr/>
          <p:nvPr/>
        </p:nvSpPr>
        <p:spPr>
          <a:xfrm>
            <a:off x="822960" y="3632454"/>
            <a:ext cx="329184" cy="329184"/>
          </a:xfrm>
          <a:prstGeom prst="ellipse">
            <a:avLst/>
          </a:prstGeom>
          <a:solidFill>
            <a:schemeClr val="bg2"/>
          </a:solidFill>
          <a:ln w="19050">
            <a:solidFill>
              <a:schemeClr val="tx2"/>
            </a:solidFill>
            <a:prstDash val="solid"/>
          </a:ln>
        </p:spPr>
      </p:sp>
      <p:sp>
        <p:nvSpPr>
          <p:cNvPr id="12" name="Text 10"/>
          <p:cNvSpPr txBox="1"/>
          <p:nvPr/>
        </p:nvSpPr>
        <p:spPr>
          <a:xfrm>
            <a:off x="713232" y="3522726"/>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26</a:t>
            </a:r>
            <a:endParaRPr lang="en-US" sz="1600" dirty="0"/>
          </a:p>
        </p:txBody>
      </p:sp>
      <p:sp>
        <p:nvSpPr>
          <p:cNvPr id="13" name="Text 11"/>
          <p:cNvSpPr txBox="1"/>
          <p:nvPr/>
        </p:nvSpPr>
        <p:spPr>
          <a:xfrm>
            <a:off x="1444752" y="3504438"/>
            <a:ext cx="10012680" cy="1801368"/>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أَوَلَمْ يَهْدِ لَهُمْ كَمْ أَهْلَكْنَا مِن قَبْلِهِم مِّنَ الْقُرُونِ يَمْشُونَ فِي مَسَٰكِنِهِمْ إِنَّ فِي ذَٰلِكَ لَأيَٰتٍ أَفَلَا يَسْمَعُونَ</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Is it not clear to them how many nations We destroyed before them, while they walk among their homes? In that are lessons. Will they not listen?</a:t>
            </a:r>
            <a:endParaRPr lang="en-US" sz="3000" dirty="0"/>
          </a:p>
        </p:txBody>
      </p:sp>
      <p:sp>
        <p:nvSpPr>
          <p:cNvPr id="25" name="Slide Number Placeholder 0"/>
          <p:cNvSpPr>
            <a:spLocks noGrp="1"/>
          </p:cNvSpPr>
          <p:nvPr>
            <p:ph type="sldNum" sz="quarter" idx="4294967295"/>
          </p:nvPr>
        </p:nvSpPr>
        <p:spPr>
          <a:xfrm>
            <a:off x="1115568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31</a:t>
            </a:fld>
            <a:endParaRPr lang="en-US"/>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algn="ctr" indent="0" marL="0">
              <a:buNone/>
            </a:pPr>
            <a:r>
              <a:rPr lang="en-US" sz="2400" b="1" dirty="0">
                <a:solidFill>
                  <a:schemeClr val="bg1"/>
                </a:solidFill>
                <a:latin typeface="Georgia" pitchFamily="34" charset="0"/>
                <a:ea typeface="Georgia" pitchFamily="34" charset="-122"/>
                <a:cs typeface="Georgia" pitchFamily="34" charset="-120"/>
              </a:rPr>
              <a:t>Surah As-Sajdah</a:t>
            </a:r>
            <a:endParaRPr lang="en-US" sz="2400" dirty="0"/>
          </a:p>
        </p:txBody>
      </p:sp>
      <p:sp>
        <p:nvSpPr>
          <p:cNvPr id="3" name="Text 1"/>
          <p:cNvSpPr txBox="1"/>
          <p:nvPr/>
        </p:nvSpPr>
        <p:spPr>
          <a:xfrm>
            <a:off x="777240" y="548640"/>
            <a:ext cx="2651760" cy="384048"/>
          </a:xfrm>
          <a:prstGeom prst="rect">
            <a:avLst/>
          </a:prstGeom>
          <a:noFill/>
          <a:ln/>
        </p:spPr>
        <p:txBody>
          <a:bodyPr wrap="square" lIns="0" tIns="0" rIns="0" bIns="0" rtlCol="0" anchor="ctr"/>
          <a:lstStyle/>
          <a:p>
            <a:pPr algn="l" indent="0" marL="0">
              <a:buNone/>
            </a:pPr>
            <a:r>
              <a:rPr lang="en-US" altLang="en-US" sz="1500" b="1" dirty="0">
                <a:solidFill>
                  <a:schemeClr val="accent2"/>
                </a:solidFill>
                <a:latin typeface="Arial" pitchFamily="34" charset="0"/>
                <a:ea typeface="Arial" pitchFamily="34" charset="-122"/>
                <a:cs typeface="Arial" pitchFamily="34" charset="-120"/>
              </a:rPr>
              <a:t>Verses 27 – 29</a:t>
            </a:r>
            <a:endParaRPr lang="en-US" sz="1500" dirty="0"/>
          </a:p>
        </p:txBody>
      </p:sp>
      <p:sp>
        <p:nvSpPr>
          <p:cNvPr id="4" name="Text 2"/>
          <p:cNvSpPr txBox="1"/>
          <p:nvPr/>
        </p:nvSpPr>
        <p:spPr>
          <a:xfrm>
            <a:off x="8732520" y="548640"/>
            <a:ext cx="2651760" cy="384048"/>
          </a:xfrm>
          <a:prstGeom prst="rect">
            <a:avLst/>
          </a:prstGeom>
          <a:noFill/>
          <a:ln/>
        </p:spPr>
        <p:txBody>
          <a:bodyPr wrap="square" lIns="0" tIns="0" rIns="0" bIns="0" rtlCol="0" anchor="ctr"/>
          <a:lstStyle/>
          <a:p>
            <a:pPr algn="r" indent="0" marL="0">
              <a:buNone/>
            </a:pPr>
            <a:r>
              <a:rPr lang="en-US" altLang="en-US" sz="1300" i="1" dirty="0">
                <a:solidFill>
                  <a:schemeClr val="accent4"/>
                </a:solidFill>
                <a:latin typeface="Arial" pitchFamily="34" charset="0"/>
                <a:ea typeface="Arial" pitchFamily="34" charset="-122"/>
                <a:cs typeface="Arial" pitchFamily="34" charset="-120"/>
              </a:rPr>
              <a:t>Ibn Kathir, simplified</a:t>
            </a:r>
            <a:endParaRPr lang="en-US" sz="1300" dirty="0"/>
          </a:p>
        </p:txBody>
      </p:sp>
      <p:sp>
        <p:nvSpPr>
          <p:cNvPr id="5" name="Shape 3"/>
          <p:cNvSpPr/>
          <p:nvPr/>
        </p:nvSpPr>
        <p:spPr>
          <a:xfrm>
            <a:off x="713232" y="1405890"/>
            <a:ext cx="548640" cy="548640"/>
          </a:xfrm>
          <a:prstGeom prst="star8">
            <a:avLst/>
          </a:prstGeom>
          <a:solidFill>
            <a:schemeClr val="accent2"/>
          </a:solidFill>
          <a:ln/>
        </p:spPr>
      </p:sp>
      <p:sp>
        <p:nvSpPr>
          <p:cNvPr id="6" name="Shape 4"/>
          <p:cNvSpPr/>
          <p:nvPr/>
        </p:nvSpPr>
        <p:spPr>
          <a:xfrm>
            <a:off x="822960" y="1515618"/>
            <a:ext cx="329184" cy="329184"/>
          </a:xfrm>
          <a:prstGeom prst="ellipse">
            <a:avLst/>
          </a:prstGeom>
          <a:solidFill>
            <a:schemeClr val="bg2"/>
          </a:solidFill>
          <a:ln w="19050">
            <a:solidFill>
              <a:schemeClr val="tx2"/>
            </a:solidFill>
            <a:prstDash val="solid"/>
          </a:ln>
        </p:spPr>
      </p:sp>
      <p:sp>
        <p:nvSpPr>
          <p:cNvPr id="7" name="Text 5"/>
          <p:cNvSpPr txBox="1"/>
          <p:nvPr/>
        </p:nvSpPr>
        <p:spPr>
          <a:xfrm>
            <a:off x="713232" y="1405890"/>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27</a:t>
            </a:r>
            <a:endParaRPr lang="en-US" sz="1600" dirty="0"/>
          </a:p>
        </p:txBody>
      </p:sp>
      <p:sp>
        <p:nvSpPr>
          <p:cNvPr id="8" name="Text 6"/>
          <p:cNvSpPr txBox="1"/>
          <p:nvPr/>
        </p:nvSpPr>
        <p:spPr>
          <a:xfrm>
            <a:off x="1444752" y="1387602"/>
            <a:ext cx="10012680" cy="1801368"/>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أَوَلَمْ يَرَوْاْ أَنَّا نَسُوقُ الْمَآءَ إِلَى الْأَرْضِ الْجُرُزِ فَنُخْرِجُ بِهِ زَرْعًا تَأْكُلُ مِنْهُ أَنْعَٰمُهُمْ وَأَنفُسُهُمْ أَفَلَا يُبْصِرُونَ</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Do they not see that We drive the rain to the dry land and bring out crops with it, which their animals and they themselves eat? Will they not see?</a:t>
            </a:r>
            <a:endParaRPr lang="en-US" sz="3000" dirty="0"/>
          </a:p>
        </p:txBody>
      </p:sp>
      <p:sp>
        <p:nvSpPr>
          <p:cNvPr id="9" name="Shape 7"/>
          <p:cNvSpPr/>
          <p:nvPr/>
        </p:nvSpPr>
        <p:spPr>
          <a:xfrm>
            <a:off x="1444752" y="3323844"/>
            <a:ext cx="8641080" cy="0"/>
          </a:xfrm>
          <a:prstGeom prst="line">
            <a:avLst/>
          </a:prstGeom>
          <a:noFill/>
          <a:ln w="9525">
            <a:solidFill>
              <a:schemeClr val="accent2"/>
            </a:solidFill>
            <a:prstDash val="dash"/>
          </a:ln>
        </p:spPr>
      </p:sp>
      <p:sp>
        <p:nvSpPr>
          <p:cNvPr id="10" name="Shape 8"/>
          <p:cNvSpPr/>
          <p:nvPr/>
        </p:nvSpPr>
        <p:spPr>
          <a:xfrm>
            <a:off x="713232" y="3504438"/>
            <a:ext cx="548640" cy="548640"/>
          </a:xfrm>
          <a:prstGeom prst="star8">
            <a:avLst/>
          </a:prstGeom>
          <a:solidFill>
            <a:schemeClr val="accent2"/>
          </a:solidFill>
          <a:ln/>
        </p:spPr>
      </p:sp>
      <p:sp>
        <p:nvSpPr>
          <p:cNvPr id="11" name="Shape 9"/>
          <p:cNvSpPr/>
          <p:nvPr/>
        </p:nvSpPr>
        <p:spPr>
          <a:xfrm>
            <a:off x="822960" y="3614166"/>
            <a:ext cx="329184" cy="329184"/>
          </a:xfrm>
          <a:prstGeom prst="ellipse">
            <a:avLst/>
          </a:prstGeom>
          <a:solidFill>
            <a:schemeClr val="bg2"/>
          </a:solidFill>
          <a:ln w="19050">
            <a:solidFill>
              <a:schemeClr val="tx2"/>
            </a:solidFill>
            <a:prstDash val="solid"/>
          </a:ln>
        </p:spPr>
      </p:sp>
      <p:sp>
        <p:nvSpPr>
          <p:cNvPr id="12" name="Text 10"/>
          <p:cNvSpPr txBox="1"/>
          <p:nvPr/>
        </p:nvSpPr>
        <p:spPr>
          <a:xfrm>
            <a:off x="713232" y="3504438"/>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28</a:t>
            </a:r>
            <a:endParaRPr lang="en-US" sz="1600" dirty="0"/>
          </a:p>
        </p:txBody>
      </p:sp>
      <p:sp>
        <p:nvSpPr>
          <p:cNvPr id="13" name="Text 11"/>
          <p:cNvSpPr txBox="1"/>
          <p:nvPr/>
        </p:nvSpPr>
        <p:spPr>
          <a:xfrm>
            <a:off x="1444752" y="3486150"/>
            <a:ext cx="10012680" cy="992124"/>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وَيَقُولُونَ مَتَىٰ هَٰذَا الْفَتْحُ إِن كُنتُمْ صَٰدِقِينَ</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They say: When will this judgement and victory come, if you are truthful?</a:t>
            </a:r>
            <a:endParaRPr lang="en-US" sz="3000" dirty="0"/>
          </a:p>
        </p:txBody>
      </p:sp>
      <p:sp>
        <p:nvSpPr>
          <p:cNvPr id="14" name="Shape 12"/>
          <p:cNvSpPr/>
          <p:nvPr/>
        </p:nvSpPr>
        <p:spPr>
          <a:xfrm>
            <a:off x="1444752" y="4613148"/>
            <a:ext cx="8641080" cy="0"/>
          </a:xfrm>
          <a:prstGeom prst="line">
            <a:avLst/>
          </a:prstGeom>
          <a:noFill/>
          <a:ln w="9525">
            <a:solidFill>
              <a:schemeClr val="accent2"/>
            </a:solidFill>
            <a:prstDash val="dash"/>
          </a:ln>
        </p:spPr>
      </p:sp>
      <p:sp>
        <p:nvSpPr>
          <p:cNvPr id="15" name="Shape 13"/>
          <p:cNvSpPr/>
          <p:nvPr/>
        </p:nvSpPr>
        <p:spPr>
          <a:xfrm>
            <a:off x="713232" y="4793742"/>
            <a:ext cx="548640" cy="548640"/>
          </a:xfrm>
          <a:prstGeom prst="star8">
            <a:avLst/>
          </a:prstGeom>
          <a:solidFill>
            <a:schemeClr val="accent2"/>
          </a:solidFill>
          <a:ln/>
        </p:spPr>
      </p:sp>
      <p:sp>
        <p:nvSpPr>
          <p:cNvPr id="16" name="Shape 14"/>
          <p:cNvSpPr/>
          <p:nvPr/>
        </p:nvSpPr>
        <p:spPr>
          <a:xfrm>
            <a:off x="822960" y="4903470"/>
            <a:ext cx="329184" cy="329184"/>
          </a:xfrm>
          <a:prstGeom prst="ellipse">
            <a:avLst/>
          </a:prstGeom>
          <a:solidFill>
            <a:schemeClr val="bg2"/>
          </a:solidFill>
          <a:ln w="19050">
            <a:solidFill>
              <a:schemeClr val="tx2"/>
            </a:solidFill>
            <a:prstDash val="solid"/>
          </a:ln>
        </p:spPr>
      </p:sp>
      <p:sp>
        <p:nvSpPr>
          <p:cNvPr id="17" name="Text 15"/>
          <p:cNvSpPr txBox="1"/>
          <p:nvPr/>
        </p:nvSpPr>
        <p:spPr>
          <a:xfrm>
            <a:off x="713232" y="4793742"/>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29</a:t>
            </a:r>
            <a:endParaRPr lang="en-US" sz="1600" dirty="0"/>
          </a:p>
        </p:txBody>
      </p:sp>
      <p:sp>
        <p:nvSpPr>
          <p:cNvPr id="18" name="Text 16"/>
          <p:cNvSpPr txBox="1"/>
          <p:nvPr/>
        </p:nvSpPr>
        <p:spPr>
          <a:xfrm>
            <a:off x="1444752" y="4775454"/>
            <a:ext cx="10012680" cy="1252728"/>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قُلْ يَوْمَ الْفَتْحِ لَا يَنفَعُ الَّذِينَ كَفَرُواْ إِيمَٰنُهُمْ وَلَا هُمْ يُنظَرُونَ</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Say: On the Day of judgement and punishment, the disbelievers' faith will not help them, and they will not be given more time.</a:t>
            </a:r>
            <a:endParaRPr lang="en-US" sz="3000" dirty="0"/>
          </a:p>
        </p:txBody>
      </p:sp>
      <p:sp>
        <p:nvSpPr>
          <p:cNvPr id="25" name="Slide Number Placeholder 0"/>
          <p:cNvSpPr>
            <a:spLocks noGrp="1"/>
          </p:cNvSpPr>
          <p:nvPr>
            <p:ph type="sldNum" sz="quarter" idx="4294967295"/>
          </p:nvPr>
        </p:nvSpPr>
        <p:spPr>
          <a:xfrm>
            <a:off x="1115568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32</a:t>
            </a:fld>
            <a:endParaRPr lang="en-US"/>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3">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algn="ctr" indent="0" marL="0">
              <a:buNone/>
            </a:pPr>
            <a:r>
              <a:rPr lang="en-US" sz="2400" b="1" dirty="0">
                <a:solidFill>
                  <a:schemeClr val="bg1"/>
                </a:solidFill>
                <a:latin typeface="Georgia" pitchFamily="34" charset="0"/>
                <a:ea typeface="Georgia" pitchFamily="34" charset="-122"/>
                <a:cs typeface="Georgia" pitchFamily="34" charset="-120"/>
              </a:rPr>
              <a:t>Surah As-Sajdah</a:t>
            </a:r>
            <a:endParaRPr lang="en-US" sz="2400" dirty="0"/>
          </a:p>
        </p:txBody>
      </p:sp>
      <p:sp>
        <p:nvSpPr>
          <p:cNvPr id="3" name="Text 1"/>
          <p:cNvSpPr txBox="1"/>
          <p:nvPr/>
        </p:nvSpPr>
        <p:spPr>
          <a:xfrm>
            <a:off x="777240" y="548640"/>
            <a:ext cx="2651760" cy="384048"/>
          </a:xfrm>
          <a:prstGeom prst="rect">
            <a:avLst/>
          </a:prstGeom>
          <a:noFill/>
          <a:ln/>
        </p:spPr>
        <p:txBody>
          <a:bodyPr wrap="square" lIns="0" tIns="0" rIns="0" bIns="0" rtlCol="0" anchor="ctr"/>
          <a:lstStyle/>
          <a:p>
            <a:pPr algn="l" indent="0" marL="0">
              <a:buNone/>
            </a:pPr>
            <a:r>
              <a:rPr lang="en-US" altLang="en-US" sz="1500" b="1" dirty="0">
                <a:solidFill>
                  <a:schemeClr val="accent2"/>
                </a:solidFill>
                <a:latin typeface="Arial" pitchFamily="34" charset="0"/>
                <a:ea typeface="Arial" pitchFamily="34" charset="-122"/>
                <a:cs typeface="Arial" pitchFamily="34" charset="-120"/>
              </a:rPr>
              <a:t>Verse 30</a:t>
            </a:r>
            <a:endParaRPr lang="en-US" sz="1500" dirty="0"/>
          </a:p>
        </p:txBody>
      </p:sp>
      <p:sp>
        <p:nvSpPr>
          <p:cNvPr id="4" name="Text 2"/>
          <p:cNvSpPr txBox="1"/>
          <p:nvPr/>
        </p:nvSpPr>
        <p:spPr>
          <a:xfrm>
            <a:off x="8732520" y="548640"/>
            <a:ext cx="2651760" cy="384048"/>
          </a:xfrm>
          <a:prstGeom prst="rect">
            <a:avLst/>
          </a:prstGeom>
          <a:noFill/>
          <a:ln/>
        </p:spPr>
        <p:txBody>
          <a:bodyPr wrap="square" lIns="0" tIns="0" rIns="0" bIns="0" rtlCol="0" anchor="ctr"/>
          <a:lstStyle/>
          <a:p>
            <a:pPr algn="r" indent="0" marL="0">
              <a:buNone/>
            </a:pPr>
            <a:r>
              <a:rPr lang="en-US" altLang="en-US" sz="1300" i="1" dirty="0">
                <a:solidFill>
                  <a:schemeClr val="accent4"/>
                </a:solidFill>
                <a:latin typeface="Arial" pitchFamily="34" charset="0"/>
                <a:ea typeface="Arial" pitchFamily="34" charset="-122"/>
                <a:cs typeface="Arial" pitchFamily="34" charset="-120"/>
              </a:rPr>
              <a:t>Ibn Kathir, simplified</a:t>
            </a:r>
            <a:endParaRPr lang="en-US" sz="1300" dirty="0"/>
          </a:p>
        </p:txBody>
      </p:sp>
      <p:sp>
        <p:nvSpPr>
          <p:cNvPr id="5" name="Shape 3"/>
          <p:cNvSpPr/>
          <p:nvPr/>
        </p:nvSpPr>
        <p:spPr>
          <a:xfrm>
            <a:off x="713232" y="3230118"/>
            <a:ext cx="548640" cy="548640"/>
          </a:xfrm>
          <a:prstGeom prst="star8">
            <a:avLst/>
          </a:prstGeom>
          <a:solidFill>
            <a:schemeClr val="accent2"/>
          </a:solidFill>
          <a:ln/>
        </p:spPr>
      </p:sp>
      <p:sp>
        <p:nvSpPr>
          <p:cNvPr id="6" name="Shape 4"/>
          <p:cNvSpPr/>
          <p:nvPr/>
        </p:nvSpPr>
        <p:spPr>
          <a:xfrm>
            <a:off x="822960" y="3339846"/>
            <a:ext cx="329184" cy="329184"/>
          </a:xfrm>
          <a:prstGeom prst="ellipse">
            <a:avLst/>
          </a:prstGeom>
          <a:solidFill>
            <a:schemeClr val="bg2"/>
          </a:solidFill>
          <a:ln w="19050">
            <a:solidFill>
              <a:schemeClr val="tx2"/>
            </a:solidFill>
            <a:prstDash val="solid"/>
          </a:ln>
        </p:spPr>
      </p:sp>
      <p:sp>
        <p:nvSpPr>
          <p:cNvPr id="7" name="Text 5"/>
          <p:cNvSpPr txBox="1"/>
          <p:nvPr/>
        </p:nvSpPr>
        <p:spPr>
          <a:xfrm>
            <a:off x="713232" y="3230118"/>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30</a:t>
            </a:r>
            <a:endParaRPr lang="en-US" sz="1600" dirty="0"/>
          </a:p>
        </p:txBody>
      </p:sp>
      <p:sp>
        <p:nvSpPr>
          <p:cNvPr id="8" name="Text 6"/>
          <p:cNvSpPr txBox="1"/>
          <p:nvPr/>
        </p:nvSpPr>
        <p:spPr>
          <a:xfrm>
            <a:off x="1444752" y="3211830"/>
            <a:ext cx="10012680" cy="992124"/>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فَأَعْرِضْ عَنْهُمْ وَانتَظِرْ إِنَّهُم مُّنتَظِرُونَ</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So turn away from them and wait for what will happen to them; they too are waiting.</a:t>
            </a:r>
            <a:endParaRPr lang="en-US" sz="3000" dirty="0"/>
          </a:p>
        </p:txBody>
      </p:sp>
      <p:sp>
        <p:nvSpPr>
          <p:cNvPr id="25" name="Slide Number Placeholder 0"/>
          <p:cNvSpPr>
            <a:spLocks noGrp="1"/>
          </p:cNvSpPr>
          <p:nvPr>
            <p:ph type="sldNum" sz="quarter" idx="4294967295"/>
          </p:nvPr>
        </p:nvSpPr>
        <p:spPr>
          <a:xfrm>
            <a:off x="1115568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33</a:t>
            </a:fld>
            <a:endParaRPr lang="en-US"/>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34">
    <p:spTree>
      <p:nvGrpSpPr>
        <p:cNvPr id="1" name=""/>
        <p:cNvGrpSpPr/>
        <p:nvPr/>
      </p:nvGrpSpPr>
      <p:grpSpPr>
        <a:xfrm>
          <a:off x="0" y="0"/>
          <a:ext cx="0" cy="0"/>
          <a:chOff x="0" y="0"/>
          <a:chExt cx="0" cy="0"/>
        </a:xfrm>
      </p:grpSpPr>
      <p:sp>
        <p:nvSpPr>
          <p:cNvPr id="2" name="Text 0"/>
          <p:cNvSpPr txBox="1"/>
          <p:nvPr/>
        </p:nvSpPr>
        <p:spPr>
          <a:xfrm>
            <a:off x="3581248" y="603504"/>
            <a:ext cx="5029200" cy="987552"/>
          </a:xfrm>
          <a:prstGeom prst="rect">
            <a:avLst/>
          </a:prstGeom>
          <a:noFill/>
          <a:ln/>
        </p:spPr>
        <p:txBody>
          <a:bodyPr wrap="square" lIns="0" tIns="0" rIns="0" bIns="0" rtlCol="0" anchor="ctr"/>
          <a:lstStyle/>
          <a:p>
            <a:pPr algn="ctr" indent="0" marL="0">
              <a:buNone/>
            </a:pPr>
            <a:r>
              <a:rPr lang="en-US" altLang="en-US" sz="3600" b="1" dirty="0">
                <a:solidFill>
                  <a:schemeClr val="accent2"/>
                </a:solidFill>
                <a:latin typeface="Georgia" pitchFamily="34" charset="0"/>
                <a:ea typeface="Georgia" pitchFamily="34" charset="-122"/>
                <a:cs typeface="Georgia" pitchFamily="34" charset="-120"/>
              </a:rPr>
              <a:t>Surah Luqman</a:t>
            </a:r>
            <a:endParaRPr lang="en-US" sz="3600" dirty="0"/>
          </a:p>
        </p:txBody>
      </p:sp>
      <p:sp>
        <p:nvSpPr>
          <p:cNvPr id="3" name="Shape 1"/>
          <p:cNvSpPr/>
          <p:nvPr/>
        </p:nvSpPr>
        <p:spPr>
          <a:xfrm>
            <a:off x="975208" y="1828800"/>
            <a:ext cx="3291840" cy="457200"/>
          </a:xfrm>
          <a:prstGeom prst="roundRect">
            <a:avLst>
              <a:gd name="adj" fmla="val 50000"/>
            </a:avLst>
          </a:prstGeom>
          <a:solidFill>
            <a:schemeClr val="tx2"/>
          </a:solidFill>
          <a:ln w="15875">
            <a:solidFill>
              <a:schemeClr val="accent2"/>
            </a:solidFill>
            <a:prstDash val="solid"/>
          </a:ln>
        </p:spPr>
      </p:sp>
      <p:sp>
        <p:nvSpPr>
          <p:cNvPr id="4" name="Text 2"/>
          <p:cNvSpPr txBox="1"/>
          <p:nvPr/>
        </p:nvSpPr>
        <p:spPr>
          <a:xfrm>
            <a:off x="1066648" y="1828800"/>
            <a:ext cx="3108960" cy="457200"/>
          </a:xfrm>
          <a:prstGeom prst="rect">
            <a:avLst/>
          </a:prstGeom>
          <a:noFill/>
          <a:ln/>
        </p:spPr>
        <p:txBody>
          <a:bodyPr wrap="square" lIns="0" tIns="0" rIns="0" bIns="0" rtlCol="0" anchor="ctr">
            <a:normAutofit/>
          </a:bodyPr>
          <a:lstStyle/>
          <a:p>
            <a:pPr algn="ctr" indent="0" marL="0">
              <a:buNone/>
            </a:pPr>
            <a:r>
              <a:rPr lang="en-US" altLang="en-US" sz="1400" b="1" dirty="0">
                <a:solidFill>
                  <a:schemeClr val="bg1"/>
                </a:solidFill>
                <a:latin typeface="Arial" pitchFamily="34" charset="0"/>
                <a:ea typeface="Arial" pitchFamily="34" charset="-122"/>
                <a:cs typeface="Arial" pitchFamily="34" charset="-120"/>
              </a:rPr>
              <a:t>34 verses • Luqman</a:t>
            </a:r>
            <a:endParaRPr lang="en-US" sz="1400" dirty="0"/>
          </a:p>
        </p:txBody>
      </p:sp>
      <p:sp>
        <p:nvSpPr>
          <p:cNvPr id="5" name="Shape 3"/>
          <p:cNvSpPr/>
          <p:nvPr/>
        </p:nvSpPr>
        <p:spPr>
          <a:xfrm>
            <a:off x="4449928" y="1828800"/>
            <a:ext cx="3291840" cy="457200"/>
          </a:xfrm>
          <a:prstGeom prst="roundRect">
            <a:avLst>
              <a:gd name="adj" fmla="val 50000"/>
            </a:avLst>
          </a:prstGeom>
          <a:solidFill>
            <a:schemeClr val="tx2"/>
          </a:solidFill>
          <a:ln w="15875">
            <a:solidFill>
              <a:schemeClr val="accent2"/>
            </a:solidFill>
            <a:prstDash val="solid"/>
          </a:ln>
        </p:spPr>
      </p:sp>
      <p:sp>
        <p:nvSpPr>
          <p:cNvPr id="6" name="Text 4"/>
          <p:cNvSpPr txBox="1"/>
          <p:nvPr/>
        </p:nvSpPr>
        <p:spPr>
          <a:xfrm>
            <a:off x="4541368" y="1828800"/>
            <a:ext cx="3108960" cy="457200"/>
          </a:xfrm>
          <a:prstGeom prst="rect">
            <a:avLst/>
          </a:prstGeom>
          <a:noFill/>
          <a:ln/>
        </p:spPr>
        <p:txBody>
          <a:bodyPr wrap="square" lIns="0" tIns="0" rIns="0" bIns="0" rtlCol="0" anchor="ctr">
            <a:normAutofit/>
          </a:bodyPr>
          <a:lstStyle/>
          <a:p>
            <a:pPr algn="ctr" indent="0" marL="0">
              <a:buNone/>
            </a:pPr>
            <a:r>
              <a:rPr lang="en-US" altLang="en-US" sz="1400" b="1" dirty="0">
                <a:solidFill>
                  <a:schemeClr val="bg1"/>
                </a:solidFill>
                <a:latin typeface="Arial" pitchFamily="34" charset="0"/>
                <a:ea typeface="Arial" pitchFamily="34" charset="-122"/>
                <a:cs typeface="Arial" pitchFamily="34" charset="-120"/>
              </a:rPr>
              <a:t>Makki</a:t>
            </a:r>
            <a:endParaRPr lang="en-US" sz="1400" dirty="0"/>
          </a:p>
        </p:txBody>
      </p:sp>
      <p:sp>
        <p:nvSpPr>
          <p:cNvPr id="7" name="Shape 5"/>
          <p:cNvSpPr/>
          <p:nvPr/>
        </p:nvSpPr>
        <p:spPr>
          <a:xfrm>
            <a:off x="7924648" y="1828800"/>
            <a:ext cx="3291840" cy="457200"/>
          </a:xfrm>
          <a:prstGeom prst="roundRect">
            <a:avLst>
              <a:gd name="adj" fmla="val 50000"/>
            </a:avLst>
          </a:prstGeom>
          <a:solidFill>
            <a:schemeClr val="tx2"/>
          </a:solidFill>
          <a:ln w="15875">
            <a:solidFill>
              <a:schemeClr val="accent2"/>
            </a:solidFill>
            <a:prstDash val="solid"/>
          </a:ln>
        </p:spPr>
      </p:sp>
      <p:sp>
        <p:nvSpPr>
          <p:cNvPr id="8" name="Text 6"/>
          <p:cNvSpPr txBox="1"/>
          <p:nvPr/>
        </p:nvSpPr>
        <p:spPr>
          <a:xfrm>
            <a:off x="8016088" y="1828800"/>
            <a:ext cx="3108960" cy="457200"/>
          </a:xfrm>
          <a:prstGeom prst="rect">
            <a:avLst/>
          </a:prstGeom>
          <a:noFill/>
          <a:ln/>
        </p:spPr>
        <p:txBody>
          <a:bodyPr wrap="square" lIns="0" tIns="0" rIns="0" bIns="0" rtlCol="0" anchor="ctr">
            <a:normAutofit/>
          </a:bodyPr>
          <a:lstStyle/>
          <a:p>
            <a:pPr algn="ctr" indent="0" marL="0">
              <a:buNone/>
            </a:pPr>
            <a:r>
              <a:rPr lang="en-US" altLang="en-US" sz="1400" b="1" dirty="0">
                <a:solidFill>
                  <a:schemeClr val="bg1"/>
                </a:solidFill>
                <a:latin typeface="Arial" pitchFamily="34" charset="0"/>
                <a:ea typeface="Arial" pitchFamily="34" charset="-122"/>
                <a:cs typeface="Arial" pitchFamily="34" charset="-120"/>
              </a:rPr>
              <a:t>Surah no. 31 in the Mushaf</a:t>
            </a:r>
            <a:endParaRPr lang="en-US" sz="1400" dirty="0"/>
          </a:p>
        </p:txBody>
      </p:sp>
      <p:sp>
        <p:nvSpPr>
          <p:cNvPr id="9" name="Shape 7"/>
          <p:cNvSpPr/>
          <p:nvPr/>
        </p:nvSpPr>
        <p:spPr>
          <a:xfrm>
            <a:off x="655168" y="2880360"/>
            <a:ext cx="5257800" cy="3246120"/>
          </a:xfrm>
          <a:prstGeom prst="roundRect">
            <a:avLst>
              <a:gd name="adj" fmla="val 4225"/>
            </a:avLst>
          </a:prstGeom>
          <a:solidFill>
            <a:schemeClr val="bg2"/>
          </a:solidFill>
          <a:ln w="25400">
            <a:solidFill>
              <a:schemeClr val="accent2"/>
            </a:solidFill>
            <a:prstDash val="solid"/>
          </a:ln>
        </p:spPr>
      </p:sp>
      <p:sp>
        <p:nvSpPr>
          <p:cNvPr id="10" name="Shape 8"/>
          <p:cNvSpPr/>
          <p:nvPr/>
        </p:nvSpPr>
        <p:spPr>
          <a:xfrm>
            <a:off x="1821028" y="2651760"/>
            <a:ext cx="2926080" cy="457200"/>
          </a:xfrm>
          <a:prstGeom prst="roundRect">
            <a:avLst>
              <a:gd name="adj" fmla="val 50000"/>
            </a:avLst>
          </a:prstGeom>
          <a:solidFill>
            <a:schemeClr val="accent6"/>
          </a:solidFill>
          <a:ln w="15875">
            <a:solidFill>
              <a:schemeClr val="accent2"/>
            </a:solidFill>
            <a:prstDash val="solid"/>
          </a:ln>
        </p:spPr>
      </p:sp>
      <p:sp>
        <p:nvSpPr>
          <p:cNvPr id="11" name="Text 9"/>
          <p:cNvSpPr txBox="1"/>
          <p:nvPr/>
        </p:nvSpPr>
        <p:spPr>
          <a:xfrm>
            <a:off x="1821028" y="2651760"/>
            <a:ext cx="2926080" cy="457200"/>
          </a:xfrm>
          <a:prstGeom prst="rect">
            <a:avLst/>
          </a:prstGeom>
          <a:noFill/>
          <a:ln/>
        </p:spPr>
        <p:txBody>
          <a:bodyPr wrap="square" lIns="0" tIns="0" rIns="0" bIns="0" rtlCol="0" anchor="ctr"/>
          <a:lstStyle/>
          <a:p>
            <a:pPr algn="ctr" indent="0" marL="0">
              <a:buNone/>
            </a:pPr>
            <a:r>
              <a:rPr lang="en-US" altLang="en-US" sz="1600" b="1" dirty="0">
                <a:solidFill>
                  <a:schemeClr val="bg1"/>
                </a:solidFill>
                <a:latin typeface="Arial" pitchFamily="34" charset="0"/>
                <a:ea typeface="Arial" pitchFamily="34" charset="-122"/>
                <a:cs typeface="Arial" pitchFamily="34" charset="-120"/>
              </a:rPr>
              <a:t>Reason for Revelation</a:t>
            </a:r>
            <a:endParaRPr lang="en-US" sz="1600" dirty="0"/>
          </a:p>
        </p:txBody>
      </p:sp>
      <p:sp>
        <p:nvSpPr>
          <p:cNvPr id="12" name="Text 10"/>
          <p:cNvSpPr txBox="1"/>
          <p:nvPr/>
        </p:nvSpPr>
        <p:spPr>
          <a:xfrm>
            <a:off x="975208" y="3246120"/>
            <a:ext cx="4617720" cy="2697480"/>
          </a:xfrm>
          <a:prstGeom prst="rect">
            <a:avLst/>
          </a:prstGeom>
          <a:noFill/>
          <a:ln/>
        </p:spPr>
        <p:txBody>
          <a:bodyPr wrap="square" lIns="0" tIns="0" rIns="0" bIns="0" rtlCol="0" anchor="ctr"/>
          <a:lstStyle/>
          <a:p>
            <a:pPr algn="l" indent="0" marL="0">
              <a:lnSpc>
                <a:spcPct val="110000"/>
              </a:lnSpc>
              <a:buNone/>
            </a:pPr>
            <a:r>
              <a:rPr lang="en-US" altLang="en-US" sz="1400" dirty="0">
                <a:solidFill>
                  <a:schemeClr val="tx1"/>
                </a:solidFill>
                <a:latin typeface="Arial" pitchFamily="34" charset="0"/>
                <a:ea typeface="Arial" pitchFamily="34" charset="-122"/>
                <a:cs typeface="Arial" pitchFamily="34" charset="-120"/>
              </a:rPr>
              <a:t>Sa'd ibn Abi Waqqas (may Allah be pleased with him) said: When I became Muslim, my mother swore not to eat or drink until I disbelieved in Muhammad. So this was revealed: “But if they strive to make you associate with Me what you have no knowledge of, do not obey them, but keep company with them in this world with kindness” (Muslim).</a:t>
            </a:r>
            <a:endParaRPr lang="en-US" sz="1400" dirty="0"/>
          </a:p>
        </p:txBody>
      </p:sp>
      <p:sp>
        <p:nvSpPr>
          <p:cNvPr id="13" name="Shape 11"/>
          <p:cNvSpPr/>
          <p:nvPr/>
        </p:nvSpPr>
        <p:spPr>
          <a:xfrm>
            <a:off x="6278728" y="2880360"/>
            <a:ext cx="5257800" cy="3246120"/>
          </a:xfrm>
          <a:prstGeom prst="roundRect">
            <a:avLst>
              <a:gd name="adj" fmla="val 4225"/>
            </a:avLst>
          </a:prstGeom>
          <a:solidFill>
            <a:schemeClr val="bg2"/>
          </a:solidFill>
          <a:ln w="25400">
            <a:solidFill>
              <a:schemeClr val="accent2"/>
            </a:solidFill>
            <a:prstDash val="solid"/>
          </a:ln>
        </p:spPr>
      </p:sp>
      <p:sp>
        <p:nvSpPr>
          <p:cNvPr id="14" name="Shape 12"/>
          <p:cNvSpPr/>
          <p:nvPr/>
        </p:nvSpPr>
        <p:spPr>
          <a:xfrm>
            <a:off x="7444588" y="2651760"/>
            <a:ext cx="2926080" cy="457200"/>
          </a:xfrm>
          <a:prstGeom prst="roundRect">
            <a:avLst>
              <a:gd name="adj" fmla="val 50000"/>
            </a:avLst>
          </a:prstGeom>
          <a:solidFill>
            <a:schemeClr val="tx2"/>
          </a:solidFill>
          <a:ln w="15875">
            <a:solidFill>
              <a:schemeClr val="accent2"/>
            </a:solidFill>
            <a:prstDash val="solid"/>
          </a:ln>
        </p:spPr>
      </p:sp>
      <p:sp>
        <p:nvSpPr>
          <p:cNvPr id="15" name="Text 13"/>
          <p:cNvSpPr txBox="1"/>
          <p:nvPr/>
        </p:nvSpPr>
        <p:spPr>
          <a:xfrm>
            <a:off x="7444588" y="2651760"/>
            <a:ext cx="2926080" cy="457200"/>
          </a:xfrm>
          <a:prstGeom prst="rect">
            <a:avLst/>
          </a:prstGeom>
          <a:noFill/>
          <a:ln/>
        </p:spPr>
        <p:txBody>
          <a:bodyPr wrap="square" lIns="0" tIns="0" rIns="0" bIns="0" rtlCol="0" anchor="ctr"/>
          <a:lstStyle/>
          <a:p>
            <a:pPr algn="ctr" indent="0" marL="0">
              <a:buNone/>
            </a:pPr>
            <a:r>
              <a:rPr lang="en-US" altLang="en-US" sz="1600" b="1" dirty="0">
                <a:solidFill>
                  <a:schemeClr val="bg1"/>
                </a:solidFill>
                <a:latin typeface="Arial" pitchFamily="34" charset="0"/>
                <a:ea typeface="Arial" pitchFamily="34" charset="-122"/>
                <a:cs typeface="Arial" pitchFamily="34" charset="-120"/>
              </a:rPr>
              <a:t>Theme of the Surah</a:t>
            </a:r>
            <a:endParaRPr lang="en-US" sz="1600" dirty="0"/>
          </a:p>
        </p:txBody>
      </p:sp>
      <p:sp>
        <p:nvSpPr>
          <p:cNvPr id="16" name="Text 14"/>
          <p:cNvSpPr txBox="1"/>
          <p:nvPr/>
        </p:nvSpPr>
        <p:spPr>
          <a:xfrm>
            <a:off x="6598768" y="3246120"/>
            <a:ext cx="4617720" cy="2697480"/>
          </a:xfrm>
          <a:prstGeom prst="rect">
            <a:avLst/>
          </a:prstGeom>
          <a:noFill/>
          <a:ln/>
        </p:spPr>
        <p:txBody>
          <a:bodyPr wrap="square" lIns="0" tIns="0" rIns="0" bIns="0" rtlCol="0" anchor="ctr"/>
          <a:lstStyle/>
          <a:p>
            <a:pPr algn="l" indent="0" marL="0">
              <a:lnSpc>
                <a:spcPct val="110000"/>
              </a:lnSpc>
              <a:buNone/>
            </a:pPr>
            <a:r>
              <a:rPr lang="en-US" altLang="en-US" sz="1700" dirty="0">
                <a:solidFill>
                  <a:schemeClr val="tx1"/>
                </a:solidFill>
                <a:latin typeface="Arial" pitchFamily="34" charset="0"/>
                <a:ea typeface="Arial" pitchFamily="34" charset="-122"/>
                <a:cs typeface="Arial" pitchFamily="34" charset="-120"/>
              </a:rPr>
              <a:t>The qualities of those who do good and are guided by the Qur'an, the advice of wise Luqman to his son about tawhid, kindness to parents, prayer and good manners, and the five keys of the unseen that only Allah knows.</a:t>
            </a:r>
            <a:endParaRPr lang="en-US" sz="1700" dirty="0"/>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name="Slide 35">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algn="ctr" indent="0" marL="0">
              <a:buNone/>
            </a:pPr>
            <a:r>
              <a:rPr lang="en-US" sz="2400" b="1" dirty="0">
                <a:solidFill>
                  <a:schemeClr val="bg1"/>
                </a:solidFill>
                <a:latin typeface="Georgia" pitchFamily="34" charset="0"/>
                <a:ea typeface="Georgia" pitchFamily="34" charset="-122"/>
                <a:cs typeface="Georgia" pitchFamily="34" charset="-120"/>
              </a:rPr>
              <a:t>Surah Luqman</a:t>
            </a:r>
            <a:endParaRPr lang="en-US" sz="2400" dirty="0"/>
          </a:p>
        </p:txBody>
      </p:sp>
      <p:sp>
        <p:nvSpPr>
          <p:cNvPr id="3" name="Text 1"/>
          <p:cNvSpPr txBox="1"/>
          <p:nvPr/>
        </p:nvSpPr>
        <p:spPr>
          <a:xfrm>
            <a:off x="777240" y="548640"/>
            <a:ext cx="2651760" cy="384048"/>
          </a:xfrm>
          <a:prstGeom prst="rect">
            <a:avLst/>
          </a:prstGeom>
          <a:noFill/>
          <a:ln/>
        </p:spPr>
        <p:txBody>
          <a:bodyPr wrap="square" lIns="0" tIns="0" rIns="0" bIns="0" rtlCol="0" anchor="ctr"/>
          <a:lstStyle/>
          <a:p>
            <a:pPr algn="l" indent="0" marL="0">
              <a:buNone/>
            </a:pPr>
            <a:r>
              <a:rPr lang="en-US" altLang="en-US" sz="1500" b="1" dirty="0">
                <a:solidFill>
                  <a:schemeClr val="accent2"/>
                </a:solidFill>
                <a:latin typeface="Arial" pitchFamily="34" charset="0"/>
                <a:ea typeface="Arial" pitchFamily="34" charset="-122"/>
                <a:cs typeface="Arial" pitchFamily="34" charset="-120"/>
              </a:rPr>
              <a:t>Verses 1 – 3</a:t>
            </a:r>
            <a:endParaRPr lang="en-US" sz="1500" dirty="0"/>
          </a:p>
        </p:txBody>
      </p:sp>
      <p:sp>
        <p:nvSpPr>
          <p:cNvPr id="4" name="Text 2"/>
          <p:cNvSpPr txBox="1"/>
          <p:nvPr/>
        </p:nvSpPr>
        <p:spPr>
          <a:xfrm>
            <a:off x="8732520" y="548640"/>
            <a:ext cx="2651760" cy="384048"/>
          </a:xfrm>
          <a:prstGeom prst="rect">
            <a:avLst/>
          </a:prstGeom>
          <a:noFill/>
          <a:ln/>
        </p:spPr>
        <p:txBody>
          <a:bodyPr wrap="square" lIns="0" tIns="0" rIns="0" bIns="0" rtlCol="0" anchor="ctr"/>
          <a:lstStyle/>
          <a:p>
            <a:pPr algn="r" indent="0" marL="0">
              <a:buNone/>
            </a:pPr>
            <a:r>
              <a:rPr lang="en-US" altLang="en-US" sz="1300" i="1" dirty="0">
                <a:solidFill>
                  <a:schemeClr val="accent4"/>
                </a:solidFill>
                <a:latin typeface="Arial" pitchFamily="34" charset="0"/>
                <a:ea typeface="Arial" pitchFamily="34" charset="-122"/>
                <a:cs typeface="Arial" pitchFamily="34" charset="-120"/>
              </a:rPr>
              <a:t>Ibn Kathir, simplified</a:t>
            </a:r>
            <a:endParaRPr lang="en-US" sz="1300" dirty="0"/>
          </a:p>
        </p:txBody>
      </p:sp>
      <p:sp>
        <p:nvSpPr>
          <p:cNvPr id="5" name="Shape 3"/>
          <p:cNvSpPr/>
          <p:nvPr/>
        </p:nvSpPr>
        <p:spPr>
          <a:xfrm>
            <a:off x="713232" y="1835658"/>
            <a:ext cx="548640" cy="548640"/>
          </a:xfrm>
          <a:prstGeom prst="star8">
            <a:avLst/>
          </a:prstGeom>
          <a:solidFill>
            <a:schemeClr val="accent2"/>
          </a:solidFill>
          <a:ln/>
        </p:spPr>
      </p:sp>
      <p:sp>
        <p:nvSpPr>
          <p:cNvPr id="6" name="Shape 4"/>
          <p:cNvSpPr/>
          <p:nvPr/>
        </p:nvSpPr>
        <p:spPr>
          <a:xfrm>
            <a:off x="822960" y="1945386"/>
            <a:ext cx="329184" cy="329184"/>
          </a:xfrm>
          <a:prstGeom prst="ellipse">
            <a:avLst/>
          </a:prstGeom>
          <a:solidFill>
            <a:schemeClr val="bg2"/>
          </a:solidFill>
          <a:ln w="19050">
            <a:solidFill>
              <a:schemeClr val="tx2"/>
            </a:solidFill>
            <a:prstDash val="solid"/>
          </a:ln>
        </p:spPr>
      </p:sp>
      <p:sp>
        <p:nvSpPr>
          <p:cNvPr id="7" name="Text 5"/>
          <p:cNvSpPr txBox="1"/>
          <p:nvPr/>
        </p:nvSpPr>
        <p:spPr>
          <a:xfrm>
            <a:off x="713232" y="1835658"/>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1</a:t>
            </a:r>
            <a:endParaRPr lang="en-US" sz="1600" dirty="0"/>
          </a:p>
        </p:txBody>
      </p:sp>
      <p:sp>
        <p:nvSpPr>
          <p:cNvPr id="8" name="Text 6"/>
          <p:cNvSpPr txBox="1"/>
          <p:nvPr/>
        </p:nvSpPr>
        <p:spPr>
          <a:xfrm>
            <a:off x="1444752" y="1817370"/>
            <a:ext cx="10012680" cy="992124"/>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الم</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Separate letters, pointing to the miracle of the Qur'an.</a:t>
            </a:r>
            <a:endParaRPr lang="en-US" sz="3000" dirty="0"/>
          </a:p>
        </p:txBody>
      </p:sp>
      <p:sp>
        <p:nvSpPr>
          <p:cNvPr id="9" name="Shape 7"/>
          <p:cNvSpPr/>
          <p:nvPr/>
        </p:nvSpPr>
        <p:spPr>
          <a:xfrm>
            <a:off x="1444752" y="2996946"/>
            <a:ext cx="8641080" cy="0"/>
          </a:xfrm>
          <a:prstGeom prst="line">
            <a:avLst/>
          </a:prstGeom>
          <a:noFill/>
          <a:ln w="9525">
            <a:solidFill>
              <a:schemeClr val="accent2"/>
            </a:solidFill>
            <a:prstDash val="dash"/>
          </a:ln>
        </p:spPr>
      </p:sp>
      <p:sp>
        <p:nvSpPr>
          <p:cNvPr id="10" name="Shape 8"/>
          <p:cNvSpPr/>
          <p:nvPr/>
        </p:nvSpPr>
        <p:spPr>
          <a:xfrm>
            <a:off x="713232" y="3230118"/>
            <a:ext cx="548640" cy="548640"/>
          </a:xfrm>
          <a:prstGeom prst="star8">
            <a:avLst/>
          </a:prstGeom>
          <a:solidFill>
            <a:schemeClr val="accent2"/>
          </a:solidFill>
          <a:ln/>
        </p:spPr>
      </p:sp>
      <p:sp>
        <p:nvSpPr>
          <p:cNvPr id="11" name="Shape 9"/>
          <p:cNvSpPr/>
          <p:nvPr/>
        </p:nvSpPr>
        <p:spPr>
          <a:xfrm>
            <a:off x="822960" y="3339846"/>
            <a:ext cx="329184" cy="329184"/>
          </a:xfrm>
          <a:prstGeom prst="ellipse">
            <a:avLst/>
          </a:prstGeom>
          <a:solidFill>
            <a:schemeClr val="bg2"/>
          </a:solidFill>
          <a:ln w="19050">
            <a:solidFill>
              <a:schemeClr val="tx2"/>
            </a:solidFill>
            <a:prstDash val="solid"/>
          </a:ln>
        </p:spPr>
      </p:sp>
      <p:sp>
        <p:nvSpPr>
          <p:cNvPr id="12" name="Text 10"/>
          <p:cNvSpPr txBox="1"/>
          <p:nvPr/>
        </p:nvSpPr>
        <p:spPr>
          <a:xfrm>
            <a:off x="713232" y="3230118"/>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2</a:t>
            </a:r>
            <a:endParaRPr lang="en-US" sz="1600" dirty="0"/>
          </a:p>
        </p:txBody>
      </p:sp>
      <p:sp>
        <p:nvSpPr>
          <p:cNvPr id="13" name="Text 11"/>
          <p:cNvSpPr txBox="1"/>
          <p:nvPr/>
        </p:nvSpPr>
        <p:spPr>
          <a:xfrm>
            <a:off x="1444752" y="3211830"/>
            <a:ext cx="10012680" cy="992124"/>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تِلْكَ ءَايَٰتُ الْكِتَٰبِ الْحَكِيمِ</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These are the verses of the wise Book,</a:t>
            </a:r>
            <a:endParaRPr lang="en-US" sz="3000" dirty="0"/>
          </a:p>
        </p:txBody>
      </p:sp>
      <p:sp>
        <p:nvSpPr>
          <p:cNvPr id="14" name="Shape 12"/>
          <p:cNvSpPr/>
          <p:nvPr/>
        </p:nvSpPr>
        <p:spPr>
          <a:xfrm>
            <a:off x="1444752" y="4391406"/>
            <a:ext cx="8641080" cy="0"/>
          </a:xfrm>
          <a:prstGeom prst="line">
            <a:avLst/>
          </a:prstGeom>
          <a:noFill/>
          <a:ln w="9525">
            <a:solidFill>
              <a:schemeClr val="accent2"/>
            </a:solidFill>
            <a:prstDash val="dash"/>
          </a:ln>
        </p:spPr>
      </p:sp>
      <p:sp>
        <p:nvSpPr>
          <p:cNvPr id="15" name="Shape 13"/>
          <p:cNvSpPr/>
          <p:nvPr/>
        </p:nvSpPr>
        <p:spPr>
          <a:xfrm>
            <a:off x="713232" y="4624578"/>
            <a:ext cx="548640" cy="548640"/>
          </a:xfrm>
          <a:prstGeom prst="star8">
            <a:avLst/>
          </a:prstGeom>
          <a:solidFill>
            <a:schemeClr val="accent2"/>
          </a:solidFill>
          <a:ln/>
        </p:spPr>
      </p:sp>
      <p:sp>
        <p:nvSpPr>
          <p:cNvPr id="16" name="Shape 14"/>
          <p:cNvSpPr/>
          <p:nvPr/>
        </p:nvSpPr>
        <p:spPr>
          <a:xfrm>
            <a:off x="822960" y="4734306"/>
            <a:ext cx="329184" cy="329184"/>
          </a:xfrm>
          <a:prstGeom prst="ellipse">
            <a:avLst/>
          </a:prstGeom>
          <a:solidFill>
            <a:schemeClr val="bg2"/>
          </a:solidFill>
          <a:ln w="19050">
            <a:solidFill>
              <a:schemeClr val="tx2"/>
            </a:solidFill>
            <a:prstDash val="solid"/>
          </a:ln>
        </p:spPr>
      </p:sp>
      <p:sp>
        <p:nvSpPr>
          <p:cNvPr id="17" name="Text 15"/>
          <p:cNvSpPr txBox="1"/>
          <p:nvPr/>
        </p:nvSpPr>
        <p:spPr>
          <a:xfrm>
            <a:off x="713232" y="4624578"/>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3</a:t>
            </a:r>
            <a:endParaRPr lang="en-US" sz="1600" dirty="0"/>
          </a:p>
        </p:txBody>
      </p:sp>
      <p:sp>
        <p:nvSpPr>
          <p:cNvPr id="18" name="Text 16"/>
          <p:cNvSpPr txBox="1"/>
          <p:nvPr/>
        </p:nvSpPr>
        <p:spPr>
          <a:xfrm>
            <a:off x="1444752" y="4606290"/>
            <a:ext cx="10012680" cy="992124"/>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هُدًى وَرَحْمَةً لِّلْمُحْسِنِينَ</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guidance and mercy for those who do good,</a:t>
            </a:r>
            <a:endParaRPr lang="en-US" sz="3000" dirty="0"/>
          </a:p>
        </p:txBody>
      </p:sp>
      <p:sp>
        <p:nvSpPr>
          <p:cNvPr id="25" name="Slide Number Placeholder 0"/>
          <p:cNvSpPr>
            <a:spLocks noGrp="1"/>
          </p:cNvSpPr>
          <p:nvPr>
            <p:ph type="sldNum" sz="quarter" idx="4294967295"/>
          </p:nvPr>
        </p:nvSpPr>
        <p:spPr>
          <a:xfrm>
            <a:off x="1115568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35</a:t>
            </a:fld>
            <a:endParaRPr lang="en-US"/>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name="Slide 36">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algn="ctr" indent="0" marL="0">
              <a:buNone/>
            </a:pPr>
            <a:r>
              <a:rPr lang="en-US" sz="2400" b="1" dirty="0">
                <a:solidFill>
                  <a:schemeClr val="bg1"/>
                </a:solidFill>
                <a:latin typeface="Georgia" pitchFamily="34" charset="0"/>
                <a:ea typeface="Georgia" pitchFamily="34" charset="-122"/>
                <a:cs typeface="Georgia" pitchFamily="34" charset="-120"/>
              </a:rPr>
              <a:t>Surah Luqman</a:t>
            </a:r>
            <a:endParaRPr lang="en-US" sz="2400" dirty="0"/>
          </a:p>
        </p:txBody>
      </p:sp>
      <p:sp>
        <p:nvSpPr>
          <p:cNvPr id="3" name="Text 1"/>
          <p:cNvSpPr txBox="1"/>
          <p:nvPr/>
        </p:nvSpPr>
        <p:spPr>
          <a:xfrm>
            <a:off x="777240" y="548640"/>
            <a:ext cx="2651760" cy="384048"/>
          </a:xfrm>
          <a:prstGeom prst="rect">
            <a:avLst/>
          </a:prstGeom>
          <a:noFill/>
          <a:ln/>
        </p:spPr>
        <p:txBody>
          <a:bodyPr wrap="square" lIns="0" tIns="0" rIns="0" bIns="0" rtlCol="0" anchor="ctr"/>
          <a:lstStyle/>
          <a:p>
            <a:pPr algn="l" indent="0" marL="0">
              <a:buNone/>
            </a:pPr>
            <a:r>
              <a:rPr lang="en-US" altLang="en-US" sz="1500" b="1" dirty="0">
                <a:solidFill>
                  <a:schemeClr val="accent2"/>
                </a:solidFill>
                <a:latin typeface="Arial" pitchFamily="34" charset="0"/>
                <a:ea typeface="Arial" pitchFamily="34" charset="-122"/>
                <a:cs typeface="Arial" pitchFamily="34" charset="-120"/>
              </a:rPr>
              <a:t>Verses 4 – 6</a:t>
            </a:r>
            <a:endParaRPr lang="en-US" sz="1500" dirty="0"/>
          </a:p>
        </p:txBody>
      </p:sp>
      <p:sp>
        <p:nvSpPr>
          <p:cNvPr id="4" name="Text 2"/>
          <p:cNvSpPr txBox="1"/>
          <p:nvPr/>
        </p:nvSpPr>
        <p:spPr>
          <a:xfrm>
            <a:off x="8732520" y="548640"/>
            <a:ext cx="2651760" cy="384048"/>
          </a:xfrm>
          <a:prstGeom prst="rect">
            <a:avLst/>
          </a:prstGeom>
          <a:noFill/>
          <a:ln/>
        </p:spPr>
        <p:txBody>
          <a:bodyPr wrap="square" lIns="0" tIns="0" rIns="0" bIns="0" rtlCol="0" anchor="ctr"/>
          <a:lstStyle/>
          <a:p>
            <a:pPr algn="r" indent="0" marL="0">
              <a:buNone/>
            </a:pPr>
            <a:r>
              <a:rPr lang="en-US" altLang="en-US" sz="1300" i="1" dirty="0">
                <a:solidFill>
                  <a:schemeClr val="accent4"/>
                </a:solidFill>
                <a:latin typeface="Arial" pitchFamily="34" charset="0"/>
                <a:ea typeface="Arial" pitchFamily="34" charset="-122"/>
                <a:cs typeface="Arial" pitchFamily="34" charset="-120"/>
              </a:rPr>
              <a:t>Ibn Kathir, simplified</a:t>
            </a:r>
            <a:endParaRPr lang="en-US" sz="1300" dirty="0"/>
          </a:p>
        </p:txBody>
      </p:sp>
      <p:sp>
        <p:nvSpPr>
          <p:cNvPr id="5" name="Shape 3"/>
          <p:cNvSpPr/>
          <p:nvPr/>
        </p:nvSpPr>
        <p:spPr>
          <a:xfrm>
            <a:off x="713232" y="1449324"/>
            <a:ext cx="548640" cy="548640"/>
          </a:xfrm>
          <a:prstGeom prst="star8">
            <a:avLst/>
          </a:prstGeom>
          <a:solidFill>
            <a:schemeClr val="accent2"/>
          </a:solidFill>
          <a:ln/>
        </p:spPr>
      </p:sp>
      <p:sp>
        <p:nvSpPr>
          <p:cNvPr id="6" name="Shape 4"/>
          <p:cNvSpPr/>
          <p:nvPr/>
        </p:nvSpPr>
        <p:spPr>
          <a:xfrm>
            <a:off x="822960" y="1559052"/>
            <a:ext cx="329184" cy="329184"/>
          </a:xfrm>
          <a:prstGeom prst="ellipse">
            <a:avLst/>
          </a:prstGeom>
          <a:solidFill>
            <a:schemeClr val="bg2"/>
          </a:solidFill>
          <a:ln w="19050">
            <a:solidFill>
              <a:schemeClr val="tx2"/>
            </a:solidFill>
            <a:prstDash val="solid"/>
          </a:ln>
        </p:spPr>
      </p:sp>
      <p:sp>
        <p:nvSpPr>
          <p:cNvPr id="7" name="Text 5"/>
          <p:cNvSpPr txBox="1"/>
          <p:nvPr/>
        </p:nvSpPr>
        <p:spPr>
          <a:xfrm>
            <a:off x="713232" y="1449324"/>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4</a:t>
            </a:r>
            <a:endParaRPr lang="en-US" sz="1600" dirty="0"/>
          </a:p>
        </p:txBody>
      </p:sp>
      <p:sp>
        <p:nvSpPr>
          <p:cNvPr id="8" name="Text 6"/>
          <p:cNvSpPr txBox="1"/>
          <p:nvPr/>
        </p:nvSpPr>
        <p:spPr>
          <a:xfrm>
            <a:off x="1444752" y="1431036"/>
            <a:ext cx="10012680" cy="992124"/>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الَّذِينَ يُقِيمُونَ الصَّلَوٰةَ وَيُؤْتُونَ الزَّكَوٰةَ وَهُم بِالْأخِرَةِ هُمْ يُوقِنُونَ</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who establish the prayer, give the zakah, and are certain of the Hereafter.</a:t>
            </a:r>
            <a:endParaRPr lang="en-US" sz="3000" dirty="0"/>
          </a:p>
        </p:txBody>
      </p:sp>
      <p:sp>
        <p:nvSpPr>
          <p:cNvPr id="9" name="Shape 7"/>
          <p:cNvSpPr/>
          <p:nvPr/>
        </p:nvSpPr>
        <p:spPr>
          <a:xfrm>
            <a:off x="1444752" y="2601468"/>
            <a:ext cx="8641080" cy="0"/>
          </a:xfrm>
          <a:prstGeom prst="line">
            <a:avLst/>
          </a:prstGeom>
          <a:noFill/>
          <a:ln w="9525">
            <a:solidFill>
              <a:schemeClr val="accent2"/>
            </a:solidFill>
            <a:prstDash val="dash"/>
          </a:ln>
        </p:spPr>
      </p:sp>
      <p:sp>
        <p:nvSpPr>
          <p:cNvPr id="10" name="Shape 8"/>
          <p:cNvSpPr/>
          <p:nvPr/>
        </p:nvSpPr>
        <p:spPr>
          <a:xfrm>
            <a:off x="713232" y="2825496"/>
            <a:ext cx="548640" cy="548640"/>
          </a:xfrm>
          <a:prstGeom prst="star8">
            <a:avLst/>
          </a:prstGeom>
          <a:solidFill>
            <a:schemeClr val="accent2"/>
          </a:solidFill>
          <a:ln/>
        </p:spPr>
      </p:sp>
      <p:sp>
        <p:nvSpPr>
          <p:cNvPr id="11" name="Shape 9"/>
          <p:cNvSpPr/>
          <p:nvPr/>
        </p:nvSpPr>
        <p:spPr>
          <a:xfrm>
            <a:off x="822960" y="2935224"/>
            <a:ext cx="329184" cy="329184"/>
          </a:xfrm>
          <a:prstGeom prst="ellipse">
            <a:avLst/>
          </a:prstGeom>
          <a:solidFill>
            <a:schemeClr val="bg2"/>
          </a:solidFill>
          <a:ln w="19050">
            <a:solidFill>
              <a:schemeClr val="tx2"/>
            </a:solidFill>
            <a:prstDash val="solid"/>
          </a:ln>
        </p:spPr>
      </p:sp>
      <p:sp>
        <p:nvSpPr>
          <p:cNvPr id="12" name="Text 10"/>
          <p:cNvSpPr txBox="1"/>
          <p:nvPr/>
        </p:nvSpPr>
        <p:spPr>
          <a:xfrm>
            <a:off x="713232" y="2825496"/>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5</a:t>
            </a:r>
            <a:endParaRPr lang="en-US" sz="1600" dirty="0"/>
          </a:p>
        </p:txBody>
      </p:sp>
      <p:sp>
        <p:nvSpPr>
          <p:cNvPr id="13" name="Text 11"/>
          <p:cNvSpPr txBox="1"/>
          <p:nvPr/>
        </p:nvSpPr>
        <p:spPr>
          <a:xfrm>
            <a:off x="1444752" y="2807208"/>
            <a:ext cx="10012680" cy="992124"/>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أُوْلَـٰئِكَ عَلَىٰ هُدًى مِّن رَّبِّهِمْ وَأُوْلَـٰئِكَ هُمُ الْمُفْلِحُونَ</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They are on guidance from their Lord, and they are the successful.</a:t>
            </a:r>
            <a:endParaRPr lang="en-US" sz="3000" dirty="0"/>
          </a:p>
        </p:txBody>
      </p:sp>
      <p:sp>
        <p:nvSpPr>
          <p:cNvPr id="14" name="Shape 12"/>
          <p:cNvSpPr/>
          <p:nvPr/>
        </p:nvSpPr>
        <p:spPr>
          <a:xfrm>
            <a:off x="1444752" y="3977640"/>
            <a:ext cx="8641080" cy="0"/>
          </a:xfrm>
          <a:prstGeom prst="line">
            <a:avLst/>
          </a:prstGeom>
          <a:noFill/>
          <a:ln w="9525">
            <a:solidFill>
              <a:schemeClr val="accent2"/>
            </a:solidFill>
            <a:prstDash val="dash"/>
          </a:ln>
        </p:spPr>
      </p:sp>
      <p:sp>
        <p:nvSpPr>
          <p:cNvPr id="15" name="Shape 13"/>
          <p:cNvSpPr/>
          <p:nvPr/>
        </p:nvSpPr>
        <p:spPr>
          <a:xfrm>
            <a:off x="713232" y="4201668"/>
            <a:ext cx="548640" cy="548640"/>
          </a:xfrm>
          <a:prstGeom prst="star8">
            <a:avLst/>
          </a:prstGeom>
          <a:solidFill>
            <a:schemeClr val="accent2"/>
          </a:solidFill>
          <a:ln/>
        </p:spPr>
      </p:sp>
      <p:sp>
        <p:nvSpPr>
          <p:cNvPr id="16" name="Shape 14"/>
          <p:cNvSpPr/>
          <p:nvPr/>
        </p:nvSpPr>
        <p:spPr>
          <a:xfrm>
            <a:off x="822960" y="4311396"/>
            <a:ext cx="329184" cy="329184"/>
          </a:xfrm>
          <a:prstGeom prst="ellipse">
            <a:avLst/>
          </a:prstGeom>
          <a:solidFill>
            <a:schemeClr val="bg2"/>
          </a:solidFill>
          <a:ln w="19050">
            <a:solidFill>
              <a:schemeClr val="tx2"/>
            </a:solidFill>
            <a:prstDash val="solid"/>
          </a:ln>
        </p:spPr>
      </p:sp>
      <p:sp>
        <p:nvSpPr>
          <p:cNvPr id="17" name="Text 15"/>
          <p:cNvSpPr txBox="1"/>
          <p:nvPr/>
        </p:nvSpPr>
        <p:spPr>
          <a:xfrm>
            <a:off x="713232" y="4201668"/>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6</a:t>
            </a:r>
            <a:endParaRPr lang="en-US" sz="1600" dirty="0"/>
          </a:p>
        </p:txBody>
      </p:sp>
      <p:sp>
        <p:nvSpPr>
          <p:cNvPr id="18" name="Text 16"/>
          <p:cNvSpPr txBox="1"/>
          <p:nvPr/>
        </p:nvSpPr>
        <p:spPr>
          <a:xfrm>
            <a:off x="1444752" y="4183380"/>
            <a:ext cx="10012680" cy="1801368"/>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وَمِنَ النَّاسِ مَن يَشْتَرِي لَهْوَ الْحَدِيثِ لِيُضِلَّ عَن سَبِيلِ اللَّهِ بِغَيْرِ عِلْمٍ وَيَتَّخِذَهَا هُزُوًا أُوْلَـٰئِكَ لَهُمْ عَذَابٌ مُّهِينٌ</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Among people is one who buys idle, useless talk, like music, to mislead people from Allah's religion without knowledge and to make fun of Allah's verses. They will have a humiliating punishment.</a:t>
            </a:r>
            <a:endParaRPr lang="en-US" sz="3000" dirty="0"/>
          </a:p>
        </p:txBody>
      </p:sp>
      <p:sp>
        <p:nvSpPr>
          <p:cNvPr id="25" name="Slide Number Placeholder 0"/>
          <p:cNvSpPr>
            <a:spLocks noGrp="1"/>
          </p:cNvSpPr>
          <p:nvPr>
            <p:ph type="sldNum" sz="quarter" idx="4294967295"/>
          </p:nvPr>
        </p:nvSpPr>
        <p:spPr>
          <a:xfrm>
            <a:off x="1115568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36</a:t>
            </a:fld>
            <a:endParaRPr lang="en-US"/>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name="Slide 37">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algn="ctr" indent="0" marL="0">
              <a:buNone/>
            </a:pPr>
            <a:r>
              <a:rPr lang="en-US" sz="2400" b="1" dirty="0">
                <a:solidFill>
                  <a:schemeClr val="bg1"/>
                </a:solidFill>
                <a:latin typeface="Georgia" pitchFamily="34" charset="0"/>
                <a:ea typeface="Georgia" pitchFamily="34" charset="-122"/>
                <a:cs typeface="Georgia" pitchFamily="34" charset="-120"/>
              </a:rPr>
              <a:t>Surah Luqman</a:t>
            </a:r>
            <a:endParaRPr lang="en-US" sz="2400" dirty="0"/>
          </a:p>
        </p:txBody>
      </p:sp>
      <p:sp>
        <p:nvSpPr>
          <p:cNvPr id="3" name="Text 1"/>
          <p:cNvSpPr txBox="1"/>
          <p:nvPr/>
        </p:nvSpPr>
        <p:spPr>
          <a:xfrm>
            <a:off x="777240" y="548640"/>
            <a:ext cx="2651760" cy="384048"/>
          </a:xfrm>
          <a:prstGeom prst="rect">
            <a:avLst/>
          </a:prstGeom>
          <a:noFill/>
          <a:ln/>
        </p:spPr>
        <p:txBody>
          <a:bodyPr wrap="square" lIns="0" tIns="0" rIns="0" bIns="0" rtlCol="0" anchor="ctr"/>
          <a:lstStyle/>
          <a:p>
            <a:pPr algn="l" indent="0" marL="0">
              <a:buNone/>
            </a:pPr>
            <a:r>
              <a:rPr lang="en-US" altLang="en-US" sz="1500" b="1" dirty="0">
                <a:solidFill>
                  <a:schemeClr val="accent2"/>
                </a:solidFill>
                <a:latin typeface="Arial" pitchFamily="34" charset="0"/>
                <a:ea typeface="Arial" pitchFamily="34" charset="-122"/>
                <a:cs typeface="Arial" pitchFamily="34" charset="-120"/>
              </a:rPr>
              <a:t>Verses 7 – 9</a:t>
            </a:r>
            <a:endParaRPr lang="en-US" sz="1500" dirty="0"/>
          </a:p>
        </p:txBody>
      </p:sp>
      <p:sp>
        <p:nvSpPr>
          <p:cNvPr id="4" name="Text 2"/>
          <p:cNvSpPr txBox="1"/>
          <p:nvPr/>
        </p:nvSpPr>
        <p:spPr>
          <a:xfrm>
            <a:off x="8732520" y="548640"/>
            <a:ext cx="2651760" cy="384048"/>
          </a:xfrm>
          <a:prstGeom prst="rect">
            <a:avLst/>
          </a:prstGeom>
          <a:noFill/>
          <a:ln/>
        </p:spPr>
        <p:txBody>
          <a:bodyPr wrap="square" lIns="0" tIns="0" rIns="0" bIns="0" rtlCol="0" anchor="ctr"/>
          <a:lstStyle/>
          <a:p>
            <a:pPr algn="r" indent="0" marL="0">
              <a:buNone/>
            </a:pPr>
            <a:r>
              <a:rPr lang="en-US" altLang="en-US" sz="1300" i="1" dirty="0">
                <a:solidFill>
                  <a:schemeClr val="accent4"/>
                </a:solidFill>
                <a:latin typeface="Arial" pitchFamily="34" charset="0"/>
                <a:ea typeface="Arial" pitchFamily="34" charset="-122"/>
                <a:cs typeface="Arial" pitchFamily="34" charset="-120"/>
              </a:rPr>
              <a:t>Ibn Kathir, simplified</a:t>
            </a:r>
            <a:endParaRPr lang="en-US" sz="1300" dirty="0"/>
          </a:p>
        </p:txBody>
      </p:sp>
      <p:sp>
        <p:nvSpPr>
          <p:cNvPr id="5" name="Shape 3"/>
          <p:cNvSpPr/>
          <p:nvPr/>
        </p:nvSpPr>
        <p:spPr>
          <a:xfrm>
            <a:off x="713232" y="1449324"/>
            <a:ext cx="548640" cy="548640"/>
          </a:xfrm>
          <a:prstGeom prst="star8">
            <a:avLst/>
          </a:prstGeom>
          <a:solidFill>
            <a:schemeClr val="accent2"/>
          </a:solidFill>
          <a:ln/>
        </p:spPr>
      </p:sp>
      <p:sp>
        <p:nvSpPr>
          <p:cNvPr id="6" name="Shape 4"/>
          <p:cNvSpPr/>
          <p:nvPr/>
        </p:nvSpPr>
        <p:spPr>
          <a:xfrm>
            <a:off x="822960" y="1559052"/>
            <a:ext cx="329184" cy="329184"/>
          </a:xfrm>
          <a:prstGeom prst="ellipse">
            <a:avLst/>
          </a:prstGeom>
          <a:solidFill>
            <a:schemeClr val="bg2"/>
          </a:solidFill>
          <a:ln w="19050">
            <a:solidFill>
              <a:schemeClr val="tx2"/>
            </a:solidFill>
            <a:prstDash val="solid"/>
          </a:ln>
        </p:spPr>
      </p:sp>
      <p:sp>
        <p:nvSpPr>
          <p:cNvPr id="7" name="Text 5"/>
          <p:cNvSpPr txBox="1"/>
          <p:nvPr/>
        </p:nvSpPr>
        <p:spPr>
          <a:xfrm>
            <a:off x="713232" y="1449324"/>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7</a:t>
            </a:r>
            <a:endParaRPr lang="en-US" sz="1600" dirty="0"/>
          </a:p>
        </p:txBody>
      </p:sp>
      <p:sp>
        <p:nvSpPr>
          <p:cNvPr id="8" name="Text 6"/>
          <p:cNvSpPr txBox="1"/>
          <p:nvPr/>
        </p:nvSpPr>
        <p:spPr>
          <a:xfrm>
            <a:off x="1444752" y="1431036"/>
            <a:ext cx="10012680" cy="1801368"/>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وَإِذَا تُتْلَىٰ عَلَيْهِ ءَايَٰتُنَا وَلَّىٰ مُسْتَكْبِرًا كَأَن لَّمْ يَسْمَعْهَا كَأَنَّ فِي أُذُنَيْهِ وَقْرًا فَبَشِّرْهُ بِعَذَابٍ أَلِيمٍ</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When Our verses are recited to him, he turns away arrogantly as if he did not hear them, as if there were deafness in his ears. So give him news of a painful punishment.</a:t>
            </a:r>
            <a:endParaRPr lang="en-US" sz="3000" dirty="0"/>
          </a:p>
        </p:txBody>
      </p:sp>
      <p:sp>
        <p:nvSpPr>
          <p:cNvPr id="9" name="Shape 7"/>
          <p:cNvSpPr/>
          <p:nvPr/>
        </p:nvSpPr>
        <p:spPr>
          <a:xfrm>
            <a:off x="1444752" y="3410712"/>
            <a:ext cx="8641080" cy="0"/>
          </a:xfrm>
          <a:prstGeom prst="line">
            <a:avLst/>
          </a:prstGeom>
          <a:noFill/>
          <a:ln w="9525">
            <a:solidFill>
              <a:schemeClr val="accent2"/>
            </a:solidFill>
            <a:prstDash val="dash"/>
          </a:ln>
        </p:spPr>
      </p:sp>
      <p:sp>
        <p:nvSpPr>
          <p:cNvPr id="10" name="Shape 8"/>
          <p:cNvSpPr/>
          <p:nvPr/>
        </p:nvSpPr>
        <p:spPr>
          <a:xfrm>
            <a:off x="713232" y="3634740"/>
            <a:ext cx="548640" cy="548640"/>
          </a:xfrm>
          <a:prstGeom prst="star8">
            <a:avLst/>
          </a:prstGeom>
          <a:solidFill>
            <a:schemeClr val="accent2"/>
          </a:solidFill>
          <a:ln/>
        </p:spPr>
      </p:sp>
      <p:sp>
        <p:nvSpPr>
          <p:cNvPr id="11" name="Shape 9"/>
          <p:cNvSpPr/>
          <p:nvPr/>
        </p:nvSpPr>
        <p:spPr>
          <a:xfrm>
            <a:off x="822960" y="3744468"/>
            <a:ext cx="329184" cy="329184"/>
          </a:xfrm>
          <a:prstGeom prst="ellipse">
            <a:avLst/>
          </a:prstGeom>
          <a:solidFill>
            <a:schemeClr val="bg2"/>
          </a:solidFill>
          <a:ln w="19050">
            <a:solidFill>
              <a:schemeClr val="tx2"/>
            </a:solidFill>
            <a:prstDash val="solid"/>
          </a:ln>
        </p:spPr>
      </p:sp>
      <p:sp>
        <p:nvSpPr>
          <p:cNvPr id="12" name="Text 10"/>
          <p:cNvSpPr txBox="1"/>
          <p:nvPr/>
        </p:nvSpPr>
        <p:spPr>
          <a:xfrm>
            <a:off x="713232" y="3634740"/>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8</a:t>
            </a:r>
            <a:endParaRPr lang="en-US" sz="1600" dirty="0"/>
          </a:p>
        </p:txBody>
      </p:sp>
      <p:sp>
        <p:nvSpPr>
          <p:cNvPr id="13" name="Text 11"/>
          <p:cNvSpPr txBox="1"/>
          <p:nvPr/>
        </p:nvSpPr>
        <p:spPr>
          <a:xfrm>
            <a:off x="1444752" y="3616452"/>
            <a:ext cx="10012680" cy="992124"/>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إِنَّ الَّذِينَ ءَامَنُواْ وَعَمِلُواْ الصَّـٰلِحَٰتِ لَهُمْ جَنَّـٰتُ النَّعِيمِ</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The righteous believers will have Gardens of Bliss,</a:t>
            </a:r>
            <a:endParaRPr lang="en-US" sz="3000" dirty="0"/>
          </a:p>
        </p:txBody>
      </p:sp>
      <p:sp>
        <p:nvSpPr>
          <p:cNvPr id="14" name="Shape 12"/>
          <p:cNvSpPr/>
          <p:nvPr/>
        </p:nvSpPr>
        <p:spPr>
          <a:xfrm>
            <a:off x="1444752" y="4786884"/>
            <a:ext cx="8641080" cy="0"/>
          </a:xfrm>
          <a:prstGeom prst="line">
            <a:avLst/>
          </a:prstGeom>
          <a:noFill/>
          <a:ln w="9525">
            <a:solidFill>
              <a:schemeClr val="accent2"/>
            </a:solidFill>
            <a:prstDash val="dash"/>
          </a:ln>
        </p:spPr>
      </p:sp>
      <p:sp>
        <p:nvSpPr>
          <p:cNvPr id="15" name="Shape 13"/>
          <p:cNvSpPr/>
          <p:nvPr/>
        </p:nvSpPr>
        <p:spPr>
          <a:xfrm>
            <a:off x="713232" y="5010912"/>
            <a:ext cx="548640" cy="548640"/>
          </a:xfrm>
          <a:prstGeom prst="star8">
            <a:avLst/>
          </a:prstGeom>
          <a:solidFill>
            <a:schemeClr val="accent2"/>
          </a:solidFill>
          <a:ln/>
        </p:spPr>
      </p:sp>
      <p:sp>
        <p:nvSpPr>
          <p:cNvPr id="16" name="Shape 14"/>
          <p:cNvSpPr/>
          <p:nvPr/>
        </p:nvSpPr>
        <p:spPr>
          <a:xfrm>
            <a:off x="822960" y="5120640"/>
            <a:ext cx="329184" cy="329184"/>
          </a:xfrm>
          <a:prstGeom prst="ellipse">
            <a:avLst/>
          </a:prstGeom>
          <a:solidFill>
            <a:schemeClr val="bg2"/>
          </a:solidFill>
          <a:ln w="19050">
            <a:solidFill>
              <a:schemeClr val="tx2"/>
            </a:solidFill>
            <a:prstDash val="solid"/>
          </a:ln>
        </p:spPr>
      </p:sp>
      <p:sp>
        <p:nvSpPr>
          <p:cNvPr id="17" name="Text 15"/>
          <p:cNvSpPr txBox="1"/>
          <p:nvPr/>
        </p:nvSpPr>
        <p:spPr>
          <a:xfrm>
            <a:off x="713232" y="5010912"/>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9</a:t>
            </a:r>
            <a:endParaRPr lang="en-US" sz="1600" dirty="0"/>
          </a:p>
        </p:txBody>
      </p:sp>
      <p:sp>
        <p:nvSpPr>
          <p:cNvPr id="18" name="Text 16"/>
          <p:cNvSpPr txBox="1"/>
          <p:nvPr/>
        </p:nvSpPr>
        <p:spPr>
          <a:xfrm>
            <a:off x="1444752" y="4992624"/>
            <a:ext cx="10012680" cy="992124"/>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خَٰلِدِينَ فِيهَا وَعْدَ اللَّهِ حَقًّا وَهُوَ الْعَزِيزُ الْحَكِيمُ</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staying there forever, a true promise from Allah. He is the Almighty, the All-Wise.</a:t>
            </a:r>
            <a:endParaRPr lang="en-US" sz="3000" dirty="0"/>
          </a:p>
        </p:txBody>
      </p:sp>
      <p:sp>
        <p:nvSpPr>
          <p:cNvPr id="25" name="Slide Number Placeholder 0"/>
          <p:cNvSpPr>
            <a:spLocks noGrp="1"/>
          </p:cNvSpPr>
          <p:nvPr>
            <p:ph type="sldNum" sz="quarter" idx="4294967295"/>
          </p:nvPr>
        </p:nvSpPr>
        <p:spPr>
          <a:xfrm>
            <a:off x="1115568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37</a:t>
            </a:fld>
            <a:endParaRPr lang="en-US"/>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name="Slide 38">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algn="ctr" indent="0" marL="0">
              <a:buNone/>
            </a:pPr>
            <a:r>
              <a:rPr lang="en-US" sz="2400" b="1" dirty="0">
                <a:solidFill>
                  <a:schemeClr val="bg1"/>
                </a:solidFill>
                <a:latin typeface="Georgia" pitchFamily="34" charset="0"/>
                <a:ea typeface="Georgia" pitchFamily="34" charset="-122"/>
                <a:cs typeface="Georgia" pitchFamily="34" charset="-120"/>
              </a:rPr>
              <a:t>Surah Luqman</a:t>
            </a:r>
            <a:endParaRPr lang="en-US" sz="2400" dirty="0"/>
          </a:p>
        </p:txBody>
      </p:sp>
      <p:sp>
        <p:nvSpPr>
          <p:cNvPr id="3" name="Text 1"/>
          <p:cNvSpPr txBox="1"/>
          <p:nvPr/>
        </p:nvSpPr>
        <p:spPr>
          <a:xfrm>
            <a:off x="777240" y="548640"/>
            <a:ext cx="2651760" cy="384048"/>
          </a:xfrm>
          <a:prstGeom prst="rect">
            <a:avLst/>
          </a:prstGeom>
          <a:noFill/>
          <a:ln/>
        </p:spPr>
        <p:txBody>
          <a:bodyPr wrap="square" lIns="0" tIns="0" rIns="0" bIns="0" rtlCol="0" anchor="ctr"/>
          <a:lstStyle/>
          <a:p>
            <a:pPr algn="l" indent="0" marL="0">
              <a:buNone/>
            </a:pPr>
            <a:r>
              <a:rPr lang="en-US" altLang="en-US" sz="1500" b="1" dirty="0">
                <a:solidFill>
                  <a:schemeClr val="accent2"/>
                </a:solidFill>
                <a:latin typeface="Arial" pitchFamily="34" charset="0"/>
                <a:ea typeface="Arial" pitchFamily="34" charset="-122"/>
                <a:cs typeface="Arial" pitchFamily="34" charset="-120"/>
              </a:rPr>
              <a:t>Verses 10 – 11</a:t>
            </a:r>
            <a:endParaRPr lang="en-US" sz="1500" dirty="0"/>
          </a:p>
        </p:txBody>
      </p:sp>
      <p:sp>
        <p:nvSpPr>
          <p:cNvPr id="4" name="Text 2"/>
          <p:cNvSpPr txBox="1"/>
          <p:nvPr/>
        </p:nvSpPr>
        <p:spPr>
          <a:xfrm>
            <a:off x="8732520" y="548640"/>
            <a:ext cx="2651760" cy="384048"/>
          </a:xfrm>
          <a:prstGeom prst="rect">
            <a:avLst/>
          </a:prstGeom>
          <a:noFill/>
          <a:ln/>
        </p:spPr>
        <p:txBody>
          <a:bodyPr wrap="square" lIns="0" tIns="0" rIns="0" bIns="0" rtlCol="0" anchor="ctr"/>
          <a:lstStyle/>
          <a:p>
            <a:pPr algn="r" indent="0" marL="0">
              <a:buNone/>
            </a:pPr>
            <a:r>
              <a:rPr lang="en-US" altLang="en-US" sz="1300" i="1" dirty="0">
                <a:solidFill>
                  <a:schemeClr val="accent4"/>
                </a:solidFill>
                <a:latin typeface="Arial" pitchFamily="34" charset="0"/>
                <a:ea typeface="Arial" pitchFamily="34" charset="-122"/>
                <a:cs typeface="Arial" pitchFamily="34" charset="-120"/>
              </a:rPr>
              <a:t>Ibn Kathir, simplified</a:t>
            </a:r>
            <a:endParaRPr lang="en-US" sz="1300" dirty="0"/>
          </a:p>
        </p:txBody>
      </p:sp>
      <p:sp>
        <p:nvSpPr>
          <p:cNvPr id="5" name="Shape 3"/>
          <p:cNvSpPr/>
          <p:nvPr/>
        </p:nvSpPr>
        <p:spPr>
          <a:xfrm>
            <a:off x="713232" y="1867662"/>
            <a:ext cx="548640" cy="548640"/>
          </a:xfrm>
          <a:prstGeom prst="star8">
            <a:avLst/>
          </a:prstGeom>
          <a:solidFill>
            <a:schemeClr val="accent2"/>
          </a:solidFill>
          <a:ln/>
        </p:spPr>
      </p:sp>
      <p:sp>
        <p:nvSpPr>
          <p:cNvPr id="6" name="Shape 4"/>
          <p:cNvSpPr/>
          <p:nvPr/>
        </p:nvSpPr>
        <p:spPr>
          <a:xfrm>
            <a:off x="822960" y="1977390"/>
            <a:ext cx="329184" cy="329184"/>
          </a:xfrm>
          <a:prstGeom prst="ellipse">
            <a:avLst/>
          </a:prstGeom>
          <a:solidFill>
            <a:schemeClr val="bg2"/>
          </a:solidFill>
          <a:ln w="19050">
            <a:solidFill>
              <a:schemeClr val="tx2"/>
            </a:solidFill>
            <a:prstDash val="solid"/>
          </a:ln>
        </p:spPr>
      </p:sp>
      <p:sp>
        <p:nvSpPr>
          <p:cNvPr id="7" name="Text 5"/>
          <p:cNvSpPr txBox="1"/>
          <p:nvPr/>
        </p:nvSpPr>
        <p:spPr>
          <a:xfrm>
            <a:off x="713232" y="1867662"/>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10</a:t>
            </a:r>
            <a:endParaRPr lang="en-US" sz="1600" dirty="0"/>
          </a:p>
        </p:txBody>
      </p:sp>
      <p:sp>
        <p:nvSpPr>
          <p:cNvPr id="8" name="Text 6"/>
          <p:cNvSpPr txBox="1"/>
          <p:nvPr/>
        </p:nvSpPr>
        <p:spPr>
          <a:xfrm>
            <a:off x="1444752" y="1849374"/>
            <a:ext cx="10012680" cy="2061972"/>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خَلَقَ السَّمَٰوَٰتِ بِغَيْرِ عَمَدٍ تَرَوْنَهَا وَأَلْقَىٰ فِي الْأَرْضِ رَوَٰسِيَ أَن تَمِيدَ بِكُمْ وَبَثَّ فِيهَا مِن كُلِّ دَآبَّةٍ وَأَنزَلْنَا مِنَ السَّمَآءِ مَآءً فَأَنبَتْنَا فِيهَا مِن كُلِّ زَوْجٍ كَرِيمٍ</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He created the heavens without pillars that you can see, placed firm mountains on the earth so it would not shake with you, and spread in it every kind of creature. And We sent down rain from the sky and grew in it every fine kind of plant.</a:t>
            </a:r>
            <a:endParaRPr lang="en-US" sz="3000" dirty="0"/>
          </a:p>
        </p:txBody>
      </p:sp>
      <p:sp>
        <p:nvSpPr>
          <p:cNvPr id="9" name="Shape 7"/>
          <p:cNvSpPr/>
          <p:nvPr/>
        </p:nvSpPr>
        <p:spPr>
          <a:xfrm>
            <a:off x="1444752" y="4098798"/>
            <a:ext cx="8641080" cy="0"/>
          </a:xfrm>
          <a:prstGeom prst="line">
            <a:avLst/>
          </a:prstGeom>
          <a:noFill/>
          <a:ln w="9525">
            <a:solidFill>
              <a:schemeClr val="accent2"/>
            </a:solidFill>
            <a:prstDash val="dash"/>
          </a:ln>
        </p:spPr>
      </p:sp>
      <p:sp>
        <p:nvSpPr>
          <p:cNvPr id="10" name="Shape 8"/>
          <p:cNvSpPr/>
          <p:nvPr/>
        </p:nvSpPr>
        <p:spPr>
          <a:xfrm>
            <a:off x="713232" y="4331970"/>
            <a:ext cx="548640" cy="548640"/>
          </a:xfrm>
          <a:prstGeom prst="star8">
            <a:avLst/>
          </a:prstGeom>
          <a:solidFill>
            <a:schemeClr val="accent2"/>
          </a:solidFill>
          <a:ln/>
        </p:spPr>
      </p:sp>
      <p:sp>
        <p:nvSpPr>
          <p:cNvPr id="11" name="Shape 9"/>
          <p:cNvSpPr/>
          <p:nvPr/>
        </p:nvSpPr>
        <p:spPr>
          <a:xfrm>
            <a:off x="822960" y="4441698"/>
            <a:ext cx="329184" cy="329184"/>
          </a:xfrm>
          <a:prstGeom prst="ellipse">
            <a:avLst/>
          </a:prstGeom>
          <a:solidFill>
            <a:schemeClr val="bg2"/>
          </a:solidFill>
          <a:ln w="19050">
            <a:solidFill>
              <a:schemeClr val="tx2"/>
            </a:solidFill>
            <a:prstDash val="solid"/>
          </a:ln>
        </p:spPr>
      </p:sp>
      <p:sp>
        <p:nvSpPr>
          <p:cNvPr id="12" name="Text 10"/>
          <p:cNvSpPr txBox="1"/>
          <p:nvPr/>
        </p:nvSpPr>
        <p:spPr>
          <a:xfrm>
            <a:off x="713232" y="4331970"/>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11</a:t>
            </a:r>
            <a:endParaRPr lang="en-US" sz="1600" dirty="0"/>
          </a:p>
        </p:txBody>
      </p:sp>
      <p:sp>
        <p:nvSpPr>
          <p:cNvPr id="13" name="Text 11"/>
          <p:cNvSpPr txBox="1"/>
          <p:nvPr/>
        </p:nvSpPr>
        <p:spPr>
          <a:xfrm>
            <a:off x="1444752" y="4313682"/>
            <a:ext cx="10012680" cy="1252728"/>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هَٰذَا خَلْقُ اللَّهِ فَأَرُونِي مَاذَا خَلَقَ الَّذِينَ مِن دُونِهِ بَلِ الظَّـٰلِمُونَ فِي ضَلَٰلٍ مُّبِينٍ</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This is Allah's creation. Show me what those you worship besides Him have created. Rather, the wrongdoers are clearly astray.</a:t>
            </a:r>
            <a:endParaRPr lang="en-US" sz="3000" dirty="0"/>
          </a:p>
        </p:txBody>
      </p:sp>
      <p:sp>
        <p:nvSpPr>
          <p:cNvPr id="25" name="Slide Number Placeholder 0"/>
          <p:cNvSpPr>
            <a:spLocks noGrp="1"/>
          </p:cNvSpPr>
          <p:nvPr>
            <p:ph type="sldNum" sz="quarter" idx="4294967295"/>
          </p:nvPr>
        </p:nvSpPr>
        <p:spPr>
          <a:xfrm>
            <a:off x="1115568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38</a:t>
            </a:fld>
            <a:endParaRPr lang="en-US"/>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name="Slide 39">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algn="ctr" indent="0" marL="0">
              <a:buNone/>
            </a:pPr>
            <a:r>
              <a:rPr lang="en-US" sz="2400" b="1" dirty="0">
                <a:solidFill>
                  <a:schemeClr val="bg1"/>
                </a:solidFill>
                <a:latin typeface="Georgia" pitchFamily="34" charset="0"/>
                <a:ea typeface="Georgia" pitchFamily="34" charset="-122"/>
                <a:cs typeface="Georgia" pitchFamily="34" charset="-120"/>
              </a:rPr>
              <a:t>Surah Luqman</a:t>
            </a:r>
            <a:endParaRPr lang="en-US" sz="2400" dirty="0"/>
          </a:p>
        </p:txBody>
      </p:sp>
      <p:sp>
        <p:nvSpPr>
          <p:cNvPr id="3" name="Text 1"/>
          <p:cNvSpPr txBox="1"/>
          <p:nvPr/>
        </p:nvSpPr>
        <p:spPr>
          <a:xfrm>
            <a:off x="777240" y="548640"/>
            <a:ext cx="2651760" cy="384048"/>
          </a:xfrm>
          <a:prstGeom prst="rect">
            <a:avLst/>
          </a:prstGeom>
          <a:noFill/>
          <a:ln/>
        </p:spPr>
        <p:txBody>
          <a:bodyPr wrap="square" lIns="0" tIns="0" rIns="0" bIns="0" rtlCol="0" anchor="ctr"/>
          <a:lstStyle/>
          <a:p>
            <a:pPr algn="l" indent="0" marL="0">
              <a:buNone/>
            </a:pPr>
            <a:r>
              <a:rPr lang="en-US" altLang="en-US" sz="1500" b="1" dirty="0">
                <a:solidFill>
                  <a:schemeClr val="accent2"/>
                </a:solidFill>
                <a:latin typeface="Arial" pitchFamily="34" charset="0"/>
                <a:ea typeface="Arial" pitchFamily="34" charset="-122"/>
                <a:cs typeface="Arial" pitchFamily="34" charset="-120"/>
              </a:rPr>
              <a:t>Verses 12 – 13</a:t>
            </a:r>
            <a:endParaRPr lang="en-US" sz="1500" dirty="0"/>
          </a:p>
        </p:txBody>
      </p:sp>
      <p:sp>
        <p:nvSpPr>
          <p:cNvPr id="4" name="Text 2"/>
          <p:cNvSpPr txBox="1"/>
          <p:nvPr/>
        </p:nvSpPr>
        <p:spPr>
          <a:xfrm>
            <a:off x="8732520" y="548640"/>
            <a:ext cx="2651760" cy="384048"/>
          </a:xfrm>
          <a:prstGeom prst="rect">
            <a:avLst/>
          </a:prstGeom>
          <a:noFill/>
          <a:ln/>
        </p:spPr>
        <p:txBody>
          <a:bodyPr wrap="square" lIns="0" tIns="0" rIns="0" bIns="0" rtlCol="0" anchor="ctr"/>
          <a:lstStyle/>
          <a:p>
            <a:pPr algn="r" indent="0" marL="0">
              <a:buNone/>
            </a:pPr>
            <a:r>
              <a:rPr lang="en-US" altLang="en-US" sz="1300" i="1" dirty="0">
                <a:solidFill>
                  <a:schemeClr val="accent4"/>
                </a:solidFill>
                <a:latin typeface="Arial" pitchFamily="34" charset="0"/>
                <a:ea typeface="Arial" pitchFamily="34" charset="-122"/>
                <a:cs typeface="Arial" pitchFamily="34" charset="-120"/>
              </a:rPr>
              <a:t>Ibn Kathir, simplified</a:t>
            </a:r>
            <a:endParaRPr lang="en-US" sz="1300" dirty="0"/>
          </a:p>
        </p:txBody>
      </p:sp>
      <p:sp>
        <p:nvSpPr>
          <p:cNvPr id="5" name="Shape 3"/>
          <p:cNvSpPr/>
          <p:nvPr/>
        </p:nvSpPr>
        <p:spPr>
          <a:xfrm>
            <a:off x="713232" y="1997964"/>
            <a:ext cx="548640" cy="548640"/>
          </a:xfrm>
          <a:prstGeom prst="star8">
            <a:avLst/>
          </a:prstGeom>
          <a:solidFill>
            <a:schemeClr val="accent2"/>
          </a:solidFill>
          <a:ln/>
        </p:spPr>
      </p:sp>
      <p:sp>
        <p:nvSpPr>
          <p:cNvPr id="6" name="Shape 4"/>
          <p:cNvSpPr/>
          <p:nvPr/>
        </p:nvSpPr>
        <p:spPr>
          <a:xfrm>
            <a:off x="822960" y="2107692"/>
            <a:ext cx="329184" cy="329184"/>
          </a:xfrm>
          <a:prstGeom prst="ellipse">
            <a:avLst/>
          </a:prstGeom>
          <a:solidFill>
            <a:schemeClr val="bg2"/>
          </a:solidFill>
          <a:ln w="19050">
            <a:solidFill>
              <a:schemeClr val="tx2"/>
            </a:solidFill>
            <a:prstDash val="solid"/>
          </a:ln>
        </p:spPr>
      </p:sp>
      <p:sp>
        <p:nvSpPr>
          <p:cNvPr id="7" name="Text 5"/>
          <p:cNvSpPr txBox="1"/>
          <p:nvPr/>
        </p:nvSpPr>
        <p:spPr>
          <a:xfrm>
            <a:off x="713232" y="1997964"/>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12</a:t>
            </a:r>
            <a:endParaRPr lang="en-US" sz="1600" dirty="0"/>
          </a:p>
        </p:txBody>
      </p:sp>
      <p:sp>
        <p:nvSpPr>
          <p:cNvPr id="8" name="Text 6"/>
          <p:cNvSpPr txBox="1"/>
          <p:nvPr/>
        </p:nvSpPr>
        <p:spPr>
          <a:xfrm>
            <a:off x="1444752" y="1979676"/>
            <a:ext cx="10012680" cy="1801368"/>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وَلَقَدْ ءَاتَيْنَا لُقْمَٰنَ الْحِكْمَةَ أَنِ اشْكُرْ لِلَّهِ وَمَن يَشْكُرْ فَإِنَّمَا يَشْكُرُ لِنَفْسِهِ وَمَن كَفَرَ فَإِنَّ اللَّهَ غَنِيٌّ حَمِيدٌ</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We gave Luqman wisdom and understanding and said to him: Be thankful to Allah. Whoever is thankful is thankful for his own good, and whoever is ungrateful, Allah is Free of need, Praiseworthy.</a:t>
            </a:r>
            <a:endParaRPr lang="en-US" sz="3000" dirty="0"/>
          </a:p>
        </p:txBody>
      </p:sp>
      <p:sp>
        <p:nvSpPr>
          <p:cNvPr id="9" name="Shape 7"/>
          <p:cNvSpPr/>
          <p:nvPr/>
        </p:nvSpPr>
        <p:spPr>
          <a:xfrm>
            <a:off x="1444752" y="3968496"/>
            <a:ext cx="8641080" cy="0"/>
          </a:xfrm>
          <a:prstGeom prst="line">
            <a:avLst/>
          </a:prstGeom>
          <a:noFill/>
          <a:ln w="9525">
            <a:solidFill>
              <a:schemeClr val="accent2"/>
            </a:solidFill>
            <a:prstDash val="dash"/>
          </a:ln>
        </p:spPr>
      </p:sp>
      <p:sp>
        <p:nvSpPr>
          <p:cNvPr id="10" name="Shape 8"/>
          <p:cNvSpPr/>
          <p:nvPr/>
        </p:nvSpPr>
        <p:spPr>
          <a:xfrm>
            <a:off x="713232" y="4201668"/>
            <a:ext cx="548640" cy="548640"/>
          </a:xfrm>
          <a:prstGeom prst="star8">
            <a:avLst/>
          </a:prstGeom>
          <a:solidFill>
            <a:schemeClr val="accent2"/>
          </a:solidFill>
          <a:ln/>
        </p:spPr>
      </p:sp>
      <p:sp>
        <p:nvSpPr>
          <p:cNvPr id="11" name="Shape 9"/>
          <p:cNvSpPr/>
          <p:nvPr/>
        </p:nvSpPr>
        <p:spPr>
          <a:xfrm>
            <a:off x="822960" y="4311396"/>
            <a:ext cx="329184" cy="329184"/>
          </a:xfrm>
          <a:prstGeom prst="ellipse">
            <a:avLst/>
          </a:prstGeom>
          <a:solidFill>
            <a:schemeClr val="bg2"/>
          </a:solidFill>
          <a:ln w="19050">
            <a:solidFill>
              <a:schemeClr val="tx2"/>
            </a:solidFill>
            <a:prstDash val="solid"/>
          </a:ln>
        </p:spPr>
      </p:sp>
      <p:sp>
        <p:nvSpPr>
          <p:cNvPr id="12" name="Text 10"/>
          <p:cNvSpPr txBox="1"/>
          <p:nvPr/>
        </p:nvSpPr>
        <p:spPr>
          <a:xfrm>
            <a:off x="713232" y="4201668"/>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13</a:t>
            </a:r>
            <a:endParaRPr lang="en-US" sz="1600" dirty="0"/>
          </a:p>
        </p:txBody>
      </p:sp>
      <p:sp>
        <p:nvSpPr>
          <p:cNvPr id="13" name="Text 11"/>
          <p:cNvSpPr txBox="1"/>
          <p:nvPr/>
        </p:nvSpPr>
        <p:spPr>
          <a:xfrm>
            <a:off x="1444752" y="4183380"/>
            <a:ext cx="10012680" cy="1252728"/>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وَإِذْ قَالَ لُقْمَٰنُ لِابْنِهِ وَهُوَ يَعِظُهُ يَٰبُنَيَّ لَا تُشْرِكْ بِاللَّهِ إِنَّ الشِّرْكَ لَظُلْمٌ عَظِيمٌ</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Remember when Luqman said to his son while advising him: O my son, do not associate anything with Allah; shirk is a tremendous wrong.</a:t>
            </a:r>
            <a:endParaRPr lang="en-US" sz="3000" dirty="0"/>
          </a:p>
        </p:txBody>
      </p:sp>
      <p:sp>
        <p:nvSpPr>
          <p:cNvPr id="25" name="Slide Number Placeholder 0"/>
          <p:cNvSpPr>
            <a:spLocks noGrp="1"/>
          </p:cNvSpPr>
          <p:nvPr>
            <p:ph type="sldNum" sz="quarter" idx="4294967295"/>
          </p:nvPr>
        </p:nvSpPr>
        <p:spPr>
          <a:xfrm>
            <a:off x="1115568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39</a:t>
            </a:fld>
            <a:endParaRPr lang="en-US"/>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name="Slide 40">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algn="ctr" indent="0" marL="0">
              <a:buNone/>
            </a:pPr>
            <a:r>
              <a:rPr lang="en-US" sz="2400" b="1" dirty="0">
                <a:solidFill>
                  <a:schemeClr val="bg1"/>
                </a:solidFill>
                <a:latin typeface="Georgia" pitchFamily="34" charset="0"/>
                <a:ea typeface="Georgia" pitchFamily="34" charset="-122"/>
                <a:cs typeface="Georgia" pitchFamily="34" charset="-120"/>
              </a:rPr>
              <a:t>Surah Luqman</a:t>
            </a:r>
            <a:endParaRPr lang="en-US" sz="2400" dirty="0"/>
          </a:p>
        </p:txBody>
      </p:sp>
      <p:sp>
        <p:nvSpPr>
          <p:cNvPr id="3" name="Text 1"/>
          <p:cNvSpPr txBox="1"/>
          <p:nvPr/>
        </p:nvSpPr>
        <p:spPr>
          <a:xfrm>
            <a:off x="777240" y="548640"/>
            <a:ext cx="2651760" cy="384048"/>
          </a:xfrm>
          <a:prstGeom prst="rect">
            <a:avLst/>
          </a:prstGeom>
          <a:noFill/>
          <a:ln/>
        </p:spPr>
        <p:txBody>
          <a:bodyPr wrap="square" lIns="0" tIns="0" rIns="0" bIns="0" rtlCol="0" anchor="ctr"/>
          <a:lstStyle/>
          <a:p>
            <a:pPr algn="l" indent="0" marL="0">
              <a:buNone/>
            </a:pPr>
            <a:r>
              <a:rPr lang="en-US" altLang="en-US" sz="1500" b="1" dirty="0">
                <a:solidFill>
                  <a:schemeClr val="accent2"/>
                </a:solidFill>
                <a:latin typeface="Arial" pitchFamily="34" charset="0"/>
                <a:ea typeface="Arial" pitchFamily="34" charset="-122"/>
                <a:cs typeface="Arial" pitchFamily="34" charset="-120"/>
              </a:rPr>
              <a:t>Verse 14</a:t>
            </a:r>
            <a:endParaRPr lang="en-US" sz="1500" dirty="0"/>
          </a:p>
        </p:txBody>
      </p:sp>
      <p:sp>
        <p:nvSpPr>
          <p:cNvPr id="4" name="Text 2"/>
          <p:cNvSpPr txBox="1"/>
          <p:nvPr/>
        </p:nvSpPr>
        <p:spPr>
          <a:xfrm>
            <a:off x="8732520" y="548640"/>
            <a:ext cx="2651760" cy="384048"/>
          </a:xfrm>
          <a:prstGeom prst="rect">
            <a:avLst/>
          </a:prstGeom>
          <a:noFill/>
          <a:ln/>
        </p:spPr>
        <p:txBody>
          <a:bodyPr wrap="square" lIns="0" tIns="0" rIns="0" bIns="0" rtlCol="0" anchor="ctr"/>
          <a:lstStyle/>
          <a:p>
            <a:pPr algn="r" indent="0" marL="0">
              <a:buNone/>
            </a:pPr>
            <a:r>
              <a:rPr lang="en-US" altLang="en-US" sz="1300" i="1" dirty="0">
                <a:solidFill>
                  <a:schemeClr val="accent4"/>
                </a:solidFill>
                <a:latin typeface="Arial" pitchFamily="34" charset="0"/>
                <a:ea typeface="Arial" pitchFamily="34" charset="-122"/>
                <a:cs typeface="Arial" pitchFamily="34" charset="-120"/>
              </a:rPr>
              <a:t>Ibn Kathir, simplified</a:t>
            </a:r>
            <a:endParaRPr lang="en-US" sz="1300" dirty="0"/>
          </a:p>
        </p:txBody>
      </p:sp>
      <p:sp>
        <p:nvSpPr>
          <p:cNvPr id="5" name="Shape 3"/>
          <p:cNvSpPr/>
          <p:nvPr/>
        </p:nvSpPr>
        <p:spPr>
          <a:xfrm>
            <a:off x="713232" y="2695194"/>
            <a:ext cx="548640" cy="548640"/>
          </a:xfrm>
          <a:prstGeom prst="star8">
            <a:avLst/>
          </a:prstGeom>
          <a:solidFill>
            <a:schemeClr val="accent2"/>
          </a:solidFill>
          <a:ln/>
        </p:spPr>
      </p:sp>
      <p:sp>
        <p:nvSpPr>
          <p:cNvPr id="6" name="Shape 4"/>
          <p:cNvSpPr/>
          <p:nvPr/>
        </p:nvSpPr>
        <p:spPr>
          <a:xfrm>
            <a:off x="822960" y="2804922"/>
            <a:ext cx="329184" cy="329184"/>
          </a:xfrm>
          <a:prstGeom prst="ellipse">
            <a:avLst/>
          </a:prstGeom>
          <a:solidFill>
            <a:schemeClr val="bg2"/>
          </a:solidFill>
          <a:ln w="19050">
            <a:solidFill>
              <a:schemeClr val="tx2"/>
            </a:solidFill>
            <a:prstDash val="solid"/>
          </a:ln>
        </p:spPr>
      </p:sp>
      <p:sp>
        <p:nvSpPr>
          <p:cNvPr id="7" name="Text 5"/>
          <p:cNvSpPr txBox="1"/>
          <p:nvPr/>
        </p:nvSpPr>
        <p:spPr>
          <a:xfrm>
            <a:off x="713232" y="2695194"/>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14</a:t>
            </a:r>
            <a:endParaRPr lang="en-US" sz="1600" dirty="0"/>
          </a:p>
        </p:txBody>
      </p:sp>
      <p:sp>
        <p:nvSpPr>
          <p:cNvPr id="8" name="Text 6"/>
          <p:cNvSpPr txBox="1"/>
          <p:nvPr/>
        </p:nvSpPr>
        <p:spPr>
          <a:xfrm>
            <a:off x="1444752" y="2676906"/>
            <a:ext cx="10012680" cy="2061972"/>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وَوَصَّيْنَا الْإِنسَٰنَ بِوَٰلِدَيْهِ حَمَلَتْهُ أُمُّهُ وَهْنًا عَلَىٰ وَهْنٍ وَفِصَٰلُهُ فِي عَامَيْنِ أَنِ اشْكُرْ لِي وَلِوَٰلِدَيْكَ إِلَيَّ الْمَصِيرُ</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We have commanded man to be good and kind to his parents. His mother carried him with weakness upon weakness, and his weaning is in two years. We said: Be thankful to Me and to your parents; to Me is the return.</a:t>
            </a:r>
            <a:endParaRPr lang="en-US" sz="3000" dirty="0"/>
          </a:p>
        </p:txBody>
      </p:sp>
      <p:sp>
        <p:nvSpPr>
          <p:cNvPr id="25" name="Slide Number Placeholder 0"/>
          <p:cNvSpPr>
            <a:spLocks noGrp="1"/>
          </p:cNvSpPr>
          <p:nvPr>
            <p:ph type="sldNum" sz="quarter" idx="4294967295"/>
          </p:nvPr>
        </p:nvSpPr>
        <p:spPr>
          <a:xfrm>
            <a:off x="1115568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40</a:t>
            </a:fld>
            <a:endParaRPr lang="en-US"/>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name="Slide 41">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algn="ctr" indent="0" marL="0">
              <a:buNone/>
            </a:pPr>
            <a:r>
              <a:rPr lang="en-US" sz="2400" b="1" dirty="0">
                <a:solidFill>
                  <a:schemeClr val="bg1"/>
                </a:solidFill>
                <a:latin typeface="Georgia" pitchFamily="34" charset="0"/>
                <a:ea typeface="Georgia" pitchFamily="34" charset="-122"/>
                <a:cs typeface="Georgia" pitchFamily="34" charset="-120"/>
              </a:rPr>
              <a:t>Surah Luqman</a:t>
            </a:r>
            <a:endParaRPr lang="en-US" sz="2400" dirty="0"/>
          </a:p>
        </p:txBody>
      </p:sp>
      <p:sp>
        <p:nvSpPr>
          <p:cNvPr id="3" name="Text 1"/>
          <p:cNvSpPr txBox="1"/>
          <p:nvPr/>
        </p:nvSpPr>
        <p:spPr>
          <a:xfrm>
            <a:off x="777240" y="548640"/>
            <a:ext cx="2651760" cy="384048"/>
          </a:xfrm>
          <a:prstGeom prst="rect">
            <a:avLst/>
          </a:prstGeom>
          <a:noFill/>
          <a:ln/>
        </p:spPr>
        <p:txBody>
          <a:bodyPr wrap="square" lIns="0" tIns="0" rIns="0" bIns="0" rtlCol="0" anchor="ctr"/>
          <a:lstStyle/>
          <a:p>
            <a:pPr algn="l" indent="0" marL="0">
              <a:buNone/>
            </a:pPr>
            <a:r>
              <a:rPr lang="en-US" altLang="en-US" sz="1500" b="1" dirty="0">
                <a:solidFill>
                  <a:schemeClr val="accent2"/>
                </a:solidFill>
                <a:latin typeface="Arial" pitchFamily="34" charset="0"/>
                <a:ea typeface="Arial" pitchFamily="34" charset="-122"/>
                <a:cs typeface="Arial" pitchFamily="34" charset="-120"/>
              </a:rPr>
              <a:t>Verse 15</a:t>
            </a:r>
            <a:endParaRPr lang="en-US" sz="1500" dirty="0"/>
          </a:p>
        </p:txBody>
      </p:sp>
      <p:sp>
        <p:nvSpPr>
          <p:cNvPr id="4" name="Text 2"/>
          <p:cNvSpPr txBox="1"/>
          <p:nvPr/>
        </p:nvSpPr>
        <p:spPr>
          <a:xfrm>
            <a:off x="8732520" y="548640"/>
            <a:ext cx="2651760" cy="384048"/>
          </a:xfrm>
          <a:prstGeom prst="rect">
            <a:avLst/>
          </a:prstGeom>
          <a:noFill/>
          <a:ln/>
        </p:spPr>
        <p:txBody>
          <a:bodyPr wrap="square" lIns="0" tIns="0" rIns="0" bIns="0" rtlCol="0" anchor="ctr"/>
          <a:lstStyle/>
          <a:p>
            <a:pPr algn="r" indent="0" marL="0">
              <a:buNone/>
            </a:pPr>
            <a:r>
              <a:rPr lang="en-US" altLang="en-US" sz="1300" i="1" dirty="0">
                <a:solidFill>
                  <a:schemeClr val="accent4"/>
                </a:solidFill>
                <a:latin typeface="Arial" pitchFamily="34" charset="0"/>
                <a:ea typeface="Arial" pitchFamily="34" charset="-122"/>
                <a:cs typeface="Arial" pitchFamily="34" charset="-120"/>
              </a:rPr>
              <a:t>Ibn Kathir, simplified</a:t>
            </a:r>
            <a:endParaRPr lang="en-US" sz="1300" dirty="0"/>
          </a:p>
        </p:txBody>
      </p:sp>
      <p:sp>
        <p:nvSpPr>
          <p:cNvPr id="5" name="Shape 3"/>
          <p:cNvSpPr/>
          <p:nvPr/>
        </p:nvSpPr>
        <p:spPr>
          <a:xfrm>
            <a:off x="713232" y="2420874"/>
            <a:ext cx="548640" cy="548640"/>
          </a:xfrm>
          <a:prstGeom prst="star8">
            <a:avLst/>
          </a:prstGeom>
          <a:solidFill>
            <a:schemeClr val="accent2"/>
          </a:solidFill>
          <a:ln/>
        </p:spPr>
      </p:sp>
      <p:sp>
        <p:nvSpPr>
          <p:cNvPr id="6" name="Shape 4"/>
          <p:cNvSpPr/>
          <p:nvPr/>
        </p:nvSpPr>
        <p:spPr>
          <a:xfrm>
            <a:off x="822960" y="2530602"/>
            <a:ext cx="329184" cy="329184"/>
          </a:xfrm>
          <a:prstGeom prst="ellipse">
            <a:avLst/>
          </a:prstGeom>
          <a:solidFill>
            <a:schemeClr val="bg2"/>
          </a:solidFill>
          <a:ln w="19050">
            <a:solidFill>
              <a:schemeClr val="tx2"/>
            </a:solidFill>
            <a:prstDash val="solid"/>
          </a:ln>
        </p:spPr>
      </p:sp>
      <p:sp>
        <p:nvSpPr>
          <p:cNvPr id="7" name="Text 5"/>
          <p:cNvSpPr txBox="1"/>
          <p:nvPr/>
        </p:nvSpPr>
        <p:spPr>
          <a:xfrm>
            <a:off x="713232" y="2420874"/>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15</a:t>
            </a:r>
            <a:endParaRPr lang="en-US" sz="1600" dirty="0"/>
          </a:p>
        </p:txBody>
      </p:sp>
      <p:sp>
        <p:nvSpPr>
          <p:cNvPr id="8" name="Text 6"/>
          <p:cNvSpPr txBox="1"/>
          <p:nvPr/>
        </p:nvSpPr>
        <p:spPr>
          <a:xfrm>
            <a:off x="1444752" y="2402586"/>
            <a:ext cx="10012680" cy="2610612"/>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وَإِن جَٰهَدَاكَ عَلَىٰ أَن تُشْرِكَ بِي مَا لَيْسَ لَكَ بِهِ عِلْمٌ فَلَا تُطِعْهُمَا وَصَاحِبْهُمَا فِي الدُّنْيَا مَعْرُوفًا وَاتَّبِعْ سَبِيلَ مَنْ أَنَابَ إِلَيَّ ثُمَّ إِلَيَّ مَرْجِعُكُمْ فَأُنَبِّئُكُم بِمَا كُنتُمْ تَعْمَلُونَ</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But if your parents strive to make you associate partners with Me, do not obey them, but keep company with them in this world with kindness and goodness. Follow the way of those who turn to Me among the believers. Then to Me is your return, and I will tell you what you did.</a:t>
            </a:r>
            <a:endParaRPr lang="en-US" sz="3000" dirty="0"/>
          </a:p>
        </p:txBody>
      </p:sp>
      <p:sp>
        <p:nvSpPr>
          <p:cNvPr id="25" name="Slide Number Placeholder 0"/>
          <p:cNvSpPr>
            <a:spLocks noGrp="1"/>
          </p:cNvSpPr>
          <p:nvPr>
            <p:ph type="sldNum" sz="quarter" idx="4294967295"/>
          </p:nvPr>
        </p:nvSpPr>
        <p:spPr>
          <a:xfrm>
            <a:off x="1115568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41</a:t>
            </a:fld>
            <a:endParaRPr lang="en-US"/>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name="Slide 42">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algn="ctr" indent="0" marL="0">
              <a:buNone/>
            </a:pPr>
            <a:r>
              <a:rPr lang="en-US" sz="2400" b="1" dirty="0">
                <a:solidFill>
                  <a:schemeClr val="bg1"/>
                </a:solidFill>
                <a:latin typeface="Georgia" pitchFamily="34" charset="0"/>
                <a:ea typeface="Georgia" pitchFamily="34" charset="-122"/>
                <a:cs typeface="Georgia" pitchFamily="34" charset="-120"/>
              </a:rPr>
              <a:t>Surah Luqman</a:t>
            </a:r>
            <a:endParaRPr lang="en-US" sz="2400" dirty="0"/>
          </a:p>
        </p:txBody>
      </p:sp>
      <p:sp>
        <p:nvSpPr>
          <p:cNvPr id="3" name="Text 1"/>
          <p:cNvSpPr txBox="1"/>
          <p:nvPr/>
        </p:nvSpPr>
        <p:spPr>
          <a:xfrm>
            <a:off x="777240" y="548640"/>
            <a:ext cx="2651760" cy="384048"/>
          </a:xfrm>
          <a:prstGeom prst="rect">
            <a:avLst/>
          </a:prstGeom>
          <a:noFill/>
          <a:ln/>
        </p:spPr>
        <p:txBody>
          <a:bodyPr wrap="square" lIns="0" tIns="0" rIns="0" bIns="0" rtlCol="0" anchor="ctr"/>
          <a:lstStyle/>
          <a:p>
            <a:pPr algn="l" indent="0" marL="0">
              <a:buNone/>
            </a:pPr>
            <a:r>
              <a:rPr lang="en-US" altLang="en-US" sz="1500" b="1" dirty="0">
                <a:solidFill>
                  <a:schemeClr val="accent2"/>
                </a:solidFill>
                <a:latin typeface="Arial" pitchFamily="34" charset="0"/>
                <a:ea typeface="Arial" pitchFamily="34" charset="-122"/>
                <a:cs typeface="Arial" pitchFamily="34" charset="-120"/>
              </a:rPr>
              <a:t>Verses 16 – 17</a:t>
            </a:r>
            <a:endParaRPr lang="en-US" sz="1500" dirty="0"/>
          </a:p>
        </p:txBody>
      </p:sp>
      <p:sp>
        <p:nvSpPr>
          <p:cNvPr id="4" name="Text 2"/>
          <p:cNvSpPr txBox="1"/>
          <p:nvPr/>
        </p:nvSpPr>
        <p:spPr>
          <a:xfrm>
            <a:off x="8732520" y="548640"/>
            <a:ext cx="2651760" cy="384048"/>
          </a:xfrm>
          <a:prstGeom prst="rect">
            <a:avLst/>
          </a:prstGeom>
          <a:noFill/>
          <a:ln/>
        </p:spPr>
        <p:txBody>
          <a:bodyPr wrap="square" lIns="0" tIns="0" rIns="0" bIns="0" rtlCol="0" anchor="ctr"/>
          <a:lstStyle/>
          <a:p>
            <a:pPr algn="r" indent="0" marL="0">
              <a:buNone/>
            </a:pPr>
            <a:r>
              <a:rPr lang="en-US" altLang="en-US" sz="1300" i="1" dirty="0">
                <a:solidFill>
                  <a:schemeClr val="accent4"/>
                </a:solidFill>
                <a:latin typeface="Arial" pitchFamily="34" charset="0"/>
                <a:ea typeface="Arial" pitchFamily="34" charset="-122"/>
                <a:cs typeface="Arial" pitchFamily="34" charset="-120"/>
              </a:rPr>
              <a:t>Ibn Kathir, simplified</a:t>
            </a:r>
            <a:endParaRPr lang="en-US" sz="1300" dirty="0"/>
          </a:p>
        </p:txBody>
      </p:sp>
      <p:sp>
        <p:nvSpPr>
          <p:cNvPr id="5" name="Shape 3"/>
          <p:cNvSpPr/>
          <p:nvPr/>
        </p:nvSpPr>
        <p:spPr>
          <a:xfrm>
            <a:off x="713232" y="1723644"/>
            <a:ext cx="548640" cy="548640"/>
          </a:xfrm>
          <a:prstGeom prst="star8">
            <a:avLst/>
          </a:prstGeom>
          <a:solidFill>
            <a:schemeClr val="accent2"/>
          </a:solidFill>
          <a:ln/>
        </p:spPr>
      </p:sp>
      <p:sp>
        <p:nvSpPr>
          <p:cNvPr id="6" name="Shape 4"/>
          <p:cNvSpPr/>
          <p:nvPr/>
        </p:nvSpPr>
        <p:spPr>
          <a:xfrm>
            <a:off x="822960" y="1833372"/>
            <a:ext cx="329184" cy="329184"/>
          </a:xfrm>
          <a:prstGeom prst="ellipse">
            <a:avLst/>
          </a:prstGeom>
          <a:solidFill>
            <a:schemeClr val="bg2"/>
          </a:solidFill>
          <a:ln w="19050">
            <a:solidFill>
              <a:schemeClr val="tx2"/>
            </a:solidFill>
            <a:prstDash val="solid"/>
          </a:ln>
        </p:spPr>
      </p:sp>
      <p:sp>
        <p:nvSpPr>
          <p:cNvPr id="7" name="Text 5"/>
          <p:cNvSpPr txBox="1"/>
          <p:nvPr/>
        </p:nvSpPr>
        <p:spPr>
          <a:xfrm>
            <a:off x="713232" y="1723644"/>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16</a:t>
            </a:r>
            <a:endParaRPr lang="en-US" sz="1600" dirty="0"/>
          </a:p>
        </p:txBody>
      </p:sp>
      <p:sp>
        <p:nvSpPr>
          <p:cNvPr id="8" name="Text 6"/>
          <p:cNvSpPr txBox="1"/>
          <p:nvPr/>
        </p:nvSpPr>
        <p:spPr>
          <a:xfrm>
            <a:off x="1444752" y="1705356"/>
            <a:ext cx="10012680" cy="1801368"/>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يَٰبُنَيَّ إِنَّهَآ إِن تَكُ مِثْقَالَ حَبَّةٍ مِّنْ خَرْدَلٍ فَتَكُن فِي صَخْرَةٍ أَوْ فِي السَّمَٰوَٰتِ أَوْ فِي الْأَرْضِ يَأْتِ بِهَا اللَّهُ إِنَّ اللَّهَ لَطِيفٌ خَبِيرٌ</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O my son, even if a deed is the weight of a tiny mustard seed, inside a rock, in the heavens or in the earth, Allah will bring it out on the Day of Resurrection. Allah is Most Subtle, All-Aware.</a:t>
            </a:r>
            <a:endParaRPr lang="en-US" sz="3000" dirty="0"/>
          </a:p>
        </p:txBody>
      </p:sp>
      <p:sp>
        <p:nvSpPr>
          <p:cNvPr id="9" name="Shape 7"/>
          <p:cNvSpPr/>
          <p:nvPr/>
        </p:nvSpPr>
        <p:spPr>
          <a:xfrm>
            <a:off x="1444752" y="3694176"/>
            <a:ext cx="8641080" cy="0"/>
          </a:xfrm>
          <a:prstGeom prst="line">
            <a:avLst/>
          </a:prstGeom>
          <a:noFill/>
          <a:ln w="9525">
            <a:solidFill>
              <a:schemeClr val="accent2"/>
            </a:solidFill>
            <a:prstDash val="dash"/>
          </a:ln>
        </p:spPr>
      </p:sp>
      <p:sp>
        <p:nvSpPr>
          <p:cNvPr id="10" name="Shape 8"/>
          <p:cNvSpPr/>
          <p:nvPr/>
        </p:nvSpPr>
        <p:spPr>
          <a:xfrm>
            <a:off x="713232" y="3927348"/>
            <a:ext cx="548640" cy="548640"/>
          </a:xfrm>
          <a:prstGeom prst="star8">
            <a:avLst/>
          </a:prstGeom>
          <a:solidFill>
            <a:schemeClr val="accent2"/>
          </a:solidFill>
          <a:ln/>
        </p:spPr>
      </p:sp>
      <p:sp>
        <p:nvSpPr>
          <p:cNvPr id="11" name="Shape 9"/>
          <p:cNvSpPr/>
          <p:nvPr/>
        </p:nvSpPr>
        <p:spPr>
          <a:xfrm>
            <a:off x="822960" y="4037076"/>
            <a:ext cx="329184" cy="329184"/>
          </a:xfrm>
          <a:prstGeom prst="ellipse">
            <a:avLst/>
          </a:prstGeom>
          <a:solidFill>
            <a:schemeClr val="bg2"/>
          </a:solidFill>
          <a:ln w="19050">
            <a:solidFill>
              <a:schemeClr val="tx2"/>
            </a:solidFill>
            <a:prstDash val="solid"/>
          </a:ln>
        </p:spPr>
      </p:sp>
      <p:sp>
        <p:nvSpPr>
          <p:cNvPr id="12" name="Text 10"/>
          <p:cNvSpPr txBox="1"/>
          <p:nvPr/>
        </p:nvSpPr>
        <p:spPr>
          <a:xfrm>
            <a:off x="713232" y="3927348"/>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17</a:t>
            </a:r>
            <a:endParaRPr lang="en-US" sz="1600" dirty="0"/>
          </a:p>
        </p:txBody>
      </p:sp>
      <p:sp>
        <p:nvSpPr>
          <p:cNvPr id="13" name="Text 11"/>
          <p:cNvSpPr txBox="1"/>
          <p:nvPr/>
        </p:nvSpPr>
        <p:spPr>
          <a:xfrm>
            <a:off x="1444752" y="3909060"/>
            <a:ext cx="10012680" cy="1801368"/>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يَٰبُنَيَّ أَقِمِ الصَّلَوٰةَ وَأْمُرْ بِالْمَعْرُوفِ وَانْهَ عَنِ الْمُنكَرِ وَاصْبِرْ عَلَىٰ مَآ أَصَابَكَ إِنَّ ذَٰلِكَ مِنْ عَزْمِ الْأُمُورِ</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O my son, establish the prayer, command what is right, forbid what is wrong, and be patient with whatever harm comes to you. These are important matters that need strong determination.</a:t>
            </a:r>
            <a:endParaRPr lang="en-US" sz="3000" dirty="0"/>
          </a:p>
        </p:txBody>
      </p:sp>
      <p:sp>
        <p:nvSpPr>
          <p:cNvPr id="25" name="Slide Number Placeholder 0"/>
          <p:cNvSpPr>
            <a:spLocks noGrp="1"/>
          </p:cNvSpPr>
          <p:nvPr>
            <p:ph type="sldNum" sz="quarter" idx="4294967295"/>
          </p:nvPr>
        </p:nvSpPr>
        <p:spPr>
          <a:xfrm>
            <a:off x="1115568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42</a:t>
            </a:fld>
            <a:endParaRPr lang="en-US"/>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name="Slide 43">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algn="ctr" indent="0" marL="0">
              <a:buNone/>
            </a:pPr>
            <a:r>
              <a:rPr lang="en-US" sz="2400" b="1" dirty="0">
                <a:solidFill>
                  <a:schemeClr val="bg1"/>
                </a:solidFill>
                <a:latin typeface="Georgia" pitchFamily="34" charset="0"/>
                <a:ea typeface="Georgia" pitchFamily="34" charset="-122"/>
                <a:cs typeface="Georgia" pitchFamily="34" charset="-120"/>
              </a:rPr>
              <a:t>Surah Luqman</a:t>
            </a:r>
            <a:endParaRPr lang="en-US" sz="2400" dirty="0"/>
          </a:p>
        </p:txBody>
      </p:sp>
      <p:sp>
        <p:nvSpPr>
          <p:cNvPr id="3" name="Text 1"/>
          <p:cNvSpPr txBox="1"/>
          <p:nvPr/>
        </p:nvSpPr>
        <p:spPr>
          <a:xfrm>
            <a:off x="777240" y="548640"/>
            <a:ext cx="2651760" cy="384048"/>
          </a:xfrm>
          <a:prstGeom prst="rect">
            <a:avLst/>
          </a:prstGeom>
          <a:noFill/>
          <a:ln/>
        </p:spPr>
        <p:txBody>
          <a:bodyPr wrap="square" lIns="0" tIns="0" rIns="0" bIns="0" rtlCol="0" anchor="ctr"/>
          <a:lstStyle/>
          <a:p>
            <a:pPr algn="l" indent="0" marL="0">
              <a:buNone/>
            </a:pPr>
            <a:r>
              <a:rPr lang="en-US" altLang="en-US" sz="1500" b="1" dirty="0">
                <a:solidFill>
                  <a:schemeClr val="accent2"/>
                </a:solidFill>
                <a:latin typeface="Arial" pitchFamily="34" charset="0"/>
                <a:ea typeface="Arial" pitchFamily="34" charset="-122"/>
                <a:cs typeface="Arial" pitchFamily="34" charset="-120"/>
              </a:rPr>
              <a:t>Verses 18 – 19</a:t>
            </a:r>
            <a:endParaRPr lang="en-US" sz="1500" dirty="0"/>
          </a:p>
        </p:txBody>
      </p:sp>
      <p:sp>
        <p:nvSpPr>
          <p:cNvPr id="4" name="Text 2"/>
          <p:cNvSpPr txBox="1"/>
          <p:nvPr/>
        </p:nvSpPr>
        <p:spPr>
          <a:xfrm>
            <a:off x="8732520" y="548640"/>
            <a:ext cx="2651760" cy="384048"/>
          </a:xfrm>
          <a:prstGeom prst="rect">
            <a:avLst/>
          </a:prstGeom>
          <a:noFill/>
          <a:ln/>
        </p:spPr>
        <p:txBody>
          <a:bodyPr wrap="square" lIns="0" tIns="0" rIns="0" bIns="0" rtlCol="0" anchor="ctr"/>
          <a:lstStyle/>
          <a:p>
            <a:pPr algn="r" indent="0" marL="0">
              <a:buNone/>
            </a:pPr>
            <a:r>
              <a:rPr lang="en-US" altLang="en-US" sz="1300" i="1" dirty="0">
                <a:solidFill>
                  <a:schemeClr val="accent4"/>
                </a:solidFill>
                <a:latin typeface="Arial" pitchFamily="34" charset="0"/>
                <a:ea typeface="Arial" pitchFamily="34" charset="-122"/>
                <a:cs typeface="Arial" pitchFamily="34" charset="-120"/>
              </a:rPr>
              <a:t>Ibn Kathir, simplified</a:t>
            </a:r>
            <a:endParaRPr lang="en-US" sz="1300" dirty="0"/>
          </a:p>
        </p:txBody>
      </p:sp>
      <p:sp>
        <p:nvSpPr>
          <p:cNvPr id="5" name="Shape 3"/>
          <p:cNvSpPr/>
          <p:nvPr/>
        </p:nvSpPr>
        <p:spPr>
          <a:xfrm>
            <a:off x="713232" y="1997964"/>
            <a:ext cx="548640" cy="548640"/>
          </a:xfrm>
          <a:prstGeom prst="star8">
            <a:avLst/>
          </a:prstGeom>
          <a:solidFill>
            <a:schemeClr val="accent2"/>
          </a:solidFill>
          <a:ln/>
        </p:spPr>
      </p:sp>
      <p:sp>
        <p:nvSpPr>
          <p:cNvPr id="6" name="Shape 4"/>
          <p:cNvSpPr/>
          <p:nvPr/>
        </p:nvSpPr>
        <p:spPr>
          <a:xfrm>
            <a:off x="822960" y="2107692"/>
            <a:ext cx="329184" cy="329184"/>
          </a:xfrm>
          <a:prstGeom prst="ellipse">
            <a:avLst/>
          </a:prstGeom>
          <a:solidFill>
            <a:schemeClr val="bg2"/>
          </a:solidFill>
          <a:ln w="19050">
            <a:solidFill>
              <a:schemeClr val="tx2"/>
            </a:solidFill>
            <a:prstDash val="solid"/>
          </a:ln>
        </p:spPr>
      </p:sp>
      <p:sp>
        <p:nvSpPr>
          <p:cNvPr id="7" name="Text 5"/>
          <p:cNvSpPr txBox="1"/>
          <p:nvPr/>
        </p:nvSpPr>
        <p:spPr>
          <a:xfrm>
            <a:off x="713232" y="1997964"/>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18</a:t>
            </a:r>
            <a:endParaRPr lang="en-US" sz="1600" dirty="0"/>
          </a:p>
        </p:txBody>
      </p:sp>
      <p:sp>
        <p:nvSpPr>
          <p:cNvPr id="8" name="Text 6"/>
          <p:cNvSpPr txBox="1"/>
          <p:nvPr/>
        </p:nvSpPr>
        <p:spPr>
          <a:xfrm>
            <a:off x="1444752" y="1979676"/>
            <a:ext cx="10012680" cy="1801368"/>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وَلَا تُصَعِّرْ خَدَّكَ لِلنَّاسِ وَلَا تَمْشِ فِي الْأَرْضِ مَرَحًا إِنَّ اللَّهَ لَا يُحِبُّ كُلَّ مُخْتَالٍ فَخُورٍ</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Do not turn your face away from people in arrogance, and do not walk proudly on the earth. Allah does not love anyone arrogant and boastful.</a:t>
            </a:r>
            <a:endParaRPr lang="en-US" sz="3000" dirty="0"/>
          </a:p>
        </p:txBody>
      </p:sp>
      <p:sp>
        <p:nvSpPr>
          <p:cNvPr id="9" name="Shape 7"/>
          <p:cNvSpPr/>
          <p:nvPr/>
        </p:nvSpPr>
        <p:spPr>
          <a:xfrm>
            <a:off x="1444752" y="3968496"/>
            <a:ext cx="8641080" cy="0"/>
          </a:xfrm>
          <a:prstGeom prst="line">
            <a:avLst/>
          </a:prstGeom>
          <a:noFill/>
          <a:ln w="9525">
            <a:solidFill>
              <a:schemeClr val="accent2"/>
            </a:solidFill>
            <a:prstDash val="dash"/>
          </a:ln>
        </p:spPr>
      </p:sp>
      <p:sp>
        <p:nvSpPr>
          <p:cNvPr id="10" name="Shape 8"/>
          <p:cNvSpPr/>
          <p:nvPr/>
        </p:nvSpPr>
        <p:spPr>
          <a:xfrm>
            <a:off x="713232" y="4201668"/>
            <a:ext cx="548640" cy="548640"/>
          </a:xfrm>
          <a:prstGeom prst="star8">
            <a:avLst/>
          </a:prstGeom>
          <a:solidFill>
            <a:schemeClr val="accent2"/>
          </a:solidFill>
          <a:ln/>
        </p:spPr>
      </p:sp>
      <p:sp>
        <p:nvSpPr>
          <p:cNvPr id="11" name="Shape 9"/>
          <p:cNvSpPr/>
          <p:nvPr/>
        </p:nvSpPr>
        <p:spPr>
          <a:xfrm>
            <a:off x="822960" y="4311396"/>
            <a:ext cx="329184" cy="329184"/>
          </a:xfrm>
          <a:prstGeom prst="ellipse">
            <a:avLst/>
          </a:prstGeom>
          <a:solidFill>
            <a:schemeClr val="bg2"/>
          </a:solidFill>
          <a:ln w="19050">
            <a:solidFill>
              <a:schemeClr val="tx2"/>
            </a:solidFill>
            <a:prstDash val="solid"/>
          </a:ln>
        </p:spPr>
      </p:sp>
      <p:sp>
        <p:nvSpPr>
          <p:cNvPr id="12" name="Text 10"/>
          <p:cNvSpPr txBox="1"/>
          <p:nvPr/>
        </p:nvSpPr>
        <p:spPr>
          <a:xfrm>
            <a:off x="713232" y="4201668"/>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19</a:t>
            </a:r>
            <a:endParaRPr lang="en-US" sz="1600" dirty="0"/>
          </a:p>
        </p:txBody>
      </p:sp>
      <p:sp>
        <p:nvSpPr>
          <p:cNvPr id="13" name="Text 11"/>
          <p:cNvSpPr txBox="1"/>
          <p:nvPr/>
        </p:nvSpPr>
        <p:spPr>
          <a:xfrm>
            <a:off x="1444752" y="4183380"/>
            <a:ext cx="10012680" cy="1252728"/>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وَاقْصِدْ فِي مَشْيِكَ وَاغْضُضْ مِن صَوْتِكَ إِنَّ أَنكَرَ الْأَصْوَٰتِ لَصَوْتُ الْحَمِيرِ</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Walk at a moderate pace, neither too fast nor too slow, and lower your voice. The ugliest of voices is the braying of donkeys.</a:t>
            </a:r>
            <a:endParaRPr lang="en-US" sz="3000" dirty="0"/>
          </a:p>
        </p:txBody>
      </p:sp>
      <p:sp>
        <p:nvSpPr>
          <p:cNvPr id="25" name="Slide Number Placeholder 0"/>
          <p:cNvSpPr>
            <a:spLocks noGrp="1"/>
          </p:cNvSpPr>
          <p:nvPr>
            <p:ph type="sldNum" sz="quarter" idx="4294967295"/>
          </p:nvPr>
        </p:nvSpPr>
        <p:spPr>
          <a:xfrm>
            <a:off x="1115568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43</a:t>
            </a:fld>
            <a:endParaRPr lang="en-US"/>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name="Slide 44">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algn="ctr" indent="0" marL="0">
              <a:buNone/>
            </a:pPr>
            <a:r>
              <a:rPr lang="en-US" sz="2400" b="1" dirty="0">
                <a:solidFill>
                  <a:schemeClr val="bg1"/>
                </a:solidFill>
                <a:latin typeface="Georgia" pitchFamily="34" charset="0"/>
                <a:ea typeface="Georgia" pitchFamily="34" charset="-122"/>
                <a:cs typeface="Georgia" pitchFamily="34" charset="-120"/>
              </a:rPr>
              <a:t>Surah Luqman</a:t>
            </a:r>
            <a:endParaRPr lang="en-US" sz="2400" dirty="0"/>
          </a:p>
        </p:txBody>
      </p:sp>
      <p:sp>
        <p:nvSpPr>
          <p:cNvPr id="3" name="Text 1"/>
          <p:cNvSpPr txBox="1"/>
          <p:nvPr/>
        </p:nvSpPr>
        <p:spPr>
          <a:xfrm>
            <a:off x="777240" y="548640"/>
            <a:ext cx="2651760" cy="384048"/>
          </a:xfrm>
          <a:prstGeom prst="rect">
            <a:avLst/>
          </a:prstGeom>
          <a:noFill/>
          <a:ln/>
        </p:spPr>
        <p:txBody>
          <a:bodyPr wrap="square" lIns="0" tIns="0" rIns="0" bIns="0" rtlCol="0" anchor="ctr"/>
          <a:lstStyle/>
          <a:p>
            <a:pPr algn="l" indent="0" marL="0">
              <a:buNone/>
            </a:pPr>
            <a:r>
              <a:rPr lang="en-US" altLang="en-US" sz="1500" b="1" dirty="0">
                <a:solidFill>
                  <a:schemeClr val="accent2"/>
                </a:solidFill>
                <a:latin typeface="Arial" pitchFamily="34" charset="0"/>
                <a:ea typeface="Arial" pitchFamily="34" charset="-122"/>
                <a:cs typeface="Arial" pitchFamily="34" charset="-120"/>
              </a:rPr>
              <a:t>Verses 20 – 21</a:t>
            </a:r>
            <a:endParaRPr lang="en-US" sz="1500" dirty="0"/>
          </a:p>
        </p:txBody>
      </p:sp>
      <p:sp>
        <p:nvSpPr>
          <p:cNvPr id="4" name="Text 2"/>
          <p:cNvSpPr txBox="1"/>
          <p:nvPr/>
        </p:nvSpPr>
        <p:spPr>
          <a:xfrm>
            <a:off x="8732520" y="548640"/>
            <a:ext cx="2651760" cy="384048"/>
          </a:xfrm>
          <a:prstGeom prst="rect">
            <a:avLst/>
          </a:prstGeom>
          <a:noFill/>
          <a:ln/>
        </p:spPr>
        <p:txBody>
          <a:bodyPr wrap="square" lIns="0" tIns="0" rIns="0" bIns="0" rtlCol="0" anchor="ctr"/>
          <a:lstStyle/>
          <a:p>
            <a:pPr algn="r" indent="0" marL="0">
              <a:buNone/>
            </a:pPr>
            <a:r>
              <a:rPr lang="en-US" altLang="en-US" sz="1300" i="1" dirty="0">
                <a:solidFill>
                  <a:schemeClr val="accent4"/>
                </a:solidFill>
                <a:latin typeface="Arial" pitchFamily="34" charset="0"/>
                <a:ea typeface="Arial" pitchFamily="34" charset="-122"/>
                <a:cs typeface="Arial" pitchFamily="34" charset="-120"/>
              </a:rPr>
              <a:t>Ibn Kathir, simplified</a:t>
            </a:r>
            <a:endParaRPr lang="en-US" sz="1300" dirty="0"/>
          </a:p>
        </p:txBody>
      </p:sp>
      <p:sp>
        <p:nvSpPr>
          <p:cNvPr id="5" name="Shape 3"/>
          <p:cNvSpPr/>
          <p:nvPr/>
        </p:nvSpPr>
        <p:spPr>
          <a:xfrm>
            <a:off x="713232" y="1593342"/>
            <a:ext cx="548640" cy="548640"/>
          </a:xfrm>
          <a:prstGeom prst="star8">
            <a:avLst/>
          </a:prstGeom>
          <a:solidFill>
            <a:schemeClr val="accent2"/>
          </a:solidFill>
          <a:ln/>
        </p:spPr>
      </p:sp>
      <p:sp>
        <p:nvSpPr>
          <p:cNvPr id="6" name="Shape 4"/>
          <p:cNvSpPr/>
          <p:nvPr/>
        </p:nvSpPr>
        <p:spPr>
          <a:xfrm>
            <a:off x="822960" y="1703070"/>
            <a:ext cx="329184" cy="329184"/>
          </a:xfrm>
          <a:prstGeom prst="ellipse">
            <a:avLst/>
          </a:prstGeom>
          <a:solidFill>
            <a:schemeClr val="bg2"/>
          </a:solidFill>
          <a:ln w="19050">
            <a:solidFill>
              <a:schemeClr val="tx2"/>
            </a:solidFill>
            <a:prstDash val="solid"/>
          </a:ln>
        </p:spPr>
      </p:sp>
      <p:sp>
        <p:nvSpPr>
          <p:cNvPr id="7" name="Text 5"/>
          <p:cNvSpPr txBox="1"/>
          <p:nvPr/>
        </p:nvSpPr>
        <p:spPr>
          <a:xfrm>
            <a:off x="713232" y="1593342"/>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20</a:t>
            </a:r>
            <a:endParaRPr lang="en-US" sz="1600" dirty="0"/>
          </a:p>
        </p:txBody>
      </p:sp>
      <p:sp>
        <p:nvSpPr>
          <p:cNvPr id="8" name="Text 6"/>
          <p:cNvSpPr txBox="1"/>
          <p:nvPr/>
        </p:nvSpPr>
        <p:spPr>
          <a:xfrm>
            <a:off x="1444752" y="1575054"/>
            <a:ext cx="10012680" cy="2061972"/>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أَلَمْ تَرَوْاْ أَنَّ اللَّهَ سَخَّرَ لَكُم مَّا فِي السَّمَٰوَٰتِ وَمَا فِي الْأَرْضِ وَأَسْبَغَ عَلَيْكُمْ نِعَمَهُ ظَٰهِرَةً وَبَاطِنَةً وَمِنَ النَّاسِ مَن يُجَٰدِلُ فِي اللَّهِ بِغَيْرِ عِلْمٍ وَلَا هُدًى وَلَا كِتَٰبٍ مُّنِيرٍ</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Do you not see that Allah has made whatever is in the heavens and the earth serve you, and has completed His blessings on you, outward and inward? Yet among people is one who argues about Allah without knowledge, guidance or an enlightening Book.</a:t>
            </a:r>
            <a:endParaRPr lang="en-US" sz="3000" dirty="0"/>
          </a:p>
        </p:txBody>
      </p:sp>
      <p:sp>
        <p:nvSpPr>
          <p:cNvPr id="9" name="Shape 7"/>
          <p:cNvSpPr/>
          <p:nvPr/>
        </p:nvSpPr>
        <p:spPr>
          <a:xfrm>
            <a:off x="1444752" y="3824478"/>
            <a:ext cx="8641080" cy="0"/>
          </a:xfrm>
          <a:prstGeom prst="line">
            <a:avLst/>
          </a:prstGeom>
          <a:noFill/>
          <a:ln w="9525">
            <a:solidFill>
              <a:schemeClr val="accent2"/>
            </a:solidFill>
            <a:prstDash val="dash"/>
          </a:ln>
        </p:spPr>
      </p:sp>
      <p:sp>
        <p:nvSpPr>
          <p:cNvPr id="10" name="Shape 8"/>
          <p:cNvSpPr/>
          <p:nvPr/>
        </p:nvSpPr>
        <p:spPr>
          <a:xfrm>
            <a:off x="713232" y="4057650"/>
            <a:ext cx="548640" cy="548640"/>
          </a:xfrm>
          <a:prstGeom prst="star8">
            <a:avLst/>
          </a:prstGeom>
          <a:solidFill>
            <a:schemeClr val="accent2"/>
          </a:solidFill>
          <a:ln/>
        </p:spPr>
      </p:sp>
      <p:sp>
        <p:nvSpPr>
          <p:cNvPr id="11" name="Shape 9"/>
          <p:cNvSpPr/>
          <p:nvPr/>
        </p:nvSpPr>
        <p:spPr>
          <a:xfrm>
            <a:off x="822960" y="4167378"/>
            <a:ext cx="329184" cy="329184"/>
          </a:xfrm>
          <a:prstGeom prst="ellipse">
            <a:avLst/>
          </a:prstGeom>
          <a:solidFill>
            <a:schemeClr val="bg2"/>
          </a:solidFill>
          <a:ln w="19050">
            <a:solidFill>
              <a:schemeClr val="tx2"/>
            </a:solidFill>
            <a:prstDash val="solid"/>
          </a:ln>
        </p:spPr>
      </p:sp>
      <p:sp>
        <p:nvSpPr>
          <p:cNvPr id="12" name="Text 10"/>
          <p:cNvSpPr txBox="1"/>
          <p:nvPr/>
        </p:nvSpPr>
        <p:spPr>
          <a:xfrm>
            <a:off x="713232" y="4057650"/>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21</a:t>
            </a:r>
            <a:endParaRPr lang="en-US" sz="1600" dirty="0"/>
          </a:p>
        </p:txBody>
      </p:sp>
      <p:sp>
        <p:nvSpPr>
          <p:cNvPr id="13" name="Text 11"/>
          <p:cNvSpPr txBox="1"/>
          <p:nvPr/>
        </p:nvSpPr>
        <p:spPr>
          <a:xfrm>
            <a:off x="1444752" y="4039362"/>
            <a:ext cx="10012680" cy="1801368"/>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وَإِذَا قِيلَ لَهُمُ اتَّبِعُواْ مَآ أَنزَلَ اللَّهُ قَالُواْ بَلْ نَتَّبِعُ مَا وَجَدْنَا عَلَيْهِ ءَابَآءَنَآ أَوَلَوْ كَانَ الشَّيْطَٰنُ يَدْعُوهُمْ إِلَىٰ عَذَابِ السَّعِيرِ</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When they are told: Follow what Allah has sent down, they say: No, we will follow what we found our fathers doing. Even if Satan is calling them to the punishment of the Fire?</a:t>
            </a:r>
            <a:endParaRPr lang="en-US" sz="3000" dirty="0"/>
          </a:p>
        </p:txBody>
      </p:sp>
      <p:sp>
        <p:nvSpPr>
          <p:cNvPr id="25" name="Slide Number Placeholder 0"/>
          <p:cNvSpPr>
            <a:spLocks noGrp="1"/>
          </p:cNvSpPr>
          <p:nvPr>
            <p:ph type="sldNum" sz="quarter" idx="4294967295"/>
          </p:nvPr>
        </p:nvSpPr>
        <p:spPr>
          <a:xfrm>
            <a:off x="1115568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44</a:t>
            </a:fld>
            <a:endParaRPr lang="en-US"/>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name="Slide 45">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algn="ctr" indent="0" marL="0">
              <a:buNone/>
            </a:pPr>
            <a:r>
              <a:rPr lang="en-US" sz="2400" b="1" dirty="0">
                <a:solidFill>
                  <a:schemeClr val="bg1"/>
                </a:solidFill>
                <a:latin typeface="Georgia" pitchFamily="34" charset="0"/>
                <a:ea typeface="Georgia" pitchFamily="34" charset="-122"/>
                <a:cs typeface="Georgia" pitchFamily="34" charset="-120"/>
              </a:rPr>
              <a:t>Surah Luqman</a:t>
            </a:r>
            <a:endParaRPr lang="en-US" sz="2400" dirty="0"/>
          </a:p>
        </p:txBody>
      </p:sp>
      <p:sp>
        <p:nvSpPr>
          <p:cNvPr id="3" name="Text 1"/>
          <p:cNvSpPr txBox="1"/>
          <p:nvPr/>
        </p:nvSpPr>
        <p:spPr>
          <a:xfrm>
            <a:off x="777240" y="548640"/>
            <a:ext cx="2651760" cy="384048"/>
          </a:xfrm>
          <a:prstGeom prst="rect">
            <a:avLst/>
          </a:prstGeom>
          <a:noFill/>
          <a:ln/>
        </p:spPr>
        <p:txBody>
          <a:bodyPr wrap="square" lIns="0" tIns="0" rIns="0" bIns="0" rtlCol="0" anchor="ctr"/>
          <a:lstStyle/>
          <a:p>
            <a:pPr algn="l" indent="0" marL="0">
              <a:buNone/>
            </a:pPr>
            <a:r>
              <a:rPr lang="en-US" altLang="en-US" sz="1500" b="1" dirty="0">
                <a:solidFill>
                  <a:schemeClr val="accent2"/>
                </a:solidFill>
                <a:latin typeface="Arial" pitchFamily="34" charset="0"/>
                <a:ea typeface="Arial" pitchFamily="34" charset="-122"/>
                <a:cs typeface="Arial" pitchFamily="34" charset="-120"/>
              </a:rPr>
              <a:t>Verses 22 – 23</a:t>
            </a:r>
            <a:endParaRPr lang="en-US" sz="1500" dirty="0"/>
          </a:p>
        </p:txBody>
      </p:sp>
      <p:sp>
        <p:nvSpPr>
          <p:cNvPr id="4" name="Text 2"/>
          <p:cNvSpPr txBox="1"/>
          <p:nvPr/>
        </p:nvSpPr>
        <p:spPr>
          <a:xfrm>
            <a:off x="8732520" y="548640"/>
            <a:ext cx="2651760" cy="384048"/>
          </a:xfrm>
          <a:prstGeom prst="rect">
            <a:avLst/>
          </a:prstGeom>
          <a:noFill/>
          <a:ln/>
        </p:spPr>
        <p:txBody>
          <a:bodyPr wrap="square" lIns="0" tIns="0" rIns="0" bIns="0" rtlCol="0" anchor="ctr"/>
          <a:lstStyle/>
          <a:p>
            <a:pPr algn="r" indent="0" marL="0">
              <a:buNone/>
            </a:pPr>
            <a:r>
              <a:rPr lang="en-US" altLang="en-US" sz="1300" i="1" dirty="0">
                <a:solidFill>
                  <a:schemeClr val="accent4"/>
                </a:solidFill>
                <a:latin typeface="Arial" pitchFamily="34" charset="0"/>
                <a:ea typeface="Arial" pitchFamily="34" charset="-122"/>
                <a:cs typeface="Arial" pitchFamily="34" charset="-120"/>
              </a:rPr>
              <a:t>Ibn Kathir, simplified</a:t>
            </a:r>
            <a:endParaRPr lang="en-US" sz="1300" dirty="0"/>
          </a:p>
        </p:txBody>
      </p:sp>
      <p:sp>
        <p:nvSpPr>
          <p:cNvPr id="5" name="Shape 3"/>
          <p:cNvSpPr/>
          <p:nvPr/>
        </p:nvSpPr>
        <p:spPr>
          <a:xfrm>
            <a:off x="713232" y="1723644"/>
            <a:ext cx="548640" cy="548640"/>
          </a:xfrm>
          <a:prstGeom prst="star8">
            <a:avLst/>
          </a:prstGeom>
          <a:solidFill>
            <a:schemeClr val="accent2"/>
          </a:solidFill>
          <a:ln/>
        </p:spPr>
      </p:sp>
      <p:sp>
        <p:nvSpPr>
          <p:cNvPr id="6" name="Shape 4"/>
          <p:cNvSpPr/>
          <p:nvPr/>
        </p:nvSpPr>
        <p:spPr>
          <a:xfrm>
            <a:off x="822960" y="1833372"/>
            <a:ext cx="329184" cy="329184"/>
          </a:xfrm>
          <a:prstGeom prst="ellipse">
            <a:avLst/>
          </a:prstGeom>
          <a:solidFill>
            <a:schemeClr val="bg2"/>
          </a:solidFill>
          <a:ln w="19050">
            <a:solidFill>
              <a:schemeClr val="tx2"/>
            </a:solidFill>
            <a:prstDash val="solid"/>
          </a:ln>
        </p:spPr>
      </p:sp>
      <p:sp>
        <p:nvSpPr>
          <p:cNvPr id="7" name="Text 5"/>
          <p:cNvSpPr txBox="1"/>
          <p:nvPr/>
        </p:nvSpPr>
        <p:spPr>
          <a:xfrm>
            <a:off x="713232" y="1723644"/>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22</a:t>
            </a:r>
            <a:endParaRPr lang="en-US" sz="1600" dirty="0"/>
          </a:p>
        </p:txBody>
      </p:sp>
      <p:sp>
        <p:nvSpPr>
          <p:cNvPr id="8" name="Text 6"/>
          <p:cNvSpPr txBox="1"/>
          <p:nvPr/>
        </p:nvSpPr>
        <p:spPr>
          <a:xfrm>
            <a:off x="1444752" y="1705356"/>
            <a:ext cx="10012680" cy="1801368"/>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وَمَن يُسْلِمْ وَجْهَهُ إِلَى اللَّهِ وَهُوَ مُحْسِنٌ فَقَدِ اسْتَمْسَكَ بِالْعُرْوَةِ الْوُثْقَىٰ وَإِلَى اللَّهِ عَٰقِبَةُ الْأُمُورِ</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Whoever submits his worship sincerely to Allah while doing good has held on to the strongest handhold to safety, and to Allah is the end of all matters.</a:t>
            </a:r>
            <a:endParaRPr lang="en-US" sz="3000" dirty="0"/>
          </a:p>
        </p:txBody>
      </p:sp>
      <p:sp>
        <p:nvSpPr>
          <p:cNvPr id="9" name="Shape 7"/>
          <p:cNvSpPr/>
          <p:nvPr/>
        </p:nvSpPr>
        <p:spPr>
          <a:xfrm>
            <a:off x="1444752" y="3694176"/>
            <a:ext cx="8641080" cy="0"/>
          </a:xfrm>
          <a:prstGeom prst="line">
            <a:avLst/>
          </a:prstGeom>
          <a:noFill/>
          <a:ln w="9525">
            <a:solidFill>
              <a:schemeClr val="accent2"/>
            </a:solidFill>
            <a:prstDash val="dash"/>
          </a:ln>
        </p:spPr>
      </p:sp>
      <p:sp>
        <p:nvSpPr>
          <p:cNvPr id="10" name="Shape 8"/>
          <p:cNvSpPr/>
          <p:nvPr/>
        </p:nvSpPr>
        <p:spPr>
          <a:xfrm>
            <a:off x="713232" y="3927348"/>
            <a:ext cx="548640" cy="548640"/>
          </a:xfrm>
          <a:prstGeom prst="star8">
            <a:avLst/>
          </a:prstGeom>
          <a:solidFill>
            <a:schemeClr val="accent2"/>
          </a:solidFill>
          <a:ln/>
        </p:spPr>
      </p:sp>
      <p:sp>
        <p:nvSpPr>
          <p:cNvPr id="11" name="Shape 9"/>
          <p:cNvSpPr/>
          <p:nvPr/>
        </p:nvSpPr>
        <p:spPr>
          <a:xfrm>
            <a:off x="822960" y="4037076"/>
            <a:ext cx="329184" cy="329184"/>
          </a:xfrm>
          <a:prstGeom prst="ellipse">
            <a:avLst/>
          </a:prstGeom>
          <a:solidFill>
            <a:schemeClr val="bg2"/>
          </a:solidFill>
          <a:ln w="19050">
            <a:solidFill>
              <a:schemeClr val="tx2"/>
            </a:solidFill>
            <a:prstDash val="solid"/>
          </a:ln>
        </p:spPr>
      </p:sp>
      <p:sp>
        <p:nvSpPr>
          <p:cNvPr id="12" name="Text 10"/>
          <p:cNvSpPr txBox="1"/>
          <p:nvPr/>
        </p:nvSpPr>
        <p:spPr>
          <a:xfrm>
            <a:off x="713232" y="3927348"/>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23</a:t>
            </a:r>
            <a:endParaRPr lang="en-US" sz="1600" dirty="0"/>
          </a:p>
        </p:txBody>
      </p:sp>
      <p:sp>
        <p:nvSpPr>
          <p:cNvPr id="13" name="Text 11"/>
          <p:cNvSpPr txBox="1"/>
          <p:nvPr/>
        </p:nvSpPr>
        <p:spPr>
          <a:xfrm>
            <a:off x="1444752" y="3909060"/>
            <a:ext cx="10012680" cy="1801368"/>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وَمَن كَفَرَ فَلَا يَحْزُنكَ كُفْرُهُ إِلَيْنَا مَرْجِعُهُمْ فَنُنَبِّئُهُم بِمَا عَمِلُواْ إِنَّ اللَّهَ عَلِيمٌ بِذَاتِ الصُّدُورِ</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Whoever disbelieves, do not let his disbelief sadden you. To Us is their return, and We will tell them what they did. Allah knows what is in the hearts.</a:t>
            </a:r>
            <a:endParaRPr lang="en-US" sz="3000" dirty="0"/>
          </a:p>
        </p:txBody>
      </p:sp>
      <p:sp>
        <p:nvSpPr>
          <p:cNvPr id="25" name="Slide Number Placeholder 0"/>
          <p:cNvSpPr>
            <a:spLocks noGrp="1"/>
          </p:cNvSpPr>
          <p:nvPr>
            <p:ph type="sldNum" sz="quarter" idx="4294967295"/>
          </p:nvPr>
        </p:nvSpPr>
        <p:spPr>
          <a:xfrm>
            <a:off x="1115568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45</a:t>
            </a:fld>
            <a:endParaRPr lang="en-US"/>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name="Slide 46">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algn="ctr" indent="0" marL="0">
              <a:buNone/>
            </a:pPr>
            <a:r>
              <a:rPr lang="en-US" sz="2400" b="1" dirty="0">
                <a:solidFill>
                  <a:schemeClr val="bg1"/>
                </a:solidFill>
                <a:latin typeface="Georgia" pitchFamily="34" charset="0"/>
                <a:ea typeface="Georgia" pitchFamily="34" charset="-122"/>
                <a:cs typeface="Georgia" pitchFamily="34" charset="-120"/>
              </a:rPr>
              <a:t>Surah Luqman</a:t>
            </a:r>
            <a:endParaRPr lang="en-US" sz="2400" dirty="0"/>
          </a:p>
        </p:txBody>
      </p:sp>
      <p:sp>
        <p:nvSpPr>
          <p:cNvPr id="3" name="Text 1"/>
          <p:cNvSpPr txBox="1"/>
          <p:nvPr/>
        </p:nvSpPr>
        <p:spPr>
          <a:xfrm>
            <a:off x="777240" y="548640"/>
            <a:ext cx="2651760" cy="384048"/>
          </a:xfrm>
          <a:prstGeom prst="rect">
            <a:avLst/>
          </a:prstGeom>
          <a:noFill/>
          <a:ln/>
        </p:spPr>
        <p:txBody>
          <a:bodyPr wrap="square" lIns="0" tIns="0" rIns="0" bIns="0" rtlCol="0" anchor="ctr"/>
          <a:lstStyle/>
          <a:p>
            <a:pPr algn="l" indent="0" marL="0">
              <a:buNone/>
            </a:pPr>
            <a:r>
              <a:rPr lang="en-US" altLang="en-US" sz="1500" b="1" dirty="0">
                <a:solidFill>
                  <a:schemeClr val="accent2"/>
                </a:solidFill>
                <a:latin typeface="Arial" pitchFamily="34" charset="0"/>
                <a:ea typeface="Arial" pitchFamily="34" charset="-122"/>
                <a:cs typeface="Arial" pitchFamily="34" charset="-120"/>
              </a:rPr>
              <a:t>Verses 24 – 26</a:t>
            </a:r>
            <a:endParaRPr lang="en-US" sz="1500" dirty="0"/>
          </a:p>
        </p:txBody>
      </p:sp>
      <p:sp>
        <p:nvSpPr>
          <p:cNvPr id="4" name="Text 2"/>
          <p:cNvSpPr txBox="1"/>
          <p:nvPr/>
        </p:nvSpPr>
        <p:spPr>
          <a:xfrm>
            <a:off x="8732520" y="548640"/>
            <a:ext cx="2651760" cy="384048"/>
          </a:xfrm>
          <a:prstGeom prst="rect">
            <a:avLst/>
          </a:prstGeom>
          <a:noFill/>
          <a:ln/>
        </p:spPr>
        <p:txBody>
          <a:bodyPr wrap="square" lIns="0" tIns="0" rIns="0" bIns="0" rtlCol="0" anchor="ctr"/>
          <a:lstStyle/>
          <a:p>
            <a:pPr algn="r" indent="0" marL="0">
              <a:buNone/>
            </a:pPr>
            <a:r>
              <a:rPr lang="en-US" altLang="en-US" sz="1300" i="1" dirty="0">
                <a:solidFill>
                  <a:schemeClr val="accent4"/>
                </a:solidFill>
                <a:latin typeface="Arial" pitchFamily="34" charset="0"/>
                <a:ea typeface="Arial" pitchFamily="34" charset="-122"/>
                <a:cs typeface="Arial" pitchFamily="34" charset="-120"/>
              </a:rPr>
              <a:t>Ibn Kathir, simplified</a:t>
            </a:r>
            <a:endParaRPr lang="en-US" sz="1300" dirty="0"/>
          </a:p>
        </p:txBody>
      </p:sp>
      <p:sp>
        <p:nvSpPr>
          <p:cNvPr id="5" name="Shape 3"/>
          <p:cNvSpPr/>
          <p:nvPr/>
        </p:nvSpPr>
        <p:spPr>
          <a:xfrm>
            <a:off x="713232" y="1405890"/>
            <a:ext cx="548640" cy="548640"/>
          </a:xfrm>
          <a:prstGeom prst="star8">
            <a:avLst/>
          </a:prstGeom>
          <a:solidFill>
            <a:schemeClr val="accent2"/>
          </a:solidFill>
          <a:ln/>
        </p:spPr>
      </p:sp>
      <p:sp>
        <p:nvSpPr>
          <p:cNvPr id="6" name="Shape 4"/>
          <p:cNvSpPr/>
          <p:nvPr/>
        </p:nvSpPr>
        <p:spPr>
          <a:xfrm>
            <a:off x="822960" y="1515618"/>
            <a:ext cx="329184" cy="329184"/>
          </a:xfrm>
          <a:prstGeom prst="ellipse">
            <a:avLst/>
          </a:prstGeom>
          <a:solidFill>
            <a:schemeClr val="bg2"/>
          </a:solidFill>
          <a:ln w="19050">
            <a:solidFill>
              <a:schemeClr val="tx2"/>
            </a:solidFill>
            <a:prstDash val="solid"/>
          </a:ln>
        </p:spPr>
      </p:sp>
      <p:sp>
        <p:nvSpPr>
          <p:cNvPr id="7" name="Text 5"/>
          <p:cNvSpPr txBox="1"/>
          <p:nvPr/>
        </p:nvSpPr>
        <p:spPr>
          <a:xfrm>
            <a:off x="713232" y="1405890"/>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24</a:t>
            </a:r>
            <a:endParaRPr lang="en-US" sz="1600" dirty="0"/>
          </a:p>
        </p:txBody>
      </p:sp>
      <p:sp>
        <p:nvSpPr>
          <p:cNvPr id="8" name="Text 6"/>
          <p:cNvSpPr txBox="1"/>
          <p:nvPr/>
        </p:nvSpPr>
        <p:spPr>
          <a:xfrm>
            <a:off x="1444752" y="1387602"/>
            <a:ext cx="10012680" cy="992124"/>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نُمَتِّعُهُمْ قَلِيلًا ثُمَّ نَضْطَرُّهُمْ إِلَىٰ عَذَابٍ غَلِيظٍ</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We let them enjoy this world a little, then We will force them into a harsh punishment.</a:t>
            </a:r>
            <a:endParaRPr lang="en-US" sz="3000" dirty="0"/>
          </a:p>
        </p:txBody>
      </p:sp>
      <p:sp>
        <p:nvSpPr>
          <p:cNvPr id="9" name="Shape 7"/>
          <p:cNvSpPr/>
          <p:nvPr/>
        </p:nvSpPr>
        <p:spPr>
          <a:xfrm>
            <a:off x="1444752" y="2514600"/>
            <a:ext cx="8641080" cy="0"/>
          </a:xfrm>
          <a:prstGeom prst="line">
            <a:avLst/>
          </a:prstGeom>
          <a:noFill/>
          <a:ln w="9525">
            <a:solidFill>
              <a:schemeClr val="accent2"/>
            </a:solidFill>
            <a:prstDash val="dash"/>
          </a:ln>
        </p:spPr>
      </p:sp>
      <p:sp>
        <p:nvSpPr>
          <p:cNvPr id="10" name="Shape 8"/>
          <p:cNvSpPr/>
          <p:nvPr/>
        </p:nvSpPr>
        <p:spPr>
          <a:xfrm>
            <a:off x="713232" y="2695194"/>
            <a:ext cx="548640" cy="548640"/>
          </a:xfrm>
          <a:prstGeom prst="star8">
            <a:avLst/>
          </a:prstGeom>
          <a:solidFill>
            <a:schemeClr val="accent2"/>
          </a:solidFill>
          <a:ln/>
        </p:spPr>
      </p:sp>
      <p:sp>
        <p:nvSpPr>
          <p:cNvPr id="11" name="Shape 9"/>
          <p:cNvSpPr/>
          <p:nvPr/>
        </p:nvSpPr>
        <p:spPr>
          <a:xfrm>
            <a:off x="822960" y="2804922"/>
            <a:ext cx="329184" cy="329184"/>
          </a:xfrm>
          <a:prstGeom prst="ellipse">
            <a:avLst/>
          </a:prstGeom>
          <a:solidFill>
            <a:schemeClr val="bg2"/>
          </a:solidFill>
          <a:ln w="19050">
            <a:solidFill>
              <a:schemeClr val="tx2"/>
            </a:solidFill>
            <a:prstDash val="solid"/>
          </a:ln>
        </p:spPr>
      </p:sp>
      <p:sp>
        <p:nvSpPr>
          <p:cNvPr id="12" name="Text 10"/>
          <p:cNvSpPr txBox="1"/>
          <p:nvPr/>
        </p:nvSpPr>
        <p:spPr>
          <a:xfrm>
            <a:off x="713232" y="2695194"/>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25</a:t>
            </a:r>
            <a:endParaRPr lang="en-US" sz="1600" dirty="0"/>
          </a:p>
        </p:txBody>
      </p:sp>
      <p:sp>
        <p:nvSpPr>
          <p:cNvPr id="13" name="Text 11"/>
          <p:cNvSpPr txBox="1"/>
          <p:nvPr/>
        </p:nvSpPr>
        <p:spPr>
          <a:xfrm>
            <a:off x="1444752" y="2676906"/>
            <a:ext cx="10012680" cy="1801368"/>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وَلَئِن سَأَلْتَهُم مَّنْ خَلَقَ السَّمَٰوَٰتِ وَالْأَرْضَ لَيَقُولُنَّ اللَّهُ قُلِ الْحَمْدُ لِلَّهِ بَلْ أَكْثَرُهُمْ لَا يَعْلَمُونَ</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If you ask them who created the heavens and the earth, they will surely say: Allah. Say: All praise is for Allah. But most of them do not know.</a:t>
            </a:r>
            <a:endParaRPr lang="en-US" sz="3000" dirty="0"/>
          </a:p>
        </p:txBody>
      </p:sp>
      <p:sp>
        <p:nvSpPr>
          <p:cNvPr id="14" name="Shape 12"/>
          <p:cNvSpPr/>
          <p:nvPr/>
        </p:nvSpPr>
        <p:spPr>
          <a:xfrm>
            <a:off x="1444752" y="4613148"/>
            <a:ext cx="8641080" cy="0"/>
          </a:xfrm>
          <a:prstGeom prst="line">
            <a:avLst/>
          </a:prstGeom>
          <a:noFill/>
          <a:ln w="9525">
            <a:solidFill>
              <a:schemeClr val="accent2"/>
            </a:solidFill>
            <a:prstDash val="dash"/>
          </a:ln>
        </p:spPr>
      </p:sp>
      <p:sp>
        <p:nvSpPr>
          <p:cNvPr id="15" name="Shape 13"/>
          <p:cNvSpPr/>
          <p:nvPr/>
        </p:nvSpPr>
        <p:spPr>
          <a:xfrm>
            <a:off x="713232" y="4793742"/>
            <a:ext cx="548640" cy="548640"/>
          </a:xfrm>
          <a:prstGeom prst="star8">
            <a:avLst/>
          </a:prstGeom>
          <a:solidFill>
            <a:schemeClr val="accent2"/>
          </a:solidFill>
          <a:ln/>
        </p:spPr>
      </p:sp>
      <p:sp>
        <p:nvSpPr>
          <p:cNvPr id="16" name="Shape 14"/>
          <p:cNvSpPr/>
          <p:nvPr/>
        </p:nvSpPr>
        <p:spPr>
          <a:xfrm>
            <a:off x="822960" y="4903470"/>
            <a:ext cx="329184" cy="329184"/>
          </a:xfrm>
          <a:prstGeom prst="ellipse">
            <a:avLst/>
          </a:prstGeom>
          <a:solidFill>
            <a:schemeClr val="bg2"/>
          </a:solidFill>
          <a:ln w="19050">
            <a:solidFill>
              <a:schemeClr val="tx2"/>
            </a:solidFill>
            <a:prstDash val="solid"/>
          </a:ln>
        </p:spPr>
      </p:sp>
      <p:sp>
        <p:nvSpPr>
          <p:cNvPr id="17" name="Text 15"/>
          <p:cNvSpPr txBox="1"/>
          <p:nvPr/>
        </p:nvSpPr>
        <p:spPr>
          <a:xfrm>
            <a:off x="713232" y="4793742"/>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26</a:t>
            </a:r>
            <a:endParaRPr lang="en-US" sz="1600" dirty="0"/>
          </a:p>
        </p:txBody>
      </p:sp>
      <p:sp>
        <p:nvSpPr>
          <p:cNvPr id="18" name="Text 16"/>
          <p:cNvSpPr txBox="1"/>
          <p:nvPr/>
        </p:nvSpPr>
        <p:spPr>
          <a:xfrm>
            <a:off x="1444752" y="4775454"/>
            <a:ext cx="10012680" cy="1252728"/>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لِلَّهِ مَا فِي السَّمَٰوَٰتِ وَالْأَرْضِ إِنَّ اللَّهَ هُوَ الْغَنِيُّ الْحَمِيدُ</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To Allah belongs whatever is in the heavens and the earth. Allah is the Free of need, the Praiseworthy.</a:t>
            </a:r>
            <a:endParaRPr lang="en-US" sz="3000" dirty="0"/>
          </a:p>
        </p:txBody>
      </p:sp>
      <p:sp>
        <p:nvSpPr>
          <p:cNvPr id="25" name="Slide Number Placeholder 0"/>
          <p:cNvSpPr>
            <a:spLocks noGrp="1"/>
          </p:cNvSpPr>
          <p:nvPr>
            <p:ph type="sldNum" sz="quarter" idx="4294967295"/>
          </p:nvPr>
        </p:nvSpPr>
        <p:spPr>
          <a:xfrm>
            <a:off x="1115568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46</a:t>
            </a:fld>
            <a:endParaRPr lang="en-US"/>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name="Slide 47">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algn="ctr" indent="0" marL="0">
              <a:buNone/>
            </a:pPr>
            <a:r>
              <a:rPr lang="en-US" sz="2400" b="1" dirty="0">
                <a:solidFill>
                  <a:schemeClr val="bg1"/>
                </a:solidFill>
                <a:latin typeface="Georgia" pitchFamily="34" charset="0"/>
                <a:ea typeface="Georgia" pitchFamily="34" charset="-122"/>
                <a:cs typeface="Georgia" pitchFamily="34" charset="-120"/>
              </a:rPr>
              <a:t>Surah Luqman</a:t>
            </a:r>
            <a:endParaRPr lang="en-US" sz="2400" dirty="0"/>
          </a:p>
        </p:txBody>
      </p:sp>
      <p:sp>
        <p:nvSpPr>
          <p:cNvPr id="3" name="Text 1"/>
          <p:cNvSpPr txBox="1"/>
          <p:nvPr/>
        </p:nvSpPr>
        <p:spPr>
          <a:xfrm>
            <a:off x="777240" y="548640"/>
            <a:ext cx="2651760" cy="384048"/>
          </a:xfrm>
          <a:prstGeom prst="rect">
            <a:avLst/>
          </a:prstGeom>
          <a:noFill/>
          <a:ln/>
        </p:spPr>
        <p:txBody>
          <a:bodyPr wrap="square" lIns="0" tIns="0" rIns="0" bIns="0" rtlCol="0" anchor="ctr"/>
          <a:lstStyle/>
          <a:p>
            <a:pPr algn="l" indent="0" marL="0">
              <a:buNone/>
            </a:pPr>
            <a:r>
              <a:rPr lang="en-US" altLang="en-US" sz="1500" b="1" dirty="0">
                <a:solidFill>
                  <a:schemeClr val="accent2"/>
                </a:solidFill>
                <a:latin typeface="Arial" pitchFamily="34" charset="0"/>
                <a:ea typeface="Arial" pitchFamily="34" charset="-122"/>
                <a:cs typeface="Arial" pitchFamily="34" charset="-120"/>
              </a:rPr>
              <a:t>Verses 27 – 28</a:t>
            </a:r>
            <a:endParaRPr lang="en-US" sz="1500" dirty="0"/>
          </a:p>
        </p:txBody>
      </p:sp>
      <p:sp>
        <p:nvSpPr>
          <p:cNvPr id="4" name="Text 2"/>
          <p:cNvSpPr txBox="1"/>
          <p:nvPr/>
        </p:nvSpPr>
        <p:spPr>
          <a:xfrm>
            <a:off x="8732520" y="548640"/>
            <a:ext cx="2651760" cy="384048"/>
          </a:xfrm>
          <a:prstGeom prst="rect">
            <a:avLst/>
          </a:prstGeom>
          <a:noFill/>
          <a:ln/>
        </p:spPr>
        <p:txBody>
          <a:bodyPr wrap="square" lIns="0" tIns="0" rIns="0" bIns="0" rtlCol="0" anchor="ctr"/>
          <a:lstStyle/>
          <a:p>
            <a:pPr algn="r" indent="0" marL="0">
              <a:buNone/>
            </a:pPr>
            <a:r>
              <a:rPr lang="en-US" altLang="en-US" sz="1300" i="1" dirty="0">
                <a:solidFill>
                  <a:schemeClr val="accent4"/>
                </a:solidFill>
                <a:latin typeface="Arial" pitchFamily="34" charset="0"/>
                <a:ea typeface="Arial" pitchFamily="34" charset="-122"/>
                <a:cs typeface="Arial" pitchFamily="34" charset="-120"/>
              </a:rPr>
              <a:t>Ibn Kathir, simplified</a:t>
            </a:r>
            <a:endParaRPr lang="en-US" sz="1300" dirty="0"/>
          </a:p>
        </p:txBody>
      </p:sp>
      <p:sp>
        <p:nvSpPr>
          <p:cNvPr id="5" name="Shape 3"/>
          <p:cNvSpPr/>
          <p:nvPr/>
        </p:nvSpPr>
        <p:spPr>
          <a:xfrm>
            <a:off x="713232" y="1997964"/>
            <a:ext cx="548640" cy="548640"/>
          </a:xfrm>
          <a:prstGeom prst="star8">
            <a:avLst/>
          </a:prstGeom>
          <a:solidFill>
            <a:schemeClr val="accent2"/>
          </a:solidFill>
          <a:ln/>
        </p:spPr>
      </p:sp>
      <p:sp>
        <p:nvSpPr>
          <p:cNvPr id="6" name="Shape 4"/>
          <p:cNvSpPr/>
          <p:nvPr/>
        </p:nvSpPr>
        <p:spPr>
          <a:xfrm>
            <a:off x="822960" y="2107692"/>
            <a:ext cx="329184" cy="329184"/>
          </a:xfrm>
          <a:prstGeom prst="ellipse">
            <a:avLst/>
          </a:prstGeom>
          <a:solidFill>
            <a:schemeClr val="bg2"/>
          </a:solidFill>
          <a:ln w="19050">
            <a:solidFill>
              <a:schemeClr val="tx2"/>
            </a:solidFill>
            <a:prstDash val="solid"/>
          </a:ln>
        </p:spPr>
      </p:sp>
      <p:sp>
        <p:nvSpPr>
          <p:cNvPr id="7" name="Text 5"/>
          <p:cNvSpPr txBox="1"/>
          <p:nvPr/>
        </p:nvSpPr>
        <p:spPr>
          <a:xfrm>
            <a:off x="713232" y="1997964"/>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27</a:t>
            </a:r>
            <a:endParaRPr lang="en-US" sz="1600" dirty="0"/>
          </a:p>
        </p:txBody>
      </p:sp>
      <p:sp>
        <p:nvSpPr>
          <p:cNvPr id="8" name="Text 6"/>
          <p:cNvSpPr txBox="1"/>
          <p:nvPr/>
        </p:nvSpPr>
        <p:spPr>
          <a:xfrm>
            <a:off x="1444752" y="1979676"/>
            <a:ext cx="10012680" cy="1801368"/>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وَلَوْ أَنَّمَا فِي الْأَرْضِ مِن شَجَرَةٍ أَقْلَٰمٌ وَالْبَحْرُ يَمُدُّهُ مِن بَعْدِهِ سَبْعَةُ أَبْحُرٍ مَّا نَفِدَتْ كَلِمَٰتُ اللَّهِ إِنَّ اللَّهَ عَزِيزٌ حَكِيمٌ</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If all the trees on earth were pens, and the sea were ink, with seven more seas added to it, the words of Allah would never run out. Allah is Almighty, All-Wise.</a:t>
            </a:r>
            <a:endParaRPr lang="en-US" sz="3000" dirty="0"/>
          </a:p>
        </p:txBody>
      </p:sp>
      <p:sp>
        <p:nvSpPr>
          <p:cNvPr id="9" name="Shape 7"/>
          <p:cNvSpPr/>
          <p:nvPr/>
        </p:nvSpPr>
        <p:spPr>
          <a:xfrm>
            <a:off x="1444752" y="3968496"/>
            <a:ext cx="8641080" cy="0"/>
          </a:xfrm>
          <a:prstGeom prst="line">
            <a:avLst/>
          </a:prstGeom>
          <a:noFill/>
          <a:ln w="9525">
            <a:solidFill>
              <a:schemeClr val="accent2"/>
            </a:solidFill>
            <a:prstDash val="dash"/>
          </a:ln>
        </p:spPr>
      </p:sp>
      <p:sp>
        <p:nvSpPr>
          <p:cNvPr id="10" name="Shape 8"/>
          <p:cNvSpPr/>
          <p:nvPr/>
        </p:nvSpPr>
        <p:spPr>
          <a:xfrm>
            <a:off x="713232" y="4201668"/>
            <a:ext cx="548640" cy="548640"/>
          </a:xfrm>
          <a:prstGeom prst="star8">
            <a:avLst/>
          </a:prstGeom>
          <a:solidFill>
            <a:schemeClr val="accent2"/>
          </a:solidFill>
          <a:ln/>
        </p:spPr>
      </p:sp>
      <p:sp>
        <p:nvSpPr>
          <p:cNvPr id="11" name="Shape 9"/>
          <p:cNvSpPr/>
          <p:nvPr/>
        </p:nvSpPr>
        <p:spPr>
          <a:xfrm>
            <a:off x="822960" y="4311396"/>
            <a:ext cx="329184" cy="329184"/>
          </a:xfrm>
          <a:prstGeom prst="ellipse">
            <a:avLst/>
          </a:prstGeom>
          <a:solidFill>
            <a:schemeClr val="bg2"/>
          </a:solidFill>
          <a:ln w="19050">
            <a:solidFill>
              <a:schemeClr val="tx2"/>
            </a:solidFill>
            <a:prstDash val="solid"/>
          </a:ln>
        </p:spPr>
      </p:sp>
      <p:sp>
        <p:nvSpPr>
          <p:cNvPr id="12" name="Text 10"/>
          <p:cNvSpPr txBox="1"/>
          <p:nvPr/>
        </p:nvSpPr>
        <p:spPr>
          <a:xfrm>
            <a:off x="713232" y="4201668"/>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28</a:t>
            </a:r>
            <a:endParaRPr lang="en-US" sz="1600" dirty="0"/>
          </a:p>
        </p:txBody>
      </p:sp>
      <p:sp>
        <p:nvSpPr>
          <p:cNvPr id="13" name="Text 11"/>
          <p:cNvSpPr txBox="1"/>
          <p:nvPr/>
        </p:nvSpPr>
        <p:spPr>
          <a:xfrm>
            <a:off x="1444752" y="4183380"/>
            <a:ext cx="10012680" cy="1252728"/>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مَّا خَلْقُكُمْ وَلَا بَعْثُكُمْ إِلَّا كَنَفْسٍ وَٰحِدَةٍ إِنَّ اللَّهَ سَمِيعٌ بَصِيرٌ</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Creating you all and raising you all is for Allah only like creating and raising a single soul. Allah is All-Hearing, All-Seeing.</a:t>
            </a:r>
            <a:endParaRPr lang="en-US" sz="3000" dirty="0"/>
          </a:p>
        </p:txBody>
      </p:sp>
      <p:sp>
        <p:nvSpPr>
          <p:cNvPr id="25" name="Slide Number Placeholder 0"/>
          <p:cNvSpPr>
            <a:spLocks noGrp="1"/>
          </p:cNvSpPr>
          <p:nvPr>
            <p:ph type="sldNum" sz="quarter" idx="4294967295"/>
          </p:nvPr>
        </p:nvSpPr>
        <p:spPr>
          <a:xfrm>
            <a:off x="1115568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47</a:t>
            </a:fld>
            <a:endParaRPr lang="en-US"/>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name="Slide 48">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algn="ctr" indent="0" marL="0">
              <a:buNone/>
            </a:pPr>
            <a:r>
              <a:rPr lang="en-US" sz="2400" b="1" dirty="0">
                <a:solidFill>
                  <a:schemeClr val="bg1"/>
                </a:solidFill>
                <a:latin typeface="Georgia" pitchFamily="34" charset="0"/>
                <a:ea typeface="Georgia" pitchFamily="34" charset="-122"/>
                <a:cs typeface="Georgia" pitchFamily="34" charset="-120"/>
              </a:rPr>
              <a:t>Surah Luqman</a:t>
            </a:r>
            <a:endParaRPr lang="en-US" sz="2400" dirty="0"/>
          </a:p>
        </p:txBody>
      </p:sp>
      <p:sp>
        <p:nvSpPr>
          <p:cNvPr id="3" name="Text 1"/>
          <p:cNvSpPr txBox="1"/>
          <p:nvPr/>
        </p:nvSpPr>
        <p:spPr>
          <a:xfrm>
            <a:off x="777240" y="548640"/>
            <a:ext cx="2651760" cy="384048"/>
          </a:xfrm>
          <a:prstGeom prst="rect">
            <a:avLst/>
          </a:prstGeom>
          <a:noFill/>
          <a:ln/>
        </p:spPr>
        <p:txBody>
          <a:bodyPr wrap="square" lIns="0" tIns="0" rIns="0" bIns="0" rtlCol="0" anchor="ctr"/>
          <a:lstStyle/>
          <a:p>
            <a:pPr algn="l" indent="0" marL="0">
              <a:buNone/>
            </a:pPr>
            <a:r>
              <a:rPr lang="en-US" altLang="en-US" sz="1500" b="1" dirty="0">
                <a:solidFill>
                  <a:schemeClr val="accent2"/>
                </a:solidFill>
                <a:latin typeface="Arial" pitchFamily="34" charset="0"/>
                <a:ea typeface="Arial" pitchFamily="34" charset="-122"/>
                <a:cs typeface="Arial" pitchFamily="34" charset="-120"/>
              </a:rPr>
              <a:t>Verses 29 – 30</a:t>
            </a:r>
            <a:endParaRPr lang="en-US" sz="1500" dirty="0"/>
          </a:p>
        </p:txBody>
      </p:sp>
      <p:sp>
        <p:nvSpPr>
          <p:cNvPr id="4" name="Text 2"/>
          <p:cNvSpPr txBox="1"/>
          <p:nvPr/>
        </p:nvSpPr>
        <p:spPr>
          <a:xfrm>
            <a:off x="8732520" y="548640"/>
            <a:ext cx="2651760" cy="384048"/>
          </a:xfrm>
          <a:prstGeom prst="rect">
            <a:avLst/>
          </a:prstGeom>
          <a:noFill/>
          <a:ln/>
        </p:spPr>
        <p:txBody>
          <a:bodyPr wrap="square" lIns="0" tIns="0" rIns="0" bIns="0" rtlCol="0" anchor="ctr"/>
          <a:lstStyle/>
          <a:p>
            <a:pPr algn="r" indent="0" marL="0">
              <a:buNone/>
            </a:pPr>
            <a:r>
              <a:rPr lang="en-US" altLang="en-US" sz="1300" i="1" dirty="0">
                <a:solidFill>
                  <a:schemeClr val="accent4"/>
                </a:solidFill>
                <a:latin typeface="Arial" pitchFamily="34" charset="0"/>
                <a:ea typeface="Arial" pitchFamily="34" charset="-122"/>
                <a:cs typeface="Arial" pitchFamily="34" charset="-120"/>
              </a:rPr>
              <a:t>Ibn Kathir, simplified</a:t>
            </a:r>
            <a:endParaRPr lang="en-US" sz="1300" dirty="0"/>
          </a:p>
        </p:txBody>
      </p:sp>
      <p:sp>
        <p:nvSpPr>
          <p:cNvPr id="5" name="Shape 3"/>
          <p:cNvSpPr/>
          <p:nvPr/>
        </p:nvSpPr>
        <p:spPr>
          <a:xfrm>
            <a:off x="713232" y="1997964"/>
            <a:ext cx="548640" cy="548640"/>
          </a:xfrm>
          <a:prstGeom prst="star8">
            <a:avLst/>
          </a:prstGeom>
          <a:solidFill>
            <a:schemeClr val="accent2"/>
          </a:solidFill>
          <a:ln/>
        </p:spPr>
      </p:sp>
      <p:sp>
        <p:nvSpPr>
          <p:cNvPr id="6" name="Shape 4"/>
          <p:cNvSpPr/>
          <p:nvPr/>
        </p:nvSpPr>
        <p:spPr>
          <a:xfrm>
            <a:off x="822960" y="2107692"/>
            <a:ext cx="329184" cy="329184"/>
          </a:xfrm>
          <a:prstGeom prst="ellipse">
            <a:avLst/>
          </a:prstGeom>
          <a:solidFill>
            <a:schemeClr val="bg2"/>
          </a:solidFill>
          <a:ln w="19050">
            <a:solidFill>
              <a:schemeClr val="tx2"/>
            </a:solidFill>
            <a:prstDash val="solid"/>
          </a:ln>
        </p:spPr>
      </p:sp>
      <p:sp>
        <p:nvSpPr>
          <p:cNvPr id="7" name="Text 5"/>
          <p:cNvSpPr txBox="1"/>
          <p:nvPr/>
        </p:nvSpPr>
        <p:spPr>
          <a:xfrm>
            <a:off x="713232" y="1997964"/>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29</a:t>
            </a:r>
            <a:endParaRPr lang="en-US" sz="1600" dirty="0"/>
          </a:p>
        </p:txBody>
      </p:sp>
      <p:sp>
        <p:nvSpPr>
          <p:cNvPr id="8" name="Text 6"/>
          <p:cNvSpPr txBox="1"/>
          <p:nvPr/>
        </p:nvSpPr>
        <p:spPr>
          <a:xfrm>
            <a:off x="1444752" y="1979676"/>
            <a:ext cx="10012680" cy="1801368"/>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أَلَمْ تَرَ أَنَّ اللَّهَ يُولِجُ الَّيْلَ فِي النَّهَارِ وَيُولِجُ النَّهَارَ فِي الَّيْلِ وَسَخَّرَ الشَّمْسَ وَالْقَمَرَ كُلٌّ يَجْرِي إِلَىٰ أَجَلٍ مُّسَمًّى وَأَنَّ اللَّهَ بِمَا تَعْمَلُونَ خَبِيرٌ</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Do you not see that Allah makes the night enter the day and the day enter the night, and has made the sun and the moon serve, each running for a set time, and that Allah is aware of what you do?</a:t>
            </a:r>
            <a:endParaRPr lang="en-US" sz="3000" dirty="0"/>
          </a:p>
        </p:txBody>
      </p:sp>
      <p:sp>
        <p:nvSpPr>
          <p:cNvPr id="9" name="Shape 7"/>
          <p:cNvSpPr/>
          <p:nvPr/>
        </p:nvSpPr>
        <p:spPr>
          <a:xfrm>
            <a:off x="1444752" y="3968496"/>
            <a:ext cx="8641080" cy="0"/>
          </a:xfrm>
          <a:prstGeom prst="line">
            <a:avLst/>
          </a:prstGeom>
          <a:noFill/>
          <a:ln w="9525">
            <a:solidFill>
              <a:schemeClr val="accent2"/>
            </a:solidFill>
            <a:prstDash val="dash"/>
          </a:ln>
        </p:spPr>
      </p:sp>
      <p:sp>
        <p:nvSpPr>
          <p:cNvPr id="10" name="Shape 8"/>
          <p:cNvSpPr/>
          <p:nvPr/>
        </p:nvSpPr>
        <p:spPr>
          <a:xfrm>
            <a:off x="713232" y="4201668"/>
            <a:ext cx="548640" cy="548640"/>
          </a:xfrm>
          <a:prstGeom prst="star8">
            <a:avLst/>
          </a:prstGeom>
          <a:solidFill>
            <a:schemeClr val="accent2"/>
          </a:solidFill>
          <a:ln/>
        </p:spPr>
      </p:sp>
      <p:sp>
        <p:nvSpPr>
          <p:cNvPr id="11" name="Shape 9"/>
          <p:cNvSpPr/>
          <p:nvPr/>
        </p:nvSpPr>
        <p:spPr>
          <a:xfrm>
            <a:off x="822960" y="4311396"/>
            <a:ext cx="329184" cy="329184"/>
          </a:xfrm>
          <a:prstGeom prst="ellipse">
            <a:avLst/>
          </a:prstGeom>
          <a:solidFill>
            <a:schemeClr val="bg2"/>
          </a:solidFill>
          <a:ln w="19050">
            <a:solidFill>
              <a:schemeClr val="tx2"/>
            </a:solidFill>
            <a:prstDash val="solid"/>
          </a:ln>
        </p:spPr>
      </p:sp>
      <p:sp>
        <p:nvSpPr>
          <p:cNvPr id="12" name="Text 10"/>
          <p:cNvSpPr txBox="1"/>
          <p:nvPr/>
        </p:nvSpPr>
        <p:spPr>
          <a:xfrm>
            <a:off x="713232" y="4201668"/>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30</a:t>
            </a:r>
            <a:endParaRPr lang="en-US" sz="1600" dirty="0"/>
          </a:p>
        </p:txBody>
      </p:sp>
      <p:sp>
        <p:nvSpPr>
          <p:cNvPr id="13" name="Text 11"/>
          <p:cNvSpPr txBox="1"/>
          <p:nvPr/>
        </p:nvSpPr>
        <p:spPr>
          <a:xfrm>
            <a:off x="1444752" y="4183380"/>
            <a:ext cx="10012680" cy="1252728"/>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ذَٰلِكَ بِأَنَّ اللَّهَ هُوَ الْحَقُّ وَأَنَّ مَا يَدْعُونَ مِن دُونِهِ الْبَٰطِلُ وَأَنَّ اللَّهَ هُوَ الْعَلِيُّ الْكَبِيرُ</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That is because Allah is the Truth, what they worship besides Him is falsehood, and Allah is the Most High, the Most Great.</a:t>
            </a:r>
            <a:endParaRPr lang="en-US" sz="3000" dirty="0"/>
          </a:p>
        </p:txBody>
      </p:sp>
      <p:sp>
        <p:nvSpPr>
          <p:cNvPr id="25" name="Slide Number Placeholder 0"/>
          <p:cNvSpPr>
            <a:spLocks noGrp="1"/>
          </p:cNvSpPr>
          <p:nvPr>
            <p:ph type="sldNum" sz="quarter" idx="4294967295"/>
          </p:nvPr>
        </p:nvSpPr>
        <p:spPr>
          <a:xfrm>
            <a:off x="1115568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48</a:t>
            </a:fld>
            <a:endParaRPr lang="en-US"/>
          </a:p>
        </p:txBody>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name="Slide 49">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algn="ctr" indent="0" marL="0">
              <a:buNone/>
            </a:pPr>
            <a:r>
              <a:rPr lang="en-US" sz="2400" b="1" dirty="0">
                <a:solidFill>
                  <a:schemeClr val="bg1"/>
                </a:solidFill>
                <a:latin typeface="Georgia" pitchFamily="34" charset="0"/>
                <a:ea typeface="Georgia" pitchFamily="34" charset="-122"/>
                <a:cs typeface="Georgia" pitchFamily="34" charset="-120"/>
              </a:rPr>
              <a:t>Surah Luqman</a:t>
            </a:r>
            <a:endParaRPr lang="en-US" sz="2400" dirty="0"/>
          </a:p>
        </p:txBody>
      </p:sp>
      <p:sp>
        <p:nvSpPr>
          <p:cNvPr id="3" name="Text 1"/>
          <p:cNvSpPr txBox="1"/>
          <p:nvPr/>
        </p:nvSpPr>
        <p:spPr>
          <a:xfrm>
            <a:off x="777240" y="548640"/>
            <a:ext cx="2651760" cy="384048"/>
          </a:xfrm>
          <a:prstGeom prst="rect">
            <a:avLst/>
          </a:prstGeom>
          <a:noFill/>
          <a:ln/>
        </p:spPr>
        <p:txBody>
          <a:bodyPr wrap="square" lIns="0" tIns="0" rIns="0" bIns="0" rtlCol="0" anchor="ctr"/>
          <a:lstStyle/>
          <a:p>
            <a:pPr algn="l" indent="0" marL="0">
              <a:buNone/>
            </a:pPr>
            <a:r>
              <a:rPr lang="en-US" altLang="en-US" sz="1500" b="1" dirty="0">
                <a:solidFill>
                  <a:schemeClr val="accent2"/>
                </a:solidFill>
                <a:latin typeface="Arial" pitchFamily="34" charset="0"/>
                <a:ea typeface="Arial" pitchFamily="34" charset="-122"/>
                <a:cs typeface="Arial" pitchFamily="34" charset="-120"/>
              </a:rPr>
              <a:t>Verses 31 – 32</a:t>
            </a:r>
            <a:endParaRPr lang="en-US" sz="1500" dirty="0"/>
          </a:p>
        </p:txBody>
      </p:sp>
      <p:sp>
        <p:nvSpPr>
          <p:cNvPr id="4" name="Text 2"/>
          <p:cNvSpPr txBox="1"/>
          <p:nvPr/>
        </p:nvSpPr>
        <p:spPr>
          <a:xfrm>
            <a:off x="8732520" y="548640"/>
            <a:ext cx="2651760" cy="384048"/>
          </a:xfrm>
          <a:prstGeom prst="rect">
            <a:avLst/>
          </a:prstGeom>
          <a:noFill/>
          <a:ln/>
        </p:spPr>
        <p:txBody>
          <a:bodyPr wrap="square" lIns="0" tIns="0" rIns="0" bIns="0" rtlCol="0" anchor="ctr"/>
          <a:lstStyle/>
          <a:p>
            <a:pPr algn="r" indent="0" marL="0">
              <a:buNone/>
            </a:pPr>
            <a:r>
              <a:rPr lang="en-US" altLang="en-US" sz="1300" i="1" dirty="0">
                <a:solidFill>
                  <a:schemeClr val="accent4"/>
                </a:solidFill>
                <a:latin typeface="Arial" pitchFamily="34" charset="0"/>
                <a:ea typeface="Arial" pitchFamily="34" charset="-122"/>
                <a:cs typeface="Arial" pitchFamily="34" charset="-120"/>
              </a:rPr>
              <a:t>Ibn Kathir, simplified</a:t>
            </a:r>
            <a:endParaRPr lang="en-US" sz="1300" dirty="0"/>
          </a:p>
        </p:txBody>
      </p:sp>
      <p:sp>
        <p:nvSpPr>
          <p:cNvPr id="5" name="Shape 3"/>
          <p:cNvSpPr/>
          <p:nvPr/>
        </p:nvSpPr>
        <p:spPr>
          <a:xfrm>
            <a:off x="713232" y="1593342"/>
            <a:ext cx="548640" cy="548640"/>
          </a:xfrm>
          <a:prstGeom prst="star8">
            <a:avLst/>
          </a:prstGeom>
          <a:solidFill>
            <a:schemeClr val="accent2"/>
          </a:solidFill>
          <a:ln/>
        </p:spPr>
      </p:sp>
      <p:sp>
        <p:nvSpPr>
          <p:cNvPr id="6" name="Shape 4"/>
          <p:cNvSpPr/>
          <p:nvPr/>
        </p:nvSpPr>
        <p:spPr>
          <a:xfrm>
            <a:off x="822960" y="1703070"/>
            <a:ext cx="329184" cy="329184"/>
          </a:xfrm>
          <a:prstGeom prst="ellipse">
            <a:avLst/>
          </a:prstGeom>
          <a:solidFill>
            <a:schemeClr val="bg2"/>
          </a:solidFill>
          <a:ln w="19050">
            <a:solidFill>
              <a:schemeClr val="tx2"/>
            </a:solidFill>
            <a:prstDash val="solid"/>
          </a:ln>
        </p:spPr>
      </p:sp>
      <p:sp>
        <p:nvSpPr>
          <p:cNvPr id="7" name="Text 5"/>
          <p:cNvSpPr txBox="1"/>
          <p:nvPr/>
        </p:nvSpPr>
        <p:spPr>
          <a:xfrm>
            <a:off x="713232" y="1593342"/>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31</a:t>
            </a:r>
            <a:endParaRPr lang="en-US" sz="1600" dirty="0"/>
          </a:p>
        </p:txBody>
      </p:sp>
      <p:sp>
        <p:nvSpPr>
          <p:cNvPr id="8" name="Text 6"/>
          <p:cNvSpPr txBox="1"/>
          <p:nvPr/>
        </p:nvSpPr>
        <p:spPr>
          <a:xfrm>
            <a:off x="1444752" y="1575054"/>
            <a:ext cx="10012680" cy="1801368"/>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أَلَمْ تَرَ أَنَّ الْفُلْكَ تَجْرِي فِي الْبَحْرِ بِنِعْمَتِ اللَّهِ لِيُرِيَكُم مِّنْ ءَايَٰتِهِ إِنَّ فِي ذَٰلِكَ لَأيَٰتٍ لِّكُلِّ صَبَّارٍ شَكُورٍ</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Do you not see that ships sail in the sea by Allah's blessing, to show you some of His signs? In that are signs for everyone very patient and thankful.</a:t>
            </a:r>
            <a:endParaRPr lang="en-US" sz="3000" dirty="0"/>
          </a:p>
        </p:txBody>
      </p:sp>
      <p:sp>
        <p:nvSpPr>
          <p:cNvPr id="9" name="Shape 7"/>
          <p:cNvSpPr/>
          <p:nvPr/>
        </p:nvSpPr>
        <p:spPr>
          <a:xfrm>
            <a:off x="1444752" y="3563874"/>
            <a:ext cx="8641080" cy="0"/>
          </a:xfrm>
          <a:prstGeom prst="line">
            <a:avLst/>
          </a:prstGeom>
          <a:noFill/>
          <a:ln w="9525">
            <a:solidFill>
              <a:schemeClr val="accent2"/>
            </a:solidFill>
            <a:prstDash val="dash"/>
          </a:ln>
        </p:spPr>
      </p:sp>
      <p:sp>
        <p:nvSpPr>
          <p:cNvPr id="10" name="Shape 8"/>
          <p:cNvSpPr/>
          <p:nvPr/>
        </p:nvSpPr>
        <p:spPr>
          <a:xfrm>
            <a:off x="713232" y="3797046"/>
            <a:ext cx="548640" cy="548640"/>
          </a:xfrm>
          <a:prstGeom prst="star8">
            <a:avLst/>
          </a:prstGeom>
          <a:solidFill>
            <a:schemeClr val="accent2"/>
          </a:solidFill>
          <a:ln/>
        </p:spPr>
      </p:sp>
      <p:sp>
        <p:nvSpPr>
          <p:cNvPr id="11" name="Shape 9"/>
          <p:cNvSpPr/>
          <p:nvPr/>
        </p:nvSpPr>
        <p:spPr>
          <a:xfrm>
            <a:off x="822960" y="3906774"/>
            <a:ext cx="329184" cy="329184"/>
          </a:xfrm>
          <a:prstGeom prst="ellipse">
            <a:avLst/>
          </a:prstGeom>
          <a:solidFill>
            <a:schemeClr val="bg2"/>
          </a:solidFill>
          <a:ln w="19050">
            <a:solidFill>
              <a:schemeClr val="tx2"/>
            </a:solidFill>
            <a:prstDash val="solid"/>
          </a:ln>
        </p:spPr>
      </p:sp>
      <p:sp>
        <p:nvSpPr>
          <p:cNvPr id="12" name="Text 10"/>
          <p:cNvSpPr txBox="1"/>
          <p:nvPr/>
        </p:nvSpPr>
        <p:spPr>
          <a:xfrm>
            <a:off x="713232" y="3797046"/>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32</a:t>
            </a:r>
            <a:endParaRPr lang="en-US" sz="1600" dirty="0"/>
          </a:p>
        </p:txBody>
      </p:sp>
      <p:sp>
        <p:nvSpPr>
          <p:cNvPr id="13" name="Text 11"/>
          <p:cNvSpPr txBox="1"/>
          <p:nvPr/>
        </p:nvSpPr>
        <p:spPr>
          <a:xfrm>
            <a:off x="1444752" y="3778758"/>
            <a:ext cx="10012680" cy="2061972"/>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وَإِذَا غَشِيَهُم مَّوْجٌ كَالظُّلَلِ دَعَوُاْ اللَّهَ مُخْلِصِينَ لَهُ الدِّينَ فَلَمَّا نَجَّىٰهُمْ إِلَى الْبَرِّ فَمِنْهُم مُّقْتَصِدٌ وَمَا يَجْحَدُ بِـَٔايَٰتِنَآ إِلَّا كُلُّ خَتَّارٍ كَفُورٍ</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When waves like mountains and clouds cover them, they call on Allah, sincere in their prayer to Him. But when He brings them safely to land, some of them are only half-hearted. No one denies Our signs except every treacherous, ungrateful person.</a:t>
            </a:r>
            <a:endParaRPr lang="en-US" sz="3000" dirty="0"/>
          </a:p>
        </p:txBody>
      </p:sp>
      <p:sp>
        <p:nvSpPr>
          <p:cNvPr id="25" name="Slide Number Placeholder 0"/>
          <p:cNvSpPr>
            <a:spLocks noGrp="1"/>
          </p:cNvSpPr>
          <p:nvPr>
            <p:ph type="sldNum" sz="quarter" idx="4294967295"/>
          </p:nvPr>
        </p:nvSpPr>
        <p:spPr>
          <a:xfrm>
            <a:off x="1115568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49</a:t>
            </a:fld>
            <a:endParaRPr lang="en-US"/>
          </a:p>
        </p:txBody>
      </p:sp>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name="Slide 50">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algn="ctr" indent="0" marL="0">
              <a:buNone/>
            </a:pPr>
            <a:r>
              <a:rPr lang="en-US" sz="2400" b="1" dirty="0">
                <a:solidFill>
                  <a:schemeClr val="bg1"/>
                </a:solidFill>
                <a:latin typeface="Georgia" pitchFamily="34" charset="0"/>
                <a:ea typeface="Georgia" pitchFamily="34" charset="-122"/>
                <a:cs typeface="Georgia" pitchFamily="34" charset="-120"/>
              </a:rPr>
              <a:t>Surah Luqman</a:t>
            </a:r>
            <a:endParaRPr lang="en-US" sz="2400" dirty="0"/>
          </a:p>
        </p:txBody>
      </p:sp>
      <p:sp>
        <p:nvSpPr>
          <p:cNvPr id="3" name="Text 1"/>
          <p:cNvSpPr txBox="1"/>
          <p:nvPr/>
        </p:nvSpPr>
        <p:spPr>
          <a:xfrm>
            <a:off x="777240" y="548640"/>
            <a:ext cx="2651760" cy="384048"/>
          </a:xfrm>
          <a:prstGeom prst="rect">
            <a:avLst/>
          </a:prstGeom>
          <a:noFill/>
          <a:ln/>
        </p:spPr>
        <p:txBody>
          <a:bodyPr wrap="square" lIns="0" tIns="0" rIns="0" bIns="0" rtlCol="0" anchor="ctr"/>
          <a:lstStyle/>
          <a:p>
            <a:pPr algn="l" indent="0" marL="0">
              <a:buNone/>
            </a:pPr>
            <a:r>
              <a:rPr lang="en-US" altLang="en-US" sz="1500" b="1" dirty="0">
                <a:solidFill>
                  <a:schemeClr val="accent2"/>
                </a:solidFill>
                <a:latin typeface="Arial" pitchFamily="34" charset="0"/>
                <a:ea typeface="Arial" pitchFamily="34" charset="-122"/>
                <a:cs typeface="Arial" pitchFamily="34" charset="-120"/>
              </a:rPr>
              <a:t>Verses 33 – 34</a:t>
            </a:r>
            <a:endParaRPr lang="en-US" sz="1500" dirty="0"/>
          </a:p>
        </p:txBody>
      </p:sp>
      <p:sp>
        <p:nvSpPr>
          <p:cNvPr id="4" name="Text 2"/>
          <p:cNvSpPr txBox="1"/>
          <p:nvPr/>
        </p:nvSpPr>
        <p:spPr>
          <a:xfrm>
            <a:off x="8732520" y="548640"/>
            <a:ext cx="2651760" cy="384048"/>
          </a:xfrm>
          <a:prstGeom prst="rect">
            <a:avLst/>
          </a:prstGeom>
          <a:noFill/>
          <a:ln/>
        </p:spPr>
        <p:txBody>
          <a:bodyPr wrap="square" lIns="0" tIns="0" rIns="0" bIns="0" rtlCol="0" anchor="ctr"/>
          <a:lstStyle/>
          <a:p>
            <a:pPr algn="r" indent="0" marL="0">
              <a:buNone/>
            </a:pPr>
            <a:r>
              <a:rPr lang="en-US" altLang="en-US" sz="1300" i="1" dirty="0">
                <a:solidFill>
                  <a:schemeClr val="accent4"/>
                </a:solidFill>
                <a:latin typeface="Arial" pitchFamily="34" charset="0"/>
                <a:ea typeface="Arial" pitchFamily="34" charset="-122"/>
                <a:cs typeface="Arial" pitchFamily="34" charset="-120"/>
              </a:rPr>
              <a:t>Ibn Kathir, simplified</a:t>
            </a:r>
            <a:endParaRPr lang="en-US" sz="1300" dirty="0"/>
          </a:p>
        </p:txBody>
      </p:sp>
      <p:sp>
        <p:nvSpPr>
          <p:cNvPr id="5" name="Shape 3"/>
          <p:cNvSpPr/>
          <p:nvPr/>
        </p:nvSpPr>
        <p:spPr>
          <a:xfrm>
            <a:off x="713232" y="1463040"/>
            <a:ext cx="548640" cy="548640"/>
          </a:xfrm>
          <a:prstGeom prst="star8">
            <a:avLst/>
          </a:prstGeom>
          <a:solidFill>
            <a:schemeClr val="accent2"/>
          </a:solidFill>
          <a:ln/>
        </p:spPr>
      </p:sp>
      <p:sp>
        <p:nvSpPr>
          <p:cNvPr id="6" name="Shape 4"/>
          <p:cNvSpPr/>
          <p:nvPr/>
        </p:nvSpPr>
        <p:spPr>
          <a:xfrm>
            <a:off x="822960" y="1572768"/>
            <a:ext cx="329184" cy="329184"/>
          </a:xfrm>
          <a:prstGeom prst="ellipse">
            <a:avLst/>
          </a:prstGeom>
          <a:solidFill>
            <a:schemeClr val="bg2"/>
          </a:solidFill>
          <a:ln w="19050">
            <a:solidFill>
              <a:schemeClr val="tx2"/>
            </a:solidFill>
            <a:prstDash val="solid"/>
          </a:ln>
        </p:spPr>
      </p:sp>
      <p:sp>
        <p:nvSpPr>
          <p:cNvPr id="7" name="Text 5"/>
          <p:cNvSpPr txBox="1"/>
          <p:nvPr/>
        </p:nvSpPr>
        <p:spPr>
          <a:xfrm>
            <a:off x="713232" y="1463040"/>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33</a:t>
            </a:r>
            <a:endParaRPr lang="en-US" sz="1600" dirty="0"/>
          </a:p>
        </p:txBody>
      </p:sp>
      <p:sp>
        <p:nvSpPr>
          <p:cNvPr id="8" name="Text 6"/>
          <p:cNvSpPr txBox="1"/>
          <p:nvPr/>
        </p:nvSpPr>
        <p:spPr>
          <a:xfrm>
            <a:off x="1444752" y="1444752"/>
            <a:ext cx="10012680" cy="2061972"/>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يَـٰأَيُّهَا النَّاسُ اتَّقُواْ رَبَّكُمْ وَاخْشَوْاْ يَوْمًا لَّا يَجْزِي وَالِدٌ عَن وَلَدِهِ وَلَا مَوْلُودٌ هُوَ جَازٍ عَن وَالِدِهِ شَيْـًٔا إِنَّ وَعْدَ اللَّهِ حَقٌّ فَلَا تَغُرَّنَّكُمُ الْحَيَوٰةُ الدُّنْيَا وَلَا يَغُرَّنَّكُم بِاللَّهِ الْغَرُورُ</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O people, have taqwa of your Lord and fear a Day when no father can help his child, and no child can help his father at all. Allah's promise is true, so do not let this worldly life fool you, and do not let Satan fool you about Allah.</a:t>
            </a:r>
            <a:endParaRPr lang="en-US" sz="3000" dirty="0"/>
          </a:p>
        </p:txBody>
      </p:sp>
      <p:sp>
        <p:nvSpPr>
          <p:cNvPr id="9" name="Shape 7"/>
          <p:cNvSpPr/>
          <p:nvPr/>
        </p:nvSpPr>
        <p:spPr>
          <a:xfrm>
            <a:off x="1444752" y="3694176"/>
            <a:ext cx="8641080" cy="0"/>
          </a:xfrm>
          <a:prstGeom prst="line">
            <a:avLst/>
          </a:prstGeom>
          <a:noFill/>
          <a:ln w="9525">
            <a:solidFill>
              <a:schemeClr val="accent2"/>
            </a:solidFill>
            <a:prstDash val="dash"/>
          </a:ln>
        </p:spPr>
      </p:sp>
      <p:sp>
        <p:nvSpPr>
          <p:cNvPr id="10" name="Shape 8"/>
          <p:cNvSpPr/>
          <p:nvPr/>
        </p:nvSpPr>
        <p:spPr>
          <a:xfrm>
            <a:off x="713232" y="3927348"/>
            <a:ext cx="548640" cy="548640"/>
          </a:xfrm>
          <a:prstGeom prst="star8">
            <a:avLst/>
          </a:prstGeom>
          <a:solidFill>
            <a:schemeClr val="accent2"/>
          </a:solidFill>
          <a:ln/>
        </p:spPr>
      </p:sp>
      <p:sp>
        <p:nvSpPr>
          <p:cNvPr id="11" name="Shape 9"/>
          <p:cNvSpPr/>
          <p:nvPr/>
        </p:nvSpPr>
        <p:spPr>
          <a:xfrm>
            <a:off x="822960" y="4037076"/>
            <a:ext cx="329184" cy="329184"/>
          </a:xfrm>
          <a:prstGeom prst="ellipse">
            <a:avLst/>
          </a:prstGeom>
          <a:solidFill>
            <a:schemeClr val="bg2"/>
          </a:solidFill>
          <a:ln w="19050">
            <a:solidFill>
              <a:schemeClr val="tx2"/>
            </a:solidFill>
            <a:prstDash val="solid"/>
          </a:ln>
        </p:spPr>
      </p:sp>
      <p:sp>
        <p:nvSpPr>
          <p:cNvPr id="12" name="Text 10"/>
          <p:cNvSpPr txBox="1"/>
          <p:nvPr/>
        </p:nvSpPr>
        <p:spPr>
          <a:xfrm>
            <a:off x="713232" y="3927348"/>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34</a:t>
            </a:r>
            <a:endParaRPr lang="en-US" sz="1600" dirty="0"/>
          </a:p>
        </p:txBody>
      </p:sp>
      <p:sp>
        <p:nvSpPr>
          <p:cNvPr id="13" name="Text 11"/>
          <p:cNvSpPr txBox="1"/>
          <p:nvPr/>
        </p:nvSpPr>
        <p:spPr>
          <a:xfrm>
            <a:off x="1444752" y="3909060"/>
            <a:ext cx="10012680" cy="2061972"/>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إِنَّ اللَّهَ عِندَهُ عِلْمُ السَّاعَةِ وَيُنَزِّلُ الْغَيْثَ وَيَعْلَمُ مَا فِي الْأَرْحَامِ وَمَا تَدْرِي نَفْسٌ مَّاذَا تَكْسِبُ غَدًا وَمَا تَدْرِي نَفْسٌ بِأَيِّ أَرْضٍ تَمُوتُ إِنَّ اللَّهَ عَلِيمٌ خَبِيرٌ</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With Allah alone is the knowledge of the Hour. He sends down the rain and knows what is in the wombs. No soul knows what it will earn tomorrow, and no soul knows in what land it will die. Allah is All-Knowing, All-Aware. These are the five keys of the unseen.</a:t>
            </a:r>
            <a:endParaRPr lang="en-US" sz="3000" dirty="0"/>
          </a:p>
        </p:txBody>
      </p:sp>
      <p:sp>
        <p:nvSpPr>
          <p:cNvPr id="25" name="Slide Number Placeholder 0"/>
          <p:cNvSpPr>
            <a:spLocks noGrp="1"/>
          </p:cNvSpPr>
          <p:nvPr>
            <p:ph type="sldNum" sz="quarter" idx="4294967295"/>
          </p:nvPr>
        </p:nvSpPr>
        <p:spPr>
          <a:xfrm>
            <a:off x="1115568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50</a:t>
            </a:fld>
            <a:endParaRPr lang="en-US"/>
          </a:p>
        </p:txBody>
      </p:sp>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name="Slide 51">
    <p:spTree>
      <p:nvGrpSpPr>
        <p:cNvPr id="1" name=""/>
        <p:cNvGrpSpPr/>
        <p:nvPr/>
      </p:nvGrpSpPr>
      <p:grpSpPr>
        <a:xfrm>
          <a:off x="0" y="0"/>
          <a:ext cx="0" cy="0"/>
          <a:chOff x="0" y="0"/>
          <a:chExt cx="0" cy="0"/>
        </a:xfrm>
      </p:grpSpPr>
      <p:sp>
        <p:nvSpPr>
          <p:cNvPr id="2" name="Text 0"/>
          <p:cNvSpPr txBox="1"/>
          <p:nvPr/>
        </p:nvSpPr>
        <p:spPr>
          <a:xfrm>
            <a:off x="3581248" y="603504"/>
            <a:ext cx="5029200" cy="987552"/>
          </a:xfrm>
          <a:prstGeom prst="rect">
            <a:avLst/>
          </a:prstGeom>
          <a:noFill/>
          <a:ln/>
        </p:spPr>
        <p:txBody>
          <a:bodyPr wrap="square" lIns="0" tIns="0" rIns="0" bIns="0" rtlCol="0" anchor="ctr"/>
          <a:lstStyle/>
          <a:p>
            <a:pPr algn="ctr" indent="0" marL="0">
              <a:buNone/>
            </a:pPr>
            <a:r>
              <a:rPr lang="en-US" altLang="en-US" sz="3600" b="1" dirty="0">
                <a:solidFill>
                  <a:schemeClr val="accent2"/>
                </a:solidFill>
                <a:latin typeface="Georgia" pitchFamily="34" charset="0"/>
                <a:ea typeface="Georgia" pitchFamily="34" charset="-122"/>
                <a:cs typeface="Georgia" pitchFamily="34" charset="-120"/>
              </a:rPr>
              <a:t>Surah Ar-Rum</a:t>
            </a:r>
            <a:endParaRPr lang="en-US" sz="3600" dirty="0"/>
          </a:p>
        </p:txBody>
      </p:sp>
      <p:sp>
        <p:nvSpPr>
          <p:cNvPr id="3" name="Shape 1"/>
          <p:cNvSpPr/>
          <p:nvPr/>
        </p:nvSpPr>
        <p:spPr>
          <a:xfrm>
            <a:off x="975208" y="1828800"/>
            <a:ext cx="3291840" cy="457200"/>
          </a:xfrm>
          <a:prstGeom prst="roundRect">
            <a:avLst>
              <a:gd name="adj" fmla="val 50000"/>
            </a:avLst>
          </a:prstGeom>
          <a:solidFill>
            <a:schemeClr val="tx2"/>
          </a:solidFill>
          <a:ln w="15875">
            <a:solidFill>
              <a:schemeClr val="accent2"/>
            </a:solidFill>
            <a:prstDash val="solid"/>
          </a:ln>
        </p:spPr>
      </p:sp>
      <p:sp>
        <p:nvSpPr>
          <p:cNvPr id="4" name="Text 2"/>
          <p:cNvSpPr txBox="1"/>
          <p:nvPr/>
        </p:nvSpPr>
        <p:spPr>
          <a:xfrm>
            <a:off x="1066648" y="1828800"/>
            <a:ext cx="3108960" cy="457200"/>
          </a:xfrm>
          <a:prstGeom prst="rect">
            <a:avLst/>
          </a:prstGeom>
          <a:noFill/>
          <a:ln/>
        </p:spPr>
        <p:txBody>
          <a:bodyPr wrap="square" lIns="0" tIns="0" rIns="0" bIns="0" rtlCol="0" anchor="ctr">
            <a:normAutofit/>
          </a:bodyPr>
          <a:lstStyle/>
          <a:p>
            <a:pPr algn="ctr" indent="0" marL="0">
              <a:buNone/>
            </a:pPr>
            <a:r>
              <a:rPr lang="en-US" altLang="en-US" sz="1400" b="1" dirty="0">
                <a:solidFill>
                  <a:schemeClr val="bg1"/>
                </a:solidFill>
                <a:latin typeface="Arial" pitchFamily="34" charset="0"/>
                <a:ea typeface="Arial" pitchFamily="34" charset="-122"/>
                <a:cs typeface="Arial" pitchFamily="34" charset="-120"/>
              </a:rPr>
              <a:t>60 verses • The Romans</a:t>
            </a:r>
            <a:endParaRPr lang="en-US" sz="1400" dirty="0"/>
          </a:p>
        </p:txBody>
      </p:sp>
      <p:sp>
        <p:nvSpPr>
          <p:cNvPr id="5" name="Shape 3"/>
          <p:cNvSpPr/>
          <p:nvPr/>
        </p:nvSpPr>
        <p:spPr>
          <a:xfrm>
            <a:off x="4449928" y="1828800"/>
            <a:ext cx="3291840" cy="457200"/>
          </a:xfrm>
          <a:prstGeom prst="roundRect">
            <a:avLst>
              <a:gd name="adj" fmla="val 50000"/>
            </a:avLst>
          </a:prstGeom>
          <a:solidFill>
            <a:schemeClr val="tx2"/>
          </a:solidFill>
          <a:ln w="15875">
            <a:solidFill>
              <a:schemeClr val="accent2"/>
            </a:solidFill>
            <a:prstDash val="solid"/>
          </a:ln>
        </p:spPr>
      </p:sp>
      <p:sp>
        <p:nvSpPr>
          <p:cNvPr id="6" name="Text 4"/>
          <p:cNvSpPr txBox="1"/>
          <p:nvPr/>
        </p:nvSpPr>
        <p:spPr>
          <a:xfrm>
            <a:off x="4541368" y="1828800"/>
            <a:ext cx="3108960" cy="457200"/>
          </a:xfrm>
          <a:prstGeom prst="rect">
            <a:avLst/>
          </a:prstGeom>
          <a:noFill/>
          <a:ln/>
        </p:spPr>
        <p:txBody>
          <a:bodyPr wrap="square" lIns="0" tIns="0" rIns="0" bIns="0" rtlCol="0" anchor="ctr">
            <a:normAutofit/>
          </a:bodyPr>
          <a:lstStyle/>
          <a:p>
            <a:pPr algn="ctr" indent="0" marL="0">
              <a:buNone/>
            </a:pPr>
            <a:r>
              <a:rPr lang="en-US" altLang="en-US" sz="1400" b="1" dirty="0">
                <a:solidFill>
                  <a:schemeClr val="bg1"/>
                </a:solidFill>
                <a:latin typeface="Arial" pitchFamily="34" charset="0"/>
                <a:ea typeface="Arial" pitchFamily="34" charset="-122"/>
                <a:cs typeface="Arial" pitchFamily="34" charset="-120"/>
              </a:rPr>
              <a:t>Makki</a:t>
            </a:r>
            <a:endParaRPr lang="en-US" sz="1400" dirty="0"/>
          </a:p>
        </p:txBody>
      </p:sp>
      <p:sp>
        <p:nvSpPr>
          <p:cNvPr id="7" name="Shape 5"/>
          <p:cNvSpPr/>
          <p:nvPr/>
        </p:nvSpPr>
        <p:spPr>
          <a:xfrm>
            <a:off x="7924648" y="1828800"/>
            <a:ext cx="3291840" cy="457200"/>
          </a:xfrm>
          <a:prstGeom prst="roundRect">
            <a:avLst>
              <a:gd name="adj" fmla="val 50000"/>
            </a:avLst>
          </a:prstGeom>
          <a:solidFill>
            <a:schemeClr val="tx2"/>
          </a:solidFill>
          <a:ln w="15875">
            <a:solidFill>
              <a:schemeClr val="accent2"/>
            </a:solidFill>
            <a:prstDash val="solid"/>
          </a:ln>
        </p:spPr>
      </p:sp>
      <p:sp>
        <p:nvSpPr>
          <p:cNvPr id="8" name="Text 6"/>
          <p:cNvSpPr txBox="1"/>
          <p:nvPr/>
        </p:nvSpPr>
        <p:spPr>
          <a:xfrm>
            <a:off x="8016088" y="1828800"/>
            <a:ext cx="3108960" cy="457200"/>
          </a:xfrm>
          <a:prstGeom prst="rect">
            <a:avLst/>
          </a:prstGeom>
          <a:noFill/>
          <a:ln/>
        </p:spPr>
        <p:txBody>
          <a:bodyPr wrap="square" lIns="0" tIns="0" rIns="0" bIns="0" rtlCol="0" anchor="ctr">
            <a:normAutofit/>
          </a:bodyPr>
          <a:lstStyle/>
          <a:p>
            <a:pPr algn="ctr" indent="0" marL="0">
              <a:buNone/>
            </a:pPr>
            <a:r>
              <a:rPr lang="en-US" altLang="en-US" sz="1400" b="1" dirty="0">
                <a:solidFill>
                  <a:schemeClr val="bg1"/>
                </a:solidFill>
                <a:latin typeface="Arial" pitchFamily="34" charset="0"/>
                <a:ea typeface="Arial" pitchFamily="34" charset="-122"/>
                <a:cs typeface="Arial" pitchFamily="34" charset="-120"/>
              </a:rPr>
              <a:t>Surah no. 30 in the Mushaf</a:t>
            </a:r>
            <a:endParaRPr lang="en-US" sz="1400" dirty="0"/>
          </a:p>
        </p:txBody>
      </p:sp>
      <p:sp>
        <p:nvSpPr>
          <p:cNvPr id="9" name="Shape 7"/>
          <p:cNvSpPr/>
          <p:nvPr/>
        </p:nvSpPr>
        <p:spPr>
          <a:xfrm>
            <a:off x="655168" y="2880360"/>
            <a:ext cx="5257800" cy="3246120"/>
          </a:xfrm>
          <a:prstGeom prst="roundRect">
            <a:avLst>
              <a:gd name="adj" fmla="val 4225"/>
            </a:avLst>
          </a:prstGeom>
          <a:solidFill>
            <a:schemeClr val="bg2"/>
          </a:solidFill>
          <a:ln w="25400">
            <a:solidFill>
              <a:schemeClr val="accent2"/>
            </a:solidFill>
            <a:prstDash val="solid"/>
          </a:ln>
        </p:spPr>
      </p:sp>
      <p:sp>
        <p:nvSpPr>
          <p:cNvPr id="10" name="Shape 8"/>
          <p:cNvSpPr/>
          <p:nvPr/>
        </p:nvSpPr>
        <p:spPr>
          <a:xfrm>
            <a:off x="1821028" y="2651760"/>
            <a:ext cx="2926080" cy="457200"/>
          </a:xfrm>
          <a:prstGeom prst="roundRect">
            <a:avLst>
              <a:gd name="adj" fmla="val 50000"/>
            </a:avLst>
          </a:prstGeom>
          <a:solidFill>
            <a:schemeClr val="accent6"/>
          </a:solidFill>
          <a:ln w="15875">
            <a:solidFill>
              <a:schemeClr val="accent2"/>
            </a:solidFill>
            <a:prstDash val="solid"/>
          </a:ln>
        </p:spPr>
      </p:sp>
      <p:sp>
        <p:nvSpPr>
          <p:cNvPr id="11" name="Text 9"/>
          <p:cNvSpPr txBox="1"/>
          <p:nvPr/>
        </p:nvSpPr>
        <p:spPr>
          <a:xfrm>
            <a:off x="1821028" y="2651760"/>
            <a:ext cx="2926080" cy="457200"/>
          </a:xfrm>
          <a:prstGeom prst="rect">
            <a:avLst/>
          </a:prstGeom>
          <a:noFill/>
          <a:ln/>
        </p:spPr>
        <p:txBody>
          <a:bodyPr wrap="square" lIns="0" tIns="0" rIns="0" bIns="0" rtlCol="0" anchor="ctr"/>
          <a:lstStyle/>
          <a:p>
            <a:pPr algn="ctr" indent="0" marL="0">
              <a:buNone/>
            </a:pPr>
            <a:r>
              <a:rPr lang="en-US" altLang="en-US" sz="1600" b="1" dirty="0">
                <a:solidFill>
                  <a:schemeClr val="bg1"/>
                </a:solidFill>
                <a:latin typeface="Arial" pitchFamily="34" charset="0"/>
                <a:ea typeface="Arial" pitchFamily="34" charset="-122"/>
                <a:cs typeface="Arial" pitchFamily="34" charset="-120"/>
              </a:rPr>
              <a:t>Reason for Revelation</a:t>
            </a:r>
            <a:endParaRPr lang="en-US" sz="1600" dirty="0"/>
          </a:p>
        </p:txBody>
      </p:sp>
      <p:sp>
        <p:nvSpPr>
          <p:cNvPr id="12" name="Text 10"/>
          <p:cNvSpPr txBox="1"/>
          <p:nvPr/>
        </p:nvSpPr>
        <p:spPr>
          <a:xfrm>
            <a:off x="975208" y="3246120"/>
            <a:ext cx="4617720" cy="2697480"/>
          </a:xfrm>
          <a:prstGeom prst="rect">
            <a:avLst/>
          </a:prstGeom>
          <a:noFill/>
          <a:ln/>
        </p:spPr>
        <p:txBody>
          <a:bodyPr wrap="square" lIns="0" tIns="0" rIns="0" bIns="0" rtlCol="0" anchor="ctr"/>
          <a:lstStyle/>
          <a:p>
            <a:pPr algn="l" indent="0" marL="0">
              <a:lnSpc>
                <a:spcPct val="110000"/>
              </a:lnSpc>
              <a:buNone/>
            </a:pPr>
            <a:r>
              <a:rPr lang="en-US" altLang="en-US" sz="1400" dirty="0">
                <a:solidFill>
                  <a:schemeClr val="tx1"/>
                </a:solidFill>
                <a:latin typeface="Arial" pitchFamily="34" charset="0"/>
                <a:ea typeface="Arial" pitchFamily="34" charset="-122"/>
                <a:cs typeface="Arial" pitchFamily="34" charset="-120"/>
              </a:rPr>
              <a:t>Ibn 'Abbas (may Allah be pleased with them) said: The idol-worshippers wanted Persia to beat the Romans because they were idol-worshippers too, and the Muslims wanted the Romans to win because they were People of the Book. When Persia defeated Rome, “Alif Lam Mim. The Romans have been defeated...” was revealed, and the Romans won within a few years as the Qur'an said (Tirmidhi and Ahmad).</a:t>
            </a:r>
            <a:endParaRPr lang="en-US" sz="1400" dirty="0"/>
          </a:p>
        </p:txBody>
      </p:sp>
      <p:sp>
        <p:nvSpPr>
          <p:cNvPr id="13" name="Shape 11"/>
          <p:cNvSpPr/>
          <p:nvPr/>
        </p:nvSpPr>
        <p:spPr>
          <a:xfrm>
            <a:off x="6278728" y="2880360"/>
            <a:ext cx="5257800" cy="3246120"/>
          </a:xfrm>
          <a:prstGeom prst="roundRect">
            <a:avLst>
              <a:gd name="adj" fmla="val 4225"/>
            </a:avLst>
          </a:prstGeom>
          <a:solidFill>
            <a:schemeClr val="bg2"/>
          </a:solidFill>
          <a:ln w="25400">
            <a:solidFill>
              <a:schemeClr val="accent2"/>
            </a:solidFill>
            <a:prstDash val="solid"/>
          </a:ln>
        </p:spPr>
      </p:sp>
      <p:sp>
        <p:nvSpPr>
          <p:cNvPr id="14" name="Shape 12"/>
          <p:cNvSpPr/>
          <p:nvPr/>
        </p:nvSpPr>
        <p:spPr>
          <a:xfrm>
            <a:off x="7444588" y="2651760"/>
            <a:ext cx="2926080" cy="457200"/>
          </a:xfrm>
          <a:prstGeom prst="roundRect">
            <a:avLst>
              <a:gd name="adj" fmla="val 50000"/>
            </a:avLst>
          </a:prstGeom>
          <a:solidFill>
            <a:schemeClr val="tx2"/>
          </a:solidFill>
          <a:ln w="15875">
            <a:solidFill>
              <a:schemeClr val="accent2"/>
            </a:solidFill>
            <a:prstDash val="solid"/>
          </a:ln>
        </p:spPr>
      </p:sp>
      <p:sp>
        <p:nvSpPr>
          <p:cNvPr id="15" name="Text 13"/>
          <p:cNvSpPr txBox="1"/>
          <p:nvPr/>
        </p:nvSpPr>
        <p:spPr>
          <a:xfrm>
            <a:off x="7444588" y="2651760"/>
            <a:ext cx="2926080" cy="457200"/>
          </a:xfrm>
          <a:prstGeom prst="rect">
            <a:avLst/>
          </a:prstGeom>
          <a:noFill/>
          <a:ln/>
        </p:spPr>
        <p:txBody>
          <a:bodyPr wrap="square" lIns="0" tIns="0" rIns="0" bIns="0" rtlCol="0" anchor="ctr"/>
          <a:lstStyle/>
          <a:p>
            <a:pPr algn="ctr" indent="0" marL="0">
              <a:buNone/>
            </a:pPr>
            <a:r>
              <a:rPr lang="en-US" altLang="en-US" sz="1600" b="1" dirty="0">
                <a:solidFill>
                  <a:schemeClr val="bg1"/>
                </a:solidFill>
                <a:latin typeface="Arial" pitchFamily="34" charset="0"/>
                <a:ea typeface="Arial" pitchFamily="34" charset="-122"/>
                <a:cs typeface="Arial" pitchFamily="34" charset="-120"/>
              </a:rPr>
              <a:t>Theme of the Surah</a:t>
            </a:r>
            <a:endParaRPr lang="en-US" sz="1600" dirty="0"/>
          </a:p>
        </p:txBody>
      </p:sp>
      <p:sp>
        <p:nvSpPr>
          <p:cNvPr id="16" name="Text 14"/>
          <p:cNvSpPr txBox="1"/>
          <p:nvPr/>
        </p:nvSpPr>
        <p:spPr>
          <a:xfrm>
            <a:off x="6598768" y="3246120"/>
            <a:ext cx="4617720" cy="2697480"/>
          </a:xfrm>
          <a:prstGeom prst="rect">
            <a:avLst/>
          </a:prstGeom>
          <a:noFill/>
          <a:ln/>
        </p:spPr>
        <p:txBody>
          <a:bodyPr wrap="square" lIns="0" tIns="0" rIns="0" bIns="0" rtlCol="0" anchor="ctr"/>
          <a:lstStyle/>
          <a:p>
            <a:pPr algn="l" indent="0" marL="0">
              <a:lnSpc>
                <a:spcPct val="110000"/>
              </a:lnSpc>
              <a:buNone/>
            </a:pPr>
            <a:r>
              <a:rPr lang="en-US" altLang="en-US" sz="1700" dirty="0">
                <a:solidFill>
                  <a:schemeClr val="tx1"/>
                </a:solidFill>
                <a:latin typeface="Arial" pitchFamily="34" charset="0"/>
                <a:ea typeface="Arial" pitchFamily="34" charset="-122"/>
                <a:cs typeface="Arial" pitchFamily="34" charset="-120"/>
              </a:rPr>
              <a:t>The Qur'an foretold the Romans' victory after their defeat, a true miracle. It shows Allah's signs in creation, marriage, and the variety of languages and colours, and that Islam is the religion of the natural way, the fitrah.</a:t>
            </a:r>
            <a:endParaRPr lang="en-US" sz="1700" dirty="0"/>
          </a:p>
        </p:txBody>
      </p:sp>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name="Slide 52">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algn="ctr" indent="0" marL="0">
              <a:buNone/>
            </a:pPr>
            <a:r>
              <a:rPr lang="en-US" sz="2400" b="1" dirty="0">
                <a:solidFill>
                  <a:schemeClr val="bg1"/>
                </a:solidFill>
                <a:latin typeface="Georgia" pitchFamily="34" charset="0"/>
                <a:ea typeface="Georgia" pitchFamily="34" charset="-122"/>
                <a:cs typeface="Georgia" pitchFamily="34" charset="-120"/>
              </a:rPr>
              <a:t>Surah Ar-Rum</a:t>
            </a:r>
            <a:endParaRPr lang="en-US" sz="2400" dirty="0"/>
          </a:p>
        </p:txBody>
      </p:sp>
      <p:sp>
        <p:nvSpPr>
          <p:cNvPr id="3" name="Text 1"/>
          <p:cNvSpPr txBox="1"/>
          <p:nvPr/>
        </p:nvSpPr>
        <p:spPr>
          <a:xfrm>
            <a:off x="777240" y="548640"/>
            <a:ext cx="2651760" cy="384048"/>
          </a:xfrm>
          <a:prstGeom prst="rect">
            <a:avLst/>
          </a:prstGeom>
          <a:noFill/>
          <a:ln/>
        </p:spPr>
        <p:txBody>
          <a:bodyPr wrap="square" lIns="0" tIns="0" rIns="0" bIns="0" rtlCol="0" anchor="ctr"/>
          <a:lstStyle/>
          <a:p>
            <a:pPr algn="l" indent="0" marL="0">
              <a:buNone/>
            </a:pPr>
            <a:r>
              <a:rPr lang="en-US" altLang="en-US" sz="1500" b="1" dirty="0">
                <a:solidFill>
                  <a:schemeClr val="accent2"/>
                </a:solidFill>
                <a:latin typeface="Arial" pitchFamily="34" charset="0"/>
                <a:ea typeface="Arial" pitchFamily="34" charset="-122"/>
                <a:cs typeface="Arial" pitchFamily="34" charset="-120"/>
              </a:rPr>
              <a:t>Verses 1 – 4</a:t>
            </a:r>
            <a:endParaRPr lang="en-US" sz="1500" dirty="0"/>
          </a:p>
        </p:txBody>
      </p:sp>
      <p:sp>
        <p:nvSpPr>
          <p:cNvPr id="4" name="Text 2"/>
          <p:cNvSpPr txBox="1"/>
          <p:nvPr/>
        </p:nvSpPr>
        <p:spPr>
          <a:xfrm>
            <a:off x="8732520" y="548640"/>
            <a:ext cx="2651760" cy="384048"/>
          </a:xfrm>
          <a:prstGeom prst="rect">
            <a:avLst/>
          </a:prstGeom>
          <a:noFill/>
          <a:ln/>
        </p:spPr>
        <p:txBody>
          <a:bodyPr wrap="square" lIns="0" tIns="0" rIns="0" bIns="0" rtlCol="0" anchor="ctr"/>
          <a:lstStyle/>
          <a:p>
            <a:pPr algn="r" indent="0" marL="0">
              <a:buNone/>
            </a:pPr>
            <a:r>
              <a:rPr lang="en-US" altLang="en-US" sz="1300" i="1" dirty="0">
                <a:solidFill>
                  <a:schemeClr val="accent4"/>
                </a:solidFill>
                <a:latin typeface="Arial" pitchFamily="34" charset="0"/>
                <a:ea typeface="Arial" pitchFamily="34" charset="-122"/>
                <a:cs typeface="Arial" pitchFamily="34" charset="-120"/>
              </a:rPr>
              <a:t>Ibn Kathir, simplified</a:t>
            </a:r>
            <a:endParaRPr lang="en-US" sz="1300" dirty="0"/>
          </a:p>
        </p:txBody>
      </p:sp>
      <p:sp>
        <p:nvSpPr>
          <p:cNvPr id="5" name="Shape 3"/>
          <p:cNvSpPr/>
          <p:nvPr/>
        </p:nvSpPr>
        <p:spPr>
          <a:xfrm>
            <a:off x="713232" y="1345882"/>
            <a:ext cx="548640" cy="548640"/>
          </a:xfrm>
          <a:prstGeom prst="star8">
            <a:avLst/>
          </a:prstGeom>
          <a:solidFill>
            <a:schemeClr val="accent2"/>
          </a:solidFill>
          <a:ln/>
        </p:spPr>
      </p:sp>
      <p:sp>
        <p:nvSpPr>
          <p:cNvPr id="6" name="Shape 4"/>
          <p:cNvSpPr/>
          <p:nvPr/>
        </p:nvSpPr>
        <p:spPr>
          <a:xfrm>
            <a:off x="822960" y="1455611"/>
            <a:ext cx="329184" cy="329184"/>
          </a:xfrm>
          <a:prstGeom prst="ellipse">
            <a:avLst/>
          </a:prstGeom>
          <a:solidFill>
            <a:schemeClr val="bg2"/>
          </a:solidFill>
          <a:ln w="19050">
            <a:solidFill>
              <a:schemeClr val="tx2"/>
            </a:solidFill>
            <a:prstDash val="solid"/>
          </a:ln>
        </p:spPr>
      </p:sp>
      <p:sp>
        <p:nvSpPr>
          <p:cNvPr id="7" name="Text 5"/>
          <p:cNvSpPr txBox="1"/>
          <p:nvPr/>
        </p:nvSpPr>
        <p:spPr>
          <a:xfrm>
            <a:off x="713232" y="1345882"/>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1</a:t>
            </a:r>
            <a:endParaRPr lang="en-US" sz="1600" dirty="0"/>
          </a:p>
        </p:txBody>
      </p:sp>
      <p:sp>
        <p:nvSpPr>
          <p:cNvPr id="8" name="Text 6"/>
          <p:cNvSpPr txBox="1"/>
          <p:nvPr/>
        </p:nvSpPr>
        <p:spPr>
          <a:xfrm>
            <a:off x="1444752" y="1327594"/>
            <a:ext cx="10012680" cy="992124"/>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الم</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Separate letters, pointing to the miracle of the Qur'an.</a:t>
            </a:r>
            <a:endParaRPr lang="en-US" sz="3000" dirty="0"/>
          </a:p>
        </p:txBody>
      </p:sp>
      <p:sp>
        <p:nvSpPr>
          <p:cNvPr id="9" name="Shape 7"/>
          <p:cNvSpPr/>
          <p:nvPr/>
        </p:nvSpPr>
        <p:spPr>
          <a:xfrm>
            <a:off x="1444752" y="2394585"/>
            <a:ext cx="8641080" cy="0"/>
          </a:xfrm>
          <a:prstGeom prst="line">
            <a:avLst/>
          </a:prstGeom>
          <a:noFill/>
          <a:ln w="9525">
            <a:solidFill>
              <a:schemeClr val="accent2"/>
            </a:solidFill>
            <a:prstDash val="dash"/>
          </a:ln>
        </p:spPr>
      </p:sp>
      <p:sp>
        <p:nvSpPr>
          <p:cNvPr id="10" name="Shape 8"/>
          <p:cNvSpPr/>
          <p:nvPr/>
        </p:nvSpPr>
        <p:spPr>
          <a:xfrm>
            <a:off x="713232" y="2515172"/>
            <a:ext cx="548640" cy="548640"/>
          </a:xfrm>
          <a:prstGeom prst="star8">
            <a:avLst/>
          </a:prstGeom>
          <a:solidFill>
            <a:schemeClr val="accent2"/>
          </a:solidFill>
          <a:ln/>
        </p:spPr>
      </p:sp>
      <p:sp>
        <p:nvSpPr>
          <p:cNvPr id="11" name="Shape 9"/>
          <p:cNvSpPr/>
          <p:nvPr/>
        </p:nvSpPr>
        <p:spPr>
          <a:xfrm>
            <a:off x="822960" y="2624900"/>
            <a:ext cx="329184" cy="329184"/>
          </a:xfrm>
          <a:prstGeom prst="ellipse">
            <a:avLst/>
          </a:prstGeom>
          <a:solidFill>
            <a:schemeClr val="bg2"/>
          </a:solidFill>
          <a:ln w="19050">
            <a:solidFill>
              <a:schemeClr val="tx2"/>
            </a:solidFill>
            <a:prstDash val="solid"/>
          </a:ln>
        </p:spPr>
      </p:sp>
      <p:sp>
        <p:nvSpPr>
          <p:cNvPr id="12" name="Text 10"/>
          <p:cNvSpPr txBox="1"/>
          <p:nvPr/>
        </p:nvSpPr>
        <p:spPr>
          <a:xfrm>
            <a:off x="713232" y="2515172"/>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2</a:t>
            </a:r>
            <a:endParaRPr lang="en-US" sz="1600" dirty="0"/>
          </a:p>
        </p:txBody>
      </p:sp>
      <p:sp>
        <p:nvSpPr>
          <p:cNvPr id="13" name="Text 11"/>
          <p:cNvSpPr txBox="1"/>
          <p:nvPr/>
        </p:nvSpPr>
        <p:spPr>
          <a:xfrm>
            <a:off x="1444752" y="2496884"/>
            <a:ext cx="10012680" cy="992124"/>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غُلِبَتِ الرُّومُ</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The Romans have been defeated by the Persians,</a:t>
            </a:r>
            <a:endParaRPr lang="en-US" sz="3000" dirty="0"/>
          </a:p>
        </p:txBody>
      </p:sp>
      <p:sp>
        <p:nvSpPr>
          <p:cNvPr id="14" name="Shape 12"/>
          <p:cNvSpPr/>
          <p:nvPr/>
        </p:nvSpPr>
        <p:spPr>
          <a:xfrm>
            <a:off x="1444752" y="3563874"/>
            <a:ext cx="8641080" cy="0"/>
          </a:xfrm>
          <a:prstGeom prst="line">
            <a:avLst/>
          </a:prstGeom>
          <a:noFill/>
          <a:ln w="9525">
            <a:solidFill>
              <a:schemeClr val="accent2"/>
            </a:solidFill>
            <a:prstDash val="dash"/>
          </a:ln>
        </p:spPr>
      </p:sp>
      <p:sp>
        <p:nvSpPr>
          <p:cNvPr id="15" name="Shape 13"/>
          <p:cNvSpPr/>
          <p:nvPr/>
        </p:nvSpPr>
        <p:spPr>
          <a:xfrm>
            <a:off x="713232" y="3684460"/>
            <a:ext cx="548640" cy="548640"/>
          </a:xfrm>
          <a:prstGeom prst="star8">
            <a:avLst/>
          </a:prstGeom>
          <a:solidFill>
            <a:schemeClr val="accent2"/>
          </a:solidFill>
          <a:ln/>
        </p:spPr>
      </p:sp>
      <p:sp>
        <p:nvSpPr>
          <p:cNvPr id="16" name="Shape 14"/>
          <p:cNvSpPr/>
          <p:nvPr/>
        </p:nvSpPr>
        <p:spPr>
          <a:xfrm>
            <a:off x="822960" y="3794188"/>
            <a:ext cx="329184" cy="329184"/>
          </a:xfrm>
          <a:prstGeom prst="ellipse">
            <a:avLst/>
          </a:prstGeom>
          <a:solidFill>
            <a:schemeClr val="bg2"/>
          </a:solidFill>
          <a:ln w="19050">
            <a:solidFill>
              <a:schemeClr val="tx2"/>
            </a:solidFill>
            <a:prstDash val="solid"/>
          </a:ln>
        </p:spPr>
      </p:sp>
      <p:sp>
        <p:nvSpPr>
          <p:cNvPr id="17" name="Text 15"/>
          <p:cNvSpPr txBox="1"/>
          <p:nvPr/>
        </p:nvSpPr>
        <p:spPr>
          <a:xfrm>
            <a:off x="713232" y="3684460"/>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3</a:t>
            </a:r>
            <a:endParaRPr lang="en-US" sz="1600" dirty="0"/>
          </a:p>
        </p:txBody>
      </p:sp>
      <p:sp>
        <p:nvSpPr>
          <p:cNvPr id="18" name="Text 16"/>
          <p:cNvSpPr txBox="1"/>
          <p:nvPr/>
        </p:nvSpPr>
        <p:spPr>
          <a:xfrm>
            <a:off x="1444752" y="3666172"/>
            <a:ext cx="10012680" cy="992124"/>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فِي أَدْنَى الْأَرْضِ وَهُم مِّن بَعْدِ غَلَبِهِمْ سَيَغْلِبُونَ</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in the nearest land to Arabia, but after their defeat they will win,</a:t>
            </a:r>
            <a:endParaRPr lang="en-US" sz="3000" dirty="0"/>
          </a:p>
        </p:txBody>
      </p:sp>
      <p:sp>
        <p:nvSpPr>
          <p:cNvPr id="19" name="Shape 17"/>
          <p:cNvSpPr/>
          <p:nvPr/>
        </p:nvSpPr>
        <p:spPr>
          <a:xfrm>
            <a:off x="1444752" y="4733163"/>
            <a:ext cx="8641080" cy="0"/>
          </a:xfrm>
          <a:prstGeom prst="line">
            <a:avLst/>
          </a:prstGeom>
          <a:noFill/>
          <a:ln w="9525">
            <a:solidFill>
              <a:schemeClr val="accent2"/>
            </a:solidFill>
            <a:prstDash val="dash"/>
          </a:ln>
        </p:spPr>
      </p:sp>
      <p:sp>
        <p:nvSpPr>
          <p:cNvPr id="20" name="Shape 18"/>
          <p:cNvSpPr/>
          <p:nvPr/>
        </p:nvSpPr>
        <p:spPr>
          <a:xfrm>
            <a:off x="713232" y="4853749"/>
            <a:ext cx="548640" cy="548640"/>
          </a:xfrm>
          <a:prstGeom prst="star8">
            <a:avLst/>
          </a:prstGeom>
          <a:solidFill>
            <a:schemeClr val="accent2"/>
          </a:solidFill>
          <a:ln/>
        </p:spPr>
      </p:sp>
      <p:sp>
        <p:nvSpPr>
          <p:cNvPr id="21" name="Shape 19"/>
          <p:cNvSpPr/>
          <p:nvPr/>
        </p:nvSpPr>
        <p:spPr>
          <a:xfrm>
            <a:off x="822960" y="4963477"/>
            <a:ext cx="329184" cy="329184"/>
          </a:xfrm>
          <a:prstGeom prst="ellipse">
            <a:avLst/>
          </a:prstGeom>
          <a:solidFill>
            <a:schemeClr val="bg2"/>
          </a:solidFill>
          <a:ln w="19050">
            <a:solidFill>
              <a:schemeClr val="tx2"/>
            </a:solidFill>
            <a:prstDash val="solid"/>
          </a:ln>
        </p:spPr>
      </p:sp>
      <p:sp>
        <p:nvSpPr>
          <p:cNvPr id="22" name="Text 20"/>
          <p:cNvSpPr txBox="1"/>
          <p:nvPr/>
        </p:nvSpPr>
        <p:spPr>
          <a:xfrm>
            <a:off x="713232" y="4853749"/>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4</a:t>
            </a:r>
            <a:endParaRPr lang="en-US" sz="1600" dirty="0"/>
          </a:p>
        </p:txBody>
      </p:sp>
      <p:sp>
        <p:nvSpPr>
          <p:cNvPr id="23" name="Text 21"/>
          <p:cNvSpPr txBox="1"/>
          <p:nvPr/>
        </p:nvSpPr>
        <p:spPr>
          <a:xfrm>
            <a:off x="1444752" y="4835461"/>
            <a:ext cx="10012680" cy="1252728"/>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فِي بِضْعِ سِنِينَ لِلَّهِ الْأَمْرُ مِن قَبْلُ وَمِن بَعْدُ وَيَوْمَئِذٍ يَفْرَحُ الْمُؤْمِنُونَ</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within a few years, between three and nine. The command belongs to Allah before the victory and after it. On the Day the Romans win, the believers will rejoice</a:t>
            </a:r>
            <a:endParaRPr lang="en-US" sz="3000" dirty="0"/>
          </a:p>
        </p:txBody>
      </p:sp>
      <p:sp>
        <p:nvSpPr>
          <p:cNvPr id="25" name="Slide Number Placeholder 0"/>
          <p:cNvSpPr>
            <a:spLocks noGrp="1"/>
          </p:cNvSpPr>
          <p:nvPr>
            <p:ph type="sldNum" sz="quarter" idx="4294967295"/>
          </p:nvPr>
        </p:nvSpPr>
        <p:spPr>
          <a:xfrm>
            <a:off x="1115568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52</a:t>
            </a:fld>
            <a:endParaRPr lang="en-US"/>
          </a:p>
        </p:txBody>
      </p:sp>
    </p:spTree>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name="Slide 53">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algn="ctr" indent="0" marL="0">
              <a:buNone/>
            </a:pPr>
            <a:r>
              <a:rPr lang="en-US" sz="2400" b="1" dirty="0">
                <a:solidFill>
                  <a:schemeClr val="bg1"/>
                </a:solidFill>
                <a:latin typeface="Georgia" pitchFamily="34" charset="0"/>
                <a:ea typeface="Georgia" pitchFamily="34" charset="-122"/>
                <a:cs typeface="Georgia" pitchFamily="34" charset="-120"/>
              </a:rPr>
              <a:t>Surah Ar-Rum</a:t>
            </a:r>
            <a:endParaRPr lang="en-US" sz="2400" dirty="0"/>
          </a:p>
        </p:txBody>
      </p:sp>
      <p:sp>
        <p:nvSpPr>
          <p:cNvPr id="3" name="Text 1"/>
          <p:cNvSpPr txBox="1"/>
          <p:nvPr/>
        </p:nvSpPr>
        <p:spPr>
          <a:xfrm>
            <a:off x="777240" y="548640"/>
            <a:ext cx="2651760" cy="384048"/>
          </a:xfrm>
          <a:prstGeom prst="rect">
            <a:avLst/>
          </a:prstGeom>
          <a:noFill/>
          <a:ln/>
        </p:spPr>
        <p:txBody>
          <a:bodyPr wrap="square" lIns="0" tIns="0" rIns="0" bIns="0" rtlCol="0" anchor="ctr"/>
          <a:lstStyle/>
          <a:p>
            <a:pPr algn="l" indent="0" marL="0">
              <a:buNone/>
            </a:pPr>
            <a:r>
              <a:rPr lang="en-US" altLang="en-US" sz="1500" b="1" dirty="0">
                <a:solidFill>
                  <a:schemeClr val="accent2"/>
                </a:solidFill>
                <a:latin typeface="Arial" pitchFamily="34" charset="0"/>
                <a:ea typeface="Arial" pitchFamily="34" charset="-122"/>
                <a:cs typeface="Arial" pitchFamily="34" charset="-120"/>
              </a:rPr>
              <a:t>Verses 5 – 7</a:t>
            </a:r>
            <a:endParaRPr lang="en-US" sz="1500" dirty="0"/>
          </a:p>
        </p:txBody>
      </p:sp>
      <p:sp>
        <p:nvSpPr>
          <p:cNvPr id="4" name="Text 2"/>
          <p:cNvSpPr txBox="1"/>
          <p:nvPr/>
        </p:nvSpPr>
        <p:spPr>
          <a:xfrm>
            <a:off x="8732520" y="548640"/>
            <a:ext cx="2651760" cy="384048"/>
          </a:xfrm>
          <a:prstGeom prst="rect">
            <a:avLst/>
          </a:prstGeom>
          <a:noFill/>
          <a:ln/>
        </p:spPr>
        <p:txBody>
          <a:bodyPr wrap="square" lIns="0" tIns="0" rIns="0" bIns="0" rtlCol="0" anchor="ctr"/>
          <a:lstStyle/>
          <a:p>
            <a:pPr algn="r" indent="0" marL="0">
              <a:buNone/>
            </a:pPr>
            <a:r>
              <a:rPr lang="en-US" altLang="en-US" sz="1300" i="1" dirty="0">
                <a:solidFill>
                  <a:schemeClr val="accent4"/>
                </a:solidFill>
                <a:latin typeface="Arial" pitchFamily="34" charset="0"/>
                <a:ea typeface="Arial" pitchFamily="34" charset="-122"/>
                <a:cs typeface="Arial" pitchFamily="34" charset="-120"/>
              </a:rPr>
              <a:t>Ibn Kathir, simplified</a:t>
            </a:r>
            <a:endParaRPr lang="en-US" sz="1300" dirty="0"/>
          </a:p>
        </p:txBody>
      </p:sp>
      <p:sp>
        <p:nvSpPr>
          <p:cNvPr id="5" name="Shape 3"/>
          <p:cNvSpPr/>
          <p:nvPr/>
        </p:nvSpPr>
        <p:spPr>
          <a:xfrm>
            <a:off x="713232" y="1575054"/>
            <a:ext cx="548640" cy="548640"/>
          </a:xfrm>
          <a:prstGeom prst="star8">
            <a:avLst/>
          </a:prstGeom>
          <a:solidFill>
            <a:schemeClr val="accent2"/>
          </a:solidFill>
          <a:ln/>
        </p:spPr>
      </p:sp>
      <p:sp>
        <p:nvSpPr>
          <p:cNvPr id="6" name="Shape 4"/>
          <p:cNvSpPr/>
          <p:nvPr/>
        </p:nvSpPr>
        <p:spPr>
          <a:xfrm>
            <a:off x="822960" y="1684782"/>
            <a:ext cx="329184" cy="329184"/>
          </a:xfrm>
          <a:prstGeom prst="ellipse">
            <a:avLst/>
          </a:prstGeom>
          <a:solidFill>
            <a:schemeClr val="bg2"/>
          </a:solidFill>
          <a:ln w="19050">
            <a:solidFill>
              <a:schemeClr val="tx2"/>
            </a:solidFill>
            <a:prstDash val="solid"/>
          </a:ln>
        </p:spPr>
      </p:sp>
      <p:sp>
        <p:nvSpPr>
          <p:cNvPr id="7" name="Text 5"/>
          <p:cNvSpPr txBox="1"/>
          <p:nvPr/>
        </p:nvSpPr>
        <p:spPr>
          <a:xfrm>
            <a:off x="713232" y="1575054"/>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5</a:t>
            </a:r>
            <a:endParaRPr lang="en-US" sz="1600" dirty="0"/>
          </a:p>
        </p:txBody>
      </p:sp>
      <p:sp>
        <p:nvSpPr>
          <p:cNvPr id="8" name="Text 6"/>
          <p:cNvSpPr txBox="1"/>
          <p:nvPr/>
        </p:nvSpPr>
        <p:spPr>
          <a:xfrm>
            <a:off x="1444752" y="1556766"/>
            <a:ext cx="10012680" cy="1252728"/>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بِنَصْرِ اللَّهِ يَنصُرُ مَن يَشَآءُ وَهُوَ الْعَزِيزُ الرَّحِيمُ</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at Allah's help. He helps whom He wills, and He is the Almighty, the Most Merciful. It happened on the same day the Muslims won at Badr.</a:t>
            </a:r>
            <a:endParaRPr lang="en-US" sz="3000" dirty="0"/>
          </a:p>
        </p:txBody>
      </p:sp>
      <p:sp>
        <p:nvSpPr>
          <p:cNvPr id="9" name="Shape 7"/>
          <p:cNvSpPr/>
          <p:nvPr/>
        </p:nvSpPr>
        <p:spPr>
          <a:xfrm>
            <a:off x="1444752" y="2996946"/>
            <a:ext cx="8641080" cy="0"/>
          </a:xfrm>
          <a:prstGeom prst="line">
            <a:avLst/>
          </a:prstGeom>
          <a:noFill/>
          <a:ln w="9525">
            <a:solidFill>
              <a:schemeClr val="accent2"/>
            </a:solidFill>
            <a:prstDash val="dash"/>
          </a:ln>
        </p:spPr>
      </p:sp>
      <p:sp>
        <p:nvSpPr>
          <p:cNvPr id="10" name="Shape 8"/>
          <p:cNvSpPr/>
          <p:nvPr/>
        </p:nvSpPr>
        <p:spPr>
          <a:xfrm>
            <a:off x="713232" y="3230118"/>
            <a:ext cx="548640" cy="548640"/>
          </a:xfrm>
          <a:prstGeom prst="star8">
            <a:avLst/>
          </a:prstGeom>
          <a:solidFill>
            <a:schemeClr val="accent2"/>
          </a:solidFill>
          <a:ln/>
        </p:spPr>
      </p:sp>
      <p:sp>
        <p:nvSpPr>
          <p:cNvPr id="11" name="Shape 9"/>
          <p:cNvSpPr/>
          <p:nvPr/>
        </p:nvSpPr>
        <p:spPr>
          <a:xfrm>
            <a:off x="822960" y="3339846"/>
            <a:ext cx="329184" cy="329184"/>
          </a:xfrm>
          <a:prstGeom prst="ellipse">
            <a:avLst/>
          </a:prstGeom>
          <a:solidFill>
            <a:schemeClr val="bg2"/>
          </a:solidFill>
          <a:ln w="19050">
            <a:solidFill>
              <a:schemeClr val="tx2"/>
            </a:solidFill>
            <a:prstDash val="solid"/>
          </a:ln>
        </p:spPr>
      </p:sp>
      <p:sp>
        <p:nvSpPr>
          <p:cNvPr id="12" name="Text 10"/>
          <p:cNvSpPr txBox="1"/>
          <p:nvPr/>
        </p:nvSpPr>
        <p:spPr>
          <a:xfrm>
            <a:off x="713232" y="3230118"/>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6</a:t>
            </a:r>
            <a:endParaRPr lang="en-US" sz="1600" dirty="0"/>
          </a:p>
        </p:txBody>
      </p:sp>
      <p:sp>
        <p:nvSpPr>
          <p:cNvPr id="13" name="Text 11"/>
          <p:cNvSpPr txBox="1"/>
          <p:nvPr/>
        </p:nvSpPr>
        <p:spPr>
          <a:xfrm>
            <a:off x="1444752" y="3211830"/>
            <a:ext cx="10012680" cy="992124"/>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وَعْدَ اللَّهِ لَا يُخْلِفُ اللَّهُ وَعْدَهُ وَلَٰكِنَّ أَكْثَرَ النَّاسِ لَا يَعْلَمُونَ</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This is Allah's promise; Allah never breaks His promise, but most people do not know.</a:t>
            </a:r>
            <a:endParaRPr lang="en-US" sz="3000" dirty="0"/>
          </a:p>
        </p:txBody>
      </p:sp>
      <p:sp>
        <p:nvSpPr>
          <p:cNvPr id="14" name="Shape 12"/>
          <p:cNvSpPr/>
          <p:nvPr/>
        </p:nvSpPr>
        <p:spPr>
          <a:xfrm>
            <a:off x="1444752" y="4391406"/>
            <a:ext cx="8641080" cy="0"/>
          </a:xfrm>
          <a:prstGeom prst="line">
            <a:avLst/>
          </a:prstGeom>
          <a:noFill/>
          <a:ln w="9525">
            <a:solidFill>
              <a:schemeClr val="accent2"/>
            </a:solidFill>
            <a:prstDash val="dash"/>
          </a:ln>
        </p:spPr>
      </p:sp>
      <p:sp>
        <p:nvSpPr>
          <p:cNvPr id="15" name="Shape 13"/>
          <p:cNvSpPr/>
          <p:nvPr/>
        </p:nvSpPr>
        <p:spPr>
          <a:xfrm>
            <a:off x="713232" y="4624578"/>
            <a:ext cx="548640" cy="548640"/>
          </a:xfrm>
          <a:prstGeom prst="star8">
            <a:avLst/>
          </a:prstGeom>
          <a:solidFill>
            <a:schemeClr val="accent2"/>
          </a:solidFill>
          <a:ln/>
        </p:spPr>
      </p:sp>
      <p:sp>
        <p:nvSpPr>
          <p:cNvPr id="16" name="Shape 14"/>
          <p:cNvSpPr/>
          <p:nvPr/>
        </p:nvSpPr>
        <p:spPr>
          <a:xfrm>
            <a:off x="822960" y="4734306"/>
            <a:ext cx="329184" cy="329184"/>
          </a:xfrm>
          <a:prstGeom prst="ellipse">
            <a:avLst/>
          </a:prstGeom>
          <a:solidFill>
            <a:schemeClr val="bg2"/>
          </a:solidFill>
          <a:ln w="19050">
            <a:solidFill>
              <a:schemeClr val="tx2"/>
            </a:solidFill>
            <a:prstDash val="solid"/>
          </a:ln>
        </p:spPr>
      </p:sp>
      <p:sp>
        <p:nvSpPr>
          <p:cNvPr id="17" name="Text 15"/>
          <p:cNvSpPr txBox="1"/>
          <p:nvPr/>
        </p:nvSpPr>
        <p:spPr>
          <a:xfrm>
            <a:off x="713232" y="4624578"/>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7</a:t>
            </a:r>
            <a:endParaRPr lang="en-US" sz="1600" dirty="0"/>
          </a:p>
        </p:txBody>
      </p:sp>
      <p:sp>
        <p:nvSpPr>
          <p:cNvPr id="18" name="Text 16"/>
          <p:cNvSpPr txBox="1"/>
          <p:nvPr/>
        </p:nvSpPr>
        <p:spPr>
          <a:xfrm>
            <a:off x="1444752" y="4606290"/>
            <a:ext cx="10012680" cy="1252728"/>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يَعْلَمُونَ ظَٰهِرًا مِّنَ الْحَيَوٰةِ الدُّنْيَا وَهُمْ عَنِ الْأخِرَةِ هُمْ غَٰفِلُونَ</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They know only the outside of this worldly life, like earning and trade, and they are heedless of the Hereafter.</a:t>
            </a:r>
            <a:endParaRPr lang="en-US" sz="3000" dirty="0"/>
          </a:p>
        </p:txBody>
      </p:sp>
      <p:sp>
        <p:nvSpPr>
          <p:cNvPr id="25" name="Slide Number Placeholder 0"/>
          <p:cNvSpPr>
            <a:spLocks noGrp="1"/>
          </p:cNvSpPr>
          <p:nvPr>
            <p:ph type="sldNum" sz="quarter" idx="4294967295"/>
          </p:nvPr>
        </p:nvSpPr>
        <p:spPr>
          <a:xfrm>
            <a:off x="1115568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53</a:t>
            </a:fld>
            <a:endParaRPr lang="en-US"/>
          </a:p>
        </p:txBody>
      </p:sp>
    </p:spTree>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name="Slide 54">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algn="ctr" indent="0" marL="0">
              <a:buNone/>
            </a:pPr>
            <a:r>
              <a:rPr lang="en-US" sz="2400" b="1" dirty="0">
                <a:solidFill>
                  <a:schemeClr val="bg1"/>
                </a:solidFill>
                <a:latin typeface="Georgia" pitchFamily="34" charset="0"/>
                <a:ea typeface="Georgia" pitchFamily="34" charset="-122"/>
                <a:cs typeface="Georgia" pitchFamily="34" charset="-120"/>
              </a:rPr>
              <a:t>Surah Ar-Rum</a:t>
            </a:r>
            <a:endParaRPr lang="en-US" sz="2400" dirty="0"/>
          </a:p>
        </p:txBody>
      </p:sp>
      <p:sp>
        <p:nvSpPr>
          <p:cNvPr id="3" name="Text 1"/>
          <p:cNvSpPr txBox="1"/>
          <p:nvPr/>
        </p:nvSpPr>
        <p:spPr>
          <a:xfrm>
            <a:off x="777240" y="548640"/>
            <a:ext cx="2651760" cy="384048"/>
          </a:xfrm>
          <a:prstGeom prst="rect">
            <a:avLst/>
          </a:prstGeom>
          <a:noFill/>
          <a:ln/>
        </p:spPr>
        <p:txBody>
          <a:bodyPr wrap="square" lIns="0" tIns="0" rIns="0" bIns="0" rtlCol="0" anchor="ctr"/>
          <a:lstStyle/>
          <a:p>
            <a:pPr algn="l" indent="0" marL="0">
              <a:buNone/>
            </a:pPr>
            <a:r>
              <a:rPr lang="en-US" altLang="en-US" sz="1500" b="1" dirty="0">
                <a:solidFill>
                  <a:schemeClr val="accent2"/>
                </a:solidFill>
                <a:latin typeface="Arial" pitchFamily="34" charset="0"/>
                <a:ea typeface="Arial" pitchFamily="34" charset="-122"/>
                <a:cs typeface="Arial" pitchFamily="34" charset="-120"/>
              </a:rPr>
              <a:t>Verses 8 – 9</a:t>
            </a:r>
            <a:endParaRPr lang="en-US" sz="1500" dirty="0"/>
          </a:p>
        </p:txBody>
      </p:sp>
      <p:sp>
        <p:nvSpPr>
          <p:cNvPr id="4" name="Text 2"/>
          <p:cNvSpPr txBox="1"/>
          <p:nvPr/>
        </p:nvSpPr>
        <p:spPr>
          <a:xfrm>
            <a:off x="8732520" y="548640"/>
            <a:ext cx="2651760" cy="384048"/>
          </a:xfrm>
          <a:prstGeom prst="rect">
            <a:avLst/>
          </a:prstGeom>
          <a:noFill/>
          <a:ln/>
        </p:spPr>
        <p:txBody>
          <a:bodyPr wrap="square" lIns="0" tIns="0" rIns="0" bIns="0" rtlCol="0" anchor="ctr"/>
          <a:lstStyle/>
          <a:p>
            <a:pPr algn="r" indent="0" marL="0">
              <a:buNone/>
            </a:pPr>
            <a:r>
              <a:rPr lang="en-US" altLang="en-US" sz="1300" i="1" dirty="0">
                <a:solidFill>
                  <a:schemeClr val="accent4"/>
                </a:solidFill>
                <a:latin typeface="Arial" pitchFamily="34" charset="0"/>
                <a:ea typeface="Arial" pitchFamily="34" charset="-122"/>
                <a:cs typeface="Arial" pitchFamily="34" charset="-120"/>
              </a:rPr>
              <a:t>Ibn Kathir, simplified</a:t>
            </a:r>
            <a:endParaRPr lang="en-US" sz="1300" dirty="0"/>
          </a:p>
        </p:txBody>
      </p:sp>
      <p:sp>
        <p:nvSpPr>
          <p:cNvPr id="5" name="Shape 3"/>
          <p:cNvSpPr/>
          <p:nvPr/>
        </p:nvSpPr>
        <p:spPr>
          <a:xfrm>
            <a:off x="713232" y="1388745"/>
            <a:ext cx="548640" cy="548640"/>
          </a:xfrm>
          <a:prstGeom prst="star8">
            <a:avLst/>
          </a:prstGeom>
          <a:solidFill>
            <a:schemeClr val="accent2"/>
          </a:solidFill>
          <a:ln/>
        </p:spPr>
      </p:sp>
      <p:sp>
        <p:nvSpPr>
          <p:cNvPr id="6" name="Shape 4"/>
          <p:cNvSpPr/>
          <p:nvPr/>
        </p:nvSpPr>
        <p:spPr>
          <a:xfrm>
            <a:off x="822960" y="1498473"/>
            <a:ext cx="329184" cy="329184"/>
          </a:xfrm>
          <a:prstGeom prst="ellipse">
            <a:avLst/>
          </a:prstGeom>
          <a:solidFill>
            <a:schemeClr val="bg2"/>
          </a:solidFill>
          <a:ln w="19050">
            <a:solidFill>
              <a:schemeClr val="tx2"/>
            </a:solidFill>
            <a:prstDash val="solid"/>
          </a:ln>
        </p:spPr>
      </p:sp>
      <p:sp>
        <p:nvSpPr>
          <p:cNvPr id="7" name="Text 5"/>
          <p:cNvSpPr txBox="1"/>
          <p:nvPr/>
        </p:nvSpPr>
        <p:spPr>
          <a:xfrm>
            <a:off x="713232" y="1388745"/>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8</a:t>
            </a:r>
            <a:endParaRPr lang="en-US" sz="1600" dirty="0"/>
          </a:p>
        </p:txBody>
      </p:sp>
      <p:sp>
        <p:nvSpPr>
          <p:cNvPr id="8" name="Text 6"/>
          <p:cNvSpPr txBox="1"/>
          <p:nvPr/>
        </p:nvSpPr>
        <p:spPr>
          <a:xfrm>
            <a:off x="1444752" y="1370457"/>
            <a:ext cx="10012680" cy="1801368"/>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أَوَلَمْ يَتَفَكَّرُواْ فِي أَنفُسِهِم مَّا خَلَقَ اللَّهُ السَّمَٰوَٰتِ وَالْأَرْضَ وَمَا بَيْنَهُمَآ إِلَّا بِالْحَقِّ وَأَجَلٍ مُّسَمًّى وَإِنَّ كَثِيرًا مِّنَ النَّاسِ بِلِقَآيِٕ رَبِّهِمْ لَكَٰفِرُونَ</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Do they not think about themselves? Allah only created the heavens and the earth and what is between them with truth and for a set time. Yet many people disbelieve in meeting their Lord.</a:t>
            </a:r>
            <a:endParaRPr lang="en-US" sz="3000" dirty="0"/>
          </a:p>
        </p:txBody>
      </p:sp>
      <p:sp>
        <p:nvSpPr>
          <p:cNvPr id="9" name="Shape 7"/>
          <p:cNvSpPr/>
          <p:nvPr/>
        </p:nvSpPr>
        <p:spPr>
          <a:xfrm>
            <a:off x="1444752" y="3289554"/>
            <a:ext cx="8641080" cy="0"/>
          </a:xfrm>
          <a:prstGeom prst="line">
            <a:avLst/>
          </a:prstGeom>
          <a:noFill/>
          <a:ln w="9525">
            <a:solidFill>
              <a:schemeClr val="accent2"/>
            </a:solidFill>
            <a:prstDash val="dash"/>
          </a:ln>
        </p:spPr>
      </p:sp>
      <p:sp>
        <p:nvSpPr>
          <p:cNvPr id="10" name="Shape 8"/>
          <p:cNvSpPr/>
          <p:nvPr/>
        </p:nvSpPr>
        <p:spPr>
          <a:xfrm>
            <a:off x="713232" y="3453003"/>
            <a:ext cx="548640" cy="548640"/>
          </a:xfrm>
          <a:prstGeom prst="star8">
            <a:avLst/>
          </a:prstGeom>
          <a:solidFill>
            <a:schemeClr val="accent2"/>
          </a:solidFill>
          <a:ln/>
        </p:spPr>
      </p:sp>
      <p:sp>
        <p:nvSpPr>
          <p:cNvPr id="11" name="Shape 9"/>
          <p:cNvSpPr/>
          <p:nvPr/>
        </p:nvSpPr>
        <p:spPr>
          <a:xfrm>
            <a:off x="822960" y="3562731"/>
            <a:ext cx="329184" cy="329184"/>
          </a:xfrm>
          <a:prstGeom prst="ellipse">
            <a:avLst/>
          </a:prstGeom>
          <a:solidFill>
            <a:schemeClr val="bg2"/>
          </a:solidFill>
          <a:ln w="19050">
            <a:solidFill>
              <a:schemeClr val="tx2"/>
            </a:solidFill>
            <a:prstDash val="solid"/>
          </a:ln>
        </p:spPr>
      </p:sp>
      <p:sp>
        <p:nvSpPr>
          <p:cNvPr id="12" name="Text 10"/>
          <p:cNvSpPr txBox="1"/>
          <p:nvPr/>
        </p:nvSpPr>
        <p:spPr>
          <a:xfrm>
            <a:off x="713232" y="3453003"/>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9</a:t>
            </a:r>
            <a:endParaRPr lang="en-US" sz="1600" dirty="0"/>
          </a:p>
        </p:txBody>
      </p:sp>
      <p:sp>
        <p:nvSpPr>
          <p:cNvPr id="13" name="Text 11"/>
          <p:cNvSpPr txBox="1"/>
          <p:nvPr/>
        </p:nvSpPr>
        <p:spPr>
          <a:xfrm>
            <a:off x="1444752" y="3434715"/>
            <a:ext cx="10012680" cy="2610612"/>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أَوَلَمْ يَسِيرُواْ فِي الْأَرْضِ فَيَنظُرُواْ كَيْفَ كَانَ عَٰقِبَةُ الَّذِينَ مِن قَبْلِهِمْ كَانُواْ أَشَدَّ مِنْهُمْ قُوَّةً وَأَثَارُواْ الْأَرْضَ وَعَمَرُوهَآ أَكْثَرَ مِمَّا عَمَرُوهَا وَجَآءَتْهُمْ رُسُلُهُم بِالْبَيِّنَٰتِ فَمَا كَانَ اللَّهُ لِيَظْلِمَهُمْ وَلَٰكِن كَانُواْ أَنفُسَهُمْ يَظْلِمُونَ</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Have they not travelled through the land and seen the end of the nations before them? They were stronger than them, ploughed the land and built it up more than they have. Their messengers came to them with clear proofs. Allah did not wrong them; they wronged themselves.</a:t>
            </a:r>
            <a:endParaRPr lang="en-US" sz="3000" dirty="0"/>
          </a:p>
        </p:txBody>
      </p:sp>
      <p:sp>
        <p:nvSpPr>
          <p:cNvPr id="25" name="Slide Number Placeholder 0"/>
          <p:cNvSpPr>
            <a:spLocks noGrp="1"/>
          </p:cNvSpPr>
          <p:nvPr>
            <p:ph type="sldNum" sz="quarter" idx="4294967295"/>
          </p:nvPr>
        </p:nvSpPr>
        <p:spPr>
          <a:xfrm>
            <a:off x="1115568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54</a:t>
            </a:fld>
            <a:endParaRPr lang="en-US"/>
          </a:p>
        </p:txBody>
      </p:sp>
    </p:spTree>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name="Slide 55">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algn="ctr" indent="0" marL="0">
              <a:buNone/>
            </a:pPr>
            <a:r>
              <a:rPr lang="en-US" sz="2400" b="1" dirty="0">
                <a:solidFill>
                  <a:schemeClr val="bg1"/>
                </a:solidFill>
                <a:latin typeface="Georgia" pitchFamily="34" charset="0"/>
                <a:ea typeface="Georgia" pitchFamily="34" charset="-122"/>
                <a:cs typeface="Georgia" pitchFamily="34" charset="-120"/>
              </a:rPr>
              <a:t>Surah Ar-Rum</a:t>
            </a:r>
            <a:endParaRPr lang="en-US" sz="2400" dirty="0"/>
          </a:p>
        </p:txBody>
      </p:sp>
      <p:sp>
        <p:nvSpPr>
          <p:cNvPr id="3" name="Text 1"/>
          <p:cNvSpPr txBox="1"/>
          <p:nvPr/>
        </p:nvSpPr>
        <p:spPr>
          <a:xfrm>
            <a:off x="777240" y="548640"/>
            <a:ext cx="2651760" cy="384048"/>
          </a:xfrm>
          <a:prstGeom prst="rect">
            <a:avLst/>
          </a:prstGeom>
          <a:noFill/>
          <a:ln/>
        </p:spPr>
        <p:txBody>
          <a:bodyPr wrap="square" lIns="0" tIns="0" rIns="0" bIns="0" rtlCol="0" anchor="ctr"/>
          <a:lstStyle/>
          <a:p>
            <a:pPr algn="l" indent="0" marL="0">
              <a:buNone/>
            </a:pPr>
            <a:r>
              <a:rPr lang="en-US" altLang="en-US" sz="1500" b="1" dirty="0">
                <a:solidFill>
                  <a:schemeClr val="accent2"/>
                </a:solidFill>
                <a:latin typeface="Arial" pitchFamily="34" charset="0"/>
                <a:ea typeface="Arial" pitchFamily="34" charset="-122"/>
                <a:cs typeface="Arial" pitchFamily="34" charset="-120"/>
              </a:rPr>
              <a:t>Verses 10 – 13</a:t>
            </a:r>
            <a:endParaRPr lang="en-US" sz="1500" dirty="0"/>
          </a:p>
        </p:txBody>
      </p:sp>
      <p:sp>
        <p:nvSpPr>
          <p:cNvPr id="4" name="Text 2"/>
          <p:cNvSpPr txBox="1"/>
          <p:nvPr/>
        </p:nvSpPr>
        <p:spPr>
          <a:xfrm>
            <a:off x="8732520" y="548640"/>
            <a:ext cx="2651760" cy="384048"/>
          </a:xfrm>
          <a:prstGeom prst="rect">
            <a:avLst/>
          </a:prstGeom>
          <a:noFill/>
          <a:ln/>
        </p:spPr>
        <p:txBody>
          <a:bodyPr wrap="square" lIns="0" tIns="0" rIns="0" bIns="0" rtlCol="0" anchor="ctr"/>
          <a:lstStyle/>
          <a:p>
            <a:pPr algn="r" indent="0" marL="0">
              <a:buNone/>
            </a:pPr>
            <a:r>
              <a:rPr lang="en-US" altLang="en-US" sz="1300" i="1" dirty="0">
                <a:solidFill>
                  <a:schemeClr val="accent4"/>
                </a:solidFill>
                <a:latin typeface="Arial" pitchFamily="34" charset="0"/>
                <a:ea typeface="Arial" pitchFamily="34" charset="-122"/>
                <a:cs typeface="Arial" pitchFamily="34" charset="-120"/>
              </a:rPr>
              <a:t>Ibn Kathir, simplified</a:t>
            </a:r>
            <a:endParaRPr lang="en-US" sz="1300" dirty="0"/>
          </a:p>
        </p:txBody>
      </p:sp>
      <p:sp>
        <p:nvSpPr>
          <p:cNvPr id="5" name="Shape 3"/>
          <p:cNvSpPr/>
          <p:nvPr/>
        </p:nvSpPr>
        <p:spPr>
          <a:xfrm>
            <a:off x="713232" y="1345882"/>
            <a:ext cx="548640" cy="548640"/>
          </a:xfrm>
          <a:prstGeom prst="star8">
            <a:avLst/>
          </a:prstGeom>
          <a:solidFill>
            <a:schemeClr val="accent2"/>
          </a:solidFill>
          <a:ln/>
        </p:spPr>
      </p:sp>
      <p:sp>
        <p:nvSpPr>
          <p:cNvPr id="6" name="Shape 4"/>
          <p:cNvSpPr/>
          <p:nvPr/>
        </p:nvSpPr>
        <p:spPr>
          <a:xfrm>
            <a:off x="822960" y="1455611"/>
            <a:ext cx="329184" cy="329184"/>
          </a:xfrm>
          <a:prstGeom prst="ellipse">
            <a:avLst/>
          </a:prstGeom>
          <a:solidFill>
            <a:schemeClr val="bg2"/>
          </a:solidFill>
          <a:ln w="19050">
            <a:solidFill>
              <a:schemeClr val="tx2"/>
            </a:solidFill>
            <a:prstDash val="solid"/>
          </a:ln>
        </p:spPr>
      </p:sp>
      <p:sp>
        <p:nvSpPr>
          <p:cNvPr id="7" name="Text 5"/>
          <p:cNvSpPr txBox="1"/>
          <p:nvPr/>
        </p:nvSpPr>
        <p:spPr>
          <a:xfrm>
            <a:off x="713232" y="1345882"/>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10</a:t>
            </a:r>
            <a:endParaRPr lang="en-US" sz="1600" dirty="0"/>
          </a:p>
        </p:txBody>
      </p:sp>
      <p:sp>
        <p:nvSpPr>
          <p:cNvPr id="8" name="Text 6"/>
          <p:cNvSpPr txBox="1"/>
          <p:nvPr/>
        </p:nvSpPr>
        <p:spPr>
          <a:xfrm>
            <a:off x="1444752" y="1327594"/>
            <a:ext cx="10012680" cy="1252728"/>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ثُمَّ كَانَ عَٰقِبَةَ الَّذِينَ أَسَـٰـُٔواْ السُّوأَىٰ أَن كَذَّبُواْ بِـَٔايَٰتِ اللَّهِ وَكَانُواْ بِهَا يَسْتَهْزِءُونَ</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Then the end of those who did evil was the worst punishment, because they denied Allah's verses and mocked them.</a:t>
            </a:r>
            <a:endParaRPr lang="en-US" sz="3000" dirty="0"/>
          </a:p>
        </p:txBody>
      </p:sp>
      <p:sp>
        <p:nvSpPr>
          <p:cNvPr id="9" name="Shape 7"/>
          <p:cNvSpPr/>
          <p:nvPr/>
        </p:nvSpPr>
        <p:spPr>
          <a:xfrm>
            <a:off x="1444752" y="2655189"/>
            <a:ext cx="8641080" cy="0"/>
          </a:xfrm>
          <a:prstGeom prst="line">
            <a:avLst/>
          </a:prstGeom>
          <a:noFill/>
          <a:ln w="9525">
            <a:solidFill>
              <a:schemeClr val="accent2"/>
            </a:solidFill>
            <a:prstDash val="dash"/>
          </a:ln>
        </p:spPr>
      </p:sp>
      <p:sp>
        <p:nvSpPr>
          <p:cNvPr id="10" name="Shape 8"/>
          <p:cNvSpPr/>
          <p:nvPr/>
        </p:nvSpPr>
        <p:spPr>
          <a:xfrm>
            <a:off x="713232" y="2775776"/>
            <a:ext cx="548640" cy="548640"/>
          </a:xfrm>
          <a:prstGeom prst="star8">
            <a:avLst/>
          </a:prstGeom>
          <a:solidFill>
            <a:schemeClr val="accent2"/>
          </a:solidFill>
          <a:ln/>
        </p:spPr>
      </p:sp>
      <p:sp>
        <p:nvSpPr>
          <p:cNvPr id="11" name="Shape 9"/>
          <p:cNvSpPr/>
          <p:nvPr/>
        </p:nvSpPr>
        <p:spPr>
          <a:xfrm>
            <a:off x="822960" y="2885504"/>
            <a:ext cx="329184" cy="329184"/>
          </a:xfrm>
          <a:prstGeom prst="ellipse">
            <a:avLst/>
          </a:prstGeom>
          <a:solidFill>
            <a:schemeClr val="bg2"/>
          </a:solidFill>
          <a:ln w="19050">
            <a:solidFill>
              <a:schemeClr val="tx2"/>
            </a:solidFill>
            <a:prstDash val="solid"/>
          </a:ln>
        </p:spPr>
      </p:sp>
      <p:sp>
        <p:nvSpPr>
          <p:cNvPr id="12" name="Text 10"/>
          <p:cNvSpPr txBox="1"/>
          <p:nvPr/>
        </p:nvSpPr>
        <p:spPr>
          <a:xfrm>
            <a:off x="713232" y="2775776"/>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11</a:t>
            </a:r>
            <a:endParaRPr lang="en-US" sz="1600" dirty="0"/>
          </a:p>
        </p:txBody>
      </p:sp>
      <p:sp>
        <p:nvSpPr>
          <p:cNvPr id="13" name="Text 11"/>
          <p:cNvSpPr txBox="1"/>
          <p:nvPr/>
        </p:nvSpPr>
        <p:spPr>
          <a:xfrm>
            <a:off x="1444752" y="2757488"/>
            <a:ext cx="10012680" cy="992124"/>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اللَّهُ يَبْدَؤُاْ الْخَلْقَ ثُمَّ يُعِيدُهُ ثُمَّ إِلَيْهِ تُرْجَعُونَ</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Allah begins creation, then repeats it after death, then to Him you will be returned.</a:t>
            </a:r>
            <a:endParaRPr lang="en-US" sz="3000" dirty="0"/>
          </a:p>
        </p:txBody>
      </p:sp>
      <p:sp>
        <p:nvSpPr>
          <p:cNvPr id="14" name="Shape 12"/>
          <p:cNvSpPr/>
          <p:nvPr/>
        </p:nvSpPr>
        <p:spPr>
          <a:xfrm>
            <a:off x="1444752" y="3824478"/>
            <a:ext cx="8641080" cy="0"/>
          </a:xfrm>
          <a:prstGeom prst="line">
            <a:avLst/>
          </a:prstGeom>
          <a:noFill/>
          <a:ln w="9525">
            <a:solidFill>
              <a:schemeClr val="accent2"/>
            </a:solidFill>
            <a:prstDash val="dash"/>
          </a:ln>
        </p:spPr>
      </p:sp>
      <p:sp>
        <p:nvSpPr>
          <p:cNvPr id="15" name="Shape 13"/>
          <p:cNvSpPr/>
          <p:nvPr/>
        </p:nvSpPr>
        <p:spPr>
          <a:xfrm>
            <a:off x="713232" y="3945064"/>
            <a:ext cx="548640" cy="548640"/>
          </a:xfrm>
          <a:prstGeom prst="star8">
            <a:avLst/>
          </a:prstGeom>
          <a:solidFill>
            <a:schemeClr val="accent2"/>
          </a:solidFill>
          <a:ln/>
        </p:spPr>
      </p:sp>
      <p:sp>
        <p:nvSpPr>
          <p:cNvPr id="16" name="Shape 14"/>
          <p:cNvSpPr/>
          <p:nvPr/>
        </p:nvSpPr>
        <p:spPr>
          <a:xfrm>
            <a:off x="822960" y="4054792"/>
            <a:ext cx="329184" cy="329184"/>
          </a:xfrm>
          <a:prstGeom prst="ellipse">
            <a:avLst/>
          </a:prstGeom>
          <a:solidFill>
            <a:schemeClr val="bg2"/>
          </a:solidFill>
          <a:ln w="19050">
            <a:solidFill>
              <a:schemeClr val="tx2"/>
            </a:solidFill>
            <a:prstDash val="solid"/>
          </a:ln>
        </p:spPr>
      </p:sp>
      <p:sp>
        <p:nvSpPr>
          <p:cNvPr id="17" name="Text 15"/>
          <p:cNvSpPr txBox="1"/>
          <p:nvPr/>
        </p:nvSpPr>
        <p:spPr>
          <a:xfrm>
            <a:off x="713232" y="3945064"/>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12</a:t>
            </a:r>
            <a:endParaRPr lang="en-US" sz="1600" dirty="0"/>
          </a:p>
        </p:txBody>
      </p:sp>
      <p:sp>
        <p:nvSpPr>
          <p:cNvPr id="18" name="Text 16"/>
          <p:cNvSpPr txBox="1"/>
          <p:nvPr/>
        </p:nvSpPr>
        <p:spPr>
          <a:xfrm>
            <a:off x="1444752" y="3926776"/>
            <a:ext cx="10012680" cy="992124"/>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وَيَوْمَ تَقُومُ السَّاعَةُ يُبْلِسُ الْمُجْرِمُونَ</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On the Day the Hour comes, the criminals will lose all hope of any good.</a:t>
            </a:r>
            <a:endParaRPr lang="en-US" sz="3000" dirty="0"/>
          </a:p>
        </p:txBody>
      </p:sp>
      <p:sp>
        <p:nvSpPr>
          <p:cNvPr id="19" name="Shape 17"/>
          <p:cNvSpPr/>
          <p:nvPr/>
        </p:nvSpPr>
        <p:spPr>
          <a:xfrm>
            <a:off x="1444752" y="4993767"/>
            <a:ext cx="8641080" cy="0"/>
          </a:xfrm>
          <a:prstGeom prst="line">
            <a:avLst/>
          </a:prstGeom>
          <a:noFill/>
          <a:ln w="9525">
            <a:solidFill>
              <a:schemeClr val="accent2"/>
            </a:solidFill>
            <a:prstDash val="dash"/>
          </a:ln>
        </p:spPr>
      </p:sp>
      <p:sp>
        <p:nvSpPr>
          <p:cNvPr id="20" name="Shape 18"/>
          <p:cNvSpPr/>
          <p:nvPr/>
        </p:nvSpPr>
        <p:spPr>
          <a:xfrm>
            <a:off x="713232" y="5114353"/>
            <a:ext cx="548640" cy="548640"/>
          </a:xfrm>
          <a:prstGeom prst="star8">
            <a:avLst/>
          </a:prstGeom>
          <a:solidFill>
            <a:schemeClr val="accent2"/>
          </a:solidFill>
          <a:ln/>
        </p:spPr>
      </p:sp>
      <p:sp>
        <p:nvSpPr>
          <p:cNvPr id="21" name="Shape 19"/>
          <p:cNvSpPr/>
          <p:nvPr/>
        </p:nvSpPr>
        <p:spPr>
          <a:xfrm>
            <a:off x="822960" y="5224081"/>
            <a:ext cx="329184" cy="329184"/>
          </a:xfrm>
          <a:prstGeom prst="ellipse">
            <a:avLst/>
          </a:prstGeom>
          <a:solidFill>
            <a:schemeClr val="bg2"/>
          </a:solidFill>
          <a:ln w="19050">
            <a:solidFill>
              <a:schemeClr val="tx2"/>
            </a:solidFill>
            <a:prstDash val="solid"/>
          </a:ln>
        </p:spPr>
      </p:sp>
      <p:sp>
        <p:nvSpPr>
          <p:cNvPr id="22" name="Text 20"/>
          <p:cNvSpPr txBox="1"/>
          <p:nvPr/>
        </p:nvSpPr>
        <p:spPr>
          <a:xfrm>
            <a:off x="713232" y="5114353"/>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13</a:t>
            </a:r>
            <a:endParaRPr lang="en-US" sz="1600" dirty="0"/>
          </a:p>
        </p:txBody>
      </p:sp>
      <p:sp>
        <p:nvSpPr>
          <p:cNvPr id="23" name="Text 21"/>
          <p:cNvSpPr txBox="1"/>
          <p:nvPr/>
        </p:nvSpPr>
        <p:spPr>
          <a:xfrm>
            <a:off x="1444752" y="5096065"/>
            <a:ext cx="10012680" cy="992124"/>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وَلَمْ يَكُن لَّهُم مِّن شُرَكَآئِهِمْ شُفَعَـٰؤُاْ وَكَانُواْ بِشُرَكَآئِهِمْ كَٰفِرِينَ</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None of their gods will intercede for them, and they will reject and disown them.</a:t>
            </a:r>
            <a:endParaRPr lang="en-US" sz="3000" dirty="0"/>
          </a:p>
        </p:txBody>
      </p:sp>
      <p:sp>
        <p:nvSpPr>
          <p:cNvPr id="25" name="Slide Number Placeholder 0"/>
          <p:cNvSpPr>
            <a:spLocks noGrp="1"/>
          </p:cNvSpPr>
          <p:nvPr>
            <p:ph type="sldNum" sz="quarter" idx="4294967295"/>
          </p:nvPr>
        </p:nvSpPr>
        <p:spPr>
          <a:xfrm>
            <a:off x="1115568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55</a:t>
            </a:fld>
            <a:endParaRPr lang="en-US"/>
          </a:p>
        </p:txBody>
      </p:sp>
    </p:spTree>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name="Slide 56">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algn="ctr" indent="0" marL="0">
              <a:buNone/>
            </a:pPr>
            <a:r>
              <a:rPr lang="en-US" sz="2400" b="1" dirty="0">
                <a:solidFill>
                  <a:schemeClr val="bg1"/>
                </a:solidFill>
                <a:latin typeface="Georgia" pitchFamily="34" charset="0"/>
                <a:ea typeface="Georgia" pitchFamily="34" charset="-122"/>
                <a:cs typeface="Georgia" pitchFamily="34" charset="-120"/>
              </a:rPr>
              <a:t>Surah Ar-Rum</a:t>
            </a:r>
            <a:endParaRPr lang="en-US" sz="2400" dirty="0"/>
          </a:p>
        </p:txBody>
      </p:sp>
      <p:sp>
        <p:nvSpPr>
          <p:cNvPr id="3" name="Text 1"/>
          <p:cNvSpPr txBox="1"/>
          <p:nvPr/>
        </p:nvSpPr>
        <p:spPr>
          <a:xfrm>
            <a:off x="777240" y="548640"/>
            <a:ext cx="2651760" cy="384048"/>
          </a:xfrm>
          <a:prstGeom prst="rect">
            <a:avLst/>
          </a:prstGeom>
          <a:noFill/>
          <a:ln/>
        </p:spPr>
        <p:txBody>
          <a:bodyPr wrap="square" lIns="0" tIns="0" rIns="0" bIns="0" rtlCol="0" anchor="ctr"/>
          <a:lstStyle/>
          <a:p>
            <a:pPr algn="l" indent="0" marL="0">
              <a:buNone/>
            </a:pPr>
            <a:r>
              <a:rPr lang="en-US" altLang="en-US" sz="1500" b="1" dirty="0">
                <a:solidFill>
                  <a:schemeClr val="accent2"/>
                </a:solidFill>
                <a:latin typeface="Arial" pitchFamily="34" charset="0"/>
                <a:ea typeface="Arial" pitchFamily="34" charset="-122"/>
                <a:cs typeface="Arial" pitchFamily="34" charset="-120"/>
              </a:rPr>
              <a:t>Verses 14 – 16</a:t>
            </a:r>
            <a:endParaRPr lang="en-US" sz="1500" dirty="0"/>
          </a:p>
        </p:txBody>
      </p:sp>
      <p:sp>
        <p:nvSpPr>
          <p:cNvPr id="4" name="Text 2"/>
          <p:cNvSpPr txBox="1"/>
          <p:nvPr/>
        </p:nvSpPr>
        <p:spPr>
          <a:xfrm>
            <a:off x="8732520" y="548640"/>
            <a:ext cx="2651760" cy="384048"/>
          </a:xfrm>
          <a:prstGeom prst="rect">
            <a:avLst/>
          </a:prstGeom>
          <a:noFill/>
          <a:ln/>
        </p:spPr>
        <p:txBody>
          <a:bodyPr wrap="square" lIns="0" tIns="0" rIns="0" bIns="0" rtlCol="0" anchor="ctr"/>
          <a:lstStyle/>
          <a:p>
            <a:pPr algn="r" indent="0" marL="0">
              <a:buNone/>
            </a:pPr>
            <a:r>
              <a:rPr lang="en-US" altLang="en-US" sz="1300" i="1" dirty="0">
                <a:solidFill>
                  <a:schemeClr val="accent4"/>
                </a:solidFill>
                <a:latin typeface="Arial" pitchFamily="34" charset="0"/>
                <a:ea typeface="Arial" pitchFamily="34" charset="-122"/>
                <a:cs typeface="Arial" pitchFamily="34" charset="-120"/>
              </a:rPr>
              <a:t>Ibn Kathir, simplified</a:t>
            </a:r>
            <a:endParaRPr lang="en-US" sz="1300" dirty="0"/>
          </a:p>
        </p:txBody>
      </p:sp>
      <p:sp>
        <p:nvSpPr>
          <p:cNvPr id="5" name="Shape 3"/>
          <p:cNvSpPr/>
          <p:nvPr/>
        </p:nvSpPr>
        <p:spPr>
          <a:xfrm>
            <a:off x="713232" y="1575054"/>
            <a:ext cx="548640" cy="548640"/>
          </a:xfrm>
          <a:prstGeom prst="star8">
            <a:avLst/>
          </a:prstGeom>
          <a:solidFill>
            <a:schemeClr val="accent2"/>
          </a:solidFill>
          <a:ln/>
        </p:spPr>
      </p:sp>
      <p:sp>
        <p:nvSpPr>
          <p:cNvPr id="6" name="Shape 4"/>
          <p:cNvSpPr/>
          <p:nvPr/>
        </p:nvSpPr>
        <p:spPr>
          <a:xfrm>
            <a:off x="822960" y="1684782"/>
            <a:ext cx="329184" cy="329184"/>
          </a:xfrm>
          <a:prstGeom prst="ellipse">
            <a:avLst/>
          </a:prstGeom>
          <a:solidFill>
            <a:schemeClr val="bg2"/>
          </a:solidFill>
          <a:ln w="19050">
            <a:solidFill>
              <a:schemeClr val="tx2"/>
            </a:solidFill>
            <a:prstDash val="solid"/>
          </a:ln>
        </p:spPr>
      </p:sp>
      <p:sp>
        <p:nvSpPr>
          <p:cNvPr id="7" name="Text 5"/>
          <p:cNvSpPr txBox="1"/>
          <p:nvPr/>
        </p:nvSpPr>
        <p:spPr>
          <a:xfrm>
            <a:off x="713232" y="1575054"/>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14</a:t>
            </a:r>
            <a:endParaRPr lang="en-US" sz="1600" dirty="0"/>
          </a:p>
        </p:txBody>
      </p:sp>
      <p:sp>
        <p:nvSpPr>
          <p:cNvPr id="8" name="Text 6"/>
          <p:cNvSpPr txBox="1"/>
          <p:nvPr/>
        </p:nvSpPr>
        <p:spPr>
          <a:xfrm>
            <a:off x="1444752" y="1556766"/>
            <a:ext cx="10012680" cy="992124"/>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وَيَوْمَ تَقُومُ السَّاعَةُ يَوْمَئِذٍ يَتَفَرَّقُونَ</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On the Day the Hour comes, people will split into two groups.</a:t>
            </a:r>
            <a:endParaRPr lang="en-US" sz="3000" dirty="0"/>
          </a:p>
        </p:txBody>
      </p:sp>
      <p:sp>
        <p:nvSpPr>
          <p:cNvPr id="9" name="Shape 7"/>
          <p:cNvSpPr/>
          <p:nvPr/>
        </p:nvSpPr>
        <p:spPr>
          <a:xfrm>
            <a:off x="1444752" y="2736342"/>
            <a:ext cx="8641080" cy="0"/>
          </a:xfrm>
          <a:prstGeom prst="line">
            <a:avLst/>
          </a:prstGeom>
          <a:noFill/>
          <a:ln w="9525">
            <a:solidFill>
              <a:schemeClr val="accent2"/>
            </a:solidFill>
            <a:prstDash val="dash"/>
          </a:ln>
        </p:spPr>
      </p:sp>
      <p:sp>
        <p:nvSpPr>
          <p:cNvPr id="10" name="Shape 8"/>
          <p:cNvSpPr/>
          <p:nvPr/>
        </p:nvSpPr>
        <p:spPr>
          <a:xfrm>
            <a:off x="713232" y="2969514"/>
            <a:ext cx="548640" cy="548640"/>
          </a:xfrm>
          <a:prstGeom prst="star8">
            <a:avLst/>
          </a:prstGeom>
          <a:solidFill>
            <a:schemeClr val="accent2"/>
          </a:solidFill>
          <a:ln/>
        </p:spPr>
      </p:sp>
      <p:sp>
        <p:nvSpPr>
          <p:cNvPr id="11" name="Shape 9"/>
          <p:cNvSpPr/>
          <p:nvPr/>
        </p:nvSpPr>
        <p:spPr>
          <a:xfrm>
            <a:off x="822960" y="3079242"/>
            <a:ext cx="329184" cy="329184"/>
          </a:xfrm>
          <a:prstGeom prst="ellipse">
            <a:avLst/>
          </a:prstGeom>
          <a:solidFill>
            <a:schemeClr val="bg2"/>
          </a:solidFill>
          <a:ln w="19050">
            <a:solidFill>
              <a:schemeClr val="tx2"/>
            </a:solidFill>
            <a:prstDash val="solid"/>
          </a:ln>
        </p:spPr>
      </p:sp>
      <p:sp>
        <p:nvSpPr>
          <p:cNvPr id="12" name="Text 10"/>
          <p:cNvSpPr txBox="1"/>
          <p:nvPr/>
        </p:nvSpPr>
        <p:spPr>
          <a:xfrm>
            <a:off x="713232" y="2969514"/>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15</a:t>
            </a:r>
            <a:endParaRPr lang="en-US" sz="1600" dirty="0"/>
          </a:p>
        </p:txBody>
      </p:sp>
      <p:sp>
        <p:nvSpPr>
          <p:cNvPr id="13" name="Text 11"/>
          <p:cNvSpPr txBox="1"/>
          <p:nvPr/>
        </p:nvSpPr>
        <p:spPr>
          <a:xfrm>
            <a:off x="1444752" y="2951226"/>
            <a:ext cx="10012680" cy="1252728"/>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فَأَمَّا الَّذِينَ ءَامَنُواْ وَعَمِلُواْ الصَّـٰلِحَٰتِ فَهُمْ فِي رَوْضَةٍ يُحْبَرُونَ</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As for the righteous believers, they will be made happy and enjoy blessings in the gardens of Paradise.</a:t>
            </a:r>
            <a:endParaRPr lang="en-US" sz="3000" dirty="0"/>
          </a:p>
        </p:txBody>
      </p:sp>
      <p:sp>
        <p:nvSpPr>
          <p:cNvPr id="14" name="Shape 12"/>
          <p:cNvSpPr/>
          <p:nvPr/>
        </p:nvSpPr>
        <p:spPr>
          <a:xfrm>
            <a:off x="1444752" y="4391406"/>
            <a:ext cx="8641080" cy="0"/>
          </a:xfrm>
          <a:prstGeom prst="line">
            <a:avLst/>
          </a:prstGeom>
          <a:noFill/>
          <a:ln w="9525">
            <a:solidFill>
              <a:schemeClr val="accent2"/>
            </a:solidFill>
            <a:prstDash val="dash"/>
          </a:ln>
        </p:spPr>
      </p:sp>
      <p:sp>
        <p:nvSpPr>
          <p:cNvPr id="15" name="Shape 13"/>
          <p:cNvSpPr/>
          <p:nvPr/>
        </p:nvSpPr>
        <p:spPr>
          <a:xfrm>
            <a:off x="713232" y="4624578"/>
            <a:ext cx="548640" cy="548640"/>
          </a:xfrm>
          <a:prstGeom prst="star8">
            <a:avLst/>
          </a:prstGeom>
          <a:solidFill>
            <a:schemeClr val="accent2"/>
          </a:solidFill>
          <a:ln/>
        </p:spPr>
      </p:sp>
      <p:sp>
        <p:nvSpPr>
          <p:cNvPr id="16" name="Shape 14"/>
          <p:cNvSpPr/>
          <p:nvPr/>
        </p:nvSpPr>
        <p:spPr>
          <a:xfrm>
            <a:off x="822960" y="4734306"/>
            <a:ext cx="329184" cy="329184"/>
          </a:xfrm>
          <a:prstGeom prst="ellipse">
            <a:avLst/>
          </a:prstGeom>
          <a:solidFill>
            <a:schemeClr val="bg2"/>
          </a:solidFill>
          <a:ln w="19050">
            <a:solidFill>
              <a:schemeClr val="tx2"/>
            </a:solidFill>
            <a:prstDash val="solid"/>
          </a:ln>
        </p:spPr>
      </p:sp>
      <p:sp>
        <p:nvSpPr>
          <p:cNvPr id="17" name="Text 15"/>
          <p:cNvSpPr txBox="1"/>
          <p:nvPr/>
        </p:nvSpPr>
        <p:spPr>
          <a:xfrm>
            <a:off x="713232" y="4624578"/>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16</a:t>
            </a:r>
            <a:endParaRPr lang="en-US" sz="1600" dirty="0"/>
          </a:p>
        </p:txBody>
      </p:sp>
      <p:sp>
        <p:nvSpPr>
          <p:cNvPr id="18" name="Text 16"/>
          <p:cNvSpPr txBox="1"/>
          <p:nvPr/>
        </p:nvSpPr>
        <p:spPr>
          <a:xfrm>
            <a:off x="1444752" y="4606290"/>
            <a:ext cx="10012680" cy="1252728"/>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وَأَمَّا الَّذِينَ كَفَرُواْ وَكَذَّبُواْ بِـَٔايَٰتِنَا وَلِقَآيِٕ الْأخِرَةِ فَأُوْلَـٰئِكَ فِي الْعَذَابِ مُحْضَرُونَ</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As for the disbelievers who denied Our verses and the meeting of the Hereafter, they will be brought into the punishment.</a:t>
            </a:r>
            <a:endParaRPr lang="en-US" sz="3000" dirty="0"/>
          </a:p>
        </p:txBody>
      </p:sp>
      <p:sp>
        <p:nvSpPr>
          <p:cNvPr id="25" name="Slide Number Placeholder 0"/>
          <p:cNvSpPr>
            <a:spLocks noGrp="1"/>
          </p:cNvSpPr>
          <p:nvPr>
            <p:ph type="sldNum" sz="quarter" idx="4294967295"/>
          </p:nvPr>
        </p:nvSpPr>
        <p:spPr>
          <a:xfrm>
            <a:off x="1115568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56</a:t>
            </a:fld>
            <a:endParaRPr lang="en-US"/>
          </a:p>
        </p:txBody>
      </p:sp>
    </p:spTree>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name="Slide 57">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algn="ctr" indent="0" marL="0">
              <a:buNone/>
            </a:pPr>
            <a:r>
              <a:rPr lang="en-US" sz="2400" b="1" dirty="0">
                <a:solidFill>
                  <a:schemeClr val="bg1"/>
                </a:solidFill>
                <a:latin typeface="Georgia" pitchFamily="34" charset="0"/>
                <a:ea typeface="Georgia" pitchFamily="34" charset="-122"/>
                <a:cs typeface="Georgia" pitchFamily="34" charset="-120"/>
              </a:rPr>
              <a:t>Surah Ar-Rum</a:t>
            </a:r>
            <a:endParaRPr lang="en-US" sz="2400" dirty="0"/>
          </a:p>
        </p:txBody>
      </p:sp>
      <p:sp>
        <p:nvSpPr>
          <p:cNvPr id="3" name="Text 1"/>
          <p:cNvSpPr txBox="1"/>
          <p:nvPr/>
        </p:nvSpPr>
        <p:spPr>
          <a:xfrm>
            <a:off x="777240" y="548640"/>
            <a:ext cx="2651760" cy="384048"/>
          </a:xfrm>
          <a:prstGeom prst="rect">
            <a:avLst/>
          </a:prstGeom>
          <a:noFill/>
          <a:ln/>
        </p:spPr>
        <p:txBody>
          <a:bodyPr wrap="square" lIns="0" tIns="0" rIns="0" bIns="0" rtlCol="0" anchor="ctr"/>
          <a:lstStyle/>
          <a:p>
            <a:pPr algn="l" indent="0" marL="0">
              <a:buNone/>
            </a:pPr>
            <a:r>
              <a:rPr lang="en-US" altLang="en-US" sz="1500" b="1" dirty="0">
                <a:solidFill>
                  <a:schemeClr val="accent2"/>
                </a:solidFill>
                <a:latin typeface="Arial" pitchFamily="34" charset="0"/>
                <a:ea typeface="Arial" pitchFamily="34" charset="-122"/>
                <a:cs typeface="Arial" pitchFamily="34" charset="-120"/>
              </a:rPr>
              <a:t>Verses 17 – 19</a:t>
            </a:r>
            <a:endParaRPr lang="en-US" sz="1500" dirty="0"/>
          </a:p>
        </p:txBody>
      </p:sp>
      <p:sp>
        <p:nvSpPr>
          <p:cNvPr id="4" name="Text 2"/>
          <p:cNvSpPr txBox="1"/>
          <p:nvPr/>
        </p:nvSpPr>
        <p:spPr>
          <a:xfrm>
            <a:off x="8732520" y="548640"/>
            <a:ext cx="2651760" cy="384048"/>
          </a:xfrm>
          <a:prstGeom prst="rect">
            <a:avLst/>
          </a:prstGeom>
          <a:noFill/>
          <a:ln/>
        </p:spPr>
        <p:txBody>
          <a:bodyPr wrap="square" lIns="0" tIns="0" rIns="0" bIns="0" rtlCol="0" anchor="ctr"/>
          <a:lstStyle/>
          <a:p>
            <a:pPr algn="r" indent="0" marL="0">
              <a:buNone/>
            </a:pPr>
            <a:r>
              <a:rPr lang="en-US" altLang="en-US" sz="1300" i="1" dirty="0">
                <a:solidFill>
                  <a:schemeClr val="accent4"/>
                </a:solidFill>
                <a:latin typeface="Arial" pitchFamily="34" charset="0"/>
                <a:ea typeface="Arial" pitchFamily="34" charset="-122"/>
                <a:cs typeface="Arial" pitchFamily="34" charset="-120"/>
              </a:rPr>
              <a:t>Ibn Kathir, simplified</a:t>
            </a:r>
            <a:endParaRPr lang="en-US" sz="1300" dirty="0"/>
          </a:p>
        </p:txBody>
      </p:sp>
      <p:sp>
        <p:nvSpPr>
          <p:cNvPr id="5" name="Shape 3"/>
          <p:cNvSpPr/>
          <p:nvPr/>
        </p:nvSpPr>
        <p:spPr>
          <a:xfrm>
            <a:off x="713232" y="1405890"/>
            <a:ext cx="548640" cy="548640"/>
          </a:xfrm>
          <a:prstGeom prst="star8">
            <a:avLst/>
          </a:prstGeom>
          <a:solidFill>
            <a:schemeClr val="accent2"/>
          </a:solidFill>
          <a:ln/>
        </p:spPr>
      </p:sp>
      <p:sp>
        <p:nvSpPr>
          <p:cNvPr id="6" name="Shape 4"/>
          <p:cNvSpPr/>
          <p:nvPr/>
        </p:nvSpPr>
        <p:spPr>
          <a:xfrm>
            <a:off x="822960" y="1515618"/>
            <a:ext cx="329184" cy="329184"/>
          </a:xfrm>
          <a:prstGeom prst="ellipse">
            <a:avLst/>
          </a:prstGeom>
          <a:solidFill>
            <a:schemeClr val="bg2"/>
          </a:solidFill>
          <a:ln w="19050">
            <a:solidFill>
              <a:schemeClr val="tx2"/>
            </a:solidFill>
            <a:prstDash val="solid"/>
          </a:ln>
        </p:spPr>
      </p:sp>
      <p:sp>
        <p:nvSpPr>
          <p:cNvPr id="7" name="Text 5"/>
          <p:cNvSpPr txBox="1"/>
          <p:nvPr/>
        </p:nvSpPr>
        <p:spPr>
          <a:xfrm>
            <a:off x="713232" y="1405890"/>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17</a:t>
            </a:r>
            <a:endParaRPr lang="en-US" sz="1600" dirty="0"/>
          </a:p>
        </p:txBody>
      </p:sp>
      <p:sp>
        <p:nvSpPr>
          <p:cNvPr id="8" name="Text 6"/>
          <p:cNvSpPr txBox="1"/>
          <p:nvPr/>
        </p:nvSpPr>
        <p:spPr>
          <a:xfrm>
            <a:off x="1444752" y="1387602"/>
            <a:ext cx="10012680" cy="992124"/>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فَسُبْحَٰنَ اللَّهِ حِينَ تُمْسُونَ وَحِينَ تُصْبِحُونَ</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So glorify Allah when you enter the evening and when you enter the morning.</a:t>
            </a:r>
            <a:endParaRPr lang="en-US" sz="3000" dirty="0"/>
          </a:p>
        </p:txBody>
      </p:sp>
      <p:sp>
        <p:nvSpPr>
          <p:cNvPr id="9" name="Shape 7"/>
          <p:cNvSpPr/>
          <p:nvPr/>
        </p:nvSpPr>
        <p:spPr>
          <a:xfrm>
            <a:off x="1444752" y="2514600"/>
            <a:ext cx="8641080" cy="0"/>
          </a:xfrm>
          <a:prstGeom prst="line">
            <a:avLst/>
          </a:prstGeom>
          <a:noFill/>
          <a:ln w="9525">
            <a:solidFill>
              <a:schemeClr val="accent2"/>
            </a:solidFill>
            <a:prstDash val="dash"/>
          </a:ln>
        </p:spPr>
      </p:sp>
      <p:sp>
        <p:nvSpPr>
          <p:cNvPr id="10" name="Shape 8"/>
          <p:cNvSpPr/>
          <p:nvPr/>
        </p:nvSpPr>
        <p:spPr>
          <a:xfrm>
            <a:off x="713232" y="2695194"/>
            <a:ext cx="548640" cy="548640"/>
          </a:xfrm>
          <a:prstGeom prst="star8">
            <a:avLst/>
          </a:prstGeom>
          <a:solidFill>
            <a:schemeClr val="accent2"/>
          </a:solidFill>
          <a:ln/>
        </p:spPr>
      </p:sp>
      <p:sp>
        <p:nvSpPr>
          <p:cNvPr id="11" name="Shape 9"/>
          <p:cNvSpPr/>
          <p:nvPr/>
        </p:nvSpPr>
        <p:spPr>
          <a:xfrm>
            <a:off x="822960" y="2804922"/>
            <a:ext cx="329184" cy="329184"/>
          </a:xfrm>
          <a:prstGeom prst="ellipse">
            <a:avLst/>
          </a:prstGeom>
          <a:solidFill>
            <a:schemeClr val="bg2"/>
          </a:solidFill>
          <a:ln w="19050">
            <a:solidFill>
              <a:schemeClr val="tx2"/>
            </a:solidFill>
            <a:prstDash val="solid"/>
          </a:ln>
        </p:spPr>
      </p:sp>
      <p:sp>
        <p:nvSpPr>
          <p:cNvPr id="12" name="Text 10"/>
          <p:cNvSpPr txBox="1"/>
          <p:nvPr/>
        </p:nvSpPr>
        <p:spPr>
          <a:xfrm>
            <a:off x="713232" y="2695194"/>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18</a:t>
            </a:r>
            <a:endParaRPr lang="en-US" sz="1600" dirty="0"/>
          </a:p>
        </p:txBody>
      </p:sp>
      <p:sp>
        <p:nvSpPr>
          <p:cNvPr id="13" name="Text 11"/>
          <p:cNvSpPr txBox="1"/>
          <p:nvPr/>
        </p:nvSpPr>
        <p:spPr>
          <a:xfrm>
            <a:off x="1444752" y="2676906"/>
            <a:ext cx="10012680" cy="1252728"/>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وَلَهُ الْحَمْدُ فِي السَّمَٰوَٰتِ وَالْأَرْضِ وَعَشِيًّا وَحِينَ تُظْهِرُونَ</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To Him belongs all praise in the heavens and the earth. Glorify Him in the late afternoon and when you enter the midday.</a:t>
            </a:r>
            <a:endParaRPr lang="en-US" sz="3000" dirty="0"/>
          </a:p>
        </p:txBody>
      </p:sp>
      <p:sp>
        <p:nvSpPr>
          <p:cNvPr id="14" name="Shape 12"/>
          <p:cNvSpPr/>
          <p:nvPr/>
        </p:nvSpPr>
        <p:spPr>
          <a:xfrm>
            <a:off x="1444752" y="4064508"/>
            <a:ext cx="8641080" cy="0"/>
          </a:xfrm>
          <a:prstGeom prst="line">
            <a:avLst/>
          </a:prstGeom>
          <a:noFill/>
          <a:ln w="9525">
            <a:solidFill>
              <a:schemeClr val="accent2"/>
            </a:solidFill>
            <a:prstDash val="dash"/>
          </a:ln>
        </p:spPr>
      </p:sp>
      <p:sp>
        <p:nvSpPr>
          <p:cNvPr id="15" name="Shape 13"/>
          <p:cNvSpPr/>
          <p:nvPr/>
        </p:nvSpPr>
        <p:spPr>
          <a:xfrm>
            <a:off x="713232" y="4245102"/>
            <a:ext cx="548640" cy="548640"/>
          </a:xfrm>
          <a:prstGeom prst="star8">
            <a:avLst/>
          </a:prstGeom>
          <a:solidFill>
            <a:schemeClr val="accent2"/>
          </a:solidFill>
          <a:ln/>
        </p:spPr>
      </p:sp>
      <p:sp>
        <p:nvSpPr>
          <p:cNvPr id="16" name="Shape 14"/>
          <p:cNvSpPr/>
          <p:nvPr/>
        </p:nvSpPr>
        <p:spPr>
          <a:xfrm>
            <a:off x="822960" y="4354830"/>
            <a:ext cx="329184" cy="329184"/>
          </a:xfrm>
          <a:prstGeom prst="ellipse">
            <a:avLst/>
          </a:prstGeom>
          <a:solidFill>
            <a:schemeClr val="bg2"/>
          </a:solidFill>
          <a:ln w="19050">
            <a:solidFill>
              <a:schemeClr val="tx2"/>
            </a:solidFill>
            <a:prstDash val="solid"/>
          </a:ln>
        </p:spPr>
      </p:sp>
      <p:sp>
        <p:nvSpPr>
          <p:cNvPr id="17" name="Text 15"/>
          <p:cNvSpPr txBox="1"/>
          <p:nvPr/>
        </p:nvSpPr>
        <p:spPr>
          <a:xfrm>
            <a:off x="713232" y="4245102"/>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19</a:t>
            </a:r>
            <a:endParaRPr lang="en-US" sz="1600" dirty="0"/>
          </a:p>
        </p:txBody>
      </p:sp>
      <p:sp>
        <p:nvSpPr>
          <p:cNvPr id="18" name="Text 16"/>
          <p:cNvSpPr txBox="1"/>
          <p:nvPr/>
        </p:nvSpPr>
        <p:spPr>
          <a:xfrm>
            <a:off x="1444752" y="4226814"/>
            <a:ext cx="10012680" cy="1801368"/>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يُخْرِجُ الْحَيَّ مِنَ الْمَيِّتِ وَيُخْرِجُ الْمَيِّتَ مِنَ الْحَيِّ وَيُحْيِ الْأَرْضَ بَعْدَ مَوْتِهَا وَكَذَٰلِكَ تُخْرَجُونَ</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He brings the living out of the dead, like a plant from a seed, and the dead out of the living, and gives life to the earth after its death. In the same way you will be brought out of your graves.</a:t>
            </a:r>
            <a:endParaRPr lang="en-US" sz="3000" dirty="0"/>
          </a:p>
        </p:txBody>
      </p:sp>
      <p:sp>
        <p:nvSpPr>
          <p:cNvPr id="25" name="Slide Number Placeholder 0"/>
          <p:cNvSpPr>
            <a:spLocks noGrp="1"/>
          </p:cNvSpPr>
          <p:nvPr>
            <p:ph type="sldNum" sz="quarter" idx="4294967295"/>
          </p:nvPr>
        </p:nvSpPr>
        <p:spPr>
          <a:xfrm>
            <a:off x="1115568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57</a:t>
            </a:fld>
            <a:endParaRPr lang="en-US"/>
          </a:p>
        </p:txBody>
      </p:sp>
    </p:spTree>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name="Slide 58">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algn="ctr" indent="0" marL="0">
              <a:buNone/>
            </a:pPr>
            <a:r>
              <a:rPr lang="en-US" sz="2400" b="1" dirty="0">
                <a:solidFill>
                  <a:schemeClr val="bg1"/>
                </a:solidFill>
                <a:latin typeface="Georgia" pitchFamily="34" charset="0"/>
                <a:ea typeface="Georgia" pitchFamily="34" charset="-122"/>
                <a:cs typeface="Georgia" pitchFamily="34" charset="-120"/>
              </a:rPr>
              <a:t>Surah Ar-Rum</a:t>
            </a:r>
            <a:endParaRPr lang="en-US" sz="2400" dirty="0"/>
          </a:p>
        </p:txBody>
      </p:sp>
      <p:sp>
        <p:nvSpPr>
          <p:cNvPr id="3" name="Text 1"/>
          <p:cNvSpPr txBox="1"/>
          <p:nvPr/>
        </p:nvSpPr>
        <p:spPr>
          <a:xfrm>
            <a:off x="777240" y="548640"/>
            <a:ext cx="2651760" cy="384048"/>
          </a:xfrm>
          <a:prstGeom prst="rect">
            <a:avLst/>
          </a:prstGeom>
          <a:noFill/>
          <a:ln/>
        </p:spPr>
        <p:txBody>
          <a:bodyPr wrap="square" lIns="0" tIns="0" rIns="0" bIns="0" rtlCol="0" anchor="ctr"/>
          <a:lstStyle/>
          <a:p>
            <a:pPr algn="l" indent="0" marL="0">
              <a:buNone/>
            </a:pPr>
            <a:r>
              <a:rPr lang="en-US" altLang="en-US" sz="1500" b="1" dirty="0">
                <a:solidFill>
                  <a:schemeClr val="accent2"/>
                </a:solidFill>
                <a:latin typeface="Arial" pitchFamily="34" charset="0"/>
                <a:ea typeface="Arial" pitchFamily="34" charset="-122"/>
                <a:cs typeface="Arial" pitchFamily="34" charset="-120"/>
              </a:rPr>
              <a:t>Verses 20 – 21</a:t>
            </a:r>
            <a:endParaRPr lang="en-US" sz="1500" dirty="0"/>
          </a:p>
        </p:txBody>
      </p:sp>
      <p:sp>
        <p:nvSpPr>
          <p:cNvPr id="4" name="Text 2"/>
          <p:cNvSpPr txBox="1"/>
          <p:nvPr/>
        </p:nvSpPr>
        <p:spPr>
          <a:xfrm>
            <a:off x="8732520" y="548640"/>
            <a:ext cx="2651760" cy="384048"/>
          </a:xfrm>
          <a:prstGeom prst="rect">
            <a:avLst/>
          </a:prstGeom>
          <a:noFill/>
          <a:ln/>
        </p:spPr>
        <p:txBody>
          <a:bodyPr wrap="square" lIns="0" tIns="0" rIns="0" bIns="0" rtlCol="0" anchor="ctr"/>
          <a:lstStyle/>
          <a:p>
            <a:pPr algn="r" indent="0" marL="0">
              <a:buNone/>
            </a:pPr>
            <a:r>
              <a:rPr lang="en-US" altLang="en-US" sz="1300" i="1" dirty="0">
                <a:solidFill>
                  <a:schemeClr val="accent4"/>
                </a:solidFill>
                <a:latin typeface="Arial" pitchFamily="34" charset="0"/>
                <a:ea typeface="Arial" pitchFamily="34" charset="-122"/>
                <a:cs typeface="Arial" pitchFamily="34" charset="-120"/>
              </a:rPr>
              <a:t>Ibn Kathir, simplified</a:t>
            </a:r>
            <a:endParaRPr lang="en-US" sz="1300" dirty="0"/>
          </a:p>
        </p:txBody>
      </p:sp>
      <p:sp>
        <p:nvSpPr>
          <p:cNvPr id="5" name="Shape 3"/>
          <p:cNvSpPr/>
          <p:nvPr/>
        </p:nvSpPr>
        <p:spPr>
          <a:xfrm>
            <a:off x="713232" y="1997964"/>
            <a:ext cx="548640" cy="548640"/>
          </a:xfrm>
          <a:prstGeom prst="star8">
            <a:avLst/>
          </a:prstGeom>
          <a:solidFill>
            <a:schemeClr val="accent2"/>
          </a:solidFill>
          <a:ln/>
        </p:spPr>
      </p:sp>
      <p:sp>
        <p:nvSpPr>
          <p:cNvPr id="6" name="Shape 4"/>
          <p:cNvSpPr/>
          <p:nvPr/>
        </p:nvSpPr>
        <p:spPr>
          <a:xfrm>
            <a:off x="822960" y="2107692"/>
            <a:ext cx="329184" cy="329184"/>
          </a:xfrm>
          <a:prstGeom prst="ellipse">
            <a:avLst/>
          </a:prstGeom>
          <a:solidFill>
            <a:schemeClr val="bg2"/>
          </a:solidFill>
          <a:ln w="19050">
            <a:solidFill>
              <a:schemeClr val="tx2"/>
            </a:solidFill>
            <a:prstDash val="solid"/>
          </a:ln>
        </p:spPr>
      </p:sp>
      <p:sp>
        <p:nvSpPr>
          <p:cNvPr id="7" name="Text 5"/>
          <p:cNvSpPr txBox="1"/>
          <p:nvPr/>
        </p:nvSpPr>
        <p:spPr>
          <a:xfrm>
            <a:off x="713232" y="1997964"/>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20</a:t>
            </a:r>
            <a:endParaRPr lang="en-US" sz="1600" dirty="0"/>
          </a:p>
        </p:txBody>
      </p:sp>
      <p:sp>
        <p:nvSpPr>
          <p:cNvPr id="8" name="Text 6"/>
          <p:cNvSpPr txBox="1"/>
          <p:nvPr/>
        </p:nvSpPr>
        <p:spPr>
          <a:xfrm>
            <a:off x="1444752" y="1979676"/>
            <a:ext cx="10012680" cy="1252728"/>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وَمِنْ ءَايَٰتِهِ أَنْ خَلَقَكُم مِّن تُرَابٍ ثُمَّ إِذَآ أَنتُم بَشَرٌ تَنتَشِرُونَ</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Among His signs is that He created you from dust, and then you became humans spreading across the earth.</a:t>
            </a:r>
            <a:endParaRPr lang="en-US" sz="3000" dirty="0"/>
          </a:p>
        </p:txBody>
      </p:sp>
      <p:sp>
        <p:nvSpPr>
          <p:cNvPr id="9" name="Shape 7"/>
          <p:cNvSpPr/>
          <p:nvPr/>
        </p:nvSpPr>
        <p:spPr>
          <a:xfrm>
            <a:off x="1444752" y="3419856"/>
            <a:ext cx="8641080" cy="0"/>
          </a:xfrm>
          <a:prstGeom prst="line">
            <a:avLst/>
          </a:prstGeom>
          <a:noFill/>
          <a:ln w="9525">
            <a:solidFill>
              <a:schemeClr val="accent2"/>
            </a:solidFill>
            <a:prstDash val="dash"/>
          </a:ln>
        </p:spPr>
      </p:sp>
      <p:sp>
        <p:nvSpPr>
          <p:cNvPr id="10" name="Shape 8"/>
          <p:cNvSpPr/>
          <p:nvPr/>
        </p:nvSpPr>
        <p:spPr>
          <a:xfrm>
            <a:off x="713232" y="3653028"/>
            <a:ext cx="548640" cy="548640"/>
          </a:xfrm>
          <a:prstGeom prst="star8">
            <a:avLst/>
          </a:prstGeom>
          <a:solidFill>
            <a:schemeClr val="accent2"/>
          </a:solidFill>
          <a:ln/>
        </p:spPr>
      </p:sp>
      <p:sp>
        <p:nvSpPr>
          <p:cNvPr id="11" name="Shape 9"/>
          <p:cNvSpPr/>
          <p:nvPr/>
        </p:nvSpPr>
        <p:spPr>
          <a:xfrm>
            <a:off x="822960" y="3762756"/>
            <a:ext cx="329184" cy="329184"/>
          </a:xfrm>
          <a:prstGeom prst="ellipse">
            <a:avLst/>
          </a:prstGeom>
          <a:solidFill>
            <a:schemeClr val="bg2"/>
          </a:solidFill>
          <a:ln w="19050">
            <a:solidFill>
              <a:schemeClr val="tx2"/>
            </a:solidFill>
            <a:prstDash val="solid"/>
          </a:ln>
        </p:spPr>
      </p:sp>
      <p:sp>
        <p:nvSpPr>
          <p:cNvPr id="12" name="Text 10"/>
          <p:cNvSpPr txBox="1"/>
          <p:nvPr/>
        </p:nvSpPr>
        <p:spPr>
          <a:xfrm>
            <a:off x="713232" y="3653028"/>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21</a:t>
            </a:r>
            <a:endParaRPr lang="en-US" sz="1600" dirty="0"/>
          </a:p>
        </p:txBody>
      </p:sp>
      <p:sp>
        <p:nvSpPr>
          <p:cNvPr id="13" name="Text 11"/>
          <p:cNvSpPr txBox="1"/>
          <p:nvPr/>
        </p:nvSpPr>
        <p:spPr>
          <a:xfrm>
            <a:off x="1444752" y="3634740"/>
            <a:ext cx="10012680" cy="1801368"/>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وَمِنْ ءَايَٰتِهِ أَنْ خَلَقَ لَكُم مِّنْ أَنفُسِكُمْ أَزْوَٰجًا لِّتَسْكُنُواْ إِلَيْهَا وَجَعَلَ بَيْنَكُم مَّوَدَّةً وَرَحْمَةً إِنَّ فِي ذَٰلِكَ لَأيَٰتٍ لِّقَوْمٍ يَتَفَكَّرُونَ</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Among His signs is that He created for you spouses from among yourselves so that you may find peace with them, and He placed love and mercy between you. In that are signs for people who think.</a:t>
            </a:r>
            <a:endParaRPr lang="en-US" sz="3000" dirty="0"/>
          </a:p>
        </p:txBody>
      </p:sp>
      <p:sp>
        <p:nvSpPr>
          <p:cNvPr id="25" name="Slide Number Placeholder 0"/>
          <p:cNvSpPr>
            <a:spLocks noGrp="1"/>
          </p:cNvSpPr>
          <p:nvPr>
            <p:ph type="sldNum" sz="quarter" idx="4294967295"/>
          </p:nvPr>
        </p:nvSpPr>
        <p:spPr>
          <a:xfrm>
            <a:off x="1115568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58</a:t>
            </a:fld>
            <a:endParaRPr lang="en-US"/>
          </a:p>
        </p:txBody>
      </p:sp>
    </p:spTree>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name="Slide 59">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algn="ctr" indent="0" marL="0">
              <a:buNone/>
            </a:pPr>
            <a:r>
              <a:rPr lang="en-US" sz="2400" b="1" dirty="0">
                <a:solidFill>
                  <a:schemeClr val="bg1"/>
                </a:solidFill>
                <a:latin typeface="Georgia" pitchFamily="34" charset="0"/>
                <a:ea typeface="Georgia" pitchFamily="34" charset="-122"/>
                <a:cs typeface="Georgia" pitchFamily="34" charset="-120"/>
              </a:rPr>
              <a:t>Surah Ar-Rum</a:t>
            </a:r>
            <a:endParaRPr lang="en-US" sz="2400" dirty="0"/>
          </a:p>
        </p:txBody>
      </p:sp>
      <p:sp>
        <p:nvSpPr>
          <p:cNvPr id="3" name="Text 1"/>
          <p:cNvSpPr txBox="1"/>
          <p:nvPr/>
        </p:nvSpPr>
        <p:spPr>
          <a:xfrm>
            <a:off x="777240" y="548640"/>
            <a:ext cx="2651760" cy="384048"/>
          </a:xfrm>
          <a:prstGeom prst="rect">
            <a:avLst/>
          </a:prstGeom>
          <a:noFill/>
          <a:ln/>
        </p:spPr>
        <p:txBody>
          <a:bodyPr wrap="square" lIns="0" tIns="0" rIns="0" bIns="0" rtlCol="0" anchor="ctr"/>
          <a:lstStyle/>
          <a:p>
            <a:pPr algn="l" indent="0" marL="0">
              <a:buNone/>
            </a:pPr>
            <a:r>
              <a:rPr lang="en-US" altLang="en-US" sz="1500" b="1" dirty="0">
                <a:solidFill>
                  <a:schemeClr val="accent2"/>
                </a:solidFill>
                <a:latin typeface="Arial" pitchFamily="34" charset="0"/>
                <a:ea typeface="Arial" pitchFamily="34" charset="-122"/>
                <a:cs typeface="Arial" pitchFamily="34" charset="-120"/>
              </a:rPr>
              <a:t>Verses 22 – 23</a:t>
            </a:r>
            <a:endParaRPr lang="en-US" sz="1500" dirty="0"/>
          </a:p>
        </p:txBody>
      </p:sp>
      <p:sp>
        <p:nvSpPr>
          <p:cNvPr id="4" name="Text 2"/>
          <p:cNvSpPr txBox="1"/>
          <p:nvPr/>
        </p:nvSpPr>
        <p:spPr>
          <a:xfrm>
            <a:off x="8732520" y="548640"/>
            <a:ext cx="2651760" cy="384048"/>
          </a:xfrm>
          <a:prstGeom prst="rect">
            <a:avLst/>
          </a:prstGeom>
          <a:noFill/>
          <a:ln/>
        </p:spPr>
        <p:txBody>
          <a:bodyPr wrap="square" lIns="0" tIns="0" rIns="0" bIns="0" rtlCol="0" anchor="ctr"/>
          <a:lstStyle/>
          <a:p>
            <a:pPr algn="r" indent="0" marL="0">
              <a:buNone/>
            </a:pPr>
            <a:r>
              <a:rPr lang="en-US" altLang="en-US" sz="1300" i="1" dirty="0">
                <a:solidFill>
                  <a:schemeClr val="accent4"/>
                </a:solidFill>
                <a:latin typeface="Arial" pitchFamily="34" charset="0"/>
                <a:ea typeface="Arial" pitchFamily="34" charset="-122"/>
                <a:cs typeface="Arial" pitchFamily="34" charset="-120"/>
              </a:rPr>
              <a:t>Ibn Kathir, simplified</a:t>
            </a:r>
            <a:endParaRPr lang="en-US" sz="1300" dirty="0"/>
          </a:p>
        </p:txBody>
      </p:sp>
      <p:sp>
        <p:nvSpPr>
          <p:cNvPr id="5" name="Shape 3"/>
          <p:cNvSpPr/>
          <p:nvPr/>
        </p:nvSpPr>
        <p:spPr>
          <a:xfrm>
            <a:off x="713232" y="1723644"/>
            <a:ext cx="548640" cy="548640"/>
          </a:xfrm>
          <a:prstGeom prst="star8">
            <a:avLst/>
          </a:prstGeom>
          <a:solidFill>
            <a:schemeClr val="accent2"/>
          </a:solidFill>
          <a:ln/>
        </p:spPr>
      </p:sp>
      <p:sp>
        <p:nvSpPr>
          <p:cNvPr id="6" name="Shape 4"/>
          <p:cNvSpPr/>
          <p:nvPr/>
        </p:nvSpPr>
        <p:spPr>
          <a:xfrm>
            <a:off x="822960" y="1833372"/>
            <a:ext cx="329184" cy="329184"/>
          </a:xfrm>
          <a:prstGeom prst="ellipse">
            <a:avLst/>
          </a:prstGeom>
          <a:solidFill>
            <a:schemeClr val="bg2"/>
          </a:solidFill>
          <a:ln w="19050">
            <a:solidFill>
              <a:schemeClr val="tx2"/>
            </a:solidFill>
            <a:prstDash val="solid"/>
          </a:ln>
        </p:spPr>
      </p:sp>
      <p:sp>
        <p:nvSpPr>
          <p:cNvPr id="7" name="Text 5"/>
          <p:cNvSpPr txBox="1"/>
          <p:nvPr/>
        </p:nvSpPr>
        <p:spPr>
          <a:xfrm>
            <a:off x="713232" y="1723644"/>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22</a:t>
            </a:r>
            <a:endParaRPr lang="en-US" sz="1600" dirty="0"/>
          </a:p>
        </p:txBody>
      </p:sp>
      <p:sp>
        <p:nvSpPr>
          <p:cNvPr id="8" name="Text 6"/>
          <p:cNvSpPr txBox="1"/>
          <p:nvPr/>
        </p:nvSpPr>
        <p:spPr>
          <a:xfrm>
            <a:off x="1444752" y="1705356"/>
            <a:ext cx="10012680" cy="1801368"/>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وَمِنْ ءَايَٰتِهِ خَلْقُ السَّمَٰوَٰتِ وَالْأَرْضِ وَاخْتِلَٰفُ أَلْسِنَتِكُمْ وَأَلْوَٰنِكُمْ إِنَّ فِي ذَٰلِكَ لَأيَٰتٍ لِّلْعَٰلِمِينَ</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Among His signs is the creation of the heavens and the earth, and the variety of your languages and colours. In that are signs for those with knowledge.</a:t>
            </a:r>
            <a:endParaRPr lang="en-US" sz="3000" dirty="0"/>
          </a:p>
        </p:txBody>
      </p:sp>
      <p:sp>
        <p:nvSpPr>
          <p:cNvPr id="9" name="Shape 7"/>
          <p:cNvSpPr/>
          <p:nvPr/>
        </p:nvSpPr>
        <p:spPr>
          <a:xfrm>
            <a:off x="1444752" y="3694176"/>
            <a:ext cx="8641080" cy="0"/>
          </a:xfrm>
          <a:prstGeom prst="line">
            <a:avLst/>
          </a:prstGeom>
          <a:noFill/>
          <a:ln w="9525">
            <a:solidFill>
              <a:schemeClr val="accent2"/>
            </a:solidFill>
            <a:prstDash val="dash"/>
          </a:ln>
        </p:spPr>
      </p:sp>
      <p:sp>
        <p:nvSpPr>
          <p:cNvPr id="10" name="Shape 8"/>
          <p:cNvSpPr/>
          <p:nvPr/>
        </p:nvSpPr>
        <p:spPr>
          <a:xfrm>
            <a:off x="713232" y="3927348"/>
            <a:ext cx="548640" cy="548640"/>
          </a:xfrm>
          <a:prstGeom prst="star8">
            <a:avLst/>
          </a:prstGeom>
          <a:solidFill>
            <a:schemeClr val="accent2"/>
          </a:solidFill>
          <a:ln/>
        </p:spPr>
      </p:sp>
      <p:sp>
        <p:nvSpPr>
          <p:cNvPr id="11" name="Shape 9"/>
          <p:cNvSpPr/>
          <p:nvPr/>
        </p:nvSpPr>
        <p:spPr>
          <a:xfrm>
            <a:off x="822960" y="4037076"/>
            <a:ext cx="329184" cy="329184"/>
          </a:xfrm>
          <a:prstGeom prst="ellipse">
            <a:avLst/>
          </a:prstGeom>
          <a:solidFill>
            <a:schemeClr val="bg2"/>
          </a:solidFill>
          <a:ln w="19050">
            <a:solidFill>
              <a:schemeClr val="tx2"/>
            </a:solidFill>
            <a:prstDash val="solid"/>
          </a:ln>
        </p:spPr>
      </p:sp>
      <p:sp>
        <p:nvSpPr>
          <p:cNvPr id="12" name="Text 10"/>
          <p:cNvSpPr txBox="1"/>
          <p:nvPr/>
        </p:nvSpPr>
        <p:spPr>
          <a:xfrm>
            <a:off x="713232" y="3927348"/>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23</a:t>
            </a:r>
            <a:endParaRPr lang="en-US" sz="1600" dirty="0"/>
          </a:p>
        </p:txBody>
      </p:sp>
      <p:sp>
        <p:nvSpPr>
          <p:cNvPr id="13" name="Text 11"/>
          <p:cNvSpPr txBox="1"/>
          <p:nvPr/>
        </p:nvSpPr>
        <p:spPr>
          <a:xfrm>
            <a:off x="1444752" y="3909060"/>
            <a:ext cx="10012680" cy="1801368"/>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وَمِنْ ءَايَٰتِهِ مَنَامُكُم بِالَّيْلِ وَالنَّهَارِ وَابْتِغَآؤُكُم مِّن فَضْلِهِ إِنَّ فِي ذَٰلِكَ لَأيَٰتٍ لِّقَوْمٍ يَسْمَعُونَ</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Among His signs is your sleep at night and in the day, and your seeking of His provision. In that are signs for people who listen.</a:t>
            </a:r>
            <a:endParaRPr lang="en-US" sz="3000" dirty="0"/>
          </a:p>
        </p:txBody>
      </p:sp>
      <p:sp>
        <p:nvSpPr>
          <p:cNvPr id="25" name="Slide Number Placeholder 0"/>
          <p:cNvSpPr>
            <a:spLocks noGrp="1"/>
          </p:cNvSpPr>
          <p:nvPr>
            <p:ph type="sldNum" sz="quarter" idx="4294967295"/>
          </p:nvPr>
        </p:nvSpPr>
        <p:spPr>
          <a:xfrm>
            <a:off x="1115568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59</a:t>
            </a:fld>
            <a:endParaRPr lang="en-US"/>
          </a:p>
        </p:txBody>
      </p:sp>
    </p:spTree>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name="Slide 60">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algn="ctr" indent="0" marL="0">
              <a:buNone/>
            </a:pPr>
            <a:r>
              <a:rPr lang="en-US" sz="2400" b="1" dirty="0">
                <a:solidFill>
                  <a:schemeClr val="bg1"/>
                </a:solidFill>
                <a:latin typeface="Georgia" pitchFamily="34" charset="0"/>
                <a:ea typeface="Georgia" pitchFamily="34" charset="-122"/>
                <a:cs typeface="Georgia" pitchFamily="34" charset="-120"/>
              </a:rPr>
              <a:t>Surah Ar-Rum</a:t>
            </a:r>
            <a:endParaRPr lang="en-US" sz="2400" dirty="0"/>
          </a:p>
        </p:txBody>
      </p:sp>
      <p:sp>
        <p:nvSpPr>
          <p:cNvPr id="3" name="Text 1"/>
          <p:cNvSpPr txBox="1"/>
          <p:nvPr/>
        </p:nvSpPr>
        <p:spPr>
          <a:xfrm>
            <a:off x="777240" y="548640"/>
            <a:ext cx="2651760" cy="384048"/>
          </a:xfrm>
          <a:prstGeom prst="rect">
            <a:avLst/>
          </a:prstGeom>
          <a:noFill/>
          <a:ln/>
        </p:spPr>
        <p:txBody>
          <a:bodyPr wrap="square" lIns="0" tIns="0" rIns="0" bIns="0" rtlCol="0" anchor="ctr"/>
          <a:lstStyle/>
          <a:p>
            <a:pPr algn="l" indent="0" marL="0">
              <a:buNone/>
            </a:pPr>
            <a:r>
              <a:rPr lang="en-US" altLang="en-US" sz="1500" b="1" dirty="0">
                <a:solidFill>
                  <a:schemeClr val="accent2"/>
                </a:solidFill>
                <a:latin typeface="Arial" pitchFamily="34" charset="0"/>
                <a:ea typeface="Arial" pitchFamily="34" charset="-122"/>
                <a:cs typeface="Arial" pitchFamily="34" charset="-120"/>
              </a:rPr>
              <a:t>Verses 24 – 25</a:t>
            </a:r>
            <a:endParaRPr lang="en-US" sz="1500" dirty="0"/>
          </a:p>
        </p:txBody>
      </p:sp>
      <p:sp>
        <p:nvSpPr>
          <p:cNvPr id="4" name="Text 2"/>
          <p:cNvSpPr txBox="1"/>
          <p:nvPr/>
        </p:nvSpPr>
        <p:spPr>
          <a:xfrm>
            <a:off x="8732520" y="548640"/>
            <a:ext cx="2651760" cy="384048"/>
          </a:xfrm>
          <a:prstGeom prst="rect">
            <a:avLst/>
          </a:prstGeom>
          <a:noFill/>
          <a:ln/>
        </p:spPr>
        <p:txBody>
          <a:bodyPr wrap="square" lIns="0" tIns="0" rIns="0" bIns="0" rtlCol="0" anchor="ctr"/>
          <a:lstStyle/>
          <a:p>
            <a:pPr algn="r" indent="0" marL="0">
              <a:buNone/>
            </a:pPr>
            <a:r>
              <a:rPr lang="en-US" altLang="en-US" sz="1300" i="1" dirty="0">
                <a:solidFill>
                  <a:schemeClr val="accent4"/>
                </a:solidFill>
                <a:latin typeface="Arial" pitchFamily="34" charset="0"/>
                <a:ea typeface="Arial" pitchFamily="34" charset="-122"/>
                <a:cs typeface="Arial" pitchFamily="34" charset="-120"/>
              </a:rPr>
              <a:t>Ibn Kathir, simplified</a:t>
            </a:r>
            <a:endParaRPr lang="en-US" sz="1300" dirty="0"/>
          </a:p>
        </p:txBody>
      </p:sp>
      <p:sp>
        <p:nvSpPr>
          <p:cNvPr id="5" name="Shape 3"/>
          <p:cNvSpPr/>
          <p:nvPr/>
        </p:nvSpPr>
        <p:spPr>
          <a:xfrm>
            <a:off x="713232" y="1593342"/>
            <a:ext cx="548640" cy="548640"/>
          </a:xfrm>
          <a:prstGeom prst="star8">
            <a:avLst/>
          </a:prstGeom>
          <a:solidFill>
            <a:schemeClr val="accent2"/>
          </a:solidFill>
          <a:ln/>
        </p:spPr>
      </p:sp>
      <p:sp>
        <p:nvSpPr>
          <p:cNvPr id="6" name="Shape 4"/>
          <p:cNvSpPr/>
          <p:nvPr/>
        </p:nvSpPr>
        <p:spPr>
          <a:xfrm>
            <a:off x="822960" y="1703070"/>
            <a:ext cx="329184" cy="329184"/>
          </a:xfrm>
          <a:prstGeom prst="ellipse">
            <a:avLst/>
          </a:prstGeom>
          <a:solidFill>
            <a:schemeClr val="bg2"/>
          </a:solidFill>
          <a:ln w="19050">
            <a:solidFill>
              <a:schemeClr val="tx2"/>
            </a:solidFill>
            <a:prstDash val="solid"/>
          </a:ln>
        </p:spPr>
      </p:sp>
      <p:sp>
        <p:nvSpPr>
          <p:cNvPr id="7" name="Text 5"/>
          <p:cNvSpPr txBox="1"/>
          <p:nvPr/>
        </p:nvSpPr>
        <p:spPr>
          <a:xfrm>
            <a:off x="713232" y="1593342"/>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24</a:t>
            </a:r>
            <a:endParaRPr lang="en-US" sz="1600" dirty="0"/>
          </a:p>
        </p:txBody>
      </p:sp>
      <p:sp>
        <p:nvSpPr>
          <p:cNvPr id="8" name="Text 6"/>
          <p:cNvSpPr txBox="1"/>
          <p:nvPr/>
        </p:nvSpPr>
        <p:spPr>
          <a:xfrm>
            <a:off x="1444752" y="1575054"/>
            <a:ext cx="10012680" cy="2061972"/>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وَمِنْ ءَايَٰتِهِ يُرِيكُمُ الْبَرْقَ خَوْفًا وَطَمَعًا وَيُنَزِّلُ مِنَ السَّمَآءِ مَآءً فَيُحْيِ بِهِ الْأَرْضَ بَعْدَ مَوْتِهَآ إِنَّ فِي ذَٰلِكَ لَأيَٰتٍ لِّقَوْمٍ يَعْقِلُونَ</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Among His signs is that He shows you lightning, making you fear thunderbolts and hope for rain, and sends down water from the sky, bringing the earth to life after its death. In that are signs for people who use their minds.</a:t>
            </a:r>
            <a:endParaRPr lang="en-US" sz="3000" dirty="0"/>
          </a:p>
        </p:txBody>
      </p:sp>
      <p:sp>
        <p:nvSpPr>
          <p:cNvPr id="9" name="Shape 7"/>
          <p:cNvSpPr/>
          <p:nvPr/>
        </p:nvSpPr>
        <p:spPr>
          <a:xfrm>
            <a:off x="1444752" y="3824478"/>
            <a:ext cx="8641080" cy="0"/>
          </a:xfrm>
          <a:prstGeom prst="line">
            <a:avLst/>
          </a:prstGeom>
          <a:noFill/>
          <a:ln w="9525">
            <a:solidFill>
              <a:schemeClr val="accent2"/>
            </a:solidFill>
            <a:prstDash val="dash"/>
          </a:ln>
        </p:spPr>
      </p:sp>
      <p:sp>
        <p:nvSpPr>
          <p:cNvPr id="10" name="Shape 8"/>
          <p:cNvSpPr/>
          <p:nvPr/>
        </p:nvSpPr>
        <p:spPr>
          <a:xfrm>
            <a:off x="713232" y="4057650"/>
            <a:ext cx="548640" cy="548640"/>
          </a:xfrm>
          <a:prstGeom prst="star8">
            <a:avLst/>
          </a:prstGeom>
          <a:solidFill>
            <a:schemeClr val="accent2"/>
          </a:solidFill>
          <a:ln/>
        </p:spPr>
      </p:sp>
      <p:sp>
        <p:nvSpPr>
          <p:cNvPr id="11" name="Shape 9"/>
          <p:cNvSpPr/>
          <p:nvPr/>
        </p:nvSpPr>
        <p:spPr>
          <a:xfrm>
            <a:off x="822960" y="4167378"/>
            <a:ext cx="329184" cy="329184"/>
          </a:xfrm>
          <a:prstGeom prst="ellipse">
            <a:avLst/>
          </a:prstGeom>
          <a:solidFill>
            <a:schemeClr val="bg2"/>
          </a:solidFill>
          <a:ln w="19050">
            <a:solidFill>
              <a:schemeClr val="tx2"/>
            </a:solidFill>
            <a:prstDash val="solid"/>
          </a:ln>
        </p:spPr>
      </p:sp>
      <p:sp>
        <p:nvSpPr>
          <p:cNvPr id="12" name="Text 10"/>
          <p:cNvSpPr txBox="1"/>
          <p:nvPr/>
        </p:nvSpPr>
        <p:spPr>
          <a:xfrm>
            <a:off x="713232" y="4057650"/>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25</a:t>
            </a:r>
            <a:endParaRPr lang="en-US" sz="1600" dirty="0"/>
          </a:p>
        </p:txBody>
      </p:sp>
      <p:sp>
        <p:nvSpPr>
          <p:cNvPr id="13" name="Text 11"/>
          <p:cNvSpPr txBox="1"/>
          <p:nvPr/>
        </p:nvSpPr>
        <p:spPr>
          <a:xfrm>
            <a:off x="1444752" y="4039362"/>
            <a:ext cx="10012680" cy="1801368"/>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وَمِنْ ءَايَٰتِهِ أَن تَقُومَ السَّمَآءُ وَالْأَرْضُ بِأَمْرِهِ ثُمَّ إِذَا دَعَاكُمْ دَعْوَةً مِّنَ الْأَرْضِ إِذَآ أَنتُمْ تَخْرُجُونَ</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Among His signs is that the sky and the earth stand firm by His command. Then when He calls you with a single call from the earth, you will come out.</a:t>
            </a:r>
            <a:endParaRPr lang="en-US" sz="3000" dirty="0"/>
          </a:p>
        </p:txBody>
      </p:sp>
      <p:sp>
        <p:nvSpPr>
          <p:cNvPr id="25" name="Slide Number Placeholder 0"/>
          <p:cNvSpPr>
            <a:spLocks noGrp="1"/>
          </p:cNvSpPr>
          <p:nvPr>
            <p:ph type="sldNum" sz="quarter" idx="4294967295"/>
          </p:nvPr>
        </p:nvSpPr>
        <p:spPr>
          <a:xfrm>
            <a:off x="1115568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60</a:t>
            </a:fld>
            <a:endParaRPr lang="en-US"/>
          </a:p>
        </p:txBody>
      </p:sp>
    </p:spTree>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name="Slide 61">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algn="ctr" indent="0" marL="0">
              <a:buNone/>
            </a:pPr>
            <a:r>
              <a:rPr lang="en-US" sz="2400" b="1" dirty="0">
                <a:solidFill>
                  <a:schemeClr val="bg1"/>
                </a:solidFill>
                <a:latin typeface="Georgia" pitchFamily="34" charset="0"/>
                <a:ea typeface="Georgia" pitchFamily="34" charset="-122"/>
                <a:cs typeface="Georgia" pitchFamily="34" charset="-120"/>
              </a:rPr>
              <a:t>Surah Ar-Rum</a:t>
            </a:r>
            <a:endParaRPr lang="en-US" sz="2400" dirty="0"/>
          </a:p>
        </p:txBody>
      </p:sp>
      <p:sp>
        <p:nvSpPr>
          <p:cNvPr id="3" name="Text 1"/>
          <p:cNvSpPr txBox="1"/>
          <p:nvPr/>
        </p:nvSpPr>
        <p:spPr>
          <a:xfrm>
            <a:off x="777240" y="548640"/>
            <a:ext cx="2651760" cy="384048"/>
          </a:xfrm>
          <a:prstGeom prst="rect">
            <a:avLst/>
          </a:prstGeom>
          <a:noFill/>
          <a:ln/>
        </p:spPr>
        <p:txBody>
          <a:bodyPr wrap="square" lIns="0" tIns="0" rIns="0" bIns="0" rtlCol="0" anchor="ctr"/>
          <a:lstStyle/>
          <a:p>
            <a:pPr algn="l" indent="0" marL="0">
              <a:buNone/>
            </a:pPr>
            <a:r>
              <a:rPr lang="en-US" altLang="en-US" sz="1500" b="1" dirty="0">
                <a:solidFill>
                  <a:schemeClr val="accent2"/>
                </a:solidFill>
                <a:latin typeface="Arial" pitchFamily="34" charset="0"/>
                <a:ea typeface="Arial" pitchFamily="34" charset="-122"/>
                <a:cs typeface="Arial" pitchFamily="34" charset="-120"/>
              </a:rPr>
              <a:t>Verses 26 – 27</a:t>
            </a:r>
            <a:endParaRPr lang="en-US" sz="1500" dirty="0"/>
          </a:p>
        </p:txBody>
      </p:sp>
      <p:sp>
        <p:nvSpPr>
          <p:cNvPr id="4" name="Text 2"/>
          <p:cNvSpPr txBox="1"/>
          <p:nvPr/>
        </p:nvSpPr>
        <p:spPr>
          <a:xfrm>
            <a:off x="8732520" y="548640"/>
            <a:ext cx="2651760" cy="384048"/>
          </a:xfrm>
          <a:prstGeom prst="rect">
            <a:avLst/>
          </a:prstGeom>
          <a:noFill/>
          <a:ln/>
        </p:spPr>
        <p:txBody>
          <a:bodyPr wrap="square" lIns="0" tIns="0" rIns="0" bIns="0" rtlCol="0" anchor="ctr"/>
          <a:lstStyle/>
          <a:p>
            <a:pPr algn="r" indent="0" marL="0">
              <a:buNone/>
            </a:pPr>
            <a:r>
              <a:rPr lang="en-US" altLang="en-US" sz="1300" i="1" dirty="0">
                <a:solidFill>
                  <a:schemeClr val="accent4"/>
                </a:solidFill>
                <a:latin typeface="Arial" pitchFamily="34" charset="0"/>
                <a:ea typeface="Arial" pitchFamily="34" charset="-122"/>
                <a:cs typeface="Arial" pitchFamily="34" charset="-120"/>
              </a:rPr>
              <a:t>Ibn Kathir, simplified</a:t>
            </a:r>
            <a:endParaRPr lang="en-US" sz="1300" dirty="0"/>
          </a:p>
        </p:txBody>
      </p:sp>
      <p:sp>
        <p:nvSpPr>
          <p:cNvPr id="5" name="Shape 3"/>
          <p:cNvSpPr/>
          <p:nvPr/>
        </p:nvSpPr>
        <p:spPr>
          <a:xfrm>
            <a:off x="713232" y="1997964"/>
            <a:ext cx="548640" cy="548640"/>
          </a:xfrm>
          <a:prstGeom prst="star8">
            <a:avLst/>
          </a:prstGeom>
          <a:solidFill>
            <a:schemeClr val="accent2"/>
          </a:solidFill>
          <a:ln/>
        </p:spPr>
      </p:sp>
      <p:sp>
        <p:nvSpPr>
          <p:cNvPr id="6" name="Shape 4"/>
          <p:cNvSpPr/>
          <p:nvPr/>
        </p:nvSpPr>
        <p:spPr>
          <a:xfrm>
            <a:off x="822960" y="2107692"/>
            <a:ext cx="329184" cy="329184"/>
          </a:xfrm>
          <a:prstGeom prst="ellipse">
            <a:avLst/>
          </a:prstGeom>
          <a:solidFill>
            <a:schemeClr val="bg2"/>
          </a:solidFill>
          <a:ln w="19050">
            <a:solidFill>
              <a:schemeClr val="tx2"/>
            </a:solidFill>
            <a:prstDash val="solid"/>
          </a:ln>
        </p:spPr>
      </p:sp>
      <p:sp>
        <p:nvSpPr>
          <p:cNvPr id="7" name="Text 5"/>
          <p:cNvSpPr txBox="1"/>
          <p:nvPr/>
        </p:nvSpPr>
        <p:spPr>
          <a:xfrm>
            <a:off x="713232" y="1997964"/>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26</a:t>
            </a:r>
            <a:endParaRPr lang="en-US" sz="1600" dirty="0"/>
          </a:p>
        </p:txBody>
      </p:sp>
      <p:sp>
        <p:nvSpPr>
          <p:cNvPr id="8" name="Text 6"/>
          <p:cNvSpPr txBox="1"/>
          <p:nvPr/>
        </p:nvSpPr>
        <p:spPr>
          <a:xfrm>
            <a:off x="1444752" y="1979676"/>
            <a:ext cx="10012680" cy="992124"/>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وَلَهُ مَن فِي السَّمَٰوَٰتِ وَالْأَرْضِ كُلٌّ لَّهُ قَٰنِتُونَ</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To Him belongs everyone in the heavens and the earth as His kingdom and servants; all obey Him.</a:t>
            </a:r>
            <a:endParaRPr lang="en-US" sz="3000" dirty="0"/>
          </a:p>
        </p:txBody>
      </p:sp>
      <p:sp>
        <p:nvSpPr>
          <p:cNvPr id="9" name="Shape 7"/>
          <p:cNvSpPr/>
          <p:nvPr/>
        </p:nvSpPr>
        <p:spPr>
          <a:xfrm>
            <a:off x="1444752" y="3159252"/>
            <a:ext cx="8641080" cy="0"/>
          </a:xfrm>
          <a:prstGeom prst="line">
            <a:avLst/>
          </a:prstGeom>
          <a:noFill/>
          <a:ln w="9525">
            <a:solidFill>
              <a:schemeClr val="accent2"/>
            </a:solidFill>
            <a:prstDash val="dash"/>
          </a:ln>
        </p:spPr>
      </p:sp>
      <p:sp>
        <p:nvSpPr>
          <p:cNvPr id="10" name="Shape 8"/>
          <p:cNvSpPr/>
          <p:nvPr/>
        </p:nvSpPr>
        <p:spPr>
          <a:xfrm>
            <a:off x="713232" y="3392424"/>
            <a:ext cx="548640" cy="548640"/>
          </a:xfrm>
          <a:prstGeom prst="star8">
            <a:avLst/>
          </a:prstGeom>
          <a:solidFill>
            <a:schemeClr val="accent2"/>
          </a:solidFill>
          <a:ln/>
        </p:spPr>
      </p:sp>
      <p:sp>
        <p:nvSpPr>
          <p:cNvPr id="11" name="Shape 9"/>
          <p:cNvSpPr/>
          <p:nvPr/>
        </p:nvSpPr>
        <p:spPr>
          <a:xfrm>
            <a:off x="822960" y="3502152"/>
            <a:ext cx="329184" cy="329184"/>
          </a:xfrm>
          <a:prstGeom prst="ellipse">
            <a:avLst/>
          </a:prstGeom>
          <a:solidFill>
            <a:schemeClr val="bg2"/>
          </a:solidFill>
          <a:ln w="19050">
            <a:solidFill>
              <a:schemeClr val="tx2"/>
            </a:solidFill>
            <a:prstDash val="solid"/>
          </a:ln>
        </p:spPr>
      </p:sp>
      <p:sp>
        <p:nvSpPr>
          <p:cNvPr id="12" name="Text 10"/>
          <p:cNvSpPr txBox="1"/>
          <p:nvPr/>
        </p:nvSpPr>
        <p:spPr>
          <a:xfrm>
            <a:off x="713232" y="3392424"/>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27</a:t>
            </a:r>
            <a:endParaRPr lang="en-US" sz="1600" dirty="0"/>
          </a:p>
        </p:txBody>
      </p:sp>
      <p:sp>
        <p:nvSpPr>
          <p:cNvPr id="13" name="Text 11"/>
          <p:cNvSpPr txBox="1"/>
          <p:nvPr/>
        </p:nvSpPr>
        <p:spPr>
          <a:xfrm>
            <a:off x="1444752" y="3374136"/>
            <a:ext cx="10012680" cy="2061972"/>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وَهُوَ الَّذِي يَبْدَؤُاْ الْخَلْقَ ثُمَّ يُعِيدُهُ وَهُوَ أَهْوَنُ عَلَيْهِ وَلَهُ الْمَثَلُ الْأَعْلَىٰ فِي السَّمَٰوَٰتِ وَالْأَرْضِ وَهُوَ الْعَزِيزُ الْحَكِيمُ</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He is the One who begins creation and then repeats it, and repeating it is even easier for Him in your way of thinking. His is the highest description in the heavens and the earth, and He is the Almighty, the All-Wise.</a:t>
            </a:r>
            <a:endParaRPr lang="en-US" sz="3000" dirty="0"/>
          </a:p>
        </p:txBody>
      </p:sp>
      <p:sp>
        <p:nvSpPr>
          <p:cNvPr id="25" name="Slide Number Placeholder 0"/>
          <p:cNvSpPr>
            <a:spLocks noGrp="1"/>
          </p:cNvSpPr>
          <p:nvPr>
            <p:ph type="sldNum" sz="quarter" idx="4294967295"/>
          </p:nvPr>
        </p:nvSpPr>
        <p:spPr>
          <a:xfrm>
            <a:off x="1115568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61</a:t>
            </a:fld>
            <a:endParaRPr lang="en-US"/>
          </a:p>
        </p:txBody>
      </p:sp>
    </p:spTree>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name="Slide 62">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algn="ctr" indent="0" marL="0">
              <a:buNone/>
            </a:pPr>
            <a:r>
              <a:rPr lang="en-US" sz="2400" b="1" dirty="0">
                <a:solidFill>
                  <a:schemeClr val="bg1"/>
                </a:solidFill>
                <a:latin typeface="Georgia" pitchFamily="34" charset="0"/>
                <a:ea typeface="Georgia" pitchFamily="34" charset="-122"/>
                <a:cs typeface="Georgia" pitchFamily="34" charset="-120"/>
              </a:rPr>
              <a:t>Surah Ar-Rum</a:t>
            </a:r>
            <a:endParaRPr lang="en-US" sz="2400" dirty="0"/>
          </a:p>
        </p:txBody>
      </p:sp>
      <p:sp>
        <p:nvSpPr>
          <p:cNvPr id="3" name="Text 1"/>
          <p:cNvSpPr txBox="1"/>
          <p:nvPr/>
        </p:nvSpPr>
        <p:spPr>
          <a:xfrm>
            <a:off x="777240" y="548640"/>
            <a:ext cx="2651760" cy="384048"/>
          </a:xfrm>
          <a:prstGeom prst="rect">
            <a:avLst/>
          </a:prstGeom>
          <a:noFill/>
          <a:ln/>
        </p:spPr>
        <p:txBody>
          <a:bodyPr wrap="square" lIns="0" tIns="0" rIns="0" bIns="0" rtlCol="0" anchor="ctr"/>
          <a:lstStyle/>
          <a:p>
            <a:pPr algn="l" indent="0" marL="0">
              <a:buNone/>
            </a:pPr>
            <a:r>
              <a:rPr lang="en-US" altLang="en-US" sz="1500" b="1" dirty="0">
                <a:solidFill>
                  <a:schemeClr val="accent2"/>
                </a:solidFill>
                <a:latin typeface="Arial" pitchFamily="34" charset="0"/>
                <a:ea typeface="Arial" pitchFamily="34" charset="-122"/>
                <a:cs typeface="Arial" pitchFamily="34" charset="-120"/>
              </a:rPr>
              <a:t>Verses 28 – 29</a:t>
            </a:r>
            <a:endParaRPr lang="en-US" sz="1500" dirty="0"/>
          </a:p>
        </p:txBody>
      </p:sp>
      <p:sp>
        <p:nvSpPr>
          <p:cNvPr id="4" name="Text 2"/>
          <p:cNvSpPr txBox="1"/>
          <p:nvPr/>
        </p:nvSpPr>
        <p:spPr>
          <a:xfrm>
            <a:off x="8732520" y="548640"/>
            <a:ext cx="2651760" cy="384048"/>
          </a:xfrm>
          <a:prstGeom prst="rect">
            <a:avLst/>
          </a:prstGeom>
          <a:noFill/>
          <a:ln/>
        </p:spPr>
        <p:txBody>
          <a:bodyPr wrap="square" lIns="0" tIns="0" rIns="0" bIns="0" rtlCol="0" anchor="ctr"/>
          <a:lstStyle/>
          <a:p>
            <a:pPr algn="r" indent="0" marL="0">
              <a:buNone/>
            </a:pPr>
            <a:r>
              <a:rPr lang="en-US" altLang="en-US" sz="1300" i="1" dirty="0">
                <a:solidFill>
                  <a:schemeClr val="accent4"/>
                </a:solidFill>
                <a:latin typeface="Arial" pitchFamily="34" charset="0"/>
                <a:ea typeface="Arial" pitchFamily="34" charset="-122"/>
                <a:cs typeface="Arial" pitchFamily="34" charset="-120"/>
              </a:rPr>
              <a:t>Ibn Kathir, simplified</a:t>
            </a:r>
            <a:endParaRPr lang="en-US" sz="1300" dirty="0"/>
          </a:p>
        </p:txBody>
      </p:sp>
      <p:sp>
        <p:nvSpPr>
          <p:cNvPr id="5" name="Shape 3"/>
          <p:cNvSpPr/>
          <p:nvPr/>
        </p:nvSpPr>
        <p:spPr>
          <a:xfrm>
            <a:off x="713232" y="1388745"/>
            <a:ext cx="548640" cy="548640"/>
          </a:xfrm>
          <a:prstGeom prst="star8">
            <a:avLst/>
          </a:prstGeom>
          <a:solidFill>
            <a:schemeClr val="accent2"/>
          </a:solidFill>
          <a:ln/>
        </p:spPr>
      </p:sp>
      <p:sp>
        <p:nvSpPr>
          <p:cNvPr id="6" name="Shape 4"/>
          <p:cNvSpPr/>
          <p:nvPr/>
        </p:nvSpPr>
        <p:spPr>
          <a:xfrm>
            <a:off x="822960" y="1498473"/>
            <a:ext cx="329184" cy="329184"/>
          </a:xfrm>
          <a:prstGeom prst="ellipse">
            <a:avLst/>
          </a:prstGeom>
          <a:solidFill>
            <a:schemeClr val="bg2"/>
          </a:solidFill>
          <a:ln w="19050">
            <a:solidFill>
              <a:schemeClr val="tx2"/>
            </a:solidFill>
            <a:prstDash val="solid"/>
          </a:ln>
        </p:spPr>
      </p:sp>
      <p:sp>
        <p:nvSpPr>
          <p:cNvPr id="7" name="Text 5"/>
          <p:cNvSpPr txBox="1"/>
          <p:nvPr/>
        </p:nvSpPr>
        <p:spPr>
          <a:xfrm>
            <a:off x="713232" y="1388745"/>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28</a:t>
            </a:r>
            <a:endParaRPr lang="en-US" sz="1600" dirty="0"/>
          </a:p>
        </p:txBody>
      </p:sp>
      <p:sp>
        <p:nvSpPr>
          <p:cNvPr id="8" name="Text 6"/>
          <p:cNvSpPr txBox="1"/>
          <p:nvPr/>
        </p:nvSpPr>
        <p:spPr>
          <a:xfrm>
            <a:off x="1444752" y="1370457"/>
            <a:ext cx="10012680" cy="2610612"/>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ضَرَبَ لَكُم مَّثَلًا مِّنْ أَنفُسِكُمْ هَل لَّكُم مِّن مَّا مَلَكَتْ أَيْمَٰنُكُم مِّن شُرَكَآءَ فِي مَا رَزَقْنَٰكُمْ فَأَنتُمْ فِيهِ سَوَآءٌ تَخَافُونَهُمْ كَخِيفَتِكُمْ أَنفُسَكُمْ كَذَٰلِكَ نُفَصِّلُ الْأيَٰتِ لِقَوْمٍ يَعْقِلُونَ</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He gives you an example from yourselves: Would you accept your servants sharing your wealth equally with you, so that you fear them as you fear one another? Then how can you make His servants partners with Allah? In this way We explain the verses for people who use their minds.</a:t>
            </a:r>
            <a:endParaRPr lang="en-US" sz="3000" dirty="0"/>
          </a:p>
        </p:txBody>
      </p:sp>
      <p:sp>
        <p:nvSpPr>
          <p:cNvPr id="9" name="Shape 7"/>
          <p:cNvSpPr/>
          <p:nvPr/>
        </p:nvSpPr>
        <p:spPr>
          <a:xfrm>
            <a:off x="1444752" y="4098798"/>
            <a:ext cx="8641080" cy="0"/>
          </a:xfrm>
          <a:prstGeom prst="line">
            <a:avLst/>
          </a:prstGeom>
          <a:noFill/>
          <a:ln w="9525">
            <a:solidFill>
              <a:schemeClr val="accent2"/>
            </a:solidFill>
            <a:prstDash val="dash"/>
          </a:ln>
        </p:spPr>
      </p:sp>
      <p:sp>
        <p:nvSpPr>
          <p:cNvPr id="10" name="Shape 8"/>
          <p:cNvSpPr/>
          <p:nvPr/>
        </p:nvSpPr>
        <p:spPr>
          <a:xfrm>
            <a:off x="713232" y="4262247"/>
            <a:ext cx="548640" cy="548640"/>
          </a:xfrm>
          <a:prstGeom prst="star8">
            <a:avLst/>
          </a:prstGeom>
          <a:solidFill>
            <a:schemeClr val="accent2"/>
          </a:solidFill>
          <a:ln/>
        </p:spPr>
      </p:sp>
      <p:sp>
        <p:nvSpPr>
          <p:cNvPr id="11" name="Shape 9"/>
          <p:cNvSpPr/>
          <p:nvPr/>
        </p:nvSpPr>
        <p:spPr>
          <a:xfrm>
            <a:off x="822960" y="4371975"/>
            <a:ext cx="329184" cy="329184"/>
          </a:xfrm>
          <a:prstGeom prst="ellipse">
            <a:avLst/>
          </a:prstGeom>
          <a:solidFill>
            <a:schemeClr val="bg2"/>
          </a:solidFill>
          <a:ln w="19050">
            <a:solidFill>
              <a:schemeClr val="tx2"/>
            </a:solidFill>
            <a:prstDash val="solid"/>
          </a:ln>
        </p:spPr>
      </p:sp>
      <p:sp>
        <p:nvSpPr>
          <p:cNvPr id="12" name="Text 10"/>
          <p:cNvSpPr txBox="1"/>
          <p:nvPr/>
        </p:nvSpPr>
        <p:spPr>
          <a:xfrm>
            <a:off x="713232" y="4262247"/>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29</a:t>
            </a:r>
            <a:endParaRPr lang="en-US" sz="1600" dirty="0"/>
          </a:p>
        </p:txBody>
      </p:sp>
      <p:sp>
        <p:nvSpPr>
          <p:cNvPr id="13" name="Text 11"/>
          <p:cNvSpPr txBox="1"/>
          <p:nvPr/>
        </p:nvSpPr>
        <p:spPr>
          <a:xfrm>
            <a:off x="1444752" y="4243959"/>
            <a:ext cx="10012680" cy="1801368"/>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بَلِ اتَّبَعَ الَّذِينَ ظَلَمُواْ أَهْوَآءَهُم بِغَيْرِ عِلْمٍ فَمَن يَهْدِي مَنْ أَضَلَّ اللَّهُ وَمَا لَهُم مِّن نَّـٰصِرِينَ</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Rather, the wrongdoers follow their desires without knowledge. Who can guide one whom Allah has let go astray? They will have no helpers.</a:t>
            </a:r>
            <a:endParaRPr lang="en-US" sz="3000" dirty="0"/>
          </a:p>
        </p:txBody>
      </p:sp>
      <p:sp>
        <p:nvSpPr>
          <p:cNvPr id="25" name="Slide Number Placeholder 0"/>
          <p:cNvSpPr>
            <a:spLocks noGrp="1"/>
          </p:cNvSpPr>
          <p:nvPr>
            <p:ph type="sldNum" sz="quarter" idx="4294967295"/>
          </p:nvPr>
        </p:nvSpPr>
        <p:spPr>
          <a:xfrm>
            <a:off x="1115568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62</a:t>
            </a:fld>
            <a:endParaRPr lang="en-US"/>
          </a:p>
        </p:txBody>
      </p:sp>
    </p:spTree>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name="Slide 63">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algn="ctr" indent="0" marL="0">
              <a:buNone/>
            </a:pPr>
            <a:r>
              <a:rPr lang="en-US" sz="2400" b="1" dirty="0">
                <a:solidFill>
                  <a:schemeClr val="bg1"/>
                </a:solidFill>
                <a:latin typeface="Georgia" pitchFamily="34" charset="0"/>
                <a:ea typeface="Georgia" pitchFamily="34" charset="-122"/>
                <a:cs typeface="Georgia" pitchFamily="34" charset="-120"/>
              </a:rPr>
              <a:t>Surah Ar-Rum</a:t>
            </a:r>
            <a:endParaRPr lang="en-US" sz="2400" dirty="0"/>
          </a:p>
        </p:txBody>
      </p:sp>
      <p:sp>
        <p:nvSpPr>
          <p:cNvPr id="3" name="Text 1"/>
          <p:cNvSpPr txBox="1"/>
          <p:nvPr/>
        </p:nvSpPr>
        <p:spPr>
          <a:xfrm>
            <a:off x="777240" y="548640"/>
            <a:ext cx="2651760" cy="384048"/>
          </a:xfrm>
          <a:prstGeom prst="rect">
            <a:avLst/>
          </a:prstGeom>
          <a:noFill/>
          <a:ln/>
        </p:spPr>
        <p:txBody>
          <a:bodyPr wrap="square" lIns="0" tIns="0" rIns="0" bIns="0" rtlCol="0" anchor="ctr"/>
          <a:lstStyle/>
          <a:p>
            <a:pPr algn="l" indent="0" marL="0">
              <a:buNone/>
            </a:pPr>
            <a:r>
              <a:rPr lang="en-US" altLang="en-US" sz="1500" b="1" dirty="0">
                <a:solidFill>
                  <a:schemeClr val="accent2"/>
                </a:solidFill>
                <a:latin typeface="Arial" pitchFamily="34" charset="0"/>
                <a:ea typeface="Arial" pitchFamily="34" charset="-122"/>
                <a:cs typeface="Arial" pitchFamily="34" charset="-120"/>
              </a:rPr>
              <a:t>Verses 30 – 32</a:t>
            </a:r>
            <a:endParaRPr lang="en-US" sz="1500" dirty="0"/>
          </a:p>
        </p:txBody>
      </p:sp>
      <p:sp>
        <p:nvSpPr>
          <p:cNvPr id="4" name="Text 2"/>
          <p:cNvSpPr txBox="1"/>
          <p:nvPr/>
        </p:nvSpPr>
        <p:spPr>
          <a:xfrm>
            <a:off x="8732520" y="548640"/>
            <a:ext cx="2651760" cy="384048"/>
          </a:xfrm>
          <a:prstGeom prst="rect">
            <a:avLst/>
          </a:prstGeom>
          <a:noFill/>
          <a:ln/>
        </p:spPr>
        <p:txBody>
          <a:bodyPr wrap="square" lIns="0" tIns="0" rIns="0" bIns="0" rtlCol="0" anchor="ctr"/>
          <a:lstStyle/>
          <a:p>
            <a:pPr algn="r" indent="0" marL="0">
              <a:buNone/>
            </a:pPr>
            <a:r>
              <a:rPr lang="en-US" altLang="en-US" sz="1300" i="1" dirty="0">
                <a:solidFill>
                  <a:schemeClr val="accent4"/>
                </a:solidFill>
                <a:latin typeface="Arial" pitchFamily="34" charset="0"/>
                <a:ea typeface="Arial" pitchFamily="34" charset="-122"/>
                <a:cs typeface="Arial" pitchFamily="34" charset="-120"/>
              </a:rPr>
              <a:t>Ibn Kathir, simplified</a:t>
            </a:r>
            <a:endParaRPr lang="en-US" sz="1300" dirty="0"/>
          </a:p>
        </p:txBody>
      </p:sp>
      <p:sp>
        <p:nvSpPr>
          <p:cNvPr id="5" name="Shape 3"/>
          <p:cNvSpPr/>
          <p:nvPr/>
        </p:nvSpPr>
        <p:spPr>
          <a:xfrm>
            <a:off x="713232" y="1362456"/>
            <a:ext cx="548640" cy="548640"/>
          </a:xfrm>
          <a:prstGeom prst="star8">
            <a:avLst/>
          </a:prstGeom>
          <a:solidFill>
            <a:schemeClr val="accent2"/>
          </a:solidFill>
          <a:ln/>
        </p:spPr>
      </p:sp>
      <p:sp>
        <p:nvSpPr>
          <p:cNvPr id="6" name="Shape 4"/>
          <p:cNvSpPr/>
          <p:nvPr/>
        </p:nvSpPr>
        <p:spPr>
          <a:xfrm>
            <a:off x="822960" y="1472184"/>
            <a:ext cx="329184" cy="329184"/>
          </a:xfrm>
          <a:prstGeom prst="ellipse">
            <a:avLst/>
          </a:prstGeom>
          <a:solidFill>
            <a:schemeClr val="bg2"/>
          </a:solidFill>
          <a:ln w="19050">
            <a:solidFill>
              <a:schemeClr val="tx2"/>
            </a:solidFill>
            <a:prstDash val="solid"/>
          </a:ln>
        </p:spPr>
      </p:sp>
      <p:sp>
        <p:nvSpPr>
          <p:cNvPr id="7" name="Text 5"/>
          <p:cNvSpPr txBox="1"/>
          <p:nvPr/>
        </p:nvSpPr>
        <p:spPr>
          <a:xfrm>
            <a:off x="713232" y="1362456"/>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30</a:t>
            </a:r>
            <a:endParaRPr lang="en-US" sz="1600" dirty="0"/>
          </a:p>
        </p:txBody>
      </p:sp>
      <p:sp>
        <p:nvSpPr>
          <p:cNvPr id="8" name="Text 6"/>
          <p:cNvSpPr txBox="1"/>
          <p:nvPr/>
        </p:nvSpPr>
        <p:spPr>
          <a:xfrm>
            <a:off x="1444752" y="1344168"/>
            <a:ext cx="10012680" cy="2061972"/>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فَأَقِمْ وَجْهَكَ لِلدِّينِ حَنِيفًا فِطْرَتَ اللَّهِ الَّتِي فَطَرَ النَّاسَ عَلَيْهَا لَا تَبْدِيلَ لِخَلْقِ اللَّهِ ذَٰلِكَ الدِّينُ الْقَيِّمُ وَلَٰكِنَّ أَكْثَرَ النَّاسِ لَا يَعْلَمُونَ</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So turn your face to the religion, leaving shirk for tawhid. This is the fitrah, the natural way Allah created people on. There is no changing Allah's religion. That is the straight religion, but most people do not know.</a:t>
            </a:r>
            <a:endParaRPr lang="en-US" sz="3000" dirty="0"/>
          </a:p>
        </p:txBody>
      </p:sp>
      <p:sp>
        <p:nvSpPr>
          <p:cNvPr id="9" name="Shape 7"/>
          <p:cNvSpPr/>
          <p:nvPr/>
        </p:nvSpPr>
        <p:spPr>
          <a:xfrm>
            <a:off x="1444752" y="3497580"/>
            <a:ext cx="8641080" cy="0"/>
          </a:xfrm>
          <a:prstGeom prst="line">
            <a:avLst/>
          </a:prstGeom>
          <a:noFill/>
          <a:ln w="9525">
            <a:solidFill>
              <a:schemeClr val="accent2"/>
            </a:solidFill>
            <a:prstDash val="dash"/>
          </a:ln>
        </p:spPr>
      </p:sp>
      <p:sp>
        <p:nvSpPr>
          <p:cNvPr id="10" name="Shape 8"/>
          <p:cNvSpPr/>
          <p:nvPr/>
        </p:nvSpPr>
        <p:spPr>
          <a:xfrm>
            <a:off x="713232" y="3634740"/>
            <a:ext cx="548640" cy="548640"/>
          </a:xfrm>
          <a:prstGeom prst="star8">
            <a:avLst/>
          </a:prstGeom>
          <a:solidFill>
            <a:schemeClr val="accent2"/>
          </a:solidFill>
          <a:ln/>
        </p:spPr>
      </p:sp>
      <p:sp>
        <p:nvSpPr>
          <p:cNvPr id="11" name="Shape 9"/>
          <p:cNvSpPr/>
          <p:nvPr/>
        </p:nvSpPr>
        <p:spPr>
          <a:xfrm>
            <a:off x="822960" y="3744468"/>
            <a:ext cx="329184" cy="329184"/>
          </a:xfrm>
          <a:prstGeom prst="ellipse">
            <a:avLst/>
          </a:prstGeom>
          <a:solidFill>
            <a:schemeClr val="bg2"/>
          </a:solidFill>
          <a:ln w="19050">
            <a:solidFill>
              <a:schemeClr val="tx2"/>
            </a:solidFill>
            <a:prstDash val="solid"/>
          </a:ln>
        </p:spPr>
      </p:sp>
      <p:sp>
        <p:nvSpPr>
          <p:cNvPr id="12" name="Text 10"/>
          <p:cNvSpPr txBox="1"/>
          <p:nvPr/>
        </p:nvSpPr>
        <p:spPr>
          <a:xfrm>
            <a:off x="713232" y="3634740"/>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31</a:t>
            </a:r>
            <a:endParaRPr lang="en-US" sz="1600" dirty="0"/>
          </a:p>
        </p:txBody>
      </p:sp>
      <p:sp>
        <p:nvSpPr>
          <p:cNvPr id="13" name="Text 11"/>
          <p:cNvSpPr txBox="1"/>
          <p:nvPr/>
        </p:nvSpPr>
        <p:spPr>
          <a:xfrm>
            <a:off x="1444752" y="3616452"/>
            <a:ext cx="10012680" cy="1252728"/>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مُنِيبِينَ إِلَيْهِ وَاتَّقُوهُ وَأَقِيمُواْ الصَّلَوٰةَ وَلَا تَكُونُواْ مِنَ الْمُشْرِكِينَ</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Turn back to Him in repentance, have taqwa of Him, establish the prayer, and do not be among the idol-worshippers,</a:t>
            </a:r>
            <a:endParaRPr lang="en-US" sz="3000" dirty="0"/>
          </a:p>
        </p:txBody>
      </p:sp>
      <p:sp>
        <p:nvSpPr>
          <p:cNvPr id="14" name="Shape 12"/>
          <p:cNvSpPr/>
          <p:nvPr/>
        </p:nvSpPr>
        <p:spPr>
          <a:xfrm>
            <a:off x="1444752" y="4960620"/>
            <a:ext cx="8641080" cy="0"/>
          </a:xfrm>
          <a:prstGeom prst="line">
            <a:avLst/>
          </a:prstGeom>
          <a:noFill/>
          <a:ln w="9525">
            <a:solidFill>
              <a:schemeClr val="accent2"/>
            </a:solidFill>
            <a:prstDash val="dash"/>
          </a:ln>
        </p:spPr>
      </p:sp>
      <p:sp>
        <p:nvSpPr>
          <p:cNvPr id="15" name="Shape 13"/>
          <p:cNvSpPr/>
          <p:nvPr/>
        </p:nvSpPr>
        <p:spPr>
          <a:xfrm>
            <a:off x="713232" y="5097780"/>
            <a:ext cx="548640" cy="548640"/>
          </a:xfrm>
          <a:prstGeom prst="star8">
            <a:avLst/>
          </a:prstGeom>
          <a:solidFill>
            <a:schemeClr val="accent2"/>
          </a:solidFill>
          <a:ln/>
        </p:spPr>
      </p:sp>
      <p:sp>
        <p:nvSpPr>
          <p:cNvPr id="16" name="Shape 14"/>
          <p:cNvSpPr/>
          <p:nvPr/>
        </p:nvSpPr>
        <p:spPr>
          <a:xfrm>
            <a:off x="822960" y="5207508"/>
            <a:ext cx="329184" cy="329184"/>
          </a:xfrm>
          <a:prstGeom prst="ellipse">
            <a:avLst/>
          </a:prstGeom>
          <a:solidFill>
            <a:schemeClr val="bg2"/>
          </a:solidFill>
          <a:ln w="19050">
            <a:solidFill>
              <a:schemeClr val="tx2"/>
            </a:solidFill>
            <a:prstDash val="solid"/>
          </a:ln>
        </p:spPr>
      </p:sp>
      <p:sp>
        <p:nvSpPr>
          <p:cNvPr id="17" name="Text 15"/>
          <p:cNvSpPr txBox="1"/>
          <p:nvPr/>
        </p:nvSpPr>
        <p:spPr>
          <a:xfrm>
            <a:off x="713232" y="5097780"/>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32</a:t>
            </a:r>
            <a:endParaRPr lang="en-US" sz="1600" dirty="0"/>
          </a:p>
        </p:txBody>
      </p:sp>
      <p:sp>
        <p:nvSpPr>
          <p:cNvPr id="18" name="Text 16"/>
          <p:cNvSpPr txBox="1"/>
          <p:nvPr/>
        </p:nvSpPr>
        <p:spPr>
          <a:xfrm>
            <a:off x="1444752" y="5079492"/>
            <a:ext cx="10012680" cy="992124"/>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مِنَ الَّذِينَ فَرَّقُواْ دِينَهُمْ وَكَانُواْ شِيَعًا كُلُّ حِزْبٍ بِمَا لَدَيْهِمْ فَرِحُونَ</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those who split up their religion and became groups, each group happy with what it has.</a:t>
            </a:r>
            <a:endParaRPr lang="en-US" sz="3000" dirty="0"/>
          </a:p>
        </p:txBody>
      </p:sp>
      <p:sp>
        <p:nvSpPr>
          <p:cNvPr id="25" name="Slide Number Placeholder 0"/>
          <p:cNvSpPr>
            <a:spLocks noGrp="1"/>
          </p:cNvSpPr>
          <p:nvPr>
            <p:ph type="sldNum" sz="quarter" idx="4294967295"/>
          </p:nvPr>
        </p:nvSpPr>
        <p:spPr>
          <a:xfrm>
            <a:off x="1115568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63</a:t>
            </a:fld>
            <a:endParaRPr lang="en-US"/>
          </a:p>
        </p:txBody>
      </p:sp>
    </p:spTree>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name="Slide 64">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algn="ctr" indent="0" marL="0">
              <a:buNone/>
            </a:pPr>
            <a:r>
              <a:rPr lang="en-US" sz="2400" b="1" dirty="0">
                <a:solidFill>
                  <a:schemeClr val="bg1"/>
                </a:solidFill>
                <a:latin typeface="Georgia" pitchFamily="34" charset="0"/>
                <a:ea typeface="Georgia" pitchFamily="34" charset="-122"/>
                <a:cs typeface="Georgia" pitchFamily="34" charset="-120"/>
              </a:rPr>
              <a:t>Surah Ar-Rum</a:t>
            </a:r>
            <a:endParaRPr lang="en-US" sz="2400" dirty="0"/>
          </a:p>
        </p:txBody>
      </p:sp>
      <p:sp>
        <p:nvSpPr>
          <p:cNvPr id="3" name="Text 1"/>
          <p:cNvSpPr txBox="1"/>
          <p:nvPr/>
        </p:nvSpPr>
        <p:spPr>
          <a:xfrm>
            <a:off x="777240" y="548640"/>
            <a:ext cx="2651760" cy="384048"/>
          </a:xfrm>
          <a:prstGeom prst="rect">
            <a:avLst/>
          </a:prstGeom>
          <a:noFill/>
          <a:ln/>
        </p:spPr>
        <p:txBody>
          <a:bodyPr wrap="square" lIns="0" tIns="0" rIns="0" bIns="0" rtlCol="0" anchor="ctr"/>
          <a:lstStyle/>
          <a:p>
            <a:pPr algn="l" indent="0" marL="0">
              <a:buNone/>
            </a:pPr>
            <a:r>
              <a:rPr lang="en-US" altLang="en-US" sz="1500" b="1" dirty="0">
                <a:solidFill>
                  <a:schemeClr val="accent2"/>
                </a:solidFill>
                <a:latin typeface="Arial" pitchFamily="34" charset="0"/>
                <a:ea typeface="Arial" pitchFamily="34" charset="-122"/>
                <a:cs typeface="Arial" pitchFamily="34" charset="-120"/>
              </a:rPr>
              <a:t>Verses 33 – 35</a:t>
            </a:r>
            <a:endParaRPr lang="en-US" sz="1500" dirty="0"/>
          </a:p>
        </p:txBody>
      </p:sp>
      <p:sp>
        <p:nvSpPr>
          <p:cNvPr id="4" name="Text 2"/>
          <p:cNvSpPr txBox="1"/>
          <p:nvPr/>
        </p:nvSpPr>
        <p:spPr>
          <a:xfrm>
            <a:off x="8732520" y="548640"/>
            <a:ext cx="2651760" cy="384048"/>
          </a:xfrm>
          <a:prstGeom prst="rect">
            <a:avLst/>
          </a:prstGeom>
          <a:noFill/>
          <a:ln/>
        </p:spPr>
        <p:txBody>
          <a:bodyPr wrap="square" lIns="0" tIns="0" rIns="0" bIns="0" rtlCol="0" anchor="ctr"/>
          <a:lstStyle/>
          <a:p>
            <a:pPr algn="r" indent="0" marL="0">
              <a:buNone/>
            </a:pPr>
            <a:r>
              <a:rPr lang="en-US" altLang="en-US" sz="1300" i="1" dirty="0">
                <a:solidFill>
                  <a:schemeClr val="accent4"/>
                </a:solidFill>
                <a:latin typeface="Arial" pitchFamily="34" charset="0"/>
                <a:ea typeface="Arial" pitchFamily="34" charset="-122"/>
                <a:cs typeface="Arial" pitchFamily="34" charset="-120"/>
              </a:rPr>
              <a:t>Ibn Kathir, simplified</a:t>
            </a:r>
            <a:endParaRPr lang="en-US" sz="1300" dirty="0"/>
          </a:p>
        </p:txBody>
      </p:sp>
      <p:sp>
        <p:nvSpPr>
          <p:cNvPr id="5" name="Shape 3"/>
          <p:cNvSpPr/>
          <p:nvPr/>
        </p:nvSpPr>
        <p:spPr>
          <a:xfrm>
            <a:off x="713232" y="1449324"/>
            <a:ext cx="548640" cy="548640"/>
          </a:xfrm>
          <a:prstGeom prst="star8">
            <a:avLst/>
          </a:prstGeom>
          <a:solidFill>
            <a:schemeClr val="accent2"/>
          </a:solidFill>
          <a:ln/>
        </p:spPr>
      </p:sp>
      <p:sp>
        <p:nvSpPr>
          <p:cNvPr id="6" name="Shape 4"/>
          <p:cNvSpPr/>
          <p:nvPr/>
        </p:nvSpPr>
        <p:spPr>
          <a:xfrm>
            <a:off x="822960" y="1559052"/>
            <a:ext cx="329184" cy="329184"/>
          </a:xfrm>
          <a:prstGeom prst="ellipse">
            <a:avLst/>
          </a:prstGeom>
          <a:solidFill>
            <a:schemeClr val="bg2"/>
          </a:solidFill>
          <a:ln w="19050">
            <a:solidFill>
              <a:schemeClr val="tx2"/>
            </a:solidFill>
            <a:prstDash val="solid"/>
          </a:ln>
        </p:spPr>
      </p:sp>
      <p:sp>
        <p:nvSpPr>
          <p:cNvPr id="7" name="Text 5"/>
          <p:cNvSpPr txBox="1"/>
          <p:nvPr/>
        </p:nvSpPr>
        <p:spPr>
          <a:xfrm>
            <a:off x="713232" y="1449324"/>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33</a:t>
            </a:r>
            <a:endParaRPr lang="en-US" sz="1600" dirty="0"/>
          </a:p>
        </p:txBody>
      </p:sp>
      <p:sp>
        <p:nvSpPr>
          <p:cNvPr id="8" name="Text 6"/>
          <p:cNvSpPr txBox="1"/>
          <p:nvPr/>
        </p:nvSpPr>
        <p:spPr>
          <a:xfrm>
            <a:off x="1444752" y="1431036"/>
            <a:ext cx="10012680" cy="1801368"/>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وَإِذَا مَسَّ النَّاسَ ضُرٌّ دَعَوْاْ رَبَّهُم مُّنِيبِينَ إِلَيْهِ ثُمَّ إِذَآ أَذَاقَهُم مِّنْهُ رَحْمَةً إِذَا فَرِيقٌ مِّنْهُم بِرَبِّهِمْ يُشْرِكُونَ</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When harm touches people, they call on their Lord, turning to Him. Then when He lets them taste mercy, a group of them associate others with their Lord,</a:t>
            </a:r>
            <a:endParaRPr lang="en-US" sz="3000" dirty="0"/>
          </a:p>
        </p:txBody>
      </p:sp>
      <p:sp>
        <p:nvSpPr>
          <p:cNvPr id="9" name="Shape 7"/>
          <p:cNvSpPr/>
          <p:nvPr/>
        </p:nvSpPr>
        <p:spPr>
          <a:xfrm>
            <a:off x="1444752" y="3410712"/>
            <a:ext cx="8641080" cy="0"/>
          </a:xfrm>
          <a:prstGeom prst="line">
            <a:avLst/>
          </a:prstGeom>
          <a:noFill/>
          <a:ln w="9525">
            <a:solidFill>
              <a:schemeClr val="accent2"/>
            </a:solidFill>
            <a:prstDash val="dash"/>
          </a:ln>
        </p:spPr>
      </p:sp>
      <p:sp>
        <p:nvSpPr>
          <p:cNvPr id="10" name="Shape 8"/>
          <p:cNvSpPr/>
          <p:nvPr/>
        </p:nvSpPr>
        <p:spPr>
          <a:xfrm>
            <a:off x="713232" y="3634740"/>
            <a:ext cx="548640" cy="548640"/>
          </a:xfrm>
          <a:prstGeom prst="star8">
            <a:avLst/>
          </a:prstGeom>
          <a:solidFill>
            <a:schemeClr val="accent2"/>
          </a:solidFill>
          <a:ln/>
        </p:spPr>
      </p:sp>
      <p:sp>
        <p:nvSpPr>
          <p:cNvPr id="11" name="Shape 9"/>
          <p:cNvSpPr/>
          <p:nvPr/>
        </p:nvSpPr>
        <p:spPr>
          <a:xfrm>
            <a:off x="822960" y="3744468"/>
            <a:ext cx="329184" cy="329184"/>
          </a:xfrm>
          <a:prstGeom prst="ellipse">
            <a:avLst/>
          </a:prstGeom>
          <a:solidFill>
            <a:schemeClr val="bg2"/>
          </a:solidFill>
          <a:ln w="19050">
            <a:solidFill>
              <a:schemeClr val="tx2"/>
            </a:solidFill>
            <a:prstDash val="solid"/>
          </a:ln>
        </p:spPr>
      </p:sp>
      <p:sp>
        <p:nvSpPr>
          <p:cNvPr id="12" name="Text 10"/>
          <p:cNvSpPr txBox="1"/>
          <p:nvPr/>
        </p:nvSpPr>
        <p:spPr>
          <a:xfrm>
            <a:off x="713232" y="3634740"/>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34</a:t>
            </a:r>
            <a:endParaRPr lang="en-US" sz="1600" dirty="0"/>
          </a:p>
        </p:txBody>
      </p:sp>
      <p:sp>
        <p:nvSpPr>
          <p:cNvPr id="13" name="Text 11"/>
          <p:cNvSpPr txBox="1"/>
          <p:nvPr/>
        </p:nvSpPr>
        <p:spPr>
          <a:xfrm>
            <a:off x="1444752" y="3616452"/>
            <a:ext cx="10012680" cy="992124"/>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لِيَكْفُرُواْ بِمَآ ءَاتَيْنَٰهُمْ فَتَمَتَّعُواْ فَسَوْفَ تَعْلَمُونَ</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so they deny the blessings We gave them. So enjoy yourselves a little; you will soon know your end.</a:t>
            </a:r>
            <a:endParaRPr lang="en-US" sz="3000" dirty="0"/>
          </a:p>
        </p:txBody>
      </p:sp>
      <p:sp>
        <p:nvSpPr>
          <p:cNvPr id="14" name="Shape 12"/>
          <p:cNvSpPr/>
          <p:nvPr/>
        </p:nvSpPr>
        <p:spPr>
          <a:xfrm>
            <a:off x="1444752" y="4786884"/>
            <a:ext cx="8641080" cy="0"/>
          </a:xfrm>
          <a:prstGeom prst="line">
            <a:avLst/>
          </a:prstGeom>
          <a:noFill/>
          <a:ln w="9525">
            <a:solidFill>
              <a:schemeClr val="accent2"/>
            </a:solidFill>
            <a:prstDash val="dash"/>
          </a:ln>
        </p:spPr>
      </p:sp>
      <p:sp>
        <p:nvSpPr>
          <p:cNvPr id="15" name="Shape 13"/>
          <p:cNvSpPr/>
          <p:nvPr/>
        </p:nvSpPr>
        <p:spPr>
          <a:xfrm>
            <a:off x="713232" y="5010912"/>
            <a:ext cx="548640" cy="548640"/>
          </a:xfrm>
          <a:prstGeom prst="star8">
            <a:avLst/>
          </a:prstGeom>
          <a:solidFill>
            <a:schemeClr val="accent2"/>
          </a:solidFill>
          <a:ln/>
        </p:spPr>
      </p:sp>
      <p:sp>
        <p:nvSpPr>
          <p:cNvPr id="16" name="Shape 14"/>
          <p:cNvSpPr/>
          <p:nvPr/>
        </p:nvSpPr>
        <p:spPr>
          <a:xfrm>
            <a:off x="822960" y="5120640"/>
            <a:ext cx="329184" cy="329184"/>
          </a:xfrm>
          <a:prstGeom prst="ellipse">
            <a:avLst/>
          </a:prstGeom>
          <a:solidFill>
            <a:schemeClr val="bg2"/>
          </a:solidFill>
          <a:ln w="19050">
            <a:solidFill>
              <a:schemeClr val="tx2"/>
            </a:solidFill>
            <a:prstDash val="solid"/>
          </a:ln>
        </p:spPr>
      </p:sp>
      <p:sp>
        <p:nvSpPr>
          <p:cNvPr id="17" name="Text 15"/>
          <p:cNvSpPr txBox="1"/>
          <p:nvPr/>
        </p:nvSpPr>
        <p:spPr>
          <a:xfrm>
            <a:off x="713232" y="5010912"/>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35</a:t>
            </a:r>
            <a:endParaRPr lang="en-US" sz="1600" dirty="0"/>
          </a:p>
        </p:txBody>
      </p:sp>
      <p:sp>
        <p:nvSpPr>
          <p:cNvPr id="18" name="Text 16"/>
          <p:cNvSpPr txBox="1"/>
          <p:nvPr/>
        </p:nvSpPr>
        <p:spPr>
          <a:xfrm>
            <a:off x="1444752" y="4992624"/>
            <a:ext cx="10012680" cy="992124"/>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أَمْ أَنزَلْنَا عَلَيْهِمْ سُلْطَٰنًا فَهُوَ يَتَكَلَّمُ بِمَا كَانُواْ بِهِ يُشْرِكُونَ</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Or have We sent down to them a proof that supports their shirk? No.</a:t>
            </a:r>
            <a:endParaRPr lang="en-US" sz="3000" dirty="0"/>
          </a:p>
        </p:txBody>
      </p:sp>
      <p:sp>
        <p:nvSpPr>
          <p:cNvPr id="25" name="Slide Number Placeholder 0"/>
          <p:cNvSpPr>
            <a:spLocks noGrp="1"/>
          </p:cNvSpPr>
          <p:nvPr>
            <p:ph type="sldNum" sz="quarter" idx="4294967295"/>
          </p:nvPr>
        </p:nvSpPr>
        <p:spPr>
          <a:xfrm>
            <a:off x="1115568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64</a:t>
            </a:fld>
            <a:endParaRPr lang="en-US"/>
          </a:p>
        </p:txBody>
      </p:sp>
    </p:spTree>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name="Slide 65">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algn="ctr" indent="0" marL="0">
              <a:buNone/>
            </a:pPr>
            <a:r>
              <a:rPr lang="en-US" sz="2400" b="1" dirty="0">
                <a:solidFill>
                  <a:schemeClr val="bg1"/>
                </a:solidFill>
                <a:latin typeface="Georgia" pitchFamily="34" charset="0"/>
                <a:ea typeface="Georgia" pitchFamily="34" charset="-122"/>
                <a:cs typeface="Georgia" pitchFamily="34" charset="-120"/>
              </a:rPr>
              <a:t>Surah Ar-Rum</a:t>
            </a:r>
            <a:endParaRPr lang="en-US" sz="2400" dirty="0"/>
          </a:p>
        </p:txBody>
      </p:sp>
      <p:sp>
        <p:nvSpPr>
          <p:cNvPr id="3" name="Text 1"/>
          <p:cNvSpPr txBox="1"/>
          <p:nvPr/>
        </p:nvSpPr>
        <p:spPr>
          <a:xfrm>
            <a:off x="777240" y="548640"/>
            <a:ext cx="2651760" cy="384048"/>
          </a:xfrm>
          <a:prstGeom prst="rect">
            <a:avLst/>
          </a:prstGeom>
          <a:noFill/>
          <a:ln/>
        </p:spPr>
        <p:txBody>
          <a:bodyPr wrap="square" lIns="0" tIns="0" rIns="0" bIns="0" rtlCol="0" anchor="ctr"/>
          <a:lstStyle/>
          <a:p>
            <a:pPr algn="l" indent="0" marL="0">
              <a:buNone/>
            </a:pPr>
            <a:r>
              <a:rPr lang="en-US" altLang="en-US" sz="1500" b="1" dirty="0">
                <a:solidFill>
                  <a:schemeClr val="accent2"/>
                </a:solidFill>
                <a:latin typeface="Arial" pitchFamily="34" charset="0"/>
                <a:ea typeface="Arial" pitchFamily="34" charset="-122"/>
                <a:cs typeface="Arial" pitchFamily="34" charset="-120"/>
              </a:rPr>
              <a:t>Verses 36 – 37</a:t>
            </a:r>
            <a:endParaRPr lang="en-US" sz="1500" dirty="0"/>
          </a:p>
        </p:txBody>
      </p:sp>
      <p:sp>
        <p:nvSpPr>
          <p:cNvPr id="4" name="Text 2"/>
          <p:cNvSpPr txBox="1"/>
          <p:nvPr/>
        </p:nvSpPr>
        <p:spPr>
          <a:xfrm>
            <a:off x="8732520" y="548640"/>
            <a:ext cx="2651760" cy="384048"/>
          </a:xfrm>
          <a:prstGeom prst="rect">
            <a:avLst/>
          </a:prstGeom>
          <a:noFill/>
          <a:ln/>
        </p:spPr>
        <p:txBody>
          <a:bodyPr wrap="square" lIns="0" tIns="0" rIns="0" bIns="0" rtlCol="0" anchor="ctr"/>
          <a:lstStyle/>
          <a:p>
            <a:pPr algn="r" indent="0" marL="0">
              <a:buNone/>
            </a:pPr>
            <a:r>
              <a:rPr lang="en-US" altLang="en-US" sz="1300" i="1" dirty="0">
                <a:solidFill>
                  <a:schemeClr val="accent4"/>
                </a:solidFill>
                <a:latin typeface="Arial" pitchFamily="34" charset="0"/>
                <a:ea typeface="Arial" pitchFamily="34" charset="-122"/>
                <a:cs typeface="Arial" pitchFamily="34" charset="-120"/>
              </a:rPr>
              <a:t>Ibn Kathir, simplified</a:t>
            </a:r>
            <a:endParaRPr lang="en-US" sz="1300" dirty="0"/>
          </a:p>
        </p:txBody>
      </p:sp>
      <p:sp>
        <p:nvSpPr>
          <p:cNvPr id="5" name="Shape 3"/>
          <p:cNvSpPr/>
          <p:nvPr/>
        </p:nvSpPr>
        <p:spPr>
          <a:xfrm>
            <a:off x="713232" y="1997964"/>
            <a:ext cx="548640" cy="548640"/>
          </a:xfrm>
          <a:prstGeom prst="star8">
            <a:avLst/>
          </a:prstGeom>
          <a:solidFill>
            <a:schemeClr val="accent2"/>
          </a:solidFill>
          <a:ln/>
        </p:spPr>
      </p:sp>
      <p:sp>
        <p:nvSpPr>
          <p:cNvPr id="6" name="Shape 4"/>
          <p:cNvSpPr/>
          <p:nvPr/>
        </p:nvSpPr>
        <p:spPr>
          <a:xfrm>
            <a:off x="822960" y="2107692"/>
            <a:ext cx="329184" cy="329184"/>
          </a:xfrm>
          <a:prstGeom prst="ellipse">
            <a:avLst/>
          </a:prstGeom>
          <a:solidFill>
            <a:schemeClr val="bg2"/>
          </a:solidFill>
          <a:ln w="19050">
            <a:solidFill>
              <a:schemeClr val="tx2"/>
            </a:solidFill>
            <a:prstDash val="solid"/>
          </a:ln>
        </p:spPr>
      </p:sp>
      <p:sp>
        <p:nvSpPr>
          <p:cNvPr id="7" name="Text 5"/>
          <p:cNvSpPr txBox="1"/>
          <p:nvPr/>
        </p:nvSpPr>
        <p:spPr>
          <a:xfrm>
            <a:off x="713232" y="1997964"/>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36</a:t>
            </a:r>
            <a:endParaRPr lang="en-US" sz="1600" dirty="0"/>
          </a:p>
        </p:txBody>
      </p:sp>
      <p:sp>
        <p:nvSpPr>
          <p:cNvPr id="8" name="Text 6"/>
          <p:cNvSpPr txBox="1"/>
          <p:nvPr/>
        </p:nvSpPr>
        <p:spPr>
          <a:xfrm>
            <a:off x="1444752" y="1979676"/>
            <a:ext cx="10012680" cy="1801368"/>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وَإِذَآ أَذَقْنَا النَّاسَ رَحْمَةً فَرِحُواْ بِهَا وَإِن تُصِبْهُمْ سَيِّئَةٌ بِمَا قَدَّمَتْ أَيْدِيهِمْ إِذَا هُمْ يَقْنَطُونَ</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When We let people taste a blessing, they rejoice arrogantly in it, but when a hardship strikes them because of their sins, they lose hope.</a:t>
            </a:r>
            <a:endParaRPr lang="en-US" sz="3000" dirty="0"/>
          </a:p>
        </p:txBody>
      </p:sp>
      <p:sp>
        <p:nvSpPr>
          <p:cNvPr id="9" name="Shape 7"/>
          <p:cNvSpPr/>
          <p:nvPr/>
        </p:nvSpPr>
        <p:spPr>
          <a:xfrm>
            <a:off x="1444752" y="3968496"/>
            <a:ext cx="8641080" cy="0"/>
          </a:xfrm>
          <a:prstGeom prst="line">
            <a:avLst/>
          </a:prstGeom>
          <a:noFill/>
          <a:ln w="9525">
            <a:solidFill>
              <a:schemeClr val="accent2"/>
            </a:solidFill>
            <a:prstDash val="dash"/>
          </a:ln>
        </p:spPr>
      </p:sp>
      <p:sp>
        <p:nvSpPr>
          <p:cNvPr id="10" name="Shape 8"/>
          <p:cNvSpPr/>
          <p:nvPr/>
        </p:nvSpPr>
        <p:spPr>
          <a:xfrm>
            <a:off x="713232" y="4201668"/>
            <a:ext cx="548640" cy="548640"/>
          </a:xfrm>
          <a:prstGeom prst="star8">
            <a:avLst/>
          </a:prstGeom>
          <a:solidFill>
            <a:schemeClr val="accent2"/>
          </a:solidFill>
          <a:ln/>
        </p:spPr>
      </p:sp>
      <p:sp>
        <p:nvSpPr>
          <p:cNvPr id="11" name="Shape 9"/>
          <p:cNvSpPr/>
          <p:nvPr/>
        </p:nvSpPr>
        <p:spPr>
          <a:xfrm>
            <a:off x="822960" y="4311396"/>
            <a:ext cx="329184" cy="329184"/>
          </a:xfrm>
          <a:prstGeom prst="ellipse">
            <a:avLst/>
          </a:prstGeom>
          <a:solidFill>
            <a:schemeClr val="bg2"/>
          </a:solidFill>
          <a:ln w="19050">
            <a:solidFill>
              <a:schemeClr val="tx2"/>
            </a:solidFill>
            <a:prstDash val="solid"/>
          </a:ln>
        </p:spPr>
      </p:sp>
      <p:sp>
        <p:nvSpPr>
          <p:cNvPr id="12" name="Text 10"/>
          <p:cNvSpPr txBox="1"/>
          <p:nvPr/>
        </p:nvSpPr>
        <p:spPr>
          <a:xfrm>
            <a:off x="713232" y="4201668"/>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37</a:t>
            </a:r>
            <a:endParaRPr lang="en-US" sz="1600" dirty="0"/>
          </a:p>
        </p:txBody>
      </p:sp>
      <p:sp>
        <p:nvSpPr>
          <p:cNvPr id="13" name="Text 11"/>
          <p:cNvSpPr txBox="1"/>
          <p:nvPr/>
        </p:nvSpPr>
        <p:spPr>
          <a:xfrm>
            <a:off x="1444752" y="4183380"/>
            <a:ext cx="10012680" cy="1252728"/>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أَوَلَمْ يَرَوْاْ أَنَّ اللَّهَ يَبْسُطُ الرِّزْقَ لِمَن يَشَآءُ وَيَقْدِرُ إِنَّ فِي ذَٰلِكَ لَأيَٰتٍ لِّقَوْمٍ يُؤْمِنُونَ</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Do they not see that Allah gives plenty of provision to whom He wills and gives little? In that are signs for people who believe.</a:t>
            </a:r>
            <a:endParaRPr lang="en-US" sz="3000" dirty="0"/>
          </a:p>
        </p:txBody>
      </p:sp>
      <p:sp>
        <p:nvSpPr>
          <p:cNvPr id="25" name="Slide Number Placeholder 0"/>
          <p:cNvSpPr>
            <a:spLocks noGrp="1"/>
          </p:cNvSpPr>
          <p:nvPr>
            <p:ph type="sldNum" sz="quarter" idx="4294967295"/>
          </p:nvPr>
        </p:nvSpPr>
        <p:spPr>
          <a:xfrm>
            <a:off x="1115568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65</a:t>
            </a:fld>
            <a:endParaRPr lang="en-US"/>
          </a:p>
        </p:txBody>
      </p:sp>
    </p:spTree>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name="Slide 66">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algn="ctr" indent="0" marL="0">
              <a:buNone/>
            </a:pPr>
            <a:r>
              <a:rPr lang="en-US" sz="2400" b="1" dirty="0">
                <a:solidFill>
                  <a:schemeClr val="bg1"/>
                </a:solidFill>
                <a:latin typeface="Georgia" pitchFamily="34" charset="0"/>
                <a:ea typeface="Georgia" pitchFamily="34" charset="-122"/>
                <a:cs typeface="Georgia" pitchFamily="34" charset="-120"/>
              </a:rPr>
              <a:t>Surah Ar-Rum</a:t>
            </a:r>
            <a:endParaRPr lang="en-US" sz="2400" dirty="0"/>
          </a:p>
        </p:txBody>
      </p:sp>
      <p:sp>
        <p:nvSpPr>
          <p:cNvPr id="3" name="Text 1"/>
          <p:cNvSpPr txBox="1"/>
          <p:nvPr/>
        </p:nvSpPr>
        <p:spPr>
          <a:xfrm>
            <a:off x="777240" y="548640"/>
            <a:ext cx="2651760" cy="384048"/>
          </a:xfrm>
          <a:prstGeom prst="rect">
            <a:avLst/>
          </a:prstGeom>
          <a:noFill/>
          <a:ln/>
        </p:spPr>
        <p:txBody>
          <a:bodyPr wrap="square" lIns="0" tIns="0" rIns="0" bIns="0" rtlCol="0" anchor="ctr"/>
          <a:lstStyle/>
          <a:p>
            <a:pPr algn="l" indent="0" marL="0">
              <a:buNone/>
            </a:pPr>
            <a:r>
              <a:rPr lang="en-US" altLang="en-US" sz="1500" b="1" dirty="0">
                <a:solidFill>
                  <a:schemeClr val="accent2"/>
                </a:solidFill>
                <a:latin typeface="Arial" pitchFamily="34" charset="0"/>
                <a:ea typeface="Arial" pitchFamily="34" charset="-122"/>
                <a:cs typeface="Arial" pitchFamily="34" charset="-120"/>
              </a:rPr>
              <a:t>Verses 38 – 39</a:t>
            </a:r>
            <a:endParaRPr lang="en-US" sz="1500" dirty="0"/>
          </a:p>
        </p:txBody>
      </p:sp>
      <p:sp>
        <p:nvSpPr>
          <p:cNvPr id="4" name="Text 2"/>
          <p:cNvSpPr txBox="1"/>
          <p:nvPr/>
        </p:nvSpPr>
        <p:spPr>
          <a:xfrm>
            <a:off x="8732520" y="548640"/>
            <a:ext cx="2651760" cy="384048"/>
          </a:xfrm>
          <a:prstGeom prst="rect">
            <a:avLst/>
          </a:prstGeom>
          <a:noFill/>
          <a:ln/>
        </p:spPr>
        <p:txBody>
          <a:bodyPr wrap="square" lIns="0" tIns="0" rIns="0" bIns="0" rtlCol="0" anchor="ctr"/>
          <a:lstStyle/>
          <a:p>
            <a:pPr algn="r" indent="0" marL="0">
              <a:buNone/>
            </a:pPr>
            <a:r>
              <a:rPr lang="en-US" altLang="en-US" sz="1300" i="1" dirty="0">
                <a:solidFill>
                  <a:schemeClr val="accent4"/>
                </a:solidFill>
                <a:latin typeface="Arial" pitchFamily="34" charset="0"/>
                <a:ea typeface="Arial" pitchFamily="34" charset="-122"/>
                <a:cs typeface="Arial" pitchFamily="34" charset="-120"/>
              </a:rPr>
              <a:t>Ibn Kathir, simplified</a:t>
            </a:r>
            <a:endParaRPr lang="en-US" sz="1300" dirty="0"/>
          </a:p>
        </p:txBody>
      </p:sp>
      <p:sp>
        <p:nvSpPr>
          <p:cNvPr id="5" name="Shape 3"/>
          <p:cNvSpPr/>
          <p:nvPr/>
        </p:nvSpPr>
        <p:spPr>
          <a:xfrm>
            <a:off x="713232" y="1593342"/>
            <a:ext cx="548640" cy="548640"/>
          </a:xfrm>
          <a:prstGeom prst="star8">
            <a:avLst/>
          </a:prstGeom>
          <a:solidFill>
            <a:schemeClr val="accent2"/>
          </a:solidFill>
          <a:ln/>
        </p:spPr>
      </p:sp>
      <p:sp>
        <p:nvSpPr>
          <p:cNvPr id="6" name="Shape 4"/>
          <p:cNvSpPr/>
          <p:nvPr/>
        </p:nvSpPr>
        <p:spPr>
          <a:xfrm>
            <a:off x="822960" y="1703070"/>
            <a:ext cx="329184" cy="329184"/>
          </a:xfrm>
          <a:prstGeom prst="ellipse">
            <a:avLst/>
          </a:prstGeom>
          <a:solidFill>
            <a:schemeClr val="bg2"/>
          </a:solidFill>
          <a:ln w="19050">
            <a:solidFill>
              <a:schemeClr val="tx2"/>
            </a:solidFill>
            <a:prstDash val="solid"/>
          </a:ln>
        </p:spPr>
      </p:sp>
      <p:sp>
        <p:nvSpPr>
          <p:cNvPr id="7" name="Text 5"/>
          <p:cNvSpPr txBox="1"/>
          <p:nvPr/>
        </p:nvSpPr>
        <p:spPr>
          <a:xfrm>
            <a:off x="713232" y="1593342"/>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38</a:t>
            </a:r>
            <a:endParaRPr lang="en-US" sz="1600" dirty="0"/>
          </a:p>
        </p:txBody>
      </p:sp>
      <p:sp>
        <p:nvSpPr>
          <p:cNvPr id="8" name="Text 6"/>
          <p:cNvSpPr txBox="1"/>
          <p:nvPr/>
        </p:nvSpPr>
        <p:spPr>
          <a:xfrm>
            <a:off x="1444752" y="1575054"/>
            <a:ext cx="10012680" cy="1801368"/>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فَـَٔاتِ ذَا الْقُرْبَىٰ حَقَّهُ وَالْمِسْكِينَ وَابْنَ السَّبِيلِ ذَٰلِكَ خَيْرٌ لِّلَّذِينَ يُرِيدُونَ وَجْهَ اللَّهِ وَأُوْلَـٰئِكَ هُمُ الْمُفْلِحُونَ</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So give your relative his right of kindness and keeping ties, and the poor, and the traveller in need. That is best for those who want Allah's pleasure, and they are the successful.</a:t>
            </a:r>
            <a:endParaRPr lang="en-US" sz="3000" dirty="0"/>
          </a:p>
        </p:txBody>
      </p:sp>
      <p:sp>
        <p:nvSpPr>
          <p:cNvPr id="9" name="Shape 7"/>
          <p:cNvSpPr/>
          <p:nvPr/>
        </p:nvSpPr>
        <p:spPr>
          <a:xfrm>
            <a:off x="1444752" y="3563874"/>
            <a:ext cx="8641080" cy="0"/>
          </a:xfrm>
          <a:prstGeom prst="line">
            <a:avLst/>
          </a:prstGeom>
          <a:noFill/>
          <a:ln w="9525">
            <a:solidFill>
              <a:schemeClr val="accent2"/>
            </a:solidFill>
            <a:prstDash val="dash"/>
          </a:ln>
        </p:spPr>
      </p:sp>
      <p:sp>
        <p:nvSpPr>
          <p:cNvPr id="10" name="Shape 8"/>
          <p:cNvSpPr/>
          <p:nvPr/>
        </p:nvSpPr>
        <p:spPr>
          <a:xfrm>
            <a:off x="713232" y="3797046"/>
            <a:ext cx="548640" cy="548640"/>
          </a:xfrm>
          <a:prstGeom prst="star8">
            <a:avLst/>
          </a:prstGeom>
          <a:solidFill>
            <a:schemeClr val="accent2"/>
          </a:solidFill>
          <a:ln/>
        </p:spPr>
      </p:sp>
      <p:sp>
        <p:nvSpPr>
          <p:cNvPr id="11" name="Shape 9"/>
          <p:cNvSpPr/>
          <p:nvPr/>
        </p:nvSpPr>
        <p:spPr>
          <a:xfrm>
            <a:off x="822960" y="3906774"/>
            <a:ext cx="329184" cy="329184"/>
          </a:xfrm>
          <a:prstGeom prst="ellipse">
            <a:avLst/>
          </a:prstGeom>
          <a:solidFill>
            <a:schemeClr val="bg2"/>
          </a:solidFill>
          <a:ln w="19050">
            <a:solidFill>
              <a:schemeClr val="tx2"/>
            </a:solidFill>
            <a:prstDash val="solid"/>
          </a:ln>
        </p:spPr>
      </p:sp>
      <p:sp>
        <p:nvSpPr>
          <p:cNvPr id="12" name="Text 10"/>
          <p:cNvSpPr txBox="1"/>
          <p:nvPr/>
        </p:nvSpPr>
        <p:spPr>
          <a:xfrm>
            <a:off x="713232" y="3797046"/>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39</a:t>
            </a:r>
            <a:endParaRPr lang="en-US" sz="1600" dirty="0"/>
          </a:p>
        </p:txBody>
      </p:sp>
      <p:sp>
        <p:nvSpPr>
          <p:cNvPr id="13" name="Text 11"/>
          <p:cNvSpPr txBox="1"/>
          <p:nvPr/>
        </p:nvSpPr>
        <p:spPr>
          <a:xfrm>
            <a:off x="1444752" y="3778758"/>
            <a:ext cx="10012680" cy="2061972"/>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وَمَآ ءَاتَيْتُم مِّن رِّبًا لِّيَرْبُوَاْ فِي أَمْوَٰلِ النَّاسِ فَلَا يَرْبُواْ عِندَ اللَّهِ وَمَآ ءَاتَيْتُم مِّن زَكَوٰةٍ تُرِيدُونَ وَجْهَ اللَّهِ فَأُوْلَـٰئِكَ هُمُ الْمُضْعِفُونَ</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Whatever you give in riba to increase your wealth from other people's wealth does not increase with Allah. But whatever you give in zakah, wanting Allah's pleasure, those are the ones whose reward is multiplied.</a:t>
            </a:r>
            <a:endParaRPr lang="en-US" sz="3000" dirty="0"/>
          </a:p>
        </p:txBody>
      </p:sp>
      <p:sp>
        <p:nvSpPr>
          <p:cNvPr id="25" name="Slide Number Placeholder 0"/>
          <p:cNvSpPr>
            <a:spLocks noGrp="1"/>
          </p:cNvSpPr>
          <p:nvPr>
            <p:ph type="sldNum" sz="quarter" idx="4294967295"/>
          </p:nvPr>
        </p:nvSpPr>
        <p:spPr>
          <a:xfrm>
            <a:off x="1115568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66</a:t>
            </a:fld>
            <a:endParaRPr lang="en-US"/>
          </a:p>
        </p:txBody>
      </p:sp>
    </p:spTree>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name="Slide 67">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algn="ctr" indent="0" marL="0">
              <a:buNone/>
            </a:pPr>
            <a:r>
              <a:rPr lang="en-US" sz="2400" b="1" dirty="0">
                <a:solidFill>
                  <a:schemeClr val="bg1"/>
                </a:solidFill>
                <a:latin typeface="Georgia" pitchFamily="34" charset="0"/>
                <a:ea typeface="Georgia" pitchFamily="34" charset="-122"/>
                <a:cs typeface="Georgia" pitchFamily="34" charset="-120"/>
              </a:rPr>
              <a:t>Surah Ar-Rum</a:t>
            </a:r>
            <a:endParaRPr lang="en-US" sz="2400" dirty="0"/>
          </a:p>
        </p:txBody>
      </p:sp>
      <p:sp>
        <p:nvSpPr>
          <p:cNvPr id="3" name="Text 1"/>
          <p:cNvSpPr txBox="1"/>
          <p:nvPr/>
        </p:nvSpPr>
        <p:spPr>
          <a:xfrm>
            <a:off x="777240" y="548640"/>
            <a:ext cx="2651760" cy="384048"/>
          </a:xfrm>
          <a:prstGeom prst="rect">
            <a:avLst/>
          </a:prstGeom>
          <a:noFill/>
          <a:ln/>
        </p:spPr>
        <p:txBody>
          <a:bodyPr wrap="square" lIns="0" tIns="0" rIns="0" bIns="0" rtlCol="0" anchor="ctr"/>
          <a:lstStyle/>
          <a:p>
            <a:pPr algn="l" indent="0" marL="0">
              <a:buNone/>
            </a:pPr>
            <a:r>
              <a:rPr lang="en-US" altLang="en-US" sz="1500" b="1" dirty="0">
                <a:solidFill>
                  <a:schemeClr val="accent2"/>
                </a:solidFill>
                <a:latin typeface="Arial" pitchFamily="34" charset="0"/>
                <a:ea typeface="Arial" pitchFamily="34" charset="-122"/>
                <a:cs typeface="Arial" pitchFamily="34" charset="-120"/>
              </a:rPr>
              <a:t>Verses 40 – 41</a:t>
            </a:r>
            <a:endParaRPr lang="en-US" sz="1500" dirty="0"/>
          </a:p>
        </p:txBody>
      </p:sp>
      <p:sp>
        <p:nvSpPr>
          <p:cNvPr id="4" name="Text 2"/>
          <p:cNvSpPr txBox="1"/>
          <p:nvPr/>
        </p:nvSpPr>
        <p:spPr>
          <a:xfrm>
            <a:off x="8732520" y="548640"/>
            <a:ext cx="2651760" cy="384048"/>
          </a:xfrm>
          <a:prstGeom prst="rect">
            <a:avLst/>
          </a:prstGeom>
          <a:noFill/>
          <a:ln/>
        </p:spPr>
        <p:txBody>
          <a:bodyPr wrap="square" lIns="0" tIns="0" rIns="0" bIns="0" rtlCol="0" anchor="ctr"/>
          <a:lstStyle/>
          <a:p>
            <a:pPr algn="r" indent="0" marL="0">
              <a:buNone/>
            </a:pPr>
            <a:r>
              <a:rPr lang="en-US" altLang="en-US" sz="1300" i="1" dirty="0">
                <a:solidFill>
                  <a:schemeClr val="accent4"/>
                </a:solidFill>
                <a:latin typeface="Arial" pitchFamily="34" charset="0"/>
                <a:ea typeface="Arial" pitchFamily="34" charset="-122"/>
                <a:cs typeface="Arial" pitchFamily="34" charset="-120"/>
              </a:rPr>
              <a:t>Ibn Kathir, simplified</a:t>
            </a:r>
            <a:endParaRPr lang="en-US" sz="1300" dirty="0"/>
          </a:p>
        </p:txBody>
      </p:sp>
      <p:sp>
        <p:nvSpPr>
          <p:cNvPr id="5" name="Shape 3"/>
          <p:cNvSpPr/>
          <p:nvPr/>
        </p:nvSpPr>
        <p:spPr>
          <a:xfrm>
            <a:off x="713232" y="1463040"/>
            <a:ext cx="548640" cy="548640"/>
          </a:xfrm>
          <a:prstGeom prst="star8">
            <a:avLst/>
          </a:prstGeom>
          <a:solidFill>
            <a:schemeClr val="accent2"/>
          </a:solidFill>
          <a:ln/>
        </p:spPr>
      </p:sp>
      <p:sp>
        <p:nvSpPr>
          <p:cNvPr id="6" name="Shape 4"/>
          <p:cNvSpPr/>
          <p:nvPr/>
        </p:nvSpPr>
        <p:spPr>
          <a:xfrm>
            <a:off x="822960" y="1572768"/>
            <a:ext cx="329184" cy="329184"/>
          </a:xfrm>
          <a:prstGeom prst="ellipse">
            <a:avLst/>
          </a:prstGeom>
          <a:solidFill>
            <a:schemeClr val="bg2"/>
          </a:solidFill>
          <a:ln w="19050">
            <a:solidFill>
              <a:schemeClr val="tx2"/>
            </a:solidFill>
            <a:prstDash val="solid"/>
          </a:ln>
        </p:spPr>
      </p:sp>
      <p:sp>
        <p:nvSpPr>
          <p:cNvPr id="7" name="Text 5"/>
          <p:cNvSpPr txBox="1"/>
          <p:nvPr/>
        </p:nvSpPr>
        <p:spPr>
          <a:xfrm>
            <a:off x="713232" y="1463040"/>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40</a:t>
            </a:r>
            <a:endParaRPr lang="en-US" sz="1600" dirty="0"/>
          </a:p>
        </p:txBody>
      </p:sp>
      <p:sp>
        <p:nvSpPr>
          <p:cNvPr id="8" name="Text 6"/>
          <p:cNvSpPr txBox="1"/>
          <p:nvPr/>
        </p:nvSpPr>
        <p:spPr>
          <a:xfrm>
            <a:off x="1444752" y="1444752"/>
            <a:ext cx="10012680" cy="2061972"/>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اللَّهُ الَّذِي خَلَقَكُمْ ثُمَّ رَزَقَكُمْ ثُمَّ يُمِيتُكُمْ ثُمَّ يُحْيِيكُمْ هَلْ مِن شُرَكَآئِكُم مَّن يَفْعَلُ مِن ذَٰلِكُم مِّن شَيْءٍ سُبْحَٰنَهُ وَتَعَٰلَىٰ عَمَّا يُشْرِكُونَ</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Allah is the One who created you, then provided for you, then will cause you to die, then will give you life. Can any of your gods do any of that? Glory be to Him, high above what they associate with Him.</a:t>
            </a:r>
            <a:endParaRPr lang="en-US" sz="3000" dirty="0"/>
          </a:p>
        </p:txBody>
      </p:sp>
      <p:sp>
        <p:nvSpPr>
          <p:cNvPr id="9" name="Shape 7"/>
          <p:cNvSpPr/>
          <p:nvPr/>
        </p:nvSpPr>
        <p:spPr>
          <a:xfrm>
            <a:off x="1444752" y="3694176"/>
            <a:ext cx="8641080" cy="0"/>
          </a:xfrm>
          <a:prstGeom prst="line">
            <a:avLst/>
          </a:prstGeom>
          <a:noFill/>
          <a:ln w="9525">
            <a:solidFill>
              <a:schemeClr val="accent2"/>
            </a:solidFill>
            <a:prstDash val="dash"/>
          </a:ln>
        </p:spPr>
      </p:sp>
      <p:sp>
        <p:nvSpPr>
          <p:cNvPr id="10" name="Shape 8"/>
          <p:cNvSpPr/>
          <p:nvPr/>
        </p:nvSpPr>
        <p:spPr>
          <a:xfrm>
            <a:off x="713232" y="3927348"/>
            <a:ext cx="548640" cy="548640"/>
          </a:xfrm>
          <a:prstGeom prst="star8">
            <a:avLst/>
          </a:prstGeom>
          <a:solidFill>
            <a:schemeClr val="accent2"/>
          </a:solidFill>
          <a:ln/>
        </p:spPr>
      </p:sp>
      <p:sp>
        <p:nvSpPr>
          <p:cNvPr id="11" name="Shape 9"/>
          <p:cNvSpPr/>
          <p:nvPr/>
        </p:nvSpPr>
        <p:spPr>
          <a:xfrm>
            <a:off x="822960" y="4037076"/>
            <a:ext cx="329184" cy="329184"/>
          </a:xfrm>
          <a:prstGeom prst="ellipse">
            <a:avLst/>
          </a:prstGeom>
          <a:solidFill>
            <a:schemeClr val="bg2"/>
          </a:solidFill>
          <a:ln w="19050">
            <a:solidFill>
              <a:schemeClr val="tx2"/>
            </a:solidFill>
            <a:prstDash val="solid"/>
          </a:ln>
        </p:spPr>
      </p:sp>
      <p:sp>
        <p:nvSpPr>
          <p:cNvPr id="12" name="Text 10"/>
          <p:cNvSpPr txBox="1"/>
          <p:nvPr/>
        </p:nvSpPr>
        <p:spPr>
          <a:xfrm>
            <a:off x="713232" y="3927348"/>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41</a:t>
            </a:r>
            <a:endParaRPr lang="en-US" sz="1600" dirty="0"/>
          </a:p>
        </p:txBody>
      </p:sp>
      <p:sp>
        <p:nvSpPr>
          <p:cNvPr id="13" name="Text 11"/>
          <p:cNvSpPr txBox="1"/>
          <p:nvPr/>
        </p:nvSpPr>
        <p:spPr>
          <a:xfrm>
            <a:off x="1444752" y="3909060"/>
            <a:ext cx="10012680" cy="2061972"/>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ظَهَرَ الْفَسَادُ فِي الْبَرِّ وَالْبَحْرِ بِمَا كَسَبَتْ أَيْدِي النَّاسِ لِيُذِيقَهُم بَعْضَ الَّذِي عَمِلُواْ لَعَلَّهُمْ يَرْجِعُونَ</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Corruption has appeared on land and sea, like drought and less good, because of what people's sins have earned, so that Allah may let them taste the result of some of their deeds, and they may turn back from them.</a:t>
            </a:r>
            <a:endParaRPr lang="en-US" sz="3000" dirty="0"/>
          </a:p>
        </p:txBody>
      </p:sp>
      <p:sp>
        <p:nvSpPr>
          <p:cNvPr id="25" name="Slide Number Placeholder 0"/>
          <p:cNvSpPr>
            <a:spLocks noGrp="1"/>
          </p:cNvSpPr>
          <p:nvPr>
            <p:ph type="sldNum" sz="quarter" idx="4294967295"/>
          </p:nvPr>
        </p:nvSpPr>
        <p:spPr>
          <a:xfrm>
            <a:off x="1115568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67</a:t>
            </a:fld>
            <a:endParaRPr lang="en-US"/>
          </a:p>
        </p:txBody>
      </p:sp>
    </p:spTree>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name="Slide 68">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algn="ctr" indent="0" marL="0">
              <a:buNone/>
            </a:pPr>
            <a:r>
              <a:rPr lang="en-US" sz="2400" b="1" dirty="0">
                <a:solidFill>
                  <a:schemeClr val="bg1"/>
                </a:solidFill>
                <a:latin typeface="Georgia" pitchFamily="34" charset="0"/>
                <a:ea typeface="Georgia" pitchFamily="34" charset="-122"/>
                <a:cs typeface="Georgia" pitchFamily="34" charset="-120"/>
              </a:rPr>
              <a:t>Surah Ar-Rum</a:t>
            </a:r>
            <a:endParaRPr lang="en-US" sz="2400" dirty="0"/>
          </a:p>
        </p:txBody>
      </p:sp>
      <p:sp>
        <p:nvSpPr>
          <p:cNvPr id="3" name="Text 1"/>
          <p:cNvSpPr txBox="1"/>
          <p:nvPr/>
        </p:nvSpPr>
        <p:spPr>
          <a:xfrm>
            <a:off x="777240" y="548640"/>
            <a:ext cx="2651760" cy="384048"/>
          </a:xfrm>
          <a:prstGeom prst="rect">
            <a:avLst/>
          </a:prstGeom>
          <a:noFill/>
          <a:ln/>
        </p:spPr>
        <p:txBody>
          <a:bodyPr wrap="square" lIns="0" tIns="0" rIns="0" bIns="0" rtlCol="0" anchor="ctr"/>
          <a:lstStyle/>
          <a:p>
            <a:pPr algn="l" indent="0" marL="0">
              <a:buNone/>
            </a:pPr>
            <a:r>
              <a:rPr lang="en-US" altLang="en-US" sz="1500" b="1" dirty="0">
                <a:solidFill>
                  <a:schemeClr val="accent2"/>
                </a:solidFill>
                <a:latin typeface="Arial" pitchFamily="34" charset="0"/>
                <a:ea typeface="Arial" pitchFamily="34" charset="-122"/>
                <a:cs typeface="Arial" pitchFamily="34" charset="-120"/>
              </a:rPr>
              <a:t>Verses 42 – 44</a:t>
            </a:r>
            <a:endParaRPr lang="en-US" sz="1500" dirty="0"/>
          </a:p>
        </p:txBody>
      </p:sp>
      <p:sp>
        <p:nvSpPr>
          <p:cNvPr id="4" name="Text 2"/>
          <p:cNvSpPr txBox="1"/>
          <p:nvPr/>
        </p:nvSpPr>
        <p:spPr>
          <a:xfrm>
            <a:off x="8732520" y="548640"/>
            <a:ext cx="2651760" cy="384048"/>
          </a:xfrm>
          <a:prstGeom prst="rect">
            <a:avLst/>
          </a:prstGeom>
          <a:noFill/>
          <a:ln/>
        </p:spPr>
        <p:txBody>
          <a:bodyPr wrap="square" lIns="0" tIns="0" rIns="0" bIns="0" rtlCol="0" anchor="ctr"/>
          <a:lstStyle/>
          <a:p>
            <a:pPr algn="r" indent="0" marL="0">
              <a:buNone/>
            </a:pPr>
            <a:r>
              <a:rPr lang="en-US" altLang="en-US" sz="1300" i="1" dirty="0">
                <a:solidFill>
                  <a:schemeClr val="accent4"/>
                </a:solidFill>
                <a:latin typeface="Arial" pitchFamily="34" charset="0"/>
                <a:ea typeface="Arial" pitchFamily="34" charset="-122"/>
                <a:cs typeface="Arial" pitchFamily="34" charset="-120"/>
              </a:rPr>
              <a:t>Ibn Kathir, simplified</a:t>
            </a:r>
            <a:endParaRPr lang="en-US" sz="1300" dirty="0"/>
          </a:p>
        </p:txBody>
      </p:sp>
      <p:sp>
        <p:nvSpPr>
          <p:cNvPr id="5" name="Shape 3"/>
          <p:cNvSpPr/>
          <p:nvPr/>
        </p:nvSpPr>
        <p:spPr>
          <a:xfrm>
            <a:off x="713232" y="1362456"/>
            <a:ext cx="548640" cy="548640"/>
          </a:xfrm>
          <a:prstGeom prst="star8">
            <a:avLst/>
          </a:prstGeom>
          <a:solidFill>
            <a:schemeClr val="accent2"/>
          </a:solidFill>
          <a:ln/>
        </p:spPr>
      </p:sp>
      <p:sp>
        <p:nvSpPr>
          <p:cNvPr id="6" name="Shape 4"/>
          <p:cNvSpPr/>
          <p:nvPr/>
        </p:nvSpPr>
        <p:spPr>
          <a:xfrm>
            <a:off x="822960" y="1472184"/>
            <a:ext cx="329184" cy="329184"/>
          </a:xfrm>
          <a:prstGeom prst="ellipse">
            <a:avLst/>
          </a:prstGeom>
          <a:solidFill>
            <a:schemeClr val="bg2"/>
          </a:solidFill>
          <a:ln w="19050">
            <a:solidFill>
              <a:schemeClr val="tx2"/>
            </a:solidFill>
            <a:prstDash val="solid"/>
          </a:ln>
        </p:spPr>
      </p:sp>
      <p:sp>
        <p:nvSpPr>
          <p:cNvPr id="7" name="Text 5"/>
          <p:cNvSpPr txBox="1"/>
          <p:nvPr/>
        </p:nvSpPr>
        <p:spPr>
          <a:xfrm>
            <a:off x="713232" y="1362456"/>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42</a:t>
            </a:r>
            <a:endParaRPr lang="en-US" sz="1600" dirty="0"/>
          </a:p>
        </p:txBody>
      </p:sp>
      <p:sp>
        <p:nvSpPr>
          <p:cNvPr id="8" name="Text 6"/>
          <p:cNvSpPr txBox="1"/>
          <p:nvPr/>
        </p:nvSpPr>
        <p:spPr>
          <a:xfrm>
            <a:off x="1444752" y="1344168"/>
            <a:ext cx="10012680" cy="1801368"/>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قُلْ سِيرُواْ فِي الْأَرْضِ فَانظُرُواْ كَيْفَ كَانَ عَٰقِبَةُ الَّذِينَ مِن قَبْلُ كَانَ أَكْثَرُهُم مُّشْرِكِينَ</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Say: Travel through the land and see what the end of the nations before you was. Most of them were idol-worshippers.</a:t>
            </a:r>
            <a:endParaRPr lang="en-US" sz="3000" dirty="0"/>
          </a:p>
        </p:txBody>
      </p:sp>
      <p:sp>
        <p:nvSpPr>
          <p:cNvPr id="9" name="Shape 7"/>
          <p:cNvSpPr/>
          <p:nvPr/>
        </p:nvSpPr>
        <p:spPr>
          <a:xfrm>
            <a:off x="1444752" y="3236976"/>
            <a:ext cx="8641080" cy="0"/>
          </a:xfrm>
          <a:prstGeom prst="line">
            <a:avLst/>
          </a:prstGeom>
          <a:noFill/>
          <a:ln w="9525">
            <a:solidFill>
              <a:schemeClr val="accent2"/>
            </a:solidFill>
            <a:prstDash val="dash"/>
          </a:ln>
        </p:spPr>
      </p:sp>
      <p:sp>
        <p:nvSpPr>
          <p:cNvPr id="10" name="Shape 8"/>
          <p:cNvSpPr/>
          <p:nvPr/>
        </p:nvSpPr>
        <p:spPr>
          <a:xfrm>
            <a:off x="713232" y="3374136"/>
            <a:ext cx="548640" cy="548640"/>
          </a:xfrm>
          <a:prstGeom prst="star8">
            <a:avLst/>
          </a:prstGeom>
          <a:solidFill>
            <a:schemeClr val="accent2"/>
          </a:solidFill>
          <a:ln/>
        </p:spPr>
      </p:sp>
      <p:sp>
        <p:nvSpPr>
          <p:cNvPr id="11" name="Shape 9"/>
          <p:cNvSpPr/>
          <p:nvPr/>
        </p:nvSpPr>
        <p:spPr>
          <a:xfrm>
            <a:off x="822960" y="3483864"/>
            <a:ext cx="329184" cy="329184"/>
          </a:xfrm>
          <a:prstGeom prst="ellipse">
            <a:avLst/>
          </a:prstGeom>
          <a:solidFill>
            <a:schemeClr val="bg2"/>
          </a:solidFill>
          <a:ln w="19050">
            <a:solidFill>
              <a:schemeClr val="tx2"/>
            </a:solidFill>
            <a:prstDash val="solid"/>
          </a:ln>
        </p:spPr>
      </p:sp>
      <p:sp>
        <p:nvSpPr>
          <p:cNvPr id="12" name="Text 10"/>
          <p:cNvSpPr txBox="1"/>
          <p:nvPr/>
        </p:nvSpPr>
        <p:spPr>
          <a:xfrm>
            <a:off x="713232" y="3374136"/>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43</a:t>
            </a:r>
            <a:endParaRPr lang="en-US" sz="1600" dirty="0"/>
          </a:p>
        </p:txBody>
      </p:sp>
      <p:sp>
        <p:nvSpPr>
          <p:cNvPr id="13" name="Text 11"/>
          <p:cNvSpPr txBox="1"/>
          <p:nvPr/>
        </p:nvSpPr>
        <p:spPr>
          <a:xfrm>
            <a:off x="1444752" y="3355848"/>
            <a:ext cx="10012680" cy="1252728"/>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فَأَقِمْ وَجْهَكَ لِلدِّينِ الْقَيِّمِ مِن قَبْلِ أَن يَأْتِيَ يَوْمٌ لَّا مَرَدَّ لَهُ مِنَ اللَّهِ يَوْمَئِذٍ يَصَّدَّعُونَ</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So turn your face to the straight religion before a Day comes from Allah that no one can turn back. On that Day people will be split into two groups.</a:t>
            </a:r>
            <a:endParaRPr lang="en-US" sz="3000" dirty="0"/>
          </a:p>
        </p:txBody>
      </p:sp>
      <p:sp>
        <p:nvSpPr>
          <p:cNvPr id="14" name="Shape 12"/>
          <p:cNvSpPr/>
          <p:nvPr/>
        </p:nvSpPr>
        <p:spPr>
          <a:xfrm>
            <a:off x="1444752" y="4700016"/>
            <a:ext cx="8641080" cy="0"/>
          </a:xfrm>
          <a:prstGeom prst="line">
            <a:avLst/>
          </a:prstGeom>
          <a:noFill/>
          <a:ln w="9525">
            <a:solidFill>
              <a:schemeClr val="accent2"/>
            </a:solidFill>
            <a:prstDash val="dash"/>
          </a:ln>
        </p:spPr>
      </p:sp>
      <p:sp>
        <p:nvSpPr>
          <p:cNvPr id="15" name="Shape 13"/>
          <p:cNvSpPr/>
          <p:nvPr/>
        </p:nvSpPr>
        <p:spPr>
          <a:xfrm>
            <a:off x="713232" y="4837176"/>
            <a:ext cx="548640" cy="548640"/>
          </a:xfrm>
          <a:prstGeom prst="star8">
            <a:avLst/>
          </a:prstGeom>
          <a:solidFill>
            <a:schemeClr val="accent2"/>
          </a:solidFill>
          <a:ln/>
        </p:spPr>
      </p:sp>
      <p:sp>
        <p:nvSpPr>
          <p:cNvPr id="16" name="Shape 14"/>
          <p:cNvSpPr/>
          <p:nvPr/>
        </p:nvSpPr>
        <p:spPr>
          <a:xfrm>
            <a:off x="822960" y="4946904"/>
            <a:ext cx="329184" cy="329184"/>
          </a:xfrm>
          <a:prstGeom prst="ellipse">
            <a:avLst/>
          </a:prstGeom>
          <a:solidFill>
            <a:schemeClr val="bg2"/>
          </a:solidFill>
          <a:ln w="19050">
            <a:solidFill>
              <a:schemeClr val="tx2"/>
            </a:solidFill>
            <a:prstDash val="solid"/>
          </a:ln>
        </p:spPr>
      </p:sp>
      <p:sp>
        <p:nvSpPr>
          <p:cNvPr id="17" name="Text 15"/>
          <p:cNvSpPr txBox="1"/>
          <p:nvPr/>
        </p:nvSpPr>
        <p:spPr>
          <a:xfrm>
            <a:off x="713232" y="4837176"/>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44</a:t>
            </a:r>
            <a:endParaRPr lang="en-US" sz="1600" dirty="0"/>
          </a:p>
        </p:txBody>
      </p:sp>
      <p:sp>
        <p:nvSpPr>
          <p:cNvPr id="18" name="Text 16"/>
          <p:cNvSpPr txBox="1"/>
          <p:nvPr/>
        </p:nvSpPr>
        <p:spPr>
          <a:xfrm>
            <a:off x="1444752" y="4818888"/>
            <a:ext cx="10012680" cy="1252728"/>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مَن كَفَرَ فَعَلَيْهِ كُفْرُهُ وَمَنْ عَمِلَ صَٰلِحًا فَلِأَنفُسِهِمْ يَمْهَدُونَ</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Whoever disbelieves will carry the harm of his disbelief, and whoever does good is preparing his own place in Paradise,</a:t>
            </a:r>
            <a:endParaRPr lang="en-US" sz="3000" dirty="0"/>
          </a:p>
        </p:txBody>
      </p:sp>
      <p:sp>
        <p:nvSpPr>
          <p:cNvPr id="25" name="Slide Number Placeholder 0"/>
          <p:cNvSpPr>
            <a:spLocks noGrp="1"/>
          </p:cNvSpPr>
          <p:nvPr>
            <p:ph type="sldNum" sz="quarter" idx="4294967295"/>
          </p:nvPr>
        </p:nvSpPr>
        <p:spPr>
          <a:xfrm>
            <a:off x="1115568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68</a:t>
            </a:fld>
            <a:endParaRPr lang="en-US"/>
          </a:p>
        </p:txBody>
      </p:sp>
    </p:spTree>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name="Slide 69">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algn="ctr" indent="0" marL="0">
              <a:buNone/>
            </a:pPr>
            <a:r>
              <a:rPr lang="en-US" sz="2400" b="1" dirty="0">
                <a:solidFill>
                  <a:schemeClr val="bg1"/>
                </a:solidFill>
                <a:latin typeface="Georgia" pitchFamily="34" charset="0"/>
                <a:ea typeface="Georgia" pitchFamily="34" charset="-122"/>
                <a:cs typeface="Georgia" pitchFamily="34" charset="-120"/>
              </a:rPr>
              <a:t>Surah Ar-Rum</a:t>
            </a:r>
            <a:endParaRPr lang="en-US" sz="2400" dirty="0"/>
          </a:p>
        </p:txBody>
      </p:sp>
      <p:sp>
        <p:nvSpPr>
          <p:cNvPr id="3" name="Text 1"/>
          <p:cNvSpPr txBox="1"/>
          <p:nvPr/>
        </p:nvSpPr>
        <p:spPr>
          <a:xfrm>
            <a:off x="777240" y="548640"/>
            <a:ext cx="2651760" cy="384048"/>
          </a:xfrm>
          <a:prstGeom prst="rect">
            <a:avLst/>
          </a:prstGeom>
          <a:noFill/>
          <a:ln/>
        </p:spPr>
        <p:txBody>
          <a:bodyPr wrap="square" lIns="0" tIns="0" rIns="0" bIns="0" rtlCol="0" anchor="ctr"/>
          <a:lstStyle/>
          <a:p>
            <a:pPr algn="l" indent="0" marL="0">
              <a:buNone/>
            </a:pPr>
            <a:r>
              <a:rPr lang="en-US" altLang="en-US" sz="1500" b="1" dirty="0">
                <a:solidFill>
                  <a:schemeClr val="accent2"/>
                </a:solidFill>
                <a:latin typeface="Arial" pitchFamily="34" charset="0"/>
                <a:ea typeface="Arial" pitchFamily="34" charset="-122"/>
                <a:cs typeface="Arial" pitchFamily="34" charset="-120"/>
              </a:rPr>
              <a:t>Verses 45 – 46</a:t>
            </a:r>
            <a:endParaRPr lang="en-US" sz="1500" dirty="0"/>
          </a:p>
        </p:txBody>
      </p:sp>
      <p:sp>
        <p:nvSpPr>
          <p:cNvPr id="4" name="Text 2"/>
          <p:cNvSpPr txBox="1"/>
          <p:nvPr/>
        </p:nvSpPr>
        <p:spPr>
          <a:xfrm>
            <a:off x="8732520" y="548640"/>
            <a:ext cx="2651760" cy="384048"/>
          </a:xfrm>
          <a:prstGeom prst="rect">
            <a:avLst/>
          </a:prstGeom>
          <a:noFill/>
          <a:ln/>
        </p:spPr>
        <p:txBody>
          <a:bodyPr wrap="square" lIns="0" tIns="0" rIns="0" bIns="0" rtlCol="0" anchor="ctr"/>
          <a:lstStyle/>
          <a:p>
            <a:pPr algn="r" indent="0" marL="0">
              <a:buNone/>
            </a:pPr>
            <a:r>
              <a:rPr lang="en-US" altLang="en-US" sz="1300" i="1" dirty="0">
                <a:solidFill>
                  <a:schemeClr val="accent4"/>
                </a:solidFill>
                <a:latin typeface="Arial" pitchFamily="34" charset="0"/>
                <a:ea typeface="Arial" pitchFamily="34" charset="-122"/>
                <a:cs typeface="Arial" pitchFamily="34" charset="-120"/>
              </a:rPr>
              <a:t>Ibn Kathir, simplified</a:t>
            </a:r>
            <a:endParaRPr lang="en-US" sz="1300" dirty="0"/>
          </a:p>
        </p:txBody>
      </p:sp>
      <p:sp>
        <p:nvSpPr>
          <p:cNvPr id="5" name="Shape 3"/>
          <p:cNvSpPr/>
          <p:nvPr/>
        </p:nvSpPr>
        <p:spPr>
          <a:xfrm>
            <a:off x="713232" y="2128266"/>
            <a:ext cx="548640" cy="548640"/>
          </a:xfrm>
          <a:prstGeom prst="star8">
            <a:avLst/>
          </a:prstGeom>
          <a:solidFill>
            <a:schemeClr val="accent2"/>
          </a:solidFill>
          <a:ln/>
        </p:spPr>
      </p:sp>
      <p:sp>
        <p:nvSpPr>
          <p:cNvPr id="6" name="Shape 4"/>
          <p:cNvSpPr/>
          <p:nvPr/>
        </p:nvSpPr>
        <p:spPr>
          <a:xfrm>
            <a:off x="822960" y="2237994"/>
            <a:ext cx="329184" cy="329184"/>
          </a:xfrm>
          <a:prstGeom prst="ellipse">
            <a:avLst/>
          </a:prstGeom>
          <a:solidFill>
            <a:schemeClr val="bg2"/>
          </a:solidFill>
          <a:ln w="19050">
            <a:solidFill>
              <a:schemeClr val="tx2"/>
            </a:solidFill>
            <a:prstDash val="solid"/>
          </a:ln>
        </p:spPr>
      </p:sp>
      <p:sp>
        <p:nvSpPr>
          <p:cNvPr id="7" name="Text 5"/>
          <p:cNvSpPr txBox="1"/>
          <p:nvPr/>
        </p:nvSpPr>
        <p:spPr>
          <a:xfrm>
            <a:off x="713232" y="2128266"/>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45</a:t>
            </a:r>
            <a:endParaRPr lang="en-US" sz="1600" dirty="0"/>
          </a:p>
        </p:txBody>
      </p:sp>
      <p:sp>
        <p:nvSpPr>
          <p:cNvPr id="8" name="Text 6"/>
          <p:cNvSpPr txBox="1"/>
          <p:nvPr/>
        </p:nvSpPr>
        <p:spPr>
          <a:xfrm>
            <a:off x="1444752" y="2109978"/>
            <a:ext cx="10012680" cy="992124"/>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لِيَجْزِيَ الَّذِينَ ءَامَنُواْ وَعَمِلُواْ الصَّـٰلِحَٰتِ مِن فَضْلِهِ إِنَّهُ لَا يُحِبُّ الْكَٰفِرِينَ</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so that Allah may reward the righteous believers from His favour. He does not love the disbelievers.</a:t>
            </a:r>
            <a:endParaRPr lang="en-US" sz="3000" dirty="0"/>
          </a:p>
        </p:txBody>
      </p:sp>
      <p:sp>
        <p:nvSpPr>
          <p:cNvPr id="9" name="Shape 7"/>
          <p:cNvSpPr/>
          <p:nvPr/>
        </p:nvSpPr>
        <p:spPr>
          <a:xfrm>
            <a:off x="1444752" y="3289554"/>
            <a:ext cx="8641080" cy="0"/>
          </a:xfrm>
          <a:prstGeom prst="line">
            <a:avLst/>
          </a:prstGeom>
          <a:noFill/>
          <a:ln w="9525">
            <a:solidFill>
              <a:schemeClr val="accent2"/>
            </a:solidFill>
            <a:prstDash val="dash"/>
          </a:ln>
        </p:spPr>
      </p:sp>
      <p:sp>
        <p:nvSpPr>
          <p:cNvPr id="10" name="Shape 8"/>
          <p:cNvSpPr/>
          <p:nvPr/>
        </p:nvSpPr>
        <p:spPr>
          <a:xfrm>
            <a:off x="713232" y="3522726"/>
            <a:ext cx="548640" cy="548640"/>
          </a:xfrm>
          <a:prstGeom prst="star8">
            <a:avLst/>
          </a:prstGeom>
          <a:solidFill>
            <a:schemeClr val="accent2"/>
          </a:solidFill>
          <a:ln/>
        </p:spPr>
      </p:sp>
      <p:sp>
        <p:nvSpPr>
          <p:cNvPr id="11" name="Shape 9"/>
          <p:cNvSpPr/>
          <p:nvPr/>
        </p:nvSpPr>
        <p:spPr>
          <a:xfrm>
            <a:off x="822960" y="3632454"/>
            <a:ext cx="329184" cy="329184"/>
          </a:xfrm>
          <a:prstGeom prst="ellipse">
            <a:avLst/>
          </a:prstGeom>
          <a:solidFill>
            <a:schemeClr val="bg2"/>
          </a:solidFill>
          <a:ln w="19050">
            <a:solidFill>
              <a:schemeClr val="tx2"/>
            </a:solidFill>
            <a:prstDash val="solid"/>
          </a:ln>
        </p:spPr>
      </p:sp>
      <p:sp>
        <p:nvSpPr>
          <p:cNvPr id="12" name="Text 10"/>
          <p:cNvSpPr txBox="1"/>
          <p:nvPr/>
        </p:nvSpPr>
        <p:spPr>
          <a:xfrm>
            <a:off x="713232" y="3522726"/>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46</a:t>
            </a:r>
            <a:endParaRPr lang="en-US" sz="1600" dirty="0"/>
          </a:p>
        </p:txBody>
      </p:sp>
      <p:sp>
        <p:nvSpPr>
          <p:cNvPr id="13" name="Text 11"/>
          <p:cNvSpPr txBox="1"/>
          <p:nvPr/>
        </p:nvSpPr>
        <p:spPr>
          <a:xfrm>
            <a:off x="1444752" y="3504438"/>
            <a:ext cx="10012680" cy="1801368"/>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وَمِنْ ءَايَٰتِهِ أَن يُرْسِلَ الرِّيَاحَ مُبَشِّرَٰتٍ وَلِيُذِيقَكُم مِّن رَّحْمَتِهِ وَلِتَجْرِيَ الْفُلْكُ بِأَمْرِهِ وَلِتَبْتَغُواْ مِن فَضْلِهِ وَلَعَلَّكُمْ تَشْكُرُونَ</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Among His signs is that He sends the winds as good news of rain, to let you taste His mercy, to make ships sail by His command, so that you seek His provision, and so that you may be thankful.</a:t>
            </a:r>
            <a:endParaRPr lang="en-US" sz="3000" dirty="0"/>
          </a:p>
        </p:txBody>
      </p:sp>
      <p:sp>
        <p:nvSpPr>
          <p:cNvPr id="25" name="Slide Number Placeholder 0"/>
          <p:cNvSpPr>
            <a:spLocks noGrp="1"/>
          </p:cNvSpPr>
          <p:nvPr>
            <p:ph type="sldNum" sz="quarter" idx="4294967295"/>
          </p:nvPr>
        </p:nvSpPr>
        <p:spPr>
          <a:xfrm>
            <a:off x="1115568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69</a:t>
            </a:fld>
            <a:endParaRPr lang="en-US"/>
          </a:p>
        </p:txBody>
      </p:sp>
    </p:spTree>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name="Slide 70">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algn="ctr" indent="0" marL="0">
              <a:buNone/>
            </a:pPr>
            <a:r>
              <a:rPr lang="en-US" sz="2400" b="1" dirty="0">
                <a:solidFill>
                  <a:schemeClr val="bg1"/>
                </a:solidFill>
                <a:latin typeface="Georgia" pitchFamily="34" charset="0"/>
                <a:ea typeface="Georgia" pitchFamily="34" charset="-122"/>
                <a:cs typeface="Georgia" pitchFamily="34" charset="-120"/>
              </a:rPr>
              <a:t>Surah Ar-Rum</a:t>
            </a:r>
            <a:endParaRPr lang="en-US" sz="2400" dirty="0"/>
          </a:p>
        </p:txBody>
      </p:sp>
      <p:sp>
        <p:nvSpPr>
          <p:cNvPr id="3" name="Text 1"/>
          <p:cNvSpPr txBox="1"/>
          <p:nvPr/>
        </p:nvSpPr>
        <p:spPr>
          <a:xfrm>
            <a:off x="777240" y="548640"/>
            <a:ext cx="2651760" cy="384048"/>
          </a:xfrm>
          <a:prstGeom prst="rect">
            <a:avLst/>
          </a:prstGeom>
          <a:noFill/>
          <a:ln/>
        </p:spPr>
        <p:txBody>
          <a:bodyPr wrap="square" lIns="0" tIns="0" rIns="0" bIns="0" rtlCol="0" anchor="ctr"/>
          <a:lstStyle/>
          <a:p>
            <a:pPr algn="l" indent="0" marL="0">
              <a:buNone/>
            </a:pPr>
            <a:r>
              <a:rPr lang="en-US" altLang="en-US" sz="1500" b="1" dirty="0">
                <a:solidFill>
                  <a:schemeClr val="accent2"/>
                </a:solidFill>
                <a:latin typeface="Arial" pitchFamily="34" charset="0"/>
                <a:ea typeface="Arial" pitchFamily="34" charset="-122"/>
                <a:cs typeface="Arial" pitchFamily="34" charset="-120"/>
              </a:rPr>
              <a:t>Verses 47 – 48</a:t>
            </a:r>
            <a:endParaRPr lang="en-US" sz="1500" dirty="0"/>
          </a:p>
        </p:txBody>
      </p:sp>
      <p:sp>
        <p:nvSpPr>
          <p:cNvPr id="4" name="Text 2"/>
          <p:cNvSpPr txBox="1"/>
          <p:nvPr/>
        </p:nvSpPr>
        <p:spPr>
          <a:xfrm>
            <a:off x="8732520" y="548640"/>
            <a:ext cx="2651760" cy="384048"/>
          </a:xfrm>
          <a:prstGeom prst="rect">
            <a:avLst/>
          </a:prstGeom>
          <a:noFill/>
          <a:ln/>
        </p:spPr>
        <p:txBody>
          <a:bodyPr wrap="square" lIns="0" tIns="0" rIns="0" bIns="0" rtlCol="0" anchor="ctr"/>
          <a:lstStyle/>
          <a:p>
            <a:pPr algn="r" indent="0" marL="0">
              <a:buNone/>
            </a:pPr>
            <a:r>
              <a:rPr lang="en-US" altLang="en-US" sz="1300" i="1" dirty="0">
                <a:solidFill>
                  <a:schemeClr val="accent4"/>
                </a:solidFill>
                <a:latin typeface="Arial" pitchFamily="34" charset="0"/>
                <a:ea typeface="Arial" pitchFamily="34" charset="-122"/>
                <a:cs typeface="Arial" pitchFamily="34" charset="-120"/>
              </a:rPr>
              <a:t>Ibn Kathir, simplified</a:t>
            </a:r>
            <a:endParaRPr lang="en-US" sz="1300" dirty="0"/>
          </a:p>
        </p:txBody>
      </p:sp>
      <p:sp>
        <p:nvSpPr>
          <p:cNvPr id="5" name="Shape 3"/>
          <p:cNvSpPr/>
          <p:nvPr/>
        </p:nvSpPr>
        <p:spPr>
          <a:xfrm>
            <a:off x="713232" y="1388745"/>
            <a:ext cx="548640" cy="548640"/>
          </a:xfrm>
          <a:prstGeom prst="star8">
            <a:avLst/>
          </a:prstGeom>
          <a:solidFill>
            <a:schemeClr val="accent2"/>
          </a:solidFill>
          <a:ln/>
        </p:spPr>
      </p:sp>
      <p:sp>
        <p:nvSpPr>
          <p:cNvPr id="6" name="Shape 4"/>
          <p:cNvSpPr/>
          <p:nvPr/>
        </p:nvSpPr>
        <p:spPr>
          <a:xfrm>
            <a:off x="822960" y="1498473"/>
            <a:ext cx="329184" cy="329184"/>
          </a:xfrm>
          <a:prstGeom prst="ellipse">
            <a:avLst/>
          </a:prstGeom>
          <a:solidFill>
            <a:schemeClr val="bg2"/>
          </a:solidFill>
          <a:ln w="19050">
            <a:solidFill>
              <a:schemeClr val="tx2"/>
            </a:solidFill>
            <a:prstDash val="solid"/>
          </a:ln>
        </p:spPr>
      </p:sp>
      <p:sp>
        <p:nvSpPr>
          <p:cNvPr id="7" name="Text 5"/>
          <p:cNvSpPr txBox="1"/>
          <p:nvPr/>
        </p:nvSpPr>
        <p:spPr>
          <a:xfrm>
            <a:off x="713232" y="1388745"/>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47</a:t>
            </a:r>
            <a:endParaRPr lang="en-US" sz="1600" dirty="0"/>
          </a:p>
        </p:txBody>
      </p:sp>
      <p:sp>
        <p:nvSpPr>
          <p:cNvPr id="8" name="Text 6"/>
          <p:cNvSpPr txBox="1"/>
          <p:nvPr/>
        </p:nvSpPr>
        <p:spPr>
          <a:xfrm>
            <a:off x="1444752" y="1370457"/>
            <a:ext cx="10012680" cy="1801368"/>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وَلَقَدْ أَرْسَلْنَا مِن قَبْلِكَ رُسُلًا إِلَىٰ قَوْمِهِمْ فَجَآءُوهُم بِالْبَيِّنَٰتِ فَانتَقَمْنَا مِنَ الَّذِينَ أَجْرَمُواْ وَكَانَ حَقًّا عَلَيْنَا نَصْرُ الْمُؤْمِنِينَ</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We sent messengers before you to their peoples, and they came to them with miracles. Then We punished the criminals, and helping the believers is a duty upon Us.</a:t>
            </a:r>
            <a:endParaRPr lang="en-US" sz="3000" dirty="0"/>
          </a:p>
        </p:txBody>
      </p:sp>
      <p:sp>
        <p:nvSpPr>
          <p:cNvPr id="9" name="Shape 7"/>
          <p:cNvSpPr/>
          <p:nvPr/>
        </p:nvSpPr>
        <p:spPr>
          <a:xfrm>
            <a:off x="1444752" y="3289554"/>
            <a:ext cx="8641080" cy="0"/>
          </a:xfrm>
          <a:prstGeom prst="line">
            <a:avLst/>
          </a:prstGeom>
          <a:noFill/>
          <a:ln w="9525">
            <a:solidFill>
              <a:schemeClr val="accent2"/>
            </a:solidFill>
            <a:prstDash val="dash"/>
          </a:ln>
        </p:spPr>
      </p:sp>
      <p:sp>
        <p:nvSpPr>
          <p:cNvPr id="10" name="Shape 8"/>
          <p:cNvSpPr/>
          <p:nvPr/>
        </p:nvSpPr>
        <p:spPr>
          <a:xfrm>
            <a:off x="713232" y="3453003"/>
            <a:ext cx="548640" cy="548640"/>
          </a:xfrm>
          <a:prstGeom prst="star8">
            <a:avLst/>
          </a:prstGeom>
          <a:solidFill>
            <a:schemeClr val="accent2"/>
          </a:solidFill>
          <a:ln/>
        </p:spPr>
      </p:sp>
      <p:sp>
        <p:nvSpPr>
          <p:cNvPr id="11" name="Shape 9"/>
          <p:cNvSpPr/>
          <p:nvPr/>
        </p:nvSpPr>
        <p:spPr>
          <a:xfrm>
            <a:off x="822960" y="3562731"/>
            <a:ext cx="329184" cy="329184"/>
          </a:xfrm>
          <a:prstGeom prst="ellipse">
            <a:avLst/>
          </a:prstGeom>
          <a:solidFill>
            <a:schemeClr val="bg2"/>
          </a:solidFill>
          <a:ln w="19050">
            <a:solidFill>
              <a:schemeClr val="tx2"/>
            </a:solidFill>
            <a:prstDash val="solid"/>
          </a:ln>
        </p:spPr>
      </p:sp>
      <p:sp>
        <p:nvSpPr>
          <p:cNvPr id="12" name="Text 10"/>
          <p:cNvSpPr txBox="1"/>
          <p:nvPr/>
        </p:nvSpPr>
        <p:spPr>
          <a:xfrm>
            <a:off x="713232" y="3453003"/>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48</a:t>
            </a:r>
            <a:endParaRPr lang="en-US" sz="1600" dirty="0"/>
          </a:p>
        </p:txBody>
      </p:sp>
      <p:sp>
        <p:nvSpPr>
          <p:cNvPr id="13" name="Text 11"/>
          <p:cNvSpPr txBox="1"/>
          <p:nvPr/>
        </p:nvSpPr>
        <p:spPr>
          <a:xfrm>
            <a:off x="1444752" y="3434715"/>
            <a:ext cx="10012680" cy="2610612"/>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اللَّهُ الَّذِي يُرْسِلُ الرِّيَٰحَ فَتُثِيرُ سَحَابًا فَيَبْسُطُهُ فِي السَّمَآءِ كَيْفَ يَشَآءُ وَيَجْعَلُهُ كِسَفًا فَتَرَى الْوَدْقَ يَخْرُجُ مِنْ خِلَٰلِهِ فَإِذَآ أَصَابَ بِهِ مَن يَشَآءُ مِنْ عِبَادِهِ إِذَا هُمْ يَسْتَبْشِرُونَ</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Allah is the One who sends the winds that stir up clouds. He spreads them in the sky as He wills and breaks them into pieces, and you see rain coming out from within them. When He makes it fall on whom He wills of His servants, they rejoice,</a:t>
            </a:r>
            <a:endParaRPr lang="en-US" sz="3000" dirty="0"/>
          </a:p>
        </p:txBody>
      </p:sp>
      <p:sp>
        <p:nvSpPr>
          <p:cNvPr id="25" name="Slide Number Placeholder 0"/>
          <p:cNvSpPr>
            <a:spLocks noGrp="1"/>
          </p:cNvSpPr>
          <p:nvPr>
            <p:ph type="sldNum" sz="quarter" idx="4294967295"/>
          </p:nvPr>
        </p:nvSpPr>
        <p:spPr>
          <a:xfrm>
            <a:off x="1115568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70</a:t>
            </a:fld>
            <a:endParaRPr lang="en-US"/>
          </a:p>
        </p:txBody>
      </p:sp>
    </p:spTree>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name="Slide 71">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algn="ctr" indent="0" marL="0">
              <a:buNone/>
            </a:pPr>
            <a:r>
              <a:rPr lang="en-US" sz="2400" b="1" dirty="0">
                <a:solidFill>
                  <a:schemeClr val="bg1"/>
                </a:solidFill>
                <a:latin typeface="Georgia" pitchFamily="34" charset="0"/>
                <a:ea typeface="Georgia" pitchFamily="34" charset="-122"/>
                <a:cs typeface="Georgia" pitchFamily="34" charset="-120"/>
              </a:rPr>
              <a:t>Surah Ar-Rum</a:t>
            </a:r>
            <a:endParaRPr lang="en-US" sz="2400" dirty="0"/>
          </a:p>
        </p:txBody>
      </p:sp>
      <p:sp>
        <p:nvSpPr>
          <p:cNvPr id="3" name="Text 1"/>
          <p:cNvSpPr txBox="1"/>
          <p:nvPr/>
        </p:nvSpPr>
        <p:spPr>
          <a:xfrm>
            <a:off x="777240" y="548640"/>
            <a:ext cx="2651760" cy="384048"/>
          </a:xfrm>
          <a:prstGeom prst="rect">
            <a:avLst/>
          </a:prstGeom>
          <a:noFill/>
          <a:ln/>
        </p:spPr>
        <p:txBody>
          <a:bodyPr wrap="square" lIns="0" tIns="0" rIns="0" bIns="0" rtlCol="0" anchor="ctr"/>
          <a:lstStyle/>
          <a:p>
            <a:pPr algn="l" indent="0" marL="0">
              <a:buNone/>
            </a:pPr>
            <a:r>
              <a:rPr lang="en-US" altLang="en-US" sz="1500" b="1" dirty="0">
                <a:solidFill>
                  <a:schemeClr val="accent2"/>
                </a:solidFill>
                <a:latin typeface="Arial" pitchFamily="34" charset="0"/>
                <a:ea typeface="Arial" pitchFamily="34" charset="-122"/>
                <a:cs typeface="Arial" pitchFamily="34" charset="-120"/>
              </a:rPr>
              <a:t>Verses 49 – 51</a:t>
            </a:r>
            <a:endParaRPr lang="en-US" sz="1500" dirty="0"/>
          </a:p>
        </p:txBody>
      </p:sp>
      <p:sp>
        <p:nvSpPr>
          <p:cNvPr id="4" name="Text 2"/>
          <p:cNvSpPr txBox="1"/>
          <p:nvPr/>
        </p:nvSpPr>
        <p:spPr>
          <a:xfrm>
            <a:off x="8732520" y="548640"/>
            <a:ext cx="2651760" cy="384048"/>
          </a:xfrm>
          <a:prstGeom prst="rect">
            <a:avLst/>
          </a:prstGeom>
          <a:noFill/>
          <a:ln/>
        </p:spPr>
        <p:txBody>
          <a:bodyPr wrap="square" lIns="0" tIns="0" rIns="0" bIns="0" rtlCol="0" anchor="ctr"/>
          <a:lstStyle/>
          <a:p>
            <a:pPr algn="r" indent="0" marL="0">
              <a:buNone/>
            </a:pPr>
            <a:r>
              <a:rPr lang="en-US" altLang="en-US" sz="1300" i="1" dirty="0">
                <a:solidFill>
                  <a:schemeClr val="accent4"/>
                </a:solidFill>
                <a:latin typeface="Arial" pitchFamily="34" charset="0"/>
                <a:ea typeface="Arial" pitchFamily="34" charset="-122"/>
                <a:cs typeface="Arial" pitchFamily="34" charset="-120"/>
              </a:rPr>
              <a:t>Ibn Kathir, simplified</a:t>
            </a:r>
            <a:endParaRPr lang="en-US" sz="1300" dirty="0"/>
          </a:p>
        </p:txBody>
      </p:sp>
      <p:sp>
        <p:nvSpPr>
          <p:cNvPr id="5" name="Shape 3"/>
          <p:cNvSpPr/>
          <p:nvPr/>
        </p:nvSpPr>
        <p:spPr>
          <a:xfrm>
            <a:off x="713232" y="1405890"/>
            <a:ext cx="548640" cy="548640"/>
          </a:xfrm>
          <a:prstGeom prst="star8">
            <a:avLst/>
          </a:prstGeom>
          <a:solidFill>
            <a:schemeClr val="accent2"/>
          </a:solidFill>
          <a:ln/>
        </p:spPr>
      </p:sp>
      <p:sp>
        <p:nvSpPr>
          <p:cNvPr id="6" name="Shape 4"/>
          <p:cNvSpPr/>
          <p:nvPr/>
        </p:nvSpPr>
        <p:spPr>
          <a:xfrm>
            <a:off x="822960" y="1515618"/>
            <a:ext cx="329184" cy="329184"/>
          </a:xfrm>
          <a:prstGeom prst="ellipse">
            <a:avLst/>
          </a:prstGeom>
          <a:solidFill>
            <a:schemeClr val="bg2"/>
          </a:solidFill>
          <a:ln w="19050">
            <a:solidFill>
              <a:schemeClr val="tx2"/>
            </a:solidFill>
            <a:prstDash val="solid"/>
          </a:ln>
        </p:spPr>
      </p:sp>
      <p:sp>
        <p:nvSpPr>
          <p:cNvPr id="7" name="Text 5"/>
          <p:cNvSpPr txBox="1"/>
          <p:nvPr/>
        </p:nvSpPr>
        <p:spPr>
          <a:xfrm>
            <a:off x="713232" y="1405890"/>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49</a:t>
            </a:r>
            <a:endParaRPr lang="en-US" sz="1600" dirty="0"/>
          </a:p>
        </p:txBody>
      </p:sp>
      <p:sp>
        <p:nvSpPr>
          <p:cNvPr id="8" name="Text 6"/>
          <p:cNvSpPr txBox="1"/>
          <p:nvPr/>
        </p:nvSpPr>
        <p:spPr>
          <a:xfrm>
            <a:off x="1444752" y="1387602"/>
            <a:ext cx="10012680" cy="992124"/>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وَإِن كَانُواْ مِن قَبْلِ أَن يُنَزَّلَ عَلَيْهِم مِّن قَبْلِهِ لَمُبْلِسِينَ</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though before the rain came down they had lost hope.</a:t>
            </a:r>
            <a:endParaRPr lang="en-US" sz="3000" dirty="0"/>
          </a:p>
        </p:txBody>
      </p:sp>
      <p:sp>
        <p:nvSpPr>
          <p:cNvPr id="9" name="Shape 7"/>
          <p:cNvSpPr/>
          <p:nvPr/>
        </p:nvSpPr>
        <p:spPr>
          <a:xfrm>
            <a:off x="1444752" y="2514600"/>
            <a:ext cx="8641080" cy="0"/>
          </a:xfrm>
          <a:prstGeom prst="line">
            <a:avLst/>
          </a:prstGeom>
          <a:noFill/>
          <a:ln w="9525">
            <a:solidFill>
              <a:schemeClr val="accent2"/>
            </a:solidFill>
            <a:prstDash val="dash"/>
          </a:ln>
        </p:spPr>
      </p:sp>
      <p:sp>
        <p:nvSpPr>
          <p:cNvPr id="10" name="Shape 8"/>
          <p:cNvSpPr/>
          <p:nvPr/>
        </p:nvSpPr>
        <p:spPr>
          <a:xfrm>
            <a:off x="713232" y="2695194"/>
            <a:ext cx="548640" cy="548640"/>
          </a:xfrm>
          <a:prstGeom prst="star8">
            <a:avLst/>
          </a:prstGeom>
          <a:solidFill>
            <a:schemeClr val="accent2"/>
          </a:solidFill>
          <a:ln/>
        </p:spPr>
      </p:sp>
      <p:sp>
        <p:nvSpPr>
          <p:cNvPr id="11" name="Shape 9"/>
          <p:cNvSpPr/>
          <p:nvPr/>
        </p:nvSpPr>
        <p:spPr>
          <a:xfrm>
            <a:off x="822960" y="2804922"/>
            <a:ext cx="329184" cy="329184"/>
          </a:xfrm>
          <a:prstGeom prst="ellipse">
            <a:avLst/>
          </a:prstGeom>
          <a:solidFill>
            <a:schemeClr val="bg2"/>
          </a:solidFill>
          <a:ln w="19050">
            <a:solidFill>
              <a:schemeClr val="tx2"/>
            </a:solidFill>
            <a:prstDash val="solid"/>
          </a:ln>
        </p:spPr>
      </p:sp>
      <p:sp>
        <p:nvSpPr>
          <p:cNvPr id="12" name="Text 10"/>
          <p:cNvSpPr txBox="1"/>
          <p:nvPr/>
        </p:nvSpPr>
        <p:spPr>
          <a:xfrm>
            <a:off x="713232" y="2695194"/>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50</a:t>
            </a:r>
            <a:endParaRPr lang="en-US" sz="1600" dirty="0"/>
          </a:p>
        </p:txBody>
      </p:sp>
      <p:sp>
        <p:nvSpPr>
          <p:cNvPr id="13" name="Text 11"/>
          <p:cNvSpPr txBox="1"/>
          <p:nvPr/>
        </p:nvSpPr>
        <p:spPr>
          <a:xfrm>
            <a:off x="1444752" y="2676906"/>
            <a:ext cx="10012680" cy="1801368"/>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فَانظُرْ إِلَىٰ ءَاثَٰرِ رَحْمَتِ اللَّهِ كَيْفَ يُحْيِ الْأَرْضَ بَعْدَ مَوْتِهَآ إِنَّ ذَٰلِكَ لَمُحْيِ الْمَوْتَىٰ وَهُوَ عَلَىٰ كُلِّ شَيْءٍ قَدِيرٌ</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So look at the effects of Allah's mercy, how He gives life to the earth after its death. The One who gave it life will surely give life to the dead, and He has power over all things.</a:t>
            </a:r>
            <a:endParaRPr lang="en-US" sz="3000" dirty="0"/>
          </a:p>
        </p:txBody>
      </p:sp>
      <p:sp>
        <p:nvSpPr>
          <p:cNvPr id="14" name="Shape 12"/>
          <p:cNvSpPr/>
          <p:nvPr/>
        </p:nvSpPr>
        <p:spPr>
          <a:xfrm>
            <a:off x="1444752" y="4613148"/>
            <a:ext cx="8641080" cy="0"/>
          </a:xfrm>
          <a:prstGeom prst="line">
            <a:avLst/>
          </a:prstGeom>
          <a:noFill/>
          <a:ln w="9525">
            <a:solidFill>
              <a:schemeClr val="accent2"/>
            </a:solidFill>
            <a:prstDash val="dash"/>
          </a:ln>
        </p:spPr>
      </p:sp>
      <p:sp>
        <p:nvSpPr>
          <p:cNvPr id="15" name="Shape 13"/>
          <p:cNvSpPr/>
          <p:nvPr/>
        </p:nvSpPr>
        <p:spPr>
          <a:xfrm>
            <a:off x="713232" y="4793742"/>
            <a:ext cx="548640" cy="548640"/>
          </a:xfrm>
          <a:prstGeom prst="star8">
            <a:avLst/>
          </a:prstGeom>
          <a:solidFill>
            <a:schemeClr val="accent2"/>
          </a:solidFill>
          <a:ln/>
        </p:spPr>
      </p:sp>
      <p:sp>
        <p:nvSpPr>
          <p:cNvPr id="16" name="Shape 14"/>
          <p:cNvSpPr/>
          <p:nvPr/>
        </p:nvSpPr>
        <p:spPr>
          <a:xfrm>
            <a:off x="822960" y="4903470"/>
            <a:ext cx="329184" cy="329184"/>
          </a:xfrm>
          <a:prstGeom prst="ellipse">
            <a:avLst/>
          </a:prstGeom>
          <a:solidFill>
            <a:schemeClr val="bg2"/>
          </a:solidFill>
          <a:ln w="19050">
            <a:solidFill>
              <a:schemeClr val="tx2"/>
            </a:solidFill>
            <a:prstDash val="solid"/>
          </a:ln>
        </p:spPr>
      </p:sp>
      <p:sp>
        <p:nvSpPr>
          <p:cNvPr id="17" name="Text 15"/>
          <p:cNvSpPr txBox="1"/>
          <p:nvPr/>
        </p:nvSpPr>
        <p:spPr>
          <a:xfrm>
            <a:off x="713232" y="4793742"/>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51</a:t>
            </a:r>
            <a:endParaRPr lang="en-US" sz="1600" dirty="0"/>
          </a:p>
        </p:txBody>
      </p:sp>
      <p:sp>
        <p:nvSpPr>
          <p:cNvPr id="18" name="Text 16"/>
          <p:cNvSpPr txBox="1"/>
          <p:nvPr/>
        </p:nvSpPr>
        <p:spPr>
          <a:xfrm>
            <a:off x="1444752" y="4775454"/>
            <a:ext cx="10012680" cy="1252728"/>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وَلَئِنْ أَرْسَلْنَا رِيحًا فَرَأَوْهُ مُصْفَرًّا لَّظَلُّواْ مِن بَعْدِهِ يَكْفُرُونَ</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But if We sent a harmful wind and they saw their crops turn yellow and dry, they would go on after that denying the earlier blessings.</a:t>
            </a:r>
            <a:endParaRPr lang="en-US" sz="3000" dirty="0"/>
          </a:p>
        </p:txBody>
      </p:sp>
      <p:sp>
        <p:nvSpPr>
          <p:cNvPr id="25" name="Slide Number Placeholder 0"/>
          <p:cNvSpPr>
            <a:spLocks noGrp="1"/>
          </p:cNvSpPr>
          <p:nvPr>
            <p:ph type="sldNum" sz="quarter" idx="4294967295"/>
          </p:nvPr>
        </p:nvSpPr>
        <p:spPr>
          <a:xfrm>
            <a:off x="1115568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71</a:t>
            </a:fld>
            <a:endParaRPr lang="en-US"/>
          </a:p>
        </p:txBody>
      </p:sp>
    </p:spTree>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name="Slide 72">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algn="ctr" indent="0" marL="0">
              <a:buNone/>
            </a:pPr>
            <a:r>
              <a:rPr lang="en-US" sz="2400" b="1" dirty="0">
                <a:solidFill>
                  <a:schemeClr val="bg1"/>
                </a:solidFill>
                <a:latin typeface="Georgia" pitchFamily="34" charset="0"/>
                <a:ea typeface="Georgia" pitchFamily="34" charset="-122"/>
                <a:cs typeface="Georgia" pitchFamily="34" charset="-120"/>
              </a:rPr>
              <a:t>Surah Ar-Rum</a:t>
            </a:r>
            <a:endParaRPr lang="en-US" sz="2400" dirty="0"/>
          </a:p>
        </p:txBody>
      </p:sp>
      <p:sp>
        <p:nvSpPr>
          <p:cNvPr id="3" name="Text 1"/>
          <p:cNvSpPr txBox="1"/>
          <p:nvPr/>
        </p:nvSpPr>
        <p:spPr>
          <a:xfrm>
            <a:off x="777240" y="548640"/>
            <a:ext cx="2651760" cy="384048"/>
          </a:xfrm>
          <a:prstGeom prst="rect">
            <a:avLst/>
          </a:prstGeom>
          <a:noFill/>
          <a:ln/>
        </p:spPr>
        <p:txBody>
          <a:bodyPr wrap="square" lIns="0" tIns="0" rIns="0" bIns="0" rtlCol="0" anchor="ctr"/>
          <a:lstStyle/>
          <a:p>
            <a:pPr algn="l" indent="0" marL="0">
              <a:buNone/>
            </a:pPr>
            <a:r>
              <a:rPr lang="en-US" altLang="en-US" sz="1500" b="1" dirty="0">
                <a:solidFill>
                  <a:schemeClr val="accent2"/>
                </a:solidFill>
                <a:latin typeface="Arial" pitchFamily="34" charset="0"/>
                <a:ea typeface="Arial" pitchFamily="34" charset="-122"/>
                <a:cs typeface="Arial" pitchFamily="34" charset="-120"/>
              </a:rPr>
              <a:t>Verses 52 – 53</a:t>
            </a:r>
            <a:endParaRPr lang="en-US" sz="1500" dirty="0"/>
          </a:p>
        </p:txBody>
      </p:sp>
      <p:sp>
        <p:nvSpPr>
          <p:cNvPr id="4" name="Text 2"/>
          <p:cNvSpPr txBox="1"/>
          <p:nvPr/>
        </p:nvSpPr>
        <p:spPr>
          <a:xfrm>
            <a:off x="8732520" y="548640"/>
            <a:ext cx="2651760" cy="384048"/>
          </a:xfrm>
          <a:prstGeom prst="rect">
            <a:avLst/>
          </a:prstGeom>
          <a:noFill/>
          <a:ln/>
        </p:spPr>
        <p:txBody>
          <a:bodyPr wrap="square" lIns="0" tIns="0" rIns="0" bIns="0" rtlCol="0" anchor="ctr"/>
          <a:lstStyle/>
          <a:p>
            <a:pPr algn="r" indent="0" marL="0">
              <a:buNone/>
            </a:pPr>
            <a:r>
              <a:rPr lang="en-US" altLang="en-US" sz="1300" i="1" dirty="0">
                <a:solidFill>
                  <a:schemeClr val="accent4"/>
                </a:solidFill>
                <a:latin typeface="Arial" pitchFamily="34" charset="0"/>
                <a:ea typeface="Arial" pitchFamily="34" charset="-122"/>
                <a:cs typeface="Arial" pitchFamily="34" charset="-120"/>
              </a:rPr>
              <a:t>Ibn Kathir, simplified</a:t>
            </a:r>
            <a:endParaRPr lang="en-US" sz="1300" dirty="0"/>
          </a:p>
        </p:txBody>
      </p:sp>
      <p:sp>
        <p:nvSpPr>
          <p:cNvPr id="5" name="Shape 3"/>
          <p:cNvSpPr/>
          <p:nvPr/>
        </p:nvSpPr>
        <p:spPr>
          <a:xfrm>
            <a:off x="713232" y="2272284"/>
            <a:ext cx="548640" cy="548640"/>
          </a:xfrm>
          <a:prstGeom prst="star8">
            <a:avLst/>
          </a:prstGeom>
          <a:solidFill>
            <a:schemeClr val="accent2"/>
          </a:solidFill>
          <a:ln/>
        </p:spPr>
      </p:sp>
      <p:sp>
        <p:nvSpPr>
          <p:cNvPr id="6" name="Shape 4"/>
          <p:cNvSpPr/>
          <p:nvPr/>
        </p:nvSpPr>
        <p:spPr>
          <a:xfrm>
            <a:off x="822960" y="2382012"/>
            <a:ext cx="329184" cy="329184"/>
          </a:xfrm>
          <a:prstGeom prst="ellipse">
            <a:avLst/>
          </a:prstGeom>
          <a:solidFill>
            <a:schemeClr val="bg2"/>
          </a:solidFill>
          <a:ln w="19050">
            <a:solidFill>
              <a:schemeClr val="tx2"/>
            </a:solidFill>
            <a:prstDash val="solid"/>
          </a:ln>
        </p:spPr>
      </p:sp>
      <p:sp>
        <p:nvSpPr>
          <p:cNvPr id="7" name="Text 5"/>
          <p:cNvSpPr txBox="1"/>
          <p:nvPr/>
        </p:nvSpPr>
        <p:spPr>
          <a:xfrm>
            <a:off x="713232" y="2272284"/>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52</a:t>
            </a:r>
            <a:endParaRPr lang="en-US" sz="1600" dirty="0"/>
          </a:p>
        </p:txBody>
      </p:sp>
      <p:sp>
        <p:nvSpPr>
          <p:cNvPr id="8" name="Text 6"/>
          <p:cNvSpPr txBox="1"/>
          <p:nvPr/>
        </p:nvSpPr>
        <p:spPr>
          <a:xfrm>
            <a:off x="1444752" y="2253996"/>
            <a:ext cx="10012680" cy="1252728"/>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فَإِنَّكَ لَا تُسْمِعُ الْمَوْتَىٰ وَلَا تُسْمِعُ الصُّمَّ الدُّعَآءَ إِذَا وَلَّوْاْ مُدْبِرِينَ</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You cannot make the dead hear, nor make the deaf hear the call when they turn their backs and leave; these disbelievers are like them.</a:t>
            </a:r>
            <a:endParaRPr lang="en-US" sz="3000" dirty="0"/>
          </a:p>
        </p:txBody>
      </p:sp>
      <p:sp>
        <p:nvSpPr>
          <p:cNvPr id="9" name="Shape 7"/>
          <p:cNvSpPr/>
          <p:nvPr/>
        </p:nvSpPr>
        <p:spPr>
          <a:xfrm>
            <a:off x="1444752" y="3694176"/>
            <a:ext cx="8641080" cy="0"/>
          </a:xfrm>
          <a:prstGeom prst="line">
            <a:avLst/>
          </a:prstGeom>
          <a:noFill/>
          <a:ln w="9525">
            <a:solidFill>
              <a:schemeClr val="accent2"/>
            </a:solidFill>
            <a:prstDash val="dash"/>
          </a:ln>
        </p:spPr>
      </p:sp>
      <p:sp>
        <p:nvSpPr>
          <p:cNvPr id="10" name="Shape 8"/>
          <p:cNvSpPr/>
          <p:nvPr/>
        </p:nvSpPr>
        <p:spPr>
          <a:xfrm>
            <a:off x="713232" y="3927348"/>
            <a:ext cx="548640" cy="548640"/>
          </a:xfrm>
          <a:prstGeom prst="star8">
            <a:avLst/>
          </a:prstGeom>
          <a:solidFill>
            <a:schemeClr val="accent2"/>
          </a:solidFill>
          <a:ln/>
        </p:spPr>
      </p:sp>
      <p:sp>
        <p:nvSpPr>
          <p:cNvPr id="11" name="Shape 9"/>
          <p:cNvSpPr/>
          <p:nvPr/>
        </p:nvSpPr>
        <p:spPr>
          <a:xfrm>
            <a:off x="822960" y="4037076"/>
            <a:ext cx="329184" cy="329184"/>
          </a:xfrm>
          <a:prstGeom prst="ellipse">
            <a:avLst/>
          </a:prstGeom>
          <a:solidFill>
            <a:schemeClr val="bg2"/>
          </a:solidFill>
          <a:ln w="19050">
            <a:solidFill>
              <a:schemeClr val="tx2"/>
            </a:solidFill>
            <a:prstDash val="solid"/>
          </a:ln>
        </p:spPr>
      </p:sp>
      <p:sp>
        <p:nvSpPr>
          <p:cNvPr id="12" name="Text 10"/>
          <p:cNvSpPr txBox="1"/>
          <p:nvPr/>
        </p:nvSpPr>
        <p:spPr>
          <a:xfrm>
            <a:off x="713232" y="3927348"/>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53</a:t>
            </a:r>
            <a:endParaRPr lang="en-US" sz="1600" dirty="0"/>
          </a:p>
        </p:txBody>
      </p:sp>
      <p:sp>
        <p:nvSpPr>
          <p:cNvPr id="13" name="Text 11"/>
          <p:cNvSpPr txBox="1"/>
          <p:nvPr/>
        </p:nvSpPr>
        <p:spPr>
          <a:xfrm>
            <a:off x="1444752" y="3909060"/>
            <a:ext cx="10012680" cy="1252728"/>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وَمَآ أَنتَ بِهَٰدِ الْعُمْيِ عَن ضَلَٰلَتِهِمْ إِن تُسْمِعُ إِلَّا مَن يُؤْمِنُ بِـَٔايَٰتِنَا فَهُم مُّسْلِمُونَ</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Nor can you guide the blind out of their misguidance. You can only make those hear who believe in Our verses and submit.</a:t>
            </a:r>
            <a:endParaRPr lang="en-US" sz="3000" dirty="0"/>
          </a:p>
        </p:txBody>
      </p:sp>
      <p:sp>
        <p:nvSpPr>
          <p:cNvPr id="25" name="Slide Number Placeholder 0"/>
          <p:cNvSpPr>
            <a:spLocks noGrp="1"/>
          </p:cNvSpPr>
          <p:nvPr>
            <p:ph type="sldNum" sz="quarter" idx="4294967295"/>
          </p:nvPr>
        </p:nvSpPr>
        <p:spPr>
          <a:xfrm>
            <a:off x="1115568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72</a:t>
            </a:fld>
            <a:endParaRPr lang="en-US"/>
          </a:p>
        </p:txBody>
      </p:sp>
    </p:spTree>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name="Slide 73">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algn="ctr" indent="0" marL="0">
              <a:buNone/>
            </a:pPr>
            <a:r>
              <a:rPr lang="en-US" sz="2400" b="1" dirty="0">
                <a:solidFill>
                  <a:schemeClr val="bg1"/>
                </a:solidFill>
                <a:latin typeface="Georgia" pitchFamily="34" charset="0"/>
                <a:ea typeface="Georgia" pitchFamily="34" charset="-122"/>
                <a:cs typeface="Georgia" pitchFamily="34" charset="-120"/>
              </a:rPr>
              <a:t>Surah Ar-Rum</a:t>
            </a:r>
            <a:endParaRPr lang="en-US" sz="2400" dirty="0"/>
          </a:p>
        </p:txBody>
      </p:sp>
      <p:sp>
        <p:nvSpPr>
          <p:cNvPr id="3" name="Text 1"/>
          <p:cNvSpPr txBox="1"/>
          <p:nvPr/>
        </p:nvSpPr>
        <p:spPr>
          <a:xfrm>
            <a:off x="777240" y="548640"/>
            <a:ext cx="2651760" cy="384048"/>
          </a:xfrm>
          <a:prstGeom prst="rect">
            <a:avLst/>
          </a:prstGeom>
          <a:noFill/>
          <a:ln/>
        </p:spPr>
        <p:txBody>
          <a:bodyPr wrap="square" lIns="0" tIns="0" rIns="0" bIns="0" rtlCol="0" anchor="ctr"/>
          <a:lstStyle/>
          <a:p>
            <a:pPr algn="l" indent="0" marL="0">
              <a:buNone/>
            </a:pPr>
            <a:r>
              <a:rPr lang="en-US" altLang="en-US" sz="1500" b="1" dirty="0">
                <a:solidFill>
                  <a:schemeClr val="accent2"/>
                </a:solidFill>
                <a:latin typeface="Arial" pitchFamily="34" charset="0"/>
                <a:ea typeface="Arial" pitchFamily="34" charset="-122"/>
                <a:cs typeface="Arial" pitchFamily="34" charset="-120"/>
              </a:rPr>
              <a:t>Verses 54 – 55</a:t>
            </a:r>
            <a:endParaRPr lang="en-US" sz="1500" dirty="0"/>
          </a:p>
        </p:txBody>
      </p:sp>
      <p:sp>
        <p:nvSpPr>
          <p:cNvPr id="4" name="Text 2"/>
          <p:cNvSpPr txBox="1"/>
          <p:nvPr/>
        </p:nvSpPr>
        <p:spPr>
          <a:xfrm>
            <a:off x="8732520" y="548640"/>
            <a:ext cx="2651760" cy="384048"/>
          </a:xfrm>
          <a:prstGeom prst="rect">
            <a:avLst/>
          </a:prstGeom>
          <a:noFill/>
          <a:ln/>
        </p:spPr>
        <p:txBody>
          <a:bodyPr wrap="square" lIns="0" tIns="0" rIns="0" bIns="0" rtlCol="0" anchor="ctr"/>
          <a:lstStyle/>
          <a:p>
            <a:pPr algn="r" indent="0" marL="0">
              <a:buNone/>
            </a:pPr>
            <a:r>
              <a:rPr lang="en-US" altLang="en-US" sz="1300" i="1" dirty="0">
                <a:solidFill>
                  <a:schemeClr val="accent4"/>
                </a:solidFill>
                <a:latin typeface="Arial" pitchFamily="34" charset="0"/>
                <a:ea typeface="Arial" pitchFamily="34" charset="-122"/>
                <a:cs typeface="Arial" pitchFamily="34" charset="-120"/>
              </a:rPr>
              <a:t>Ibn Kathir, simplified</a:t>
            </a:r>
            <a:endParaRPr lang="en-US" sz="1300" dirty="0"/>
          </a:p>
        </p:txBody>
      </p:sp>
      <p:sp>
        <p:nvSpPr>
          <p:cNvPr id="5" name="Shape 3"/>
          <p:cNvSpPr/>
          <p:nvPr/>
        </p:nvSpPr>
        <p:spPr>
          <a:xfrm>
            <a:off x="713232" y="1867662"/>
            <a:ext cx="548640" cy="548640"/>
          </a:xfrm>
          <a:prstGeom prst="star8">
            <a:avLst/>
          </a:prstGeom>
          <a:solidFill>
            <a:schemeClr val="accent2"/>
          </a:solidFill>
          <a:ln/>
        </p:spPr>
      </p:sp>
      <p:sp>
        <p:nvSpPr>
          <p:cNvPr id="6" name="Shape 4"/>
          <p:cNvSpPr/>
          <p:nvPr/>
        </p:nvSpPr>
        <p:spPr>
          <a:xfrm>
            <a:off x="822960" y="1977390"/>
            <a:ext cx="329184" cy="329184"/>
          </a:xfrm>
          <a:prstGeom prst="ellipse">
            <a:avLst/>
          </a:prstGeom>
          <a:solidFill>
            <a:schemeClr val="bg2"/>
          </a:solidFill>
          <a:ln w="19050">
            <a:solidFill>
              <a:schemeClr val="tx2"/>
            </a:solidFill>
            <a:prstDash val="solid"/>
          </a:ln>
        </p:spPr>
      </p:sp>
      <p:sp>
        <p:nvSpPr>
          <p:cNvPr id="7" name="Text 5"/>
          <p:cNvSpPr txBox="1"/>
          <p:nvPr/>
        </p:nvSpPr>
        <p:spPr>
          <a:xfrm>
            <a:off x="713232" y="1867662"/>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54</a:t>
            </a:r>
            <a:endParaRPr lang="en-US" sz="1600" dirty="0"/>
          </a:p>
        </p:txBody>
      </p:sp>
      <p:sp>
        <p:nvSpPr>
          <p:cNvPr id="8" name="Text 6"/>
          <p:cNvSpPr txBox="1"/>
          <p:nvPr/>
        </p:nvSpPr>
        <p:spPr>
          <a:xfrm>
            <a:off x="1444752" y="1849374"/>
            <a:ext cx="10012680" cy="2061972"/>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اللَّهُ الَّذِي خَلَقَكُم مِّن ضَعْفٍ ثُمَّ جَعَلَ مِن بَعْدِ ضَعْفٍ قُوَّةً ثُمَّ جَعَلَ مِن بَعْدِ قُوَّةٍ ضَعْفًا وَشَيْبَةً يَخْلُقُ مَا يَشَآءُ وَهُوَ الْعَلِيمُ الْقَدِيرُ</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Allah is the One who created you weak as babies, then after weakness gave you the strength of youth, then after strength gave weakness and grey hair. He creates what He wills, and He is the All-Knowing, the All-Powerful.</a:t>
            </a:r>
            <a:endParaRPr lang="en-US" sz="3000" dirty="0"/>
          </a:p>
        </p:txBody>
      </p:sp>
      <p:sp>
        <p:nvSpPr>
          <p:cNvPr id="9" name="Shape 7"/>
          <p:cNvSpPr/>
          <p:nvPr/>
        </p:nvSpPr>
        <p:spPr>
          <a:xfrm>
            <a:off x="1444752" y="4098798"/>
            <a:ext cx="8641080" cy="0"/>
          </a:xfrm>
          <a:prstGeom prst="line">
            <a:avLst/>
          </a:prstGeom>
          <a:noFill/>
          <a:ln w="9525">
            <a:solidFill>
              <a:schemeClr val="accent2"/>
            </a:solidFill>
            <a:prstDash val="dash"/>
          </a:ln>
        </p:spPr>
      </p:sp>
      <p:sp>
        <p:nvSpPr>
          <p:cNvPr id="10" name="Shape 8"/>
          <p:cNvSpPr/>
          <p:nvPr/>
        </p:nvSpPr>
        <p:spPr>
          <a:xfrm>
            <a:off x="713232" y="4331970"/>
            <a:ext cx="548640" cy="548640"/>
          </a:xfrm>
          <a:prstGeom prst="star8">
            <a:avLst/>
          </a:prstGeom>
          <a:solidFill>
            <a:schemeClr val="accent2"/>
          </a:solidFill>
          <a:ln/>
        </p:spPr>
      </p:sp>
      <p:sp>
        <p:nvSpPr>
          <p:cNvPr id="11" name="Shape 9"/>
          <p:cNvSpPr/>
          <p:nvPr/>
        </p:nvSpPr>
        <p:spPr>
          <a:xfrm>
            <a:off x="822960" y="4441698"/>
            <a:ext cx="329184" cy="329184"/>
          </a:xfrm>
          <a:prstGeom prst="ellipse">
            <a:avLst/>
          </a:prstGeom>
          <a:solidFill>
            <a:schemeClr val="bg2"/>
          </a:solidFill>
          <a:ln w="19050">
            <a:solidFill>
              <a:schemeClr val="tx2"/>
            </a:solidFill>
            <a:prstDash val="solid"/>
          </a:ln>
        </p:spPr>
      </p:sp>
      <p:sp>
        <p:nvSpPr>
          <p:cNvPr id="12" name="Text 10"/>
          <p:cNvSpPr txBox="1"/>
          <p:nvPr/>
        </p:nvSpPr>
        <p:spPr>
          <a:xfrm>
            <a:off x="713232" y="4331970"/>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55</a:t>
            </a:r>
            <a:endParaRPr lang="en-US" sz="1600" dirty="0"/>
          </a:p>
        </p:txBody>
      </p:sp>
      <p:sp>
        <p:nvSpPr>
          <p:cNvPr id="13" name="Text 11"/>
          <p:cNvSpPr txBox="1"/>
          <p:nvPr/>
        </p:nvSpPr>
        <p:spPr>
          <a:xfrm>
            <a:off x="1444752" y="4313682"/>
            <a:ext cx="10012680" cy="1252728"/>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وَيَوْمَ تَقُومُ السَّاعَةُ يُقْسِمُ الْمُجْرِمُونَ مَا لَبِثُواْ غَيْرَ سَاعَةٍ كَذَٰلِكَ كَانُواْ يُؤْفَكُونَ</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On the Day the Hour comes, the criminals will swear they stayed in the world no more than an hour. That is how they were turned away from the truth in the world.</a:t>
            </a:r>
            <a:endParaRPr lang="en-US" sz="3000" dirty="0"/>
          </a:p>
        </p:txBody>
      </p:sp>
      <p:sp>
        <p:nvSpPr>
          <p:cNvPr id="25" name="Slide Number Placeholder 0"/>
          <p:cNvSpPr>
            <a:spLocks noGrp="1"/>
          </p:cNvSpPr>
          <p:nvPr>
            <p:ph type="sldNum" sz="quarter" idx="4294967295"/>
          </p:nvPr>
        </p:nvSpPr>
        <p:spPr>
          <a:xfrm>
            <a:off x="1115568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73</a:t>
            </a:fld>
            <a:endParaRPr lang="en-US"/>
          </a:p>
        </p:txBody>
      </p:sp>
    </p:spTree>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p:cSld name="Slide 74">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algn="ctr" indent="0" marL="0">
              <a:buNone/>
            </a:pPr>
            <a:r>
              <a:rPr lang="en-US" sz="2400" b="1" dirty="0">
                <a:solidFill>
                  <a:schemeClr val="bg1"/>
                </a:solidFill>
                <a:latin typeface="Georgia" pitchFamily="34" charset="0"/>
                <a:ea typeface="Georgia" pitchFamily="34" charset="-122"/>
                <a:cs typeface="Georgia" pitchFamily="34" charset="-120"/>
              </a:rPr>
              <a:t>Surah Ar-Rum</a:t>
            </a:r>
            <a:endParaRPr lang="en-US" sz="2400" dirty="0"/>
          </a:p>
        </p:txBody>
      </p:sp>
      <p:sp>
        <p:nvSpPr>
          <p:cNvPr id="3" name="Text 1"/>
          <p:cNvSpPr txBox="1"/>
          <p:nvPr/>
        </p:nvSpPr>
        <p:spPr>
          <a:xfrm>
            <a:off x="777240" y="548640"/>
            <a:ext cx="2651760" cy="384048"/>
          </a:xfrm>
          <a:prstGeom prst="rect">
            <a:avLst/>
          </a:prstGeom>
          <a:noFill/>
          <a:ln/>
        </p:spPr>
        <p:txBody>
          <a:bodyPr wrap="square" lIns="0" tIns="0" rIns="0" bIns="0" rtlCol="0" anchor="ctr"/>
          <a:lstStyle/>
          <a:p>
            <a:pPr algn="l" indent="0" marL="0">
              <a:buNone/>
            </a:pPr>
            <a:r>
              <a:rPr lang="en-US" altLang="en-US" sz="1500" b="1" dirty="0">
                <a:solidFill>
                  <a:schemeClr val="accent2"/>
                </a:solidFill>
                <a:latin typeface="Arial" pitchFamily="34" charset="0"/>
                <a:ea typeface="Arial" pitchFamily="34" charset="-122"/>
                <a:cs typeface="Arial" pitchFamily="34" charset="-120"/>
              </a:rPr>
              <a:t>Verses 56 – 57</a:t>
            </a:r>
            <a:endParaRPr lang="en-US" sz="1500" dirty="0"/>
          </a:p>
        </p:txBody>
      </p:sp>
      <p:sp>
        <p:nvSpPr>
          <p:cNvPr id="4" name="Text 2"/>
          <p:cNvSpPr txBox="1"/>
          <p:nvPr/>
        </p:nvSpPr>
        <p:spPr>
          <a:xfrm>
            <a:off x="8732520" y="548640"/>
            <a:ext cx="2651760" cy="384048"/>
          </a:xfrm>
          <a:prstGeom prst="rect">
            <a:avLst/>
          </a:prstGeom>
          <a:noFill/>
          <a:ln/>
        </p:spPr>
        <p:txBody>
          <a:bodyPr wrap="square" lIns="0" tIns="0" rIns="0" bIns="0" rtlCol="0" anchor="ctr"/>
          <a:lstStyle/>
          <a:p>
            <a:pPr algn="r" indent="0" marL="0">
              <a:buNone/>
            </a:pPr>
            <a:r>
              <a:rPr lang="en-US" altLang="en-US" sz="1300" i="1" dirty="0">
                <a:solidFill>
                  <a:schemeClr val="accent4"/>
                </a:solidFill>
                <a:latin typeface="Arial" pitchFamily="34" charset="0"/>
                <a:ea typeface="Arial" pitchFamily="34" charset="-122"/>
                <a:cs typeface="Arial" pitchFamily="34" charset="-120"/>
              </a:rPr>
              <a:t>Ibn Kathir, simplified</a:t>
            </a:r>
            <a:endParaRPr lang="en-US" sz="1300" dirty="0"/>
          </a:p>
        </p:txBody>
      </p:sp>
      <p:sp>
        <p:nvSpPr>
          <p:cNvPr id="5" name="Shape 3"/>
          <p:cNvSpPr/>
          <p:nvPr/>
        </p:nvSpPr>
        <p:spPr>
          <a:xfrm>
            <a:off x="713232" y="2128266"/>
            <a:ext cx="548640" cy="548640"/>
          </a:xfrm>
          <a:prstGeom prst="star8">
            <a:avLst/>
          </a:prstGeom>
          <a:solidFill>
            <a:schemeClr val="accent2"/>
          </a:solidFill>
          <a:ln/>
        </p:spPr>
      </p:sp>
      <p:sp>
        <p:nvSpPr>
          <p:cNvPr id="6" name="Shape 4"/>
          <p:cNvSpPr/>
          <p:nvPr/>
        </p:nvSpPr>
        <p:spPr>
          <a:xfrm>
            <a:off x="822960" y="2237994"/>
            <a:ext cx="329184" cy="329184"/>
          </a:xfrm>
          <a:prstGeom prst="ellipse">
            <a:avLst/>
          </a:prstGeom>
          <a:solidFill>
            <a:schemeClr val="bg2"/>
          </a:solidFill>
          <a:ln w="19050">
            <a:solidFill>
              <a:schemeClr val="tx2"/>
            </a:solidFill>
            <a:prstDash val="solid"/>
          </a:ln>
        </p:spPr>
      </p:sp>
      <p:sp>
        <p:nvSpPr>
          <p:cNvPr id="7" name="Text 5"/>
          <p:cNvSpPr txBox="1"/>
          <p:nvPr/>
        </p:nvSpPr>
        <p:spPr>
          <a:xfrm>
            <a:off x="713232" y="2128266"/>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56</a:t>
            </a:r>
            <a:endParaRPr lang="en-US" sz="1600" dirty="0"/>
          </a:p>
        </p:txBody>
      </p:sp>
      <p:sp>
        <p:nvSpPr>
          <p:cNvPr id="8" name="Text 6"/>
          <p:cNvSpPr txBox="1"/>
          <p:nvPr/>
        </p:nvSpPr>
        <p:spPr>
          <a:xfrm>
            <a:off x="1444752" y="2109978"/>
            <a:ext cx="10012680" cy="1801368"/>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وَقَالَ الَّذِينَ أُوتُواْ الْعِلْمَ وَالْإِيمَٰنَ لَقَدْ لَبِثْتُمْ فِي كِتَٰبِ اللَّهِ إِلَىٰ يَوْمِ الْبَعْثِ فَهَٰذَا يَوْمُ الْبَعْثِ وَلَٰكِنَّكُمْ كُنتُمْ لَا تَعْلَمُونَ</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But those given knowledge and faith will say: You stayed, as Allah decreed, until the Day of Resurrection. This is the Day of Resurrection, but you did not know.</a:t>
            </a:r>
            <a:endParaRPr lang="en-US" sz="3000" dirty="0"/>
          </a:p>
        </p:txBody>
      </p:sp>
      <p:sp>
        <p:nvSpPr>
          <p:cNvPr id="9" name="Shape 7"/>
          <p:cNvSpPr/>
          <p:nvPr/>
        </p:nvSpPr>
        <p:spPr>
          <a:xfrm>
            <a:off x="1444752" y="4098798"/>
            <a:ext cx="8641080" cy="0"/>
          </a:xfrm>
          <a:prstGeom prst="line">
            <a:avLst/>
          </a:prstGeom>
          <a:noFill/>
          <a:ln w="9525">
            <a:solidFill>
              <a:schemeClr val="accent2"/>
            </a:solidFill>
            <a:prstDash val="dash"/>
          </a:ln>
        </p:spPr>
      </p:sp>
      <p:sp>
        <p:nvSpPr>
          <p:cNvPr id="10" name="Shape 8"/>
          <p:cNvSpPr/>
          <p:nvPr/>
        </p:nvSpPr>
        <p:spPr>
          <a:xfrm>
            <a:off x="713232" y="4331970"/>
            <a:ext cx="548640" cy="548640"/>
          </a:xfrm>
          <a:prstGeom prst="star8">
            <a:avLst/>
          </a:prstGeom>
          <a:solidFill>
            <a:schemeClr val="accent2"/>
          </a:solidFill>
          <a:ln/>
        </p:spPr>
      </p:sp>
      <p:sp>
        <p:nvSpPr>
          <p:cNvPr id="11" name="Shape 9"/>
          <p:cNvSpPr/>
          <p:nvPr/>
        </p:nvSpPr>
        <p:spPr>
          <a:xfrm>
            <a:off x="822960" y="4441698"/>
            <a:ext cx="329184" cy="329184"/>
          </a:xfrm>
          <a:prstGeom prst="ellipse">
            <a:avLst/>
          </a:prstGeom>
          <a:solidFill>
            <a:schemeClr val="bg2"/>
          </a:solidFill>
          <a:ln w="19050">
            <a:solidFill>
              <a:schemeClr val="tx2"/>
            </a:solidFill>
            <a:prstDash val="solid"/>
          </a:ln>
        </p:spPr>
      </p:sp>
      <p:sp>
        <p:nvSpPr>
          <p:cNvPr id="12" name="Text 10"/>
          <p:cNvSpPr txBox="1"/>
          <p:nvPr/>
        </p:nvSpPr>
        <p:spPr>
          <a:xfrm>
            <a:off x="713232" y="4331970"/>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57</a:t>
            </a:r>
            <a:endParaRPr lang="en-US" sz="1600" dirty="0"/>
          </a:p>
        </p:txBody>
      </p:sp>
      <p:sp>
        <p:nvSpPr>
          <p:cNvPr id="13" name="Text 11"/>
          <p:cNvSpPr txBox="1"/>
          <p:nvPr/>
        </p:nvSpPr>
        <p:spPr>
          <a:xfrm>
            <a:off x="1444752" y="4313682"/>
            <a:ext cx="10012680" cy="992124"/>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فَيَوْمَئِذٍ لَّا يَنفَعُ الَّذِينَ ظَلَمُواْ مَعْذِرَتُهُمْ وَلَا هُمْ يُسْتَعْتَبُونَ</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On that Day the wrongdoers' excuses will not help them, nor will they be allowed to make amends.</a:t>
            </a:r>
            <a:endParaRPr lang="en-US" sz="3000" dirty="0"/>
          </a:p>
        </p:txBody>
      </p:sp>
      <p:sp>
        <p:nvSpPr>
          <p:cNvPr id="25" name="Slide Number Placeholder 0"/>
          <p:cNvSpPr>
            <a:spLocks noGrp="1"/>
          </p:cNvSpPr>
          <p:nvPr>
            <p:ph type="sldNum" sz="quarter" idx="4294967295"/>
          </p:nvPr>
        </p:nvSpPr>
        <p:spPr>
          <a:xfrm>
            <a:off x="1115568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74</a:t>
            </a:fld>
            <a:endParaRPr lang="en-US"/>
          </a:p>
        </p:txBody>
      </p:sp>
    </p:spTree>
  </p:cSld>
  <p:clrMapOvr>
    <a:masterClrMapping/>
  </p:clrMapOvr>
</p:sld>
</file>

<file path=ppt/slides/slide75.xml><?xml version="1.0" encoding="utf-8"?>
<p:sld xmlns:a="http://schemas.openxmlformats.org/drawingml/2006/main" xmlns:r="http://schemas.openxmlformats.org/officeDocument/2006/relationships" xmlns:p="http://schemas.openxmlformats.org/presentationml/2006/main">
  <p:cSld name="Slide 75">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algn="ctr" indent="0" marL="0">
              <a:buNone/>
            </a:pPr>
            <a:r>
              <a:rPr lang="en-US" sz="2400" b="1" dirty="0">
                <a:solidFill>
                  <a:schemeClr val="bg1"/>
                </a:solidFill>
                <a:latin typeface="Georgia" pitchFamily="34" charset="0"/>
                <a:ea typeface="Georgia" pitchFamily="34" charset="-122"/>
                <a:cs typeface="Georgia" pitchFamily="34" charset="-120"/>
              </a:rPr>
              <a:t>Surah Ar-Rum</a:t>
            </a:r>
            <a:endParaRPr lang="en-US" sz="2400" dirty="0"/>
          </a:p>
        </p:txBody>
      </p:sp>
      <p:sp>
        <p:nvSpPr>
          <p:cNvPr id="3" name="Text 1"/>
          <p:cNvSpPr txBox="1"/>
          <p:nvPr/>
        </p:nvSpPr>
        <p:spPr>
          <a:xfrm>
            <a:off x="777240" y="548640"/>
            <a:ext cx="2651760" cy="384048"/>
          </a:xfrm>
          <a:prstGeom prst="rect">
            <a:avLst/>
          </a:prstGeom>
          <a:noFill/>
          <a:ln/>
        </p:spPr>
        <p:txBody>
          <a:bodyPr wrap="square" lIns="0" tIns="0" rIns="0" bIns="0" rtlCol="0" anchor="ctr"/>
          <a:lstStyle/>
          <a:p>
            <a:pPr algn="l" indent="0" marL="0">
              <a:buNone/>
            </a:pPr>
            <a:r>
              <a:rPr lang="en-US" altLang="en-US" sz="1500" b="1" dirty="0">
                <a:solidFill>
                  <a:schemeClr val="accent2"/>
                </a:solidFill>
                <a:latin typeface="Arial" pitchFamily="34" charset="0"/>
                <a:ea typeface="Arial" pitchFamily="34" charset="-122"/>
                <a:cs typeface="Arial" pitchFamily="34" charset="-120"/>
              </a:rPr>
              <a:t>Verses 58 – 60</a:t>
            </a:r>
            <a:endParaRPr lang="en-US" sz="1500" dirty="0"/>
          </a:p>
        </p:txBody>
      </p:sp>
      <p:sp>
        <p:nvSpPr>
          <p:cNvPr id="4" name="Text 2"/>
          <p:cNvSpPr txBox="1"/>
          <p:nvPr/>
        </p:nvSpPr>
        <p:spPr>
          <a:xfrm>
            <a:off x="8732520" y="548640"/>
            <a:ext cx="2651760" cy="384048"/>
          </a:xfrm>
          <a:prstGeom prst="rect">
            <a:avLst/>
          </a:prstGeom>
          <a:noFill/>
          <a:ln/>
        </p:spPr>
        <p:txBody>
          <a:bodyPr wrap="square" lIns="0" tIns="0" rIns="0" bIns="0" rtlCol="0" anchor="ctr"/>
          <a:lstStyle/>
          <a:p>
            <a:pPr algn="r" indent="0" marL="0">
              <a:buNone/>
            </a:pPr>
            <a:r>
              <a:rPr lang="en-US" altLang="en-US" sz="1300" i="1" dirty="0">
                <a:solidFill>
                  <a:schemeClr val="accent4"/>
                </a:solidFill>
                <a:latin typeface="Arial" pitchFamily="34" charset="0"/>
                <a:ea typeface="Arial" pitchFamily="34" charset="-122"/>
                <a:cs typeface="Arial" pitchFamily="34" charset="-120"/>
              </a:rPr>
              <a:t>Ibn Kathir, simplified</a:t>
            </a:r>
            <a:endParaRPr lang="en-US" sz="1300" dirty="0"/>
          </a:p>
        </p:txBody>
      </p:sp>
      <p:sp>
        <p:nvSpPr>
          <p:cNvPr id="5" name="Shape 3"/>
          <p:cNvSpPr/>
          <p:nvPr/>
        </p:nvSpPr>
        <p:spPr>
          <a:xfrm>
            <a:off x="713232" y="1405890"/>
            <a:ext cx="548640" cy="548640"/>
          </a:xfrm>
          <a:prstGeom prst="star8">
            <a:avLst/>
          </a:prstGeom>
          <a:solidFill>
            <a:schemeClr val="accent2"/>
          </a:solidFill>
          <a:ln/>
        </p:spPr>
      </p:sp>
      <p:sp>
        <p:nvSpPr>
          <p:cNvPr id="6" name="Shape 4"/>
          <p:cNvSpPr/>
          <p:nvPr/>
        </p:nvSpPr>
        <p:spPr>
          <a:xfrm>
            <a:off x="822960" y="1515618"/>
            <a:ext cx="329184" cy="329184"/>
          </a:xfrm>
          <a:prstGeom prst="ellipse">
            <a:avLst/>
          </a:prstGeom>
          <a:solidFill>
            <a:schemeClr val="bg2"/>
          </a:solidFill>
          <a:ln w="19050">
            <a:solidFill>
              <a:schemeClr val="tx2"/>
            </a:solidFill>
            <a:prstDash val="solid"/>
          </a:ln>
        </p:spPr>
      </p:sp>
      <p:sp>
        <p:nvSpPr>
          <p:cNvPr id="7" name="Text 5"/>
          <p:cNvSpPr txBox="1"/>
          <p:nvPr/>
        </p:nvSpPr>
        <p:spPr>
          <a:xfrm>
            <a:off x="713232" y="1405890"/>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58</a:t>
            </a:r>
            <a:endParaRPr lang="en-US" sz="1600" dirty="0"/>
          </a:p>
        </p:txBody>
      </p:sp>
      <p:sp>
        <p:nvSpPr>
          <p:cNvPr id="8" name="Text 6"/>
          <p:cNvSpPr txBox="1"/>
          <p:nvPr/>
        </p:nvSpPr>
        <p:spPr>
          <a:xfrm>
            <a:off x="1444752" y="1387602"/>
            <a:ext cx="10012680" cy="1801368"/>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وَلَقَدْ ضَرَبْنَا لِلنَّاسِ فِي هَٰذَا الْقُرْءَانِ مِن كُلِّ مَثَلٍ وَلَئِن جِئْتَهُم بِـَٔايَةٍ لَّيَقُولَنَّ الَّذِينَ كَفَرُواْ إِنْ أَنتُمْ إِلَّا مُبْطِلُونَ</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We have given people every kind of example in this Qur'an. Yet if you bring them a miracle, the disbelievers will say: You are only people of falsehood.</a:t>
            </a:r>
            <a:endParaRPr lang="en-US" sz="3000" dirty="0"/>
          </a:p>
        </p:txBody>
      </p:sp>
      <p:sp>
        <p:nvSpPr>
          <p:cNvPr id="9" name="Shape 7"/>
          <p:cNvSpPr/>
          <p:nvPr/>
        </p:nvSpPr>
        <p:spPr>
          <a:xfrm>
            <a:off x="1444752" y="3323844"/>
            <a:ext cx="8641080" cy="0"/>
          </a:xfrm>
          <a:prstGeom prst="line">
            <a:avLst/>
          </a:prstGeom>
          <a:noFill/>
          <a:ln w="9525">
            <a:solidFill>
              <a:schemeClr val="accent2"/>
            </a:solidFill>
            <a:prstDash val="dash"/>
          </a:ln>
        </p:spPr>
      </p:sp>
      <p:sp>
        <p:nvSpPr>
          <p:cNvPr id="10" name="Shape 8"/>
          <p:cNvSpPr/>
          <p:nvPr/>
        </p:nvSpPr>
        <p:spPr>
          <a:xfrm>
            <a:off x="713232" y="3504438"/>
            <a:ext cx="548640" cy="548640"/>
          </a:xfrm>
          <a:prstGeom prst="star8">
            <a:avLst/>
          </a:prstGeom>
          <a:solidFill>
            <a:schemeClr val="accent2"/>
          </a:solidFill>
          <a:ln/>
        </p:spPr>
      </p:sp>
      <p:sp>
        <p:nvSpPr>
          <p:cNvPr id="11" name="Shape 9"/>
          <p:cNvSpPr/>
          <p:nvPr/>
        </p:nvSpPr>
        <p:spPr>
          <a:xfrm>
            <a:off x="822960" y="3614166"/>
            <a:ext cx="329184" cy="329184"/>
          </a:xfrm>
          <a:prstGeom prst="ellipse">
            <a:avLst/>
          </a:prstGeom>
          <a:solidFill>
            <a:schemeClr val="bg2"/>
          </a:solidFill>
          <a:ln w="19050">
            <a:solidFill>
              <a:schemeClr val="tx2"/>
            </a:solidFill>
            <a:prstDash val="solid"/>
          </a:ln>
        </p:spPr>
      </p:sp>
      <p:sp>
        <p:nvSpPr>
          <p:cNvPr id="12" name="Text 10"/>
          <p:cNvSpPr txBox="1"/>
          <p:nvPr/>
        </p:nvSpPr>
        <p:spPr>
          <a:xfrm>
            <a:off x="713232" y="3504438"/>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59</a:t>
            </a:r>
            <a:endParaRPr lang="en-US" sz="1600" dirty="0"/>
          </a:p>
        </p:txBody>
      </p:sp>
      <p:sp>
        <p:nvSpPr>
          <p:cNvPr id="13" name="Text 11"/>
          <p:cNvSpPr txBox="1"/>
          <p:nvPr/>
        </p:nvSpPr>
        <p:spPr>
          <a:xfrm>
            <a:off x="1444752" y="3486150"/>
            <a:ext cx="10012680" cy="992124"/>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كَذَٰلِكَ يَطْبَعُ اللَّهُ عَلَىٰ قُلُوبِ الَّذِينَ لَا يَعْلَمُونَ</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In this way Allah seals the hearts of those who do not know the truth.</a:t>
            </a:r>
            <a:endParaRPr lang="en-US" sz="3000" dirty="0"/>
          </a:p>
        </p:txBody>
      </p:sp>
      <p:sp>
        <p:nvSpPr>
          <p:cNvPr id="14" name="Shape 12"/>
          <p:cNvSpPr/>
          <p:nvPr/>
        </p:nvSpPr>
        <p:spPr>
          <a:xfrm>
            <a:off x="1444752" y="4613148"/>
            <a:ext cx="8641080" cy="0"/>
          </a:xfrm>
          <a:prstGeom prst="line">
            <a:avLst/>
          </a:prstGeom>
          <a:noFill/>
          <a:ln w="9525">
            <a:solidFill>
              <a:schemeClr val="accent2"/>
            </a:solidFill>
            <a:prstDash val="dash"/>
          </a:ln>
        </p:spPr>
      </p:sp>
      <p:sp>
        <p:nvSpPr>
          <p:cNvPr id="15" name="Shape 13"/>
          <p:cNvSpPr/>
          <p:nvPr/>
        </p:nvSpPr>
        <p:spPr>
          <a:xfrm>
            <a:off x="713232" y="4793742"/>
            <a:ext cx="548640" cy="548640"/>
          </a:xfrm>
          <a:prstGeom prst="star8">
            <a:avLst/>
          </a:prstGeom>
          <a:solidFill>
            <a:schemeClr val="accent2"/>
          </a:solidFill>
          <a:ln/>
        </p:spPr>
      </p:sp>
      <p:sp>
        <p:nvSpPr>
          <p:cNvPr id="16" name="Shape 14"/>
          <p:cNvSpPr/>
          <p:nvPr/>
        </p:nvSpPr>
        <p:spPr>
          <a:xfrm>
            <a:off x="822960" y="4903470"/>
            <a:ext cx="329184" cy="329184"/>
          </a:xfrm>
          <a:prstGeom prst="ellipse">
            <a:avLst/>
          </a:prstGeom>
          <a:solidFill>
            <a:schemeClr val="bg2"/>
          </a:solidFill>
          <a:ln w="19050">
            <a:solidFill>
              <a:schemeClr val="tx2"/>
            </a:solidFill>
            <a:prstDash val="solid"/>
          </a:ln>
        </p:spPr>
      </p:sp>
      <p:sp>
        <p:nvSpPr>
          <p:cNvPr id="17" name="Text 15"/>
          <p:cNvSpPr txBox="1"/>
          <p:nvPr/>
        </p:nvSpPr>
        <p:spPr>
          <a:xfrm>
            <a:off x="713232" y="4793742"/>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60</a:t>
            </a:r>
            <a:endParaRPr lang="en-US" sz="1600" dirty="0"/>
          </a:p>
        </p:txBody>
      </p:sp>
      <p:sp>
        <p:nvSpPr>
          <p:cNvPr id="18" name="Text 16"/>
          <p:cNvSpPr txBox="1"/>
          <p:nvPr/>
        </p:nvSpPr>
        <p:spPr>
          <a:xfrm>
            <a:off x="1444752" y="4775454"/>
            <a:ext cx="10012680" cy="1252728"/>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فَاصْبِرْ إِنَّ وَعْدَ اللَّهِ حَقٌّ وَلَا يَسْتَخِفَّنَّكَ الَّذِينَ لَا يُوقِنُونَ</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So be patient; Allah's promise to help you is true. Do not let those who lack certainty make you restless and lose patience.</a:t>
            </a:r>
            <a:endParaRPr lang="en-US" sz="3000" dirty="0"/>
          </a:p>
        </p:txBody>
      </p:sp>
      <p:sp>
        <p:nvSpPr>
          <p:cNvPr id="25" name="Slide Number Placeholder 0"/>
          <p:cNvSpPr>
            <a:spLocks noGrp="1"/>
          </p:cNvSpPr>
          <p:nvPr>
            <p:ph type="sldNum" sz="quarter" idx="4294967295"/>
          </p:nvPr>
        </p:nvSpPr>
        <p:spPr>
          <a:xfrm>
            <a:off x="1115568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75</a:t>
            </a:fld>
            <a:endParaRPr lang="en-US"/>
          </a:p>
        </p:txBody>
      </p:sp>
    </p:spTree>
  </p:cSld>
  <p:clrMapOvr>
    <a:masterClrMapping/>
  </p:clrMapOvr>
</p:sld>
</file>

<file path=ppt/slides/slide76.xml><?xml version="1.0" encoding="utf-8"?>
<p:sld xmlns:a="http://schemas.openxmlformats.org/drawingml/2006/main" xmlns:r="http://schemas.openxmlformats.org/officeDocument/2006/relationships" xmlns:p="http://schemas.openxmlformats.org/presentationml/2006/main">
  <p:cSld name="Slide 76">
    <p:spTree>
      <p:nvGrpSpPr>
        <p:cNvPr id="1" name=""/>
        <p:cNvGrpSpPr/>
        <p:nvPr/>
      </p:nvGrpSpPr>
      <p:grpSpPr>
        <a:xfrm>
          <a:off x="0" y="0"/>
          <a:ext cx="0" cy="0"/>
          <a:chOff x="0" y="0"/>
          <a:chExt cx="0" cy="0"/>
        </a:xfrm>
      </p:grpSpPr>
      <p:sp>
        <p:nvSpPr>
          <p:cNvPr id="2" name="Text 0"/>
          <p:cNvSpPr txBox="1"/>
          <p:nvPr/>
        </p:nvSpPr>
        <p:spPr>
          <a:xfrm>
            <a:off x="3581248" y="603504"/>
            <a:ext cx="5029200" cy="987552"/>
          </a:xfrm>
          <a:prstGeom prst="rect">
            <a:avLst/>
          </a:prstGeom>
          <a:noFill/>
          <a:ln/>
        </p:spPr>
        <p:txBody>
          <a:bodyPr wrap="square" lIns="0" tIns="0" rIns="0" bIns="0" rtlCol="0" anchor="ctr"/>
          <a:lstStyle/>
          <a:p>
            <a:pPr algn="ctr" indent="0" marL="0">
              <a:buNone/>
            </a:pPr>
            <a:r>
              <a:rPr lang="en-US" altLang="en-US" sz="3000" b="1" dirty="0">
                <a:solidFill>
                  <a:schemeClr val="accent2"/>
                </a:solidFill>
                <a:latin typeface="Georgia" pitchFamily="34" charset="0"/>
                <a:ea typeface="Georgia" pitchFamily="34" charset="-122"/>
                <a:cs typeface="Georgia" pitchFamily="34" charset="-120"/>
              </a:rPr>
              <a:t>Surah Al-'Ankabut</a:t>
            </a:r>
            <a:endParaRPr lang="en-US" sz="3000" dirty="0"/>
          </a:p>
        </p:txBody>
      </p:sp>
      <p:sp>
        <p:nvSpPr>
          <p:cNvPr id="3" name="Shape 1"/>
          <p:cNvSpPr/>
          <p:nvPr/>
        </p:nvSpPr>
        <p:spPr>
          <a:xfrm>
            <a:off x="975208" y="1828800"/>
            <a:ext cx="3291840" cy="457200"/>
          </a:xfrm>
          <a:prstGeom prst="roundRect">
            <a:avLst>
              <a:gd name="adj" fmla="val 50000"/>
            </a:avLst>
          </a:prstGeom>
          <a:solidFill>
            <a:schemeClr val="tx2"/>
          </a:solidFill>
          <a:ln w="15875">
            <a:solidFill>
              <a:schemeClr val="accent2"/>
            </a:solidFill>
            <a:prstDash val="solid"/>
          </a:ln>
        </p:spPr>
      </p:sp>
      <p:sp>
        <p:nvSpPr>
          <p:cNvPr id="4" name="Text 2"/>
          <p:cNvSpPr txBox="1"/>
          <p:nvPr/>
        </p:nvSpPr>
        <p:spPr>
          <a:xfrm>
            <a:off x="1066648" y="1828800"/>
            <a:ext cx="3108960" cy="457200"/>
          </a:xfrm>
          <a:prstGeom prst="rect">
            <a:avLst/>
          </a:prstGeom>
          <a:noFill/>
          <a:ln/>
        </p:spPr>
        <p:txBody>
          <a:bodyPr wrap="square" lIns="0" tIns="0" rIns="0" bIns="0" rtlCol="0" anchor="ctr">
            <a:normAutofit/>
          </a:bodyPr>
          <a:lstStyle/>
          <a:p>
            <a:pPr algn="ctr" indent="0" marL="0">
              <a:buNone/>
            </a:pPr>
            <a:r>
              <a:rPr lang="en-US" altLang="en-US" sz="1400" b="1" dirty="0">
                <a:solidFill>
                  <a:schemeClr val="bg1"/>
                </a:solidFill>
                <a:latin typeface="Arial" pitchFamily="34" charset="0"/>
                <a:ea typeface="Arial" pitchFamily="34" charset="-122"/>
                <a:cs typeface="Arial" pitchFamily="34" charset="-120"/>
              </a:rPr>
              <a:t>In this juz: verses 46 – 69</a:t>
            </a:r>
            <a:endParaRPr lang="en-US" sz="1400" dirty="0"/>
          </a:p>
        </p:txBody>
      </p:sp>
      <p:sp>
        <p:nvSpPr>
          <p:cNvPr id="5" name="Shape 3"/>
          <p:cNvSpPr/>
          <p:nvPr/>
        </p:nvSpPr>
        <p:spPr>
          <a:xfrm>
            <a:off x="4449928" y="1828800"/>
            <a:ext cx="3291840" cy="457200"/>
          </a:xfrm>
          <a:prstGeom prst="roundRect">
            <a:avLst>
              <a:gd name="adj" fmla="val 50000"/>
            </a:avLst>
          </a:prstGeom>
          <a:solidFill>
            <a:schemeClr val="tx2"/>
          </a:solidFill>
          <a:ln w="15875">
            <a:solidFill>
              <a:schemeClr val="accent2"/>
            </a:solidFill>
            <a:prstDash val="solid"/>
          </a:ln>
        </p:spPr>
      </p:sp>
      <p:sp>
        <p:nvSpPr>
          <p:cNvPr id="6" name="Text 4"/>
          <p:cNvSpPr txBox="1"/>
          <p:nvPr/>
        </p:nvSpPr>
        <p:spPr>
          <a:xfrm>
            <a:off x="4541368" y="1828800"/>
            <a:ext cx="3108960" cy="457200"/>
          </a:xfrm>
          <a:prstGeom prst="rect">
            <a:avLst/>
          </a:prstGeom>
          <a:noFill/>
          <a:ln/>
        </p:spPr>
        <p:txBody>
          <a:bodyPr wrap="square" lIns="0" tIns="0" rIns="0" bIns="0" rtlCol="0" anchor="ctr">
            <a:normAutofit/>
          </a:bodyPr>
          <a:lstStyle/>
          <a:p>
            <a:pPr algn="ctr" indent="0" marL="0">
              <a:buNone/>
            </a:pPr>
            <a:r>
              <a:rPr lang="en-US" altLang="en-US" sz="1400" b="1" dirty="0">
                <a:solidFill>
                  <a:schemeClr val="bg1"/>
                </a:solidFill>
                <a:latin typeface="Arial" pitchFamily="34" charset="0"/>
                <a:ea typeface="Arial" pitchFamily="34" charset="-122"/>
                <a:cs typeface="Arial" pitchFamily="34" charset="-120"/>
              </a:rPr>
              <a:t>Makki</a:t>
            </a:r>
            <a:endParaRPr lang="en-US" sz="1400" dirty="0"/>
          </a:p>
        </p:txBody>
      </p:sp>
      <p:sp>
        <p:nvSpPr>
          <p:cNvPr id="7" name="Shape 5"/>
          <p:cNvSpPr/>
          <p:nvPr/>
        </p:nvSpPr>
        <p:spPr>
          <a:xfrm>
            <a:off x="7924648" y="1828800"/>
            <a:ext cx="3291840" cy="457200"/>
          </a:xfrm>
          <a:prstGeom prst="roundRect">
            <a:avLst>
              <a:gd name="adj" fmla="val 50000"/>
            </a:avLst>
          </a:prstGeom>
          <a:solidFill>
            <a:schemeClr val="tx2"/>
          </a:solidFill>
          <a:ln w="15875">
            <a:solidFill>
              <a:schemeClr val="accent2"/>
            </a:solidFill>
            <a:prstDash val="solid"/>
          </a:ln>
        </p:spPr>
      </p:sp>
      <p:sp>
        <p:nvSpPr>
          <p:cNvPr id="8" name="Text 6"/>
          <p:cNvSpPr txBox="1"/>
          <p:nvPr/>
        </p:nvSpPr>
        <p:spPr>
          <a:xfrm>
            <a:off x="8016088" y="1828800"/>
            <a:ext cx="3108960" cy="457200"/>
          </a:xfrm>
          <a:prstGeom prst="rect">
            <a:avLst/>
          </a:prstGeom>
          <a:noFill/>
          <a:ln/>
        </p:spPr>
        <p:txBody>
          <a:bodyPr wrap="square" lIns="0" tIns="0" rIns="0" bIns="0" rtlCol="0" anchor="ctr">
            <a:normAutofit/>
          </a:bodyPr>
          <a:lstStyle/>
          <a:p>
            <a:pPr algn="ctr" indent="0" marL="0">
              <a:buNone/>
            </a:pPr>
            <a:r>
              <a:rPr lang="en-US" altLang="en-US" sz="1400" b="1" dirty="0">
                <a:solidFill>
                  <a:schemeClr val="bg1"/>
                </a:solidFill>
                <a:latin typeface="Arial" pitchFamily="34" charset="0"/>
                <a:ea typeface="Arial" pitchFamily="34" charset="-122"/>
                <a:cs typeface="Arial" pitchFamily="34" charset="-120"/>
              </a:rPr>
              <a:t>Surah no. 29 in the Mushaf</a:t>
            </a:r>
            <a:endParaRPr lang="en-US" sz="1400" dirty="0"/>
          </a:p>
        </p:txBody>
      </p:sp>
      <p:sp>
        <p:nvSpPr>
          <p:cNvPr id="9" name="Shape 7"/>
          <p:cNvSpPr/>
          <p:nvPr/>
        </p:nvSpPr>
        <p:spPr>
          <a:xfrm>
            <a:off x="655168" y="2880360"/>
            <a:ext cx="5257800" cy="3246120"/>
          </a:xfrm>
          <a:prstGeom prst="roundRect">
            <a:avLst>
              <a:gd name="adj" fmla="val 4225"/>
            </a:avLst>
          </a:prstGeom>
          <a:solidFill>
            <a:schemeClr val="bg2"/>
          </a:solidFill>
          <a:ln w="25400">
            <a:solidFill>
              <a:schemeClr val="accent2"/>
            </a:solidFill>
            <a:prstDash val="solid"/>
          </a:ln>
        </p:spPr>
      </p:sp>
      <p:sp>
        <p:nvSpPr>
          <p:cNvPr id="10" name="Shape 8"/>
          <p:cNvSpPr/>
          <p:nvPr/>
        </p:nvSpPr>
        <p:spPr>
          <a:xfrm>
            <a:off x="1821028" y="2651760"/>
            <a:ext cx="2926080" cy="457200"/>
          </a:xfrm>
          <a:prstGeom prst="roundRect">
            <a:avLst>
              <a:gd name="adj" fmla="val 50000"/>
            </a:avLst>
          </a:prstGeom>
          <a:solidFill>
            <a:schemeClr val="accent6"/>
          </a:solidFill>
          <a:ln w="15875">
            <a:solidFill>
              <a:schemeClr val="accent2"/>
            </a:solidFill>
            <a:prstDash val="solid"/>
          </a:ln>
        </p:spPr>
      </p:sp>
      <p:sp>
        <p:nvSpPr>
          <p:cNvPr id="11" name="Text 9"/>
          <p:cNvSpPr txBox="1"/>
          <p:nvPr/>
        </p:nvSpPr>
        <p:spPr>
          <a:xfrm>
            <a:off x="1821028" y="2651760"/>
            <a:ext cx="2926080" cy="457200"/>
          </a:xfrm>
          <a:prstGeom prst="rect">
            <a:avLst/>
          </a:prstGeom>
          <a:noFill/>
          <a:ln/>
        </p:spPr>
        <p:txBody>
          <a:bodyPr wrap="square" lIns="0" tIns="0" rIns="0" bIns="0" rtlCol="0" anchor="ctr"/>
          <a:lstStyle/>
          <a:p>
            <a:pPr algn="ctr" indent="0" marL="0">
              <a:buNone/>
            </a:pPr>
            <a:r>
              <a:rPr lang="en-US" altLang="en-US" sz="1600" b="1" dirty="0">
                <a:solidFill>
                  <a:schemeClr val="bg1"/>
                </a:solidFill>
                <a:latin typeface="Arial" pitchFamily="34" charset="0"/>
                <a:ea typeface="Arial" pitchFamily="34" charset="-122"/>
                <a:cs typeface="Arial" pitchFamily="34" charset="-120"/>
              </a:rPr>
              <a:t>Reason for Revelation</a:t>
            </a:r>
            <a:endParaRPr lang="en-US" sz="1600" dirty="0"/>
          </a:p>
        </p:txBody>
      </p:sp>
      <p:sp>
        <p:nvSpPr>
          <p:cNvPr id="12" name="Text 10"/>
          <p:cNvSpPr txBox="1"/>
          <p:nvPr/>
        </p:nvSpPr>
        <p:spPr>
          <a:xfrm>
            <a:off x="975208" y="3246120"/>
            <a:ext cx="4617720" cy="2697480"/>
          </a:xfrm>
          <a:prstGeom prst="rect">
            <a:avLst/>
          </a:prstGeom>
          <a:noFill/>
          <a:ln/>
        </p:spPr>
        <p:txBody>
          <a:bodyPr wrap="square" lIns="0" tIns="0" rIns="0" bIns="0" rtlCol="0" anchor="ctr"/>
          <a:lstStyle/>
          <a:p>
            <a:pPr algn="l" indent="0" marL="0">
              <a:lnSpc>
                <a:spcPct val="110000"/>
              </a:lnSpc>
              <a:buNone/>
            </a:pPr>
            <a:r>
              <a:rPr lang="en-US" altLang="en-US" sz="1700" dirty="0">
                <a:solidFill>
                  <a:schemeClr val="tx1"/>
                </a:solidFill>
                <a:latin typeface="Arial" pitchFamily="34" charset="0"/>
                <a:ea typeface="Arial" pitchFamily="34" charset="-122"/>
                <a:cs typeface="Arial" pitchFamily="34" charset="-120"/>
              </a:rPr>
              <a:t>No specific, well-known reason for revelation is reported for this surah; it was revealed to remind and guide people.</a:t>
            </a:r>
            <a:endParaRPr lang="en-US" sz="1700" dirty="0"/>
          </a:p>
        </p:txBody>
      </p:sp>
      <p:sp>
        <p:nvSpPr>
          <p:cNvPr id="13" name="Shape 11"/>
          <p:cNvSpPr/>
          <p:nvPr/>
        </p:nvSpPr>
        <p:spPr>
          <a:xfrm>
            <a:off x="6278728" y="2880360"/>
            <a:ext cx="5257800" cy="3246120"/>
          </a:xfrm>
          <a:prstGeom prst="roundRect">
            <a:avLst>
              <a:gd name="adj" fmla="val 4225"/>
            </a:avLst>
          </a:prstGeom>
          <a:solidFill>
            <a:schemeClr val="bg2"/>
          </a:solidFill>
          <a:ln w="25400">
            <a:solidFill>
              <a:schemeClr val="accent2"/>
            </a:solidFill>
            <a:prstDash val="solid"/>
          </a:ln>
        </p:spPr>
      </p:sp>
      <p:sp>
        <p:nvSpPr>
          <p:cNvPr id="14" name="Shape 12"/>
          <p:cNvSpPr/>
          <p:nvPr/>
        </p:nvSpPr>
        <p:spPr>
          <a:xfrm>
            <a:off x="7444588" y="2651760"/>
            <a:ext cx="2926080" cy="457200"/>
          </a:xfrm>
          <a:prstGeom prst="roundRect">
            <a:avLst>
              <a:gd name="adj" fmla="val 50000"/>
            </a:avLst>
          </a:prstGeom>
          <a:solidFill>
            <a:schemeClr val="tx2"/>
          </a:solidFill>
          <a:ln w="15875">
            <a:solidFill>
              <a:schemeClr val="accent2"/>
            </a:solidFill>
            <a:prstDash val="solid"/>
          </a:ln>
        </p:spPr>
      </p:sp>
      <p:sp>
        <p:nvSpPr>
          <p:cNvPr id="15" name="Text 13"/>
          <p:cNvSpPr txBox="1"/>
          <p:nvPr/>
        </p:nvSpPr>
        <p:spPr>
          <a:xfrm>
            <a:off x="7444588" y="2651760"/>
            <a:ext cx="2926080" cy="457200"/>
          </a:xfrm>
          <a:prstGeom prst="rect">
            <a:avLst/>
          </a:prstGeom>
          <a:noFill/>
          <a:ln/>
        </p:spPr>
        <p:txBody>
          <a:bodyPr wrap="square" lIns="0" tIns="0" rIns="0" bIns="0" rtlCol="0" anchor="ctr"/>
          <a:lstStyle/>
          <a:p>
            <a:pPr algn="ctr" indent="0" marL="0">
              <a:buNone/>
            </a:pPr>
            <a:r>
              <a:rPr lang="en-US" altLang="en-US" sz="1600" b="1" dirty="0">
                <a:solidFill>
                  <a:schemeClr val="bg1"/>
                </a:solidFill>
                <a:latin typeface="Arial" pitchFamily="34" charset="0"/>
                <a:ea typeface="Arial" pitchFamily="34" charset="-122"/>
                <a:cs typeface="Arial" pitchFamily="34" charset="-120"/>
              </a:rPr>
              <a:t>Theme of the Surah</a:t>
            </a:r>
            <a:endParaRPr lang="en-US" sz="1600" dirty="0"/>
          </a:p>
        </p:txBody>
      </p:sp>
      <p:sp>
        <p:nvSpPr>
          <p:cNvPr id="16" name="Text 14"/>
          <p:cNvSpPr txBox="1"/>
          <p:nvPr/>
        </p:nvSpPr>
        <p:spPr>
          <a:xfrm>
            <a:off x="6598768" y="3246120"/>
            <a:ext cx="4617720" cy="2697480"/>
          </a:xfrm>
          <a:prstGeom prst="rect">
            <a:avLst/>
          </a:prstGeom>
          <a:noFill/>
          <a:ln/>
        </p:spPr>
        <p:txBody>
          <a:bodyPr wrap="square" lIns="0" tIns="0" rIns="0" bIns="0" rtlCol="0" anchor="ctr"/>
          <a:lstStyle/>
          <a:p>
            <a:pPr algn="l" indent="0" marL="0">
              <a:lnSpc>
                <a:spcPct val="110000"/>
              </a:lnSpc>
              <a:buNone/>
            </a:pPr>
            <a:r>
              <a:rPr lang="en-US" altLang="en-US" sz="1700" dirty="0">
                <a:solidFill>
                  <a:schemeClr val="tx1"/>
                </a:solidFill>
                <a:latin typeface="Arial" pitchFamily="34" charset="0"/>
                <a:ea typeface="Arial" pitchFamily="34" charset="-122"/>
                <a:cs typeface="Arial" pitchFamily="34" charset="-120"/>
              </a:rPr>
              <a:t>This juz starts from verse 46: good manners in discussing with the People of the Book, proofs that the Qur'an is true, emigrating for Allah's sake, trusting Allah for provision, and that the home of the Hereafter is the real life.</a:t>
            </a:r>
            <a:endParaRPr lang="en-US" sz="1700" dirty="0"/>
          </a:p>
        </p:txBody>
      </p:sp>
    </p:spTree>
  </p:cSld>
  <p:clrMapOvr>
    <a:masterClrMapping/>
  </p:clrMapOvr>
</p:sld>
</file>

<file path=ppt/slides/slide77.xml><?xml version="1.0" encoding="utf-8"?>
<p:sld xmlns:a="http://schemas.openxmlformats.org/drawingml/2006/main" xmlns:r="http://schemas.openxmlformats.org/officeDocument/2006/relationships" xmlns:p="http://schemas.openxmlformats.org/presentationml/2006/main">
  <p:cSld name="Slide 77">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algn="ctr" indent="0" marL="0">
              <a:buNone/>
            </a:pPr>
            <a:r>
              <a:rPr lang="en-US" sz="2400" b="1" dirty="0">
                <a:solidFill>
                  <a:schemeClr val="bg1"/>
                </a:solidFill>
                <a:latin typeface="Georgia" pitchFamily="34" charset="0"/>
                <a:ea typeface="Georgia" pitchFamily="34" charset="-122"/>
                <a:cs typeface="Georgia" pitchFamily="34" charset="-120"/>
              </a:rPr>
              <a:t>Surah Al-'Ankabut</a:t>
            </a:r>
            <a:endParaRPr lang="en-US" sz="2400" dirty="0"/>
          </a:p>
        </p:txBody>
      </p:sp>
      <p:sp>
        <p:nvSpPr>
          <p:cNvPr id="3" name="Text 1"/>
          <p:cNvSpPr txBox="1"/>
          <p:nvPr/>
        </p:nvSpPr>
        <p:spPr>
          <a:xfrm>
            <a:off x="777240" y="548640"/>
            <a:ext cx="2651760" cy="384048"/>
          </a:xfrm>
          <a:prstGeom prst="rect">
            <a:avLst/>
          </a:prstGeom>
          <a:noFill/>
          <a:ln/>
        </p:spPr>
        <p:txBody>
          <a:bodyPr wrap="square" lIns="0" tIns="0" rIns="0" bIns="0" rtlCol="0" anchor="ctr"/>
          <a:lstStyle/>
          <a:p>
            <a:pPr algn="l" indent="0" marL="0">
              <a:buNone/>
            </a:pPr>
            <a:r>
              <a:rPr lang="en-US" altLang="en-US" sz="1500" b="1" dirty="0">
                <a:solidFill>
                  <a:schemeClr val="accent2"/>
                </a:solidFill>
                <a:latin typeface="Arial" pitchFamily="34" charset="0"/>
                <a:ea typeface="Arial" pitchFamily="34" charset="-122"/>
                <a:cs typeface="Arial" pitchFamily="34" charset="-120"/>
              </a:rPr>
              <a:t>Verses 46 – 47</a:t>
            </a:r>
            <a:endParaRPr lang="en-US" sz="1500" dirty="0"/>
          </a:p>
        </p:txBody>
      </p:sp>
      <p:sp>
        <p:nvSpPr>
          <p:cNvPr id="4" name="Text 2"/>
          <p:cNvSpPr txBox="1"/>
          <p:nvPr/>
        </p:nvSpPr>
        <p:spPr>
          <a:xfrm>
            <a:off x="8732520" y="548640"/>
            <a:ext cx="2651760" cy="384048"/>
          </a:xfrm>
          <a:prstGeom prst="rect">
            <a:avLst/>
          </a:prstGeom>
          <a:noFill/>
          <a:ln/>
        </p:spPr>
        <p:txBody>
          <a:bodyPr wrap="square" lIns="0" tIns="0" rIns="0" bIns="0" rtlCol="0" anchor="ctr"/>
          <a:lstStyle/>
          <a:p>
            <a:pPr algn="r" indent="0" marL="0">
              <a:buNone/>
            </a:pPr>
            <a:r>
              <a:rPr lang="en-US" altLang="en-US" sz="1300" i="1" dirty="0">
                <a:solidFill>
                  <a:schemeClr val="accent4"/>
                </a:solidFill>
                <a:latin typeface="Arial" pitchFamily="34" charset="0"/>
                <a:ea typeface="Arial" pitchFamily="34" charset="-122"/>
                <a:cs typeface="Arial" pitchFamily="34" charset="-120"/>
              </a:rPr>
              <a:t>Ibn Kathir, simplified</a:t>
            </a:r>
            <a:endParaRPr lang="en-US" sz="1300" dirty="0"/>
          </a:p>
        </p:txBody>
      </p:sp>
      <p:sp>
        <p:nvSpPr>
          <p:cNvPr id="5" name="Shape 3"/>
          <p:cNvSpPr/>
          <p:nvPr/>
        </p:nvSpPr>
        <p:spPr>
          <a:xfrm>
            <a:off x="713232" y="1463040"/>
            <a:ext cx="548640" cy="548640"/>
          </a:xfrm>
          <a:prstGeom prst="star8">
            <a:avLst/>
          </a:prstGeom>
          <a:solidFill>
            <a:schemeClr val="accent2"/>
          </a:solidFill>
          <a:ln/>
        </p:spPr>
      </p:sp>
      <p:sp>
        <p:nvSpPr>
          <p:cNvPr id="6" name="Shape 4"/>
          <p:cNvSpPr/>
          <p:nvPr/>
        </p:nvSpPr>
        <p:spPr>
          <a:xfrm>
            <a:off x="822960" y="1572768"/>
            <a:ext cx="329184" cy="329184"/>
          </a:xfrm>
          <a:prstGeom prst="ellipse">
            <a:avLst/>
          </a:prstGeom>
          <a:solidFill>
            <a:schemeClr val="bg2"/>
          </a:solidFill>
          <a:ln w="19050">
            <a:solidFill>
              <a:schemeClr val="tx2"/>
            </a:solidFill>
            <a:prstDash val="solid"/>
          </a:ln>
        </p:spPr>
      </p:sp>
      <p:sp>
        <p:nvSpPr>
          <p:cNvPr id="7" name="Text 5"/>
          <p:cNvSpPr txBox="1"/>
          <p:nvPr/>
        </p:nvSpPr>
        <p:spPr>
          <a:xfrm>
            <a:off x="713232" y="1463040"/>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46</a:t>
            </a:r>
            <a:endParaRPr lang="en-US" sz="1600" dirty="0"/>
          </a:p>
        </p:txBody>
      </p:sp>
      <p:sp>
        <p:nvSpPr>
          <p:cNvPr id="8" name="Text 6"/>
          <p:cNvSpPr txBox="1"/>
          <p:nvPr/>
        </p:nvSpPr>
        <p:spPr>
          <a:xfrm>
            <a:off x="1444752" y="1444752"/>
            <a:ext cx="10012680" cy="2061972"/>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وَلَا تُجَٰدِلُواْ أَهْلَ الْكِتَٰبِ إِلَّا بِالَّتِي هِيَ أَحْسَنُ إِلَّا الَّذِينَ ظَلَمُواْ مِنْهُمْ وَقُولُواْ ءَامَنَّا بِالَّذِي أُنزِلَ إِلَيْنَا وَأُنزِلَ إِلَيْكُمْ وَإِلَٰهُنَا وَإِلَٰهُكُمْ وَٰحِدٌ وَنَحْنُ لَهُ مُسْلِمُونَ</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Do not argue with the People of the Book except in the best way, except with the wrongdoers among them. Say: We believe in what was sent down to us and what was sent down to you. Our God and your God is One, and we submit to Him.</a:t>
            </a:r>
            <a:endParaRPr lang="en-US" sz="3000" dirty="0"/>
          </a:p>
        </p:txBody>
      </p:sp>
      <p:sp>
        <p:nvSpPr>
          <p:cNvPr id="9" name="Shape 7"/>
          <p:cNvSpPr/>
          <p:nvPr/>
        </p:nvSpPr>
        <p:spPr>
          <a:xfrm>
            <a:off x="1444752" y="3694176"/>
            <a:ext cx="8641080" cy="0"/>
          </a:xfrm>
          <a:prstGeom prst="line">
            <a:avLst/>
          </a:prstGeom>
          <a:noFill/>
          <a:ln w="9525">
            <a:solidFill>
              <a:schemeClr val="accent2"/>
            </a:solidFill>
            <a:prstDash val="dash"/>
          </a:ln>
        </p:spPr>
      </p:sp>
      <p:sp>
        <p:nvSpPr>
          <p:cNvPr id="10" name="Shape 8"/>
          <p:cNvSpPr/>
          <p:nvPr/>
        </p:nvSpPr>
        <p:spPr>
          <a:xfrm>
            <a:off x="713232" y="3927348"/>
            <a:ext cx="548640" cy="548640"/>
          </a:xfrm>
          <a:prstGeom prst="star8">
            <a:avLst/>
          </a:prstGeom>
          <a:solidFill>
            <a:schemeClr val="accent2"/>
          </a:solidFill>
          <a:ln/>
        </p:spPr>
      </p:sp>
      <p:sp>
        <p:nvSpPr>
          <p:cNvPr id="11" name="Shape 9"/>
          <p:cNvSpPr/>
          <p:nvPr/>
        </p:nvSpPr>
        <p:spPr>
          <a:xfrm>
            <a:off x="822960" y="4037076"/>
            <a:ext cx="329184" cy="329184"/>
          </a:xfrm>
          <a:prstGeom prst="ellipse">
            <a:avLst/>
          </a:prstGeom>
          <a:solidFill>
            <a:schemeClr val="bg2"/>
          </a:solidFill>
          <a:ln w="19050">
            <a:solidFill>
              <a:schemeClr val="tx2"/>
            </a:solidFill>
            <a:prstDash val="solid"/>
          </a:ln>
        </p:spPr>
      </p:sp>
      <p:sp>
        <p:nvSpPr>
          <p:cNvPr id="12" name="Text 10"/>
          <p:cNvSpPr txBox="1"/>
          <p:nvPr/>
        </p:nvSpPr>
        <p:spPr>
          <a:xfrm>
            <a:off x="713232" y="3927348"/>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47</a:t>
            </a:r>
            <a:endParaRPr lang="en-US" sz="1600" dirty="0"/>
          </a:p>
        </p:txBody>
      </p:sp>
      <p:sp>
        <p:nvSpPr>
          <p:cNvPr id="13" name="Text 11"/>
          <p:cNvSpPr txBox="1"/>
          <p:nvPr/>
        </p:nvSpPr>
        <p:spPr>
          <a:xfrm>
            <a:off x="1444752" y="3909060"/>
            <a:ext cx="10012680" cy="2061972"/>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وَكَذَٰلِكَ أَنزَلْنَآ إِلَيْكَ الْكِتَٰبَ فَالَّذِينَ ءَاتَيْنَٰهُمُ الْكِتَٰبَ يُؤْمِنُونَ بِهِ وَمِنْ هَـٰؤُلَآءِ مَن يُؤْمِنُ بِهِ وَمَا يَجْحَدُ بِـَٔايَٰتِنَآ إِلَّا الْكَٰفِرُونَ</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Just as We sent down the Books to those before you, We have sent the Qur'an down to you. The fair-minded among the People of the Book believe in it, and some of the Arabs believe in it. No one denies Our verses except the disbelievers.</a:t>
            </a:r>
            <a:endParaRPr lang="en-US" sz="3000" dirty="0"/>
          </a:p>
        </p:txBody>
      </p:sp>
      <p:sp>
        <p:nvSpPr>
          <p:cNvPr id="25" name="Slide Number Placeholder 0"/>
          <p:cNvSpPr>
            <a:spLocks noGrp="1"/>
          </p:cNvSpPr>
          <p:nvPr>
            <p:ph type="sldNum" sz="quarter" idx="4294967295"/>
          </p:nvPr>
        </p:nvSpPr>
        <p:spPr>
          <a:xfrm>
            <a:off x="1115568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77</a:t>
            </a:fld>
            <a:endParaRPr lang="en-US"/>
          </a:p>
        </p:txBody>
      </p:sp>
    </p:spTree>
  </p:cSld>
  <p:clrMapOvr>
    <a:masterClrMapping/>
  </p:clrMapOvr>
</p:sld>
</file>

<file path=ppt/slides/slide78.xml><?xml version="1.0" encoding="utf-8"?>
<p:sld xmlns:a="http://schemas.openxmlformats.org/drawingml/2006/main" xmlns:r="http://schemas.openxmlformats.org/officeDocument/2006/relationships" xmlns:p="http://schemas.openxmlformats.org/presentationml/2006/main">
  <p:cSld name="Slide 78">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algn="ctr" indent="0" marL="0">
              <a:buNone/>
            </a:pPr>
            <a:r>
              <a:rPr lang="en-US" sz="2400" b="1" dirty="0">
                <a:solidFill>
                  <a:schemeClr val="bg1"/>
                </a:solidFill>
                <a:latin typeface="Georgia" pitchFamily="34" charset="0"/>
                <a:ea typeface="Georgia" pitchFamily="34" charset="-122"/>
                <a:cs typeface="Georgia" pitchFamily="34" charset="-120"/>
              </a:rPr>
              <a:t>Surah Al-'Ankabut</a:t>
            </a:r>
            <a:endParaRPr lang="en-US" sz="2400" dirty="0"/>
          </a:p>
        </p:txBody>
      </p:sp>
      <p:sp>
        <p:nvSpPr>
          <p:cNvPr id="3" name="Text 1"/>
          <p:cNvSpPr txBox="1"/>
          <p:nvPr/>
        </p:nvSpPr>
        <p:spPr>
          <a:xfrm>
            <a:off x="777240" y="548640"/>
            <a:ext cx="2651760" cy="384048"/>
          </a:xfrm>
          <a:prstGeom prst="rect">
            <a:avLst/>
          </a:prstGeom>
          <a:noFill/>
          <a:ln/>
        </p:spPr>
        <p:txBody>
          <a:bodyPr wrap="square" lIns="0" tIns="0" rIns="0" bIns="0" rtlCol="0" anchor="ctr"/>
          <a:lstStyle/>
          <a:p>
            <a:pPr algn="l" indent="0" marL="0">
              <a:buNone/>
            </a:pPr>
            <a:r>
              <a:rPr lang="en-US" altLang="en-US" sz="1500" b="1" dirty="0">
                <a:solidFill>
                  <a:schemeClr val="accent2"/>
                </a:solidFill>
                <a:latin typeface="Arial" pitchFamily="34" charset="0"/>
                <a:ea typeface="Arial" pitchFamily="34" charset="-122"/>
                <a:cs typeface="Arial" pitchFamily="34" charset="-120"/>
              </a:rPr>
              <a:t>Verses 48 – 50</a:t>
            </a:r>
            <a:endParaRPr lang="en-US" sz="1500" dirty="0"/>
          </a:p>
        </p:txBody>
      </p:sp>
      <p:sp>
        <p:nvSpPr>
          <p:cNvPr id="4" name="Text 2"/>
          <p:cNvSpPr txBox="1"/>
          <p:nvPr/>
        </p:nvSpPr>
        <p:spPr>
          <a:xfrm>
            <a:off x="8732520" y="548640"/>
            <a:ext cx="2651760" cy="384048"/>
          </a:xfrm>
          <a:prstGeom prst="rect">
            <a:avLst/>
          </a:prstGeom>
          <a:noFill/>
          <a:ln/>
        </p:spPr>
        <p:txBody>
          <a:bodyPr wrap="square" lIns="0" tIns="0" rIns="0" bIns="0" rtlCol="0" anchor="ctr"/>
          <a:lstStyle/>
          <a:p>
            <a:pPr algn="r" indent="0" marL="0">
              <a:buNone/>
            </a:pPr>
            <a:r>
              <a:rPr lang="en-US" altLang="en-US" sz="1300" i="1" dirty="0">
                <a:solidFill>
                  <a:schemeClr val="accent4"/>
                </a:solidFill>
                <a:latin typeface="Arial" pitchFamily="34" charset="0"/>
                <a:ea typeface="Arial" pitchFamily="34" charset="-122"/>
                <a:cs typeface="Arial" pitchFamily="34" charset="-120"/>
              </a:rPr>
              <a:t>Ibn Kathir, simplified</a:t>
            </a:r>
            <a:endParaRPr lang="en-US" sz="1300" dirty="0"/>
          </a:p>
        </p:txBody>
      </p:sp>
      <p:sp>
        <p:nvSpPr>
          <p:cNvPr id="5" name="Shape 3"/>
          <p:cNvSpPr/>
          <p:nvPr/>
        </p:nvSpPr>
        <p:spPr>
          <a:xfrm>
            <a:off x="713232" y="1453896"/>
            <a:ext cx="548640" cy="548640"/>
          </a:xfrm>
          <a:prstGeom prst="star8">
            <a:avLst/>
          </a:prstGeom>
          <a:solidFill>
            <a:schemeClr val="accent2"/>
          </a:solidFill>
          <a:ln/>
        </p:spPr>
      </p:sp>
      <p:sp>
        <p:nvSpPr>
          <p:cNvPr id="6" name="Shape 4"/>
          <p:cNvSpPr/>
          <p:nvPr/>
        </p:nvSpPr>
        <p:spPr>
          <a:xfrm>
            <a:off x="822960" y="1563624"/>
            <a:ext cx="329184" cy="329184"/>
          </a:xfrm>
          <a:prstGeom prst="ellipse">
            <a:avLst/>
          </a:prstGeom>
          <a:solidFill>
            <a:schemeClr val="bg2"/>
          </a:solidFill>
          <a:ln w="19050">
            <a:solidFill>
              <a:schemeClr val="tx2"/>
            </a:solidFill>
            <a:prstDash val="solid"/>
          </a:ln>
        </p:spPr>
      </p:sp>
      <p:sp>
        <p:nvSpPr>
          <p:cNvPr id="7" name="Text 5"/>
          <p:cNvSpPr txBox="1"/>
          <p:nvPr/>
        </p:nvSpPr>
        <p:spPr>
          <a:xfrm>
            <a:off x="713232" y="1453896"/>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48</a:t>
            </a:r>
            <a:endParaRPr lang="en-US" sz="1600" dirty="0"/>
          </a:p>
        </p:txBody>
      </p:sp>
      <p:sp>
        <p:nvSpPr>
          <p:cNvPr id="8" name="Text 6"/>
          <p:cNvSpPr txBox="1"/>
          <p:nvPr/>
        </p:nvSpPr>
        <p:spPr>
          <a:xfrm>
            <a:off x="1444752" y="1435608"/>
            <a:ext cx="10012680" cy="1252728"/>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وَمَا كُنتَ تَتْلُواْ مِن قَبْلِهِ مِن كِتَٰبٍ وَلَا تَخُطُّهُ بِيَمِينِكَ إِذًا لَّارْتَابَ الْمُبْطِلُونَ</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You, O Muhammad, did not read any book before the Qur'an, nor did you write with your right hand. If you had, the people of falsehood would have doubted that the Qur'an is from Allah.</a:t>
            </a:r>
            <a:endParaRPr lang="en-US" sz="3000" dirty="0"/>
          </a:p>
        </p:txBody>
      </p:sp>
      <p:sp>
        <p:nvSpPr>
          <p:cNvPr id="9" name="Shape 7"/>
          <p:cNvSpPr/>
          <p:nvPr/>
        </p:nvSpPr>
        <p:spPr>
          <a:xfrm>
            <a:off x="1444752" y="2871216"/>
            <a:ext cx="8641080" cy="0"/>
          </a:xfrm>
          <a:prstGeom prst="line">
            <a:avLst/>
          </a:prstGeom>
          <a:noFill/>
          <a:ln w="9525">
            <a:solidFill>
              <a:schemeClr val="accent2"/>
            </a:solidFill>
            <a:prstDash val="dash"/>
          </a:ln>
        </p:spPr>
      </p:sp>
      <p:sp>
        <p:nvSpPr>
          <p:cNvPr id="10" name="Shape 8"/>
          <p:cNvSpPr/>
          <p:nvPr/>
        </p:nvSpPr>
        <p:spPr>
          <a:xfrm>
            <a:off x="713232" y="3099816"/>
            <a:ext cx="548640" cy="548640"/>
          </a:xfrm>
          <a:prstGeom prst="star8">
            <a:avLst/>
          </a:prstGeom>
          <a:solidFill>
            <a:schemeClr val="accent2"/>
          </a:solidFill>
          <a:ln/>
        </p:spPr>
      </p:sp>
      <p:sp>
        <p:nvSpPr>
          <p:cNvPr id="11" name="Shape 9"/>
          <p:cNvSpPr/>
          <p:nvPr/>
        </p:nvSpPr>
        <p:spPr>
          <a:xfrm>
            <a:off x="822960" y="3209544"/>
            <a:ext cx="329184" cy="329184"/>
          </a:xfrm>
          <a:prstGeom prst="ellipse">
            <a:avLst/>
          </a:prstGeom>
          <a:solidFill>
            <a:schemeClr val="bg2"/>
          </a:solidFill>
          <a:ln w="19050">
            <a:solidFill>
              <a:schemeClr val="tx2"/>
            </a:solidFill>
            <a:prstDash val="solid"/>
          </a:ln>
        </p:spPr>
      </p:sp>
      <p:sp>
        <p:nvSpPr>
          <p:cNvPr id="12" name="Text 10"/>
          <p:cNvSpPr txBox="1"/>
          <p:nvPr/>
        </p:nvSpPr>
        <p:spPr>
          <a:xfrm>
            <a:off x="713232" y="3099816"/>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49</a:t>
            </a:r>
            <a:endParaRPr lang="en-US" sz="1600" dirty="0"/>
          </a:p>
        </p:txBody>
      </p:sp>
      <p:sp>
        <p:nvSpPr>
          <p:cNvPr id="13" name="Text 11"/>
          <p:cNvSpPr txBox="1"/>
          <p:nvPr/>
        </p:nvSpPr>
        <p:spPr>
          <a:xfrm>
            <a:off x="1444752" y="3081528"/>
            <a:ext cx="10012680" cy="1252728"/>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بَلْ هُوَ ءَايَٰتٌ بَيِّنَٰتٌ فِي صُدُورِ الَّذِينَ أُوتُواْ الْعِلْمَ وَمَا يَجْحَدُ بِـَٔايَٰتِنَآ إِلَّا الظَّـٰلِمُونَ</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Rather, the Qur'an is clear verses kept in the hearts of those given knowledge. No one denies Our verses except the wrongdoers.</a:t>
            </a:r>
            <a:endParaRPr lang="en-US" sz="3000" dirty="0"/>
          </a:p>
        </p:txBody>
      </p:sp>
      <p:sp>
        <p:nvSpPr>
          <p:cNvPr id="14" name="Shape 12"/>
          <p:cNvSpPr/>
          <p:nvPr/>
        </p:nvSpPr>
        <p:spPr>
          <a:xfrm>
            <a:off x="1444752" y="4517136"/>
            <a:ext cx="8641080" cy="0"/>
          </a:xfrm>
          <a:prstGeom prst="line">
            <a:avLst/>
          </a:prstGeom>
          <a:noFill/>
          <a:ln w="9525">
            <a:solidFill>
              <a:schemeClr val="accent2"/>
            </a:solidFill>
            <a:prstDash val="dash"/>
          </a:ln>
        </p:spPr>
      </p:sp>
      <p:sp>
        <p:nvSpPr>
          <p:cNvPr id="15" name="Shape 13"/>
          <p:cNvSpPr/>
          <p:nvPr/>
        </p:nvSpPr>
        <p:spPr>
          <a:xfrm>
            <a:off x="713232" y="4745736"/>
            <a:ext cx="548640" cy="548640"/>
          </a:xfrm>
          <a:prstGeom prst="star8">
            <a:avLst/>
          </a:prstGeom>
          <a:solidFill>
            <a:schemeClr val="accent2"/>
          </a:solidFill>
          <a:ln/>
        </p:spPr>
      </p:sp>
      <p:sp>
        <p:nvSpPr>
          <p:cNvPr id="16" name="Shape 14"/>
          <p:cNvSpPr/>
          <p:nvPr/>
        </p:nvSpPr>
        <p:spPr>
          <a:xfrm>
            <a:off x="822960" y="4855464"/>
            <a:ext cx="329184" cy="329184"/>
          </a:xfrm>
          <a:prstGeom prst="ellipse">
            <a:avLst/>
          </a:prstGeom>
          <a:solidFill>
            <a:schemeClr val="bg2"/>
          </a:solidFill>
          <a:ln w="19050">
            <a:solidFill>
              <a:schemeClr val="tx2"/>
            </a:solidFill>
            <a:prstDash val="solid"/>
          </a:ln>
        </p:spPr>
      </p:sp>
      <p:sp>
        <p:nvSpPr>
          <p:cNvPr id="17" name="Text 15"/>
          <p:cNvSpPr txBox="1"/>
          <p:nvPr/>
        </p:nvSpPr>
        <p:spPr>
          <a:xfrm>
            <a:off x="713232" y="4745736"/>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50</a:t>
            </a:r>
            <a:endParaRPr lang="en-US" sz="1600" dirty="0"/>
          </a:p>
        </p:txBody>
      </p:sp>
      <p:sp>
        <p:nvSpPr>
          <p:cNvPr id="18" name="Text 16"/>
          <p:cNvSpPr txBox="1"/>
          <p:nvPr/>
        </p:nvSpPr>
        <p:spPr>
          <a:xfrm>
            <a:off x="1444752" y="4727448"/>
            <a:ext cx="10012680" cy="1252728"/>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وَقَالُواْ لَوْلَآ أُنزِلَ عَلَيْهِ ءَايَٰتٌ مِّن رَّبِّهِ قُلْ إِنَّمَا الْأيَٰتُ عِندَ اللَّهِ وَإِنَّمَآ أَنَا نَذِيرٌ مُّبِينٌ</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The idol-worshippers said: Why are miracles not sent down to him from his Lord? Say: Miracles are only with Allah, and I am only a clear warner.</a:t>
            </a:r>
            <a:endParaRPr lang="en-US" sz="3000" dirty="0"/>
          </a:p>
        </p:txBody>
      </p:sp>
      <p:sp>
        <p:nvSpPr>
          <p:cNvPr id="25" name="Slide Number Placeholder 0"/>
          <p:cNvSpPr>
            <a:spLocks noGrp="1"/>
          </p:cNvSpPr>
          <p:nvPr>
            <p:ph type="sldNum" sz="quarter" idx="4294967295"/>
          </p:nvPr>
        </p:nvSpPr>
        <p:spPr>
          <a:xfrm>
            <a:off x="1115568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78</a:t>
            </a:fld>
            <a:endParaRPr lang="en-US"/>
          </a:p>
        </p:txBody>
      </p:sp>
    </p:spTree>
  </p:cSld>
  <p:clrMapOvr>
    <a:masterClrMapping/>
  </p:clrMapOvr>
</p:sld>
</file>

<file path=ppt/slides/slide79.xml><?xml version="1.0" encoding="utf-8"?>
<p:sld xmlns:a="http://schemas.openxmlformats.org/drawingml/2006/main" xmlns:r="http://schemas.openxmlformats.org/officeDocument/2006/relationships" xmlns:p="http://schemas.openxmlformats.org/presentationml/2006/main">
  <p:cSld name="Slide 79">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algn="ctr" indent="0" marL="0">
              <a:buNone/>
            </a:pPr>
            <a:r>
              <a:rPr lang="en-US" sz="2400" b="1" dirty="0">
                <a:solidFill>
                  <a:schemeClr val="bg1"/>
                </a:solidFill>
                <a:latin typeface="Georgia" pitchFamily="34" charset="0"/>
                <a:ea typeface="Georgia" pitchFamily="34" charset="-122"/>
                <a:cs typeface="Georgia" pitchFamily="34" charset="-120"/>
              </a:rPr>
              <a:t>Surah Al-'Ankabut</a:t>
            </a:r>
            <a:endParaRPr lang="en-US" sz="2400" dirty="0"/>
          </a:p>
        </p:txBody>
      </p:sp>
      <p:sp>
        <p:nvSpPr>
          <p:cNvPr id="3" name="Text 1"/>
          <p:cNvSpPr txBox="1"/>
          <p:nvPr/>
        </p:nvSpPr>
        <p:spPr>
          <a:xfrm>
            <a:off x="777240" y="548640"/>
            <a:ext cx="2651760" cy="384048"/>
          </a:xfrm>
          <a:prstGeom prst="rect">
            <a:avLst/>
          </a:prstGeom>
          <a:noFill/>
          <a:ln/>
        </p:spPr>
        <p:txBody>
          <a:bodyPr wrap="square" lIns="0" tIns="0" rIns="0" bIns="0" rtlCol="0" anchor="ctr"/>
          <a:lstStyle/>
          <a:p>
            <a:pPr algn="l" indent="0" marL="0">
              <a:buNone/>
            </a:pPr>
            <a:r>
              <a:rPr lang="en-US" altLang="en-US" sz="1500" b="1" dirty="0">
                <a:solidFill>
                  <a:schemeClr val="accent2"/>
                </a:solidFill>
                <a:latin typeface="Arial" pitchFamily="34" charset="0"/>
                <a:ea typeface="Arial" pitchFamily="34" charset="-122"/>
                <a:cs typeface="Arial" pitchFamily="34" charset="-120"/>
              </a:rPr>
              <a:t>Verses 51 – 52</a:t>
            </a:r>
            <a:endParaRPr lang="en-US" sz="1500" dirty="0"/>
          </a:p>
        </p:txBody>
      </p:sp>
      <p:sp>
        <p:nvSpPr>
          <p:cNvPr id="4" name="Text 2"/>
          <p:cNvSpPr txBox="1"/>
          <p:nvPr/>
        </p:nvSpPr>
        <p:spPr>
          <a:xfrm>
            <a:off x="8732520" y="548640"/>
            <a:ext cx="2651760" cy="384048"/>
          </a:xfrm>
          <a:prstGeom prst="rect">
            <a:avLst/>
          </a:prstGeom>
          <a:noFill/>
          <a:ln/>
        </p:spPr>
        <p:txBody>
          <a:bodyPr wrap="square" lIns="0" tIns="0" rIns="0" bIns="0" rtlCol="0" anchor="ctr"/>
          <a:lstStyle/>
          <a:p>
            <a:pPr algn="r" indent="0" marL="0">
              <a:buNone/>
            </a:pPr>
            <a:r>
              <a:rPr lang="en-US" altLang="en-US" sz="1300" i="1" dirty="0">
                <a:solidFill>
                  <a:schemeClr val="accent4"/>
                </a:solidFill>
                <a:latin typeface="Arial" pitchFamily="34" charset="0"/>
                <a:ea typeface="Arial" pitchFamily="34" charset="-122"/>
                <a:cs typeface="Arial" pitchFamily="34" charset="-120"/>
              </a:rPr>
              <a:t>Ibn Kathir, simplified</a:t>
            </a:r>
            <a:endParaRPr lang="en-US" sz="1300" dirty="0"/>
          </a:p>
        </p:txBody>
      </p:sp>
      <p:sp>
        <p:nvSpPr>
          <p:cNvPr id="5" name="Shape 3"/>
          <p:cNvSpPr/>
          <p:nvPr/>
        </p:nvSpPr>
        <p:spPr>
          <a:xfrm>
            <a:off x="713232" y="1723644"/>
            <a:ext cx="548640" cy="548640"/>
          </a:xfrm>
          <a:prstGeom prst="star8">
            <a:avLst/>
          </a:prstGeom>
          <a:solidFill>
            <a:schemeClr val="accent2"/>
          </a:solidFill>
          <a:ln/>
        </p:spPr>
      </p:sp>
      <p:sp>
        <p:nvSpPr>
          <p:cNvPr id="6" name="Shape 4"/>
          <p:cNvSpPr/>
          <p:nvPr/>
        </p:nvSpPr>
        <p:spPr>
          <a:xfrm>
            <a:off x="822960" y="1833372"/>
            <a:ext cx="329184" cy="329184"/>
          </a:xfrm>
          <a:prstGeom prst="ellipse">
            <a:avLst/>
          </a:prstGeom>
          <a:solidFill>
            <a:schemeClr val="bg2"/>
          </a:solidFill>
          <a:ln w="19050">
            <a:solidFill>
              <a:schemeClr val="tx2"/>
            </a:solidFill>
            <a:prstDash val="solid"/>
          </a:ln>
        </p:spPr>
      </p:sp>
      <p:sp>
        <p:nvSpPr>
          <p:cNvPr id="7" name="Text 5"/>
          <p:cNvSpPr txBox="1"/>
          <p:nvPr/>
        </p:nvSpPr>
        <p:spPr>
          <a:xfrm>
            <a:off x="713232" y="1723644"/>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51</a:t>
            </a:r>
            <a:endParaRPr lang="en-US" sz="1600" dirty="0"/>
          </a:p>
        </p:txBody>
      </p:sp>
      <p:sp>
        <p:nvSpPr>
          <p:cNvPr id="8" name="Text 6"/>
          <p:cNvSpPr txBox="1"/>
          <p:nvPr/>
        </p:nvSpPr>
        <p:spPr>
          <a:xfrm>
            <a:off x="1444752" y="1705356"/>
            <a:ext cx="10012680" cy="1801368"/>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أَوَلَمْ يَكْفِهِمْ أَنَّآ أَنزَلْنَا عَلَيْكَ الْكِتَٰبَ يُتْلَىٰ عَلَيْهِمْ إِنَّ فِي ذَٰلِكَ لَرَحْمَةً وَذِكْرَىٰ لِقَوْمٍ يُؤْمِنُونَ</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Is it not enough for them that We have sent down to you the Qur'an, which is recited to them? In that is mercy and a reminder for people who believe.</a:t>
            </a:r>
            <a:endParaRPr lang="en-US" sz="3000" dirty="0"/>
          </a:p>
        </p:txBody>
      </p:sp>
      <p:sp>
        <p:nvSpPr>
          <p:cNvPr id="9" name="Shape 7"/>
          <p:cNvSpPr/>
          <p:nvPr/>
        </p:nvSpPr>
        <p:spPr>
          <a:xfrm>
            <a:off x="1444752" y="3694176"/>
            <a:ext cx="8641080" cy="0"/>
          </a:xfrm>
          <a:prstGeom prst="line">
            <a:avLst/>
          </a:prstGeom>
          <a:noFill/>
          <a:ln w="9525">
            <a:solidFill>
              <a:schemeClr val="accent2"/>
            </a:solidFill>
            <a:prstDash val="dash"/>
          </a:ln>
        </p:spPr>
      </p:sp>
      <p:sp>
        <p:nvSpPr>
          <p:cNvPr id="10" name="Shape 8"/>
          <p:cNvSpPr/>
          <p:nvPr/>
        </p:nvSpPr>
        <p:spPr>
          <a:xfrm>
            <a:off x="713232" y="3927348"/>
            <a:ext cx="548640" cy="548640"/>
          </a:xfrm>
          <a:prstGeom prst="star8">
            <a:avLst/>
          </a:prstGeom>
          <a:solidFill>
            <a:schemeClr val="accent2"/>
          </a:solidFill>
          <a:ln/>
        </p:spPr>
      </p:sp>
      <p:sp>
        <p:nvSpPr>
          <p:cNvPr id="11" name="Shape 9"/>
          <p:cNvSpPr/>
          <p:nvPr/>
        </p:nvSpPr>
        <p:spPr>
          <a:xfrm>
            <a:off x="822960" y="4037076"/>
            <a:ext cx="329184" cy="329184"/>
          </a:xfrm>
          <a:prstGeom prst="ellipse">
            <a:avLst/>
          </a:prstGeom>
          <a:solidFill>
            <a:schemeClr val="bg2"/>
          </a:solidFill>
          <a:ln w="19050">
            <a:solidFill>
              <a:schemeClr val="tx2"/>
            </a:solidFill>
            <a:prstDash val="solid"/>
          </a:ln>
        </p:spPr>
      </p:sp>
      <p:sp>
        <p:nvSpPr>
          <p:cNvPr id="12" name="Text 10"/>
          <p:cNvSpPr txBox="1"/>
          <p:nvPr/>
        </p:nvSpPr>
        <p:spPr>
          <a:xfrm>
            <a:off x="713232" y="3927348"/>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52</a:t>
            </a:r>
            <a:endParaRPr lang="en-US" sz="1600" dirty="0"/>
          </a:p>
        </p:txBody>
      </p:sp>
      <p:sp>
        <p:nvSpPr>
          <p:cNvPr id="13" name="Text 11"/>
          <p:cNvSpPr txBox="1"/>
          <p:nvPr/>
        </p:nvSpPr>
        <p:spPr>
          <a:xfrm>
            <a:off x="1444752" y="3909060"/>
            <a:ext cx="10012680" cy="1801368"/>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قُلْ كَفَىٰ بِاللَّهِ بَيْنِي وَبَيْنَكُمْ شَهِيدًا يَعْلَمُ مَا فِي السَّمَٰوَٰتِ وَالْأَرْضِ وَالَّذِينَ ءَامَنُواْ بِالْبَٰطِلِ وَكَفَرُواْ بِاللَّهِ أُوْلَـٰئِكَ هُمُ الْخَٰسِرُونَ</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Say: Allah is enough as a Witness between me and you. He knows what is in the heavens and the earth. Those who believe in falsehood and disbelieve in Allah, they are the losers.</a:t>
            </a:r>
            <a:endParaRPr lang="en-US" sz="3000" dirty="0"/>
          </a:p>
        </p:txBody>
      </p:sp>
      <p:sp>
        <p:nvSpPr>
          <p:cNvPr id="25" name="Slide Number Placeholder 0"/>
          <p:cNvSpPr>
            <a:spLocks noGrp="1"/>
          </p:cNvSpPr>
          <p:nvPr>
            <p:ph type="sldNum" sz="quarter" idx="4294967295"/>
          </p:nvPr>
        </p:nvSpPr>
        <p:spPr>
          <a:xfrm>
            <a:off x="1115568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79</a:t>
            </a:fld>
            <a:endParaRPr lang="en-US"/>
          </a:p>
        </p:txBody>
      </p:sp>
    </p:spTree>
  </p:cSld>
  <p:clrMapOvr>
    <a:masterClrMapping/>
  </p:clrMapOvr>
</p:sld>
</file>

<file path=ppt/slides/slide80.xml><?xml version="1.0" encoding="utf-8"?>
<p:sld xmlns:a="http://schemas.openxmlformats.org/drawingml/2006/main" xmlns:r="http://schemas.openxmlformats.org/officeDocument/2006/relationships" xmlns:p="http://schemas.openxmlformats.org/presentationml/2006/main">
  <p:cSld name="Slide 80">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algn="ctr" indent="0" marL="0">
              <a:buNone/>
            </a:pPr>
            <a:r>
              <a:rPr lang="en-US" sz="2400" b="1" dirty="0">
                <a:solidFill>
                  <a:schemeClr val="bg1"/>
                </a:solidFill>
                <a:latin typeface="Georgia" pitchFamily="34" charset="0"/>
                <a:ea typeface="Georgia" pitchFamily="34" charset="-122"/>
                <a:cs typeface="Georgia" pitchFamily="34" charset="-120"/>
              </a:rPr>
              <a:t>Surah Al-'Ankabut</a:t>
            </a:r>
            <a:endParaRPr lang="en-US" sz="2400" dirty="0"/>
          </a:p>
        </p:txBody>
      </p:sp>
      <p:sp>
        <p:nvSpPr>
          <p:cNvPr id="3" name="Text 1"/>
          <p:cNvSpPr txBox="1"/>
          <p:nvPr/>
        </p:nvSpPr>
        <p:spPr>
          <a:xfrm>
            <a:off x="777240" y="548640"/>
            <a:ext cx="2651760" cy="384048"/>
          </a:xfrm>
          <a:prstGeom prst="rect">
            <a:avLst/>
          </a:prstGeom>
          <a:noFill/>
          <a:ln/>
        </p:spPr>
        <p:txBody>
          <a:bodyPr wrap="square" lIns="0" tIns="0" rIns="0" bIns="0" rtlCol="0" anchor="ctr"/>
          <a:lstStyle/>
          <a:p>
            <a:pPr algn="l" indent="0" marL="0">
              <a:buNone/>
            </a:pPr>
            <a:r>
              <a:rPr lang="en-US" altLang="en-US" sz="1500" b="1" dirty="0">
                <a:solidFill>
                  <a:schemeClr val="accent2"/>
                </a:solidFill>
                <a:latin typeface="Arial" pitchFamily="34" charset="0"/>
                <a:ea typeface="Arial" pitchFamily="34" charset="-122"/>
                <a:cs typeface="Arial" pitchFamily="34" charset="-120"/>
              </a:rPr>
              <a:t>Verses 53 – 55</a:t>
            </a:r>
            <a:endParaRPr lang="en-US" sz="1500" dirty="0"/>
          </a:p>
        </p:txBody>
      </p:sp>
      <p:sp>
        <p:nvSpPr>
          <p:cNvPr id="4" name="Text 2"/>
          <p:cNvSpPr txBox="1"/>
          <p:nvPr/>
        </p:nvSpPr>
        <p:spPr>
          <a:xfrm>
            <a:off x="8732520" y="548640"/>
            <a:ext cx="2651760" cy="384048"/>
          </a:xfrm>
          <a:prstGeom prst="rect">
            <a:avLst/>
          </a:prstGeom>
          <a:noFill/>
          <a:ln/>
        </p:spPr>
        <p:txBody>
          <a:bodyPr wrap="square" lIns="0" tIns="0" rIns="0" bIns="0" rtlCol="0" anchor="ctr"/>
          <a:lstStyle/>
          <a:p>
            <a:pPr algn="r" indent="0" marL="0">
              <a:buNone/>
            </a:pPr>
            <a:r>
              <a:rPr lang="en-US" altLang="en-US" sz="1300" i="1" dirty="0">
                <a:solidFill>
                  <a:schemeClr val="accent4"/>
                </a:solidFill>
                <a:latin typeface="Arial" pitchFamily="34" charset="0"/>
                <a:ea typeface="Arial" pitchFamily="34" charset="-122"/>
                <a:cs typeface="Arial" pitchFamily="34" charset="-120"/>
              </a:rPr>
              <a:t>Ibn Kathir, simplified</a:t>
            </a:r>
            <a:endParaRPr lang="en-US" sz="1300" dirty="0"/>
          </a:p>
        </p:txBody>
      </p:sp>
      <p:sp>
        <p:nvSpPr>
          <p:cNvPr id="5" name="Shape 3"/>
          <p:cNvSpPr/>
          <p:nvPr/>
        </p:nvSpPr>
        <p:spPr>
          <a:xfrm>
            <a:off x="713232" y="1405890"/>
            <a:ext cx="548640" cy="548640"/>
          </a:xfrm>
          <a:prstGeom prst="star8">
            <a:avLst/>
          </a:prstGeom>
          <a:solidFill>
            <a:schemeClr val="accent2"/>
          </a:solidFill>
          <a:ln/>
        </p:spPr>
      </p:sp>
      <p:sp>
        <p:nvSpPr>
          <p:cNvPr id="6" name="Shape 4"/>
          <p:cNvSpPr/>
          <p:nvPr/>
        </p:nvSpPr>
        <p:spPr>
          <a:xfrm>
            <a:off x="822960" y="1515618"/>
            <a:ext cx="329184" cy="329184"/>
          </a:xfrm>
          <a:prstGeom prst="ellipse">
            <a:avLst/>
          </a:prstGeom>
          <a:solidFill>
            <a:schemeClr val="bg2"/>
          </a:solidFill>
          <a:ln w="19050">
            <a:solidFill>
              <a:schemeClr val="tx2"/>
            </a:solidFill>
            <a:prstDash val="solid"/>
          </a:ln>
        </p:spPr>
      </p:sp>
      <p:sp>
        <p:nvSpPr>
          <p:cNvPr id="7" name="Text 5"/>
          <p:cNvSpPr txBox="1"/>
          <p:nvPr/>
        </p:nvSpPr>
        <p:spPr>
          <a:xfrm>
            <a:off x="713232" y="1405890"/>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53</a:t>
            </a:r>
            <a:endParaRPr lang="en-US" sz="1600" dirty="0"/>
          </a:p>
        </p:txBody>
      </p:sp>
      <p:sp>
        <p:nvSpPr>
          <p:cNvPr id="8" name="Text 6"/>
          <p:cNvSpPr txBox="1"/>
          <p:nvPr/>
        </p:nvSpPr>
        <p:spPr>
          <a:xfrm>
            <a:off x="1444752" y="1387602"/>
            <a:ext cx="10012680" cy="1801368"/>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وَيَسْتَعْجِلُونَكَ بِالْعَذَابِ وَلَوْلَآ أَجَلٌ مُّسَمًّى لَّجَآءَهُمُ الْعَذَابُ وَلَيَأْتِيَنَّهُم بَغْتَةً وَهُمْ لَا يَشْعُرُونَ</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They ask you to hurry the punishment. If not for a set time, the punishment would have come to them, and it will surely come to them suddenly while they do not realise.</a:t>
            </a:r>
            <a:endParaRPr lang="en-US" sz="3000" dirty="0"/>
          </a:p>
        </p:txBody>
      </p:sp>
      <p:sp>
        <p:nvSpPr>
          <p:cNvPr id="9" name="Shape 7"/>
          <p:cNvSpPr/>
          <p:nvPr/>
        </p:nvSpPr>
        <p:spPr>
          <a:xfrm>
            <a:off x="1444752" y="3323844"/>
            <a:ext cx="8641080" cy="0"/>
          </a:xfrm>
          <a:prstGeom prst="line">
            <a:avLst/>
          </a:prstGeom>
          <a:noFill/>
          <a:ln w="9525">
            <a:solidFill>
              <a:schemeClr val="accent2"/>
            </a:solidFill>
            <a:prstDash val="dash"/>
          </a:ln>
        </p:spPr>
      </p:sp>
      <p:sp>
        <p:nvSpPr>
          <p:cNvPr id="10" name="Shape 8"/>
          <p:cNvSpPr/>
          <p:nvPr/>
        </p:nvSpPr>
        <p:spPr>
          <a:xfrm>
            <a:off x="713232" y="3504438"/>
            <a:ext cx="548640" cy="548640"/>
          </a:xfrm>
          <a:prstGeom prst="star8">
            <a:avLst/>
          </a:prstGeom>
          <a:solidFill>
            <a:schemeClr val="accent2"/>
          </a:solidFill>
          <a:ln/>
        </p:spPr>
      </p:sp>
      <p:sp>
        <p:nvSpPr>
          <p:cNvPr id="11" name="Shape 9"/>
          <p:cNvSpPr/>
          <p:nvPr/>
        </p:nvSpPr>
        <p:spPr>
          <a:xfrm>
            <a:off x="822960" y="3614166"/>
            <a:ext cx="329184" cy="329184"/>
          </a:xfrm>
          <a:prstGeom prst="ellipse">
            <a:avLst/>
          </a:prstGeom>
          <a:solidFill>
            <a:schemeClr val="bg2"/>
          </a:solidFill>
          <a:ln w="19050">
            <a:solidFill>
              <a:schemeClr val="tx2"/>
            </a:solidFill>
            <a:prstDash val="solid"/>
          </a:ln>
        </p:spPr>
      </p:sp>
      <p:sp>
        <p:nvSpPr>
          <p:cNvPr id="12" name="Text 10"/>
          <p:cNvSpPr txBox="1"/>
          <p:nvPr/>
        </p:nvSpPr>
        <p:spPr>
          <a:xfrm>
            <a:off x="713232" y="3504438"/>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54</a:t>
            </a:r>
            <a:endParaRPr lang="en-US" sz="1600" dirty="0"/>
          </a:p>
        </p:txBody>
      </p:sp>
      <p:sp>
        <p:nvSpPr>
          <p:cNvPr id="13" name="Text 11"/>
          <p:cNvSpPr txBox="1"/>
          <p:nvPr/>
        </p:nvSpPr>
        <p:spPr>
          <a:xfrm>
            <a:off x="1444752" y="3486150"/>
            <a:ext cx="10012680" cy="992124"/>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يَسْتَعْجِلُونَكَ بِالْعَذَابِ وَإِنَّ جَهَنَّمَ لَمُحِيطَةٌ بِالْكَٰفِرِينَ</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They ask you to hurry the punishment, while Hell surely surrounds the disbelievers,</a:t>
            </a:r>
            <a:endParaRPr lang="en-US" sz="3000" dirty="0"/>
          </a:p>
        </p:txBody>
      </p:sp>
      <p:sp>
        <p:nvSpPr>
          <p:cNvPr id="14" name="Shape 12"/>
          <p:cNvSpPr/>
          <p:nvPr/>
        </p:nvSpPr>
        <p:spPr>
          <a:xfrm>
            <a:off x="1444752" y="4613148"/>
            <a:ext cx="8641080" cy="0"/>
          </a:xfrm>
          <a:prstGeom prst="line">
            <a:avLst/>
          </a:prstGeom>
          <a:noFill/>
          <a:ln w="9525">
            <a:solidFill>
              <a:schemeClr val="accent2"/>
            </a:solidFill>
            <a:prstDash val="dash"/>
          </a:ln>
        </p:spPr>
      </p:sp>
      <p:sp>
        <p:nvSpPr>
          <p:cNvPr id="15" name="Shape 13"/>
          <p:cNvSpPr/>
          <p:nvPr/>
        </p:nvSpPr>
        <p:spPr>
          <a:xfrm>
            <a:off x="713232" y="4793742"/>
            <a:ext cx="548640" cy="548640"/>
          </a:xfrm>
          <a:prstGeom prst="star8">
            <a:avLst/>
          </a:prstGeom>
          <a:solidFill>
            <a:schemeClr val="accent2"/>
          </a:solidFill>
          <a:ln/>
        </p:spPr>
      </p:sp>
      <p:sp>
        <p:nvSpPr>
          <p:cNvPr id="16" name="Shape 14"/>
          <p:cNvSpPr/>
          <p:nvPr/>
        </p:nvSpPr>
        <p:spPr>
          <a:xfrm>
            <a:off x="822960" y="4903470"/>
            <a:ext cx="329184" cy="329184"/>
          </a:xfrm>
          <a:prstGeom prst="ellipse">
            <a:avLst/>
          </a:prstGeom>
          <a:solidFill>
            <a:schemeClr val="bg2"/>
          </a:solidFill>
          <a:ln w="19050">
            <a:solidFill>
              <a:schemeClr val="tx2"/>
            </a:solidFill>
            <a:prstDash val="solid"/>
          </a:ln>
        </p:spPr>
      </p:sp>
      <p:sp>
        <p:nvSpPr>
          <p:cNvPr id="17" name="Text 15"/>
          <p:cNvSpPr txBox="1"/>
          <p:nvPr/>
        </p:nvSpPr>
        <p:spPr>
          <a:xfrm>
            <a:off x="713232" y="4793742"/>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55</a:t>
            </a:r>
            <a:endParaRPr lang="en-US" sz="1600" dirty="0"/>
          </a:p>
        </p:txBody>
      </p:sp>
      <p:sp>
        <p:nvSpPr>
          <p:cNvPr id="18" name="Text 16"/>
          <p:cNvSpPr txBox="1"/>
          <p:nvPr/>
        </p:nvSpPr>
        <p:spPr>
          <a:xfrm>
            <a:off x="1444752" y="4775454"/>
            <a:ext cx="10012680" cy="1252728"/>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يَوْمَ يَغْشَىٰهُمُ الْعَذَابُ مِن فَوْقِهِمْ وَمِن تَحْتِ أَرْجُلِهِمْ وَيَقُولُ ذُوقُواْ مَا كُنتُمْ تَعْمَلُونَ</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on the Day the punishment covers them from above them and from beneath their feet, and Allah says: Taste the result of what you used to do.</a:t>
            </a:r>
            <a:endParaRPr lang="en-US" sz="3000" dirty="0"/>
          </a:p>
        </p:txBody>
      </p:sp>
      <p:sp>
        <p:nvSpPr>
          <p:cNvPr id="25" name="Slide Number Placeholder 0"/>
          <p:cNvSpPr>
            <a:spLocks noGrp="1"/>
          </p:cNvSpPr>
          <p:nvPr>
            <p:ph type="sldNum" sz="quarter" idx="4294967295"/>
          </p:nvPr>
        </p:nvSpPr>
        <p:spPr>
          <a:xfrm>
            <a:off x="1115568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80</a:t>
            </a:fld>
            <a:endParaRPr lang="en-US"/>
          </a:p>
        </p:txBody>
      </p:sp>
    </p:spTree>
  </p:cSld>
  <p:clrMapOvr>
    <a:masterClrMapping/>
  </p:clrMapOvr>
</p:sld>
</file>

<file path=ppt/slides/slide81.xml><?xml version="1.0" encoding="utf-8"?>
<p:sld xmlns:a="http://schemas.openxmlformats.org/drawingml/2006/main" xmlns:r="http://schemas.openxmlformats.org/officeDocument/2006/relationships" xmlns:p="http://schemas.openxmlformats.org/presentationml/2006/main">
  <p:cSld name="Slide 81">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algn="ctr" indent="0" marL="0">
              <a:buNone/>
            </a:pPr>
            <a:r>
              <a:rPr lang="en-US" sz="2400" b="1" dirty="0">
                <a:solidFill>
                  <a:schemeClr val="bg1"/>
                </a:solidFill>
                <a:latin typeface="Georgia" pitchFamily="34" charset="0"/>
                <a:ea typeface="Georgia" pitchFamily="34" charset="-122"/>
                <a:cs typeface="Georgia" pitchFamily="34" charset="-120"/>
              </a:rPr>
              <a:t>Surah Al-'Ankabut</a:t>
            </a:r>
            <a:endParaRPr lang="en-US" sz="2400" dirty="0"/>
          </a:p>
        </p:txBody>
      </p:sp>
      <p:sp>
        <p:nvSpPr>
          <p:cNvPr id="3" name="Text 1"/>
          <p:cNvSpPr txBox="1"/>
          <p:nvPr/>
        </p:nvSpPr>
        <p:spPr>
          <a:xfrm>
            <a:off x="777240" y="548640"/>
            <a:ext cx="2651760" cy="384048"/>
          </a:xfrm>
          <a:prstGeom prst="rect">
            <a:avLst/>
          </a:prstGeom>
          <a:noFill/>
          <a:ln/>
        </p:spPr>
        <p:txBody>
          <a:bodyPr wrap="square" lIns="0" tIns="0" rIns="0" bIns="0" rtlCol="0" anchor="ctr"/>
          <a:lstStyle/>
          <a:p>
            <a:pPr algn="l" indent="0" marL="0">
              <a:buNone/>
            </a:pPr>
            <a:r>
              <a:rPr lang="en-US" altLang="en-US" sz="1500" b="1" dirty="0">
                <a:solidFill>
                  <a:schemeClr val="accent2"/>
                </a:solidFill>
                <a:latin typeface="Arial" pitchFamily="34" charset="0"/>
                <a:ea typeface="Arial" pitchFamily="34" charset="-122"/>
                <a:cs typeface="Arial" pitchFamily="34" charset="-120"/>
              </a:rPr>
              <a:t>Verses 56 – 58</a:t>
            </a:r>
            <a:endParaRPr lang="en-US" sz="1500" dirty="0"/>
          </a:p>
        </p:txBody>
      </p:sp>
      <p:sp>
        <p:nvSpPr>
          <p:cNvPr id="4" name="Text 2"/>
          <p:cNvSpPr txBox="1"/>
          <p:nvPr/>
        </p:nvSpPr>
        <p:spPr>
          <a:xfrm>
            <a:off x="8732520" y="548640"/>
            <a:ext cx="2651760" cy="384048"/>
          </a:xfrm>
          <a:prstGeom prst="rect">
            <a:avLst/>
          </a:prstGeom>
          <a:noFill/>
          <a:ln/>
        </p:spPr>
        <p:txBody>
          <a:bodyPr wrap="square" lIns="0" tIns="0" rIns="0" bIns="0" rtlCol="0" anchor="ctr"/>
          <a:lstStyle/>
          <a:p>
            <a:pPr algn="r" indent="0" marL="0">
              <a:buNone/>
            </a:pPr>
            <a:r>
              <a:rPr lang="en-US" altLang="en-US" sz="1300" i="1" dirty="0">
                <a:solidFill>
                  <a:schemeClr val="accent4"/>
                </a:solidFill>
                <a:latin typeface="Arial" pitchFamily="34" charset="0"/>
                <a:ea typeface="Arial" pitchFamily="34" charset="-122"/>
                <a:cs typeface="Arial" pitchFamily="34" charset="-120"/>
              </a:rPr>
              <a:t>Ibn Kathir, simplified</a:t>
            </a:r>
            <a:endParaRPr lang="en-US" sz="1300" dirty="0"/>
          </a:p>
        </p:txBody>
      </p:sp>
      <p:sp>
        <p:nvSpPr>
          <p:cNvPr id="5" name="Shape 3"/>
          <p:cNvSpPr/>
          <p:nvPr/>
        </p:nvSpPr>
        <p:spPr>
          <a:xfrm>
            <a:off x="713232" y="1405890"/>
            <a:ext cx="548640" cy="548640"/>
          </a:xfrm>
          <a:prstGeom prst="star8">
            <a:avLst/>
          </a:prstGeom>
          <a:solidFill>
            <a:schemeClr val="accent2"/>
          </a:solidFill>
          <a:ln/>
        </p:spPr>
      </p:sp>
      <p:sp>
        <p:nvSpPr>
          <p:cNvPr id="6" name="Shape 4"/>
          <p:cNvSpPr/>
          <p:nvPr/>
        </p:nvSpPr>
        <p:spPr>
          <a:xfrm>
            <a:off x="822960" y="1515618"/>
            <a:ext cx="329184" cy="329184"/>
          </a:xfrm>
          <a:prstGeom prst="ellipse">
            <a:avLst/>
          </a:prstGeom>
          <a:solidFill>
            <a:schemeClr val="bg2"/>
          </a:solidFill>
          <a:ln w="19050">
            <a:solidFill>
              <a:schemeClr val="tx2"/>
            </a:solidFill>
            <a:prstDash val="solid"/>
          </a:ln>
        </p:spPr>
      </p:sp>
      <p:sp>
        <p:nvSpPr>
          <p:cNvPr id="7" name="Text 5"/>
          <p:cNvSpPr txBox="1"/>
          <p:nvPr/>
        </p:nvSpPr>
        <p:spPr>
          <a:xfrm>
            <a:off x="713232" y="1405890"/>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56</a:t>
            </a:r>
            <a:endParaRPr lang="en-US" sz="1600" dirty="0"/>
          </a:p>
        </p:txBody>
      </p:sp>
      <p:sp>
        <p:nvSpPr>
          <p:cNvPr id="8" name="Text 6"/>
          <p:cNvSpPr txBox="1"/>
          <p:nvPr/>
        </p:nvSpPr>
        <p:spPr>
          <a:xfrm>
            <a:off x="1444752" y="1387602"/>
            <a:ext cx="10012680" cy="1252728"/>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يَٰعِبَادِيَ الَّذِينَ ءَامَنُواْ إِنَّ أَرْضِي وَٰسِعَةٌ فَإِيَّـٰيَ فَاعْبُدُونِ</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O My believing servants, My earth is wide. If you cannot worship in one land, emigrate, and worship Me alone.</a:t>
            </a:r>
            <a:endParaRPr lang="en-US" sz="3000" dirty="0"/>
          </a:p>
        </p:txBody>
      </p:sp>
      <p:sp>
        <p:nvSpPr>
          <p:cNvPr id="9" name="Shape 7"/>
          <p:cNvSpPr/>
          <p:nvPr/>
        </p:nvSpPr>
        <p:spPr>
          <a:xfrm>
            <a:off x="1444752" y="2775204"/>
            <a:ext cx="8641080" cy="0"/>
          </a:xfrm>
          <a:prstGeom prst="line">
            <a:avLst/>
          </a:prstGeom>
          <a:noFill/>
          <a:ln w="9525">
            <a:solidFill>
              <a:schemeClr val="accent2"/>
            </a:solidFill>
            <a:prstDash val="dash"/>
          </a:ln>
        </p:spPr>
      </p:sp>
      <p:sp>
        <p:nvSpPr>
          <p:cNvPr id="10" name="Shape 8"/>
          <p:cNvSpPr/>
          <p:nvPr/>
        </p:nvSpPr>
        <p:spPr>
          <a:xfrm>
            <a:off x="713232" y="2955798"/>
            <a:ext cx="548640" cy="548640"/>
          </a:xfrm>
          <a:prstGeom prst="star8">
            <a:avLst/>
          </a:prstGeom>
          <a:solidFill>
            <a:schemeClr val="accent2"/>
          </a:solidFill>
          <a:ln/>
        </p:spPr>
      </p:sp>
      <p:sp>
        <p:nvSpPr>
          <p:cNvPr id="11" name="Shape 9"/>
          <p:cNvSpPr/>
          <p:nvPr/>
        </p:nvSpPr>
        <p:spPr>
          <a:xfrm>
            <a:off x="822960" y="3065526"/>
            <a:ext cx="329184" cy="329184"/>
          </a:xfrm>
          <a:prstGeom prst="ellipse">
            <a:avLst/>
          </a:prstGeom>
          <a:solidFill>
            <a:schemeClr val="bg2"/>
          </a:solidFill>
          <a:ln w="19050">
            <a:solidFill>
              <a:schemeClr val="tx2"/>
            </a:solidFill>
            <a:prstDash val="solid"/>
          </a:ln>
        </p:spPr>
      </p:sp>
      <p:sp>
        <p:nvSpPr>
          <p:cNvPr id="12" name="Text 10"/>
          <p:cNvSpPr txBox="1"/>
          <p:nvPr/>
        </p:nvSpPr>
        <p:spPr>
          <a:xfrm>
            <a:off x="713232" y="2955798"/>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57</a:t>
            </a:r>
            <a:endParaRPr lang="en-US" sz="1600" dirty="0"/>
          </a:p>
        </p:txBody>
      </p:sp>
      <p:sp>
        <p:nvSpPr>
          <p:cNvPr id="13" name="Text 11"/>
          <p:cNvSpPr txBox="1"/>
          <p:nvPr/>
        </p:nvSpPr>
        <p:spPr>
          <a:xfrm>
            <a:off x="1444752" y="2937510"/>
            <a:ext cx="10012680" cy="992124"/>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كُلُّ نَفْسٍ ذَآئِقَةُ الْمَوْتِ ثُمَّ إِلَيْنَا تُرْجَعُونَ</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Every soul will taste death, then to Us you will be returned.</a:t>
            </a:r>
            <a:endParaRPr lang="en-US" sz="3000" dirty="0"/>
          </a:p>
        </p:txBody>
      </p:sp>
      <p:sp>
        <p:nvSpPr>
          <p:cNvPr id="14" name="Shape 12"/>
          <p:cNvSpPr/>
          <p:nvPr/>
        </p:nvSpPr>
        <p:spPr>
          <a:xfrm>
            <a:off x="1444752" y="4064508"/>
            <a:ext cx="8641080" cy="0"/>
          </a:xfrm>
          <a:prstGeom prst="line">
            <a:avLst/>
          </a:prstGeom>
          <a:noFill/>
          <a:ln w="9525">
            <a:solidFill>
              <a:schemeClr val="accent2"/>
            </a:solidFill>
            <a:prstDash val="dash"/>
          </a:ln>
        </p:spPr>
      </p:sp>
      <p:sp>
        <p:nvSpPr>
          <p:cNvPr id="15" name="Shape 13"/>
          <p:cNvSpPr/>
          <p:nvPr/>
        </p:nvSpPr>
        <p:spPr>
          <a:xfrm>
            <a:off x="713232" y="4245102"/>
            <a:ext cx="548640" cy="548640"/>
          </a:xfrm>
          <a:prstGeom prst="star8">
            <a:avLst/>
          </a:prstGeom>
          <a:solidFill>
            <a:schemeClr val="accent2"/>
          </a:solidFill>
          <a:ln/>
        </p:spPr>
      </p:sp>
      <p:sp>
        <p:nvSpPr>
          <p:cNvPr id="16" name="Shape 14"/>
          <p:cNvSpPr/>
          <p:nvPr/>
        </p:nvSpPr>
        <p:spPr>
          <a:xfrm>
            <a:off x="822960" y="4354830"/>
            <a:ext cx="329184" cy="329184"/>
          </a:xfrm>
          <a:prstGeom prst="ellipse">
            <a:avLst/>
          </a:prstGeom>
          <a:solidFill>
            <a:schemeClr val="bg2"/>
          </a:solidFill>
          <a:ln w="19050">
            <a:solidFill>
              <a:schemeClr val="tx2"/>
            </a:solidFill>
            <a:prstDash val="solid"/>
          </a:ln>
        </p:spPr>
      </p:sp>
      <p:sp>
        <p:nvSpPr>
          <p:cNvPr id="17" name="Text 15"/>
          <p:cNvSpPr txBox="1"/>
          <p:nvPr/>
        </p:nvSpPr>
        <p:spPr>
          <a:xfrm>
            <a:off x="713232" y="4245102"/>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58</a:t>
            </a:r>
            <a:endParaRPr lang="en-US" sz="1600" dirty="0"/>
          </a:p>
        </p:txBody>
      </p:sp>
      <p:sp>
        <p:nvSpPr>
          <p:cNvPr id="18" name="Text 16"/>
          <p:cNvSpPr txBox="1"/>
          <p:nvPr/>
        </p:nvSpPr>
        <p:spPr>
          <a:xfrm>
            <a:off x="1444752" y="4226814"/>
            <a:ext cx="10012680" cy="1801368"/>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وَالَّذِينَ ءَامَنُواْ وَعَمِلُواْ الصَّـٰلِحَٰتِ لَنُبَوِّئَنَّهُم مِّنَ الْجَنَّةِ غُرَفًا تَجْرِي مِن تَحْتِهَا الْأَنْهَٰرُ خَٰلِدِينَ فِيهَا نِعْمَ أَجْرُ الْعَٰمِلِينَ</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The righteous believers, We will give them high rooms in Paradise with rivers flowing beneath them, staying there forever. How excellent is the reward of those who work,</a:t>
            </a:r>
            <a:endParaRPr lang="en-US" sz="3000" dirty="0"/>
          </a:p>
        </p:txBody>
      </p:sp>
      <p:sp>
        <p:nvSpPr>
          <p:cNvPr id="25" name="Slide Number Placeholder 0"/>
          <p:cNvSpPr>
            <a:spLocks noGrp="1"/>
          </p:cNvSpPr>
          <p:nvPr>
            <p:ph type="sldNum" sz="quarter" idx="4294967295"/>
          </p:nvPr>
        </p:nvSpPr>
        <p:spPr>
          <a:xfrm>
            <a:off x="1115568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81</a:t>
            </a:fld>
            <a:endParaRPr lang="en-US"/>
          </a:p>
        </p:txBody>
      </p:sp>
    </p:spTree>
  </p:cSld>
  <p:clrMapOvr>
    <a:masterClrMapping/>
  </p:clrMapOvr>
</p:sld>
</file>

<file path=ppt/slides/slide82.xml><?xml version="1.0" encoding="utf-8"?>
<p:sld xmlns:a="http://schemas.openxmlformats.org/drawingml/2006/main" xmlns:r="http://schemas.openxmlformats.org/officeDocument/2006/relationships" xmlns:p="http://schemas.openxmlformats.org/presentationml/2006/main">
  <p:cSld name="Slide 82">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algn="ctr" indent="0" marL="0">
              <a:buNone/>
            </a:pPr>
            <a:r>
              <a:rPr lang="en-US" sz="2400" b="1" dirty="0">
                <a:solidFill>
                  <a:schemeClr val="bg1"/>
                </a:solidFill>
                <a:latin typeface="Georgia" pitchFamily="34" charset="0"/>
                <a:ea typeface="Georgia" pitchFamily="34" charset="-122"/>
                <a:cs typeface="Georgia" pitchFamily="34" charset="-120"/>
              </a:rPr>
              <a:t>Surah Al-'Ankabut</a:t>
            </a:r>
            <a:endParaRPr lang="en-US" sz="2400" dirty="0"/>
          </a:p>
        </p:txBody>
      </p:sp>
      <p:sp>
        <p:nvSpPr>
          <p:cNvPr id="3" name="Text 1"/>
          <p:cNvSpPr txBox="1"/>
          <p:nvPr/>
        </p:nvSpPr>
        <p:spPr>
          <a:xfrm>
            <a:off x="777240" y="548640"/>
            <a:ext cx="2651760" cy="384048"/>
          </a:xfrm>
          <a:prstGeom prst="rect">
            <a:avLst/>
          </a:prstGeom>
          <a:noFill/>
          <a:ln/>
        </p:spPr>
        <p:txBody>
          <a:bodyPr wrap="square" lIns="0" tIns="0" rIns="0" bIns="0" rtlCol="0" anchor="ctr"/>
          <a:lstStyle/>
          <a:p>
            <a:pPr algn="l" indent="0" marL="0">
              <a:buNone/>
            </a:pPr>
            <a:r>
              <a:rPr lang="en-US" altLang="en-US" sz="1500" b="1" dirty="0">
                <a:solidFill>
                  <a:schemeClr val="accent2"/>
                </a:solidFill>
                <a:latin typeface="Arial" pitchFamily="34" charset="0"/>
                <a:ea typeface="Arial" pitchFamily="34" charset="-122"/>
                <a:cs typeface="Arial" pitchFamily="34" charset="-120"/>
              </a:rPr>
              <a:t>Verses 59 – 61</a:t>
            </a:r>
            <a:endParaRPr lang="en-US" sz="1500" dirty="0"/>
          </a:p>
        </p:txBody>
      </p:sp>
      <p:sp>
        <p:nvSpPr>
          <p:cNvPr id="4" name="Text 2"/>
          <p:cNvSpPr txBox="1"/>
          <p:nvPr/>
        </p:nvSpPr>
        <p:spPr>
          <a:xfrm>
            <a:off x="8732520" y="548640"/>
            <a:ext cx="2651760" cy="384048"/>
          </a:xfrm>
          <a:prstGeom prst="rect">
            <a:avLst/>
          </a:prstGeom>
          <a:noFill/>
          <a:ln/>
        </p:spPr>
        <p:txBody>
          <a:bodyPr wrap="square" lIns="0" tIns="0" rIns="0" bIns="0" rtlCol="0" anchor="ctr"/>
          <a:lstStyle/>
          <a:p>
            <a:pPr algn="r" indent="0" marL="0">
              <a:buNone/>
            </a:pPr>
            <a:r>
              <a:rPr lang="en-US" altLang="en-US" sz="1300" i="1" dirty="0">
                <a:solidFill>
                  <a:schemeClr val="accent4"/>
                </a:solidFill>
                <a:latin typeface="Arial" pitchFamily="34" charset="0"/>
                <a:ea typeface="Arial" pitchFamily="34" charset="-122"/>
                <a:cs typeface="Arial" pitchFamily="34" charset="-120"/>
              </a:rPr>
              <a:t>Ibn Kathir, simplified</a:t>
            </a:r>
            <a:endParaRPr lang="en-US" sz="1300" dirty="0"/>
          </a:p>
        </p:txBody>
      </p:sp>
      <p:sp>
        <p:nvSpPr>
          <p:cNvPr id="5" name="Shape 3"/>
          <p:cNvSpPr/>
          <p:nvPr/>
        </p:nvSpPr>
        <p:spPr>
          <a:xfrm>
            <a:off x="713232" y="1405890"/>
            <a:ext cx="548640" cy="548640"/>
          </a:xfrm>
          <a:prstGeom prst="star8">
            <a:avLst/>
          </a:prstGeom>
          <a:solidFill>
            <a:schemeClr val="accent2"/>
          </a:solidFill>
          <a:ln/>
        </p:spPr>
      </p:sp>
      <p:sp>
        <p:nvSpPr>
          <p:cNvPr id="6" name="Shape 4"/>
          <p:cNvSpPr/>
          <p:nvPr/>
        </p:nvSpPr>
        <p:spPr>
          <a:xfrm>
            <a:off x="822960" y="1515618"/>
            <a:ext cx="329184" cy="329184"/>
          </a:xfrm>
          <a:prstGeom prst="ellipse">
            <a:avLst/>
          </a:prstGeom>
          <a:solidFill>
            <a:schemeClr val="bg2"/>
          </a:solidFill>
          <a:ln w="19050">
            <a:solidFill>
              <a:schemeClr val="tx2"/>
            </a:solidFill>
            <a:prstDash val="solid"/>
          </a:ln>
        </p:spPr>
      </p:sp>
      <p:sp>
        <p:nvSpPr>
          <p:cNvPr id="7" name="Text 5"/>
          <p:cNvSpPr txBox="1"/>
          <p:nvPr/>
        </p:nvSpPr>
        <p:spPr>
          <a:xfrm>
            <a:off x="713232" y="1405890"/>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59</a:t>
            </a:r>
            <a:endParaRPr lang="en-US" sz="1600" dirty="0"/>
          </a:p>
        </p:txBody>
      </p:sp>
      <p:sp>
        <p:nvSpPr>
          <p:cNvPr id="8" name="Text 6"/>
          <p:cNvSpPr txBox="1"/>
          <p:nvPr/>
        </p:nvSpPr>
        <p:spPr>
          <a:xfrm>
            <a:off x="1444752" y="1387602"/>
            <a:ext cx="10012680" cy="992124"/>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الَّذِينَ صَبَرُواْ وَعَلَىٰ رَبِّهِمْ يَتَوَكَّلُونَ</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who are patient in obeying Allah and put their trust in their Lord.</a:t>
            </a:r>
            <a:endParaRPr lang="en-US" sz="3000" dirty="0"/>
          </a:p>
        </p:txBody>
      </p:sp>
      <p:sp>
        <p:nvSpPr>
          <p:cNvPr id="9" name="Shape 7"/>
          <p:cNvSpPr/>
          <p:nvPr/>
        </p:nvSpPr>
        <p:spPr>
          <a:xfrm>
            <a:off x="1444752" y="2514600"/>
            <a:ext cx="8641080" cy="0"/>
          </a:xfrm>
          <a:prstGeom prst="line">
            <a:avLst/>
          </a:prstGeom>
          <a:noFill/>
          <a:ln w="9525">
            <a:solidFill>
              <a:schemeClr val="accent2"/>
            </a:solidFill>
            <a:prstDash val="dash"/>
          </a:ln>
        </p:spPr>
      </p:sp>
      <p:sp>
        <p:nvSpPr>
          <p:cNvPr id="10" name="Shape 8"/>
          <p:cNvSpPr/>
          <p:nvPr/>
        </p:nvSpPr>
        <p:spPr>
          <a:xfrm>
            <a:off x="713232" y="2695194"/>
            <a:ext cx="548640" cy="548640"/>
          </a:xfrm>
          <a:prstGeom prst="star8">
            <a:avLst/>
          </a:prstGeom>
          <a:solidFill>
            <a:schemeClr val="accent2"/>
          </a:solidFill>
          <a:ln/>
        </p:spPr>
      </p:sp>
      <p:sp>
        <p:nvSpPr>
          <p:cNvPr id="11" name="Shape 9"/>
          <p:cNvSpPr/>
          <p:nvPr/>
        </p:nvSpPr>
        <p:spPr>
          <a:xfrm>
            <a:off x="822960" y="2804922"/>
            <a:ext cx="329184" cy="329184"/>
          </a:xfrm>
          <a:prstGeom prst="ellipse">
            <a:avLst/>
          </a:prstGeom>
          <a:solidFill>
            <a:schemeClr val="bg2"/>
          </a:solidFill>
          <a:ln w="19050">
            <a:solidFill>
              <a:schemeClr val="tx2"/>
            </a:solidFill>
            <a:prstDash val="solid"/>
          </a:ln>
        </p:spPr>
      </p:sp>
      <p:sp>
        <p:nvSpPr>
          <p:cNvPr id="12" name="Text 10"/>
          <p:cNvSpPr txBox="1"/>
          <p:nvPr/>
        </p:nvSpPr>
        <p:spPr>
          <a:xfrm>
            <a:off x="713232" y="2695194"/>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60</a:t>
            </a:r>
            <a:endParaRPr lang="en-US" sz="1600" dirty="0"/>
          </a:p>
        </p:txBody>
      </p:sp>
      <p:sp>
        <p:nvSpPr>
          <p:cNvPr id="13" name="Text 11"/>
          <p:cNvSpPr txBox="1"/>
          <p:nvPr/>
        </p:nvSpPr>
        <p:spPr>
          <a:xfrm>
            <a:off x="1444752" y="2676906"/>
            <a:ext cx="10012680" cy="1252728"/>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وَكَأَيِّن مِّن دَآبَّةٍ لَّا تَحْمِلُ رِزْقَهَا اللَّهُ يَرْزُقُهَا وَإِيَّاكُمْ وَهُوَ السَّمِيعُ الْعَلِيمُ</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How many creatures do not store up their provision! Allah provides for them and for you. He is the All-Hearing, the All-Knowing.</a:t>
            </a:r>
            <a:endParaRPr lang="en-US" sz="3000" dirty="0"/>
          </a:p>
        </p:txBody>
      </p:sp>
      <p:sp>
        <p:nvSpPr>
          <p:cNvPr id="14" name="Shape 12"/>
          <p:cNvSpPr/>
          <p:nvPr/>
        </p:nvSpPr>
        <p:spPr>
          <a:xfrm>
            <a:off x="1444752" y="4064508"/>
            <a:ext cx="8641080" cy="0"/>
          </a:xfrm>
          <a:prstGeom prst="line">
            <a:avLst/>
          </a:prstGeom>
          <a:noFill/>
          <a:ln w="9525">
            <a:solidFill>
              <a:schemeClr val="accent2"/>
            </a:solidFill>
            <a:prstDash val="dash"/>
          </a:ln>
        </p:spPr>
      </p:sp>
      <p:sp>
        <p:nvSpPr>
          <p:cNvPr id="15" name="Shape 13"/>
          <p:cNvSpPr/>
          <p:nvPr/>
        </p:nvSpPr>
        <p:spPr>
          <a:xfrm>
            <a:off x="713232" y="4245102"/>
            <a:ext cx="548640" cy="548640"/>
          </a:xfrm>
          <a:prstGeom prst="star8">
            <a:avLst/>
          </a:prstGeom>
          <a:solidFill>
            <a:schemeClr val="accent2"/>
          </a:solidFill>
          <a:ln/>
        </p:spPr>
      </p:sp>
      <p:sp>
        <p:nvSpPr>
          <p:cNvPr id="16" name="Shape 14"/>
          <p:cNvSpPr/>
          <p:nvPr/>
        </p:nvSpPr>
        <p:spPr>
          <a:xfrm>
            <a:off x="822960" y="4354830"/>
            <a:ext cx="329184" cy="329184"/>
          </a:xfrm>
          <a:prstGeom prst="ellipse">
            <a:avLst/>
          </a:prstGeom>
          <a:solidFill>
            <a:schemeClr val="bg2"/>
          </a:solidFill>
          <a:ln w="19050">
            <a:solidFill>
              <a:schemeClr val="tx2"/>
            </a:solidFill>
            <a:prstDash val="solid"/>
          </a:ln>
        </p:spPr>
      </p:sp>
      <p:sp>
        <p:nvSpPr>
          <p:cNvPr id="17" name="Text 15"/>
          <p:cNvSpPr txBox="1"/>
          <p:nvPr/>
        </p:nvSpPr>
        <p:spPr>
          <a:xfrm>
            <a:off x="713232" y="4245102"/>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61</a:t>
            </a:r>
            <a:endParaRPr lang="en-US" sz="1600" dirty="0"/>
          </a:p>
        </p:txBody>
      </p:sp>
      <p:sp>
        <p:nvSpPr>
          <p:cNvPr id="18" name="Text 16"/>
          <p:cNvSpPr txBox="1"/>
          <p:nvPr/>
        </p:nvSpPr>
        <p:spPr>
          <a:xfrm>
            <a:off x="1444752" y="4226814"/>
            <a:ext cx="10012680" cy="1801368"/>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وَلَئِن سَأَلْتَهُم مَّنْ خَلَقَ السَّمَٰوَٰتِ وَالْأَرْضَ وَسَخَّرَ الشَّمْسَ وَالْقَمَرَ لَيَقُولُنَّ اللَّهُ فَأَنَّىٰ يُؤْفَكُونَ</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If you ask them who created the heavens and the earth and made the sun and moon serve, they will surely say: Allah. Then how are they turned away from worshipping Him?</a:t>
            </a:r>
            <a:endParaRPr lang="en-US" sz="3000" dirty="0"/>
          </a:p>
        </p:txBody>
      </p:sp>
      <p:sp>
        <p:nvSpPr>
          <p:cNvPr id="25" name="Slide Number Placeholder 0"/>
          <p:cNvSpPr>
            <a:spLocks noGrp="1"/>
          </p:cNvSpPr>
          <p:nvPr>
            <p:ph type="sldNum" sz="quarter" idx="4294967295"/>
          </p:nvPr>
        </p:nvSpPr>
        <p:spPr>
          <a:xfrm>
            <a:off x="1115568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82</a:t>
            </a:fld>
            <a:endParaRPr lang="en-US"/>
          </a:p>
        </p:txBody>
      </p:sp>
    </p:spTree>
  </p:cSld>
  <p:clrMapOvr>
    <a:masterClrMapping/>
  </p:clrMapOvr>
</p:sld>
</file>

<file path=ppt/slides/slide83.xml><?xml version="1.0" encoding="utf-8"?>
<p:sld xmlns:a="http://schemas.openxmlformats.org/drawingml/2006/main" xmlns:r="http://schemas.openxmlformats.org/officeDocument/2006/relationships" xmlns:p="http://schemas.openxmlformats.org/presentationml/2006/main">
  <p:cSld name="Slide 83">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algn="ctr" indent="0" marL="0">
              <a:buNone/>
            </a:pPr>
            <a:r>
              <a:rPr lang="en-US" sz="2400" b="1" dirty="0">
                <a:solidFill>
                  <a:schemeClr val="bg1"/>
                </a:solidFill>
                <a:latin typeface="Georgia" pitchFamily="34" charset="0"/>
                <a:ea typeface="Georgia" pitchFamily="34" charset="-122"/>
                <a:cs typeface="Georgia" pitchFamily="34" charset="-120"/>
              </a:rPr>
              <a:t>Surah Al-'Ankabut</a:t>
            </a:r>
            <a:endParaRPr lang="en-US" sz="2400" dirty="0"/>
          </a:p>
        </p:txBody>
      </p:sp>
      <p:sp>
        <p:nvSpPr>
          <p:cNvPr id="3" name="Text 1"/>
          <p:cNvSpPr txBox="1"/>
          <p:nvPr/>
        </p:nvSpPr>
        <p:spPr>
          <a:xfrm>
            <a:off x="777240" y="548640"/>
            <a:ext cx="2651760" cy="384048"/>
          </a:xfrm>
          <a:prstGeom prst="rect">
            <a:avLst/>
          </a:prstGeom>
          <a:noFill/>
          <a:ln/>
        </p:spPr>
        <p:txBody>
          <a:bodyPr wrap="square" lIns="0" tIns="0" rIns="0" bIns="0" rtlCol="0" anchor="ctr"/>
          <a:lstStyle/>
          <a:p>
            <a:pPr algn="l" indent="0" marL="0">
              <a:buNone/>
            </a:pPr>
            <a:r>
              <a:rPr lang="en-US" altLang="en-US" sz="1500" b="1" dirty="0">
                <a:solidFill>
                  <a:schemeClr val="accent2"/>
                </a:solidFill>
                <a:latin typeface="Arial" pitchFamily="34" charset="0"/>
                <a:ea typeface="Arial" pitchFamily="34" charset="-122"/>
                <a:cs typeface="Arial" pitchFamily="34" charset="-120"/>
              </a:rPr>
              <a:t>Verses 62 – 63</a:t>
            </a:r>
            <a:endParaRPr lang="en-US" sz="1500" dirty="0"/>
          </a:p>
        </p:txBody>
      </p:sp>
      <p:sp>
        <p:nvSpPr>
          <p:cNvPr id="4" name="Text 2"/>
          <p:cNvSpPr txBox="1"/>
          <p:nvPr/>
        </p:nvSpPr>
        <p:spPr>
          <a:xfrm>
            <a:off x="8732520" y="548640"/>
            <a:ext cx="2651760" cy="384048"/>
          </a:xfrm>
          <a:prstGeom prst="rect">
            <a:avLst/>
          </a:prstGeom>
          <a:noFill/>
          <a:ln/>
        </p:spPr>
        <p:txBody>
          <a:bodyPr wrap="square" lIns="0" tIns="0" rIns="0" bIns="0" rtlCol="0" anchor="ctr"/>
          <a:lstStyle/>
          <a:p>
            <a:pPr algn="r" indent="0" marL="0">
              <a:buNone/>
            </a:pPr>
            <a:r>
              <a:rPr lang="en-US" altLang="en-US" sz="1300" i="1" dirty="0">
                <a:solidFill>
                  <a:schemeClr val="accent4"/>
                </a:solidFill>
                <a:latin typeface="Arial" pitchFamily="34" charset="0"/>
                <a:ea typeface="Arial" pitchFamily="34" charset="-122"/>
                <a:cs typeface="Arial" pitchFamily="34" charset="-120"/>
              </a:rPr>
              <a:t>Ibn Kathir, simplified</a:t>
            </a:r>
            <a:endParaRPr lang="en-US" sz="1300" dirty="0"/>
          </a:p>
        </p:txBody>
      </p:sp>
      <p:sp>
        <p:nvSpPr>
          <p:cNvPr id="5" name="Shape 3"/>
          <p:cNvSpPr/>
          <p:nvPr/>
        </p:nvSpPr>
        <p:spPr>
          <a:xfrm>
            <a:off x="713232" y="1997964"/>
            <a:ext cx="548640" cy="548640"/>
          </a:xfrm>
          <a:prstGeom prst="star8">
            <a:avLst/>
          </a:prstGeom>
          <a:solidFill>
            <a:schemeClr val="accent2"/>
          </a:solidFill>
          <a:ln/>
        </p:spPr>
      </p:sp>
      <p:sp>
        <p:nvSpPr>
          <p:cNvPr id="6" name="Shape 4"/>
          <p:cNvSpPr/>
          <p:nvPr/>
        </p:nvSpPr>
        <p:spPr>
          <a:xfrm>
            <a:off x="822960" y="2107692"/>
            <a:ext cx="329184" cy="329184"/>
          </a:xfrm>
          <a:prstGeom prst="ellipse">
            <a:avLst/>
          </a:prstGeom>
          <a:solidFill>
            <a:schemeClr val="bg2"/>
          </a:solidFill>
          <a:ln w="19050">
            <a:solidFill>
              <a:schemeClr val="tx2"/>
            </a:solidFill>
            <a:prstDash val="solid"/>
          </a:ln>
        </p:spPr>
      </p:sp>
      <p:sp>
        <p:nvSpPr>
          <p:cNvPr id="7" name="Text 5"/>
          <p:cNvSpPr txBox="1"/>
          <p:nvPr/>
        </p:nvSpPr>
        <p:spPr>
          <a:xfrm>
            <a:off x="713232" y="1997964"/>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62</a:t>
            </a:r>
            <a:endParaRPr lang="en-US" sz="1600" dirty="0"/>
          </a:p>
        </p:txBody>
      </p:sp>
      <p:sp>
        <p:nvSpPr>
          <p:cNvPr id="8" name="Text 6"/>
          <p:cNvSpPr txBox="1"/>
          <p:nvPr/>
        </p:nvSpPr>
        <p:spPr>
          <a:xfrm>
            <a:off x="1444752" y="1979676"/>
            <a:ext cx="10012680" cy="1252728"/>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اللَّهُ يَبْسُطُ الرِّزْقَ لِمَن يَشَآءُ مِنْ عِبَادِهِ وَيَقْدِرُ لَهُ إِنَّ اللَّهَ بِكُلِّ شَيْءٍ عَلِيمٌ</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Allah gives plenty of provision to whom He wills of His servants and gives little. Allah knows everything.</a:t>
            </a:r>
            <a:endParaRPr lang="en-US" sz="3000" dirty="0"/>
          </a:p>
        </p:txBody>
      </p:sp>
      <p:sp>
        <p:nvSpPr>
          <p:cNvPr id="9" name="Shape 7"/>
          <p:cNvSpPr/>
          <p:nvPr/>
        </p:nvSpPr>
        <p:spPr>
          <a:xfrm>
            <a:off x="1444752" y="3419856"/>
            <a:ext cx="8641080" cy="0"/>
          </a:xfrm>
          <a:prstGeom prst="line">
            <a:avLst/>
          </a:prstGeom>
          <a:noFill/>
          <a:ln w="9525">
            <a:solidFill>
              <a:schemeClr val="accent2"/>
            </a:solidFill>
            <a:prstDash val="dash"/>
          </a:ln>
        </p:spPr>
      </p:sp>
      <p:sp>
        <p:nvSpPr>
          <p:cNvPr id="10" name="Shape 8"/>
          <p:cNvSpPr/>
          <p:nvPr/>
        </p:nvSpPr>
        <p:spPr>
          <a:xfrm>
            <a:off x="713232" y="3653028"/>
            <a:ext cx="548640" cy="548640"/>
          </a:xfrm>
          <a:prstGeom prst="star8">
            <a:avLst/>
          </a:prstGeom>
          <a:solidFill>
            <a:schemeClr val="accent2"/>
          </a:solidFill>
          <a:ln/>
        </p:spPr>
      </p:sp>
      <p:sp>
        <p:nvSpPr>
          <p:cNvPr id="11" name="Shape 9"/>
          <p:cNvSpPr/>
          <p:nvPr/>
        </p:nvSpPr>
        <p:spPr>
          <a:xfrm>
            <a:off x="822960" y="3762756"/>
            <a:ext cx="329184" cy="329184"/>
          </a:xfrm>
          <a:prstGeom prst="ellipse">
            <a:avLst/>
          </a:prstGeom>
          <a:solidFill>
            <a:schemeClr val="bg2"/>
          </a:solidFill>
          <a:ln w="19050">
            <a:solidFill>
              <a:schemeClr val="tx2"/>
            </a:solidFill>
            <a:prstDash val="solid"/>
          </a:ln>
        </p:spPr>
      </p:sp>
      <p:sp>
        <p:nvSpPr>
          <p:cNvPr id="12" name="Text 10"/>
          <p:cNvSpPr txBox="1"/>
          <p:nvPr/>
        </p:nvSpPr>
        <p:spPr>
          <a:xfrm>
            <a:off x="713232" y="3653028"/>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63</a:t>
            </a:r>
            <a:endParaRPr lang="en-US" sz="1600" dirty="0"/>
          </a:p>
        </p:txBody>
      </p:sp>
      <p:sp>
        <p:nvSpPr>
          <p:cNvPr id="13" name="Text 11"/>
          <p:cNvSpPr txBox="1"/>
          <p:nvPr/>
        </p:nvSpPr>
        <p:spPr>
          <a:xfrm>
            <a:off x="1444752" y="3634740"/>
            <a:ext cx="10012680" cy="1801368"/>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وَلَئِن سَأَلْتَهُم مَّن نَّزَّلَ مِنَ السَّمَآءِ مَآءً فَأَحْيَا بِهِ الْأَرْضَ مِن بَعْدِ مَوْتِهَا لَيَقُولُنَّ اللَّهُ قُلِ الْحَمْدُ لِلَّهِ بَلْ أَكْثَرُهُمْ لَا يَعْقِلُونَ</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If you ask them who sends down water from the sky and gives life with it to the earth after its death, they will surely say: Allah. Say: All praise is for Allah. But most of them do not use their minds.</a:t>
            </a:r>
            <a:endParaRPr lang="en-US" sz="3000" dirty="0"/>
          </a:p>
        </p:txBody>
      </p:sp>
      <p:sp>
        <p:nvSpPr>
          <p:cNvPr id="25" name="Slide Number Placeholder 0"/>
          <p:cNvSpPr>
            <a:spLocks noGrp="1"/>
          </p:cNvSpPr>
          <p:nvPr>
            <p:ph type="sldNum" sz="quarter" idx="4294967295"/>
          </p:nvPr>
        </p:nvSpPr>
        <p:spPr>
          <a:xfrm>
            <a:off x="1115568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83</a:t>
            </a:fld>
            <a:endParaRPr lang="en-US"/>
          </a:p>
        </p:txBody>
      </p:sp>
    </p:spTree>
  </p:cSld>
  <p:clrMapOvr>
    <a:masterClrMapping/>
  </p:clrMapOvr>
</p:sld>
</file>

<file path=ppt/slides/slide84.xml><?xml version="1.0" encoding="utf-8"?>
<p:sld xmlns:a="http://schemas.openxmlformats.org/drawingml/2006/main" xmlns:r="http://schemas.openxmlformats.org/officeDocument/2006/relationships" xmlns:p="http://schemas.openxmlformats.org/presentationml/2006/main">
  <p:cSld name="Slide 84">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algn="ctr" indent="0" marL="0">
              <a:buNone/>
            </a:pPr>
            <a:r>
              <a:rPr lang="en-US" sz="2400" b="1" dirty="0">
                <a:solidFill>
                  <a:schemeClr val="bg1"/>
                </a:solidFill>
                <a:latin typeface="Georgia" pitchFamily="34" charset="0"/>
                <a:ea typeface="Georgia" pitchFamily="34" charset="-122"/>
                <a:cs typeface="Georgia" pitchFamily="34" charset="-120"/>
              </a:rPr>
              <a:t>Surah Al-'Ankabut</a:t>
            </a:r>
            <a:endParaRPr lang="en-US" sz="2400" dirty="0"/>
          </a:p>
        </p:txBody>
      </p:sp>
      <p:sp>
        <p:nvSpPr>
          <p:cNvPr id="3" name="Text 1"/>
          <p:cNvSpPr txBox="1"/>
          <p:nvPr/>
        </p:nvSpPr>
        <p:spPr>
          <a:xfrm>
            <a:off x="777240" y="548640"/>
            <a:ext cx="2651760" cy="384048"/>
          </a:xfrm>
          <a:prstGeom prst="rect">
            <a:avLst/>
          </a:prstGeom>
          <a:noFill/>
          <a:ln/>
        </p:spPr>
        <p:txBody>
          <a:bodyPr wrap="square" lIns="0" tIns="0" rIns="0" bIns="0" rtlCol="0" anchor="ctr"/>
          <a:lstStyle/>
          <a:p>
            <a:pPr algn="l" indent="0" marL="0">
              <a:buNone/>
            </a:pPr>
            <a:r>
              <a:rPr lang="en-US" altLang="en-US" sz="1500" b="1" dirty="0">
                <a:solidFill>
                  <a:schemeClr val="accent2"/>
                </a:solidFill>
                <a:latin typeface="Arial" pitchFamily="34" charset="0"/>
                <a:ea typeface="Arial" pitchFamily="34" charset="-122"/>
                <a:cs typeface="Arial" pitchFamily="34" charset="-120"/>
              </a:rPr>
              <a:t>Verses 64 – 65</a:t>
            </a:r>
            <a:endParaRPr lang="en-US" sz="1500" dirty="0"/>
          </a:p>
        </p:txBody>
      </p:sp>
      <p:sp>
        <p:nvSpPr>
          <p:cNvPr id="4" name="Text 2"/>
          <p:cNvSpPr txBox="1"/>
          <p:nvPr/>
        </p:nvSpPr>
        <p:spPr>
          <a:xfrm>
            <a:off x="8732520" y="548640"/>
            <a:ext cx="2651760" cy="384048"/>
          </a:xfrm>
          <a:prstGeom prst="rect">
            <a:avLst/>
          </a:prstGeom>
          <a:noFill/>
          <a:ln/>
        </p:spPr>
        <p:txBody>
          <a:bodyPr wrap="square" lIns="0" tIns="0" rIns="0" bIns="0" rtlCol="0" anchor="ctr"/>
          <a:lstStyle/>
          <a:p>
            <a:pPr algn="r" indent="0" marL="0">
              <a:buNone/>
            </a:pPr>
            <a:r>
              <a:rPr lang="en-US" altLang="en-US" sz="1300" i="1" dirty="0">
                <a:solidFill>
                  <a:schemeClr val="accent4"/>
                </a:solidFill>
                <a:latin typeface="Arial" pitchFamily="34" charset="0"/>
                <a:ea typeface="Arial" pitchFamily="34" charset="-122"/>
                <a:cs typeface="Arial" pitchFamily="34" charset="-120"/>
              </a:rPr>
              <a:t>Ibn Kathir, simplified</a:t>
            </a:r>
            <a:endParaRPr lang="en-US" sz="1300" dirty="0"/>
          </a:p>
        </p:txBody>
      </p:sp>
      <p:sp>
        <p:nvSpPr>
          <p:cNvPr id="5" name="Shape 3"/>
          <p:cNvSpPr/>
          <p:nvPr/>
        </p:nvSpPr>
        <p:spPr>
          <a:xfrm>
            <a:off x="713232" y="1723644"/>
            <a:ext cx="548640" cy="548640"/>
          </a:xfrm>
          <a:prstGeom prst="star8">
            <a:avLst/>
          </a:prstGeom>
          <a:solidFill>
            <a:schemeClr val="accent2"/>
          </a:solidFill>
          <a:ln/>
        </p:spPr>
      </p:sp>
      <p:sp>
        <p:nvSpPr>
          <p:cNvPr id="6" name="Shape 4"/>
          <p:cNvSpPr/>
          <p:nvPr/>
        </p:nvSpPr>
        <p:spPr>
          <a:xfrm>
            <a:off x="822960" y="1833372"/>
            <a:ext cx="329184" cy="329184"/>
          </a:xfrm>
          <a:prstGeom prst="ellipse">
            <a:avLst/>
          </a:prstGeom>
          <a:solidFill>
            <a:schemeClr val="bg2"/>
          </a:solidFill>
          <a:ln w="19050">
            <a:solidFill>
              <a:schemeClr val="tx2"/>
            </a:solidFill>
            <a:prstDash val="solid"/>
          </a:ln>
        </p:spPr>
      </p:sp>
      <p:sp>
        <p:nvSpPr>
          <p:cNvPr id="7" name="Text 5"/>
          <p:cNvSpPr txBox="1"/>
          <p:nvPr/>
        </p:nvSpPr>
        <p:spPr>
          <a:xfrm>
            <a:off x="713232" y="1723644"/>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64</a:t>
            </a:r>
            <a:endParaRPr lang="en-US" sz="1600" dirty="0"/>
          </a:p>
        </p:txBody>
      </p:sp>
      <p:sp>
        <p:nvSpPr>
          <p:cNvPr id="8" name="Text 6"/>
          <p:cNvSpPr txBox="1"/>
          <p:nvPr/>
        </p:nvSpPr>
        <p:spPr>
          <a:xfrm>
            <a:off x="1444752" y="1705356"/>
            <a:ext cx="10012680" cy="1801368"/>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وَمَا هَٰذِهِ الْحَيَوٰةُ الدُّنْيَآ إِلَّا لَهْوٌ وَلَعِبٌ وَإِنَّ الدَّارَ الْأخِرَةَ لَهِيَ الْحَيَوَانُ لَوْ كَانُواْ يَعْلَمُونَ</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This worldly life is only amusement and play that quickly passes, and the home of the Hereafter is the real, lasting life, if only they knew.</a:t>
            </a:r>
            <a:endParaRPr lang="en-US" sz="3000" dirty="0"/>
          </a:p>
        </p:txBody>
      </p:sp>
      <p:sp>
        <p:nvSpPr>
          <p:cNvPr id="9" name="Shape 7"/>
          <p:cNvSpPr/>
          <p:nvPr/>
        </p:nvSpPr>
        <p:spPr>
          <a:xfrm>
            <a:off x="1444752" y="3694176"/>
            <a:ext cx="8641080" cy="0"/>
          </a:xfrm>
          <a:prstGeom prst="line">
            <a:avLst/>
          </a:prstGeom>
          <a:noFill/>
          <a:ln w="9525">
            <a:solidFill>
              <a:schemeClr val="accent2"/>
            </a:solidFill>
            <a:prstDash val="dash"/>
          </a:ln>
        </p:spPr>
      </p:sp>
      <p:sp>
        <p:nvSpPr>
          <p:cNvPr id="10" name="Shape 8"/>
          <p:cNvSpPr/>
          <p:nvPr/>
        </p:nvSpPr>
        <p:spPr>
          <a:xfrm>
            <a:off x="713232" y="3927348"/>
            <a:ext cx="548640" cy="548640"/>
          </a:xfrm>
          <a:prstGeom prst="star8">
            <a:avLst/>
          </a:prstGeom>
          <a:solidFill>
            <a:schemeClr val="accent2"/>
          </a:solidFill>
          <a:ln/>
        </p:spPr>
      </p:sp>
      <p:sp>
        <p:nvSpPr>
          <p:cNvPr id="11" name="Shape 9"/>
          <p:cNvSpPr/>
          <p:nvPr/>
        </p:nvSpPr>
        <p:spPr>
          <a:xfrm>
            <a:off x="822960" y="4037076"/>
            <a:ext cx="329184" cy="329184"/>
          </a:xfrm>
          <a:prstGeom prst="ellipse">
            <a:avLst/>
          </a:prstGeom>
          <a:solidFill>
            <a:schemeClr val="bg2"/>
          </a:solidFill>
          <a:ln w="19050">
            <a:solidFill>
              <a:schemeClr val="tx2"/>
            </a:solidFill>
            <a:prstDash val="solid"/>
          </a:ln>
        </p:spPr>
      </p:sp>
      <p:sp>
        <p:nvSpPr>
          <p:cNvPr id="12" name="Text 10"/>
          <p:cNvSpPr txBox="1"/>
          <p:nvPr/>
        </p:nvSpPr>
        <p:spPr>
          <a:xfrm>
            <a:off x="713232" y="3927348"/>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65</a:t>
            </a:r>
            <a:endParaRPr lang="en-US" sz="1600" dirty="0"/>
          </a:p>
        </p:txBody>
      </p:sp>
      <p:sp>
        <p:nvSpPr>
          <p:cNvPr id="13" name="Text 11"/>
          <p:cNvSpPr txBox="1"/>
          <p:nvPr/>
        </p:nvSpPr>
        <p:spPr>
          <a:xfrm>
            <a:off x="1444752" y="3909060"/>
            <a:ext cx="10012680" cy="1801368"/>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فَإِذَا رَكِبُواْ فِي الْفُلْكِ دَعَوُاْ اللَّهَ مُخْلِصِينَ لَهُ الدِّينَ فَلَمَّا نَجَّىٰهُمْ إِلَى الْبَرِّ إِذَا هُمْ يُشْرِكُونَ</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When they board ships and fear drowning, they call on Allah, sincere in their prayer to Him. But when He brings them safely to land, they associate others with Him,</a:t>
            </a:r>
            <a:endParaRPr lang="en-US" sz="3000" dirty="0"/>
          </a:p>
        </p:txBody>
      </p:sp>
      <p:sp>
        <p:nvSpPr>
          <p:cNvPr id="25" name="Slide Number Placeholder 0"/>
          <p:cNvSpPr>
            <a:spLocks noGrp="1"/>
          </p:cNvSpPr>
          <p:nvPr>
            <p:ph type="sldNum" sz="quarter" idx="4294967295"/>
          </p:nvPr>
        </p:nvSpPr>
        <p:spPr>
          <a:xfrm>
            <a:off x="1115568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84</a:t>
            </a:fld>
            <a:endParaRPr lang="en-US"/>
          </a:p>
        </p:txBody>
      </p:sp>
    </p:spTree>
  </p:cSld>
  <p:clrMapOvr>
    <a:masterClrMapping/>
  </p:clrMapOvr>
</p:sld>
</file>

<file path=ppt/slides/slide85.xml><?xml version="1.0" encoding="utf-8"?>
<p:sld xmlns:a="http://schemas.openxmlformats.org/drawingml/2006/main" xmlns:r="http://schemas.openxmlformats.org/officeDocument/2006/relationships" xmlns:p="http://schemas.openxmlformats.org/presentationml/2006/main">
  <p:cSld name="Slide 85">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algn="ctr" indent="0" marL="0">
              <a:buNone/>
            </a:pPr>
            <a:r>
              <a:rPr lang="en-US" sz="2400" b="1" dirty="0">
                <a:solidFill>
                  <a:schemeClr val="bg1"/>
                </a:solidFill>
                <a:latin typeface="Georgia" pitchFamily="34" charset="0"/>
                <a:ea typeface="Georgia" pitchFamily="34" charset="-122"/>
                <a:cs typeface="Georgia" pitchFamily="34" charset="-120"/>
              </a:rPr>
              <a:t>Surah Al-'Ankabut</a:t>
            </a:r>
            <a:endParaRPr lang="en-US" sz="2400" dirty="0"/>
          </a:p>
        </p:txBody>
      </p:sp>
      <p:sp>
        <p:nvSpPr>
          <p:cNvPr id="3" name="Text 1"/>
          <p:cNvSpPr txBox="1"/>
          <p:nvPr/>
        </p:nvSpPr>
        <p:spPr>
          <a:xfrm>
            <a:off x="777240" y="548640"/>
            <a:ext cx="2651760" cy="384048"/>
          </a:xfrm>
          <a:prstGeom prst="rect">
            <a:avLst/>
          </a:prstGeom>
          <a:noFill/>
          <a:ln/>
        </p:spPr>
        <p:txBody>
          <a:bodyPr wrap="square" lIns="0" tIns="0" rIns="0" bIns="0" rtlCol="0" anchor="ctr"/>
          <a:lstStyle/>
          <a:p>
            <a:pPr algn="l" indent="0" marL="0">
              <a:buNone/>
            </a:pPr>
            <a:r>
              <a:rPr lang="en-US" altLang="en-US" sz="1500" b="1" dirty="0">
                <a:solidFill>
                  <a:schemeClr val="accent2"/>
                </a:solidFill>
                <a:latin typeface="Arial" pitchFamily="34" charset="0"/>
                <a:ea typeface="Arial" pitchFamily="34" charset="-122"/>
                <a:cs typeface="Arial" pitchFamily="34" charset="-120"/>
              </a:rPr>
              <a:t>Verses 66 – 67</a:t>
            </a:r>
            <a:endParaRPr lang="en-US" sz="1500" dirty="0"/>
          </a:p>
        </p:txBody>
      </p:sp>
      <p:sp>
        <p:nvSpPr>
          <p:cNvPr id="4" name="Text 2"/>
          <p:cNvSpPr txBox="1"/>
          <p:nvPr/>
        </p:nvSpPr>
        <p:spPr>
          <a:xfrm>
            <a:off x="8732520" y="548640"/>
            <a:ext cx="2651760" cy="384048"/>
          </a:xfrm>
          <a:prstGeom prst="rect">
            <a:avLst/>
          </a:prstGeom>
          <a:noFill/>
          <a:ln/>
        </p:spPr>
        <p:txBody>
          <a:bodyPr wrap="square" lIns="0" tIns="0" rIns="0" bIns="0" rtlCol="0" anchor="ctr"/>
          <a:lstStyle/>
          <a:p>
            <a:pPr algn="r" indent="0" marL="0">
              <a:buNone/>
            </a:pPr>
            <a:r>
              <a:rPr lang="en-US" altLang="en-US" sz="1300" i="1" dirty="0">
                <a:solidFill>
                  <a:schemeClr val="accent4"/>
                </a:solidFill>
                <a:latin typeface="Arial" pitchFamily="34" charset="0"/>
                <a:ea typeface="Arial" pitchFamily="34" charset="-122"/>
                <a:cs typeface="Arial" pitchFamily="34" charset="-120"/>
              </a:rPr>
              <a:t>Ibn Kathir, simplified</a:t>
            </a:r>
            <a:endParaRPr lang="en-US" sz="1300" dirty="0"/>
          </a:p>
        </p:txBody>
      </p:sp>
      <p:sp>
        <p:nvSpPr>
          <p:cNvPr id="5" name="Shape 3"/>
          <p:cNvSpPr/>
          <p:nvPr/>
        </p:nvSpPr>
        <p:spPr>
          <a:xfrm>
            <a:off x="713232" y="2128266"/>
            <a:ext cx="548640" cy="548640"/>
          </a:xfrm>
          <a:prstGeom prst="star8">
            <a:avLst/>
          </a:prstGeom>
          <a:solidFill>
            <a:schemeClr val="accent2"/>
          </a:solidFill>
          <a:ln/>
        </p:spPr>
      </p:sp>
      <p:sp>
        <p:nvSpPr>
          <p:cNvPr id="6" name="Shape 4"/>
          <p:cNvSpPr/>
          <p:nvPr/>
        </p:nvSpPr>
        <p:spPr>
          <a:xfrm>
            <a:off x="822960" y="2237994"/>
            <a:ext cx="329184" cy="329184"/>
          </a:xfrm>
          <a:prstGeom prst="ellipse">
            <a:avLst/>
          </a:prstGeom>
          <a:solidFill>
            <a:schemeClr val="bg2"/>
          </a:solidFill>
          <a:ln w="19050">
            <a:solidFill>
              <a:schemeClr val="tx2"/>
            </a:solidFill>
            <a:prstDash val="solid"/>
          </a:ln>
        </p:spPr>
      </p:sp>
      <p:sp>
        <p:nvSpPr>
          <p:cNvPr id="7" name="Text 5"/>
          <p:cNvSpPr txBox="1"/>
          <p:nvPr/>
        </p:nvSpPr>
        <p:spPr>
          <a:xfrm>
            <a:off x="713232" y="2128266"/>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66</a:t>
            </a:r>
            <a:endParaRPr lang="en-US" sz="1600" dirty="0"/>
          </a:p>
        </p:txBody>
      </p:sp>
      <p:sp>
        <p:nvSpPr>
          <p:cNvPr id="8" name="Text 6"/>
          <p:cNvSpPr txBox="1"/>
          <p:nvPr/>
        </p:nvSpPr>
        <p:spPr>
          <a:xfrm>
            <a:off x="1444752" y="2109978"/>
            <a:ext cx="10012680" cy="992124"/>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لِيَكْفُرُواْ بِمَآ ءَاتَيْنَٰهُمْ وَلِيَتَمَتَّعُواْ فَسَوْفَ يَعْلَمُونَ</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so they deny the blessings We gave them, and enjoy themselves. They will soon know.</a:t>
            </a:r>
            <a:endParaRPr lang="en-US" sz="3000" dirty="0"/>
          </a:p>
        </p:txBody>
      </p:sp>
      <p:sp>
        <p:nvSpPr>
          <p:cNvPr id="9" name="Shape 7"/>
          <p:cNvSpPr/>
          <p:nvPr/>
        </p:nvSpPr>
        <p:spPr>
          <a:xfrm>
            <a:off x="1444752" y="3289554"/>
            <a:ext cx="8641080" cy="0"/>
          </a:xfrm>
          <a:prstGeom prst="line">
            <a:avLst/>
          </a:prstGeom>
          <a:noFill/>
          <a:ln w="9525">
            <a:solidFill>
              <a:schemeClr val="accent2"/>
            </a:solidFill>
            <a:prstDash val="dash"/>
          </a:ln>
        </p:spPr>
      </p:sp>
      <p:sp>
        <p:nvSpPr>
          <p:cNvPr id="10" name="Shape 8"/>
          <p:cNvSpPr/>
          <p:nvPr/>
        </p:nvSpPr>
        <p:spPr>
          <a:xfrm>
            <a:off x="713232" y="3522726"/>
            <a:ext cx="548640" cy="548640"/>
          </a:xfrm>
          <a:prstGeom prst="star8">
            <a:avLst/>
          </a:prstGeom>
          <a:solidFill>
            <a:schemeClr val="accent2"/>
          </a:solidFill>
          <a:ln/>
        </p:spPr>
      </p:sp>
      <p:sp>
        <p:nvSpPr>
          <p:cNvPr id="11" name="Shape 9"/>
          <p:cNvSpPr/>
          <p:nvPr/>
        </p:nvSpPr>
        <p:spPr>
          <a:xfrm>
            <a:off x="822960" y="3632454"/>
            <a:ext cx="329184" cy="329184"/>
          </a:xfrm>
          <a:prstGeom prst="ellipse">
            <a:avLst/>
          </a:prstGeom>
          <a:solidFill>
            <a:schemeClr val="bg2"/>
          </a:solidFill>
          <a:ln w="19050">
            <a:solidFill>
              <a:schemeClr val="tx2"/>
            </a:solidFill>
            <a:prstDash val="solid"/>
          </a:ln>
        </p:spPr>
      </p:sp>
      <p:sp>
        <p:nvSpPr>
          <p:cNvPr id="12" name="Text 10"/>
          <p:cNvSpPr txBox="1"/>
          <p:nvPr/>
        </p:nvSpPr>
        <p:spPr>
          <a:xfrm>
            <a:off x="713232" y="3522726"/>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67</a:t>
            </a:r>
            <a:endParaRPr lang="en-US" sz="1600" dirty="0"/>
          </a:p>
        </p:txBody>
      </p:sp>
      <p:sp>
        <p:nvSpPr>
          <p:cNvPr id="13" name="Text 11"/>
          <p:cNvSpPr txBox="1"/>
          <p:nvPr/>
        </p:nvSpPr>
        <p:spPr>
          <a:xfrm>
            <a:off x="1444752" y="3504438"/>
            <a:ext cx="10012680" cy="1801368"/>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أَوَلَمْ يَرَوْاْ أَنَّا جَعَلْنَا حَرَمًا ءَامِنًا وَيُتَخَطَّفُ النَّاسُ مِنْ حَوْلِهِمْ أَفَبِالْبَٰطِلِ يُؤْمِنُونَ وَبِنِعْمَةِ اللَّهِ يَكْفُرُونَ</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Do they not see that We have made Makkah a safe sanctuary, while people around them are snatched away and killed? Do they then believe in falsehood and deny Allah's blessing?</a:t>
            </a:r>
            <a:endParaRPr lang="en-US" sz="3000" dirty="0"/>
          </a:p>
        </p:txBody>
      </p:sp>
      <p:sp>
        <p:nvSpPr>
          <p:cNvPr id="25" name="Slide Number Placeholder 0"/>
          <p:cNvSpPr>
            <a:spLocks noGrp="1"/>
          </p:cNvSpPr>
          <p:nvPr>
            <p:ph type="sldNum" sz="quarter" idx="4294967295"/>
          </p:nvPr>
        </p:nvSpPr>
        <p:spPr>
          <a:xfrm>
            <a:off x="1115568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85</a:t>
            </a:fld>
            <a:endParaRPr lang="en-US"/>
          </a:p>
        </p:txBody>
      </p:sp>
    </p:spTree>
  </p:cSld>
  <p:clrMapOvr>
    <a:masterClrMapping/>
  </p:clrMapOvr>
</p:sld>
</file>

<file path=ppt/slides/slide86.xml><?xml version="1.0" encoding="utf-8"?>
<p:sld xmlns:a="http://schemas.openxmlformats.org/drawingml/2006/main" xmlns:r="http://schemas.openxmlformats.org/officeDocument/2006/relationships" xmlns:p="http://schemas.openxmlformats.org/presentationml/2006/main">
  <p:cSld name="Slide 86">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algn="ctr" indent="0" marL="0">
              <a:buNone/>
            </a:pPr>
            <a:r>
              <a:rPr lang="en-US" sz="2400" b="1" dirty="0">
                <a:solidFill>
                  <a:schemeClr val="bg1"/>
                </a:solidFill>
                <a:latin typeface="Georgia" pitchFamily="34" charset="0"/>
                <a:ea typeface="Georgia" pitchFamily="34" charset="-122"/>
                <a:cs typeface="Georgia" pitchFamily="34" charset="-120"/>
              </a:rPr>
              <a:t>Surah Al-'Ankabut</a:t>
            </a:r>
            <a:endParaRPr lang="en-US" sz="2400" dirty="0"/>
          </a:p>
        </p:txBody>
      </p:sp>
      <p:sp>
        <p:nvSpPr>
          <p:cNvPr id="3" name="Text 1"/>
          <p:cNvSpPr txBox="1"/>
          <p:nvPr/>
        </p:nvSpPr>
        <p:spPr>
          <a:xfrm>
            <a:off x="777240" y="548640"/>
            <a:ext cx="2651760" cy="384048"/>
          </a:xfrm>
          <a:prstGeom prst="rect">
            <a:avLst/>
          </a:prstGeom>
          <a:noFill/>
          <a:ln/>
        </p:spPr>
        <p:txBody>
          <a:bodyPr wrap="square" lIns="0" tIns="0" rIns="0" bIns="0" rtlCol="0" anchor="ctr"/>
          <a:lstStyle/>
          <a:p>
            <a:pPr algn="l" indent="0" marL="0">
              <a:buNone/>
            </a:pPr>
            <a:r>
              <a:rPr lang="en-US" altLang="en-US" sz="1500" b="1" dirty="0">
                <a:solidFill>
                  <a:schemeClr val="accent2"/>
                </a:solidFill>
                <a:latin typeface="Arial" pitchFamily="34" charset="0"/>
                <a:ea typeface="Arial" pitchFamily="34" charset="-122"/>
                <a:cs typeface="Arial" pitchFamily="34" charset="-120"/>
              </a:rPr>
              <a:t>Verses 68 – 69</a:t>
            </a:r>
            <a:endParaRPr lang="en-US" sz="1500" dirty="0"/>
          </a:p>
        </p:txBody>
      </p:sp>
      <p:sp>
        <p:nvSpPr>
          <p:cNvPr id="4" name="Text 2"/>
          <p:cNvSpPr txBox="1"/>
          <p:nvPr/>
        </p:nvSpPr>
        <p:spPr>
          <a:xfrm>
            <a:off x="8732520" y="548640"/>
            <a:ext cx="2651760" cy="384048"/>
          </a:xfrm>
          <a:prstGeom prst="rect">
            <a:avLst/>
          </a:prstGeom>
          <a:noFill/>
          <a:ln/>
        </p:spPr>
        <p:txBody>
          <a:bodyPr wrap="square" lIns="0" tIns="0" rIns="0" bIns="0" rtlCol="0" anchor="ctr"/>
          <a:lstStyle/>
          <a:p>
            <a:pPr algn="r" indent="0" marL="0">
              <a:buNone/>
            </a:pPr>
            <a:r>
              <a:rPr lang="en-US" altLang="en-US" sz="1300" i="1" dirty="0">
                <a:solidFill>
                  <a:schemeClr val="accent4"/>
                </a:solidFill>
                <a:latin typeface="Arial" pitchFamily="34" charset="0"/>
                <a:ea typeface="Arial" pitchFamily="34" charset="-122"/>
                <a:cs typeface="Arial" pitchFamily="34" charset="-120"/>
              </a:rPr>
              <a:t>Ibn Kathir, simplified</a:t>
            </a:r>
            <a:endParaRPr lang="en-US" sz="1300" dirty="0"/>
          </a:p>
        </p:txBody>
      </p:sp>
      <p:sp>
        <p:nvSpPr>
          <p:cNvPr id="5" name="Shape 3"/>
          <p:cNvSpPr/>
          <p:nvPr/>
        </p:nvSpPr>
        <p:spPr>
          <a:xfrm>
            <a:off x="713232" y="1997964"/>
            <a:ext cx="548640" cy="548640"/>
          </a:xfrm>
          <a:prstGeom prst="star8">
            <a:avLst/>
          </a:prstGeom>
          <a:solidFill>
            <a:schemeClr val="accent2"/>
          </a:solidFill>
          <a:ln/>
        </p:spPr>
      </p:sp>
      <p:sp>
        <p:nvSpPr>
          <p:cNvPr id="6" name="Shape 4"/>
          <p:cNvSpPr/>
          <p:nvPr/>
        </p:nvSpPr>
        <p:spPr>
          <a:xfrm>
            <a:off x="822960" y="2107692"/>
            <a:ext cx="329184" cy="329184"/>
          </a:xfrm>
          <a:prstGeom prst="ellipse">
            <a:avLst/>
          </a:prstGeom>
          <a:solidFill>
            <a:schemeClr val="bg2"/>
          </a:solidFill>
          <a:ln w="19050">
            <a:solidFill>
              <a:schemeClr val="tx2"/>
            </a:solidFill>
            <a:prstDash val="solid"/>
          </a:ln>
        </p:spPr>
      </p:sp>
      <p:sp>
        <p:nvSpPr>
          <p:cNvPr id="7" name="Text 5"/>
          <p:cNvSpPr txBox="1"/>
          <p:nvPr/>
        </p:nvSpPr>
        <p:spPr>
          <a:xfrm>
            <a:off x="713232" y="1997964"/>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68</a:t>
            </a:r>
            <a:endParaRPr lang="en-US" sz="1600" dirty="0"/>
          </a:p>
        </p:txBody>
      </p:sp>
      <p:sp>
        <p:nvSpPr>
          <p:cNvPr id="8" name="Text 6"/>
          <p:cNvSpPr txBox="1"/>
          <p:nvPr/>
        </p:nvSpPr>
        <p:spPr>
          <a:xfrm>
            <a:off x="1444752" y="1979676"/>
            <a:ext cx="10012680" cy="1801368"/>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وَمَنْ أَظْلَمُ مِمَّنِ افْتَرَىٰ عَلَى اللَّهِ كَذِبًا أَوْ كَذَّبَ بِالْحَقِّ لَمَّا جَآءَهُ أَلَيْسَ فِي جَهَنَّمَ مَثْوًى لِّلْكَٰفِرِينَ</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Who does more wrong than one who lies about Allah or denies the truth when it comes to him? Is there not a home in Hell for the disbelievers?</a:t>
            </a:r>
            <a:endParaRPr lang="en-US" sz="3000" dirty="0"/>
          </a:p>
        </p:txBody>
      </p:sp>
      <p:sp>
        <p:nvSpPr>
          <p:cNvPr id="9" name="Shape 7"/>
          <p:cNvSpPr/>
          <p:nvPr/>
        </p:nvSpPr>
        <p:spPr>
          <a:xfrm>
            <a:off x="1444752" y="3968496"/>
            <a:ext cx="8641080" cy="0"/>
          </a:xfrm>
          <a:prstGeom prst="line">
            <a:avLst/>
          </a:prstGeom>
          <a:noFill/>
          <a:ln w="9525">
            <a:solidFill>
              <a:schemeClr val="accent2"/>
            </a:solidFill>
            <a:prstDash val="dash"/>
          </a:ln>
        </p:spPr>
      </p:sp>
      <p:sp>
        <p:nvSpPr>
          <p:cNvPr id="10" name="Shape 8"/>
          <p:cNvSpPr/>
          <p:nvPr/>
        </p:nvSpPr>
        <p:spPr>
          <a:xfrm>
            <a:off x="713232" y="4201668"/>
            <a:ext cx="548640" cy="548640"/>
          </a:xfrm>
          <a:prstGeom prst="star8">
            <a:avLst/>
          </a:prstGeom>
          <a:solidFill>
            <a:schemeClr val="accent2"/>
          </a:solidFill>
          <a:ln/>
        </p:spPr>
      </p:sp>
      <p:sp>
        <p:nvSpPr>
          <p:cNvPr id="11" name="Shape 9"/>
          <p:cNvSpPr/>
          <p:nvPr/>
        </p:nvSpPr>
        <p:spPr>
          <a:xfrm>
            <a:off x="822960" y="4311396"/>
            <a:ext cx="329184" cy="329184"/>
          </a:xfrm>
          <a:prstGeom prst="ellipse">
            <a:avLst/>
          </a:prstGeom>
          <a:solidFill>
            <a:schemeClr val="bg2"/>
          </a:solidFill>
          <a:ln w="19050">
            <a:solidFill>
              <a:schemeClr val="tx2"/>
            </a:solidFill>
            <a:prstDash val="solid"/>
          </a:ln>
        </p:spPr>
      </p:sp>
      <p:sp>
        <p:nvSpPr>
          <p:cNvPr id="12" name="Text 10"/>
          <p:cNvSpPr txBox="1"/>
          <p:nvPr/>
        </p:nvSpPr>
        <p:spPr>
          <a:xfrm>
            <a:off x="713232" y="4201668"/>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69</a:t>
            </a:r>
            <a:endParaRPr lang="en-US" sz="1600" dirty="0"/>
          </a:p>
        </p:txBody>
      </p:sp>
      <p:sp>
        <p:nvSpPr>
          <p:cNvPr id="13" name="Text 11"/>
          <p:cNvSpPr txBox="1"/>
          <p:nvPr/>
        </p:nvSpPr>
        <p:spPr>
          <a:xfrm>
            <a:off x="1444752" y="4183380"/>
            <a:ext cx="10012680" cy="1252728"/>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وَالَّذِينَ جَٰهَدُواْ فِينَا لَنَهْدِيَنَّهُمْ سُبُلَنَا وَإِنَّ اللَّهَ لَمَعَ الْمُحْسِنِينَ</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Those who strive against themselves and their enemies for Our sake, We will surely guide them to Our ways of goodness. Allah is with those who do good, with His help and support.</a:t>
            </a:r>
            <a:endParaRPr lang="en-US" sz="3000" dirty="0"/>
          </a:p>
        </p:txBody>
      </p:sp>
      <p:sp>
        <p:nvSpPr>
          <p:cNvPr id="25" name="Slide Number Placeholder 0"/>
          <p:cNvSpPr>
            <a:spLocks noGrp="1"/>
          </p:cNvSpPr>
          <p:nvPr>
            <p:ph type="sldNum" sz="quarter" idx="4294967295"/>
          </p:nvPr>
        </p:nvSpPr>
        <p:spPr>
          <a:xfrm>
            <a:off x="1115568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86</a:t>
            </a:fld>
            <a:endParaRPr lang="en-US"/>
          </a:p>
        </p:txBody>
      </p:sp>
    </p:spTree>
  </p:cSld>
  <p:clrMapOvr>
    <a:masterClrMapping/>
  </p:clrMapOvr>
</p:sld>
</file>

<file path=ppt/slides/slide87.xml><?xml version="1.0" encoding="utf-8"?>
<p:sld xmlns:a="http://schemas.openxmlformats.org/drawingml/2006/main" xmlns:r="http://schemas.openxmlformats.org/officeDocument/2006/relationships" xmlns:p="http://schemas.openxmlformats.org/presentationml/2006/main">
  <p:cSld name="Slide 87">
    <p:spTree>
      <p:nvGrpSpPr>
        <p:cNvPr id="1" name=""/>
        <p:cNvGrpSpPr/>
        <p:nvPr/>
      </p:nvGrpSpPr>
      <p:grpSpPr>
        <a:xfrm>
          <a:off x="0" y="0"/>
          <a:ext cx="0" cy="0"/>
          <a:chOff x="0" y="0"/>
          <a:chExt cx="0" cy="0"/>
        </a:xfrm>
      </p:grpSpPr>
      <p:pic>
        <p:nvPicPr>
          <p:cNvPr id="2" name="Image 0" descr="assets21/rosette.png">    </p:cNvPr>
          <p:cNvPicPr>
            <a:picLocks noChangeAspect="1"/>
          </p:cNvPicPr>
          <p:nvPr/>
        </p:nvPicPr>
        <p:blipFill>
          <a:blip r:embed="rId1"/>
          <a:stretch>
            <a:fillRect/>
          </a:stretch>
        </p:blipFill>
        <p:spPr>
          <a:xfrm>
            <a:off x="5455768" y="822960"/>
            <a:ext cx="1280160" cy="1280160"/>
          </a:xfrm>
          <a:prstGeom prst="rect">
            <a:avLst/>
          </a:prstGeom>
        </p:spPr>
      </p:pic>
      <p:sp>
        <p:nvSpPr>
          <p:cNvPr id="3" name="Text 0"/>
          <p:cNvSpPr txBox="1"/>
          <p:nvPr/>
        </p:nvSpPr>
        <p:spPr>
          <a:xfrm>
            <a:off x="731520" y="2377440"/>
            <a:ext cx="10728655" cy="1005840"/>
          </a:xfrm>
          <a:prstGeom prst="rect">
            <a:avLst/>
          </a:prstGeom>
          <a:noFill/>
          <a:ln/>
        </p:spPr>
        <p:txBody>
          <a:bodyPr wrap="square" lIns="0" tIns="0" rIns="0" bIns="0" rtlCol="0" anchor="ctr"/>
          <a:lstStyle/>
          <a:p>
            <a:pPr algn="ctr" indent="0" marL="0">
              <a:buNone/>
            </a:pPr>
            <a:r>
              <a:rPr lang="en-US" altLang="en-US" sz="5000" b="1" dirty="0">
                <a:solidFill>
                  <a:schemeClr val="bg1"/>
                </a:solidFill>
                <a:latin typeface="Georgia" pitchFamily="34" charset="0"/>
                <a:ea typeface="Georgia" pitchFamily="34" charset="-122"/>
                <a:cs typeface="Georgia" pitchFamily="34" charset="-120"/>
              </a:rPr>
              <a:t>JazakumAllahu khayran</a:t>
            </a:r>
            <a:endParaRPr lang="en-US" sz="5000" dirty="0"/>
          </a:p>
        </p:txBody>
      </p:sp>
      <p:sp>
        <p:nvSpPr>
          <p:cNvPr id="4" name="Text 1"/>
          <p:cNvSpPr txBox="1"/>
          <p:nvPr/>
        </p:nvSpPr>
        <p:spPr>
          <a:xfrm>
            <a:off x="1371600" y="3611880"/>
            <a:ext cx="9448495" cy="1097280"/>
          </a:xfrm>
          <a:prstGeom prst="rect">
            <a:avLst/>
          </a:prstGeom>
          <a:noFill/>
          <a:ln/>
        </p:spPr>
        <p:txBody>
          <a:bodyPr wrap="square" lIns="0" tIns="0" rIns="0" bIns="0" rtlCol="0" anchor="ctr"/>
          <a:lstStyle/>
          <a:p>
            <a:pPr algn="ctr" indent="0" marL="0">
              <a:buNone/>
            </a:pPr>
            <a:r>
              <a:rPr lang="en-US" altLang="en-US" sz="2100" b="1" i="1" dirty="0">
                <a:solidFill>
                  <a:schemeClr val="accent2"/>
                </a:solidFill>
                <a:latin typeface="Arial" pitchFamily="34" charset="0"/>
                <a:ea typeface="Arial" pitchFamily="34" charset="-122"/>
                <a:cs typeface="Arial" pitchFamily="34" charset="-120"/>
              </a:rPr>
              <a:t>"Those who strive for Our sake, We will surely guide them to Our ways." (Al-'Ankabut 29:69)</a:t>
            </a:r>
            <a:endParaRPr lang="en-US" sz="2100" dirty="0"/>
          </a:p>
        </p:txBody>
      </p:sp>
      <p:pic>
        <p:nvPicPr>
          <p:cNvPr id="5" name="Image 1" descr="assets21/divider.png">    </p:cNvPr>
          <p:cNvPicPr>
            <a:picLocks noChangeAspect="1"/>
          </p:cNvPicPr>
          <p:nvPr/>
        </p:nvPicPr>
        <p:blipFill>
          <a:blip r:embed="rId2"/>
          <a:stretch>
            <a:fillRect/>
          </a:stretch>
        </p:blipFill>
        <p:spPr>
          <a:xfrm>
            <a:off x="3809848" y="4846320"/>
            <a:ext cx="4572000" cy="228600"/>
          </a:xfrm>
          <a:prstGeom prst="rect">
            <a:avLst/>
          </a:prstGeom>
        </p:spPr>
      </p:pic>
      <p:sp>
        <p:nvSpPr>
          <p:cNvPr id="6" name="Text 2"/>
          <p:cNvSpPr txBox="1"/>
          <p:nvPr/>
        </p:nvSpPr>
        <p:spPr>
          <a:xfrm>
            <a:off x="1371600" y="5257800"/>
            <a:ext cx="9448495" cy="365760"/>
          </a:xfrm>
          <a:prstGeom prst="rect">
            <a:avLst/>
          </a:prstGeom>
          <a:noFill/>
          <a:ln/>
        </p:spPr>
        <p:txBody>
          <a:bodyPr wrap="square" lIns="0" tIns="0" rIns="0" bIns="0" rtlCol="0" anchor="t"/>
          <a:lstStyle/>
          <a:p>
            <a:pPr algn="ctr" indent="0" marL="0">
              <a:buNone/>
            </a:pPr>
            <a:r>
              <a:rPr lang="en-US" altLang="en-US" sz="1400" dirty="0">
                <a:solidFill>
                  <a:schemeClr val="bg2"/>
                </a:solidFill>
                <a:latin typeface="Arial" pitchFamily="34" charset="0"/>
                <a:ea typeface="Arial" pitchFamily="34" charset="-122"/>
                <a:cs typeface="Arial" pitchFamily="34" charset="-120"/>
              </a:rPr>
              <a:t>Reference: Tafsir al-Qur'an al-'Azim by al-Hafiz Ibn Kathir (may Allah have mercy on him)</a:t>
            </a:r>
            <a:endParaRPr lang="en-US" sz="1400" dirty="0"/>
          </a:p>
        </p:txBody>
      </p:sp>
    </p:spTree>
  </p:cSld>
  <p:clrMapOvr>
    <a:masterClrMapping/>
  </p:clrMapOvr>
</p:sld>
</file>

<file path=ppt/theme/theme1.xml><?xml version="1.0" encoding="utf-8"?>
<a:theme xmlns:a="http://schemas.openxmlformats.org/drawingml/2006/main" name="Juz 21 Tafsir EN">
  <a:themeElements>
    <a:clrScheme name="Juz 21 Tafsir EN">
      <a:dk1>
        <a:srgbClr val="232A31"/>
      </a:dk1>
      <a:lt1>
        <a:srgbClr val="FFFFFF"/>
      </a:lt1>
      <a:dk2>
        <a:srgbClr val="34495E"/>
      </a:dk2>
      <a:lt2>
        <a:srgbClr val="F6F8FA"/>
      </a:lt2>
      <a:accent1>
        <a:srgbClr val="34495E"/>
      </a:accent1>
      <a:accent2>
        <a:srgbClr val="C9A04A"/>
      </a:accent2>
      <a:accent3>
        <a:srgbClr val="46627D"/>
      </a:accent3>
      <a:accent4>
        <a:srgbClr val="636B73"/>
      </a:accent4>
      <a:accent5>
        <a:srgbClr val="E6EBF0"/>
      </a:accent5>
      <a:accent6>
        <a:srgbClr val="8A2F2A"/>
      </a:accent6>
      <a:hlink>
        <a:srgbClr val="46627D"/>
      </a:hlink>
      <a:folHlink>
        <a:srgbClr val="636B73"/>
      </a:folHlink>
    </a:clrScheme>
    <a:fontScheme name="Juz 21 Tafsir EN">
      <a:majorFont>
        <a:latin typeface="Georgia"/>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rial"/>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87</Slides>
  <Notes>87</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87</vt:i4>
      </vt:variant>
    </vt:vector>
  </HeadingPairs>
  <TitlesOfParts>
    <vt:vector size="90"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lpstr>Slide 33</vt:lpstr>
      <vt:lpstr>Slide 34</vt:lpstr>
      <vt:lpstr>Slide 35</vt:lpstr>
      <vt:lpstr>Slide 36</vt:lpstr>
      <vt:lpstr>Slide 37</vt:lpstr>
      <vt:lpstr>Slide 38</vt:lpstr>
      <vt:lpstr>Slide 39</vt:lpstr>
      <vt:lpstr>Slide 40</vt:lpstr>
      <vt:lpstr>Slide 41</vt:lpstr>
      <vt:lpstr>Slide 42</vt:lpstr>
      <vt:lpstr>Slide 43</vt:lpstr>
      <vt:lpstr>Slide 44</vt:lpstr>
      <vt:lpstr>Slide 45</vt:lpstr>
      <vt:lpstr>Slide 46</vt:lpstr>
      <vt:lpstr>Slide 47</vt:lpstr>
      <vt:lpstr>Slide 48</vt:lpstr>
      <vt:lpstr>Slide 49</vt:lpstr>
      <vt:lpstr>Slide 50</vt:lpstr>
      <vt:lpstr>Slide 51</vt:lpstr>
      <vt:lpstr>Slide 52</vt:lpstr>
      <vt:lpstr>Slide 53</vt:lpstr>
      <vt:lpstr>Slide 54</vt:lpstr>
      <vt:lpstr>Slide 55</vt:lpstr>
      <vt:lpstr>Slide 56</vt:lpstr>
      <vt:lpstr>Slide 57</vt:lpstr>
      <vt:lpstr>Slide 58</vt:lpstr>
      <vt:lpstr>Slide 59</vt:lpstr>
      <vt:lpstr>Slide 60</vt:lpstr>
      <vt:lpstr>Slide 61</vt:lpstr>
      <vt:lpstr>Slide 62</vt:lpstr>
      <vt:lpstr>Slide 63</vt:lpstr>
      <vt:lpstr>Slide 64</vt:lpstr>
      <vt:lpstr>Slide 65</vt:lpstr>
      <vt:lpstr>Slide 66</vt:lpstr>
      <vt:lpstr>Slide 67</vt:lpstr>
      <vt:lpstr>Slide 68</vt:lpstr>
      <vt:lpstr>Slide 69</vt:lpstr>
      <vt:lpstr>Slide 70</vt:lpstr>
      <vt:lpstr>Slide 71</vt:lpstr>
      <vt:lpstr>Slide 72</vt:lpstr>
      <vt:lpstr>Slide 73</vt:lpstr>
      <vt:lpstr>Slide 74</vt:lpstr>
      <vt:lpstr>Slide 75</vt:lpstr>
      <vt:lpstr>Slide 76</vt:lpstr>
      <vt:lpstr>Slide 77</vt:lpstr>
      <vt:lpstr>Slide 78</vt:lpstr>
      <vt:lpstr>Slide 79</vt:lpstr>
      <vt:lpstr>Slide 80</vt:lpstr>
      <vt:lpstr>Slide 81</vt:lpstr>
      <vt:lpstr>Slide 82</vt:lpstr>
      <vt:lpstr>Slide 83</vt:lpstr>
      <vt:lpstr>Slide 84</vt:lpstr>
      <vt:lpstr>Slide 85</vt:lpstr>
      <vt:lpstr>Slide 86</vt:lpstr>
      <vt:lpstr>Slide 87</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Tafsir of Juz Utlu Ma Uhiya — Simplified Tafsir from Ibn Kathir</dc:title>
  <dc:subject>PptxGenJS Presentation</dc:subject>
  <dc:creator>Qur'an Teacher</dc:creator>
  <cp:lastModifiedBy>Qur'an Teacher</cp:lastModifiedBy>
  <cp:revision>1</cp:revision>
  <dcterms:created xsi:type="dcterms:W3CDTF">2026-10-06T20:50:43Z</dcterms:created>
  <dcterms:modified xsi:type="dcterms:W3CDTF">2026-10-06T20:50:43Z</dcterms:modified>
</cp:coreProperties>
</file>