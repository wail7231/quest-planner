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Lst>
  <p:notesMasterIdLst>
    <p:notesMasterId r:id="rId1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db9a4f9-d18e-8f1e-ae4d-40b64dde167d}">
          <p14:sldIdLst>
            <p14:sldId id="256"/>
            <p14:sldId id="257"/>
            <p14:sldId id="258"/>
            <p14:sldId id="259"/>
          </p14:sldIdLst>
        </p14:section>
        <p14:section name="1. Believers and Badr" id="{de5019c8-f5e4-0160-8e33-2c04b6b840b7}">
          <p14:sldIdLst>
            <p14:sldId id="260"/>
            <p14:sldId id="261"/>
            <p14:sldId id="262"/>
            <p14:sldId id="263"/>
            <p14:sldId id="264"/>
            <p14:sldId id="265"/>
            <p14:sldId id="266"/>
          </p14:sldIdLst>
        </p14:section>
        <p14:section name="2. Standing Firm" id="{ce7551c4-7241-f436-dfd1-510d93ba0740}">
          <p14:sldIdLst>
            <p14:sldId id="267"/>
            <p14:sldId id="268"/>
            <p14:sldId id="269"/>
            <p14:sldId id="270"/>
            <p14:sldId id="271"/>
            <p14:sldId id="272"/>
            <p14:sldId id="273"/>
            <p14:sldId id="274"/>
          </p14:sldIdLst>
        </p14:section>
        <p14:section name="3. The Plots of Quraysh" id="{5630b5eb-7503-48fa-cbe0-d67aa890e652}">
          <p14:sldIdLst>
            <p14:sldId id="275"/>
            <p14:sldId id="276"/>
            <p14:sldId id="277"/>
            <p14:sldId id="278"/>
            <p14:sldId id="279"/>
            <p14:sldId id="280"/>
            <p14:sldId id="281"/>
          </p14:sldIdLst>
        </p14:section>
        <p14:section name="4. War Gains; Battle Manners" id="{66d91463-69f2-479f-53be-e3e2600724cd}">
          <p14:sldIdLst>
            <p14:sldId id="282"/>
            <p14:sldId id="283"/>
            <p14:sldId id="284"/>
            <p14:sldId id="285"/>
            <p14:sldId id="286"/>
            <p14:sldId id="287"/>
            <p14:sldId id="288"/>
            <p14:sldId id="289"/>
            <p14:sldId id="290"/>
            <p14:sldId id="291"/>
          </p14:sldIdLst>
        </p14:section>
        <p14:section name="5. Treaties and Captives" id="{9360d61e-0b80-e87a-fdef-5a0ab93d3561}">
          <p14:sldIdLst>
            <p14:sldId id="292"/>
            <p14:sldId id="293"/>
            <p14:sldId id="294"/>
            <p14:sldId id="295"/>
            <p14:sldId id="296"/>
            <p14:sldId id="297"/>
            <p14:sldId id="298"/>
            <p14:sldId id="299"/>
            <p14:sldId id="300"/>
            <p14:sldId id="301"/>
            <p14:sldId id="302"/>
            <p14:sldId id="303"/>
          </p14:sldIdLst>
        </p14:section>
        <p14:section name="6. The Declaration" id="{fa3b2cd6-671e-5509-7790-880b8330f14f}">
          <p14:sldIdLst>
            <p14:sldId id="304"/>
            <p14:sldId id="305"/>
            <p14:sldId id="306"/>
            <p14:sldId id="307"/>
            <p14:sldId id="308"/>
            <p14:sldId id="309"/>
            <p14:sldId id="310"/>
            <p14:sldId id="311"/>
            <p14:sldId id="312"/>
            <p14:sldId id="313"/>
          </p14:sldIdLst>
        </p14:section>
        <p14:section name="7. Mosques and Hunayn" id="{69df5f29-afe6-4d97-31df-1269a52a5e52}">
          <p14:sldIdLst>
            <p14:sldId id="314"/>
            <p14:sldId id="315"/>
            <p14:sldId id="316"/>
            <p14:sldId id="317"/>
            <p14:sldId id="318"/>
            <p14:sldId id="319"/>
            <p14:sldId id="320"/>
            <p14:sldId id="321"/>
            <p14:sldId id="322"/>
            <p14:sldId id="323"/>
            <p14:sldId id="324"/>
            <p14:sldId id="325"/>
            <p14:sldId id="326"/>
          </p14:sldIdLst>
        </p14:section>
        <p14:section name="8. Tabuk and Those Behind" id="{5718e4ac-5bb5-e74b-3ec7-c80420b9fc83}">
          <p14:sldIdLst>
            <p14:sldId id="327"/>
            <p14:sldId id="328"/>
            <p14:sldId id="329"/>
            <p14:sldId id="330"/>
            <p14:sldId id="331"/>
            <p14:sldId id="332"/>
            <p14:sldId id="333"/>
            <p14:sldId id="334"/>
            <p14:sldId id="335"/>
            <p14:sldId id="336"/>
            <p14:sldId id="337"/>
            <p14:sldId id="338"/>
            <p14:sldId id="339"/>
          </p14:sldIdLst>
        </p14:section>
        <p14:section name="9. Zakah; Hypocrites Exposed" id="{9f63a1b8-4f56-8f7d-bd19-76b7badb7dad}">
          <p14:sldIdLst>
            <p14:sldId id="340"/>
            <p14:sldId id="341"/>
            <p14:sldId id="342"/>
            <p14:sldId id="343"/>
            <p14:sldId id="344"/>
            <p14:sldId id="345"/>
            <p14:sldId id="346"/>
            <p14:sldId id="347"/>
            <p14:sldId id="348"/>
            <p14:sldId id="349"/>
            <p14:sldId id="350"/>
            <p14:sldId id="351"/>
            <p14:sldId id="352"/>
            <p14:sldId id="353"/>
          </p14:sldIdLst>
        </p14:section>
        <p14:section name="10. Excuses True and False" id="{a6743bc0-a7e6-a0d2-46c9-46c738d20086}">
          <p14:sldIdLst>
            <p14:sldId id="354"/>
            <p14:sldId id="355"/>
            <p14:sldId id="356"/>
            <p14:sldId id="357"/>
            <p14:sldId id="358"/>
            <p14:sldId id="359"/>
            <p14:sldId id="360"/>
            <p14:sldId id="361"/>
            <p14:sldId id="362"/>
            <p14:sldId id="363"/>
            <p14:sldId id="364"/>
          </p14:sldIdLst>
        </p14:section>
        <p14:section name="11. Forerunners; Harmful Mosque" id="{c306ab93-d1a4-dcdd-25a5-605869fdadb1}">
          <p14:sldIdLst>
            <p14:sldId id="365"/>
            <p14:sldId id="366"/>
            <p14:sldId id="367"/>
            <p14:sldId id="368"/>
            <p14:sldId id="369"/>
            <p14:sldId id="370"/>
            <p14:sldId id="371"/>
          </p14:sldIdLst>
        </p14:section>
        <p14:section name="12. The Profitable Deal" id="{30f04962-906d-9a9a-d376-72bf55c8ba52}">
          <p14:sldIdLst>
            <p14:sldId id="372"/>
            <p14:sldId id="373"/>
            <p14:sldId id="374"/>
            <p14:sldId id="375"/>
            <p14:sldId id="376"/>
            <p14:sldId id="377"/>
            <p14:sldId id="378"/>
            <p14:sldId id="379"/>
            <p14:sldId id="380"/>
            <p14:sldId id="381"/>
            <p14:sldId id="382"/>
            <p14:sldId id="383"/>
          </p14:sldIdLst>
        </p14:section>
        <p14:section name="Closing" id="{a12aa2f2-7b77-9fc4-5b34-5bd1e73a8df7}">
          <p14:sldIdLst>
            <p14:sldId id="38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notesMaster" Target="notesMasters/notesMaster1.xml"/><Relationship Id="rId132" Type="http://schemas.openxmlformats.org/officeDocument/2006/relationships/presProps" Target="presProps.xml"/><Relationship Id="rId133" Type="http://schemas.openxmlformats.org/officeDocument/2006/relationships/viewProps" Target="viewProps.xml"/><Relationship Id="rId134" Type="http://schemas.openxmlformats.org/officeDocument/2006/relationships/theme" Target="theme/theme1.xml"/><Relationship Id="rId1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divided the two surahs into twelve themed sections: five for Al-Anfal and seven for At-Tawbah. Each section opens with its reason for revelation and theme.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section: Mention three qualities of the true believers in verses 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section: What does Allah give to whoever has taqwa of Him, according to verse 29?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section: What are the two protections from punishment mentioned in verse 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section: What takes away the Muslims' strength, according to verse 46?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section: Who joined the believers' hearts together (verse 63)?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section: What do we do with an idol-worshipper who asks for safety to hear Allah's words (verse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section: What happened to the Muslims at Hunayn when their large numbers pleased them (verse 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section: What did the Prophet (peace be upon him) say to Abu Bakr in the cave (verse 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section: List the eight categories of zakah in verse 60.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section: Who has no blame for staying behind (verses 91–92)?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section: Upon what was the mosque of Quba' founded (verse 108)?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section: What saved Ka'b ibn Malik and his two companions? What does verse 119 command?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jp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jp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jp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AGE">
    <p:bg>
      <p:bgPr>
        <a:solidFill>
          <a:schemeClr val="bg2"/>
        </a:solidFill>
      </p:bgPr>
    </p:bg>
    <p:spTree>
      <p:nvGrpSpPr>
        <p:cNvPr id="1" name=""/>
        <p:cNvGrpSpPr/>
        <p:nvPr/>
      </p:nvGrpSpPr>
      <p:grpSpPr>
        <a:xfrm>
          <a:off x="0" y="0"/>
          <a:ext cx="0" cy="0"/>
          <a:chOff x="0" y="0"/>
          <a:chExt cx="0" cy="0"/>
        </a:xfrm>
      </p:grpSpPr>
      <p:pic>
        <p:nvPicPr>
          <p:cNvPr id="2" name="Image 0" descr="assets89/bg_page.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4084168" y="384048"/>
            <a:ext cx="4023360" cy="713232"/>
          </a:xfrm>
          <a:prstGeom prst="rect">
            <a:avLst/>
          </a:prstGeom>
          <a:noFill/>
          <a:ln/>
        </p:spPr>
        <p:txBody>
          <a:bodyPr wrap="square" rtlCol="0"/>
          <a:lstStyle>
            <a:lvl1pPr algn="ctr" indent="0" marL="0">
              <a:buNone/>
              <a:defRPr lang="en-US" sz="2400" b="1" dirty="0">
                <a:solidFill>
                  <a:schemeClr val="bg1"/>
                </a:solidFill>
                <a:latin typeface="Georgia" pitchFamily="34" charset="0"/>
                <a:ea typeface="Georgia" pitchFamily="34" charset="-122"/>
                <a:cs typeface="Georgia" pitchFamily="34" charset="-120"/>
              </a:defRPr>
            </a:lvl1pPr>
          </a:lstStyle>
          <a:p>
            <a:pPr algn="ctr" indent="0" marL="0">
              <a:buNone/>
            </a:pPr>
            <a:endParaRPr lang="en-US" sz="24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RO">
    <p:bg>
      <p:bgPr>
        <a:solidFill>
          <a:schemeClr val="bg2"/>
        </a:solidFill>
      </p:bgPr>
    </p:bg>
    <p:spTree>
      <p:nvGrpSpPr>
        <p:cNvPr id="1" name=""/>
        <p:cNvGrpSpPr/>
        <p:nvPr/>
      </p:nvGrpSpPr>
      <p:grpSpPr>
        <a:xfrm>
          <a:off x="0" y="0"/>
          <a:ext cx="0" cy="0"/>
          <a:chOff x="0" y="0"/>
          <a:chExt cx="0" cy="0"/>
        </a:xfrm>
      </p:grpSpPr>
      <p:pic>
        <p:nvPicPr>
          <p:cNvPr id="2" name="Image 0" descr="assets89/bg_intro.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bg2"/>
        </a:solidFill>
      </p:bgPr>
    </p:bg>
    <p:spTree>
      <p:nvGrpSpPr>
        <p:cNvPr id="1" name=""/>
        <p:cNvGrpSpPr/>
        <p:nvPr/>
      </p:nvGrpSpPr>
      <p:grpSpPr>
        <a:xfrm>
          <a:off x="0" y="0"/>
          <a:ext cx="0" cy="0"/>
          <a:chOff x="0" y="0"/>
          <a:chExt cx="0" cy="0"/>
        </a:xfrm>
      </p:grpSpPr>
      <p:pic>
        <p:nvPicPr>
          <p:cNvPr id="2" name="Image 0" descr="assets89/bg_dark.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image" Target="../media/image-129-1.png"/><Relationship Id="rId2" Type="http://schemas.openxmlformats.org/officeDocument/2006/relationships/image" Target="../media/image-129-2.png"/><Relationship Id="rId3" Type="http://schemas.openxmlformats.org/officeDocument/2006/relationships/slideLayout" Target="../slideLayouts/slideLayout4.xml"/><Relationship Id="rId4" Type="http://schemas.openxmlformats.org/officeDocument/2006/relationships/notesSlide" Target="../notesSlides/notesSlide12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assets89/rosette.png">    </p:cNvPr>
          <p:cNvPicPr>
            <a:picLocks noChangeAspect="1"/>
          </p:cNvPicPr>
          <p:nvPr/>
        </p:nvPicPr>
        <p:blipFill>
          <a:blip r:embed="rId1"/>
          <a:stretch>
            <a:fillRect/>
          </a:stretch>
        </p:blipFill>
        <p:spPr>
          <a:xfrm>
            <a:off x="5364328" y="777240"/>
            <a:ext cx="1463040" cy="1463040"/>
          </a:xfrm>
          <a:prstGeom prst="rect">
            <a:avLst/>
          </a:prstGeom>
        </p:spPr>
      </p:pic>
      <p:sp>
        <p:nvSpPr>
          <p:cNvPr id="3" name="Text 0"/>
          <p:cNvSpPr txBox="1"/>
          <p:nvPr/>
        </p:nvSpPr>
        <p:spPr>
          <a:xfrm>
            <a:off x="731520" y="2468880"/>
            <a:ext cx="10728655" cy="1143000"/>
          </a:xfrm>
          <a:prstGeom prst="rect">
            <a:avLst/>
          </a:prstGeom>
          <a:noFill/>
          <a:ln/>
        </p:spPr>
        <p:txBody>
          <a:bodyPr wrap="square" lIns="0" tIns="0" rIns="0" bIns="0" rtlCol="0" anchor="ctr"/>
          <a:lstStyle/>
          <a:p>
            <a:pPr algn="ctr" indent="0" marL="0">
              <a:buNone/>
            </a:pPr>
            <a:r>
              <a:rPr lang="en-US" altLang="en-US" sz="4400" b="1" dirty="0">
                <a:solidFill>
                  <a:schemeClr val="bg1"/>
                </a:solidFill>
                <a:latin typeface="Georgia" pitchFamily="34" charset="0"/>
                <a:ea typeface="Georgia" pitchFamily="34" charset="-122"/>
                <a:cs typeface="Georgia" pitchFamily="34" charset="-120"/>
              </a:rPr>
              <a:t>Tafsir of Al-Anfal &amp; At-Tawbah</a:t>
            </a:r>
            <a:endParaRPr lang="en-US" sz="4400" dirty="0"/>
          </a:p>
        </p:txBody>
      </p:sp>
      <p:sp>
        <p:nvSpPr>
          <p:cNvPr id="4" name="Text 1"/>
          <p:cNvSpPr txBox="1"/>
          <p:nvPr/>
        </p:nvSpPr>
        <p:spPr>
          <a:xfrm>
            <a:off x="1097280" y="3657600"/>
            <a:ext cx="9997135" cy="502920"/>
          </a:xfrm>
          <a:prstGeom prst="rect">
            <a:avLst/>
          </a:prstGeom>
          <a:noFill/>
          <a:ln/>
        </p:spPr>
        <p:txBody>
          <a:bodyPr wrap="square" lIns="0" tIns="0" rIns="0" bIns="0" rtlCol="0" anchor="ctr"/>
          <a:lstStyle/>
          <a:p>
            <a:pPr algn="ctr" indent="0" marL="0">
              <a:buNone/>
            </a:pPr>
            <a:r>
              <a:rPr lang="en-US" altLang="en-US" sz="2200" b="1" dirty="0">
                <a:solidFill>
                  <a:schemeClr val="accent2"/>
                </a:solidFill>
                <a:latin typeface="Arial" pitchFamily="34" charset="0"/>
                <a:ea typeface="Arial" pitchFamily="34" charset="-122"/>
                <a:cs typeface="Arial" pitchFamily="34" charset="-120"/>
              </a:rPr>
              <a:t>A simplified explanation of every verse, drawn from the Tafsir of Imam Ibn Kathir</a:t>
            </a:r>
            <a:endParaRPr lang="en-US" sz="2200" dirty="0"/>
          </a:p>
        </p:txBody>
      </p:sp>
      <p:pic>
        <p:nvPicPr>
          <p:cNvPr id="5" name="Image 1" descr="assets89/divider.png">    </p:cNvPr>
          <p:cNvPicPr>
            <a:picLocks noChangeAspect="1"/>
          </p:cNvPicPr>
          <p:nvPr/>
        </p:nvPicPr>
        <p:blipFill>
          <a:blip r:embed="rId2"/>
          <a:stretch>
            <a:fillRect/>
          </a:stretch>
        </p:blipFill>
        <p:spPr>
          <a:xfrm>
            <a:off x="3809848" y="4343400"/>
            <a:ext cx="4572000" cy="228600"/>
          </a:xfrm>
          <a:prstGeom prst="rect">
            <a:avLst/>
          </a:prstGeom>
        </p:spPr>
      </p:pic>
      <p:sp>
        <p:nvSpPr>
          <p:cNvPr id="6" name="Text 2"/>
          <p:cNvSpPr txBox="1"/>
          <p:nvPr/>
        </p:nvSpPr>
        <p:spPr>
          <a:xfrm>
            <a:off x="1097280" y="4754880"/>
            <a:ext cx="9997135" cy="457200"/>
          </a:xfrm>
          <a:prstGeom prst="rect">
            <a:avLst/>
          </a:prstGeom>
          <a:noFill/>
          <a:ln/>
        </p:spPr>
        <p:txBody>
          <a:bodyPr wrap="square" lIns="0" tIns="0" rIns="0" bIns="0" rtlCol="0" anchor="t"/>
          <a:lstStyle/>
          <a:p>
            <a:pPr algn="ctr" indent="0" marL="0">
              <a:buNone/>
            </a:pPr>
            <a:r>
              <a:rPr lang="en-US" altLang="en-US" sz="1700" dirty="0">
                <a:solidFill>
                  <a:schemeClr val="bg2"/>
                </a:solidFill>
                <a:latin typeface="Arial" pitchFamily="34" charset="0"/>
                <a:ea typeface="Arial" pitchFamily="34" charset="-122"/>
                <a:cs typeface="Arial" pitchFamily="34" charset="-120"/>
              </a:rPr>
              <a:t>Al-Anfal: 75 verses • At-Tawbah: 129 verses • both Madani • 12 sections</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Before We Begin</a:t>
            </a:r>
            <a:endParaRPr lang="en-US" sz="2400" dirty="0"/>
          </a:p>
        </p:txBody>
      </p:sp>
      <p:sp>
        <p:nvSpPr>
          <p:cNvPr id="3" name="Shape 1"/>
          <p:cNvSpPr/>
          <p:nvPr/>
        </p:nvSpPr>
        <p:spPr>
          <a:xfrm>
            <a:off x="640080" y="1463040"/>
            <a:ext cx="5303520" cy="4617720"/>
          </a:xfrm>
          <a:prstGeom prst="roundRect">
            <a:avLst>
              <a:gd name="adj" fmla="val 2970"/>
            </a:avLst>
          </a:prstGeom>
          <a:solidFill>
            <a:schemeClr val="accent5"/>
          </a:solidFill>
          <a:ln w="15875">
            <a:solidFill>
              <a:schemeClr val="accent2"/>
            </a:solidFill>
            <a:prstDash val="solid"/>
          </a:ln>
        </p:spPr>
      </p:sp>
      <p:sp>
        <p:nvSpPr>
          <p:cNvPr id="4" name="Text 2"/>
          <p:cNvSpPr txBox="1"/>
          <p:nvPr/>
        </p:nvSpPr>
        <p:spPr>
          <a:xfrm>
            <a:off x="868680" y="1645920"/>
            <a:ext cx="4846320" cy="685800"/>
          </a:xfrm>
          <a:prstGeom prst="rect">
            <a:avLst/>
          </a:prstGeom>
          <a:noFill/>
          <a:ln/>
        </p:spPr>
        <p:txBody>
          <a:bodyPr wrap="square" lIns="0" tIns="0" rIns="0" bIns="0" rtlCol="0" anchor="t"/>
          <a:lstStyle/>
          <a:p>
            <a:pPr algn="l" indent="0" marL="0">
              <a:buNone/>
            </a:pPr>
            <a:r>
              <a:rPr lang="en-US" altLang="en-US" sz="1900" b="1" dirty="0">
                <a:solidFill>
                  <a:schemeClr val="tx2"/>
                </a:solidFill>
                <a:latin typeface="Georgia" pitchFamily="34" charset="0"/>
                <a:ea typeface="Georgia" pitchFamily="34" charset="-122"/>
                <a:cs typeface="Georgia" pitchFamily="34" charset="-120"/>
              </a:rPr>
              <a:t>Imam Ibn Kathir (may Allah have mercy on him)</a:t>
            </a:r>
            <a:endParaRPr lang="en-US" sz="1900" dirty="0"/>
          </a:p>
        </p:txBody>
      </p:sp>
      <p:sp>
        <p:nvSpPr>
          <p:cNvPr id="5" name="Text 3"/>
          <p:cNvSpPr txBox="1"/>
          <p:nvPr/>
        </p:nvSpPr>
        <p:spPr>
          <a:xfrm>
            <a:off x="868680" y="2423160"/>
            <a:ext cx="4846320" cy="3520440"/>
          </a:xfrm>
          <a:prstGeom prst="rect">
            <a:avLst/>
          </a:prstGeom>
          <a:noFill/>
          <a:ln/>
        </p:spPr>
        <p:txBody>
          <a:bodyPr wrap="square" lIns="0" tIns="0" rIns="0" bIns="0" rtlCol="0" anchor="t"/>
          <a:lstStyle/>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Name: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Isma'il ibn 'Umar ibn Kathir of Damascus</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Lived: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about 701 – 774 AH (1300 – 1373 CE) in Syria</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Teachers: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Ibn Taymiyyah, al-Mizzi and al-Dhahabi</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His book: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Tafsir al-Qur'an al-'Azim, one of the most famous books of tafsir</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His method: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He explains the Qur'an by the Qur'an, then by the Sunnah, then by the sayings of the Companions and their students</a:t>
            </a:r>
            <a:endParaRPr lang="en-US" sz="1500" dirty="0"/>
          </a:p>
        </p:txBody>
      </p:sp>
      <p:sp>
        <p:nvSpPr>
          <p:cNvPr id="6" name="Text 4"/>
          <p:cNvSpPr txBox="1"/>
          <p:nvPr/>
        </p:nvSpPr>
        <p:spPr>
          <a:xfrm>
            <a:off x="6263640" y="1600200"/>
            <a:ext cx="5303520" cy="502920"/>
          </a:xfrm>
          <a:prstGeom prst="rect">
            <a:avLst/>
          </a:prstGeom>
          <a:noFill/>
          <a:ln/>
        </p:spPr>
        <p:txBody>
          <a:bodyPr wrap="square" lIns="0" tIns="0" rIns="0" bIns="0" rtlCol="0" anchor="t"/>
          <a:lstStyle/>
          <a:p>
            <a:pPr algn="l" indent="0" marL="0">
              <a:buNone/>
            </a:pPr>
            <a:r>
              <a:rPr lang="en-US" altLang="en-US" sz="2200" b="1" dirty="0">
                <a:solidFill>
                  <a:schemeClr val="tx2"/>
                </a:solidFill>
                <a:latin typeface="Georgia" pitchFamily="34" charset="0"/>
                <a:ea typeface="Georgia" pitchFamily="34" charset="-122"/>
                <a:cs typeface="Georgia" pitchFamily="34" charset="-120"/>
              </a:rPr>
              <a:t>How to read the slides</a:t>
            </a:r>
            <a:endParaRPr lang="en-US" sz="2200" dirty="0"/>
          </a:p>
        </p:txBody>
      </p:sp>
      <p:sp>
        <p:nvSpPr>
          <p:cNvPr id="7" name="Shape 5"/>
          <p:cNvSpPr/>
          <p:nvPr/>
        </p:nvSpPr>
        <p:spPr>
          <a:xfrm>
            <a:off x="6263640" y="2331720"/>
            <a:ext cx="566928" cy="566928"/>
          </a:xfrm>
          <a:prstGeom prst="star8">
            <a:avLst/>
          </a:prstGeom>
          <a:solidFill>
            <a:schemeClr val="accent2"/>
          </a:solidFill>
          <a:ln/>
        </p:spPr>
      </p:sp>
      <p:sp>
        <p:nvSpPr>
          <p:cNvPr id="8" name="Shape 6"/>
          <p:cNvSpPr/>
          <p:nvPr/>
        </p:nvSpPr>
        <p:spPr>
          <a:xfrm>
            <a:off x="6377026" y="2445106"/>
            <a:ext cx="340157" cy="340157"/>
          </a:xfrm>
          <a:prstGeom prst="ellipse">
            <a:avLst/>
          </a:prstGeom>
          <a:solidFill>
            <a:schemeClr val="bg2"/>
          </a:solidFill>
          <a:ln w="19050">
            <a:solidFill>
              <a:schemeClr val="tx2"/>
            </a:solidFill>
            <a:prstDash val="solid"/>
          </a:ln>
        </p:spPr>
      </p:sp>
      <p:sp>
        <p:nvSpPr>
          <p:cNvPr id="9" name="Text 7"/>
          <p:cNvSpPr txBox="1"/>
          <p:nvPr/>
        </p:nvSpPr>
        <p:spPr>
          <a:xfrm>
            <a:off x="6263640" y="2331720"/>
            <a:ext cx="566928" cy="566928"/>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10" name="Text 8"/>
          <p:cNvSpPr txBox="1"/>
          <p:nvPr/>
        </p:nvSpPr>
        <p:spPr>
          <a:xfrm>
            <a:off x="7040880" y="2359152"/>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The verse number is inside the golden star</a:t>
            </a:r>
            <a:endParaRPr lang="en-US" sz="1600" dirty="0"/>
          </a:p>
        </p:txBody>
      </p:sp>
      <p:sp>
        <p:nvSpPr>
          <p:cNvPr id="11" name="Shape 9"/>
          <p:cNvSpPr/>
          <p:nvPr/>
        </p:nvSpPr>
        <p:spPr>
          <a:xfrm>
            <a:off x="6336792" y="3337560"/>
            <a:ext cx="420624" cy="420624"/>
          </a:xfrm>
          <a:prstGeom prst="ellipse">
            <a:avLst/>
          </a:prstGeom>
          <a:solidFill>
            <a:schemeClr val="tx2"/>
          </a:solidFill>
          <a:ln w="19050">
            <a:solidFill>
              <a:schemeClr val="accent2"/>
            </a:solidFill>
            <a:prstDash val="solid"/>
          </a:ln>
        </p:spPr>
      </p:sp>
      <p:sp>
        <p:nvSpPr>
          <p:cNvPr id="12" name="Text 10"/>
          <p:cNvSpPr txBox="1"/>
          <p:nvPr/>
        </p:nvSpPr>
        <p:spPr>
          <a:xfrm>
            <a:off x="7040880" y="3291840"/>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The Arabic verse is written in crimson</a:t>
            </a:r>
            <a:endParaRPr lang="en-US" sz="1600" dirty="0"/>
          </a:p>
        </p:txBody>
      </p:sp>
      <p:sp>
        <p:nvSpPr>
          <p:cNvPr id="13" name="Shape 11"/>
          <p:cNvSpPr/>
          <p:nvPr/>
        </p:nvSpPr>
        <p:spPr>
          <a:xfrm>
            <a:off x="6336792" y="4270248"/>
            <a:ext cx="420624" cy="420624"/>
          </a:xfrm>
          <a:prstGeom prst="ellipse">
            <a:avLst/>
          </a:prstGeom>
          <a:solidFill>
            <a:schemeClr val="tx1"/>
          </a:solidFill>
          <a:ln w="19050">
            <a:solidFill>
              <a:schemeClr val="accent2"/>
            </a:solidFill>
            <a:prstDash val="solid"/>
          </a:ln>
        </p:spPr>
      </p:sp>
      <p:sp>
        <p:nvSpPr>
          <p:cNvPr id="14" name="Text 12"/>
          <p:cNvSpPr txBox="1"/>
          <p:nvPr/>
        </p:nvSpPr>
        <p:spPr>
          <a:xfrm>
            <a:off x="7040880" y="4224528"/>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A simple English explanation comes right under it</a:t>
            </a:r>
            <a:endParaRPr lang="en-US" sz="1600" dirty="0"/>
          </a:p>
        </p:txBody>
      </p:sp>
      <p:sp>
        <p:nvSpPr>
          <p:cNvPr id="15" name="Shape 13"/>
          <p:cNvSpPr/>
          <p:nvPr/>
        </p:nvSpPr>
        <p:spPr>
          <a:xfrm>
            <a:off x="6336792" y="5202936"/>
            <a:ext cx="420624" cy="420624"/>
          </a:xfrm>
          <a:prstGeom prst="ellipse">
            <a:avLst/>
          </a:prstGeom>
          <a:solidFill>
            <a:schemeClr val="accent6"/>
          </a:solidFill>
          <a:ln w="19050">
            <a:solidFill>
              <a:schemeClr val="accent2"/>
            </a:solidFill>
            <a:prstDash val="solid"/>
          </a:ln>
        </p:spPr>
      </p:sp>
      <p:sp>
        <p:nvSpPr>
          <p:cNvPr id="16" name="Text 14"/>
          <p:cNvSpPr txBox="1"/>
          <p:nvPr/>
        </p:nvSpPr>
        <p:spPr>
          <a:xfrm>
            <a:off x="7040880" y="5157216"/>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Each section opens with its reason for revelation and theme</a:t>
            </a:r>
            <a:endParaRPr lang="en-US" sz="16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About the Two Surahs</a:t>
            </a:r>
            <a:endParaRPr lang="en-US" sz="2400" dirty="0"/>
          </a:p>
        </p:txBody>
      </p:sp>
      <p:sp>
        <p:nvSpPr>
          <p:cNvPr id="3" name="Shape 1"/>
          <p:cNvSpPr/>
          <p:nvPr/>
        </p:nvSpPr>
        <p:spPr>
          <a:xfrm>
            <a:off x="685800" y="1463040"/>
            <a:ext cx="3454298" cy="4572000"/>
          </a:xfrm>
          <a:prstGeom prst="roundRect">
            <a:avLst>
              <a:gd name="adj" fmla="val 3971"/>
            </a:avLst>
          </a:prstGeom>
          <a:solidFill>
            <a:schemeClr val="accent5"/>
          </a:solidFill>
          <a:ln w="15875">
            <a:solidFill>
              <a:schemeClr val="accent2"/>
            </a:solidFill>
            <a:prstDash val="solid"/>
          </a:ln>
        </p:spPr>
      </p:sp>
      <p:sp>
        <p:nvSpPr>
          <p:cNvPr id="4" name="Shape 2"/>
          <p:cNvSpPr/>
          <p:nvPr/>
        </p:nvSpPr>
        <p:spPr>
          <a:xfrm>
            <a:off x="2047189" y="1737360"/>
            <a:ext cx="731520" cy="731520"/>
          </a:xfrm>
          <a:prstGeom prst="star8">
            <a:avLst/>
          </a:prstGeom>
          <a:solidFill>
            <a:schemeClr val="accent2"/>
          </a:solidFill>
          <a:ln/>
        </p:spPr>
      </p:sp>
      <p:sp>
        <p:nvSpPr>
          <p:cNvPr id="5" name="Shape 3"/>
          <p:cNvSpPr/>
          <p:nvPr/>
        </p:nvSpPr>
        <p:spPr>
          <a:xfrm>
            <a:off x="2193493" y="1883664"/>
            <a:ext cx="438912" cy="438912"/>
          </a:xfrm>
          <a:prstGeom prst="ellipse">
            <a:avLst/>
          </a:prstGeom>
          <a:solidFill>
            <a:schemeClr val="bg2"/>
          </a:solidFill>
          <a:ln w="19050">
            <a:solidFill>
              <a:schemeClr val="tx2"/>
            </a:solidFill>
            <a:prstDash val="solid"/>
          </a:ln>
        </p:spPr>
      </p:sp>
      <p:sp>
        <p:nvSpPr>
          <p:cNvPr id="6" name="Text 4"/>
          <p:cNvSpPr txBox="1"/>
          <p:nvPr/>
        </p:nvSpPr>
        <p:spPr>
          <a:xfrm>
            <a:off x="2047189" y="1737360"/>
            <a:ext cx="731520" cy="731520"/>
          </a:xfrm>
          <a:prstGeom prst="rect">
            <a:avLst/>
          </a:prstGeom>
          <a:noFill/>
          <a:ln/>
        </p:spPr>
        <p:txBody>
          <a:bodyPr wrap="square" lIns="0" tIns="0" rIns="0" bIns="0" rtlCol="0" anchor="ctr"/>
          <a:lstStyle/>
          <a:p>
            <a:pPr algn="ctr" indent="0" marL="0">
              <a:buNone/>
            </a:pPr>
            <a:r>
              <a:rPr lang="en-US" altLang="en-US" sz="1800" b="1" dirty="0">
                <a:solidFill>
                  <a:schemeClr val="tx2"/>
                </a:solidFill>
                <a:latin typeface="Arial" pitchFamily="34" charset="0"/>
                <a:ea typeface="Arial" pitchFamily="34" charset="-122"/>
                <a:cs typeface="Arial" pitchFamily="34" charset="-120"/>
              </a:rPr>
              <a:t>1</a:t>
            </a:r>
            <a:endParaRPr lang="en-US" sz="1800" dirty="0"/>
          </a:p>
        </p:txBody>
      </p:sp>
      <p:sp>
        <p:nvSpPr>
          <p:cNvPr id="7" name="Text 5"/>
          <p:cNvSpPr txBox="1"/>
          <p:nvPr/>
        </p:nvSpPr>
        <p:spPr>
          <a:xfrm>
            <a:off x="868680" y="2606040"/>
            <a:ext cx="3088538" cy="685800"/>
          </a:xfrm>
          <a:prstGeom prst="rect">
            <a:avLst/>
          </a:prstGeom>
          <a:noFill/>
          <a:ln/>
        </p:spPr>
        <p:txBody>
          <a:bodyPr wrap="square" lIns="0" tIns="0" rIns="0" bIns="0" rtlCol="0" anchor="ctr"/>
          <a:lstStyle/>
          <a:p>
            <a:pPr algn="ctr" indent="0" marL="0">
              <a:buNone/>
            </a:pPr>
            <a:r>
              <a:rPr lang="en-US" altLang="en-US" sz="2000" b="1" dirty="0">
                <a:solidFill>
                  <a:schemeClr val="tx2"/>
                </a:solidFill>
                <a:latin typeface="Georgia" pitchFamily="34" charset="0"/>
                <a:ea typeface="Georgia" pitchFamily="34" charset="-122"/>
                <a:cs typeface="Georgia" pitchFamily="34" charset="-120"/>
              </a:rPr>
              <a:t>Al-Anfal: Surah of Badr</a:t>
            </a:r>
            <a:endParaRPr lang="en-US" sz="2000" dirty="0"/>
          </a:p>
        </p:txBody>
      </p:sp>
      <p:sp>
        <p:nvSpPr>
          <p:cNvPr id="8" name="Text 6"/>
          <p:cNvSpPr txBox="1"/>
          <p:nvPr/>
        </p:nvSpPr>
        <p:spPr>
          <a:xfrm>
            <a:off x="914400" y="3383280"/>
            <a:ext cx="2997098" cy="2514600"/>
          </a:xfrm>
          <a:prstGeom prst="rect">
            <a:avLst/>
          </a:prstGeom>
          <a:noFill/>
          <a:ln/>
        </p:spPr>
        <p:txBody>
          <a:bodyPr wrap="square" lIns="0" tIns="0" rIns="0" bIns="0" rtlCol="0" anchor="t"/>
          <a:lstStyle/>
          <a:p>
            <a:pPr algn="ctr"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Sa'id ibn Jubayr said: I said to Ibn 'Abbas: Surah Al-Anfal? He said: It was revealed about Badr (Bukhari). It contains rulings on jihad, war gains and standing firm.</a:t>
            </a:r>
            <a:endParaRPr lang="en-US" sz="1500" dirty="0"/>
          </a:p>
        </p:txBody>
      </p:sp>
      <p:sp>
        <p:nvSpPr>
          <p:cNvPr id="9" name="Shape 7"/>
          <p:cNvSpPr/>
          <p:nvPr/>
        </p:nvSpPr>
        <p:spPr>
          <a:xfrm>
            <a:off x="4368698" y="1463040"/>
            <a:ext cx="3454298" cy="4572000"/>
          </a:xfrm>
          <a:prstGeom prst="roundRect">
            <a:avLst>
              <a:gd name="adj" fmla="val 3971"/>
            </a:avLst>
          </a:prstGeom>
          <a:solidFill>
            <a:schemeClr val="accent5"/>
          </a:solidFill>
          <a:ln w="15875">
            <a:solidFill>
              <a:schemeClr val="accent2"/>
            </a:solidFill>
            <a:prstDash val="solid"/>
          </a:ln>
        </p:spPr>
      </p:sp>
      <p:sp>
        <p:nvSpPr>
          <p:cNvPr id="10" name="Shape 8"/>
          <p:cNvSpPr/>
          <p:nvPr/>
        </p:nvSpPr>
        <p:spPr>
          <a:xfrm>
            <a:off x="5730088" y="1737360"/>
            <a:ext cx="731520" cy="731520"/>
          </a:xfrm>
          <a:prstGeom prst="star8">
            <a:avLst/>
          </a:prstGeom>
          <a:solidFill>
            <a:schemeClr val="accent2"/>
          </a:solidFill>
          <a:ln/>
        </p:spPr>
      </p:sp>
      <p:sp>
        <p:nvSpPr>
          <p:cNvPr id="11" name="Shape 9"/>
          <p:cNvSpPr/>
          <p:nvPr/>
        </p:nvSpPr>
        <p:spPr>
          <a:xfrm>
            <a:off x="5876392" y="1883664"/>
            <a:ext cx="438912" cy="438912"/>
          </a:xfrm>
          <a:prstGeom prst="ellipse">
            <a:avLst/>
          </a:prstGeom>
          <a:solidFill>
            <a:schemeClr val="bg2"/>
          </a:solidFill>
          <a:ln w="19050">
            <a:solidFill>
              <a:schemeClr val="tx2"/>
            </a:solidFill>
            <a:prstDash val="solid"/>
          </a:ln>
        </p:spPr>
      </p:sp>
      <p:sp>
        <p:nvSpPr>
          <p:cNvPr id="12" name="Text 10"/>
          <p:cNvSpPr txBox="1"/>
          <p:nvPr/>
        </p:nvSpPr>
        <p:spPr>
          <a:xfrm>
            <a:off x="5730088" y="1737360"/>
            <a:ext cx="731520" cy="731520"/>
          </a:xfrm>
          <a:prstGeom prst="rect">
            <a:avLst/>
          </a:prstGeom>
          <a:noFill/>
          <a:ln/>
        </p:spPr>
        <p:txBody>
          <a:bodyPr wrap="square" lIns="0" tIns="0" rIns="0" bIns="0" rtlCol="0" anchor="ctr"/>
          <a:lstStyle/>
          <a:p>
            <a:pPr algn="ctr" indent="0" marL="0">
              <a:buNone/>
            </a:pPr>
            <a:r>
              <a:rPr lang="en-US" altLang="en-US" sz="1800" b="1" dirty="0">
                <a:solidFill>
                  <a:schemeClr val="tx2"/>
                </a:solidFill>
                <a:latin typeface="Arial" pitchFamily="34" charset="0"/>
                <a:ea typeface="Arial" pitchFamily="34" charset="-122"/>
                <a:cs typeface="Arial" pitchFamily="34" charset="-120"/>
              </a:rPr>
              <a:t>2</a:t>
            </a:r>
            <a:endParaRPr lang="en-US" sz="1800" dirty="0"/>
          </a:p>
        </p:txBody>
      </p:sp>
      <p:sp>
        <p:nvSpPr>
          <p:cNvPr id="13" name="Text 11"/>
          <p:cNvSpPr txBox="1"/>
          <p:nvPr/>
        </p:nvSpPr>
        <p:spPr>
          <a:xfrm>
            <a:off x="4551578" y="2606040"/>
            <a:ext cx="3088538" cy="685800"/>
          </a:xfrm>
          <a:prstGeom prst="rect">
            <a:avLst/>
          </a:prstGeom>
          <a:noFill/>
          <a:ln/>
        </p:spPr>
        <p:txBody>
          <a:bodyPr wrap="square" lIns="0" tIns="0" rIns="0" bIns="0" rtlCol="0" anchor="ctr"/>
          <a:lstStyle/>
          <a:p>
            <a:pPr algn="ctr" indent="0" marL="0">
              <a:buNone/>
            </a:pPr>
            <a:r>
              <a:rPr lang="en-US" altLang="en-US" sz="2000" b="1" dirty="0">
                <a:solidFill>
                  <a:schemeClr val="tx2"/>
                </a:solidFill>
                <a:latin typeface="Georgia" pitchFamily="34" charset="0"/>
                <a:ea typeface="Georgia" pitchFamily="34" charset="-122"/>
                <a:cs typeface="Georgia" pitchFamily="34" charset="-120"/>
              </a:rPr>
              <a:t>At-Tawbah Has No Basmalah</a:t>
            </a:r>
            <a:endParaRPr lang="en-US" sz="2000" dirty="0"/>
          </a:p>
        </p:txBody>
      </p:sp>
      <p:sp>
        <p:nvSpPr>
          <p:cNvPr id="14" name="Text 12"/>
          <p:cNvSpPr txBox="1"/>
          <p:nvPr/>
        </p:nvSpPr>
        <p:spPr>
          <a:xfrm>
            <a:off x="4597298" y="3383280"/>
            <a:ext cx="2997098" cy="2514600"/>
          </a:xfrm>
          <a:prstGeom prst="rect">
            <a:avLst/>
          </a:prstGeom>
          <a:noFill/>
          <a:ln/>
        </p:spPr>
        <p:txBody>
          <a:bodyPr wrap="square" lIns="0" tIns="0" rIns="0" bIns="0" rtlCol="0" anchor="t"/>
          <a:lstStyle/>
          <a:p>
            <a:pPr algn="ctr"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At-Tawbah is the only surah that does not begin with "Bismillahir-Rahmanir-Rahim", because it was revealed as a declaration of release from the idol-worshippers; it is also said: because it completes Al-Anfal.</a:t>
            </a:r>
            <a:endParaRPr lang="en-US" sz="1500" dirty="0"/>
          </a:p>
        </p:txBody>
      </p:sp>
      <p:sp>
        <p:nvSpPr>
          <p:cNvPr id="15" name="Shape 13"/>
          <p:cNvSpPr/>
          <p:nvPr/>
        </p:nvSpPr>
        <p:spPr>
          <a:xfrm>
            <a:off x="8051597" y="1463040"/>
            <a:ext cx="3454298" cy="4572000"/>
          </a:xfrm>
          <a:prstGeom prst="roundRect">
            <a:avLst>
              <a:gd name="adj" fmla="val 3971"/>
            </a:avLst>
          </a:prstGeom>
          <a:solidFill>
            <a:schemeClr val="accent5"/>
          </a:solidFill>
          <a:ln w="15875">
            <a:solidFill>
              <a:schemeClr val="accent2"/>
            </a:solidFill>
            <a:prstDash val="solid"/>
          </a:ln>
        </p:spPr>
      </p:sp>
      <p:sp>
        <p:nvSpPr>
          <p:cNvPr id="16" name="Shape 14"/>
          <p:cNvSpPr/>
          <p:nvPr/>
        </p:nvSpPr>
        <p:spPr>
          <a:xfrm>
            <a:off x="9412986" y="1737360"/>
            <a:ext cx="731520" cy="731520"/>
          </a:xfrm>
          <a:prstGeom prst="star8">
            <a:avLst/>
          </a:prstGeom>
          <a:solidFill>
            <a:schemeClr val="accent2"/>
          </a:solidFill>
          <a:ln/>
        </p:spPr>
      </p:sp>
      <p:sp>
        <p:nvSpPr>
          <p:cNvPr id="17" name="Shape 15"/>
          <p:cNvSpPr/>
          <p:nvPr/>
        </p:nvSpPr>
        <p:spPr>
          <a:xfrm>
            <a:off x="9559290" y="1883664"/>
            <a:ext cx="438912" cy="438912"/>
          </a:xfrm>
          <a:prstGeom prst="ellipse">
            <a:avLst/>
          </a:prstGeom>
          <a:solidFill>
            <a:schemeClr val="bg2"/>
          </a:solidFill>
          <a:ln w="19050">
            <a:solidFill>
              <a:schemeClr val="tx2"/>
            </a:solidFill>
            <a:prstDash val="solid"/>
          </a:ln>
        </p:spPr>
      </p:sp>
      <p:sp>
        <p:nvSpPr>
          <p:cNvPr id="18" name="Text 16"/>
          <p:cNvSpPr txBox="1"/>
          <p:nvPr/>
        </p:nvSpPr>
        <p:spPr>
          <a:xfrm>
            <a:off x="9412986" y="1737360"/>
            <a:ext cx="731520" cy="731520"/>
          </a:xfrm>
          <a:prstGeom prst="rect">
            <a:avLst/>
          </a:prstGeom>
          <a:noFill/>
          <a:ln/>
        </p:spPr>
        <p:txBody>
          <a:bodyPr wrap="square" lIns="0" tIns="0" rIns="0" bIns="0" rtlCol="0" anchor="ctr"/>
          <a:lstStyle/>
          <a:p>
            <a:pPr algn="ctr" indent="0" marL="0">
              <a:buNone/>
            </a:pPr>
            <a:r>
              <a:rPr lang="en-US" altLang="en-US" sz="1800" b="1" dirty="0">
                <a:solidFill>
                  <a:schemeClr val="tx2"/>
                </a:solidFill>
                <a:latin typeface="Arial" pitchFamily="34" charset="0"/>
                <a:ea typeface="Arial" pitchFamily="34" charset="-122"/>
                <a:cs typeface="Arial" pitchFamily="34" charset="-120"/>
              </a:rPr>
              <a:t>3</a:t>
            </a:r>
            <a:endParaRPr lang="en-US" sz="1800" dirty="0"/>
          </a:p>
        </p:txBody>
      </p:sp>
      <p:sp>
        <p:nvSpPr>
          <p:cNvPr id="19" name="Text 17"/>
          <p:cNvSpPr txBox="1"/>
          <p:nvPr/>
        </p:nvSpPr>
        <p:spPr>
          <a:xfrm>
            <a:off x="8234477" y="2606040"/>
            <a:ext cx="3088538" cy="685800"/>
          </a:xfrm>
          <a:prstGeom prst="rect">
            <a:avLst/>
          </a:prstGeom>
          <a:noFill/>
          <a:ln/>
        </p:spPr>
        <p:txBody>
          <a:bodyPr wrap="square" lIns="0" tIns="0" rIns="0" bIns="0" rtlCol="0" anchor="ctr"/>
          <a:lstStyle/>
          <a:p>
            <a:pPr algn="ctr" indent="0" marL="0">
              <a:buNone/>
            </a:pPr>
            <a:r>
              <a:rPr lang="en-US" altLang="en-US" sz="2000" b="1" dirty="0">
                <a:solidFill>
                  <a:schemeClr val="tx2"/>
                </a:solidFill>
                <a:latin typeface="Georgia" pitchFamily="34" charset="0"/>
                <a:ea typeface="Georgia" pitchFamily="34" charset="-122"/>
                <a:cs typeface="Georgia" pitchFamily="34" charset="-120"/>
              </a:rPr>
              <a:t>The Two in Brief</a:t>
            </a:r>
            <a:endParaRPr lang="en-US" sz="2000" dirty="0"/>
          </a:p>
        </p:txBody>
      </p:sp>
      <p:sp>
        <p:nvSpPr>
          <p:cNvPr id="20" name="Text 18"/>
          <p:cNvSpPr txBox="1"/>
          <p:nvPr/>
        </p:nvSpPr>
        <p:spPr>
          <a:xfrm>
            <a:off x="8280197" y="3383280"/>
            <a:ext cx="2997098" cy="2514600"/>
          </a:xfrm>
          <a:prstGeom prst="rect">
            <a:avLst/>
          </a:prstGeom>
          <a:noFill/>
          <a:ln/>
        </p:spPr>
        <p:txBody>
          <a:bodyPr wrap="square" lIns="0" tIns="0" rIns="0" bIns="0" rtlCol="0" anchor="t"/>
          <a:lstStyle/>
          <a:p>
            <a:pPr algn="ctr"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Al-Anfal has 75 verses and At-Tawbah 129, both Madani. At-Tawbah is also called "Bara'ah" (Release) and "Al-Fadihah" (The Exposer) because it exposed the hypocrites.</a:t>
            </a:r>
            <a:endParaRPr lang="en-US" sz="15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List of Sections</a:t>
            </a:r>
            <a:endParaRPr lang="en-US" sz="2400" dirty="0"/>
          </a:p>
        </p:txBody>
      </p:sp>
      <p:sp>
        <p:nvSpPr>
          <p:cNvPr id="3" name="Text 1"/>
          <p:cNvSpPr txBox="1"/>
          <p:nvPr/>
        </p:nvSpPr>
        <p:spPr>
          <a:xfrm>
            <a:off x="685800" y="1280160"/>
            <a:ext cx="10820095" cy="384048"/>
          </a:xfrm>
          <a:prstGeom prst="rect">
            <a:avLst/>
          </a:prstGeom>
          <a:noFill/>
          <a:ln/>
        </p:spPr>
        <p:txBody>
          <a:bodyPr wrap="square" lIns="0" tIns="0" rIns="0" bIns="0" rtlCol="0" anchor="t"/>
          <a:lstStyle/>
          <a:p>
            <a:pPr algn="ctr" indent="0" marL="0">
              <a:buNone/>
            </a:pPr>
            <a:r>
              <a:rPr lang="en-US" altLang="en-US" sz="1600" dirty="0">
                <a:solidFill>
                  <a:schemeClr val="accent4"/>
                </a:solidFill>
                <a:latin typeface="Arial" pitchFamily="34" charset="0"/>
                <a:ea typeface="Arial" pitchFamily="34" charset="-122"/>
                <a:cs typeface="Arial" pitchFamily="34" charset="-120"/>
              </a:rPr>
              <a:t>Five sections of Surah Al-Anfal, then seven sections of Surah At-Tawbah</a:t>
            </a:r>
            <a:endParaRPr lang="en-US" sz="1600" dirty="0"/>
          </a:p>
        </p:txBody>
      </p:sp>
      <p:sp>
        <p:nvSpPr>
          <p:cNvPr id="4" name="Shape 2"/>
          <p:cNvSpPr/>
          <p:nvPr/>
        </p:nvSpPr>
        <p:spPr>
          <a:xfrm>
            <a:off x="632308" y="1828800"/>
            <a:ext cx="3520440" cy="749808"/>
          </a:xfrm>
          <a:prstGeom prst="roundRect">
            <a:avLst>
              <a:gd name="adj" fmla="val 12195"/>
            </a:avLst>
          </a:prstGeom>
          <a:solidFill>
            <a:schemeClr val="bg1"/>
          </a:solidFill>
          <a:ln w="12700">
            <a:solidFill>
              <a:schemeClr val="accent2"/>
            </a:solidFill>
            <a:prstDash val="solid"/>
          </a:ln>
        </p:spPr>
      </p:sp>
      <p:sp>
        <p:nvSpPr>
          <p:cNvPr id="5" name="Shape 3"/>
          <p:cNvSpPr/>
          <p:nvPr/>
        </p:nvSpPr>
        <p:spPr>
          <a:xfrm>
            <a:off x="723748" y="1938528"/>
            <a:ext cx="530352" cy="530352"/>
          </a:xfrm>
          <a:prstGeom prst="star8">
            <a:avLst/>
          </a:prstGeom>
          <a:solidFill>
            <a:schemeClr val="accent2"/>
          </a:solidFill>
          <a:ln/>
        </p:spPr>
      </p:sp>
      <p:sp>
        <p:nvSpPr>
          <p:cNvPr id="6" name="Shape 4"/>
          <p:cNvSpPr/>
          <p:nvPr/>
        </p:nvSpPr>
        <p:spPr>
          <a:xfrm>
            <a:off x="829818" y="2044598"/>
            <a:ext cx="318211" cy="318211"/>
          </a:xfrm>
          <a:prstGeom prst="ellipse">
            <a:avLst/>
          </a:prstGeom>
          <a:solidFill>
            <a:schemeClr val="bg2"/>
          </a:solidFill>
          <a:ln w="19050">
            <a:solidFill>
              <a:schemeClr val="tx2"/>
            </a:solidFill>
            <a:prstDash val="solid"/>
          </a:ln>
        </p:spPr>
      </p:sp>
      <p:sp>
        <p:nvSpPr>
          <p:cNvPr id="7" name="Text 5"/>
          <p:cNvSpPr txBox="1"/>
          <p:nvPr/>
        </p:nvSpPr>
        <p:spPr>
          <a:xfrm>
            <a:off x="723748" y="1938528"/>
            <a:ext cx="530352" cy="530352"/>
          </a:xfrm>
          <a:prstGeom prst="rect">
            <a:avLst/>
          </a:prstGeom>
          <a:noFill/>
          <a:ln/>
        </p:spPr>
        <p:txBody>
          <a:bodyPr wrap="square" lIns="0" tIns="0" rIns="0" bIns="0" rtlCol="0" anchor="ctr"/>
          <a:lstStyle/>
          <a:p>
            <a:pPr algn="ctr" indent="0" marL="0">
              <a:buNone/>
            </a:pPr>
            <a:r>
              <a:rPr lang="en-US" altLang="en-US" sz="1100" b="1" dirty="0">
                <a:solidFill>
                  <a:schemeClr val="tx2"/>
                </a:solidFill>
                <a:latin typeface="Arial" pitchFamily="34" charset="0"/>
                <a:ea typeface="Arial" pitchFamily="34" charset="-122"/>
                <a:cs typeface="Arial" pitchFamily="34" charset="-120"/>
              </a:rPr>
              <a:t>1</a:t>
            </a:r>
            <a:endParaRPr lang="en-US" sz="1100" dirty="0"/>
          </a:p>
        </p:txBody>
      </p:sp>
      <p:sp>
        <p:nvSpPr>
          <p:cNvPr id="8" name="Text 6"/>
          <p:cNvSpPr txBox="1"/>
          <p:nvPr/>
        </p:nvSpPr>
        <p:spPr>
          <a:xfrm>
            <a:off x="1345540" y="1847088"/>
            <a:ext cx="2715768" cy="434889"/>
          </a:xfrm>
          <a:prstGeom prst="rect">
            <a:avLst/>
          </a:prstGeom>
          <a:noFill/>
          <a:ln/>
        </p:spPr>
        <p:txBody>
          <a:bodyPr wrap="square" lIns="0" tIns="0" rIns="0" bIns="0" rtlCol="0" anchor="ctr">
            <a:normAutofit/>
          </a:bodyPr>
          <a:lstStyle/>
          <a:p>
            <a:pPr algn="l" indent="0" marL="0">
              <a:buNone/>
            </a:pPr>
            <a:r>
              <a:rPr lang="en-US" altLang="en-US" sz="1200" b="1" dirty="0">
                <a:solidFill>
                  <a:schemeClr val="tx2"/>
                </a:solidFill>
                <a:latin typeface="Arial" pitchFamily="34" charset="0"/>
                <a:ea typeface="Arial" pitchFamily="34" charset="-122"/>
                <a:cs typeface="Arial" pitchFamily="34" charset="-120"/>
              </a:rPr>
              <a:t>Believers and Badr</a:t>
            </a:r>
            <a:endParaRPr lang="en-US" sz="1200" dirty="0"/>
          </a:p>
        </p:txBody>
      </p:sp>
      <p:sp>
        <p:nvSpPr>
          <p:cNvPr id="9" name="Text 7"/>
          <p:cNvSpPr txBox="1"/>
          <p:nvPr/>
        </p:nvSpPr>
        <p:spPr>
          <a:xfrm>
            <a:off x="1345540" y="2263689"/>
            <a:ext cx="2715768" cy="284927"/>
          </a:xfrm>
          <a:prstGeom prst="rect">
            <a:avLst/>
          </a:prstGeom>
          <a:noFill/>
          <a:ln/>
        </p:spPr>
        <p:txBody>
          <a:bodyPr wrap="square" lIns="0" tIns="0" rIns="0" bIns="0" rtlCol="0" anchor="ctr"/>
          <a:lstStyle/>
          <a:p>
            <a:pPr algn="l" indent="0" marL="0">
              <a:buNone/>
            </a:pPr>
            <a:r>
              <a:rPr lang="en-US" altLang="en-US" sz="1000" b="1" dirty="0">
                <a:solidFill>
                  <a:schemeClr val="accent2"/>
                </a:solidFill>
                <a:latin typeface="Arial" pitchFamily="34" charset="0"/>
                <a:ea typeface="Arial" pitchFamily="34" charset="-122"/>
                <a:cs typeface="Arial" pitchFamily="34" charset="-120"/>
              </a:rPr>
              <a:t>Al-Anfal • Verses 1 – 14</a:t>
            </a:r>
            <a:endParaRPr lang="en-US" sz="1000" dirty="0"/>
          </a:p>
        </p:txBody>
      </p:sp>
      <p:sp>
        <p:nvSpPr>
          <p:cNvPr id="10" name="Shape 8"/>
          <p:cNvSpPr/>
          <p:nvPr/>
        </p:nvSpPr>
        <p:spPr>
          <a:xfrm>
            <a:off x="4335628" y="1828800"/>
            <a:ext cx="3520440" cy="749808"/>
          </a:xfrm>
          <a:prstGeom prst="roundRect">
            <a:avLst>
              <a:gd name="adj" fmla="val 12195"/>
            </a:avLst>
          </a:prstGeom>
          <a:solidFill>
            <a:schemeClr val="accent5"/>
          </a:solidFill>
          <a:ln w="12700">
            <a:solidFill>
              <a:schemeClr val="accent2"/>
            </a:solidFill>
            <a:prstDash val="solid"/>
          </a:ln>
        </p:spPr>
      </p:sp>
      <p:sp>
        <p:nvSpPr>
          <p:cNvPr id="11" name="Shape 9"/>
          <p:cNvSpPr/>
          <p:nvPr/>
        </p:nvSpPr>
        <p:spPr>
          <a:xfrm>
            <a:off x="4427068" y="1938528"/>
            <a:ext cx="530352" cy="530352"/>
          </a:xfrm>
          <a:prstGeom prst="star8">
            <a:avLst/>
          </a:prstGeom>
          <a:solidFill>
            <a:schemeClr val="accent2"/>
          </a:solidFill>
          <a:ln/>
        </p:spPr>
      </p:sp>
      <p:sp>
        <p:nvSpPr>
          <p:cNvPr id="12" name="Shape 10"/>
          <p:cNvSpPr/>
          <p:nvPr/>
        </p:nvSpPr>
        <p:spPr>
          <a:xfrm>
            <a:off x="4533138" y="2044598"/>
            <a:ext cx="318211" cy="318211"/>
          </a:xfrm>
          <a:prstGeom prst="ellipse">
            <a:avLst/>
          </a:prstGeom>
          <a:solidFill>
            <a:schemeClr val="bg2"/>
          </a:solidFill>
          <a:ln w="19050">
            <a:solidFill>
              <a:schemeClr val="tx2"/>
            </a:solidFill>
            <a:prstDash val="solid"/>
          </a:ln>
        </p:spPr>
      </p:sp>
      <p:sp>
        <p:nvSpPr>
          <p:cNvPr id="13" name="Text 11"/>
          <p:cNvSpPr txBox="1"/>
          <p:nvPr/>
        </p:nvSpPr>
        <p:spPr>
          <a:xfrm>
            <a:off x="4427068" y="1938528"/>
            <a:ext cx="530352" cy="530352"/>
          </a:xfrm>
          <a:prstGeom prst="rect">
            <a:avLst/>
          </a:prstGeom>
          <a:noFill/>
          <a:ln/>
        </p:spPr>
        <p:txBody>
          <a:bodyPr wrap="square" lIns="0" tIns="0" rIns="0" bIns="0" rtlCol="0" anchor="ctr"/>
          <a:lstStyle/>
          <a:p>
            <a:pPr algn="ctr" indent="0" marL="0">
              <a:buNone/>
            </a:pPr>
            <a:r>
              <a:rPr lang="en-US" altLang="en-US" sz="1100" b="1" dirty="0">
                <a:solidFill>
                  <a:schemeClr val="tx2"/>
                </a:solidFill>
                <a:latin typeface="Arial" pitchFamily="34" charset="0"/>
                <a:ea typeface="Arial" pitchFamily="34" charset="-122"/>
                <a:cs typeface="Arial" pitchFamily="34" charset="-120"/>
              </a:rPr>
              <a:t>2</a:t>
            </a:r>
            <a:endParaRPr lang="en-US" sz="1100" dirty="0"/>
          </a:p>
        </p:txBody>
      </p:sp>
      <p:sp>
        <p:nvSpPr>
          <p:cNvPr id="14" name="Text 12"/>
          <p:cNvSpPr txBox="1"/>
          <p:nvPr/>
        </p:nvSpPr>
        <p:spPr>
          <a:xfrm>
            <a:off x="5048860" y="1847088"/>
            <a:ext cx="2715768" cy="434889"/>
          </a:xfrm>
          <a:prstGeom prst="rect">
            <a:avLst/>
          </a:prstGeom>
          <a:noFill/>
          <a:ln/>
        </p:spPr>
        <p:txBody>
          <a:bodyPr wrap="square" lIns="0" tIns="0" rIns="0" bIns="0" rtlCol="0" anchor="ctr">
            <a:normAutofit/>
          </a:bodyPr>
          <a:lstStyle/>
          <a:p>
            <a:pPr algn="l" indent="0" marL="0">
              <a:buNone/>
            </a:pPr>
            <a:r>
              <a:rPr lang="en-US" altLang="en-US" sz="1200" b="1" dirty="0">
                <a:solidFill>
                  <a:schemeClr val="tx2"/>
                </a:solidFill>
                <a:latin typeface="Arial" pitchFamily="34" charset="0"/>
                <a:ea typeface="Arial" pitchFamily="34" charset="-122"/>
                <a:cs typeface="Arial" pitchFamily="34" charset="-120"/>
              </a:rPr>
              <a:t>Standing Firm</a:t>
            </a:r>
            <a:endParaRPr lang="en-US" sz="1200" dirty="0"/>
          </a:p>
        </p:txBody>
      </p:sp>
      <p:sp>
        <p:nvSpPr>
          <p:cNvPr id="15" name="Text 13"/>
          <p:cNvSpPr txBox="1"/>
          <p:nvPr/>
        </p:nvSpPr>
        <p:spPr>
          <a:xfrm>
            <a:off x="5048860" y="2263689"/>
            <a:ext cx="2715768" cy="284927"/>
          </a:xfrm>
          <a:prstGeom prst="rect">
            <a:avLst/>
          </a:prstGeom>
          <a:noFill/>
          <a:ln/>
        </p:spPr>
        <p:txBody>
          <a:bodyPr wrap="square" lIns="0" tIns="0" rIns="0" bIns="0" rtlCol="0" anchor="ctr"/>
          <a:lstStyle/>
          <a:p>
            <a:pPr algn="l" indent="0" marL="0">
              <a:buNone/>
            </a:pPr>
            <a:r>
              <a:rPr lang="en-US" altLang="en-US" sz="1000" b="1" dirty="0">
                <a:solidFill>
                  <a:schemeClr val="accent2"/>
                </a:solidFill>
                <a:latin typeface="Arial" pitchFamily="34" charset="0"/>
                <a:ea typeface="Arial" pitchFamily="34" charset="-122"/>
                <a:cs typeface="Arial" pitchFamily="34" charset="-120"/>
              </a:rPr>
              <a:t>Al-Anfal • Verses 15 – 29</a:t>
            </a:r>
            <a:endParaRPr lang="en-US" sz="1000" dirty="0"/>
          </a:p>
        </p:txBody>
      </p:sp>
      <p:sp>
        <p:nvSpPr>
          <p:cNvPr id="16" name="Shape 14"/>
          <p:cNvSpPr/>
          <p:nvPr/>
        </p:nvSpPr>
        <p:spPr>
          <a:xfrm>
            <a:off x="8038948" y="1828800"/>
            <a:ext cx="3520440" cy="749808"/>
          </a:xfrm>
          <a:prstGeom prst="roundRect">
            <a:avLst>
              <a:gd name="adj" fmla="val 12195"/>
            </a:avLst>
          </a:prstGeom>
          <a:solidFill>
            <a:schemeClr val="bg1"/>
          </a:solidFill>
          <a:ln w="12700">
            <a:solidFill>
              <a:schemeClr val="accent2"/>
            </a:solidFill>
            <a:prstDash val="solid"/>
          </a:ln>
        </p:spPr>
      </p:sp>
      <p:sp>
        <p:nvSpPr>
          <p:cNvPr id="17" name="Shape 15"/>
          <p:cNvSpPr/>
          <p:nvPr/>
        </p:nvSpPr>
        <p:spPr>
          <a:xfrm>
            <a:off x="8130388" y="1938528"/>
            <a:ext cx="530352" cy="530352"/>
          </a:xfrm>
          <a:prstGeom prst="star8">
            <a:avLst/>
          </a:prstGeom>
          <a:solidFill>
            <a:schemeClr val="accent2"/>
          </a:solidFill>
          <a:ln/>
        </p:spPr>
      </p:sp>
      <p:sp>
        <p:nvSpPr>
          <p:cNvPr id="18" name="Shape 16"/>
          <p:cNvSpPr/>
          <p:nvPr/>
        </p:nvSpPr>
        <p:spPr>
          <a:xfrm>
            <a:off x="8236458" y="2044598"/>
            <a:ext cx="318211" cy="318211"/>
          </a:xfrm>
          <a:prstGeom prst="ellipse">
            <a:avLst/>
          </a:prstGeom>
          <a:solidFill>
            <a:schemeClr val="bg2"/>
          </a:solidFill>
          <a:ln w="19050">
            <a:solidFill>
              <a:schemeClr val="tx2"/>
            </a:solidFill>
            <a:prstDash val="solid"/>
          </a:ln>
        </p:spPr>
      </p:sp>
      <p:sp>
        <p:nvSpPr>
          <p:cNvPr id="19" name="Text 17"/>
          <p:cNvSpPr txBox="1"/>
          <p:nvPr/>
        </p:nvSpPr>
        <p:spPr>
          <a:xfrm>
            <a:off x="8130388" y="1938528"/>
            <a:ext cx="530352" cy="530352"/>
          </a:xfrm>
          <a:prstGeom prst="rect">
            <a:avLst/>
          </a:prstGeom>
          <a:noFill/>
          <a:ln/>
        </p:spPr>
        <p:txBody>
          <a:bodyPr wrap="square" lIns="0" tIns="0" rIns="0" bIns="0" rtlCol="0" anchor="ctr"/>
          <a:lstStyle/>
          <a:p>
            <a:pPr algn="ctr" indent="0" marL="0">
              <a:buNone/>
            </a:pPr>
            <a:r>
              <a:rPr lang="en-US" altLang="en-US" sz="1100" b="1" dirty="0">
                <a:solidFill>
                  <a:schemeClr val="tx2"/>
                </a:solidFill>
                <a:latin typeface="Arial" pitchFamily="34" charset="0"/>
                <a:ea typeface="Arial" pitchFamily="34" charset="-122"/>
                <a:cs typeface="Arial" pitchFamily="34" charset="-120"/>
              </a:rPr>
              <a:t>3</a:t>
            </a:r>
            <a:endParaRPr lang="en-US" sz="1100" dirty="0"/>
          </a:p>
        </p:txBody>
      </p:sp>
      <p:sp>
        <p:nvSpPr>
          <p:cNvPr id="20" name="Text 18"/>
          <p:cNvSpPr txBox="1"/>
          <p:nvPr/>
        </p:nvSpPr>
        <p:spPr>
          <a:xfrm>
            <a:off x="8752180" y="1847088"/>
            <a:ext cx="2715768" cy="434889"/>
          </a:xfrm>
          <a:prstGeom prst="rect">
            <a:avLst/>
          </a:prstGeom>
          <a:noFill/>
          <a:ln/>
        </p:spPr>
        <p:txBody>
          <a:bodyPr wrap="square" lIns="0" tIns="0" rIns="0" bIns="0" rtlCol="0" anchor="ctr">
            <a:normAutofit/>
          </a:bodyPr>
          <a:lstStyle/>
          <a:p>
            <a:pPr algn="l" indent="0" marL="0">
              <a:buNone/>
            </a:pPr>
            <a:r>
              <a:rPr lang="en-US" altLang="en-US" sz="1200" b="1" dirty="0">
                <a:solidFill>
                  <a:schemeClr val="tx2"/>
                </a:solidFill>
                <a:latin typeface="Arial" pitchFamily="34" charset="0"/>
                <a:ea typeface="Arial" pitchFamily="34" charset="-122"/>
                <a:cs typeface="Arial" pitchFamily="34" charset="-120"/>
              </a:rPr>
              <a:t>The Plots of Quraysh</a:t>
            </a:r>
            <a:endParaRPr lang="en-US" sz="1200" dirty="0"/>
          </a:p>
        </p:txBody>
      </p:sp>
      <p:sp>
        <p:nvSpPr>
          <p:cNvPr id="21" name="Text 19"/>
          <p:cNvSpPr txBox="1"/>
          <p:nvPr/>
        </p:nvSpPr>
        <p:spPr>
          <a:xfrm>
            <a:off x="8752180" y="2263689"/>
            <a:ext cx="2715768" cy="284927"/>
          </a:xfrm>
          <a:prstGeom prst="rect">
            <a:avLst/>
          </a:prstGeom>
          <a:noFill/>
          <a:ln/>
        </p:spPr>
        <p:txBody>
          <a:bodyPr wrap="square" lIns="0" tIns="0" rIns="0" bIns="0" rtlCol="0" anchor="ctr"/>
          <a:lstStyle/>
          <a:p>
            <a:pPr algn="l" indent="0" marL="0">
              <a:buNone/>
            </a:pPr>
            <a:r>
              <a:rPr lang="en-US" altLang="en-US" sz="1000" b="1" dirty="0">
                <a:solidFill>
                  <a:schemeClr val="accent2"/>
                </a:solidFill>
                <a:latin typeface="Arial" pitchFamily="34" charset="0"/>
                <a:ea typeface="Arial" pitchFamily="34" charset="-122"/>
                <a:cs typeface="Arial" pitchFamily="34" charset="-120"/>
              </a:rPr>
              <a:t>Al-Anfal • Verses 30 – 40</a:t>
            </a:r>
            <a:endParaRPr lang="en-US" sz="1000" dirty="0"/>
          </a:p>
        </p:txBody>
      </p:sp>
      <p:sp>
        <p:nvSpPr>
          <p:cNvPr id="22" name="Shape 20"/>
          <p:cNvSpPr/>
          <p:nvPr/>
        </p:nvSpPr>
        <p:spPr>
          <a:xfrm>
            <a:off x="632308" y="2651760"/>
            <a:ext cx="3520440" cy="749808"/>
          </a:xfrm>
          <a:prstGeom prst="roundRect">
            <a:avLst>
              <a:gd name="adj" fmla="val 12195"/>
            </a:avLst>
          </a:prstGeom>
          <a:solidFill>
            <a:schemeClr val="accent5"/>
          </a:solidFill>
          <a:ln w="12700">
            <a:solidFill>
              <a:schemeClr val="accent2"/>
            </a:solidFill>
            <a:prstDash val="solid"/>
          </a:ln>
        </p:spPr>
      </p:sp>
      <p:sp>
        <p:nvSpPr>
          <p:cNvPr id="23" name="Shape 21"/>
          <p:cNvSpPr/>
          <p:nvPr/>
        </p:nvSpPr>
        <p:spPr>
          <a:xfrm>
            <a:off x="723748" y="2761488"/>
            <a:ext cx="530352" cy="530352"/>
          </a:xfrm>
          <a:prstGeom prst="star8">
            <a:avLst/>
          </a:prstGeom>
          <a:solidFill>
            <a:schemeClr val="accent2"/>
          </a:solidFill>
          <a:ln/>
        </p:spPr>
      </p:sp>
      <p:sp>
        <p:nvSpPr>
          <p:cNvPr id="24" name="Shape 22"/>
          <p:cNvSpPr/>
          <p:nvPr/>
        </p:nvSpPr>
        <p:spPr>
          <a:xfrm>
            <a:off x="829818" y="2867558"/>
            <a:ext cx="318211" cy="318211"/>
          </a:xfrm>
          <a:prstGeom prst="ellipse">
            <a:avLst/>
          </a:prstGeom>
          <a:solidFill>
            <a:schemeClr val="bg2"/>
          </a:solidFill>
          <a:ln w="19050">
            <a:solidFill>
              <a:schemeClr val="tx2"/>
            </a:solidFill>
            <a:prstDash val="solid"/>
          </a:ln>
        </p:spPr>
      </p:sp>
      <p:sp>
        <p:nvSpPr>
          <p:cNvPr id="25" name="Text 23"/>
          <p:cNvSpPr txBox="1"/>
          <p:nvPr/>
        </p:nvSpPr>
        <p:spPr>
          <a:xfrm>
            <a:off x="723748" y="2761488"/>
            <a:ext cx="530352" cy="530352"/>
          </a:xfrm>
          <a:prstGeom prst="rect">
            <a:avLst/>
          </a:prstGeom>
          <a:noFill/>
          <a:ln/>
        </p:spPr>
        <p:txBody>
          <a:bodyPr wrap="square" lIns="0" tIns="0" rIns="0" bIns="0" rtlCol="0" anchor="ctr"/>
          <a:lstStyle/>
          <a:p>
            <a:pPr algn="ctr" indent="0" marL="0">
              <a:buNone/>
            </a:pPr>
            <a:r>
              <a:rPr lang="en-US" altLang="en-US" sz="1100" b="1" dirty="0">
                <a:solidFill>
                  <a:schemeClr val="tx2"/>
                </a:solidFill>
                <a:latin typeface="Arial" pitchFamily="34" charset="0"/>
                <a:ea typeface="Arial" pitchFamily="34" charset="-122"/>
                <a:cs typeface="Arial" pitchFamily="34" charset="-120"/>
              </a:rPr>
              <a:t>4</a:t>
            </a:r>
            <a:endParaRPr lang="en-US" sz="1100" dirty="0"/>
          </a:p>
        </p:txBody>
      </p:sp>
      <p:sp>
        <p:nvSpPr>
          <p:cNvPr id="26" name="Text 24"/>
          <p:cNvSpPr txBox="1"/>
          <p:nvPr/>
        </p:nvSpPr>
        <p:spPr>
          <a:xfrm>
            <a:off x="1345540" y="2670048"/>
            <a:ext cx="2715768" cy="434889"/>
          </a:xfrm>
          <a:prstGeom prst="rect">
            <a:avLst/>
          </a:prstGeom>
          <a:noFill/>
          <a:ln/>
        </p:spPr>
        <p:txBody>
          <a:bodyPr wrap="square" lIns="0" tIns="0" rIns="0" bIns="0" rtlCol="0" anchor="ctr">
            <a:normAutofit/>
          </a:bodyPr>
          <a:lstStyle/>
          <a:p>
            <a:pPr algn="l" indent="0" marL="0">
              <a:buNone/>
            </a:pPr>
            <a:r>
              <a:rPr lang="en-US" altLang="en-US" sz="1200" b="1" dirty="0">
                <a:solidFill>
                  <a:schemeClr val="tx2"/>
                </a:solidFill>
                <a:latin typeface="Arial" pitchFamily="34" charset="0"/>
                <a:ea typeface="Arial" pitchFamily="34" charset="-122"/>
                <a:cs typeface="Arial" pitchFamily="34" charset="-120"/>
              </a:rPr>
              <a:t>War Gains; Battle Manners</a:t>
            </a:r>
            <a:endParaRPr lang="en-US" sz="1200" dirty="0"/>
          </a:p>
        </p:txBody>
      </p:sp>
      <p:sp>
        <p:nvSpPr>
          <p:cNvPr id="27" name="Text 25"/>
          <p:cNvSpPr txBox="1"/>
          <p:nvPr/>
        </p:nvSpPr>
        <p:spPr>
          <a:xfrm>
            <a:off x="1345540" y="3086649"/>
            <a:ext cx="2715768" cy="284927"/>
          </a:xfrm>
          <a:prstGeom prst="rect">
            <a:avLst/>
          </a:prstGeom>
          <a:noFill/>
          <a:ln/>
        </p:spPr>
        <p:txBody>
          <a:bodyPr wrap="square" lIns="0" tIns="0" rIns="0" bIns="0" rtlCol="0" anchor="ctr"/>
          <a:lstStyle/>
          <a:p>
            <a:pPr algn="l" indent="0" marL="0">
              <a:buNone/>
            </a:pPr>
            <a:r>
              <a:rPr lang="en-US" altLang="en-US" sz="1000" b="1" dirty="0">
                <a:solidFill>
                  <a:schemeClr val="accent2"/>
                </a:solidFill>
                <a:latin typeface="Arial" pitchFamily="34" charset="0"/>
                <a:ea typeface="Arial" pitchFamily="34" charset="-122"/>
                <a:cs typeface="Arial" pitchFamily="34" charset="-120"/>
              </a:rPr>
              <a:t>Al-Anfal • Verses 41 – 54</a:t>
            </a:r>
            <a:endParaRPr lang="en-US" sz="1000" dirty="0"/>
          </a:p>
        </p:txBody>
      </p:sp>
      <p:sp>
        <p:nvSpPr>
          <p:cNvPr id="28" name="Shape 26"/>
          <p:cNvSpPr/>
          <p:nvPr/>
        </p:nvSpPr>
        <p:spPr>
          <a:xfrm>
            <a:off x="4335628" y="2651760"/>
            <a:ext cx="3520440" cy="749808"/>
          </a:xfrm>
          <a:prstGeom prst="roundRect">
            <a:avLst>
              <a:gd name="adj" fmla="val 12195"/>
            </a:avLst>
          </a:prstGeom>
          <a:solidFill>
            <a:schemeClr val="bg1"/>
          </a:solidFill>
          <a:ln w="12700">
            <a:solidFill>
              <a:schemeClr val="accent2"/>
            </a:solidFill>
            <a:prstDash val="solid"/>
          </a:ln>
        </p:spPr>
      </p:sp>
      <p:sp>
        <p:nvSpPr>
          <p:cNvPr id="29" name="Shape 27"/>
          <p:cNvSpPr/>
          <p:nvPr/>
        </p:nvSpPr>
        <p:spPr>
          <a:xfrm>
            <a:off x="4427068" y="2761488"/>
            <a:ext cx="530352" cy="530352"/>
          </a:xfrm>
          <a:prstGeom prst="star8">
            <a:avLst/>
          </a:prstGeom>
          <a:solidFill>
            <a:schemeClr val="accent2"/>
          </a:solidFill>
          <a:ln/>
        </p:spPr>
      </p:sp>
      <p:sp>
        <p:nvSpPr>
          <p:cNvPr id="30" name="Shape 28"/>
          <p:cNvSpPr/>
          <p:nvPr/>
        </p:nvSpPr>
        <p:spPr>
          <a:xfrm>
            <a:off x="4533138" y="2867558"/>
            <a:ext cx="318211" cy="318211"/>
          </a:xfrm>
          <a:prstGeom prst="ellipse">
            <a:avLst/>
          </a:prstGeom>
          <a:solidFill>
            <a:schemeClr val="bg2"/>
          </a:solidFill>
          <a:ln w="19050">
            <a:solidFill>
              <a:schemeClr val="tx2"/>
            </a:solidFill>
            <a:prstDash val="solid"/>
          </a:ln>
        </p:spPr>
      </p:sp>
      <p:sp>
        <p:nvSpPr>
          <p:cNvPr id="31" name="Text 29"/>
          <p:cNvSpPr txBox="1"/>
          <p:nvPr/>
        </p:nvSpPr>
        <p:spPr>
          <a:xfrm>
            <a:off x="4427068" y="2761488"/>
            <a:ext cx="530352" cy="530352"/>
          </a:xfrm>
          <a:prstGeom prst="rect">
            <a:avLst/>
          </a:prstGeom>
          <a:noFill/>
          <a:ln/>
        </p:spPr>
        <p:txBody>
          <a:bodyPr wrap="square" lIns="0" tIns="0" rIns="0" bIns="0" rtlCol="0" anchor="ctr"/>
          <a:lstStyle/>
          <a:p>
            <a:pPr algn="ctr" indent="0" marL="0">
              <a:buNone/>
            </a:pPr>
            <a:r>
              <a:rPr lang="en-US" altLang="en-US" sz="1100" b="1" dirty="0">
                <a:solidFill>
                  <a:schemeClr val="tx2"/>
                </a:solidFill>
                <a:latin typeface="Arial" pitchFamily="34" charset="0"/>
                <a:ea typeface="Arial" pitchFamily="34" charset="-122"/>
                <a:cs typeface="Arial" pitchFamily="34" charset="-120"/>
              </a:rPr>
              <a:t>5</a:t>
            </a:r>
            <a:endParaRPr lang="en-US" sz="1100" dirty="0"/>
          </a:p>
        </p:txBody>
      </p:sp>
      <p:sp>
        <p:nvSpPr>
          <p:cNvPr id="32" name="Text 30"/>
          <p:cNvSpPr txBox="1"/>
          <p:nvPr/>
        </p:nvSpPr>
        <p:spPr>
          <a:xfrm>
            <a:off x="5048860" y="2670048"/>
            <a:ext cx="2715768" cy="434889"/>
          </a:xfrm>
          <a:prstGeom prst="rect">
            <a:avLst/>
          </a:prstGeom>
          <a:noFill/>
          <a:ln/>
        </p:spPr>
        <p:txBody>
          <a:bodyPr wrap="square" lIns="0" tIns="0" rIns="0" bIns="0" rtlCol="0" anchor="ctr">
            <a:normAutofit/>
          </a:bodyPr>
          <a:lstStyle/>
          <a:p>
            <a:pPr algn="l" indent="0" marL="0">
              <a:buNone/>
            </a:pPr>
            <a:r>
              <a:rPr lang="en-US" altLang="en-US" sz="1200" b="1" dirty="0">
                <a:solidFill>
                  <a:schemeClr val="tx2"/>
                </a:solidFill>
                <a:latin typeface="Arial" pitchFamily="34" charset="0"/>
                <a:ea typeface="Arial" pitchFamily="34" charset="-122"/>
                <a:cs typeface="Arial" pitchFamily="34" charset="-120"/>
              </a:rPr>
              <a:t>Treaties and Captives</a:t>
            </a:r>
            <a:endParaRPr lang="en-US" sz="1200" dirty="0"/>
          </a:p>
        </p:txBody>
      </p:sp>
      <p:sp>
        <p:nvSpPr>
          <p:cNvPr id="33" name="Text 31"/>
          <p:cNvSpPr txBox="1"/>
          <p:nvPr/>
        </p:nvSpPr>
        <p:spPr>
          <a:xfrm>
            <a:off x="5048860" y="3086649"/>
            <a:ext cx="2715768" cy="284927"/>
          </a:xfrm>
          <a:prstGeom prst="rect">
            <a:avLst/>
          </a:prstGeom>
          <a:noFill/>
          <a:ln/>
        </p:spPr>
        <p:txBody>
          <a:bodyPr wrap="square" lIns="0" tIns="0" rIns="0" bIns="0" rtlCol="0" anchor="ctr"/>
          <a:lstStyle/>
          <a:p>
            <a:pPr algn="l" indent="0" marL="0">
              <a:buNone/>
            </a:pPr>
            <a:r>
              <a:rPr lang="en-US" altLang="en-US" sz="1000" b="1" dirty="0">
                <a:solidFill>
                  <a:schemeClr val="accent2"/>
                </a:solidFill>
                <a:latin typeface="Arial" pitchFamily="34" charset="0"/>
                <a:ea typeface="Arial" pitchFamily="34" charset="-122"/>
                <a:cs typeface="Arial" pitchFamily="34" charset="-120"/>
              </a:rPr>
              <a:t>Al-Anfal • Verses 55 – 75</a:t>
            </a:r>
            <a:endParaRPr lang="en-US" sz="1000" dirty="0"/>
          </a:p>
        </p:txBody>
      </p:sp>
      <p:sp>
        <p:nvSpPr>
          <p:cNvPr id="34" name="Shape 32"/>
          <p:cNvSpPr/>
          <p:nvPr/>
        </p:nvSpPr>
        <p:spPr>
          <a:xfrm>
            <a:off x="8038948" y="2651760"/>
            <a:ext cx="3520440" cy="749808"/>
          </a:xfrm>
          <a:prstGeom prst="roundRect">
            <a:avLst>
              <a:gd name="adj" fmla="val 12195"/>
            </a:avLst>
          </a:prstGeom>
          <a:solidFill>
            <a:schemeClr val="accent5"/>
          </a:solidFill>
          <a:ln w="12700">
            <a:solidFill>
              <a:schemeClr val="accent2"/>
            </a:solidFill>
            <a:prstDash val="solid"/>
          </a:ln>
        </p:spPr>
      </p:sp>
      <p:sp>
        <p:nvSpPr>
          <p:cNvPr id="35" name="Shape 33"/>
          <p:cNvSpPr/>
          <p:nvPr/>
        </p:nvSpPr>
        <p:spPr>
          <a:xfrm>
            <a:off x="8130388" y="2761488"/>
            <a:ext cx="530352" cy="530352"/>
          </a:xfrm>
          <a:prstGeom prst="star8">
            <a:avLst/>
          </a:prstGeom>
          <a:solidFill>
            <a:schemeClr val="accent2"/>
          </a:solidFill>
          <a:ln/>
        </p:spPr>
      </p:sp>
      <p:sp>
        <p:nvSpPr>
          <p:cNvPr id="36" name="Shape 34"/>
          <p:cNvSpPr/>
          <p:nvPr/>
        </p:nvSpPr>
        <p:spPr>
          <a:xfrm>
            <a:off x="8236458" y="2867558"/>
            <a:ext cx="318211" cy="318211"/>
          </a:xfrm>
          <a:prstGeom prst="ellipse">
            <a:avLst/>
          </a:prstGeom>
          <a:solidFill>
            <a:schemeClr val="bg2"/>
          </a:solidFill>
          <a:ln w="19050">
            <a:solidFill>
              <a:schemeClr val="tx2"/>
            </a:solidFill>
            <a:prstDash val="solid"/>
          </a:ln>
        </p:spPr>
      </p:sp>
      <p:sp>
        <p:nvSpPr>
          <p:cNvPr id="37" name="Text 35"/>
          <p:cNvSpPr txBox="1"/>
          <p:nvPr/>
        </p:nvSpPr>
        <p:spPr>
          <a:xfrm>
            <a:off x="8130388" y="2761488"/>
            <a:ext cx="530352" cy="530352"/>
          </a:xfrm>
          <a:prstGeom prst="rect">
            <a:avLst/>
          </a:prstGeom>
          <a:noFill/>
          <a:ln/>
        </p:spPr>
        <p:txBody>
          <a:bodyPr wrap="square" lIns="0" tIns="0" rIns="0" bIns="0" rtlCol="0" anchor="ctr"/>
          <a:lstStyle/>
          <a:p>
            <a:pPr algn="ctr" indent="0" marL="0">
              <a:buNone/>
            </a:pPr>
            <a:r>
              <a:rPr lang="en-US" altLang="en-US" sz="1100" b="1" dirty="0">
                <a:solidFill>
                  <a:schemeClr val="tx2"/>
                </a:solidFill>
                <a:latin typeface="Arial" pitchFamily="34" charset="0"/>
                <a:ea typeface="Arial" pitchFamily="34" charset="-122"/>
                <a:cs typeface="Arial" pitchFamily="34" charset="-120"/>
              </a:rPr>
              <a:t>6</a:t>
            </a:r>
            <a:endParaRPr lang="en-US" sz="1100" dirty="0"/>
          </a:p>
        </p:txBody>
      </p:sp>
      <p:sp>
        <p:nvSpPr>
          <p:cNvPr id="38" name="Text 36"/>
          <p:cNvSpPr txBox="1"/>
          <p:nvPr/>
        </p:nvSpPr>
        <p:spPr>
          <a:xfrm>
            <a:off x="8752180" y="2670048"/>
            <a:ext cx="2715768" cy="434889"/>
          </a:xfrm>
          <a:prstGeom prst="rect">
            <a:avLst/>
          </a:prstGeom>
          <a:noFill/>
          <a:ln/>
        </p:spPr>
        <p:txBody>
          <a:bodyPr wrap="square" lIns="0" tIns="0" rIns="0" bIns="0" rtlCol="0" anchor="ctr">
            <a:normAutofit/>
          </a:bodyPr>
          <a:lstStyle/>
          <a:p>
            <a:pPr algn="l" indent="0" marL="0">
              <a:buNone/>
            </a:pPr>
            <a:r>
              <a:rPr lang="en-US" altLang="en-US" sz="1200" b="1" dirty="0">
                <a:solidFill>
                  <a:schemeClr val="tx2"/>
                </a:solidFill>
                <a:latin typeface="Arial" pitchFamily="34" charset="0"/>
                <a:ea typeface="Arial" pitchFamily="34" charset="-122"/>
                <a:cs typeface="Arial" pitchFamily="34" charset="-120"/>
              </a:rPr>
              <a:t>The Declaration</a:t>
            </a:r>
            <a:endParaRPr lang="en-US" sz="1200" dirty="0"/>
          </a:p>
        </p:txBody>
      </p:sp>
      <p:sp>
        <p:nvSpPr>
          <p:cNvPr id="39" name="Text 37"/>
          <p:cNvSpPr txBox="1"/>
          <p:nvPr/>
        </p:nvSpPr>
        <p:spPr>
          <a:xfrm>
            <a:off x="8752180" y="3086649"/>
            <a:ext cx="2715768" cy="284927"/>
          </a:xfrm>
          <a:prstGeom prst="rect">
            <a:avLst/>
          </a:prstGeom>
          <a:noFill/>
          <a:ln/>
        </p:spPr>
        <p:txBody>
          <a:bodyPr wrap="square" lIns="0" tIns="0" rIns="0" bIns="0" rtlCol="0" anchor="ctr"/>
          <a:lstStyle/>
          <a:p>
            <a:pPr algn="l" indent="0" marL="0">
              <a:buNone/>
            </a:pPr>
            <a:r>
              <a:rPr lang="en-US" altLang="en-US" sz="1000" b="1" dirty="0">
                <a:solidFill>
                  <a:schemeClr val="accent2"/>
                </a:solidFill>
                <a:latin typeface="Arial" pitchFamily="34" charset="0"/>
                <a:ea typeface="Arial" pitchFamily="34" charset="-122"/>
                <a:cs typeface="Arial" pitchFamily="34" charset="-120"/>
              </a:rPr>
              <a:t>At-Tawbah • Verses 1 – 16</a:t>
            </a:r>
            <a:endParaRPr lang="en-US" sz="1000" dirty="0"/>
          </a:p>
        </p:txBody>
      </p:sp>
      <p:sp>
        <p:nvSpPr>
          <p:cNvPr id="40" name="Shape 38"/>
          <p:cNvSpPr/>
          <p:nvPr/>
        </p:nvSpPr>
        <p:spPr>
          <a:xfrm>
            <a:off x="632308" y="3474720"/>
            <a:ext cx="3520440" cy="749808"/>
          </a:xfrm>
          <a:prstGeom prst="roundRect">
            <a:avLst>
              <a:gd name="adj" fmla="val 12195"/>
            </a:avLst>
          </a:prstGeom>
          <a:solidFill>
            <a:schemeClr val="bg1"/>
          </a:solidFill>
          <a:ln w="12700">
            <a:solidFill>
              <a:schemeClr val="accent2"/>
            </a:solidFill>
            <a:prstDash val="solid"/>
          </a:ln>
        </p:spPr>
      </p:sp>
      <p:sp>
        <p:nvSpPr>
          <p:cNvPr id="41" name="Shape 39"/>
          <p:cNvSpPr/>
          <p:nvPr/>
        </p:nvSpPr>
        <p:spPr>
          <a:xfrm>
            <a:off x="723748" y="3584448"/>
            <a:ext cx="530352" cy="530352"/>
          </a:xfrm>
          <a:prstGeom prst="star8">
            <a:avLst/>
          </a:prstGeom>
          <a:solidFill>
            <a:schemeClr val="accent2"/>
          </a:solidFill>
          <a:ln/>
        </p:spPr>
      </p:sp>
      <p:sp>
        <p:nvSpPr>
          <p:cNvPr id="42" name="Shape 40"/>
          <p:cNvSpPr/>
          <p:nvPr/>
        </p:nvSpPr>
        <p:spPr>
          <a:xfrm>
            <a:off x="829818" y="3690518"/>
            <a:ext cx="318211" cy="318211"/>
          </a:xfrm>
          <a:prstGeom prst="ellipse">
            <a:avLst/>
          </a:prstGeom>
          <a:solidFill>
            <a:schemeClr val="bg2"/>
          </a:solidFill>
          <a:ln w="19050">
            <a:solidFill>
              <a:schemeClr val="tx2"/>
            </a:solidFill>
            <a:prstDash val="solid"/>
          </a:ln>
        </p:spPr>
      </p:sp>
      <p:sp>
        <p:nvSpPr>
          <p:cNvPr id="43" name="Text 41"/>
          <p:cNvSpPr txBox="1"/>
          <p:nvPr/>
        </p:nvSpPr>
        <p:spPr>
          <a:xfrm>
            <a:off x="723748" y="3584448"/>
            <a:ext cx="530352" cy="530352"/>
          </a:xfrm>
          <a:prstGeom prst="rect">
            <a:avLst/>
          </a:prstGeom>
          <a:noFill/>
          <a:ln/>
        </p:spPr>
        <p:txBody>
          <a:bodyPr wrap="square" lIns="0" tIns="0" rIns="0" bIns="0" rtlCol="0" anchor="ctr"/>
          <a:lstStyle/>
          <a:p>
            <a:pPr algn="ctr" indent="0" marL="0">
              <a:buNone/>
            </a:pPr>
            <a:r>
              <a:rPr lang="en-US" altLang="en-US" sz="1100" b="1" dirty="0">
                <a:solidFill>
                  <a:schemeClr val="tx2"/>
                </a:solidFill>
                <a:latin typeface="Arial" pitchFamily="34" charset="0"/>
                <a:ea typeface="Arial" pitchFamily="34" charset="-122"/>
                <a:cs typeface="Arial" pitchFamily="34" charset="-120"/>
              </a:rPr>
              <a:t>7</a:t>
            </a:r>
            <a:endParaRPr lang="en-US" sz="1100" dirty="0"/>
          </a:p>
        </p:txBody>
      </p:sp>
      <p:sp>
        <p:nvSpPr>
          <p:cNvPr id="44" name="Text 42"/>
          <p:cNvSpPr txBox="1"/>
          <p:nvPr/>
        </p:nvSpPr>
        <p:spPr>
          <a:xfrm>
            <a:off x="1345540" y="3493008"/>
            <a:ext cx="2715768" cy="434889"/>
          </a:xfrm>
          <a:prstGeom prst="rect">
            <a:avLst/>
          </a:prstGeom>
          <a:noFill/>
          <a:ln/>
        </p:spPr>
        <p:txBody>
          <a:bodyPr wrap="square" lIns="0" tIns="0" rIns="0" bIns="0" rtlCol="0" anchor="ctr">
            <a:normAutofit/>
          </a:bodyPr>
          <a:lstStyle/>
          <a:p>
            <a:pPr algn="l" indent="0" marL="0">
              <a:buNone/>
            </a:pPr>
            <a:r>
              <a:rPr lang="en-US" altLang="en-US" sz="1200" b="1" dirty="0">
                <a:solidFill>
                  <a:schemeClr val="tx2"/>
                </a:solidFill>
                <a:latin typeface="Arial" pitchFamily="34" charset="0"/>
                <a:ea typeface="Arial" pitchFamily="34" charset="-122"/>
                <a:cs typeface="Arial" pitchFamily="34" charset="-120"/>
              </a:rPr>
              <a:t>Mosques and Hunayn</a:t>
            </a:r>
            <a:endParaRPr lang="en-US" sz="1200" dirty="0"/>
          </a:p>
        </p:txBody>
      </p:sp>
      <p:sp>
        <p:nvSpPr>
          <p:cNvPr id="45" name="Text 43"/>
          <p:cNvSpPr txBox="1"/>
          <p:nvPr/>
        </p:nvSpPr>
        <p:spPr>
          <a:xfrm>
            <a:off x="1345540" y="3909609"/>
            <a:ext cx="2715768" cy="284927"/>
          </a:xfrm>
          <a:prstGeom prst="rect">
            <a:avLst/>
          </a:prstGeom>
          <a:noFill/>
          <a:ln/>
        </p:spPr>
        <p:txBody>
          <a:bodyPr wrap="square" lIns="0" tIns="0" rIns="0" bIns="0" rtlCol="0" anchor="ctr"/>
          <a:lstStyle/>
          <a:p>
            <a:pPr algn="l" indent="0" marL="0">
              <a:buNone/>
            </a:pPr>
            <a:r>
              <a:rPr lang="en-US" altLang="en-US" sz="1000" b="1" dirty="0">
                <a:solidFill>
                  <a:schemeClr val="accent2"/>
                </a:solidFill>
                <a:latin typeface="Arial" pitchFamily="34" charset="0"/>
                <a:ea typeface="Arial" pitchFamily="34" charset="-122"/>
                <a:cs typeface="Arial" pitchFamily="34" charset="-120"/>
              </a:rPr>
              <a:t>At-Tawbah • Verses 17 – 37</a:t>
            </a:r>
            <a:endParaRPr lang="en-US" sz="1000" dirty="0"/>
          </a:p>
        </p:txBody>
      </p:sp>
      <p:sp>
        <p:nvSpPr>
          <p:cNvPr id="46" name="Shape 44"/>
          <p:cNvSpPr/>
          <p:nvPr/>
        </p:nvSpPr>
        <p:spPr>
          <a:xfrm>
            <a:off x="4335628" y="3474720"/>
            <a:ext cx="3520440" cy="749808"/>
          </a:xfrm>
          <a:prstGeom prst="roundRect">
            <a:avLst>
              <a:gd name="adj" fmla="val 12195"/>
            </a:avLst>
          </a:prstGeom>
          <a:solidFill>
            <a:schemeClr val="accent5"/>
          </a:solidFill>
          <a:ln w="12700">
            <a:solidFill>
              <a:schemeClr val="accent2"/>
            </a:solidFill>
            <a:prstDash val="solid"/>
          </a:ln>
        </p:spPr>
      </p:sp>
      <p:sp>
        <p:nvSpPr>
          <p:cNvPr id="47" name="Shape 45"/>
          <p:cNvSpPr/>
          <p:nvPr/>
        </p:nvSpPr>
        <p:spPr>
          <a:xfrm>
            <a:off x="4427068" y="3584448"/>
            <a:ext cx="530352" cy="530352"/>
          </a:xfrm>
          <a:prstGeom prst="star8">
            <a:avLst/>
          </a:prstGeom>
          <a:solidFill>
            <a:schemeClr val="accent2"/>
          </a:solidFill>
          <a:ln/>
        </p:spPr>
      </p:sp>
      <p:sp>
        <p:nvSpPr>
          <p:cNvPr id="48" name="Shape 46"/>
          <p:cNvSpPr/>
          <p:nvPr/>
        </p:nvSpPr>
        <p:spPr>
          <a:xfrm>
            <a:off x="4533138" y="3690518"/>
            <a:ext cx="318211" cy="318211"/>
          </a:xfrm>
          <a:prstGeom prst="ellipse">
            <a:avLst/>
          </a:prstGeom>
          <a:solidFill>
            <a:schemeClr val="bg2"/>
          </a:solidFill>
          <a:ln w="19050">
            <a:solidFill>
              <a:schemeClr val="tx2"/>
            </a:solidFill>
            <a:prstDash val="solid"/>
          </a:ln>
        </p:spPr>
      </p:sp>
      <p:sp>
        <p:nvSpPr>
          <p:cNvPr id="49" name="Text 47"/>
          <p:cNvSpPr txBox="1"/>
          <p:nvPr/>
        </p:nvSpPr>
        <p:spPr>
          <a:xfrm>
            <a:off x="4427068" y="3584448"/>
            <a:ext cx="530352" cy="530352"/>
          </a:xfrm>
          <a:prstGeom prst="rect">
            <a:avLst/>
          </a:prstGeom>
          <a:noFill/>
          <a:ln/>
        </p:spPr>
        <p:txBody>
          <a:bodyPr wrap="square" lIns="0" tIns="0" rIns="0" bIns="0" rtlCol="0" anchor="ctr"/>
          <a:lstStyle/>
          <a:p>
            <a:pPr algn="ctr" indent="0" marL="0">
              <a:buNone/>
            </a:pPr>
            <a:r>
              <a:rPr lang="en-US" altLang="en-US" sz="1100" b="1" dirty="0">
                <a:solidFill>
                  <a:schemeClr val="tx2"/>
                </a:solidFill>
                <a:latin typeface="Arial" pitchFamily="34" charset="0"/>
                <a:ea typeface="Arial" pitchFamily="34" charset="-122"/>
                <a:cs typeface="Arial" pitchFamily="34" charset="-120"/>
              </a:rPr>
              <a:t>8</a:t>
            </a:r>
            <a:endParaRPr lang="en-US" sz="1100" dirty="0"/>
          </a:p>
        </p:txBody>
      </p:sp>
      <p:sp>
        <p:nvSpPr>
          <p:cNvPr id="50" name="Text 48"/>
          <p:cNvSpPr txBox="1"/>
          <p:nvPr/>
        </p:nvSpPr>
        <p:spPr>
          <a:xfrm>
            <a:off x="5048860" y="3493008"/>
            <a:ext cx="2715768" cy="434889"/>
          </a:xfrm>
          <a:prstGeom prst="rect">
            <a:avLst/>
          </a:prstGeom>
          <a:noFill/>
          <a:ln/>
        </p:spPr>
        <p:txBody>
          <a:bodyPr wrap="square" lIns="0" tIns="0" rIns="0" bIns="0" rtlCol="0" anchor="ctr">
            <a:normAutofit/>
          </a:bodyPr>
          <a:lstStyle/>
          <a:p>
            <a:pPr algn="l" indent="0" marL="0">
              <a:buNone/>
            </a:pPr>
            <a:r>
              <a:rPr lang="en-US" altLang="en-US" sz="1200" b="1" dirty="0">
                <a:solidFill>
                  <a:schemeClr val="tx2"/>
                </a:solidFill>
                <a:latin typeface="Arial" pitchFamily="34" charset="0"/>
                <a:ea typeface="Arial" pitchFamily="34" charset="-122"/>
                <a:cs typeface="Arial" pitchFamily="34" charset="-120"/>
              </a:rPr>
              <a:t>Tabuk and Those Behind</a:t>
            </a:r>
            <a:endParaRPr lang="en-US" sz="1200" dirty="0"/>
          </a:p>
        </p:txBody>
      </p:sp>
      <p:sp>
        <p:nvSpPr>
          <p:cNvPr id="51" name="Text 49"/>
          <p:cNvSpPr txBox="1"/>
          <p:nvPr/>
        </p:nvSpPr>
        <p:spPr>
          <a:xfrm>
            <a:off x="5048860" y="3909609"/>
            <a:ext cx="2715768" cy="284927"/>
          </a:xfrm>
          <a:prstGeom prst="rect">
            <a:avLst/>
          </a:prstGeom>
          <a:noFill/>
          <a:ln/>
        </p:spPr>
        <p:txBody>
          <a:bodyPr wrap="square" lIns="0" tIns="0" rIns="0" bIns="0" rtlCol="0" anchor="ctr"/>
          <a:lstStyle/>
          <a:p>
            <a:pPr algn="l" indent="0" marL="0">
              <a:buNone/>
            </a:pPr>
            <a:r>
              <a:rPr lang="en-US" altLang="en-US" sz="1000" b="1" dirty="0">
                <a:solidFill>
                  <a:schemeClr val="accent2"/>
                </a:solidFill>
                <a:latin typeface="Arial" pitchFamily="34" charset="0"/>
                <a:ea typeface="Arial" pitchFamily="34" charset="-122"/>
                <a:cs typeface="Arial" pitchFamily="34" charset="-120"/>
              </a:rPr>
              <a:t>At-Tawbah • Verses 38 – 59</a:t>
            </a:r>
            <a:endParaRPr lang="en-US" sz="1000" dirty="0"/>
          </a:p>
        </p:txBody>
      </p:sp>
      <p:sp>
        <p:nvSpPr>
          <p:cNvPr id="52" name="Shape 50"/>
          <p:cNvSpPr/>
          <p:nvPr/>
        </p:nvSpPr>
        <p:spPr>
          <a:xfrm>
            <a:off x="8038948" y="3474720"/>
            <a:ext cx="3520440" cy="749808"/>
          </a:xfrm>
          <a:prstGeom prst="roundRect">
            <a:avLst>
              <a:gd name="adj" fmla="val 12195"/>
            </a:avLst>
          </a:prstGeom>
          <a:solidFill>
            <a:schemeClr val="bg1"/>
          </a:solidFill>
          <a:ln w="12700">
            <a:solidFill>
              <a:schemeClr val="accent2"/>
            </a:solidFill>
            <a:prstDash val="solid"/>
          </a:ln>
        </p:spPr>
      </p:sp>
      <p:sp>
        <p:nvSpPr>
          <p:cNvPr id="53" name="Shape 51"/>
          <p:cNvSpPr/>
          <p:nvPr/>
        </p:nvSpPr>
        <p:spPr>
          <a:xfrm>
            <a:off x="8130388" y="3584448"/>
            <a:ext cx="530352" cy="530352"/>
          </a:xfrm>
          <a:prstGeom prst="star8">
            <a:avLst/>
          </a:prstGeom>
          <a:solidFill>
            <a:schemeClr val="accent2"/>
          </a:solidFill>
          <a:ln/>
        </p:spPr>
      </p:sp>
      <p:sp>
        <p:nvSpPr>
          <p:cNvPr id="54" name="Shape 52"/>
          <p:cNvSpPr/>
          <p:nvPr/>
        </p:nvSpPr>
        <p:spPr>
          <a:xfrm>
            <a:off x="8236458" y="3690518"/>
            <a:ext cx="318211" cy="318211"/>
          </a:xfrm>
          <a:prstGeom prst="ellipse">
            <a:avLst/>
          </a:prstGeom>
          <a:solidFill>
            <a:schemeClr val="bg2"/>
          </a:solidFill>
          <a:ln w="19050">
            <a:solidFill>
              <a:schemeClr val="tx2"/>
            </a:solidFill>
            <a:prstDash val="solid"/>
          </a:ln>
        </p:spPr>
      </p:sp>
      <p:sp>
        <p:nvSpPr>
          <p:cNvPr id="55" name="Text 53"/>
          <p:cNvSpPr txBox="1"/>
          <p:nvPr/>
        </p:nvSpPr>
        <p:spPr>
          <a:xfrm>
            <a:off x="8130388" y="3584448"/>
            <a:ext cx="530352" cy="530352"/>
          </a:xfrm>
          <a:prstGeom prst="rect">
            <a:avLst/>
          </a:prstGeom>
          <a:noFill/>
          <a:ln/>
        </p:spPr>
        <p:txBody>
          <a:bodyPr wrap="square" lIns="0" tIns="0" rIns="0" bIns="0" rtlCol="0" anchor="ctr"/>
          <a:lstStyle/>
          <a:p>
            <a:pPr algn="ctr" indent="0" marL="0">
              <a:buNone/>
            </a:pPr>
            <a:r>
              <a:rPr lang="en-US" altLang="en-US" sz="1100" b="1" dirty="0">
                <a:solidFill>
                  <a:schemeClr val="tx2"/>
                </a:solidFill>
                <a:latin typeface="Arial" pitchFamily="34" charset="0"/>
                <a:ea typeface="Arial" pitchFamily="34" charset="-122"/>
                <a:cs typeface="Arial" pitchFamily="34" charset="-120"/>
              </a:rPr>
              <a:t>9</a:t>
            </a:r>
            <a:endParaRPr lang="en-US" sz="1100" dirty="0"/>
          </a:p>
        </p:txBody>
      </p:sp>
      <p:sp>
        <p:nvSpPr>
          <p:cNvPr id="56" name="Text 54"/>
          <p:cNvSpPr txBox="1"/>
          <p:nvPr/>
        </p:nvSpPr>
        <p:spPr>
          <a:xfrm>
            <a:off x="8752180" y="3493008"/>
            <a:ext cx="2715768" cy="434889"/>
          </a:xfrm>
          <a:prstGeom prst="rect">
            <a:avLst/>
          </a:prstGeom>
          <a:noFill/>
          <a:ln/>
        </p:spPr>
        <p:txBody>
          <a:bodyPr wrap="square" lIns="0" tIns="0" rIns="0" bIns="0" rtlCol="0" anchor="ctr">
            <a:normAutofit/>
          </a:bodyPr>
          <a:lstStyle/>
          <a:p>
            <a:pPr algn="l" indent="0" marL="0">
              <a:buNone/>
            </a:pPr>
            <a:r>
              <a:rPr lang="en-US" altLang="en-US" sz="1200" b="1" dirty="0">
                <a:solidFill>
                  <a:schemeClr val="tx2"/>
                </a:solidFill>
                <a:latin typeface="Arial" pitchFamily="34" charset="0"/>
                <a:ea typeface="Arial" pitchFamily="34" charset="-122"/>
                <a:cs typeface="Arial" pitchFamily="34" charset="-120"/>
              </a:rPr>
              <a:t>Zakah; Hypocrites Exposed</a:t>
            </a:r>
            <a:endParaRPr lang="en-US" sz="1200" dirty="0"/>
          </a:p>
        </p:txBody>
      </p:sp>
      <p:sp>
        <p:nvSpPr>
          <p:cNvPr id="57" name="Text 55"/>
          <p:cNvSpPr txBox="1"/>
          <p:nvPr/>
        </p:nvSpPr>
        <p:spPr>
          <a:xfrm>
            <a:off x="8752180" y="3909609"/>
            <a:ext cx="2715768" cy="284927"/>
          </a:xfrm>
          <a:prstGeom prst="rect">
            <a:avLst/>
          </a:prstGeom>
          <a:noFill/>
          <a:ln/>
        </p:spPr>
        <p:txBody>
          <a:bodyPr wrap="square" lIns="0" tIns="0" rIns="0" bIns="0" rtlCol="0" anchor="ctr"/>
          <a:lstStyle/>
          <a:p>
            <a:pPr algn="l" indent="0" marL="0">
              <a:buNone/>
            </a:pPr>
            <a:r>
              <a:rPr lang="en-US" altLang="en-US" sz="1000" b="1" dirty="0">
                <a:solidFill>
                  <a:schemeClr val="accent2"/>
                </a:solidFill>
                <a:latin typeface="Arial" pitchFamily="34" charset="0"/>
                <a:ea typeface="Arial" pitchFamily="34" charset="-122"/>
                <a:cs typeface="Arial" pitchFamily="34" charset="-120"/>
              </a:rPr>
              <a:t>At-Tawbah • Verses 60 – 80</a:t>
            </a:r>
            <a:endParaRPr lang="en-US" sz="1000" dirty="0"/>
          </a:p>
        </p:txBody>
      </p:sp>
      <p:sp>
        <p:nvSpPr>
          <p:cNvPr id="58" name="Shape 56"/>
          <p:cNvSpPr/>
          <p:nvPr/>
        </p:nvSpPr>
        <p:spPr>
          <a:xfrm>
            <a:off x="632308" y="4297680"/>
            <a:ext cx="3520440" cy="749808"/>
          </a:xfrm>
          <a:prstGeom prst="roundRect">
            <a:avLst>
              <a:gd name="adj" fmla="val 12195"/>
            </a:avLst>
          </a:prstGeom>
          <a:solidFill>
            <a:schemeClr val="accent5"/>
          </a:solidFill>
          <a:ln w="12700">
            <a:solidFill>
              <a:schemeClr val="accent2"/>
            </a:solidFill>
            <a:prstDash val="solid"/>
          </a:ln>
        </p:spPr>
      </p:sp>
      <p:sp>
        <p:nvSpPr>
          <p:cNvPr id="59" name="Shape 57"/>
          <p:cNvSpPr/>
          <p:nvPr/>
        </p:nvSpPr>
        <p:spPr>
          <a:xfrm>
            <a:off x="723748" y="4407408"/>
            <a:ext cx="530352" cy="530352"/>
          </a:xfrm>
          <a:prstGeom prst="star8">
            <a:avLst/>
          </a:prstGeom>
          <a:solidFill>
            <a:schemeClr val="accent2"/>
          </a:solidFill>
          <a:ln/>
        </p:spPr>
      </p:sp>
      <p:sp>
        <p:nvSpPr>
          <p:cNvPr id="60" name="Shape 58"/>
          <p:cNvSpPr/>
          <p:nvPr/>
        </p:nvSpPr>
        <p:spPr>
          <a:xfrm>
            <a:off x="829818" y="4513478"/>
            <a:ext cx="318211" cy="318211"/>
          </a:xfrm>
          <a:prstGeom prst="ellipse">
            <a:avLst/>
          </a:prstGeom>
          <a:solidFill>
            <a:schemeClr val="bg2"/>
          </a:solidFill>
          <a:ln w="19050">
            <a:solidFill>
              <a:schemeClr val="tx2"/>
            </a:solidFill>
            <a:prstDash val="solid"/>
          </a:ln>
        </p:spPr>
      </p:sp>
      <p:sp>
        <p:nvSpPr>
          <p:cNvPr id="61" name="Text 59"/>
          <p:cNvSpPr txBox="1"/>
          <p:nvPr/>
        </p:nvSpPr>
        <p:spPr>
          <a:xfrm>
            <a:off x="723748" y="4407408"/>
            <a:ext cx="530352" cy="530352"/>
          </a:xfrm>
          <a:prstGeom prst="rect">
            <a:avLst/>
          </a:prstGeom>
          <a:noFill/>
          <a:ln/>
        </p:spPr>
        <p:txBody>
          <a:bodyPr wrap="square" lIns="0" tIns="0" rIns="0" bIns="0" rtlCol="0" anchor="ctr"/>
          <a:lstStyle/>
          <a:p>
            <a:pPr algn="ctr" indent="0" marL="0">
              <a:buNone/>
            </a:pPr>
            <a:r>
              <a:rPr lang="en-US" altLang="en-US" sz="1100" b="1" dirty="0">
                <a:solidFill>
                  <a:schemeClr val="tx2"/>
                </a:solidFill>
                <a:latin typeface="Arial" pitchFamily="34" charset="0"/>
                <a:ea typeface="Arial" pitchFamily="34" charset="-122"/>
                <a:cs typeface="Arial" pitchFamily="34" charset="-120"/>
              </a:rPr>
              <a:t>10</a:t>
            </a:r>
            <a:endParaRPr lang="en-US" sz="1100" dirty="0"/>
          </a:p>
        </p:txBody>
      </p:sp>
      <p:sp>
        <p:nvSpPr>
          <p:cNvPr id="62" name="Text 60"/>
          <p:cNvSpPr txBox="1"/>
          <p:nvPr/>
        </p:nvSpPr>
        <p:spPr>
          <a:xfrm>
            <a:off x="1345540" y="4315968"/>
            <a:ext cx="2715768" cy="434889"/>
          </a:xfrm>
          <a:prstGeom prst="rect">
            <a:avLst/>
          </a:prstGeom>
          <a:noFill/>
          <a:ln/>
        </p:spPr>
        <p:txBody>
          <a:bodyPr wrap="square" lIns="0" tIns="0" rIns="0" bIns="0" rtlCol="0" anchor="ctr">
            <a:normAutofit/>
          </a:bodyPr>
          <a:lstStyle/>
          <a:p>
            <a:pPr algn="l" indent="0" marL="0">
              <a:buNone/>
            </a:pPr>
            <a:r>
              <a:rPr lang="en-US" altLang="en-US" sz="1200" b="1" dirty="0">
                <a:solidFill>
                  <a:schemeClr val="tx2"/>
                </a:solidFill>
                <a:latin typeface="Arial" pitchFamily="34" charset="0"/>
                <a:ea typeface="Arial" pitchFamily="34" charset="-122"/>
                <a:cs typeface="Arial" pitchFamily="34" charset="-120"/>
              </a:rPr>
              <a:t>Excuses True and False</a:t>
            </a:r>
            <a:endParaRPr lang="en-US" sz="1200" dirty="0"/>
          </a:p>
        </p:txBody>
      </p:sp>
      <p:sp>
        <p:nvSpPr>
          <p:cNvPr id="63" name="Text 61"/>
          <p:cNvSpPr txBox="1"/>
          <p:nvPr/>
        </p:nvSpPr>
        <p:spPr>
          <a:xfrm>
            <a:off x="1345540" y="4732569"/>
            <a:ext cx="2715768" cy="284927"/>
          </a:xfrm>
          <a:prstGeom prst="rect">
            <a:avLst/>
          </a:prstGeom>
          <a:noFill/>
          <a:ln/>
        </p:spPr>
        <p:txBody>
          <a:bodyPr wrap="square" lIns="0" tIns="0" rIns="0" bIns="0" rtlCol="0" anchor="ctr"/>
          <a:lstStyle/>
          <a:p>
            <a:pPr algn="l" indent="0" marL="0">
              <a:buNone/>
            </a:pPr>
            <a:r>
              <a:rPr lang="en-US" altLang="en-US" sz="1000" b="1" dirty="0">
                <a:solidFill>
                  <a:schemeClr val="accent2"/>
                </a:solidFill>
                <a:latin typeface="Arial" pitchFamily="34" charset="0"/>
                <a:ea typeface="Arial" pitchFamily="34" charset="-122"/>
                <a:cs typeface="Arial" pitchFamily="34" charset="-120"/>
              </a:rPr>
              <a:t>At-Tawbah • Verses 81 – 99</a:t>
            </a:r>
            <a:endParaRPr lang="en-US" sz="1000" dirty="0"/>
          </a:p>
        </p:txBody>
      </p:sp>
      <p:sp>
        <p:nvSpPr>
          <p:cNvPr id="64" name="Shape 62"/>
          <p:cNvSpPr/>
          <p:nvPr/>
        </p:nvSpPr>
        <p:spPr>
          <a:xfrm>
            <a:off x="4335628" y="4297680"/>
            <a:ext cx="3520440" cy="749808"/>
          </a:xfrm>
          <a:prstGeom prst="roundRect">
            <a:avLst>
              <a:gd name="adj" fmla="val 12195"/>
            </a:avLst>
          </a:prstGeom>
          <a:solidFill>
            <a:schemeClr val="bg1"/>
          </a:solidFill>
          <a:ln w="12700">
            <a:solidFill>
              <a:schemeClr val="accent2"/>
            </a:solidFill>
            <a:prstDash val="solid"/>
          </a:ln>
        </p:spPr>
      </p:sp>
      <p:sp>
        <p:nvSpPr>
          <p:cNvPr id="65" name="Shape 63"/>
          <p:cNvSpPr/>
          <p:nvPr/>
        </p:nvSpPr>
        <p:spPr>
          <a:xfrm>
            <a:off x="4427068" y="4407408"/>
            <a:ext cx="530352" cy="530352"/>
          </a:xfrm>
          <a:prstGeom prst="star8">
            <a:avLst/>
          </a:prstGeom>
          <a:solidFill>
            <a:schemeClr val="accent2"/>
          </a:solidFill>
          <a:ln/>
        </p:spPr>
      </p:sp>
      <p:sp>
        <p:nvSpPr>
          <p:cNvPr id="66" name="Shape 64"/>
          <p:cNvSpPr/>
          <p:nvPr/>
        </p:nvSpPr>
        <p:spPr>
          <a:xfrm>
            <a:off x="4533138" y="4513478"/>
            <a:ext cx="318211" cy="318211"/>
          </a:xfrm>
          <a:prstGeom prst="ellipse">
            <a:avLst/>
          </a:prstGeom>
          <a:solidFill>
            <a:schemeClr val="bg2"/>
          </a:solidFill>
          <a:ln w="19050">
            <a:solidFill>
              <a:schemeClr val="tx2"/>
            </a:solidFill>
            <a:prstDash val="solid"/>
          </a:ln>
        </p:spPr>
      </p:sp>
      <p:sp>
        <p:nvSpPr>
          <p:cNvPr id="67" name="Text 65"/>
          <p:cNvSpPr txBox="1"/>
          <p:nvPr/>
        </p:nvSpPr>
        <p:spPr>
          <a:xfrm>
            <a:off x="4427068" y="4407408"/>
            <a:ext cx="530352" cy="530352"/>
          </a:xfrm>
          <a:prstGeom prst="rect">
            <a:avLst/>
          </a:prstGeom>
          <a:noFill/>
          <a:ln/>
        </p:spPr>
        <p:txBody>
          <a:bodyPr wrap="square" lIns="0" tIns="0" rIns="0" bIns="0" rtlCol="0" anchor="ctr"/>
          <a:lstStyle/>
          <a:p>
            <a:pPr algn="ctr" indent="0" marL="0">
              <a:buNone/>
            </a:pPr>
            <a:r>
              <a:rPr lang="en-US" altLang="en-US" sz="1100" b="1" dirty="0">
                <a:solidFill>
                  <a:schemeClr val="tx2"/>
                </a:solidFill>
                <a:latin typeface="Arial" pitchFamily="34" charset="0"/>
                <a:ea typeface="Arial" pitchFamily="34" charset="-122"/>
                <a:cs typeface="Arial" pitchFamily="34" charset="-120"/>
              </a:rPr>
              <a:t>11</a:t>
            </a:r>
            <a:endParaRPr lang="en-US" sz="1100" dirty="0"/>
          </a:p>
        </p:txBody>
      </p:sp>
      <p:sp>
        <p:nvSpPr>
          <p:cNvPr id="68" name="Text 66"/>
          <p:cNvSpPr txBox="1"/>
          <p:nvPr/>
        </p:nvSpPr>
        <p:spPr>
          <a:xfrm>
            <a:off x="5048860" y="4315968"/>
            <a:ext cx="2715768" cy="434889"/>
          </a:xfrm>
          <a:prstGeom prst="rect">
            <a:avLst/>
          </a:prstGeom>
          <a:noFill/>
          <a:ln/>
        </p:spPr>
        <p:txBody>
          <a:bodyPr wrap="square" lIns="0" tIns="0" rIns="0" bIns="0" rtlCol="0" anchor="ctr">
            <a:normAutofit/>
          </a:bodyPr>
          <a:lstStyle/>
          <a:p>
            <a:pPr algn="l" indent="0" marL="0">
              <a:buNone/>
            </a:pPr>
            <a:r>
              <a:rPr lang="en-US" altLang="en-US" sz="1200" b="1" dirty="0">
                <a:solidFill>
                  <a:schemeClr val="tx2"/>
                </a:solidFill>
                <a:latin typeface="Arial" pitchFamily="34" charset="0"/>
                <a:ea typeface="Arial" pitchFamily="34" charset="-122"/>
                <a:cs typeface="Arial" pitchFamily="34" charset="-120"/>
              </a:rPr>
              <a:t>Forerunners; Harmful Mosque</a:t>
            </a:r>
            <a:endParaRPr lang="en-US" sz="1200" dirty="0"/>
          </a:p>
        </p:txBody>
      </p:sp>
      <p:sp>
        <p:nvSpPr>
          <p:cNvPr id="69" name="Text 67"/>
          <p:cNvSpPr txBox="1"/>
          <p:nvPr/>
        </p:nvSpPr>
        <p:spPr>
          <a:xfrm>
            <a:off x="5048860" y="4732569"/>
            <a:ext cx="2715768" cy="284927"/>
          </a:xfrm>
          <a:prstGeom prst="rect">
            <a:avLst/>
          </a:prstGeom>
          <a:noFill/>
          <a:ln/>
        </p:spPr>
        <p:txBody>
          <a:bodyPr wrap="square" lIns="0" tIns="0" rIns="0" bIns="0" rtlCol="0" anchor="ctr"/>
          <a:lstStyle/>
          <a:p>
            <a:pPr algn="l" indent="0" marL="0">
              <a:buNone/>
            </a:pPr>
            <a:r>
              <a:rPr lang="en-US" altLang="en-US" sz="1000" b="1" dirty="0">
                <a:solidFill>
                  <a:schemeClr val="accent2"/>
                </a:solidFill>
                <a:latin typeface="Arial" pitchFamily="34" charset="0"/>
                <a:ea typeface="Arial" pitchFamily="34" charset="-122"/>
                <a:cs typeface="Arial" pitchFamily="34" charset="-120"/>
              </a:rPr>
              <a:t>At-Tawbah • Verses 100 – 110</a:t>
            </a:r>
            <a:endParaRPr lang="en-US" sz="1000" dirty="0"/>
          </a:p>
        </p:txBody>
      </p:sp>
      <p:sp>
        <p:nvSpPr>
          <p:cNvPr id="70" name="Shape 68"/>
          <p:cNvSpPr/>
          <p:nvPr/>
        </p:nvSpPr>
        <p:spPr>
          <a:xfrm>
            <a:off x="8038948" y="4297680"/>
            <a:ext cx="3520440" cy="749808"/>
          </a:xfrm>
          <a:prstGeom prst="roundRect">
            <a:avLst>
              <a:gd name="adj" fmla="val 12195"/>
            </a:avLst>
          </a:prstGeom>
          <a:solidFill>
            <a:schemeClr val="accent5"/>
          </a:solidFill>
          <a:ln w="12700">
            <a:solidFill>
              <a:schemeClr val="accent2"/>
            </a:solidFill>
            <a:prstDash val="solid"/>
          </a:ln>
        </p:spPr>
      </p:sp>
      <p:sp>
        <p:nvSpPr>
          <p:cNvPr id="71" name="Shape 69"/>
          <p:cNvSpPr/>
          <p:nvPr/>
        </p:nvSpPr>
        <p:spPr>
          <a:xfrm>
            <a:off x="8130388" y="4407408"/>
            <a:ext cx="530352" cy="530352"/>
          </a:xfrm>
          <a:prstGeom prst="star8">
            <a:avLst/>
          </a:prstGeom>
          <a:solidFill>
            <a:schemeClr val="accent2"/>
          </a:solidFill>
          <a:ln/>
        </p:spPr>
      </p:sp>
      <p:sp>
        <p:nvSpPr>
          <p:cNvPr id="72" name="Shape 70"/>
          <p:cNvSpPr/>
          <p:nvPr/>
        </p:nvSpPr>
        <p:spPr>
          <a:xfrm>
            <a:off x="8236458" y="4513478"/>
            <a:ext cx="318211" cy="318211"/>
          </a:xfrm>
          <a:prstGeom prst="ellipse">
            <a:avLst/>
          </a:prstGeom>
          <a:solidFill>
            <a:schemeClr val="bg2"/>
          </a:solidFill>
          <a:ln w="19050">
            <a:solidFill>
              <a:schemeClr val="tx2"/>
            </a:solidFill>
            <a:prstDash val="solid"/>
          </a:ln>
        </p:spPr>
      </p:sp>
      <p:sp>
        <p:nvSpPr>
          <p:cNvPr id="73" name="Text 71"/>
          <p:cNvSpPr txBox="1"/>
          <p:nvPr/>
        </p:nvSpPr>
        <p:spPr>
          <a:xfrm>
            <a:off x="8130388" y="4407408"/>
            <a:ext cx="530352" cy="530352"/>
          </a:xfrm>
          <a:prstGeom prst="rect">
            <a:avLst/>
          </a:prstGeom>
          <a:noFill/>
          <a:ln/>
        </p:spPr>
        <p:txBody>
          <a:bodyPr wrap="square" lIns="0" tIns="0" rIns="0" bIns="0" rtlCol="0" anchor="ctr"/>
          <a:lstStyle/>
          <a:p>
            <a:pPr algn="ctr" indent="0" marL="0">
              <a:buNone/>
            </a:pPr>
            <a:r>
              <a:rPr lang="en-US" altLang="en-US" sz="1100" b="1" dirty="0">
                <a:solidFill>
                  <a:schemeClr val="tx2"/>
                </a:solidFill>
                <a:latin typeface="Arial" pitchFamily="34" charset="0"/>
                <a:ea typeface="Arial" pitchFamily="34" charset="-122"/>
                <a:cs typeface="Arial" pitchFamily="34" charset="-120"/>
              </a:rPr>
              <a:t>12</a:t>
            </a:r>
            <a:endParaRPr lang="en-US" sz="1100" dirty="0"/>
          </a:p>
        </p:txBody>
      </p:sp>
      <p:sp>
        <p:nvSpPr>
          <p:cNvPr id="74" name="Text 72"/>
          <p:cNvSpPr txBox="1"/>
          <p:nvPr/>
        </p:nvSpPr>
        <p:spPr>
          <a:xfrm>
            <a:off x="8752180" y="4315968"/>
            <a:ext cx="2715768" cy="434889"/>
          </a:xfrm>
          <a:prstGeom prst="rect">
            <a:avLst/>
          </a:prstGeom>
          <a:noFill/>
          <a:ln/>
        </p:spPr>
        <p:txBody>
          <a:bodyPr wrap="square" lIns="0" tIns="0" rIns="0" bIns="0" rtlCol="0" anchor="ctr">
            <a:normAutofit/>
          </a:bodyPr>
          <a:lstStyle/>
          <a:p>
            <a:pPr algn="l" indent="0" marL="0">
              <a:buNone/>
            </a:pPr>
            <a:r>
              <a:rPr lang="en-US" altLang="en-US" sz="1200" b="1" dirty="0">
                <a:solidFill>
                  <a:schemeClr val="tx2"/>
                </a:solidFill>
                <a:latin typeface="Arial" pitchFamily="34" charset="0"/>
                <a:ea typeface="Arial" pitchFamily="34" charset="-122"/>
                <a:cs typeface="Arial" pitchFamily="34" charset="-120"/>
              </a:rPr>
              <a:t>The Profitable Deal</a:t>
            </a:r>
            <a:endParaRPr lang="en-US" sz="1200" dirty="0"/>
          </a:p>
        </p:txBody>
      </p:sp>
      <p:sp>
        <p:nvSpPr>
          <p:cNvPr id="75" name="Text 73"/>
          <p:cNvSpPr txBox="1"/>
          <p:nvPr/>
        </p:nvSpPr>
        <p:spPr>
          <a:xfrm>
            <a:off x="8752180" y="4732569"/>
            <a:ext cx="2715768" cy="284927"/>
          </a:xfrm>
          <a:prstGeom prst="rect">
            <a:avLst/>
          </a:prstGeom>
          <a:noFill/>
          <a:ln/>
        </p:spPr>
        <p:txBody>
          <a:bodyPr wrap="square" lIns="0" tIns="0" rIns="0" bIns="0" rtlCol="0" anchor="ctr"/>
          <a:lstStyle/>
          <a:p>
            <a:pPr algn="l" indent="0" marL="0">
              <a:buNone/>
            </a:pPr>
            <a:r>
              <a:rPr lang="en-US" altLang="en-US" sz="1000" b="1" dirty="0">
                <a:solidFill>
                  <a:schemeClr val="accent2"/>
                </a:solidFill>
                <a:latin typeface="Arial" pitchFamily="34" charset="0"/>
                <a:ea typeface="Arial" pitchFamily="34" charset="-122"/>
                <a:cs typeface="Arial" pitchFamily="34" charset="-120"/>
              </a:rPr>
              <a:t>At-Tawbah • Verses 111 – 129</a:t>
            </a:r>
            <a:endParaRPr lang="en-US" sz="1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000" b="1" dirty="0">
                <a:solidFill>
                  <a:schemeClr val="accent2"/>
                </a:solidFill>
                <a:latin typeface="Georgia" pitchFamily="34" charset="0"/>
                <a:ea typeface="Georgia" pitchFamily="34" charset="-122"/>
                <a:cs typeface="Georgia" pitchFamily="34" charset="-120"/>
              </a:rPr>
              <a:t>Believers and Badr</a:t>
            </a:r>
            <a:endParaRPr lang="en-US" sz="30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1 of 5</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1 – 14</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Al-Anfal • Madani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'Ubadah ibn As-Samit (may Allah be pleased with him) said: It was revealed about us, the people of Badr, when we disagreed about the war gains and behaved badly about them. Allah took them out of our hands and gave them to His Messenger, who divided them among us equally (Ahmad).</a:t>
            </a:r>
            <a:endParaRPr lang="en-US" sz="15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The qualities of the true believers, the Prophet's (peace be upon him) going out to Badr, and how Allah helped the believers with angels, rain, sleepiness and fear in the disbelievers' hearts.</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Al-Anfal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يَسْـَٔلُونَكَ عَنِ الْأَنفَالِ قُلِ الْأَنفَالُ لِلَّهِ وَالرَّسُولِ فَاتَّقُواْ اللَّهَ وَأَصْلِحُواْ ذَاتَ بَيْنِكُمْ وَأَطِيعُواْ اللَّهَ وَرَسُولَهُ إِن كُنتُم مُّؤْمِنِينَ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Your Companions ask you, O Muhammad, about the war gains of Badr: how should they be divided? Say: The war gains belong to Allah and the Messenger, who decide about them. So have taqwa of Allah, put things right between you, and obey Allah and His Messenger, if you are believers.</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إِنَّمَا الْمُؤْمِنُونَ الَّذِينَ إِذَا ذُكِرَ اللَّهُ وَجِلَتْ قُلُوبُهُمْ وَإِذَا تُلِيَتْ عَلَيْهِمْ ءَايَٰتُهُ زَادَتْهُمْ إِيمَٰنًا وَعَلَىٰ رَبِّهِمْ يَتَوَكَّلُونَ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true believers are those whose hearts tremble when Allah is mentioned, whose faith increases when His verses are recited to them, and who put their trust in their Lord,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Al-Anfal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 – 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8" name="Text 6"/>
          <p:cNvSpPr txBox="1"/>
          <p:nvPr/>
        </p:nvSpPr>
        <p:spPr>
          <a:xfrm>
            <a:off x="1444752" y="155676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الَّذِينَ يُقِيمُونَ الصَّلَوٰةَ وَمِمَّا رَزَقْنَٰهُمْ يُنفِقُونَ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 perform the prayer and spend from what We have provided them.</a:t>
            </a:r>
            <a:endParaRPr lang="en-US" sz="3000" dirty="0"/>
          </a:p>
        </p:txBody>
      </p:sp>
      <p:sp>
        <p:nvSpPr>
          <p:cNvPr id="9" name="Shape 7"/>
          <p:cNvSpPr/>
          <p:nvPr/>
        </p:nvSpPr>
        <p:spPr>
          <a:xfrm>
            <a:off x="1444752" y="2736342"/>
            <a:ext cx="8641080" cy="0"/>
          </a:xfrm>
          <a:prstGeom prst="line">
            <a:avLst/>
          </a:prstGeom>
          <a:noFill/>
          <a:ln w="9525">
            <a:solidFill>
              <a:schemeClr val="accent2"/>
            </a:solidFill>
            <a:prstDash val="dash"/>
          </a:ln>
        </p:spPr>
      </p:sp>
      <p:sp>
        <p:nvSpPr>
          <p:cNvPr id="10" name="Shape 8"/>
          <p:cNvSpPr/>
          <p:nvPr/>
        </p:nvSpPr>
        <p:spPr>
          <a:xfrm>
            <a:off x="713232" y="2969514"/>
            <a:ext cx="548640" cy="548640"/>
          </a:xfrm>
          <a:prstGeom prst="star8">
            <a:avLst/>
          </a:prstGeom>
          <a:solidFill>
            <a:schemeClr val="accent2"/>
          </a:solidFill>
          <a:ln/>
        </p:spPr>
      </p:sp>
      <p:sp>
        <p:nvSpPr>
          <p:cNvPr id="11" name="Shape 9"/>
          <p:cNvSpPr/>
          <p:nvPr/>
        </p:nvSpPr>
        <p:spPr>
          <a:xfrm>
            <a:off x="822960" y="307924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96951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13" name="Text 11"/>
          <p:cNvSpPr txBox="1"/>
          <p:nvPr/>
        </p:nvSpPr>
        <p:spPr>
          <a:xfrm>
            <a:off x="1444752" y="295122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أُوْلَـٰئِكَ هُمُ الْمُؤْمِنُونَ حَقًّا لَّهُمْ دَرَجَٰتٌ عِندَ رَبِّهِمْ وَمَغْفِرَةٌ وَرِزْقٌ كَرِيمٌ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are the true believers. They will have high ranks with their Lord, forgiveness and generous provision in Paradise.</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18" name="Text 16"/>
          <p:cNvSpPr txBox="1"/>
          <p:nvPr/>
        </p:nvSpPr>
        <p:spPr>
          <a:xfrm>
            <a:off x="1444752" y="460629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كَمَآ أَخْرَجَكَ رَبُّكَ مِن بَيْتِكَ بِالْحَقِّ وَإِنَّ فَرِيقًا مِّنَ الْمُؤْمِنِينَ لَكَٰرِهُونَ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Just as your Lord brought you out of your home in Madinah to Badr for the truth, while a group of the believers disliked fighting, and the good was in what Allah wanted.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Al-Anfal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 – 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8" name="Text 6"/>
          <p:cNvSpPr txBox="1"/>
          <p:nvPr/>
        </p:nvSpPr>
        <p:spPr>
          <a:xfrm>
            <a:off x="1444752" y="184937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يُجَٰدِلُونَكَ فِي الْحَقِّ بَعْدَ مَا تَبَيَّنَ كَأَنَّمَا يُسَاقُونَ إِلَى الْمَوْتِ وَهُمْ يَنظُرُونَ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argued with you about fighting after it had become clear it would happen, as if they were being driven to death while looking at it.</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522726"/>
            <a:ext cx="548640" cy="548640"/>
          </a:xfrm>
          <a:prstGeom prst="star8">
            <a:avLst/>
          </a:prstGeom>
          <a:solidFill>
            <a:schemeClr val="accent2"/>
          </a:solidFill>
          <a:ln/>
        </p:spPr>
      </p:sp>
      <p:sp>
        <p:nvSpPr>
          <p:cNvPr id="11" name="Shape 9"/>
          <p:cNvSpPr/>
          <p:nvPr/>
        </p:nvSpPr>
        <p:spPr>
          <a:xfrm>
            <a:off x="822960" y="363245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2272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13" name="Text 11"/>
          <p:cNvSpPr txBox="1"/>
          <p:nvPr/>
        </p:nvSpPr>
        <p:spPr>
          <a:xfrm>
            <a:off x="1444752" y="350443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 يَعِدُكُمُ اللَّهُ إِحْدَى الطَّآئِفَتَيْنِ أَنَّهَا لَكُمْ وَتَوَدُّونَ أَنَّ غَيْرَ ذَاتِ الشَّوْكَةِ تَكُونُ لَكُمْ وَيُرِيدُ اللَّهُ أَن يُحِقَّ الْحَقَّ بِكَلِمَٰتِهِ وَيَقْطَعَ دَابِرَ الْكَٰفِرِينَ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Remember when Allah promised you one of the two groups, the caravan or the army of Quraysh, would be yours. You wished that the unarmed caravan would be yours, but Allah wanted to establish the truth by His words and wipe out the disbelievers to the last,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Al-Anfal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 – 10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8" name="Text 6"/>
          <p:cNvSpPr txBox="1"/>
          <p:nvPr/>
        </p:nvSpPr>
        <p:spPr>
          <a:xfrm>
            <a:off x="1444752" y="138760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لِيُحِقَّ الْحَقَّ وَيُبْطِلَ الْبَٰطِلَ وَلَوْ كَرِهَ الْمُجْرِمُونَ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to establish the truth and wipe out falsehood, even though the criminals hate it.</a:t>
            </a:r>
            <a:endParaRPr lang="en-US" sz="3000" dirty="0"/>
          </a:p>
        </p:txBody>
      </p:sp>
      <p:sp>
        <p:nvSpPr>
          <p:cNvPr id="9" name="Shape 7"/>
          <p:cNvSpPr/>
          <p:nvPr/>
        </p:nvSpPr>
        <p:spPr>
          <a:xfrm>
            <a:off x="1444752" y="2514600"/>
            <a:ext cx="8641080" cy="0"/>
          </a:xfrm>
          <a:prstGeom prst="line">
            <a:avLst/>
          </a:prstGeom>
          <a:noFill/>
          <a:ln w="9525">
            <a:solidFill>
              <a:schemeClr val="accent2"/>
            </a:solidFill>
            <a:prstDash val="dash"/>
          </a:ln>
        </p:spPr>
      </p:sp>
      <p:sp>
        <p:nvSpPr>
          <p:cNvPr id="10" name="Shape 8"/>
          <p:cNvSpPr/>
          <p:nvPr/>
        </p:nvSpPr>
        <p:spPr>
          <a:xfrm>
            <a:off x="713232" y="2695194"/>
            <a:ext cx="548640" cy="548640"/>
          </a:xfrm>
          <a:prstGeom prst="star8">
            <a:avLst/>
          </a:prstGeom>
          <a:solidFill>
            <a:schemeClr val="accent2"/>
          </a:solidFill>
          <a:ln/>
        </p:spPr>
      </p:sp>
      <p:sp>
        <p:nvSpPr>
          <p:cNvPr id="11" name="Shape 9"/>
          <p:cNvSpPr/>
          <p:nvPr/>
        </p:nvSpPr>
        <p:spPr>
          <a:xfrm>
            <a:off x="822960" y="280492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9519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13" name="Text 11"/>
          <p:cNvSpPr txBox="1"/>
          <p:nvPr/>
        </p:nvSpPr>
        <p:spPr>
          <a:xfrm>
            <a:off x="1444752" y="267690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إِذْ تَسْتَغِيثُونَ رَبَّكُمْ فَاسْتَجَابَ لَكُمْ أَنِّي مُمِدُّكُم بِأَلْفٍ مِّنَ الْمَلَـٰئِكَةِ مُرْدِفِينَ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Remember when you called on your Lord for help at Badr, and He answered you: I will help you with a thousand angels coming one after another.</a:t>
            </a:r>
            <a:endParaRPr lang="en-US" sz="3000" dirty="0"/>
          </a:p>
        </p:txBody>
      </p:sp>
      <p:sp>
        <p:nvSpPr>
          <p:cNvPr id="14" name="Shape 12"/>
          <p:cNvSpPr/>
          <p:nvPr/>
        </p:nvSpPr>
        <p:spPr>
          <a:xfrm>
            <a:off x="1444752" y="4064508"/>
            <a:ext cx="8641080" cy="0"/>
          </a:xfrm>
          <a:prstGeom prst="line">
            <a:avLst/>
          </a:prstGeom>
          <a:noFill/>
          <a:ln w="9525">
            <a:solidFill>
              <a:schemeClr val="accent2"/>
            </a:solidFill>
            <a:prstDash val="dash"/>
          </a:ln>
        </p:spPr>
      </p:sp>
      <p:sp>
        <p:nvSpPr>
          <p:cNvPr id="15" name="Shape 13"/>
          <p:cNvSpPr/>
          <p:nvPr/>
        </p:nvSpPr>
        <p:spPr>
          <a:xfrm>
            <a:off x="713232" y="4245102"/>
            <a:ext cx="548640" cy="548640"/>
          </a:xfrm>
          <a:prstGeom prst="star8">
            <a:avLst/>
          </a:prstGeom>
          <a:solidFill>
            <a:schemeClr val="accent2"/>
          </a:solidFill>
          <a:ln/>
        </p:spPr>
      </p:sp>
      <p:sp>
        <p:nvSpPr>
          <p:cNvPr id="16" name="Shape 14"/>
          <p:cNvSpPr/>
          <p:nvPr/>
        </p:nvSpPr>
        <p:spPr>
          <a:xfrm>
            <a:off x="822960" y="435483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24510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10</a:t>
            </a:r>
            <a:endParaRPr lang="en-US" sz="1600" dirty="0"/>
          </a:p>
        </p:txBody>
      </p:sp>
      <p:sp>
        <p:nvSpPr>
          <p:cNvPr id="18" name="Text 16"/>
          <p:cNvSpPr txBox="1"/>
          <p:nvPr/>
        </p:nvSpPr>
        <p:spPr>
          <a:xfrm>
            <a:off x="1444752" y="422681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جَعَلَهُ اللَّهُ إِلَّا بُشْرَىٰ وَلِتَطْمَئِنَّ بِهِ قُلُوبُكُمْ وَمَا النَّصْرُ إِلَّا مِنْ عِندِ اللَّهِ إِنَّ اللَّهَ عَزِيزٌ حَكِيمٌ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made the help of the angels only as good news for you and so that your hearts would be at rest. Victory comes only from Allah; Allah is Almighty, All-Wise.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Al-Anfal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11 – 12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11</a:t>
            </a:r>
            <a:endParaRPr lang="en-US" sz="16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إِذْ يُغَشِّيكُمُ النُّعَاسَ أَمَنَةً مِّنْهُ وَيُنَزِّلُ عَلَيْكُم مِّنَ السَّمَآءِ مَآءً لِّيُطَهِّرَكُم بِهِ وَيُذْهِبَ عَنكُمْ رِجْزَ الشَّيْطَٰنِ وَلِيَرْبِطَ عَلَىٰ قُلُوبِكُمْ وَيُثَبِّتَ بِهِ الْأَقْدَامَ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Remember when He covered you with sleepiness as a security from Him, and sent down rain from the sky to purify you, remove Satan's whispers from you, strengthen your hearts and make your feet firm on the sand.</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12</a:t>
            </a:r>
            <a:endParaRPr lang="en-US" sz="16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إِذْ يُوحِي رَبُّكَ إِلَى الْمَلَـٰئِكَةِ أَنِّي مَعَكُمْ فَثَبِّتُواْ الَّذِينَ ءَامَنُواْ سَأُلْقِي فِي قُلُوبِ الَّذِينَ كَفَرُواْ الرُّعْبَ فَاضْرِبُواْ فَوْقَ الْأَعْنَاقِ وَاضْرِبُواْ مِنْهُمْ كُلَّ بَنَانٍ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Remember when your Lord revealed to the angels: I am with you, so make the believers firm. I will put fear into the hearts of the disbelievers, so strike their necks and strike all their fingertips.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Al-Anfal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13 – 14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272284"/>
            <a:ext cx="548640" cy="548640"/>
          </a:xfrm>
          <a:prstGeom prst="star8">
            <a:avLst/>
          </a:prstGeom>
          <a:solidFill>
            <a:schemeClr val="accent2"/>
          </a:solidFill>
          <a:ln/>
        </p:spPr>
      </p:sp>
      <p:sp>
        <p:nvSpPr>
          <p:cNvPr id="6" name="Shape 4"/>
          <p:cNvSpPr/>
          <p:nvPr/>
        </p:nvSpPr>
        <p:spPr>
          <a:xfrm>
            <a:off x="822960" y="238201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27228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13</a:t>
            </a:r>
            <a:endParaRPr lang="en-US" sz="1600" dirty="0"/>
          </a:p>
        </p:txBody>
      </p:sp>
      <p:sp>
        <p:nvSpPr>
          <p:cNvPr id="8" name="Text 6"/>
          <p:cNvSpPr txBox="1"/>
          <p:nvPr/>
        </p:nvSpPr>
        <p:spPr>
          <a:xfrm>
            <a:off x="1444752" y="225399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ذَٰلِكَ بِأَنَّهُمْ شَآقُّواْ اللَّهَ وَرَسُولَهُ وَمَن يُشَاقِقِ اللَّهَ وَرَسُولَهُ فَإِنَّ اللَّهَ شَدِيدُ الْعِقَابِ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That is because they opposed Allah and His Messenger and were hostile to them, and whoever opposes Allah and His Messenger, Allah is severe in punishment.</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14</a:t>
            </a:r>
            <a:endParaRPr lang="en-US" sz="1600" dirty="0"/>
          </a:p>
        </p:txBody>
      </p:sp>
      <p:sp>
        <p:nvSpPr>
          <p:cNvPr id="13" name="Text 11"/>
          <p:cNvSpPr txBox="1"/>
          <p:nvPr/>
        </p:nvSpPr>
        <p:spPr>
          <a:xfrm>
            <a:off x="1444752" y="390906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ذَٰلِكُمْ فَذُوقُوهُ وَأَنَّ لِلْكَٰفِرِينَ عَذَابَ النَّارِ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That is the punishment, so taste it in this world, and the disbelievers will have the punishment of the Fire in the Hereafter.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Standing Firm</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2 of 5</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15 – 29</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Al-Anfal • Madani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Ibn Kathir mentions that on the day of Badr the Prophet (peace be upon him) took a handful of dust and threw it at the faces of the idol-worshippers, saying: "May the faces be disgraced." There was not one of them whose eyes it did not reach, so this was revealed: “You did not throw when you threw, but it was Allah who threw”.</a:t>
            </a:r>
            <a:endParaRPr lang="en-US" sz="15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The command to stand firm before the enemy, that victory is from Allah alone, the command to obey and respond to Allah and His Messenger, a warning against betrayal, and the fruit of taqwa.</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Al-Anfal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15 – 16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15</a:t>
            </a:r>
            <a:endParaRPr lang="en-US" sz="1600" dirty="0"/>
          </a:p>
        </p:txBody>
      </p:sp>
      <p:sp>
        <p:nvSpPr>
          <p:cNvPr id="8" name="Text 6"/>
          <p:cNvSpPr txBox="1"/>
          <p:nvPr/>
        </p:nvSpPr>
        <p:spPr>
          <a:xfrm>
            <a:off x="1444752" y="197967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الَّذِينَ ءَامَنُواْ إِذَا لَقِيتُمُ الَّذِينَ كَفَرُواْ زَحْفًا فَلَا تُوَلُّوهُمُ الْأَدْبَارَ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believers, when you meet the disbelievers advancing in battle, do not turn your backs to them in flight.</a:t>
            </a:r>
            <a:endParaRPr lang="en-US" sz="3000" dirty="0"/>
          </a:p>
        </p:txBody>
      </p:sp>
      <p:sp>
        <p:nvSpPr>
          <p:cNvPr id="9" name="Shape 7"/>
          <p:cNvSpPr/>
          <p:nvPr/>
        </p:nvSpPr>
        <p:spPr>
          <a:xfrm>
            <a:off x="1444752" y="3419856"/>
            <a:ext cx="8641080" cy="0"/>
          </a:xfrm>
          <a:prstGeom prst="line">
            <a:avLst/>
          </a:prstGeom>
          <a:noFill/>
          <a:ln w="9525">
            <a:solidFill>
              <a:schemeClr val="accent2"/>
            </a:solidFill>
            <a:prstDash val="dash"/>
          </a:ln>
        </p:spPr>
      </p:sp>
      <p:sp>
        <p:nvSpPr>
          <p:cNvPr id="10" name="Shape 8"/>
          <p:cNvSpPr/>
          <p:nvPr/>
        </p:nvSpPr>
        <p:spPr>
          <a:xfrm>
            <a:off x="713232" y="3653028"/>
            <a:ext cx="548640" cy="548640"/>
          </a:xfrm>
          <a:prstGeom prst="star8">
            <a:avLst/>
          </a:prstGeom>
          <a:solidFill>
            <a:schemeClr val="accent2"/>
          </a:solidFill>
          <a:ln/>
        </p:spPr>
      </p:sp>
      <p:sp>
        <p:nvSpPr>
          <p:cNvPr id="11" name="Shape 9"/>
          <p:cNvSpPr/>
          <p:nvPr/>
        </p:nvSpPr>
        <p:spPr>
          <a:xfrm>
            <a:off x="822960" y="376275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5302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16</a:t>
            </a:r>
            <a:endParaRPr lang="en-US" sz="1600" dirty="0"/>
          </a:p>
        </p:txBody>
      </p:sp>
      <p:sp>
        <p:nvSpPr>
          <p:cNvPr id="13" name="Text 11"/>
          <p:cNvSpPr txBox="1"/>
          <p:nvPr/>
        </p:nvSpPr>
        <p:spPr>
          <a:xfrm>
            <a:off x="1444752" y="363474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يُوَلِّهِمْ يَوْمَئِذٍ دُبُرَهُ إِلَّا مُتَحَرِّفًا لِّقِتَالٍ أَوْ مُتَحَيِّزًا إِلَىٰ فِئَةٍ فَقَدْ بَآءَ بِغَضَبٍ مِّنَ اللَّهِ وَمَأْوَىٰهُ جَهَنَّمُ وَبِئْسَ الْمَصِيرُ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Whoever turns his back on them that day, except to change position for fighting or to join a group of Muslims, has earned anger from Allah, and his home is Hell, and what an evil destination!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Al-Anfal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17 – 18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17</a:t>
            </a:r>
            <a:endParaRPr lang="en-US" sz="1600" dirty="0"/>
          </a:p>
        </p:txBody>
      </p:sp>
      <p:sp>
        <p:nvSpPr>
          <p:cNvPr id="8" name="Text 6"/>
          <p:cNvSpPr txBox="1"/>
          <p:nvPr/>
        </p:nvSpPr>
        <p:spPr>
          <a:xfrm>
            <a:off x="1444752" y="1979676"/>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فَلَمْ تَقْتُلُوهُمْ وَلَٰكِنَّ اللَّهَ قَتَلَهُمْ وَمَا رَمَيْتَ إِذْ رَمَيْتَ وَلَٰكِنَّ اللَّهَ رَمَىٰ وَلِيُبْلِيَ الْمُؤْمِنِينَ مِنْهُ بَلَآءً حَسَنًا إِنَّ اللَّهَ سَمِيعٌ عَلِيمٌ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 did not kill them by your own strength; Allah killed them. And you did not throw the dust at their faces, O Muhammad, when you threw it; Allah threw it and made it reach their eyes, and to bless the believers with victory. Allah is All-Hearing, All-Knowing.</a:t>
            </a:r>
            <a:endParaRPr lang="en-US" sz="3000" dirty="0"/>
          </a:p>
        </p:txBody>
      </p:sp>
      <p:sp>
        <p:nvSpPr>
          <p:cNvPr id="9" name="Shape 7"/>
          <p:cNvSpPr/>
          <p:nvPr/>
        </p:nvSpPr>
        <p:spPr>
          <a:xfrm>
            <a:off x="1444752" y="4229100"/>
            <a:ext cx="8641080" cy="0"/>
          </a:xfrm>
          <a:prstGeom prst="line">
            <a:avLst/>
          </a:prstGeom>
          <a:noFill/>
          <a:ln w="9525">
            <a:solidFill>
              <a:schemeClr val="accent2"/>
            </a:solidFill>
            <a:prstDash val="dash"/>
          </a:ln>
        </p:spPr>
      </p:sp>
      <p:sp>
        <p:nvSpPr>
          <p:cNvPr id="10" name="Shape 8"/>
          <p:cNvSpPr/>
          <p:nvPr/>
        </p:nvSpPr>
        <p:spPr>
          <a:xfrm>
            <a:off x="713232" y="4462272"/>
            <a:ext cx="548640" cy="548640"/>
          </a:xfrm>
          <a:prstGeom prst="star8">
            <a:avLst/>
          </a:prstGeom>
          <a:solidFill>
            <a:schemeClr val="accent2"/>
          </a:solidFill>
          <a:ln/>
        </p:spPr>
      </p:sp>
      <p:sp>
        <p:nvSpPr>
          <p:cNvPr id="11" name="Shape 9"/>
          <p:cNvSpPr/>
          <p:nvPr/>
        </p:nvSpPr>
        <p:spPr>
          <a:xfrm>
            <a:off x="822960" y="45720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4622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18</a:t>
            </a:r>
            <a:endParaRPr lang="en-US" sz="1600" dirty="0"/>
          </a:p>
        </p:txBody>
      </p:sp>
      <p:sp>
        <p:nvSpPr>
          <p:cNvPr id="13" name="Text 11"/>
          <p:cNvSpPr txBox="1"/>
          <p:nvPr/>
        </p:nvSpPr>
        <p:spPr>
          <a:xfrm>
            <a:off x="1444752" y="444398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ذَٰلِكُمْ وَأَنَّ اللَّهَ مُوهِنُ كَيْدِ الْكَٰفِرِينَ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That is the victory from Allah, and Allah weakens the plots of the disbelievers.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Al-Anfal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19 – 20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19</a:t>
            </a:r>
            <a:endParaRPr lang="en-US" sz="1600" dirty="0"/>
          </a:p>
        </p:txBody>
      </p:sp>
      <p:sp>
        <p:nvSpPr>
          <p:cNvPr id="8" name="Text 6"/>
          <p:cNvSpPr txBox="1"/>
          <p:nvPr/>
        </p:nvSpPr>
        <p:spPr>
          <a:xfrm>
            <a:off x="1444752" y="184937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تَسْتَفْتِحُواْ فَقَدْ جَآءَكُمُ الْفَتْحُ وَإِن تَنتَهُواْ فَهُوَ خَيْرٌ لَّكُمْ وَإِن تَعُودُواْ نَعُدْ وَلَن تُغْنِيَ عَنكُمْ فِئَتُكُمْ شَيْـًٔا وَلَوْ كَثُرَتْ وَأَنَّ اللَّهَ مَعَ الْمُؤْمِنِينَ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you, O idol-worshippers, asked Allah to judge between you and the believers, the judgement has come with victory for the believers. If you stop disbelieving, it is better for you; if you return, We will return, and your army will not help you however large it is. Allah is with the believers.</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20</a:t>
            </a:r>
            <a:endParaRPr lang="en-US" sz="1600" dirty="0"/>
          </a:p>
        </p:txBody>
      </p:sp>
      <p:sp>
        <p:nvSpPr>
          <p:cNvPr id="13" name="Text 11"/>
          <p:cNvSpPr txBox="1"/>
          <p:nvPr/>
        </p:nvSpPr>
        <p:spPr>
          <a:xfrm>
            <a:off x="1444752" y="431368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الَّذِينَ ءَامَنُواْ أَطِيعُواْ اللَّهَ وَرَسُولَهُ وَلَا تَوَلَّوْاْ عَنْهُ وَأَنتُمْ تَسْمَعُونَ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believers, obey Allah and His Messenger, and do not turn away from him while you hear the Qur'an.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Al-Anfal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21 – 23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21</a:t>
            </a:r>
            <a:endParaRPr lang="en-US" sz="1600" dirty="0"/>
          </a:p>
        </p:txBody>
      </p:sp>
      <p:sp>
        <p:nvSpPr>
          <p:cNvPr id="8" name="Text 6"/>
          <p:cNvSpPr txBox="1"/>
          <p:nvPr/>
        </p:nvSpPr>
        <p:spPr>
          <a:xfrm>
            <a:off x="1444752" y="155676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وَلَا تَكُونُواْ كَالَّذِينَ قَالُواْ سَمِعْنَا وَهُمْ لَا يَسْمَعُونَ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not be like the hypocrites who said: We hear, but they do not listen with acceptance.</a:t>
            </a:r>
            <a:endParaRPr lang="en-US" sz="3000" dirty="0"/>
          </a:p>
        </p:txBody>
      </p:sp>
      <p:sp>
        <p:nvSpPr>
          <p:cNvPr id="9" name="Shape 7"/>
          <p:cNvSpPr/>
          <p:nvPr/>
        </p:nvSpPr>
        <p:spPr>
          <a:xfrm>
            <a:off x="1444752" y="2736342"/>
            <a:ext cx="8641080" cy="0"/>
          </a:xfrm>
          <a:prstGeom prst="line">
            <a:avLst/>
          </a:prstGeom>
          <a:noFill/>
          <a:ln w="9525">
            <a:solidFill>
              <a:schemeClr val="accent2"/>
            </a:solidFill>
            <a:prstDash val="dash"/>
          </a:ln>
        </p:spPr>
      </p:sp>
      <p:sp>
        <p:nvSpPr>
          <p:cNvPr id="10" name="Shape 8"/>
          <p:cNvSpPr/>
          <p:nvPr/>
        </p:nvSpPr>
        <p:spPr>
          <a:xfrm>
            <a:off x="713232" y="2969514"/>
            <a:ext cx="548640" cy="548640"/>
          </a:xfrm>
          <a:prstGeom prst="star8">
            <a:avLst/>
          </a:prstGeom>
          <a:solidFill>
            <a:schemeClr val="accent2"/>
          </a:solidFill>
          <a:ln/>
        </p:spPr>
      </p:sp>
      <p:sp>
        <p:nvSpPr>
          <p:cNvPr id="11" name="Shape 9"/>
          <p:cNvSpPr/>
          <p:nvPr/>
        </p:nvSpPr>
        <p:spPr>
          <a:xfrm>
            <a:off x="822960" y="307924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96951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22</a:t>
            </a:r>
            <a:endParaRPr lang="en-US" sz="1600" dirty="0"/>
          </a:p>
        </p:txBody>
      </p:sp>
      <p:sp>
        <p:nvSpPr>
          <p:cNvPr id="13" name="Text 11"/>
          <p:cNvSpPr txBox="1"/>
          <p:nvPr/>
        </p:nvSpPr>
        <p:spPr>
          <a:xfrm>
            <a:off x="1444752" y="295122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شَرَّ الدَّوَآبِّ عِندَ اللَّهِ الصُّمُّ الْبُكْمُ الَّذِينَ لَا يَعْقِلُونَ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worst of creatures with Allah are those deaf to the truth and dumb to speaking it, who do not use their minds.</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23</a:t>
            </a:r>
            <a:endParaRPr lang="en-US" sz="1600" dirty="0"/>
          </a:p>
        </p:txBody>
      </p:sp>
      <p:sp>
        <p:nvSpPr>
          <p:cNvPr id="18" name="Text 16"/>
          <p:cNvSpPr txBox="1"/>
          <p:nvPr/>
        </p:nvSpPr>
        <p:spPr>
          <a:xfrm>
            <a:off x="1444752" y="460629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وَلَوْ عَلِمَ اللَّهُ فِيهِمْ خَيْرًا لَّأَسْمَعَهُمْ وَلَوْ أَسْمَعَهُمْ لَتَوَلَّواْ وَّهُم مُّعْرِضُونَ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Allah had known any good in them, He would have made them hear in a way that benefits them; and even if He made them hear, they would turn away out of stubbornness.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Al-Anfal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24 – 25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24</a:t>
            </a:r>
            <a:endParaRPr lang="en-US" sz="1600" dirty="0"/>
          </a:p>
        </p:txBody>
      </p:sp>
      <p:sp>
        <p:nvSpPr>
          <p:cNvPr id="8" name="Text 6"/>
          <p:cNvSpPr txBox="1"/>
          <p:nvPr/>
        </p:nvSpPr>
        <p:spPr>
          <a:xfrm>
            <a:off x="1444752" y="184937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الَّذِينَ ءَامَنُواْ اسْتَجِيبُواْ لِلَّهِ وَلِلرَّسُولِ إِذَا دَعَاكُمْ لِمَا يُحْيِيكُمْ وَاعْلَمُواْ أَنَّ اللَّهَ يَحُولُ بَيْنَ الْمَرْءِ وَقَلْبِهِ وَأَنَّهُ إِلَيْهِ تُحْشَرُونَ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believers, respond to Allah and the Messenger when he calls you to what gives life to your hearts through faith. Know that Allah comes between a person and his heart, and that to Him you will be gathered.</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25</a:t>
            </a:r>
            <a:endParaRPr lang="en-US" sz="1600" dirty="0"/>
          </a:p>
        </p:txBody>
      </p:sp>
      <p:sp>
        <p:nvSpPr>
          <p:cNvPr id="13" name="Text 11"/>
          <p:cNvSpPr txBox="1"/>
          <p:nvPr/>
        </p:nvSpPr>
        <p:spPr>
          <a:xfrm>
            <a:off x="1444752" y="431368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وَاتَّقُواْ فِتْنَةً لَّا تُصِيبَنَّ الَّذِينَ ظَلَمُواْ مِنكُمْ خَآصَّةً وَاعْلَمُواْ أَنَّ اللَّهَ شَدِيدُ الْعِقَابِ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Beware of a punishment that does not strike only the wrongdoers among you but everyone, if they stay silent about evil. Know that Allah is severe in punishment.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Al-Anfal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26 – 27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26</a:t>
            </a:r>
            <a:endParaRPr lang="en-US" sz="1600" dirty="0"/>
          </a:p>
        </p:txBody>
      </p:sp>
      <p:sp>
        <p:nvSpPr>
          <p:cNvPr id="8" name="Text 6"/>
          <p:cNvSpPr txBox="1"/>
          <p:nvPr/>
        </p:nvSpPr>
        <p:spPr>
          <a:xfrm>
            <a:off x="1444752" y="184937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وَاذْكُرُواْ إِذْ أَنتُمْ قَلِيلٌ مُّسْتَضْعَفُونَ فِي الْأَرْضِ تَخَافُونَ أَن يَتَخَطَّفَكُمُ النَّاسُ فَـَٔاوَىٰكُمْ وَأَيَّدَكُم بِنَصْرِهِ وَرَزَقَكُم مِّنَ الطَّيِّبَٰتِ لَعَلَّكُمْ تَشْكُرُونَ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Remember when you were few and weak in Makkah, afraid that people would snatch you away. Then He gave you shelter in Madinah, strengthened you with His help at Badr, and provided you with good things so that you may be thankful.</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27</a:t>
            </a:r>
            <a:endParaRPr lang="en-US" sz="1600" dirty="0"/>
          </a:p>
        </p:txBody>
      </p:sp>
      <p:sp>
        <p:nvSpPr>
          <p:cNvPr id="13" name="Text 11"/>
          <p:cNvSpPr txBox="1"/>
          <p:nvPr/>
        </p:nvSpPr>
        <p:spPr>
          <a:xfrm>
            <a:off x="1444752" y="431368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الَّذِينَ ءَامَنُواْ لَا تَخُونُواْ اللَّهَ وَالرَّسُولَ وَتَخُونُواْ أَمَٰنَٰتِكُمْ وَأَنتُمْ تَعْلَمُونَ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believers, do not betray Allah and the Messenger by leaving obedience, and do not betray what you are trusted with while you know.</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Al-Anfal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28 – 29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28</a:t>
            </a:r>
            <a:endParaRPr lang="en-US" sz="1600" dirty="0"/>
          </a:p>
        </p:txBody>
      </p:sp>
      <p:sp>
        <p:nvSpPr>
          <p:cNvPr id="8" name="Text 6"/>
          <p:cNvSpPr txBox="1"/>
          <p:nvPr/>
        </p:nvSpPr>
        <p:spPr>
          <a:xfrm>
            <a:off x="1444752" y="197967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وَاعْلَمُواْ أَنَّمَآ أَمْوَٰلُكُمْ وَأَوْلَٰدُكُمْ فِتْنَةٌ وَأَنَّ اللَّهَ عِندَهُ أَجْرٌ عَظِيمٌ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Know that your wealth and your children are a test, and that with Allah is a great reward for those who obey Him.</a:t>
            </a:r>
            <a:endParaRPr lang="en-US" sz="3000" dirty="0"/>
          </a:p>
        </p:txBody>
      </p:sp>
      <p:sp>
        <p:nvSpPr>
          <p:cNvPr id="9" name="Shape 7"/>
          <p:cNvSpPr/>
          <p:nvPr/>
        </p:nvSpPr>
        <p:spPr>
          <a:xfrm>
            <a:off x="1444752" y="3419856"/>
            <a:ext cx="8641080" cy="0"/>
          </a:xfrm>
          <a:prstGeom prst="line">
            <a:avLst/>
          </a:prstGeom>
          <a:noFill/>
          <a:ln w="9525">
            <a:solidFill>
              <a:schemeClr val="accent2"/>
            </a:solidFill>
            <a:prstDash val="dash"/>
          </a:ln>
        </p:spPr>
      </p:sp>
      <p:sp>
        <p:nvSpPr>
          <p:cNvPr id="10" name="Shape 8"/>
          <p:cNvSpPr/>
          <p:nvPr/>
        </p:nvSpPr>
        <p:spPr>
          <a:xfrm>
            <a:off x="713232" y="3653028"/>
            <a:ext cx="548640" cy="548640"/>
          </a:xfrm>
          <a:prstGeom prst="star8">
            <a:avLst/>
          </a:prstGeom>
          <a:solidFill>
            <a:schemeClr val="accent2"/>
          </a:solidFill>
          <a:ln/>
        </p:spPr>
      </p:sp>
      <p:sp>
        <p:nvSpPr>
          <p:cNvPr id="11" name="Shape 9"/>
          <p:cNvSpPr/>
          <p:nvPr/>
        </p:nvSpPr>
        <p:spPr>
          <a:xfrm>
            <a:off x="822960" y="376275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5302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29</a:t>
            </a:r>
            <a:endParaRPr lang="en-US" sz="1600" dirty="0"/>
          </a:p>
        </p:txBody>
      </p:sp>
      <p:sp>
        <p:nvSpPr>
          <p:cNvPr id="13" name="Text 11"/>
          <p:cNvSpPr txBox="1"/>
          <p:nvPr/>
        </p:nvSpPr>
        <p:spPr>
          <a:xfrm>
            <a:off x="1444752" y="363474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الَّذِينَ ءَامَنُواْ إِن تَتَّقُواْ اللَّهَ يَجْعَل لَّكُمْ فُرْقَانًا وَيُكَفِّرْ عَنكُمْ سَيِّـَٔاتِكُمْ وَيَغْفِرْ لَكُمْ وَاللَّهُ ذُو الْفَضْلِ الْعَظِيمِ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believers, if you have taqwa of Allah, He will give you a light by which you can tell truth from falsehood, wipe away your bad deeds and forgive you. Allah is the Owner of great favour.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000" b="1" dirty="0">
                <a:solidFill>
                  <a:schemeClr val="accent2"/>
                </a:solidFill>
                <a:latin typeface="Georgia" pitchFamily="34" charset="0"/>
                <a:ea typeface="Georgia" pitchFamily="34" charset="-122"/>
                <a:cs typeface="Georgia" pitchFamily="34" charset="-120"/>
              </a:rPr>
              <a:t>The Plots of Quraysh</a:t>
            </a:r>
            <a:endParaRPr lang="en-US" sz="30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3 of 5</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30 – 40</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Al-Anfal • Madani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Anas ibn Malik (may Allah be pleased with him) said: Abu Jahl said: “O Allah, if this is the truth from You, rain down stones on us from the sky or bring us a painful punishment”. So this was revealed: “But Allah would not punish them while you were among them, nor would Allah punish them while they ask forgiveness” (Bukhari).</a:t>
            </a:r>
            <a:endParaRPr lang="en-US" sz="15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A reminder of how Quraysh plotted against the Prophet (peace be upon him) before the Hijrah, their stubbornness, their spending to block people from Allah's way, and that the door of repentance is open to them.</a:t>
            </a:r>
            <a:endParaRPr lang="en-US" sz="1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Al-Anfal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30 – 31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30</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 يَمْكُرُ بِكَ الَّذِينَ كَفَرُواْ لِيُثْبِتُوكَ أَوْ يَقْتُلُوكَ أَوْ يُخْرِجُوكَ وَيَمْكُرُونَ وَيَمْكُرُ اللَّهُ وَاللَّهُ خَيْرُ الْمَٰكِرِينَ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Remember when the disbelievers in Makkah plotted against you to imprison you, kill you, or drive you out. They plot, and Allah plans against them, and Allah is the best of planners.</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31</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تُتْلَىٰ عَلَيْهِمْ ءَايَٰتُنَا قَالُواْ قَدْ سَمِعْنَا لَوْ نَشَآءُ لَقُلْنَا مِثْلَ هَٰذَآ إِنْ هَٰذَآ إِلَّآ أَسَٰطِيرُ الْأَوَّلِينَ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Our verses are recited to them they say: We have heard. If we wished, we could say the like of this. These are nothing but the tales of the ancients.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Al-Anfal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32 – 33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32</a:t>
            </a:r>
            <a:endParaRPr lang="en-US" sz="1600" dirty="0"/>
          </a:p>
        </p:txBody>
      </p:sp>
      <p:sp>
        <p:nvSpPr>
          <p:cNvPr id="8" name="Text 6"/>
          <p:cNvSpPr txBox="1"/>
          <p:nvPr/>
        </p:nvSpPr>
        <p:spPr>
          <a:xfrm>
            <a:off x="1444752" y="197967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 قَالُواْ اللَّهُمَّ إِن كَانَ هَٰذَا هُوَ الْحَقَّ مِنْ عِندِكَ فَأَمْطِرْ عَلَيْنَا حِجَارَةً مِّنَ السَّمَآءِ أَوِ ائْتِنَا بِعَذَابٍ أَلِيمٍ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when they said: O Allah, if this is the truth from You, rain down stones on us from the sky or bring us a painful punishment.</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201668"/>
            <a:ext cx="548640" cy="548640"/>
          </a:xfrm>
          <a:prstGeom prst="star8">
            <a:avLst/>
          </a:prstGeom>
          <a:solidFill>
            <a:schemeClr val="accent2"/>
          </a:solidFill>
          <a:ln/>
        </p:spPr>
      </p:sp>
      <p:sp>
        <p:nvSpPr>
          <p:cNvPr id="11" name="Shape 9"/>
          <p:cNvSpPr/>
          <p:nvPr/>
        </p:nvSpPr>
        <p:spPr>
          <a:xfrm>
            <a:off x="822960" y="431139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33</a:t>
            </a:r>
            <a:endParaRPr lang="en-US" sz="1600" dirty="0"/>
          </a:p>
        </p:txBody>
      </p:sp>
      <p:sp>
        <p:nvSpPr>
          <p:cNvPr id="13" name="Text 11"/>
          <p:cNvSpPr txBox="1"/>
          <p:nvPr/>
        </p:nvSpPr>
        <p:spPr>
          <a:xfrm>
            <a:off x="1444752" y="418338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كَانَ اللَّهُ لِيُعَذِّبَهُمْ وَأَنتَ فِيهِمْ وَمَا كَانَ اللَّهُ مُعَذِّبَهُمْ وَهُمْ يَسْتَغْفِرُونَ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Allah would not punish them while you were among them, and Allah would not punish them while they ask forgiveness.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Al-Anfal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34 – 35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34</a:t>
            </a:r>
            <a:endParaRPr lang="en-US" sz="1600" dirty="0"/>
          </a:p>
        </p:txBody>
      </p:sp>
      <p:sp>
        <p:nvSpPr>
          <p:cNvPr id="8" name="Text 6"/>
          <p:cNvSpPr txBox="1"/>
          <p:nvPr/>
        </p:nvSpPr>
        <p:spPr>
          <a:xfrm>
            <a:off x="1444752" y="197967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لَهُمْ أَلَّا يُعَذِّبَهُمُ اللَّهُ وَهُمْ يَصُدُّونَ عَنِ الْمَسْجِدِ الْحَرَامِ وَمَا كَانُواْ أَوْلِيَآءَهُ إِنْ أَوْلِيَآؤُهُ إِلَّا الْمُتَّقُونَ وَلَٰكِنَّ أَكْثَرَهُمْ لَا يَعْلَمُونَ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Why should Allah not punish them when they block the believers from Al-Masjid Al-Haram and are not its guardians? Its only guardians are those with taqwa, but most of them do not know.</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201668"/>
            <a:ext cx="548640" cy="548640"/>
          </a:xfrm>
          <a:prstGeom prst="star8">
            <a:avLst/>
          </a:prstGeom>
          <a:solidFill>
            <a:schemeClr val="accent2"/>
          </a:solidFill>
          <a:ln/>
        </p:spPr>
      </p:sp>
      <p:sp>
        <p:nvSpPr>
          <p:cNvPr id="11" name="Shape 9"/>
          <p:cNvSpPr/>
          <p:nvPr/>
        </p:nvSpPr>
        <p:spPr>
          <a:xfrm>
            <a:off x="822960" y="431139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35</a:t>
            </a:r>
            <a:endParaRPr lang="en-US" sz="1600" dirty="0"/>
          </a:p>
        </p:txBody>
      </p:sp>
      <p:sp>
        <p:nvSpPr>
          <p:cNvPr id="13" name="Text 11"/>
          <p:cNvSpPr txBox="1"/>
          <p:nvPr/>
        </p:nvSpPr>
        <p:spPr>
          <a:xfrm>
            <a:off x="1444752" y="418338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كَانَ صَلَاتُهُمْ عِندَ الْبَيْتِ إِلَّا مُكَآءً وَتَصْدِيَةً فَذُوقُواْ الْعَذَابَ بِمَا كُنتُمْ تَكْفُرُونَ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Their worship at the House was nothing but whistling and clapping, so taste the punishment at Badr for your disbelief.</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Al-Anfal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36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695194"/>
            <a:ext cx="548640" cy="548640"/>
          </a:xfrm>
          <a:prstGeom prst="star8">
            <a:avLst/>
          </a:prstGeom>
          <a:solidFill>
            <a:schemeClr val="accent2"/>
          </a:solidFill>
          <a:ln/>
        </p:spPr>
      </p:sp>
      <p:sp>
        <p:nvSpPr>
          <p:cNvPr id="6" name="Shape 4"/>
          <p:cNvSpPr/>
          <p:nvPr/>
        </p:nvSpPr>
        <p:spPr>
          <a:xfrm>
            <a:off x="822960" y="280492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69519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36</a:t>
            </a:r>
            <a:endParaRPr lang="en-US" sz="1600" dirty="0"/>
          </a:p>
        </p:txBody>
      </p:sp>
      <p:sp>
        <p:nvSpPr>
          <p:cNvPr id="8" name="Text 6"/>
          <p:cNvSpPr txBox="1"/>
          <p:nvPr/>
        </p:nvSpPr>
        <p:spPr>
          <a:xfrm>
            <a:off x="1444752" y="2676906"/>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الَّذِينَ كَفَرُواْ يُنفِقُونَ أَمْوَٰلَهُمْ لِيَصُدُّواْ عَن سَبِيلِ اللَّهِ فَسَيُنفِقُونَهَا ثُمَّ تَكُونُ عَلَيْهِمْ حَسْرَةً ثُمَّ يُغْلَبُونَ وَالَّذِينَ كَفَرُواْ إِلَىٰ جَهَنَّمَ يُحْشَرُونَ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disbelievers spend their wealth to block people from Allah's religion. They will spend it, then it will become a regret for them, then they will be defeated, and the disbelievers will be gathered to Hell,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Al-Anfal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37 – 38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37</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لِيَمِيزَ اللَّهُ الْخَبِيثَ مِنَ الطَّيِّبِ وَيَجْعَلَ الْخَبِيثَ بَعْضَهُ عَلَىٰ بَعْضٍ فَيَرْكُمَهُ جَمِيعًا فَيَجْعَلَهُ فِي جَهَنَّمَ أُوْلَـٰئِكَ هُمُ الْخَٰسِرُونَ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that Allah may separate the bad disbeliever from the good believer, pile the bad ones on top of one another, heap them all together and put them into Hell. They are the losers.</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38</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لِّلَّذِينَ كَفَرُواْ إِن يَنتَهُواْ يُغْفَرْ لَهُم مَّا قَدْ سَلَفَ وَإِن يَعُودُواْ فَقَدْ مَضَتْ سُنَّتُ الْأَوَّلِينَ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to the disbelievers: If they stop disbelieving, what has passed will be forgiven them; but if they return, Allah's way with the earlier nations has already passed.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Al-Anfal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39 – 40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128266"/>
            <a:ext cx="548640" cy="548640"/>
          </a:xfrm>
          <a:prstGeom prst="star8">
            <a:avLst/>
          </a:prstGeom>
          <a:solidFill>
            <a:schemeClr val="accent2"/>
          </a:solidFill>
          <a:ln/>
        </p:spPr>
      </p:sp>
      <p:sp>
        <p:nvSpPr>
          <p:cNvPr id="6" name="Shape 4"/>
          <p:cNvSpPr/>
          <p:nvPr/>
        </p:nvSpPr>
        <p:spPr>
          <a:xfrm>
            <a:off x="822960" y="223799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12826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39</a:t>
            </a:r>
            <a:endParaRPr lang="en-US" sz="1600" dirty="0"/>
          </a:p>
        </p:txBody>
      </p:sp>
      <p:sp>
        <p:nvSpPr>
          <p:cNvPr id="8" name="Text 6"/>
          <p:cNvSpPr txBox="1"/>
          <p:nvPr/>
        </p:nvSpPr>
        <p:spPr>
          <a:xfrm>
            <a:off x="1444752" y="210997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وَقَٰتِلُوهُمْ حَتَّىٰ لَا تَكُونَ فِتْنَةٌ وَيَكُونَ الدِّينُ كُلُّهُ لِلَّهِ فَإِنِ انتَهَوْاْ فَإِنَّ اللَّهَ بِمَا يَعْمَلُونَ بَصِيرٌ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Fight them until there is no more shirk and no blocking from Allah's religion, and the religion is all for Allah. If they stop, Allah sees what they do.</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40</a:t>
            </a:r>
            <a:endParaRPr lang="en-US" sz="1600" dirty="0"/>
          </a:p>
        </p:txBody>
      </p:sp>
      <p:sp>
        <p:nvSpPr>
          <p:cNvPr id="13" name="Text 11"/>
          <p:cNvSpPr txBox="1"/>
          <p:nvPr/>
        </p:nvSpPr>
        <p:spPr>
          <a:xfrm>
            <a:off x="1444752" y="431368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 تَوَلَّوْاْ فَاعْلَمُواْ أَنَّ اللَّهَ مَوْلَىٰكُمْ نِعْمَ الْمَوْلَىٰ وَنِعْمَ النَّصِيرُ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they turn away, know that Allah is your Protector, the best Protector and the best Helper.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2300" b="1" dirty="0">
                <a:solidFill>
                  <a:schemeClr val="accent2"/>
                </a:solidFill>
                <a:latin typeface="Georgia" pitchFamily="34" charset="0"/>
                <a:ea typeface="Georgia" pitchFamily="34" charset="-122"/>
                <a:cs typeface="Georgia" pitchFamily="34" charset="-120"/>
              </a:rPr>
              <a:t>War Gains; Battle Manners</a:t>
            </a:r>
            <a:endParaRPr lang="en-US" sz="23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4 of 5</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41 – 54</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Al-Anfal • Madani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No specific, well-known reason for revelation is reported for this section; it was revealed to remind and guide people.</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Dividing the war gains, how Allah arranged the Battle of Badr so the two sides met, the manners of meeting the enemy: standing firm, remembering Allah, obeying and not quarrelling, and Satan abandoning his friends.</a:t>
            </a:r>
            <a:endParaRPr lang="en-US" sz="17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Al-Anfal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41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290572"/>
            <a:ext cx="548640" cy="548640"/>
          </a:xfrm>
          <a:prstGeom prst="star8">
            <a:avLst/>
          </a:prstGeom>
          <a:solidFill>
            <a:schemeClr val="accent2"/>
          </a:solidFill>
          <a:ln/>
        </p:spPr>
      </p:sp>
      <p:sp>
        <p:nvSpPr>
          <p:cNvPr id="6" name="Shape 4"/>
          <p:cNvSpPr/>
          <p:nvPr/>
        </p:nvSpPr>
        <p:spPr>
          <a:xfrm>
            <a:off x="822960" y="240030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2905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41</a:t>
            </a:r>
            <a:endParaRPr lang="en-US" sz="1600" dirty="0"/>
          </a:p>
        </p:txBody>
      </p:sp>
      <p:sp>
        <p:nvSpPr>
          <p:cNvPr id="8" name="Text 6"/>
          <p:cNvSpPr txBox="1"/>
          <p:nvPr/>
        </p:nvSpPr>
        <p:spPr>
          <a:xfrm>
            <a:off x="1444752" y="2272284"/>
            <a:ext cx="10012680" cy="287121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وَاعْلَمُواْ أَنَّمَا غَنِمْتُم مِّن شَيْءٍ فَأَنَّ لِلَّهِ خُمُسَهُ وَلِلرَّسُولِ وَلِذِي الْقُرْبَىٰ وَالْيَتَٰمَىٰ وَالْمَسَٰكِينِ وَابْنِ السَّبِيلِ إِن كُنتُمْ ءَامَنتُم بِاللَّهِ وَمَآ أَنزَلْنَا عَلَىٰ عَبْدِنَا يَوْمَ الْفُرْقَانِ يَوْمَ الْتَقَى الْجَمْعَانِ وَاللَّهُ عَلَىٰ كُلِّ شَيْءٍ قَدِيرٌ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Know that whatever you take as war gains from the disbelievers, one-fifth of it is for Allah and the Messenger, the Prophet's relatives, orphans, the poor and the needy traveller, if you believe in Allah and in what We sent down to Our servant on the Day of Badr, the day Allah separated truth from falsehood. Allah has power over all things.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Al-Anfal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42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160270"/>
            <a:ext cx="548640" cy="548640"/>
          </a:xfrm>
          <a:prstGeom prst="star8">
            <a:avLst/>
          </a:prstGeom>
          <a:solidFill>
            <a:schemeClr val="accent2"/>
          </a:solidFill>
          <a:ln/>
        </p:spPr>
      </p:sp>
      <p:sp>
        <p:nvSpPr>
          <p:cNvPr id="6" name="Shape 4"/>
          <p:cNvSpPr/>
          <p:nvPr/>
        </p:nvSpPr>
        <p:spPr>
          <a:xfrm>
            <a:off x="822960" y="226999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16027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42</a:t>
            </a:r>
            <a:endParaRPr lang="en-US" sz="1600" dirty="0"/>
          </a:p>
        </p:txBody>
      </p:sp>
      <p:sp>
        <p:nvSpPr>
          <p:cNvPr id="8" name="Text 6"/>
          <p:cNvSpPr txBox="1"/>
          <p:nvPr/>
        </p:nvSpPr>
        <p:spPr>
          <a:xfrm>
            <a:off x="1444752" y="2141982"/>
            <a:ext cx="10012680" cy="3131820"/>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إِذْ أَنتُم بِالْعُدْوَةِ الدُّنْيَا وَهُم بِالْعُدْوَةِ الْقُصْوَىٰ وَالرَّكْبُ أَسْفَلَ مِنكُمْ وَلَوْ تَوَاعَدتُّمْ لَاخْتَلَفْتُمْ فِي الْمِيعَٰدِ وَلَٰكِن لِّيَقْضِيَ اللَّهُ أَمْرًا كَانَ مَفْعُولًا لِّيَهْلِكَ مَنْ هَلَكَ عَن بَيِّنَةٍ وَيَحْيَىٰ مَنْ حَيَّ عَن بَيِّنَةٍ وَإِنَّ اللَّهَ لَسَمِيعٌ عَلِيمٌ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you were on the near side of the valley, close to Madinah, and they were on the far side, and the caravan was below you by the coast. If you had made an appointment to fight, you would have disagreed, but Allah brought you together to carry out a matter already decreed, so that those who perished would perish after clear proof, and those who lived would live after clear proof. Allah is All-Hearing, All-Knowing.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Al-Anfal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43 – 44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43</a:t>
            </a:r>
            <a:endParaRPr lang="en-US" sz="16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إِذْ يُرِيكَهُمُ اللَّهُ فِي مَنَامِكَ قَلِيلًا وَلَوْ أَرَىٰكَهُمْ كَثِيرًا لَّفَشِلْتُمْ وَلَتَنَٰزَعْتُمْ فِي الْأَمْرِ وَلَٰكِنَّ اللَّهَ سَلَّمَ إِنَّهُ عَلِيمٌ بِذَاتِ الصُّدُورِ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Allah showed them to you in your dream as few. If He had shown them to you as many, you would have lost heart and disagreed about fighting, but Allah saved you. He knows what is in the chests.</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44</a:t>
            </a:r>
            <a:endParaRPr lang="en-US" sz="16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 يُرِيكُمُوهُمْ إِذِ الْتَقَيْتُمْ فِي أَعْيُنِكُمْ قَلِيلًا وَيُقَلِّلُكُمْ فِي أَعْيُنِهِمْ لِيَقْضِيَ اللَّهُ أَمْرًا كَانَ مَفْعُولًا وَإِلَى اللَّهِ تُرْجَعُ الْأُمُورُ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when He showed them to you as few in your eyes when you met, and made you seem few in their eyes, so that Allah would carry out a matter already decreed. To Allah all matters return.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Al-Anfal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45 – 46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45</a:t>
            </a:r>
            <a:endParaRPr lang="en-US" sz="1600" dirty="0"/>
          </a:p>
        </p:txBody>
      </p:sp>
      <p:sp>
        <p:nvSpPr>
          <p:cNvPr id="8" name="Text 6"/>
          <p:cNvSpPr txBox="1"/>
          <p:nvPr/>
        </p:nvSpPr>
        <p:spPr>
          <a:xfrm>
            <a:off x="1444752" y="197967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الَّذِينَ ءَامَنُواْ إِذَا لَقِيتُمْ فِئَةً فَاثْبُتُواْ وَاذْكُرُواْ اللَّهَ كَثِيرًا لَّعَلَّكُمْ تُفْلِحُونَ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believers, when you meet an army of disbelievers, stand firm and remember Allah a lot so that you may succeed.</a:t>
            </a:r>
            <a:endParaRPr lang="en-US" sz="3000" dirty="0"/>
          </a:p>
        </p:txBody>
      </p:sp>
      <p:sp>
        <p:nvSpPr>
          <p:cNvPr id="9" name="Shape 7"/>
          <p:cNvSpPr/>
          <p:nvPr/>
        </p:nvSpPr>
        <p:spPr>
          <a:xfrm>
            <a:off x="1444752" y="3419856"/>
            <a:ext cx="8641080" cy="0"/>
          </a:xfrm>
          <a:prstGeom prst="line">
            <a:avLst/>
          </a:prstGeom>
          <a:noFill/>
          <a:ln w="9525">
            <a:solidFill>
              <a:schemeClr val="accent2"/>
            </a:solidFill>
            <a:prstDash val="dash"/>
          </a:ln>
        </p:spPr>
      </p:sp>
      <p:sp>
        <p:nvSpPr>
          <p:cNvPr id="10" name="Shape 8"/>
          <p:cNvSpPr/>
          <p:nvPr/>
        </p:nvSpPr>
        <p:spPr>
          <a:xfrm>
            <a:off x="713232" y="3653028"/>
            <a:ext cx="548640" cy="548640"/>
          </a:xfrm>
          <a:prstGeom prst="star8">
            <a:avLst/>
          </a:prstGeom>
          <a:solidFill>
            <a:schemeClr val="accent2"/>
          </a:solidFill>
          <a:ln/>
        </p:spPr>
      </p:sp>
      <p:sp>
        <p:nvSpPr>
          <p:cNvPr id="11" name="Shape 9"/>
          <p:cNvSpPr/>
          <p:nvPr/>
        </p:nvSpPr>
        <p:spPr>
          <a:xfrm>
            <a:off x="822960" y="376275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5302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46</a:t>
            </a:r>
            <a:endParaRPr lang="en-US" sz="1600" dirty="0"/>
          </a:p>
        </p:txBody>
      </p:sp>
      <p:sp>
        <p:nvSpPr>
          <p:cNvPr id="13" name="Text 11"/>
          <p:cNvSpPr txBox="1"/>
          <p:nvPr/>
        </p:nvSpPr>
        <p:spPr>
          <a:xfrm>
            <a:off x="1444752" y="363474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وَأَطِيعُواْ اللَّهَ وَرَسُولَهُ وَلَا تَنَٰزَعُواْ فَتَفْشَلُواْ وَتَذْهَبَ رِيحُكُمْ وَاصْبِرُواْ إِنَّ اللَّهَ مَعَ الصَّـٰبِرِينَ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Obey Allah and His Messenger, and do not quarrel, or you will lose heart and your strength will go. Be patient; Allah is with the patient.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Al-Anfal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47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825496"/>
            <a:ext cx="548640" cy="548640"/>
          </a:xfrm>
          <a:prstGeom prst="star8">
            <a:avLst/>
          </a:prstGeom>
          <a:solidFill>
            <a:schemeClr val="accent2"/>
          </a:solidFill>
          <a:ln/>
        </p:spPr>
      </p:sp>
      <p:sp>
        <p:nvSpPr>
          <p:cNvPr id="6" name="Shape 4"/>
          <p:cNvSpPr/>
          <p:nvPr/>
        </p:nvSpPr>
        <p:spPr>
          <a:xfrm>
            <a:off x="822960" y="293522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47</a:t>
            </a:r>
            <a:endParaRPr lang="en-US" sz="1600" dirty="0"/>
          </a:p>
        </p:txBody>
      </p:sp>
      <p:sp>
        <p:nvSpPr>
          <p:cNvPr id="8" name="Text 6"/>
          <p:cNvSpPr txBox="1"/>
          <p:nvPr/>
        </p:nvSpPr>
        <p:spPr>
          <a:xfrm>
            <a:off x="1444752" y="280720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وَلَا تَكُونُواْ كَالَّذِينَ خَرَجُواْ مِن دِيَٰرِهِم بَطَرًا وَرِئَآءَ النَّاسِ وَيَصُدُّونَ عَن سَبِيلِ اللَّهِ وَاللَّهُ بِمَا يَعْمَلُونَ مُحِيطٌ</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not be like the idol-worshippers who left their homes for Badr arrogantly, showing off to people and blocking others from Allah's religion. Allah surrounds what they do.</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Al-Anfal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48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290572"/>
            <a:ext cx="548640" cy="548640"/>
          </a:xfrm>
          <a:prstGeom prst="star8">
            <a:avLst/>
          </a:prstGeom>
          <a:solidFill>
            <a:schemeClr val="accent2"/>
          </a:solidFill>
          <a:ln/>
        </p:spPr>
      </p:sp>
      <p:sp>
        <p:nvSpPr>
          <p:cNvPr id="6" name="Shape 4"/>
          <p:cNvSpPr/>
          <p:nvPr/>
        </p:nvSpPr>
        <p:spPr>
          <a:xfrm>
            <a:off x="822960" y="240030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2905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48</a:t>
            </a:r>
            <a:endParaRPr lang="en-US" sz="1600" dirty="0"/>
          </a:p>
        </p:txBody>
      </p:sp>
      <p:sp>
        <p:nvSpPr>
          <p:cNvPr id="8" name="Text 6"/>
          <p:cNvSpPr txBox="1"/>
          <p:nvPr/>
        </p:nvSpPr>
        <p:spPr>
          <a:xfrm>
            <a:off x="1444752" y="2272284"/>
            <a:ext cx="10012680" cy="287121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 زَيَّنَ لَهُمُ الشَّيْطَٰنُ أَعْمَٰلَهُمْ وَقَالَ لَا غَالِبَ لَكُمُ الْيَوْمَ مِنَ النَّاسِ وَإِنِّي جَارٌ لَّكُمْ فَلَمَّا تَرَآءَتِ الْفِئَتَانِ نَكَصَ عَلَىٰ عَقِبَيْهِ وَقَالَ إِنِّي بَرِيءٌ مِّنكُمْ إِنِّي أَرَىٰ مَا لَا تَرَوْنَ إِنِّي أَخَافُ اللَّهَ وَاللَّهُ شَدِيدُ الْعِقَابِ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Remember when Satan made their deeds look good to them and said: No one can defeat you today, and I am your helper. But when the two armies faced each other, he turned back running and said: I have nothing to do with you; I see what you do not see. I fear Allah, and Allah is severe in punishment.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Al-Anfal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49 – 50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49</a:t>
            </a:r>
            <a:endParaRPr lang="en-US" sz="16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إِذْ يَقُولُ الْمُنَٰفِقُونَ وَالَّذِينَ فِي قُلُوبِهِم مَّرَضٌ غَرَّ هَـٰؤُلَآءِ دِينُهُمْ وَمَن يَتَوَكَّلْ عَلَى اللَّهِ فَإِنَّ اللَّهَ عَزِيزٌ حَكِيمٌ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 hypocrites and those with doubt in their hearts said: Their religion has fooled these Muslims into going out few against many. But whoever puts his trust in Allah, Allah is Almighty, All-Wise.</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50</a:t>
            </a:r>
            <a:endParaRPr lang="en-US" sz="16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وَلَوْ تَرَىٰ إِذْ يَتَوَفَّى الَّذِينَ كَفَرُواْ الْمَلَـٰئِكَةُ يَضْرِبُونَ وُجُوهَهُمْ وَأَدْبَٰرَهُمْ وَذُوقُواْ عَذَابَ الْحَرِيقِ</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only you could see when the angels take the souls of the disbelievers, striking their faces and their backs and saying: Taste the punishment of the burning Fire.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Al-Anfal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51 – 52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51</a:t>
            </a:r>
            <a:endParaRPr lang="en-US" sz="1600" dirty="0"/>
          </a:p>
        </p:txBody>
      </p:sp>
      <p:sp>
        <p:nvSpPr>
          <p:cNvPr id="8" name="Text 6"/>
          <p:cNvSpPr txBox="1"/>
          <p:nvPr/>
        </p:nvSpPr>
        <p:spPr>
          <a:xfrm>
            <a:off x="1444752" y="197967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ذَٰلِكَ بِمَا قَدَّمَتْ أَيْدِيكُمْ وَأَنَّ اللَّهَ لَيْسَ بِظَلَّـٰمٍ لِّلْعَبِيدِ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That punishment is for the disbelief and sins your hands sent ahead, and Allah is never unjust to His servants.</a:t>
            </a:r>
            <a:endParaRPr lang="en-US" sz="3000" dirty="0"/>
          </a:p>
        </p:txBody>
      </p:sp>
      <p:sp>
        <p:nvSpPr>
          <p:cNvPr id="9" name="Shape 7"/>
          <p:cNvSpPr/>
          <p:nvPr/>
        </p:nvSpPr>
        <p:spPr>
          <a:xfrm>
            <a:off x="1444752" y="3419856"/>
            <a:ext cx="8641080" cy="0"/>
          </a:xfrm>
          <a:prstGeom prst="line">
            <a:avLst/>
          </a:prstGeom>
          <a:noFill/>
          <a:ln w="9525">
            <a:solidFill>
              <a:schemeClr val="accent2"/>
            </a:solidFill>
            <a:prstDash val="dash"/>
          </a:ln>
        </p:spPr>
      </p:sp>
      <p:sp>
        <p:nvSpPr>
          <p:cNvPr id="10" name="Shape 8"/>
          <p:cNvSpPr/>
          <p:nvPr/>
        </p:nvSpPr>
        <p:spPr>
          <a:xfrm>
            <a:off x="713232" y="3653028"/>
            <a:ext cx="548640" cy="548640"/>
          </a:xfrm>
          <a:prstGeom prst="star8">
            <a:avLst/>
          </a:prstGeom>
          <a:solidFill>
            <a:schemeClr val="accent2"/>
          </a:solidFill>
          <a:ln/>
        </p:spPr>
      </p:sp>
      <p:sp>
        <p:nvSpPr>
          <p:cNvPr id="11" name="Shape 9"/>
          <p:cNvSpPr/>
          <p:nvPr/>
        </p:nvSpPr>
        <p:spPr>
          <a:xfrm>
            <a:off x="822960" y="376275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5302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52</a:t>
            </a:r>
            <a:endParaRPr lang="en-US" sz="1600" dirty="0"/>
          </a:p>
        </p:txBody>
      </p:sp>
      <p:sp>
        <p:nvSpPr>
          <p:cNvPr id="13" name="Text 11"/>
          <p:cNvSpPr txBox="1"/>
          <p:nvPr/>
        </p:nvSpPr>
        <p:spPr>
          <a:xfrm>
            <a:off x="1444752" y="363474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كَدَأْبِ ءَالِ فِرْعَوْنَ وَالَّذِينَ مِن قَبْلِهِمْ كَفَرُواْ بِـَٔايَٰتِ اللَّهِ فَأَخَذَهُمُ اللَّهُ بِذُنُوبِهِمْ إِنَّ اللَّهَ قَوِيٌّ شَدِيدُ الْعِقَابِ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are like Pharaoh's people and those before them: they disbelieved in Allah's signs, so Allah destroyed them for their sins. Allah is Strong, severe in punishment.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Al-Anfal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53 – 54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53</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ذَٰلِكَ بِأَنَّ اللَّهَ لَمْ يَكُ مُغَيِّرًا نِّعْمَةً أَنْعَمَهَا عَلَىٰ قَوْمٍ حَتَّىٰ يُغَيِّرُواْ مَا بِأَنفُسِهِمْ وَأَنَّ اللَّهَ سَمِيعٌ عَلِيمٌ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That is because Allah never changes a blessing He has given a people until they change what is in themselves from obedience to disobedience, and Allah is All-Hearing, All-Knowing.</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54</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كَدَأْبِ ءَالِ فِرْعَوْنَ وَالَّذِينَ مِن قَبْلِهِمْ كَذَّبُواْ بِـَٔايَٰتِ رَبِّهِمْ فَأَهْلَكْنَٰهُم بِذُنُوبِهِمْ وَأَغْرَقْنَآ ءَالَ فِرْعَوْنَ وَكُلٌّ كَانُواْ ظَٰلِمِينَ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Like Pharaoh's people and those before them who denied their Lord's signs, so We destroyed them for their sins and drowned Pharaoh's people; they were all wrongdoers.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2500" b="1" dirty="0">
                <a:solidFill>
                  <a:schemeClr val="accent2"/>
                </a:solidFill>
                <a:latin typeface="Georgia" pitchFamily="34" charset="0"/>
                <a:ea typeface="Georgia" pitchFamily="34" charset="-122"/>
                <a:cs typeface="Georgia" pitchFamily="34" charset="-120"/>
              </a:rPr>
              <a:t>Treaties and Captives</a:t>
            </a:r>
            <a:endParaRPr lang="en-US" sz="25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5 of 5</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55 – 75</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Al-Anfal • Madani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400" dirty="0">
                <a:solidFill>
                  <a:schemeClr val="tx1"/>
                </a:solidFill>
                <a:latin typeface="Arial" pitchFamily="34" charset="0"/>
                <a:ea typeface="Arial" pitchFamily="34" charset="-122"/>
                <a:cs typeface="Arial" pitchFamily="34" charset="-120"/>
              </a:rPr>
              <a:t>Ibn 'Abbas (may Allah be pleased with them) said: When the captives were taken at Badr, the Prophet (peace be upon him) consulted Abu Bakr and 'Umar. Abu Bakr advised ransom and 'Umar advised killing them, and the Prophet (peace be upon him) took Abu Bakr's view, so this was revealed: “It is not right for a prophet to take captives until he has fought hard in the land” (Muslim).</a:t>
            </a:r>
            <a:endParaRPr lang="en-US" sz="14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Dealing with those who break treaties, the command to prepare strength, accepting peace, Allah joining the believers' hearts, the ruling on the captives of Badr, and the alliance of the Muhajirun and the Ansar.</a:t>
            </a:r>
            <a:endParaRPr lang="en-US" sz="17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Al-Anfal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55 – 57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55</a:t>
            </a:r>
            <a:endParaRPr lang="en-US" sz="1600" dirty="0"/>
          </a:p>
        </p:txBody>
      </p:sp>
      <p:sp>
        <p:nvSpPr>
          <p:cNvPr id="8" name="Text 6"/>
          <p:cNvSpPr txBox="1"/>
          <p:nvPr/>
        </p:nvSpPr>
        <p:spPr>
          <a:xfrm>
            <a:off x="1444752" y="168706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شَرَّ الدَّوَآبِّ عِندَ اللَّهِ الَّذِينَ كَفَرُواْ فَهُمْ لَا يُؤْمِنُونَ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worst of creatures with Allah are those who disbelieve and will not believe,</a:t>
            </a:r>
            <a:endParaRPr lang="en-US" sz="3000" dirty="0"/>
          </a:p>
        </p:txBody>
      </p:sp>
      <p:sp>
        <p:nvSpPr>
          <p:cNvPr id="9" name="Shape 7"/>
          <p:cNvSpPr/>
          <p:nvPr/>
        </p:nvSpPr>
        <p:spPr>
          <a:xfrm>
            <a:off x="1444752" y="2866644"/>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56</a:t>
            </a:r>
            <a:endParaRPr lang="en-US" sz="1600" dirty="0"/>
          </a:p>
        </p:txBody>
      </p:sp>
      <p:sp>
        <p:nvSpPr>
          <p:cNvPr id="13" name="Text 11"/>
          <p:cNvSpPr txBox="1"/>
          <p:nvPr/>
        </p:nvSpPr>
        <p:spPr>
          <a:xfrm>
            <a:off x="1444752" y="308152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الَّذِينَ عَٰهَدتَّ مِنْهُمْ ثُمَّ يَنقُضُونَ عَهْدَهُمْ فِي كُلِّ مَرَّةٍ وَهُمْ لَا يَتَّقُونَ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you made a treaty with, who then break their treaty every time and do not fear Allah.</a:t>
            </a:r>
            <a:endParaRPr lang="en-US" sz="3000" dirty="0"/>
          </a:p>
        </p:txBody>
      </p:sp>
      <p:sp>
        <p:nvSpPr>
          <p:cNvPr id="14" name="Shape 12"/>
          <p:cNvSpPr/>
          <p:nvPr/>
        </p:nvSpPr>
        <p:spPr>
          <a:xfrm>
            <a:off x="1444752" y="4261104"/>
            <a:ext cx="8641080" cy="0"/>
          </a:xfrm>
          <a:prstGeom prst="line">
            <a:avLst/>
          </a:prstGeom>
          <a:noFill/>
          <a:ln w="9525">
            <a:solidFill>
              <a:schemeClr val="accent2"/>
            </a:solidFill>
            <a:prstDash val="dash"/>
          </a:ln>
        </p:spPr>
      </p:sp>
      <p:sp>
        <p:nvSpPr>
          <p:cNvPr id="15" name="Shape 13"/>
          <p:cNvSpPr/>
          <p:nvPr/>
        </p:nvSpPr>
        <p:spPr>
          <a:xfrm>
            <a:off x="713232" y="4494276"/>
            <a:ext cx="548640" cy="548640"/>
          </a:xfrm>
          <a:prstGeom prst="star8">
            <a:avLst/>
          </a:prstGeom>
          <a:solidFill>
            <a:schemeClr val="accent2"/>
          </a:solidFill>
          <a:ln/>
        </p:spPr>
      </p:sp>
      <p:sp>
        <p:nvSpPr>
          <p:cNvPr id="16" name="Shape 14"/>
          <p:cNvSpPr/>
          <p:nvPr/>
        </p:nvSpPr>
        <p:spPr>
          <a:xfrm>
            <a:off x="822960" y="46040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4942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57</a:t>
            </a:r>
            <a:endParaRPr lang="en-US" sz="1600" dirty="0"/>
          </a:p>
        </p:txBody>
      </p:sp>
      <p:sp>
        <p:nvSpPr>
          <p:cNvPr id="18" name="Text 16"/>
          <p:cNvSpPr txBox="1"/>
          <p:nvPr/>
        </p:nvSpPr>
        <p:spPr>
          <a:xfrm>
            <a:off x="1444752" y="44759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فَإِمَّا تَثْقَفَنَّهُمْ فِي الْحَرْبِ فَشَرِّدْ بِهِم مَّنْ خَلْفَهُمْ لَعَلَّهُمْ يَذَّكَّرُونَ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you meet them in battle, strike them in a way that scatters those behind them, so that they may take a lesson.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Al-Anfal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58 – 59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402586"/>
            <a:ext cx="548640" cy="548640"/>
          </a:xfrm>
          <a:prstGeom prst="star8">
            <a:avLst/>
          </a:prstGeom>
          <a:solidFill>
            <a:schemeClr val="accent2"/>
          </a:solidFill>
          <a:ln/>
        </p:spPr>
      </p:sp>
      <p:sp>
        <p:nvSpPr>
          <p:cNvPr id="6" name="Shape 4"/>
          <p:cNvSpPr/>
          <p:nvPr/>
        </p:nvSpPr>
        <p:spPr>
          <a:xfrm>
            <a:off x="822960" y="251231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40258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58</a:t>
            </a:r>
            <a:endParaRPr lang="en-US" sz="1600" dirty="0"/>
          </a:p>
        </p:txBody>
      </p:sp>
      <p:sp>
        <p:nvSpPr>
          <p:cNvPr id="8" name="Text 6"/>
          <p:cNvSpPr txBox="1"/>
          <p:nvPr/>
        </p:nvSpPr>
        <p:spPr>
          <a:xfrm>
            <a:off x="1444752" y="238429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وَإِمَّا تَخَافَنَّ مِن قَوْمٍ خِيَانَةً فَانبِذْ إِلَيْهِمْ عَلَىٰ سَوَآءٍ إِنَّ اللَّهَ لَا يُحِبُّ الْخَآئِنِينَ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you fear treachery from a people you have a treaty with, tell them the treaty is ended before fighting them, so they know as you know. Allah does not love traitors.</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59</a:t>
            </a:r>
            <a:endParaRPr lang="en-US" sz="1600" dirty="0"/>
          </a:p>
        </p:txBody>
      </p:sp>
      <p:sp>
        <p:nvSpPr>
          <p:cNvPr id="13" name="Text 11"/>
          <p:cNvSpPr txBox="1"/>
          <p:nvPr/>
        </p:nvSpPr>
        <p:spPr>
          <a:xfrm>
            <a:off x="1444752" y="403936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وَلَا يَحْسَبَنَّ الَّذِينَ كَفَرُواْ سَبَقُواْ إِنَّهُمْ لَا يُعْجِزُونَ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Let the disbelievers not think they have escaped Us; they can never escape Allah.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Al-Anfal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60 – 61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63040"/>
            <a:ext cx="548640" cy="548640"/>
          </a:xfrm>
          <a:prstGeom prst="star8">
            <a:avLst/>
          </a:prstGeom>
          <a:solidFill>
            <a:schemeClr val="accent2"/>
          </a:solidFill>
          <a:ln/>
        </p:spPr>
      </p:sp>
      <p:sp>
        <p:nvSpPr>
          <p:cNvPr id="6" name="Shape 4"/>
          <p:cNvSpPr/>
          <p:nvPr/>
        </p:nvSpPr>
        <p:spPr>
          <a:xfrm>
            <a:off x="822960" y="157276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630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60</a:t>
            </a:r>
            <a:endParaRPr lang="en-US" sz="1600" dirty="0"/>
          </a:p>
        </p:txBody>
      </p:sp>
      <p:sp>
        <p:nvSpPr>
          <p:cNvPr id="8" name="Text 6"/>
          <p:cNvSpPr txBox="1"/>
          <p:nvPr/>
        </p:nvSpPr>
        <p:spPr>
          <a:xfrm>
            <a:off x="1444752" y="1444752"/>
            <a:ext cx="10012680" cy="287121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وَأَعِدُّواْ لَهُم مَّا اسْتَطَعْتُم مِّن قُوَّةٍ وَمِن رِّبَاطِ الْخَيْلِ تُرْهِبُونَ بِهِ عَدُوَّ اللَّهِ وَعَدُوَّكُمْ وَءَاخَرِينَ مِن دُونِهِمْ لَا تَعْلَمُونَهُمُ اللَّهُ يَعْلَمُهُمْ وَمَا تُنفِقُواْ مِن شَيْءٍ فِي سَبِيلِ اللَّهِ يُوَفَّ إِلَيْكُمْ وَأَنتُمْ لَا تُظْلَمُونَ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Prepare against them all the strength you can, and horses tied ready for jihad, to frighten Allah's enemy and your enemy, and others besides them whom you do not know but Allah knows. Whatever you spend in Allah's way will be repaid to you in full, and you will not be wronged. The Prophet (peace be upon him) said: "Strength is in shooting" (Muslim).</a:t>
            </a:r>
            <a:endParaRPr lang="en-US" sz="3000" dirty="0"/>
          </a:p>
        </p:txBody>
      </p:sp>
      <p:sp>
        <p:nvSpPr>
          <p:cNvPr id="9" name="Shape 7"/>
          <p:cNvSpPr/>
          <p:nvPr/>
        </p:nvSpPr>
        <p:spPr>
          <a:xfrm>
            <a:off x="1444752" y="4503420"/>
            <a:ext cx="8641080" cy="0"/>
          </a:xfrm>
          <a:prstGeom prst="line">
            <a:avLst/>
          </a:prstGeom>
          <a:noFill/>
          <a:ln w="9525">
            <a:solidFill>
              <a:schemeClr val="accent2"/>
            </a:solidFill>
            <a:prstDash val="dash"/>
          </a:ln>
        </p:spPr>
      </p:sp>
      <p:sp>
        <p:nvSpPr>
          <p:cNvPr id="10" name="Shape 8"/>
          <p:cNvSpPr/>
          <p:nvPr/>
        </p:nvSpPr>
        <p:spPr>
          <a:xfrm>
            <a:off x="713232" y="4736592"/>
            <a:ext cx="548640" cy="548640"/>
          </a:xfrm>
          <a:prstGeom prst="star8">
            <a:avLst/>
          </a:prstGeom>
          <a:solidFill>
            <a:schemeClr val="accent2"/>
          </a:solidFill>
          <a:ln/>
        </p:spPr>
      </p:sp>
      <p:sp>
        <p:nvSpPr>
          <p:cNvPr id="11" name="Shape 9"/>
          <p:cNvSpPr/>
          <p:nvPr/>
        </p:nvSpPr>
        <p:spPr>
          <a:xfrm>
            <a:off x="822960" y="484632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73659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61</a:t>
            </a:r>
            <a:endParaRPr lang="en-US" sz="1600" dirty="0"/>
          </a:p>
        </p:txBody>
      </p:sp>
      <p:sp>
        <p:nvSpPr>
          <p:cNvPr id="13" name="Text 11"/>
          <p:cNvSpPr txBox="1"/>
          <p:nvPr/>
        </p:nvSpPr>
        <p:spPr>
          <a:xfrm>
            <a:off x="1444752" y="471830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 جَنَحُواْ لِلسَّلْمِ فَاجْنَحْ لَهَا وَتَوَكَّلْ عَلَى اللَّهِ إِنَّهُ هُوَ السَّمِيعُ الْعَلِيمُ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they lean towards peace, then lean towards it too, and put your trust in Allah; He is the All-Hearing, the All-Knowing.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Al-Anfal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62 – 63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62</a:t>
            </a:r>
            <a:endParaRPr lang="en-US" sz="1600" dirty="0"/>
          </a:p>
        </p:txBody>
      </p:sp>
      <p:sp>
        <p:nvSpPr>
          <p:cNvPr id="8" name="Text 6"/>
          <p:cNvSpPr txBox="1"/>
          <p:nvPr/>
        </p:nvSpPr>
        <p:spPr>
          <a:xfrm>
            <a:off x="1444752" y="197967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 يُرِيدُواْ أَن يَخْدَعُوكَ فَإِنَّ حَسْبَكَ اللَّهُ هُوَ الَّذِي أَيَّدَكَ بِنَصْرِهِ وَبِالْمُؤْمِنِينَ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they want to trick you through peace, Allah is enough for you. He is the One who strengthened you with His help and with the believers,</a:t>
            </a:r>
            <a:endParaRPr lang="en-US" sz="3000" dirty="0"/>
          </a:p>
        </p:txBody>
      </p:sp>
      <p:sp>
        <p:nvSpPr>
          <p:cNvPr id="9" name="Shape 7"/>
          <p:cNvSpPr/>
          <p:nvPr/>
        </p:nvSpPr>
        <p:spPr>
          <a:xfrm>
            <a:off x="1444752" y="3419856"/>
            <a:ext cx="8641080" cy="0"/>
          </a:xfrm>
          <a:prstGeom prst="line">
            <a:avLst/>
          </a:prstGeom>
          <a:noFill/>
          <a:ln w="9525">
            <a:solidFill>
              <a:schemeClr val="accent2"/>
            </a:solidFill>
            <a:prstDash val="dash"/>
          </a:ln>
        </p:spPr>
      </p:sp>
      <p:sp>
        <p:nvSpPr>
          <p:cNvPr id="10" name="Shape 8"/>
          <p:cNvSpPr/>
          <p:nvPr/>
        </p:nvSpPr>
        <p:spPr>
          <a:xfrm>
            <a:off x="713232" y="3653028"/>
            <a:ext cx="548640" cy="548640"/>
          </a:xfrm>
          <a:prstGeom prst="star8">
            <a:avLst/>
          </a:prstGeom>
          <a:solidFill>
            <a:schemeClr val="accent2"/>
          </a:solidFill>
          <a:ln/>
        </p:spPr>
      </p:sp>
      <p:sp>
        <p:nvSpPr>
          <p:cNvPr id="11" name="Shape 9"/>
          <p:cNvSpPr/>
          <p:nvPr/>
        </p:nvSpPr>
        <p:spPr>
          <a:xfrm>
            <a:off x="822960" y="376275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5302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63</a:t>
            </a:r>
            <a:endParaRPr lang="en-US" sz="1600" dirty="0"/>
          </a:p>
        </p:txBody>
      </p:sp>
      <p:sp>
        <p:nvSpPr>
          <p:cNvPr id="13" name="Text 11"/>
          <p:cNvSpPr txBox="1"/>
          <p:nvPr/>
        </p:nvSpPr>
        <p:spPr>
          <a:xfrm>
            <a:off x="1444752" y="363474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وَأَلَّفَ بَيْنَ قُلُوبِهِمْ لَوْ أَنفَقْتَ مَا فِي الْأَرْضِ جَمِيعًا مَّآ أَلَّفْتَ بَيْنَ قُلُوبِهِمْ وَلَٰكِنَّ اللَّهَ أَلَّفَ بَيْنَهُمْ إِنَّهُ عَزِيزٌ حَكِيمٌ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joined the believers' hearts after hostility. If you had spent all that is on earth, you could not have joined their hearts, but Allah joined them. He is Almighty, All-Wise.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Al-Anfal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64 – 65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64</a:t>
            </a:r>
            <a:endParaRPr lang="en-US" sz="1600" dirty="0"/>
          </a:p>
        </p:txBody>
      </p:sp>
      <p:sp>
        <p:nvSpPr>
          <p:cNvPr id="8" name="Text 6"/>
          <p:cNvSpPr txBox="1"/>
          <p:nvPr/>
        </p:nvSpPr>
        <p:spPr>
          <a:xfrm>
            <a:off x="1444752" y="19796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النَّبِيُّ حَسْبُكَ اللَّهُ وَمَنِ اتَّبَعَكَ مِنَ الْمُؤْمِنِينَ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Prophet, Allah is enough for you and for the believers who follow you.</a:t>
            </a:r>
            <a:endParaRPr lang="en-US" sz="3000" dirty="0"/>
          </a:p>
        </p:txBody>
      </p:sp>
      <p:sp>
        <p:nvSpPr>
          <p:cNvPr id="9" name="Shape 7"/>
          <p:cNvSpPr/>
          <p:nvPr/>
        </p:nvSpPr>
        <p:spPr>
          <a:xfrm>
            <a:off x="1444752" y="3159252"/>
            <a:ext cx="8641080" cy="0"/>
          </a:xfrm>
          <a:prstGeom prst="line">
            <a:avLst/>
          </a:prstGeom>
          <a:noFill/>
          <a:ln w="9525">
            <a:solidFill>
              <a:schemeClr val="accent2"/>
            </a:solidFill>
            <a:prstDash val="dash"/>
          </a:ln>
        </p:spPr>
      </p:sp>
      <p:sp>
        <p:nvSpPr>
          <p:cNvPr id="10" name="Shape 8"/>
          <p:cNvSpPr/>
          <p:nvPr/>
        </p:nvSpPr>
        <p:spPr>
          <a:xfrm>
            <a:off x="713232" y="3392424"/>
            <a:ext cx="548640" cy="548640"/>
          </a:xfrm>
          <a:prstGeom prst="star8">
            <a:avLst/>
          </a:prstGeom>
          <a:solidFill>
            <a:schemeClr val="accent2"/>
          </a:solidFill>
          <a:ln/>
        </p:spPr>
      </p:sp>
      <p:sp>
        <p:nvSpPr>
          <p:cNvPr id="11" name="Shape 9"/>
          <p:cNvSpPr/>
          <p:nvPr/>
        </p:nvSpPr>
        <p:spPr>
          <a:xfrm>
            <a:off x="822960" y="350215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9242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65</a:t>
            </a:r>
            <a:endParaRPr lang="en-US" sz="1600" dirty="0"/>
          </a:p>
        </p:txBody>
      </p:sp>
      <p:sp>
        <p:nvSpPr>
          <p:cNvPr id="13" name="Text 11"/>
          <p:cNvSpPr txBox="1"/>
          <p:nvPr/>
        </p:nvSpPr>
        <p:spPr>
          <a:xfrm>
            <a:off x="1444752" y="3374136"/>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النَّبِيُّ حَرِّضِ الْمُؤْمِنِينَ عَلَى الْقِتَالِ إِن يَكُن مِّنكُمْ عِشْرُونَ صَٰبِرُونَ يَغْلِبُواْ مِاْئَتَيْنِ وَإِن يَكُن مِّنكُم مِّاْئَةٌ يَغْلِبُواْ أَلْفًا مِّنَ الَّذِينَ كَفَرُواْ بِأَنَّهُمْ قَوْمٌ لَّا يَفْقَهُونَ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Prophet, encourage the believers to fight. If there are twenty patient ones among you, they will defeat two hundred, and if there are a hundred, they will defeat a thousand of the disbelievers, because they are a people who do not understand the wisdom of fighting.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Al-Anfal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66 – 67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63040"/>
            <a:ext cx="548640" cy="548640"/>
          </a:xfrm>
          <a:prstGeom prst="star8">
            <a:avLst/>
          </a:prstGeom>
          <a:solidFill>
            <a:schemeClr val="accent2"/>
          </a:solidFill>
          <a:ln/>
        </p:spPr>
      </p:sp>
      <p:sp>
        <p:nvSpPr>
          <p:cNvPr id="6" name="Shape 4"/>
          <p:cNvSpPr/>
          <p:nvPr/>
        </p:nvSpPr>
        <p:spPr>
          <a:xfrm>
            <a:off x="822960" y="157276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630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66</a:t>
            </a:r>
            <a:endParaRPr lang="en-US" sz="1600" dirty="0"/>
          </a:p>
        </p:txBody>
      </p:sp>
      <p:sp>
        <p:nvSpPr>
          <p:cNvPr id="8" name="Text 6"/>
          <p:cNvSpPr txBox="1"/>
          <p:nvPr/>
        </p:nvSpPr>
        <p:spPr>
          <a:xfrm>
            <a:off x="1444752" y="1444752"/>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الْـَٰٔنَ خَفَّفَ اللَّهُ عَنكُمْ وَعَلِمَ أَنَّ فِيكُمْ ضَعْفًا فَإِن يَكُن مِّنكُم مِّاْئَةٌ صَابِرَةٌ يَغْلِبُواْ مِاْئَتَيْنِ وَإِن يَكُن مِّنكُمْ أَلْفٌ يَغْلِبُواْ أَلْفَيْنِ بِإِذْنِ اللَّهِ وَاللَّهُ مَعَ الصَّـٰبِرِينَ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Now Allah has lightened it for you, knowing there is weakness in you. If there are a hundred patient ones among you, they will defeat two hundred, and if there are a thousand, they will defeat two thousand by Allah's permission. Allah is with the patient.</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67</a:t>
            </a:r>
            <a:endParaRPr lang="en-US" sz="1600" dirty="0"/>
          </a:p>
        </p:txBody>
      </p:sp>
      <p:sp>
        <p:nvSpPr>
          <p:cNvPr id="13" name="Text 11"/>
          <p:cNvSpPr txBox="1"/>
          <p:nvPr/>
        </p:nvSpPr>
        <p:spPr>
          <a:xfrm>
            <a:off x="1444752" y="3909060"/>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مَا كَانَ لِنَبِيٍّ أَن يَكُونَ لَهُ أَسْرَىٰ حَتَّىٰ يُثْخِنَ فِي الْأَرْضِ تُرِيدُونَ عَرَضَ الدُّنْيَا وَاللَّهُ يُرِيدُ الْأخِرَةَ وَاللَّهُ عَزِيزٌ حَكِيمٌ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It is not right for a prophet to take captives and accept ransom until he has weakened the disbelievers' strength in battle. You want the goods of this world through ransom, but Allah wants the Hereafter for you. Allah is Almighty, All-Wise.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Al-Anfal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68 – 69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272284"/>
            <a:ext cx="548640" cy="548640"/>
          </a:xfrm>
          <a:prstGeom prst="star8">
            <a:avLst/>
          </a:prstGeom>
          <a:solidFill>
            <a:schemeClr val="accent2"/>
          </a:solidFill>
          <a:ln/>
        </p:spPr>
      </p:sp>
      <p:sp>
        <p:nvSpPr>
          <p:cNvPr id="6" name="Shape 4"/>
          <p:cNvSpPr/>
          <p:nvPr/>
        </p:nvSpPr>
        <p:spPr>
          <a:xfrm>
            <a:off x="822960" y="238201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27228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68</a:t>
            </a:r>
            <a:endParaRPr lang="en-US" sz="1600" dirty="0"/>
          </a:p>
        </p:txBody>
      </p:sp>
      <p:sp>
        <p:nvSpPr>
          <p:cNvPr id="8" name="Text 6"/>
          <p:cNvSpPr txBox="1"/>
          <p:nvPr/>
        </p:nvSpPr>
        <p:spPr>
          <a:xfrm>
            <a:off x="1444752" y="225399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لَّوْلَا كِتَٰبٌ مِّنَ اللَّهِ سَبَقَ لَمَسَّكُمْ فِيمَآ أَخَذْتُمْ عَذَابٌ عَظِيمٌ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not for a decree from Allah that came before, making war gains lawful for you, a great punishment would have struck you for the ransom you took.</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69</a:t>
            </a:r>
            <a:endParaRPr lang="en-US" sz="1600" dirty="0"/>
          </a:p>
        </p:txBody>
      </p:sp>
      <p:sp>
        <p:nvSpPr>
          <p:cNvPr id="13" name="Text 11"/>
          <p:cNvSpPr txBox="1"/>
          <p:nvPr/>
        </p:nvSpPr>
        <p:spPr>
          <a:xfrm>
            <a:off x="1444752" y="390906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فَكُلُواْ مِمَّا غَنِمْتُمْ حَلَٰلًا طَيِّبًا وَاتَّقُواْ اللَّهَ إِنَّ اللَّهَ غَفُورٌ رَّحِيمٌ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eat of the war gains you took, lawful and good, and have taqwa of Allah. Allah is Forgiving, Most Merciful.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Al-Anfal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70 – 71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70</a:t>
            </a:r>
            <a:endParaRPr lang="en-US" sz="1600" dirty="0"/>
          </a:p>
        </p:txBody>
      </p:sp>
      <p:sp>
        <p:nvSpPr>
          <p:cNvPr id="8" name="Text 6"/>
          <p:cNvSpPr txBox="1"/>
          <p:nvPr/>
        </p:nvSpPr>
        <p:spPr>
          <a:xfrm>
            <a:off x="1444752" y="184937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النَّبِيُّ قُل لِّمَن فِي أَيْدِيكُم مِّنَ الْأَسْرَىٰ إِن يَعْلَمِ اللَّهُ فِي قُلُوبِكُمْ خَيْرًا يُؤْتِكُمْ خَيْرًا مِّمَّآ أُخِذَ مِنكُمْ وَيَغْفِرْ لَكُمْ وَاللَّهُ غَفُورٌ رَّحِيمٌ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Prophet, say to the captives in your hands: If Allah knows of any faith in your hearts, He will give you better than what was taken from you as ransom and forgive you. Allah is Forgiving, Most Merciful.</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71</a:t>
            </a:r>
            <a:endParaRPr lang="en-US" sz="1600" dirty="0"/>
          </a:p>
        </p:txBody>
      </p:sp>
      <p:sp>
        <p:nvSpPr>
          <p:cNvPr id="13" name="Text 11"/>
          <p:cNvSpPr txBox="1"/>
          <p:nvPr/>
        </p:nvSpPr>
        <p:spPr>
          <a:xfrm>
            <a:off x="1444752" y="431368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 يُرِيدُواْ خِيَانَتَكَ فَقَدْ خَانُواْ اللَّهَ مِن قَبْلُ فَأَمْكَنَ مِنْهُمْ وَاللَّهُ عَلِيمٌ حَكِيمٌ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they want to betray you, they betrayed Allah before through disbelief, so He gave you power over them at Badr. Allah is All-Knowing, All-Wise.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Al-Anfal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72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85950"/>
            <a:ext cx="548640" cy="548640"/>
          </a:xfrm>
          <a:prstGeom prst="star8">
            <a:avLst/>
          </a:prstGeom>
          <a:solidFill>
            <a:schemeClr val="accent2"/>
          </a:solidFill>
          <a:ln/>
        </p:spPr>
      </p:sp>
      <p:sp>
        <p:nvSpPr>
          <p:cNvPr id="6" name="Shape 4"/>
          <p:cNvSpPr/>
          <p:nvPr/>
        </p:nvSpPr>
        <p:spPr>
          <a:xfrm>
            <a:off x="822960" y="199567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859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72</a:t>
            </a:r>
            <a:endParaRPr lang="en-US" sz="1600" dirty="0"/>
          </a:p>
        </p:txBody>
      </p:sp>
      <p:sp>
        <p:nvSpPr>
          <p:cNvPr id="8" name="Text 6"/>
          <p:cNvSpPr txBox="1"/>
          <p:nvPr/>
        </p:nvSpPr>
        <p:spPr>
          <a:xfrm>
            <a:off x="1444752" y="1867662"/>
            <a:ext cx="10012680" cy="3680460"/>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الَّذِينَ ءَامَنُواْ وَهَاجَرُواْ وَجَٰهَدُواْ بِأَمْوَٰلِهِمْ وَأَنفُسِهِمْ فِي سَبِيلِ اللَّهِ وَالَّذِينَ ءَاوَواْ وَّنَصَرُواْ أُوْلَـٰئِكَ بَعْضُهُمْ أَوْلِيَآءُ بَعْضٍ وَالَّذِينَ ءَامَنُواْ وَلَمْ يُهَاجِرُواْ مَا لَكُم مِّن وَلَٰيَتِهِم مِّن شَيْءٍ حَتَّىٰ يُهَاجِرُواْ وَإِنِ اسْتَنصَرُوكُمْ فِي الدِّينِ فَعَلَيْكُمُ النَّصْرُ إِلَّا عَلَىٰ قَوْمٍ بَيْنَكُمْ وَبَيْنَهُم مِّيثَٰقٌ وَاللَّهُ بِمَا تَعْمَلُونَ بَصِيرٌ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believed, emigrated and strove with their wealth and lives in the way of Allah, the Muhajirun, and those who gave them shelter and help, the Ansar, are allies of one another. As for those who believed but did not emigrate, you owe them no alliance until they emigrate; but if they ask your help in religion, you must help them, except against a people you have a treaty with. Allah sees what you do.</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Al-Anfal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73 – 74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73</a:t>
            </a:r>
            <a:endParaRPr lang="en-US" sz="1600" dirty="0"/>
          </a:p>
        </p:txBody>
      </p:sp>
      <p:sp>
        <p:nvSpPr>
          <p:cNvPr id="8" name="Text 6"/>
          <p:cNvSpPr txBox="1"/>
          <p:nvPr/>
        </p:nvSpPr>
        <p:spPr>
          <a:xfrm>
            <a:off x="1444752" y="197967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وَالَّذِينَ كَفَرُواْ بَعْضُهُمْ أَوْلِيَآءُ بَعْضٍ إِلَّا تَفْعَلُوهُ تَكُن فِتْنَةٌ فِي الْأَرْضِ وَفَسَادٌ كَبِيرٌ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disbelievers are allies of one another. If you, O believers, do not stand by one another, there will be trouble on earth and great corruption.</a:t>
            </a:r>
            <a:endParaRPr lang="en-US" sz="3000" dirty="0"/>
          </a:p>
        </p:txBody>
      </p:sp>
      <p:sp>
        <p:nvSpPr>
          <p:cNvPr id="9" name="Shape 7"/>
          <p:cNvSpPr/>
          <p:nvPr/>
        </p:nvSpPr>
        <p:spPr>
          <a:xfrm>
            <a:off x="1444752" y="3419856"/>
            <a:ext cx="8641080" cy="0"/>
          </a:xfrm>
          <a:prstGeom prst="line">
            <a:avLst/>
          </a:prstGeom>
          <a:noFill/>
          <a:ln w="9525">
            <a:solidFill>
              <a:schemeClr val="accent2"/>
            </a:solidFill>
            <a:prstDash val="dash"/>
          </a:ln>
        </p:spPr>
      </p:sp>
      <p:sp>
        <p:nvSpPr>
          <p:cNvPr id="10" name="Shape 8"/>
          <p:cNvSpPr/>
          <p:nvPr/>
        </p:nvSpPr>
        <p:spPr>
          <a:xfrm>
            <a:off x="713232" y="3653028"/>
            <a:ext cx="548640" cy="548640"/>
          </a:xfrm>
          <a:prstGeom prst="star8">
            <a:avLst/>
          </a:prstGeom>
          <a:solidFill>
            <a:schemeClr val="accent2"/>
          </a:solidFill>
          <a:ln/>
        </p:spPr>
      </p:sp>
      <p:sp>
        <p:nvSpPr>
          <p:cNvPr id="11" name="Shape 9"/>
          <p:cNvSpPr/>
          <p:nvPr/>
        </p:nvSpPr>
        <p:spPr>
          <a:xfrm>
            <a:off x="822960" y="376275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5302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74</a:t>
            </a:r>
            <a:endParaRPr lang="en-US" sz="1600" dirty="0"/>
          </a:p>
        </p:txBody>
      </p:sp>
      <p:sp>
        <p:nvSpPr>
          <p:cNvPr id="13" name="Text 11"/>
          <p:cNvSpPr txBox="1"/>
          <p:nvPr/>
        </p:nvSpPr>
        <p:spPr>
          <a:xfrm>
            <a:off x="1444752" y="363474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وَالَّذِينَ ءَامَنُواْ وَهَاجَرُواْ وَجَٰهَدُواْ فِي سَبِيلِ اللَّهِ وَالَّذِينَ ءَاوَواْ وَّنَصَرُواْ أُوْلَـٰئِكَ هُمُ الْمُؤْمِنُونَ حَقًّا لَّهُم مَّغْفِرَةٌ وَرِزْقٌ كَرِيمٌ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Muhajirun and the Ansar are the true believers; they will have forgiveness and generous provision.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Al-Anfal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75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825496"/>
            <a:ext cx="548640" cy="548640"/>
          </a:xfrm>
          <a:prstGeom prst="star8">
            <a:avLst/>
          </a:prstGeom>
          <a:solidFill>
            <a:schemeClr val="accent2"/>
          </a:solidFill>
          <a:ln/>
        </p:spPr>
      </p:sp>
      <p:sp>
        <p:nvSpPr>
          <p:cNvPr id="6" name="Shape 4"/>
          <p:cNvSpPr/>
          <p:nvPr/>
        </p:nvSpPr>
        <p:spPr>
          <a:xfrm>
            <a:off x="822960" y="293522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75</a:t>
            </a:r>
            <a:endParaRPr lang="en-US" sz="1600" dirty="0"/>
          </a:p>
        </p:txBody>
      </p:sp>
      <p:sp>
        <p:nvSpPr>
          <p:cNvPr id="8" name="Text 6"/>
          <p:cNvSpPr txBox="1"/>
          <p:nvPr/>
        </p:nvSpPr>
        <p:spPr>
          <a:xfrm>
            <a:off x="1444752" y="280720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وَالَّذِينَ ءَامَنُواْ مِن بَعْدُ وَهَاجَرُواْ وَجَٰهَدُواْ مَعَكُمْ فَأُوْلَـٰئِكَ مِنكُمْ وَأُوْلُواْ الْأَرْحَامِ بَعْضُهُمْ أَوْلَىٰ بِبَعْضٍ فِي كِتَٰبِ اللَّهِ إِنَّ اللَّهَ بِكُلِّ شَيْءٍ عَلِيمٌ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believed later, emigrated and strove with you, they are from you. And relatives have more right to one another in inheritance in Allah's ruling. Allah knows everything.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The Declaration</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1 of 7</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1 – 16</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At-Tawbah • Madani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400" dirty="0">
                <a:solidFill>
                  <a:schemeClr val="tx1"/>
                </a:solidFill>
                <a:latin typeface="Arial" pitchFamily="34" charset="0"/>
                <a:ea typeface="Arial" pitchFamily="34" charset="-122"/>
                <a:cs typeface="Arial" pitchFamily="34" charset="-120"/>
              </a:rPr>
              <a:t>When the opening of Surah Bara'ah was revealed in the ninth year, the Prophet (peace be upon him) sent Abu Bakr as leader of the Hajj, then sent 'Ali after him (may Allah be pleased with them), who announced to the people on the Day of Sacrifice: "No idol-worshipper will do Hajj after this year, and no one will circle the House unclothed" (Bukhari and Muslim).</a:t>
            </a:r>
            <a:endParaRPr lang="en-US" sz="14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Declaring release from the idol-worshippers who broke their treaties while keeping faith with those who kept theirs, giving safety to whoever asks to hear Allah's words, and the command to fight those who broke their treaties and attacked the religion.</a:t>
            </a:r>
            <a:endParaRPr lang="en-US" sz="15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At-Tawbah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97967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بَرَآءَةٌ مِّنَ اللَّهِ وَرَسُولِهِ إِلَى الَّذِينَ عَٰهَدتُّم مِّنَ الْمُشْرِكِينَ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This is a declaration of release and an end to the treaty, from Allah and His Messenger, to the idol-worshippers with whom you made treaties and who then broke them.</a:t>
            </a:r>
            <a:endParaRPr lang="en-US" sz="3000" dirty="0"/>
          </a:p>
        </p:txBody>
      </p:sp>
      <p:sp>
        <p:nvSpPr>
          <p:cNvPr id="9" name="Shape 7"/>
          <p:cNvSpPr/>
          <p:nvPr/>
        </p:nvSpPr>
        <p:spPr>
          <a:xfrm>
            <a:off x="1444752" y="3419856"/>
            <a:ext cx="8641080" cy="0"/>
          </a:xfrm>
          <a:prstGeom prst="line">
            <a:avLst/>
          </a:prstGeom>
          <a:noFill/>
          <a:ln w="9525">
            <a:solidFill>
              <a:schemeClr val="accent2"/>
            </a:solidFill>
            <a:prstDash val="dash"/>
          </a:ln>
        </p:spPr>
      </p:sp>
      <p:sp>
        <p:nvSpPr>
          <p:cNvPr id="10" name="Shape 8"/>
          <p:cNvSpPr/>
          <p:nvPr/>
        </p:nvSpPr>
        <p:spPr>
          <a:xfrm>
            <a:off x="713232" y="3653028"/>
            <a:ext cx="548640" cy="548640"/>
          </a:xfrm>
          <a:prstGeom prst="star8">
            <a:avLst/>
          </a:prstGeom>
          <a:solidFill>
            <a:schemeClr val="accent2"/>
          </a:solidFill>
          <a:ln/>
        </p:spPr>
      </p:sp>
      <p:sp>
        <p:nvSpPr>
          <p:cNvPr id="11" name="Shape 9"/>
          <p:cNvSpPr/>
          <p:nvPr/>
        </p:nvSpPr>
        <p:spPr>
          <a:xfrm>
            <a:off x="822960" y="376275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5302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363474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فَسِيحُواْ فِي الْأَرْضِ أَرْبَعَةَ أَشْهُرٍ وَاعْلَمُواْ أَنَّكُمْ غَيْرُ مُعْجِزِي اللَّهِ وَأَنَّ اللَّهَ مُخْزِي الْكَٰفِرِينَ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travel freely in the land for four months, and know that you cannot escape Allah, and that Allah will disgrace the disbelievers.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At-Tawbah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290572"/>
            <a:ext cx="548640" cy="548640"/>
          </a:xfrm>
          <a:prstGeom prst="star8">
            <a:avLst/>
          </a:prstGeom>
          <a:solidFill>
            <a:schemeClr val="accent2"/>
          </a:solidFill>
          <a:ln/>
        </p:spPr>
      </p:sp>
      <p:sp>
        <p:nvSpPr>
          <p:cNvPr id="6" name="Shape 4"/>
          <p:cNvSpPr/>
          <p:nvPr/>
        </p:nvSpPr>
        <p:spPr>
          <a:xfrm>
            <a:off x="822960" y="240030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2905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8" name="Text 6"/>
          <p:cNvSpPr txBox="1"/>
          <p:nvPr/>
        </p:nvSpPr>
        <p:spPr>
          <a:xfrm>
            <a:off x="1444752" y="2272284"/>
            <a:ext cx="10012680" cy="287121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وَأَذَٰنٌ مِّنَ اللَّهِ وَرَسُولِهِ إِلَى النَّاسِ يَوْمَ الْحَجِّ الْأَكْبَرِ أَنَّ اللَّهَ بَرِيءٌ مِّنَ الْمُشْرِكِينَ وَرَسُولُهُ فَإِن تُبْتُمْ فَهُوَ خَيْرٌ لَّكُمْ وَإِن تَوَلَّيْتُمْ فَاعْلَمُواْ أَنَّكُمْ غَيْرُ مُعْجِزِي اللَّهِ وَبَشِّرِ الَّذِينَ كَفَرُواْ بِعَذَابٍ أَلِيمٍ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an announcement from Allah and His Messenger to the people on the day of the greater Hajj, the Day of Sacrifice: Allah is free of the idol-worshippers, and so is His Messenger. If you repent, it is better for you; but if you turn away, know that you cannot escape Allah. Give the disbelievers news of a painful punishment.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At-Tawbah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695194"/>
            <a:ext cx="548640" cy="548640"/>
          </a:xfrm>
          <a:prstGeom prst="star8">
            <a:avLst/>
          </a:prstGeom>
          <a:solidFill>
            <a:schemeClr val="accent2"/>
          </a:solidFill>
          <a:ln/>
        </p:spPr>
      </p:sp>
      <p:sp>
        <p:nvSpPr>
          <p:cNvPr id="6" name="Shape 4"/>
          <p:cNvSpPr/>
          <p:nvPr/>
        </p:nvSpPr>
        <p:spPr>
          <a:xfrm>
            <a:off x="822960" y="280492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69519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8" name="Text 6"/>
          <p:cNvSpPr txBox="1"/>
          <p:nvPr/>
        </p:nvSpPr>
        <p:spPr>
          <a:xfrm>
            <a:off x="1444752" y="2676906"/>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إِلَّا الَّذِينَ عَٰهَدتُّم مِّنَ الْمُشْرِكِينَ ثُمَّ لَمْ يَنقُصُوكُمْ شَيْـًٔا وَلَمْ يُظَٰهِرُواْ عَلَيْكُمْ أَحَدًا فَأَتِمُّواْ إِلَيْهِمْ عَهْدَهُمْ إِلَىٰ مُدَّتِهِمْ إِنَّ اللَّهَ يُحِبُّ الْمُتَّقِينَ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Except the idol-worshippers you made a treaty with who did not break any part of it or help anyone against you; complete their treaty with them until its end. Allah loves those with taqwa who keep their promises.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At-Tawbah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290572"/>
            <a:ext cx="548640" cy="548640"/>
          </a:xfrm>
          <a:prstGeom prst="star8">
            <a:avLst/>
          </a:prstGeom>
          <a:solidFill>
            <a:schemeClr val="accent2"/>
          </a:solidFill>
          <a:ln/>
        </p:spPr>
      </p:sp>
      <p:sp>
        <p:nvSpPr>
          <p:cNvPr id="6" name="Shape 4"/>
          <p:cNvSpPr/>
          <p:nvPr/>
        </p:nvSpPr>
        <p:spPr>
          <a:xfrm>
            <a:off x="822960" y="240030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2905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8" name="Text 6"/>
          <p:cNvSpPr txBox="1"/>
          <p:nvPr/>
        </p:nvSpPr>
        <p:spPr>
          <a:xfrm>
            <a:off x="1444752" y="2272284"/>
            <a:ext cx="10012680" cy="287121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فَإِذَا انسَلَخَ الْأَشْهُرُ الْحُرُمُ فَاقْتُلُواْ الْمُشْرِكِينَ حَيْثُ وَجَدتُّمُوهُمْ وَخُذُوهُمْ وَاحْصُرُوهُمْ وَاقْعُدُواْ لَهُمْ كُلَّ مَرْصَدٍ فَإِن تَابُواْ وَأَقَامُواْ الصَّلَوٰةَ وَءَاتَوُاْ الزَّكَوٰةَ فَخَلُّواْ سَبِيلَهُمْ إِنَّ اللَّهَ غَفُورٌ رَّحِيمٌ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 four months in which they were given safety have passed, fight the warring idol-worshippers wherever you find them, capture them, besiege them, and watch for them on every road. But if they repent, perform the prayer and give the zakah, leave them alone. Allah is Forgiving, Most Merciful.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At-Tawbah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 – 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63040"/>
            <a:ext cx="548640" cy="548640"/>
          </a:xfrm>
          <a:prstGeom prst="star8">
            <a:avLst/>
          </a:prstGeom>
          <a:solidFill>
            <a:schemeClr val="accent2"/>
          </a:solidFill>
          <a:ln/>
        </p:spPr>
      </p:sp>
      <p:sp>
        <p:nvSpPr>
          <p:cNvPr id="6" name="Shape 4"/>
          <p:cNvSpPr/>
          <p:nvPr/>
        </p:nvSpPr>
        <p:spPr>
          <a:xfrm>
            <a:off x="822960" y="157276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630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8" name="Text 6"/>
          <p:cNvSpPr txBox="1"/>
          <p:nvPr/>
        </p:nvSpPr>
        <p:spPr>
          <a:xfrm>
            <a:off x="1444752" y="1444752"/>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 أَحَدٌ مِّنَ الْمُشْرِكِينَ اسْتَجَارَكَ فَأَجِرْهُ حَتَّىٰ يَسْمَعَ كَلَٰمَ اللَّهِ ثُمَّ أَبْلِغْهُ مَأْمَنَهُ ذَٰلِكَ بِأَنَّهُمْ قَوْمٌ لَّا يَعْلَمُونَ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one of the idol-worshippers asks you for protection, protect him until he hears the Qur'an, then take him to his place of safety. That is because they are a people who do not know the truth of Islam. This shows the generosity of Islam.</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13" name="Text 11"/>
          <p:cNvSpPr txBox="1"/>
          <p:nvPr/>
        </p:nvSpPr>
        <p:spPr>
          <a:xfrm>
            <a:off x="1444752" y="3909060"/>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كَيْفَ يَكُونُ لِلْمُشْرِكِينَ عَهْدٌ عِندَ اللَّهِ وَعِندَ رَسُولِهِ إِلَّا الَّذِينَ عَٰهَدتُّمْ عِندَ الْمَسْجِدِ الْحَرَامِ فَمَا اسْتَقَٰمُواْ لَكُمْ فَاسْتَقِيمُواْ لَهُمْ إِنَّ اللَّهَ يُحِبُّ الْمُتَّقِينَ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How can the idol-worshippers have a treaty with Allah and His Messenger when they break it? Except those you made a treaty with at Al-Masjid Al-Haram at Al-Hudaybiyah; as long as they stay true to it, stay true to them. Allah loves those with taqwa.</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At-Tawbah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 – 10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8" name="Text 6"/>
          <p:cNvSpPr txBox="1"/>
          <p:nvPr/>
        </p:nvSpPr>
        <p:spPr>
          <a:xfrm>
            <a:off x="1444752" y="134416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كَيْفَ وَإِن يَظْهَرُواْ عَلَيْكُمْ لَا يَرْقُبُواْ فِيكُمْ إِلًّا وَلَا ذِمَّةً يُرْضُونَكُم بِأَفْوَٰهِهِمْ وَتَأْبَىٰ قُلُوبُهُمْ وَأَكْثَرُهُمْ فَٰسِقُونَ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How can they have a treaty when, if they defeated you, they would respect neither family ties nor treaty with you? They please you with their words while their hearts refuse, and most of them are disobedient.</a:t>
            </a:r>
            <a:endParaRPr lang="en-US" sz="3000" dirty="0"/>
          </a:p>
        </p:txBody>
      </p:sp>
      <p:sp>
        <p:nvSpPr>
          <p:cNvPr id="9" name="Shape 7"/>
          <p:cNvSpPr/>
          <p:nvPr/>
        </p:nvSpPr>
        <p:spPr>
          <a:xfrm>
            <a:off x="1444752" y="3497580"/>
            <a:ext cx="8641080" cy="0"/>
          </a:xfrm>
          <a:prstGeom prst="line">
            <a:avLst/>
          </a:prstGeom>
          <a:noFill/>
          <a:ln w="9525">
            <a:solidFill>
              <a:schemeClr val="accent2"/>
            </a:solidFill>
            <a:prstDash val="dash"/>
          </a:ln>
        </p:spPr>
      </p:sp>
      <p:sp>
        <p:nvSpPr>
          <p:cNvPr id="10" name="Shape 8"/>
          <p:cNvSpPr/>
          <p:nvPr/>
        </p:nvSpPr>
        <p:spPr>
          <a:xfrm>
            <a:off x="713232" y="3634740"/>
            <a:ext cx="548640" cy="548640"/>
          </a:xfrm>
          <a:prstGeom prst="star8">
            <a:avLst/>
          </a:prstGeom>
          <a:solidFill>
            <a:schemeClr val="accent2"/>
          </a:solidFill>
          <a:ln/>
        </p:spPr>
      </p:sp>
      <p:sp>
        <p:nvSpPr>
          <p:cNvPr id="11" name="Shape 9"/>
          <p:cNvSpPr/>
          <p:nvPr/>
        </p:nvSpPr>
        <p:spPr>
          <a:xfrm>
            <a:off x="822960" y="374446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347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13" name="Text 11"/>
          <p:cNvSpPr txBox="1"/>
          <p:nvPr/>
        </p:nvSpPr>
        <p:spPr>
          <a:xfrm>
            <a:off x="1444752" y="361645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اشْتَرَوْاْ بِـَٔايَٰتِ اللَّهِ ثَمَنًا قَلِيلًا فَصَدُّواْ عَن سَبِيلِهِ إِنَّهُمْ سَآءَ مَا كَانُواْ يَعْمَلُونَ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traded Allah's verses for a small worldly price and blocked people from His religion. Evil indeed is what they used to do.</a:t>
            </a:r>
            <a:endParaRPr lang="en-US" sz="3000" dirty="0"/>
          </a:p>
        </p:txBody>
      </p:sp>
      <p:sp>
        <p:nvSpPr>
          <p:cNvPr id="14" name="Shape 12"/>
          <p:cNvSpPr/>
          <p:nvPr/>
        </p:nvSpPr>
        <p:spPr>
          <a:xfrm>
            <a:off x="1444752" y="4960620"/>
            <a:ext cx="8641080" cy="0"/>
          </a:xfrm>
          <a:prstGeom prst="line">
            <a:avLst/>
          </a:prstGeom>
          <a:noFill/>
          <a:ln w="9525">
            <a:solidFill>
              <a:schemeClr val="accent2"/>
            </a:solidFill>
            <a:prstDash val="dash"/>
          </a:ln>
        </p:spPr>
      </p:sp>
      <p:sp>
        <p:nvSpPr>
          <p:cNvPr id="15" name="Shape 13"/>
          <p:cNvSpPr/>
          <p:nvPr/>
        </p:nvSpPr>
        <p:spPr>
          <a:xfrm>
            <a:off x="713232" y="5097780"/>
            <a:ext cx="548640" cy="548640"/>
          </a:xfrm>
          <a:prstGeom prst="star8">
            <a:avLst/>
          </a:prstGeom>
          <a:solidFill>
            <a:schemeClr val="accent2"/>
          </a:solidFill>
          <a:ln/>
        </p:spPr>
      </p:sp>
      <p:sp>
        <p:nvSpPr>
          <p:cNvPr id="16" name="Shape 14"/>
          <p:cNvSpPr/>
          <p:nvPr/>
        </p:nvSpPr>
        <p:spPr>
          <a:xfrm>
            <a:off x="822960" y="520750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9778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10</a:t>
            </a:r>
            <a:endParaRPr lang="en-US" sz="1600" dirty="0"/>
          </a:p>
        </p:txBody>
      </p:sp>
      <p:sp>
        <p:nvSpPr>
          <p:cNvPr id="18" name="Text 16"/>
          <p:cNvSpPr txBox="1"/>
          <p:nvPr/>
        </p:nvSpPr>
        <p:spPr>
          <a:xfrm>
            <a:off x="1444752" y="507949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لَا يَرْقُبُونَ فِي مُؤْمِنٍ إِلًّا وَلَا ذِمَّةً وَأُوْلَـٰئِكَ هُمُ الْمُعْتَدُونَ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respect neither family ties nor treaty with a believer; they are the aggressors.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At-Tawbah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11 – 12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11</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فَإِن تَابُواْ وَأَقَامُواْ الصَّلَوٰةَ وَءَاتَوُاْ الزَّكَوٰةَ فَإِخْوَٰنُكُمْ فِي الدِّينِ وَنُفَصِّلُ الْأيَٰتِ لِقَوْمٍ يَعْلَمُونَ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if they repent, perform the prayer and give the zakah, they are your brothers in religion. We explain the verses for people who know.</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12</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 نَّكَثُواْ أَيْمَٰنَهُم مِّن بَعْدِ عَهْدِهِمْ وَطَعَنُواْ فِي دِينِكُمْ فَقَٰتِلُواْ أَئِمَّةَ الْكُفْرِ إِنَّهُمْ لَآ أَيْمَٰنَ لَهُمْ لَعَلَّهُمْ يَنتَهُونَ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they break their oaths and attack your religion, then fight the leaders of disbelief; their oaths mean nothing, so that they may stop.</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At-Tawbah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13 – 14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13</a:t>
            </a:r>
            <a:endParaRPr lang="en-US" sz="1600" dirty="0"/>
          </a:p>
        </p:txBody>
      </p:sp>
      <p:sp>
        <p:nvSpPr>
          <p:cNvPr id="8" name="Text 6"/>
          <p:cNvSpPr txBox="1"/>
          <p:nvPr/>
        </p:nvSpPr>
        <p:spPr>
          <a:xfrm>
            <a:off x="1444752" y="184937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أَلَا تُقَٰتِلُونَ قَوْمًا نَّكَثُواْ أَيْمَٰنَهُمْ وَهَمُّواْ بِإِخْرَاجِ الرَّسُولِ وَهُم بَدَءُوكُمْ أَوَّلَ مَرَّةٍ أَتَخْشَوْنَهُمْ فَاللَّهُ أَحَقُّ أَن تَخْشَوْهُ إِن كُنتُم مُّؤْمِنِينَ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Will you not fight a people who broke their oaths, planned to drive the Messenger out of Makkah, and started fighting you first? Do you fear them? Allah has more right to be feared, if you are believers.</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14</a:t>
            </a:r>
            <a:endParaRPr lang="en-US" sz="1600" dirty="0"/>
          </a:p>
        </p:txBody>
      </p:sp>
      <p:sp>
        <p:nvSpPr>
          <p:cNvPr id="13" name="Text 11"/>
          <p:cNvSpPr txBox="1"/>
          <p:nvPr/>
        </p:nvSpPr>
        <p:spPr>
          <a:xfrm>
            <a:off x="1444752" y="431368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قَٰتِلُوهُمْ يُعَذِّبْهُمُ اللَّهُ بِأَيْدِيكُمْ وَيُخْزِهِمْ وَيَنصُرْكُمْ عَلَيْهِمْ وَيَشْفِ صُدُورَ قَوْمٍ مُّؤْمِنِينَ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Fight them; Allah will punish them by your hands, disgrace them, give you victory over them, and heal the hearts of the believers,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At-Tawbah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15 – 16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15</a:t>
            </a:r>
            <a:endParaRPr lang="en-US" sz="1600" dirty="0"/>
          </a:p>
        </p:txBody>
      </p:sp>
      <p:sp>
        <p:nvSpPr>
          <p:cNvPr id="8" name="Text 6"/>
          <p:cNvSpPr txBox="1"/>
          <p:nvPr/>
        </p:nvSpPr>
        <p:spPr>
          <a:xfrm>
            <a:off x="1444752" y="184937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وَيُذْهِبْ غَيْظَ قُلُوبِهِمْ وَيَتُوبُ اللَّهُ عَلَىٰ مَن يَشَآءُ وَاللَّهُ عَلِيمٌ حَكِيمٌ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remove the anger from their hearts. Allah accepts the repentance of whom He wills, and Allah is All-Knowing, All-Wise.</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522726"/>
            <a:ext cx="548640" cy="548640"/>
          </a:xfrm>
          <a:prstGeom prst="star8">
            <a:avLst/>
          </a:prstGeom>
          <a:solidFill>
            <a:schemeClr val="accent2"/>
          </a:solidFill>
          <a:ln/>
        </p:spPr>
      </p:sp>
      <p:sp>
        <p:nvSpPr>
          <p:cNvPr id="11" name="Shape 9"/>
          <p:cNvSpPr/>
          <p:nvPr/>
        </p:nvSpPr>
        <p:spPr>
          <a:xfrm>
            <a:off x="822960" y="363245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2272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16</a:t>
            </a:r>
            <a:endParaRPr lang="en-US" sz="1600" dirty="0"/>
          </a:p>
        </p:txBody>
      </p:sp>
      <p:sp>
        <p:nvSpPr>
          <p:cNvPr id="13" name="Text 11"/>
          <p:cNvSpPr txBox="1"/>
          <p:nvPr/>
        </p:nvSpPr>
        <p:spPr>
          <a:xfrm>
            <a:off x="1444752" y="350443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أَمْ حَسِبْتُمْ أَن تُتْرَكُواْ وَلَمَّا يَعْلَمِ اللَّهُ الَّذِينَ جَٰهَدُواْ مِنكُمْ وَلَمْ يَتَّخِذُواْ مِن دُونِ اللَّهِ وَلَا رَسُولِهِ وَلَا الْمُؤْمِنِينَ وَلِيجَةً وَاللَّهُ خَبِيرٌ بِمَا تَعْمَلُونَ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Or did you think you would be left without being tested, before it is shown who among you strove and took no close friends besides Allah, His Messenger and the believers? Allah is aware of what you do.</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000" b="1" dirty="0">
                <a:solidFill>
                  <a:schemeClr val="accent2"/>
                </a:solidFill>
                <a:latin typeface="Georgia" pitchFamily="34" charset="0"/>
                <a:ea typeface="Georgia" pitchFamily="34" charset="-122"/>
                <a:cs typeface="Georgia" pitchFamily="34" charset="-120"/>
              </a:rPr>
              <a:t>Mosques and Hunayn</a:t>
            </a:r>
            <a:endParaRPr lang="en-US" sz="30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2 of 7</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17 – 37</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At-Tawbah • Madani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300" dirty="0">
                <a:solidFill>
                  <a:schemeClr val="tx1"/>
                </a:solidFill>
                <a:latin typeface="Arial" pitchFamily="34" charset="0"/>
                <a:ea typeface="Arial" pitchFamily="34" charset="-122"/>
                <a:cs typeface="Arial" pitchFamily="34" charset="-120"/>
              </a:rPr>
              <a:t>An-Nu'man ibn Bashir (may Allah be pleased with him) said: I was by the Prophet's (peace be upon him) pulpit. A man said: I do not care to do any deed after giving water to the pilgrims. Another said: Rather, maintaining Al-Masjid Al-Haram. Another said: Rather, jihad in the way of Allah. So this was revealed: “Do you make giving water to the pilgrims and maintaining Al-Masjid Al-Haram equal to one who believes in Allah...” (Muslim).</a:t>
            </a:r>
            <a:endParaRPr lang="en-US" sz="13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Who truly maintains Allah's mosques, putting love of Allah and His Messenger above everything, the lesson of Hunayn when their numbers pleased them, the deviation of the People of the Book, the punishment for hoarding wealth, and the sacred months.</a:t>
            </a:r>
            <a:endParaRPr lang="en-US" sz="15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At-Tawbah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17 – 18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17</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مَا كَانَ لِلْمُشْرِكِينَ أَن يَعْمُرُواْ مَسَٰجِدَ اللَّهِ شَٰهِدِينَ عَلَىٰ أَنفُسِهِم بِالْكُفْرِ أُوْلَـٰئِكَ حَبِطَتْ أَعْمَٰلُهُمْ وَفِي النَّارِ هُمْ خَٰلِدُونَ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It is not right for the idol-worshippers to maintain Allah's mosques while testifying to their own disbelief. Their deeds are lost, and in the Fire they will stay forever.</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18</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إِنَّمَا يَعْمُرُ مَسَٰجِدَ اللَّهِ مَنْ ءَامَنَ بِاللَّهِ وَالْيَوْمِ الْأخِرِ وَأَقَامَ الصَّلَوٰةَ وَءَاتَى الزَّكَوٰةَ وَلَمْ يَخْشَ إِلَّا اللَّهَ فَعَسَىٰ أُوْلَـٰئِكَ أَن يَكُونُواْ مِنَ الْمُهْتَدِينَ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Allah's mosques are only maintained by those who believe in Allah and the Last Day, perform the prayer, give the zakah, and fear none but Allah. It is hoped that they will be among the guided.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At-Tawbah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19 – 20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19</a:t>
            </a:r>
            <a:endParaRPr lang="en-US" sz="16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أَجَعَلْتُمْ سِقَايَةَ الْحَآجِّ وَعِمَارَةَ الْمَسْجِدِ الْحَرَامِ كَمَنْ ءَامَنَ بِاللَّهِ وَالْيَوْمِ الْأخِرِ وَجَٰهَدَ فِي سَبِيلِ اللَّهِ لَا يَسْتَوُنَ عِندَ اللَّهِ وَاللَّهُ لَا يَهْدِي الْقَوْمَ الظَّـٰلِمِينَ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you consider giving water to the pilgrims and maintaining Al-Masjid Al-Haram equal to the faith of one who believes in Allah and the Last Day and strives in the way of Allah? They are not equal with Allah, and Allah does not guide the wrongdoing people.</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20</a:t>
            </a:r>
            <a:endParaRPr lang="en-US" sz="16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الَّذِينَ ءَامَنُواْ وَهَاجَرُواْ وَجَٰهَدُواْ فِي سَبِيلِ اللَّهِ بِأَمْوَٰلِهِمْ وَأَنفُسِهِمْ أَعْظَمُ دَرَجَةً عِندَ اللَّهِ وَأُوْلَـٰئِكَ هُمُ الْفَآئِزُونَ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believed, emigrated and strove in the way of Allah with their wealth and lives have a greater rank with Allah, and they are the successful.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At-Tawbah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21 – 23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21</a:t>
            </a:r>
            <a:endParaRPr lang="en-US" sz="1600" dirty="0"/>
          </a:p>
        </p:txBody>
      </p:sp>
      <p:sp>
        <p:nvSpPr>
          <p:cNvPr id="8" name="Text 6"/>
          <p:cNvSpPr txBox="1"/>
          <p:nvPr/>
        </p:nvSpPr>
        <p:spPr>
          <a:xfrm>
            <a:off x="1444752" y="138760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يُبَشِّرُهُمْ رَبُّهُم بِرَحْمَةٍ مِّنْهُ وَرِضْوَٰنٍ وَجَنَّـٰتٍ لَّهُمْ فِيهَا نَعِيمٌ مُّقِيمٌ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Their Lord gives them good news of mercy from Him, His pleasure, and Gardens where they will have lasting bliss,</a:t>
            </a:r>
            <a:endParaRPr lang="en-US" sz="3000" dirty="0"/>
          </a:p>
        </p:txBody>
      </p:sp>
      <p:sp>
        <p:nvSpPr>
          <p:cNvPr id="9" name="Shape 7"/>
          <p:cNvSpPr/>
          <p:nvPr/>
        </p:nvSpPr>
        <p:spPr>
          <a:xfrm>
            <a:off x="1444752" y="2775204"/>
            <a:ext cx="8641080" cy="0"/>
          </a:xfrm>
          <a:prstGeom prst="line">
            <a:avLst/>
          </a:prstGeom>
          <a:noFill/>
          <a:ln w="9525">
            <a:solidFill>
              <a:schemeClr val="accent2"/>
            </a:solidFill>
            <a:prstDash val="dash"/>
          </a:ln>
        </p:spPr>
      </p:sp>
      <p:sp>
        <p:nvSpPr>
          <p:cNvPr id="10" name="Shape 8"/>
          <p:cNvSpPr/>
          <p:nvPr/>
        </p:nvSpPr>
        <p:spPr>
          <a:xfrm>
            <a:off x="713232" y="2955798"/>
            <a:ext cx="548640" cy="548640"/>
          </a:xfrm>
          <a:prstGeom prst="star8">
            <a:avLst/>
          </a:prstGeom>
          <a:solidFill>
            <a:schemeClr val="accent2"/>
          </a:solidFill>
          <a:ln/>
        </p:spPr>
      </p:sp>
      <p:sp>
        <p:nvSpPr>
          <p:cNvPr id="11" name="Shape 9"/>
          <p:cNvSpPr/>
          <p:nvPr/>
        </p:nvSpPr>
        <p:spPr>
          <a:xfrm>
            <a:off x="822960" y="30655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9557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22</a:t>
            </a:r>
            <a:endParaRPr lang="en-US" sz="1600" dirty="0"/>
          </a:p>
        </p:txBody>
      </p:sp>
      <p:sp>
        <p:nvSpPr>
          <p:cNvPr id="13" name="Text 11"/>
          <p:cNvSpPr txBox="1"/>
          <p:nvPr/>
        </p:nvSpPr>
        <p:spPr>
          <a:xfrm>
            <a:off x="1444752" y="29375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خَٰلِدِينَ فِيهَآ أَبَدًا إِنَّ اللَّهَ عِندَهُ أَجْرٌ عَظِيمٌ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staying there forever. With Allah is a great reward.</a:t>
            </a:r>
            <a:endParaRPr lang="en-US" sz="3000" dirty="0"/>
          </a:p>
        </p:txBody>
      </p:sp>
      <p:sp>
        <p:nvSpPr>
          <p:cNvPr id="14" name="Shape 12"/>
          <p:cNvSpPr/>
          <p:nvPr/>
        </p:nvSpPr>
        <p:spPr>
          <a:xfrm>
            <a:off x="1444752" y="4064508"/>
            <a:ext cx="8641080" cy="0"/>
          </a:xfrm>
          <a:prstGeom prst="line">
            <a:avLst/>
          </a:prstGeom>
          <a:noFill/>
          <a:ln w="9525">
            <a:solidFill>
              <a:schemeClr val="accent2"/>
            </a:solidFill>
            <a:prstDash val="dash"/>
          </a:ln>
        </p:spPr>
      </p:sp>
      <p:sp>
        <p:nvSpPr>
          <p:cNvPr id="15" name="Shape 13"/>
          <p:cNvSpPr/>
          <p:nvPr/>
        </p:nvSpPr>
        <p:spPr>
          <a:xfrm>
            <a:off x="713232" y="4245102"/>
            <a:ext cx="548640" cy="548640"/>
          </a:xfrm>
          <a:prstGeom prst="star8">
            <a:avLst/>
          </a:prstGeom>
          <a:solidFill>
            <a:schemeClr val="accent2"/>
          </a:solidFill>
          <a:ln/>
        </p:spPr>
      </p:sp>
      <p:sp>
        <p:nvSpPr>
          <p:cNvPr id="16" name="Shape 14"/>
          <p:cNvSpPr/>
          <p:nvPr/>
        </p:nvSpPr>
        <p:spPr>
          <a:xfrm>
            <a:off x="822960" y="435483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24510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23</a:t>
            </a:r>
            <a:endParaRPr lang="en-US" sz="1600" dirty="0"/>
          </a:p>
        </p:txBody>
      </p:sp>
      <p:sp>
        <p:nvSpPr>
          <p:cNvPr id="18" name="Text 16"/>
          <p:cNvSpPr txBox="1"/>
          <p:nvPr/>
        </p:nvSpPr>
        <p:spPr>
          <a:xfrm>
            <a:off x="1444752" y="422681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الَّذِينَ ءَامَنُواْ لَا تَتَّخِذُواْ ءَابَآءَكُمْ وَإِخْوَٰنَكُمْ أَوْلِيَآءَ إِنِ اسْتَحَبُّواْ الْكُفْرَ عَلَى الْإِيمَٰنِ وَمَن يَتَوَلَّهُم مِّنكُمْ فَأُوْلَـٰئِكَ هُمُ الظَّـٰلِمُونَ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believers, do not take your fathers and brothers as allies if they prefer disbelief over faith. Whoever of you takes them as allies, they are the wrongdoers.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At-Tawbah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24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420874"/>
            <a:ext cx="548640" cy="548640"/>
          </a:xfrm>
          <a:prstGeom prst="star8">
            <a:avLst/>
          </a:prstGeom>
          <a:solidFill>
            <a:schemeClr val="accent2"/>
          </a:solidFill>
          <a:ln/>
        </p:spPr>
      </p:sp>
      <p:sp>
        <p:nvSpPr>
          <p:cNvPr id="6" name="Shape 4"/>
          <p:cNvSpPr/>
          <p:nvPr/>
        </p:nvSpPr>
        <p:spPr>
          <a:xfrm>
            <a:off x="822960" y="253060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42087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24</a:t>
            </a:r>
            <a:endParaRPr lang="en-US" sz="1600" dirty="0"/>
          </a:p>
        </p:txBody>
      </p:sp>
      <p:sp>
        <p:nvSpPr>
          <p:cNvPr id="8" name="Text 6"/>
          <p:cNvSpPr txBox="1"/>
          <p:nvPr/>
        </p:nvSpPr>
        <p:spPr>
          <a:xfrm>
            <a:off x="1444752" y="2402586"/>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إِن كَانَ ءَابَآؤُكُمْ وَأَبْنَآؤُكُمْ وَإِخْوَٰنُكُمْ وَأَزْوَٰجُكُمْ وَعَشِيرَتُكُمْ وَأَمْوَٰلٌ اقْتَرَفْتُمُوهَا وَتِجَٰرَةٌ تَخْشَوْنَ كَسَادَهَا وَمَسَٰكِنُ تَرْضَوْنَهَآ أَحَبَّ إِلَيْكُم مِّنَ اللَّهِ وَرَسُولِهِ وَجِهَادٍ فِي سَبِيلِهِ فَتَرَبَّصُواْ حَتَّىٰ يَأْتِيَ اللَّهُ بِأَمْرِهِ وَاللَّهُ لَا يَهْدِي الْقَوْمَ الْفَٰسِقِينَ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If your fathers, sons, brothers, wives, relatives, the wealth you have earned, the trade you fear will slow down, and the homes you love are dearer to you than Allah, His Messenger and striving in His way, then wait until Allah brings His punishment. Allah does not guide the disobedient people.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At-Tawbah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25 – 26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63040"/>
            <a:ext cx="548640" cy="548640"/>
          </a:xfrm>
          <a:prstGeom prst="star8">
            <a:avLst/>
          </a:prstGeom>
          <a:solidFill>
            <a:schemeClr val="accent2"/>
          </a:solidFill>
          <a:ln/>
        </p:spPr>
      </p:sp>
      <p:sp>
        <p:nvSpPr>
          <p:cNvPr id="6" name="Shape 4"/>
          <p:cNvSpPr/>
          <p:nvPr/>
        </p:nvSpPr>
        <p:spPr>
          <a:xfrm>
            <a:off x="822960" y="157276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630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25</a:t>
            </a:r>
            <a:endParaRPr lang="en-US" sz="1600" dirty="0"/>
          </a:p>
        </p:txBody>
      </p:sp>
      <p:sp>
        <p:nvSpPr>
          <p:cNvPr id="8" name="Text 6"/>
          <p:cNvSpPr txBox="1"/>
          <p:nvPr/>
        </p:nvSpPr>
        <p:spPr>
          <a:xfrm>
            <a:off x="1444752" y="1444752"/>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لَقَدْ نَصَرَكُمُ اللَّهُ فِي مَوَاطِنَ كَثِيرَةٍ وَيَوْمَ حُنَيْنٍ إِذْ أَعْجَبَتْكُمْ كَثْرَتُكُمْ فَلَمْ تُغْنِ عَنكُمْ شَيْـًٔا وَضَاقَتْ عَلَيْكُمُ الْأَرْضُ بِمَا رَحُبَتْ ثُمَّ وَلَّيْتُم مُّدْبِرِينَ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has given you victory on many battlefields, and on the day of Hunayn, when your large numbers pleased you but did not help you at all, and the earth, wide as it is, felt tight around you, and you turned back in retreat.</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26</a:t>
            </a:r>
            <a:endParaRPr lang="en-US" sz="1600" dirty="0"/>
          </a:p>
        </p:txBody>
      </p:sp>
      <p:sp>
        <p:nvSpPr>
          <p:cNvPr id="13" name="Text 11"/>
          <p:cNvSpPr txBox="1"/>
          <p:nvPr/>
        </p:nvSpPr>
        <p:spPr>
          <a:xfrm>
            <a:off x="1444752" y="3909060"/>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أَنزَلَ اللَّهُ سَكِينَتَهُ عَلَىٰ رَسُولِهِ وَعَلَى الْمُؤْمِنِينَ وَأَنزَلَ جُنُودًا لَّمْ تَرَوْهَا وَعَذَّبَ الَّذِينَ كَفَرُواْ وَذَٰلِكَ جَزَآءُ الْكَٰفِرِينَ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Allah sent down His calm upon His Messenger and the believers, sent down armies of angels you did not see, and punished the disbelievers by killing and capture. That is the reward of the disbelievers.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At-Tawbah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27 – 28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27</a:t>
            </a:r>
            <a:endParaRPr lang="en-US" sz="1600" dirty="0"/>
          </a:p>
        </p:txBody>
      </p:sp>
      <p:sp>
        <p:nvSpPr>
          <p:cNvPr id="8" name="Text 6"/>
          <p:cNvSpPr txBox="1"/>
          <p:nvPr/>
        </p:nvSpPr>
        <p:spPr>
          <a:xfrm>
            <a:off x="1444752" y="19796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يَتُوبُ اللَّهُ مِن بَعْدِ ذَٰلِكَ عَلَىٰ مَن يَشَآءُ وَاللَّهُ غَفُورٌ رَّحِيمٌ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after that Allah accepts the repentance of whom He wills, and Allah is Forgiving, Most Merciful.</a:t>
            </a:r>
            <a:endParaRPr lang="en-US" sz="3000" dirty="0"/>
          </a:p>
        </p:txBody>
      </p:sp>
      <p:sp>
        <p:nvSpPr>
          <p:cNvPr id="9" name="Shape 7"/>
          <p:cNvSpPr/>
          <p:nvPr/>
        </p:nvSpPr>
        <p:spPr>
          <a:xfrm>
            <a:off x="1444752" y="3159252"/>
            <a:ext cx="8641080" cy="0"/>
          </a:xfrm>
          <a:prstGeom prst="line">
            <a:avLst/>
          </a:prstGeom>
          <a:noFill/>
          <a:ln w="9525">
            <a:solidFill>
              <a:schemeClr val="accent2"/>
            </a:solidFill>
            <a:prstDash val="dash"/>
          </a:ln>
        </p:spPr>
      </p:sp>
      <p:sp>
        <p:nvSpPr>
          <p:cNvPr id="10" name="Shape 8"/>
          <p:cNvSpPr/>
          <p:nvPr/>
        </p:nvSpPr>
        <p:spPr>
          <a:xfrm>
            <a:off x="713232" y="3392424"/>
            <a:ext cx="548640" cy="548640"/>
          </a:xfrm>
          <a:prstGeom prst="star8">
            <a:avLst/>
          </a:prstGeom>
          <a:solidFill>
            <a:schemeClr val="accent2"/>
          </a:solidFill>
          <a:ln/>
        </p:spPr>
      </p:sp>
      <p:sp>
        <p:nvSpPr>
          <p:cNvPr id="11" name="Shape 9"/>
          <p:cNvSpPr/>
          <p:nvPr/>
        </p:nvSpPr>
        <p:spPr>
          <a:xfrm>
            <a:off x="822960" y="350215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9242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28</a:t>
            </a:r>
            <a:endParaRPr lang="en-US" sz="1600" dirty="0"/>
          </a:p>
        </p:txBody>
      </p:sp>
      <p:sp>
        <p:nvSpPr>
          <p:cNvPr id="13" name="Text 11"/>
          <p:cNvSpPr txBox="1"/>
          <p:nvPr/>
        </p:nvSpPr>
        <p:spPr>
          <a:xfrm>
            <a:off x="1444752" y="3374136"/>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الَّذِينَ ءَامَنُواْ إِنَّمَا الْمُشْرِكُونَ نَجَسٌ فَلَا يَقْرَبُواْ الْمَسْجِدَ الْحَرَامَ بَعْدَ عَامِهِمْ هَٰذَا وَإِنْ خِفْتُمْ عَيْلَةً فَسَوْفَ يُغْنِيكُمُ اللَّهُ مِن فَضْلِهِ إِن شَآءَ إِنَّ اللَّهَ عَلِيمٌ حَكِيمٌ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believers, the idol-worshippers are impure because of their shirk, so let them not come near Al-Masjid Al-Haram after this year. If you fear poverty because their trade stops, Allah will make you rich from His favour if He wills. Allah is All-Knowing, All-Wise.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At-Tawbah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29 – 30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63040"/>
            <a:ext cx="548640" cy="548640"/>
          </a:xfrm>
          <a:prstGeom prst="star8">
            <a:avLst/>
          </a:prstGeom>
          <a:solidFill>
            <a:schemeClr val="accent2"/>
          </a:solidFill>
          <a:ln/>
        </p:spPr>
      </p:sp>
      <p:sp>
        <p:nvSpPr>
          <p:cNvPr id="6" name="Shape 4"/>
          <p:cNvSpPr/>
          <p:nvPr/>
        </p:nvSpPr>
        <p:spPr>
          <a:xfrm>
            <a:off x="822960" y="157276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630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29</a:t>
            </a:r>
            <a:endParaRPr lang="en-US" sz="1600" dirty="0"/>
          </a:p>
        </p:txBody>
      </p:sp>
      <p:sp>
        <p:nvSpPr>
          <p:cNvPr id="8" name="Text 6"/>
          <p:cNvSpPr txBox="1"/>
          <p:nvPr/>
        </p:nvSpPr>
        <p:spPr>
          <a:xfrm>
            <a:off x="1444752" y="1444752"/>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قَٰتِلُواْ الَّذِينَ لَا يُؤْمِنُونَ بِاللَّهِ وَلَا بِالْيَوْمِ الْأخِرِ وَلَا يُحَرِّمُونَ مَا حَرَّمَ اللَّهُ وَرَسُولُهُ وَلَا يَدِينُونَ دِينَ الْحَقِّ مِنَ الَّذِينَ أُوتُواْ الْكِتَٰبَ حَتَّىٰ يُعْطُواْ الْجِزْيَةَ عَن يَدٍ وَهُمْ صَٰغِرُونَ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Fight those of the People of the Book who do not truly believe in Allah or the Last Day, do not forbid what Allah and His Messenger have forbidden, and do not follow the religion of truth, until they pay the jizyah and submit to the rule of Islam.</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30</a:t>
            </a:r>
            <a:endParaRPr lang="en-US" sz="1600" dirty="0"/>
          </a:p>
        </p:txBody>
      </p:sp>
      <p:sp>
        <p:nvSpPr>
          <p:cNvPr id="13" name="Text 11"/>
          <p:cNvSpPr txBox="1"/>
          <p:nvPr/>
        </p:nvSpPr>
        <p:spPr>
          <a:xfrm>
            <a:off x="1444752" y="3909060"/>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وَقَالَتِ الْيَهُودُ عُزَيْرٌ ابْنُ اللَّهِ وَقَالَتِ النَّصَٰرَى الْمَسِيحُ ابْنُ اللَّهِ ذَٰلِكَ قَوْلُهُم بِأَفْوَٰهِهِمْ يُضَٰهِـُٔونَ قَوْلَ الَّذِينَ كَفَرُواْ مِن قَبْلُ قَٰتَلَهُمُ اللَّهُ أَنَّىٰ يُؤْفَكُونَ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 group of the Jews said: 'Uzayr is the son of Allah, and the Christians said: The Messiah is the son of Allah. That is a saying of their mouths with no proof, copying the words of the disbelievers before them. May Allah fight them; how are they turned away from the truth?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At-Tawbah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31 – 32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37360"/>
            <a:ext cx="548640" cy="548640"/>
          </a:xfrm>
          <a:prstGeom prst="star8">
            <a:avLst/>
          </a:prstGeom>
          <a:solidFill>
            <a:schemeClr val="accent2"/>
          </a:solidFill>
          <a:ln/>
        </p:spPr>
      </p:sp>
      <p:sp>
        <p:nvSpPr>
          <p:cNvPr id="6" name="Shape 4"/>
          <p:cNvSpPr/>
          <p:nvPr/>
        </p:nvSpPr>
        <p:spPr>
          <a:xfrm>
            <a:off x="822960" y="184708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3736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31</a:t>
            </a:r>
            <a:endParaRPr lang="en-US" sz="1600" dirty="0"/>
          </a:p>
        </p:txBody>
      </p:sp>
      <p:sp>
        <p:nvSpPr>
          <p:cNvPr id="8" name="Text 6"/>
          <p:cNvSpPr txBox="1"/>
          <p:nvPr/>
        </p:nvSpPr>
        <p:spPr>
          <a:xfrm>
            <a:off x="1444752" y="1719072"/>
            <a:ext cx="10012680" cy="232257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اتَّخَذُواْ أَحْبَارَهُمْ وَرُهْبَٰنَهُمْ أَرْبَابًا مِّن دُونِ اللَّهِ وَالْمَسِيحَ ابْنَ مَرْيَمَ وَمَآ أُمِرُواْ إِلَّا لِيَعْبُدُواْ إِلَٰهًا وَٰحِدًا لَّآ إِلَٰهَ إِلَّا هُوَ سُبْحَٰنَهُ عَمَّا يُشْرِكُونَ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took their scholars and monks as lords besides Allah, obeying them in making the forbidden lawful and the lawful forbidden, and also the Messiah son of Maryam, though they were commanded to worship only One God. There is no god but Him; glory be to Him above what they associate with Him.</a:t>
            </a:r>
            <a:endParaRPr lang="en-US" sz="3000" dirty="0"/>
          </a:p>
        </p:txBody>
      </p:sp>
      <p:sp>
        <p:nvSpPr>
          <p:cNvPr id="9" name="Shape 7"/>
          <p:cNvSpPr/>
          <p:nvPr/>
        </p:nvSpPr>
        <p:spPr>
          <a:xfrm>
            <a:off x="1444752" y="4229100"/>
            <a:ext cx="8641080" cy="0"/>
          </a:xfrm>
          <a:prstGeom prst="line">
            <a:avLst/>
          </a:prstGeom>
          <a:noFill/>
          <a:ln w="9525">
            <a:solidFill>
              <a:schemeClr val="accent2"/>
            </a:solidFill>
            <a:prstDash val="dash"/>
          </a:ln>
        </p:spPr>
      </p:sp>
      <p:sp>
        <p:nvSpPr>
          <p:cNvPr id="10" name="Shape 8"/>
          <p:cNvSpPr/>
          <p:nvPr/>
        </p:nvSpPr>
        <p:spPr>
          <a:xfrm>
            <a:off x="713232" y="4462272"/>
            <a:ext cx="548640" cy="548640"/>
          </a:xfrm>
          <a:prstGeom prst="star8">
            <a:avLst/>
          </a:prstGeom>
          <a:solidFill>
            <a:schemeClr val="accent2"/>
          </a:solidFill>
          <a:ln/>
        </p:spPr>
      </p:sp>
      <p:sp>
        <p:nvSpPr>
          <p:cNvPr id="11" name="Shape 9"/>
          <p:cNvSpPr/>
          <p:nvPr/>
        </p:nvSpPr>
        <p:spPr>
          <a:xfrm>
            <a:off x="822960" y="45720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4622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32</a:t>
            </a:r>
            <a:endParaRPr lang="en-US" sz="1600" dirty="0"/>
          </a:p>
        </p:txBody>
      </p:sp>
      <p:sp>
        <p:nvSpPr>
          <p:cNvPr id="13" name="Text 11"/>
          <p:cNvSpPr txBox="1"/>
          <p:nvPr/>
        </p:nvSpPr>
        <p:spPr>
          <a:xfrm>
            <a:off x="1444752" y="444398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يُرِيدُونَ أَن يُطْفِـُٔواْ نُورَ اللَّهِ بِأَفْوَٰهِهِمْ وَيَأْبَى اللَّهُ إِلَّآ أَن يُتِمَّ نُورَهُ وَلَوْ كَرِهَ الْكَٰفِرُونَ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want to put out the light of Islam with their false words, but Allah refuses anything but to complete His light, even though the disbelievers hate it.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At-Tawbah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33 – 34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88745"/>
            <a:ext cx="548640" cy="548640"/>
          </a:xfrm>
          <a:prstGeom prst="star8">
            <a:avLst/>
          </a:prstGeom>
          <a:solidFill>
            <a:schemeClr val="accent2"/>
          </a:solidFill>
          <a:ln/>
        </p:spPr>
      </p:sp>
      <p:sp>
        <p:nvSpPr>
          <p:cNvPr id="6" name="Shape 4"/>
          <p:cNvSpPr/>
          <p:nvPr/>
        </p:nvSpPr>
        <p:spPr>
          <a:xfrm>
            <a:off x="822960" y="1498473"/>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88745"/>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33</a:t>
            </a:r>
            <a:endParaRPr lang="en-US" sz="1600" dirty="0"/>
          </a:p>
        </p:txBody>
      </p:sp>
      <p:sp>
        <p:nvSpPr>
          <p:cNvPr id="8" name="Text 6"/>
          <p:cNvSpPr txBox="1"/>
          <p:nvPr/>
        </p:nvSpPr>
        <p:spPr>
          <a:xfrm>
            <a:off x="1444752" y="1370457"/>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هُوَ الَّذِي أَرْسَلَ رَسُولَهُ بِالْهُدَىٰ وَدِينِ الْحَقِّ لِيُظْهِرَهُ عَلَى الدِّينِ كُلِّهِ وَلَوْ كَرِهَ الْمُشْرِكُونَ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is the One who sent His Messenger with guidance and the religion of truth, to make it prevail over all religions, even though the idol-worshippers hate it.</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453003"/>
            <a:ext cx="548640" cy="548640"/>
          </a:xfrm>
          <a:prstGeom prst="star8">
            <a:avLst/>
          </a:prstGeom>
          <a:solidFill>
            <a:schemeClr val="accent2"/>
          </a:solidFill>
          <a:ln/>
        </p:spPr>
      </p:sp>
      <p:sp>
        <p:nvSpPr>
          <p:cNvPr id="11" name="Shape 9"/>
          <p:cNvSpPr/>
          <p:nvPr/>
        </p:nvSpPr>
        <p:spPr>
          <a:xfrm>
            <a:off x="822960" y="3562731"/>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45300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34</a:t>
            </a:r>
            <a:endParaRPr lang="en-US" sz="1600" dirty="0"/>
          </a:p>
        </p:txBody>
      </p:sp>
      <p:sp>
        <p:nvSpPr>
          <p:cNvPr id="13" name="Text 11"/>
          <p:cNvSpPr txBox="1"/>
          <p:nvPr/>
        </p:nvSpPr>
        <p:spPr>
          <a:xfrm>
            <a:off x="1444752" y="3434715"/>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الَّذِينَ ءَامَنُواْ إِنَّ كَثِيرًا مِّنَ الْأَحْبَارِ وَالرُّهْبَانِ لَيَأْكُلُونَ أَمْوَٰلَ النَّاسِ بِالْبَٰطِلِ وَيَصُدُّونَ عَن سَبِيلِ اللَّهِ وَالَّذِينَ يَكْنِزُونَ الذَّهَبَ وَالْفِضَّةَ وَلَا يُنفِقُونَهَا فِي سَبِيلِ اللَّهِ فَبَشِّرْهُم بِعَذَابٍ أَلِيمٍ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believers, many of the scholars and monks of the People of the Book take people's wealth unjustly and block them from Allah's religion. Those who hoard gold and silver and do not pay their zakah, give them news of a painful punishment,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At-Tawbah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35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825496"/>
            <a:ext cx="548640" cy="548640"/>
          </a:xfrm>
          <a:prstGeom prst="star8">
            <a:avLst/>
          </a:prstGeom>
          <a:solidFill>
            <a:schemeClr val="accent2"/>
          </a:solidFill>
          <a:ln/>
        </p:spPr>
      </p:sp>
      <p:sp>
        <p:nvSpPr>
          <p:cNvPr id="6" name="Shape 4"/>
          <p:cNvSpPr/>
          <p:nvPr/>
        </p:nvSpPr>
        <p:spPr>
          <a:xfrm>
            <a:off x="822960" y="293522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35</a:t>
            </a:r>
            <a:endParaRPr lang="en-US" sz="1600" dirty="0"/>
          </a:p>
        </p:txBody>
      </p:sp>
      <p:sp>
        <p:nvSpPr>
          <p:cNvPr id="8" name="Text 6"/>
          <p:cNvSpPr txBox="1"/>
          <p:nvPr/>
        </p:nvSpPr>
        <p:spPr>
          <a:xfrm>
            <a:off x="1444752" y="280720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يَوْمَ يُحْمَىٰ عَلَيْهَا فِي نَارِ جَهَنَّمَ فَتُكْوَىٰ بِهَا جِبَاهُهُمْ وَجُنُوبُهُمْ وَظُهُورُهُمْ هَٰذَا مَا كَنَزْتُمْ لِأَنفُسِكُمْ فَذُوقُواْ مَا كُنتُمْ تَكْنِزُونَ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 the Day it will be heated in the fire of Hell and their foreheads, sides and backs branded with it: This is what you hoarded for yourselves, so taste what you used to hoard.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At-Tawbah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36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290572"/>
            <a:ext cx="548640" cy="548640"/>
          </a:xfrm>
          <a:prstGeom prst="star8">
            <a:avLst/>
          </a:prstGeom>
          <a:solidFill>
            <a:schemeClr val="accent2"/>
          </a:solidFill>
          <a:ln/>
        </p:spPr>
      </p:sp>
      <p:sp>
        <p:nvSpPr>
          <p:cNvPr id="6" name="Shape 4"/>
          <p:cNvSpPr/>
          <p:nvPr/>
        </p:nvSpPr>
        <p:spPr>
          <a:xfrm>
            <a:off x="822960" y="240030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2905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36</a:t>
            </a:r>
            <a:endParaRPr lang="en-US" sz="1600" dirty="0"/>
          </a:p>
        </p:txBody>
      </p:sp>
      <p:sp>
        <p:nvSpPr>
          <p:cNvPr id="8" name="Text 6"/>
          <p:cNvSpPr txBox="1"/>
          <p:nvPr/>
        </p:nvSpPr>
        <p:spPr>
          <a:xfrm>
            <a:off x="1444752" y="2272284"/>
            <a:ext cx="10012680" cy="287121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عِدَّةَ الشُّهُورِ عِندَ اللَّهِ اثْنَا عَشَرَ شَهْرًا فِي كِتَٰبِ اللَّهِ يَوْمَ خَلَقَ السَّمَٰوَٰتِ وَالْأَرْضَ مِنْهَآ أَرْبَعَةٌ حُرُمٌ ذَٰلِكَ الدِّينُ الْقَيِّمُ فَلَا تَظْلِمُواْ فِيهِنَّ أَنفُسَكُمْ وَقَٰتِلُواْ الْمُشْرِكِينَ كَآفَّةً كَمَا يُقَٰتِلُونَكُمْ كَآفَّةً وَاعْلَمُواْ أَنَّ اللَّهَ مَعَ الْمُتَّقِينَ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number of months with Allah is twelve in the Preserved Tablet since the day He created the heavens and the earth. Four of them are sacred: Dhul-Qa'dah, Dhul-Hijjah, Muharram and Rajab. That is the upright religion, so do not wrong yourselves with sins in them. Fight the idol-worshippers all together as they fight you all together, and know that Allah is with those with taqwa.</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At-Tawbah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37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290572"/>
            <a:ext cx="548640" cy="548640"/>
          </a:xfrm>
          <a:prstGeom prst="star8">
            <a:avLst/>
          </a:prstGeom>
          <a:solidFill>
            <a:schemeClr val="accent2"/>
          </a:solidFill>
          <a:ln/>
        </p:spPr>
      </p:sp>
      <p:sp>
        <p:nvSpPr>
          <p:cNvPr id="6" name="Shape 4"/>
          <p:cNvSpPr/>
          <p:nvPr/>
        </p:nvSpPr>
        <p:spPr>
          <a:xfrm>
            <a:off x="822960" y="240030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2905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37</a:t>
            </a:r>
            <a:endParaRPr lang="en-US" sz="1600" dirty="0"/>
          </a:p>
        </p:txBody>
      </p:sp>
      <p:sp>
        <p:nvSpPr>
          <p:cNvPr id="8" name="Text 6"/>
          <p:cNvSpPr txBox="1"/>
          <p:nvPr/>
        </p:nvSpPr>
        <p:spPr>
          <a:xfrm>
            <a:off x="1444752" y="2272284"/>
            <a:ext cx="10012680" cy="287121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إِنَّمَا النَّسِيءُ زِيَادَةٌ فِي الْكُفْرِ يُضَلُّ بِهِ الَّذِينَ كَفَرُواْ يُحِلُّونَهُ عَامًا وَيُحَرِّمُونَهُ عَامًا لِّيُوَاطِـُٔواْ عِدَّةَ مَا حَرَّمَ اللَّهُ فَيُحِلُّواْ مَا حَرَّمَ اللَّهُ زُيِّنَ لَهُمْ سُوءُ أَعْمَٰلِهِمْ وَاللَّهُ لَا يَهْدِي الْقَوْمَ الْكَٰفِرِينَ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Moving the sacredness of a month to another month is an increase in disbelief by which the disbelievers are led astray. They make it lawful one year and forbidden another, to match the number of months Allah made sacred, so they make lawful what Allah forbade. Their evil deeds are made to look good to them, and Allah does not guide the disbelieving people.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2500" b="1" dirty="0">
                <a:solidFill>
                  <a:schemeClr val="accent2"/>
                </a:solidFill>
                <a:latin typeface="Georgia" pitchFamily="34" charset="0"/>
                <a:ea typeface="Georgia" pitchFamily="34" charset="-122"/>
                <a:cs typeface="Georgia" pitchFamily="34" charset="-120"/>
              </a:rPr>
              <a:t>Tabuk and Those Behind</a:t>
            </a:r>
            <a:endParaRPr lang="en-US" sz="25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3 of 7</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38 – 59</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At-Tawbah • Madani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400" dirty="0">
                <a:solidFill>
                  <a:schemeClr val="tx1"/>
                </a:solidFill>
                <a:latin typeface="Arial" pitchFamily="34" charset="0"/>
                <a:ea typeface="Arial" pitchFamily="34" charset="-122"/>
                <a:cs typeface="Arial" pitchFamily="34" charset="-120"/>
              </a:rPr>
              <a:t>Ibn Kathir mentions that while preparing for Tabuk, the Prophet (peace be upon him) asked Al-Jadd ibn Qays: "Will you fight the Romans?" He said: Allow me to stay and do not put me to temptation; I fear I will not be able to resist their women. So this was revealed: “Among them is one who says: Allow me and do not put me to temptation. Surely they have fallen into temptation”.</a:t>
            </a:r>
            <a:endParaRPr lang="en-US" sz="14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Encouraging going out to Tabuk in the heat and hardship, a reminder of Allah's help to His Prophet in the cave, and exposing the false excuses and states of the hypocrites.</a:t>
            </a:r>
            <a:endParaRPr lang="en-US" sz="17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At-Tawbah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38 – 39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38</a:t>
            </a:r>
            <a:endParaRPr lang="en-US" sz="16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الَّذِينَ ءَامَنُواْ مَا لَكُمْ إِذَا قِيلَ لَكُمُ انفِرُواْ فِي سَبِيلِ اللَّهِ اثَّاقَلْتُمْ إِلَى الْأَرْضِ أَرَضِيتُم بِالْحَيَوٰةِ الدُّنْيَا مِنَ الْأخِرَةِ فَمَا مَتَٰعُ الْحَيَوٰةِ الدُّنْيَا فِي الْأخِرَةِ إِلَّا قَلِيلٌ</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believers, what is wrong with you that when you are told: Go out to strive in the way of Allah, you are lazy and cling to the ground? Are you pleased with the life of this world instead of the Hereafter? The enjoyment of this world is little compared to the Hereafter.</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39</a:t>
            </a:r>
            <a:endParaRPr lang="en-US" sz="16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إِلَّا تَنفِرُواْ يُعَذِّبْكُمْ عَذَابًا أَلِيمًا وَيَسْتَبْدِلْ قَوْمًا غَيْرَكُمْ وَلَا تَضُرُّوهُ شَيْـًٔا وَاللَّهُ عَلَىٰ كُلِّ شَيْءٍ قَدِيرٌ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you do not go out to strive, He will punish you with a painful punishment and replace you with another people, and you will not harm Him at all. Allah has power over all things.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At-Tawbah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40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160270"/>
            <a:ext cx="548640" cy="548640"/>
          </a:xfrm>
          <a:prstGeom prst="star8">
            <a:avLst/>
          </a:prstGeom>
          <a:solidFill>
            <a:schemeClr val="accent2"/>
          </a:solidFill>
          <a:ln/>
        </p:spPr>
      </p:sp>
      <p:sp>
        <p:nvSpPr>
          <p:cNvPr id="6" name="Shape 4"/>
          <p:cNvSpPr/>
          <p:nvPr/>
        </p:nvSpPr>
        <p:spPr>
          <a:xfrm>
            <a:off x="822960" y="226999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16027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40</a:t>
            </a:r>
            <a:endParaRPr lang="en-US" sz="1600" dirty="0"/>
          </a:p>
        </p:txBody>
      </p:sp>
      <p:sp>
        <p:nvSpPr>
          <p:cNvPr id="8" name="Text 6"/>
          <p:cNvSpPr txBox="1"/>
          <p:nvPr/>
        </p:nvSpPr>
        <p:spPr>
          <a:xfrm>
            <a:off x="1444752" y="2141982"/>
            <a:ext cx="10012680" cy="3131820"/>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إِلَّا تَنصُرُوهُ فَقَدْ نَصَرَهُ اللَّهُ إِذْ أَخْرَجَهُ الَّذِينَ كَفَرُواْ ثَانِيَ اثْنَيْنِ إِذْ هُمَا فِي الْغَارِ إِذْ يَقُولُ لِصَٰحِبِهِ لَا تَحْزَنْ إِنَّ اللَّهَ مَعَنَا فَأَنزَلَ اللَّهُ سَكِينَتَهُ عَلَيْهِ وَأَيَّدَهُ بِجُنُودٍ لَّمْ تَرَوْهَا وَجَعَلَ كَلِمَةَ الَّذِينَ كَفَرُواْ السُّفْلَىٰ وَكَلِمَةُ اللَّهِ هِيَ الْعُلْيَا وَاللَّهُ عَزِيزٌ حَكِيمٌ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you do not help the Messenger, Allah helped him when the disbelievers drove him out of Makkah, the second of two, he and Abu Bakr, when they were in the cave of Thawr, when he said to his companion: Do not grieve; Allah is with us. So Allah sent down His calm upon him, supported him with armies you did not see, and made the word of the disbelievers the lowest, while Allah's word is the highest. Allah is Almighty, All-Wise.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At-Tawbah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41 – 42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41</a:t>
            </a:r>
            <a:endParaRPr lang="en-US" sz="1600" dirty="0"/>
          </a:p>
        </p:txBody>
      </p:sp>
      <p:sp>
        <p:nvSpPr>
          <p:cNvPr id="8" name="Text 6"/>
          <p:cNvSpPr txBox="1"/>
          <p:nvPr/>
        </p:nvSpPr>
        <p:spPr>
          <a:xfrm>
            <a:off x="1444752" y="157505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انفِرُواْ خِفَافًا وَثِقَالًا وَجَٰهِدُواْ بِأَمْوَٰلِكُمْ وَأَنفُسِكُمْ فِي سَبِيلِ اللَّهِ ذَٰلِكُمْ خَيْرٌ لَّكُمْ إِن كُنتُمْ تَعْلَمُونَ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Go out to strive, whether light or heavy, rich or poor, and strive with your wealth and your lives in the way of Allah. That is better for you, if you only knew.</a:t>
            </a:r>
            <a:endParaRPr lang="en-US" sz="3000" dirty="0"/>
          </a:p>
        </p:txBody>
      </p:sp>
      <p:sp>
        <p:nvSpPr>
          <p:cNvPr id="9" name="Shape 7"/>
          <p:cNvSpPr/>
          <p:nvPr/>
        </p:nvSpPr>
        <p:spPr>
          <a:xfrm>
            <a:off x="1444752" y="3563874"/>
            <a:ext cx="8641080" cy="0"/>
          </a:xfrm>
          <a:prstGeom prst="line">
            <a:avLst/>
          </a:prstGeom>
          <a:noFill/>
          <a:ln w="9525">
            <a:solidFill>
              <a:schemeClr val="accent2"/>
            </a:solidFill>
            <a:prstDash val="dash"/>
          </a:ln>
        </p:spPr>
      </p:sp>
      <p:sp>
        <p:nvSpPr>
          <p:cNvPr id="10" name="Shape 8"/>
          <p:cNvSpPr/>
          <p:nvPr/>
        </p:nvSpPr>
        <p:spPr>
          <a:xfrm>
            <a:off x="713232" y="3797046"/>
            <a:ext cx="548640" cy="548640"/>
          </a:xfrm>
          <a:prstGeom prst="star8">
            <a:avLst/>
          </a:prstGeom>
          <a:solidFill>
            <a:schemeClr val="accent2"/>
          </a:solidFill>
          <a:ln/>
        </p:spPr>
      </p:sp>
      <p:sp>
        <p:nvSpPr>
          <p:cNvPr id="11" name="Shape 9"/>
          <p:cNvSpPr/>
          <p:nvPr/>
        </p:nvSpPr>
        <p:spPr>
          <a:xfrm>
            <a:off x="822960" y="390677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7970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42</a:t>
            </a:r>
            <a:endParaRPr lang="en-US" sz="1600" dirty="0"/>
          </a:p>
        </p:txBody>
      </p:sp>
      <p:sp>
        <p:nvSpPr>
          <p:cNvPr id="13" name="Text 11"/>
          <p:cNvSpPr txBox="1"/>
          <p:nvPr/>
        </p:nvSpPr>
        <p:spPr>
          <a:xfrm>
            <a:off x="1444752" y="377875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لَوْ كَانَ عَرَضًا قَرِيبًا وَسَفَرًا قَاصِدًا لَّاتَّبَعُوكَ وَلَٰكِن بَعُدَتْ عَلَيْهِمُ الشُّقَّةُ وَسَيَحْلِفُونَ بِاللَّهِ لَوِ اسْتَطَعْنَا لَخَرَجْنَا مَعَكُمْ يُهْلِكُونَ أَنفُسَهُمْ وَاللَّهُ يَعْلَمُ إِنَّهُمْ لَكَٰذِبُونَ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it had been an easy gain and a short journey, the hypocrites would have followed you, but the distance to Tabuk seemed too far for them. They will swear by Allah: If we could, we would have gone out with you. They destroy themselves with lies, and Allah knows they are liars.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At-Tawbah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43 – 44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43</a:t>
            </a:r>
            <a:endParaRPr lang="en-US" sz="1600" dirty="0"/>
          </a:p>
        </p:txBody>
      </p:sp>
      <p:sp>
        <p:nvSpPr>
          <p:cNvPr id="8" name="Text 6"/>
          <p:cNvSpPr txBox="1"/>
          <p:nvPr/>
        </p:nvSpPr>
        <p:spPr>
          <a:xfrm>
            <a:off x="1444752" y="197967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عَفَا اللَّهُ عَنكَ لِمَ أَذِنتَ لَهُمْ حَتَّىٰ يَتَبَيَّنَ لَكَ الَّذِينَ صَدَقُواْ وَتَعْلَمَ الْكَٰذِبِينَ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May Allah pardon you, O Muhammad! Why did you allow them to stay behind before it became clear to you who was truthful in their excuses and you knew the liars?</a:t>
            </a:r>
            <a:endParaRPr lang="en-US" sz="3000" dirty="0"/>
          </a:p>
        </p:txBody>
      </p:sp>
      <p:sp>
        <p:nvSpPr>
          <p:cNvPr id="9" name="Shape 7"/>
          <p:cNvSpPr/>
          <p:nvPr/>
        </p:nvSpPr>
        <p:spPr>
          <a:xfrm>
            <a:off x="1444752" y="3419856"/>
            <a:ext cx="8641080" cy="0"/>
          </a:xfrm>
          <a:prstGeom prst="line">
            <a:avLst/>
          </a:prstGeom>
          <a:noFill/>
          <a:ln w="9525">
            <a:solidFill>
              <a:schemeClr val="accent2"/>
            </a:solidFill>
            <a:prstDash val="dash"/>
          </a:ln>
        </p:spPr>
      </p:sp>
      <p:sp>
        <p:nvSpPr>
          <p:cNvPr id="10" name="Shape 8"/>
          <p:cNvSpPr/>
          <p:nvPr/>
        </p:nvSpPr>
        <p:spPr>
          <a:xfrm>
            <a:off x="713232" y="3653028"/>
            <a:ext cx="548640" cy="548640"/>
          </a:xfrm>
          <a:prstGeom prst="star8">
            <a:avLst/>
          </a:prstGeom>
          <a:solidFill>
            <a:schemeClr val="accent2"/>
          </a:solidFill>
          <a:ln/>
        </p:spPr>
      </p:sp>
      <p:sp>
        <p:nvSpPr>
          <p:cNvPr id="11" name="Shape 9"/>
          <p:cNvSpPr/>
          <p:nvPr/>
        </p:nvSpPr>
        <p:spPr>
          <a:xfrm>
            <a:off x="822960" y="376275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5302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44</a:t>
            </a:r>
            <a:endParaRPr lang="en-US" sz="1600" dirty="0"/>
          </a:p>
        </p:txBody>
      </p:sp>
      <p:sp>
        <p:nvSpPr>
          <p:cNvPr id="13" name="Text 11"/>
          <p:cNvSpPr txBox="1"/>
          <p:nvPr/>
        </p:nvSpPr>
        <p:spPr>
          <a:xfrm>
            <a:off x="1444752" y="363474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لَا يَسْتَـْٔذِنُكَ الَّذِينَ يُؤْمِنُونَ بِاللَّهِ وَالْيَوْمِ الْأخِرِ أَن يُجَٰهِدُواْ بِأَمْوَٰلِهِمْ وَأَنفُسِهِمْ وَاللَّهُ عَلِيمٌ بِالْمُتَّقِينَ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believe in Allah and the Last Day do not ask your permission to avoid striving with their wealth and lives, and Allah knows those with taqwa.</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At-Tawbah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45 – 46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45</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إِنَّمَا يَسْتَـْٔذِنُكَ الَّذِينَ لَا يُؤْمِنُونَ بِاللَّهِ وَالْيَوْمِ الْأخِرِ وَارْتَابَتْ قُلُوبُهُمْ فَهُمْ فِي رَيْبِهِمْ يَتَرَدَّدُونَ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Only those ask your permission who do not believe in Allah and the Last Day and whose hearts doubt; in their doubt they waver.</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46</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وَلَوْ أَرَادُواْ الْخُرُوجَ لَأَعَدُّواْ لَهُ عُدَّةً وَلَٰكِن كَرِهَ اللَّهُ انبِعَاثَهُمْ فَثَبَّطَهُمْ وَقِيلَ اقْعُدُواْ مَعَ الْقَٰعِدِينَ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they had wanted to go out, they would have prepared for it, but Allah disliked their going out, so He held them back, and it was said: Stay behind with those who stay behind.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At-Tawbah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47 – 48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47</a:t>
            </a:r>
            <a:endParaRPr lang="en-US" sz="16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لَوْ خَرَجُواْ فِيكُم مَّا زَادُوكُمْ إِلَّا خَبَالًا وَلَأَوْضَعُواْ خِلَٰلَكُمْ يَبْغُونَكُمُ الْفِتْنَةَ وَفِيكُمْ سَمَّـٰعُونَ لَهُمْ وَاللَّهُ عَلِيمٌ بِالظَّـٰلِمِينَ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they had gone out with you, they would have added nothing but trouble, rushing among you spreading gossip and wanting trouble for you, and some among you listen to them. Allah knows the wrongdoers.</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48</a:t>
            </a:r>
            <a:endParaRPr lang="en-US" sz="16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لَقَدِ ابْتَغَوُاْ الْفِتْنَةَ مِن قَبْلُ وَقَلَّبُواْ لَكَ الْأُمُورَ حَتَّىٰ جَآءَ الْحَقُّ وَظَهَرَ أَمْرُ اللَّهِ وَهُمْ كَٰرِهُونَ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sought to cause trouble before and plotted against you, until victory came and Allah's religion prevailed, though they hated it.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At-Tawbah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49 – 50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49</a:t>
            </a:r>
            <a:endParaRPr lang="en-US" sz="16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وَمِنْهُم مَّن يَقُولُ ائْذَن لِّي وَلَا تَفْتِنِّي أَلَا فِي الْفِتْنَةِ سَقَطُواْ وَإِنَّ جَهَنَّمَ لَمُحِيطَةٌ بِالْكَٰفِرِينَ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Among the hypocrites is one who says: Allow me to stay behind and do not put me to temptation. Surely they have already fallen into temptation by staying behind, and Hell surrounds the disbelievers.</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50</a:t>
            </a:r>
            <a:endParaRPr lang="en-US" sz="16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تُصِبْكَ حَسَنَةٌ تَسُؤْهُمْ وَإِن تُصِبْكَ مُصِيبَةٌ يَقُولُواْ قَدْ أَخَذْنَآ أَمْرَنَا مِن قَبْلُ وَيَتَوَلَّواْ وَّهُمْ فَرِحُونَ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good, like victory and gains, comes to you, it upsets them; and if a disaster strikes you, they say: We took our precautions by staying behind, and they turn away happy.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At-Tawbah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51 – 52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51</a:t>
            </a:r>
            <a:endParaRPr lang="en-US" sz="1600" dirty="0"/>
          </a:p>
        </p:txBody>
      </p:sp>
      <p:sp>
        <p:nvSpPr>
          <p:cNvPr id="8" name="Text 6"/>
          <p:cNvSpPr txBox="1"/>
          <p:nvPr/>
        </p:nvSpPr>
        <p:spPr>
          <a:xfrm>
            <a:off x="1444752" y="184937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لَّن يُصِيبَنَآ إِلَّا مَا كَتَبَ اللَّهُ لَنَا هُوَ مَوْلَىٰنَا وَعَلَى اللَّهِ فَلْيَتَوَكَّلِ الْمُؤْمِنُونَ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Nothing will happen to us except what Allah has written for us. He is our Protector, and in Allah let the believers put their trust.</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522726"/>
            <a:ext cx="548640" cy="548640"/>
          </a:xfrm>
          <a:prstGeom prst="star8">
            <a:avLst/>
          </a:prstGeom>
          <a:solidFill>
            <a:schemeClr val="accent2"/>
          </a:solidFill>
          <a:ln/>
        </p:spPr>
      </p:sp>
      <p:sp>
        <p:nvSpPr>
          <p:cNvPr id="11" name="Shape 9"/>
          <p:cNvSpPr/>
          <p:nvPr/>
        </p:nvSpPr>
        <p:spPr>
          <a:xfrm>
            <a:off x="822960" y="363245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2272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52</a:t>
            </a:r>
            <a:endParaRPr lang="en-US" sz="1600" dirty="0"/>
          </a:p>
        </p:txBody>
      </p:sp>
      <p:sp>
        <p:nvSpPr>
          <p:cNvPr id="13" name="Text 11"/>
          <p:cNvSpPr txBox="1"/>
          <p:nvPr/>
        </p:nvSpPr>
        <p:spPr>
          <a:xfrm>
            <a:off x="1444752" y="350443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هَلْ تَرَبَّصُونَ بِنَآ إِلَّآ إِحْدَى الْحُسْنَيَيْنِ وَنَحْنُ نَتَرَبَّصُ بِكُمْ أَن يُصِيبَكُمُ اللَّهُ بِعَذَابٍ مِّنْ عِندِهِ أَوْ بِأَيْدِينَا فَتَرَبَّصُواْ إِنَّا مَعَكُم مُّتَرَبِّصُونَ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Are you waiting for anything to happen to us except one of the two best things: victory or martyrdom? And we are waiting for Allah to strike you with punishment from Himself or by our hands. So wait; we are waiting with you.</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At-Tawbah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53 – 54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53</a:t>
            </a:r>
            <a:endParaRPr lang="en-US" sz="1600" dirty="0"/>
          </a:p>
        </p:txBody>
      </p:sp>
      <p:sp>
        <p:nvSpPr>
          <p:cNvPr id="8" name="Text 6"/>
          <p:cNvSpPr txBox="1"/>
          <p:nvPr/>
        </p:nvSpPr>
        <p:spPr>
          <a:xfrm>
            <a:off x="1444752" y="197967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أَنفِقُواْ طَوْعًا أَوْ كَرْهًا لَّن يُتَقَبَّلَ مِنكُمْ إِنَّكُمْ كُنتُمْ قَوْمًا فَٰسِقِينَ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Spend willingly or unwillingly; it will not be accepted from you, for you have been a disobedient people.</a:t>
            </a:r>
            <a:endParaRPr lang="en-US" sz="3000" dirty="0"/>
          </a:p>
        </p:txBody>
      </p:sp>
      <p:sp>
        <p:nvSpPr>
          <p:cNvPr id="9" name="Shape 7"/>
          <p:cNvSpPr/>
          <p:nvPr/>
        </p:nvSpPr>
        <p:spPr>
          <a:xfrm>
            <a:off x="1444752" y="3419856"/>
            <a:ext cx="8641080" cy="0"/>
          </a:xfrm>
          <a:prstGeom prst="line">
            <a:avLst/>
          </a:prstGeom>
          <a:noFill/>
          <a:ln w="9525">
            <a:solidFill>
              <a:schemeClr val="accent2"/>
            </a:solidFill>
            <a:prstDash val="dash"/>
          </a:ln>
        </p:spPr>
      </p:sp>
      <p:sp>
        <p:nvSpPr>
          <p:cNvPr id="10" name="Shape 8"/>
          <p:cNvSpPr/>
          <p:nvPr/>
        </p:nvSpPr>
        <p:spPr>
          <a:xfrm>
            <a:off x="713232" y="3653028"/>
            <a:ext cx="548640" cy="548640"/>
          </a:xfrm>
          <a:prstGeom prst="star8">
            <a:avLst/>
          </a:prstGeom>
          <a:solidFill>
            <a:schemeClr val="accent2"/>
          </a:solidFill>
          <a:ln/>
        </p:spPr>
      </p:sp>
      <p:sp>
        <p:nvSpPr>
          <p:cNvPr id="11" name="Shape 9"/>
          <p:cNvSpPr/>
          <p:nvPr/>
        </p:nvSpPr>
        <p:spPr>
          <a:xfrm>
            <a:off x="822960" y="376275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5302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54</a:t>
            </a:r>
            <a:endParaRPr lang="en-US" sz="1600" dirty="0"/>
          </a:p>
        </p:txBody>
      </p:sp>
      <p:sp>
        <p:nvSpPr>
          <p:cNvPr id="13" name="Text 11"/>
          <p:cNvSpPr txBox="1"/>
          <p:nvPr/>
        </p:nvSpPr>
        <p:spPr>
          <a:xfrm>
            <a:off x="1444752" y="363474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مَنَعَهُمْ أَن تُقْبَلَ مِنْهُمْ نَفَقَٰتُهُمْ إِلَّآ أَنَّهُمْ كَفَرُواْ بِاللَّهِ وَبِرَسُولِهِ وَلَا يَأْتُونَ الصَّلَوٰةَ إِلَّا وَهُمْ كُسَالَىٰ وَلَا يُنفِقُونَ إِلَّا وَهُمْ كَٰرِهُونَ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only thing stopping their spending from being accepted is that they disbelieve in Allah and His Messenger, come to prayer only lazily, and spend only unwillingly.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At-Tawbah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55 – 56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55</a:t>
            </a:r>
            <a:endParaRPr lang="en-US" sz="1600" dirty="0"/>
          </a:p>
        </p:txBody>
      </p:sp>
      <p:sp>
        <p:nvSpPr>
          <p:cNvPr id="8" name="Text 6"/>
          <p:cNvSpPr txBox="1"/>
          <p:nvPr/>
        </p:nvSpPr>
        <p:spPr>
          <a:xfrm>
            <a:off x="1444752" y="184937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فَلَا تُعْجِبْكَ أَمْوَٰلُهُمْ وَلَآ أَوْلَٰدُهُمْ إِنَّمَا يُرِيدُ اللَّهُ لِيُعَذِّبَهُم بِهَا فِي الْحَيَوٰةِ الدُّنْيَا وَتَزْهَقَ أَنفُسُهُمْ وَهُمْ كَٰفِرُونَ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do not let their wealth and children impress you. Allah only wants to punish them with these in the life of this world, through the effort of gathering them and the fear of losing them, and for their souls to leave them while they are disbelievers.</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56</a:t>
            </a:r>
            <a:endParaRPr lang="en-US" sz="1600" dirty="0"/>
          </a:p>
        </p:txBody>
      </p:sp>
      <p:sp>
        <p:nvSpPr>
          <p:cNvPr id="13" name="Text 11"/>
          <p:cNvSpPr txBox="1"/>
          <p:nvPr/>
        </p:nvSpPr>
        <p:spPr>
          <a:xfrm>
            <a:off x="1444752" y="431368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وَيَحْلِفُونَ بِاللَّهِ إِنَّهُمْ لَمِنكُمْ وَمَا هُم مِّنكُمْ وَلَٰكِنَّهُمْ قَوْمٌ يَفْرَقُونَ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swear by Allah that they are with you, but they are not with you; they are a people who are afraid, so they show Islam.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At-Tawbah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57 – 58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57</a:t>
            </a:r>
            <a:endParaRPr lang="en-US" sz="1600" dirty="0"/>
          </a:p>
        </p:txBody>
      </p:sp>
      <p:sp>
        <p:nvSpPr>
          <p:cNvPr id="8" name="Text 6"/>
          <p:cNvSpPr txBox="1"/>
          <p:nvPr/>
        </p:nvSpPr>
        <p:spPr>
          <a:xfrm>
            <a:off x="1444752" y="197967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لَوْ يَجِدُونَ مَلْجَـًٔا أَوْ مَغَٰرَٰتٍ أَوْ مُدَّخَلًا لَّوَلَّوْاْ إِلَيْهِ وَهُمْ يَجْمَحُونَ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they could find a shelter, caves or any place to enter, they would rush there running away from you.</a:t>
            </a:r>
            <a:endParaRPr lang="en-US" sz="3000" dirty="0"/>
          </a:p>
        </p:txBody>
      </p:sp>
      <p:sp>
        <p:nvSpPr>
          <p:cNvPr id="9" name="Shape 7"/>
          <p:cNvSpPr/>
          <p:nvPr/>
        </p:nvSpPr>
        <p:spPr>
          <a:xfrm>
            <a:off x="1444752" y="3419856"/>
            <a:ext cx="8641080" cy="0"/>
          </a:xfrm>
          <a:prstGeom prst="line">
            <a:avLst/>
          </a:prstGeom>
          <a:noFill/>
          <a:ln w="9525">
            <a:solidFill>
              <a:schemeClr val="accent2"/>
            </a:solidFill>
            <a:prstDash val="dash"/>
          </a:ln>
        </p:spPr>
      </p:sp>
      <p:sp>
        <p:nvSpPr>
          <p:cNvPr id="10" name="Shape 8"/>
          <p:cNvSpPr/>
          <p:nvPr/>
        </p:nvSpPr>
        <p:spPr>
          <a:xfrm>
            <a:off x="713232" y="3653028"/>
            <a:ext cx="548640" cy="548640"/>
          </a:xfrm>
          <a:prstGeom prst="star8">
            <a:avLst/>
          </a:prstGeom>
          <a:solidFill>
            <a:schemeClr val="accent2"/>
          </a:solidFill>
          <a:ln/>
        </p:spPr>
      </p:sp>
      <p:sp>
        <p:nvSpPr>
          <p:cNvPr id="11" name="Shape 9"/>
          <p:cNvSpPr/>
          <p:nvPr/>
        </p:nvSpPr>
        <p:spPr>
          <a:xfrm>
            <a:off x="822960" y="376275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5302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58</a:t>
            </a:r>
            <a:endParaRPr lang="en-US" sz="1600" dirty="0"/>
          </a:p>
        </p:txBody>
      </p:sp>
      <p:sp>
        <p:nvSpPr>
          <p:cNvPr id="13" name="Text 11"/>
          <p:cNvSpPr txBox="1"/>
          <p:nvPr/>
        </p:nvSpPr>
        <p:spPr>
          <a:xfrm>
            <a:off x="1444752" y="363474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وَمِنْهُم مَّن يَلْمِزُكَ فِي الصَّدَقَٰتِ فَإِنْ أُعْطُواْ مِنْهَا رَضُواْ وَإِن لَّمْ يُعْطَوْاْ مِنْهَآ إِذَا هُمْ يَسْخَطُونَ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Among the hypocrites is one who criticises you about dividing the charity. If they are given some of it, they are pleased, but if they are not given any, they are angry.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At-Tawbah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59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695194"/>
            <a:ext cx="548640" cy="548640"/>
          </a:xfrm>
          <a:prstGeom prst="star8">
            <a:avLst/>
          </a:prstGeom>
          <a:solidFill>
            <a:schemeClr val="accent2"/>
          </a:solidFill>
          <a:ln/>
        </p:spPr>
      </p:sp>
      <p:sp>
        <p:nvSpPr>
          <p:cNvPr id="6" name="Shape 4"/>
          <p:cNvSpPr/>
          <p:nvPr/>
        </p:nvSpPr>
        <p:spPr>
          <a:xfrm>
            <a:off x="822960" y="280492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69519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59</a:t>
            </a:r>
            <a:endParaRPr lang="en-US" sz="1600" dirty="0"/>
          </a:p>
        </p:txBody>
      </p:sp>
      <p:sp>
        <p:nvSpPr>
          <p:cNvPr id="8" name="Text 6"/>
          <p:cNvSpPr txBox="1"/>
          <p:nvPr/>
        </p:nvSpPr>
        <p:spPr>
          <a:xfrm>
            <a:off x="1444752" y="2676906"/>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وَلَوْ أَنَّهُمْ رَضُواْ مَآ ءَاتَىٰهُمُ اللَّهُ وَرَسُولُهُ وَقَالُواْ حَسْبُنَا اللَّهُ سَيُؤْتِينَا اللَّهُ مِن فَضْلِهِ وَرَسُولُهُ إِنَّآ إِلَى اللَّهِ رَٰغِبُونَ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only they had been pleased with what Allah and His Messenger gave them and said: Allah is enough for us; Allah will give us from His favour, and so will His Messenger; we turn our hopes to Allah. That would have been better for them.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2300" b="1" dirty="0">
                <a:solidFill>
                  <a:schemeClr val="accent2"/>
                </a:solidFill>
                <a:latin typeface="Georgia" pitchFamily="34" charset="0"/>
                <a:ea typeface="Georgia" pitchFamily="34" charset="-122"/>
                <a:cs typeface="Georgia" pitchFamily="34" charset="-120"/>
              </a:rPr>
              <a:t>Zakah; Hypocrites Exposed</a:t>
            </a:r>
            <a:endParaRPr lang="en-US" sz="23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4 of 7</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60 – 80</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At-Tawbah • Madani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400" dirty="0">
                <a:solidFill>
                  <a:schemeClr val="tx1"/>
                </a:solidFill>
                <a:latin typeface="Arial" pitchFamily="34" charset="0"/>
                <a:ea typeface="Arial" pitchFamily="34" charset="-122"/>
                <a:cs typeface="Arial" pitchFamily="34" charset="-120"/>
              </a:rPr>
              <a:t>Ibn 'Umar (may Allah be pleased with them) said: A man said during the expedition of Tabuk: We have never seen anyone like these reciters of ours: greedier, more lying, or more cowardly in battle, meaning the Prophet (peace be upon him) and his Companions. So this was revealed: “Say: Was it Allah, His verses and His Messenger that you were mocking?” (Ibn Jarir, mentioned by Ibn Kathir).</a:t>
            </a:r>
            <a:endParaRPr lang="en-US" sz="14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The eight categories of zakah, how the hypocrites hurt the Prophet (peace be upon him) and mocked the religion, and a comparison between the qualities of the hypocrites and the believers.</a:t>
            </a:r>
            <a:endParaRPr lang="en-US" sz="17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At-Tawbah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60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695194"/>
            <a:ext cx="548640" cy="548640"/>
          </a:xfrm>
          <a:prstGeom prst="star8">
            <a:avLst/>
          </a:prstGeom>
          <a:solidFill>
            <a:schemeClr val="accent2"/>
          </a:solidFill>
          <a:ln/>
        </p:spPr>
      </p:sp>
      <p:sp>
        <p:nvSpPr>
          <p:cNvPr id="6" name="Shape 4"/>
          <p:cNvSpPr/>
          <p:nvPr/>
        </p:nvSpPr>
        <p:spPr>
          <a:xfrm>
            <a:off x="822960" y="280492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69519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60</a:t>
            </a:r>
            <a:endParaRPr lang="en-US" sz="1600" dirty="0"/>
          </a:p>
        </p:txBody>
      </p:sp>
      <p:sp>
        <p:nvSpPr>
          <p:cNvPr id="8" name="Text 6"/>
          <p:cNvSpPr txBox="1"/>
          <p:nvPr/>
        </p:nvSpPr>
        <p:spPr>
          <a:xfrm>
            <a:off x="1444752" y="2676906"/>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إِنَّمَا الصَّدَقَٰتُ لِلْفُقَرَآءِ وَالْمَسَٰكِينِ وَالْعَٰمِلِينَ عَلَيْهَا وَالْمُؤَلَّفَةِ قُلُوبُهُمْ وَفِي الرِّقَابِ وَالْغَٰرِمِينَ وَفِي سَبِيلِ اللَّهِ وَابْنِ السَّبِيلِ فَرِيضَةً مِّنَ اللَّهِ وَاللَّهُ عَلِيمٌ حَكِيمٌ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Zakah is only for the poor, the needy, those who work collecting it, those whose hearts are to be won over to Islam, freeing slaves, those in debt, in the way of Allah, and the stranded traveller. It is an obligation from Allah, and Allah is All-Knowing, All-Wise.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At-Tawbah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61 – 62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61</a:t>
            </a:r>
            <a:endParaRPr lang="en-US" sz="1600" dirty="0"/>
          </a:p>
        </p:txBody>
      </p:sp>
      <p:sp>
        <p:nvSpPr>
          <p:cNvPr id="8" name="Text 6"/>
          <p:cNvSpPr txBox="1"/>
          <p:nvPr/>
        </p:nvSpPr>
        <p:spPr>
          <a:xfrm>
            <a:off x="1444752" y="184937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وَمِنْهُمُ الَّذِينَ يُؤْذُونَ النَّبِيَّ وَيَقُولُونَ هُوَ أُذُنٌ قُلْ أُذُنُ خَيْرٍ لَّكُمْ يُؤْمِنُ بِاللَّهِ وَيُؤْمِنُ لِلْمُؤْمِنِينَ وَرَحْمَةٌ لِّلَّذِينَ ءَامَنُواْ مِنكُمْ وَالَّذِينَ يُؤْذُونَ رَسُولَ اللَّهِ لَهُمْ عَذَابٌ أَلِيمٌ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Among the hypocrites are those who hurt the Prophet and say: He listens to everything he is told! Say: He listens to what is good for you. He believes in Allah, trusts the believers, and is a mercy to the believers among you. Those who hurt the Messenger of Allah will have a painful punishment.</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62</a:t>
            </a:r>
            <a:endParaRPr lang="en-US" sz="1600" dirty="0"/>
          </a:p>
        </p:txBody>
      </p:sp>
      <p:sp>
        <p:nvSpPr>
          <p:cNvPr id="13" name="Text 11"/>
          <p:cNvSpPr txBox="1"/>
          <p:nvPr/>
        </p:nvSpPr>
        <p:spPr>
          <a:xfrm>
            <a:off x="1444752" y="431368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يَحْلِفُونَ بِاللَّهِ لَكُمْ لِيُرْضُوكُمْ وَاللَّهُ وَرَسُولُهُ أَحَقُّ أَن يُرْضُوهُ إِن كَانُواْ مُؤْمِنِينَ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swear by Allah to you to please you, but Allah and His Messenger have more right to be pleased through obedience, if they are believers.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At-Tawbah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63 – 64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63</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أَلَمْ يَعْلَمُواْ أَنَّهُ مَن يُحَادِدِ اللَّهَ وَرَسُولَهُ فَأَنَّ لَهُ نَارَ جَهَنَّمَ خَٰلِدًا فِيهَا ذَٰلِكَ الْخِزْيُ الْعَظِيمُ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they not know that whoever opposes Allah and His Messenger will have the fire of Hell, staying there forever? That is the great disgrace.</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64</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يَحْذَرُ الْمُنَٰفِقُونَ أَن تُنَزَّلَ عَلَيْهِمْ سُورَةٌ تُنَبِّئُهُم بِمَا فِي قُلُوبِهِمْ قُلِ اسْتَهْزِءُواْ إِنَّ اللَّهَ مُخْرِجٌ مَّا تَحْذَرُونَ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hypocrites fear that a surah will be sent down telling the believers what is in their hearts. Say: Mock on; Allah will bring out what you fear.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At-Tawbah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65 – 66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65</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وَلَئِن سَأَلْتَهُمْ لَيَقُولُنَّ إِنَّمَا كُنَّا نَخُوضُ وَنَلْعَبُ قُلْ أَبِاللَّهِ وَءَايَٰتِهِ وَرَسُولِهِ كُنتُمْ تَسْتَهْزِءُونَ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you ask them about their mocking, they will say: We were only chatting and joking. Say: Was it Allah, His verses and His Messenger that you were mocking?</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66</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لَا تَعْتَذِرُواْ قَدْ كَفَرْتُم بَعْدَ إِيمَٰنِكُمْ إِن نَّعْفُ عَن طَآئِفَةٍ مِّنكُمْ نُعَذِّبْ طَآئِفَةً بِأَنَّهُمْ كَانُواْ مُجْرِمِينَ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Make no excuse; you have disbelieved after your faith by this mocking. If We pardon a group of you because they repent, We will punish another group because they were criminals.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At-Tawbah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67 – 68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67</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الْمُنَٰفِقُونَ وَالْمُنَٰفِقَٰتُ بَعْضُهُم مِّن بَعْضٍ يَأْمُرُونَ بِالْمُنكَرِ وَيَنْهَوْنَ عَنِ الْمَعْرُوفِ وَيَقْبِضُونَ أَيْدِيَهُمْ نَسُواْ اللَّهَ فَنَسِيَهُمْ إِنَّ الْمُنَٰفِقِينَ هُمُ الْفَٰسِقُونَ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hypocrite men and women are all alike: they command evil, forbid good, and are stingy with their wealth. They forgot Allah, so He forgot them. The hypocrites are the disobedient.</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68</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وَعَدَ اللَّهُ الْمُنَٰفِقِينَ وَالْمُنَٰفِقَٰتِ وَالْكُفَّارَ نَارَ جَهَنَّمَ خَٰلِدِينَ فِيهَا هِيَ حَسْبُهُمْ وَلَعَنَهُمُ اللَّهُ وَلَهُمْ عَذَابٌ مُّقِيمٌ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has promised the hypocrite men and women and the disbelievers the fire of Hell, staying there forever; it is enough for them. Allah has cursed them, and they will have a lasting punishment.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At-Tawbah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69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290572"/>
            <a:ext cx="548640" cy="548640"/>
          </a:xfrm>
          <a:prstGeom prst="star8">
            <a:avLst/>
          </a:prstGeom>
          <a:solidFill>
            <a:schemeClr val="accent2"/>
          </a:solidFill>
          <a:ln/>
        </p:spPr>
      </p:sp>
      <p:sp>
        <p:nvSpPr>
          <p:cNvPr id="6" name="Shape 4"/>
          <p:cNvSpPr/>
          <p:nvPr/>
        </p:nvSpPr>
        <p:spPr>
          <a:xfrm>
            <a:off x="822960" y="240030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2905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69</a:t>
            </a:r>
            <a:endParaRPr lang="en-US" sz="1600" dirty="0"/>
          </a:p>
        </p:txBody>
      </p:sp>
      <p:sp>
        <p:nvSpPr>
          <p:cNvPr id="8" name="Text 6"/>
          <p:cNvSpPr txBox="1"/>
          <p:nvPr/>
        </p:nvSpPr>
        <p:spPr>
          <a:xfrm>
            <a:off x="1444752" y="2272284"/>
            <a:ext cx="10012680" cy="287121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كَالَّذِينَ مِن قَبْلِكُمْ كَانُواْ أَشَدَّ مِنكُمْ قُوَّةً وَأَكْثَرَ أَمْوَٰلًا وَأَوْلَٰدًا فَاسْتَمْتَعُواْ بِخَلَٰقِهِمْ فَاسْتَمْتَعْتُم بِخَلَٰقِكُمْ كَمَا اسْتَمْتَعَ الَّذِينَ مِن قَبْلِكُم بِخَلَٰقِهِمْ وَخُضْتُمْ كَالَّذِي خَاضُواْ أُوْلَـٰئِكَ حَبِطَتْ أَعْمَٰلُهُمْ فِي الدُّنْيَا وَالْأخِرَةِ وَأُوْلَـٰئِكَ هُمُ الْخَٰسِرُونَ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 hypocrites are like those before you who were stronger than you and had more wealth and children. They enjoyed their share of this world, and you enjoyed your share as they did, and you plunged into falsehood as they did. Their deeds are lost in this world and the Hereafter, and they are the losers.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At-Tawbah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70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290572"/>
            <a:ext cx="548640" cy="548640"/>
          </a:xfrm>
          <a:prstGeom prst="star8">
            <a:avLst/>
          </a:prstGeom>
          <a:solidFill>
            <a:schemeClr val="accent2"/>
          </a:solidFill>
          <a:ln/>
        </p:spPr>
      </p:sp>
      <p:sp>
        <p:nvSpPr>
          <p:cNvPr id="6" name="Shape 4"/>
          <p:cNvSpPr/>
          <p:nvPr/>
        </p:nvSpPr>
        <p:spPr>
          <a:xfrm>
            <a:off x="822960" y="240030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2905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70</a:t>
            </a:r>
            <a:endParaRPr lang="en-US" sz="1600" dirty="0"/>
          </a:p>
        </p:txBody>
      </p:sp>
      <p:sp>
        <p:nvSpPr>
          <p:cNvPr id="8" name="Text 6"/>
          <p:cNvSpPr txBox="1"/>
          <p:nvPr/>
        </p:nvSpPr>
        <p:spPr>
          <a:xfrm>
            <a:off x="1444752" y="2272284"/>
            <a:ext cx="10012680" cy="287121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أَلَمْ يَأْتِهِمْ نَبَأُ الَّذِينَ مِن قَبْلِهِمْ قَوْمِ نُوحٍ وَعَادٍ وَثَمُودَ وَقَوْمِ إِبْرَٰهِيمَ وَأَصْحَٰبِ مَدْيَنَ وَالْمُؤْتَفِكَٰتِ أَتَتْهُمْ رُسُلُهُم بِالْبَيِّنَٰتِ فَمَا كَانَ اللَّهُ لِيَظْلِمَهُمْ وَلَٰكِن كَانُواْ أَنفُسَهُمْ يَظْلِمُونَ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Has the news not reached them of the nations before them: the people of Nuh, 'Ad, Thamud, the people of Ibrahim, the people of Madyan, and the overturned towns of Lut's people? Their messengers came to them with clear signs, but they denied. Allah did not wrong them; they wronged themselves.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92</a:t>
            </a:fld>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At-Tawbah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71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420874"/>
            <a:ext cx="548640" cy="548640"/>
          </a:xfrm>
          <a:prstGeom prst="star8">
            <a:avLst/>
          </a:prstGeom>
          <a:solidFill>
            <a:schemeClr val="accent2"/>
          </a:solidFill>
          <a:ln/>
        </p:spPr>
      </p:sp>
      <p:sp>
        <p:nvSpPr>
          <p:cNvPr id="6" name="Shape 4"/>
          <p:cNvSpPr/>
          <p:nvPr/>
        </p:nvSpPr>
        <p:spPr>
          <a:xfrm>
            <a:off x="822960" y="253060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42087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71</a:t>
            </a:r>
            <a:endParaRPr lang="en-US" sz="1600" dirty="0"/>
          </a:p>
        </p:txBody>
      </p:sp>
      <p:sp>
        <p:nvSpPr>
          <p:cNvPr id="8" name="Text 6"/>
          <p:cNvSpPr txBox="1"/>
          <p:nvPr/>
        </p:nvSpPr>
        <p:spPr>
          <a:xfrm>
            <a:off x="1444752" y="2402586"/>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وَالْمُؤْمِنُونَ وَالْمُؤْمِنَٰتُ بَعْضُهُمْ أَوْلِيَآءُ بَعْضٍ يَأْمُرُونَ بِالْمَعْرُوفِ وَيَنْهَوْنَ عَنِ الْمُنكَرِ وَيُقِيمُونَ الصَّلَوٰةَ وَيُؤْتُونَ الزَّكَوٰةَ وَيُطِيعُونَ اللَّهَ وَرَسُولَهُ أُوْلَـٰئِكَ سَيَرْحَمُهُمُ اللَّهُ إِنَّ اللَّهَ عَزِيزٌ حَكِيمٌ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believing men and women are allies of one another. They command good, forbid evil, perform the prayer, give the zakah, and obey Allah and His Messenger. Allah will have mercy on them. Allah is Almighty, All-Wise.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93</a:t>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At-Tawbah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72 – 73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72</a:t>
            </a:r>
            <a:endParaRPr lang="en-US" sz="1600" dirty="0"/>
          </a:p>
        </p:txBody>
      </p:sp>
      <p:sp>
        <p:nvSpPr>
          <p:cNvPr id="8" name="Text 6"/>
          <p:cNvSpPr txBox="1"/>
          <p:nvPr/>
        </p:nvSpPr>
        <p:spPr>
          <a:xfrm>
            <a:off x="1444752" y="184937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وَعَدَ اللَّهُ الْمُؤْمِنِينَ وَالْمُؤْمِنَٰتِ جَنَّـٰتٍ تَجْرِي مِن تَحْتِهَا الْأَنْهَٰرُ خَٰلِدِينَ فِيهَا وَمَسَٰكِنَ طَيِّبَةً فِي جَنَّـٰتِ عَدْنٍ وَرِضْوَٰنٌ مِّنَ اللَّهِ أَكْبَرُ ذَٰلِكَ هُوَ الْفَوْزُ الْعَظِيمُ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has promised the believing men and women Gardens with rivers flowing beneath them, staying there forever, and pleasant homes in the Gardens of everlasting stay. And Allah's pleasure is greater than all of that; that is the great success.</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73</a:t>
            </a:r>
            <a:endParaRPr lang="en-US" sz="1600" dirty="0"/>
          </a:p>
        </p:txBody>
      </p:sp>
      <p:sp>
        <p:nvSpPr>
          <p:cNvPr id="13" name="Text 11"/>
          <p:cNvSpPr txBox="1"/>
          <p:nvPr/>
        </p:nvSpPr>
        <p:spPr>
          <a:xfrm>
            <a:off x="1444752" y="431368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النَّبِيُّ جَٰهِدِ الْكُفَّارَ وَالْمُنَٰفِقِينَ وَاغْلُظْ عَلَيْهِمْ وَمَأْوَىٰهُمْ جَهَنَّمُ وَبِئْسَ الْمَصِيرُ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Prophet, strive against the disbelievers with the sword and the hypocrites with proof, and be firm with them. Their home is Hell, and what an evil destination!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94</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At-Tawbah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74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85950"/>
            <a:ext cx="548640" cy="548640"/>
          </a:xfrm>
          <a:prstGeom prst="star8">
            <a:avLst/>
          </a:prstGeom>
          <a:solidFill>
            <a:schemeClr val="accent2"/>
          </a:solidFill>
          <a:ln/>
        </p:spPr>
      </p:sp>
      <p:sp>
        <p:nvSpPr>
          <p:cNvPr id="6" name="Shape 4"/>
          <p:cNvSpPr/>
          <p:nvPr/>
        </p:nvSpPr>
        <p:spPr>
          <a:xfrm>
            <a:off x="822960" y="199567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859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74</a:t>
            </a:r>
            <a:endParaRPr lang="en-US" sz="1600" dirty="0"/>
          </a:p>
        </p:txBody>
      </p:sp>
      <p:sp>
        <p:nvSpPr>
          <p:cNvPr id="8" name="Text 6"/>
          <p:cNvSpPr txBox="1"/>
          <p:nvPr/>
        </p:nvSpPr>
        <p:spPr>
          <a:xfrm>
            <a:off x="1444752" y="1867662"/>
            <a:ext cx="10012680" cy="3680460"/>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يَحْلِفُونَ بِاللَّهِ مَا قَالُواْ وَلَقَدْ قَالُواْ كَلِمَةَ الْكُفْرِ وَكَفَرُواْ بَعْدَ إِسْلَٰمِهِمْ وَهَمُّواْ بِمَا لَمْ يَنَالُواْ وَمَا نَقَمُواْ إِلَّآ أَنْ أَغْنَىٰهُمُ اللَّهُ وَرَسُولُهُ مِن فَضْلِهِ فَإِن يَتُوبُواْ يَكُ خَيْرًا لَّهُمْ وَإِن يَتَوَلَّوْاْ يُعَذِّبْهُمُ اللَّهُ عَذَابًا أَلِيمًا فِي الدُّنْيَا وَالْأخِرَةِ وَمَا لَهُمْ فِي الْأَرْضِ مِن وَلِيٍّ وَلَا نَصِيرٍ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hypocrites swear by Allah that they said nothing bad about the Prophet, but they did say the word of disbelief, disbelieved after showing Islam, and planned to kill the Prophet (peace be upon him) but could not. Their only complaint was that Allah and His Messenger had made them rich from His favour. If they repent, it is better for them; if they turn away, Allah will punish them painfully in this world and the Hereafter, and they will have no protector or helper on earth.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95</a:t>
            </a:fld>
            <a:endParaRPr 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At-Tawbah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75 – 76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272284"/>
            <a:ext cx="548640" cy="548640"/>
          </a:xfrm>
          <a:prstGeom prst="star8">
            <a:avLst/>
          </a:prstGeom>
          <a:solidFill>
            <a:schemeClr val="accent2"/>
          </a:solidFill>
          <a:ln/>
        </p:spPr>
      </p:sp>
      <p:sp>
        <p:nvSpPr>
          <p:cNvPr id="6" name="Shape 4"/>
          <p:cNvSpPr/>
          <p:nvPr/>
        </p:nvSpPr>
        <p:spPr>
          <a:xfrm>
            <a:off x="822960" y="238201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27228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75</a:t>
            </a:r>
            <a:endParaRPr lang="en-US" sz="1600" dirty="0"/>
          </a:p>
        </p:txBody>
      </p:sp>
      <p:sp>
        <p:nvSpPr>
          <p:cNvPr id="8" name="Text 6"/>
          <p:cNvSpPr txBox="1"/>
          <p:nvPr/>
        </p:nvSpPr>
        <p:spPr>
          <a:xfrm>
            <a:off x="1444752" y="225399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وَمِنْهُم مَّنْ عَٰهَدَ اللَّهَ لَئِنْ ءَاتَىٰنَا مِن فَضْلِهِ لَنَصَّدَّقَنَّ وَلَنَكُونَنَّ مِنَ الصَّـٰلِحِينَ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Among the hypocrites is one who promised Allah: If He gives us from His favour, we will surely give charity and be among the righteous.</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76</a:t>
            </a:r>
            <a:endParaRPr lang="en-US" sz="1600" dirty="0"/>
          </a:p>
        </p:txBody>
      </p:sp>
      <p:sp>
        <p:nvSpPr>
          <p:cNvPr id="13" name="Text 11"/>
          <p:cNvSpPr txBox="1"/>
          <p:nvPr/>
        </p:nvSpPr>
        <p:spPr>
          <a:xfrm>
            <a:off x="1444752" y="390906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فَلَمَّآ ءَاتَىٰهُم مِّن فَضْلِهِ بَخِلُواْ بِهِ وَتَوَلَّواْ وَّهُم مُّعْرِضُونَ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when He gave them from His favour, they were stingy with it and turned away from their promise.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96</a:t>
            </a:fld>
            <a:endParaRPr 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At-Tawbah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77 – 78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77</a:t>
            </a:r>
            <a:endParaRPr lang="en-US" sz="1600" dirty="0"/>
          </a:p>
        </p:txBody>
      </p:sp>
      <p:sp>
        <p:nvSpPr>
          <p:cNvPr id="8" name="Text 6"/>
          <p:cNvSpPr txBox="1"/>
          <p:nvPr/>
        </p:nvSpPr>
        <p:spPr>
          <a:xfrm>
            <a:off x="1444752" y="197967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فَأَعْقَبَهُمْ نِفَاقًا فِي قُلُوبِهِمْ إِلَىٰ يَوْمِ يَلْقَوْنَهُ بِمَآ أَخْلَفُواْ اللَّهَ مَا وَعَدُوهُ وَبِمَا كَانُواْ يَكْذِبُونَ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He left hypocrisy in their hearts as a result, until the Day they meet Him, because they broke their promise to Allah and because they lied.</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201668"/>
            <a:ext cx="548640" cy="548640"/>
          </a:xfrm>
          <a:prstGeom prst="star8">
            <a:avLst/>
          </a:prstGeom>
          <a:solidFill>
            <a:schemeClr val="accent2"/>
          </a:solidFill>
          <a:ln/>
        </p:spPr>
      </p:sp>
      <p:sp>
        <p:nvSpPr>
          <p:cNvPr id="11" name="Shape 9"/>
          <p:cNvSpPr/>
          <p:nvPr/>
        </p:nvSpPr>
        <p:spPr>
          <a:xfrm>
            <a:off x="822960" y="431139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78</a:t>
            </a:r>
            <a:endParaRPr lang="en-US" sz="1600" dirty="0"/>
          </a:p>
        </p:txBody>
      </p:sp>
      <p:sp>
        <p:nvSpPr>
          <p:cNvPr id="13" name="Text 11"/>
          <p:cNvSpPr txBox="1"/>
          <p:nvPr/>
        </p:nvSpPr>
        <p:spPr>
          <a:xfrm>
            <a:off x="1444752" y="418338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أَلَمْ يَعْلَمُواْ أَنَّ اللَّهَ يَعْلَمُ سِرَّهُمْ وَنَجْوَىٰهُمْ وَأَنَّ اللَّهَ عَلَّـٰمُ الْغُيُوبِ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they not know that Allah knows their secrets and their private talk, and that Allah is the Knower of the unseen?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97</a:t>
            </a:fld>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At-Tawbah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79 – 80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79</a:t>
            </a:r>
            <a:endParaRPr lang="en-US" sz="1600" dirty="0"/>
          </a:p>
        </p:txBody>
      </p:sp>
      <p:sp>
        <p:nvSpPr>
          <p:cNvPr id="8" name="Text 6"/>
          <p:cNvSpPr txBox="1"/>
          <p:nvPr/>
        </p:nvSpPr>
        <p:spPr>
          <a:xfrm>
            <a:off x="1444752" y="157505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الَّذِينَ يَلْمِزُونَ الْمُطَّوِّعِينَ مِنَ الْمُؤْمِنِينَ فِي الصَّدَقَٰتِ وَالَّذِينَ لَا يَجِدُونَ إِلَّا جُهْدَهُمْ فَيَسْخَرُونَ مِنْهُمْ سَخِرَ اللَّهُ مِنْهُمْ وَلَهُمْ عَذَابٌ أَلِيمٌ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hypocrites criticise the believers who give a lot of charity willingly, and mock the poor who can only give a little. Allah will repay their mocking, and they will have a painful punishment.</a:t>
            </a:r>
            <a:endParaRPr lang="en-US" sz="3000" dirty="0"/>
          </a:p>
        </p:txBody>
      </p:sp>
      <p:sp>
        <p:nvSpPr>
          <p:cNvPr id="9" name="Shape 7"/>
          <p:cNvSpPr/>
          <p:nvPr/>
        </p:nvSpPr>
        <p:spPr>
          <a:xfrm>
            <a:off x="1444752" y="3563874"/>
            <a:ext cx="8641080" cy="0"/>
          </a:xfrm>
          <a:prstGeom prst="line">
            <a:avLst/>
          </a:prstGeom>
          <a:noFill/>
          <a:ln w="9525">
            <a:solidFill>
              <a:schemeClr val="accent2"/>
            </a:solidFill>
            <a:prstDash val="dash"/>
          </a:ln>
        </p:spPr>
      </p:sp>
      <p:sp>
        <p:nvSpPr>
          <p:cNvPr id="10" name="Shape 8"/>
          <p:cNvSpPr/>
          <p:nvPr/>
        </p:nvSpPr>
        <p:spPr>
          <a:xfrm>
            <a:off x="713232" y="3797046"/>
            <a:ext cx="548640" cy="548640"/>
          </a:xfrm>
          <a:prstGeom prst="star8">
            <a:avLst/>
          </a:prstGeom>
          <a:solidFill>
            <a:schemeClr val="accent2"/>
          </a:solidFill>
          <a:ln/>
        </p:spPr>
      </p:sp>
      <p:sp>
        <p:nvSpPr>
          <p:cNvPr id="11" name="Shape 9"/>
          <p:cNvSpPr/>
          <p:nvPr/>
        </p:nvSpPr>
        <p:spPr>
          <a:xfrm>
            <a:off x="822960" y="390677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7970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80</a:t>
            </a:r>
            <a:endParaRPr lang="en-US" sz="1600" dirty="0"/>
          </a:p>
        </p:txBody>
      </p:sp>
      <p:sp>
        <p:nvSpPr>
          <p:cNvPr id="13" name="Text 11"/>
          <p:cNvSpPr txBox="1"/>
          <p:nvPr/>
        </p:nvSpPr>
        <p:spPr>
          <a:xfrm>
            <a:off x="1444752" y="377875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اسْتَغْفِرْ لَهُمْ أَوْ لَا تَسْتَغْفِرْ لَهُمْ إِن تَسْتَغْفِرْ لَهُمْ سَبْعِينَ مَرَّةً فَلَن يَغْفِرَ اللَّهُ لَهُمْ ذَٰلِكَ بِأَنَّهُمْ كَفَرُواْ بِاللَّهِ وَرَسُولِهِ وَاللَّهُ لَا يَهْدِي الْقَوْمَ الْفَٰسِقِينَ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Ask forgiveness for them or do not; even if you ask forgiveness for them seventy times, Allah will not forgive them, because they disbelieved in Allah and His Messenger. Allah does not guide the disobedient people.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98</a:t>
            </a:fld>
            <a:endParaRPr 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2500" b="1" dirty="0">
                <a:solidFill>
                  <a:schemeClr val="accent2"/>
                </a:solidFill>
                <a:latin typeface="Georgia" pitchFamily="34" charset="0"/>
                <a:ea typeface="Georgia" pitchFamily="34" charset="-122"/>
                <a:cs typeface="Georgia" pitchFamily="34" charset="-120"/>
              </a:rPr>
              <a:t>Excuses True and False</a:t>
            </a:r>
            <a:endParaRPr lang="en-US" sz="25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5 of 7</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81 – 99</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At-Tawbah • Madani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When 'Abdullah ibn Ubayy, the head of the hypocrites, died, the Prophet (peace be upon him) prayed over him, so Allah revealed: “Never pray over any of them who dies, nor stand at his grave” (Bukhari and Muslim).</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The hypocrites' joy at staying behind, forbidding the funeral prayer over them, those with real excuses like the weak, the sick and the weeping poor, and the states of the desert Arabs.</a:t>
            </a:r>
            <a:endParaRPr lang="en-US" sz="17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At-Tawbah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81 – 82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81</a:t>
            </a:r>
            <a:endParaRPr lang="en-US" sz="1600" dirty="0"/>
          </a:p>
        </p:txBody>
      </p:sp>
      <p:sp>
        <p:nvSpPr>
          <p:cNvPr id="8" name="Text 6"/>
          <p:cNvSpPr txBox="1"/>
          <p:nvPr/>
        </p:nvSpPr>
        <p:spPr>
          <a:xfrm>
            <a:off x="1444752" y="184937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فَرِحَ الْمُخَلَّفُونَ بِمَقْعَدِهِمْ خِلَٰفَ رَسُولِ اللَّهِ وَكَرِهُواْ أَن يُجَٰهِدُواْ بِأَمْوَٰلِهِمْ وَأَنفُسِهِمْ فِي سَبِيلِ اللَّهِ وَقَالُواْ لَا تَنفِرُواْ فِي الْحَرِّ قُلْ نَارُ جَهَنَّمَ أَشَدُّ حَرًّا لَّوْ كَانُواْ يَفْقَهُونَ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stayed behind from the expedition of Tabuk were happy to sit at home after the Messenger of Allah left. They hated striving with their wealth and lives, and said: Do not go out in the heat. Say: The fire of Hell is far hotter, if only they understood.</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82</a:t>
            </a:r>
            <a:endParaRPr lang="en-US" sz="1600" dirty="0"/>
          </a:p>
        </p:txBody>
      </p:sp>
      <p:sp>
        <p:nvSpPr>
          <p:cNvPr id="13" name="Text 11"/>
          <p:cNvSpPr txBox="1"/>
          <p:nvPr/>
        </p:nvSpPr>
        <p:spPr>
          <a:xfrm>
            <a:off x="1444752" y="431368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فَلْيَضْحَكُواْ قَلِيلًا وَلْيَبْكُواْ كَثِيرًا جَزَآءً بِمَا كَانُواْ يَكْسِبُونَ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let them laugh a little in this world and weep a lot in the Hereafter, as a reward for what they earned.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a:t>
            </a:fld>
            <a:endParaRPr lang="en-US"/>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At-Tawbah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83 – 84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83</a:t>
            </a:r>
            <a:endParaRPr lang="en-US" sz="16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فَإِن رَّجَعَكَ اللَّهُ إِلَىٰ طَآئِفَةٍ مِّنْهُمْ فَاسْتَـْٔذَنُوكَ لِلْخُرُوجِ فَقُل لَّن تَخْرُجُواْ مَعِيَ أَبَدًا وَلَن تُقَٰتِلُواْ مَعِيَ عَدُوًّا إِنَّكُمْ رَضِيتُم بِالْقُعُودِ أَوَّلَ مَرَّةٍ فَاقْعُدُواْ مَعَ الْخَٰلِفِينَ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Allah brings you back to a group of the hypocrites and they ask your permission to go out on another expedition, say: You will never go out with me, nor fight any enemy with me. You were pleased to sit at home the first time, so sit with those who stay behind.</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84</a:t>
            </a:r>
            <a:endParaRPr lang="en-US" sz="16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وَلَا تُصَلِّ عَلَىٰ أَحَدٍ مِّنْهُم مَّاتَ أَبَدًا وَلَا تَقُمْ عَلَىٰ قَبْرِهِ إِنَّهُمْ كَفَرُواْ بِاللَّهِ وَرَسُولِهِ وَمَاتُواْ وَهُمْ فَٰسِقُونَ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Never pray the funeral prayer over any of them who dies, and do not stand at his grave praying for him. They disbelieved in Allah and His Messenger and died while disobedient.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101</a:t>
            </a:fld>
            <a:endParaRPr 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At-Tawbah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85 – 86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85</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وَلَا تُعْجِبْكَ أَمْوَٰلُهُمْ وَأَوْلَٰدُهُمْ إِنَّمَا يُرِيدُ اللَّهُ أَن يُعَذِّبَهُم بِهَا فِي الدُّنْيَا وَتَزْهَقَ أَنفُسُهُمْ وَهُمْ كَٰفِرُونَ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not let their wealth and children impress you. Allah only wants to punish them with these in this world, and for their souls to leave them while they are disbelievers.</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86</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أُنزِلَتْ سُورَةٌ أَنْ ءَامِنُواْ بِاللَّهِ وَجَٰهِدُواْ مَعَ رَسُولِهِ اسْتَـْٔذَنَكَ أُوْلُواْ الطَّوْلِ مِنْهُمْ وَقَالُواْ ذَرْنَا نَكُن مَّعَ الْقَٰعِدِينَ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a surah is sent down commanding belief in Allah and striving with His Messenger, the wealthy and able among them ask your permission and say: Leave us to be with those who stay behind.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102</a:t>
            </a:fld>
            <a:endParaRPr lang="en-US"/>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At-Tawbah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87 – 89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87</a:t>
            </a:r>
            <a:endParaRPr lang="en-US" sz="1600" dirty="0"/>
          </a:p>
        </p:txBody>
      </p:sp>
      <p:sp>
        <p:nvSpPr>
          <p:cNvPr id="8" name="Text 6"/>
          <p:cNvSpPr txBox="1"/>
          <p:nvPr/>
        </p:nvSpPr>
        <p:spPr>
          <a:xfrm>
            <a:off x="1444752" y="13441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رَضُواْ بِأَن يَكُونُواْ مَعَ الْخَوَالِفِ وَطُبِعَ عَلَىٰ قُلُوبِهِمْ فَهُمْ لَا يَفْقَهُونَ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were pleased to be with the women left behind at home, and their hearts have been sealed, so they do not understand.</a:t>
            </a:r>
            <a:endParaRPr lang="en-US" sz="3000" dirty="0"/>
          </a:p>
        </p:txBody>
      </p:sp>
      <p:sp>
        <p:nvSpPr>
          <p:cNvPr id="9" name="Shape 7"/>
          <p:cNvSpPr/>
          <p:nvPr/>
        </p:nvSpPr>
        <p:spPr>
          <a:xfrm>
            <a:off x="1444752" y="2688336"/>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88</a:t>
            </a:r>
            <a:endParaRPr lang="en-US" sz="1600" dirty="0"/>
          </a:p>
        </p:txBody>
      </p:sp>
      <p:sp>
        <p:nvSpPr>
          <p:cNvPr id="13" name="Text 11"/>
          <p:cNvSpPr txBox="1"/>
          <p:nvPr/>
        </p:nvSpPr>
        <p:spPr>
          <a:xfrm>
            <a:off x="1444752" y="280720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لَٰكِنِ الرَّسُولُ وَالَّذِينَ ءَامَنُواْ مَعَهُ جَٰهَدُواْ بِأَمْوَٰلِهِمْ وَأَنفُسِهِمْ وَأُوْلَـٰئِكَ لَهُمُ الْخَيْرَٰتُ وَأُوْلَـٰئِكَ هُمُ الْمُفْلِحُونَ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the Messenger and the believers with him strove with their wealth and lives; they will have all good things in this world and the Hereafter, and they are the successful.</a:t>
            </a:r>
            <a:endParaRPr lang="en-US" sz="3000" dirty="0"/>
          </a:p>
        </p:txBody>
      </p:sp>
      <p:sp>
        <p:nvSpPr>
          <p:cNvPr id="14" name="Shape 12"/>
          <p:cNvSpPr/>
          <p:nvPr/>
        </p:nvSpPr>
        <p:spPr>
          <a:xfrm>
            <a:off x="1444752" y="4700016"/>
            <a:ext cx="8641080" cy="0"/>
          </a:xfrm>
          <a:prstGeom prst="line">
            <a:avLst/>
          </a:prstGeom>
          <a:noFill/>
          <a:ln w="9525">
            <a:solidFill>
              <a:schemeClr val="accent2"/>
            </a:solidFill>
            <a:prstDash val="dash"/>
          </a:ln>
        </p:spPr>
      </p:sp>
      <p:sp>
        <p:nvSpPr>
          <p:cNvPr id="15" name="Shape 13"/>
          <p:cNvSpPr/>
          <p:nvPr/>
        </p:nvSpPr>
        <p:spPr>
          <a:xfrm>
            <a:off x="713232" y="4837176"/>
            <a:ext cx="548640" cy="548640"/>
          </a:xfrm>
          <a:prstGeom prst="star8">
            <a:avLst/>
          </a:prstGeom>
          <a:solidFill>
            <a:schemeClr val="accent2"/>
          </a:solidFill>
          <a:ln/>
        </p:spPr>
      </p:sp>
      <p:sp>
        <p:nvSpPr>
          <p:cNvPr id="16" name="Shape 14"/>
          <p:cNvSpPr/>
          <p:nvPr/>
        </p:nvSpPr>
        <p:spPr>
          <a:xfrm>
            <a:off x="822960" y="49469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371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89</a:t>
            </a:r>
            <a:endParaRPr lang="en-US" sz="1600" dirty="0"/>
          </a:p>
        </p:txBody>
      </p:sp>
      <p:sp>
        <p:nvSpPr>
          <p:cNvPr id="18" name="Text 16"/>
          <p:cNvSpPr txBox="1"/>
          <p:nvPr/>
        </p:nvSpPr>
        <p:spPr>
          <a:xfrm>
            <a:off x="1444752" y="48188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أَعَدَّ اللَّهُ لَهُمْ جَنَّـٰتٍ تَجْرِي مِن تَحْتِهَا الْأَنْهَٰرُ خَٰلِدِينَ فِيهَا ذَٰلِكَ الْفَوْزُ الْعَظِيمُ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has prepared for them Gardens with rivers flowing beneath them, staying there forever. That is the great success.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103</a:t>
            </a:fld>
            <a:endParaRPr lang="en-US"/>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At-Tawbah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90 – 91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63040"/>
            <a:ext cx="548640" cy="548640"/>
          </a:xfrm>
          <a:prstGeom prst="star8">
            <a:avLst/>
          </a:prstGeom>
          <a:solidFill>
            <a:schemeClr val="accent2"/>
          </a:solidFill>
          <a:ln/>
        </p:spPr>
      </p:sp>
      <p:sp>
        <p:nvSpPr>
          <p:cNvPr id="6" name="Shape 4"/>
          <p:cNvSpPr/>
          <p:nvPr/>
        </p:nvSpPr>
        <p:spPr>
          <a:xfrm>
            <a:off x="822960" y="157276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630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90</a:t>
            </a:r>
            <a:endParaRPr lang="en-US" sz="1600" dirty="0"/>
          </a:p>
        </p:txBody>
      </p:sp>
      <p:sp>
        <p:nvSpPr>
          <p:cNvPr id="8" name="Text 6"/>
          <p:cNvSpPr txBox="1"/>
          <p:nvPr/>
        </p:nvSpPr>
        <p:spPr>
          <a:xfrm>
            <a:off x="1444752" y="1444752"/>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وَجَآءَ الْمُعَذِّرُونَ مِنَ الْأَعْرَابِ لِيُؤْذَنَ لَهُمْ وَقَعَدَ الَّذِينَ كَذَبُواْ اللَّهَ وَرَسُولَهُ سَيُصِيبُ الَّذِينَ كَفَرُواْ مِنْهُمْ عَذَابٌ أَلِيمٌ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Some of the desert Arabs came with excuses, asking permission to stay behind, and those who lied to Allah and His Messenger stayed behind with no excuse. A painful punishment will strike the disbelievers among them.</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91</a:t>
            </a:r>
            <a:endParaRPr lang="en-US" sz="1600" dirty="0"/>
          </a:p>
        </p:txBody>
      </p:sp>
      <p:sp>
        <p:nvSpPr>
          <p:cNvPr id="13" name="Text 11"/>
          <p:cNvSpPr txBox="1"/>
          <p:nvPr/>
        </p:nvSpPr>
        <p:spPr>
          <a:xfrm>
            <a:off x="1444752" y="3909060"/>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لَّيْسَ عَلَى الضُّعَفَآءِ وَلَا عَلَى الْمَرْضَىٰ وَلَا عَلَى الَّذِينَ لَا يَجِدُونَ مَا يُنفِقُونَ حَرَجٌ إِذَا نَصَحُواْ لِلَّهِ وَرَسُولِهِ مَا عَلَى الْمُحْسِنِينَ مِن سَبِيلٍ وَاللَّهُ غَفُورٌ رَّحِيمٌ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There is no sin in staying behind on the weak, like the old, the sick, or the poor who have nothing to spend, as long as they are sincere to Allah and His Messenger. There is no blame on those who do good, and Allah is Forgiving, Most Merciful.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104</a:t>
            </a:fld>
            <a:endParaRPr lang="en-US"/>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At-Tawbah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92 – 93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92</a:t>
            </a:r>
            <a:endParaRPr lang="en-US" sz="16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وَلَا عَلَى الَّذِينَ إِذَا مَآ أَتَوْكَ لِتَحْمِلَهُمْ قُلْتَ لَآ أَجِدُ مَآ أَحْمِلُكُمْ عَلَيْهِ تَوَلَّواْ وَّأَعْيُنُهُمْ تَفِيضُ مِنَ الدَّمْعِ حَزَنًا أَلَّا يَجِدُواْ مَا يُنفِقُونَ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Nor on those who came to you asking you to give them mounts, and you said: I cannot find anything to carry you on. They went back with their eyes overflowing with tears, sad that they had nothing to spend. They are known as "the weepers" (may Allah be pleased with them).</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93</a:t>
            </a:r>
            <a:endParaRPr lang="en-US" sz="16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إِنَّمَا السَّبِيلُ عَلَى الَّذِينَ يَسْتَـْٔذِنُونَكَ وَهُمْ أَغْنِيَآءُ رَضُواْ بِأَن يَكُونُواْ مَعَ الْخَوَالِفِ وَطَبَعَ اللَّهُ عَلَىٰ قُلُوبِهِمْ فَهُمْ لَا يَعْلَمُونَ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blame and sin is only on those who ask your permission while they are rich and able. They were pleased to be with the women left behind, and Allah has sealed their hearts, so they do not know.</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105</a:t>
            </a:fld>
            <a:endParaRPr lang="en-US"/>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At-Tawbah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94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290572"/>
            <a:ext cx="548640" cy="548640"/>
          </a:xfrm>
          <a:prstGeom prst="star8">
            <a:avLst/>
          </a:prstGeom>
          <a:solidFill>
            <a:schemeClr val="accent2"/>
          </a:solidFill>
          <a:ln/>
        </p:spPr>
      </p:sp>
      <p:sp>
        <p:nvSpPr>
          <p:cNvPr id="6" name="Shape 4"/>
          <p:cNvSpPr/>
          <p:nvPr/>
        </p:nvSpPr>
        <p:spPr>
          <a:xfrm>
            <a:off x="822960" y="240030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2905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94</a:t>
            </a:r>
            <a:endParaRPr lang="en-US" sz="1600" dirty="0"/>
          </a:p>
        </p:txBody>
      </p:sp>
      <p:sp>
        <p:nvSpPr>
          <p:cNvPr id="8" name="Text 6"/>
          <p:cNvSpPr txBox="1"/>
          <p:nvPr/>
        </p:nvSpPr>
        <p:spPr>
          <a:xfrm>
            <a:off x="1444752" y="2272284"/>
            <a:ext cx="10012680" cy="287121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يَعْتَذِرُونَ إِلَيْكُمْ إِذَا رَجَعْتُمْ إِلَيْهِمْ قُل لَّا تَعْتَذِرُواْ لَن نُّؤْمِنَ لَكُمْ قَدْ نَبَّأَنَا اللَّهُ مِنْ أَخْبَارِكُمْ وَسَيَرَى اللَّهُ عَمَلَكُمْ وَرَسُولُهُ ثُمَّ تُرَدُّونَ إِلَىٰ عَٰلِمِ الْغَيْبِ وَالشَّهَٰدَةِ فَيُنَبِّئُكُم بِمَا كُنتُمْ تَعْمَلُونَ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hypocrites will make excuses to you when you return from Tabuk. Say: Make no excuses; we will not believe you. Allah has told us about you. Allah and His Messenger will see your deeds, then you will be returned to the Knower of the unseen and the seen, and He will tell you what you used to do.</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106</a:t>
            </a:fld>
            <a:endParaRPr lang="en-US"/>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At-Tawbah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95 – 96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95</a:t>
            </a:r>
            <a:endParaRPr lang="en-US" sz="1600" dirty="0"/>
          </a:p>
        </p:txBody>
      </p:sp>
      <p:sp>
        <p:nvSpPr>
          <p:cNvPr id="8" name="Text 6"/>
          <p:cNvSpPr txBox="1"/>
          <p:nvPr/>
        </p:nvSpPr>
        <p:spPr>
          <a:xfrm>
            <a:off x="1444752" y="184937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سَيَحْلِفُونَ بِاللَّهِ لَكُمْ إِذَا انقَلَبْتُمْ إِلَيْهِمْ لِتُعْرِضُواْ عَنْهُمْ فَأَعْرِضُواْ عَنْهُمْ إِنَّهُمْ رِجْسٌ وَمَأْوَىٰهُمْ جَهَنَّمُ جَزَآءً بِمَا كَانُواْ يَكْسِبُونَ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will swear to you by Allah when you return to them so that you leave them without blame. So turn away from them; their hearts are impure, and their home is Hell, as a reward for what they earned.</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96</a:t>
            </a:r>
            <a:endParaRPr lang="en-US" sz="1600" dirty="0"/>
          </a:p>
        </p:txBody>
      </p:sp>
      <p:sp>
        <p:nvSpPr>
          <p:cNvPr id="13" name="Text 11"/>
          <p:cNvSpPr txBox="1"/>
          <p:nvPr/>
        </p:nvSpPr>
        <p:spPr>
          <a:xfrm>
            <a:off x="1444752" y="431368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يَحْلِفُونَ لَكُمْ لِتَرْضَوْاْ عَنْهُمْ فَإِن تَرْضَوْاْ عَنْهُمْ فَإِنَّ اللَّهَ لَا يَرْضَىٰ عَنِ الْقَوْمِ الْفَٰسِقِينَ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swear to you so that you will be pleased with them. Even if you are pleased with them, Allah is not pleased with the disobedient people.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107</a:t>
            </a:fld>
            <a:endParaRPr lang="en-US"/>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At-Tawbah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97 – 98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63040"/>
            <a:ext cx="548640" cy="548640"/>
          </a:xfrm>
          <a:prstGeom prst="star8">
            <a:avLst/>
          </a:prstGeom>
          <a:solidFill>
            <a:schemeClr val="accent2"/>
          </a:solidFill>
          <a:ln/>
        </p:spPr>
      </p:sp>
      <p:sp>
        <p:nvSpPr>
          <p:cNvPr id="6" name="Shape 4"/>
          <p:cNvSpPr/>
          <p:nvPr/>
        </p:nvSpPr>
        <p:spPr>
          <a:xfrm>
            <a:off x="822960" y="157276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630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97</a:t>
            </a:r>
            <a:endParaRPr lang="en-US" sz="1600" dirty="0"/>
          </a:p>
        </p:txBody>
      </p:sp>
      <p:sp>
        <p:nvSpPr>
          <p:cNvPr id="8" name="Text 6"/>
          <p:cNvSpPr txBox="1"/>
          <p:nvPr/>
        </p:nvSpPr>
        <p:spPr>
          <a:xfrm>
            <a:off x="1444752" y="1444752"/>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الْأَعْرَابُ أَشَدُّ كُفْرًا وَنِفَاقًا وَأَجْدَرُ أَلَّا يَعْلَمُواْ حُدُودَ مَآ أَنزَلَ اللَّهُ عَلَىٰ رَسُولِهِ وَاللَّهُ عَلِيمٌ حَكِيمٌ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desert Arabs are harder in disbelief and hypocrisy than townspeople, because they are far from knowledge, and more likely not to know the limits of what Allah sent down to His Messenger. Allah is All-Knowing, All-Wise.</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98</a:t>
            </a:r>
            <a:endParaRPr lang="en-US" sz="1600" dirty="0"/>
          </a:p>
        </p:txBody>
      </p:sp>
      <p:sp>
        <p:nvSpPr>
          <p:cNvPr id="13" name="Text 11"/>
          <p:cNvSpPr txBox="1"/>
          <p:nvPr/>
        </p:nvSpPr>
        <p:spPr>
          <a:xfrm>
            <a:off x="1444752" y="3909060"/>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الْأَعْرَابِ مَن يَتَّخِذُ مَا يُنفِقُ مَغْرَمًا وَيَتَرَبَّصُ بِكُمُ الدَّوَآئِرَ عَلَيْهِمْ دَآئِرَةُ السَّوْءِ وَاللَّهُ سَمِيعٌ عَلِيمٌ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Among the desert Arabs are some who consider what they spend in Allah's way a loss and a fine, and wait for bad times to strike you. The bad times will strike them, and Allah is All-Hearing, All-Knowing.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108</a:t>
            </a:fld>
            <a:endParaRPr lang="en-US"/>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At-Tawbah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99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695194"/>
            <a:ext cx="548640" cy="548640"/>
          </a:xfrm>
          <a:prstGeom prst="star8">
            <a:avLst/>
          </a:prstGeom>
          <a:solidFill>
            <a:schemeClr val="accent2"/>
          </a:solidFill>
          <a:ln/>
        </p:spPr>
      </p:sp>
      <p:sp>
        <p:nvSpPr>
          <p:cNvPr id="6" name="Shape 4"/>
          <p:cNvSpPr/>
          <p:nvPr/>
        </p:nvSpPr>
        <p:spPr>
          <a:xfrm>
            <a:off x="822960" y="280492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69519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99</a:t>
            </a:r>
            <a:endParaRPr lang="en-US" sz="1600" dirty="0"/>
          </a:p>
        </p:txBody>
      </p:sp>
      <p:sp>
        <p:nvSpPr>
          <p:cNvPr id="8" name="Text 6"/>
          <p:cNvSpPr txBox="1"/>
          <p:nvPr/>
        </p:nvSpPr>
        <p:spPr>
          <a:xfrm>
            <a:off x="1444752" y="2676906"/>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الْأَعْرَابِ مَن يُؤْمِنُ بِاللَّهِ وَالْيَوْمِ الْأخِرِ وَيَتَّخِذُ مَا يُنفِقُ قُرُبَٰتٍ عِندَ اللَّهِ وَصَلَوَٰتِ الرَّسُولِ أَلَآ إِنَّهَا قُرْبَةٌ لَّهُمْ سَيُدْخِلُهُمُ اللَّهُ فِي رَحْمَتِهِ إِنَّ اللَّهَ غَفُورٌ رَّحِيمٌ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among the desert Arabs are some who believe in Allah and the Last Day, and take what they spend as a way to come close to Allah and to earn the Messenger's prayers. Indeed, it brings them close. Allah will admit them to His mercy; Allah is Forgiving, Most Merciful.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109</a:t>
            </a:fld>
            <a:endParaRPr lang="en-US"/>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2300" b="1" dirty="0">
                <a:solidFill>
                  <a:schemeClr val="accent2"/>
                </a:solidFill>
                <a:latin typeface="Georgia" pitchFamily="34" charset="0"/>
                <a:ea typeface="Georgia" pitchFamily="34" charset="-122"/>
                <a:cs typeface="Georgia" pitchFamily="34" charset="-120"/>
              </a:rPr>
              <a:t>Forerunners; Harmful Mosque</a:t>
            </a:r>
            <a:endParaRPr lang="en-US" sz="23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6 of 7</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100 – 110</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At-Tawbah • Madani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Abu Hurayrah (may Allah be pleased with him) said: This verse was revealed about the people of Quba': “In it are men who love to purify themselves”. He said: They used to clean themselves with water, so it was revealed about them (Abu Dawud and Tirmidhi).</a:t>
            </a:r>
            <a:endParaRPr lang="en-US" sz="15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The virtue of the first forerunners of the Muhajirun and the Ansar, accepting the repentance of those who admit their sins, taking charity to purify them, exposing the mosque of harm, and the virtue of the mosque of Quba'.</a:t>
            </a:r>
            <a:endParaRPr lang="en-US" sz="170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At-Tawbah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100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420874"/>
            <a:ext cx="548640" cy="548640"/>
          </a:xfrm>
          <a:prstGeom prst="star8">
            <a:avLst/>
          </a:prstGeom>
          <a:solidFill>
            <a:schemeClr val="accent2"/>
          </a:solidFill>
          <a:ln/>
        </p:spPr>
      </p:sp>
      <p:sp>
        <p:nvSpPr>
          <p:cNvPr id="6" name="Shape 4"/>
          <p:cNvSpPr/>
          <p:nvPr/>
        </p:nvSpPr>
        <p:spPr>
          <a:xfrm>
            <a:off x="822960" y="253060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42087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100</a:t>
            </a:r>
            <a:endParaRPr lang="en-US" sz="1300" dirty="0"/>
          </a:p>
        </p:txBody>
      </p:sp>
      <p:sp>
        <p:nvSpPr>
          <p:cNvPr id="8" name="Text 6"/>
          <p:cNvSpPr txBox="1"/>
          <p:nvPr/>
        </p:nvSpPr>
        <p:spPr>
          <a:xfrm>
            <a:off x="1444752" y="2402586"/>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وَالسَّـٰبِقُونَ الْأَوَّلُونَ مِنَ الْمُهَٰجِرِينَ وَالْأَنصَارِ وَالَّذِينَ اتَّبَعُوهُم بِإِحْسَٰنٍ رَّضِيَ اللَّهُ عَنْهُمْ وَرَضُواْ عَنْهُ وَأَعَدَّ لَهُمْ جَنَّـٰتٍ تَجْرِي تَحْتَهَا الْأَنْهَٰرُ خَٰلِدِينَ فِيهَآ أَبَدًا ذَٰلِكَ الْفَوْزُ الْعَظِيمُ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first forerunners to Islam among the Muhajirun and the Ansar, and those who followed them in goodness, Allah is pleased with them and they are pleased with Him. He has prepared for them Gardens with rivers flowing beneath them, staying there forever. That is the great success.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111</a:t>
            </a:fld>
            <a:endParaRPr lang="en-US"/>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At-Tawbah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101 – 102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101</a:t>
            </a:r>
            <a:endParaRPr lang="en-US" sz="13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وَمِمَّنْ حَوْلَكُم مِّنَ الْأَعْرَابِ مُنَٰفِقُونَ وَمِنْ أَهْلِ الْمَدِينَةِ مَرَدُواْ عَلَى النِّفَاقِ لَا تَعْلَمُهُمْ نَحْنُ نَعْلَمُهُمْ سَنُعَذِّبُهُم مَّرَّتَيْنِ ثُمَّ يُرَدُّونَ إِلَىٰ عَذَابٍ عَظِيمٍ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Among the desert Arabs around you are hypocrites, and among the people of Madinah are some who are well-practised in hypocrisy. You do not know them; We know them. We will punish them twice in this world, then they will be returned to a great punishment.</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102</a:t>
            </a:r>
            <a:endParaRPr lang="en-US" sz="13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وَءَاخَرُونَ اعْتَرَفُواْ بِذُنُوبِهِمْ خَلَطُواْ عَمَلًا صَٰلِحًا وَءَاخَرَ سَيِّئًا عَسَى اللَّهُ أَن يَتُوبَ عَلَيْهِمْ إِنَّ اللَّهَ غَفُورٌ رَّحِيمٌ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Others stayed behind and then admitted their sins. They mixed a good deed with a bad one. Perhaps Allah will accept their repentance; Allah is Forgiving, Most Merciful.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112</a:t>
            </a:fld>
            <a:endParaRPr lang="en-US"/>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At-Tawbah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103 – 104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103</a:t>
            </a:r>
            <a:endParaRPr lang="en-US" sz="13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خُذْ مِنْ أَمْوَٰلِهِمْ صَدَقَةً تُطَهِّرُهُمْ وَتُزَكِّيهِم بِهَا وَصَلِّ عَلَيْهِمْ إِنَّ صَلَوٰتَكَ سَكَنٌ لَّهُمْ وَاللَّهُ سَمِيعٌ عَلِيمٌ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Take charity from their wealth to purify them from sins and grow their good deeds, and pray for them; your prayer brings them calm. Allah is All-Hearing, All-Knowing.</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104</a:t>
            </a:r>
            <a:endParaRPr lang="en-US" sz="13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أَلَمْ يَعْلَمُواْ أَنَّ اللَّهَ هُوَ يَقْبَلُ التَّوْبَةَ عَنْ عِبَادِهِ وَيَأْخُذُ الصَّدَقَٰتِ وَأَنَّ اللَّهَ هُوَ التَّوَّابُ الرَّحِيمُ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they not know that it is Allah who accepts repentance from His servants and accepts charity, and that Allah is the Accepter of repentance, the Most Merciful?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113</a:t>
            </a:fld>
            <a:endParaRPr lang="en-US"/>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At-Tawbah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105 – 106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105</a:t>
            </a:r>
            <a:endParaRPr lang="en-US" sz="1300" dirty="0"/>
          </a:p>
        </p:txBody>
      </p:sp>
      <p:sp>
        <p:nvSpPr>
          <p:cNvPr id="8" name="Text 6"/>
          <p:cNvSpPr txBox="1"/>
          <p:nvPr/>
        </p:nvSpPr>
        <p:spPr>
          <a:xfrm>
            <a:off x="1444752" y="184937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وَقُلِ اعْمَلُواْ فَسَيَرَى اللَّهُ عَمَلَكُمْ وَرَسُولُهُ وَالْمُؤْمِنُونَ وَسَتُرَدُّونَ إِلَىٰ عَٰلِمِ الْغَيْبِ وَالشَّهَٰدَةِ فَيُنَبِّئُكُم بِمَا كُنتُمْ تَعْمَلُونَ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Work, for Allah will see your work, and so will His Messenger and the believers. Then you will be returned to the Knower of the unseen and the seen, and He will tell you what you used to do.</a:t>
            </a:r>
            <a:endParaRPr lang="en-US" sz="3000" dirty="0"/>
          </a:p>
        </p:txBody>
      </p:sp>
      <p:sp>
        <p:nvSpPr>
          <p:cNvPr id="9" name="Shape 7"/>
          <p:cNvSpPr/>
          <p:nvPr/>
        </p:nvSpPr>
        <p:spPr>
          <a:xfrm>
            <a:off x="1444752" y="3838194"/>
            <a:ext cx="8641080" cy="0"/>
          </a:xfrm>
          <a:prstGeom prst="line">
            <a:avLst/>
          </a:prstGeom>
          <a:noFill/>
          <a:ln w="9525">
            <a:solidFill>
              <a:schemeClr val="accent2"/>
            </a:solidFill>
            <a:prstDash val="dash"/>
          </a:ln>
        </p:spPr>
      </p:sp>
      <p:sp>
        <p:nvSpPr>
          <p:cNvPr id="10" name="Shape 8"/>
          <p:cNvSpPr/>
          <p:nvPr/>
        </p:nvSpPr>
        <p:spPr>
          <a:xfrm>
            <a:off x="713232" y="4071366"/>
            <a:ext cx="548640" cy="548640"/>
          </a:xfrm>
          <a:prstGeom prst="star8">
            <a:avLst/>
          </a:prstGeom>
          <a:solidFill>
            <a:schemeClr val="accent2"/>
          </a:solidFill>
          <a:ln/>
        </p:spPr>
      </p:sp>
      <p:sp>
        <p:nvSpPr>
          <p:cNvPr id="11" name="Shape 9"/>
          <p:cNvSpPr/>
          <p:nvPr/>
        </p:nvSpPr>
        <p:spPr>
          <a:xfrm>
            <a:off x="822960" y="418109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7136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106</a:t>
            </a:r>
            <a:endParaRPr lang="en-US" sz="1300" dirty="0"/>
          </a:p>
        </p:txBody>
      </p:sp>
      <p:sp>
        <p:nvSpPr>
          <p:cNvPr id="13" name="Text 11"/>
          <p:cNvSpPr txBox="1"/>
          <p:nvPr/>
        </p:nvSpPr>
        <p:spPr>
          <a:xfrm>
            <a:off x="1444752" y="4053078"/>
            <a:ext cx="10012680" cy="151333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وَءَاخَرُونَ مُرْجَوْنَ لِأَمْرِ اللَّهِ إِمَّا يُعَذِّبُهُمْ وَإِمَّا يَتُوبُ عَلَيْهِمْ وَاللَّهُ عَلِيمٌ حَكِيمٌ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Others who stayed behind have their matter postponed for Allah's decision: either He will punish them or accept their repentance. Allah is All-Knowing, All-Wise. They are the three who were left behind.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114</a:t>
            </a:fld>
            <a:endParaRPr lang="en-US"/>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At-Tawbah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107 – 108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107</a:t>
            </a:r>
            <a:endParaRPr lang="en-US" sz="13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وَالَّذِينَ اتَّخَذُواْ مَسْجِدًا ضِرَارًا وَكُفْرًا وَتَفْرِيقًا بَيْنَ الْمُؤْمِنِينَ وَإِرْصَادًا لِّمَنْ حَارَبَ اللَّهَ وَرَسُولَهُ مِن قَبْلُ وَلَيَحْلِفُنَّ إِنْ أَرَدْنَآ إِلَّا الْحُسْنَىٰ وَاللَّهُ يَشْهَدُ إِنَّهُمْ لَكَٰذِبُونَ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the hypocrites who built a mosque to harm the believers, to support disbelief, to divide the believers, and as a base for those who fought Allah and His Messenger before. They will surely swear: We only meant good. But Allah bears witness that they are liars.</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108</a:t>
            </a:r>
            <a:endParaRPr lang="en-US" sz="13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لَا تَقُمْ فِيهِ أَبَدًا لَّمَسْجِدٌ أُسِّسَ عَلَى التَّقْوَىٰ مِنْ أَوَّلِ يَوْمٍ أَحَقُّ أَن تَقُومَ فِيهِ فِيهِ رِجَالٌ يُحِبُّونَ أَن يَتَطَهَّرُواْ وَاللَّهُ يُحِبُّ الْمُطَّهِّرِينَ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Never pray in it. The mosque of Quba', founded on taqwa from the first day, has more right that you pray in it. In it are men who love to purify themselves, and Allah loves those who purify themselves.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115</a:t>
            </a:fld>
            <a:endParaRPr lang="en-US"/>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At-Tawbah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109 – 110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109</a:t>
            </a:r>
            <a:endParaRPr lang="en-US" sz="1300" dirty="0"/>
          </a:p>
        </p:txBody>
      </p:sp>
      <p:sp>
        <p:nvSpPr>
          <p:cNvPr id="8" name="Text 6"/>
          <p:cNvSpPr txBox="1"/>
          <p:nvPr/>
        </p:nvSpPr>
        <p:spPr>
          <a:xfrm>
            <a:off x="1444752" y="184937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أَفَمَنْ أَسَّسَ بُنْيَٰنَهُ عَلَىٰ تَقْوَىٰ مِنَ اللَّهِ وَرِضْوَٰنٍ خَيْرٌ أَم مَّنْ أَسَّسَ بُنْيَٰنَهُ عَلَىٰ شَفَا جُرُفٍ هَارٍ فَانْهَارَ بِهِ فِي نَارِ جَهَنَّمَ وَاللَّهُ لَا يَهْدِي الْقَوْمَ الظَّـٰلِمِينَ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Is one who founded his building on taqwa of Allah and His pleasure better, or one who founded his building on the edge of a crumbling cliff, so it collapsed with him into the fire of Hell? Allah does not guide the wrongdoing people.</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110</a:t>
            </a:r>
            <a:endParaRPr lang="en-US" sz="1300" dirty="0"/>
          </a:p>
        </p:txBody>
      </p:sp>
      <p:sp>
        <p:nvSpPr>
          <p:cNvPr id="13" name="Text 11"/>
          <p:cNvSpPr txBox="1"/>
          <p:nvPr/>
        </p:nvSpPr>
        <p:spPr>
          <a:xfrm>
            <a:off x="1444752" y="431368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لَا يَزَالُ بُنْيَٰنُهُمُ الَّذِي بَنَوْاْ رِيبَةً فِي قُلُوبِهِمْ إِلَّآ أَن تَقَطَّعَ قُلُوبُهُمْ وَاللَّهُ عَلِيمٌ حَكِيمٌ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building they built will remain a cause of doubt and hypocrisy in their hearts until their hearts are cut to pieces by death. Allah is All-Knowing, All-Wise.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116</a:t>
            </a:fld>
            <a:endParaRPr lang="en-US"/>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000" b="1" dirty="0">
                <a:solidFill>
                  <a:schemeClr val="accent2"/>
                </a:solidFill>
                <a:latin typeface="Georgia" pitchFamily="34" charset="0"/>
                <a:ea typeface="Georgia" pitchFamily="34" charset="-122"/>
                <a:cs typeface="Georgia" pitchFamily="34" charset="-120"/>
              </a:rPr>
              <a:t>The Profitable Deal</a:t>
            </a:r>
            <a:endParaRPr lang="en-US" sz="30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7 of 7</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111 – 129</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At-Tawbah • Madani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400" dirty="0">
                <a:solidFill>
                  <a:schemeClr val="tx1"/>
                </a:solidFill>
                <a:latin typeface="Arial" pitchFamily="34" charset="0"/>
                <a:ea typeface="Arial" pitchFamily="34" charset="-122"/>
                <a:cs typeface="Arial" pitchFamily="34" charset="-120"/>
              </a:rPr>
              <a:t>When Abu Talib was dying, the Prophet (peace be upon him) said: "I will keep asking forgiveness for you as long as I am not forbidden," so this was revealed: “It is not right for the Prophet and the believers to ask forgiveness for the idol-worshippers” (Bukhari and Muslim). The story of the repentance of Ka'b ibn Malik and his two companions is in Bukhari and Muslim.</a:t>
            </a:r>
            <a:endParaRPr lang="en-US" sz="14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The believers' profitable deal with Allah and their nine qualities, Allah accepting the repentance of the Prophet, the Muhajirun and the Ansar, and of the three left behind because of their truthfulness, the command to learn the religion, and the Prophet's (peace be upon him) mercy to his Ummah.</a:t>
            </a:r>
            <a:endParaRPr lang="en-US" sz="150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At-Tawbah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111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290572"/>
            <a:ext cx="548640" cy="548640"/>
          </a:xfrm>
          <a:prstGeom prst="star8">
            <a:avLst/>
          </a:prstGeom>
          <a:solidFill>
            <a:schemeClr val="accent2"/>
          </a:solidFill>
          <a:ln/>
        </p:spPr>
      </p:sp>
      <p:sp>
        <p:nvSpPr>
          <p:cNvPr id="6" name="Shape 4"/>
          <p:cNvSpPr/>
          <p:nvPr/>
        </p:nvSpPr>
        <p:spPr>
          <a:xfrm>
            <a:off x="822960" y="240030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29057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111</a:t>
            </a:r>
            <a:endParaRPr lang="en-US" sz="1300" dirty="0"/>
          </a:p>
        </p:txBody>
      </p:sp>
      <p:sp>
        <p:nvSpPr>
          <p:cNvPr id="8" name="Text 6"/>
          <p:cNvSpPr txBox="1"/>
          <p:nvPr/>
        </p:nvSpPr>
        <p:spPr>
          <a:xfrm>
            <a:off x="1444752" y="2272284"/>
            <a:ext cx="10012680" cy="287121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اللَّهَ اشْتَرَىٰ مِنَ الْمُؤْمِنِينَ أَنفُسَهُمْ وَأَمْوَٰلَهُم بِأَنَّ لَهُمُ الْجَنَّةَ يُقَٰتِلُونَ فِي سَبِيلِ اللَّهِ فَيَقْتُلُونَ وَيُقْتَلُونَ وَعْدًا عَلَيْهِ حَقًّا فِي التَّوْرَىٰةِ وَالْإِنجِيلِ وَالْقُرْءَانِ وَمَنْ أَوْفَىٰ بِعَهْدِهِ مِنَ اللَّهِ فَاسْتَبْشِرُواْ بِبَيْعِكُمُ الَّذِي بَايَعْتُم بِهِ وَذَٰلِكَ هُوَ الْفَوْزُ الْعَظِيمُ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has bought from the believers their lives and their wealth in exchange for Paradise. They fight in the way of Allah, killing and being killed. It is a true promise binding on Him in the Torah, the Injil and the Qur'an. And who keeps his promise better than Allah? So rejoice in the deal you have made; that is the great success.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118</a:t>
            </a:fld>
            <a:endParaRPr lang="en-US"/>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At-Tawbah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112 – 113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112</a:t>
            </a:r>
            <a:endParaRPr lang="en-US" sz="13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التَّـٰئِبُونَ الْعَٰبِدُونَ الْحَٰمِدُونَ السَّـٰئِحُونَ الرَّـٰكِعُونَ السَّـٰجِدُونَ الْأمِرُونَ بِالْمَعْرُوفِ وَالنَّاهُونَ عَنِ الْمُنكَرِ وَالْحَٰفِظُونَ لِحُدُودِ اللَّهِ وَبَشِّرِ الْمُؤْمِنِينَ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Their qualities: they repent from sins, worship, praise Allah, fast, bow, prostrate, command good, forbid evil, and keep Allah's limits. And give good news to the believers.</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113</a:t>
            </a:r>
            <a:endParaRPr lang="en-US" sz="13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مَا كَانَ لِلنَّبِيِّ وَالَّذِينَ ءَامَنُواْ أَن يَسْتَغْفِرُواْ لِلْمُشْرِكِينَ وَلَوْ كَانُواْ أُوْلِي قُرْبَىٰ مِن بَعْدِ مَا تَبَيَّنَ لَهُمْ أَنَّهُمْ أَصْحَٰبُ الْجَحِيمِ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It is not right for the Prophet and the believers to ask forgiveness for the idol-worshippers, even if they are relatives, after it has become clear that they died upon shirk and are people of Hell.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119</a:t>
            </a:fld>
            <a:endParaRPr lang="en-US"/>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At-Tawbah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114 – 115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114</a:t>
            </a:r>
            <a:endParaRPr lang="en-US" sz="13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كَانَ اسْتِغْفَارُ إِبْرَٰهِيمَ لِأَبِيهِ إِلَّا عَن مَّوْعِدَةٍ وَعَدَهَآ إِيَّاهُ فَلَمَّا تَبَيَّنَ لَهُ أَنَّهُ عَدُوٌّ لِّلَّهِ تَبَرَّأَ مِنْهُ إِنَّ إِبْرَٰهِيمَ لَأَوَّـٰهٌ حَلِيمٌ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Ibrahim's asking forgiveness for his father was only because of a promise he had made him. When it became clear to him that he was an enemy of Allah, by dying upon shirk, he disowned him. Ibrahim was tender-hearted, often calling on Allah, and forbearing.</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115</a:t>
            </a:r>
            <a:endParaRPr lang="en-US" sz="13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كَانَ اللَّهُ لِيُضِلَّ قَوْمًا بَعْدَ إِذْ هَدَىٰهُمْ حَتَّىٰ يُبَيِّنَ لَهُم مَّا يَتَّقُونَ إِنَّ اللَّهَ بِكُلِّ شَيْءٍ عَلِيمٌ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would never judge a people as astray after He has guided them until He makes clear to them what they should avoid. Allah knows everything.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120</a:t>
            </a:fld>
            <a:endParaRPr lang="en-US"/>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At-Tawbah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116 – 117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63040"/>
            <a:ext cx="548640" cy="548640"/>
          </a:xfrm>
          <a:prstGeom prst="star8">
            <a:avLst/>
          </a:prstGeom>
          <a:solidFill>
            <a:schemeClr val="accent2"/>
          </a:solidFill>
          <a:ln/>
        </p:spPr>
      </p:sp>
      <p:sp>
        <p:nvSpPr>
          <p:cNvPr id="6" name="Shape 4"/>
          <p:cNvSpPr/>
          <p:nvPr/>
        </p:nvSpPr>
        <p:spPr>
          <a:xfrm>
            <a:off x="822960" y="157276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6304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116</a:t>
            </a:r>
            <a:endParaRPr lang="en-US" sz="1300" dirty="0"/>
          </a:p>
        </p:txBody>
      </p:sp>
      <p:sp>
        <p:nvSpPr>
          <p:cNvPr id="8" name="Text 6"/>
          <p:cNvSpPr txBox="1"/>
          <p:nvPr/>
        </p:nvSpPr>
        <p:spPr>
          <a:xfrm>
            <a:off x="1444752" y="144475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اللَّهَ لَهُ مُلْكُ السَّمَٰوَٰتِ وَالْأَرْضِ يُحْيِ وَيُمِيتُ وَمَا لَكُم مِّن دُونِ اللَّهِ مِن وَلِيٍّ وَلَا نَصِيرٍ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To Allah belongs the kingdom of the heavens and the earth. He gives life and causes death, and you have no protector or helper besides Allah.</a:t>
            </a:r>
            <a:endParaRPr lang="en-US" sz="3000" dirty="0"/>
          </a:p>
        </p:txBody>
      </p:sp>
      <p:sp>
        <p:nvSpPr>
          <p:cNvPr id="9" name="Shape 7"/>
          <p:cNvSpPr/>
          <p:nvPr/>
        </p:nvSpPr>
        <p:spPr>
          <a:xfrm>
            <a:off x="1444752" y="3433572"/>
            <a:ext cx="8641080" cy="0"/>
          </a:xfrm>
          <a:prstGeom prst="line">
            <a:avLst/>
          </a:prstGeom>
          <a:noFill/>
          <a:ln w="9525">
            <a:solidFill>
              <a:schemeClr val="accent2"/>
            </a:solidFill>
            <a:prstDash val="dash"/>
          </a:ln>
        </p:spPr>
      </p:sp>
      <p:sp>
        <p:nvSpPr>
          <p:cNvPr id="10" name="Shape 8"/>
          <p:cNvSpPr/>
          <p:nvPr/>
        </p:nvSpPr>
        <p:spPr>
          <a:xfrm>
            <a:off x="713232" y="3666744"/>
            <a:ext cx="548640" cy="548640"/>
          </a:xfrm>
          <a:prstGeom prst="star8">
            <a:avLst/>
          </a:prstGeom>
          <a:solidFill>
            <a:schemeClr val="accent2"/>
          </a:solidFill>
          <a:ln/>
        </p:spPr>
      </p:sp>
      <p:sp>
        <p:nvSpPr>
          <p:cNvPr id="11" name="Shape 9"/>
          <p:cNvSpPr/>
          <p:nvPr/>
        </p:nvSpPr>
        <p:spPr>
          <a:xfrm>
            <a:off x="822960" y="377647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6674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117</a:t>
            </a:r>
            <a:endParaRPr lang="en-US" sz="1300" dirty="0"/>
          </a:p>
        </p:txBody>
      </p:sp>
      <p:sp>
        <p:nvSpPr>
          <p:cNvPr id="13" name="Text 11"/>
          <p:cNvSpPr txBox="1"/>
          <p:nvPr/>
        </p:nvSpPr>
        <p:spPr>
          <a:xfrm>
            <a:off x="1444752" y="3648456"/>
            <a:ext cx="10012680" cy="232257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لَّقَد تَّابَ اللَّهُ عَلَى النَّبِيِّ وَالْمُهَٰجِرِينَ وَالْأَنصَارِ الَّذِينَ اتَّبَعُوهُ فِي سَاعَةِ الْعُسْرَةِ مِن بَعْدِ مَا كَادَ يَزِيغُ قُلُوبُ فَرِيقٍ مِّنْهُمْ ثُمَّ تَابَ عَلَيْهِمْ إِنَّهُ بِهِمْ رَءُوفٌ رَّحِيمٌ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has accepted the repentance of the Prophet, the Muhajirun and the Ansar who followed him in the hour of hardship in the expedition of Tabuk, after the hearts of some of them almost turned from the truth because of the great difficulty. Then He accepted their repentance; He is Kind and Most Merciful to them.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121</a:t>
            </a:fld>
            <a:endParaRPr lang="en-US"/>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At-Tawbah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118 – 119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63040"/>
            <a:ext cx="548640" cy="548640"/>
          </a:xfrm>
          <a:prstGeom prst="star8">
            <a:avLst/>
          </a:prstGeom>
          <a:solidFill>
            <a:schemeClr val="accent2"/>
          </a:solidFill>
          <a:ln/>
        </p:spPr>
      </p:sp>
      <p:sp>
        <p:nvSpPr>
          <p:cNvPr id="6" name="Shape 4"/>
          <p:cNvSpPr/>
          <p:nvPr/>
        </p:nvSpPr>
        <p:spPr>
          <a:xfrm>
            <a:off x="822960" y="157276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6304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118</a:t>
            </a:r>
            <a:endParaRPr lang="en-US" sz="1300" dirty="0"/>
          </a:p>
        </p:txBody>
      </p:sp>
      <p:sp>
        <p:nvSpPr>
          <p:cNvPr id="8" name="Text 6"/>
          <p:cNvSpPr txBox="1"/>
          <p:nvPr/>
        </p:nvSpPr>
        <p:spPr>
          <a:xfrm>
            <a:off x="1444752" y="1444752"/>
            <a:ext cx="10012680" cy="287121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وَعَلَى الثَّلَٰثَةِ الَّذِينَ خُلِّفُواْ حَتَّىٰ إِذَا ضَاقَتْ عَلَيْهِمُ الْأَرْضُ بِمَا رَحُبَتْ وَضَاقَتْ عَلَيْهِمْ أَنفُسُهُمْ وَظَنُّواْ أَن لَّا مَلْجَأَ مِنَ اللَّهِ إِلَّآ إِلَيْهِ ثُمَّ تَابَ عَلَيْهِمْ لِيَتُوبُواْ إِنَّ اللَّهَ هُوَ التَّوَّابُ الرَّحِيمُ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He accepted the repentance of the three whose matter was postponed, Ka'b ibn Malik and his two companions, when the earth, wide as it is, felt tight around them, their own souls felt tight, and they were certain there was no refuge from Allah except in Him. Then He helped them repent so they would repent. Allah is the Accepter of repentance, the Most Merciful.</a:t>
            </a:r>
            <a:endParaRPr lang="en-US" sz="3000" dirty="0"/>
          </a:p>
        </p:txBody>
      </p:sp>
      <p:sp>
        <p:nvSpPr>
          <p:cNvPr id="9" name="Shape 7"/>
          <p:cNvSpPr/>
          <p:nvPr/>
        </p:nvSpPr>
        <p:spPr>
          <a:xfrm>
            <a:off x="1444752" y="4503420"/>
            <a:ext cx="8641080" cy="0"/>
          </a:xfrm>
          <a:prstGeom prst="line">
            <a:avLst/>
          </a:prstGeom>
          <a:noFill/>
          <a:ln w="9525">
            <a:solidFill>
              <a:schemeClr val="accent2"/>
            </a:solidFill>
            <a:prstDash val="dash"/>
          </a:ln>
        </p:spPr>
      </p:sp>
      <p:sp>
        <p:nvSpPr>
          <p:cNvPr id="10" name="Shape 8"/>
          <p:cNvSpPr/>
          <p:nvPr/>
        </p:nvSpPr>
        <p:spPr>
          <a:xfrm>
            <a:off x="713232" y="4736592"/>
            <a:ext cx="548640" cy="548640"/>
          </a:xfrm>
          <a:prstGeom prst="star8">
            <a:avLst/>
          </a:prstGeom>
          <a:solidFill>
            <a:schemeClr val="accent2"/>
          </a:solidFill>
          <a:ln/>
        </p:spPr>
      </p:sp>
      <p:sp>
        <p:nvSpPr>
          <p:cNvPr id="11" name="Shape 9"/>
          <p:cNvSpPr/>
          <p:nvPr/>
        </p:nvSpPr>
        <p:spPr>
          <a:xfrm>
            <a:off x="822960" y="484632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73659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119</a:t>
            </a:r>
            <a:endParaRPr lang="en-US" sz="1300" dirty="0"/>
          </a:p>
        </p:txBody>
      </p:sp>
      <p:sp>
        <p:nvSpPr>
          <p:cNvPr id="13" name="Text 11"/>
          <p:cNvSpPr txBox="1"/>
          <p:nvPr/>
        </p:nvSpPr>
        <p:spPr>
          <a:xfrm>
            <a:off x="1444752" y="471830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الَّذِينَ ءَامَنُواْ اتَّقُواْ اللَّهَ وَكُونُواْ مَعَ الصَّـٰدِقِينَ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believers, have taqwa of Allah and be with the truthful in their words and deeds. It was truthfulness that saved Ka'b and his two companions.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122</a:t>
            </a:fld>
            <a:endParaRPr lang="en-US"/>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At-Tawbah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120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85950"/>
            <a:ext cx="548640" cy="548640"/>
          </a:xfrm>
          <a:prstGeom prst="star8">
            <a:avLst/>
          </a:prstGeom>
          <a:solidFill>
            <a:schemeClr val="accent2"/>
          </a:solidFill>
          <a:ln/>
        </p:spPr>
      </p:sp>
      <p:sp>
        <p:nvSpPr>
          <p:cNvPr id="6" name="Shape 4"/>
          <p:cNvSpPr/>
          <p:nvPr/>
        </p:nvSpPr>
        <p:spPr>
          <a:xfrm>
            <a:off x="822960" y="199567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8595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120</a:t>
            </a:r>
            <a:endParaRPr lang="en-US" sz="1300" dirty="0"/>
          </a:p>
        </p:txBody>
      </p:sp>
      <p:sp>
        <p:nvSpPr>
          <p:cNvPr id="8" name="Text 6"/>
          <p:cNvSpPr txBox="1"/>
          <p:nvPr/>
        </p:nvSpPr>
        <p:spPr>
          <a:xfrm>
            <a:off x="1444752" y="1867662"/>
            <a:ext cx="10012680" cy="3680460"/>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مَا كَانَ لِأَهْلِ الْمَدِينَةِ وَمَنْ حَوْلَهُم مِّنَ الْأَعْرَابِ أَن يَتَخَلَّفُواْ عَن رَّسُولِ اللَّهِ وَلَا يَرْغَبُواْ بِأَنفُسِهِمْ عَن نَّفْسِهِ ذَٰلِكَ بِأَنَّهُمْ لَا يُصِيبُهُمْ ظَمَأٌ وَلَا نَصَبٌ وَلَا مَخْمَصَةٌ فِي سَبِيلِ اللَّهِ وَلَا يَطَـُٔونَ مَوْطِئًا يَغِيظُ الْكُفَّارَ وَلَا يَنَالُونَ مِنْ عَدُوٍّ نَّيْلًا إِلَّا كُتِبَ لَهُم بِهِ عَمَلٌ صَٰلِحٌ إِنَّ اللَّهَ لَا يُضِيعُ أَجْرَ الْمُحْسِنِينَ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It was not right for the people of Madinah and the desert Arabs around them to stay behind from the Messenger of Allah or to prefer themselves over him. That is because no thirst, tiredness or hunger touches them in the way of Allah, nor do they step anywhere that angers the disbelievers, nor do they gain anything from an enemy, but a good deed is written for them for it. Allah does not let the reward of those who do good be lost.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123</a:t>
            </a:fld>
            <a:endParaRPr lang="en-US"/>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At-Tawbah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121 – 122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121</a:t>
            </a:r>
            <a:endParaRPr lang="en-US" sz="1300" dirty="0"/>
          </a:p>
        </p:txBody>
      </p:sp>
      <p:sp>
        <p:nvSpPr>
          <p:cNvPr id="8" name="Text 6"/>
          <p:cNvSpPr txBox="1"/>
          <p:nvPr/>
        </p:nvSpPr>
        <p:spPr>
          <a:xfrm>
            <a:off x="1444752" y="157505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وَلَا يُنفِقُونَ نَفَقَةً صَغِيرَةً وَلَا كَبِيرَةً وَلَا يَقْطَعُونَ وَادِيًا إِلَّا كُتِبَ لَهُمْ لِيَجْزِيَهُمُ اللَّهُ أَحْسَنَ مَا كَانُواْ يَعْمَلُونَ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Nor do they spend anything, small or large, or cross a valley on their journey, but it is written for them, so that Allah may reward them for the best of what they did.</a:t>
            </a:r>
            <a:endParaRPr lang="en-US" sz="3000" dirty="0"/>
          </a:p>
        </p:txBody>
      </p:sp>
      <p:sp>
        <p:nvSpPr>
          <p:cNvPr id="9" name="Shape 7"/>
          <p:cNvSpPr/>
          <p:nvPr/>
        </p:nvSpPr>
        <p:spPr>
          <a:xfrm>
            <a:off x="1444752" y="3563874"/>
            <a:ext cx="8641080" cy="0"/>
          </a:xfrm>
          <a:prstGeom prst="line">
            <a:avLst/>
          </a:prstGeom>
          <a:noFill/>
          <a:ln w="9525">
            <a:solidFill>
              <a:schemeClr val="accent2"/>
            </a:solidFill>
            <a:prstDash val="dash"/>
          </a:ln>
        </p:spPr>
      </p:sp>
      <p:sp>
        <p:nvSpPr>
          <p:cNvPr id="10" name="Shape 8"/>
          <p:cNvSpPr/>
          <p:nvPr/>
        </p:nvSpPr>
        <p:spPr>
          <a:xfrm>
            <a:off x="713232" y="3797046"/>
            <a:ext cx="548640" cy="548640"/>
          </a:xfrm>
          <a:prstGeom prst="star8">
            <a:avLst/>
          </a:prstGeom>
          <a:solidFill>
            <a:schemeClr val="accent2"/>
          </a:solidFill>
          <a:ln/>
        </p:spPr>
      </p:sp>
      <p:sp>
        <p:nvSpPr>
          <p:cNvPr id="11" name="Shape 9"/>
          <p:cNvSpPr/>
          <p:nvPr/>
        </p:nvSpPr>
        <p:spPr>
          <a:xfrm>
            <a:off x="822960" y="390677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79704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122</a:t>
            </a:r>
            <a:endParaRPr lang="en-US" sz="1300" dirty="0"/>
          </a:p>
        </p:txBody>
      </p:sp>
      <p:sp>
        <p:nvSpPr>
          <p:cNvPr id="13" name="Text 11"/>
          <p:cNvSpPr txBox="1"/>
          <p:nvPr/>
        </p:nvSpPr>
        <p:spPr>
          <a:xfrm>
            <a:off x="1444752" y="377875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كَانَ الْمُؤْمِنُونَ لِيَنفِرُواْ كَآفَّةً فَلَوْلَا نَفَرَ مِن كُلِّ فِرْقَةٍ مِّنْهُمْ طَآئِفَةٌ لِّيَتَفَقَّهُواْ فِي الدِّينِ وَلِيُنذِرُواْ قَوْمَهُمْ إِذَا رَجَعُواْ إِلَيْهِمْ لَعَلَّهُمْ يَحْذَرُونَ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It is not right for all the believers to go out for jihad together. Why not have a group from each community go out, while others stay to learn the religion and warn their people when they return, so that they may be careful?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124</a:t>
            </a:fld>
            <a:endParaRPr lang="en-US"/>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At-Tawbah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123 – 124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123</a:t>
            </a:r>
            <a:endParaRPr lang="en-US" sz="13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الَّذِينَ ءَامَنُواْ قَٰتِلُواْ الَّذِينَ يَلُونَكُم مِّنَ الْكُفَّارِ وَلْيَجِدُواْ فِيكُمْ غِلْظَةً وَاعْلَمُواْ أَنَّ اللَّهَ مَعَ الْمُتَّقِينَ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believers, fight the disbelievers near you, and let them find firmness in you. Know that Allah is with those with taqwa.</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124</a:t>
            </a:r>
            <a:endParaRPr lang="en-US" sz="13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مَآ أُنزِلَتْ سُورَةٌ فَمِنْهُم مَّن يَقُولُ أَيُّكُمْ زَادَتْهُ هَٰذِهِ إِيمَٰنًا فَأَمَّا الَّذِينَ ءَامَنُواْ فَزَادَتْهُمْ إِيمَٰنًا وَهُمْ يَسْتَبْشِرُونَ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Whenever a surah is sent down, some of the hypocrites say mockingly: Which of you has this increased in faith? As for the believers, it increases them in faith, and they rejoice.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125</a:t>
            </a:fld>
            <a:endParaRPr lang="en-US"/>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At-Tawbah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125 – 126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272284"/>
            <a:ext cx="548640" cy="548640"/>
          </a:xfrm>
          <a:prstGeom prst="star8">
            <a:avLst/>
          </a:prstGeom>
          <a:solidFill>
            <a:schemeClr val="accent2"/>
          </a:solidFill>
          <a:ln/>
        </p:spPr>
      </p:sp>
      <p:sp>
        <p:nvSpPr>
          <p:cNvPr id="6" name="Shape 4"/>
          <p:cNvSpPr/>
          <p:nvPr/>
        </p:nvSpPr>
        <p:spPr>
          <a:xfrm>
            <a:off x="822960" y="238201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27228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125</a:t>
            </a:r>
            <a:endParaRPr lang="en-US" sz="1300" dirty="0"/>
          </a:p>
        </p:txBody>
      </p:sp>
      <p:sp>
        <p:nvSpPr>
          <p:cNvPr id="8" name="Text 6"/>
          <p:cNvSpPr txBox="1"/>
          <p:nvPr/>
        </p:nvSpPr>
        <p:spPr>
          <a:xfrm>
            <a:off x="1444752" y="225399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وَأَمَّا الَّذِينَ فِي قُلُوبِهِم مَّرَضٌ فَزَادَتْهُمْ رِجْسًا إِلَىٰ رِجْسِهِمْ وَمَاتُواْ وَهُمْ كَٰفِرُونَ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as for those with doubt in their hearts, it increases them in disbelief on top of their disbelief, and they die as disbelievers.</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126</a:t>
            </a:r>
            <a:endParaRPr lang="en-US" sz="1300" dirty="0"/>
          </a:p>
        </p:txBody>
      </p:sp>
      <p:sp>
        <p:nvSpPr>
          <p:cNvPr id="13" name="Text 11"/>
          <p:cNvSpPr txBox="1"/>
          <p:nvPr/>
        </p:nvSpPr>
        <p:spPr>
          <a:xfrm>
            <a:off x="1444752" y="390906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أَوَلَا يَرَوْنَ أَنَّهُمْ يُفْتَنُونَ فِي كُلِّ عَامٍ مَّرَّةً أَوْ مَرَّتَيْنِ ثُمَّ لَا يَتُوبُونَ وَلَا هُمْ يَذَّكَّرُونَ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the hypocrites not see that they are tested once or twice every year with disasters and the exposure of their hypocrisy? Yet they do not repent or take heed.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126</a:t>
            </a:fld>
            <a:endParaRPr lang="en-US"/>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At-Tawbah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127 – 128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127</a:t>
            </a:r>
            <a:endParaRPr lang="en-US" sz="13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مَآ أُنزِلَتْ سُورَةٌ نَّظَرَ بَعْضُهُمْ إِلَىٰ بَعْضٍ هَلْ يَرَىٰكُم مِّنْ أَحَدٍ ثُمَّ انصَرَفُواْ صَرَفَ اللَّهُ قُلُوبَهُم بِأَنَّهُمْ قَوْمٌ لَّا يَفْقَهُونَ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Whenever a surah is sent down, they look at one another: Does anyone see you? Then they slip away. Allah has turned their hearts away from good because they are a people who do not understand.</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128</a:t>
            </a:r>
            <a:endParaRPr lang="en-US" sz="13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لَقَدْ جَآءَكُمْ رَسُولٌ مِّنْ أَنفُسِكُمْ عَزِيزٌ عَلَيْهِ مَا عَنِتُّمْ حَرِيصٌ عَلَيْكُم بِالْمُؤْمِنِينَ رَءُوفٌ رَّحِيمٌ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 Messenger has come to you from among yourselves, whom you know. What troubles you is hard on him; he is eager for your guidance, and to the believers he is kind and merciful.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127</a:t>
            </a:fld>
            <a:endParaRPr lang="en-US"/>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At-Tawbah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129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3099816"/>
            <a:ext cx="548640" cy="548640"/>
          </a:xfrm>
          <a:prstGeom prst="star8">
            <a:avLst/>
          </a:prstGeom>
          <a:solidFill>
            <a:schemeClr val="accent2"/>
          </a:solidFill>
          <a:ln/>
        </p:spPr>
      </p:sp>
      <p:sp>
        <p:nvSpPr>
          <p:cNvPr id="6" name="Shape 4"/>
          <p:cNvSpPr/>
          <p:nvPr/>
        </p:nvSpPr>
        <p:spPr>
          <a:xfrm>
            <a:off x="822960" y="320954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129</a:t>
            </a:r>
            <a:endParaRPr lang="en-US" sz="1300" dirty="0"/>
          </a:p>
        </p:txBody>
      </p:sp>
      <p:sp>
        <p:nvSpPr>
          <p:cNvPr id="8" name="Text 6"/>
          <p:cNvSpPr txBox="1"/>
          <p:nvPr/>
        </p:nvSpPr>
        <p:spPr>
          <a:xfrm>
            <a:off x="1444752" y="308152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فَإِن تَوَلَّوْاْ فَقُلْ حَسْبِيَ اللَّهُ لَآ إِلَٰهَ إِلَّا هُوَ عَلَيْهِ تَوَكَّلْتُ وَهُوَ رَبُّ الْعَرْشِ الْعَظِيمِ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if they turn away, say: Allah is enough for me; there is no god but Him. In Him I put my trust, and He is the Lord of the Mighty Throne.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128</a:t>
            </a:fld>
            <a:endParaRPr lang="en-US"/>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spTree>
      <p:nvGrpSpPr>
        <p:cNvPr id="1" name=""/>
        <p:cNvGrpSpPr/>
        <p:nvPr/>
      </p:nvGrpSpPr>
      <p:grpSpPr>
        <a:xfrm>
          <a:off x="0" y="0"/>
          <a:ext cx="0" cy="0"/>
          <a:chOff x="0" y="0"/>
          <a:chExt cx="0" cy="0"/>
        </a:xfrm>
      </p:grpSpPr>
      <p:pic>
        <p:nvPicPr>
          <p:cNvPr id="2" name="Image 0" descr="assets89/rosette.png">    </p:cNvPr>
          <p:cNvPicPr>
            <a:picLocks noChangeAspect="1"/>
          </p:cNvPicPr>
          <p:nvPr/>
        </p:nvPicPr>
        <p:blipFill>
          <a:blip r:embed="rId1"/>
          <a:stretch>
            <a:fillRect/>
          </a:stretch>
        </p:blipFill>
        <p:spPr>
          <a:xfrm>
            <a:off x="5455768" y="822960"/>
            <a:ext cx="1280160" cy="1280160"/>
          </a:xfrm>
          <a:prstGeom prst="rect">
            <a:avLst/>
          </a:prstGeom>
        </p:spPr>
      </p:pic>
      <p:sp>
        <p:nvSpPr>
          <p:cNvPr id="3" name="Text 0"/>
          <p:cNvSpPr txBox="1"/>
          <p:nvPr/>
        </p:nvSpPr>
        <p:spPr>
          <a:xfrm>
            <a:off x="731520" y="2377440"/>
            <a:ext cx="10728655" cy="1005840"/>
          </a:xfrm>
          <a:prstGeom prst="rect">
            <a:avLst/>
          </a:prstGeom>
          <a:noFill/>
          <a:ln/>
        </p:spPr>
        <p:txBody>
          <a:bodyPr wrap="square" lIns="0" tIns="0" rIns="0" bIns="0" rtlCol="0" anchor="ctr"/>
          <a:lstStyle/>
          <a:p>
            <a:pPr algn="ctr" indent="0" marL="0">
              <a:buNone/>
            </a:pPr>
            <a:r>
              <a:rPr lang="en-US" altLang="en-US" sz="5000" b="1" dirty="0">
                <a:solidFill>
                  <a:schemeClr val="bg1"/>
                </a:solidFill>
                <a:latin typeface="Georgia" pitchFamily="34" charset="0"/>
                <a:ea typeface="Georgia" pitchFamily="34" charset="-122"/>
                <a:cs typeface="Georgia" pitchFamily="34" charset="-120"/>
              </a:rPr>
              <a:t>JazakumAllahu khayran</a:t>
            </a:r>
            <a:endParaRPr lang="en-US" sz="5000" dirty="0"/>
          </a:p>
        </p:txBody>
      </p:sp>
      <p:sp>
        <p:nvSpPr>
          <p:cNvPr id="4" name="Text 1"/>
          <p:cNvSpPr txBox="1"/>
          <p:nvPr/>
        </p:nvSpPr>
        <p:spPr>
          <a:xfrm>
            <a:off x="1371600" y="3611880"/>
            <a:ext cx="9448495" cy="1097280"/>
          </a:xfrm>
          <a:prstGeom prst="rect">
            <a:avLst/>
          </a:prstGeom>
          <a:noFill/>
          <a:ln/>
        </p:spPr>
        <p:txBody>
          <a:bodyPr wrap="square" lIns="0" tIns="0" rIns="0" bIns="0" rtlCol="0" anchor="ctr"/>
          <a:lstStyle/>
          <a:p>
            <a:pPr algn="ctr" indent="0" marL="0">
              <a:buNone/>
            </a:pPr>
            <a:r>
              <a:rPr lang="en-US" altLang="en-US" sz="2100" b="1" i="1" dirty="0">
                <a:solidFill>
                  <a:schemeClr val="accent2"/>
                </a:solidFill>
                <a:latin typeface="Arial" pitchFamily="34" charset="0"/>
                <a:ea typeface="Arial" pitchFamily="34" charset="-122"/>
                <a:cs typeface="Arial" pitchFamily="34" charset="-120"/>
              </a:rPr>
              <a:t>"Allah is enough for me; there is no god but Him. In Him I put my trust, and He is the Lord of the Mighty Throne." (At-Tawbah 9:129)</a:t>
            </a:r>
            <a:endParaRPr lang="en-US" sz="2100" dirty="0"/>
          </a:p>
        </p:txBody>
      </p:sp>
      <p:pic>
        <p:nvPicPr>
          <p:cNvPr id="5" name="Image 1" descr="assets89/divider.png">    </p:cNvPr>
          <p:cNvPicPr>
            <a:picLocks noChangeAspect="1"/>
          </p:cNvPicPr>
          <p:nvPr/>
        </p:nvPicPr>
        <p:blipFill>
          <a:blip r:embed="rId2"/>
          <a:stretch>
            <a:fillRect/>
          </a:stretch>
        </p:blipFill>
        <p:spPr>
          <a:xfrm>
            <a:off x="3809848" y="4846320"/>
            <a:ext cx="4572000" cy="228600"/>
          </a:xfrm>
          <a:prstGeom prst="rect">
            <a:avLst/>
          </a:prstGeom>
        </p:spPr>
      </p:pic>
      <p:sp>
        <p:nvSpPr>
          <p:cNvPr id="6" name="Text 2"/>
          <p:cNvSpPr txBox="1"/>
          <p:nvPr/>
        </p:nvSpPr>
        <p:spPr>
          <a:xfrm>
            <a:off x="1371600" y="5257800"/>
            <a:ext cx="9448495" cy="365760"/>
          </a:xfrm>
          <a:prstGeom prst="rect">
            <a:avLst/>
          </a:prstGeom>
          <a:noFill/>
          <a:ln/>
        </p:spPr>
        <p:txBody>
          <a:bodyPr wrap="square" lIns="0" tIns="0" rIns="0" bIns="0" rtlCol="0" anchor="t"/>
          <a:lstStyle/>
          <a:p>
            <a:pPr algn="ctr" indent="0" marL="0">
              <a:buNone/>
            </a:pPr>
            <a:r>
              <a:rPr lang="en-US" altLang="en-US" sz="1400" dirty="0">
                <a:solidFill>
                  <a:schemeClr val="bg2"/>
                </a:solidFill>
                <a:latin typeface="Arial" pitchFamily="34" charset="0"/>
                <a:ea typeface="Arial" pitchFamily="34" charset="-122"/>
                <a:cs typeface="Arial" pitchFamily="34" charset="-120"/>
              </a:rPr>
              <a:t>Reference: Tafsir al-Qur'an al-'Azim by al-Hafiz Ibn Kathir (may Allah have mercy on him)</a:t>
            </a:r>
            <a:endParaRPr lang="en-US" sz="1400" dirty="0"/>
          </a:p>
        </p:txBody>
      </p:sp>
    </p:spTree>
  </p:cSld>
  <p:clrMapOvr>
    <a:masterClrMapping/>
  </p:clrMapOvr>
</p:sld>
</file>

<file path=ppt/theme/theme1.xml><?xml version="1.0" encoding="utf-8"?>
<a:theme xmlns:a="http://schemas.openxmlformats.org/drawingml/2006/main" name="Anfal Tawba Tafsir EN">
  <a:themeElements>
    <a:clrScheme name="Anfal Tawba Tafsir EN">
      <a:dk1>
        <a:srgbClr val="2E2222"/>
      </a:dk1>
      <a:lt1>
        <a:srgbClr val="FFFFFF"/>
      </a:lt1>
      <a:dk2>
        <a:srgbClr val="8E2323"/>
      </a:dk2>
      <a:lt2>
        <a:srgbClr val="FCF7F6"/>
      </a:lt2>
      <a:accent1>
        <a:srgbClr val="8E2323"/>
      </a:accent1>
      <a:accent2>
        <a:srgbClr val="C9A04A"/>
      </a:accent2>
      <a:accent3>
        <a:srgbClr val="A83A32"/>
      </a:accent3>
      <a:accent4>
        <a:srgbClr val="6E6060"/>
      </a:accent4>
      <a:accent5>
        <a:srgbClr val="F5E6E3"/>
      </a:accent5>
      <a:accent6>
        <a:srgbClr val="2F6B5E"/>
      </a:accent6>
      <a:hlink>
        <a:srgbClr val="A83A32"/>
      </a:hlink>
      <a:folHlink>
        <a:srgbClr val="6E6060"/>
      </a:folHlink>
    </a:clrScheme>
    <a:fontScheme name="Anfal Tawba Tafsir EN">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129</Slides>
  <Notes>129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129</vt:i4>
      </vt:variant>
    </vt:vector>
  </HeadingPairs>
  <TitlesOfParts>
    <vt:vector size="1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Tafsir of Al-Anfal &amp; At-Tawbah — Simplified Tafsir from Ibn Kathir</dc:title>
  <dc:subject>PptxGenJS Presentation</dc:subject>
  <dc:creator>Qur'an Teacher</dc:creator>
  <cp:lastModifiedBy>Qur'an Teacher</cp:lastModifiedBy>
  <cp:revision>1</cp:revision>
  <dcterms:created xsi:type="dcterms:W3CDTF">2026-10-04T04:25:28Z</dcterms:created>
  <dcterms:modified xsi:type="dcterms:W3CDTF">2026-10-04T04:25:28Z</dcterms:modified>
</cp:coreProperties>
</file>