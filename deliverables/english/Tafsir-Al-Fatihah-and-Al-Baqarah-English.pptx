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Lst>
  <p:notesMasterIdLst>
    <p:notesMasterId r:id="rId2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361a007-3a0d-a57e-88a8-f1d44ee202e0}">
          <p14:sldIdLst>
            <p14:sldId id="256"/>
            <p14:sldId id="257"/>
            <p14:sldId id="258"/>
          </p14:sldIdLst>
        </p14:section>
        <p14:section name="1. Praising and Glorifying Allah" id="{2d190865-de53-a96e-cd54-8af29c3b38a2}">
          <p14:sldIdLst>
            <p14:sldId id="259"/>
            <p14:sldId id="260"/>
            <p14:sldId id="261"/>
            <p14:sldId id="262"/>
          </p14:sldIdLst>
        </p14:section>
        <p14:section name="2. Our Covenant With Allah" id="{3eac4afb-ec6e-e5f1-cbe0-8c0e3309745f}">
          <p14:sldIdLst>
            <p14:sldId id="263"/>
            <p14:sldId id="264"/>
          </p14:sldIdLst>
        </p14:section>
        <p14:section name="3. Asking for Guidance" id="{9d55aad4-45de-1d7b-ede8-6eaa85bed315}">
          <p14:sldIdLst>
            <p14:sldId id="265"/>
            <p14:sldId id="266"/>
          </p14:sldIdLst>
        </p14:section>
        <p14:section name="4. Qualities of the God-Fearing" id="{721f4d78-1ae1-c23a-7c07-a41f84afc957}">
          <p14:sldIdLst>
            <p14:sldId id="267"/>
            <p14:sldId id="268"/>
            <p14:sldId id="269"/>
            <p14:sldId id="270"/>
          </p14:sldIdLst>
        </p14:section>
        <p14:section name="5. Disbelievers and Hypocrites" id="{4ef41f66-d9c6-bfb8-750a-f1d3cd0dbcc6}">
          <p14:sldIdLst>
            <p14:sldId id="271"/>
            <p14:sldId id="272"/>
            <p14:sldId id="273"/>
            <p14:sldId id="274"/>
            <p14:sldId id="275"/>
            <p14:sldId id="276"/>
            <p14:sldId id="277"/>
          </p14:sldIdLst>
        </p14:section>
        <p14:section name="6. Tawhid and the Challenge" id="{7f5b71a5-1c82-47b1-05a2-c5b6776cfb1a}">
          <p14:sldIdLst>
            <p14:sldId id="278"/>
            <p14:sldId id="279"/>
            <p14:sldId id="280"/>
            <p14:sldId id="281"/>
            <p14:sldId id="282"/>
            <p14:sldId id="283"/>
          </p14:sldIdLst>
        </p14:section>
        <p14:section name="7. The Story of Adam" id="{5f6d8387-219a-bd5a-7b65-ff6720961942}">
          <p14:sldIdLst>
            <p14:sldId id="284"/>
            <p14:sldId id="285"/>
            <p14:sldId id="286"/>
            <p14:sldId id="287"/>
            <p14:sldId id="288"/>
            <p14:sldId id="289"/>
          </p14:sldIdLst>
        </p14:section>
        <p14:section name="8. Blessings on Bani Isra'il" id="{9afe942c-3fef-9f8b-4017-222d3dfad8d9}">
          <p14:sldIdLst>
            <p14:sldId id="290"/>
            <p14:sldId id="291"/>
            <p14:sldId id="292"/>
            <p14:sldId id="293"/>
            <p14:sldId id="294"/>
            <p14:sldId id="295"/>
            <p14:sldId id="296"/>
            <p14:sldId id="297"/>
            <p14:sldId id="298"/>
            <p14:sldId id="299"/>
            <p14:sldId id="300"/>
            <p14:sldId id="301"/>
            <p14:sldId id="302"/>
            <p14:sldId id="303"/>
          </p14:sldIdLst>
        </p14:section>
        <p14:section name="9. The Story of the Cow" id="{ca8b7b11-2946-4828-ee9c-ab9116ca8088}">
          <p14:sldIdLst>
            <p14:sldId id="304"/>
            <p14:sldId id="305"/>
            <p14:sldId id="306"/>
            <p14:sldId id="307"/>
            <p14:sldId id="308"/>
          </p14:sldIdLst>
        </p14:section>
        <p14:section name="10. The Jews and the Revelation" id="{95685f3c-6f4f-a70c-9baa-0cdacf527805}">
          <p14:sldIdLst>
            <p14:sldId id="309"/>
            <p14:sldId id="310"/>
            <p14:sldId id="311"/>
            <p14:sldId id="312"/>
            <p14:sldId id="313"/>
            <p14:sldId id="314"/>
            <p14:sldId id="315"/>
            <p14:sldId id="316"/>
            <p14:sldId id="317"/>
            <p14:sldId id="318"/>
            <p14:sldId id="319"/>
            <p14:sldId id="320"/>
            <p14:sldId id="321"/>
            <p14:sldId id="322"/>
            <p14:sldId id="323"/>
            <p14:sldId id="324"/>
          </p14:sldIdLst>
        </p14:section>
        <p14:section name="11. Guidance for the Believers" id="{b2f2fdc8-ad2b-b50c-cee8-399e9b572ce7}">
          <p14:sldIdLst>
            <p14:sldId id="325"/>
            <p14:sldId id="326"/>
            <p14:sldId id="327"/>
            <p14:sldId id="328"/>
            <p14:sldId id="329"/>
            <p14:sldId id="330"/>
            <p14:sldId id="331"/>
            <p14:sldId id="332"/>
            <p14:sldId id="333"/>
            <p14:sldId id="334"/>
            <p14:sldId id="335"/>
          </p14:sldIdLst>
        </p14:section>
        <p14:section name="12. Ibrahim and the Ka'bah" id="{b163d3db-186c-b1c3-7033-6ca8870529dc}">
          <p14:sldIdLst>
            <p14:sldId id="336"/>
            <p14:sldId id="337"/>
            <p14:sldId id="338"/>
            <p14:sldId id="339"/>
            <p14:sldId id="340"/>
            <p14:sldId id="341"/>
            <p14:sldId id="342"/>
            <p14:sldId id="343"/>
            <p14:sldId id="344"/>
            <p14:sldId id="345"/>
          </p14:sldIdLst>
        </p14:section>
        <p14:section name="13. Changing the Qiblah" id="{973c4384-ac68-e2bb-8e26-c89cc3981a74}">
          <p14:sldIdLst>
            <p14:sldId id="346"/>
            <p14:sldId id="347"/>
            <p14:sldId id="348"/>
            <p14:sldId id="349"/>
            <p14:sldId id="350"/>
            <p14:sldId id="351"/>
            <p14:sldId id="352"/>
            <p14:sldId id="353"/>
          </p14:sldIdLst>
        </p14:section>
        <p14:section name="14. Patience, Trials and Tawhid" id="{87a8352d-7e53-bde8-39fe-dc5b69bb3e12}">
          <p14:sldIdLst>
            <p14:sldId id="354"/>
            <p14:sldId id="355"/>
            <p14:sldId id="356"/>
            <p14:sldId id="357"/>
            <p14:sldId id="358"/>
            <p14:sldId id="359"/>
            <p14:sldId id="360"/>
            <p14:sldId id="361"/>
          </p14:sldIdLst>
        </p14:section>
        <p14:section name="15. The Lawful and True Goodness" id="{505760d7-6ea4-75eb-7798-9b3c9928d8f6}">
          <p14:sldIdLst>
            <p14:sldId id="362"/>
            <p14:sldId id="363"/>
            <p14:sldId id="364"/>
            <p14:sldId id="365"/>
            <p14:sldId id="366"/>
            <p14:sldId id="367"/>
            <p14:sldId id="368"/>
            <p14:sldId id="369"/>
            <p14:sldId id="370"/>
            <p14:sldId id="371"/>
          </p14:sldIdLst>
        </p14:section>
        <p14:section name="16. Fasting" id="{69fc26ee-2be8-ffd7-a327-40f67f119236}">
          <p14:sldIdLst>
            <p14:sldId id="372"/>
            <p14:sldId id="373"/>
            <p14:sldId id="374"/>
            <p14:sldId id="375"/>
            <p14:sldId id="376"/>
            <p14:sldId id="377"/>
          </p14:sldIdLst>
        </p14:section>
        <p14:section name="17. New Moons, Fighting and Hajj" id="{a0a61c80-3d6c-2aee-d9cc-d8b097143640}">
          <p14:sldIdLst>
            <p14:sldId id="378"/>
            <p14:sldId id="379"/>
            <p14:sldId id="380"/>
            <p14:sldId id="381"/>
            <p14:sldId id="382"/>
            <p14:sldId id="383"/>
            <p14:sldId id="384"/>
            <p14:sldId id="385"/>
            <p14:sldId id="386"/>
            <p14:sldId id="387"/>
          </p14:sldIdLst>
        </p14:section>
        <p14:section name="18. The Hypocrite and the Believer" id="{17e549d4-0c1e-5b87-be98-1f52c73cc20e}">
          <p14:sldIdLst>
            <p14:sldId id="388"/>
            <p14:sldId id="389"/>
            <p14:sldId id="390"/>
            <p14:sldId id="391"/>
            <p14:sldId id="392"/>
            <p14:sldId id="393"/>
            <p14:sldId id="394"/>
            <p14:sldId id="395"/>
            <p14:sldId id="396"/>
            <p14:sldId id="397"/>
            <p14:sldId id="398"/>
          </p14:sldIdLst>
        </p14:section>
        <p14:section name="19. Family and Society" id="{9a9979e6-67c9-a1b3-39f3-fa2d4fd89a3d}">
          <p14:sldIdLst>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Lst>
        </p14:section>
        <p14:section name="20. Talut and Jalut" id="{16174494-10ba-8461-9d13-be93ced58b62}">
          <p14:sldIdLst>
            <p14:sldId id="418"/>
            <p14:sldId id="419"/>
            <p14:sldId id="420"/>
            <p14:sldId id="421"/>
            <p14:sldId id="422"/>
            <p14:sldId id="423"/>
            <p14:sldId id="424"/>
            <p14:sldId id="425"/>
          </p14:sldIdLst>
        </p14:section>
        <p14:section name="21. Ayat al-Kursi; No Compulsion" id="{cb3f8253-ab72-56dd-5483-62e3b8b2d1bc}">
          <p14:sldIdLst>
            <p14:sldId id="426"/>
            <p14:sldId id="427"/>
            <p14:sldId id="428"/>
            <p14:sldId id="429"/>
            <p14:sldId id="430"/>
          </p14:sldIdLst>
        </p14:section>
        <p14:section name="22. Allah Gives Life to the Dead" id="{6df23b30-6735-3e8d-8f5a-b84c52fb8241}">
          <p14:sldIdLst>
            <p14:sldId id="431"/>
            <p14:sldId id="432"/>
            <p14:sldId id="433"/>
            <p14:sldId id="434"/>
          </p14:sldIdLst>
        </p14:section>
        <p14:section name="23. Charity and Its Manners" id="{70da4fcd-4b86-1316-6116-c65c75a3a998}">
          <p14:sldIdLst>
            <p14:sldId id="435"/>
            <p14:sldId id="436"/>
            <p14:sldId id="437"/>
            <p14:sldId id="438"/>
            <p14:sldId id="439"/>
            <p14:sldId id="440"/>
            <p14:sldId id="441"/>
            <p14:sldId id="442"/>
            <p14:sldId id="443"/>
          </p14:sldIdLst>
        </p14:section>
        <p14:section name="24. The Prohibition of Riba" id="{5eaf170e-4cc3-546e-1e1d-c3786754648a}">
          <p14:sldIdLst>
            <p14:sldId id="444"/>
            <p14:sldId id="445"/>
            <p14:sldId id="446"/>
            <p14:sldId id="447"/>
            <p14:sldId id="448"/>
          </p14:sldIdLst>
        </p14:section>
        <p14:section name="25. The Verse of Debt" id="{a93d090f-cc5a-74b5-0b9a-b078c17932a9}">
          <p14:sldIdLst>
            <p14:sldId id="449"/>
            <p14:sldId id="450"/>
            <p14:sldId id="451"/>
          </p14:sldIdLst>
        </p14:section>
        <p14:section name="26. The Closing Verses" id="{b25e343d-a638-f71c-3a87-4d3a0a258482}">
          <p14:sldIdLst>
            <p14:sldId id="452"/>
            <p14:sldId id="453"/>
            <p14:sldId id="454"/>
            <p14:sldId id="455"/>
          </p14:sldIdLst>
        </p14:section>
        <p14:section name="Closing" id="{ea0fe08b-10fa-cfe9-389a-74ca23c74e82}">
          <p14:sldIdLst>
            <p14:sldId id="4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notesMaster" Target="notesMasters/notesMaster1.xml"/><Relationship Id="rId204" Type="http://schemas.openxmlformats.org/officeDocument/2006/relationships/presProps" Target="presProps.xml"/><Relationship Id="rId205" Type="http://schemas.openxmlformats.org/officeDocument/2006/relationships/viewProps" Target="viewProps.xml"/><Relationship Id="rId206" Type="http://schemas.openxmlformats.org/officeDocument/2006/relationships/theme" Target="theme/theme1.xml"/><Relationship Id="rId2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Al-Fatihah, the Mother of the Book, then Surah Al-Baqarah, in the order of the Mushaf. Each surah is divided into themed sections, and every section opens with its reason for revelation and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Al-Fatihah: 7 verses, Makki. It is called Umm al-Kitab (the Mother of the Book) and As-Sab' al-Mathani (the Seven Oft-Repeated Verses).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does Allah say when the servant says: All praise is for Allah, Lord of the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is the difference between “You alone we worship” and “You alone we ask for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do we ask for guidance in every rak'ah even though we are already Muslims?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Surah Al-Baqarah is the longest surah in the Qur'an (286 verses). It contains the longest verse, the Verse of Debt. It is Madani, among the first surahs revealed in Madinah.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EN2/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EN2/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EN2/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png"/><Relationship Id="rId2" Type="http://schemas.openxmlformats.org/officeDocument/2006/relationships/image" Target="../media/image-201-2.png"/><Relationship Id="rId3" Type="http://schemas.openxmlformats.org/officeDocument/2006/relationships/slideLayout" Target="../slideLayouts/slideLayout4.xml"/><Relationship Id="rId4" Type="http://schemas.openxmlformats.org/officeDocument/2006/relationships/notesSlide" Target="../notesSlides/notesSlide20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EN2/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4400" b="1" dirty="0">
                <a:solidFill>
                  <a:schemeClr val="bg1"/>
                </a:solidFill>
                <a:latin typeface="Georgia" pitchFamily="34" charset="0"/>
                <a:ea typeface="Georgia" pitchFamily="34" charset="-122"/>
                <a:cs typeface="Georgia" pitchFamily="34" charset="-120"/>
              </a:rPr>
              <a:t>Tafsir of Al-Fatihah &amp; Al-Baqarah</a:t>
            </a:r>
            <a:endParaRPr lang="en-US" sz="44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EN2/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Al-Fatihah: 7 verses in 3 sections • Al-Baqarah: 286 verses in 23 sections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teal</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List of Sections</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3 sections of Al-Fatihah, then 23 sections of Al-Baqarah</a:t>
            </a:r>
            <a:endParaRPr lang="en-US" sz="1600" dirty="0"/>
          </a:p>
        </p:txBody>
      </p:sp>
      <p:sp>
        <p:nvSpPr>
          <p:cNvPr id="4" name="Shape 2"/>
          <p:cNvSpPr/>
          <p:nvPr/>
        </p:nvSpPr>
        <p:spPr>
          <a:xfrm>
            <a:off x="691744" y="1828800"/>
            <a:ext cx="2606040" cy="583910"/>
          </a:xfrm>
          <a:prstGeom prst="roundRect">
            <a:avLst>
              <a:gd name="adj" fmla="val 15660"/>
            </a:avLst>
          </a:prstGeom>
          <a:solidFill>
            <a:schemeClr val="bg1"/>
          </a:solidFill>
          <a:ln w="12700">
            <a:solidFill>
              <a:schemeClr val="accent2"/>
            </a:solidFill>
            <a:prstDash val="solid"/>
          </a:ln>
        </p:spPr>
      </p:sp>
      <p:sp>
        <p:nvSpPr>
          <p:cNvPr id="5" name="Shape 3"/>
          <p:cNvSpPr/>
          <p:nvPr/>
        </p:nvSpPr>
        <p:spPr>
          <a:xfrm>
            <a:off x="783184" y="1874520"/>
            <a:ext cx="492470" cy="492470"/>
          </a:xfrm>
          <a:prstGeom prst="star8">
            <a:avLst/>
          </a:prstGeom>
          <a:solidFill>
            <a:schemeClr val="accent2"/>
          </a:solidFill>
          <a:ln/>
        </p:spPr>
      </p:sp>
      <p:sp>
        <p:nvSpPr>
          <p:cNvPr id="6" name="Shape 4"/>
          <p:cNvSpPr/>
          <p:nvPr/>
        </p:nvSpPr>
        <p:spPr>
          <a:xfrm>
            <a:off x="881678" y="1973014"/>
            <a:ext cx="295482" cy="295482"/>
          </a:xfrm>
          <a:prstGeom prst="ellipse">
            <a:avLst/>
          </a:prstGeom>
          <a:solidFill>
            <a:schemeClr val="bg2"/>
          </a:solidFill>
          <a:ln w="19050">
            <a:solidFill>
              <a:schemeClr val="tx2"/>
            </a:solidFill>
            <a:prstDash val="solid"/>
          </a:ln>
        </p:spPr>
      </p:sp>
      <p:sp>
        <p:nvSpPr>
          <p:cNvPr id="7" name="Text 5"/>
          <p:cNvSpPr txBox="1"/>
          <p:nvPr/>
        </p:nvSpPr>
        <p:spPr>
          <a:xfrm>
            <a:off x="783184" y="1874520"/>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367093" y="1847088"/>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Praising and Glorifying Allah</a:t>
            </a:r>
            <a:endParaRPr lang="en-US" sz="1200" dirty="0"/>
          </a:p>
        </p:txBody>
      </p:sp>
      <p:sp>
        <p:nvSpPr>
          <p:cNvPr id="9" name="Text 7"/>
          <p:cNvSpPr txBox="1"/>
          <p:nvPr/>
        </p:nvSpPr>
        <p:spPr>
          <a:xfrm>
            <a:off x="1367093" y="2167468"/>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Al-Fatihah • Verses 1 – 4</a:t>
            </a:r>
            <a:endParaRPr lang="en-US" sz="1000" dirty="0"/>
          </a:p>
        </p:txBody>
      </p:sp>
      <p:sp>
        <p:nvSpPr>
          <p:cNvPr id="10" name="Shape 8"/>
          <p:cNvSpPr/>
          <p:nvPr/>
        </p:nvSpPr>
        <p:spPr>
          <a:xfrm>
            <a:off x="3425800" y="1828800"/>
            <a:ext cx="2606040" cy="583910"/>
          </a:xfrm>
          <a:prstGeom prst="roundRect">
            <a:avLst>
              <a:gd name="adj" fmla="val 15660"/>
            </a:avLst>
          </a:prstGeom>
          <a:solidFill>
            <a:schemeClr val="accent5"/>
          </a:solidFill>
          <a:ln w="12700">
            <a:solidFill>
              <a:schemeClr val="accent2"/>
            </a:solidFill>
            <a:prstDash val="solid"/>
          </a:ln>
        </p:spPr>
      </p:sp>
      <p:sp>
        <p:nvSpPr>
          <p:cNvPr id="11" name="Shape 9"/>
          <p:cNvSpPr/>
          <p:nvPr/>
        </p:nvSpPr>
        <p:spPr>
          <a:xfrm>
            <a:off x="3517240" y="1874520"/>
            <a:ext cx="492470" cy="492470"/>
          </a:xfrm>
          <a:prstGeom prst="star8">
            <a:avLst/>
          </a:prstGeom>
          <a:solidFill>
            <a:schemeClr val="accent2"/>
          </a:solidFill>
          <a:ln/>
        </p:spPr>
      </p:sp>
      <p:sp>
        <p:nvSpPr>
          <p:cNvPr id="12" name="Shape 10"/>
          <p:cNvSpPr/>
          <p:nvPr/>
        </p:nvSpPr>
        <p:spPr>
          <a:xfrm>
            <a:off x="3615734" y="1973014"/>
            <a:ext cx="295482" cy="295482"/>
          </a:xfrm>
          <a:prstGeom prst="ellipse">
            <a:avLst/>
          </a:prstGeom>
          <a:solidFill>
            <a:schemeClr val="bg2"/>
          </a:solidFill>
          <a:ln w="19050">
            <a:solidFill>
              <a:schemeClr val="tx2"/>
            </a:solidFill>
            <a:prstDash val="solid"/>
          </a:ln>
        </p:spPr>
      </p:sp>
      <p:sp>
        <p:nvSpPr>
          <p:cNvPr id="13" name="Text 11"/>
          <p:cNvSpPr txBox="1"/>
          <p:nvPr/>
        </p:nvSpPr>
        <p:spPr>
          <a:xfrm>
            <a:off x="3517240" y="1874520"/>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4101149" y="1847088"/>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Our Covenant With Allah</a:t>
            </a:r>
            <a:endParaRPr lang="en-US" sz="1200" dirty="0"/>
          </a:p>
        </p:txBody>
      </p:sp>
      <p:sp>
        <p:nvSpPr>
          <p:cNvPr id="15" name="Text 13"/>
          <p:cNvSpPr txBox="1"/>
          <p:nvPr/>
        </p:nvSpPr>
        <p:spPr>
          <a:xfrm>
            <a:off x="4101149" y="2167468"/>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Al-Fatihah • Verses 5 – 5</a:t>
            </a:r>
            <a:endParaRPr lang="en-US" sz="1000" dirty="0"/>
          </a:p>
        </p:txBody>
      </p:sp>
      <p:sp>
        <p:nvSpPr>
          <p:cNvPr id="16" name="Shape 14"/>
          <p:cNvSpPr/>
          <p:nvPr/>
        </p:nvSpPr>
        <p:spPr>
          <a:xfrm>
            <a:off x="6159856" y="1828800"/>
            <a:ext cx="2606040" cy="583910"/>
          </a:xfrm>
          <a:prstGeom prst="roundRect">
            <a:avLst>
              <a:gd name="adj" fmla="val 15660"/>
            </a:avLst>
          </a:prstGeom>
          <a:solidFill>
            <a:schemeClr val="bg1"/>
          </a:solidFill>
          <a:ln w="12700">
            <a:solidFill>
              <a:schemeClr val="accent2"/>
            </a:solidFill>
            <a:prstDash val="solid"/>
          </a:ln>
        </p:spPr>
      </p:sp>
      <p:sp>
        <p:nvSpPr>
          <p:cNvPr id="17" name="Shape 15"/>
          <p:cNvSpPr/>
          <p:nvPr/>
        </p:nvSpPr>
        <p:spPr>
          <a:xfrm>
            <a:off x="6251296" y="1874520"/>
            <a:ext cx="492470" cy="492470"/>
          </a:xfrm>
          <a:prstGeom prst="star8">
            <a:avLst/>
          </a:prstGeom>
          <a:solidFill>
            <a:schemeClr val="accent2"/>
          </a:solidFill>
          <a:ln/>
        </p:spPr>
      </p:sp>
      <p:sp>
        <p:nvSpPr>
          <p:cNvPr id="18" name="Shape 16"/>
          <p:cNvSpPr/>
          <p:nvPr/>
        </p:nvSpPr>
        <p:spPr>
          <a:xfrm>
            <a:off x="6349790" y="1973014"/>
            <a:ext cx="295482" cy="295482"/>
          </a:xfrm>
          <a:prstGeom prst="ellipse">
            <a:avLst/>
          </a:prstGeom>
          <a:solidFill>
            <a:schemeClr val="bg2"/>
          </a:solidFill>
          <a:ln w="19050">
            <a:solidFill>
              <a:schemeClr val="tx2"/>
            </a:solidFill>
            <a:prstDash val="solid"/>
          </a:ln>
        </p:spPr>
      </p:sp>
      <p:sp>
        <p:nvSpPr>
          <p:cNvPr id="19" name="Text 17"/>
          <p:cNvSpPr txBox="1"/>
          <p:nvPr/>
        </p:nvSpPr>
        <p:spPr>
          <a:xfrm>
            <a:off x="6251296" y="1874520"/>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3</a:t>
            </a:r>
            <a:endParaRPr lang="en-US" sz="1100" dirty="0"/>
          </a:p>
        </p:txBody>
      </p:sp>
      <p:sp>
        <p:nvSpPr>
          <p:cNvPr id="20" name="Text 18"/>
          <p:cNvSpPr txBox="1"/>
          <p:nvPr/>
        </p:nvSpPr>
        <p:spPr>
          <a:xfrm>
            <a:off x="6835205" y="1847088"/>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Asking for Guidance</a:t>
            </a:r>
            <a:endParaRPr lang="en-US" sz="1200" dirty="0"/>
          </a:p>
        </p:txBody>
      </p:sp>
      <p:sp>
        <p:nvSpPr>
          <p:cNvPr id="21" name="Text 19"/>
          <p:cNvSpPr txBox="1"/>
          <p:nvPr/>
        </p:nvSpPr>
        <p:spPr>
          <a:xfrm>
            <a:off x="6835205" y="2167468"/>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Al-Fatihah • Verses 6 – 7</a:t>
            </a:r>
            <a:endParaRPr lang="en-US" sz="1000" dirty="0"/>
          </a:p>
        </p:txBody>
      </p:sp>
      <p:sp>
        <p:nvSpPr>
          <p:cNvPr id="22" name="Shape 20"/>
          <p:cNvSpPr/>
          <p:nvPr/>
        </p:nvSpPr>
        <p:spPr>
          <a:xfrm>
            <a:off x="8893912" y="1828800"/>
            <a:ext cx="2606040" cy="583910"/>
          </a:xfrm>
          <a:prstGeom prst="roundRect">
            <a:avLst>
              <a:gd name="adj" fmla="val 15660"/>
            </a:avLst>
          </a:prstGeom>
          <a:solidFill>
            <a:schemeClr val="accent5"/>
          </a:solidFill>
          <a:ln w="12700">
            <a:solidFill>
              <a:schemeClr val="accent2"/>
            </a:solidFill>
            <a:prstDash val="solid"/>
          </a:ln>
        </p:spPr>
      </p:sp>
      <p:sp>
        <p:nvSpPr>
          <p:cNvPr id="23" name="Shape 21"/>
          <p:cNvSpPr/>
          <p:nvPr/>
        </p:nvSpPr>
        <p:spPr>
          <a:xfrm>
            <a:off x="8985352" y="1874520"/>
            <a:ext cx="492470" cy="492470"/>
          </a:xfrm>
          <a:prstGeom prst="star8">
            <a:avLst/>
          </a:prstGeom>
          <a:solidFill>
            <a:schemeClr val="accent2"/>
          </a:solidFill>
          <a:ln/>
        </p:spPr>
      </p:sp>
      <p:sp>
        <p:nvSpPr>
          <p:cNvPr id="24" name="Shape 22"/>
          <p:cNvSpPr/>
          <p:nvPr/>
        </p:nvSpPr>
        <p:spPr>
          <a:xfrm>
            <a:off x="9083846" y="1973014"/>
            <a:ext cx="295482" cy="295482"/>
          </a:xfrm>
          <a:prstGeom prst="ellipse">
            <a:avLst/>
          </a:prstGeom>
          <a:solidFill>
            <a:schemeClr val="bg2"/>
          </a:solidFill>
          <a:ln w="19050">
            <a:solidFill>
              <a:schemeClr val="tx2"/>
            </a:solidFill>
            <a:prstDash val="solid"/>
          </a:ln>
        </p:spPr>
      </p:sp>
      <p:sp>
        <p:nvSpPr>
          <p:cNvPr id="25" name="Text 23"/>
          <p:cNvSpPr txBox="1"/>
          <p:nvPr/>
        </p:nvSpPr>
        <p:spPr>
          <a:xfrm>
            <a:off x="8985352" y="1874520"/>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4</a:t>
            </a:r>
            <a:endParaRPr lang="en-US" sz="1100" dirty="0"/>
          </a:p>
        </p:txBody>
      </p:sp>
      <p:sp>
        <p:nvSpPr>
          <p:cNvPr id="26" name="Text 24"/>
          <p:cNvSpPr txBox="1"/>
          <p:nvPr/>
        </p:nvSpPr>
        <p:spPr>
          <a:xfrm>
            <a:off x="9569261" y="1847088"/>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Qualities of the God-Fearing</a:t>
            </a:r>
            <a:endParaRPr lang="en-US" sz="1200" dirty="0"/>
          </a:p>
        </p:txBody>
      </p:sp>
      <p:sp>
        <p:nvSpPr>
          <p:cNvPr id="27" name="Text 25"/>
          <p:cNvSpPr txBox="1"/>
          <p:nvPr/>
        </p:nvSpPr>
        <p:spPr>
          <a:xfrm>
            <a:off x="9569261" y="2167468"/>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 – 5</a:t>
            </a:r>
            <a:endParaRPr lang="en-US" sz="1000" dirty="0"/>
          </a:p>
        </p:txBody>
      </p:sp>
      <p:sp>
        <p:nvSpPr>
          <p:cNvPr id="28" name="Shape 26"/>
          <p:cNvSpPr/>
          <p:nvPr/>
        </p:nvSpPr>
        <p:spPr>
          <a:xfrm>
            <a:off x="691744" y="2485862"/>
            <a:ext cx="2606040" cy="583910"/>
          </a:xfrm>
          <a:prstGeom prst="roundRect">
            <a:avLst>
              <a:gd name="adj" fmla="val 15660"/>
            </a:avLst>
          </a:prstGeom>
          <a:solidFill>
            <a:schemeClr val="bg1"/>
          </a:solidFill>
          <a:ln w="12700">
            <a:solidFill>
              <a:schemeClr val="accent2"/>
            </a:solidFill>
            <a:prstDash val="solid"/>
          </a:ln>
        </p:spPr>
      </p:sp>
      <p:sp>
        <p:nvSpPr>
          <p:cNvPr id="29" name="Shape 27"/>
          <p:cNvSpPr/>
          <p:nvPr/>
        </p:nvSpPr>
        <p:spPr>
          <a:xfrm>
            <a:off x="783184" y="2531582"/>
            <a:ext cx="492470" cy="492470"/>
          </a:xfrm>
          <a:prstGeom prst="star8">
            <a:avLst/>
          </a:prstGeom>
          <a:solidFill>
            <a:schemeClr val="accent2"/>
          </a:solidFill>
          <a:ln/>
        </p:spPr>
      </p:sp>
      <p:sp>
        <p:nvSpPr>
          <p:cNvPr id="30" name="Shape 28"/>
          <p:cNvSpPr/>
          <p:nvPr/>
        </p:nvSpPr>
        <p:spPr>
          <a:xfrm>
            <a:off x="881678" y="2630076"/>
            <a:ext cx="295482" cy="295482"/>
          </a:xfrm>
          <a:prstGeom prst="ellipse">
            <a:avLst/>
          </a:prstGeom>
          <a:solidFill>
            <a:schemeClr val="bg2"/>
          </a:solidFill>
          <a:ln w="19050">
            <a:solidFill>
              <a:schemeClr val="tx2"/>
            </a:solidFill>
            <a:prstDash val="solid"/>
          </a:ln>
        </p:spPr>
      </p:sp>
      <p:sp>
        <p:nvSpPr>
          <p:cNvPr id="31" name="Text 29"/>
          <p:cNvSpPr txBox="1"/>
          <p:nvPr/>
        </p:nvSpPr>
        <p:spPr>
          <a:xfrm>
            <a:off x="783184" y="2531582"/>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5</a:t>
            </a:r>
            <a:endParaRPr lang="en-US" sz="1100" dirty="0"/>
          </a:p>
        </p:txBody>
      </p:sp>
      <p:sp>
        <p:nvSpPr>
          <p:cNvPr id="32" name="Text 30"/>
          <p:cNvSpPr txBox="1"/>
          <p:nvPr/>
        </p:nvSpPr>
        <p:spPr>
          <a:xfrm>
            <a:off x="1367093" y="2504150"/>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Disbelievers and Hypocrites</a:t>
            </a:r>
            <a:endParaRPr lang="en-US" sz="1200" dirty="0"/>
          </a:p>
        </p:txBody>
      </p:sp>
      <p:sp>
        <p:nvSpPr>
          <p:cNvPr id="33" name="Text 31"/>
          <p:cNvSpPr txBox="1"/>
          <p:nvPr/>
        </p:nvSpPr>
        <p:spPr>
          <a:xfrm>
            <a:off x="1367093" y="2824529"/>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6 – 20</a:t>
            </a:r>
            <a:endParaRPr lang="en-US" sz="1000" dirty="0"/>
          </a:p>
        </p:txBody>
      </p:sp>
      <p:sp>
        <p:nvSpPr>
          <p:cNvPr id="34" name="Shape 32"/>
          <p:cNvSpPr/>
          <p:nvPr/>
        </p:nvSpPr>
        <p:spPr>
          <a:xfrm>
            <a:off x="3425800" y="2485862"/>
            <a:ext cx="2606040" cy="583910"/>
          </a:xfrm>
          <a:prstGeom prst="roundRect">
            <a:avLst>
              <a:gd name="adj" fmla="val 15660"/>
            </a:avLst>
          </a:prstGeom>
          <a:solidFill>
            <a:schemeClr val="accent5"/>
          </a:solidFill>
          <a:ln w="12700">
            <a:solidFill>
              <a:schemeClr val="accent2"/>
            </a:solidFill>
            <a:prstDash val="solid"/>
          </a:ln>
        </p:spPr>
      </p:sp>
      <p:sp>
        <p:nvSpPr>
          <p:cNvPr id="35" name="Shape 33"/>
          <p:cNvSpPr/>
          <p:nvPr/>
        </p:nvSpPr>
        <p:spPr>
          <a:xfrm>
            <a:off x="3517240" y="2531582"/>
            <a:ext cx="492470" cy="492470"/>
          </a:xfrm>
          <a:prstGeom prst="star8">
            <a:avLst/>
          </a:prstGeom>
          <a:solidFill>
            <a:schemeClr val="accent2"/>
          </a:solidFill>
          <a:ln/>
        </p:spPr>
      </p:sp>
      <p:sp>
        <p:nvSpPr>
          <p:cNvPr id="36" name="Shape 34"/>
          <p:cNvSpPr/>
          <p:nvPr/>
        </p:nvSpPr>
        <p:spPr>
          <a:xfrm>
            <a:off x="3615734" y="2630076"/>
            <a:ext cx="295482" cy="295482"/>
          </a:xfrm>
          <a:prstGeom prst="ellipse">
            <a:avLst/>
          </a:prstGeom>
          <a:solidFill>
            <a:schemeClr val="bg2"/>
          </a:solidFill>
          <a:ln w="19050">
            <a:solidFill>
              <a:schemeClr val="tx2"/>
            </a:solidFill>
            <a:prstDash val="solid"/>
          </a:ln>
        </p:spPr>
      </p:sp>
      <p:sp>
        <p:nvSpPr>
          <p:cNvPr id="37" name="Text 35"/>
          <p:cNvSpPr txBox="1"/>
          <p:nvPr/>
        </p:nvSpPr>
        <p:spPr>
          <a:xfrm>
            <a:off x="3517240" y="2531582"/>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6</a:t>
            </a:r>
            <a:endParaRPr lang="en-US" sz="1100" dirty="0"/>
          </a:p>
        </p:txBody>
      </p:sp>
      <p:sp>
        <p:nvSpPr>
          <p:cNvPr id="38" name="Text 36"/>
          <p:cNvSpPr txBox="1"/>
          <p:nvPr/>
        </p:nvSpPr>
        <p:spPr>
          <a:xfrm>
            <a:off x="4101149" y="2504150"/>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Tawhid and the Challenge</a:t>
            </a:r>
            <a:endParaRPr lang="en-US" sz="1200" dirty="0"/>
          </a:p>
        </p:txBody>
      </p:sp>
      <p:sp>
        <p:nvSpPr>
          <p:cNvPr id="39" name="Text 37"/>
          <p:cNvSpPr txBox="1"/>
          <p:nvPr/>
        </p:nvSpPr>
        <p:spPr>
          <a:xfrm>
            <a:off x="4101149" y="2824529"/>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21 – 29</a:t>
            </a:r>
            <a:endParaRPr lang="en-US" sz="1000" dirty="0"/>
          </a:p>
        </p:txBody>
      </p:sp>
      <p:sp>
        <p:nvSpPr>
          <p:cNvPr id="40" name="Shape 38"/>
          <p:cNvSpPr/>
          <p:nvPr/>
        </p:nvSpPr>
        <p:spPr>
          <a:xfrm>
            <a:off x="6159856" y="2485862"/>
            <a:ext cx="2606040" cy="583910"/>
          </a:xfrm>
          <a:prstGeom prst="roundRect">
            <a:avLst>
              <a:gd name="adj" fmla="val 15660"/>
            </a:avLst>
          </a:prstGeom>
          <a:solidFill>
            <a:schemeClr val="bg1"/>
          </a:solidFill>
          <a:ln w="12700">
            <a:solidFill>
              <a:schemeClr val="accent2"/>
            </a:solidFill>
            <a:prstDash val="solid"/>
          </a:ln>
        </p:spPr>
      </p:sp>
      <p:sp>
        <p:nvSpPr>
          <p:cNvPr id="41" name="Shape 39"/>
          <p:cNvSpPr/>
          <p:nvPr/>
        </p:nvSpPr>
        <p:spPr>
          <a:xfrm>
            <a:off x="6251296" y="2531582"/>
            <a:ext cx="492470" cy="492470"/>
          </a:xfrm>
          <a:prstGeom prst="star8">
            <a:avLst/>
          </a:prstGeom>
          <a:solidFill>
            <a:schemeClr val="accent2"/>
          </a:solidFill>
          <a:ln/>
        </p:spPr>
      </p:sp>
      <p:sp>
        <p:nvSpPr>
          <p:cNvPr id="42" name="Shape 40"/>
          <p:cNvSpPr/>
          <p:nvPr/>
        </p:nvSpPr>
        <p:spPr>
          <a:xfrm>
            <a:off x="6349790" y="2630076"/>
            <a:ext cx="295482" cy="295482"/>
          </a:xfrm>
          <a:prstGeom prst="ellipse">
            <a:avLst/>
          </a:prstGeom>
          <a:solidFill>
            <a:schemeClr val="bg2"/>
          </a:solidFill>
          <a:ln w="19050">
            <a:solidFill>
              <a:schemeClr val="tx2"/>
            </a:solidFill>
            <a:prstDash val="solid"/>
          </a:ln>
        </p:spPr>
      </p:sp>
      <p:sp>
        <p:nvSpPr>
          <p:cNvPr id="43" name="Text 41"/>
          <p:cNvSpPr txBox="1"/>
          <p:nvPr/>
        </p:nvSpPr>
        <p:spPr>
          <a:xfrm>
            <a:off x="6251296" y="2531582"/>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7</a:t>
            </a:r>
            <a:endParaRPr lang="en-US" sz="1100" dirty="0"/>
          </a:p>
        </p:txBody>
      </p:sp>
      <p:sp>
        <p:nvSpPr>
          <p:cNvPr id="44" name="Text 42"/>
          <p:cNvSpPr txBox="1"/>
          <p:nvPr/>
        </p:nvSpPr>
        <p:spPr>
          <a:xfrm>
            <a:off x="6835205" y="2504150"/>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Story of Adam</a:t>
            </a:r>
            <a:endParaRPr lang="en-US" sz="1200" dirty="0"/>
          </a:p>
        </p:txBody>
      </p:sp>
      <p:sp>
        <p:nvSpPr>
          <p:cNvPr id="45" name="Text 43"/>
          <p:cNvSpPr txBox="1"/>
          <p:nvPr/>
        </p:nvSpPr>
        <p:spPr>
          <a:xfrm>
            <a:off x="6835205" y="2824529"/>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30 – 39</a:t>
            </a:r>
            <a:endParaRPr lang="en-US" sz="1000" dirty="0"/>
          </a:p>
        </p:txBody>
      </p:sp>
      <p:sp>
        <p:nvSpPr>
          <p:cNvPr id="46" name="Shape 44"/>
          <p:cNvSpPr/>
          <p:nvPr/>
        </p:nvSpPr>
        <p:spPr>
          <a:xfrm>
            <a:off x="8893912" y="2485862"/>
            <a:ext cx="2606040" cy="583910"/>
          </a:xfrm>
          <a:prstGeom prst="roundRect">
            <a:avLst>
              <a:gd name="adj" fmla="val 15660"/>
            </a:avLst>
          </a:prstGeom>
          <a:solidFill>
            <a:schemeClr val="accent5"/>
          </a:solidFill>
          <a:ln w="12700">
            <a:solidFill>
              <a:schemeClr val="accent2"/>
            </a:solidFill>
            <a:prstDash val="solid"/>
          </a:ln>
        </p:spPr>
      </p:sp>
      <p:sp>
        <p:nvSpPr>
          <p:cNvPr id="47" name="Shape 45"/>
          <p:cNvSpPr/>
          <p:nvPr/>
        </p:nvSpPr>
        <p:spPr>
          <a:xfrm>
            <a:off x="8985352" y="2531582"/>
            <a:ext cx="492470" cy="492470"/>
          </a:xfrm>
          <a:prstGeom prst="star8">
            <a:avLst/>
          </a:prstGeom>
          <a:solidFill>
            <a:schemeClr val="accent2"/>
          </a:solidFill>
          <a:ln/>
        </p:spPr>
      </p:sp>
      <p:sp>
        <p:nvSpPr>
          <p:cNvPr id="48" name="Shape 46"/>
          <p:cNvSpPr/>
          <p:nvPr/>
        </p:nvSpPr>
        <p:spPr>
          <a:xfrm>
            <a:off x="9083846" y="2630076"/>
            <a:ext cx="295482" cy="295482"/>
          </a:xfrm>
          <a:prstGeom prst="ellipse">
            <a:avLst/>
          </a:prstGeom>
          <a:solidFill>
            <a:schemeClr val="bg2"/>
          </a:solidFill>
          <a:ln w="19050">
            <a:solidFill>
              <a:schemeClr val="tx2"/>
            </a:solidFill>
            <a:prstDash val="solid"/>
          </a:ln>
        </p:spPr>
      </p:sp>
      <p:sp>
        <p:nvSpPr>
          <p:cNvPr id="49" name="Text 47"/>
          <p:cNvSpPr txBox="1"/>
          <p:nvPr/>
        </p:nvSpPr>
        <p:spPr>
          <a:xfrm>
            <a:off x="8985352" y="2531582"/>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8</a:t>
            </a:r>
            <a:endParaRPr lang="en-US" sz="1100" dirty="0"/>
          </a:p>
        </p:txBody>
      </p:sp>
      <p:sp>
        <p:nvSpPr>
          <p:cNvPr id="50" name="Text 48"/>
          <p:cNvSpPr txBox="1"/>
          <p:nvPr/>
        </p:nvSpPr>
        <p:spPr>
          <a:xfrm>
            <a:off x="9569261" y="2504150"/>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Blessings on Bani Isra'il</a:t>
            </a:r>
            <a:endParaRPr lang="en-US" sz="1200" dirty="0"/>
          </a:p>
        </p:txBody>
      </p:sp>
      <p:sp>
        <p:nvSpPr>
          <p:cNvPr id="51" name="Text 49"/>
          <p:cNvSpPr txBox="1"/>
          <p:nvPr/>
        </p:nvSpPr>
        <p:spPr>
          <a:xfrm>
            <a:off x="9569261" y="2824529"/>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40 – 66</a:t>
            </a:r>
            <a:endParaRPr lang="en-US" sz="1000" dirty="0"/>
          </a:p>
        </p:txBody>
      </p:sp>
      <p:sp>
        <p:nvSpPr>
          <p:cNvPr id="52" name="Shape 50"/>
          <p:cNvSpPr/>
          <p:nvPr/>
        </p:nvSpPr>
        <p:spPr>
          <a:xfrm>
            <a:off x="691744" y="3142923"/>
            <a:ext cx="2606040" cy="583910"/>
          </a:xfrm>
          <a:prstGeom prst="roundRect">
            <a:avLst>
              <a:gd name="adj" fmla="val 15660"/>
            </a:avLst>
          </a:prstGeom>
          <a:solidFill>
            <a:schemeClr val="bg1"/>
          </a:solidFill>
          <a:ln w="12700">
            <a:solidFill>
              <a:schemeClr val="accent2"/>
            </a:solidFill>
            <a:prstDash val="solid"/>
          </a:ln>
        </p:spPr>
      </p:sp>
      <p:sp>
        <p:nvSpPr>
          <p:cNvPr id="53" name="Shape 51"/>
          <p:cNvSpPr/>
          <p:nvPr/>
        </p:nvSpPr>
        <p:spPr>
          <a:xfrm>
            <a:off x="783184" y="3188643"/>
            <a:ext cx="492470" cy="492470"/>
          </a:xfrm>
          <a:prstGeom prst="star8">
            <a:avLst/>
          </a:prstGeom>
          <a:solidFill>
            <a:schemeClr val="accent2"/>
          </a:solidFill>
          <a:ln/>
        </p:spPr>
      </p:sp>
      <p:sp>
        <p:nvSpPr>
          <p:cNvPr id="54" name="Shape 52"/>
          <p:cNvSpPr/>
          <p:nvPr/>
        </p:nvSpPr>
        <p:spPr>
          <a:xfrm>
            <a:off x="881678" y="3287137"/>
            <a:ext cx="295482" cy="295482"/>
          </a:xfrm>
          <a:prstGeom prst="ellipse">
            <a:avLst/>
          </a:prstGeom>
          <a:solidFill>
            <a:schemeClr val="bg2"/>
          </a:solidFill>
          <a:ln w="19050">
            <a:solidFill>
              <a:schemeClr val="tx2"/>
            </a:solidFill>
            <a:prstDash val="solid"/>
          </a:ln>
        </p:spPr>
      </p:sp>
      <p:sp>
        <p:nvSpPr>
          <p:cNvPr id="55" name="Text 53"/>
          <p:cNvSpPr txBox="1"/>
          <p:nvPr/>
        </p:nvSpPr>
        <p:spPr>
          <a:xfrm>
            <a:off x="783184" y="3188643"/>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9</a:t>
            </a:r>
            <a:endParaRPr lang="en-US" sz="1100" dirty="0"/>
          </a:p>
        </p:txBody>
      </p:sp>
      <p:sp>
        <p:nvSpPr>
          <p:cNvPr id="56" name="Text 54"/>
          <p:cNvSpPr txBox="1"/>
          <p:nvPr/>
        </p:nvSpPr>
        <p:spPr>
          <a:xfrm>
            <a:off x="1367093" y="3161211"/>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Story of the Cow</a:t>
            </a:r>
            <a:endParaRPr lang="en-US" sz="1200" dirty="0"/>
          </a:p>
        </p:txBody>
      </p:sp>
      <p:sp>
        <p:nvSpPr>
          <p:cNvPr id="57" name="Text 55"/>
          <p:cNvSpPr txBox="1"/>
          <p:nvPr/>
        </p:nvSpPr>
        <p:spPr>
          <a:xfrm>
            <a:off x="1367093" y="3481591"/>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67 – 74</a:t>
            </a:r>
            <a:endParaRPr lang="en-US" sz="1000" dirty="0"/>
          </a:p>
        </p:txBody>
      </p:sp>
      <p:sp>
        <p:nvSpPr>
          <p:cNvPr id="58" name="Shape 56"/>
          <p:cNvSpPr/>
          <p:nvPr/>
        </p:nvSpPr>
        <p:spPr>
          <a:xfrm>
            <a:off x="3425800" y="3142923"/>
            <a:ext cx="2606040" cy="583910"/>
          </a:xfrm>
          <a:prstGeom prst="roundRect">
            <a:avLst>
              <a:gd name="adj" fmla="val 15660"/>
            </a:avLst>
          </a:prstGeom>
          <a:solidFill>
            <a:schemeClr val="accent5"/>
          </a:solidFill>
          <a:ln w="12700">
            <a:solidFill>
              <a:schemeClr val="accent2"/>
            </a:solidFill>
            <a:prstDash val="solid"/>
          </a:ln>
        </p:spPr>
      </p:sp>
      <p:sp>
        <p:nvSpPr>
          <p:cNvPr id="59" name="Shape 57"/>
          <p:cNvSpPr/>
          <p:nvPr/>
        </p:nvSpPr>
        <p:spPr>
          <a:xfrm>
            <a:off x="3517240" y="3188643"/>
            <a:ext cx="492470" cy="492470"/>
          </a:xfrm>
          <a:prstGeom prst="star8">
            <a:avLst/>
          </a:prstGeom>
          <a:solidFill>
            <a:schemeClr val="accent2"/>
          </a:solidFill>
          <a:ln/>
        </p:spPr>
      </p:sp>
      <p:sp>
        <p:nvSpPr>
          <p:cNvPr id="60" name="Shape 58"/>
          <p:cNvSpPr/>
          <p:nvPr/>
        </p:nvSpPr>
        <p:spPr>
          <a:xfrm>
            <a:off x="3615734" y="3287137"/>
            <a:ext cx="295482" cy="295482"/>
          </a:xfrm>
          <a:prstGeom prst="ellipse">
            <a:avLst/>
          </a:prstGeom>
          <a:solidFill>
            <a:schemeClr val="bg2"/>
          </a:solidFill>
          <a:ln w="19050">
            <a:solidFill>
              <a:schemeClr val="tx2"/>
            </a:solidFill>
            <a:prstDash val="solid"/>
          </a:ln>
        </p:spPr>
      </p:sp>
      <p:sp>
        <p:nvSpPr>
          <p:cNvPr id="61" name="Text 59"/>
          <p:cNvSpPr txBox="1"/>
          <p:nvPr/>
        </p:nvSpPr>
        <p:spPr>
          <a:xfrm>
            <a:off x="3517240" y="3188643"/>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10</a:t>
            </a:r>
            <a:endParaRPr lang="en-US" sz="1100" dirty="0"/>
          </a:p>
        </p:txBody>
      </p:sp>
      <p:sp>
        <p:nvSpPr>
          <p:cNvPr id="62" name="Text 60"/>
          <p:cNvSpPr txBox="1"/>
          <p:nvPr/>
        </p:nvSpPr>
        <p:spPr>
          <a:xfrm>
            <a:off x="4101149" y="3161211"/>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Jews and the Revelation</a:t>
            </a:r>
            <a:endParaRPr lang="en-US" sz="1200" dirty="0"/>
          </a:p>
        </p:txBody>
      </p:sp>
      <p:sp>
        <p:nvSpPr>
          <p:cNvPr id="63" name="Text 61"/>
          <p:cNvSpPr txBox="1"/>
          <p:nvPr/>
        </p:nvSpPr>
        <p:spPr>
          <a:xfrm>
            <a:off x="4101149" y="3481591"/>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75 – 103</a:t>
            </a:r>
            <a:endParaRPr lang="en-US" sz="1000" dirty="0"/>
          </a:p>
        </p:txBody>
      </p:sp>
      <p:sp>
        <p:nvSpPr>
          <p:cNvPr id="64" name="Shape 62"/>
          <p:cNvSpPr/>
          <p:nvPr/>
        </p:nvSpPr>
        <p:spPr>
          <a:xfrm>
            <a:off x="6159856" y="3142923"/>
            <a:ext cx="2606040" cy="583910"/>
          </a:xfrm>
          <a:prstGeom prst="roundRect">
            <a:avLst>
              <a:gd name="adj" fmla="val 15660"/>
            </a:avLst>
          </a:prstGeom>
          <a:solidFill>
            <a:schemeClr val="bg1"/>
          </a:solidFill>
          <a:ln w="12700">
            <a:solidFill>
              <a:schemeClr val="accent2"/>
            </a:solidFill>
            <a:prstDash val="solid"/>
          </a:ln>
        </p:spPr>
      </p:sp>
      <p:sp>
        <p:nvSpPr>
          <p:cNvPr id="65" name="Shape 63"/>
          <p:cNvSpPr/>
          <p:nvPr/>
        </p:nvSpPr>
        <p:spPr>
          <a:xfrm>
            <a:off x="6251296" y="3188643"/>
            <a:ext cx="492470" cy="492470"/>
          </a:xfrm>
          <a:prstGeom prst="star8">
            <a:avLst/>
          </a:prstGeom>
          <a:solidFill>
            <a:schemeClr val="accent2"/>
          </a:solidFill>
          <a:ln/>
        </p:spPr>
      </p:sp>
      <p:sp>
        <p:nvSpPr>
          <p:cNvPr id="66" name="Shape 64"/>
          <p:cNvSpPr/>
          <p:nvPr/>
        </p:nvSpPr>
        <p:spPr>
          <a:xfrm>
            <a:off x="6349790" y="3287137"/>
            <a:ext cx="295482" cy="295482"/>
          </a:xfrm>
          <a:prstGeom prst="ellipse">
            <a:avLst/>
          </a:prstGeom>
          <a:solidFill>
            <a:schemeClr val="bg2"/>
          </a:solidFill>
          <a:ln w="19050">
            <a:solidFill>
              <a:schemeClr val="tx2"/>
            </a:solidFill>
            <a:prstDash val="solid"/>
          </a:ln>
        </p:spPr>
      </p:sp>
      <p:sp>
        <p:nvSpPr>
          <p:cNvPr id="67" name="Text 65"/>
          <p:cNvSpPr txBox="1"/>
          <p:nvPr/>
        </p:nvSpPr>
        <p:spPr>
          <a:xfrm>
            <a:off x="6251296" y="3188643"/>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11</a:t>
            </a:r>
            <a:endParaRPr lang="en-US" sz="1100" dirty="0"/>
          </a:p>
        </p:txBody>
      </p:sp>
      <p:sp>
        <p:nvSpPr>
          <p:cNvPr id="68" name="Text 66"/>
          <p:cNvSpPr txBox="1"/>
          <p:nvPr/>
        </p:nvSpPr>
        <p:spPr>
          <a:xfrm>
            <a:off x="6835205" y="3161211"/>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Guidance for the Believers</a:t>
            </a:r>
            <a:endParaRPr lang="en-US" sz="1200" dirty="0"/>
          </a:p>
        </p:txBody>
      </p:sp>
      <p:sp>
        <p:nvSpPr>
          <p:cNvPr id="69" name="Text 67"/>
          <p:cNvSpPr txBox="1"/>
          <p:nvPr/>
        </p:nvSpPr>
        <p:spPr>
          <a:xfrm>
            <a:off x="6835205" y="3481591"/>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104 – 123</a:t>
            </a:r>
            <a:endParaRPr lang="en-US" sz="1000" dirty="0"/>
          </a:p>
        </p:txBody>
      </p:sp>
      <p:sp>
        <p:nvSpPr>
          <p:cNvPr id="70" name="Shape 68"/>
          <p:cNvSpPr/>
          <p:nvPr/>
        </p:nvSpPr>
        <p:spPr>
          <a:xfrm>
            <a:off x="8893912" y="3142923"/>
            <a:ext cx="2606040" cy="583910"/>
          </a:xfrm>
          <a:prstGeom prst="roundRect">
            <a:avLst>
              <a:gd name="adj" fmla="val 15660"/>
            </a:avLst>
          </a:prstGeom>
          <a:solidFill>
            <a:schemeClr val="accent5"/>
          </a:solidFill>
          <a:ln w="12700">
            <a:solidFill>
              <a:schemeClr val="accent2"/>
            </a:solidFill>
            <a:prstDash val="solid"/>
          </a:ln>
        </p:spPr>
      </p:sp>
      <p:sp>
        <p:nvSpPr>
          <p:cNvPr id="71" name="Shape 69"/>
          <p:cNvSpPr/>
          <p:nvPr/>
        </p:nvSpPr>
        <p:spPr>
          <a:xfrm>
            <a:off x="8985352" y="3188643"/>
            <a:ext cx="492470" cy="492470"/>
          </a:xfrm>
          <a:prstGeom prst="star8">
            <a:avLst/>
          </a:prstGeom>
          <a:solidFill>
            <a:schemeClr val="accent2"/>
          </a:solidFill>
          <a:ln/>
        </p:spPr>
      </p:sp>
      <p:sp>
        <p:nvSpPr>
          <p:cNvPr id="72" name="Shape 70"/>
          <p:cNvSpPr/>
          <p:nvPr/>
        </p:nvSpPr>
        <p:spPr>
          <a:xfrm>
            <a:off x="9083846" y="3287137"/>
            <a:ext cx="295482" cy="295482"/>
          </a:xfrm>
          <a:prstGeom prst="ellipse">
            <a:avLst/>
          </a:prstGeom>
          <a:solidFill>
            <a:schemeClr val="bg2"/>
          </a:solidFill>
          <a:ln w="19050">
            <a:solidFill>
              <a:schemeClr val="tx2"/>
            </a:solidFill>
            <a:prstDash val="solid"/>
          </a:ln>
        </p:spPr>
      </p:sp>
      <p:sp>
        <p:nvSpPr>
          <p:cNvPr id="73" name="Text 71"/>
          <p:cNvSpPr txBox="1"/>
          <p:nvPr/>
        </p:nvSpPr>
        <p:spPr>
          <a:xfrm>
            <a:off x="8985352" y="3188643"/>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12</a:t>
            </a:r>
            <a:endParaRPr lang="en-US" sz="1100" dirty="0"/>
          </a:p>
        </p:txBody>
      </p:sp>
      <p:sp>
        <p:nvSpPr>
          <p:cNvPr id="74" name="Text 72"/>
          <p:cNvSpPr txBox="1"/>
          <p:nvPr/>
        </p:nvSpPr>
        <p:spPr>
          <a:xfrm>
            <a:off x="9569261" y="3161211"/>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Ibrahim and the Ka'bah</a:t>
            </a:r>
            <a:endParaRPr lang="en-US" sz="1200" dirty="0"/>
          </a:p>
        </p:txBody>
      </p:sp>
      <p:sp>
        <p:nvSpPr>
          <p:cNvPr id="75" name="Text 73"/>
          <p:cNvSpPr txBox="1"/>
          <p:nvPr/>
        </p:nvSpPr>
        <p:spPr>
          <a:xfrm>
            <a:off x="9569261" y="3481591"/>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124 – 141</a:t>
            </a:r>
            <a:endParaRPr lang="en-US" sz="1000" dirty="0"/>
          </a:p>
        </p:txBody>
      </p:sp>
      <p:sp>
        <p:nvSpPr>
          <p:cNvPr id="76" name="Shape 74"/>
          <p:cNvSpPr/>
          <p:nvPr/>
        </p:nvSpPr>
        <p:spPr>
          <a:xfrm>
            <a:off x="691744" y="3799985"/>
            <a:ext cx="2606040" cy="583910"/>
          </a:xfrm>
          <a:prstGeom prst="roundRect">
            <a:avLst>
              <a:gd name="adj" fmla="val 15660"/>
            </a:avLst>
          </a:prstGeom>
          <a:solidFill>
            <a:schemeClr val="bg1"/>
          </a:solidFill>
          <a:ln w="12700">
            <a:solidFill>
              <a:schemeClr val="accent2"/>
            </a:solidFill>
            <a:prstDash val="solid"/>
          </a:ln>
        </p:spPr>
      </p:sp>
      <p:sp>
        <p:nvSpPr>
          <p:cNvPr id="77" name="Shape 75"/>
          <p:cNvSpPr/>
          <p:nvPr/>
        </p:nvSpPr>
        <p:spPr>
          <a:xfrm>
            <a:off x="783184" y="3845705"/>
            <a:ext cx="492470" cy="492470"/>
          </a:xfrm>
          <a:prstGeom prst="star8">
            <a:avLst/>
          </a:prstGeom>
          <a:solidFill>
            <a:schemeClr val="accent2"/>
          </a:solidFill>
          <a:ln/>
        </p:spPr>
      </p:sp>
      <p:sp>
        <p:nvSpPr>
          <p:cNvPr id="78" name="Shape 76"/>
          <p:cNvSpPr/>
          <p:nvPr/>
        </p:nvSpPr>
        <p:spPr>
          <a:xfrm>
            <a:off x="881678" y="3944199"/>
            <a:ext cx="295482" cy="295482"/>
          </a:xfrm>
          <a:prstGeom prst="ellipse">
            <a:avLst/>
          </a:prstGeom>
          <a:solidFill>
            <a:schemeClr val="bg2"/>
          </a:solidFill>
          <a:ln w="19050">
            <a:solidFill>
              <a:schemeClr val="tx2"/>
            </a:solidFill>
            <a:prstDash val="solid"/>
          </a:ln>
        </p:spPr>
      </p:sp>
      <p:sp>
        <p:nvSpPr>
          <p:cNvPr id="79" name="Text 77"/>
          <p:cNvSpPr txBox="1"/>
          <p:nvPr/>
        </p:nvSpPr>
        <p:spPr>
          <a:xfrm>
            <a:off x="783184" y="3845705"/>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13</a:t>
            </a:r>
            <a:endParaRPr lang="en-US" sz="1100" dirty="0"/>
          </a:p>
        </p:txBody>
      </p:sp>
      <p:sp>
        <p:nvSpPr>
          <p:cNvPr id="80" name="Text 78"/>
          <p:cNvSpPr txBox="1"/>
          <p:nvPr/>
        </p:nvSpPr>
        <p:spPr>
          <a:xfrm>
            <a:off x="1367093" y="3818273"/>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Changing the Qiblah</a:t>
            </a:r>
            <a:endParaRPr lang="en-US" sz="1200" dirty="0"/>
          </a:p>
        </p:txBody>
      </p:sp>
      <p:sp>
        <p:nvSpPr>
          <p:cNvPr id="81" name="Text 79"/>
          <p:cNvSpPr txBox="1"/>
          <p:nvPr/>
        </p:nvSpPr>
        <p:spPr>
          <a:xfrm>
            <a:off x="1367093" y="4138653"/>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142 – 152</a:t>
            </a:r>
            <a:endParaRPr lang="en-US" sz="1000" dirty="0"/>
          </a:p>
        </p:txBody>
      </p:sp>
      <p:sp>
        <p:nvSpPr>
          <p:cNvPr id="82" name="Shape 80"/>
          <p:cNvSpPr/>
          <p:nvPr/>
        </p:nvSpPr>
        <p:spPr>
          <a:xfrm>
            <a:off x="3425800" y="3799985"/>
            <a:ext cx="2606040" cy="583910"/>
          </a:xfrm>
          <a:prstGeom prst="roundRect">
            <a:avLst>
              <a:gd name="adj" fmla="val 15660"/>
            </a:avLst>
          </a:prstGeom>
          <a:solidFill>
            <a:schemeClr val="accent5"/>
          </a:solidFill>
          <a:ln w="12700">
            <a:solidFill>
              <a:schemeClr val="accent2"/>
            </a:solidFill>
            <a:prstDash val="solid"/>
          </a:ln>
        </p:spPr>
      </p:sp>
      <p:sp>
        <p:nvSpPr>
          <p:cNvPr id="83" name="Shape 81"/>
          <p:cNvSpPr/>
          <p:nvPr/>
        </p:nvSpPr>
        <p:spPr>
          <a:xfrm>
            <a:off x="3517240" y="3845705"/>
            <a:ext cx="492470" cy="492470"/>
          </a:xfrm>
          <a:prstGeom prst="star8">
            <a:avLst/>
          </a:prstGeom>
          <a:solidFill>
            <a:schemeClr val="accent2"/>
          </a:solidFill>
          <a:ln/>
        </p:spPr>
      </p:sp>
      <p:sp>
        <p:nvSpPr>
          <p:cNvPr id="84" name="Shape 82"/>
          <p:cNvSpPr/>
          <p:nvPr/>
        </p:nvSpPr>
        <p:spPr>
          <a:xfrm>
            <a:off x="3615734" y="3944199"/>
            <a:ext cx="295482" cy="295482"/>
          </a:xfrm>
          <a:prstGeom prst="ellipse">
            <a:avLst/>
          </a:prstGeom>
          <a:solidFill>
            <a:schemeClr val="bg2"/>
          </a:solidFill>
          <a:ln w="19050">
            <a:solidFill>
              <a:schemeClr val="tx2"/>
            </a:solidFill>
            <a:prstDash val="solid"/>
          </a:ln>
        </p:spPr>
      </p:sp>
      <p:sp>
        <p:nvSpPr>
          <p:cNvPr id="85" name="Text 83"/>
          <p:cNvSpPr txBox="1"/>
          <p:nvPr/>
        </p:nvSpPr>
        <p:spPr>
          <a:xfrm>
            <a:off x="3517240" y="3845705"/>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14</a:t>
            </a:r>
            <a:endParaRPr lang="en-US" sz="1100" dirty="0"/>
          </a:p>
        </p:txBody>
      </p:sp>
      <p:sp>
        <p:nvSpPr>
          <p:cNvPr id="86" name="Text 84"/>
          <p:cNvSpPr txBox="1"/>
          <p:nvPr/>
        </p:nvSpPr>
        <p:spPr>
          <a:xfrm>
            <a:off x="4101149" y="3818273"/>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Patience, Trials and Tawhid</a:t>
            </a:r>
            <a:endParaRPr lang="en-US" sz="1200" dirty="0"/>
          </a:p>
        </p:txBody>
      </p:sp>
      <p:sp>
        <p:nvSpPr>
          <p:cNvPr id="87" name="Text 85"/>
          <p:cNvSpPr txBox="1"/>
          <p:nvPr/>
        </p:nvSpPr>
        <p:spPr>
          <a:xfrm>
            <a:off x="4101149" y="4138653"/>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153 – 167</a:t>
            </a:r>
            <a:endParaRPr lang="en-US" sz="1000" dirty="0"/>
          </a:p>
        </p:txBody>
      </p:sp>
      <p:sp>
        <p:nvSpPr>
          <p:cNvPr id="88" name="Shape 86"/>
          <p:cNvSpPr/>
          <p:nvPr/>
        </p:nvSpPr>
        <p:spPr>
          <a:xfrm>
            <a:off x="6159856" y="3799985"/>
            <a:ext cx="2606040" cy="583910"/>
          </a:xfrm>
          <a:prstGeom prst="roundRect">
            <a:avLst>
              <a:gd name="adj" fmla="val 15660"/>
            </a:avLst>
          </a:prstGeom>
          <a:solidFill>
            <a:schemeClr val="bg1"/>
          </a:solidFill>
          <a:ln w="12700">
            <a:solidFill>
              <a:schemeClr val="accent2"/>
            </a:solidFill>
            <a:prstDash val="solid"/>
          </a:ln>
        </p:spPr>
      </p:sp>
      <p:sp>
        <p:nvSpPr>
          <p:cNvPr id="89" name="Shape 87"/>
          <p:cNvSpPr/>
          <p:nvPr/>
        </p:nvSpPr>
        <p:spPr>
          <a:xfrm>
            <a:off x="6251296" y="3845705"/>
            <a:ext cx="492470" cy="492470"/>
          </a:xfrm>
          <a:prstGeom prst="star8">
            <a:avLst/>
          </a:prstGeom>
          <a:solidFill>
            <a:schemeClr val="accent2"/>
          </a:solidFill>
          <a:ln/>
        </p:spPr>
      </p:sp>
      <p:sp>
        <p:nvSpPr>
          <p:cNvPr id="90" name="Shape 88"/>
          <p:cNvSpPr/>
          <p:nvPr/>
        </p:nvSpPr>
        <p:spPr>
          <a:xfrm>
            <a:off x="6349790" y="3944199"/>
            <a:ext cx="295482" cy="295482"/>
          </a:xfrm>
          <a:prstGeom prst="ellipse">
            <a:avLst/>
          </a:prstGeom>
          <a:solidFill>
            <a:schemeClr val="bg2"/>
          </a:solidFill>
          <a:ln w="19050">
            <a:solidFill>
              <a:schemeClr val="tx2"/>
            </a:solidFill>
            <a:prstDash val="solid"/>
          </a:ln>
        </p:spPr>
      </p:sp>
      <p:sp>
        <p:nvSpPr>
          <p:cNvPr id="91" name="Text 89"/>
          <p:cNvSpPr txBox="1"/>
          <p:nvPr/>
        </p:nvSpPr>
        <p:spPr>
          <a:xfrm>
            <a:off x="6251296" y="3845705"/>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15</a:t>
            </a:r>
            <a:endParaRPr lang="en-US" sz="1100" dirty="0"/>
          </a:p>
        </p:txBody>
      </p:sp>
      <p:sp>
        <p:nvSpPr>
          <p:cNvPr id="92" name="Text 90"/>
          <p:cNvSpPr txBox="1"/>
          <p:nvPr/>
        </p:nvSpPr>
        <p:spPr>
          <a:xfrm>
            <a:off x="6835205" y="3818273"/>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Lawful and True Goodness</a:t>
            </a:r>
            <a:endParaRPr lang="en-US" sz="1200" dirty="0"/>
          </a:p>
        </p:txBody>
      </p:sp>
      <p:sp>
        <p:nvSpPr>
          <p:cNvPr id="93" name="Text 91"/>
          <p:cNvSpPr txBox="1"/>
          <p:nvPr/>
        </p:nvSpPr>
        <p:spPr>
          <a:xfrm>
            <a:off x="6835205" y="4138653"/>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168 – 182</a:t>
            </a:r>
            <a:endParaRPr lang="en-US" sz="1000" dirty="0"/>
          </a:p>
        </p:txBody>
      </p:sp>
      <p:sp>
        <p:nvSpPr>
          <p:cNvPr id="94" name="Shape 92"/>
          <p:cNvSpPr/>
          <p:nvPr/>
        </p:nvSpPr>
        <p:spPr>
          <a:xfrm>
            <a:off x="8893912" y="3799985"/>
            <a:ext cx="2606040" cy="583910"/>
          </a:xfrm>
          <a:prstGeom prst="roundRect">
            <a:avLst>
              <a:gd name="adj" fmla="val 15660"/>
            </a:avLst>
          </a:prstGeom>
          <a:solidFill>
            <a:schemeClr val="accent5"/>
          </a:solidFill>
          <a:ln w="12700">
            <a:solidFill>
              <a:schemeClr val="accent2"/>
            </a:solidFill>
            <a:prstDash val="solid"/>
          </a:ln>
        </p:spPr>
      </p:sp>
      <p:sp>
        <p:nvSpPr>
          <p:cNvPr id="95" name="Shape 93"/>
          <p:cNvSpPr/>
          <p:nvPr/>
        </p:nvSpPr>
        <p:spPr>
          <a:xfrm>
            <a:off x="8985352" y="3845705"/>
            <a:ext cx="492470" cy="492470"/>
          </a:xfrm>
          <a:prstGeom prst="star8">
            <a:avLst/>
          </a:prstGeom>
          <a:solidFill>
            <a:schemeClr val="accent2"/>
          </a:solidFill>
          <a:ln/>
        </p:spPr>
      </p:sp>
      <p:sp>
        <p:nvSpPr>
          <p:cNvPr id="96" name="Shape 94"/>
          <p:cNvSpPr/>
          <p:nvPr/>
        </p:nvSpPr>
        <p:spPr>
          <a:xfrm>
            <a:off x="9083846" y="3944199"/>
            <a:ext cx="295482" cy="295482"/>
          </a:xfrm>
          <a:prstGeom prst="ellipse">
            <a:avLst/>
          </a:prstGeom>
          <a:solidFill>
            <a:schemeClr val="bg2"/>
          </a:solidFill>
          <a:ln w="19050">
            <a:solidFill>
              <a:schemeClr val="tx2"/>
            </a:solidFill>
            <a:prstDash val="solid"/>
          </a:ln>
        </p:spPr>
      </p:sp>
      <p:sp>
        <p:nvSpPr>
          <p:cNvPr id="97" name="Text 95"/>
          <p:cNvSpPr txBox="1"/>
          <p:nvPr/>
        </p:nvSpPr>
        <p:spPr>
          <a:xfrm>
            <a:off x="8985352" y="3845705"/>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16</a:t>
            </a:r>
            <a:endParaRPr lang="en-US" sz="1100" dirty="0"/>
          </a:p>
        </p:txBody>
      </p:sp>
      <p:sp>
        <p:nvSpPr>
          <p:cNvPr id="98" name="Text 96"/>
          <p:cNvSpPr txBox="1"/>
          <p:nvPr/>
        </p:nvSpPr>
        <p:spPr>
          <a:xfrm>
            <a:off x="9569261" y="3818273"/>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Fasting</a:t>
            </a:r>
            <a:endParaRPr lang="en-US" sz="1200" dirty="0"/>
          </a:p>
        </p:txBody>
      </p:sp>
      <p:sp>
        <p:nvSpPr>
          <p:cNvPr id="99" name="Text 97"/>
          <p:cNvSpPr txBox="1"/>
          <p:nvPr/>
        </p:nvSpPr>
        <p:spPr>
          <a:xfrm>
            <a:off x="9569261" y="4138653"/>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183 – 188</a:t>
            </a:r>
            <a:endParaRPr lang="en-US" sz="1000" dirty="0"/>
          </a:p>
        </p:txBody>
      </p:sp>
      <p:sp>
        <p:nvSpPr>
          <p:cNvPr id="100" name="Shape 98"/>
          <p:cNvSpPr/>
          <p:nvPr/>
        </p:nvSpPr>
        <p:spPr>
          <a:xfrm>
            <a:off x="691744" y="4457047"/>
            <a:ext cx="2606040" cy="583910"/>
          </a:xfrm>
          <a:prstGeom prst="roundRect">
            <a:avLst>
              <a:gd name="adj" fmla="val 15660"/>
            </a:avLst>
          </a:prstGeom>
          <a:solidFill>
            <a:schemeClr val="bg1"/>
          </a:solidFill>
          <a:ln w="12700">
            <a:solidFill>
              <a:schemeClr val="accent2"/>
            </a:solidFill>
            <a:prstDash val="solid"/>
          </a:ln>
        </p:spPr>
      </p:sp>
      <p:sp>
        <p:nvSpPr>
          <p:cNvPr id="101" name="Shape 99"/>
          <p:cNvSpPr/>
          <p:nvPr/>
        </p:nvSpPr>
        <p:spPr>
          <a:xfrm>
            <a:off x="783184" y="4502767"/>
            <a:ext cx="492470" cy="492470"/>
          </a:xfrm>
          <a:prstGeom prst="star8">
            <a:avLst/>
          </a:prstGeom>
          <a:solidFill>
            <a:schemeClr val="accent2"/>
          </a:solidFill>
          <a:ln/>
        </p:spPr>
      </p:sp>
      <p:sp>
        <p:nvSpPr>
          <p:cNvPr id="102" name="Shape 100"/>
          <p:cNvSpPr/>
          <p:nvPr/>
        </p:nvSpPr>
        <p:spPr>
          <a:xfrm>
            <a:off x="881678" y="4601261"/>
            <a:ext cx="295482" cy="295482"/>
          </a:xfrm>
          <a:prstGeom prst="ellipse">
            <a:avLst/>
          </a:prstGeom>
          <a:solidFill>
            <a:schemeClr val="bg2"/>
          </a:solidFill>
          <a:ln w="19050">
            <a:solidFill>
              <a:schemeClr val="tx2"/>
            </a:solidFill>
            <a:prstDash val="solid"/>
          </a:ln>
        </p:spPr>
      </p:sp>
      <p:sp>
        <p:nvSpPr>
          <p:cNvPr id="103" name="Text 101"/>
          <p:cNvSpPr txBox="1"/>
          <p:nvPr/>
        </p:nvSpPr>
        <p:spPr>
          <a:xfrm>
            <a:off x="783184" y="4502767"/>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17</a:t>
            </a:r>
            <a:endParaRPr lang="en-US" sz="1100" dirty="0"/>
          </a:p>
        </p:txBody>
      </p:sp>
      <p:sp>
        <p:nvSpPr>
          <p:cNvPr id="104" name="Text 102"/>
          <p:cNvSpPr txBox="1"/>
          <p:nvPr/>
        </p:nvSpPr>
        <p:spPr>
          <a:xfrm>
            <a:off x="1367093" y="4475335"/>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New Moons, Fighting and Hajj</a:t>
            </a:r>
            <a:endParaRPr lang="en-US" sz="1200" dirty="0"/>
          </a:p>
        </p:txBody>
      </p:sp>
      <p:sp>
        <p:nvSpPr>
          <p:cNvPr id="105" name="Text 103"/>
          <p:cNvSpPr txBox="1"/>
          <p:nvPr/>
        </p:nvSpPr>
        <p:spPr>
          <a:xfrm>
            <a:off x="1367093" y="4795714"/>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189 – 203</a:t>
            </a:r>
            <a:endParaRPr lang="en-US" sz="1000" dirty="0"/>
          </a:p>
        </p:txBody>
      </p:sp>
      <p:sp>
        <p:nvSpPr>
          <p:cNvPr id="106" name="Shape 104"/>
          <p:cNvSpPr/>
          <p:nvPr/>
        </p:nvSpPr>
        <p:spPr>
          <a:xfrm>
            <a:off x="3425800" y="4457047"/>
            <a:ext cx="2606040" cy="583910"/>
          </a:xfrm>
          <a:prstGeom prst="roundRect">
            <a:avLst>
              <a:gd name="adj" fmla="val 15660"/>
            </a:avLst>
          </a:prstGeom>
          <a:solidFill>
            <a:schemeClr val="accent5"/>
          </a:solidFill>
          <a:ln w="12700">
            <a:solidFill>
              <a:schemeClr val="accent2"/>
            </a:solidFill>
            <a:prstDash val="solid"/>
          </a:ln>
        </p:spPr>
      </p:sp>
      <p:sp>
        <p:nvSpPr>
          <p:cNvPr id="107" name="Shape 105"/>
          <p:cNvSpPr/>
          <p:nvPr/>
        </p:nvSpPr>
        <p:spPr>
          <a:xfrm>
            <a:off x="3517240" y="4502767"/>
            <a:ext cx="492470" cy="492470"/>
          </a:xfrm>
          <a:prstGeom prst="star8">
            <a:avLst/>
          </a:prstGeom>
          <a:solidFill>
            <a:schemeClr val="accent2"/>
          </a:solidFill>
          <a:ln/>
        </p:spPr>
      </p:sp>
      <p:sp>
        <p:nvSpPr>
          <p:cNvPr id="108" name="Shape 106"/>
          <p:cNvSpPr/>
          <p:nvPr/>
        </p:nvSpPr>
        <p:spPr>
          <a:xfrm>
            <a:off x="3615734" y="4601261"/>
            <a:ext cx="295482" cy="295482"/>
          </a:xfrm>
          <a:prstGeom prst="ellipse">
            <a:avLst/>
          </a:prstGeom>
          <a:solidFill>
            <a:schemeClr val="bg2"/>
          </a:solidFill>
          <a:ln w="19050">
            <a:solidFill>
              <a:schemeClr val="tx2"/>
            </a:solidFill>
            <a:prstDash val="solid"/>
          </a:ln>
        </p:spPr>
      </p:sp>
      <p:sp>
        <p:nvSpPr>
          <p:cNvPr id="109" name="Text 107"/>
          <p:cNvSpPr txBox="1"/>
          <p:nvPr/>
        </p:nvSpPr>
        <p:spPr>
          <a:xfrm>
            <a:off x="3517240" y="4502767"/>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18</a:t>
            </a:r>
            <a:endParaRPr lang="en-US" sz="1100" dirty="0"/>
          </a:p>
        </p:txBody>
      </p:sp>
      <p:sp>
        <p:nvSpPr>
          <p:cNvPr id="110" name="Text 108"/>
          <p:cNvSpPr txBox="1"/>
          <p:nvPr/>
        </p:nvSpPr>
        <p:spPr>
          <a:xfrm>
            <a:off x="4101149" y="4475335"/>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Hypocrite and the Believer</a:t>
            </a:r>
            <a:endParaRPr lang="en-US" sz="1200" dirty="0"/>
          </a:p>
        </p:txBody>
      </p:sp>
      <p:sp>
        <p:nvSpPr>
          <p:cNvPr id="111" name="Text 109"/>
          <p:cNvSpPr txBox="1"/>
          <p:nvPr/>
        </p:nvSpPr>
        <p:spPr>
          <a:xfrm>
            <a:off x="4101149" y="4795714"/>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204 – 218</a:t>
            </a:r>
            <a:endParaRPr lang="en-US" sz="1000" dirty="0"/>
          </a:p>
        </p:txBody>
      </p:sp>
      <p:sp>
        <p:nvSpPr>
          <p:cNvPr id="112" name="Shape 110"/>
          <p:cNvSpPr/>
          <p:nvPr/>
        </p:nvSpPr>
        <p:spPr>
          <a:xfrm>
            <a:off x="6159856" y="4457047"/>
            <a:ext cx="2606040" cy="583910"/>
          </a:xfrm>
          <a:prstGeom prst="roundRect">
            <a:avLst>
              <a:gd name="adj" fmla="val 15660"/>
            </a:avLst>
          </a:prstGeom>
          <a:solidFill>
            <a:schemeClr val="bg1"/>
          </a:solidFill>
          <a:ln w="12700">
            <a:solidFill>
              <a:schemeClr val="accent2"/>
            </a:solidFill>
            <a:prstDash val="solid"/>
          </a:ln>
        </p:spPr>
      </p:sp>
      <p:sp>
        <p:nvSpPr>
          <p:cNvPr id="113" name="Shape 111"/>
          <p:cNvSpPr/>
          <p:nvPr/>
        </p:nvSpPr>
        <p:spPr>
          <a:xfrm>
            <a:off x="6251296" y="4502767"/>
            <a:ext cx="492470" cy="492470"/>
          </a:xfrm>
          <a:prstGeom prst="star8">
            <a:avLst/>
          </a:prstGeom>
          <a:solidFill>
            <a:schemeClr val="accent2"/>
          </a:solidFill>
          <a:ln/>
        </p:spPr>
      </p:sp>
      <p:sp>
        <p:nvSpPr>
          <p:cNvPr id="114" name="Shape 112"/>
          <p:cNvSpPr/>
          <p:nvPr/>
        </p:nvSpPr>
        <p:spPr>
          <a:xfrm>
            <a:off x="6349790" y="4601261"/>
            <a:ext cx="295482" cy="295482"/>
          </a:xfrm>
          <a:prstGeom prst="ellipse">
            <a:avLst/>
          </a:prstGeom>
          <a:solidFill>
            <a:schemeClr val="bg2"/>
          </a:solidFill>
          <a:ln w="19050">
            <a:solidFill>
              <a:schemeClr val="tx2"/>
            </a:solidFill>
            <a:prstDash val="solid"/>
          </a:ln>
        </p:spPr>
      </p:sp>
      <p:sp>
        <p:nvSpPr>
          <p:cNvPr id="115" name="Text 113"/>
          <p:cNvSpPr txBox="1"/>
          <p:nvPr/>
        </p:nvSpPr>
        <p:spPr>
          <a:xfrm>
            <a:off x="6251296" y="4502767"/>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19</a:t>
            </a:r>
            <a:endParaRPr lang="en-US" sz="1100" dirty="0"/>
          </a:p>
        </p:txBody>
      </p:sp>
      <p:sp>
        <p:nvSpPr>
          <p:cNvPr id="116" name="Text 114"/>
          <p:cNvSpPr txBox="1"/>
          <p:nvPr/>
        </p:nvSpPr>
        <p:spPr>
          <a:xfrm>
            <a:off x="6835205" y="4475335"/>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Family and Society</a:t>
            </a:r>
            <a:endParaRPr lang="en-US" sz="1200" dirty="0"/>
          </a:p>
        </p:txBody>
      </p:sp>
      <p:sp>
        <p:nvSpPr>
          <p:cNvPr id="117" name="Text 115"/>
          <p:cNvSpPr txBox="1"/>
          <p:nvPr/>
        </p:nvSpPr>
        <p:spPr>
          <a:xfrm>
            <a:off x="6835205" y="4795714"/>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219 – 242</a:t>
            </a:r>
            <a:endParaRPr lang="en-US" sz="1000" dirty="0"/>
          </a:p>
        </p:txBody>
      </p:sp>
      <p:sp>
        <p:nvSpPr>
          <p:cNvPr id="118" name="Shape 116"/>
          <p:cNvSpPr/>
          <p:nvPr/>
        </p:nvSpPr>
        <p:spPr>
          <a:xfrm>
            <a:off x="8893912" y="4457047"/>
            <a:ext cx="2606040" cy="583910"/>
          </a:xfrm>
          <a:prstGeom prst="roundRect">
            <a:avLst>
              <a:gd name="adj" fmla="val 15660"/>
            </a:avLst>
          </a:prstGeom>
          <a:solidFill>
            <a:schemeClr val="accent5"/>
          </a:solidFill>
          <a:ln w="12700">
            <a:solidFill>
              <a:schemeClr val="accent2"/>
            </a:solidFill>
            <a:prstDash val="solid"/>
          </a:ln>
        </p:spPr>
      </p:sp>
      <p:sp>
        <p:nvSpPr>
          <p:cNvPr id="119" name="Shape 117"/>
          <p:cNvSpPr/>
          <p:nvPr/>
        </p:nvSpPr>
        <p:spPr>
          <a:xfrm>
            <a:off x="8985352" y="4502767"/>
            <a:ext cx="492470" cy="492470"/>
          </a:xfrm>
          <a:prstGeom prst="star8">
            <a:avLst/>
          </a:prstGeom>
          <a:solidFill>
            <a:schemeClr val="accent2"/>
          </a:solidFill>
          <a:ln/>
        </p:spPr>
      </p:sp>
      <p:sp>
        <p:nvSpPr>
          <p:cNvPr id="120" name="Shape 118"/>
          <p:cNvSpPr/>
          <p:nvPr/>
        </p:nvSpPr>
        <p:spPr>
          <a:xfrm>
            <a:off x="9083846" y="4601261"/>
            <a:ext cx="295482" cy="295482"/>
          </a:xfrm>
          <a:prstGeom prst="ellipse">
            <a:avLst/>
          </a:prstGeom>
          <a:solidFill>
            <a:schemeClr val="bg2"/>
          </a:solidFill>
          <a:ln w="19050">
            <a:solidFill>
              <a:schemeClr val="tx2"/>
            </a:solidFill>
            <a:prstDash val="solid"/>
          </a:ln>
        </p:spPr>
      </p:sp>
      <p:sp>
        <p:nvSpPr>
          <p:cNvPr id="121" name="Text 119"/>
          <p:cNvSpPr txBox="1"/>
          <p:nvPr/>
        </p:nvSpPr>
        <p:spPr>
          <a:xfrm>
            <a:off x="8985352" y="4502767"/>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20</a:t>
            </a:r>
            <a:endParaRPr lang="en-US" sz="1100" dirty="0"/>
          </a:p>
        </p:txBody>
      </p:sp>
      <p:sp>
        <p:nvSpPr>
          <p:cNvPr id="122" name="Text 120"/>
          <p:cNvSpPr txBox="1"/>
          <p:nvPr/>
        </p:nvSpPr>
        <p:spPr>
          <a:xfrm>
            <a:off x="9569261" y="4475335"/>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Talut and Jalut</a:t>
            </a:r>
            <a:endParaRPr lang="en-US" sz="1200" dirty="0"/>
          </a:p>
        </p:txBody>
      </p:sp>
      <p:sp>
        <p:nvSpPr>
          <p:cNvPr id="123" name="Text 121"/>
          <p:cNvSpPr txBox="1"/>
          <p:nvPr/>
        </p:nvSpPr>
        <p:spPr>
          <a:xfrm>
            <a:off x="9569261" y="4795714"/>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243 – 252</a:t>
            </a:r>
            <a:endParaRPr lang="en-US" sz="1000" dirty="0"/>
          </a:p>
        </p:txBody>
      </p:sp>
      <p:sp>
        <p:nvSpPr>
          <p:cNvPr id="124" name="Shape 122"/>
          <p:cNvSpPr/>
          <p:nvPr/>
        </p:nvSpPr>
        <p:spPr>
          <a:xfrm>
            <a:off x="691744" y="5114109"/>
            <a:ext cx="2606040" cy="583910"/>
          </a:xfrm>
          <a:prstGeom prst="roundRect">
            <a:avLst>
              <a:gd name="adj" fmla="val 15660"/>
            </a:avLst>
          </a:prstGeom>
          <a:solidFill>
            <a:schemeClr val="bg1"/>
          </a:solidFill>
          <a:ln w="12700">
            <a:solidFill>
              <a:schemeClr val="accent2"/>
            </a:solidFill>
            <a:prstDash val="solid"/>
          </a:ln>
        </p:spPr>
      </p:sp>
      <p:sp>
        <p:nvSpPr>
          <p:cNvPr id="125" name="Shape 123"/>
          <p:cNvSpPr/>
          <p:nvPr/>
        </p:nvSpPr>
        <p:spPr>
          <a:xfrm>
            <a:off x="783184" y="5159829"/>
            <a:ext cx="492470" cy="492470"/>
          </a:xfrm>
          <a:prstGeom prst="star8">
            <a:avLst/>
          </a:prstGeom>
          <a:solidFill>
            <a:schemeClr val="accent2"/>
          </a:solidFill>
          <a:ln/>
        </p:spPr>
      </p:sp>
      <p:sp>
        <p:nvSpPr>
          <p:cNvPr id="126" name="Shape 124"/>
          <p:cNvSpPr/>
          <p:nvPr/>
        </p:nvSpPr>
        <p:spPr>
          <a:xfrm>
            <a:off x="881678" y="5258323"/>
            <a:ext cx="295482" cy="295482"/>
          </a:xfrm>
          <a:prstGeom prst="ellipse">
            <a:avLst/>
          </a:prstGeom>
          <a:solidFill>
            <a:schemeClr val="bg2"/>
          </a:solidFill>
          <a:ln w="19050">
            <a:solidFill>
              <a:schemeClr val="tx2"/>
            </a:solidFill>
            <a:prstDash val="solid"/>
          </a:ln>
        </p:spPr>
      </p:sp>
      <p:sp>
        <p:nvSpPr>
          <p:cNvPr id="127" name="Text 125"/>
          <p:cNvSpPr txBox="1"/>
          <p:nvPr/>
        </p:nvSpPr>
        <p:spPr>
          <a:xfrm>
            <a:off x="783184" y="5159829"/>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21</a:t>
            </a:r>
            <a:endParaRPr lang="en-US" sz="1100" dirty="0"/>
          </a:p>
        </p:txBody>
      </p:sp>
      <p:sp>
        <p:nvSpPr>
          <p:cNvPr id="128" name="Text 126"/>
          <p:cNvSpPr txBox="1"/>
          <p:nvPr/>
        </p:nvSpPr>
        <p:spPr>
          <a:xfrm>
            <a:off x="1367093" y="5132397"/>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Ayat al-Kursi; No Compulsion</a:t>
            </a:r>
            <a:endParaRPr lang="en-US" sz="1200" dirty="0"/>
          </a:p>
        </p:txBody>
      </p:sp>
      <p:sp>
        <p:nvSpPr>
          <p:cNvPr id="129" name="Text 127"/>
          <p:cNvSpPr txBox="1"/>
          <p:nvPr/>
        </p:nvSpPr>
        <p:spPr>
          <a:xfrm>
            <a:off x="1367093" y="5452776"/>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253 – 257</a:t>
            </a:r>
            <a:endParaRPr lang="en-US" sz="1000" dirty="0"/>
          </a:p>
        </p:txBody>
      </p:sp>
      <p:sp>
        <p:nvSpPr>
          <p:cNvPr id="130" name="Shape 128"/>
          <p:cNvSpPr/>
          <p:nvPr/>
        </p:nvSpPr>
        <p:spPr>
          <a:xfrm>
            <a:off x="3425800" y="5114109"/>
            <a:ext cx="2606040" cy="583910"/>
          </a:xfrm>
          <a:prstGeom prst="roundRect">
            <a:avLst>
              <a:gd name="adj" fmla="val 15660"/>
            </a:avLst>
          </a:prstGeom>
          <a:solidFill>
            <a:schemeClr val="accent5"/>
          </a:solidFill>
          <a:ln w="12700">
            <a:solidFill>
              <a:schemeClr val="accent2"/>
            </a:solidFill>
            <a:prstDash val="solid"/>
          </a:ln>
        </p:spPr>
      </p:sp>
      <p:sp>
        <p:nvSpPr>
          <p:cNvPr id="131" name="Shape 129"/>
          <p:cNvSpPr/>
          <p:nvPr/>
        </p:nvSpPr>
        <p:spPr>
          <a:xfrm>
            <a:off x="3517240" y="5159829"/>
            <a:ext cx="492470" cy="492470"/>
          </a:xfrm>
          <a:prstGeom prst="star8">
            <a:avLst/>
          </a:prstGeom>
          <a:solidFill>
            <a:schemeClr val="accent2"/>
          </a:solidFill>
          <a:ln/>
        </p:spPr>
      </p:sp>
      <p:sp>
        <p:nvSpPr>
          <p:cNvPr id="132" name="Shape 130"/>
          <p:cNvSpPr/>
          <p:nvPr/>
        </p:nvSpPr>
        <p:spPr>
          <a:xfrm>
            <a:off x="3615734" y="5258323"/>
            <a:ext cx="295482" cy="295482"/>
          </a:xfrm>
          <a:prstGeom prst="ellipse">
            <a:avLst/>
          </a:prstGeom>
          <a:solidFill>
            <a:schemeClr val="bg2"/>
          </a:solidFill>
          <a:ln w="19050">
            <a:solidFill>
              <a:schemeClr val="tx2"/>
            </a:solidFill>
            <a:prstDash val="solid"/>
          </a:ln>
        </p:spPr>
      </p:sp>
      <p:sp>
        <p:nvSpPr>
          <p:cNvPr id="133" name="Text 131"/>
          <p:cNvSpPr txBox="1"/>
          <p:nvPr/>
        </p:nvSpPr>
        <p:spPr>
          <a:xfrm>
            <a:off x="3517240" y="5159829"/>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22</a:t>
            </a:r>
            <a:endParaRPr lang="en-US" sz="1100" dirty="0"/>
          </a:p>
        </p:txBody>
      </p:sp>
      <p:sp>
        <p:nvSpPr>
          <p:cNvPr id="134" name="Text 132"/>
          <p:cNvSpPr txBox="1"/>
          <p:nvPr/>
        </p:nvSpPr>
        <p:spPr>
          <a:xfrm>
            <a:off x="4101149" y="5132397"/>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Allah Gives Life to the Dead</a:t>
            </a:r>
            <a:endParaRPr lang="en-US" sz="1200" dirty="0"/>
          </a:p>
        </p:txBody>
      </p:sp>
      <p:sp>
        <p:nvSpPr>
          <p:cNvPr id="135" name="Text 133"/>
          <p:cNvSpPr txBox="1"/>
          <p:nvPr/>
        </p:nvSpPr>
        <p:spPr>
          <a:xfrm>
            <a:off x="4101149" y="5452776"/>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258 – 260</a:t>
            </a:r>
            <a:endParaRPr lang="en-US" sz="1000" dirty="0"/>
          </a:p>
        </p:txBody>
      </p:sp>
      <p:sp>
        <p:nvSpPr>
          <p:cNvPr id="136" name="Shape 134"/>
          <p:cNvSpPr/>
          <p:nvPr/>
        </p:nvSpPr>
        <p:spPr>
          <a:xfrm>
            <a:off x="6159856" y="5114109"/>
            <a:ext cx="2606040" cy="583910"/>
          </a:xfrm>
          <a:prstGeom prst="roundRect">
            <a:avLst>
              <a:gd name="adj" fmla="val 15660"/>
            </a:avLst>
          </a:prstGeom>
          <a:solidFill>
            <a:schemeClr val="bg1"/>
          </a:solidFill>
          <a:ln w="12700">
            <a:solidFill>
              <a:schemeClr val="accent2"/>
            </a:solidFill>
            <a:prstDash val="solid"/>
          </a:ln>
        </p:spPr>
      </p:sp>
      <p:sp>
        <p:nvSpPr>
          <p:cNvPr id="137" name="Shape 135"/>
          <p:cNvSpPr/>
          <p:nvPr/>
        </p:nvSpPr>
        <p:spPr>
          <a:xfrm>
            <a:off x="6251296" y="5159829"/>
            <a:ext cx="492470" cy="492470"/>
          </a:xfrm>
          <a:prstGeom prst="star8">
            <a:avLst/>
          </a:prstGeom>
          <a:solidFill>
            <a:schemeClr val="accent2"/>
          </a:solidFill>
          <a:ln/>
        </p:spPr>
      </p:sp>
      <p:sp>
        <p:nvSpPr>
          <p:cNvPr id="138" name="Shape 136"/>
          <p:cNvSpPr/>
          <p:nvPr/>
        </p:nvSpPr>
        <p:spPr>
          <a:xfrm>
            <a:off x="6349790" y="5258323"/>
            <a:ext cx="295482" cy="295482"/>
          </a:xfrm>
          <a:prstGeom prst="ellipse">
            <a:avLst/>
          </a:prstGeom>
          <a:solidFill>
            <a:schemeClr val="bg2"/>
          </a:solidFill>
          <a:ln w="19050">
            <a:solidFill>
              <a:schemeClr val="tx2"/>
            </a:solidFill>
            <a:prstDash val="solid"/>
          </a:ln>
        </p:spPr>
      </p:sp>
      <p:sp>
        <p:nvSpPr>
          <p:cNvPr id="139" name="Text 137"/>
          <p:cNvSpPr txBox="1"/>
          <p:nvPr/>
        </p:nvSpPr>
        <p:spPr>
          <a:xfrm>
            <a:off x="6251296" y="5159829"/>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23</a:t>
            </a:r>
            <a:endParaRPr lang="en-US" sz="1100" dirty="0"/>
          </a:p>
        </p:txBody>
      </p:sp>
      <p:sp>
        <p:nvSpPr>
          <p:cNvPr id="140" name="Text 138"/>
          <p:cNvSpPr txBox="1"/>
          <p:nvPr/>
        </p:nvSpPr>
        <p:spPr>
          <a:xfrm>
            <a:off x="6835205" y="5132397"/>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Charity and Its Manners</a:t>
            </a:r>
            <a:endParaRPr lang="en-US" sz="1200" dirty="0"/>
          </a:p>
        </p:txBody>
      </p:sp>
      <p:sp>
        <p:nvSpPr>
          <p:cNvPr id="141" name="Text 139"/>
          <p:cNvSpPr txBox="1"/>
          <p:nvPr/>
        </p:nvSpPr>
        <p:spPr>
          <a:xfrm>
            <a:off x="6835205" y="5452776"/>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261 – 274</a:t>
            </a:r>
            <a:endParaRPr lang="en-US" sz="1000" dirty="0"/>
          </a:p>
        </p:txBody>
      </p:sp>
      <p:sp>
        <p:nvSpPr>
          <p:cNvPr id="142" name="Shape 140"/>
          <p:cNvSpPr/>
          <p:nvPr/>
        </p:nvSpPr>
        <p:spPr>
          <a:xfrm>
            <a:off x="8893912" y="5114109"/>
            <a:ext cx="2606040" cy="583910"/>
          </a:xfrm>
          <a:prstGeom prst="roundRect">
            <a:avLst>
              <a:gd name="adj" fmla="val 15660"/>
            </a:avLst>
          </a:prstGeom>
          <a:solidFill>
            <a:schemeClr val="accent5"/>
          </a:solidFill>
          <a:ln w="12700">
            <a:solidFill>
              <a:schemeClr val="accent2"/>
            </a:solidFill>
            <a:prstDash val="solid"/>
          </a:ln>
        </p:spPr>
      </p:sp>
      <p:sp>
        <p:nvSpPr>
          <p:cNvPr id="143" name="Shape 141"/>
          <p:cNvSpPr/>
          <p:nvPr/>
        </p:nvSpPr>
        <p:spPr>
          <a:xfrm>
            <a:off x="8985352" y="5159829"/>
            <a:ext cx="492470" cy="492470"/>
          </a:xfrm>
          <a:prstGeom prst="star8">
            <a:avLst/>
          </a:prstGeom>
          <a:solidFill>
            <a:schemeClr val="accent2"/>
          </a:solidFill>
          <a:ln/>
        </p:spPr>
      </p:sp>
      <p:sp>
        <p:nvSpPr>
          <p:cNvPr id="144" name="Shape 142"/>
          <p:cNvSpPr/>
          <p:nvPr/>
        </p:nvSpPr>
        <p:spPr>
          <a:xfrm>
            <a:off x="9083846" y="5258323"/>
            <a:ext cx="295482" cy="295482"/>
          </a:xfrm>
          <a:prstGeom prst="ellipse">
            <a:avLst/>
          </a:prstGeom>
          <a:solidFill>
            <a:schemeClr val="bg2"/>
          </a:solidFill>
          <a:ln w="19050">
            <a:solidFill>
              <a:schemeClr val="tx2"/>
            </a:solidFill>
            <a:prstDash val="solid"/>
          </a:ln>
        </p:spPr>
      </p:sp>
      <p:sp>
        <p:nvSpPr>
          <p:cNvPr id="145" name="Text 143"/>
          <p:cNvSpPr txBox="1"/>
          <p:nvPr/>
        </p:nvSpPr>
        <p:spPr>
          <a:xfrm>
            <a:off x="8985352" y="5159829"/>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24</a:t>
            </a:r>
            <a:endParaRPr lang="en-US" sz="1100" dirty="0"/>
          </a:p>
        </p:txBody>
      </p:sp>
      <p:sp>
        <p:nvSpPr>
          <p:cNvPr id="146" name="Text 144"/>
          <p:cNvSpPr txBox="1"/>
          <p:nvPr/>
        </p:nvSpPr>
        <p:spPr>
          <a:xfrm>
            <a:off x="9569261" y="5132397"/>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Prohibition of Riba</a:t>
            </a:r>
            <a:endParaRPr lang="en-US" sz="1200" dirty="0"/>
          </a:p>
        </p:txBody>
      </p:sp>
      <p:sp>
        <p:nvSpPr>
          <p:cNvPr id="147" name="Text 145"/>
          <p:cNvSpPr txBox="1"/>
          <p:nvPr/>
        </p:nvSpPr>
        <p:spPr>
          <a:xfrm>
            <a:off x="9569261" y="5452776"/>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275 – 281</a:t>
            </a:r>
            <a:endParaRPr lang="en-US" sz="1000" dirty="0"/>
          </a:p>
        </p:txBody>
      </p:sp>
      <p:sp>
        <p:nvSpPr>
          <p:cNvPr id="148" name="Shape 146"/>
          <p:cNvSpPr/>
          <p:nvPr/>
        </p:nvSpPr>
        <p:spPr>
          <a:xfrm>
            <a:off x="691744" y="5771170"/>
            <a:ext cx="2606040" cy="583910"/>
          </a:xfrm>
          <a:prstGeom prst="roundRect">
            <a:avLst>
              <a:gd name="adj" fmla="val 15660"/>
            </a:avLst>
          </a:prstGeom>
          <a:solidFill>
            <a:schemeClr val="bg1"/>
          </a:solidFill>
          <a:ln w="12700">
            <a:solidFill>
              <a:schemeClr val="accent2"/>
            </a:solidFill>
            <a:prstDash val="solid"/>
          </a:ln>
        </p:spPr>
      </p:sp>
      <p:sp>
        <p:nvSpPr>
          <p:cNvPr id="149" name="Shape 147"/>
          <p:cNvSpPr/>
          <p:nvPr/>
        </p:nvSpPr>
        <p:spPr>
          <a:xfrm>
            <a:off x="783184" y="5816890"/>
            <a:ext cx="492470" cy="492470"/>
          </a:xfrm>
          <a:prstGeom prst="star8">
            <a:avLst/>
          </a:prstGeom>
          <a:solidFill>
            <a:schemeClr val="accent2"/>
          </a:solidFill>
          <a:ln/>
        </p:spPr>
      </p:sp>
      <p:sp>
        <p:nvSpPr>
          <p:cNvPr id="150" name="Shape 148"/>
          <p:cNvSpPr/>
          <p:nvPr/>
        </p:nvSpPr>
        <p:spPr>
          <a:xfrm>
            <a:off x="881678" y="5915384"/>
            <a:ext cx="295482" cy="295482"/>
          </a:xfrm>
          <a:prstGeom prst="ellipse">
            <a:avLst/>
          </a:prstGeom>
          <a:solidFill>
            <a:schemeClr val="bg2"/>
          </a:solidFill>
          <a:ln w="19050">
            <a:solidFill>
              <a:schemeClr val="tx2"/>
            </a:solidFill>
            <a:prstDash val="solid"/>
          </a:ln>
        </p:spPr>
      </p:sp>
      <p:sp>
        <p:nvSpPr>
          <p:cNvPr id="151" name="Text 149"/>
          <p:cNvSpPr txBox="1"/>
          <p:nvPr/>
        </p:nvSpPr>
        <p:spPr>
          <a:xfrm>
            <a:off x="783184" y="5816890"/>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25</a:t>
            </a:r>
            <a:endParaRPr lang="en-US" sz="1100" dirty="0"/>
          </a:p>
        </p:txBody>
      </p:sp>
      <p:sp>
        <p:nvSpPr>
          <p:cNvPr id="152" name="Text 150"/>
          <p:cNvSpPr txBox="1"/>
          <p:nvPr/>
        </p:nvSpPr>
        <p:spPr>
          <a:xfrm>
            <a:off x="1367093" y="5789458"/>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Verse of Debt</a:t>
            </a:r>
            <a:endParaRPr lang="en-US" sz="1200" dirty="0"/>
          </a:p>
        </p:txBody>
      </p:sp>
      <p:sp>
        <p:nvSpPr>
          <p:cNvPr id="153" name="Text 151"/>
          <p:cNvSpPr txBox="1"/>
          <p:nvPr/>
        </p:nvSpPr>
        <p:spPr>
          <a:xfrm>
            <a:off x="1367093" y="6109838"/>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282 – 283</a:t>
            </a:r>
            <a:endParaRPr lang="en-US" sz="1000" dirty="0"/>
          </a:p>
        </p:txBody>
      </p:sp>
      <p:sp>
        <p:nvSpPr>
          <p:cNvPr id="154" name="Shape 152"/>
          <p:cNvSpPr/>
          <p:nvPr/>
        </p:nvSpPr>
        <p:spPr>
          <a:xfrm>
            <a:off x="3425800" y="5771170"/>
            <a:ext cx="2606040" cy="583910"/>
          </a:xfrm>
          <a:prstGeom prst="roundRect">
            <a:avLst>
              <a:gd name="adj" fmla="val 15660"/>
            </a:avLst>
          </a:prstGeom>
          <a:solidFill>
            <a:schemeClr val="accent5"/>
          </a:solidFill>
          <a:ln w="12700">
            <a:solidFill>
              <a:schemeClr val="accent2"/>
            </a:solidFill>
            <a:prstDash val="solid"/>
          </a:ln>
        </p:spPr>
      </p:sp>
      <p:sp>
        <p:nvSpPr>
          <p:cNvPr id="155" name="Shape 153"/>
          <p:cNvSpPr/>
          <p:nvPr/>
        </p:nvSpPr>
        <p:spPr>
          <a:xfrm>
            <a:off x="3517240" y="5816890"/>
            <a:ext cx="492470" cy="492470"/>
          </a:xfrm>
          <a:prstGeom prst="star8">
            <a:avLst/>
          </a:prstGeom>
          <a:solidFill>
            <a:schemeClr val="accent2"/>
          </a:solidFill>
          <a:ln/>
        </p:spPr>
      </p:sp>
      <p:sp>
        <p:nvSpPr>
          <p:cNvPr id="156" name="Shape 154"/>
          <p:cNvSpPr/>
          <p:nvPr/>
        </p:nvSpPr>
        <p:spPr>
          <a:xfrm>
            <a:off x="3615734" y="5915384"/>
            <a:ext cx="295482" cy="295482"/>
          </a:xfrm>
          <a:prstGeom prst="ellipse">
            <a:avLst/>
          </a:prstGeom>
          <a:solidFill>
            <a:schemeClr val="bg2"/>
          </a:solidFill>
          <a:ln w="19050">
            <a:solidFill>
              <a:schemeClr val="tx2"/>
            </a:solidFill>
            <a:prstDash val="solid"/>
          </a:ln>
        </p:spPr>
      </p:sp>
      <p:sp>
        <p:nvSpPr>
          <p:cNvPr id="157" name="Text 155"/>
          <p:cNvSpPr txBox="1"/>
          <p:nvPr/>
        </p:nvSpPr>
        <p:spPr>
          <a:xfrm>
            <a:off x="3517240" y="5816890"/>
            <a:ext cx="492470" cy="492470"/>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26</a:t>
            </a:r>
            <a:endParaRPr lang="en-US" sz="1100" dirty="0"/>
          </a:p>
        </p:txBody>
      </p:sp>
      <p:sp>
        <p:nvSpPr>
          <p:cNvPr id="158" name="Text 156"/>
          <p:cNvSpPr txBox="1"/>
          <p:nvPr/>
        </p:nvSpPr>
        <p:spPr>
          <a:xfrm>
            <a:off x="4101149" y="5789458"/>
            <a:ext cx="1839250" cy="338668"/>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Closing Verses</a:t>
            </a:r>
            <a:endParaRPr lang="en-US" sz="1200" dirty="0"/>
          </a:p>
        </p:txBody>
      </p:sp>
      <p:sp>
        <p:nvSpPr>
          <p:cNvPr id="159" name="Text 157"/>
          <p:cNvSpPr txBox="1"/>
          <p:nvPr/>
        </p:nvSpPr>
        <p:spPr>
          <a:xfrm>
            <a:off x="4101149" y="6109838"/>
            <a:ext cx="1839250" cy="221886"/>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Al-Baqarah • Verses 284 – 286</a:t>
            </a:r>
            <a:endParaRPr lang="en-US" sz="1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About Al-Fatihah</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Greatest Surah</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Prophet (peace be upon him) said to Abu Sa'id ibn al-Mu'alla: "I will teach you the greatest surah in the Qur'an: All praise is for Allah, Lord of the worlds. It is the Seven Oft-Repeated Verses and the Great Qur'an that I have been given" (Bukhari).</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No Prayer Without It</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Prophet (peace be upon him) said: "There is no prayer for the one who does not recite the Opening of the Book" (Bukhari and Muslim). We recite it in every rak'ah, at least seventeen times every day.</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Its Many Names</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Among its names: Al-Fatihah (the Opening), because the Qur'an opens with it; Umm al-Kitab (the Mother of the Book); As-Sab' al-Mathani, because its seven verses are repeated in every prayer; Ar-Ruqyah and Ash-Shafiyah (the Healing). It has 7 verses and is Makki.</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Praising and Glorifying Allah</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Al-Fatihah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Al-Fatihah was revealed in Makkah and was among the first complete surahs to be revealed. Allah says in a hadith qudsi: "I have divided the prayer between Myself and My servant into two halves, and My servant will have what he asked for" (Muslim). So the first verses are praise of Allah.</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Al-Fatihah begins with the Basmalah, then praises Allah as Lord of the worlds, the Most Merciful, the Especially Merciful, Owner of the Day of Judgement; so the servant comes to know his Lord before asking Him.</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Al-Fatihah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620774"/>
            <a:ext cx="548640" cy="548640"/>
          </a:xfrm>
          <a:prstGeom prst="star8">
            <a:avLst/>
          </a:prstGeom>
          <a:solidFill>
            <a:schemeClr val="accent2"/>
          </a:solidFill>
          <a:ln/>
        </p:spPr>
      </p:sp>
      <p:sp>
        <p:nvSpPr>
          <p:cNvPr id="6" name="Shape 4"/>
          <p:cNvSpPr/>
          <p:nvPr/>
        </p:nvSpPr>
        <p:spPr>
          <a:xfrm>
            <a:off x="822960" y="17305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6207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02486"/>
            <a:ext cx="10012680" cy="177393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بِسْمِ اللَّهِ الرَّحْمَٰنِ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begin my reading seeking help through the name of Allah and its blessing. "Allah" is the name of the Lord who alone truly deserves worship, and it is His greatest name. "Ar-Rahman" is the One whose wide mercy covers all creation in this world, and "Ar-Rahim" is the One who shows special mercy to the believers on the Day of Resurrection.</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778758"/>
            <a:ext cx="10012680" cy="203454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الْحَمْدُ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perfect praise and every kind of thanks belong to Allah alone. He is the Lord of the worlds: their Creator, their Owner, and the One who cares for them with His blessings. "The worlds" means everything other than Allah: people, jinn, angels and all creatures. Allah says in a hadith qudsi: When the servant says “All praise is for Allah, Lord of the worlds”, Allah says: "My servant has praised Me"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Al-Fatihah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1680"/>
            <a:ext cx="548640" cy="548640"/>
          </a:xfrm>
          <a:prstGeom prst="star8">
            <a:avLst/>
          </a:prstGeom>
          <a:solidFill>
            <a:schemeClr val="accent2"/>
          </a:solidFill>
          <a:ln/>
        </p:spPr>
      </p:sp>
      <p:sp>
        <p:nvSpPr>
          <p:cNvPr id="6" name="Shape 4"/>
          <p:cNvSpPr/>
          <p:nvPr/>
        </p:nvSpPr>
        <p:spPr>
          <a:xfrm>
            <a:off x="822960" y="212140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16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993392"/>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الرَّحْمَٰنِ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Most Merciful, whose mercy covers everything, the Especially Merciful to His believing servants. Mentioning mercy right after lordship joins together fear and hope. When the servant says it, Allah says: "My servant has extolled Me" (Muslim).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909060"/>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مَٰلِكِ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only Owner and Ruler of the Day of Judgement and Reckoning, the Day of Resurrection. It is mentioned specially because on that Day no one will own anything, and no one will speak except with His permission. When the servant says it, Allah says: "My servant has glorified Me"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Our Covenant With Allah</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 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Al-Fatihah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 said about this verse: "This is between Me and My servant, and My servant will have what he asked for" (Muslim). It is the verse that joins Allah's right with the servant's need.</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heart of Al-Fatihah: that we worship Allah alone and seek help from Him alone, giving no part of worship to anyone else.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Al-Fatihah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39212"/>
            <a:ext cx="548640" cy="548640"/>
          </a:xfrm>
          <a:prstGeom prst="star8">
            <a:avLst/>
          </a:prstGeom>
          <a:solidFill>
            <a:schemeClr val="accent2"/>
          </a:solidFill>
          <a:ln/>
        </p:spPr>
      </p:sp>
      <p:sp>
        <p:nvSpPr>
          <p:cNvPr id="6" name="Shape 4"/>
          <p:cNvSpPr/>
          <p:nvPr/>
        </p:nvSpPr>
        <p:spPr>
          <a:xfrm>
            <a:off x="822960" y="294894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392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820924"/>
            <a:ext cx="10012680" cy="177393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إِيَّاكَ نَعْبُدُ وَإِيَّاكَ نَسْتَعِينُ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alone, our Lord, do we worship, so we worship no one else; and You alone do we ask for help, so we seek help from no one but You. This verse is the secret of Al-Fatihah: worship is the servant's goal, and seeking Allah's help is the way to reach it. When the servant says it, Allah says: "This is between Me and My servant, and My servant will have what he asked for"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Asking for Guidance</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6 – 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Al-Fatihah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Allah said: When the servant says “Guide us to the straight path...” to the end of the surah, Allah says: "This is for My servant, and My servant will have what he asked for" (Muslim). Allah answers whoever calls on Him with a present heart.</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After praise and the covenant comes the request: that Allah guides us to the straight path, the path of the prophets and the righteous, and keeps us away from the path of those who earned His anger and those who went astray.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Al-Fatihah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51076"/>
            <a:ext cx="548640" cy="548640"/>
          </a:xfrm>
          <a:prstGeom prst="star8">
            <a:avLst/>
          </a:prstGeom>
          <a:solidFill>
            <a:schemeClr val="accent2"/>
          </a:solidFill>
          <a:ln/>
        </p:spPr>
      </p:sp>
      <p:sp>
        <p:nvSpPr>
          <p:cNvPr id="6" name="Shape 4"/>
          <p:cNvSpPr/>
          <p:nvPr/>
        </p:nvSpPr>
        <p:spPr>
          <a:xfrm>
            <a:off x="822960" y="186080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510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73278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اهْدِنَا الصِّرَٰطَ الْمُسْتَقِيمَ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Show us, guide us, help us and keep us firm on the clear, straight path that has no crookedness in it: Islam, following the Qur'an and the Sunnah of the Prophet (peace be upon him). We ask for guidance in every rak'ah because we need it at every moment.</a:t>
            </a:r>
            <a:endParaRPr lang="en-US" sz="3000" dirty="0"/>
          </a:p>
        </p:txBody>
      </p:sp>
      <p:sp>
        <p:nvSpPr>
          <p:cNvPr id="9" name="Shape 7"/>
          <p:cNvSpPr/>
          <p:nvPr/>
        </p:nvSpPr>
        <p:spPr>
          <a:xfrm>
            <a:off x="1444752" y="3433572"/>
            <a:ext cx="8641080" cy="0"/>
          </a:xfrm>
          <a:prstGeom prst="line">
            <a:avLst/>
          </a:prstGeom>
          <a:noFill/>
          <a:ln w="9525">
            <a:solidFill>
              <a:schemeClr val="accent2"/>
            </a:solidFill>
            <a:prstDash val="dash"/>
          </a:ln>
        </p:spPr>
      </p:sp>
      <p:sp>
        <p:nvSpPr>
          <p:cNvPr id="10" name="Shape 8"/>
          <p:cNvSpPr/>
          <p:nvPr/>
        </p:nvSpPr>
        <p:spPr>
          <a:xfrm>
            <a:off x="713232" y="3666744"/>
            <a:ext cx="548640" cy="548640"/>
          </a:xfrm>
          <a:prstGeom prst="star8">
            <a:avLst/>
          </a:prstGeom>
          <a:solidFill>
            <a:schemeClr val="accent2"/>
          </a:solidFill>
          <a:ln/>
        </p:spPr>
      </p:sp>
      <p:sp>
        <p:nvSpPr>
          <p:cNvPr id="11" name="Shape 9"/>
          <p:cNvSpPr/>
          <p:nvPr/>
        </p:nvSpPr>
        <p:spPr>
          <a:xfrm>
            <a:off x="822960" y="377647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667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648456"/>
            <a:ext cx="10012680" cy="203454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صِرَٰطَ الَّذِينَ أَنْعَمْتَ عَلَيْهِمْ غَيْرِ الْمَغْضُوبِ عَلَيْهِمْ وَلَا الضَّآلِّينَ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path of those You have blessed: the prophets, the truthful, the martyrs and the righteous; not the path of those who earned Your anger, who knew the truth and left it, like the Jews, nor the path of those who went astray, who left the truth out of ignorance, like the Christians, as the Prophet (peace be upon him) explained (Tirmidhi). It is recommended to say after it: "Amin", meaning: O Allah, answer our prayer.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Al-Baqarah Virtues</a:t>
            </a:r>
            <a:endParaRPr lang="en-US" sz="2400" dirty="0"/>
          </a:p>
        </p:txBody>
      </p:sp>
      <p:sp>
        <p:nvSpPr>
          <p:cNvPr id="3" name="Shape 1"/>
          <p:cNvSpPr/>
          <p:nvPr/>
        </p:nvSpPr>
        <p:spPr>
          <a:xfrm>
            <a:off x="685800" y="1463040"/>
            <a:ext cx="2533574" cy="4572000"/>
          </a:xfrm>
          <a:prstGeom prst="roundRect">
            <a:avLst>
              <a:gd name="adj" fmla="val 5414"/>
            </a:avLst>
          </a:prstGeom>
          <a:solidFill>
            <a:schemeClr val="accent5"/>
          </a:solidFill>
          <a:ln w="15875">
            <a:solidFill>
              <a:schemeClr val="accent2"/>
            </a:solidFill>
            <a:prstDash val="solid"/>
          </a:ln>
        </p:spPr>
      </p:sp>
      <p:sp>
        <p:nvSpPr>
          <p:cNvPr id="4" name="Shape 2"/>
          <p:cNvSpPr/>
          <p:nvPr/>
        </p:nvSpPr>
        <p:spPr>
          <a:xfrm>
            <a:off x="1586827" y="1737360"/>
            <a:ext cx="731520" cy="731520"/>
          </a:xfrm>
          <a:prstGeom prst="star8">
            <a:avLst/>
          </a:prstGeom>
          <a:solidFill>
            <a:schemeClr val="accent2"/>
          </a:solidFill>
          <a:ln/>
        </p:spPr>
      </p:sp>
      <p:sp>
        <p:nvSpPr>
          <p:cNvPr id="5" name="Shape 3"/>
          <p:cNvSpPr/>
          <p:nvPr/>
        </p:nvSpPr>
        <p:spPr>
          <a:xfrm>
            <a:off x="1733131"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1586827"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2167814" cy="68580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Georgia" pitchFamily="34" charset="0"/>
                <a:ea typeface="Georgia" pitchFamily="34" charset="-122"/>
                <a:cs typeface="Georgia" pitchFamily="34" charset="-120"/>
              </a:rPr>
              <a:t>Blessing and Protection</a:t>
            </a:r>
            <a:endParaRPr lang="en-US" sz="1800" dirty="0"/>
          </a:p>
        </p:txBody>
      </p:sp>
      <p:sp>
        <p:nvSpPr>
          <p:cNvPr id="8" name="Text 6"/>
          <p:cNvSpPr txBox="1"/>
          <p:nvPr/>
        </p:nvSpPr>
        <p:spPr>
          <a:xfrm>
            <a:off x="914400" y="3383280"/>
            <a:ext cx="2076374" cy="2514600"/>
          </a:xfrm>
          <a:prstGeom prst="rect">
            <a:avLst/>
          </a:prstGeom>
          <a:noFill/>
          <a:ln/>
        </p:spPr>
        <p:txBody>
          <a:bodyPr wrap="square" lIns="0" tIns="0" rIns="0" bIns="0" rtlCol="0" anchor="t"/>
          <a:lstStyle/>
          <a:p>
            <a:pPr algn="ctr"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"Recite Surah Al-Baqarah, for taking it is a blessing, leaving it is a regret, and the sorcerers cannot stand against it" (Muslim).</a:t>
            </a:r>
            <a:endParaRPr lang="en-US" sz="1400" dirty="0"/>
          </a:p>
        </p:txBody>
      </p:sp>
      <p:sp>
        <p:nvSpPr>
          <p:cNvPr id="9" name="Shape 7"/>
          <p:cNvSpPr/>
          <p:nvPr/>
        </p:nvSpPr>
        <p:spPr>
          <a:xfrm>
            <a:off x="3447974" y="1463040"/>
            <a:ext cx="2533574" cy="4572000"/>
          </a:xfrm>
          <a:prstGeom prst="roundRect">
            <a:avLst>
              <a:gd name="adj" fmla="val 5414"/>
            </a:avLst>
          </a:prstGeom>
          <a:solidFill>
            <a:schemeClr val="accent5"/>
          </a:solidFill>
          <a:ln w="15875">
            <a:solidFill>
              <a:schemeClr val="accent2"/>
            </a:solidFill>
            <a:prstDash val="solid"/>
          </a:ln>
        </p:spPr>
      </p:sp>
      <p:sp>
        <p:nvSpPr>
          <p:cNvPr id="10" name="Shape 8"/>
          <p:cNvSpPr/>
          <p:nvPr/>
        </p:nvSpPr>
        <p:spPr>
          <a:xfrm>
            <a:off x="4349001" y="1737360"/>
            <a:ext cx="731520" cy="731520"/>
          </a:xfrm>
          <a:prstGeom prst="star8">
            <a:avLst/>
          </a:prstGeom>
          <a:solidFill>
            <a:schemeClr val="accent2"/>
          </a:solidFill>
          <a:ln/>
        </p:spPr>
      </p:sp>
      <p:sp>
        <p:nvSpPr>
          <p:cNvPr id="11" name="Shape 9"/>
          <p:cNvSpPr/>
          <p:nvPr/>
        </p:nvSpPr>
        <p:spPr>
          <a:xfrm>
            <a:off x="4495305"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4349001"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3630854" y="2606040"/>
            <a:ext cx="2167814" cy="68580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Georgia" pitchFamily="34" charset="0"/>
                <a:ea typeface="Georgia" pitchFamily="34" charset="-122"/>
                <a:cs typeface="Georgia" pitchFamily="34" charset="-120"/>
              </a:rPr>
              <a:t>It Drives Satan Away</a:t>
            </a:r>
            <a:endParaRPr lang="en-US" sz="1800" dirty="0"/>
          </a:p>
        </p:txBody>
      </p:sp>
      <p:sp>
        <p:nvSpPr>
          <p:cNvPr id="14" name="Text 12"/>
          <p:cNvSpPr txBox="1"/>
          <p:nvPr/>
        </p:nvSpPr>
        <p:spPr>
          <a:xfrm>
            <a:off x="3676574" y="3383280"/>
            <a:ext cx="2076374" cy="2514600"/>
          </a:xfrm>
          <a:prstGeom prst="rect">
            <a:avLst/>
          </a:prstGeom>
          <a:noFill/>
          <a:ln/>
        </p:spPr>
        <p:txBody>
          <a:bodyPr wrap="square" lIns="0" tIns="0" rIns="0" bIns="0" rtlCol="0" anchor="t"/>
          <a:lstStyle/>
          <a:p>
            <a:pPr algn="ctr"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"Do not make your houses like graveyards. Satan runs away from the house in which Surah Al-Baqarah is recited" (Muslim).</a:t>
            </a:r>
            <a:endParaRPr lang="en-US" sz="1400" dirty="0"/>
          </a:p>
        </p:txBody>
      </p:sp>
      <p:sp>
        <p:nvSpPr>
          <p:cNvPr id="15" name="Shape 13"/>
          <p:cNvSpPr/>
          <p:nvPr/>
        </p:nvSpPr>
        <p:spPr>
          <a:xfrm>
            <a:off x="6210148" y="1463040"/>
            <a:ext cx="2533574" cy="4572000"/>
          </a:xfrm>
          <a:prstGeom prst="roundRect">
            <a:avLst>
              <a:gd name="adj" fmla="val 5414"/>
            </a:avLst>
          </a:prstGeom>
          <a:solidFill>
            <a:schemeClr val="accent5"/>
          </a:solidFill>
          <a:ln w="15875">
            <a:solidFill>
              <a:schemeClr val="accent2"/>
            </a:solidFill>
            <a:prstDash val="solid"/>
          </a:ln>
        </p:spPr>
      </p:sp>
      <p:sp>
        <p:nvSpPr>
          <p:cNvPr id="16" name="Shape 14"/>
          <p:cNvSpPr/>
          <p:nvPr/>
        </p:nvSpPr>
        <p:spPr>
          <a:xfrm>
            <a:off x="7111175" y="1737360"/>
            <a:ext cx="731520" cy="731520"/>
          </a:xfrm>
          <a:prstGeom prst="star8">
            <a:avLst/>
          </a:prstGeom>
          <a:solidFill>
            <a:schemeClr val="accent2"/>
          </a:solidFill>
          <a:ln/>
        </p:spPr>
      </p:sp>
      <p:sp>
        <p:nvSpPr>
          <p:cNvPr id="17" name="Shape 15"/>
          <p:cNvSpPr/>
          <p:nvPr/>
        </p:nvSpPr>
        <p:spPr>
          <a:xfrm>
            <a:off x="725747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7111175"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6393028" y="2606040"/>
            <a:ext cx="2167814" cy="68580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Georgia" pitchFamily="34" charset="0"/>
                <a:ea typeface="Georgia" pitchFamily="34" charset="-122"/>
                <a:cs typeface="Georgia" pitchFamily="34" charset="-120"/>
              </a:rPr>
              <a:t>The Greatest Verse</a:t>
            </a:r>
            <a:endParaRPr lang="en-US" sz="1800" dirty="0"/>
          </a:p>
        </p:txBody>
      </p:sp>
      <p:sp>
        <p:nvSpPr>
          <p:cNvPr id="20" name="Text 18"/>
          <p:cNvSpPr txBox="1"/>
          <p:nvPr/>
        </p:nvSpPr>
        <p:spPr>
          <a:xfrm>
            <a:off x="6438748" y="3383280"/>
            <a:ext cx="2076374" cy="2514600"/>
          </a:xfrm>
          <a:prstGeom prst="rect">
            <a:avLst/>
          </a:prstGeom>
          <a:noFill/>
          <a:ln/>
        </p:spPr>
        <p:txBody>
          <a:bodyPr wrap="square" lIns="0" tIns="0" rIns="0" bIns="0" rtlCol="0" anchor="t"/>
          <a:lstStyle/>
          <a:p>
            <a:pPr algn="ctr"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Ayat al-Kursi is the greatest verse in the Book of Allah (Muslim), and whoever recites it before sleeping will have a guardian from Allah all night (Bukhari).</a:t>
            </a:r>
            <a:endParaRPr lang="en-US" sz="1400" dirty="0"/>
          </a:p>
        </p:txBody>
      </p:sp>
      <p:sp>
        <p:nvSpPr>
          <p:cNvPr id="21" name="Shape 19"/>
          <p:cNvSpPr/>
          <p:nvPr/>
        </p:nvSpPr>
        <p:spPr>
          <a:xfrm>
            <a:off x="8972321" y="1463040"/>
            <a:ext cx="2533574" cy="4572000"/>
          </a:xfrm>
          <a:prstGeom prst="roundRect">
            <a:avLst>
              <a:gd name="adj" fmla="val 5414"/>
            </a:avLst>
          </a:prstGeom>
          <a:solidFill>
            <a:schemeClr val="accent5"/>
          </a:solidFill>
          <a:ln w="15875">
            <a:solidFill>
              <a:schemeClr val="accent2"/>
            </a:solidFill>
            <a:prstDash val="solid"/>
          </a:ln>
        </p:spPr>
      </p:sp>
      <p:sp>
        <p:nvSpPr>
          <p:cNvPr id="22" name="Shape 20"/>
          <p:cNvSpPr/>
          <p:nvPr/>
        </p:nvSpPr>
        <p:spPr>
          <a:xfrm>
            <a:off x="9873348" y="1737360"/>
            <a:ext cx="731520" cy="731520"/>
          </a:xfrm>
          <a:prstGeom prst="star8">
            <a:avLst/>
          </a:prstGeom>
          <a:solidFill>
            <a:schemeClr val="accent2"/>
          </a:solidFill>
          <a:ln/>
        </p:spPr>
      </p:sp>
      <p:sp>
        <p:nvSpPr>
          <p:cNvPr id="23" name="Shape 21"/>
          <p:cNvSpPr/>
          <p:nvPr/>
        </p:nvSpPr>
        <p:spPr>
          <a:xfrm>
            <a:off x="10019652" y="1883664"/>
            <a:ext cx="438912" cy="438912"/>
          </a:xfrm>
          <a:prstGeom prst="ellipse">
            <a:avLst/>
          </a:prstGeom>
          <a:solidFill>
            <a:schemeClr val="bg2"/>
          </a:solidFill>
          <a:ln w="19050">
            <a:solidFill>
              <a:schemeClr val="tx2"/>
            </a:solidFill>
            <a:prstDash val="solid"/>
          </a:ln>
        </p:spPr>
      </p:sp>
      <p:sp>
        <p:nvSpPr>
          <p:cNvPr id="24" name="Text 22"/>
          <p:cNvSpPr txBox="1"/>
          <p:nvPr/>
        </p:nvSpPr>
        <p:spPr>
          <a:xfrm>
            <a:off x="987334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4</a:t>
            </a:r>
            <a:endParaRPr lang="en-US" sz="1800" dirty="0"/>
          </a:p>
        </p:txBody>
      </p:sp>
      <p:sp>
        <p:nvSpPr>
          <p:cNvPr id="25" name="Text 23"/>
          <p:cNvSpPr txBox="1"/>
          <p:nvPr/>
        </p:nvSpPr>
        <p:spPr>
          <a:xfrm>
            <a:off x="9155201" y="2606040"/>
            <a:ext cx="2167814" cy="68580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Georgia" pitchFamily="34" charset="0"/>
                <a:ea typeface="Georgia" pitchFamily="34" charset="-122"/>
                <a:cs typeface="Georgia" pitchFamily="34" charset="-120"/>
              </a:rPr>
              <a:t>Its Closing Verses</a:t>
            </a:r>
            <a:endParaRPr lang="en-US" sz="1800" dirty="0"/>
          </a:p>
        </p:txBody>
      </p:sp>
      <p:sp>
        <p:nvSpPr>
          <p:cNvPr id="26" name="Text 24"/>
          <p:cNvSpPr txBox="1"/>
          <p:nvPr/>
        </p:nvSpPr>
        <p:spPr>
          <a:xfrm>
            <a:off x="9200921" y="3383280"/>
            <a:ext cx="2076374" cy="2514600"/>
          </a:xfrm>
          <a:prstGeom prst="rect">
            <a:avLst/>
          </a:prstGeom>
          <a:noFill/>
          <a:ln/>
        </p:spPr>
        <p:txBody>
          <a:bodyPr wrap="square" lIns="0" tIns="0" rIns="0" bIns="0" rtlCol="0" anchor="t"/>
          <a:lstStyle/>
          <a:p>
            <a:pPr algn="ctr"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"Whoever recites the last two verses of Surah Al-Baqarah at night, they will be enough for him" (Bukhari and Muslim).</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Qualities of the God-Fearing</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Qur'an is guidance for those with taqwa, and their qualities: believing in the unseen, establishing prayer, spending, believing in the revealed Books, and being certain of the Hereafter.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"Alif Lam Mim" are separate letters that open some surahs; Allah knows best what they mean. They point to the miracle of the Qur'an, which is made of these same letters.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الْكِتَٰبُ لَا رَيْبَ فِيهِ هُدًى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doubt that this Qur'an is from Allah, and it is guidance for those who have taqwa:</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يُؤْمِنُونَ بِالْغَيْبِ وَيُقِيمُونَ الصَّلَوٰةَ وَمِمَّا رَزَقْنَٰهُمْ يُنفِقُونَ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in the unseen that Allah has told us about, perform the prayer properly, and spend from what Allah has provided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يُؤْمِنُونَ بِمَآ أُنزِلَ إِلَيْكَ وَمَآ أُنزِلَ مِن قَبْلِكَ وَبِالْأخِرَةِ هُمْ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believe in the Qur'an and in the earlier Books, and are certain of the Hereafter without any doubt.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عَلَىٰ هُدًى مِّن رَّبِّهِمْ وَأُوْلَـٰئِكَ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upon light and guidance from their Lord, and they are the successful ones.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Disbelievers and Hypocrites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6 – 20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Describing the stubborn disbelievers, exposing the hypocrites who show faith and hide disbelief, and giving examples about them.</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سَوَآءٌ عَلَيْهِمْ ءَأَنذَرْتَهُمْ أَمْ لَمْ تُنذِرْهُمْ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the stubborn disbelievers, it is the same whether you warn them or not; they will not believe.</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خَتَمَ اللَّهُ عَلَىٰ قُلُوبِهِمْ وَعَلَىٰ سَمْعِهِمْ وَعَلَىٰ أَبْصَٰرِهِمْ غِشَٰوَةٌ وَلَهُمْ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sealed their hearts and their hearing because of their stubbornness, and over their eyes is a covering. They will have a great punishment.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يَقُولُ ءَامَنَّا بِاللَّهِ وَبِالْيَوْمِ الْأخِرِ وَمَا هُم بِمُؤْمِنِينَ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are the hypocrites, who say with their tongues: We believe, while in reality they are not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يُخَٰدِعُونَ اللَّهَ وَالَّذِينَ ءَامَنُواْ وَمَا يَخْدَعُونَ إِلَّآ أَنفُسَهُمْ وَمَا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think they are tricking Allah and the believers by showing faith, but in reality they only trick themselves without realising it.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قُلُوبِهِم مَّرَضٌ فَزَادَهُمُ اللَّهُ مَرَضًا وَلَهُمْ عَذَابٌ أَلِيمٌ بِمَا كَانُواْ يَكْذِبُونَ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their hearts is doubt and hypocrisy, and Allah increased their doubt. They will have a painful punishment because of their lying.</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لَا تُفْسِدُواْ فِي الْأَرْضِ قَالُواْ إِنَّمَا نَحْنُ مُصْلِحُونَ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not to spread corruption through disbelief and sin, they say: We are only putting things right.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إِنَّهُمْ هُمُ الْمُفْسِدُونَ وَلَٰكِن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Truly, they are the real corrupters, but they do not realise it.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ءَامِنُواْ كَمَآ ءَامَنَ النَّاسُ قَالُواْ أَنُؤْمِنُ كَمَآ ءَامَنَ السُّفَهَآءُ أَلَآ إِنَّهُمْ هُمُ السُّفَهَآءُ وَلَٰكِن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Believe as the Companions believed, they say: Should we believe as these fools have believed? Truly, they are the fools, but they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لَقُواْ الَّذِينَ ءَامَنُواْ قَالُواْ ءَامَنَّا وَإِذَا خَلَوْاْ إِلَىٰ شَيَٰطِينِهِمْ قَالُواْ إِنَّا مَعَكُمْ إِنَّمَا نَحْنُ مُسْتَهْزِءُونَ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meet the believers they say: We believe. But when they go back to their leaders they say: We are with you; we were only mocking the believers.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يَسْتَهْزِئُ بِهِمْ وَيَمُدُّهُمْ فِي طُغْيَٰنِهِمْ يَعْمَهُونَ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repays them for their mocking, and leaves them for a while to wander blindly in their misguidance.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اشْتَرَوُاْ الضَّلَٰلَةَ بِالْهُدَىٰ فَمَا رَبِحَت تِّجَٰرَتُهُمْ وَمَا كَانُواْ 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traded faith for disbelief, so their trade brought no profit, and they were not guided.</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مَثَلُهُمْ كَمَثَلِ الَّذِي اسْتَوْقَدَ نَارًا فَلَمَّآ أَضَآءَتْ مَا حَوْلَهُ ذَهَبَ اللَّهُ بِنُورِهِمْ وَتَرَكَهُمْ فِي ظُلُمَٰتٍ لَّا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example is like a man who lit a fire; when it lit up all around him, Allah put it out and left him in darkness. Likewise the hypocrites showed faith, then its light went out because of their hypocrisy.</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صُمٌّ بُكْمٌ عُمْيٌ فَهُمْ لَا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Deaf to hearing the truth, dumb to speaking it, blind to seeing it, so they will not return to guidance.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كَصَيِّبٍ مِّنَ السَّمَآءِ فِيهِ ظُلُمَٰتٌ وَرَعْدٌ وَبَرْقٌ يَجْعَلُونَ أَصَٰبِعَهُمْ فِي ءَاذَانِهِم مِّنَ الصَّوَٰعِقِ حَذَرَ الْمَوْتِ وَاللَّهُ مُحِيطٌ بِالْكَٰفِرِينَ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their example is like people caught in a heavy rainstorm with darkness, thunder and lightning; they put their fingers in their ears for fear of death. Likewise the hypocrites are afraid of the verses of the Qur'an. And Allah surrounds the disbelievers.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يَكَادُ الْبَرْقُ يَخْطَفُ أَبْصَٰرَهُمْ كُلَّمَآ أَضَآءَ لَهُم مَّشَوْاْ فِيهِ وَإِذَآ أَظْلَمَ عَلَيْهِمْ قَامُواْ وَلَوْ شَآءَ اللَّهُ لَذَهَبَ بِسَمْعِهِمْ وَأَبْصَٰرِهِمْ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lightning almost snatches away their sight; whenever it lights up for them they walk, and when it grows dark they stand still, confused. Likewise the hypocrites go back and forth between faith and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Tawhid and the Challenge</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21 – 29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Calling all people to worship Allah alone, challenging them to produce one surah like the Qur'an, and giving the believers good news of Paradise.</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اعْبُدُواْ رَبَّكُمُ الَّذِي خَلَقَكُمْ وَالَّذِينَ مِن قَبْلِكُمْ لَعَلَّكُمْ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worship your Lord who created you and those before you, so that you may be protected from His punishment.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جَعَلَ لَكُمُ الْأَرْضَ فِرَٰشًا وَالسَّمَآءَ بِنَآءً وَأَنزَلَ مِنَ السَّمَآءِ مَآءً فَأَخْرَجَ بِهِ مِنَ الثَّمَرَٰتِ رِزْقًا لَّكُمْ فَلَا تَجْعَلُواْ لِلَّهِ أَندَادًا وَأَنتُمْ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made the earth a resting place for you and the sky a firm ceiling, and sent down rain to bring out fruits as provision for you. So do not set up partners with Allah while you know He alone is the Creator.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كُنتُمْ فِي رَيْبٍ مِّمَّا نَزَّلْنَا عَلَىٰ عَبْدِنَا فَأْتُواْ بِسُورَةٍ مِّن مِّثْلِهِ وَادْعُواْ شُهَدَآءَكُم مِّن دُونِ اللَّهِ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are in doubt about the Qur'an that We sent down to Muhammad (peace be upon him), then produce a single surah like it, and call whatever helpers you can, if you are truthful.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لَّمْ تَفْعَلُواْ وَلَن تَفْعَلُواْ فَاتَّقُواْ النَّارَ الَّتِي وَقُودُهَا النَّاسُ وَالْحِجَارَةُ أُعِدَّتْ لِلْكَٰفِرِينَ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you cannot do it, and you will never be able to, then beware of the Fire whose fuel is people and stones, prepared for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وَبَشِّرِ الَّذِينَ ءَامَنُواْ وَعَمِلُواْ الصَّـٰلِحَٰتِ أَنَّ لَهُمْ جَنَّـٰتٍ تَجْرِي مِن تَحْتِهَا الْأَنْهَٰرُ كُلَّمَا رُزِقُواْ مِنْهَا مِن ثَمَرَةٍ رِّزْقًا قَالُواْ هَٰذَا الَّذِي رُزِقْنَا مِن قَبْلُ وَأُتُواْ بِهِ مُتَشَٰبِهًا وَلَهُمْ فِيهَآ أَزْوَٰجٌ مُّطَهَّرَةٌ وَهُمْ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good news to the believers who do good deeds: they will have Gardens with rivers flowing beneath them. Whenever they are given fruit from them, they will say: This is like what we were given before, in its look. They will have pure spouses there, and they will stay there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43560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لَا يَسْتَحْيِ أَن يَضْرِبَ مَثَلًا مَّا بَعُوضَةً فَمَا فَوْقَهَا فَأَمَّا الَّذِينَ ءَامَنُواْ فَيَعْلَمُونَ أَنَّهُ الْحَقُّ مِن رَّبِّهِمْ وَأَمَّا الَّذِينَ كَفَرُواْ فَيَقُولُونَ مَاذَآ أَرَادَ اللَّهُ بِهَٰذَا مَثَلًا يُضِلُّ بِهِ كَثِيرًا وَيَهْدِي بِهِ كَثِيرًا وَمَا يُضِلُّ بِهِ إِلَّا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not shy to give an example of a mosquito or something even smaller. The believers know it is the truth, while the disbelievers object. By it He leaves many astray and guides many.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197096"/>
            <a:ext cx="548640" cy="548640"/>
          </a:xfrm>
          <a:prstGeom prst="star8">
            <a:avLst/>
          </a:prstGeom>
          <a:solidFill>
            <a:schemeClr val="accent2"/>
          </a:solidFill>
          <a:ln/>
        </p:spPr>
      </p:sp>
      <p:sp>
        <p:nvSpPr>
          <p:cNvPr id="11" name="Shape 9"/>
          <p:cNvSpPr/>
          <p:nvPr/>
        </p:nvSpPr>
        <p:spPr>
          <a:xfrm>
            <a:off x="822960" y="43068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970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41788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يَنقُضُونَ عَهْدَ اللَّهِ مِن بَعْدِ مِيثَٰقِهِ وَيَقْطَعُونَ مَآ أَمَرَ اللَّهُ بِهِ أَن يُوصَلَ وَيُفْسِدُونَ فِي الْأَرْضِ 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break Allah's covenant after it has been confirmed, cut what Allah has commanded to be joined, like family ties, and spread corruption on earth: they are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كَيْفَ تَكْفُرُونَ بِاللَّهِ وَكُنتُمْ أَمْوَٰتًا فَأَحْيَٰكُمْ ثُمَّ يُمِيتُكُمْ ثُمَّ يُحْيِيكُمْ ثُمَّ 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can you disbelieve in Allah when you were nothing and He gave you life, then He will cause you to die, then bring you to life for the Resurrection, and then to Him you will return?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خَلَقَ لَكُم مَّا فِي الْأَرْضِ جَمِيعًا ثُمَّ اسْتَوَىٰ إِلَى السَّمَآءِ فَسَوَّىٰهُنَّ سَبْعَ سَمَٰوَٰتٍ وَهُوَ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for you everything on earth, then turned to the sky and made it seven heavens, and He knows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Story of Adam</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30 – 39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 honoured man by making him a successor on earth and giving him knowledge, showing Iblis's hostility, and that the door of repentance is open.</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رَبُّكَ لِلْمَلَـٰئِكَةِ إِنِّي جَاعِلٌ فِي الْأَرْضِ خَلِيفَةً قَالُواْ أَتَجْعَلُ فِيهَا مَن يُفْسِدُ فِيهَا وَيَسْفِكُ الدِّمَآءَ وَنَحْنُ نُسَبِّحُ بِحَمْدِكَ وَنُقَدِّسُ لَكَ قَالَ إِنِّي أَعْلَمُ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your Lord said to the angels: I will place on the earth people who will succeed one another. They asked: Will You place on it those who will spread corruption and shed blood, while we glorify You with praise? He said: I know what you do not know.</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وَعَلَّمَ ءَادَمَ الْأَسْمَآءَ كُلَّهَا ثُمَّ عَرَضَهُمْ عَلَى الْمَلَـٰئِكَةِ فَقَالَ أَنبِـُٔونِي بِأَسْمَآءِ هَـٰؤُلَآءِ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Allah taught Adam the names of all things, then showed them to the angels and said: Tell Me the names of these,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سُبْحَٰنَكَ لَا عِلْمَ لَنَآ إِلَّا مَا عَلَّمْتَنَآ إِنَّكَ أَنتَ الْعَلِيمُ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Glory be to You! We have no knowledge except what You have taught us. You are the All-Knowing, the All-Wise.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يَـٰـَٔادَمُ أَنبِئْهُم بِأَسْمَآئِهِمْ فَلَمَّآ أَنبَأَهُم بِأَسْمَآئِهِمْ قَالَ أَلَمْ أَقُل لَّكُمْ إِنِّي أَعْلَمُ غَيْبَ السَّمَٰوَٰتِ وَالْأَرْضِ وَأَعْلَمُ مَا تُبْدُونَ وَمَا كُنتُمْ تَكْتُمُونَ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O Adam, tell them their names. When he told them, Allah said: Did I not tell you that I know the unseen of the heavens and the earth, and I know what you show and what you hide?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أَبَىٰ وَاسْتَكْبَرَ وَكَانَ مِنَ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We commanded the angels to bow down to Adam, a bow of greeting and honour, they bowed down, except Iblis; he refused and was arrogant, and became one of the disbelievers.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وَقُلْنَا يَـٰـَٔادَمُ اسْكُنْ أَنتَ وَزَوْجُكَ الْجَنَّةَ وَكُلَا مِنْهَا رَغَدًا حَيْثُ شِئْتُمَا وَلَا تَقْرَبَا هَٰذِهِ الشَّجَرَةَ فَتَكُونَا 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said: O Adam, live with your wife Hawwa' in Paradise and eat freely from it wherever you wish, but do not go near this tree, or you will be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71907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فَأَزَلَّهُمَا الشَّيْطَٰنُ عَنْهَا فَأَخْرَجَهُمَا مِمَّا كَانَا فِيهِ وَقُلْنَا اهْبِطُواْ بَعْضُكُمْ لِبَعْضٍ عَدُوٌّ وَلَكُمْ فِي الْأَرْضِ مُسْتَقَرٌّ وَمَتَٰعٌ إِلَىٰ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Satan made them slip and they ate from the tree, so he got them out of the bliss of Paradise. And We said: Go down to the earth, as enemies to one another; you will have a place to stay and enjoyment on earth for a time.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4183380"/>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فَتَلَقَّىٰ ءَادَمُ مِن رَّبِّهِ كَلِمَٰتٍ فَتَابَ عَلَيْهِ إِنَّهُ هُوَ التَّوَّابُ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Adam received words from his Lord and prayed with them: “Our Lord, we have wronged ourselves; if You do not forgive us and have mercy on us, we will surely be among the losers”. So Allah accepted his repentance; He is the Accepter of repentance,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قُلْنَا اهْبِطُواْ مِنْهَا جَمِيعًا فَإِمَّا يَأْتِيَنَّكُم مِّنِّي هُدًى فَمَن تَبِعَ هُدَايَ فَلَا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said: Go down from it, all of you. When guidance comes to you from Me, whoever follows it will have no fear and will not grieve.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disbelieve and deny Our verses are the people of the Fire; they will stay in it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Blessings on Bani Isra'il</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40 – 66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Reminding the Children of Israel of Allah's favours on them, their attitudes towards Musa (peace be upon him), and the result of disobedience.</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إِسْرَـٰءِيلَ اذْكُرُواْ نِعْمَتِيَ الَّتِي أَنْعَمْتُ عَلَيْكُمْ وَأَوْفُواْ بِعَهْدِي أُوفِ بِعَهْدِكُمْ وَإِيَّـٰيَ فَارْهَبُونِ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Israel, the descendants of Ya'qub (peace be upon him), remember My favours on you, and fulfil My covenant by believing in Muhammad (peace be upon him), and I will fulfil your covenant by entering you into Paradise. And fear Me alone.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وَءَامِنُواْ بِمَآ أَنزَلْتُ مُصَدِّقًا لِّمَا مَعَكُمْ وَلَا تَكُونُواْ أَوَّلَ كَافِرٍ بِهِ وَلَا تَشْتَرُواْ بِـَٔايَٰتِي ثَمَنًا قَلِيلًا وَإِيَّـٰيَ فَاتَّقُونِ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Believe in the Qur'an, which agrees with the Torah you have, and do not be the first to disbelieve in it. Do not sell My verses for a small worldly price, and have taqwa of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تَلْبِسُواْ الْحَقَّ بِالْبَٰطِلِ وَتَكْتُمُواْ الْحَقَّ وَأَنتُمْ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mix truth with falsehood, and do not hide the description of Muhammad (peace be upon him) while you know it.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وَأَقِيمُواْ الصَّلَوٰةَ وَءَاتُواْ الزَّكَوٰةَ وَارْكَعُواْ مَعَ الرَّـٰكِعِينَ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Perform the prayer, give the zakah, and pray along with those who pray from the Ummah of Muhammad (peace be upon him).</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أَتَأْمُرُونَ النَّاسَ بِالْبِرِّ وَتَنسَوْنَ أَنفُسَكُمْ وَأَنتُمْ تَتْلُونَ الْكِتَٰبَ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command people to do good and forget yourselves, while you read the Torah?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وَاسْتَعِينُواْ بِالصَّبْرِ وَالصَّلَوٰةِ وَإِنَّهَا لَكَبِيرَةٌ إِلَّا عَلَى الْخَٰشِعِينَ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Seek help in your affairs through patience and prayer; it is hard except for the humble,</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يَظُنُّونَ أَنَّهُم مُّلَٰقُواْ رَبِّهِمْ وَأَنَّهُمْ إِلَيْهِ 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are certain that they will meet their Lord and that they will return to Him.</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إِسْرَـٰءِيلَ اذْكُرُواْ نِعْمَتِيَ الَّتِي أَنْعَمْتُ عَلَيْكُمْ وَأَنِّي فَضَّلْتُكُمْ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Israel, remember My favour on you and that I preferred you over the people of your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يَوْمًا لَّا تَجْزِي نَفْسٌ عَن نَّفْسٍ شَيْـًٔا وَلَا يُقْبَلُ مِنْهَا شَفَٰعَةٌ وَلَا يُؤْخَذُ مِنْهَا عَدْلٌ وَلَا 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beware of a Day when no soul will help another at all, no intercession will be accepted from it, no ransom will be taken from it, and no one will help them.</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نَجَّيْنَٰكُم مِّنْ ءَالِ فِرْعَوْنَ يَسُومُونَكُمْ سُوءَ الْعَذَابِ يُذَبِّحُونَ أَبْنَآءَكُمْ وَيَسْتَحْيُونَ نِسَآءَكُمْ وَفِي ذَٰلِكُم بَلَآءٌ مِّن رَّبِّكُمْ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saved you from Pharaoh and his soldiers, who made you taste the worst punishment: killing your sons and keeping your daughters alive to serve them. In that was a great test from your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فَرَقْنَا بِكُمُ الْبَحْرَ فَأَنجَيْنَٰكُمْ وَأَغْرَقْنَآ ءَالَ فِرْعَوْنَ وَأَنتُمْ تَنظُرُونَ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split the sea for you and saved you, and drowned Pharaoh and his soldiers while you were watching.</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وَٰعَدْنَا مُوسَىٰ أَرْبَعِينَ لَيْلَةً ثُمَّ اتَّخَذْتُمُ الْعِجْلَ مِن بَعْدِهِ وَأَنتُمْ 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appointed forty nights for Musa to give him the Torah, then you worshipped the calf while he was away, and you were wrongdoers.</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عَفَوْنَا عَنكُم مِّن بَعْدِ ذَٰلِكَ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forgave you after that, so that you might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ءَاتَيْنَا مُوسَى الْكِتَٰبَ وَالْفُرْقَانَ لَعَلَّكُمْ تَهْتَدُونَ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gave Musa the Torah, which separates truth from falsehood, so that you might be guided.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مُوسَىٰ لِقَوْمِهِ يَٰقَوْمِ إِنَّكُمْ ظَلَمْتُمْ أَنفُسَكُم بِاتِّخَاذِكُمُ الْعِجْلَ فَتُوبُواْ إِلَىٰ بَارِئِكُمْ فَاقْتُلُواْ أَنفُسَكُمْ ذَٰلِكُمْ خَيْرٌ لَّكُمْ عِندَ بَارِئِكُمْ فَتَابَ عَلَيْكُمْ إِنَّهُ هُوَ التَّوَّابُ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Musa said to his people: You have wronged yourselves by worshipping the calf, so repent to your Creator by some of you killing others. They did it, and Allah accepted their repentance; He is the Accepter of repentance,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قُلْتُمْ يَٰمُوسَىٰ لَن نُّؤْمِنَ لَكَ حَتَّىٰ نَرَى اللَّهَ جَهْرَةً فَأَخَذَتْكُمُ الصَّـٰعِقَةُ وَأَنتُمْ تَنظُرُونَ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you said: O Musa, we will not believe you until we see Allah openly, so the thunderbolt seized you while you were looking on.</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بَعَثْنَٰكُم مِّن بَعْدِ مَوْتِكُمْ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brought you back to life after your death, so that you might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وَظَلَّلْنَا عَلَيْكُمُ الْغَمَامَ وَأَنزَلْنَا عَلَيْكُمُ الْمَنَّ وَالسَّلْوَىٰ كُلُواْ مِن طَيِّبَٰتِ مَا رَزَقْنَٰكُمْ وَمَا ظَلَمُونَا وَلَٰكِن كَانُواْ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shaded you with clouds in the wilderness and sent down to you manna, a sweet food, and quails, a kind of bird, and said: Eat from the good things. They did not wrong Us by disobeying; they only wronged themselves.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قُلْنَا ادْخُلُواْ هَٰذِهِ الْقَرْيَةَ فَكُلُواْ مِنْهَا حَيْثُ شِئْتُمْ رَغَدًا وَادْخُلُواْ الْبَابَ سُجَّدًا وَقُولُواْ حِطَّةٌ نَّغْفِرْ لَكُمْ خَطَٰيَٰكُمْ وَسَنَزِيدُ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We said: Enter Jerusalem and eat freely from it wherever you wish; enter the gate humbly and say "Hittah", meaning: remove our sins; We will forgive your mistakes, and We will give more to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فَبَدَّلَ الَّذِينَ ظَلَمُواْ قَوْلًا غَيْرَ الَّذِي قِيلَ لَهُمْ فَأَنزَلْنَا عَلَى الَّذِينَ ظَلَمُواْ رِجْزًا مِّنَ السَّمَآءِ بِمَا كَانُواْ يَفْسُقُونَ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wrongdoers changed the words: they entered crawling and said "a grain in a hair" in mockery, as reported in Bukhari. So We sent down on them a punishment from the sky because of their disobedience.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اسْتَسْقَىٰ مُوسَىٰ لِقَوْمِهِ فَقُلْنَا اضْرِب بِّعَصَاكَ الْحَجَرَ فَانفَجَرَتْ مِنْهُ اثْنَتَا عَشْرَةَ عَيْنًا قَدْ عَلِمَ كُلُّ أُنَاسٍ مَّشْرَبَهُمْ كُلُواْ وَاشْرَبُواْ مِن رِّزْقِ اللَّهِ وَلَا تَعْثَوْاْ فِي الْأَرْضِ 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Musa asked for water for his people, We said: Strike the rock with your staff. Twelve springs gushed out of it, a spring for each tribe, and We said: Eat and drink from Allah's provision and do not spread corruption on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قُلْتُمْ يَٰمُوسَىٰ لَن نَّصْبِرَ عَلَىٰ طَعَامٍ وَٰحِدٍ فَادْعُ لَنَا رَبَّكَ يُخْرِجْ لَنَا مِمَّا تُنبِتُ الْأَرْضُ مِن بَقْلِهَا وَقِثَّآئِهَا وَفُومِهَا وَعَدَسِهَا وَبَصَلِهَا قَالَ أَتَسْتَبْدِلُونَ الَّذِي هُوَ أَدْنَىٰ بِالَّذِي هُوَ خَيْرٌ اهْبِطُواْ مِصْرًا فَإِنَّ لَكُم مَّا سَأَلْتُمْ وَضُرِبَتْ عَلَيْهِمُ الذِّلَّةُ وَالْمَسْكَنَةُ وَبَآءُو بِغَضَبٍ مِّنَ اللَّهِ ذَٰلِكَ بِأَنَّهُمْ كَانُواْ يَكْفُرُونَ بِـَٔايَٰتِ اللَّهِ وَيَقْتُلُونَ النَّبِيِّـنَ بِغَيْرِ الْحَقِّ ذَٰلِكَ بِمَا عَصَواْ وَّكَانُواْ يَعْتَدُونَ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you said: We cannot be patient with one kind of food, so ask your Lord to bring out for us herbs, cucumbers, garlic, lentils and onions. He said: Will you exchange what is better for what is lower? And humiliation was put on them because of their disbelief and killing the prophets.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وَالَّذِينَ هَادُواْ وَالنَّصَٰرَىٰ وَالصَّـٰبِـِٔينَ مَنْ ءَامَنَ بِاللَّهِ وَالْيَوْمِ الْأخِرِ وَعَمِلَ صَٰلِحًا فَلَهُمْ أَجْرُهُمْ عِندَ رَبِّهِمْ وَلَا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and the Jews, Christians and Sabians before Muhammad (peace be upon him) was sent: whoever of them believed in Allah and the Last Day and did good will have their reward with their Lord. After he was sent, only faith in him (peace be upon him) is accepted.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أَخَذْنَا مِيثَٰقَكُمْ وَرَفَعْنَا فَوْقَكُمُ الطُّورَ خُذُواْ مَآ ءَاتَيْنَٰكُم بِقُوَّةٍ وَاذْكُرُواْ مَا فِيهِ لَعَلَّكُمْ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took your covenant and raised Mount Tur above you, and said: Hold firmly to the Torah and act on it, so that you may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تَوَلَّيْتُم مِّن بَعْدِ ذَٰلِكَ فَلَوْلَا فَضْلُ اللَّهِ عَلَيْكُمْ وَرَحْمَتُهُ لَكُنتُم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you turned away after that; if it were not for Allah's favour and mercy on you, you would have been among the losers.</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عَلِمْتُمُ الَّذِينَ اعْتَدَوْاْ مِنكُمْ فِي السَّبْتِ فَقُلْنَا لَهُمْ كُونُواْ قِرَدَةً خَٰسِـِٔينَ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know about those who broke the law of the Sabbath by tricking their way into fishing on it, so We said to them: Be apes, despised.</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فَجَعَلْنَٰهَا نَكَٰلًا لِّمَا بَيْنَ يَدَيْهَا وَمَا خَلْفَهَا وَمَوْعِظَةً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made this punishment a lesson for those present and those who came after, and a warning for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The Story of the Cow</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6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67 – 74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story of the murdered man whom Allah brought back to life to name his killer. It warns against being difficult and arguing about Allah's commands, and it is a proof of the Resurrection. It is because of this story that the surah is called "Surah Al-Baqarah" (The Cow).</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مُوسَىٰ لِقَوْمِهِ إِنَّ اللَّهَ يَأْمُرُكُمْ أَن تَذْبَحُواْ بَقَرَةً قَالُواْ أَتَتَّخِذُنَا هُزُوًا قَالَ أَعُوذُ بِاللَّهِ أَنْ أَكُونَ مِنَ الْجَٰهِلِينَ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Musa said to his people: Allah commands you to slaughter a cow, they said: Are you making fun of us? He said: I seek refuge with Allah from being one of the ignorant who mock.</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ادْعُ لَنَا رَبَّكَ يُبَيِّن لَّنَا مَا هِيَ قَالَ إِنَّهُ يَقُولُ إِنَّهَا بَقَرَةٌ لَّا فَارِضٌ وَلَا بِكْرٌ عَوَانٌ بَيْنَ ذَٰلِكَ فَافْعَلُواْ مَا تُؤْمَرُونَ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Ask your Lord to make clear to us what it is like. He said: It is a cow neither old nor young, but in between, so do what you are commanded.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ادْعُ لَنَا رَبَّكَ يُبَيِّن لَّنَا مَا لَوْنُهَا قَالَ إِنَّهُ يَقُولُ إِنَّهَا بَقَرَةٌ صَفْرَآءُ فَاقِعٌ لَّوْنُهَا تَسُرُّ النَّـٰظِرِينَ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Ask your Lord to make clear its colour. He said: It is a yellow cow, bright in colour, pleasing to those who look at it.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ادْعُ لَنَا رَبَّكَ يُبَيِّن لَّنَا مَا هِيَ إِنَّ الْبَقَرَ تَشَٰبَهَ عَلَيْنَا وَإِنَّآ إِن شَآءَ اللَّهُ لَمُهْتَدُونَ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Ask your Lord to make it clearer to us; all cows look alike to us, and if Allah wills, we will be guided to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إِنَّهُ يَقُولُ إِنَّهَا بَقَرَةٌ لَّا ذَلُولٌ تُثِيرُ الْأَرْضَ وَلَا تَسْقِي الْحَرْثَ مُسَلَّمَةٌ لَّا شِيَةَ فِيهَا قَالُواْ الْـَٰٔنَ جِئْتَ بِالْحَقِّ فَذَبَحُوهَا وَمَا كَادُواْ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It is a cow not used to plough the land or water the crops, free from defects, with no colour on it but yellow. They said: Now you have brought the truth. So they slaughtered it, though they almost did not, because of how difficult they made things.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قَتَلْتُمْ نَفْسًا فَادَّـٰرَ ٰٔتُمْ فِيهَا وَاللَّهُ مُخْرِجٌ مَّا كُنتُمْ تَكْتُمُونَ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you killed a man, then argued and blamed one another, and Allah was going to bring out what you were hiding.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444752"/>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فَقُلْنَا اضْرِبُوهُ بِبَعْضِهَا كَذَٰلِكَ يُحْيِ اللَّهُ الْمَوْتَىٰ وَيُرِيكُمْ ءَايَٰتِهِ 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said: Strike the dead man with part of the cow. Allah brought him back to life and he named his killer. In the same way Allah will bring the dead to life on the Day of Resurrection, and He shows you His signs so that you may understand.</a:t>
            </a:r>
            <a:endParaRPr lang="en-US" sz="3000" dirty="0"/>
          </a:p>
        </p:txBody>
      </p:sp>
      <p:sp>
        <p:nvSpPr>
          <p:cNvPr id="9" name="Shape 7"/>
          <p:cNvSpPr/>
          <p:nvPr/>
        </p:nvSpPr>
        <p:spPr>
          <a:xfrm>
            <a:off x="1444752" y="3145536"/>
            <a:ext cx="8641080" cy="0"/>
          </a:xfrm>
          <a:prstGeom prst="line">
            <a:avLst/>
          </a:prstGeom>
          <a:noFill/>
          <a:ln w="9525">
            <a:solidFill>
              <a:schemeClr val="accent2"/>
            </a:solidFill>
            <a:prstDash val="dash"/>
          </a:ln>
        </p:spPr>
      </p:sp>
      <p:sp>
        <p:nvSpPr>
          <p:cNvPr id="10" name="Shape 8"/>
          <p:cNvSpPr/>
          <p:nvPr/>
        </p:nvSpPr>
        <p:spPr>
          <a:xfrm>
            <a:off x="713232" y="3378708"/>
            <a:ext cx="548640" cy="548640"/>
          </a:xfrm>
          <a:prstGeom prst="star8">
            <a:avLst/>
          </a:prstGeom>
          <a:solidFill>
            <a:schemeClr val="accent2"/>
          </a:solidFill>
          <a:ln/>
        </p:spPr>
      </p:sp>
      <p:sp>
        <p:nvSpPr>
          <p:cNvPr id="11" name="Shape 9"/>
          <p:cNvSpPr/>
          <p:nvPr/>
        </p:nvSpPr>
        <p:spPr>
          <a:xfrm>
            <a:off x="822960" y="348843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870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3360420"/>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قَسَتْ قُلُوبُكُم مِّن بَعْدِ ذَٰلِكَ فَهِيَ كَالْحِجَارَةِ أَوْ أَشَدُّ قَسْوَةً وَإِنَّ مِنَ الْحِجَارَةِ لَمَا يَتَفَجَّرُ مِنْهُ الْأَنْهَٰرُ وَإِنَّ مِنْهَا لَمَا يَشَّقَّقُ فَيَخْرُجُ مِنْهُ الْمَآءُ وَإِنَّ مِنْهَا لَمَا يَهْبِطُ مِنْ خَشْيَةِ اللَّهِ وَمَا اللَّهُ بِغَٰفِلٍ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your hearts became hard after these signs, like stones or even harder. For among stones are some from which rivers gush out, some that split and water comes out, and some that fall down out of fear of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The Jews and the Revelation</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7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75 – 103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'Abbas said: Before the Prophet (peace be upon him) was sent, the Jews used to pray for victory over the Arabs through him, saying: "A prophet will come and we will follow him." When he was sent from among the Arabs, they disbelieved in him, so this was revealed: “And before, they used to pray for victory over those who disbelieved”.</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Exposing how some of the People of the Book changed their scripture, broke their covenants, envied the believers and followed magic.</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أَفَتَطْمَعُونَ أَن يُؤْمِنُواْ لَكُمْ وَقَدْ كَانَ فَرِيقٌ مِّنْهُمْ يَسْمَعُونَ كَلَٰمَ اللَّهِ ثُمَّ يُحَرِّفُونَهُ مِن بَعْدِ مَا عَقَلُوهُ وَهُمْ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you hope that the Jews will believe you, when a group of them used to hear the Torah and then change it after they had understood it, knowingly?</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لَقُواْ الَّذِينَ ءَامَنُواْ قَالُواْ ءَامَنَّا وَإِذَا خَلَا بَعْضُهُمْ إِلَىٰ بَعْضٍ قَالُواْ أَتُحَدِّثُونَهُم بِمَا فَتَحَ اللَّهُ عَلَيْكُمْ لِيُحَآجُّوكُم بِهِ عِندَ رَبِّكُمْ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their hypocrites meet the believers they say: We believe. But when they are alone together they say: Will you tell the believers what is in the Torah about the description of Muhammad (peace be upon him), so they can use it as proof against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أَوَلَا يَعْلَمُونَ أَنَّ اللَّهَ يَعْلَمُ مَا يُسِرُّونَ وَمَا يُعْلِنُونَ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know that Allah knows what they hide and what they show?</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أُمِّيُّونَ لَا يَعْلَمُونَ الْكِتَٰبَ إِلَّآ أَمَانِيَّ وَإِنْ هُمْ إِلَّا يَظُنُّونَ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them are unlettered people who know nothing of the Torah except reading without understanding and false wishes; they only guess.</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فَوَيْلٌ لِّلَّذِينَ يَكْتُبُونَ الْكِتَٰبَ بِأَيْدِيهِمْ ثُمَّ يَقُولُونَ هَٰذَا مِنْ عِندِ اللَّهِ لِيَشْتَرُواْ بِهِ ثَمَنًا قَلِيلًا فَوَيْلٌ لَّهُم مِّمَّا كَتَبَتْ أَيْدِيهِمْ وَوَيْلٌ لَّهُم مِّمَّا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ruin to those who write a book with their own hands and then say: This is from Allah, to get a small worldly price for it. Ruin to them for what they wrote and for what they earned.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لَن تَمَسَّنَا النَّارُ إِلَّآ أَيَّامًا مَّعْدُودَةً قُلْ أَتَّخَذْتُمْ عِندَ اللَّهِ عَهْدًا فَلَن يُخْلِفَ اللَّهُ عَهْدَهُ أَمْ تَقُولُونَ عَلَى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The Fire will only touch us for a few days. Say: Have you taken a promise from Allah about that? Or do you say about Allah what you do not know?</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بَلَىٰ مَن كَسَبَ سَيِّئَةً وَأَحَٰطَتْ بِهِ خَطِيـَٔتُهُ فَأُوْلَـٰئِكَ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Yes indeed, whoever does evil deeds until his sins surround him and he dies upon disbelief, those are the people of the Fire, staying in it forever.</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أُوْلَـٰئِكَ أَصْحَٰبُ الْجَنَّةِ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believe and do good deeds are the people of Paradise, staying in it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أَخَذْنَا مِيثَٰقَ بَنِي إِسْرَـٰءِيلَ لَا تَعْبُدُونَ إِلَّا اللَّهَ وَبِالْوَٰلِدَيْنِ إِحْسَانًا وَذِي الْقُرْبَىٰ وَالْيَتَٰمَىٰ وَالْمَسَٰكِينِ وَقُولُواْ لِلنَّاسِ حُسْنًا وَأَقِيمُواْ الصَّلَوٰةَ وَءَاتُواْ الزَّكَوٰةَ ثُمَّ تَوَلَّيْتُمْ إِلَّا قَلِيلًا مِّنكُمْ وَأَنتُم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took the covenant from the Children of Israel: Worship none but Allah, be good to parents, relatives, orphans and the poor, speak kindly to people, perform the prayer and give the zakah. Then you turned away, except a few of you.</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أَخَذْنَا مِيثَٰقَكُمْ لَا تَسْفِكُونَ دِمَآءَكُمْ وَلَا تُخْرِجُونَ أَنفُسَكُم مِّن دِيَٰرِكُمْ ثُمَّ أَقْرَرْتُمْ وَأَنتُمْ تَشْهَدُونَ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We took your covenant: Do not kill one another, and do not drive one another out of your homes. You agreed to it and you were witnesses.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أَنتُمْ هَـٰؤُلَآءِ تَقْتُلُونَ أَنفُسَكُمْ وَتُخْرِجُونَ فَرِيقًا مِّنكُم مِّن دِيَٰرِهِمْ تَظَٰهَرُونَ عَلَيْهِم بِالْإِثْمِ وَالْعُدْوَٰنِ وَإِن يَأْتُوكُمْ أُسَٰرَىٰ تُفَٰدُوهُمْ وَهُوَ مُحَرَّمٌ عَلَيْكُمْ إِخْرَاجُهُمْ أَفَتُؤْمِنُونَ بِبَعْضِ الْكِتَٰبِ وَتَكْفُرُونَ بِبَعْضٍ فَمَا جَزَآءُ مَن يَفْعَلُ ذَٰلِكَ مِنكُمْ إِلَّا خِزْيٌ فِي الْحَيَوٰةِ الدُّنْيَا وَيَوْمَ الْقِيَٰمَةِ يُرَدُّونَ إِلَىٰ أَشَدِّ الْعَذَابِ وَمَا اللَّهُ بِغَٰفِلٍ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you kill one another and drive a group of your own people out of their homes, then you pay ransom for them when they are captured! Do you believe in part of the Torah and disbelieve in part? The reward for those who do that is disgrace in this world and a severe punishment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اشْتَرَوُاْ الْحَيَوٰةَ الدُّنْيَا بِالْأخِرَةِ فَلَا يُخَفَّفُ عَنْهُمُ الْعَذَابُ وَلَا 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chose this world over the Hereafter, so their punishment will not be lightened and they will not be helped.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الْكِتَٰبَ وَقَفَّيْنَا مِن بَعْدِهِ بِالرُّسُلِ وَءَاتَيْنَا عِيسَى ابْنَ مَرْيَمَ الْبَيِّنَٰتِ وَأَيَّدْنَٰهُ بِرُوحِ الْقُدُسِ أَفَكُلَّمَا جَآءَكُمْ رَسُولٌ بِمَا لَا تَهْوَىٰ أَنفُسُكُمُ اسْتَكْبَرْتُمْ فَفَرِيقًا كَذَّبْتُمْ وَفَرِيقًا تَقْتُلُونَ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and sent messengers after him, and We gave 'Isa clear miracles and supported him with Jibril. Is it that whenever a messenger came to you with what you did not like, you became arrogant, denying some and killing others?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قُلُوبُنَا غُلْفٌ بَل لَّعَنَهُمُ اللَّهُ بِكُفْرِهِمْ فَقَلِيلًا مَّا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Our hearts are covered and do not understand what you say. Rather, Allah has driven them away from His mercy because of their disbelief, so little do they believe.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جَآءَهُمْ كِتَٰبٌ مِّنْ عِندِ اللَّهِ مُصَدِّقٌ لِّمَا مَعَهُمْ وَكَانُواْ مِن قَبْلُ يَسْتَفْتِحُونَ عَلَى الَّذِينَ كَفَرُواْ فَلَمَّا جَآءَهُم مَّا عَرَفُواْ كَفَرُواْ بِهِ فَلَعْنَةُ اللَّهِ عَلَى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Qur'an came to them confirming what they had, and before that they used to pray for victory over the Arabs through the awaited prophet, when the prophet they recognised came to them, they disbelieved in him out of envy. So the curse of Allah is on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بِئْسَمَا اشْتَرَوْاْ بِهِ أَنفُسَهُمْ أَن يَكْفُرُواْ بِمَآ أَنزَلَ اللَّهُ بَغْيًا أَن يُنَزِّلَ اللَّهُ مِن فَضْلِهِ عَلَىٰ مَن يَشَآءُ مِنْ عِبَادِهِ فَبَآءُو بِغَضَبٍ عَلَىٰ غَضَبٍ وَلِلْكَٰفِرِينَ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evil is what they sold themselves for: disbelieving in the Qur'an out of envy that Allah sends down revelation to whom He wills of His servants. So they earned anger upon anger, and the disbelievers will have a humiliating punishment.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ءَامِنُواْ بِمَآ أَنزَلَ اللَّهُ قَالُواْ نُؤْمِنُ بِمَآ أُنزِلَ عَلَيْنَا وَيَكْفُرُونَ بِمَا وَرَآءَهُ وَهُوَ الْحَقُّ مُصَدِّقًا لِّمَا مَعَهُمْ قُلْ فَلِمَ تَقْتُلُونَ أَنبِيَآءَ اللَّهِ مِن قَبْلُ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Believe in the Qur'an, they say: We believe only in the Torah, and they disbelieve in what came after it, though it is the truth. Say: Then why did you kill Allah's prophets before, if you were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جَآءَكُم مُّوسَىٰ بِالْبَيِّنَٰتِ ثُمَّ اتَّخَذْتُمُ الْعِجْلَ مِن بَعْدِهِ وَأَنتُمْ 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came to you with clear miracles, then you worshipped the calf while he was away, and you were wrongdoers.</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أَخَذْنَا مِيثَٰقَكُمْ وَرَفَعْنَا فَوْقَكُمُ الطُّورَ خُذُواْ مَآ ءَاتَيْنَٰكُم بِقُوَّةٍ وَاسْمَعُواْ قَالُواْ سَمِعْنَا وَعَصَيْنَا وَأُشْرِبُواْ فِي قُلُوبِهِمُ الْعِجْلَ بِكُفْرِهِمْ قُلْ بِئْسَمَا يَأْمُرُكُم بِهِ إِيمَٰنُكُمْ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We took your covenant and raised the mountain above you: Hold firmly to the Torah and listen. They said: We hear and we disobey. Their hearts were filled with love of the calf because of their disbelief. Say: How evil is what your faith commands you, if you are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كَانَتْ لَكُمُ الدَّارُ الْأخِرَةُ عِندَ اللَّهِ خَالِصَةً مِّن دُونِ النَّاسِ فَتَمَنَّوُاْ الْمَوْتَ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Paradise is for you alone and not for other people, as you claim, then wish for death, if you are truthful.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 يَتَمَنَّوْهُ أَبَدًا بِمَا قَدَّمَتْ أَيْدِيهِمْ وَاللَّهُ عَلِيمٌ بِالظَّـٰلِمِينَ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will never wish for it because of the sins they have done, and Allah knows the wrongdoers well.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وَلَتَجِدَنَّهُمْ أَحْرَصَ النَّاسِ عَلَىٰ حَيَوٰةٍ وَمِنَ الَّذِينَ أَشْرَكُواْ يَوَدُّ أَحَدُهُمْ لَوْ يُعَمَّرُ أَلْفَ سَنَةٍ وَمَا هُوَ بِمُزَحْزِحِهِ مِنَ الْعَذَابِ أَن يُعَمَّرَ وَاللَّهُ بَصِيرٌ بِمَا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find them the most eager of people for life, even more than the idol-worshippers; each of them wishes he could live a thousand years, but a long life will not save him from punishment.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كَانَ عَدُوًّا لِّـجِبْرِيلَ فَإِنَّهُ نَزَّلَهُ عَلَىٰ قَلْبِكَ بِإِذْنِ اللَّهِ مُصَدِّقًا لِّمَا بَيْنَ يَدَيْهِ وَهُدًى وَبُشْرَىٰ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the Jews who said Jibril is our enemy: Whoever is an enemy of Jibril, it is he who brought the Qur'an down to your heart by Allah's command, confirming the earlier Books, as guidance and good news for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عَدُوًّا لِّلَّهِ وَمَلَـٰئِكَتِهِ وَرُسُلِهِ وَجِبْرِيلَ وَمِيكَىٰلَ فَإِنَّ اللَّهَ عَدُوٌّ لِّلْكَٰفِرِينَ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is an enemy of Allah, His angels, His messengers, Jibril and Mika'il, then Allah is an enemy of the disbelievers.</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أَنزَلْنَآ إِلَيْكَ ءَايَٰتٍ بَيِّنَٰتٍ وَمَا يَكْفُرُ بِهَآ إِلَّا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to you, O Muhammad, clear verses, and no one disbelieves in them except those who leave Allah's obedience.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أَوَكُلَّمَا عَٰهَدُواْ عَهْدًا نَّبَذَهُ فَرِيقٌ مِّنْهُم بَلْ أَكْثَرُهُمْ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that every time they make a covenant, a group of them throws it away? Rather, most of them do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جَآءَهُمْ رَسُولٌ مِّنْ عِندِ اللَّهِ مُصَدِّقٌ لِّمَا مَعَهُمْ نَبَذَ فَرِيقٌ مِّنَ الَّذِينَ أُوتُواْ الْكِتَٰبَ كِتَٰبَ اللَّهِ وَرَآءَ ظُهُورِهِمْ كَأَنَّهُمْ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Muhammad (peace be upon him) came to them confirming what they had, a group of them threw the Torah behind their backs as if they did not know his description in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7612"/>
            <a:ext cx="548640" cy="548640"/>
          </a:xfrm>
          <a:prstGeom prst="star8">
            <a:avLst/>
          </a:prstGeom>
          <a:solidFill>
            <a:schemeClr val="accent2"/>
          </a:solidFill>
          <a:ln/>
        </p:spPr>
      </p:sp>
      <p:sp>
        <p:nvSpPr>
          <p:cNvPr id="6" name="Shape 4"/>
          <p:cNvSpPr/>
          <p:nvPr/>
        </p:nvSpPr>
        <p:spPr>
          <a:xfrm>
            <a:off x="822960" y="157734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76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449324"/>
            <a:ext cx="10012680" cy="451713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وَاتَّبَعُواْ مَا تَتْلُواْ الشَّيَٰطِينُ عَلَىٰ مُلْكِ سُلَيْمَٰنَ وَمَا كَفَرَ سُلَيْمَٰنُ وَلَٰكِنَّ الشَّيَٰطِينَ كَفَرُواْ يُعَلِّمُونَ النَّاسَ السِّحْرَ وَمَآ أُنزِلَ عَلَى الْمَلَكَيْنِ بِبَابِلَ هَٰرُوتَ وَمَٰرُوتَ وَمَا يُعَلِّمَانِ مِنْ أَحَدٍ حَتَّىٰ يَقُولَآ إِنَّمَا نَحْنُ فِتْنَةٌ فَلَا تَكْفُرْ فَيَتَعَلَّمُونَ مِنْهُمَا مَا يُفَرِّقُونَ بِهِ بَيْنَ الْمَرْءِ وَزَوْجِهِ وَمَا هُم بِضَآرِّينَ بِهِ مِنْ أَحَدٍ إِلَّا بِإِذْنِ اللَّهِ وَيَتَعَلَّمُونَ مَا يَضُرُّهُمْ وَلَا يَنفَعُهُمْ وَلَقَدْ عَلِمُواْ لَمَنِ اشْتَرَىٰهُ مَا لَهُ فِي الْأخِرَةِ مِنْ خَلَٰقٍ وَلَبِئْسَ مَا شَرَوْاْ بِهِ أَنفُسَهُمْ لَوْ كَانُواْ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Jews followed the magic that the devils spoke about in the time of Sulayman. Sulayman did not disbelieve, but the devils disbelieved, teaching people magic. And Allah sent down two angels, Harut and Marut, in Babylon as a test; they would warn anyone who learned from them: We are only a test, so do not disbelieve. Magic cannot harm anyone except by Allah's permission.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أَنَّهُمْ ءَامَنُواْ وَاتَّقَوْاْ لَمَثُوبَةٌ مِّنْ عِندِ اللَّهِ خَيْرٌ لَّوْ كَانُواْ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had believed and had taqwa of Allah, Allah's reward would have been better for them, if only they knew.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Guidance for the Believers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8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104 – 123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Muslims used to say to the Prophet (peace be upon him) "Ra'ina", meaning "pay attention to us", while some Jews said it meaning an insult. So Allah forbade the believers from saying it and told them to say "Unzurna" instead.</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Teaching the believers good manners with the Prophet (peace be upon him), warning them of the envy of the People of the Book, and showing that Paradise is entered through sincerity and following the Messenger.</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104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8" name="Text 6"/>
          <p:cNvSpPr txBox="1"/>
          <p:nvPr/>
        </p:nvSpPr>
        <p:spPr>
          <a:xfrm>
            <a:off x="1444752" y="1719072"/>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تَقُولُواْ رَٰعِنَا وَقُولُواْ انظُرْنَا وَاسْمَعُواْ وَلِلْكَٰفِرِينَ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say to the Prophet (peace be upon him) "Ra'ina", because some Jews used to say it meaning an insult; say "Unzurna", meaning: give us time, and listen. The disbelievers will have a painful punishment.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3" name="Text 11"/>
          <p:cNvSpPr txBox="1"/>
          <p:nvPr/>
        </p:nvSpPr>
        <p:spPr>
          <a:xfrm>
            <a:off x="1444752" y="363474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يَوَدُّ الَّذِينَ كَفَرُواْ مِنْ أَهْلِ الْكِتَٰبِ وَلَا الْمُشْرِكِينَ أَن يُنَزَّلَ عَلَيْكُم مِّنْ خَيْرٍ مِّن رَّبِّكُمْ وَاللَّهُ يَخْتَصُّ بِرَحْمَتِهِ مَن يَشَآءُ وَاللَّهُ ذُو الْفَضْلِ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among the People of the Book and the idol-worshippers do not like any good to come down to you from your Lord. But Allah chooses whom He wills for His mercy, and He is the Owner of great favour.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نَنسَخْ مِنْ ءَايَةٍ أَوْ نُنسِهَا نَأْتِ بِخَيْرٍ مِّنْهَآ أَوْ مِثْلِهَآ أَلَمْ تَعْلَمْ أَنَّ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ruling of a verse We cancel or cause to be forgotten, We bring one better than it or like it. Do you not know that Allah has power over all things?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تَعْلَمْ أَنَّ اللَّهَ لَهُ مُلْكُ السَّمَٰوَٰتِ وَالْأَرْضِ وَمَا لَكُم مِّن دُونِ اللَّهِ مِن وَلِيٍّ وَلَا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know that to Allah belongs the kingdom of the heavens and the earth, and you have no protector or helper besides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تُرِيدُونَ أَن تَسْـَٔلُواْ رَسُولَكُمْ كَمَا سُئِلَ مُوسَىٰ مِن قَبْلُ وَمَن يَتَبَدَّلِ الْكُفْرَ بِالْإِيمَٰنِ فَقَدْ ضَلَّ سَوَآءَ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want to ask your Messenger stubborn questions as the Children of Israel asked Musa before? Whoever exchanges faith for disbelief has strayed from the straight path.</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 كَثِيرٌ مِّنْ أَهْلِ الْكِتَٰبِ لَوْ يَرُدُّونَكُم مِّن بَعْدِ إِيمَٰنِكُمْ كُفَّارًا حَسَدًا مِّنْ عِندِ أَنفُسِهِم مِّن بَعْدِ مَا تَبَيَّنَ لَهُمُ الْحَقُّ فَاعْفُواْ وَاصْفَحُواْ حَتَّىٰ يَأْتِيَ اللَّهُ بِأَمْرِهِ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Many of the People of the Book wish they could turn you back into disbelievers after your faith, out of envy from themselves, after the truth has become clear to them. So pardon and overlook until Allah brings His command.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110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وَأَقِيمُواْ الصَّلَوٰةَ وَءَاتُواْ الزَّكَوٰةَ وَمَا تُقَدِّمُواْ لِأَنفُسِكُم مِّنْ خَيْرٍ تَجِدُوهُ عِندَ اللَّهِ إِنَّ 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Perform the prayer and give the zakah; whatever good you send ahead for yourselves, you will find its reward with Allah. Allah sees what you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لَن يَدْخُلَ الْجَنَّةَ إِلَّا مَن كَانَ هُودًا أَوْ نَصَٰرَىٰ تِلْكَ أَمَانِيُّهُمْ قُلْ هَاتُواْ بُرْهَٰنَكُمْ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Jews said: No one will enter Paradise except Jews, and the Christians said: No one will enter it except Christians. Those are their false wishes. Say: Bring your proof,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بَلَىٰ مَنْ أَسْلَمَ وَجْهَهُ لِلَّهِ وَهُوَ مُحْسِنٌ فَلَهُ أَجْرُهُ عِندَ رَبِّهِ وَلَا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Yes indeed, whoever makes his deeds sincerely for Allah while following the Messenger will have his reward with his Lord. They will have no fear and will not grieve.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الْيَهُودُ لَيْسَتِ النَّصَٰرَىٰ عَلَىٰ شَيْءٍ وَقَالَتِ النَّصَٰرَىٰ لَيْسَتِ الْيَهُودُ عَلَىٰ شَيْءٍ وَهُمْ يَتْلُونَ الْكِتَٰبَ كَذَٰلِكَ قَالَ الَّذِينَ لَا يَعْلَمُونَ مِثْلَ قَوْلِهِمْ فَاللَّهُ يَحْكُمُ بَيْنَهُمْ يَوْمَ الْقِيَٰمَةِ فِيمَا كَانُواْ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Jews said: The Christians have nothing true in their religion, and the Christians said the same about the Jews, while they both read their Books. Likewise the ignorant idol-worshippers said the same. Allah will judge between them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مَّنَعَ مَسَٰجِدَ اللَّهِ أَن يُذْكَرَ فِيهَا اسْمُهُ وَسَعَىٰ فِي خَرَابِهَآ أُوْلَـٰئِكَ مَا كَانَ لَهُمْ أَن يَدْخُلُوهَآ إِلَّا خَآئِفِينَ لَهُمْ فِي الدُّنْيَا خِزْيٌ وَلَهُمْ فِي الْأخِرَةِ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is more unjust than those who stop people from remembering Allah in the mosques and work to ruin them. They should only enter them in fear. They will have disgrace in this world and a great punishment in the Hereafter.</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الْمَشْرِقُ وَالْمَغْرِبُ فَأَيْنَمَا تُوَلُّواْ فَثَمَّ وَجْهُ اللَّهِ إِنَّ اللَّهَ وَٰسِعٌ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 the east and the west; wherever you turn, as in voluntary prayer on a riding animal while travelling, there is the Face of Allah. Allah is All-Encompassing,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اتَّخَذَ اللَّهُ وَلَدًا سُبْحَٰنَهُ بَل لَّهُ مَا فِي السَّمَٰوَٰتِ وَالْأَرْضِ كُلٌّ لَّهُ قَٰنِتُونَ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Allah has taken a son. Glory be to Him! Rather, to Him belongs everything in the heavens and the earth; all are obedient to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بَدِيعُ السَّمَٰوَٰتِ وَالْأَرْضِ وَإِذَا قَضَىٰ أَمْرًا فَإِنَّمَا يَقُولُ لَهُ كُن فَيَكُونُ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Originator of the heavens and the earth, without any example before. When He wants something, He only says to it: Be, and it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118 – 119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171907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لَا يَعْلَمُونَ لَوْلَا يُكَلِّمُنَا اللَّهُ أَوْ تَأْتِينَآ ءَايَةٌ كَذَٰلِكَ قَالَ الَّذِينَ مِن قَبْلِهِم مِّثْلَ قَوْلِهِمْ تَشَٰبَهَتْ قُلُوبُهُمْ قَدْ بَيَّنَّا الْأيَٰتِ لِقَوْمٍ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ignorant idol-worshippers said: Why does Allah not speak to us, or a miracle come to us? Those before them said the same; their hearts are alike in disbelief. We have made the signs clear for people who are certain.</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13" name="Text 11"/>
          <p:cNvSpPr txBox="1"/>
          <p:nvPr/>
        </p:nvSpPr>
        <p:spPr>
          <a:xfrm>
            <a:off x="1444752" y="4183380"/>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أَرْسَلْنَٰكَ بِالْحَقِّ بَشِيرًا وَنَذِيرًا وَلَا تُسْـَٔلُ عَنْ أَصْحَٰبِ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you, O Muhammad, with the truth, giving the believers good news of Paradise and warning the disbelievers of the Fire. You will not be asked about the disbelievers after you have delivered the message.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120 – 121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 تَرْضَىٰ عَنكَ الْيَهُودُ وَلَا النَّصَٰرَىٰ حَتَّىٰ تَتَّبِعَ مِلَّتَهُمْ قُلْ إِنَّ هُدَى اللَّهِ هُوَ الْهُدَىٰ وَلَئِنِ اتَّبَعْتَ أَهْوَآءَهُم بَعْدَ الَّذِي جَآءَكَ مِنَ الْعِلْمِ مَا لَكَ مِنَ اللَّهِ مِن وَلِيٍّ وَلَا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Jews and Christians will not be pleased with you until you follow their religion. Say: Allah's guidance is the only guidance. If you followed their desires after the knowledge that has come to you, you would have no protector or helper against Allah.</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ءَاتَيْنَٰهُمُ الْكِتَٰبَ يَتْلُونَهُ حَقَّ تِلَاوَتِهِ أُوْلَـٰئِكَ يُؤْمِنُونَ بِهِ وَمَن يَكْفُرْ بِهِ فَأُوْلَـٰئِكَ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We gave the Book, who read it as it should be read and act on it, they believe in Muhammad (peace be upon him), and whoever disbelieves in him, they are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122 – 123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إِسْرَـٰءِيلَ اذْكُرُواْ نِعْمَتِيَ الَّتِي أَنْعَمْتُ عَلَيْكُمْ وَأَنِّي فَضَّلْتُكُمْ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Israel, remember My favour on you and that I preferred you over the people of your time.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يَوْمًا لَّا تَجْزِي نَفْسٌ عَن نَّفْسٍ شَيْـًٔا وَلَا يُقْبَلُ مِنْهَا عَدْلٌ وَلَا تَنفَعُهَا شَفَٰعَةٌ وَلَا 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beware of a Day when no soul will help another at all, no ransom will be accepted from it, no intercession will benefit it, and no one will help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Ibrahim and the Ka'bah</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9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124 – 141</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high rank of Ibrahim (peace be upon him), his building of the Ka'bah with Isma'il, his prayer for the Prophet (peace be upon him) to be sent, and that Islam is the religion of all the prophets.</a:t>
            </a:r>
            <a:endParaRPr lang="en-US"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124 – 125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ابْتَلَىٰ إِبْرَٰهِـمَ رَبُّهُ بِكَلِمَٰتٍ فَأَتَمَّهُنَّ قَالَ إِنِّي جَاعِلُكَ لِلنَّاسِ إِمَامًا قَالَ وَمِن ذُرِّيَّتِي قَالَ لَا يَنَالُ عَهْدِي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Allah tested Ibrahim with commands and prohibitions and he fulfilled them completely. Allah said: I will make you a leader for people. He asked: And from my descendants? Allah said: My covenant of leadership does not reach the wrongdoers.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جَعَلْنَا الْبَيْتَ مَثَابَةً لِّلنَّاسِ وَأَمْنًا وَاتَّخِذُواْ مِن مَّقَامِ إِبْرَٰهِـمَ مُصَلًّى وَعَهِدْنَآ إِلَىٰ إِبْرَٰهِـمَ وَإِسْمَٰعِيلَ أَن طَهِّرَا بَيْتِيَ لِلطَّآئِفِينَ وَالْعَٰكِفِينَ وَالرُّكَّعِ السُّجُودِ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We made the Ka'bah a place people keep returning to and a place of safety, and said: Take the standing place of Ibrahim as a place of prayer. And We commanded Ibrahim and Isma'il: Purify My House for those who circle it, those who stay there in worship, and those who pray.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126 – 127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إِبْرَٰهِـمُ رَبِّ اجْعَلْ هَٰذَا بَلَدًا ءَامِنًا وَارْزُقْ أَهْلَهُ مِنَ الثَّمَرَٰتِ مَنْ ءَامَنَ مِنْهُم بِاللَّهِ وَالْيَوْمِ الْأخِرِ قَالَ وَمَن كَفَرَ فَأُمَتِّعُهُ قَلِيلًا ثُمَّ أَضْطَرُّهُ إِلَىٰ عَذَابِ النَّارِ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Ibrahim said: My Lord, make Makkah a safe city, and provide its believing people with fruits. Allah said: And whoever disbelieves, I will let him enjoy a little in this world, then drive him to the punishment of the Fire.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يَرْفَعُ إِبْرَٰهِـمُ الْقَوَاعِدَ مِنَ الْبَيْتِ وَإِسْمَٰعِيلُ رَبَّنَا تَقَبَّلْ مِنَّآ إِنَّكَ أَنتَ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Ibrahim and Isma'il were raising the foundations of the Ka'bah, praying: Our Lord, accept from us; You are the All-Hearing,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128 – 129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وَاجْعَلْنَا مُسْلِمَيْنِ لَكَ وَمِن ذُرِّيَّتِنَآ أُمَّةً مُّسْلِمَةً لَّكَ وَأَرِنَا مَنَاسِكَنَا وَتُبْ عَلَيْنَآ إِنَّكَ أَنتَ التَّوَّابُ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make us submissive to You, and from our descendants a nation submissive to You, show us the rites of our Hajj, and accept our repentance; You are the Accepter of repentance, the Most Merciful.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وَابْعَثْ فِيهِمْ رَسُولًا مِّنْهُمْ يَتْلُواْ عَلَيْهِمْ ءَايَٰتِكَ وَيُعَلِّمُهُمُ الْكِتَٰبَ وَالْحِكْمَةَ وَيُزَكِّيهِمْ إِنَّكَ أَنتَ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send among them a messenger from themselves who will recite Your verses to them, teach them the Qur'an and the Sunnah, and purify them. Allah answered his prayer by sending Muhammad (peace be upon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130 – 131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يَرْغَبُ عَن مِّلَّةِ إِبْرَٰهِـمَ إِلَّا مَن سَفِهَ نَفْسَهُ وَلَقَدِ اصْطَفَيْنَٰهُ فِي الدُّنْيَا وَإِنَّهُ فِي الْأخِرَةِ لَمِنَ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turns away from the religion of Ibrahim except one who wrongs himself and is foolish. We chose him in this world, and in the Hereafter he will be among the righteous.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لَهُ رَبُّهُ أَسْلِمْ قَالَ أَسْلَمْتُ لِرَبِّ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his Lord said to him: Submit, he said: I submit to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132 – 133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وَوَصَّىٰ بِهَآ إِبْرَٰهِـمُ بَنِيهِ وَيَعْقُوبُ يَٰبَنِيَّ إِنَّ اللَّهَ اصْطَفَىٰ لَكُمُ الدِّينَ فَلَا تَمُوتُنَّ إِلَّا وَأَنتُم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told his sons to keep to this religion, and so did Ya'qub: O my sons, Allah has chosen Islam for you, so do not die except as Muslims.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كُنتُمْ شُهَدَآءَ إِذْ حَضَرَ يَعْقُوبَ الْمَوْتُ إِذْ قَالَ لِبَنِيهِ مَا تَعْبُدُونَ مِن بَعْدِي قَالُواْ نَعْبُدُ إِلَٰهَكَ وَإِلَٰهَ ءَابَآئِكَ إِبْرَٰهِـمَ وَإِسْمَٰعِيلَ وَإِسْحَٰقَ إِلَٰهًا وَٰحِدًا وَنَحْنُ لَهُ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Were you present when death came to Ya'qub and he said to his sons: What will you worship after me? They said: We will worship your God and the God of your fathers Ibrahim, Isma'il and Ishaq, one God, and to Him we submit.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134 – 135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أُمَّةٌ قَدْ خَلَتْ لَهَا مَا كَسَبَتْ وَلَكُم مَّا كَسَبْتُمْ وَلَا تُسْـَٔلُونَ عَمَّا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was a nation that has passed away. It will have what it earned, and you will have what you earned, and you will not be asked about what they did.</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كُونُواْ هُودًا أَوْ نَصَٰرَىٰ تَهْتَدُواْ قُلْ بَلْ مِلَّةَ إِبْرَٰهِـمَ حَنِيفًا وَمَا كَانَ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Be Jews or Christians and you will be guided. Say: Rather, we follow the religion of Ibrahim, who turned away from shirk to tawhid, and he was not one of the idol-worshippers.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136 – 137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136</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قُولُواْ ءَامَنَّا بِاللَّهِ وَمَآ أُنزِلَ إِلَيْنَا وَمَآ أُنزِلَ إِلَىٰ إِبْرَٰهِـمَ وَإِسْمَٰعِيلَ وَإِسْحَٰقَ وَيَعْقُوبَ وَالْأَسْبَاطِ وَمَآ أُوتِيَ مُوسَىٰ وَعِيسَىٰ وَمَآ أُوتِيَ النَّبِيُّونَ مِن رَّبِّهِمْ لَا نُفَرِّقُ بَيْنَ أَحَدٍ مِّنْهُمْ وَنَحْنُ لَهُ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We believe in Allah, in the Qur'an, and in what was sent down to Ibrahim, Isma'il, Ishaq, Ya'qub and the Tribes, and what was given to Musa, 'Isa and the prophets. We make no difference between any of them, and to Him we submit.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137</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ءَامَنُواْ بِمِثْلِ مَآ ءَامَنتُم بِهِ فَقَدِ اهْتَدَواْ وَّإِن تَوَلَّوْاْ فَإِنَّمَا هُمْ فِي شِقَاقٍ فَسَيَكْفِيكَهُمُ اللَّهُ وَهُوَ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believe as you believe, they are guided; but if they turn away, they are in opposition and stubbornness. Allah will protect you from their harm; He is the All-Hearing,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138 – 139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138</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صِبْغَةَ اللَّهِ وَمَنْ أَحْسَنُ مِنَ اللَّهِ صِبْغَةً وَنَحْنُ لَهُ 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Hold to Allah's religion, the natural way He created you upon; no one is better than Allah in religion, and we worship Him.</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139</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أَتُحَآجُّونَنَا فِي اللَّهِ وَهُوَ رَبُّنَا وَرَبُّكُمْ وَلَنَآ أَعْمَٰلُنَا وَلَكُمْ أَعْمَٰلُكُمْ وَنَحْنُ لَهُ مُخْلِصُونَ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Do you argue with us about Allah, when He is our Lord and your Lord? We have our deeds and you have your deeds, and we are sincere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140 – 141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140</a:t>
            </a:r>
            <a:endParaRPr lang="en-US" sz="1300" dirty="0"/>
          </a:p>
        </p:txBody>
      </p:sp>
      <p:sp>
        <p:nvSpPr>
          <p:cNvPr id="8" name="Text 6"/>
          <p:cNvSpPr txBox="1"/>
          <p:nvPr/>
        </p:nvSpPr>
        <p:spPr>
          <a:xfrm>
            <a:off x="1444752" y="1705356"/>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تَقُولُونَ إِنَّ إِبْرَٰهِـمَ وَإِسْمَٰعِيلَ وَإِسْحَٰقَ وَيَعْقُوبَ وَالْأَسْبَاطَ كَانُواْ هُودًا أَوْ نَصَٰرَىٰ قُلْ ءَأَنتُمْ أَعْلَمُ أَمِ اللَّهُ وَمَنْ أَظْلَمُ مِمَّن كَتَمَ شَهَٰدَةً عِندَهُ مِنَ اللَّهِ وَمَا اللَّهُ بِغَٰفِلٍ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say that Ibrahim and his sons were Jews or Christians? Say: Do you know better, or Allah? And no one is more unjust than one who hides a testimony he has from Allah.</a:t>
            </a:r>
            <a:endParaRPr lang="en-US" sz="3000" dirty="0"/>
          </a:p>
        </p:txBody>
      </p:sp>
      <p:sp>
        <p:nvSpPr>
          <p:cNvPr id="9" name="Shape 7"/>
          <p:cNvSpPr/>
          <p:nvPr/>
        </p:nvSpPr>
        <p:spPr>
          <a:xfrm>
            <a:off x="1444752" y="4242816"/>
            <a:ext cx="8641080" cy="0"/>
          </a:xfrm>
          <a:prstGeom prst="line">
            <a:avLst/>
          </a:prstGeom>
          <a:noFill/>
          <a:ln w="9525">
            <a:solidFill>
              <a:schemeClr val="accent2"/>
            </a:solidFill>
            <a:prstDash val="dash"/>
          </a:ln>
        </p:spPr>
      </p:sp>
      <p:sp>
        <p:nvSpPr>
          <p:cNvPr id="10" name="Shape 8"/>
          <p:cNvSpPr/>
          <p:nvPr/>
        </p:nvSpPr>
        <p:spPr>
          <a:xfrm>
            <a:off x="713232" y="4475988"/>
            <a:ext cx="548640" cy="548640"/>
          </a:xfrm>
          <a:prstGeom prst="star8">
            <a:avLst/>
          </a:prstGeom>
          <a:solidFill>
            <a:schemeClr val="accent2"/>
          </a:solidFill>
          <a:ln/>
        </p:spPr>
      </p:sp>
      <p:sp>
        <p:nvSpPr>
          <p:cNvPr id="11" name="Shape 9"/>
          <p:cNvSpPr/>
          <p:nvPr/>
        </p:nvSpPr>
        <p:spPr>
          <a:xfrm>
            <a:off x="822960" y="458571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7598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141</a:t>
            </a:r>
            <a:endParaRPr lang="en-US" sz="1300" dirty="0"/>
          </a:p>
        </p:txBody>
      </p:sp>
      <p:sp>
        <p:nvSpPr>
          <p:cNvPr id="13" name="Text 11"/>
          <p:cNvSpPr txBox="1"/>
          <p:nvPr/>
        </p:nvSpPr>
        <p:spPr>
          <a:xfrm>
            <a:off x="1444752" y="445770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أُمَّةٌ قَدْ خَلَتْ لَهَا مَا كَسَبَتْ وَلَكُم مَّا كَسَبْتُمْ وَلَا تُسْـَٔلُونَ عَمَّا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was a nation that has passed away. It will have what it earned, and you will have what you earned, and you will not be asked about what they did.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Changing the Qiblah</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10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142 – 152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Al-Bara' ibn 'Azib said: The Prophet (peace be upon him) prayed towards Jerusalem for sixteen or seventeen months, and he loved to be turned towards the Ka'bah, so Allah revealed: “We have seen the turning of your face towards the sky”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Changing the qiblah from Jerusalem to the Ka'bah, showing that this Ummah is balanced and just, and the command to remember and thank Allah.</a:t>
            </a:r>
            <a:endParaRPr lang="en-US" sz="17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142</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 السُّفَهَآءُ مِنَ النَّاسِ مَا وَلَّىٰهُمْ عَن قِبْلَتِهِمُ الَّتِي كَانُواْ عَلَيْهَا قُل لِّلَّهِ الْمَشْرِقُ وَالْمَغْرِبُ يَهْدِي مَن يَشَآءُ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foolish among the Jews and hypocrites will say: What turned the Muslims away from their qiblah, Jerusalem? Say: To Allah belong the east and the west; He guides whom He wills to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143</a:t>
            </a:r>
            <a:endParaRPr lang="en-US" sz="13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جَعَلْنَٰكُمْ أُمَّةً وَسَطًا لِّتَكُونُواْ شُهَدَآءَ عَلَى النَّاسِ وَيَكُونَ الرَّسُولُ عَلَيْكُمْ شَهِيدًا وَمَا جَعَلْنَا الْقِبْلَةَ الَّتِي كُنتَ عَلَيْهَآ إِلَّا لِنَعْلَمَ مَن يَتَّبِعُ الرَّسُولَ مِمَّن يَنقَلِبُ عَلَىٰ عَقِبَيْهِ وَإِن كَانَتْ لَكَبِيرَةً إِلَّا عَلَى الَّذِينَ هَدَى اللَّهُ وَمَا كَانَ اللَّهُ لِيُضِيعَ إِيمَٰنَكُمْ إِنَّ اللَّهَ بِالنَّاسِ لَرَءُوفٌ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 We have made you a just and balanced nation, the best, so that you will be witnesses over the nations on the Day of Resurrection and the Messenger will be a witness over you. We only made the first qiblah as a test, and Allah would never let your prayers towards Jerusalem go to waste.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144</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نَرَىٰ تَقَلُّبَ وَجْهِكَ فِي السَّمَآءِ فَلَنُوَلِّيَنَّكَ قِبْلَةً تَرْضَىٰهَا فَوَلِّ وَجْهَكَ شَطْرَ الْمَسْجِدِ الْحَرَامِ وَحَيْثُ مَا كُنتُمْ فَوَلُّواْ وُجُوهَكُمْ شَطْرَهُ وَإِنَّ الَّذِينَ أُوتُواْ الْكِتَٰبَ لَيَعْلَمُونَ أَنَّهُ الْحَقُّ مِن رَّبِّهِمْ وَمَا اللَّهُ بِغَٰفِلٍ عَمَّا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seen your face turning towards the sky, waiting for revelation. So We will turn you to a qiblah you love: turn your face towards Al-Masjid Al-Haram, and wherever you are, turn your faces towards it. The People of the Book know it is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145 – 146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145</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أَتَيْتَ الَّذِينَ أُوتُواْ الْكِتَٰبَ بِكُلِّ ءَايَةٍ مَّا تَبِعُواْ قِبْلَتَكَ وَمَآ أَنتَ بِتَابِعٍ قِبْلَتَهُمْ وَمَا بَعْضُهُم بِتَابِعٍ قِبْلَةَ بَعْضٍ وَلَئِنِ اتَّبَعْتَ أَهْوَآءَهُم مِّن بَعْدِ مَا جَآءَكَ مِنَ الْعِلْمِ إِنَّكَ إِذًا لَّمِنَ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you brought the People of the Book every miracle, they would not follow your qiblah, and you will not follow theirs. If you followed their desires after the knowledge that has come to you, you would then be among the wrongdoers.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146</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ءَاتَيْنَٰهُمُ الْكِتَٰبَ يَعْرِفُونَهُ كَمَا يَعْرِفُونَ أَبْنَآءَهُمْ وَإِنَّ فَرِيقًا مِّنْهُمْ لَيَكْتُمُونَ الْحَقَّ وَهُمْ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scholars of the People of the Book recognise Muhammad (peace be upon him) by his description as they recognise their own sons, but a group of them hide the truth knowingly.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147 – 148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147</a:t>
            </a:r>
            <a:endParaRPr lang="en-US" sz="13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الْحَقُّ مِن رَّبِّكَ فَلَا تَكُونَنَّ مِنَ الْمُمْتَرِينَ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the truth from your Lord, so never be among those who doubt.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148</a:t>
            </a:r>
            <a:endParaRPr lang="en-US" sz="13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وَلِكُلٍّ وِجْهَةٌ هُوَ مُوَلِّيهَا فَاسْتَبِقُواْ الْخَيْرَٰتِ أَيْنَ مَا تَكُونُواْ يَأْتِ بِكُمُ اللَّهُ جَمِيعًا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nation has a direction it turns to, so race one another in doing good. Wherever you are, Allah will bring you all together on the Day of Resurrection.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149 – 150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149</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حَيْثُ خَرَجْتَ فَوَلِّ وَجْهَكَ شَطْرَ الْمَسْجِدِ الْحَرَامِ وَإِنَّهُ لَلْحَقُّ مِن رَّبِّكَ وَمَا اللَّهُ بِغَٰفِلٍ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wherever you set out, turn your face towards Al-Masjid Al-Haram. It is the truth from your Lord, and Allah is not unaware of what you do.</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150</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حَيْثُ خَرَجْتَ فَوَلِّ وَجْهَكَ شَطْرَ الْمَسْجِدِ الْحَرَامِ وَحَيْثُ مَا كُنتُمْ فَوَلُّواْ وُجُوهَكُمْ شَطْرَهُ لِئَلَّا يَكُونَ لِلنَّاسِ عَلَيْكُمْ حُجَّةٌ إِلَّا الَّذِينَ ظَلَمُواْ مِنْهُمْ فَلَا تَخْشَوْهُمْ وَاخْشَوْنِي وَلِأُتِمَّ نِعْمَتِي عَلَيْكُمْ وَلَعَلَّكُمْ تَهْتَدُونَ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wherever you set out, turn your face towards Al-Masjid Al-Haram, and wherever you are, turn your faces towards it, so that people will have no argument against you. Do not fear them, fear Me, so I can complete My favour on you and so that you may be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151 – 152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151</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كَمَآ أَرْسَلْنَا فِيكُمْ رَسُولًا مِّنكُمْ يَتْلُواْ عَلَيْكُمْ ءَايَٰتِنَا وَيُزَكِّيكُمْ وَيُعَلِّمُكُمُ الْكِتَٰبَ وَالْحِكْمَةَ وَيُعَلِّمُكُم مَّا لَمْ تَكُونُواْ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Just as We blessed you by sending a messenger from among you, who recites Our verses to you, purifies you, teaches you the Qur'an and the Sunnah, and teaches you what you did not know.</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152</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فَاذْكُرُونِي أَذْكُرْكُمْ وَاشْكُرُواْ لِي وَلَا 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remember Me through obedience and I will remember you with reward and forgiveness; and be thankful to Me and do not deny My favours.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Patience, Trials and Tawhid</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11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153 – 167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'A'ishah said: Before Islam, the Ansar felt uneasy about walking between As-Safa and Al-Marwah. When they became Muslim they asked the Prophet (peace be upon him) about it, so Allah revealed: “Indeed, As-Safa and Al-Marwah are among the signs of Allah”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Seeking help through patience and prayer, good news for the patient, the rite of walking between Safa and Marwah, and the signs of Allah's Oneness in the universe.</a:t>
            </a:r>
            <a:endParaRPr lang="en-US" sz="17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153 – 155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153</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اسْتَعِينُواْ بِالصَّبْرِ وَالصَّلَوٰةِ إِنَّ اللَّهَ مَعَ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seek help in your affairs through patience and prayer. Allah is with the patient.</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154</a:t>
            </a:r>
            <a:endParaRPr lang="en-US" sz="13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تَقُولُواْ لِمَن يُقْتَلُ فِي سَبِيلِ اللَّهِ أَمْوَٰتٌ بَلْ أَحْيَآءٌ وَلَٰكِن لَّا تَشْعُرُونَ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say about the martyrs that they are dead; rather, they are alive with their Lord, receiving provision, but you do not perceive it.</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155</a:t>
            </a:r>
            <a:endParaRPr lang="en-US" sz="13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وَلَنَبْلُوَنَّكُم بِشَيْءٍ مِّنَ الْخَوْفِ وَالْجُوعِ وَنَقْصٍ مِّنَ الْأَمْوَٰلِ وَالْأَنفُسِ وَالثَّمَرَٰتِ وَبَشِّرِ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surely test you with some fear and hunger, and loss of wealth, lives and fruits; and give good news to the patient,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156 – 158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156</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إِذَآ أَصَٰبَتْهُم مُّصِيبَةٌ قَالُواْ إِنَّا لِلَّهِ وَإِنَّآ إِلَيْهِ 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when a hardship strikes them, say: We belong to Allah, and to Him we will return.</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157</a:t>
            </a:r>
            <a:endParaRPr lang="en-US" sz="1300" dirty="0"/>
          </a:p>
        </p:txBody>
      </p:sp>
      <p:sp>
        <p:nvSpPr>
          <p:cNvPr id="13" name="Text 11"/>
          <p:cNvSpPr txBox="1"/>
          <p:nvPr/>
        </p:nvSpPr>
        <p:spPr>
          <a:xfrm>
            <a:off x="1444752" y="26769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عَلَيْهِمْ صَلَوَٰتٌ مِّن رَّبِّهِمْ وَرَحْمَةٌ وَأُوْلَـٰئِكَ هُمُ الْمُهْتَدُونَ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Upon them is praise from their Lord and mercy, and they are the rightly guided.</a:t>
            </a:r>
            <a:endParaRPr lang="en-US" sz="3000" dirty="0"/>
          </a:p>
        </p:txBody>
      </p:sp>
      <p:sp>
        <p:nvSpPr>
          <p:cNvPr id="14" name="Shape 12"/>
          <p:cNvSpPr/>
          <p:nvPr/>
        </p:nvSpPr>
        <p:spPr>
          <a:xfrm>
            <a:off x="1444752" y="3803904"/>
            <a:ext cx="8641080" cy="0"/>
          </a:xfrm>
          <a:prstGeom prst="line">
            <a:avLst/>
          </a:prstGeom>
          <a:noFill/>
          <a:ln w="9525">
            <a:solidFill>
              <a:schemeClr val="accent2"/>
            </a:solidFill>
            <a:prstDash val="dash"/>
          </a:ln>
        </p:spPr>
      </p:sp>
      <p:sp>
        <p:nvSpPr>
          <p:cNvPr id="15" name="Shape 13"/>
          <p:cNvSpPr/>
          <p:nvPr/>
        </p:nvSpPr>
        <p:spPr>
          <a:xfrm>
            <a:off x="713232" y="3984498"/>
            <a:ext cx="548640" cy="548640"/>
          </a:xfrm>
          <a:prstGeom prst="star8">
            <a:avLst/>
          </a:prstGeom>
          <a:solidFill>
            <a:schemeClr val="accent2"/>
          </a:solidFill>
          <a:ln/>
        </p:spPr>
      </p:sp>
      <p:sp>
        <p:nvSpPr>
          <p:cNvPr id="16" name="Shape 14"/>
          <p:cNvSpPr/>
          <p:nvPr/>
        </p:nvSpPr>
        <p:spPr>
          <a:xfrm>
            <a:off x="822960" y="409422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844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158</a:t>
            </a:r>
            <a:endParaRPr lang="en-US" sz="1300" dirty="0"/>
          </a:p>
        </p:txBody>
      </p:sp>
      <p:sp>
        <p:nvSpPr>
          <p:cNvPr id="18" name="Text 16"/>
          <p:cNvSpPr txBox="1"/>
          <p:nvPr/>
        </p:nvSpPr>
        <p:spPr>
          <a:xfrm>
            <a:off x="1444752" y="396621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الصَّفَا وَالْمَرْوَةَ مِن شَعَآئِرِ اللَّهِ فَمَنْ حَجَّ الْبَيْتَ أَوِ اعْتَمَرَ فَلَا جُنَاحَ عَلَيْهِ أَن يَطَّوَّفَ بِهِمَا وَمَن تَطَوَّعَ خَيْرًا فَإِنَّ اللَّهَ شَاكِرٌ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As-Safa and Al-Marwah are among the signs of Allah's religion, so whoever does Hajj or 'Umrah has no blame in walking between them. Whoever does extra good willingly, Allah is Appreciative,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159 – 160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159</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يَكْتُمُونَ مَآ أَنزَلْنَا مِنَ الْبَيِّنَٰتِ وَالْهُدَىٰ مِن بَعْدِ مَا بَيَّنَّـٰهُ لِلنَّاسِ فِي الْكِتَٰبِ أُوْلَـٰئِكَ يَلْعَنُهُمُ اللَّهُ وَيَلْعَنُهُمُ اللَّـٰعِنُونَ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hide the truth We sent down after We made it clear to people in the Book, Allah curses them and those who curse curse them,</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160</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تَابُواْ وَأَصْلَحُواْ وَبَيَّنُواْ فَأُوْلَـٰئِكَ أَتُوبُ عَلَيْهِمْ وَأَنَا التَّوَّابُ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repent, correct their deeds and make clear what they hid; I accept their repentance, and I am the Accepter of repentance,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161 – 162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161</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وَمَاتُواْ وَهُمْ كُفَّارٌ أُوْلَـٰئِكَ عَلَيْهِمْ لَعْنَةُ اللَّهِ وَالْمَلَـٰئِكَةِ وَالنَّاسِ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and die as disbelievers, upon them is the curse of Allah, the angels and all people,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162</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لَا يُخَفَّفُ عَنْهُمُ الْعَذَابُ وَلَا 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in the curse and the Fire forever; their punishment will not be lightened and they will not be given more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163 – 164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163</a:t>
            </a:r>
            <a:endParaRPr lang="en-US" sz="1300" dirty="0"/>
          </a:p>
        </p:txBody>
      </p:sp>
      <p:sp>
        <p:nvSpPr>
          <p:cNvPr id="8" name="Text 6"/>
          <p:cNvSpPr txBox="1"/>
          <p:nvPr/>
        </p:nvSpPr>
        <p:spPr>
          <a:xfrm>
            <a:off x="1444752" y="1370457"/>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وَإِلَٰهُكُمْ إِلَٰهٌ وَٰحِدٌ لَّآ إِلَٰهَ إِلَّا هُوَ الرَّحْمَٰنُ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God is One God; there is no god worthy of worship but Him, the Most Merciful, the Especially Merciful.</a:t>
            </a:r>
            <a:endParaRPr lang="en-US" sz="3000" dirty="0"/>
          </a:p>
        </p:txBody>
      </p:sp>
      <p:sp>
        <p:nvSpPr>
          <p:cNvPr id="9" name="Shape 7"/>
          <p:cNvSpPr/>
          <p:nvPr/>
        </p:nvSpPr>
        <p:spPr>
          <a:xfrm>
            <a:off x="1444752" y="2740914"/>
            <a:ext cx="8641080" cy="0"/>
          </a:xfrm>
          <a:prstGeom prst="line">
            <a:avLst/>
          </a:prstGeom>
          <a:noFill/>
          <a:ln w="9525">
            <a:solidFill>
              <a:schemeClr val="accent2"/>
            </a:solidFill>
            <a:prstDash val="dash"/>
          </a:ln>
        </p:spPr>
      </p:sp>
      <p:sp>
        <p:nvSpPr>
          <p:cNvPr id="10" name="Shape 8"/>
          <p:cNvSpPr/>
          <p:nvPr/>
        </p:nvSpPr>
        <p:spPr>
          <a:xfrm>
            <a:off x="713232" y="2904363"/>
            <a:ext cx="548640" cy="548640"/>
          </a:xfrm>
          <a:prstGeom prst="star8">
            <a:avLst/>
          </a:prstGeom>
          <a:solidFill>
            <a:schemeClr val="accent2"/>
          </a:solidFill>
          <a:ln/>
        </p:spPr>
      </p:sp>
      <p:sp>
        <p:nvSpPr>
          <p:cNvPr id="11" name="Shape 9"/>
          <p:cNvSpPr/>
          <p:nvPr/>
        </p:nvSpPr>
        <p:spPr>
          <a:xfrm>
            <a:off x="822960" y="301409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0436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164</a:t>
            </a:r>
            <a:endParaRPr lang="en-US" sz="1300" dirty="0"/>
          </a:p>
        </p:txBody>
      </p:sp>
      <p:sp>
        <p:nvSpPr>
          <p:cNvPr id="13" name="Text 11"/>
          <p:cNvSpPr txBox="1"/>
          <p:nvPr/>
        </p:nvSpPr>
        <p:spPr>
          <a:xfrm>
            <a:off x="1444752" y="2886075"/>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خَلْقِ السَّمَٰوَٰتِ وَالْأَرْضِ وَاخْتِلَٰفِ الَّيْلِ وَالنَّهَارِ وَالْفُلْكِ الَّتِي تَجْرِي فِي الْبَحْرِ بِمَا يَنفَعُ النَّاسَ وَمَآ أَنزَلَ اللَّهُ مِنَ السَّمَآءِ مِن مَّآءٍ فَأَحْيَا بِهِ الْأَرْضَ بَعْدَ مَوْتِهَا وَبَثَّ فِيهَا مِن كُلِّ دَآبَّةٍ وَتَصْرِيفِ الرِّيَٰحِ وَالسَّحَابِ الْمُسَخَّرِ بَيْنَ السَّمَآءِ وَالْأَرْضِ لَأيَٰتٍ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creation of the heavens and the earth, the alternation of night and day, the ships sailing in the sea, the rain that brings the earth to life, the turning of the winds, and the clouds held in service, are proofs of Allah's Oneness for people who use their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165 – 166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165</a:t>
            </a:r>
            <a:endParaRPr lang="en-US" sz="13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يَتَّخِذُ مِن دُونِ اللَّهِ أَندَادًا يُحِبُّونَهُمْ كَحُبِّ اللَّهِ وَالَّذِينَ ءَامَنُواْ أَشَدُّ حُبًّا لِّلَّهِ وَلَوْ يَرَى الَّذِينَ ظَلَمُواْ إِذْ يَرَوْنَ الْعَذَابَ أَنَّ الْقُوَّةَ لِلَّهِ جَمِيعًا وَأَنَّ اللَّهَ شَدِيدُ الْعَذَابِ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are those who take partners besides Allah and love them as they should love Allah, but the believers love Allah more strongly. If only the wrongdoers could see, when they see the punishment, that all power belongs to Allah and that Allah is severe in punishment.</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166</a:t>
            </a:r>
            <a:endParaRPr lang="en-US" sz="13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تَبَرَّأَ الَّذِينَ اتُّبِعُواْ مِنَ الَّذِينَ اتَّبَعُواْ وَرَأَوُاْ الْعَذَابَ وَتَقَطَّعَتْ بِهِمُ الْأَسْبَابُ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leaders who were followed disown their followers, they see the punishment, and all ties between them are cut.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167</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اتَّبَعُواْ لَوْ أَنَّ لَنَا كَرَّةً فَنَتَبَرَّأَ مِنْهُمْ كَمَا تَبَرَّءُواْ مِنَّا كَذَٰلِكَ يُرِيهِمُ اللَّهُ أَعْمَٰلَهُمْ حَسَرَٰتٍ عَلَيْهِمْ وَمَا هُم بِخَٰرِجِينَ مِنَ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followers will say: If only we had another chance in the world, we would disown them as they have disowned us. So Allah will show them their deeds as regrets for them, and they will not come out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The Lawful and True Goodness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12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168 – 182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eat what is lawful and good, a warning against hiding knowledge, the meaning of true righteousness, and the rulings of just retribution and the will.</a:t>
            </a:r>
            <a:endParaRPr lang="en-US" sz="17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168 – 169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168</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كُلُواْ مِمَّا فِي الْأَرْضِ حَلَٰلًا طَيِّبًا وَلَا تَتَّبِعُواْ خُطُوَٰتِ الشَّيْطَٰنِ إِنَّهُ لَكُمْ عَدُوٌّ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eat from what is on earth, lawful and good, and do not follow the footsteps of Satan; he is a clear enemy to you.</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169</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يَأْمُرُكُم بِالسُّوءِ وَالْفَحْشَآءِ وَأَن تَقُولُواْ عَلَى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only commands you to do evil and shameful things, and to say about Allah what you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170 – 171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170</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اتَّبِعُواْ مَآ أَنزَلَ اللَّهُ قَالُواْ بَلْ نَتَّبِعُ مَآ أَلْفَيْنَا عَلَيْهِ ءَابَآءَنَآ أَوَلَوْ كَانَ ءَابَآؤُهُمْ لَا يَعْقِلُونَ شَيْـًٔا وَلَا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idol-worshippers are told: Follow what Allah has sent down, they say: No, we follow what we found our fathers doing. Even if their fathers understood nothing and were not guided?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171</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وَمَثَلُ الَّذِينَ كَفَرُواْ كَمَثَلِ الَّذِي يَنْعِقُ بِمَا لَا يَسْمَعُ إِلَّا دُعَآءً وَنِدَآءً صُمٌّ بُكْمٌ عُمْيٌ فَهُمْ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example of the disbelievers in not understanding is like animals that the shepherd shouts at; they understand nothing but the sound. Deaf, dumb, blind, so they do not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172 – 173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172</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كُلُواْ مِن طَيِّبَٰتِ مَا رَزَقْنَٰكُمْ وَاشْكُرُواْ لِلَّهِ إِن كُنتُمْ إِيَّاهُ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eat from the good things We have provided you, and thank Allah if it is truly Him alone you worship.</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173</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حَرَّمَ عَلَيْكُمُ الْمَيْتَةَ وَالدَّمَ وَلَحْمَ الْخِنزِيرِ وَمَآ أُهِلَّ بِهِ لِغَيْرِ اللَّهِ فَمَنِ اضْطُرَّ غَيْرَ بَاغٍ وَلَا عَادٍ فَلَآ إِثْمَ عَلَيْهِ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only forbidden you dead animals, blood, the flesh of pigs, and what is slaughtered for other than Allah. But whoever is forced by need to eat from it, without wrongdoing or going beyond the need, has no sin.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174</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يَكْتُمُونَ مَآ أَنزَلَ اللَّهُ مِنَ الْكِتَٰبِ وَيَشْتَرُونَ بِهِ ثَمَنًا قَلِيلًا أُوْلَـٰئِكَ مَا يَأْكُلُونَ فِي بُطُونِهِمْ إِلَّا النَّارَ وَلَا يُكَلِّمُهُمُ اللَّهُ يَوْمَ الْقِيَٰمَةِ وَلَا يُزَكِّيهِمْ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hide what Allah has sent down of the Book to get a small worldly price for it, what they eat only leads them to the Fire. Allah will not speak to them on the Day of Resurrection nor purify them, and they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175 – 176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175</a:t>
            </a:r>
            <a:endParaRPr lang="en-US" sz="13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اشْتَرَوُاْ الضَّلَٰلَةَ بِالْهُدَىٰ وَالْعَذَابَ بِالْمَغْفِرَةِ فَمَآ أَصْبَرَهُمْ عَلَى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chose misguidance over guidance and punishment over forgiveness. How bold they are in doing the deeds of the people of the Fire!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176</a:t>
            </a:r>
            <a:endParaRPr lang="en-US" sz="13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اللَّهَ نَزَّلَ الْكِتَٰبَ بِالْحَقِّ وَإِنَّ الَّذِينَ اخْتَلَفُواْ فِي الْكِتَٰبِ لَفِي شِقَاقٍ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punishment is because Allah sent down the Book with the truth and they disbelieved in it, and those who disagree about it are in a disagreement far from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177</a:t>
            </a:r>
            <a:endParaRPr lang="en-US" sz="13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الْبِرَّ أَن تُوَلُّواْ وُجُوهَكُمْ قِبَلَ الْمَشْرِقِ وَالْمَغْرِبِ وَلَٰكِنَّ الْبِرَّ مَنْ ءَامَنَ بِاللَّهِ وَالْيَوْمِ الْأخِرِ وَالْمَلَـٰئِكَةِ وَالْكِتَٰبِ وَالنَّبِيِّـنَ وَءَاتَى الْمَالَ عَلَىٰ حُبِّهِ ذَوِي الْقُرْبَىٰ وَالْيَتَٰمَىٰ وَالْمَسَٰكِينَ وَابْنَ السَّبِيلِ وَالسَّآئِلِينَ وَفِي الرِّقَابِ وَأَقَامَ الصَّلَوٰةَ وَءَاتَى الزَّكَوٰةَ وَالْمُوفُونَ بِعَهْدِهِمْ إِذَا عَٰهَدُواْ وَالصَّـٰبِرِينَ فِي الْبَأْسَآءِ وَالضَّرَّآءِ وَحِينَ الْبَأْسِ أُوْلَـٰئِكَ الَّذِينَ صَدَقُواْ وَأُوْلَـٰئِكَ هُمُ الْمُتَّقُونَ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Righteousness is not all in turning towards the east or the west. True righteousness is believing in Allah, the Last Day, the angels, the Books and the prophets; giving wealth, despite loving it, to relatives, orphans, the poor and the needy; performing the prayer and giving the zakah; keeping promises; and being patient in hardship. Those are the truthful,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178</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كُتِبَ عَلَيْكُمُ الْقِصَاصُ فِي الْقَتْلَى الْحُرُّ بِالْحُرِّ وَالْعَبْدُ بِالْعَبْدِ وَالْأُنثَىٰ بِالْأُنثَىٰ فَمَنْ عُفِيَ لَهُ مِنْ أَخِيهِ شَيْءٌ فَاتِّبَاعٌ بِالْمَعْرُوفِ وَأَدَآءٌ إِلَيْهِ بِإِحْسَٰنٍ ذَٰلِكَ تَخْفِيفٌ مِّن رَّبِّكُمْ وَرَحْمَةٌ فَمَنِ اعْتَدَىٰ بَعْدَ ذَٰلِكَ فَلَهُ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just retribution is prescribed for you in deliberate killing. If the family of the one killed forgive and accept compensation, they should ask for it kindly, and the killer should pay it in a good way. That is a lightening from your Lord and a mercy.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179 – 180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179</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وَلَكُمْ فِي الْقِصَاصِ حَيَوٰةٌ يَـٰأُوْلِي الْأَلْبَٰبِ لَعَلَّكُمْ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life for you in just retribution, because it stops people from killing, O people of understanding, so that you may have taqwa.</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180</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عَلَيْكُمْ إِذَا حَضَرَ أَحَدَكُمُ الْمَوْتُ إِن تَرَكَ خَيْرًا الْوَصِيَّةُ لِلْوَٰلِدَيْنِ وَالْأَقْرَبِينَ بِالْمَعْرُوفِ حَقًّا عَلَى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was prescribed for you that when death approaches one of you who leaves much wealth, he should make a fair will for his parents and relatives. This was later replaced by the verses of inheritance, so a will is now for those who do not inherit.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181 – 182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181</a:t>
            </a:r>
            <a:endParaRPr lang="en-US" sz="13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بَدَّلَهُ بَعْدَ مَا سَمِعَهُ فَإِنَّمَآ إِثْمُهُ عَلَى الَّذِينَ يُبَدِّلُونَهُ إِنَّ 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changes the will after hearing it, the sin is only on those who change it. Allah is All-Hearing, All-Knowing.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182</a:t>
            </a:r>
            <a:endParaRPr lang="en-US" sz="13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خَافَ مِن مُّوصٍ جَنَفًا أَوْ إِثْمًا فَأَصْلَحَ بَيْنَهُمْ فَلَآ إِثْمَ عَلَيْهِ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knows that the person making the will was unfair or made a mistake, and makes peace between the heirs, there is no sin on him.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Fasting</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13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183 – 188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Al-Bara' ibn 'Azib said: If a Companion slept before breaking his fast, he would not eat until the next night. Qays ibn Sirmah Al-Ansari fell asleep before eating and fainted the next day from exhaustion, so this was revealed: “It has been made lawful for you on the nights of fasting...” up to “and eat and drink”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Fasting Ramadan is made obligatory with its rulings, it is made easy for the sick and the traveller, and Allah is near to His servants and answers their prayers.</a:t>
            </a:r>
            <a:endParaRPr lang="en-US" sz="17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183 – 184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183</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كُتِبَ عَلَيْكُمُ الصِّيَامُ كَمَا كُتِبَ عَلَى الَّذِينَ مِن قَبْلِكُمْ لَعَلَّكُمْ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fasting has been prescribed for you as it was prescribed for the nations before you, so that you may have taqwa of Allah.</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184</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أَيَّامًا مَّعْدُودَٰتٍ فَمَن كَانَ مِنكُم مَّرِيضًا أَوْ عَلَىٰ سَفَرٍ فَعِدَّةٌ مِّنْ أَيَّامٍ أُخَرَ وَعَلَى الَّذِينَ يُطِيقُونَهُ فِدْيَةٌ طَعَامُ مِسْكِينٍ فَمَن تَطَوَّعَ خَيْرًا فَهُوَ خَيْرٌ لَّهُ وَأَن تَصُومُواْ خَيْرٌ لَّكُمْ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small number of days. Whoever is sick or travelling and does not fast should make up other days. Those who can only fast with great hardship, like the very old, must pay a ransom: feeding a poor person for each day. And fasting is better for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185</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شَهْرُ رَمَضَانَ الَّذِي أُنزِلَ فِيهِ الْقُرْءَانُ هُدًى لِّلنَّاسِ وَبَيِّنَٰتٍ مِّنَ الْهُدَىٰ وَالْفُرْقَانِ فَمَن شَهِدَ مِنكُمُ الشَّهْرَ فَلْيَصُمْهُ وَمَن كَانَ مَرِيضًا أَوْ عَلَىٰ سَفَرٍ فَعِدَّةٌ مِّنْ أَيَّامٍ أُخَرَ يُرِيدُ اللَّهُ بِكُمُ الْيُسْرَ وَلَا يُرِيدُ بِكُمُ الْعُسْرَ وَلِتُكْمِلُواْ الْعِدَّةَ وَلِتُكَبِّرُواْ اللَّهَ عَلَىٰ مَا هَدَىٰكُمْ وَلَعَلَّكُمْ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month of Ramadan is the month in which the Qur'an was sent down as guidance for people. Whoever is present in the month should fast it, and whoever is sick or travelling should make it up. Allah wants ease for you, not hardship, so that you glorify Allah for guiding you and so that you may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186</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سَأَلَكَ عِبَادِي عَنِّي فَإِنِّي قَرِيبٌ أُجِيبُ دَعْوَةَ الدَّاعِ إِذَا دَعَانِ فَلْيَسْتَجِيبُواْ لِي وَلْيُؤْمِنُواْ بِي لَعَلَّهُمْ يَرْشُدُونَ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My servants ask you about Me, I am near to them. I answer the prayer of the one who calls when he calls on Me. So let them respond to Me and believe in Me, so that they may be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187</a:t>
            </a:r>
            <a:endParaRPr lang="en-US" sz="13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أُحِلَّ لَكُمْ لَيْلَةَ الصِّيَامِ الرَّفَثُ إِلَىٰ نِسَآئِكُمْ هُنَّ لِبَاسٌ لَّكُمْ وَأَنتُمْ لِبَاسٌ لَّهُنَّ عَلِمَ اللَّهُ أَنَّكُمْ كُنتُمْ تَخْتَانُونَ أَنفُسَكُمْ فَتَابَ عَلَيْكُمْ وَعَفَا عَنكُمْ فَالْـَٰٔنَ بَٰشِرُوهُنَّ وَابْتَغُواْ مَا كَتَبَ اللَّهُ لَكُمْ وَكُلُواْ وَاشْرَبُواْ حَتَّىٰ يَتَبَيَّنَ لَكُمُ الْخَيْطُ الْأَبْيَضُ مِنَ الْخَيْطِ الْأَسْوَدِ مِنَ الْفَجْرِ ثُمَّ أَتِمُّواْ الصِّيَامَ إِلَى الَّيْلِ وَلَا تُبَٰشِرُوهُنَّ وَأَنتُمْ عَٰكِفُونَ فِي الْمَسَٰجِدِ تِلْكَ حُدُودُ اللَّهِ فَلَا تَقْرَبُوهَا كَذَٰلِكَ يُبَيِّنُ اللَّهُ ءَايَٰتِهِ لِلنَّاسِ لَعَلَّهُمْ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made lawful for you during the nights of Ramadan what used to be forbidden after sleeping: eating, drinking and being with your wives. So eat and drink until the light of dawn appears out of the darkness of night, then complete the fast until sunset. These are Allah's limits, so do not go near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188</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تَأْكُلُواْ أَمْوَٰلَكُم بَيْنَكُم بِالْبَٰطِلِ وَتُدْلُواْ بِهَآ إِلَى الْحُكَّامِ لِتَأْكُلُواْ فَرِيقًا مِّنْ أَمْوَٰلِ النَّاسِ بِالْإِثْمِ وَأَنتُمْ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take one another's wealth unjustly, and do not take false cases to judges to take people's wealth wrongfully while you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New Moons, Fighting and Hajj</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14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189 – 203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Companions asked the Prophet (peace be upon him) about the new moons, so “They ask you about the new moons” was revealed. Abu Ayyub Al-Ansari said: “And do not throw yourselves into destruction” was revealed about us, the Ansar, when we wanted to leave jihad and stay with our wealth (Abu Dawud and Tirmidhi).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wisdom of the new moons, the rulings of fighting in the way of Allah, the command to spend, and the rites and manners of Hajj.</a:t>
            </a:r>
            <a:endParaRPr lang="en-US" sz="17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189 – 190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189</a:t>
            </a:r>
            <a:endParaRPr lang="en-US" sz="13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عَنِ الْأَهِلَّةِ قُلْ هِيَ مَوَٰقِيتُ لِلنَّاسِ وَالْحَجِّ وَلَيْسَ الْبِرُّ بِأَن تَأْتُواْ الْبُيُوتَ مِن ظُهُورِهَا وَلَٰكِنَّ الْبِرَّ مَنِ اتَّقَىٰ وَأْتُواْ الْبُيُوتَ مِنْ أَبْوَٰبِهَا وَاتَّقُواْ اللَّهَ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about the new moons and their changes. Say: They are times by which people know the times of their worship, their dealings and Hajj. Righteousness is not entering houses from the back, as they used to do in ihram; righteousness is taqwa. So enter houses through their doors.</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190</a:t>
            </a:r>
            <a:endParaRPr lang="en-US" sz="13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وَقَٰتِلُواْ فِي سَبِيلِ اللَّهِ الَّذِينَ يُقَٰتِلُونَكُمْ وَلَا تَعْتَدُواْ إِنَّ اللَّهَ لَا يُحِبُّ الْمُعْتَدِينَ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 in the way of Allah those who fight you, but do not go beyond the limits by killing women, children and old people. Allah does not love those who transgress.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191 – 192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191</a:t>
            </a:r>
            <a:endParaRPr lang="en-US" sz="1300" dirty="0"/>
          </a:p>
        </p:txBody>
      </p:sp>
      <p:sp>
        <p:nvSpPr>
          <p:cNvPr id="8" name="Text 6"/>
          <p:cNvSpPr txBox="1"/>
          <p:nvPr/>
        </p:nvSpPr>
        <p:spPr>
          <a:xfrm>
            <a:off x="1444752" y="170535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وَاقْتُلُوهُمْ حَيْثُ ثَقِفْتُمُوهُمْ وَأَخْرِجُوهُم مِّنْ حَيْثُ أَخْرَجُوكُمْ وَالْفِتْنَةُ أَشَدُّ مِنَ الْقَتْلِ وَلَا تُقَٰتِلُوهُمْ عِندَ الْمَسْجِدِ الْحَرَامِ حَتَّىٰ يُقَٰتِلُوكُمْ فِيهِ فَإِن قَٰتَلُوكُمْ فَاقْتُلُوهُمْ كَذَٰلِكَ جَزَآءُ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Kill those who fight you wherever you find them, and drive them out of Makkah as they drove you out; shirk is worse than killing. But do not fight them at Al-Masjid Al-Haram unless they fight you there.</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192</a:t>
            </a:r>
            <a:endParaRPr lang="en-US" sz="1300" dirty="0"/>
          </a:p>
        </p:txBody>
      </p:sp>
      <p:sp>
        <p:nvSpPr>
          <p:cNvPr id="13" name="Text 11"/>
          <p:cNvSpPr txBox="1"/>
          <p:nvPr/>
        </p:nvSpPr>
        <p:spPr>
          <a:xfrm>
            <a:off x="1444752" y="471830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انتَهَوْاْ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stop disbelief and fighting, then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193 – 194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193</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وَقَٰتِلُوهُمْ حَتَّىٰ لَا تَكُونَ فِتْنَةٌ وَيَكُونَ الدِّينُ لِلَّهِ فَإِنِ انتَهَوْاْ فَلَا عُدْوَٰنَ إِلَّا عَلَى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 them until there is no more shirk and the religion is for Allah. If they stop, then there is no hostility except against the wrongdoers.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194</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الشَّهْرُ الْحَرَامُ بِالشَّهْرِ الْحَرَامِ وَالْحُرُمَٰتُ قِصَاصٌ فَمَنِ اعْتَدَىٰ عَلَيْكُمْ فَاعْتَدُواْ عَلَيْهِ بِمِثْلِ مَا اعْتَدَىٰ عَلَيْكُمْ وَاتَّقُواْ اللَّهَ وَاعْلَمُواْ أَنَّ اللَّهَ مَعَ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Fighting in a sacred month is in return for their fighting you in it. Whoever attacks you, respond to him in the same way, have taqwa of Allah, and know that Allah is with those who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195</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وَأَنفِقُواْ فِي سَبِيلِ اللَّهِ وَلَا تُلْقُواْ بِأَيْدِيكُمْ إِلَى التَّهْلُكَةِ وَأَحْسِنُواْ إِنَّ اللَّهَ يُحِبُّ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Spend in the way of Allah, and do not throw yourselves into destruction by leaving jihad and spending. Do good; Allah loves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7612"/>
            <a:ext cx="548640" cy="548640"/>
          </a:xfrm>
          <a:prstGeom prst="star8">
            <a:avLst/>
          </a:prstGeom>
          <a:solidFill>
            <a:schemeClr val="accent2"/>
          </a:solidFill>
          <a:ln/>
        </p:spPr>
      </p:sp>
      <p:sp>
        <p:nvSpPr>
          <p:cNvPr id="6" name="Shape 4"/>
          <p:cNvSpPr/>
          <p:nvPr/>
        </p:nvSpPr>
        <p:spPr>
          <a:xfrm>
            <a:off x="822960" y="157734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76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196</a:t>
            </a:r>
            <a:endParaRPr lang="en-US" sz="1300" dirty="0"/>
          </a:p>
        </p:txBody>
      </p:sp>
      <p:sp>
        <p:nvSpPr>
          <p:cNvPr id="8" name="Text 6"/>
          <p:cNvSpPr txBox="1"/>
          <p:nvPr/>
        </p:nvSpPr>
        <p:spPr>
          <a:xfrm>
            <a:off x="1444752" y="1449324"/>
            <a:ext cx="10012680" cy="451713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وَأَتِمُّواْ الْحَجَّ وَالْعُمْرَةَ لِلَّهِ فَإِنْ أُحْصِرْتُمْ فَمَا اسْتَيْسَرَ مِنَ الْهَدْيِ وَلَا تَحْلِقُواْ رُءُوسَكُمْ حَتَّىٰ يَبْلُغَ الْهَدْيُ مَحِلَّهُ فَمَن كَانَ مِنكُم مَّرِيضًا أَوْ بِهِ أَذًى مِّن رَّأْسِهِ فَفِدْيَةٌ مِّن صِيَامٍ أَوْ صَدَقَةٍ أَوْ نُسُكٍ فَإِذَآ أَمِنتُمْ فَمَن تَمَتَّعَ بِالْعُمْرَةِ إِلَى الْحَجِّ فَمَا اسْتَيْسَرَ مِنَ الْهَدْيِ فَمَن لَّمْ يَجِدْ فَصِيَامُ ثَلَٰثَةِ أَيَّامٍ فِي الْحَجِّ وَسَبْعَةٍ إِذَا رَجَعْتُمْ تِلْكَ عَشَرَةٌ كَامِلَةٌ ذَٰلِكَ لِمَن لَّمْ يَكُنْ أَهْلُهُ حَاضِرِي الْمَسْجِدِ الْحَرَامِ وَاتَّقُواْ اللَّهَ وَاعْلَمُواْ أَنَّ 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Complete the Hajj and 'Umrah for Allah. If you are prevented, slaughter whatever animal is easy. Whoever is sick or has an ailment of the head and shaves must pay a ransom: fasting, charity or a sacrifice. Whoever does 'Umrah followed by Hajj must offer an animal, and whoever cannot find one must fast ten days.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197</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الْحَجُّ أَشْهُرٌ مَّعْلُومَٰتٌ فَمَن فَرَضَ فِيهِنَّ الْحَجَّ فَلَا رَفَثَ وَلَا فُسُوقَ وَلَا جِدَالَ فِي الْحَجِّ وَمَا تَفْعَلُواْ مِنْ خَيْرٍ يَعْلَمْهُ اللَّهُ وَتَزَوَّدُواْ فَإِنَّ خَيْرَ الزَّادِ التَّقْوَىٰ وَاتَّقُونِ يَـٰأُوْلِي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Hajj is in known months: Shawwal, Dhul-Qa'dah and the first ten days of Dhul-Hijjah. Whoever enters ihram for Hajj in them must avoid intimacy, sins and arguing during Hajj. Take provisions for the journey, and the best provision is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198 – 199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198</a:t>
            </a:r>
            <a:endParaRPr lang="en-US" sz="13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عَلَيْكُمْ جُنَاحٌ أَن تَبْتَغُواْ فَضْلًا مِّن رَّبِّكُمْ فَإِذَآ أَفَضْتُم مِّنْ عَرَفَٰتٍ فَاذْكُرُواْ اللَّهَ عِندَ الْمَشْعَرِ الْحَرَامِ وَاذْكُرُوهُ كَمَا هَدَىٰكُمْ وَإِن كُنتُم مِّن قَبْلِهِ لَمِنَ الضَّآلِّينَ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blame on you for seeking provision through trade in the Hajj season. When you leave 'Arafat, remember Allah at Al-Mash'ar Al-Haram in Muzdalifah, and remember Him as He has guided you.</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199</a:t>
            </a:r>
            <a:endParaRPr lang="en-US" sz="13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أَفِيضُواْ مِنْ حَيْثُ أَفَاضَ النَّاسُ وَاسْتَغْفِرُواْ اللَّهَ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leave from 'Arafat where people leave from, not as Quraysh used to stay at Muzdalifah, and ask Allah's forgiveness.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200 – 201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200</a:t>
            </a:r>
            <a:endParaRPr lang="en-US" sz="1300" dirty="0"/>
          </a:p>
        </p:txBody>
      </p:sp>
      <p:sp>
        <p:nvSpPr>
          <p:cNvPr id="8" name="Text 6"/>
          <p:cNvSpPr txBox="1"/>
          <p:nvPr/>
        </p:nvSpPr>
        <p:spPr>
          <a:xfrm>
            <a:off x="1444752" y="171907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قَضَيْتُم مَّنَٰسِكَكُمْ فَاذْكُرُواْ اللَّهَ كَذِكْرِكُمْ ءَابَآءَكُمْ أَوْ أَشَدَّ ذِكْرًا فَمِنَ النَّاسِ مَن يَقُولُ رَبَّنَآ ءَاتِنَا فِي الدُّنْيَا وَمَا لَهُ فِي الْأخِرَةِ مِنْ خَلَٰقٍ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have completed the rites of Hajj, remember Allah as you used to remember the glories of your fathers, or even more. Among people are those who ask only for this world, and they will have no share in the Hereafter.</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201</a:t>
            </a:r>
            <a:endParaRPr lang="en-US" sz="1300" dirty="0"/>
          </a:p>
        </p:txBody>
      </p:sp>
      <p:sp>
        <p:nvSpPr>
          <p:cNvPr id="13" name="Text 11"/>
          <p:cNvSpPr txBox="1"/>
          <p:nvPr/>
        </p:nvSpPr>
        <p:spPr>
          <a:xfrm>
            <a:off x="1444752" y="4183380"/>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يَقُولُ رَبَّنَآ ءَاتِنَا فِي الدُّنْيَا حَسَنَةً وَفِي الْأخِرَةِ حَسَنَةً وَقِنَا عَذَابَ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among them are those who say: Our Lord, give us good in this world and good in the Hereafter, and protect us from the punishment of the Fire. This was the prayer the Prophet (peace be upon him) made most often (Bukhari).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202 – 203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202</a:t>
            </a:r>
            <a:endParaRPr lang="en-US" sz="13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لَهُمْ نَصِيبٌ مِّمَّا كَسَبُواْ وَاللَّهُ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will have a share of reward because of their deeds, and Allah is swift in reckoning.</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203</a:t>
            </a:r>
            <a:endParaRPr lang="en-US" sz="13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وَاذْكُرُواْ اللَّهَ فِي أَيَّامٍ مَّعْدُودَٰتٍ فَمَن تَعَجَّلَ فِي يَوْمَيْنِ فَلَآ إِثْمَ عَلَيْهِ وَمَن تَأَخَّرَ فَلَآ إِثْمَ عَلَيْهِ لِمَنِ اتَّقَىٰ وَاتَّقُواْ اللَّهَ وَاعْلَمُواْ أَنَّكُمْ إِلَيْهِ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Allah with takbir on the days of Tashriq. Whoever leaves Mina on the second day has no sin, and whoever stays until the third has no sin, for whoever has taqwa of Allah. Know that you will be gathered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The Hypocrite and the Believer</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15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204 – 218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 group led by the Companion 'Abdullah ibn Jahsh killed one of the idol-worshippers on the last day of Rajab, one of the sacred months, and the idol-worshippers blamed them for it, so this was revealed: “They ask you about fighting in the sacred month”.</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Comparing the corrupting hypocrite with the believer who sells himself for Allah, the command to enter Islam completely, and patience in trials.</a:t>
            </a:r>
            <a:endParaRPr lang="en-US" sz="17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204 – 205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204</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يُعْجِبُكَ قَوْلُهُ فِي الْحَيَوٰةِ الدُّنْيَا وَيُشْهِدُ اللَّهَ عَلَىٰ مَا فِي قَلْبِهِ وَهُوَ أَلَدُّ الْخِصَامِ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is a hypocrite whose speech pleases you, and he swears by Allah that his heart agrees with his words, while he is the fiercest of opponents.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205</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تَوَلَّىٰ سَعَىٰ فِي الْأَرْضِ لِيُفْسِدَ فِيهَا وَيُهْلِكَ الْحَرْثَ وَالنَّسْلَ وَاللَّهُ لَا يُحِبُّ الْفَسَادَ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leaves you, he goes about spreading corruption on earth, destroying crops and animals, and Allah does not love corruption.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206 – 207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1982"/>
            <a:ext cx="548640" cy="548640"/>
          </a:xfrm>
          <a:prstGeom prst="star8">
            <a:avLst/>
          </a:prstGeom>
          <a:solidFill>
            <a:schemeClr val="accent2"/>
          </a:solidFill>
          <a:ln/>
        </p:spPr>
      </p:sp>
      <p:sp>
        <p:nvSpPr>
          <p:cNvPr id="6" name="Shape 4"/>
          <p:cNvSpPr/>
          <p:nvPr/>
        </p:nvSpPr>
        <p:spPr>
          <a:xfrm>
            <a:off x="822960" y="225171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19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206</a:t>
            </a:r>
            <a:endParaRPr lang="en-US" sz="1300" dirty="0"/>
          </a:p>
        </p:txBody>
      </p:sp>
      <p:sp>
        <p:nvSpPr>
          <p:cNvPr id="8" name="Text 6"/>
          <p:cNvSpPr txBox="1"/>
          <p:nvPr/>
        </p:nvSpPr>
        <p:spPr>
          <a:xfrm>
            <a:off x="1444752" y="21236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 اتَّقِ اللَّهَ أَخَذَتْهُ الْعِزَّةُ بِالْإِثْمِ فَحَسْبُهُ جَهَنَّمُ وَلَبِئْسَ الْمِهَادُ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is told: Have taqwa of Allah, pride drives him to more sin. Hell is enough for him, and what an evil resting place!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207</a:t>
            </a:r>
            <a:endParaRPr lang="en-US" sz="1300" dirty="0"/>
          </a:p>
        </p:txBody>
      </p:sp>
      <p:sp>
        <p:nvSpPr>
          <p:cNvPr id="13" name="Text 11"/>
          <p:cNvSpPr txBox="1"/>
          <p:nvPr/>
        </p:nvSpPr>
        <p:spPr>
          <a:xfrm>
            <a:off x="1444752" y="377875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يَشْرِي نَفْسَهُ ابْتِغَآءَ مَرْضَاتِ اللَّهِ وَاللَّهُ رَءُوفٌ بِالْعِبَادِ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among people is a believer who sells himself in Allah's obedience, seeking His pleasure, and Allah is Kind to His servants. It is mentioned that it was revealed about Suhayb Ar-Rumi (may Allah be pleased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208 – 209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208</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ادْخُلُواْ فِي السِّلْمِ كَآفَّةً وَلَا تَتَّبِعُواْ خُطُوَٰتِ الشَّيْطَٰنِ إِنَّهُ لَكُمْ عَدُوٌّ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enter Islam completely and act on all its laws, and do not follow the footsteps of Satan; he is a clear enemy to you.</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209</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زَلَلْتُم مِّن بَعْدِ مَا جَآءَتْكُمُ الْبَيِّنَٰتُ فَاعْلَمُواْ أَنَّ 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slip after clear proofs have come to you, then know that Allah is Almighty in His punishment, All-Wise in His command.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210 – 211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210</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يَنظُرُونَ إِلَّآ أَن يَأْتِيَهُمُ اللَّهُ فِي ظُلَلٍ مِّنَ الْغَمَامِ وَالْمَلَـٰئِكَةُ وَقُضِيَ الْأَمْرُ وَإِلَى اللَّهِ تُرْجَعُ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are the deniers waiting for, except that Allah comes to them on the Day of Resurrection in shades of clouds, in a way that suits His majesty, with the angels, and the matter is decided? And to Allah all matters return.</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211</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 بَنِي إِسْرَـٰءِيلَ كَمْ ءَاتَيْنَٰهُم مِّنْ ءَايَةٍ بَيِّنَةٍ وَمَن يُبَدِّلْ نِعْمَةَ اللَّهِ مِن بَعْدِ مَا جَآءَتْهُ فَإِنَّ 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Ask the Children of Israel how many clear miracles We gave them, and they disbelieved in them. Whoever changes Allah's blessing into disbelief, Allah is severe in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212</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زُيِّنَ لِلَّذِينَ كَفَرُواْ الْحَيَوٰةُ الدُّنْيَا وَيَسْخَرُونَ مِنَ الَّذِينَ ءَامَنُواْ وَالَّذِينَ اتَّقَوْاْ فَوْقَهُمْ يَوْمَ الْقِيَٰمَةِ وَاللَّهُ يَرْزُقُ مَن يَشَآءُ بِغَيْرِ 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life of this world has been made attractive to the disbelievers, and they mock the believers, but those with taqwa will be above them on the Day of Resurrection. Allah provides for whom He wills without limit.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213</a:t>
            </a:r>
            <a:endParaRPr lang="en-US" sz="13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كَانَ النَّاسُ أُمَّةً وَٰحِدَةً فَبَعَثَ اللَّهُ النَّبِيِّـنَ مُبَشِّرِينَ وَمُنذِرِينَ وَأَنزَلَ مَعَهُمُ الْكِتَٰبَ بِالْحَقِّ لِيَحْكُمَ بَيْنَ النَّاسِ فِيمَا اخْتَلَفُواْ فِيهِ وَمَا اخْتَلَفَ فِيهِ إِلَّا الَّذِينَ أُوتُوهُ مِن بَعْدِ مَا جَآءَتْهُمُ الْبَيِّنَٰتُ بَغْيًا بَيْنَهُمْ فَهَدَى اللَّهُ الَّذِينَ ءَامَنُواْ لِمَا اخْتَلَفُواْ فِيهِ مِنَ الْحَقِّ بِإِذْنِهِ وَاللَّهُ يَهْدِي مَن يَشَآءُ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People were upon tawhid from Adam to Nuh, then they differed, so Allah sent prophets giving good news and warnings, and sent down Books with them to judge between people. And Allah guided the believers to the truth by His permission.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214</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حَسِبْتُمْ أَن تَدْخُلُواْ الْجَنَّةَ وَلَمَّا يَأْتِكُم مَّثَلُ الَّذِينَ خَلَوْاْ مِن قَبْلِكُم مَّسَّتْهُمُ الْبَأْسَآءُ وَالضَّرَّآءُ وَزُلْزِلُواْ حَتَّىٰ يَقُولَ الرَّسُولُ وَالَّذِينَ ءَامَنُواْ مَعَهُ مَتَىٰ نَصْرُ اللَّهِ أَلَآ إِنَّ نَصْرَ اللَّهِ قَرِيبٌ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think you will enter Paradise without facing what those before you faced of poverty, illness and fear, until the Messenger and the believers said: When will Allah's help come? Surely, Allah's help is near.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215 – 216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215</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مَاذَا يُنفِقُونَ قُلْ مَآ أَنفَقْتُم مِّنْ خَيْرٍ فَلِلْوَٰلِدَيْنِ وَالْأَقْرَبِينَ وَالْيَتَٰمَىٰ وَالْمَسَٰكِينِ وَابْنِ السَّبِيلِ وَمَا تَفْعَلُواْ مِنْ خَيْرٍ فَإِنَّ اللَّهَ بِهِ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what they should spend. Say: Whatever good you spend should go to parents, relatives, orphans, the poor and the needy traveller. Whatever good you do, Allah knows it.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216</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عَلَيْكُمُ الْقِتَالُ وَهُوَ كُرْهٌ لَّكُمْ وَعَسَىٰ أَن تَكْرَهُواْ شَيْـًٔا وَهُوَ خَيْرٌ لَّكُمْ وَعَسَىٰ أَن تُحِبُّواْ شَيْـًٔا وَهُوَ شَرٌّ لَّكُمْ وَاللَّهُ يَعْلَمُ وَأَنتُمْ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Fighting in the way of Allah has been prescribed for you though it is hard for you. Perhaps you dislike something while it is good for you, and perhaps you love something while it is bad for you. Allah knows and you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217</a:t>
            </a:r>
            <a:endParaRPr lang="en-US" sz="13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عَنِ الشَّهْرِ الْحَرَامِ قِتَالٍ فِيهِ قُلْ قِتَالٌ فِيهِ كَبِيرٌ وَصَدٌّ عَن سَبِيلِ اللَّهِ وَكُفْرٌ بِهِ وَالْمَسْجِدِ الْحَرَامِ وَإِخْرَاجُ أَهْلِهِ مِنْهُ أَكْبَرُ عِندَ اللَّهِ وَالْفِتْنَةُ أَكْبَرُ مِنَ الْقَتْلِ وَلَا يَزَالُونَ يُقَٰتِلُونَكُمْ حَتَّىٰ يَرُدُّوكُمْ عَن دِينِكُمْ إِنِ اسْتَطَٰعُواْ وَمَن يَرْتَدِدْ مِنكُمْ عَن دِينِهِ فَيَمُتْ وَهُوَ كَافِرٌ فَأُوْلَـٰئِكَ حَبِطَتْ أَعْمَٰلُهُمْ فِي الدُّنْيَا وَالْأخِرَةِ وَأُوْلَـٰئِكَ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about fighting in the sacred month. Say: Fighting in it is a great sin, but the idol-worshippers blocking people from Allah's religion, their disbelief, keeping people from Al-Masjid Al-Haram and driving its people out of it are greater with Allah, and shirk is greater than killing.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218</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وَالَّذِينَ هَاجَرُواْ وَجَٰهَدُواْ فِي سَبِيلِ اللَّهِ أُوْلَـٰئِكَ يَرْجُونَ رَحْمَتَ اللَّهِ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those who emigrated and those who strove in the way of Allah, they hope for Allah's mercy, and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Family and Society</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16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219 – 242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'Umar ibn Al-Khattab said: "O Allah, give us a clear ruling about wine," so the verse of Al-Baqarah “They ask you about wine and gambling” was revealed; later its final prohibition came in Surah Al-Ma'idah (Abu Dawud and Tirmidhi).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ruling on wine and gambling, caring for orphans, rulings of marriage, divorce, nursing and the waiting period, and guarding the prayers.</a:t>
            </a:r>
            <a:endParaRPr lang="en-US" sz="17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219</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عَنِ الْخَمْرِ وَالْمَيْسِرِ قُلْ فِيهِمَآ إِثْمٌ كَبِيرٌ وَمَنَٰفِعُ لِلنَّاسِ وَإِثْمُهُمَآ أَكْبَرُ مِن نَّفْعِهِمَا وَيَسْـَٔلُونَكَ مَاذَا يُنفِقُونَ قُلِ الْعَفْوَ كَذَٰلِكَ يُبَيِّنُ اللَّهُ لَكُمُ الْأيَٰتِ لَعَلَّكُمْ تَتَفَكَّرُونَ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about wine and gambling. Say: In them is great sin and a little worldly benefit, but their sin is greater than their benefit. This prepared the way for forbidding them. And they ask you what they should spend. Say: What is more than you need.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220</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الدُّنْيَا وَالْأخِرَةِ وَيَسْـَٔلُونَكَ عَنِ الْيَتَٰمَىٰ قُلْ إِصْلَاحٌ لَّهُمْ خَيْرٌ وَإِن تُخَالِطُوهُمْ فَإِخْوَٰنُكُمْ وَاللَّهُ يَعْلَمُ الْمُفْسِدَ مِنَ الْمُصْلِحِ وَلَوْ شَآءَ اللَّهُ لَأَعْنَتَكُمْ إِنَّ 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you think about this world and the Hereafter. And they ask you about orphans. Say: Improving their wealth is best, and if you mix your food with theirs, they are your brothers. Allah knows who spoils things from who improves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221</a:t>
            </a:r>
            <a:endParaRPr lang="en-US" sz="13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تَنكِحُواْ الْمُشْرِكَٰتِ حَتَّىٰ يُؤْمِنَّ وَلَأَمَةٌ مُّؤْمِنَةٌ خَيْرٌ مِّن مُّشْرِكَةٍ وَلَوْ أَعْجَبَتْكُمْ وَلَا تُنكِحُواْ الْمُشْرِكِينَ حَتَّىٰ يُؤْمِنُواْ وَلَعَبْدٌ مُّؤْمِنٌ خَيْرٌ مِّن مُّشْرِكٍ وَلَوْ أَعْجَبَكُمْ أُوْلَـٰئِكَ يَدْعُونَ إِلَى النَّارِ وَاللَّهُ يَدْعُواْ إِلَى الْجَنَّةِ وَالْمَغْفِرَةِ بِإِذْنِهِ وَيُبَيِّنُ ءَايَٰتِهِ لِلنَّاسِ لَعَلَّهُمْ يَتَذَكَّرُونَ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marry idol-worshipping women until they believe; a believing slave woman is better than an idol-worshipper even if she pleases you. And do not marry believing women to idol-worshipping men until they believe. They invite to the Fire, while Allah invites to Paradise and forgiveness.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222</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وَيَسْـَٔلُونَكَ عَنِ الْمَحِيضِ قُلْ هُوَ أَذًى فَاعْتَزِلُواْ النِّسَآءَ فِي الْمَحِيضِ وَلَا تَقْرَبُوهُنَّ حَتَّىٰ يَطْهُرْنَ فَإِذَا تَطَهَّرْنَ فَأْتُوهُنَّ مِنْ حَيْثُ أَمَرَكُمُ اللَّهُ إِنَّ اللَّهَ يُحِبُّ التَّوَّـٰبِينَ وَيُحِبُّ الْمُتَطَهِّرِينَ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about menstruation. Say: It is a harm, so husbands should stay away from their wives during it until they are pure. Allah loves those who repent often and loves those who purify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223 – 224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223</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نِسَآؤُكُمْ حَرْثٌ لَّكُمْ فَأْتُواْ حَرْثَكُمْ أَنَّىٰ شِئْتُمْ وَقَدِّمُواْ لِأَنفُسِكُمْ وَاتَّقُواْ اللَّهَ وَاعْلَمُواْ أَنَّكُم مُّلَٰقُوهُ وَبَشِّرِ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wives are where your children come from, so be with them in the way Allah has allowed, send good deeds ahead for yourselves, have taqwa of Allah, and know that you will meet Him. And give good news to the believers.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224</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تَجْعَلُواْ اللَّهَ عُرْضَةً لِّأَيْمَٰنِكُمْ أَن تَبَرُّواْ وَتَتَّقُواْ وَتُصْلِحُواْ بَيْنَ النَّاسِ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make swearing by Allah an excuse to stop doing good and making peace between people; rather, do the good and make expiation for your oaths.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225 – 227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225</a:t>
            </a:r>
            <a:endParaRPr lang="en-US" sz="13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يُؤَاخِذُكُمُ اللَّهُ بِاللَّغْوِ فِي أَيْمَٰنِكُمْ وَلَٰكِن يُؤَاخِذُكُم بِمَا كَسَبَتْ قُلُوبُكُمْ وَاللَّهُ غَفُورٌ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punish you for oaths that slip from the tongue without intention, like saying "No, by Allah" and "Yes, by Allah", but He punishes you for what your hearts intended.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226</a:t>
            </a:r>
            <a:endParaRPr lang="en-US" sz="13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لِّلَّذِينَ يُؤْلُونَ مِن نِّسَآئِهِمْ تَرَبُّصُ أَرْبَعَةِ أَشْهُرٍ فَإِن فَآءُو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swear not to go near their wives have a waiting time of four months. If they go back, Allah is Forgiving, Most Merciful.</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227</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عَزَمُواْ الطَّلَٰقَ فَإِنَّ 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if they decide on divorce, Allah hears their words and knows their intentions.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228</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وَالْمُطَلَّقَٰتُ يَتَرَبَّصْنَ بِأَنفُسِهِنَّ ثَلَٰثَةَ قُرُوءٍ وَلَا يَحِلُّ لَهُنَّ أَن يَكْتُمْنَ مَا خَلَقَ اللَّهُ فِي أَرْحَامِهِنَّ إِن كُنَّ يُؤْمِنَّ بِاللَّهِ وَالْيَوْمِ الْأخِرِ وَبُعُولَتُهُنَّ أَحَقُّ بِرَدِّهِنَّ فِي ذَٰلِكَ إِنْ أَرَادُواْ إِصْلَٰحًا وَلَهُنَّ مِثْلُ الَّذِي عَلَيْهِنَّ بِالْمَعْرُوفِ وَلِلرِّجَالِ عَلَيْهِنَّ دَرَجَةٌ وَاللَّهُ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Divorced women wait for three monthly cycles before marrying another, and it is not lawful for them to hide a pregnancy. Their husbands have more right to take them back during this time if they want to make peace. Women have rights similar to their duties, in fairness, and men have a degree of responsibility over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229</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الطَّلَٰقُ مَرَّتَانِ فَإِمْسَاكٌ بِمَعْرُوفٍ أَوْ تَسْرِيحٌ بِإِحْسَٰنٍ وَلَا يَحِلُّ لَكُمْ أَن تَأْخُذُواْ مِمَّآ ءَاتَيْتُمُوهُنَّ شَيْـًٔا إِلَّآ أَن يَخَافَآ أَلَّا يُقِيمَا حُدُودَ اللَّهِ فَإِنْ خِفْتُمْ أَلَّا يُقِيمَا حُدُودَ اللَّهِ فَلَا جُنَاحَ عَلَيْهِمَا فِيمَا افْتَدَتْ بِهِ تِلْكَ حُدُودُ اللَّهِ فَلَا تَعْتَدُوهَا وَمَن يَتَعَدَّ حُدُودَ اللَّهِ فَأُوْلَـٰئِكَ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divorce after which the husband can take his wife back is twice. Then either keep her kindly or part with her in a good way. It is not lawful for you to take back anything you gave them, unless both fear they cannot keep Allah's limits, then the woman may free herself by giving money. These are Allah's limits, so do not overstep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230</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طَلَّقَهَا فَلَا تَحِلُّ لَهُ مِن بَعْدُ حَتَّىٰ تَنكِحَ زَوْجًا غَيْرَهُ فَإِن طَلَّقَهَا فَلَا جُنَاحَ عَلَيْهِمَآ أَن يَتَرَاجَعَآ إِن ظَنَّآ أَن يُقِيمَا حُدُودَ اللَّهِ وَتِلْكَ حُدُودُ اللَّهِ يُبَيِّنُهَا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he divorces her a third time, she is not lawful for him until she marries another husband in a true marriage. If the second husband divorces her, there is no blame on them to return to each other if they think they can keep Allah's limits.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231</a:t>
            </a:r>
            <a:endParaRPr lang="en-US" sz="13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طَلَّقْتُمُ النِّسَآءَ فَبَلَغْنَ أَجَلَهُنَّ فَأَمْسِكُوهُنَّ بِمَعْرُوفٍ أَوْ سَرِّحُوهُنَّ بِمَعْرُوفٍ وَلَا تُمْسِكُوهُنَّ ضِرَارًا لِّتَعْتَدُواْ وَمَن يَفْعَلْ ذَٰلِكَ فَقَدْ ظَلَمَ نَفْسَهُ وَلَا تَتَّخِذُواْ ءَايَٰتِ اللَّهِ هُزُوًا وَاذْكُرُواْ نِعْمَتَ اللَّهِ عَلَيْكُمْ وَمَآ أَنزَلَ عَلَيْكُم مِّنَ الْكِتَٰبِ وَالْحِكْمَةِ يَعِظُكُم بِهِ وَاتَّقُواْ اللَّهَ وَاعْلَمُواْ أَنَّ 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divorce women and their waiting time is nearly over, either keep them kindly or let them go kindly. Do not take them back in order to harm them, do not make fun of Allah's verses, and remember Allah's blessing on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232</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طَلَّقْتُمُ النِّسَآءَ فَبَلَغْنَ أَجَلَهُنَّ فَلَا تَعْضُلُوهُنَّ أَن يَنكِحْنَ أَزْوَٰجَهُنَّ إِذَا تَرَٰضَوْاْ بَيْنَهُم بِالْمَعْرُوفِ ذَٰلِكَ يُوعَظُ بِهِ مَن كَانَ مِنكُمْ يُؤْمِنُ بِاللَّهِ وَالْيَوْمِ الْأخِرِ ذَٰلِكُمْ أَزْكَىٰ لَكُمْ وَأَطْهَرُ وَاللَّهُ يَعْلَمُ وَأَنتُمْ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waiting time of divorced women is over, do not stop them, O guardians, from returning to their husbands if they agree with each other kindly. That is purer and cleaner for you. It was revealed about Ma'qil ibn Yasar when he stopped his sister from going back to her husband (Bukhari).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233</a:t>
            </a:r>
            <a:endParaRPr lang="en-US" sz="13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وَالْوَٰلِدَٰتُ يُرْضِعْنَ أَوْلَٰدَهُنَّ حَوْلَيْنِ كَامِلَيْنِ لِمَنْ أَرَادَ أَن يُتِمَّ الرَّضَاعَةَ وَعَلَى الْمَوْلُودِ لَهُ رِزْقُهُنَّ وَكِسْوَتُهُنَّ بِالْمَعْرُوفِ لَا تُكَلَّفُ نَفْسٌ إِلَّا وُسْعَهَا لَا تُضَآرَّ وَٰلِدَةٌ بِوَلَدِهَا وَلَا مَوْلُودٌ لَّهُ بِوَلَدِهِ وَعَلَى الْوَارِثِ مِثْلُ ذَٰلِكَ فَإِنْ أَرَادَا فِصَالًا عَن تَرَاضٍ مِّنْهُمَا وَتَشَاوُرٍ فَلَا جُنَاحَ عَلَيْهِمَا وَإِنْ أَرَدتُّمْ أَن تَسْتَرْضِعُواْ أَوْلَٰدَكُمْ فَلَا جُنَاحَ عَلَيْكُمْ إِذَا سَلَّمْتُم مَّآ ءَاتَيْتُم بِالْمَعْرُوفِ وَاتَّقُواْ اللَّهَ وَاعْلَمُواْ أَنَّ 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Mothers may nurse their children for two full years for whoever wants to complete the nursing, and the father must provide their food and clothing fairly. No soul is burdened beyond what it can bear, and neither parent should be harmed because of the child. If both agree, after consulting, to wean earlier, there is no blame.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51176"/>
            <a:ext cx="548640" cy="548640"/>
          </a:xfrm>
          <a:prstGeom prst="star8">
            <a:avLst/>
          </a:prstGeom>
          <a:solidFill>
            <a:schemeClr val="accent2"/>
          </a:solidFill>
          <a:ln/>
        </p:spPr>
      </p:sp>
      <p:sp>
        <p:nvSpPr>
          <p:cNvPr id="6" name="Shape 4"/>
          <p:cNvSpPr/>
          <p:nvPr/>
        </p:nvSpPr>
        <p:spPr>
          <a:xfrm>
            <a:off x="822960" y="266090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51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234</a:t>
            </a:r>
            <a:endParaRPr lang="en-US" sz="1300" dirty="0"/>
          </a:p>
        </p:txBody>
      </p:sp>
      <p:sp>
        <p:nvSpPr>
          <p:cNvPr id="8" name="Text 6"/>
          <p:cNvSpPr txBox="1"/>
          <p:nvPr/>
        </p:nvSpPr>
        <p:spPr>
          <a:xfrm>
            <a:off x="1444752" y="253288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يُتَوَفَّوْنَ مِنكُمْ وَيَذَرُونَ أَزْوَٰجًا يَتَرَبَّصْنَ بِأَنفُسِهِنَّ أَرْبَعَةَ أَشْهُرٍ وَعَشْرًا فَإِذَا بَلَغْنَ أَجَلَهُنَّ فَلَا جُنَاحَ عَلَيْكُمْ فِيمَا فَعَلْنَ فِي أَنفُسِهِنَّ بِالْمَعْرُوفِ وَاللَّهُ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die and leave wives behind: the wife waits four months and ten days as a waiting period. When it ends, there is no blame on her if she adorns herself and marries in a proper 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235</a:t>
            </a:r>
            <a:endParaRPr lang="en-US" sz="13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جُنَاحَ عَلَيْكُمْ فِيمَا عَرَّضْتُم بِهِ مِنْ خِطْبَةِ النِّسَآءِ أَوْ أَكْنَنتُمْ فِي أَنفُسِكُمْ عَلِمَ اللَّهُ أَنَّكُمْ سَتَذْكُرُونَهُنَّ وَلَٰكِن لَّا تُوَاعِدُوهُنَّ سِرًّا إِلَّآ أَن تَقُولُواْ قَوْلًا مَّعْرُوفًا وَلَا تَعْزِمُواْ عُقْدَةَ النِّكَاحِ حَتَّىٰ يَبْلُغَ الْكِتَٰبُ أَجَلَهُ وَاعْلَمُواْ أَنَّ اللَّهَ يَعْلَمُ مَا فِي أَنفُسِكُمْ فَاحْذَرُوهُ وَاعْلَمُواْ أَنَّ اللَّهَ غَفُورٌ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blame on you for hinting at your wish to marry a woman in her waiting time after her husband's death, without saying it openly. Do not make the marriage contract until the waiting period ends, and know that Allah knows what is in yourselves, so beware of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236</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جُنَاحَ عَلَيْكُمْ إِن طَلَّقْتُمُ النِّسَآءَ مَا لَمْ تَمَسُّوهُنَّ أَوْ تَفْرِضُواْ لَهُنَّ فَرِيضَةً وَمَتِّعُوهُنَّ عَلَى الْمُوسِعِ قَدَرُهُ وَعَلَى الْمُقْتِرِ قَدَرُهُ مَتَٰعًا بِالْمَعْرُوفِ حَقًّا عَلَى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sin on you if you divorce women before the marriage is completed and before fixing the dowry, but give them a gift to comfort them: the rich according to his means and the poor according to his means, a duty on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237 – 238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237</a:t>
            </a:r>
            <a:endParaRPr lang="en-US" sz="13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طَلَّقْتُمُوهُنَّ مِن قَبْلِ أَن تَمَسُّوهُنَّ وَقَدْ فَرَضْتُمْ لَهُنَّ فَرِيضَةً فَنِصْفُ مَا فَرَضْتُمْ إِلَّآ أَن يَعْفُونَ أَوْ يَعْفُوَاْ الَّذِي بِيَدِهِ عُقْدَةُ النِّكَاحِ وَأَن تَعْفُواْ أَقْرَبُ لِلتَّقْوَىٰ وَلَا تَنسَوُاْ الْفَضْلَ بَيْنَكُمْ إِنَّ 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divorce them before the marriage is completed but after fixing the dowry, they get half of it, unless they forgive it, or the husband forgives and gives it in full. Forgiving is closer to taqwa, and do not forget kindness between you.</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238</a:t>
            </a:r>
            <a:endParaRPr lang="en-US" sz="13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حَٰفِظُواْ عَلَى الصَّلَوَٰتِ وَالصَّلَوٰةِ الْوُسْطَىٰ وَقُومُواْ لِلَّهِ قَٰنِتِينَ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Guard the five daily prayers, especially the middle prayer, which is 'Asr as in Bukhari and Muslim, and stand before Allah in your prayer humbly.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239 – 240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239</a:t>
            </a:r>
            <a:endParaRPr lang="en-US" sz="1300" dirty="0"/>
          </a:p>
        </p:txBody>
      </p:sp>
      <p:sp>
        <p:nvSpPr>
          <p:cNvPr id="8" name="Text 6"/>
          <p:cNvSpPr txBox="1"/>
          <p:nvPr/>
        </p:nvSpPr>
        <p:spPr>
          <a:xfrm>
            <a:off x="1444752" y="170535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خِفْتُمْ فَرِجَالًا أَوْ رُكْبَانًا فَإِذَآ أَمِنتُمْ فَاذْكُرُواْ اللَّهَ كَمَا عَلَّمَكُم مَّا لَمْ تَكُونُواْ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are afraid of an enemy, pray while walking or riding. When the fear has gone, pray as Allah has taught you.</a:t>
            </a:r>
            <a:endParaRPr lang="en-US" sz="3000" dirty="0"/>
          </a:p>
        </p:txBody>
      </p:sp>
      <p:sp>
        <p:nvSpPr>
          <p:cNvPr id="9" name="Shape 7"/>
          <p:cNvSpPr/>
          <p:nvPr/>
        </p:nvSpPr>
        <p:spPr>
          <a:xfrm>
            <a:off x="1444752" y="3145536"/>
            <a:ext cx="8641080" cy="0"/>
          </a:xfrm>
          <a:prstGeom prst="line">
            <a:avLst/>
          </a:prstGeom>
          <a:noFill/>
          <a:ln w="9525">
            <a:solidFill>
              <a:schemeClr val="accent2"/>
            </a:solidFill>
            <a:prstDash val="dash"/>
          </a:ln>
        </p:spPr>
      </p:sp>
      <p:sp>
        <p:nvSpPr>
          <p:cNvPr id="10" name="Shape 8"/>
          <p:cNvSpPr/>
          <p:nvPr/>
        </p:nvSpPr>
        <p:spPr>
          <a:xfrm>
            <a:off x="713232" y="3378708"/>
            <a:ext cx="548640" cy="548640"/>
          </a:xfrm>
          <a:prstGeom prst="star8">
            <a:avLst/>
          </a:prstGeom>
          <a:solidFill>
            <a:schemeClr val="accent2"/>
          </a:solidFill>
          <a:ln/>
        </p:spPr>
      </p:sp>
      <p:sp>
        <p:nvSpPr>
          <p:cNvPr id="11" name="Shape 9"/>
          <p:cNvSpPr/>
          <p:nvPr/>
        </p:nvSpPr>
        <p:spPr>
          <a:xfrm>
            <a:off x="822960" y="348843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870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240</a:t>
            </a:r>
            <a:endParaRPr lang="en-US" sz="1300" dirty="0"/>
          </a:p>
        </p:txBody>
      </p:sp>
      <p:sp>
        <p:nvSpPr>
          <p:cNvPr id="13" name="Text 11"/>
          <p:cNvSpPr txBox="1"/>
          <p:nvPr/>
        </p:nvSpPr>
        <p:spPr>
          <a:xfrm>
            <a:off x="1444752" y="3360420"/>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يُتَوَفَّوْنَ مِنكُمْ وَيَذَرُونَ أَزْوَٰجًا وَصِيَّةً لِّأَزْوَٰجِهِم مَّتَٰعًا إِلَى الْحَوْلِ غَيْرَ إِخْرَاجٍ فَإِنْ خَرَجْنَ فَلَا جُنَاحَ عَلَيْكُمْ فِي مَا فَعَلْنَ فِي أَنفُسِهِنَّ مِن مَّعْرُوفٍ وَاللَّهُ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die and leave wives behind used to make a will for them of housing and support for a full year. Most scholars say this was replaced by the waiting period of four months and ten days.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241 – 242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32888"/>
            <a:ext cx="548640" cy="548640"/>
          </a:xfrm>
          <a:prstGeom prst="star8">
            <a:avLst/>
          </a:prstGeom>
          <a:solidFill>
            <a:schemeClr val="accent2"/>
          </a:solidFill>
          <a:ln/>
        </p:spPr>
      </p:sp>
      <p:sp>
        <p:nvSpPr>
          <p:cNvPr id="6" name="Shape 4"/>
          <p:cNvSpPr/>
          <p:nvPr/>
        </p:nvSpPr>
        <p:spPr>
          <a:xfrm>
            <a:off x="822960" y="264261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3288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241</a:t>
            </a:r>
            <a:endParaRPr lang="en-US" sz="1300" dirty="0"/>
          </a:p>
        </p:txBody>
      </p:sp>
      <p:sp>
        <p:nvSpPr>
          <p:cNvPr id="8" name="Text 6"/>
          <p:cNvSpPr txBox="1"/>
          <p:nvPr/>
        </p:nvSpPr>
        <p:spPr>
          <a:xfrm>
            <a:off x="1444752" y="251460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وَلِلْمُطَلَّقَٰتِ مَتَٰعٌ بِالْمَعْرُوفِ حَقًّا عَلَى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Divorced women should be given a fair gift of money, a duty on those with taqwa.</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242</a:t>
            </a:r>
            <a:endParaRPr lang="en-US" sz="1300" dirty="0"/>
          </a:p>
        </p:txBody>
      </p:sp>
      <p:sp>
        <p:nvSpPr>
          <p:cNvPr id="13" name="Text 11"/>
          <p:cNvSpPr txBox="1"/>
          <p:nvPr/>
        </p:nvSpPr>
        <p:spPr>
          <a:xfrm>
            <a:off x="1444752" y="390906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يُبَيِّنُ اللَّهُ لَكُمْ ءَايَٰتِهِ 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Allah makes His rulings clear to you, so that you may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Talut and Jalut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17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243 – 252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story of the Children of Israel with King Talut, the victory of the small, patient, believing group, and Dawud (peace be upon him) killing Jalut.</a:t>
            </a:r>
            <a:endParaRPr lang="en-US" sz="17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243 – 244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243</a:t>
            </a:r>
            <a:endParaRPr lang="en-US" sz="13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خَرَجُواْ مِن دِيَٰرِهِمْ وَهُمْ أُلُوفٌ حَذَرَ الْمَوْتِ فَقَالَ لَهُمُ اللَّهُ مُوتُواْ ثُمَّ أَحْيَٰهُمْ إِنَّ اللَّهَ لَذُو فَضْلٍ عَلَى النَّاسِ وَلَٰكِنَّ أَكْثَرَ النَّاسِ لَا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heard of the people who left their homes in their thousands, running from death? Allah caused them to die, then brought them back to life, so they would know that running away does not save anyone from Allah's decree. Allah is full of favour to people.</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244</a:t>
            </a:r>
            <a:endParaRPr lang="en-US" sz="13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وَقَٰتِلُواْ فِي سَبِيلِ اللَّهِ وَاعْلَمُواْ أَنَّ 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 in the way of Allah, and know that Allah is All-Hearing,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245</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ذَا الَّذِي يُقْرِضُ اللَّهَ قَرْضًا حَسَنًا فَيُضَٰعِفَهُ لَهُ أَضْعَافًا كَثِيرَةً وَاللَّهُ يَقْبِضُ وَيَبْصُطُ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will spend in the way of Allah a good spending, so Allah will multiply it for him many times over? Allah limits provision and makes it plentiful, and to Him you will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246</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الْمَلَإِ مِن بَنِي إِسْرَـٰءِيلَ مِن بَعْدِ مُوسَىٰ إِذْ قَالُواْ لِنَبِيٍّ لَّهُمُ ابْعَثْ لَنَا مَلِكًا نُّقَٰتِلْ فِي سَبِيلِ اللَّهِ قَالَ هَلْ عَسَيْتُمْ إِن كُتِبَ عَلَيْكُمُ الْقِتَالُ أَلَّا تُقَٰتِلُواْ قَالُواْ وَمَا لَنَآ أَلَّا نُقَٰتِلَ فِي سَبِيلِ اللَّهِ وَقَدْ أُخْرِجْنَا مِن دِيَٰرِنَا وَأَبْنَآئِنَا فَلَمَّا كُتِبَ عَلَيْهِمُ الْقِتَالُ تَوَلَّوْاْ إِلَّا قَلِيلًا مِّنْهُمْ وَاللَّهُ عَلِيمٌ بِالظَّـٰلِمِينَ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heard of the leaders of the Children of Israel after Musa, when they said to their prophet: Choose a king for us and we will fight with him in the way of Allah? He said: Perhaps if fighting is prescribed for you, you will not fight? When it was prescribed for them, they turned away, except a few of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247 – 248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247</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لَهُمْ نَبِيُّهُمْ إِنَّ اللَّهَ قَدْ بَعَثَ لَكُمْ طَالُوتَ مَلِكًا قَالُواْ أَنَّىٰ يَكُونُ لَهُ الْمُلْكُ عَلَيْنَا وَنَحْنُ أَحَقُّ بِالْمُلْكِ مِنْهُ وَلَمْ يُؤْتَ سَعَةً مِّنَ الْمَالِ قَالَ إِنَّ اللَّهَ اصْطَفَىٰهُ عَلَيْكُمْ وَزَادَهُ بَسْطَةً فِي الْعِلْمِ وَالْجِسْمِ وَاللَّهُ يُؤْتِي مُلْكَهُ مَن يَشَآءُ وَاللَّهُ وَٰسِعٌ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prophet said to them: Allah has chosen Talut as king for you. They said: How can he be king over us when we have more right to it than him, and he is poor? He said: Allah has chosen him and given him more knowledge and a stronger body. Allah gives His kingdom to whom He wills.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248</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لَهُمْ نَبِيُّهُمْ إِنَّ ءَايَةَ مُلْكِهِ أَن يَأْتِيَكُمُ التَّابُوتُ فِيهِ سَكِينَةٌ مِّن رَّبِّكُمْ وَبَقِيَّةٌ مِّمَّا تَرَكَ ءَالُ مُوسَىٰ وَءَالُ هَٰرُونَ تَحْمِلُهُ الْمَلَـٰئِكَةُ إِنَّ فِي ذَٰلِكَ لَأيَةً لَّكُمْ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prophet said to them: The sign of his kingship is that the Ark will come back to you, containing calm from your Lord and things left behind by the families of Musa and Harun, carried by the angels.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249</a:t>
            </a:r>
            <a:endParaRPr lang="en-US" sz="13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فَصَلَ طَالُوتُ بِالْجُنُودِ قَالَ إِنَّ اللَّهَ مُبْتَلِيكُم بِنَهَرٍ فَمَن شَرِبَ مِنْهُ فَلَيْسَ مِنِّي وَمَن لَّمْ يَطْعَمْهُ فَإِنَّهُ مِنِّي إِلَّا مَنِ اغْتَرَفَ غُرْفَةً بِيَدِهِ فَشَرِبُواْ مِنْهُ إِلَّا قَلِيلًا مِّنْهُمْ فَلَمَّا جَاوَزَهُ هُوَ وَالَّذِينَ ءَامَنُواْ مَعَهُ قَالُواْ لَا طَاقَةَ لَنَا الْيَوْمَ بِجَالُوتَ وَجُنُودِهِ قَالَ الَّذِينَ يَظُنُّونَ أَنَّهُم مُّلَٰقُواْ اللَّهِ كَم مِّن فِئَةٍ قَلِيلَةٍ غَلَبَتْ فِئَةً كَثِيرَةً بِإِذْنِ اللَّهِ وَاللَّهُ مَعَ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Talut set out with the soldiers he said: Allah will test you with a river. Whoever drinks from it is not with me, except one handful. They drank from it except a few. When the believers crossed it they said: How many a small group has defeated a large group by Allah's permission! Allah is with the patient.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250 – 251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250</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بَرَزُواْ لِجَالُوتَ وَجُنُودِهِ قَالُواْ رَبَّنَآ أَفْرِغْ عَلَيْنَا صَبْرًا وَثَبِّتْ أَقْدَامَنَا وَانصُرْنَا عَلَى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faced Jalut and his soldiers, they prayed: Our Lord, pour patience upon us, make our feet firm, and help us against the disbelieving people.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251</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فَهَزَمُوهُم بِإِذْنِ اللَّهِ وَقَتَلَ دَاوُدُ جَالُوتَ وَءَاتَىٰهُ اللَّهُ الْمُلْكَ وَالْحِكْمَةَ وَعَلَّمَهُ مِمَّا يَشَآءُ وَلَوْلَا دَفْعُ اللَّهِ النَّاسَ بَعْضَهُم بِبَعْضٍ لَّفَسَدَتِ الْأَرْضُ وَلَٰكِنَّ اللَّهَ ذُو فَضْلٍ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defeated them by Allah's permission, and Dawud killed Jalut. Allah gave him kingship, prophethood and knowledge. If Allah did not push back the evil of the wicked through the good, the earth would be ruined.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252</a:t>
            </a:r>
            <a:endParaRPr lang="en-US" sz="13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ءَايَٰتُ اللَّهِ نَتْلُوهَا عَلَيْكَ بِالْحَقِّ وَإِنَّكَ لَمِنَ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the verses of Allah that We recite to you with the truth, and you are surely one of the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Ayat al-Kursi; No Compulsion</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18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253 – 257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'Abbas said: Among the Ansar, a woman whose children kept dying would vow that if a child lived she would make him a Jew. When the tribe of Banu An-Nadir was sent away, some children of the Ansar were among them, and the Ansar said: "We will not leave our sons," so Allah revealed: “There is no compulsion in religion” (Abu Dawud).</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Some messengers are raised above others, the command to spend, Ayat al-Kursi as the greatest verse of the Qur'an, and that there is no compulsion in religion.</a:t>
            </a:r>
            <a:endParaRPr lang="en-US" sz="17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253</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الرُّسُلُ فَضَّلْنَا بَعْضَهُمْ عَلَىٰ بَعْضٍ مِّنْهُم مَّن كَلَّمَ اللَّهُ وَرَفَعَ بَعْضَهُمْ دَرَجَٰتٍ وَءَاتَيْنَا عِيسَى ابْنَ مَرْيَمَ الْبَيِّنَٰتِ وَأَيَّدْنَٰهُ بِرُوحِ الْقُدُسِ وَلَوْ شَآءَ اللَّهُ مَا اقْتَتَلَ الَّذِينَ مِن بَعْدِهِم مِّن بَعْدِ مَا جَآءَتْهُمُ الْبَيِّنَٰتُ وَلَٰكِنِ اخْتَلَفُواْ فَمِنْهُم مَّنْ ءَامَنَ وَمِنْهُم مَّن كَفَرَ وَلَوْ شَآءَ اللَّهُ مَا اقْتَتَلُواْ وَلَٰكِنَّ اللَّهَ يَفْعَلُ مَا يُرِيدُ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messengers, We raised some above others: among them was one to whom Allah spoke, like Musa, and some He raised in rank, like Muhammad (peace be upon him). We gave 'Isa clear miracles and supported him with Jibril. If Allah had willed, people after them would not have fought one another, but Allah does what He wants.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254</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أَنفِقُواْ مِمَّا رَزَقْنَٰكُم مِّن قَبْلِ أَن يَأْتِيَ يَوْمٌ لَّا بَيْعٌ فِيهِ وَلَا خُلَّةٌ وَلَا شَفَٰعَةٌ وَالْكَٰفِرُونَ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spend from what We have provided you before a Day comes when there is no trade, no friendship and no intercession. And the disbelievers are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255</a:t>
            </a:r>
            <a:endParaRPr lang="en-US" sz="13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لَآ إِلَٰهَ إِلَّا هُوَ الْحَيُّ الْقَيُّومُ لَا تَأْخُذُهُ سِنَةٌ وَلَا نَوْمٌ لَّهُ مَا فِي السَّمَٰوَٰتِ وَمَا فِي الْأَرْضِ مَن ذَا الَّذِي يَشْفَعُ عِندَهُ إِلَّا بِإِذْنِهِ يَعْلَمُ مَا بَيْنَ أَيْدِيهِمْ وَمَا خَلْفَهُمْ وَلَا يُحِيطُونَ بِشَيْءٍ مِّنْ عِلْمِهِ إِلَّا بِمَا شَآءَ وَسِعَ كُرْسِيُّهُ السَّمَٰوَٰتِ وَالْأَرْضَ وَلَا يَـُٔودُهُ حِفْظُهُمَا وَهُوَ الْعَلِيُّ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there is no god worthy of worship but Him, the Ever-Living, the Sustainer who looks after His creation. Neither drowsiness nor sleep overtakes Him. To Him belongs whatever is in the heavens and the earth. No one can intercede with Him except by His permission. He knows what has passed and what is to come. His Kursi extends over the heavens and the earth, and guarding them does not tire Him. He is the Most High, the Most Great. It is the greatest verse in the Book of Allah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256 – 257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256</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إِكْرَاهَ فِي الدِّينِ قَد تَّبَيَّنَ الرُّشْدُ مِنَ الْغَيِّ فَمَن يَكْفُرْ بِالطَّـٰغُوتِ وَيُؤْمِن بِاللَّهِ فَقَدِ اسْتَمْسَكَ بِالْعُرْوَةِ الْوُثْقَىٰ لَا انفِصَامَ لَهَا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force anyone to enter Islam; the truth has become clear from falsehood. Whoever rejects everything worshipped besides Allah and believes in Allah has grasped the firmest handhold, which will never break. Allah is All-Hearing, All-Knowing.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257</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وَلِيُّ الَّذِينَ ءَامَنُواْ يُخْرِجُهُم مِّنَ الظُّلُمَٰتِ إِلَى النُّورِ وَالَّذِينَ كَفَرُواْ أَوْلِيَآؤُهُمُ الطَّـٰغُوتُ يُخْرِجُونَهُم مِّنَ النُّورِ إِلَى الظُّلُمَٰتِ 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Protector of the believers; He brings them out of the darkness of disbelief into the light of faith. The disbelievers' protectors are the devils, who bring them out of the light into the darkness. They are the people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Allah Gives Life to the Dead</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19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258 – 260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Three stories that show Allah's power to bring the dead to life: Ibrahim's debate with the king, the man who passed by a ruined town, and the birds brought back to life for Ibrahim.</a:t>
            </a:r>
            <a:endParaRPr lang="en-US" sz="17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258</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 حَآجَّ إِبْرَٰهِـمَ فِي رَبِّهِ أَنْ ءَاتَىٰهُ اللَّهُ الْمُلْكَ إِذْ قَالَ إِبْرَٰهِـمُ رَبِّيَ الَّذِي يُحْيِ وَيُمِيتُ قَالَ أَنَا أُحْيِ وَأُمِيتُ قَالَ إِبْرَٰهِـمُ فَإِنَّ اللَّهَ يَأْتِي بِالشَّمْسِ مِنَ الْمَشْرِقِ فَأْتِ بِهَا مِنَ الْمَغْرِبِ فَبُهِتَ الَّذِي كَفَرَ وَاللَّهُ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heard of the king who argued with Ibrahim about his Lord, proud of his kingdom? Ibrahim said: My Lord gives life and causes death. He said: I give life and cause death. Ibrahim said: Allah brings the sun from the east, so bring it from the west. The disbeliever was left speechless and confused.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259</a:t>
            </a:r>
            <a:endParaRPr lang="en-US" sz="13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كَالَّذِي مَرَّ عَلَىٰ قَرْيَةٍ وَهِيَ خَاوِيَةٌ عَلَىٰ عُرُوشِهَا قَالَ أَنَّىٰ يُحْيِ هَٰذِهِ اللَّهُ بَعْدَ مَوْتِهَا فَأَمَاتَهُ اللَّهُ مِاْئَةَ عَامٍ ثُمَّ بَعَثَهُ قَالَ كَمْ لَبِثْتَ قَالَ لَبِثْتُ يَوْمًا أَوْ بَعْضَ يَوْمٍ قَالَ بَل لَّبِثْتَ مِاْئَةَ عَامٍ فَانظُرْ إِلَىٰ طَعَامِكَ وَشَرَابِكَ لَمْ يَتَسَنَّهْ وَانظُرْ إِلَىٰ حِمَارِكَ وَلِنَجْعَلَكَ ءَايَةً لِّلنَّاسِ وَانظُرْ إِلَى الْعِظَامِ كَيْفَ نُنشِزُهَا ثُمَّ نَكْسُوهَا لَحْمًا فَلَمَّا تَبَيَّنَ لَهُ قَالَ أَعْلَمُ أَنَّ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like the man who passed by a ruined town and said: How will Allah bring this back to life after its death? So Allah made him die for a hundred years, then brought him back to life. He saw his food had not changed, and saw his donkey as bones, which Allah brought back to life in front of him. He said: I know that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260</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إِبْرَٰهِـمُ رَبِّ أَرِنِي كَيْفَ تُحْيِ الْمَوْتَىٰ قَالَ أَوَلَمْ تُؤْمِن قَالَ بَلَىٰ وَلَٰكِن لِّيَطْمَئِنَّ قَلْبِي قَالَ فَخُذْ أَرْبَعَةً مِّنَ الطَّيْرِ فَصُرْهُنَّ إِلَيْكَ ثُمَّ اجْعَلْ عَلَىٰ كُلِّ جَبَلٍ مِّنْهُنَّ جُزْءًا ثُمَّ ادْعُهُنَّ يَأْتِينَكَ سَعْيًا وَاعْلَمْ أَنَّ 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Ibrahim said: My Lord, show me how You give life to the dead. Allah said: Do you not believe? He said: Yes, but so that my heart may be at rest. Allah said: Take four birds, cut them up, put a part of them on each hill, then call them; they will come to you quickly. And know that Allah is Almighty,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Charity and Its Manners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20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261 – 274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reward of charity is multiplied; a warning against ruining it by reminding people of favours, hurting them or showing off; giving from good things; and the virtue of secret charity.</a:t>
            </a:r>
            <a:endParaRPr lang="en-US" sz="17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261 – 262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261</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الَّذِينَ يُنفِقُونَ أَمْوَٰلَهُمْ فِي سَبِيلِ اللَّهِ كَمَثَلِ حَبَّةٍ أَنبَتَتْ سَبْعَ سَنَابِلَ فِي كُلِّ سُنبُلَةٍ مِّاْئَةُ حَبَّةٍ وَاللَّهُ يُضَٰعِفُ لِمَن يَشَآءُ وَاللَّهُ وَٰسِعٌ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example of those who spend in the way of Allah is like a seed that grows seven ears, in each ear a hundred seeds. So one good deed is worth seven hundred times, and Allah multiplies for whom He wills.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262</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يُنفِقُونَ أَمْوَٰلَهُمْ فِي سَبِيلِ اللَّهِ ثُمَّ لَا يُتْبِعُونَ مَآ أَنفَقُواْ مَنًّا وَلَآ أَذًى لَّهُمْ أَجْرُهُمْ عِندَ رَبِّهِمْ وَلَا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spend in the way of Allah and do not follow their spending with reminders of their favour to the poor person or by hurting him will have their reward with their Lord. They will have no fear and will not grieve.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263 – 264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263</a:t>
            </a:r>
            <a:endParaRPr lang="en-US" sz="13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قَوْلٌ مَّعْرُوفٌ وَمَغْفِرَةٌ خَيْرٌ مِّن صَدَقَةٍ يَتْبَعُهَآ أَذًى وَاللَّهُ غَنِيٌّ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kind word and pardoning the one who asks are better than charity followed by hurt. Allah is Free of need, Most Forbearing.</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264</a:t>
            </a:r>
            <a:endParaRPr lang="en-US" sz="13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تُبْطِلُواْ صَدَقَٰتِكُم بِالْمَنِّ وَالْأَذَىٰ كَالَّذِي يُنفِقُ مَالَهُ رِئَآءَ النَّاسِ وَلَا يُؤْمِنُ بِاللَّهِ وَالْيَوْمِ الْأخِرِ فَمَثَلُهُ كَمَثَلِ صَفْوَانٍ عَلَيْهِ تُرَابٌ فَأَصَابَهُ وَابِلٌ فَتَرَكَهُ صَلْدًا لَّا يَقْدِرُونَ عَلَىٰ شَيْءٍ مِّمَّا كَسَبُواْ وَاللَّهُ لَا يَهْدِي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cancel the reward of your charity with reminders of favours and hurt, like the one who spends his wealth to show off. His example is like a smooth rock with soil on it; heavy rain falls on it and leaves it bare. In the same way their deeds are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265</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وَمَثَلُ الَّذِينَ يُنفِقُونَ أَمْوَٰلَهُمُ ابْتِغَآءَ مَرْضَاتِ اللَّهِ وَتَثْبِيتًا مِّنْ أَنفُسِهِمْ كَمَثَلِ جَنَّةٍ بِرَبْوَةٍ أَصَابَهَا وَابِلٌ فَـَٔاتَتْ أُكُلَهَا ضِعْفَيْنِ فَإِن لَّمْ يُصِبْهَا وَابِلٌ فَطَلٌّ وَاللَّهُ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example of those who spend seeking Allah's pleasure and sure of His reward is like a garden on high ground: heavy rain falls on it and it gives double fruit, and if heavy rain does not fall, a light drizzle is enough.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266</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أَيَوَدُّ أَحَدُكُمْ أَن تَكُونَ لَهُ جَنَّةٌ مِّن نَّخِيلٍ وَأَعْنَابٍ تَجْرِي مِن تَحْتِهَا الْأَنْهَٰرُ لَهُ فِيهَا مِن كُلِّ الثَّمَرَٰتِ وَأَصَابَهُ الْكِبَرُ وَلَهُ ذُرِّيَّةٌ ضُعَفَآءُ فَأَصَابَهَآ إِعْصَارٌ فِيهِ نَارٌ فَاحْتَرَقَتْ كَذَٰلِكَ يُبَيِّنُ اللَّهُ لَكُمُ الْأيَٰتِ لَعَلَّكُمْ تَتَفَكَّرُونَ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Would any of you like to have a garden of palm trees and grapevines, while he has grown old and has weak children, then a fierce wind with fire strikes the garden and it burns? Such is the one who does good deeds and then ruins them with sins and showing off.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267 – 268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267</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أَنفِقُواْ مِن طَيِّبَٰتِ مَا كَسَبْتُمْ وَمِمَّآ أَخْرَجْنَا لَكُم مِّنَ الْأَرْضِ وَلَا تَيَمَّمُواْ الْخَبِيثَ مِنْهُ تُنفِقُونَ وَلَسْتُم بِـَٔاخِذِيهِ إِلَّآ أَن تُغْمِضُواْ فِيهِ وَاعْلَمُواْ أَنَّ اللَّهَ غَنِيٌّ 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spend from the best of your wealth and from what We have brought out of the earth for you. Do not choose the poor-quality things to spend from, when you would not accept them if they were given to you.</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268</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الشَّيْطَٰنُ يَعِدُكُمُ الْفَقْرَ وَيَأْمُرُكُم بِالْفَحْشَآءِ وَاللَّهُ يَعِدُكُم مَّغْفِرَةً مِّنْهُ وَفَضْلًا وَاللَّهُ وَٰسِعٌ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Satan scares you with poverty when you spend and commands you to be stingy and to sin, while Allah promises you forgiveness from Him and generous provision.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269 – 270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269</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يُؤْتِي الْحِكْمَةَ مَن يَشَآءُ وَمَن يُؤْتَ الْحِكْمَةَ فَقَدْ أُوتِيَ خَيْرًا كَثِيرًا وَمَا يَذَّكَّرُ إِلَّآ أُوْلُواْ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gives useful knowledge, understanding and getting things right in word and deed to whom He wills, and whoever is given that has been given much good.</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270</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أَنفَقْتُم مِّن نَّفَقَةٍ أَوْ نَذَرْتُم مِّن نَّذْرٍ فَإِنَّ اللَّهَ يَعْلَمُهُ وَمَا لِلظَّـٰلِمِينَ مِنْ أَنصَارٍ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you spend or whatever vow you make, Allah knows it and will repay you for it, and the wrongdoers will have no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271 – 272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271</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تُبْدُواْ الصَّدَقَٰتِ فَنِعِمَّا هِيَ وَإِن تُخْفُوهَا وَتُؤْتُوهَا الْفُقَرَآءَ فَهُوَ خَيْرٌ لَّكُمْ وَيُكَفِّرُ عَنكُم مِّن سَيِّـَٔاتِكُمْ وَاللَّهُ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give your charity openly, that is good, but if you hide it and give it to the poor, that is better for you, and Allah will wipe away some of your bad deeds.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272</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عَلَيْكَ هُدَىٰهُمْ وَلَٰكِنَّ اللَّهَ يَهْدِي مَن يَشَآءُ وَمَا تُنفِقُواْ مِنْ خَيْرٍ فَلِأَنفُسِكُمْ وَمَا تُنفِقُونَ إِلَّا ابْتِغَآءَ وَجْهِ اللَّهِ وَمَا تُنفِقُواْ مِنْ خَيْرٍ يُوَفَّ إِلَيْكُمْ وَأَنتُمْ لَا تُظْلَمُونَ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your job, O Muhammad, to guide people, but Allah guides whom He wills. Whatever good you spend, its reward is for you, and you will be paid it in full.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273 – 274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273</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لِلْفُقَرَآءِ الَّذِينَ أُحْصِرُواْ فِي سَبِيلِ اللَّهِ لَا يَسْتَطِيعُونَ ضَرْبًا فِي الْأَرْضِ يَحْسَبُهُمُ الْجَاهِلُ أَغْنِيَآءَ مِنَ التَّعَفُّفِ تَعْرِفُهُم بِسِيمَٰهُمْ لَا يَسْـَٔلُونَ النَّاسَ إِلْحَافًا وَمَا تُنفِقُواْ مِنْ خَيْرٍ فَإِنَّ اللَّهَ بِهِ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your charity to the poor who are held back by jihad from earning a living. Those who do not know them think they are rich because they are so modest. You recognise them by their signs; they do not beg people persistently.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274</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يُنفِقُونَ أَمْوَٰلَهُم بِالَّيْلِ وَالنَّهَارِ سِرًّا وَعَلَانِيَةً فَلَهُمْ أَجْرُهُمْ عِندَ رَبِّهِمْ وَلَا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spend their wealth by night and day, secretly and openly, will have their reward with their Lord. They will have no fear and will not grieve.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The Prohibition of Riba</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21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275 – 281</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Riba (interest) is forbidden with a strong warning, the command to give time to a debtor in hardship, and a reminder of the Day of return to Allah.</a:t>
            </a:r>
            <a:endParaRPr lang="en-US" sz="17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275</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يَأْكُلُونَ الرِّبَوٰاْ لَا يَقُومُونَ إِلَّا كَمَا يَقُومُ الَّذِي يَتَخَبَّطُهُ الشَّيْطَٰنُ مِنَ الْمَسِّ ذَٰلِكَ بِأَنَّهُمْ قَالُواْ إِنَّمَا الْبَيْعُ مِثْلُ الرِّبَوٰاْ وَأَحَلَّ اللَّهُ الْبَيْعَ وَحَرَّمَ الرِّبَوٰاْ فَمَن جَآءَهُ مَوْعِظَةٌ مِّن رَّبِّهِ فَانتَهَىٰ فَلَهُ مَا سَلَفَ وَأَمْرُهُ إِلَى اللَّهِ وَمَنْ عَادَ فَأُوْلَـٰئِكَ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deal in riba will not rise from their graves on the Day of Resurrection except like someone struck by madness from Satan's touch, because they said: Trade is just like riba. But Allah has made trade lawful and forbidden riba. Whoever stops will keep what came before, but whoever goes back to it, those are the people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276 – 277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276</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يَمْحَقُ اللَّهُ الرِّبَوٰاْ وَيُرْبِي الصَّدَقَٰتِ وَاللَّهُ لَا يُحِبُّ كُلَّ كَفَّارٍ أَثِيمٍ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takes away the blessing of riba wealth and makes charity grow and increase, and Allah does not love any ungrateful sinner.</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277</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وَأَقَامُواْ الصَّلَوٰةَ وَءَاتَوُاْ الزَّكَوٰةَ لَهُمْ أَجْرُهُمْ عِندَ رَبِّهِمْ وَلَا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do good deeds, perform the prayer and give the zakah will have their reward with their Lord. They will have no fear and will not grieve.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278 – 279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278</a:t>
            </a:r>
            <a:endParaRPr lang="en-US" sz="13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وَذَرُواْ مَا بَقِيَ مِنَ الرِّبَوٰاْ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have taqwa of Allah and give up what remains owed to you of riba, if you are believers.</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279</a:t>
            </a:r>
            <a:endParaRPr lang="en-US" sz="13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لَّمْ تَفْعَلُواْ فَأْذَنُواْ بِحَرْبٍ مِّنَ اللَّهِ وَرَسُولِهِ وَإِن تُبْتُمْ فَلَكُمْ رُءُوسُ أَمْوَٰلِكُمْ لَا تَظْلِمُونَ وَلَا تُظْلَمُونَ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do not, then know that you are at war with Allah and His Messenger. If you repent, you may have your original money; you will not wrong others by taking extra, and you will not be wronged by getting less.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280 – 281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1982"/>
            <a:ext cx="548640" cy="548640"/>
          </a:xfrm>
          <a:prstGeom prst="star8">
            <a:avLst/>
          </a:prstGeom>
          <a:solidFill>
            <a:schemeClr val="accent2"/>
          </a:solidFill>
          <a:ln/>
        </p:spPr>
      </p:sp>
      <p:sp>
        <p:nvSpPr>
          <p:cNvPr id="6" name="Shape 4"/>
          <p:cNvSpPr/>
          <p:nvPr/>
        </p:nvSpPr>
        <p:spPr>
          <a:xfrm>
            <a:off x="822960" y="225171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19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280</a:t>
            </a:r>
            <a:endParaRPr lang="en-US" sz="1300" dirty="0"/>
          </a:p>
        </p:txBody>
      </p:sp>
      <p:sp>
        <p:nvSpPr>
          <p:cNvPr id="8" name="Text 6"/>
          <p:cNvSpPr txBox="1"/>
          <p:nvPr/>
        </p:nvSpPr>
        <p:spPr>
          <a:xfrm>
            <a:off x="1444752" y="21236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كَانَ ذُو عُسْرَةٍ فَنَظِرَةٌ إِلَىٰ مَيْسَرَةٍ وَأَن تَصَدَّقُواْ خَيْرٌ لَّكُمْ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debtor is in hardship, give him time until it is easy for him to pay. And if you forgive all or part of the debt as charity, that is better for you.</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281</a:t>
            </a:r>
            <a:endParaRPr lang="en-US" sz="1300" dirty="0"/>
          </a:p>
        </p:txBody>
      </p:sp>
      <p:sp>
        <p:nvSpPr>
          <p:cNvPr id="13" name="Text 11"/>
          <p:cNvSpPr txBox="1"/>
          <p:nvPr/>
        </p:nvSpPr>
        <p:spPr>
          <a:xfrm>
            <a:off x="1444752" y="377875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يَوْمًا تُرْجَعُونَ فِيهِ إِلَى اللَّهِ ثُمَّ تُوَفَّىٰ كُلُّ نَفْسٍ مَّا كَسَبَتْ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beware of a Day when you will be returned to Allah, then every soul will be paid in full for what it did, and they will not be wronged. It is one of the last verses of the Qur'an revealed, as Ibn 'Abbas said.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Verse of Debt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22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282 – 283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Recording debts in writing, with witnesses and security, to protect people's rights. It is the longest verse in the Noble Qur'an.</a:t>
            </a:r>
            <a:endParaRPr lang="en-US" sz="17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282</a:t>
            </a:r>
            <a:endParaRPr lang="en-US" sz="1300" dirty="0"/>
          </a:p>
        </p:txBody>
      </p:sp>
      <p:sp>
        <p:nvSpPr>
          <p:cNvPr id="8" name="Text 6"/>
          <p:cNvSpPr txBox="1"/>
          <p:nvPr/>
        </p:nvSpPr>
        <p:spPr>
          <a:xfrm>
            <a:off x="1444752" y="1325880"/>
            <a:ext cx="10012680" cy="67116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تَدَايَنتُم بِدَيْنٍ إِلَىٰ أَجَلٍ مُّسَمًّى فَاكْتُبُوهُ وَلْيَكْتُب بَّيْنَكُمْ كَاتِبٌ بِالْعَدْلِ وَلَا يَأْبَ كَاتِبٌ أَن يَكْتُبَ كَمَا عَلَّمَهُ اللَّهُ فَلْيَكْتُبْ وَلْيُمْلِلِ الَّذِي عَلَيْهِ الْحَقُّ وَلْيَتَّقِ اللَّهَ رَبَّهُ وَلَا يَبْخَسْ مِنْهُ شَيْـًٔا فَإِن كَانَ الَّذِي عَلَيْهِ الْحَقُّ سَفِيهًا أَوْ ضَعِيفًا أَوْ لَا يَسْتَطِيعُ أَن يُمِلَّ هُوَ فَلْيُمْلِلْ وَلِيُّهُ بِالْعَدْلِ وَاسْتَشْهِدُواْ شَهِيدَيْنِ مِن رِّجَالِكُمْ فَإِن لَّمْ يَكُونَا رَجُلَيْنِ فَرَجُلٌ وَامْرَأَتَانِ مِمَّن تَرْضَوْنَ مِنَ الشُّهَدَآءِ أَن تَضِلَّ إِحْدَىٰهُمَا فَتُذَكِّرَ إِحْدَىٰهُمَا الْأُخْرَىٰ وَلَا يَأْبَ الشُّهَدَآءُ إِذَا مَا دُعُواْ وَلَا تَسْـَٔمُواْ أَن تَكْتُبُوهُ صَغِيرًا أَوْ كَبِيرًا إِلَىٰ أَجَلِهِ ذَٰلِكُمْ أَقْسَطُ عِندَ اللَّهِ وَأَقْوَمُ لِلشَّهَٰدَةِ وَأَدْنَىٰ أَلَّا تَرْتَابُواْ إِلَّآ أَن تَكُونَ تِجَٰرَةً حَاضِرَةً تُدِيرُونَهَا بَيْنَكُمْ فَلَيْسَ عَلَيْكُمْ جُنَاحٌ أَلَّا تَكْتُبُوهَا وَأَشْهِدُواْ إِذَا تَبَايَعْتُمْ وَلَا يُضَآرَّ كَاتِبٌ وَلَا شَهِيدٌ وَإِن تَفْعَلُواْ فَإِنَّهُ فُسُوقٌ بِكُمْ وَاتَّقُواْ اللَّهَ وَيُعَلِّمُكُمُ اللَّهُ وَاللَّهُ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take a debt for a fixed time, write it down. Let a writer write it between you fairly, and let the one who owes dictate what he owes. Call two of your men as witnesses, and if there are not two men, then one man and two women. Do not be tired of writing it, small or large. That is fairer with Allah and further from doubt.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283</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كُنتُمْ عَلَىٰ سَفَرٍ وَلَمْ تَجِدُواْ كَاتِبًا فَرِهَٰنٌ مَّقْبُوضَةٌ فَإِنْ أَمِنَ بَعْضُكُم بَعْضًا فَلْيُؤَدِّ الَّذِي اؤْتُمِنَ أَمَٰنَتَهُ وَلْيَتَّقِ اللَّهَ رَبَّهُ وَلَا تَكْتُمُواْ الشَّهَٰدَةَ وَمَن يَكْتُمْهَا فَإِنَّهُ ءَاثِمٌ قَلْبُهُ وَاللَّهُ بِمَا تَعْمَلُونَ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are travelling and cannot find a writer, take something as security held by the one who is owed. If you trust one another, let the trusted one return what he was trusted with and have taqwa of Allah. Do not hide testimony; whoever hides it, his heart is sinful.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Closing Verses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23 of 23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284 – 286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Al-Baqarah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Abu Hurayrah said: When “Whether you show what is within yourselves or hide it, Allah will hold you to account for it” was revealed, it was very hard on the Companions. The Prophet (peace be upon him) told them: "Say: We hear and we obey." When they said it, Allah revealed: “Allah does not burden a soul beyond what it can bear”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kingdom and knowledge, the faith of the Messenger and the believers, and Allah's mercy to His servants: He does not burden any soul beyond what it can bear.</a:t>
            </a:r>
            <a:endParaRPr lang="en-US" sz="17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284</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لِّلَّهِ مَا فِي السَّمَٰوَٰتِ وَمَا فِي الْأَرْضِ وَإِن تُبْدُواْ مَا فِي أَنفُسِكُمْ أَوْ تُخْفُوهُ يُحَاسِبْكُم بِهِ اللَّهُ فَيَغْفِرُ لِمَن يَشَآءُ وَيُعَذِّبُ مَن يَشَآءُ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the earth. Whether you show what is in yourselves or hide it, Allah will hold you to account for it. He forgives whom He wills and punishes whom He wills, and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285</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ءَامَنَ الرَّسُولُ بِمَآ أُنزِلَ إِلَيْهِ مِن رَّبِّهِ وَالْمُؤْمِنُونَ كُلٌّ ءَامَنَ بِاللَّهِ وَمَلَـٰئِكَتِهِ وَكُتُبِهِ وَرُسُلِهِ لَا نُفَرِّقُ بَيْنَ أَحَدٍ مِّن رُّسُلِهِ وَقَالُواْ سَمِعْنَا وَأَطَعْنَا غُفْرَانَكَ رَبَّنَا وَإِلَيْكَ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 (peace be upon him) believes in what was sent down to him from his Lord, and so do the believers. All believe in Allah, His angels, His Books and His messengers: We make no difference between any of His messengers. And they say: We hear and we obey. Your forgiveness, our Lord, and to You is the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Al-Baqarah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286</a:t>
            </a:r>
            <a:endParaRPr lang="en-US" sz="13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يُكَلِّفُ اللَّهُ نَفْسًا إِلَّا وُسْعَهَا لَهَا مَا كَسَبَتْ وَعَلَيْهَا مَا اكْتَسَبَتْ رَبَّنَا لَا تُؤَاخِذْنَآ إِن نَّسِينَآ أَوْ أَخْطَأْنَا رَبَّنَا وَلَا تَحْمِلْ عَلَيْنَآ إِصْرًا كَمَا حَمَلْتَهُ عَلَى الَّذِينَ مِن قَبْلِنَا رَبَّنَا وَلَا تُحَمِّلْنَا مَا لَا طَاقَةَ لَنَا بِهِ وَاعْفُ عَنَّا وَاغْفِرْ لَنَا وَارْحَمْنَآ أَنتَ مَوْلَىٰنَا فَانصُرْنَا عَلَى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burden any soul beyond what it can bear. It gets the reward of the good it did, and the punishment of the evil it did. Our Lord, do not take us to task if we forget or make a mistake, do not place a heavy burden on us, pardon us, forgive us and have mercy on us. The Prophet (peace be upon him) said: "Whoever recites the last two verses of Surah Al-Baqarah at night, they will be enough for him" (Bukhari and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pic>
        <p:nvPicPr>
          <p:cNvPr id="2" name="Image 0" descr="assetsEN2/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"Our Lord, do not take us to task if we forget or make a mistake." (Al-Baqarah 2:286)</a:t>
            </a:r>
            <a:endParaRPr lang="en-US" sz="2100" dirty="0"/>
          </a:p>
        </p:txBody>
      </p:sp>
      <p:pic>
        <p:nvPicPr>
          <p:cNvPr id="5" name="Image 1" descr="assetsEN2/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Fatihah Baqarah Tafsir EN">
  <a:themeElements>
    <a:clrScheme name="Fatihah Baqarah Tafsir EN">
      <a:dk1>
        <a:srgbClr val="232B2C"/>
      </a:dk1>
      <a:lt1>
        <a:srgbClr val="FFFFFF"/>
      </a:lt1>
      <a:dk2>
        <a:srgbClr val="0E4F55"/>
      </a:dk2>
      <a:lt2>
        <a:srgbClr val="F8F3EA"/>
      </a:lt2>
      <a:accent1>
        <a:srgbClr val="0E4F55"/>
      </a:accent1>
      <a:accent2>
        <a:srgbClr val="C9A04A"/>
      </a:accent2>
      <a:accent3>
        <a:srgbClr val="16676E"/>
      </a:accent3>
      <a:accent4>
        <a:srgbClr val="5E6A6B"/>
      </a:accent4>
      <a:accent5>
        <a:srgbClr val="ECEFE8"/>
      </a:accent5>
      <a:accent6>
        <a:srgbClr val="B5653A"/>
      </a:accent6>
      <a:hlink>
        <a:srgbClr val="16676E"/>
      </a:hlink>
      <a:folHlink>
        <a:srgbClr val="5E6A6B"/>
      </a:folHlink>
    </a:clrScheme>
    <a:fontScheme name="Fatihah Baqarah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201</Slides>
  <Notes>201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201</vt:i4>
      </vt:variant>
    </vt:vector>
  </HeadingPairs>
  <TitlesOfParts>
    <vt:vector size="2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Al-Fatihah &amp; Al-Baqarah — Simplified Tafsir from Ibn Kathir</dc:title>
  <dc:subject>PptxGenJS Presentation</dc:subject>
  <dc:creator>Qur'an Teacher</dc:creator>
  <cp:lastModifiedBy>Qur'an Teacher</cp:lastModifiedBy>
  <cp:revision>1</cp:revision>
  <dcterms:created xsi:type="dcterms:W3CDTF">2026-10-04T04:06:11Z</dcterms:created>
  <dcterms:modified xsi:type="dcterms:W3CDTF">2026-10-04T04:06:11Z</dcterms:modified>
</cp:coreProperties>
</file>