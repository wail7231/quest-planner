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f76c45b-7b80-3924-c075-1f4a3abf38ea}">
          <p14:sldIdLst>
            <p14:sldId id="256"/>
            <p14:sldId id="257"/>
            <p14:sldId id="258"/>
            <p14:sldId id="259"/>
          </p14:sldIdLst>
        </p14:section>
        <p14:section name="1. Tawhid and the Book" id="{0d82caa2-911f-5c73-049a-0f49c9e4f3c5}">
          <p14:sldIdLst>
            <p14:sldId id="260"/>
            <p14:sldId id="261"/>
            <p14:sldId id="262"/>
            <p14:sldId id="263"/>
            <p14:sldId id="264"/>
          </p14:sldIdLst>
        </p14:section>
        <p14:section name="2. The Glitter of This World" id="{48d7aa56-4c8d-634e-b652-4616a81ab887}">
          <p14:sldIdLst>
            <p14:sldId id="265"/>
            <p14:sldId id="266"/>
            <p14:sldId id="267"/>
            <p14:sldId id="268"/>
            <p14:sldId id="269"/>
            <p14:sldId id="270"/>
            <p14:sldId id="271"/>
            <p14:sldId id="272"/>
          </p14:sldIdLst>
        </p14:section>
        <p14:section name="3. Following the Messenger" id="{0d7cd552-b4a9-d8fa-1334-7965ef7cc0c0}">
          <p14:sldIdLst>
            <p14:sldId id="273"/>
            <p14:sldId id="274"/>
            <p14:sldId id="275"/>
            <p14:sldId id="276"/>
            <p14:sldId id="277"/>
            <p14:sldId id="278"/>
            <p14:sldId id="279"/>
          </p14:sldIdLst>
        </p14:section>
        <p14:section name="4. Maryam, Zakariyya and 'Isa" id="{1155a849-475f-761e-05ab-ca75bd8eece4}">
          <p14:sldIdLst>
            <p14:sldId id="280"/>
            <p14:sldId id="281"/>
            <p14:sldId id="282"/>
            <p14:sldId id="283"/>
            <p14:sldId id="284"/>
            <p14:sldId id="285"/>
            <p14:sldId id="286"/>
            <p14:sldId id="287"/>
            <p14:sldId id="288"/>
            <p14:sldId id="289"/>
            <p14:sldId id="290"/>
            <p14:sldId id="291"/>
            <p14:sldId id="292"/>
            <p14:sldId id="293"/>
            <p14:sldId id="294"/>
          </p14:sldIdLst>
        </p14:section>
        <p14:section name="5. A Common Word" id="{f912c2dc-4ecd-f560-fe45-fcb61284d477}">
          <p14:sldIdLst>
            <p14:sldId id="295"/>
            <p14:sldId id="296"/>
            <p14:sldId id="297"/>
            <p14:sldId id="298"/>
            <p14:sldId id="299"/>
            <p14:sldId id="300"/>
            <p14:sldId id="301"/>
            <p14:sldId id="302"/>
            <p14:sldId id="303"/>
            <p14:sldId id="304"/>
            <p14:sldId id="305"/>
            <p14:sldId id="306"/>
            <p14:sldId id="307"/>
            <p14:sldId id="308"/>
            <p14:sldId id="309"/>
            <p14:sldId id="310"/>
            <p14:sldId id="311"/>
          </p14:sldIdLst>
        </p14:section>
        <p14:section name="6. The Best Nation" id="{7d3704ff-45a3-7218-eb97-0ee785c40cb9}">
          <p14:sldIdLst>
            <p14:sldId id="312"/>
            <p14:sldId id="313"/>
            <p14:sldId id="314"/>
            <p14:sldId id="315"/>
            <p14:sldId id="316"/>
            <p14:sldId id="317"/>
            <p14:sldId id="318"/>
            <p14:sldId id="319"/>
            <p14:sldId id="320"/>
            <p14:sldId id="321"/>
            <p14:sldId id="322"/>
            <p14:sldId id="323"/>
          </p14:sldIdLst>
        </p14:section>
        <p14:section name="7. Uhud, Remembering Badr" id="{b9541534-0c57-d41c-4a62-2ed48a073d57}">
          <p14:sldIdLst>
            <p14:sldId id="324"/>
            <p14:sldId id="325"/>
            <p14:sldId id="326"/>
            <p14:sldId id="327"/>
            <p14:sldId id="328"/>
          </p14:sldIdLst>
        </p14:section>
        <p14:section name="8. Lessons of Uhud" id="{28f897cf-0dfc-5cdf-d157-c5f0c5a8ddb6}">
          <p14:sldIdLst>
            <p14:sldId id="329"/>
            <p14:sldId id="330"/>
            <p14:sldId id="331"/>
            <p14:sldId id="332"/>
            <p14:sldId id="333"/>
            <p14:sldId id="334"/>
            <p14:sldId id="335"/>
            <p14:sldId id="336"/>
            <p14:sldId id="337"/>
          </p14:sldIdLst>
        </p14:section>
        <p14:section name="9. The Defeat and the Martyrs" id="{bdc453ce-d7cd-2edb-d14e-b59bc9f51e50}">
          <p14:sldIdLst>
            <p14:sldId id="338"/>
            <p14:sldId id="339"/>
            <p14:sldId id="340"/>
            <p14:sldId id="341"/>
            <p14:sldId id="342"/>
            <p14:sldId id="343"/>
            <p14:sldId id="344"/>
            <p14:sldId id="345"/>
            <p14:sldId id="346"/>
            <p14:sldId id="347"/>
            <p14:sldId id="348"/>
            <p14:sldId id="349"/>
            <p14:sldId id="350"/>
            <p14:sldId id="351"/>
            <p14:sldId id="352"/>
          </p14:sldIdLst>
        </p14:section>
        <p14:section name="10. Reflecting on Creation" id="{79cb0b38-ab32-6850-7948-6e7b9079b87f}">
          <p14:sldIdLst>
            <p14:sldId id="353"/>
            <p14:sldId id="354"/>
            <p14:sldId id="355"/>
            <p14:sldId id="356"/>
            <p14:sldId id="357"/>
            <p14:sldId id="358"/>
            <p14:sldId id="359"/>
            <p14:sldId id="360"/>
            <p14:sldId id="361"/>
            <p14:sldId id="362"/>
            <p14:sldId id="363"/>
            <p14:sldId id="364"/>
            <p14:sldId id="365"/>
          </p14:sldIdLst>
        </p14:section>
        <p14:section name="Closing" id="{0f9b5c14-d51a-fa5f-1218-bb695b0da1bc}">
          <p14:sldIdLst>
            <p14:sldId id="3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surah into ten themed sections. Each section opens with a slide giving its reason for revelation and theme, followed by the explanation of its verses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prayer do those firm in knowledge make in verse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qualities of those with taqwa are mentioned in verses 16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sign of truly loving Allah, according to verse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How did Allah provide for Maryam in her place of worship? What did Zakariyya learn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"common word" that the People of the Book were invited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is this Ummah "the best nation brought out for mankind"?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With how many angels did Allah help the believers at Badr, according to the verses?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List the qualities of those with taqwa in verses 134 and 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caused what happened to the Muslims at Uhud? What is the lesson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do people of understanding say when they reflect on the creation of the heavens and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3/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3/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3/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slideLayout" Target="../slideLayouts/slideLayout4.xml"/><Relationship Id="rId4"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3/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Surah Al 'Imran</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3/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200 verses • Madani • 10 sections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burgundy</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Virtues of Al 'Imran</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Two Bright Ones</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"Recite the two bright ones, Al-Baqarah and Al 'Imran, for they will come on the Day of Resurrection like two clouds, or two flocks of birds in rows, pleading for their companions" (Muslim).</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They Plead for Their People</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Qur'an will be brought on the Day of Resurrection with its people who acted on it, led by Surah Al-Baqarah and Al 'Imran, pleading for their companion" (Muslim).</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Surah in Brief</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200 verses, Madani, the third surah in the Mushaf. It is called "Al 'Imran" because it tells the story of the family of 'Imran: his wife, Maryam and 'Isa (peace be upon them).</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Sections of the Surah</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The surah is divided into ten sections by theme, so we can understand it step by step</a:t>
            </a:r>
            <a:endParaRPr lang="en-US" sz="1600" dirty="0"/>
          </a:p>
        </p:txBody>
      </p:sp>
      <p:sp>
        <p:nvSpPr>
          <p:cNvPr id="4" name="Shape 2"/>
          <p:cNvSpPr/>
          <p:nvPr/>
        </p:nvSpPr>
        <p:spPr>
          <a:xfrm>
            <a:off x="700888" y="1828800"/>
            <a:ext cx="5257800" cy="749808"/>
          </a:xfrm>
          <a:prstGeom prst="roundRect">
            <a:avLst>
              <a:gd name="adj" fmla="val 12195"/>
            </a:avLst>
          </a:prstGeom>
          <a:solidFill>
            <a:schemeClr val="bg1"/>
          </a:solidFill>
          <a:ln w="12700">
            <a:solidFill>
              <a:schemeClr val="accent2"/>
            </a:solidFill>
            <a:prstDash val="solid"/>
          </a:ln>
        </p:spPr>
      </p:sp>
      <p:sp>
        <p:nvSpPr>
          <p:cNvPr id="5" name="Shape 3"/>
          <p:cNvSpPr/>
          <p:nvPr/>
        </p:nvSpPr>
        <p:spPr>
          <a:xfrm>
            <a:off x="792328" y="1938528"/>
            <a:ext cx="530352" cy="530352"/>
          </a:xfrm>
          <a:prstGeom prst="star8">
            <a:avLst/>
          </a:prstGeom>
          <a:solidFill>
            <a:schemeClr val="accent2"/>
          </a:solidFill>
          <a:ln/>
        </p:spPr>
      </p:sp>
      <p:sp>
        <p:nvSpPr>
          <p:cNvPr id="6" name="Shape 4"/>
          <p:cNvSpPr/>
          <p:nvPr/>
        </p:nvSpPr>
        <p:spPr>
          <a:xfrm>
            <a:off x="89839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79232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1412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Tawhid and the Book</a:t>
            </a:r>
            <a:endParaRPr lang="en-US" sz="1600" dirty="0"/>
          </a:p>
        </p:txBody>
      </p:sp>
      <p:sp>
        <p:nvSpPr>
          <p:cNvPr id="9" name="Text 7"/>
          <p:cNvSpPr txBox="1"/>
          <p:nvPr/>
        </p:nvSpPr>
        <p:spPr>
          <a:xfrm>
            <a:off x="141412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 – 9</a:t>
            </a:r>
            <a:endParaRPr lang="en-US" sz="1200" dirty="0"/>
          </a:p>
        </p:txBody>
      </p:sp>
      <p:sp>
        <p:nvSpPr>
          <p:cNvPr id="10" name="Shape 8"/>
          <p:cNvSpPr/>
          <p:nvPr/>
        </p:nvSpPr>
        <p:spPr>
          <a:xfrm>
            <a:off x="6233008" y="1828800"/>
            <a:ext cx="5257800" cy="749808"/>
          </a:xfrm>
          <a:prstGeom prst="roundRect">
            <a:avLst>
              <a:gd name="adj" fmla="val 12195"/>
            </a:avLst>
          </a:prstGeom>
          <a:solidFill>
            <a:schemeClr val="accent5"/>
          </a:solidFill>
          <a:ln w="12700">
            <a:solidFill>
              <a:schemeClr val="accent2"/>
            </a:solidFill>
            <a:prstDash val="solid"/>
          </a:ln>
        </p:spPr>
      </p:sp>
      <p:sp>
        <p:nvSpPr>
          <p:cNvPr id="11" name="Shape 9"/>
          <p:cNvSpPr/>
          <p:nvPr/>
        </p:nvSpPr>
        <p:spPr>
          <a:xfrm>
            <a:off x="6324448" y="1938528"/>
            <a:ext cx="530352" cy="530352"/>
          </a:xfrm>
          <a:prstGeom prst="star8">
            <a:avLst/>
          </a:prstGeom>
          <a:solidFill>
            <a:schemeClr val="accent2"/>
          </a:solidFill>
          <a:ln/>
        </p:spPr>
      </p:sp>
      <p:sp>
        <p:nvSpPr>
          <p:cNvPr id="12" name="Shape 10"/>
          <p:cNvSpPr/>
          <p:nvPr/>
        </p:nvSpPr>
        <p:spPr>
          <a:xfrm>
            <a:off x="643051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632444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694624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Glitter of This World</a:t>
            </a:r>
            <a:endParaRPr lang="en-US" sz="1600" dirty="0"/>
          </a:p>
        </p:txBody>
      </p:sp>
      <p:sp>
        <p:nvSpPr>
          <p:cNvPr id="15" name="Text 13"/>
          <p:cNvSpPr txBox="1"/>
          <p:nvPr/>
        </p:nvSpPr>
        <p:spPr>
          <a:xfrm>
            <a:off x="694624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10 – 20</a:t>
            </a:r>
            <a:endParaRPr lang="en-US" sz="1200" dirty="0"/>
          </a:p>
        </p:txBody>
      </p:sp>
      <p:sp>
        <p:nvSpPr>
          <p:cNvPr id="16" name="Shape 14"/>
          <p:cNvSpPr/>
          <p:nvPr/>
        </p:nvSpPr>
        <p:spPr>
          <a:xfrm>
            <a:off x="700888" y="2697480"/>
            <a:ext cx="5257800" cy="749808"/>
          </a:xfrm>
          <a:prstGeom prst="roundRect">
            <a:avLst>
              <a:gd name="adj" fmla="val 12195"/>
            </a:avLst>
          </a:prstGeom>
          <a:solidFill>
            <a:schemeClr val="bg1"/>
          </a:solidFill>
          <a:ln w="12700">
            <a:solidFill>
              <a:schemeClr val="accent2"/>
            </a:solidFill>
            <a:prstDash val="solid"/>
          </a:ln>
        </p:spPr>
      </p:sp>
      <p:sp>
        <p:nvSpPr>
          <p:cNvPr id="17" name="Shape 15"/>
          <p:cNvSpPr/>
          <p:nvPr/>
        </p:nvSpPr>
        <p:spPr>
          <a:xfrm>
            <a:off x="792328" y="2807208"/>
            <a:ext cx="530352" cy="530352"/>
          </a:xfrm>
          <a:prstGeom prst="star8">
            <a:avLst/>
          </a:prstGeom>
          <a:solidFill>
            <a:schemeClr val="accent2"/>
          </a:solidFill>
          <a:ln/>
        </p:spPr>
      </p:sp>
      <p:sp>
        <p:nvSpPr>
          <p:cNvPr id="18" name="Shape 16"/>
          <p:cNvSpPr/>
          <p:nvPr/>
        </p:nvSpPr>
        <p:spPr>
          <a:xfrm>
            <a:off x="89839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79232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141412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Following the Messenger</a:t>
            </a:r>
            <a:endParaRPr lang="en-US" sz="1600" dirty="0"/>
          </a:p>
        </p:txBody>
      </p:sp>
      <p:sp>
        <p:nvSpPr>
          <p:cNvPr id="21" name="Text 19"/>
          <p:cNvSpPr txBox="1"/>
          <p:nvPr/>
        </p:nvSpPr>
        <p:spPr>
          <a:xfrm>
            <a:off x="141412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21 – 32</a:t>
            </a:r>
            <a:endParaRPr lang="en-US" sz="1200" dirty="0"/>
          </a:p>
        </p:txBody>
      </p:sp>
      <p:sp>
        <p:nvSpPr>
          <p:cNvPr id="22" name="Shape 20"/>
          <p:cNvSpPr/>
          <p:nvPr/>
        </p:nvSpPr>
        <p:spPr>
          <a:xfrm>
            <a:off x="6233008" y="2697480"/>
            <a:ext cx="5257800" cy="749808"/>
          </a:xfrm>
          <a:prstGeom prst="roundRect">
            <a:avLst>
              <a:gd name="adj" fmla="val 12195"/>
            </a:avLst>
          </a:prstGeom>
          <a:solidFill>
            <a:schemeClr val="accent5"/>
          </a:solidFill>
          <a:ln w="12700">
            <a:solidFill>
              <a:schemeClr val="accent2"/>
            </a:solidFill>
            <a:prstDash val="solid"/>
          </a:ln>
        </p:spPr>
      </p:sp>
      <p:sp>
        <p:nvSpPr>
          <p:cNvPr id="23" name="Shape 21"/>
          <p:cNvSpPr/>
          <p:nvPr/>
        </p:nvSpPr>
        <p:spPr>
          <a:xfrm>
            <a:off x="6324448" y="2807208"/>
            <a:ext cx="530352" cy="530352"/>
          </a:xfrm>
          <a:prstGeom prst="star8">
            <a:avLst/>
          </a:prstGeom>
          <a:solidFill>
            <a:schemeClr val="accent2"/>
          </a:solidFill>
          <a:ln/>
        </p:spPr>
      </p:sp>
      <p:sp>
        <p:nvSpPr>
          <p:cNvPr id="24" name="Shape 22"/>
          <p:cNvSpPr/>
          <p:nvPr/>
        </p:nvSpPr>
        <p:spPr>
          <a:xfrm>
            <a:off x="643051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632444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26" name="Text 24"/>
          <p:cNvSpPr txBox="1"/>
          <p:nvPr/>
        </p:nvSpPr>
        <p:spPr>
          <a:xfrm>
            <a:off x="694624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Maryam, Zakariyya and 'Isa</a:t>
            </a:r>
            <a:endParaRPr lang="en-US" sz="1600" dirty="0"/>
          </a:p>
        </p:txBody>
      </p:sp>
      <p:sp>
        <p:nvSpPr>
          <p:cNvPr id="27" name="Text 25"/>
          <p:cNvSpPr txBox="1"/>
          <p:nvPr/>
        </p:nvSpPr>
        <p:spPr>
          <a:xfrm>
            <a:off x="694624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33 – 63</a:t>
            </a:r>
            <a:endParaRPr lang="en-US" sz="1200" dirty="0"/>
          </a:p>
        </p:txBody>
      </p:sp>
      <p:sp>
        <p:nvSpPr>
          <p:cNvPr id="28" name="Shape 26"/>
          <p:cNvSpPr/>
          <p:nvPr/>
        </p:nvSpPr>
        <p:spPr>
          <a:xfrm>
            <a:off x="700888" y="3566160"/>
            <a:ext cx="5257800" cy="749808"/>
          </a:xfrm>
          <a:prstGeom prst="roundRect">
            <a:avLst>
              <a:gd name="adj" fmla="val 12195"/>
            </a:avLst>
          </a:prstGeom>
          <a:solidFill>
            <a:schemeClr val="bg1"/>
          </a:solidFill>
          <a:ln w="12700">
            <a:solidFill>
              <a:schemeClr val="accent2"/>
            </a:solidFill>
            <a:prstDash val="solid"/>
          </a:ln>
        </p:spPr>
      </p:sp>
      <p:sp>
        <p:nvSpPr>
          <p:cNvPr id="29" name="Shape 27"/>
          <p:cNvSpPr/>
          <p:nvPr/>
        </p:nvSpPr>
        <p:spPr>
          <a:xfrm>
            <a:off x="792328" y="3675888"/>
            <a:ext cx="530352" cy="530352"/>
          </a:xfrm>
          <a:prstGeom prst="star8">
            <a:avLst/>
          </a:prstGeom>
          <a:solidFill>
            <a:schemeClr val="accent2"/>
          </a:solidFill>
          <a:ln/>
        </p:spPr>
      </p:sp>
      <p:sp>
        <p:nvSpPr>
          <p:cNvPr id="30" name="Shape 28"/>
          <p:cNvSpPr/>
          <p:nvPr/>
        </p:nvSpPr>
        <p:spPr>
          <a:xfrm>
            <a:off x="89839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79232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32" name="Text 30"/>
          <p:cNvSpPr txBox="1"/>
          <p:nvPr/>
        </p:nvSpPr>
        <p:spPr>
          <a:xfrm>
            <a:off x="141412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A Common Word</a:t>
            </a:r>
            <a:endParaRPr lang="en-US" sz="1600" dirty="0"/>
          </a:p>
        </p:txBody>
      </p:sp>
      <p:sp>
        <p:nvSpPr>
          <p:cNvPr id="33" name="Text 31"/>
          <p:cNvSpPr txBox="1"/>
          <p:nvPr/>
        </p:nvSpPr>
        <p:spPr>
          <a:xfrm>
            <a:off x="141412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64 – 99</a:t>
            </a:r>
            <a:endParaRPr lang="en-US" sz="1200" dirty="0"/>
          </a:p>
        </p:txBody>
      </p:sp>
      <p:sp>
        <p:nvSpPr>
          <p:cNvPr id="34" name="Shape 32"/>
          <p:cNvSpPr/>
          <p:nvPr/>
        </p:nvSpPr>
        <p:spPr>
          <a:xfrm>
            <a:off x="6233008" y="3566160"/>
            <a:ext cx="5257800" cy="749808"/>
          </a:xfrm>
          <a:prstGeom prst="roundRect">
            <a:avLst>
              <a:gd name="adj" fmla="val 12195"/>
            </a:avLst>
          </a:prstGeom>
          <a:solidFill>
            <a:schemeClr val="accent5"/>
          </a:solidFill>
          <a:ln w="12700">
            <a:solidFill>
              <a:schemeClr val="accent2"/>
            </a:solidFill>
            <a:prstDash val="solid"/>
          </a:ln>
        </p:spPr>
      </p:sp>
      <p:sp>
        <p:nvSpPr>
          <p:cNvPr id="35" name="Shape 33"/>
          <p:cNvSpPr/>
          <p:nvPr/>
        </p:nvSpPr>
        <p:spPr>
          <a:xfrm>
            <a:off x="6324448" y="3675888"/>
            <a:ext cx="530352" cy="530352"/>
          </a:xfrm>
          <a:prstGeom prst="star8">
            <a:avLst/>
          </a:prstGeom>
          <a:solidFill>
            <a:schemeClr val="accent2"/>
          </a:solidFill>
          <a:ln/>
        </p:spPr>
      </p:sp>
      <p:sp>
        <p:nvSpPr>
          <p:cNvPr id="36" name="Shape 34"/>
          <p:cNvSpPr/>
          <p:nvPr/>
        </p:nvSpPr>
        <p:spPr>
          <a:xfrm>
            <a:off x="643051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632444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6</a:t>
            </a:r>
            <a:endParaRPr lang="en-US" sz="1400" dirty="0"/>
          </a:p>
        </p:txBody>
      </p:sp>
      <p:sp>
        <p:nvSpPr>
          <p:cNvPr id="38" name="Text 36"/>
          <p:cNvSpPr txBox="1"/>
          <p:nvPr/>
        </p:nvSpPr>
        <p:spPr>
          <a:xfrm>
            <a:off x="694624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Best Nation</a:t>
            </a:r>
            <a:endParaRPr lang="en-US" sz="1600" dirty="0"/>
          </a:p>
        </p:txBody>
      </p:sp>
      <p:sp>
        <p:nvSpPr>
          <p:cNvPr id="39" name="Text 37"/>
          <p:cNvSpPr txBox="1"/>
          <p:nvPr/>
        </p:nvSpPr>
        <p:spPr>
          <a:xfrm>
            <a:off x="694624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100 – 120</a:t>
            </a:r>
            <a:endParaRPr lang="en-US" sz="1200" dirty="0"/>
          </a:p>
        </p:txBody>
      </p:sp>
      <p:sp>
        <p:nvSpPr>
          <p:cNvPr id="40" name="Shape 38"/>
          <p:cNvSpPr/>
          <p:nvPr/>
        </p:nvSpPr>
        <p:spPr>
          <a:xfrm>
            <a:off x="700888" y="4434840"/>
            <a:ext cx="5257800" cy="749808"/>
          </a:xfrm>
          <a:prstGeom prst="roundRect">
            <a:avLst>
              <a:gd name="adj" fmla="val 12195"/>
            </a:avLst>
          </a:prstGeom>
          <a:solidFill>
            <a:schemeClr val="bg1"/>
          </a:solidFill>
          <a:ln w="12700">
            <a:solidFill>
              <a:schemeClr val="accent2"/>
            </a:solidFill>
            <a:prstDash val="solid"/>
          </a:ln>
        </p:spPr>
      </p:sp>
      <p:sp>
        <p:nvSpPr>
          <p:cNvPr id="41" name="Shape 39"/>
          <p:cNvSpPr/>
          <p:nvPr/>
        </p:nvSpPr>
        <p:spPr>
          <a:xfrm>
            <a:off x="792328" y="4544568"/>
            <a:ext cx="530352" cy="530352"/>
          </a:xfrm>
          <a:prstGeom prst="star8">
            <a:avLst/>
          </a:prstGeom>
          <a:solidFill>
            <a:schemeClr val="accent2"/>
          </a:solidFill>
          <a:ln/>
        </p:spPr>
      </p:sp>
      <p:sp>
        <p:nvSpPr>
          <p:cNvPr id="42" name="Shape 40"/>
          <p:cNvSpPr/>
          <p:nvPr/>
        </p:nvSpPr>
        <p:spPr>
          <a:xfrm>
            <a:off x="89839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79232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7</a:t>
            </a:r>
            <a:endParaRPr lang="en-US" sz="1400" dirty="0"/>
          </a:p>
        </p:txBody>
      </p:sp>
      <p:sp>
        <p:nvSpPr>
          <p:cNvPr id="44" name="Text 42"/>
          <p:cNvSpPr txBox="1"/>
          <p:nvPr/>
        </p:nvSpPr>
        <p:spPr>
          <a:xfrm>
            <a:off x="141412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Uhud, Remembering Badr</a:t>
            </a:r>
            <a:endParaRPr lang="en-US" sz="1600" dirty="0"/>
          </a:p>
        </p:txBody>
      </p:sp>
      <p:sp>
        <p:nvSpPr>
          <p:cNvPr id="45" name="Text 43"/>
          <p:cNvSpPr txBox="1"/>
          <p:nvPr/>
        </p:nvSpPr>
        <p:spPr>
          <a:xfrm>
            <a:off x="141412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121 – 129</a:t>
            </a:r>
            <a:endParaRPr lang="en-US" sz="1200" dirty="0"/>
          </a:p>
        </p:txBody>
      </p:sp>
      <p:sp>
        <p:nvSpPr>
          <p:cNvPr id="46" name="Shape 44"/>
          <p:cNvSpPr/>
          <p:nvPr/>
        </p:nvSpPr>
        <p:spPr>
          <a:xfrm>
            <a:off x="6233008" y="4434840"/>
            <a:ext cx="5257800" cy="749808"/>
          </a:xfrm>
          <a:prstGeom prst="roundRect">
            <a:avLst>
              <a:gd name="adj" fmla="val 12195"/>
            </a:avLst>
          </a:prstGeom>
          <a:solidFill>
            <a:schemeClr val="accent5"/>
          </a:solidFill>
          <a:ln w="12700">
            <a:solidFill>
              <a:schemeClr val="accent2"/>
            </a:solidFill>
            <a:prstDash val="solid"/>
          </a:ln>
        </p:spPr>
      </p:sp>
      <p:sp>
        <p:nvSpPr>
          <p:cNvPr id="47" name="Shape 45"/>
          <p:cNvSpPr/>
          <p:nvPr/>
        </p:nvSpPr>
        <p:spPr>
          <a:xfrm>
            <a:off x="6324448" y="4544568"/>
            <a:ext cx="530352" cy="530352"/>
          </a:xfrm>
          <a:prstGeom prst="star8">
            <a:avLst/>
          </a:prstGeom>
          <a:solidFill>
            <a:schemeClr val="accent2"/>
          </a:solidFill>
          <a:ln/>
        </p:spPr>
      </p:sp>
      <p:sp>
        <p:nvSpPr>
          <p:cNvPr id="48" name="Shape 46"/>
          <p:cNvSpPr/>
          <p:nvPr/>
        </p:nvSpPr>
        <p:spPr>
          <a:xfrm>
            <a:off x="643051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632444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8</a:t>
            </a:r>
            <a:endParaRPr lang="en-US" sz="1400" dirty="0"/>
          </a:p>
        </p:txBody>
      </p:sp>
      <p:sp>
        <p:nvSpPr>
          <p:cNvPr id="50" name="Text 48"/>
          <p:cNvSpPr txBox="1"/>
          <p:nvPr/>
        </p:nvSpPr>
        <p:spPr>
          <a:xfrm>
            <a:off x="694624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Lessons of Uhud</a:t>
            </a:r>
            <a:endParaRPr lang="en-US" sz="1600" dirty="0"/>
          </a:p>
        </p:txBody>
      </p:sp>
      <p:sp>
        <p:nvSpPr>
          <p:cNvPr id="51" name="Text 49"/>
          <p:cNvSpPr txBox="1"/>
          <p:nvPr/>
        </p:nvSpPr>
        <p:spPr>
          <a:xfrm>
            <a:off x="694624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130 – 148</a:t>
            </a:r>
            <a:endParaRPr lang="en-US" sz="1200" dirty="0"/>
          </a:p>
        </p:txBody>
      </p:sp>
      <p:sp>
        <p:nvSpPr>
          <p:cNvPr id="52" name="Shape 50"/>
          <p:cNvSpPr/>
          <p:nvPr/>
        </p:nvSpPr>
        <p:spPr>
          <a:xfrm>
            <a:off x="700888" y="5303520"/>
            <a:ext cx="5257800" cy="749808"/>
          </a:xfrm>
          <a:prstGeom prst="roundRect">
            <a:avLst>
              <a:gd name="adj" fmla="val 12195"/>
            </a:avLst>
          </a:prstGeom>
          <a:solidFill>
            <a:schemeClr val="bg1"/>
          </a:solidFill>
          <a:ln w="12700">
            <a:solidFill>
              <a:schemeClr val="accent2"/>
            </a:solidFill>
            <a:prstDash val="solid"/>
          </a:ln>
        </p:spPr>
      </p:sp>
      <p:sp>
        <p:nvSpPr>
          <p:cNvPr id="53" name="Shape 51"/>
          <p:cNvSpPr/>
          <p:nvPr/>
        </p:nvSpPr>
        <p:spPr>
          <a:xfrm>
            <a:off x="792328" y="5413248"/>
            <a:ext cx="530352" cy="530352"/>
          </a:xfrm>
          <a:prstGeom prst="star8">
            <a:avLst/>
          </a:prstGeom>
          <a:solidFill>
            <a:schemeClr val="accent2"/>
          </a:solidFill>
          <a:ln/>
        </p:spPr>
      </p:sp>
      <p:sp>
        <p:nvSpPr>
          <p:cNvPr id="54" name="Shape 52"/>
          <p:cNvSpPr/>
          <p:nvPr/>
        </p:nvSpPr>
        <p:spPr>
          <a:xfrm>
            <a:off x="89839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79232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9</a:t>
            </a:r>
            <a:endParaRPr lang="en-US" sz="1400" dirty="0"/>
          </a:p>
        </p:txBody>
      </p:sp>
      <p:sp>
        <p:nvSpPr>
          <p:cNvPr id="56" name="Text 54"/>
          <p:cNvSpPr txBox="1"/>
          <p:nvPr/>
        </p:nvSpPr>
        <p:spPr>
          <a:xfrm>
            <a:off x="141412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Defeat and the Martyrs</a:t>
            </a:r>
            <a:endParaRPr lang="en-US" sz="1600" dirty="0"/>
          </a:p>
        </p:txBody>
      </p:sp>
      <p:sp>
        <p:nvSpPr>
          <p:cNvPr id="57" name="Text 55"/>
          <p:cNvSpPr txBox="1"/>
          <p:nvPr/>
        </p:nvSpPr>
        <p:spPr>
          <a:xfrm>
            <a:off x="141412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149 – 175</a:t>
            </a:r>
            <a:endParaRPr lang="en-US" sz="1200" dirty="0"/>
          </a:p>
        </p:txBody>
      </p:sp>
      <p:sp>
        <p:nvSpPr>
          <p:cNvPr id="58" name="Shape 56"/>
          <p:cNvSpPr/>
          <p:nvPr/>
        </p:nvSpPr>
        <p:spPr>
          <a:xfrm>
            <a:off x="6233008" y="5303520"/>
            <a:ext cx="5257800" cy="749808"/>
          </a:xfrm>
          <a:prstGeom prst="roundRect">
            <a:avLst>
              <a:gd name="adj" fmla="val 12195"/>
            </a:avLst>
          </a:prstGeom>
          <a:solidFill>
            <a:schemeClr val="accent5"/>
          </a:solidFill>
          <a:ln w="12700">
            <a:solidFill>
              <a:schemeClr val="accent2"/>
            </a:solidFill>
            <a:prstDash val="solid"/>
          </a:ln>
        </p:spPr>
      </p:sp>
      <p:sp>
        <p:nvSpPr>
          <p:cNvPr id="59" name="Shape 57"/>
          <p:cNvSpPr/>
          <p:nvPr/>
        </p:nvSpPr>
        <p:spPr>
          <a:xfrm>
            <a:off x="6324448" y="5413248"/>
            <a:ext cx="530352" cy="530352"/>
          </a:xfrm>
          <a:prstGeom prst="star8">
            <a:avLst/>
          </a:prstGeom>
          <a:solidFill>
            <a:schemeClr val="accent2"/>
          </a:solidFill>
          <a:ln/>
        </p:spPr>
      </p:sp>
      <p:sp>
        <p:nvSpPr>
          <p:cNvPr id="60" name="Shape 58"/>
          <p:cNvSpPr/>
          <p:nvPr/>
        </p:nvSpPr>
        <p:spPr>
          <a:xfrm>
            <a:off x="643051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632444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10</a:t>
            </a:r>
            <a:endParaRPr lang="en-US" sz="1400" dirty="0"/>
          </a:p>
        </p:txBody>
      </p:sp>
      <p:sp>
        <p:nvSpPr>
          <p:cNvPr id="62" name="Text 60"/>
          <p:cNvSpPr txBox="1"/>
          <p:nvPr/>
        </p:nvSpPr>
        <p:spPr>
          <a:xfrm>
            <a:off x="694624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Reflecting on Creation</a:t>
            </a:r>
            <a:endParaRPr lang="en-US" sz="1600" dirty="0"/>
          </a:p>
        </p:txBody>
      </p:sp>
      <p:sp>
        <p:nvSpPr>
          <p:cNvPr id="63" name="Text 61"/>
          <p:cNvSpPr txBox="1"/>
          <p:nvPr/>
        </p:nvSpPr>
        <p:spPr>
          <a:xfrm>
            <a:off x="694624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176 – 200</a:t>
            </a:r>
            <a:endParaRPr lang="en-US" sz="12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Tawhid and the Book</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Ibn Kathir mentions that the opening of this surah was revealed about the Christian delegation of Najran, when they came to the Prophet (peace be upon him) in Madinah to argue with him about 'Isa (peace be upon him).</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Allah alone is God, the Ever-Living, the Sustainer; He sent down the Books as guidance for people; the clear and the unclear verses; and the prayer of those firm in knowledge.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"Alif Lam Mim" are separate letters; Allah knows best what they mean.</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لَآ إِلَٰهَ إِلَّا هُوَ الْحَيُّ الْقَيُّومُ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there is no god worthy of worship but Him, the Ever-Living, the Sustainer who runs the affairs of His creation.</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نَزَّلَ عَلَيْكَ الْكِتَٰبَ بِالْحَقِّ مُصَدِّقًا لِّمَا بَيْنَ يَدَيْهِ وَأَنزَلَ التَّوْرَىٰةَ وَالْإِنجِيلَ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sent down the Qur'an to you with the truth, confirming the Books before it, and He sent down the Torah and the Injil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قَبْلُ هُدًى لِّلنَّاسِ وَأَنزَلَ الْفُرْقَانَ إِنَّ الَّذِينَ كَفَرُواْ بِـَٔايَٰتِ اللَّهِ لَهُمْ عَذَابٌ شَدِيدٌ وَاللَّهُ عَزِيزٌ ذُو انتِقَامٍ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the Qur'an as guidance for people, and He sent down the Qur'an that separates truth from falsehood. Those who disbelieve in Allah's verses will have a severe punishment; Allah is Almighty, Able to punish.</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لَا يَخْفَىٰ عَلَيْهِ شَيْءٌ فِي الْأَرْضِ وَلَا فِي السَّمَآءِ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Nothing at all on earth or in the sky is hidden from Allah.</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يُصَوِّرُكُمْ فِي الْأَرْحَامِ كَيْفَ يَشَآءُ لَآ إِلَٰهَ إِلَّا 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shapes you in your mothers' wombs however He wills: male or female, and in whatever form He wills. There is no god but Him,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هُوَ الَّذِي أَنزَلَ عَلَيْكَ الْكِتَٰبَ مِنْهُ ءَايَٰتٌ مُّحْكَمَٰتٌ هُنَّ أُمُّ الْكِتَٰبِ وَأُخَرُ مُتَشَٰبِهَٰتٌ فَأَمَّا الَّذِينَ فِي قُلُوبِهِمْ زَيْغٌ فَيَتَّبِعُونَ مَا تَشَٰبَهَ مِنْهُ ابْتِغَآءَ الْفِتْنَةِ وَابْتِغَآءَ تَأْوِيلِهِ وَمَا يَعْلَمُ تَأْوِيلَهُ إِلَّا اللَّهُ وَالرَّـٰسِخُونَ فِي الْعِلْمِ يَقُولُونَ ءَامَنَّا بِهِ كُلٌّ مِّنْ عِندِ رَبِّنَا وَمَا يَذَّكَّرُ إِلَّآ أُوْلُواْ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is the One who sent down the Qur'an to you. Some of its verses are clear in meaning; they are its foundation. Others are unclear to some people. Those with crookedness in their hearts follow the unclear ones, seeking trouble, while those firm in knowledge say: We believe in it; all of it is from our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8" name="Text 6"/>
          <p:cNvSpPr txBox="1"/>
          <p:nvPr/>
        </p:nvSpPr>
        <p:spPr>
          <a:xfrm>
            <a:off x="1444752" y="225399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لَا تُزِغْ قُلُوبَنَا بَعْدَ إِذْ هَدَيْتَنَا وَهَبْ لَنَا مِن لَّدُنكَ رَحْمَةً إِنَّكَ أَنتَ الْوَهَّابُ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pray: Our Lord, do not let our hearts turn away from the truth after You have guided us, and grant us mercy from You. You are the Giver.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3" name="Text 11"/>
          <p:cNvSpPr txBox="1"/>
          <p:nvPr/>
        </p:nvSpPr>
        <p:spPr>
          <a:xfrm>
            <a:off x="1444752" y="390906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إِنَّكَ جَامِعُ النَّاسِ لِيَوْمٍ لَّا رَيْبَ فِيهِ إِنَّ اللَّهَ لَا يُخْلِفُ الْمِيعَادَ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You will gather people for the Day of Resurrection, about which there is no doubt. Allah never breaks His promise.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The Glitter of This World</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 – 20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Wealth and children will not help the disbelievers, the lesson of the Battle of Badr, the truth about worldly desires, the qualities of those with taqwa, and that the religion with Allah is Islam.</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لَن تُغْنِيَ عَنْهُمْ أَمْوَٰلُهُمْ وَلَآ أَوْلَٰدُهُم مِّنَ اللَّهِ شَيْـًٔا وَأُوْلَـٰئِكَ هُمْ وَقُودُ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wealth and children will not help them at all against Allah, and they will be the fuel of the Fire.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كَدَأْبِ ءَالِ فِرْعَوْنَ وَالَّذِينَ مِن قَبْلِهِمْ كَذَّبُواْ بِـَٔايَٰتِنَا فَأَخَذَهُمُ اللَّهُ بِذُنُوبِهِمْ وَاللَّهُ شَدِيدُ الْعِقَابِ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like Pharaoh and those before him: they denied Our signs, so Allah destroyed them for their sins, and Allah is severe in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لِّلَّذِينَ كَفَرُواْ سَتُغْلَبُونَ وَتُحْشَرُونَ إِلَىٰ جَهَنَّمَ وَبِئْسَ الْمِهَادُ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to the disbelievers: You will be defeated in this world and gathered to Hell, and what an evil resting place!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كَانَ لَكُمْ ءَايَةٌ فِي فِئَتَيْنِ الْتَقَتَا فِئَةٌ تُقَٰتِلُ فِي سَبِيلِ اللَّهِ وَأُخْرَىٰ كَافِرَةٌ يَرَوْنَهُم مِّثْلَيْهِمْ رَأْيَ الْعَيْنِ وَاللَّهُ يُؤَيِّدُ بِنَصْرِهِ مَن يَشَآءُ إِنَّ فِي ذَٰلِكَ لَعِبْرَةً لِّأُوْلِي الْأَبْصَٰرِ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was a lesson for you in the two groups that met at Badr: a believing group fighting in the way of Allah, and a large disbelieving one. Allah gave victory to the small believing group, and Allah supports with His help whom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زُيِّنَ لِلنَّاسِ حُبُّ الشَّهَوَٰتِ مِنَ النِّسَآءِ وَالْبَنِينَ وَالْقَنَٰطِيرِ الْمُقَنطَرَةِ مِنَ الذَّهَبِ وَالْفِضَّةِ وَالْخَيْلِ الْمُسَوَّمَةِ وَالْأَنْعَٰمِ وَالْحَرْثِ ذَٰلِكَ مَتَٰعُ الْحَيَوٰةِ الدُّنْيَا وَاللَّهُ عِندَهُ حُسْنُ الْمَـَٔابِ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love of desires has been made attractive to people: women and children, heaps of gold and silver, fine horses, livestock and farmland. That is the passing enjoyment of this world, and with Allah is the best return.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أَؤُنَبِّئُكُم بِخَيْرٍ مِّن ذَٰلِكُمْ لِلَّذِينَ اتَّقَوْاْ عِندَ رَبِّهِمْ جَنَّـٰتٌ تَجْرِي مِن تَحْتِهَا الْأَنْهَٰرُ خَٰلِدِينَ فِيهَا وَأَزْوَٰجٌ مُّطَهَّرَةٌ وَرِضْوَٰنٌ مِّنَ اللَّهِ وَاللَّهُ بَصِيرٌ بِالْعِبَادِ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Shall I tell you of something better than that? For those with taqwa, with their Lord are Gardens with rivers flowing beneath them, where they will stay forever, pure spouses, and the pleasure of Allah. Allah sees His servants.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يَقُولُونَ رَبَّنَآ إِنَّنَآ ءَامَنَّا فَاغْفِرْ لَنَا ذُنُوبَنَا وَقِنَا عَذَابَ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say: Our Lord, we have believed, so forgive us our sins and protect us from the punishment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الصَّـٰبِرِينَ وَالصَّـٰدِقِينَ وَالْقَٰنِتِينَ وَالْمُنفِقِينَ وَالْمُسْتَغْفِرِينَ بِالْأَسْحَارِ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patient, the truthful, the obedient to Allah, those who spend, and those who ask forgiveness before dawn.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شَهِدَ اللَّهُ أَنَّهُ لَآ إِلَٰهَ إِلَّا هُوَ وَالْمَلَـٰئِكَةُ وَأُوْلُواْ الْعِلْمِ قَآئِمًا بِالْقِسْطِ لَآ إِلَٰهَ إِلَّا 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bears witness that there is no god worthy of worship but Him, and so do the angels and people of knowledge. He upholds justice. There is no god but Him,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الدِّينَ عِندَ اللَّهِ الْإِسْلَٰمُ وَمَا اخْتَلَفَ الَّذِينَ أُوتُواْ الْكِتَٰبَ إِلَّا مِن بَعْدِ مَا جَآءَهُمُ الْعِلْمُ بَغْيًا بَيْنَهُمْ وَمَن يَكْفُرْ بِـَٔايَٰتِ اللَّهِ فَإِنَّ 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religion accepted by Allah is Islam. The People of the Book only differed after knowledge came to them, out of envy between them. Whoever disbelieves in Allah's verses, Allah is swift in reckoning.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حَآجُّوكَ فَقُلْ أَسْلَمْتُ وَجْهِيَ لِلَّهِ وَمَنِ اتَّبَعَنِ وَقُل لِّلَّذِينَ أُوتُواْ الْكِتَٰبَ وَالْأُمِّيِّـنَ ءَأَسْلَمْتُمْ فَإِنْ أَسْلَمُواْ فَقَدِ اهْتَدَواْ وَّإِن تَوَلَّوْاْ فَإِنَّمَا عَلَيْكَ الْبَلَٰغُ وَاللَّهُ بَصِيرٌ بِالْعِبَادِ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argue with you, say: I have devoted my worship to Allah, and so have those who follow me. And say to the People of the Book and the Arabs: Have you submitted? If they submit, they are guided; but if they turn away, your duty is only to deliver the message.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Following the Messenger</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21 – 32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No specific, well-known reason for revelation is reported for this section; it was revealed to remind and guide people.</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A warning to those who kill the prophets and those who command justice, that all kingship is in Allah's hand, and that the sign of loving Allah is following His Messenger (peace be upon him).</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يَكْفُرُونَ بِـَٔايَٰتِ اللَّهِ وَيَقْتُلُونَ النَّبِيِّـنَ بِغَيْرِ حَقٍّ وَيَقْتُلُونَ الَّذِينَ يَأْمُرُونَ بِالْقِسْطِ مِنَ النَّاسِ فَبَشِّرْهُم بِعَذَابٍ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in Allah's verses, kill the prophets unjustly, and kill the people who command justice, give them news of a painful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حَبِطَتْ أَعْمَٰلُهُمْ فِي الدُّنْيَا وَالْأخِرَةِ وَمَا لَهُم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whose deeds are lost in this world and the Hereafter, and they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أُوتُواْ نَصِيبًا مِّنَ الْكِتَٰبِ يُدْعَوْنَ إِلَىٰ كِتَٰبِ اللَّهِ لِيَحْكُمَ بَيْنَهُمْ ثُمَّ يَتَوَلَّىٰ فَرِيقٌ مِّنْهُمْ وَهُم مُّعْرِضُونَ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given part of the Book? They are invited to the Book of Allah to judge between them, then a group of them turns away, refusing.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بِأَنَّهُمْ قَالُواْ لَن تَمَسَّنَا النَّارُ إِلَّآ أَيَّامًا مَّعْدُودَٰتٍ وَغَرَّهُمْ فِي دِينِهِم مَّا كَانُواْ يَفْتَرُونَ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they said: The Fire will only touch us for a few days. They were fooled by the lies they made up.</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25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إِذَا جَمَعْنَٰهُمْ لِيَوْمٍ لَّا رَيْبَ فِيهِ وَوُفِّيَتْ كُلُّ نَفْسٍ مَّا كَسَبَتْ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will it be when We gather them for a Day about which there is no doubt, and every soul is paid in full for what it did, and they will not be wronged?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اللَّهُمَّ مَٰلِكَ الْمُلْكِ تُؤْتِي الْمُلْكَ مَن تَشَآءُ وَتَنزِعُ الْمُلْكَ مِمَّن تَشَآءُ وَتُعِزُّ مَن تَشَآءُ وَتُذِلُّ مَن تَشَآءُ بِيَدِكَ الْخَيْرُ إِنَّكَ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Allah, Owner of all kingship, You give kingship to whom You will and take it from whom You will; You honour whom You will and humble whom You will. In Your hand is all good. You have power over all things.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تُولِجُ الَّيْلَ فِي النَّهَارِ وَتُولِجُ النَّهَارَ فِي الَّيْلِ وَتُخْرِجُ الْحَيَّ مِنَ الْمَيِّتِ وَتُخْرِجُ الْمَيِّتَ مِنَ الْحَيِّ وَتَرْزُقُ مَن تَشَآءُ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make the night enter the day and the day enter the night; You bring the living out of the dead, like plants from seeds, and the dead out of the living; and You provide for whom You will without limit.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يَتَّخِذِ الْمُؤْمِنُونَ الْكَٰفِرِينَ أَوْلِيَآءَ مِن دُونِ الْمُؤْمِنِينَ وَمَن يَفْعَلْ ذَٰلِكَ فَلَيْسَ مِنَ اللَّهِ فِي شَيْءٍ إِلَّآ أَن تَتَّقُواْ مِنْهُمْ تُقَىٰةً وَيُحَذِّرُكُمُ اللَّهُ نَفْسَهُ وَإِلَى اللَّهِ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should not take the disbelievers as close allies and loved ones instead of the believers. Whoever does that has nothing to do with Allah, unless you fear harm from them and are careful with your words. Allah warns you of Himself.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تُخْفُواْ مَا فِي صُدُورِكُمْ أَوْ تُبْدُوهُ يَعْلَمْهُ اللَّهُ وَيَعْلَمُ مَا فِي السَّمَٰوَٰتِ وَمَا فِي الْأَرْضِ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Whether you hide what is in your chests or show it, Allah knows it. He knows what is in the heavens and the earth, and Allah has power over all things.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تَجِدُ كُلُّ نَفْسٍ مَّا عَمِلَتْ مِنْ خَيْرٍ مُّحْضَرًا وَمَا عَمِلَتْ مِن سُوءٍ تَوَدُّ لَوْ أَنَّ بَيْنَهَا وَبَيْنَهُ أَمَدًا بَعِيدًا وَيُحَذِّرُكُمُ اللَّهُ نَفْسَهُ وَاللَّهُ رَءُوفٌ بِالْعِبَادِ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every soul will find the good it did present, and the evil it did it will wish there were a great distance between it and that. Allah warns you of Himself, and Allah is Kind to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72284"/>
            <a:ext cx="548640" cy="548640"/>
          </a:xfrm>
          <a:prstGeom prst="star8">
            <a:avLst/>
          </a:prstGeom>
          <a:solidFill>
            <a:schemeClr val="accent2"/>
          </a:solidFill>
          <a:ln/>
        </p:spPr>
      </p:sp>
      <p:sp>
        <p:nvSpPr>
          <p:cNvPr id="6" name="Shape 4"/>
          <p:cNvSpPr/>
          <p:nvPr/>
        </p:nvSpPr>
        <p:spPr>
          <a:xfrm>
            <a:off x="822960" y="238201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7228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2253996"/>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 كُنتُمْ تُحِبُّونَ اللَّهَ فَاتَّبِعُونِي يُحْبِبْكُمُ اللَّهُ وَيَغْفِرْ لَكُمْ ذُنُوبَكُمْ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you truly love Allah, then follow me; Allah will love you and forgive your sins. Ibn Kathir said: This verse judges everyone who claims to love Allah but does not follow the way of Muhammad (peace be upon him).</a:t>
            </a:r>
            <a:endParaRPr lang="en-US" sz="3000" dirty="0"/>
          </a:p>
        </p:txBody>
      </p:sp>
      <p:sp>
        <p:nvSpPr>
          <p:cNvPr id="9" name="Shape 7"/>
          <p:cNvSpPr/>
          <p:nvPr/>
        </p:nvSpPr>
        <p:spPr>
          <a:xfrm>
            <a:off x="1444752" y="3954780"/>
            <a:ext cx="8641080" cy="0"/>
          </a:xfrm>
          <a:prstGeom prst="line">
            <a:avLst/>
          </a:prstGeom>
          <a:noFill/>
          <a:ln w="9525">
            <a:solidFill>
              <a:schemeClr val="accent2"/>
            </a:solidFill>
            <a:prstDash val="dash"/>
          </a:ln>
        </p:spPr>
      </p:sp>
      <p:sp>
        <p:nvSpPr>
          <p:cNvPr id="10" name="Shape 8"/>
          <p:cNvSpPr/>
          <p:nvPr/>
        </p:nvSpPr>
        <p:spPr>
          <a:xfrm>
            <a:off x="713232" y="4187952"/>
            <a:ext cx="548640" cy="548640"/>
          </a:xfrm>
          <a:prstGeom prst="star8">
            <a:avLst/>
          </a:prstGeom>
          <a:solidFill>
            <a:schemeClr val="accent2"/>
          </a:solidFill>
          <a:ln/>
        </p:spPr>
      </p:sp>
      <p:sp>
        <p:nvSpPr>
          <p:cNvPr id="11" name="Shape 9"/>
          <p:cNvSpPr/>
          <p:nvPr/>
        </p:nvSpPr>
        <p:spPr>
          <a:xfrm>
            <a:off x="822960" y="4297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879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416966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أَطِيعُواْ اللَّهَ وَالرَّسُولَ فَإِن تَوَلَّوْاْ فَإِنَّ اللَّهَ لَا يُحِبُّ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Obey Allah and the Messenger. If they turn away, Allah does not love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Maryam, Zakariyya and 'Isa</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33 – 63</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The Christian delegation of Najran came to the Prophet (peace be upon him) and argued with him about 'Isa, so these verses were revealed. The Prophet (peace be upon him) invited them to the mubahalah (calling Allah's curse on the liars), but they were afraid, refused, and made a peace treaty with him (the basis of the story is in Bukhari).</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story of the wife of 'Imran and Maryam, Zakariyya's prayer and the birth of Yahya, the good news of 'Isa to Maryam and his miracles, that 'Isa's creation is like Adam's, and then the mubahalah. It is because of this story that the surah is called "Al 'Imran" (The Family of 'Imran).</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33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اصْطَفَىٰ ءَادَمَ وَنُوحًا وَءَالَ إِبْرَٰهِيمَ وَءَالَ عِمْرَٰنَ عَلَى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chose Adam, Nuh, the family of Ibrahim and the family of 'Imran, and preferred them over the people of their times,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ذُرِّيَّةً بَعْضُهَا مِن بَعْضٍ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descendants one from another in faith and goodness. Allah is All-Hearing, All-Knowing.</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قَالَتِ امْرَأَتُ عِمْرَٰنَ رَبِّ إِنِّي نَذَرْتُ لَكَ مَا فِي بَطْنِي مُحَرَّرًا فَتَقَبَّلْ مِنِّي إِنَّكَ أَنتَ السَّمِيعُ الْعَلِيمُ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the wife of 'Imran, Maryam's mother, said: My Lord, I have vowed to You what is in my womb, devoted only to serving the House in Jerusalem, so accept it from me; You are the All-Hearing,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وَضَعَتْهَا قَالَتْ رَبِّ إِنِّي وَضَعْتُهَآ أُنثَىٰ وَاللَّهُ أَعْلَمُ بِمَا وَضَعَتْ وَلَيْسَ الذَّكَرُ كَالْأُنثَىٰ وَإِنِّي سَمَّيْتُهَا مَرْيَمَ وَإِنِّي أُعِيذُهَا بِكَ وَذُرِّيَّتَهَا مِنَ الشَّيْطَٰنِ الرَّجِيمِ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she gave birth she said: My Lord, I have given birth to a girl, and a boy is not like a girl in serving the temple. I have named her Maryam, and I seek Your protection for her and her children from Satan, the outcast.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فَتَقَبَّلَهَا رَبُّهَا بِقَبُولٍ حَسَنٍ وَأَنبَتَهَا نَبَاتًا حَسَنًا وَكَفَّلَهَا زَكَرِيَّا كُلَّمَا دَخَلَ عَلَيْهَا زَكَرِيَّا الْمِحْرَابَ وَجَدَ عِندَهَا رِزْقًا قَالَ يَٰمَرْيَمُ أَنَّىٰ لَكِ هَٰذَا قَالَتْ هُوَ مِنْ عِندِ اللَّهِ إِنَّ اللَّهَ يَرْزُقُ مَن يَشَآءُ بِغَيْرِ 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her Lord accepted her with a good acceptance, raised her in a good way, and put her in the care of Zakariyya. Whenever he entered her place of worship he found food with her. He said: O Maryam, where did you get this? She said: It is from Allah; Allah provides for whom He wills without limit.</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هُنَالِكَ دَعَا زَكَرِيَّا رَبَّهُ قَالَ رَبِّ هَبْ لِي مِن لَّدُنكَ ذُرِّيَّةً طَيِّبَةً إِنَّكَ سَمِيعُ الدُّعَآءِ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Right then Zakariyya prayed to his Lord: My Lord, grant me from You a righteous child; You hear every prayer.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فَنَادَتْهُ الْمَلَـٰئِكَةُ وَهُوَ قَآئِمٌ يُصَلِّي فِي الْمِحْرَابِ أَنَّ اللَّهَ يُبَشِّرُكَ بِيَحْيَىٰ مُصَدِّقًا بِكَلِمَةٍ مِّنَ اللَّهِ وَسَيِّدًا وَحَصُورًا وَنَبِيًّا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angels called him while he was standing in prayer: Allah gives you good news of Yahya, who will confirm 'Isa, a noble leader, keeping himself pure from desires, and a prophet from among the righteous.</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أَنَّىٰ يَكُونُ لِي غُلَٰمٌ وَقَدْ بَلَغَنِيَ الْكِبَرُ وَامْرَأَتِي عَاقِرٌ قَالَ كَذَٰلِكَ اللَّهُ يَفْعَلُ مَا يَشَآءُ</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how can I have a son when I have grown old and my wife cannot have children? He said: That is how Allah does what He wills.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اجْعَل لِّي ءَايَةً قَالَ ءَايَتُكَ أَلَّا تُكَلِّمَ النَّاسَ ثَلَٰثَةَ أَيَّامٍ إِلَّا رَمْزًا وَاذْكُر رَّبَّكَ كَثِيرًا وَسَبِّحْ بِالْعَشِيِّ وَالْإِبْكَٰرِ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give me a sign. He said: Your sign is that you will not be able to speak to people for three days except by gestures. Remember your Lord a lot, and glorify Him in the evening and morning.</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قَالَتِ الْمَلَـٰئِكَةُ يَٰمَرْيَمُ إِنَّ اللَّهَ اصْطَفَىٰكِ وَطَهَّرَكِ وَاصْطَفَىٰكِ عَلَىٰ نِسَآءِ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the angels said: O Maryam, Allah has chosen you, purified you, and chosen you above the women of the worlds.</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يَٰمَرْيَمُ اقْنُتِي لِرَبِّكِ وَاسْجُدِي وَارْكَعِي مَعَ الرَّـٰكِعِينَ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Maryam, be obedient to your Lord, prostrate, and bow with those who bow.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مِنْ أَنبَآءِ الْغَيْبِ نُوحِيهِ إِلَيْكَ وَمَا كُنتَ لَدَيْهِمْ إِذْ يُلْقُونَ أَقْلَٰمَهُمْ أَيُّهُمْ يَكْفُلُ مَرْيَمَ وَمَا كُنتَ لَدَيْهِمْ إِذْ يَخْتَصِمُونَ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from the news of the unseen that We reveal to you, O Muhammad. You were not with them when they cast their pens to decide by lot which of them would look after Maryam, nor were you with them when they argued.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قَالَتِ الْمَلَـٰئِكَةُ يَٰمَرْيَمُ إِنَّ اللَّهَ يُبَشِّرُكِ بِكَلِمَةٍ مِّنْهُ اسْمُهُ الْمَسِيحُ عِيسَى ابْنُ مَرْيَمَ وَجِيهًا فِي الدُّنْيَا وَالْأخِرَةِ وَمِنَ الْمُقَرَّبِينَ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 angels said: O Maryam, Allah gives you good news of a child created by a word, "Be", whose name is the Messiah, 'Isa son of Maryam, honoured in this world and the Hereafter, and one of those brought near.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وَيُكَلِّمُ النَّاسَ فِي الْمَهْدِ وَكَهْلًا وَمِنَ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speak to people as a baby in the cradle and as a grown man, and he will be one of the righteous.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رَبِّ أَنَّىٰ يَكُونُ لِي وَلَدٌ وَلَمْ يَمْسَسْنِي بَشَرٌ قَالَ كَذَٰلِكِ اللَّهُ يَخْلُقُ مَا يَشَآءُ إِذَا قَضَىٰ أَمْرًا فَإِنَّمَا يَقُولُ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My Lord, how can I have a child when no man has touched me? He said: That is how Allah creates what He wills. When He decides a matter, He only says to it: Be, and it is.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وَيُعَلِّمُهُ الْكِتَٰبَ وَالْحِكْمَةَ وَالتَّوْرَىٰةَ وَالْإِنجِيلَ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will teach him writing, wisdom, the Torah and the Injil,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وَرَسُولًا إِلَىٰ بَنِي إِسْرَـٰءِيلَ أَنِّي قَدْ جِئْتُكُم بِـَٔايَةٍ مِّن رَّبِّكُمْ أَنِّي أَخْلُقُ لَكُم مِّنَ الطِّينِ كَهَيْـَٔةِ الطَّيْرِ فَأَنفُخُ فِيهِ فَيَكُونُ طَيْرًا بِإِذْنِ اللَّهِ وَأُبْرِئُ الْأَكْمَهَ وَالْأَبْرَصَ وَأُحْيِ الْمَوْتَىٰ بِإِذْنِ اللَّهِ وَأُنَبِّئُكُم بِمَا تَأْكُلُونَ وَمَا تَدَّخِرُونَ فِي بُيُوتِكُمْ إِنَّ فِي ذَٰلِكَ لَأيَةً لَّكُمْ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make him a messenger to the Children of Israel, saying: I have brought you a sign from your Lord: I make for you from clay the shape of a bird, then breathe into it and it becomes a bird by Allah's permission; I heal the blind and the leper, and bring the dead to life by Allah's permission; and I tell you what you eat and what you store in your houses.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50 – 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وَمُصَدِّقًا لِّمَا بَيْنَ يَدَيَّ مِنَ التَّوْرَىٰةِ وَلِأُحِلَّ لَكُم بَعْضَ الَّذِي حُرِّمَ عَلَيْكُمْ وَجِئْتُكُم بِـَٔايَةٍ مِّن رَّبِّكُمْ فَاتَّقُواْ اللَّهَ وَأَطِيعُونِ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have come confirming the Torah, and to make lawful for you some of what was forbidden to you. I have brought you a sign from your Lord, so have taqwa of Allah and obey me.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رَبِّي وَرَبُّكُمْ فَاعْبُدُوهُ هَٰذَا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is my Lord and your Lord, so worship Him alone. This is the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52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أَحَسَّ عِيسَىٰ مِنْهُمُ الْكُفْرَ قَالَ مَنْ أَنصَارِي إِلَى اللَّهِ قَالَ الْحَوَارِيُّونَ نَحْنُ أَنصَارُ اللَّهِ ءَامَنَّا بِاللَّهِ وَاشْهَدْ بِأَنَّا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'Isa sensed that they insisted on disbelief, he said: Who will help me in calling to Allah? His sincere companions said: We are the helpers of Allah's religion; we believe in Allah, so bear witness that we are Muslims.</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ءَامَنَّا بِمَآ أَنزَلْتَ وَاتَّبَعْنَا الرَّسُولَ فَاكْتُبْنَا مَعَ الشَّـٰهِدِينَ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we believe in what You sent down and we follow Your messenger 'Isa, so write us among those who bear witness to the truth.</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وَمَكَرُواْ وَمَكَرَ اللَّهُ وَاللَّهُ خَيْرُ الْمَٰكِرِينَ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plotted to kill 'Isa, and Allah planned to save him, and Allah is the best of planners.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اللَّهُ يَٰعِيسَىٰ إِنِّي مُتَوَفِّيكَ وَرَافِعُكَ إِلَيَّ وَمُطَهِّرُكَ مِنَ الَّذِينَ كَفَرُواْ وَجَاعِلُ الَّذِينَ اتَّبَعُوكَ فَوْقَ الَّذِينَ كَفَرُواْ إِلَىٰ يَوْمِ الْقِيَٰمَةِ ثُمَّ إِلَيَّ مَرْجِعُكُمْ فَأَحْكُمُ بَيْنَكُمْ فِيمَا كُنتُمْ فِيهِ تَخْتَلِفُونَ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Allah said: O 'Isa, I will take you and raise you up to Me alive, save you from the disbelievers, and put those who follow you above those who disbelieve until the Day of Resurrection. Then to Me is your return, and I will judge between you.</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الَّذِينَ كَفَرُواْ فَأُعَذِّبُهُمْ عَذَابًا شَدِيدًا فِي الدُّنْيَا وَالْأخِرَةِ وَمَا لَهُم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those who disbelieve, I will punish them severely in this world and the Hereafter, and they will have no helpers.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57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ءَامَنُواْ وَعَمِلُواْ الصَّـٰلِحَٰتِ فَيُوَفِّيهِمْ أُجُورَهُمْ وَاللَّهُ لَا يُحِبُّ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those who believe and do good deeds, He will give them their rewards in full. Allah does not love the wrongdoers.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نَتْلُوهُ عَلَيْكَ مِنَ الْأيَٰتِ وَالذِّكْرِ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what We recite to you of the verses and the wise Reminder.</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مَثَلَ عِيسَىٰ عِندَ اللَّهِ كَمَثَلِ ءَادَمَ خَلَقَهُ مِن تُرَابٍ ثُمَّ قَالَ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case of 'Isa, created without a father, is like that of Adam: Allah created him from dust, with neither father nor mother, then said to him: Be, and he was.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الْحَقُّ مِن رَّبِّكَ فَلَا تَكُن مِّنَ الْمُمْتَرِينَ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 truth from your Lord about 'Isa, so do not be among those who doubt.</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254660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حَآجَّكَ فِيهِ مِن بَعْدِ مَا جَآءَكَ مِنَ الْعِلْمِ فَقُلْ تَعَالَوْاْ نَدْعُ أَبْنَآءَنَا وَأَبْنَآءَكُمْ وَنِسَآءَنَا وَنِسَآءَكُمْ وَأَنفُسَنَا وَأَنفُسَكُمْ ثُمَّ نَبْتَهِلْ فَنَجْعَل لَّعْنَتَ اللَّهِ عَلَى الْكَٰذِبِينَ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argues with you about 'Isa after knowledge has come to you, say: Come, let us call our sons and your sons, our women and your women, ourselves and yourselves, then pray to Allah to put His curse on the liars. This is the "mubahalah".</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هَٰذَا لَهُوَ الْقَصَصُ الْحَقُّ وَمَا مِنْ إِلَٰهٍ إِلَّا اللَّهُ وَإِنَّ اللَّهَ لَهُوَ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the true story of 'Isa. There is no god worthy of worship but Allah, and Allah is the Almighty, the All-Wise.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3230118"/>
            <a:ext cx="548640" cy="548640"/>
          </a:xfrm>
          <a:prstGeom prst="star8">
            <a:avLst/>
          </a:prstGeom>
          <a:solidFill>
            <a:schemeClr val="accent2"/>
          </a:solidFill>
          <a:ln/>
        </p:spPr>
      </p:sp>
      <p:sp>
        <p:nvSpPr>
          <p:cNvPr id="6" name="Shape 4"/>
          <p:cNvSpPr/>
          <p:nvPr/>
        </p:nvSpPr>
        <p:spPr>
          <a:xfrm>
            <a:off x="822960" y="333984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تَوَلَّوْاْ فَإِنَّ اللَّهَ عَلِيمٌ بِالْمُفْسِدِينَ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they turn away, Allah knows the corrupters well.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A Common Word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64 – 99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Prophet (peace be upon him) wrote verse 64, “Say: O People of the Book, come to a common word”, in his letter to Heraclius, the Emperor of Rome, inviting him to Islam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Inviting the People of the Book to tawhid, showing that Ibrahim was upright and a Muslim, exposing some of their deeds, that Islam is the only accepted religion, and the obligation of Hajj.</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يَـٰأَهْلَ الْكِتَٰبِ تَعَالَوْاْ إِلَىٰ كَلِمَةٍ سَوَآءٍ بَيْنَنَا وَبَيْنَكُمْ أَلَّا نَعْبُدَ إِلَّا اللَّهَ وَلَا نُشْرِكَ بِهِ شَيْـًٔا وَلَا يَتَّخِذَ بَعْضُنَا بَعْضًا أَرْبَابًا مِّن دُونِ اللَّهِ فَإِن تَوَلَّوْاْ فَقُولُواْ اشْهَدُواْ بِأَنَّا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of the Book, come to a fair word that we can agree on: that we worship none but Allah, associate nothing with Him, and do not take one another as lords besides Allah. If they turn away, say: Bear witness that we are Muslims.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يَـٰأَهْلَ الْكِتَٰبِ لِمَ تُحَآجُّونَ فِي إِبْرَٰهِيمَ وَمَآ أُنزِلَتِ التَّوْرَىٰةُ وَالْإِنجِيلُ إِلَّا مِن بَعْدِهِ أَفَلَا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why do you argue about Ibrahim, each claiming him, when the Torah and the Injil were only sent down after him? Will you not use your minds?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هَـٰأَنتُمْ هَـٰؤُلَآءِ حَٰجَجْتُمْ فِيمَا لَكُم بِهِ عِلْمٌ فَلِمَ تُحَآجُّونَ فِيمَا لَيْسَ لَكُم بِهِ عِلْمٌ وَاللَّهُ يَعْلَمُ وَأَنتُمْ لَا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argued about what you had some knowledge of, so why argue about what you have no knowledge of? Allah knows and you do not know.</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إِبْرَٰهِيمُ يَهُودِيًّا وَلَا نَصْرَانِيًّا وَلَٰكِن كَانَ حَنِيفًا مُّسْلِمًا وَمَا كَانَ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was neither a Jew nor a Christian; he was upright, turning away from shirk to tawhid, a Muslim, and he was not one of the idol-worshippers.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68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أَوْلَى النَّاسِ بِإِبْرَٰهِيمَ لَلَّذِينَ اتَّبَعُوهُ وَهَٰذَا النَّبِيُّ وَالَّذِينَ ءَامَنُواْ وَاللَّهُ وَلِيُّ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most deserving of Ibrahim are those who followed him in his time, this Prophet Muhammad (peace be upon him), and the believers. Allah is the Protector of the believers.</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وَدَّت طَّآئِفَةٌ مِّنْ أَهْلِ الْكِتَٰبِ لَوْ يُضِلُّونَكُمْ وَمَا يُضِلُّونَ إِلَّآ أَنفُسَهُمْ وَمَا يَشْعُرُونَ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group of the People of the Book wish they could lead you astray, but they only lead themselves astray without realising it.</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يَـٰأَهْلَ الْكِتَٰبِ لِمَ تَكْفُرُونَ بِـَٔايَٰتِ اللَّهِ وَأَنتُمْ تَشْهَدُونَ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why do you disbelieve in Allah's verses when you know they are true?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يَـٰأَهْلَ الْكِتَٰبِ لِمَ تَلْبِسُونَ الْحَقَّ بِالْبَٰطِلِ وَتَكْتُمُونَ الْحَقَّ وَأَنتُمْ تَعْلَمُونَ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why do you mix truth with falsehood and hide the truth when you know it?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وَقَالَت طَّآئِفَةٌ مِّنْ أَهْلِ الْكِتَٰبِ ءَامِنُواْ بِالَّذِي أُنزِلَ عَلَى الَّذِينَ ءَامَنُواْ وَجْهَ النَّهَارِ وَاكْفُرُواْ ءَاخِرَهُ لَعَلَّهُمْ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group of them said: Believe in the Qur'an at the start of the day and disbelieve at its end, so perhaps the Muslims will doubt and turn back from their religion.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53946"/>
            <a:ext cx="548640" cy="548640"/>
          </a:xfrm>
          <a:prstGeom prst="star8">
            <a:avLst/>
          </a:prstGeom>
          <a:solidFill>
            <a:schemeClr val="accent2"/>
          </a:solidFill>
          <a:ln/>
        </p:spPr>
      </p:sp>
      <p:sp>
        <p:nvSpPr>
          <p:cNvPr id="6" name="Shape 4"/>
          <p:cNvSpPr/>
          <p:nvPr/>
        </p:nvSpPr>
        <p:spPr>
          <a:xfrm>
            <a:off x="822960" y="196367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539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83565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تُؤْمِنُواْ إِلَّا لِمَن تَبِعَ دِينَكُمْ قُلْ إِنَّ الْهُدَىٰ هُدَى اللَّهِ أَن يُؤْتَىٰ أَحَدٌ مِّثْلَ مَآ أُوتِيتُمْ أَوْ يُحَآجُّوكُمْ عِندَ رَبِّكُمْ قُلْ إِنَّ الْفَضْلَ بِيَدِ اللَّهِ يُؤْتِيهِ مَن يَشَآءُ وَاللَّهُ وَٰسِعٌ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trust no one except those who follow your religion. Say: True guidance is Allah's guidance, and all favour is in Allah's hand; He gives it to whom He wills. Allah is All-Encompassing, All-Knowing.</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45880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يَخْتَصُّ بِرَحْمَتِهِ مَن يَشَآءُ وَاللَّهُ ذُو الْفَضْلِ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chooses for His mercy whom He wills, and Allah is the Owner of great favour.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أَهْلِ الْكِتَٰبِ مَنْ إِن تَأْمَنْهُ بِقِنطَارٍ يُؤَدِّهِ إِلَيْكَ وَمِنْهُم مَّنْ إِن تَأْمَنْهُ بِدِينَارٍ لَّا يُؤَدِّهِ إِلَيْكَ إِلَّا مَا دُمْتَ عَلَيْهِ قَآئِمًا ذَٰلِكَ بِأَنَّهُمْ قَالُواْ لَيْسَ عَلَيْنَا فِي الْأُمِّيِّـنَ سَبِيلٌ وَيَقُولُونَ عَلَى اللَّهِ الْكَذِبَ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People of the Book are some who, if you trust them with a heap of wealth, will return it to you, and some who, if you trust them with a single dinar, will not return it unless you keep pressing them. That is because they said: We have no sin regarding the Arabs' wealth. They lie about Allah knowingly.</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مَنْ أَوْفَىٰ بِعَهْدِهِ وَاتَّقَىٰ فَإِنَّ اللَّهَ يُحِبُّ 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Yes indeed, whoever keeps his promise and has taqwa of Allah, Allah loves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370457"/>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يَشْتَرُونَ بِعَهْدِ اللَّهِ وَأَيْمَٰنِهِمْ ثَمَنًا قَلِيلًا أُوْلَـٰئِكَ لَا خَلَٰقَ لَهُمْ فِي الْأخِرَةِ وَلَا يُكَلِّمُهُمُ اللَّهُ وَلَا يَنظُرُ إِلَيْهِمْ يَوْمَ الْقِيَٰمَةِ وَلَا يُزَكِّيهِمْ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trade Allah's covenant and their oaths for a small worldly price will have no share in the Hereafter. Allah will not speak to them, look at them or purify them on the Day of Resurrection, and they will have a painful punishment.</a:t>
            </a:r>
            <a:endParaRPr lang="en-US" sz="3000" dirty="0"/>
          </a:p>
        </p:txBody>
      </p:sp>
      <p:sp>
        <p:nvSpPr>
          <p:cNvPr id="9" name="Shape 7"/>
          <p:cNvSpPr/>
          <p:nvPr/>
        </p:nvSpPr>
        <p:spPr>
          <a:xfrm>
            <a:off x="1444752" y="3550158"/>
            <a:ext cx="8641080" cy="0"/>
          </a:xfrm>
          <a:prstGeom prst="line">
            <a:avLst/>
          </a:prstGeom>
          <a:noFill/>
          <a:ln w="9525">
            <a:solidFill>
              <a:schemeClr val="accent2"/>
            </a:solidFill>
            <a:prstDash val="dash"/>
          </a:ln>
        </p:spPr>
      </p:sp>
      <p:sp>
        <p:nvSpPr>
          <p:cNvPr id="10" name="Shape 8"/>
          <p:cNvSpPr/>
          <p:nvPr/>
        </p:nvSpPr>
        <p:spPr>
          <a:xfrm>
            <a:off x="713232" y="3713607"/>
            <a:ext cx="548640" cy="548640"/>
          </a:xfrm>
          <a:prstGeom prst="star8">
            <a:avLst/>
          </a:prstGeom>
          <a:solidFill>
            <a:schemeClr val="accent2"/>
          </a:solidFill>
          <a:ln/>
        </p:spPr>
      </p:sp>
      <p:sp>
        <p:nvSpPr>
          <p:cNvPr id="11" name="Shape 9"/>
          <p:cNvSpPr/>
          <p:nvPr/>
        </p:nvSpPr>
        <p:spPr>
          <a:xfrm>
            <a:off x="822960" y="382333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1360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695319"/>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مِنْهُمْ لَفَرِيقًا يَلْوُنَ أَلْسِنَتَهُم بِالْكِتَٰبِ لِتَحْسَبُوهُ مِنَ الْكِتَٰبِ وَمَا هُوَ مِنَ الْكِتَٰبِ وَيَقُولُونَ هُوَ مِنْ عِندِ اللَّهِ وَمَا هُوَ مِنْ عِندِ اللَّهِ وَيَقُولُونَ عَلَى اللَّهِ الْكَذِبَ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them is a group who twist their tongues with words so you think it is from the Torah when it is not, and they say: It is from Allah, when it is not from Allah. They lie about Allah knowingly.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لِبَشَرٍ أَن يُؤْتِيَهُ اللَّهُ الْكِتَٰبَ وَالْحُكْمَ وَالنُّبُوَّةَ ثُمَّ يَقُولَ لِلنَّاسِ كُونُواْ عِبَادًا لِّي مِن دُونِ اللَّهِ وَلَٰكِن كُونُواْ رَبَّـٰنِيِّـنَ بِمَا كُنتُمْ تُعَلِّمُونَ الْكِتَٰبَ وَبِمَا كُنتُمْ تَدْرُسُونَ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right for a human whom Allah has given the Book, wisdom and prophethood to say to people: Worship me instead of Allah. Rather he says: Be scholars who act on what you teach of the Book and what you study.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يَأْمُرَكُمْ أَن تَتَّخِذُواْ الْمَلَـٰئِكَةَ وَالنَّبِيِّـنَ أَرْبَابًا أَيَأْمُرُكُم بِالْكُفْرِ بَعْدَ إِذْ أَنتُم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would he command you to take the angels and prophets as gods. Would he command you to disbelieve after you have become Muslims?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 اللَّهُ مِيثَٰقَ النَّبِيِّـنَ لَمَآ ءَاتَيْتُكُم مِّن كِتَٰبٍ وَحِكْمَةٍ ثُمَّ جَآءَكُمْ رَسُولٌ مُّصَدِّقٌ لِّمَا مَعَكُمْ لَتُؤْمِنُنَّ بِهِ وَلَتَنصُرُنَّهُ قَالَ ءَأَقْرَرْتُمْ وَأَخَذْتُمْ عَلَىٰ ذَٰلِكُمْ إِصْرِي قَالُواْ أَقْرَرْنَا قَالَ فَاشْهَدُواْ وَأَنَا مَعَكُم مِّنَ الشَّـٰهِدِينَ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when Allah took the covenant from the prophets: If a messenger comes to you, Muhammad (peace be upon him), confirming what you have, you must believe in him and help him. They agreed. He said: Then bear witness, and I am with you among the witnesses.</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تَوَلَّىٰ بَعْدَ ذَٰلِكَ فَأُوْلَـٰئِكَ 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whoever turns away after that, they are the ones who leave Allah's obedience.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أَفَغَيْرَ دِينِ اللَّهِ يَبْغُونَ وَلَهُ أَسْلَمَ مَن فِي السَّمَٰوَٰتِ وَالْأَرْضِ طَوْعًا وَكَرْهًا وَإِلَيْهِ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seek a religion other than Allah's, when everyone in the heavens and the earth has submitted to Him, willingly or unwillingly, and to Him they will return?</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ءَامَنَّا بِاللَّهِ وَمَآ أُنزِلَ عَلَيْنَا وَمَآ أُنزِلَ عَلَىٰ إِبْرَٰهِيمَ وَإِسْمَٰعِيلَ وَإِسْحَٰقَ وَيَعْقُوبَ وَالْأَسْبَاطِ وَمَآ أُوتِيَ مُوسَىٰ وَعِيسَىٰ وَالنَّبِيُّونَ مِن رَّبِّهِمْ لَا نُفَرِّقُ بَيْنَ أَحَدٍ مِّنْهُمْ وَنَحْنُ لَهُ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We believe in Allah, in what was sent down to us, and in what was sent down to Ibrahim, Isma'il, Ishaq, Ya'qub and the Tribes, and what was given to Musa, 'Isa and the prophets. We make no difference between any of them, and to Him we submit.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85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يَبْتَغِ غَيْرَ الْإِسْلَٰمِ دِينًا فَلَن يُقْبَلَ مِنْهُ وَهُوَ فِي الْأخِرَةِ مِنَ الْخَٰسِرِينَ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seeks a religion other than Islam, it will never be accepted from him, and in the Hereafter he will be among the losers.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3" name="Text 11"/>
          <p:cNvSpPr txBox="1"/>
          <p:nvPr/>
        </p:nvSpPr>
        <p:spPr>
          <a:xfrm>
            <a:off x="1444752" y="280720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كَيْفَ يَهْدِي اللَّهُ قَوْمًا كَفَرُواْ بَعْدَ إِيمَٰنِهِمْ وَشَهِدُواْ أَنَّ الرَّسُولَ حَقٌّ وَجَآءَهُمُ الْبَيِّنَٰتُ وَاللَّهُ لَا يَهْدِي الْقَوْمَ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would Allah guide people who disbelieved after believing, after bearing witness that the Messenger is true and after clear proofs came to them? Allah does not guide the wrongdoing people.</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جَزَآؤُهُمْ أَنَّ عَلَيْهِمْ لَعْنَةَ اللَّهِ وَالْمَلَـٰئِكَةِ وَالنَّاسِ أَجْمَعِينَ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reward is that upon them is the curse of Allah, the angels and all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لَا يُخَفَّفُ عَنْهُمُ الْعَذَابُ وَلَا هُمْ يُنظَرُونَ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in it forever; their punishment will not be lightened and they will not be given more time,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تَابُواْ مِن بَعْدِ ذَٰلِكَ وَأَصْلَحُواْ فَإِنَّ 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after that and correct their deeds; Allah is Forgiving, Most Merciful.</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بَعْدَ إِيمَٰنِهِمْ ثُمَّ ازْدَادُواْ كُفْرًا لَّن تُقْبَلَ تَوْبَتُهُمْ وَأُوْلَـٰئِكَ هُمُ الضَّآلُّونَ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after believing and keep on disbelieving until death, their repentance at death will not be accepted, and they are the ones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91 – 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8" name="Text 6"/>
          <p:cNvSpPr txBox="1"/>
          <p:nvPr/>
        </p:nvSpPr>
        <p:spPr>
          <a:xfrm>
            <a:off x="1444752" y="184937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وَمَاتُواْ وَهُمْ كُفَّارٌ فَلَن يُقْبَلَ مِنْ أَحَدِهِم مِّلْءُ الْأَرْضِ ذَهَبًا وَلَوِ افْتَدَىٰ بِهِ أُوْلَـٰئِكَ لَهُمْ عَذَابٌ أَلِيمٌ وَمَا لَهُم مِّن 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and die as disbelievers, even an earth full of gold would not be accepted from any of them if he offered it as ransom. They will have a painful punishment and no helpers.</a:t>
            </a:r>
            <a:endParaRPr lang="en-US" sz="3000" dirty="0"/>
          </a:p>
        </p:txBody>
      </p:sp>
      <p:sp>
        <p:nvSpPr>
          <p:cNvPr id="9" name="Shape 7"/>
          <p:cNvSpPr/>
          <p:nvPr/>
        </p:nvSpPr>
        <p:spPr>
          <a:xfrm>
            <a:off x="1444752" y="3838194"/>
            <a:ext cx="8641080" cy="0"/>
          </a:xfrm>
          <a:prstGeom prst="line">
            <a:avLst/>
          </a:prstGeom>
          <a:noFill/>
          <a:ln w="9525">
            <a:solidFill>
              <a:schemeClr val="accent2"/>
            </a:solidFill>
            <a:prstDash val="dash"/>
          </a:ln>
        </p:spPr>
      </p:sp>
      <p:sp>
        <p:nvSpPr>
          <p:cNvPr id="10" name="Shape 8"/>
          <p:cNvSpPr/>
          <p:nvPr/>
        </p:nvSpPr>
        <p:spPr>
          <a:xfrm>
            <a:off x="713232" y="4071366"/>
            <a:ext cx="548640" cy="548640"/>
          </a:xfrm>
          <a:prstGeom prst="star8">
            <a:avLst/>
          </a:prstGeom>
          <a:solidFill>
            <a:schemeClr val="accent2"/>
          </a:solidFill>
          <a:ln/>
        </p:spPr>
      </p:sp>
      <p:sp>
        <p:nvSpPr>
          <p:cNvPr id="11" name="Shape 9"/>
          <p:cNvSpPr/>
          <p:nvPr/>
        </p:nvSpPr>
        <p:spPr>
          <a:xfrm>
            <a:off x="822960" y="418109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713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3" name="Text 11"/>
          <p:cNvSpPr txBox="1"/>
          <p:nvPr/>
        </p:nvSpPr>
        <p:spPr>
          <a:xfrm>
            <a:off x="1444752" y="4053078"/>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 تَنَالُواْ الْبِرَّ حَتَّىٰ تُنفِقُواْ مِمَّا تُحِبُّونَ وَمَا تُنفِقُواْ مِن شَيْءٍ فَإِنَّ اللَّهَ بِهِ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never reach complete goodness and Paradise until you spend from what you love, and whatever you spend, Allah knows it. When it was revealed, Abu Talhah gave in charity his most beloved property, the garden of Bayruha' (Bukhari).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93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الطَّعَامِ كَانَ حِلًّا لِّبَنِي إِسْرَـٰءِيلَ إِلَّا مَا حَرَّمَ إِسْرَـٰءِيلُ عَلَىٰ نَفْسِهِ مِن قَبْلِ أَن تُنَزَّلَ التَّوْرَىٰةُ قُلْ فَأْتُواْ بِالتَّوْرَىٰةِ فَاتْلُوهَآ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 food was lawful for the Children of Israel except what Ya'qub forbade himself before the Torah was sent down. Say: Bring the Torah and read it, if you are truthful.</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 افْتَرَىٰ عَلَى اللَّهِ الْكَذِبَ مِن بَعْدِ ذَٰلِكَ فَأُوْلَـٰئِكَ هُمُ الظَّـٰلِمُونَ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whoever lies about Allah after that, they are the wrongdoers.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صَدَقَ اللَّهُ فَاتَّبِعُواْ مِلَّةَ إِبْرَٰهِيمَ حَنِيفًا وَمَا كَانَ مِنَ الْمُشْرِكِينَ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Allah has spoken the truth, so follow the religion of Ibrahim, who turned away from shirk to tawhid, and he was not one of the idol-worshippers.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أَوَّلَ بَيْتٍ وُضِعَ لِلنَّاسِ لَلَّذِي بِبَكَّةَ مُبَارَكًا وَهُدًى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first house set up for people's worship is the Ka'bah in Makkah, blessed and a guidance for the worlds.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فِيهِ ءَايَٰتٌ بَيِّنَٰتٌ مَّقَامُ إِبْرَٰهِيمَ وَمَن دَخَلَهُ كَانَ ءَامِنًا وَلِلَّهِ عَلَى النَّاسِ حِجُّ الْبَيْتِ مَنِ اسْتَطَاعَ إِلَيْهِ سَبِيلًا وَمَن كَفَرَ فَإِنَّ اللَّهَ غَنِيٌّ عَنِ الْعَٰلَمِينَ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it are clear signs, among them the standing place of Ibrahim, and whoever enters it is safe. Hajj to the House is a duty on people to Allah, for whoever is able to find a way there. Whoever disbelieves, Allah does not need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99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يَـٰأَهْلَ الْكِتَٰبِ لِمَ تَكْفُرُونَ بِـَٔايَٰتِ اللَّهِ وَاللَّهُ شَهِيدٌ عَلَىٰ 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of the Book, why do you disbelieve in Allah's verses, when Allah is witness to what you do?</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يَـٰأَهْلَ الْكِتَٰبِ لِمَ تَصُدُّونَ عَن سَبِيلِ اللَّهِ مَنْ ءَامَنَ تَبْغُونَهَا عِوَجًا وَأَنتُمْ شُهَدَآءُ وَمَا اللَّهُ بِغَٰفِلٍ عَمَّا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O People of the Book, why do you block the believers from Allah's religion, wanting it crooked, when you know it is the truth? Allah is not unaware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The Best Nation</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100 – 120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that a Jewish man named Shas ibn Qays passed by the Aws and the Khazraj sitting together in friendship. It angered him, so he reminded them of their wars before Islam until they almost fought. The Prophet (peace be upon him) came out to them and reminded them of Allah, so they made peace, and these verses were revealed.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have taqwa of Allah as He deserves, to hold firmly to the rope of Allah and not divide, to command good and forbid evil, and that this Ummah is the best nation.</a:t>
            </a:r>
            <a:endParaRPr lang="en-US" sz="17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100 –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تُطِيعُواْ فَرِيقًا مِّنَ الَّذِينَ أُوتُواْ الْكِتَٰبَ يَرُدُّوكُم بَعْدَ إِيمَٰنِكُمْ 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if you obey a group of the People of the Book, they will turn you back into disbelievers after your faith.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وَكَيْفَ تَكْفُرُونَ وَأَنتُمْ تُتْلَىٰ عَلَيْكُمْ ءَايَٰتُ اللَّهِ وَفِيكُمْ رَسُولُهُ وَمَن يَعْتَصِم بِاللَّهِ فَقَدْ هُدِيَ إِلَىٰ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how could you disbelieve, when Allah's verses are recited to you and His Messenger is among you? Whoever holds firmly to Allah has been guided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102 – 103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95603"/>
            <a:ext cx="548640" cy="548640"/>
          </a:xfrm>
          <a:prstGeom prst="star8">
            <a:avLst/>
          </a:prstGeom>
          <a:solidFill>
            <a:schemeClr val="accent2"/>
          </a:solidFill>
          <a:ln/>
        </p:spPr>
      </p:sp>
      <p:sp>
        <p:nvSpPr>
          <p:cNvPr id="6" name="Shape 4"/>
          <p:cNvSpPr/>
          <p:nvPr/>
        </p:nvSpPr>
        <p:spPr>
          <a:xfrm>
            <a:off x="822960" y="150533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956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377315"/>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حَقَّ تُقَاتِهِ وَلَا تَمُوتُنَّ إِلَّا وَأَنتُم مُّسْلِمُونَ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have taqwa of Allah as He deserves: that He is obeyed and not disobeyed, remembered and not forgotten, thanked and not denied, as Ibn Mas'ud said; and do not die except as Muslims.</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185541"/>
            <a:ext cx="548640" cy="548640"/>
          </a:xfrm>
          <a:prstGeom prst="star8">
            <a:avLst/>
          </a:prstGeom>
          <a:solidFill>
            <a:schemeClr val="accent2"/>
          </a:solidFill>
          <a:ln/>
        </p:spPr>
      </p:sp>
      <p:sp>
        <p:nvSpPr>
          <p:cNvPr id="11" name="Shape 9"/>
          <p:cNvSpPr/>
          <p:nvPr/>
        </p:nvSpPr>
        <p:spPr>
          <a:xfrm>
            <a:off x="822960" y="3295269"/>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85541"/>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3" name="Text 11"/>
          <p:cNvSpPr txBox="1"/>
          <p:nvPr/>
        </p:nvSpPr>
        <p:spPr>
          <a:xfrm>
            <a:off x="1444752" y="3167253"/>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وَاعْتَصِمُواْ بِحَبْلِ اللَّهِ جَمِيعًا وَلَا تَفَرَّقُواْ وَاذْكُرُواْ نِعْمَتَ اللَّهِ عَلَيْكُمْ إِذْ كُنتُمْ أَعْدَآءً فَأَلَّفَ بَيْنَ قُلُوبِكُمْ فَأَصْبَحْتُم بِنِعْمَتِهِ إِخْوَٰنًا وَكُنتُمْ عَلَىٰ شَفَا حُفْرَةٍ مِّنَ النَّارِ فَأَنقَذَكُم مِّنْهَا كَذَٰلِكَ يُبَيِّنُ اللَّهُ لَكُمْ ءَايَٰتِهِ لَعَلَّكُمْ تَهْتَدُونَ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Hold firmly, all together, to the religion and Book of Allah and do not split apart. Remember Allah's blessing on you when you were enemies, like the Aws and the Khazraj, and He joined your hearts, so by His blessing you became brothers. You were on the edge of a pit of Fire and He saved you from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104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وَلْتَكُن مِّنكُمْ أُمَّةٌ يَدْعُونَ إِلَى الْخَيْرِ وَيَأْمُرُونَ بِالْمَعْرُوفِ وَيَنْهَوْنَ عَنِ الْمُنكَرِ وَأُوْلَـٰئِكَ هُمُ الْمُفْلِحُونَ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there be a group among you who call to good, command what is right and forbid what is wrong; they are the successful ones.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تَكُونُواْ كَالَّذِينَ تَفَرَّقُواْ وَاخْتَلَفُواْ مِن بَعْدِ مَا جَآءَهُمُ الْبَيِّنَٰتُ وَأُوْلَـٰئِكَ لَهُمْ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like the People of the Book who split up and differed after clear proofs came to them; they will have a great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تَبْيَضُّ وُجُوهٌ وَتَسْوَدُّ وُجُوهٌ فَأَمَّا الَّذِينَ اسْوَدَّتْ وُجُوهُهُمْ أَكَفَرْتُم بَعْدَ إِيمَٰنِكُمْ فَذُوقُواْ الْعَذَابَ بِمَا كُنتُمْ تَكْفُرُونَ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when the faces of the people of faith and unity will be bright, and the faces of the people of division and misguidance will be dark. To those whose faces are dark it will be said: Did you disbelieve after your faith? Then taste the punishment for your disbelief.</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الَّذِينَ ابْيَضَّتْ وُجُوهُهُمْ فَفِي رَحْمَةِ اللَّهِ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whose faces are bright will be in Paradise, staying there forever.</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ءَايَٰتُ اللَّهِ نَتْلُوهَا عَلَيْكَ بِالْحَقِّ وَمَا اللَّهُ يُرِيدُ ظُلْمًا لِّلْعَٰلَمِينَ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the verses of Allah that We recite to you with the truth, and Allah wants no injustice for the worlds.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109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وَإِلَى اللَّهِ تُرْجَعُ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whatever is on earth, and to Him all matters return.</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3" name="Text 11"/>
          <p:cNvSpPr txBox="1"/>
          <p:nvPr/>
        </p:nvSpPr>
        <p:spPr>
          <a:xfrm>
            <a:off x="1444752" y="254660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كُنتُمْ خَيْرَ أُمَّةٍ أُخْرِجَتْ لِلنَّاسِ تَأْمُرُونَ بِالْمَعْرُوفِ وَتَنْهَوْنَ عَنِ الْمُنكَرِ وَتُؤْمِنُونَ بِاللَّهِ وَلَوْ ءَامَنَ أَهْلُ الْكِتَٰبِ لَكَانَ خَيْرًا لَّهُم مِّنْهُمُ الْمُؤْمِنُونَ وَأَكْثَرُهُمُ الْفَٰسِقُونَ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are the best nation and the most beneficial to people: you command what is right, forbid what is wrong, and believe in Allah. If the People of the Book had believed, it would have been better for them. Some of them are believers, but most of them have left Allah's obedience.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 يَضُرُّوكُمْ إِلَّآ أَذًى وَإِن يُقَٰتِلُوكُمْ يُوَلُّوكُمُ الْأَدْبَارَ ثُمَّ لَا يُنصَرُونَ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not harm you except with hurtful words, and if they fight you, they will run away defeated, and then they will not be helped.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ضُرِبَتْ عَلَيْهِمُ الذِّلَّةُ أَيْنَ مَا ثُقِفُواْ إِلَّا بِحَبْلٍ مِّنَ اللَّهِ وَحَبْلٍ مِّنَ النَّاسِ وَبَآءُو بِغَضَبٍ مِّنَ اللَّهِ وَضُرِبَتْ عَلَيْهِمُ الْمَسْكَنَةُ ذَٰلِكَ بِأَنَّهُمْ كَانُواْ يَكْفُرُونَ بِـَٔايَٰتِ اللَّهِ وَيَقْتُلُونَ الْأَنبِيَآءَ بِغَيْرِ حَقٍّ ذَٰلِكَ بِمَا عَصَواْ وَّكَانُواْ يَعْتَدُونَ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Humiliation is put on them wherever they are found, except with a promise of protection from Allah or from people. They earned anger from Allah because they disbelieved in His verses and killed the prophets without right.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لَيْسُواْ سَوَآءً مِّنْ أَهْلِ الْكِتَٰبِ أُمَّةٌ قَآئِمَةٌ يَتْلُونَ ءَايَٰتِ اللَّهِ ءَانَآءَ الَّيْلِ وَهُمْ يَسْجُدُونَ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People of the Book are not all the same. Among them is a group standing firm on Allah's command, reciting Allah's verses in the hours of the night while they pray.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يُؤْمِنُونَ بِاللَّهِ وَالْيَوْمِ الْأخِرِ وَيَأْمُرُونَ بِالْمَعْرُوفِ وَيَنْهَوْنَ عَنِ الْمُنكَرِ وَيُسَٰرِعُونَ فِي الْخَيْرَٰتِ وَأُوْلَـٰئِكَ مِنَ الصَّـٰلِحِينَ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believe in Allah and the Last Day, command what is right, forbid what is wrong, and hurry to do good; they are among the righteous, like 'Abdullah ibn Salam.</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يَفْعَلُواْ مِنْ خَيْرٍ فَلَن يُكْفَرُوهُ وَاللَّهُ عَلِيمٌ بِالْمُتَّقِينَ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good they do, its reward will not be lost, and Allah knows those with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لَن تُغْنِيَ عَنْهُمْ أَمْوَٰلُهُمْ وَلَآ أَوْلَٰدُهُم مِّنَ اللَّهِ شَيْـًٔا وَأُوْلَـٰئِكَ أَصْحَٰبُ النَّارِ هُمْ فِيهَا خَٰلِدُونَ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disbelievers' wealth and children will not help them at all against Allah; they are the people of the Fire, staying in it forever.</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مَثَلُ مَا يُنفِقُونَ فِي هَٰذِهِ الْحَيَوٰةِ الدُّنْيَا كَمَثَلِ رِيحٍ فِيهَا صِرٌّ أَصَابَتْ حَرْثَ قَوْمٍ ظَلَمُواْ أَنفُسَهُمْ فَأَهْلَكَتْهُ وَمَا ظَلَمَهُمُ اللَّهُ وَلَٰكِنْ أَنفُسَهُمْ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the disbelievers spend in this world is like a freezing wind that hits the crops of wrongdoing people and destroys them. Their spending does not help them. Allah did not wrong them; they wronged themselves.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بِطَانَةً مِّن دُونِكُمْ لَا يَأْلُونَكُمْ خَبَالًا وَدُّواْ مَا عَنِتُّمْ قَدْ بَدَتِ الْبَغْضَآءُ مِنْ أَفْوَٰهِهِمْ وَمَا تُخْفِي صُدُورُهُمْ أَكْبَرُ قَدْ بَيَّنَّا لَكُمُ الْأيَٰتِ إِن كُنتُمْ تَعْقِلُونَ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as close friends, sharing your secrets, those who are not believers. They will spare no effort to ruin you and they wish you hardship. Hatred has already shown in their words, and what their chests hide is worse.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هَـٰأَنتُمْ أُوْلَآءِ تُحِبُّونَهُمْ وَلَا يُحِبُّونَكُمْ وَتُؤْمِنُونَ بِالْكِتَٰبِ كُلِّهِ وَإِذَا لَقُوكُمْ قَالُواْ ءَامَنَّا وَإِذَا خَلَوْاْ عَضُّواْ عَلَيْكُمُ الْأَنَامِلَ مِنَ الْغَيْظِ قُلْ مُوتُواْ بِغَيْظِكُمْ إِنَّ اللَّهَ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love them but they do not love you, and you believe in all the Books. When they meet you they say: We believe; but when they are alone they bite their fingertips at you in rage. Say: Die in your rage; Allah knows what is in the chests.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تَمْسَسْكُمْ حَسَنَةٌ تَسُؤْهُمْ وَإِن تُصِبْكُمْ سَيِّئَةٌ يَفْرَحُواْ بِهَا وَإِن تَصْبِرُواْ وَتَتَّقُواْ لَا يَضُرُّكُمْ كَيْدُهُمْ شَيْـًٔا إِنَّ اللَّهَ بِمَا يَعْمَلُونَ مُحِيطٌ</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something good happens to you, it upsets them; and if something bad happens to you, they are glad. But if you are patient and have taqwa, their plots will not harm you at all. Allah surrounds what they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Uhud, Remembering Badr</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121 – 129</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Prophet's (peace be upon him) face was wounded and his tooth was broken on the day of Uhud. He wiped away the blood and said: "How can a people succeed who wounded their prophet?" So Allah revealed: “You have no say in the matter”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beginning of the talk about the Battle of Uhud, a reminder of how Allah helped the believers at Badr with angels, and that victory comes from Allah alone.</a:t>
            </a:r>
            <a:endParaRPr lang="en-US" sz="1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121 – 123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غَدَوْتَ مِنْ أَهْلِكَ تُبَوِّئُ الْمُؤْمِنِينَ مَقَٰعِدَ لِلْقِتَالِ وَاللَّهُ سَمِيعٌ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O Muhammad, when you left your home in the morning on the day of Uhud, placing the believers in their positions for battle. Allah is All-Hearing, All-Knowing.</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هَمَّت طَّآئِفَتَانِ مِنكُمْ أَن تَفْشَلَا وَاللَّهُ وَلِيُّهُمَا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two groups among you, Banu Salimah and Banu Harithah, almost lost heart and went back, but Allah was their Protector and made them firm. In Allah let the believers put their trust.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نَصَرَكُمُ اللَّهُ بِبَدْرٍ وَأَنتُمْ أَذِلَّةٌ فَاتَّقُواْ اللَّهَ لَعَلَّكُمْ تَشْكُرُونَ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gave you victory at Badr when you were few and weak, so have taqwa of Allah so that you may be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124 – 125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تَقُولُ لِلْمُؤْمِنِينَ أَلَن يَكْفِيَكُمْ أَن يُمِدَّكُمْ رَبُّكُم بِثَلَٰثَةِ ءَالَٰفٍ مِّنَ الْمَلَـٰئِكَةِ مُنزَلِينَ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said to the believers at Badr: Is it not enough for you that your Lord helps you with three thousand angels sent down?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بَلَىٰ إِن تَصْبِرُواْ وَتَتَّقُواْ وَيَأْتُوكُم مِّن فَوْرِهِمْ هَٰذَا يُمْدِدْكُمْ رَبُّكُم بِخَمْسَةِ ءَالَٰفٍ مِّنَ الْمَلَـٰئِكَةِ مُسَوِّمِينَ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Yes, if you are patient and have taqwa, and the enemy comes at you suddenly, your Lord will help you with five thousand angels with special marks.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126 –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جَعَلَهُ اللَّهُ إِلَّا بُشْرَىٰ لَكُمْ وَلِتَطْمَئِنَّ قُلُوبُكُم بِهِ وَمَا النَّصْرُ إِلَّا مِنْ عِندِ اللَّهِ الْعَزِيزِ الْحَكِيمِ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made this help only as good news for you and so that your hearts would be at rest. Victory comes only from Allah, the Almighty, the All-Wise,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لِيَقْطَعَ طَرَفًا مِّنَ الَّذِينَ كَفَرُواْ أَوْ يَكْبِتَهُمْ فَيَنقَلِبُواْ خَآئِبِينَ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destroy a group of the disbelievers, or humble them so they go back disappointed.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128 –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لَكَ مِنَ الْأَمْرِ شَيْءٌ أَوْ يَتُوبَ عَلَيْهِمْ أَوْ يُعَذِّبَهُمْ فَإِنَّهُمْ 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no say in the matter of the servants, O Muhammad; the matter is Allah's: either He accepts their repentance, or punishes them, for they are wrongdoers.</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يَغْفِرُ لِمَن يَشَآءُ وَيُعَذِّبُ مَن يَشَآءُ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on earth. He forgives whom He wills and punishes whom He wills, and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Lessons of Uhud</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8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130 – 148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When a rumour spread at Uhud that the Prophet (peace be upon him) had been killed, some Muslims lost heart, so Allah revealed: “Muhammad is only a messenger; messengers have passed away before him”. Abu Bakr (may Allah be pleased with him) recited it on the day the Prophet (peace be upon him) died, and Allah made the Muslims firm with it (Bukhari).</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Riba is forbidden, the qualities of those with taqwa who race to Paradise, comforting the believers after Uhud, that days of victory and loss take turns, and staying firm after the Prophet's (peace be upon him) death.</a:t>
            </a:r>
            <a:endParaRPr lang="en-US" sz="17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130 – 132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تَأْكُلُواْ الرِّبَوٰاْ أَضْعَٰفًا مُّضَٰعَفَةً وَاتَّقُواْ اللَّهَ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consume riba, doubled and multiplied, as they used to do before Islam, and have taqwa of Allah so that you may succeed.</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وَاتَّقُواْ النَّارَ الَّتِي أُعِدَّتْ لِلْكَٰفِرِينَ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beware of the Fire prepared for the disbelievers.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وَأَطِيعُواْ اللَّهَ وَالرَّسُولَ لَعَلَّكُمْ تُرْحَمُونَ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obey Allah and the Messenger so that you may receive mercy.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133 – 134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وَسَارِعُواْ إِلَىٰ مَغْفِرَةٍ مِّن رَّبِّكُمْ وَجَنَّةٍ عَرْضُهَا السَّمَٰوَٰتُ وَالْأَرْضُ أُعِدَّتْ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Hurry to what brings forgiveness from your Lord and to a Paradise as wide as the heavens and the earth, prepared for those with taqwa,</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يُنفِقُونَ فِي السَّرَّآءِ وَالضَّرَّآءِ وَالْكَٰظِمِينَ الْغَيْظَ وَالْعَافِينَ عَنِ النَّاسِ وَاللَّهُ يُحِبُّ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spend in times of ease and hardship, hold back their anger, and pardon those who wronged them. Allah loves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135 – 136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إِذَا فَعَلُواْ فَٰحِشَةً أَوْ ظَلَمُواْ أَنفُسَهُمْ ذَكَرُواْ اللَّهَ فَاسْتَغْفَرُواْ لِذُنُوبِهِمْ وَمَن يَغْفِرُ الذُّنُوبَ إِلَّا اللَّهُ وَلَمْ يُصِرُّواْ عَلَىٰ مَا فَعَلُواْ وَهُمْ يَعْلَمُونَ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when they commit a major sin or wrong themselves with sins, remember Allah and ask forgiveness for their sins (and who forgives sins except Allah?), and do not keep on sinning knowingly.</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جَزَآؤُهُم مَّغْفِرَةٌ مِّن رَّبِّهِمْ وَجَنَّـٰتٌ تَجْرِي مِن تَحْتِهَا الْأَنْهَٰرُ خَٰلِدِينَ فِيهَا وَنِعْمَ أَجْرُ الْعَٰمِلِينَ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reward is forgiveness from their Lord and Gardens with rivers flowing beneath them, staying there forever. How excellent is the reward of those who work!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137 – 139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قَدْ خَلَتْ مِن قَبْلِكُمْ سُنَنٌ فَسِيرُواْ فِي الْأَرْضِ فَانظُرُواْ كَيْفَ كَانَ عَٰقِبَةُ الْمُكَذِّبِينَ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Allah's ways with the nations have passed before you, so travel through the land and see what happened to those who denied.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هَٰذَا بَيَانٌ لِّلنَّاسِ وَهُدًى وَمَوْعِظَةٌ لِّلْمُتَّقِينَ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Qur'an is a clear statement for people, guidance, and advice for those with taqwa.</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تَهِنُواْ وَلَا تَحْزَنُواْ وَأَنتُمُ الْأَعْلَوْنَ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lose heart and do not grieve over what happened to you at Uhud; you will be the highest if you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140 – 142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يَمْسَسْكُمْ قَرْحٌ فَقَدْ مَسَّ الْقَوْمَ قَرْحٌ مِّثْلُهُ وَتِلْكَ الْأَيَّامُ نُدَاوِلُهَا بَيْنَ النَّاسِ وَلِيَعْلَمَ اللَّهُ الَّذِينَ ءَامَنُواْ وَيَتَّخِذَ مِنكُمْ شُهَدَآءَ وَاللَّهُ لَا يُحِبُّ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 wound and killing struck you at Uhud, the like of it struck the disbelievers at Badr. These days of victory and loss We cause to take turns among people, so that Allah may make known the believers and honour some of you with martyrdom.</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وَلِيُمَحِّصَ اللَّهُ الَّذِينَ ءَامَنُواْ وَيَمْحَقَ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so that Allah may purify the believers from their sins and destroy the disbelievers.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حَسِبْتُمْ أَن تَدْخُلُواْ الْجَنَّةَ وَلَمَّا يَعْلَمِ اللَّهُ الَّذِينَ جَٰهَدُواْ مِنكُمْ وَيَعْلَمَ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you think you will enter Paradise without being tested by jihad and patience?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143 – 144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كُنتُمْ تَمَنَّوْنَ الْمَوْتَ مِن قَبْلِ أَن تَلْقَوْهُ فَقَدْ رَأَيْتُمُوهُ وَأَنتُمْ تَنظُرُونَ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Before Uhud you used to wish to meet the enemy and attain martyrdom; now you have seen it with your own eyes.</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مُحَمَّدٌ إِلَّا رَسُولٌ قَدْ خَلَتْ مِن قَبْلِهِ الرُّسُلُ أَفَإِيْن مَّاتَ أَوْ قُتِلَ انقَلَبْتُمْ عَلَىٰ أَعْقَٰبِكُمْ وَمَن يَنقَلِبْ عَلَىٰ عَقِبَيْهِ فَلَن يَضُرَّ اللَّهَ شَيْـًٔا وَسَيَجْزِي اللَّهُ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Muhammad is only a messenger; messengers have passed away before him. If he dies or is killed, will you turn back from your religion? Whoever turns back will not harm Allah at all, and Allah will reward the thankful.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145 – 146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لِنَفْسٍ أَن تَمُوتَ إِلَّا بِإِذْنِ اللَّهِ كِتَٰبًا مُّؤَجَّلًا وَمَن يُرِدْ ثَوَابَ الدُّنْيَا نُؤْتِهِ مِنْهَا وَمَن يُرِدْ ثَوَابَ الْأخِرَةِ نُؤْتِهِ مِنْهَا وَسَنَجْزِي الشَّـٰكِرِينَ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soul can die except by Allah's permission at the written time. Whoever wants the reward of this world, We give him of it, and whoever wants the reward of the Hereafter, We give him of it, and We will reward the thankful.</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وَكَأَيِّن مِّن نَّبِيٍّ قَٰتَلَ مَعَهُ رِبِّيُّونَ كَثِيرٌ فَمَا وَهَنُواْ لِمَآ أَصَابَهُمْ فِي سَبِيلِ اللَّهِ وَمَا ضَعُفُواْ وَمَا اسْتَكَانُواْ وَاللَّهُ يُحِبُّ الصَّـٰبِرِينَ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a prophet fought with many scholars and groups beside him! They did not lose heart at what struck them in the way of Allah, nor did they weaken or give in. Allah loves the patient.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147 – 148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قَوْلَهُمْ إِلَّآ أَن قَالُواْ رَبَّنَا اغْفِرْ لَنَا ذُنُوبَنَا وَإِسْرَافَنَا فِي أَمْرِنَا وَثَبِّتْ أَقْدَامَنَا وَانصُرْنَا عَلَى الْقَوْمِ الْكَٰفِرِينَ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only words were: Our Lord, forgive us our sins and our going beyond limits in our affairs, make our feet firm, and help us against the disbelieving people.</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فَـَٔاتَىٰهُمُ اللَّهُ ثَوَابَ الدُّنْيَا وَحُسْنَ ثَوَابِ الْأخِرَةِ وَاللَّهُ يُحِبُّ الْمُحْسِنِينَ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Allah gave them victory in this world and the best reward in the Hereafter. Allah loves those who do good.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The Defeat and the Martyrs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9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149 – 175</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(may Allah be pleased with her) said about “Those who answered Allah and the Messenger after injury had struck them”: When the idol-worshippers left Uhud, the Prophet (peace be upon him) said: "Who will go after them?" Seventy men volunteered, among them Abu Bakr and Az-Zubayr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reason for the setback at Uhud, which was the archers' disobedience; Allah's pardon; the Prophet's (peace be upon him) gentleness and consulting his Companions; the virtue of the martyrs; and the believers' firmness at Hamra' al-Asad.</a:t>
            </a:r>
            <a:endParaRPr lang="en-US" sz="17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149 – 151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إِن تُطِيعُواْ الَّذِينَ كَفَرُواْ يَرُدُّوكُمْ عَلَىٰ أَعْقَٰبِكُمْ فَتَنقَلِبُواْ خَٰسِرِينَ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if you obey the disbelievers, they will turn you back from your religion and you will return as losers.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اللَّهُ مَوْلَىٰكُمْ وَهُوَ خَيْرُ النَّـٰصِرِينَ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Allah is your Protector, and He is the best of helpers.</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سَنُلْقِي فِي قُلُوبِ الَّذِينَ كَفَرُواْ الرُّعْبَ بِمَآ أَشْرَكُواْ بِاللَّهِ مَا لَمْ يُنَزِّلْ بِهِ سُلْطَٰنًا وَمَأْوَىٰهُمُ النَّارُ وَبِئْسَ مَثْوَى الظَّـٰلِمِينَ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put fear into the hearts of the disbelievers because they associate with Allah things for which He sent down no proof. Their home is the Fire, and how evil is the home of the wrongdoers!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صَدَقَكُمُ اللَّهُ وَعْدَهُ إِذْ تَحُسُّونَهُم بِإِذْنِهِ حَتَّىٰ إِذَا فَشِلْتُمْ وَتَنَٰزَعْتُمْ فِي الْأَمْرِ وَعَصَيْتُم مِّن بَعْدِ مَآ أَرَىٰكُم مَّا تُحِبُّونَ مِنكُم مَّن يُرِيدُ الدُّنْيَا وَمِنكُم مَّن يُرِيدُ الْأخِرَةَ ثُمَّ صَرَفَكُمْ عَنْهُمْ لِيَبْتَلِيَكُمْ وَلَقَدْ عَفَا عَنكُمْ وَاللَّهُ ذُو فَضْلٍ عَلَى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fulfilled His promise of victory to you at the start of the battle of Uhud, until you lost heart, disputed, and the archers disobeyed the Messenger's order by leaving the hill, hoping for war gains. So victory turned into defeat to test you, and He has pardoned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تُصْعِدُونَ وَلَا تَلْوُنَ عَلَىٰ أَحَدٍ وَالرَّسُولُ يَدْعُوكُمْ فِي أُخْرَىٰكُمْ فَأَثَٰبَكُمْ غَمًّا بِغَمٍّ لِّكَيْلَا تَحْزَنُواْ عَلَىٰ مَا فَاتَكُمْ وَلَا مَآ أَصَٰبَكُمْ وَاللَّهُ خَبِيرٌ بِمَا تَعْمَلُونَ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were running up the mountain, not looking back at anyone, while the Messenger was calling you from behind, He repaid you with sorrow upon sorrow, so that you would not grieve over the gains you missed or what struck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7612"/>
            <a:ext cx="548640" cy="548640"/>
          </a:xfrm>
          <a:prstGeom prst="star8">
            <a:avLst/>
          </a:prstGeom>
          <a:solidFill>
            <a:schemeClr val="accent2"/>
          </a:solidFill>
          <a:ln/>
        </p:spPr>
      </p:sp>
      <p:sp>
        <p:nvSpPr>
          <p:cNvPr id="6" name="Shape 4"/>
          <p:cNvSpPr/>
          <p:nvPr/>
        </p:nvSpPr>
        <p:spPr>
          <a:xfrm>
            <a:off x="822960" y="157734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76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8" name="Text 6"/>
          <p:cNvSpPr txBox="1"/>
          <p:nvPr/>
        </p:nvSpPr>
        <p:spPr>
          <a:xfrm>
            <a:off x="1444752" y="1449324"/>
            <a:ext cx="10012680" cy="451713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أَنزَلَ عَلَيْكُم مِّن بَعْدِ الْغَمِّ أَمَنَةً نُّعَاسًا يَغْشَىٰ طَآئِفَةً مِّنكُمْ وَطَآئِفَةٌ قَدْ أَهَمَّتْهُمْ أَنفُسُهُمْ يَظُنُّونَ بِاللَّهِ غَيْرَ الْحَقِّ ظَنَّ الْجَٰهِلِيَّةِ يَقُولُونَ هَل لَّنَا مِنَ الْأَمْرِ مِن شَيْءٍ قُلْ إِنَّ الْأَمْرَ كُلَّهُ لِلَّهِ يُخْفُونَ فِي أَنفُسِهِم مَّا لَا يُبْدُونَ لَكَ يَقُولُونَ لَوْ كَانَ لَنَا مِنَ الْأَمْرِ شَيْءٌ مَّا قُتِلْنَا هَٰهُنَا قُل لَّوْ كُنتُمْ فِي بُيُوتِكُمْ لَبَرَزَ الَّذِينَ كُتِبَ عَلَيْهِمُ الْقَتْلُ إِلَىٰ مَضَاجِعِهِمْ وَلِيَبْتَلِيَ اللَّهُ مَا فِي صُدُورِكُمْ وَلِيُمَحِّصَ مَا فِي قُلُوبِكُمْ وَاللَّهُ عَلِيمٌ بِذَاتِ الصُّدُورِ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after the sorrow He sent down on you calm, a light sleep covering the truthful believers, while another group, the hypocrites, cared only about themselves, thinking wrongly about Allah. Say: The whole matter belongs to Allah. Even if you had been in your homes, those destined to be killed would have gone out to the places where they died.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155 – 156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تَوَلَّوْاْ مِنكُمْ يَوْمَ الْتَقَى الْجَمْعَانِ إِنَّمَا اسْتَزَلَّهُمُ الشَّيْطَٰنُ بِبَعْضِ مَا كَسَبُواْ وَلَقَدْ عَفَا اللَّهُ عَنْهُمْ إِنَّ اللَّهَ غَفُورٌ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of you who ran away on the day of Uhud were made to slip by Satan because of some of their sins, but Allah has pardoned them. Allah is Forgiving, Forbearing.</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تَكُونُواْ كَالَّذِينَ كَفَرُواْ وَقَالُواْ لِإِخْوَٰنِهِمْ إِذَا ضَرَبُواْ فِي الْأَرْضِ أَوْ كَانُواْ غُزًّى لَّوْ كَانُواْ عِندَنَا مَا مَاتُواْ وَمَا قُتِلُواْ لِيَجْعَلَ اللَّهُ ذَٰلِكَ حَسْرَةً فِي قُلُوبِهِمْ وَاللَّهُ يُحْيِ وَيُمِيتُ وَاللَّهُ بِمَا تَعْمَلُونَ بَصِيرٌ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be like the hypocrites who said about their brothers who died while travelling or were killed in battle: If they had stayed with us they would not have died. Allah makes that a regret in their hearts; Allah gives life and causes death.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157 – 158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02586"/>
            <a:ext cx="548640" cy="548640"/>
          </a:xfrm>
          <a:prstGeom prst="star8">
            <a:avLst/>
          </a:prstGeom>
          <a:solidFill>
            <a:schemeClr val="accent2"/>
          </a:solidFill>
          <a:ln/>
        </p:spPr>
      </p:sp>
      <p:sp>
        <p:nvSpPr>
          <p:cNvPr id="6" name="Shape 4"/>
          <p:cNvSpPr/>
          <p:nvPr/>
        </p:nvSpPr>
        <p:spPr>
          <a:xfrm>
            <a:off x="822960" y="251231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0258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8" name="Text 6"/>
          <p:cNvSpPr txBox="1"/>
          <p:nvPr/>
        </p:nvSpPr>
        <p:spPr>
          <a:xfrm>
            <a:off x="1444752" y="238429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قُتِلْتُمْ فِي سَبِيلِ اللَّهِ أَوْ مُتُّمْ لَمَغْفِرَةٌ مِّنَ اللَّهِ وَرَحْمَةٌ خَيْرٌ مِّمَّا يَجْمَعُونَ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are killed in the way of Allah or die, forgiveness and mercy from Allah are better than all the worldly things they gather.</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13" name="Text 11"/>
          <p:cNvSpPr txBox="1"/>
          <p:nvPr/>
        </p:nvSpPr>
        <p:spPr>
          <a:xfrm>
            <a:off x="1444752" y="403936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مُّتُّمْ أَوْ قُتِلْتُمْ لَإِلَى اللَّهِ تُحْشَرُونَ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you die or are killed, to Allah you will be gathered.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فَبِمَا رَحْمَةٍ مِّنَ اللَّهِ لِنتَ لَهُمْ وَلَوْ كُنتَ فَظًّا غَلِيظَ الْقَلْبِ لَانفَضُّواْ مِنْ حَوْلِكَ فَاعْفُ عَنْهُمْ وَاسْتَغْفِرْ لَهُمْ وَشَاوِرْهُمْ فِي الْأَمْرِ فَإِذَا عَزَمْتَ فَتَوَكَّلْ عَلَى اللَّهِ إِنَّ اللَّهَ يُحِبُّ الْمُتَوَكِّلِينَ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mercy from Allah you were gentle with your Companions. If you had been harsh and hard-hearted, they would have scattered away from you. So pardon them, ask forgiveness for them and consult them in the matter, and once you have decided, put your trust in Allah. Allah loves those who trust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160 – 161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يَنصُرْكُمُ اللَّهُ فَلَا غَالِبَ لَكُمْ وَإِن يَخْذُلْكُمْ فَمَن ذَا الَّذِي يَنصُرُكُم مِّن بَعْدِهِ وَعَلَى اللَّهِ فَلْيَتَوَكَّلِ الْمُؤْمِنُونَ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Allah helps you, no one can defeat you; and if He abandons you, who can help you after Him? In Allah let the believers put their trust.</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لِنَبِيٍّ أَن يَغُلَّ وَمَن يَغْلُلْ يَأْتِ بِمَا غَلَّ يَوْمَ الْقِيَٰمَةِ ثُمَّ تُوَفَّىٰ كُلُّ نَفْسٍ مَّا كَسَبَتْ وَهُمْ لَا يُظْلَمُونَ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prophet would never cheat with the war gains. Whoever cheats will come carrying what he took on the Day of Resurrection, then every soul will be paid in full for what it did, and they will not be wronged.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162 – 164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أَفَمَنِ اتَّبَعَ رِضْوَٰنَ اللَّهِ كَمَن بَآءَ بِسَخَطٍ مِّنَ اللَّهِ وَمَأْوَىٰهُ جَهَنَّمُ وَبِئْسَ الْمَصِيرُ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the one who follows what pleases Allah like the one who returns with anger from Allah and whose home is Hell? What an evil destination!</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هُمْ دَرَجَٰتٌ عِندَ اللَّهِ وَاللَّهُ بَصِيرٌ بِمَا يَعْمَلُونَ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in different ranks with Allah, and Allah sees what they do.</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مَنَّ اللَّهُ عَلَى الْمُؤْمِنِينَ إِذْ بَعَثَ فِيهِمْ رَسُولًا مِّنْ أَنفُسِهِمْ يَتْلُواْ عَلَيْهِمْ ءَايَٰتِهِ وَيُزَكِّيهِمْ وَيُعَلِّمُهُمُ الْكِتَٰبَ وَالْحِكْمَةَ وَإِن كَانُواْ مِن قَبْلُ لَفِي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done the believers a great favour by sending among them a messenger from themselves, who recites His verses to them, purifies them, and teaches them the Qur'an and the Sunnah, though before that they were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165 – 166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أَوَلَمَّآ أَصَٰبَتْكُم مُّصِيبَةٌ قَدْ أَصَبْتُم مِّثْلَيْهَا قُلْتُمْ أَنَّىٰ هَٰذَا قُلْ هُوَ مِنْ عِندِ أَنفُسِكُمْ إِنَّ 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a disaster struck you at Uhud, though you had struck the idol-worshippers with twice as much at Badr, did you say: Where did this come from? Say: It is from yourselves, by the archers' disobedience. Allah has power over all things.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166</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أَصَٰبَكُمْ يَوْمَ الْتَقَى الْجَمْعَانِ فَبِإِذْنِ اللَّهِ وَلِيَعْلَمَ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struck you at Uhud was by Allah's permission and decree, so that the true believers would be made known,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167 – 168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167</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وَلِيَعْلَمَ الَّذِينَ نَافَقُواْ وَقِيلَ لَهُمْ تَعَالَوْاْ قَٰتِلُواْ فِي سَبِيلِ اللَّهِ أَوِ ادْفَعُواْ قَالُواْ لَوْ نَعْلَمُ قِتَالًا لَّاتَّبَعْنَٰكُمْ هُمْ لِلْكُفْرِ يَوْمَئِذٍ أَقْرَبُ مِنْهُمْ لِلْإِيمَٰنِ يَقُولُونَ بِأَفْوَٰهِهِم مَّا لَيْسَ فِي قُلُوبِهِمْ وَاللَّهُ أَعْلَمُ بِمَا يَكْتُمُونَ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 hypocrites would be made known, who were told: Fight or defend. They said: If we knew there would be fighting, we would follow you. That day they were nearer to disbelief than to faith, saying with their mouths what was not in their hearts.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168</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قَالُواْ لِإِخْوَٰنِهِمْ وَقَعَدُواْ لَوْ أَطَاعُونَا مَا قُتِلُواْ قُلْ فَادْرَءُواْ عَنْ أَنفُسِكُمُ الْمَوْتَ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stayed behind from fighting and said: If our brothers had obeyed us they would not have been killed. Say: Then push death away from yourselves, if you are truthful.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169 – 171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169</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تَحْسَبَنَّ الَّذِينَ قُتِلُواْ فِي سَبِيلِ اللَّهِ أَمْوَٰتًا بَلْ أَحْيَآءٌ عِندَ رَبِّهِمْ يُرْزَقُونَ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Never think that those killed in the way of Allah are dead. Rather, they are alive with their Lord, receiving provision. Their souls are inside green birds that roam freely in Paradise (Muslim).</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170</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فَرِحِينَ بِمَآ ءَاتَىٰهُمُ اللَّهُ مِن فَضْلِهِ وَيَسْتَبْشِرُونَ بِالَّذِينَ لَمْ يَلْحَقُواْ بِهِم مِّنْ خَلْفِهِمْ أَلَّا خَوْفٌ عَلَيْهِمْ وَلَا هُمْ يَحْزَنُونَ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Happy with what Allah has given them from His favour, and glad about their brothers who have not yet joined them, that they will have no fear and will not grieve.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171</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يَسْتَبْشِرُونَ بِنِعْمَةٍ مِّنَ اللَّهِ وَفَضْلٍ وَأَنَّ اللَّهَ لَا يُضِيعُ أَجْرَ الْمُؤْمِنِينَ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rejoice in blessing and favour from Allah, and that Allah does not let the reward of the believers be lost.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172 – 173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172</a:t>
            </a:r>
            <a:endParaRPr lang="en-US" sz="13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اسْتَجَابُواْ لِلَّهِ وَالرَّسُولِ مِن بَعْدِ مَآ أَصَابَهُمُ الْقَرْحُ لِلَّذِينَ أَحْسَنُواْ مِنْهُمْ وَاتَّقَوْاْ 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answered the call of Allah and the Messenger to go out to Hamra' al-Asad the day after Uhud, despite their wounds, for those of them who did good and had taqwa is a great reward.</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173</a:t>
            </a:r>
            <a:endParaRPr lang="en-US" sz="13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قَالَ لَهُمُ النَّاسُ إِنَّ النَّاسَ قَدْ جَمَعُواْ لَكُمْ فَاخْشَوْهُمْ فَزَادَهُمْ إِيمَٰنًا وَقَالُواْ حَسْبُنَا اللَّهُ وَنِعْمَ الْوَكِيلُ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to whom some people said: Quraysh have gathered against you, so fear them. But it only increased their faith, and they said: Allah is enough for us, and He is the best Guardian. Ibrahim also said it when he was thrown into the fire (Bukhari).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174 – 175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174</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فَانقَلَبُواْ بِنِعْمَةٍ مِّنَ اللَّهِ وَفَضْلٍ لَّمْ يَمْسَسْهُمْ سُوءٌ وَاتَّبَعُواْ رِضْوَٰنَ اللَّهِ وَاللَّهُ ذُو فَضْلٍ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returned with blessing and favour from Allah; no harm touched them. They followed Allah's pleasure, and Allah is the Owner of great favour.</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175</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ذَٰلِكُمُ الشَّيْطَٰنُ يُخَوِّفُ أَوْلِيَآءَهُ فَلَا تَخَافُوهُمْ وَخَافُونِ إِن كُنتُم مُّؤْمِنِينَ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only Satan frightening you with his friends, the disbelievers. So do not fear them; fear Me, if you are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Reflecting on Creation</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10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176 – 200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Al 'Imran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Umm Salamah (may Allah be pleased with her) said: "O Messenger of Allah, I do not hear Allah mention women in the Hijrah at all," so Allah revealed: “So their Lord answered them: I will not let the deed of any of you be lost, whether male or female” (Tirmidhi and Al-Hakim).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Comforting the Prophet (peace be upon him), a warning against stinginess, that every soul will taste death, reflecting on the creation of the heavens and the earth, the prayer of people of understanding, and the command to be patient and stand guard.</a:t>
            </a:r>
            <a:endParaRPr lang="en-US" sz="15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176 – 177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176</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يَحْزُنكَ الَّذِينَ يُسَٰرِعُونَ فِي الْكُفْرِ إِنَّهُمْ لَن يَضُرُّواْ اللَّهَ شَيْـًٔا يُرِيدُ اللَّهُ أَلَّا يَجْعَلَ لَهُمْ حَظًّا فِي الْأخِرَةِ وَلَهُمْ عَذَابٌ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let those who rush into disbelief sadden you; they will not harm Allah at all. Allah wants to give them no share in the Hereafter, and they will have a great punishment.</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177</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اشْتَرَوُاْ الْكُفْرَ بِالْإِيمَٰنِ لَن يَضُرُّواْ اللَّهَ شَيْـًٔا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exchange faith for disbelief will not harm Allah at all, and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178 – 179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178</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يَحْسَبَنَّ الَّذِينَ كَفَرُواْ أَنَّمَا نُمْلِي لَهُمْ خَيْرٌ لِّأَنفُسِهِمْ إِنَّمَا نُمْلِي لَهُمْ لِيَزْدَادُواْ إِثْمًا وَلَهُمْ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the disbelievers not think that Our giving them more time is good for them. We only give them time so they increase in sin, and they will have a humiliating punishment.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179</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اللَّهُ لِيَذَرَ الْمُؤْمِنِينَ عَلَىٰ مَآ أَنتُمْ عَلَيْهِ حَتَّىٰ يَمِيزَ الْخَبِيثَ مِنَ الطَّيِّبِ وَمَا كَانَ اللَّهُ لِيُطْلِعَكُمْ عَلَى الْغَيْبِ وَلَٰكِنَّ اللَّهَ يَجْتَبِي مِن رُّسُلِهِ مَن يَشَآءُ فَـَٔامِنُواْ بِاللَّهِ وَرُسُلِهِ وَإِن تُؤْمِنُواْ وَتَتَّقُواْ فَلَكُمْ أَجْرٌ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would not leave the believers mixed with the hypocrites until He separates the bad from the good through tests. Nor would Allah show you the unseen, but He chooses from His messengers whom He wills. So believe in Allah and His messengers.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180</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يَحْسَبَنَّ الَّذِينَ يَبْخَلُونَ بِمَآ ءَاتَىٰهُمُ اللَّهُ مِن فَضْلِهِ هُوَ خَيْرًا لَّهُم بَلْ هُوَ شَرٌّ لَّهُمْ سَيُطَوَّقُونَ مَا بَخِلُواْ بِهِ يَوْمَ الْقِيَٰمَةِ وَلِلَّهِ مِيرَٰثُ السَّمَٰوَٰتِ وَالْأَرْضِ وَاللَّهُ بِمَا تَعْمَلُونَ خَبِيرٌ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Let those who are stingy with what Allah has given them not think it is good for them; rather, it is bad for them. What they held back will be put as a collar around their necks on the Day of Resurrection. To Allah belongs the inheritance of the heavens and the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181 – 182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181</a:t>
            </a:r>
            <a:endParaRPr lang="en-US" sz="1300" dirty="0"/>
          </a:p>
        </p:txBody>
      </p:sp>
      <p:sp>
        <p:nvSpPr>
          <p:cNvPr id="8" name="Text 6"/>
          <p:cNvSpPr txBox="1"/>
          <p:nvPr/>
        </p:nvSpPr>
        <p:spPr>
          <a:xfrm>
            <a:off x="1444752" y="197967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سَمِعَ اللَّهُ قَوْلَ الَّذِينَ قَالُواْ إِنَّ اللَّهَ فَقِيرٌ وَنَحْنُ أَغْنِيَآءُ سَنَكْتُبُ مَا قَالُواْ وَقَتْلَهُمُ الْأَنبِيَآءَ بِغَيْرِ حَقٍّ وَنَقُولُ ذُوقُواْ عَذَابَ الْحَرِيقِ</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has heard the words of the Jews who said: Allah is poor and we are rich. We will record what they said, and their killing of the prophets without right, and We will say: Taste the punishment of the burning Fire.</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62272"/>
            <a:ext cx="548640" cy="548640"/>
          </a:xfrm>
          <a:prstGeom prst="star8">
            <a:avLst/>
          </a:prstGeom>
          <a:solidFill>
            <a:schemeClr val="accent2"/>
          </a:solidFill>
          <a:ln/>
        </p:spPr>
      </p:sp>
      <p:sp>
        <p:nvSpPr>
          <p:cNvPr id="11" name="Shape 9"/>
          <p:cNvSpPr/>
          <p:nvPr/>
        </p:nvSpPr>
        <p:spPr>
          <a:xfrm>
            <a:off x="822960" y="45720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622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182</a:t>
            </a:r>
            <a:endParaRPr lang="en-US" sz="1300" dirty="0"/>
          </a:p>
        </p:txBody>
      </p:sp>
      <p:sp>
        <p:nvSpPr>
          <p:cNvPr id="13" name="Text 11"/>
          <p:cNvSpPr txBox="1"/>
          <p:nvPr/>
        </p:nvSpPr>
        <p:spPr>
          <a:xfrm>
            <a:off x="1444752" y="44439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بِمَا قَدَّمَتْ أَيْدِيكُمْ وَأَنَّ اللَّهَ لَيْسَ بِظَلَّامٍ لِّلْعَبِيدِ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because of what your hands sent ahead, and Allah is never unjust to His servants.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183 – 184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183</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قَالُواْ إِنَّ اللَّهَ عَهِدَ إِلَيْنَآ أَلَّا نُؤْمِنَ لِرَسُولٍ حَتَّىٰ يَأْتِيَنَا بِقُرْبَانٍ تَأْكُلُهُ النَّارُ قُلْ قَدْ جَآءَكُمْ رُسُلٌ مِّن قَبْلِي بِالْبَيِّنَٰتِ وَبِالَّذِي قُلْتُمْ فَلِمَ قَتَلْتُمُوهُمْ إِن كُنتُمْ صَٰدِقِينَ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said: Allah has commanded us not to believe any messenger until he brings us an offering that fire from the sky consumes. Say: Messengers came to you before me with miracles and with what you asked for, so why did you kill them, if you are truthful?</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184</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 كَذَّبُوكَ فَقَدْ كُذِّبَ رُسُلٌ مِّن قَبْلِكَ جَآءُو بِالْبَيِّنَٰتِ وَالزُّبُرِ وَالْكِتَٰبِ الْمُنِيرِ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deny you, messengers before you were denied, who came with miracles, scriptures and the enlightening Book.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185 – 186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185</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 نَفْسٍ ذَآئِقَةُ الْمَوْتِ وَإِنَّمَا تُوَفَّوْنَ أُجُورَكُمْ يَوْمَ الْقِيَٰمَةِ فَمَن زُحْزِحَ عَنِ النَّارِ وَأُدْخِلَ الْجَنَّةَ فَقَدْ فَازَ وَمَا الْحَيَوٰةُ الدُّنْيَآ إِلَّا مَتَٰعُ الْغُرُورِ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 soul will taste death, and you will only be paid your rewards in full on the Day of Resurrection. Whoever is kept away from the Fire and admitted to Paradise has truly succeeded. The life of this world is only a passing enjoyment that deceives.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186</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لَتُبْلَوُنَّ فِي أَمْوَٰلِكُمْ وَأَنفُسِكُمْ وَلَتَسْمَعُنَّ مِنَ الَّذِينَ أُوتُواْ الْكِتَٰبَ مِن قَبْلِكُمْ وَمِنَ الَّذِينَ أَشْرَكُواْ أَذًى كَثِيرًا وَإِن تَصْبِرُواْ وَتَتَّقُواْ فَإِنَّ ذَٰلِكَ مِنْ عَزْمِ الْأُمُورِ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surely be tested in your wealth and yourselves, and you will hear much hurtful talk from the People of the Book and the idol-worshippers. But if you are patient and have taqwa, that is one of the matters that need strong determination.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187 – 188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187</a:t>
            </a:r>
            <a:endParaRPr lang="en-US" sz="13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أَخَذَ اللَّهُ مِيثَٰقَ الَّذِينَ أُوتُواْ الْكِتَٰبَ لَتُبَيِّنُنَّهُ لِلنَّاسِ وَلَا تَكْتُمُونَهُ فَنَبَذُوهُ وَرَآءَ ظُهُورِهِمْ وَاشْتَرَوْاْ بِهِ ثَمَنًا قَلِيلًا فَبِئْسَ مَا يَشْتَرُونَ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Allah took the covenant from the People of the Book: You must make the Book clear to people and not hide it. But they threw it behind their backs and traded it for a small worldly price. How evil is what they took!</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188</a:t>
            </a:r>
            <a:endParaRPr lang="en-US" sz="13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تَحْسَبَنَّ الَّذِينَ يَفْرَحُونَ بِمَآ أَتَواْ وَّيُحِبُّونَ أَن يُحْمَدُواْ بِمَا لَمْ يَفْعَلُواْ فَلَا تَحْسَبَنَّهُم بِمَفَازَةٍ مِّنَ الْعَذَابِ وَلَهُمْ عَذَابٌ أَلِيمٌ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think that those who rejoice in the evil they have done and love to be praised for what they did not do will escape the punishment; they will have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189 – 191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189</a:t>
            </a:r>
            <a:endParaRPr lang="en-US" sz="13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مُلْكُ السَّمَٰوَٰتِ وَالْأَرْضِ وَاللَّهُ عَلَىٰ كُلِّ شَيْءٍ قَدِيرٌ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the kingdom of the heavens and the earth, and Allah has power over all things.</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190</a:t>
            </a:r>
            <a:endParaRPr lang="en-US" sz="1300" dirty="0"/>
          </a:p>
        </p:txBody>
      </p:sp>
      <p:sp>
        <p:nvSpPr>
          <p:cNvPr id="13" name="Text 11"/>
          <p:cNvSpPr txBox="1"/>
          <p:nvPr/>
        </p:nvSpPr>
        <p:spPr>
          <a:xfrm>
            <a:off x="1444752" y="25466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فِي خَلْقِ السَّمَٰوَٰتِ وَالْأَرْضِ وَاخْتِلَٰفِ الَّيْلِ وَالنَّهَارِ لَأيَٰتٍ لِّأُوْلِي الْأَلْبَٰبِ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the creation of the heavens and the earth and the alternation of night and day are signs of Allah's power for people of understanding,</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191</a:t>
            </a:r>
            <a:endParaRPr lang="en-US" sz="13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يَذْكُرُونَ اللَّهَ قِيَٰمًا وَقُعُودًا وَعَلَىٰ جُنُوبِهِمْ وَيَتَفَكَّرُونَ فِي خَلْقِ السَّمَٰوَٰتِ وَالْأَرْضِ رَبَّنَا مَا خَلَقْتَ هَٰذَا بَٰطِلًا سُبْحَٰنَكَ فَقِنَا عَذَابَ النَّارِ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remember Allah standing, sitting and lying on their sides, and reflect on the creation of the heavens and the earth, saying: Our Lord, You did not create this for nothing. Glory be to You! Protect us from the punishment of the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192 – 194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192</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إِنَّكَ مَن تُدْخِلِ النَّارَ فَقَدْ أَخْزَيْتَهُ وَمَا لِلظَّـٰلِمِينَ مِنْ أَنصَارٍ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whoever You put into the Fire, You have disgraced, and the wrongdoers will have no helpers.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193</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إِنَّنَا سَمِعْنَا مُنَادِيًا يُنَادِي لِلْإِيمَٰنِ أَنْ ءَامِنُواْ بِرَبِّكُمْ فَـَٔامَنَّا رَبَّنَا فَاغْفِرْ لَنَا ذُنُوبَنَا وَكَفِّرْ عَنَّا سَيِّـَٔاتِنَا وَتَوَفَّنَا مَعَ الْأَبْرَارِ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we heard the Prophet (peace be upon him) calling to faith: Believe in your Lord, so we believed. Our Lord, forgive us our sins, wipe away our bad deeds, and let us die with the righteous.</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194</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رَبَّنَا وَءَاتِنَا مَا وَعَدتَّنَا عَلَىٰ رُسُلِكَ وَلَا تُخْزِنَا يَوْمَ الْقِيَٰمَةِ إِنَّكَ لَا تُخْلِفُ الْمِيعَادَ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Our Lord, give us what You promised us through Your messengers, and do not disgrace us on the Day of Resurrection. You never break Your promise.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195 – 196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195</a:t>
            </a:r>
            <a:endParaRPr lang="en-US" sz="1300" dirty="0"/>
          </a:p>
        </p:txBody>
      </p:sp>
      <p:sp>
        <p:nvSpPr>
          <p:cNvPr id="8" name="Text 6"/>
          <p:cNvSpPr txBox="1"/>
          <p:nvPr/>
        </p:nvSpPr>
        <p:spPr>
          <a:xfrm>
            <a:off x="1444752" y="1435608"/>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فَاسْتَجَابَ لَهُمْ رَبُّهُمْ أَنِّي لَآ أُضِيعُ عَمَلَ عَٰمِلٍ مِّنكُم مِّن ذَكَرٍ أَوْ أُنثَىٰ بَعْضُكُم مِّن بَعْضٍ فَالَّذِينَ هَاجَرُواْ وَأُخْرِجُواْ مِن دِيَٰرِهِمْ وَأُوذُواْ فِي سَبِيلِي وَقَٰتَلُواْ وَقُتِلُواْ لَأُكَفِّرَنَّ عَنْهُمْ سَيِّـَٔاتِهِمْ وَلَأُدْخِلَنَّهُمْ جَنَّـٰتٍ تَجْرِي مِن تَحْتِهَا الْأَنْهَٰرُ ثَوَابًا مِّنْ عِندِ اللَّهِ وَاللَّهُ عِندَهُ حُسْنُ الثَّوَابِ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their Lord answered them: I will not let the deed of any of you be lost, whether male or female. Those who emigrated, were driven from their homes, were harmed in My way, fought and were killed, I will wipe away their bad deeds and admit them to Gardens with rivers flowing beneath them.</a:t>
            </a:r>
            <a:endParaRPr lang="en-US" sz="3000" dirty="0"/>
          </a:p>
        </p:txBody>
      </p:sp>
      <p:sp>
        <p:nvSpPr>
          <p:cNvPr id="9" name="Shape 7"/>
          <p:cNvSpPr/>
          <p:nvPr/>
        </p:nvSpPr>
        <p:spPr>
          <a:xfrm>
            <a:off x="1444752" y="4777740"/>
            <a:ext cx="8641080" cy="0"/>
          </a:xfrm>
          <a:prstGeom prst="line">
            <a:avLst/>
          </a:prstGeom>
          <a:noFill/>
          <a:ln w="9525">
            <a:solidFill>
              <a:schemeClr val="accent2"/>
            </a:solidFill>
            <a:prstDash val="dash"/>
          </a:ln>
        </p:spPr>
      </p:sp>
      <p:sp>
        <p:nvSpPr>
          <p:cNvPr id="10" name="Shape 8"/>
          <p:cNvSpPr/>
          <p:nvPr/>
        </p:nvSpPr>
        <p:spPr>
          <a:xfrm>
            <a:off x="713232" y="5006340"/>
            <a:ext cx="548640" cy="548640"/>
          </a:xfrm>
          <a:prstGeom prst="star8">
            <a:avLst/>
          </a:prstGeom>
          <a:solidFill>
            <a:schemeClr val="accent2"/>
          </a:solidFill>
          <a:ln/>
        </p:spPr>
      </p:sp>
      <p:sp>
        <p:nvSpPr>
          <p:cNvPr id="11" name="Shape 9"/>
          <p:cNvSpPr/>
          <p:nvPr/>
        </p:nvSpPr>
        <p:spPr>
          <a:xfrm>
            <a:off x="822960" y="51160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50063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196</a:t>
            </a:r>
            <a:endParaRPr lang="en-US" sz="1300" dirty="0"/>
          </a:p>
        </p:txBody>
      </p:sp>
      <p:sp>
        <p:nvSpPr>
          <p:cNvPr id="13" name="Text 11"/>
          <p:cNvSpPr txBox="1"/>
          <p:nvPr/>
        </p:nvSpPr>
        <p:spPr>
          <a:xfrm>
            <a:off x="1444752" y="49880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يَغُرَّنَّكَ تَقَلُّبُ الَّذِينَ كَفَرُواْ فِي الْبِلَٰدِ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be fooled by the disbelievers moving freely through the lands with trade and luxury.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197 – 198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197</a:t>
            </a:r>
            <a:endParaRPr lang="en-US" sz="13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مَتَٰعٌ قَلِيلٌ ثُمَّ مَأْوَىٰهُمْ جَهَنَّمُ وَبِئْسَ الْمِهَادُ</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a small enjoyment, then their home is Hell, and what an evil resting place!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198</a:t>
            </a:r>
            <a:endParaRPr lang="en-US" sz="13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لَٰكِنِ الَّذِينَ اتَّقَوْاْ رَبَّهُمْ لَهُمْ جَنَّـٰتٌ تَجْرِي مِن تَحْتِهَا الْأَنْهَٰرُ خَٰلِدِينَ فِيهَا نُزُلًا مِّنْ عِندِ اللَّهِ وَمَا عِندَ اللَّهِ خَيْرٌ لِّلْأَبْرَارِ</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who have taqwa of their Lord will have Gardens with rivers flowing beneath them, staying there forever, a welcome from Allah. What is with Allah is better for the righteous.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 'Imran</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199 – 200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199</a:t>
            </a:r>
            <a:endParaRPr lang="en-US" sz="1300" dirty="0"/>
          </a:p>
        </p:txBody>
      </p:sp>
      <p:sp>
        <p:nvSpPr>
          <p:cNvPr id="8" name="Text 6"/>
          <p:cNvSpPr txBox="1"/>
          <p:nvPr/>
        </p:nvSpPr>
        <p:spPr>
          <a:xfrm>
            <a:off x="1444752" y="1575054"/>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 أَهْلِ الْكِتَٰبِ لَمَن يُؤْمِنُ بِاللَّهِ وَمَآ أُنزِلَ إِلَيْكُمْ وَمَآ أُنزِلَ إِلَيْهِمْ خَٰشِعِينَ لِلَّهِ لَا يَشْتَرُونَ بِـَٔايَٰتِ اللَّهِ ثَمَنًا قَلِيلًا أُوْلَـٰئِكَ لَهُمْ أَجْرُهُمْ عِندَ رَبِّهِمْ إِنَّ اللَّهَ سَرِيعُ الْحِسَابِ</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People of the Book are some who believe in Allah, in the Qur'an and in what was sent down to them, humble before Allah, not selling Allah's verses for a small price; they will have their reward with their Lord. Ibn Kathir mentioned it was revealed about An-Najashi and those like him.</a:t>
            </a:r>
            <a:endParaRPr lang="en-US" sz="3000" dirty="0"/>
          </a:p>
        </p:txBody>
      </p:sp>
      <p:sp>
        <p:nvSpPr>
          <p:cNvPr id="9" name="Shape 7"/>
          <p:cNvSpPr/>
          <p:nvPr/>
        </p:nvSpPr>
        <p:spPr>
          <a:xfrm>
            <a:off x="1444752" y="4373118"/>
            <a:ext cx="8641080" cy="0"/>
          </a:xfrm>
          <a:prstGeom prst="line">
            <a:avLst/>
          </a:prstGeom>
          <a:noFill/>
          <a:ln w="9525">
            <a:solidFill>
              <a:schemeClr val="accent2"/>
            </a:solidFill>
            <a:prstDash val="dash"/>
          </a:ln>
        </p:spPr>
      </p:sp>
      <p:sp>
        <p:nvSpPr>
          <p:cNvPr id="10" name="Shape 8"/>
          <p:cNvSpPr/>
          <p:nvPr/>
        </p:nvSpPr>
        <p:spPr>
          <a:xfrm>
            <a:off x="713232" y="4606290"/>
            <a:ext cx="548640" cy="548640"/>
          </a:xfrm>
          <a:prstGeom prst="star8">
            <a:avLst/>
          </a:prstGeom>
          <a:solidFill>
            <a:schemeClr val="accent2"/>
          </a:solidFill>
          <a:ln/>
        </p:spPr>
      </p:sp>
      <p:sp>
        <p:nvSpPr>
          <p:cNvPr id="11" name="Shape 9"/>
          <p:cNvSpPr/>
          <p:nvPr/>
        </p:nvSpPr>
        <p:spPr>
          <a:xfrm>
            <a:off x="822960" y="4716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6062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200</a:t>
            </a:r>
            <a:endParaRPr lang="en-US" sz="1300" dirty="0"/>
          </a:p>
        </p:txBody>
      </p:sp>
      <p:sp>
        <p:nvSpPr>
          <p:cNvPr id="13" name="Text 11"/>
          <p:cNvSpPr txBox="1"/>
          <p:nvPr/>
        </p:nvSpPr>
        <p:spPr>
          <a:xfrm>
            <a:off x="1444752" y="45880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اصْبِرُواْ وَصَابِرُواْ وَرَابِطُواْ وَاتَّقُواْ اللَّهَ لَعَلَّكُمْ تُفْلِحُونَ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be patient in obedience and away from sin, outdo your enemies in patience, keep guarding the frontiers and keep up obedience, and have taqwa of Allah so that you may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assets3/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do not let our hearts turn away after You have guided us, and grant us mercy from You. You are the Giver." (Al 'Imran 3:8)</a:t>
            </a:r>
            <a:endParaRPr lang="en-US" sz="2100" dirty="0"/>
          </a:p>
        </p:txBody>
      </p:sp>
      <p:pic>
        <p:nvPicPr>
          <p:cNvPr id="5" name="Image 1" descr="assets3/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Al Imran Tafsir EN">
  <a:themeElements>
    <a:clrScheme name="Al Imran Tafsir EN">
      <a:dk1>
        <a:srgbClr val="2B2224"/>
      </a:dk1>
      <a:lt1>
        <a:srgbClr val="FFFFFF"/>
      </a:lt1>
      <a:dk2>
        <a:srgbClr val="741026"/>
      </a:dk2>
      <a:lt2>
        <a:srgbClr val="FCF8F5"/>
      </a:lt2>
      <a:accent1>
        <a:srgbClr val="741026"/>
      </a:accent1>
      <a:accent2>
        <a:srgbClr val="C9A04A"/>
      </a:accent2>
      <a:accent3>
        <a:srgbClr val="93203A"/>
      </a:accent3>
      <a:accent4>
        <a:srgbClr val="6E6264"/>
      </a:accent4>
      <a:accent5>
        <a:srgbClr val="F6E9E7"/>
      </a:accent5>
      <a:accent6>
        <a:srgbClr val="1F3A5F"/>
      </a:accent6>
      <a:hlink>
        <a:srgbClr val="93203A"/>
      </a:hlink>
      <a:folHlink>
        <a:srgbClr val="6E6264"/>
      </a:folHlink>
    </a:clrScheme>
    <a:fontScheme name="Al Imran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Surah Al 'Imran — Simplified Tafsir from Ibn Kathir</dc:title>
  <dc:subject>PptxGenJS Presentation</dc:subject>
  <dc:creator>Qur'an Teacher</dc:creator>
  <cp:lastModifiedBy>Qur'an Teacher</cp:lastModifiedBy>
  <cp:revision>1</cp:revision>
  <dcterms:created xsi:type="dcterms:W3CDTF">2026-10-04T04:12:39Z</dcterms:created>
  <dcterms:modified xsi:type="dcterms:W3CDTF">2026-10-04T04:12:39Z</dcterms:modified>
</cp:coreProperties>
</file>