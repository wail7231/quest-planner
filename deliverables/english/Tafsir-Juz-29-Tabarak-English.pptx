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Lst>
  <p:notesMasterIdLst>
    <p:notesMasterId r:id="rId1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be2ee02-d0c2-fbaf-9636-4610cf2f05e1}">
          <p14:sldIdLst>
            <p14:sldId id="256"/>
            <p14:sldId id="257"/>
            <p14:sldId id="258"/>
          </p14:sldIdLst>
        </p14:section>
        <p14:section name="Surah Al-Mursalat" id="{c40310c1-0b1a-8866-87d7-0b279d4f9152}">
          <p14:sldIdLst>
            <p14:sldId id="259"/>
            <p14:sldId id="260"/>
            <p14:sldId id="261"/>
            <p14:sldId id="262"/>
            <p14:sldId id="263"/>
            <p14:sldId id="264"/>
            <p14:sldId id="265"/>
            <p14:sldId id="266"/>
            <p14:sldId id="267"/>
            <p14:sldId id="268"/>
            <p14:sldId id="269"/>
            <p14:sldId id="270"/>
            <p14:sldId id="271"/>
            <p14:sldId id="272"/>
          </p14:sldIdLst>
        </p14:section>
        <p14:section name="Surah Al-Insan" id="{1612a972-ee76-4ceb-e2cf-0b43cb37ac11}">
          <p14:sldIdLst>
            <p14:sldId id="273"/>
            <p14:sldId id="274"/>
            <p14:sldId id="275"/>
            <p14:sldId id="276"/>
            <p14:sldId id="277"/>
            <p14:sldId id="278"/>
            <p14:sldId id="279"/>
            <p14:sldId id="280"/>
            <p14:sldId id="281"/>
            <p14:sldId id="282"/>
            <p14:sldId id="283"/>
          </p14:sldIdLst>
        </p14:section>
        <p14:section name="Surah Al-Qiyamah" id="{4ff30b99-57ab-b908-c63c-7f1079cbd195}">
          <p14:sldIdLst>
            <p14:sldId id="284"/>
            <p14:sldId id="285"/>
            <p14:sldId id="286"/>
            <p14:sldId id="287"/>
            <p14:sldId id="288"/>
            <p14:sldId id="289"/>
            <p14:sldId id="290"/>
            <p14:sldId id="291"/>
            <p14:sldId id="292"/>
            <p14:sldId id="293"/>
            <p14:sldId id="294"/>
          </p14:sldIdLst>
        </p14:section>
        <p14:section name="Surah Al-Muddaththir" id="{935a9306-9bfe-1653-b1aa-628b51d477d2}">
          <p14:sldIdLst>
            <p14:sldId id="295"/>
            <p14:sldId id="296"/>
            <p14:sldId id="297"/>
            <p14:sldId id="298"/>
            <p14:sldId id="299"/>
            <p14:sldId id="300"/>
            <p14:sldId id="301"/>
            <p14:sldId id="302"/>
            <p14:sldId id="303"/>
            <p14:sldId id="304"/>
            <p14:sldId id="305"/>
            <p14:sldId id="306"/>
            <p14:sldId id="307"/>
            <p14:sldId id="308"/>
            <p14:sldId id="309"/>
            <p14:sldId id="310"/>
            <p14:sldId id="311"/>
          </p14:sldIdLst>
        </p14:section>
        <p14:section name="Surah Al-Muzzammil" id="{9f0845ef-6a5c-69af-cc4f-e572bb2b1674}">
          <p14:sldIdLst>
            <p14:sldId id="312"/>
            <p14:sldId id="313"/>
            <p14:sldId id="314"/>
            <p14:sldId id="315"/>
            <p14:sldId id="316"/>
            <p14:sldId id="317"/>
            <p14:sldId id="318"/>
          </p14:sldIdLst>
        </p14:section>
        <p14:section name="Surah Al-Jinn" id="{5301c927-cd94-4343-e762-73ce97eb46ce}">
          <p14:sldIdLst>
            <p14:sldId id="319"/>
            <p14:sldId id="320"/>
            <p14:sldId id="321"/>
            <p14:sldId id="322"/>
            <p14:sldId id="323"/>
            <p14:sldId id="324"/>
            <p14:sldId id="325"/>
            <p14:sldId id="326"/>
            <p14:sldId id="327"/>
            <p14:sldId id="328"/>
          </p14:sldIdLst>
        </p14:section>
        <p14:section name="Surah Nuh" id="{65bfd415-db6e-5708-5dbb-83e654b23057}">
          <p14:sldIdLst>
            <p14:sldId id="329"/>
            <p14:sldId id="330"/>
            <p14:sldId id="331"/>
            <p14:sldId id="332"/>
            <p14:sldId id="333"/>
            <p14:sldId id="334"/>
            <p14:sldId id="335"/>
            <p14:sldId id="336"/>
            <p14:sldId id="337"/>
            <p14:sldId id="338"/>
          </p14:sldIdLst>
        </p14:section>
        <p14:section name="Surah Al-Ma'arij" id="{9b8ec77f-b1b1-a0cf-4371-88131cdbfc72}">
          <p14:sldIdLst>
            <p14:sldId id="339"/>
            <p14:sldId id="340"/>
            <p14:sldId id="341"/>
            <p14:sldId id="342"/>
            <p14:sldId id="343"/>
            <p14:sldId id="344"/>
            <p14:sldId id="345"/>
            <p14:sldId id="346"/>
            <p14:sldId id="347"/>
            <p14:sldId id="348"/>
            <p14:sldId id="349"/>
            <p14:sldId id="350"/>
            <p14:sldId id="351"/>
          </p14:sldIdLst>
        </p14:section>
        <p14:section name="Surah Al-Haqqah" id="{df3e6eb5-e471-f45f-3f0a-d0435f82cf19}">
          <p14:sldIdLst>
            <p14:sldId id="352"/>
            <p14:sldId id="353"/>
            <p14:sldId id="354"/>
            <p14:sldId id="355"/>
            <p14:sldId id="356"/>
            <p14:sldId id="357"/>
            <p14:sldId id="358"/>
            <p14:sldId id="359"/>
            <p14:sldId id="360"/>
            <p14:sldId id="361"/>
            <p14:sldId id="362"/>
            <p14:sldId id="363"/>
            <p14:sldId id="364"/>
            <p14:sldId id="365"/>
            <p14:sldId id="366"/>
          </p14:sldIdLst>
        </p14:section>
        <p14:section name="Surah Al-Qalam" id="{a601eeee-639d-cb97-604b-c1b8b6f5705b}">
          <p14:sldIdLst>
            <p14:sldId id="367"/>
            <p14:sldId id="368"/>
            <p14:sldId id="369"/>
            <p14:sldId id="370"/>
            <p14:sldId id="371"/>
            <p14:sldId id="372"/>
            <p14:sldId id="373"/>
            <p14:sldId id="374"/>
            <p14:sldId id="375"/>
            <p14:sldId id="376"/>
            <p14:sldId id="377"/>
            <p14:sldId id="378"/>
            <p14:sldId id="379"/>
            <p14:sldId id="380"/>
            <p14:sldId id="381"/>
          </p14:sldIdLst>
        </p14:section>
        <p14:section name="Surah Al-Mulk" id="{b770dac1-d75c-13d1-2eae-4a0720178c53}">
          <p14:sldIdLst>
            <p14:sldId id="382"/>
            <p14:sldId id="383"/>
            <p14:sldId id="384"/>
            <p14:sldId id="385"/>
            <p14:sldId id="386"/>
            <p14:sldId id="387"/>
            <p14:sldId id="388"/>
            <p14:sldId id="389"/>
            <p14:sldId id="390"/>
            <p14:sldId id="391"/>
            <p14:sldId id="392"/>
          </p14:sldIdLst>
        </p14:section>
        <p14:section name="Closing" id="{79af5176-5499-ce2b-9529-ef8a7fa017c2}">
          <p14:sldIdLst>
            <p14:sldId id="3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Surah Al-Mursalat and move back, surah by surah, until we reach Surah Al-Mulk.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The verse "Woe on that Day to the deniers" is repeated ten times. What is the wisdom in repeating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Mention three qualities of the righteous described in this surah.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How did Allah guarantee His Prophet (peace be upon him) the preservation of the Qur'an in verses 16–19?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commands were given to the Prophet (peace be upon him) at the beginning of the surah?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does "recite the Qur'an with tartil" mean? How can we apply it in our recitation?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the jinn say when they heard the Qur'an?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blessings did Nuh promise his people if they sought their Lord's forgiveness?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List three qualities of those who pray that are mentioned in the surah.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does the one who receives his book in his right hand say? And what does the one who receives it in his left hand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the owners of the garden do? What happened to them, and what is the lesson of their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How does Surah Al-Mulk intercede for its companion? What helps you keep reciting it regularly?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9/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9/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9/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image" Target="../media/image-138-2.png"/><Relationship Id="rId3" Type="http://schemas.openxmlformats.org/officeDocument/2006/relationships/slideLayout" Target="../slideLayouts/slideLayout4.xml"/><Relationship Id="rId4" Type="http://schemas.openxmlformats.org/officeDocument/2006/relationships/notesSlide" Target="../notesSlides/notesSlide1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9/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Tabarak</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29/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29 • From Surah Al-Mursalat back to Surah Al-Mulk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navy blue</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Al-Mursalat and moves back to Surah Al-Mulk</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Al-Mursalat</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Al-Insan</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Al-Qiyamah</a:t>
            </a:r>
            <a:endParaRPr lang="en-US" sz="1400" dirty="0"/>
          </a:p>
        </p:txBody>
      </p:sp>
      <p:sp>
        <p:nvSpPr>
          <p:cNvPr id="10" name="Shape 8"/>
          <p:cNvSpPr/>
          <p:nvPr/>
        </p:nvSpPr>
        <p:spPr>
          <a:xfrm>
            <a:off x="8883167" y="1828800"/>
            <a:ext cx="2622728" cy="566928"/>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8883167"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4. </a:t>
            </a:r>
            <a:pPr algn="ctr" indent="0" marL="0">
              <a:buNone/>
            </a:pPr>
            <a:r>
              <a:rPr lang="en-US" altLang="en-US" sz="1400" b="1" dirty="0">
                <a:solidFill>
                  <a:schemeClr val="tx2"/>
                </a:solidFill>
                <a:latin typeface="Arial" pitchFamily="34" charset="0"/>
                <a:ea typeface="Arial" pitchFamily="34" charset="-122"/>
                <a:cs typeface="Arial" pitchFamily="34" charset="-120"/>
              </a:rPr>
              <a:t>Al-Muddaththir</a:t>
            </a:r>
            <a:endParaRPr lang="en-US" sz="1400" dirty="0"/>
          </a:p>
        </p:txBody>
      </p:sp>
      <p:sp>
        <p:nvSpPr>
          <p:cNvPr id="12" name="Shape 10"/>
          <p:cNvSpPr/>
          <p:nvPr/>
        </p:nvSpPr>
        <p:spPr>
          <a:xfrm>
            <a:off x="685800" y="2487168"/>
            <a:ext cx="2622728" cy="566928"/>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685800"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5. </a:t>
            </a:r>
            <a:pPr algn="ctr" indent="0" marL="0">
              <a:buNone/>
            </a:pPr>
            <a:r>
              <a:rPr lang="en-US" altLang="en-US" sz="1400" b="1" dirty="0">
                <a:solidFill>
                  <a:schemeClr val="tx2"/>
                </a:solidFill>
                <a:latin typeface="Arial" pitchFamily="34" charset="0"/>
                <a:ea typeface="Arial" pitchFamily="34" charset="-122"/>
                <a:cs typeface="Arial" pitchFamily="34" charset="-120"/>
              </a:rPr>
              <a:t>Al-Muzzammil</a:t>
            </a:r>
            <a:endParaRPr lang="en-US" sz="1400" dirty="0"/>
          </a:p>
        </p:txBody>
      </p:sp>
      <p:sp>
        <p:nvSpPr>
          <p:cNvPr id="14" name="Shape 12"/>
          <p:cNvSpPr/>
          <p:nvPr/>
        </p:nvSpPr>
        <p:spPr>
          <a:xfrm>
            <a:off x="3418256" y="2487168"/>
            <a:ext cx="2622728" cy="566928"/>
          </a:xfrm>
          <a:prstGeom prst="roundRect">
            <a:avLst>
              <a:gd name="adj" fmla="val 50000"/>
            </a:avLst>
          </a:prstGeom>
          <a:solidFill>
            <a:schemeClr val="accent5"/>
          </a:solidFill>
          <a:ln w="12700">
            <a:solidFill>
              <a:schemeClr val="accent2"/>
            </a:solidFill>
            <a:prstDash val="solid"/>
          </a:ln>
        </p:spPr>
      </p:sp>
      <p:sp>
        <p:nvSpPr>
          <p:cNvPr id="15" name="Text 13"/>
          <p:cNvSpPr txBox="1"/>
          <p:nvPr/>
        </p:nvSpPr>
        <p:spPr>
          <a:xfrm>
            <a:off x="3418256"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6. </a:t>
            </a:r>
            <a:pPr algn="ctr" indent="0" marL="0">
              <a:buNone/>
            </a:pPr>
            <a:r>
              <a:rPr lang="en-US" altLang="en-US" sz="1400" b="1" dirty="0">
                <a:solidFill>
                  <a:schemeClr val="tx2"/>
                </a:solidFill>
                <a:latin typeface="Arial" pitchFamily="34" charset="0"/>
                <a:ea typeface="Arial" pitchFamily="34" charset="-122"/>
                <a:cs typeface="Arial" pitchFamily="34" charset="-120"/>
              </a:rPr>
              <a:t>Al-Jinn</a:t>
            </a:r>
            <a:endParaRPr lang="en-US" sz="1400" dirty="0"/>
          </a:p>
        </p:txBody>
      </p:sp>
      <p:sp>
        <p:nvSpPr>
          <p:cNvPr id="16" name="Shape 14"/>
          <p:cNvSpPr/>
          <p:nvPr/>
        </p:nvSpPr>
        <p:spPr>
          <a:xfrm>
            <a:off x="6150712" y="2487168"/>
            <a:ext cx="2622728" cy="566928"/>
          </a:xfrm>
          <a:prstGeom prst="roundRect">
            <a:avLst>
              <a:gd name="adj" fmla="val 50000"/>
            </a:avLst>
          </a:prstGeom>
          <a:solidFill>
            <a:schemeClr val="bg1"/>
          </a:solidFill>
          <a:ln w="12700">
            <a:solidFill>
              <a:schemeClr val="accent2"/>
            </a:solidFill>
            <a:prstDash val="solid"/>
          </a:ln>
        </p:spPr>
      </p:sp>
      <p:sp>
        <p:nvSpPr>
          <p:cNvPr id="17" name="Text 15"/>
          <p:cNvSpPr txBox="1"/>
          <p:nvPr/>
        </p:nvSpPr>
        <p:spPr>
          <a:xfrm>
            <a:off x="6150712"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7. </a:t>
            </a:r>
            <a:pPr algn="ctr" indent="0" marL="0">
              <a:buNone/>
            </a:pPr>
            <a:r>
              <a:rPr lang="en-US" altLang="en-US" sz="1400" b="1" dirty="0">
                <a:solidFill>
                  <a:schemeClr val="tx2"/>
                </a:solidFill>
                <a:latin typeface="Arial" pitchFamily="34" charset="0"/>
                <a:ea typeface="Arial" pitchFamily="34" charset="-122"/>
                <a:cs typeface="Arial" pitchFamily="34" charset="-120"/>
              </a:rPr>
              <a:t>Nuh</a:t>
            </a:r>
            <a:endParaRPr lang="en-US" sz="1400" dirty="0"/>
          </a:p>
        </p:txBody>
      </p:sp>
      <p:sp>
        <p:nvSpPr>
          <p:cNvPr id="18" name="Shape 16"/>
          <p:cNvSpPr/>
          <p:nvPr/>
        </p:nvSpPr>
        <p:spPr>
          <a:xfrm>
            <a:off x="8883167" y="2487168"/>
            <a:ext cx="2622728" cy="566928"/>
          </a:xfrm>
          <a:prstGeom prst="roundRect">
            <a:avLst>
              <a:gd name="adj" fmla="val 50000"/>
            </a:avLst>
          </a:prstGeom>
          <a:solidFill>
            <a:schemeClr val="accent5"/>
          </a:solidFill>
          <a:ln w="12700">
            <a:solidFill>
              <a:schemeClr val="accent2"/>
            </a:solidFill>
            <a:prstDash val="solid"/>
          </a:ln>
        </p:spPr>
      </p:sp>
      <p:sp>
        <p:nvSpPr>
          <p:cNvPr id="19" name="Text 17"/>
          <p:cNvSpPr txBox="1"/>
          <p:nvPr/>
        </p:nvSpPr>
        <p:spPr>
          <a:xfrm>
            <a:off x="8883167"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8. </a:t>
            </a:r>
            <a:pPr algn="ctr" indent="0" marL="0">
              <a:buNone/>
            </a:pPr>
            <a:r>
              <a:rPr lang="en-US" altLang="en-US" sz="1400" b="1" dirty="0">
                <a:solidFill>
                  <a:schemeClr val="tx2"/>
                </a:solidFill>
                <a:latin typeface="Arial" pitchFamily="34" charset="0"/>
                <a:ea typeface="Arial" pitchFamily="34" charset="-122"/>
                <a:cs typeface="Arial" pitchFamily="34" charset="-120"/>
              </a:rPr>
              <a:t>Al-Ma'arij</a:t>
            </a:r>
            <a:endParaRPr lang="en-US" sz="1400" dirty="0"/>
          </a:p>
        </p:txBody>
      </p:sp>
      <p:sp>
        <p:nvSpPr>
          <p:cNvPr id="20" name="Shape 18"/>
          <p:cNvSpPr/>
          <p:nvPr/>
        </p:nvSpPr>
        <p:spPr>
          <a:xfrm>
            <a:off x="685800" y="3145536"/>
            <a:ext cx="2622728" cy="566928"/>
          </a:xfrm>
          <a:prstGeom prst="roundRect">
            <a:avLst>
              <a:gd name="adj" fmla="val 50000"/>
            </a:avLst>
          </a:prstGeom>
          <a:solidFill>
            <a:schemeClr val="bg1"/>
          </a:solidFill>
          <a:ln w="12700">
            <a:solidFill>
              <a:schemeClr val="accent2"/>
            </a:solidFill>
            <a:prstDash val="solid"/>
          </a:ln>
        </p:spPr>
      </p:sp>
      <p:sp>
        <p:nvSpPr>
          <p:cNvPr id="21" name="Text 19"/>
          <p:cNvSpPr txBox="1"/>
          <p:nvPr/>
        </p:nvSpPr>
        <p:spPr>
          <a:xfrm>
            <a:off x="685800" y="3145536"/>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9. </a:t>
            </a:r>
            <a:pPr algn="ctr" indent="0" marL="0">
              <a:buNone/>
            </a:pPr>
            <a:r>
              <a:rPr lang="en-US" altLang="en-US" sz="1400" b="1" dirty="0">
                <a:solidFill>
                  <a:schemeClr val="tx2"/>
                </a:solidFill>
                <a:latin typeface="Arial" pitchFamily="34" charset="0"/>
                <a:ea typeface="Arial" pitchFamily="34" charset="-122"/>
                <a:cs typeface="Arial" pitchFamily="34" charset="-120"/>
              </a:rPr>
              <a:t>Al-Haqqah</a:t>
            </a:r>
            <a:endParaRPr lang="en-US" sz="1400" dirty="0"/>
          </a:p>
        </p:txBody>
      </p:sp>
      <p:sp>
        <p:nvSpPr>
          <p:cNvPr id="22" name="Shape 20"/>
          <p:cNvSpPr/>
          <p:nvPr/>
        </p:nvSpPr>
        <p:spPr>
          <a:xfrm>
            <a:off x="3418256" y="3145536"/>
            <a:ext cx="2622728" cy="566928"/>
          </a:xfrm>
          <a:prstGeom prst="roundRect">
            <a:avLst>
              <a:gd name="adj" fmla="val 50000"/>
            </a:avLst>
          </a:prstGeom>
          <a:solidFill>
            <a:schemeClr val="accent5"/>
          </a:solidFill>
          <a:ln w="12700">
            <a:solidFill>
              <a:schemeClr val="accent2"/>
            </a:solidFill>
            <a:prstDash val="solid"/>
          </a:ln>
        </p:spPr>
      </p:sp>
      <p:sp>
        <p:nvSpPr>
          <p:cNvPr id="23" name="Text 21"/>
          <p:cNvSpPr txBox="1"/>
          <p:nvPr/>
        </p:nvSpPr>
        <p:spPr>
          <a:xfrm>
            <a:off x="3418256" y="3145536"/>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10. </a:t>
            </a:r>
            <a:pPr algn="ctr" indent="0" marL="0">
              <a:buNone/>
            </a:pPr>
            <a:r>
              <a:rPr lang="en-US" altLang="en-US" sz="1400" b="1" dirty="0">
                <a:solidFill>
                  <a:schemeClr val="tx2"/>
                </a:solidFill>
                <a:latin typeface="Arial" pitchFamily="34" charset="0"/>
                <a:ea typeface="Arial" pitchFamily="34" charset="-122"/>
                <a:cs typeface="Arial" pitchFamily="34" charset="-120"/>
              </a:rPr>
              <a:t>Al-Qalam</a:t>
            </a:r>
            <a:endParaRPr lang="en-US" sz="1400" dirty="0"/>
          </a:p>
        </p:txBody>
      </p:sp>
      <p:sp>
        <p:nvSpPr>
          <p:cNvPr id="24" name="Shape 22"/>
          <p:cNvSpPr/>
          <p:nvPr/>
        </p:nvSpPr>
        <p:spPr>
          <a:xfrm>
            <a:off x="6150712" y="3145536"/>
            <a:ext cx="2622728" cy="566928"/>
          </a:xfrm>
          <a:prstGeom prst="roundRect">
            <a:avLst>
              <a:gd name="adj" fmla="val 50000"/>
            </a:avLst>
          </a:prstGeom>
          <a:solidFill>
            <a:schemeClr val="bg1"/>
          </a:solidFill>
          <a:ln w="12700">
            <a:solidFill>
              <a:schemeClr val="accent2"/>
            </a:solidFill>
            <a:prstDash val="solid"/>
          </a:ln>
        </p:spPr>
      </p:sp>
      <p:sp>
        <p:nvSpPr>
          <p:cNvPr id="25" name="Text 23"/>
          <p:cNvSpPr txBox="1"/>
          <p:nvPr/>
        </p:nvSpPr>
        <p:spPr>
          <a:xfrm>
            <a:off x="6150712" y="3145536"/>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11. </a:t>
            </a:r>
            <a:pPr algn="ctr" indent="0" marL="0">
              <a:buNone/>
            </a:pPr>
            <a:r>
              <a:rPr lang="en-US" altLang="en-US" sz="1400" b="1" dirty="0">
                <a:solidFill>
                  <a:schemeClr val="tx2"/>
                </a:solidFill>
                <a:latin typeface="Arial" pitchFamily="34" charset="0"/>
                <a:ea typeface="Arial" pitchFamily="34" charset="-122"/>
                <a:cs typeface="Arial" pitchFamily="34" charset="-120"/>
              </a:rPr>
              <a:t>Al-Mulk</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Al-Mursalat</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50 verses • Those Sent Forth</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77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Ibn Mas'ud (may Allah be pleased with him) said: While we were with the Prophet (peace be upon him) in a cave at Mina, Surah Al-Mursalat was revealed to him. He was reciting it and I was learning it straight from his mouth (Bukhari).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Proving the Day of Decision and Judgement, warning those who deny it, and describing the delights of the people of taqwa.</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وَالْمُرْسَلَٰتِ عُرْفًا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winds sent one after another; it is also said: by the angels sent with His command.</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فَالْعَٰصِفَٰتِ عَصْفًا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winds that blow violently.</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وَالنَّـٰشِرَٰتِ نَشْرًا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winds that spread the clouds across the sky.</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فَالْفَٰرِقَٰتِ فَرْقًا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angels who bring down what separates truth from falsehood.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فَالْمُلْقِيَٰتِ ذِكْرًا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angels who deliver revelation to the messengers.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عُذْرًا أَوْ نُذْرًا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remove every excuse from His creation and to warn them of His punishment.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تُوعَدُونَ لَوَٰقِعٌ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what you are promised, the Resurrection and the Judgement, will certainly happen.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النُّجُومُ طُمِسَتْ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when the stars lose their light,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السَّمَآءُ فُرِجَتْ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sky is split open and cracked,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الْجِبَالُ نُسِفَتْ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mountains are uprooted and crushed until no trace remains,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الرُّسُلُ أُقِّتَتْ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messengers are gathered at the appointed time to bear witness over their nations.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لِأَيِّ يَوْمٍ أُجِّلَتْ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what great Day have these things been postponed?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لِيَوْمِ الْفَصْلِ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the Day of Decision, when all creatures will be judged between.</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يَوْمُ الْفَصْلِ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how great and terrifying the Day of Decision is?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ruin and punishment on that Day to those who deny this Day! This verse is repeated ten times in the surah as a warning and for emphasis.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نُهْلِكِ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We not destroy the earlier nations who denied, like the people of Nuh, 'Ad and Thamud?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نُتْبِعُهُمُ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make those who follow their way among later deniers join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نَفْعَلُ بِالْمُجْرِمِينَ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how We deal with every criminal.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ruin and punishment on that Day to those who deny this Day!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نَخْلُقكُّم مِّن مَّآءٍ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We not create you from a weak, humble fluid?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فَجَعَلْنَٰهُ فِي قَرَارٍ مَّكِينٍ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placed it in a safe place, the mother's womb,</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قَدَرٍ 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a known period, the length of pregnancy.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فَقَدَرْنَا فَنِعْمَ الْقَٰدِرُونَ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measured out its creation and stages, and how excellent We are at measuring!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ruin and punishment on that Day to those who deny this 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نَجْعَلِ الْأَرْضَ كِفَاتًا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We not make the earth a place that holds people together?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أَحْيَآءً وَأَمْوَٰتًا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holds them while alive on its surface and when dead within 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فِيهَا رَوَٰسِيَ شَٰمِخَٰتٍ وَأَسْقَيْنَٰكُم مَّآءً فُرَاتًا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placed in it high, firm mountains, and gave you sweet water to drink.</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ruin and punishment on that Day to those who deny this 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انطَلِقُواْ إِلَىٰ مَا كُنتُم بِهِ تُكَذِّبُونَ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 disbelievers on the Day of Resurrection: Go to the punishment you used to deny!</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انطَلِقُواْ إِلَىٰ ظِلٍّ ذِي ثَلَٰثِ شُعَبٍ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 to a shadow of Hell's smoke that splits into three columns,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ظَلِيلٍ وَلَا يُغْنِي مِنَ اللَّهَبِ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which gives no shade from the heat and no protection from the flames of the Fire.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إِنَّهَا تَرْمِي بِشَرَرٍ كَالْقَصْرِ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Fire throws out huge sparks, each spark like a tall building,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كَأَنَّهُ جِمَٰلَتٌ صُفْرٌ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if the sparks were yellow camels in their colour and number.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ruin and punishment on that Day to those who deny this Day!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يَوْمُ لَا يَنطِقُونَ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a Day when the disbelievers will not speak any argument that could help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يُؤْذَنُ لَهُمْ فَيَعْتَذِرُونَ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will they be permitted to make excuses.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ruin and punishment on that Day to those who deny this Day!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يَوْمُ الْفَصْلِ جَمَعْنَٰكُمْ وَالْأَوَّلِينَ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the Day of Decision; We have gathered you deniers together with the earlier nations.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كَانَ لَكُمْ كَيْدٌ فَكِيدُونِ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if you have any trick to escape My punishment, then try it! This is a challenge and a warning.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ruin and punishment on that Day to those who deny this 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الْمُتَّقِينَ فِي ظِلَٰلٍ وَعُيُونٍ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taqwa will be among the shades of trees and flowing springs in Paradise,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وَفَوَٰكِهَ مِمَّا يَشْتَهُونَ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plenty of fruits, whatever they desire.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كُلُواْ وَاشْرَبُواْ هَنِيـًٔا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them: Eat and drink happily because of your good deeds.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كَذَٰلِكَ نَجْزِي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how We reward everyone who does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ruin and punishment on that Day to those who deny this Day!</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كُلُواْ وَتَمَتَّعُواْ قَلِيلًا إِنَّكُم 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said to the deniers as a warning: Enjoy yourselves a little in this world; you are criminals whose end is the Fire.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ruin and punishment on that Day to those who deny this Day!</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ارْكَعُواْ لَا يَرْكَعُونَ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disbelievers are told: Pray to Allah, they do not pray.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Al-Mursalat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532888"/>
            <a:ext cx="548640" cy="548640"/>
          </a:xfrm>
          <a:prstGeom prst="star8">
            <a:avLst/>
          </a:prstGeom>
          <a:solidFill>
            <a:schemeClr val="accent2"/>
          </a:solidFill>
          <a:ln/>
        </p:spPr>
      </p:sp>
      <p:sp>
        <p:nvSpPr>
          <p:cNvPr id="6" name="Shape 4"/>
          <p:cNvSpPr/>
          <p:nvPr/>
        </p:nvSpPr>
        <p:spPr>
          <a:xfrm>
            <a:off x="822960" y="264261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53288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251460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ruin and punishment on that Day to those who deny this Day!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390906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حَدِيثٍ بَعْدَهُ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if they do not believe in this Qur'an, in what message after it will they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Al-Insan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31 verses • Mankind</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76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Explaining how man was created and tested, and the qualities of the righteous (al-abrar) and their delights in Paradise. The Prophet (peace be upon him) used to recite it in the Fajr prayer on Fridays (Muslim).</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أَتَىٰ عَلَى الْإِنسَٰنِ حِينٌ مِّنَ الدَّهْرِ لَمْ يَكُن شَيْـًٔا مَّذْكُورًا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long period of time passed over man before he was created, when he was nothing worth mentioning.</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خَلَقْنَا الْإِنسَٰنَ مِن نُّطْفَةٍ أَمْشَاجٍ نَّبْتَلِيهِ فَجَعَلْنَٰهُ سَمِيعًا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created man from a mixed drop from the man and the woman to test him with commands and prohibitions, and We made him hearing and seeing.</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هَدَيْنَٰهُ السَّبِيلَ إِمَّا شَاكِرًا وَإِمَّا كَفُورًا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showed him the way of good and evil; he may be grateful and believing, or ungrateful and denying.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أَعْتَدْنَا لِلْكَٰفِرِينَ سَلَٰسِلَاْ وَأَغْلَٰلًا وَسَعِيرًا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prepared for the disbelievers chains for their feet, iron collars for their necks, and a blazing Fire.</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الْأَبْرَارَ يَشْرَبُونَ مِن كَأْسٍ كَانَ مِزَاجُهَا كَافُورًا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will drink in Paradise from a cup mixed with fragrant, cool kafur.</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عَيْنًا يَشْرَبُ بِهَا عِبَادُ اللَّهِ يُفَجِّرُونَهَا تَفْجِيرًا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a spring from which Allah's servants drink, making it flow wherever they wish.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يُوفُونَ بِالنَّذْرِ وَيَخَافُونَ يَوْمًا كَانَ شَرُّهُ مُسْتَطِيرًا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their qualities: they fulfil the acts of obedience they vowed, and they fear the Day of Resurrection whose evil spreads widely.</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وَيُطْعِمُونَ الطَّعَامَ عَلَىٰ حُبِّهِ مِسْكِينًا وَيَتِيمًا وَأَسِيرًا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give food, even though they love it and need it themselves, to the poor, the orphan and the captive,</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نُطْعِمُكُمْ لِوَجْهِ اللَّهِ لَا نُرِيدُ مِنكُمْ جَزَآءً وَلَا شُكُورًا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saying in their hearts: We feed you only for the sake of Allah; we want no reward or thanks from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نَخَافُ مِن رَّبِّنَا يَوْمًا عَبُوسًا قَمْطَرِيرًا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fear from our Lord a hard Day when faces frown from its terror.</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فَوَقَىٰهُمُ اللَّهُ شَرَّ ذَٰلِكَ الْيَوْمِ وَلَقَّىٰهُمْ نَضْرَةً وَسُرُورًا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Allah protected them from the evil of that Day and gave them brightness in their faces and joy in their hearts.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وَجَزَىٰهُم بِمَا صَبَرُواْ جَنَّةً وَحَرِيرًا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rewarded them for their patience with a Garden to enter and silk to wear,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مُّتَّكِـِٔينَ فِيهَا عَلَى الْأَرَآئِكِ لَا يَرَوْنَ فِيهَا شَمْسًا وَلَا زَمْهَرِيرًا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reclining on decorated couches, feeling neither the heat of the sun nor bitter cold.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وَدَانِيَةً عَلَيْهِمْ ظِلَٰلُهَا وَذُلِّلَتْ قُطُوفُهَا تَذْلِيلًا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Its shades will be close over them and its fruits will hang low, easy to pick.</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وَيُطَافُ عَلَيْهِم بِـَٔانِيَةٍ مِّن فِضَّةٍ وَأَكْوَابٍ كَانَتْ قَوَارِيرَا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Servants will pass around among them vessels of silver and cups as clear as glass,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قَوَارِيرَاْ مِن فِضَّةٍ قَدَّرُوهَا تَقْدِيرًا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cups of silver as clear as glass, measured exactly to what they desire.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وَيُسْقَوْنَ فِيهَا كَأْسًا كَانَ مِزَاجُهَا زَنجَبِيلًا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 Paradise they will be given a cup mixed with ginger to drink,</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عَيْنًا فِيهَا تُسَمَّىٰ سَلْسَبِيلًا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a spring in Paradise called Salsabil, because it is so smooth and pleasant to drink.</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وَيَطُوفُ عَلَيْهِمْ وِلْدَٰنٌ مُّخَلَّدُونَ إِذَا رَأَيْتَهُمْ حَسِبْتَهُمْ لُؤْلُؤًا مَّنثُورًا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served by youths who stay forever young; when you see them you would think they were scattered pearls because of their beauty.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رَأَيْتَ ثَمَّ رَأَيْتَ نَعِيمًا وَمُلْكًا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look there in Paradise, you will see great delight and a vast kingdom.</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عَٰلِيَهُمْ ثِيَابُ سُندُسٍ خُضْرٌ وَإِسْتَبْرَقٌ وَحُلُّواْ أَسَاوِرَ مِن فِضَّةٍ وَسَقَىٰهُمْ رَبُّهُمْ شَرَابًا طَهُورًا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wear green garments of fine and thick silk, be adorned with silver bracelets, and their Lord will give them a pure drink.</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كَانَ لَكُمْ جَزَآءً وَكَانَ سَعْيُكُم مَّشْكُورًا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them: This is a reward for your deeds, and your efforts have been accepted.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نَحْنُ نَزَّلْنَا عَلَيْكَ الْقُرْءَانَ تَنزِيلًا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We who have sent down the Qur'an to you, O Muhammad, in stages.</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فَاصْبِرْ لِحُكْمِ رَبِّكَ وَلَا تُطِعْ مِنْهُمْ ءَاثِمًا أَوْ كَفُورًا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be patient with what your Lord has decreed, and do not obey any disbeliever who calls you to sin or disbelief.</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اسْمَ رَبِّكَ بُكْرَةً وَأَصِيلًا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your Lord and pray to Him at the start and end of the 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الَّيْلِ فَاسْجُدْ لَهُ وَسَبِّحْهُ لَيْلًا طَوِيلًا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during the night prostrate to Him, and glorify Him through a long night.</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هَـٰؤُلَآءِ يُحِبُّونَ الْعَاجِلَةَ وَيَذَرُونَ وَرَآءَهُمْ يَوْمًا ثَقِيلًا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love this world and neglect to work for the heavy Day of Resurrection.</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نَّحْنُ خَلَقْنَٰهُمْ وَشَدَدْنَآ أَسْرَهُمْ وَإِذَا شِئْنَا بَدَّلْنَآ أَمْثَٰلَهُمْ تَبْدِيلًا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created them and made their bodies strong, and whenever We wish We can destroy them and bring others in their place.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هَٰذِهِ تَذْكِرَةٌ فَمَن شَآءَ اتَّخَذَ إِلَىٰ رَبِّهِ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surah is a reminder; so whoever wishes may take a path to his Lord by obeying Him.</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تَشَآءُونَ إِلَّآ أَن يَشَآءَ اللَّهُ إِنَّ اللَّهَ كَانَ عَلِيمًا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cannot wish anything unless Allah wills. He is All-Knowing of His creation, All-Wise in what He does.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يُدْخِلُ مَن يَشَآءُ فِي رَحْمَتِهِ وَالظَّـٰلِمِينَ أَعَدَّ لَهُمْ 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admits whom He wills into His mercy and His Paradise, and for the wrongdoers He has prepared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Al-Qiyamah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40 verses • The Resurrection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75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Ibn 'Abbas said: When Jibril brought revelation to the Prophet (peace be upon him), he would move his tongue and lips quickly, eager to memorise it. So Allah revealed: "Do not move your tongue with it to hurry it" (Bukhari and Muslim).</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Proving the Resurrection and the Day of Judgement, man being held to account for his deeds, and the scenes of dying.</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Al-Qiyamah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أُقْسِمُ بِيَوْمِ الْقِيَٰمَةِ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Day of Resurrection. The word "La" here strengthens the oath and answers those who deny it.</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أُقْسِمُ بِالنَّفْسِ اللَّوَّامَةِ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swears by the soul that blames its owner for falling short in good and for doing evil.</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أَيَحْسَبُ الْإِنسَٰنُ أَلَّن نَّجْمَعَ عِظَامَهُ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man think that We will not gather his bones after they are scattered in the earth?</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بَلَىٰ قَٰدِرِينَ عَلَىٰ أَن نُّسَوِّيَ بَنَانَهُ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Yes indeed, We will gather them, and We are able to restore even his fingertips as they were.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Al-Qiyamah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يُرِيدُ الْإِنسَٰنُ لِيَفْجُرَ أَمَامَهُ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man wants to keep on sinning for the rest of his life.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 أَيَّانَ يَوْمُ الْقِيَٰمَةِ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asks, thinking it unlikely: When is the Day of Resurrection?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بَرِقَ الْبَصَرُ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when the eyes are dazzled and stunned by the terror,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وَخَسَفَ الْقَمَرُ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moon loses its light,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Al-Qiyamah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وَجُمِعَ الشَّمْسُ وَالْقَمَرُ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sun and moon are brought together and lose their light,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يَقُولُ الْإِنسَٰنُ يَوْمَئِذٍ أَيْنَ الْمَفَرُّ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man will say: Where can I escape?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لَا وَزَرَ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There is no refuge and no escape.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رَبِّكَ يَوْمَئِذٍ الْمُسْتَقَرُّ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your Lord alone on that Day is the return and the final destination.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Al-Qiyamah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يُنَبَّؤُاْ الْإِنسَٰنُ يَوْمَئِذٍ بِمَا قَدَّمَ وَأَخَّرَ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man will be told of all his deeds, what he did first and what he did last.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الْإِنسَٰنُ عَلَىٰ نَفْسِهِ بَصِيرَةٌ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fact, man is a witness against himself; he knows what he did,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أَلْقَىٰ مَعَاذِيرَهُ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even if he presents excuses to defend himself, they will not be accepted.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تُحَرِّكْ بِهِ لِسَانَكَ لِتَعْجَلَ بِهِ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Muhammad, do not move your tongue with the Qur'an as it is revealed, hurrying to memorise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Al-Qiyamah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عَلَيْنَا جَمْعَهُ وَقُرْءَانَهُ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upon Us to gather it in your heart and to make you recite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قَرَأْنَٰهُ فَاتَّبِعْ قُرْءَانَهُ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when Jibril recites it to you, listen to his recitation, then recite it as you heard 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 عَلَيْنَا بَيَانَهُ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it is upon Us to explain its meanings and rulings.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بَلْ تُحِبُّونَ الْعَاجِلَةَ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Rather, you love this passing world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Al-Qiyamah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وَتَذَرُونَ الْأخِرَةَ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neglect working for the Hereafter.</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وُجُوهٌ يَوْمَئِذٍ نَّاضِرَةٌ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the faces of the believers will be bright and radiant,</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رَبِّهَا نَاظِرَةٌ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looking at their Lord with their own eyes, as in Bukhari and Muslim: "You will see your Lord as you see the full moon."</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وَوُجُوهٌ يَوْمَئِذٍ بَاسِرَةٌ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on that Day the faces of the disbelievers will be gloomy and dark,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Al-Qiyamah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تَظُنُّ أَن يُفْعَلَ بِهَا فَاقِرَةٌ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expecting a great disaster to fall on them that breaks the back.</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إِذَا بَلَغَتِ التَّرَاقِيَ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When the soul at death reaches the top of the chest,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وَقِيلَ مَنْ رَاقٍ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it is said: Who can cure him and save him?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وَظَنَّ أَنَّهُ الْفِرَاقُ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dying person is certain it is the parting from this world,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Al-Qiyamah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وَالْتَفَّتِ السَّاقُ بِالسَّاقِ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hardship of leaving this world joins the hardship of facing the Hereafter,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رَبِّكَ يَوْمَئِذٍ الْمَسَاقُ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your Lord on that Day the servants will be driven.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صَدَّقَ وَلَا صَلَّىٰ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disbeliever neither believed the Messenger nor prayed to Allah,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وَلَٰكِن كَذَّبَ وَتَوَلَّىٰ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he denied the truth and turned away from 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Al-Qiyamah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ذَهَبَ إِلَىٰ أَهْلِهِ يَتَمَطَّىٰ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went to his family strutting arrogantly.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أَوْلَىٰ لَكَ فَأَوْلَىٰ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Woe to you, and woe again! This is a severe warning.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أَوْلَىٰ لَكَ فَأَوْلَىٰ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woe to you, and woe again! Repeated for emphasis.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أَيَحْسَبُ الْإِنسَٰنُ أَن يُتْرَكَ سُدًى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man think he will be left neglected, without commands, prohibitions or accountability?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Al-Qiyamah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يَكُ نُطْفَةً مِّن مَّنِيٍّ يُمْنَىٰ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Was he not a drop of fluid poured into the womb?</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كَانَ عَلَقَةً فَخَلَقَ فَسَوَّىٰ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became a clinging clot, and Allah created him and shaped his limbs,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فَجَعَلَ مِنْهُ الزَّوْجَيْنِ الذَّكَرَ وَالْأُنثَىٰ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from it the two kinds, male and female.</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أَلَيْسَ ذَٰلِكَ بِقَٰدِرٍ عَلَىٰ أَن يُحْـِيَ الْمَوْتَىٰ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not the One who did this able to bring the dead to life? Yes indeed! When the Prophet (peace be upon him) recited it, he would say: "Glory be to You; yes indeed!"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Al-Muddaththir</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56 verses • The One Wrapped Up</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74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Jabir ibn 'Abdullah said: The Prophet (peace be upon him) told us that after a pause in revelation he saw the angel sitting on a chair between the sky and the earth. He went home and said: "Wrap me up, cover me!" Then Allah revealed: "O you wrapped up in your cloak"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Commanding the Prophet (peace be upon him) to warn and call to Allah, and describing the fate of the deniers and the state of the people of the Fire.</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الْمُدَّثِّرُ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you covered in your garments, meaning the Prophet (peace be upon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قُمْ فَأَنذِرْ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arise and warn people of Allah's punishment,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وَرَبَّكَ فَكَبِّرْ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glorify your Lord,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وَثِيَابَكَ فَطَهِّرْ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purify your clothes from impurity, and purify yourself from sins,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وَالرُّجْزَ فَاهْجُرْ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keep away from idol worship and sins,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تَمْنُن تَسْتَكْثِرُ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 not give a gift expecting more in return, as Ibn 'Abbas explained,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وَلِرَبِّكَ فَاصْبِرْ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for the sake of your Lord be patient with the polytheists' harm and with obedience.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نُقِرَ فِي النَّاقُورِ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when the Trumpet is blown,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فَذَٰلِكَ يَوْمَئِذٍ يَوْمٌ عَسِيرٌ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Day will be a hard Day,</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عَلَى الْكَٰفِرِينَ غَيْرُ يَسِيرٍ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far from easy for the disbelievers.</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ذَرْنِي وَمَنْ خَلَقْتُ وَحِيدًا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Leave Me, O Muhammad, with the one I created alone in his mother's womb with no wealth or children, that is al-Walid ibn al-Mughirah.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وَجَعَلْتُ لَهُ مَالًا مَّمْدُودًا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gave him much, wide-reaching wealth,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وَبَنِينَ شُهُودًا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sons who stayed by his side, never away from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وَمَهَّدتُّ لَهُ تَمْهِيدًا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made the means of living and status easy for him.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يَطْمَعُ أَنْ أَزِيدَ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Yet he hopes that I will give him more, despite his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إِنَّهُ كَانَ لِأيَٰتِنَا عَنِيدًا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I will not give him more; he was stubbornly opposed to the Qur'an.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سَأُرْهِقُهُ صَعُودًا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will cover him with a hard punishment that has no rest.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فَكَّرَ وَقَدَّرَ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thought about the Qur'an and planned what to say to attack it.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فَقُتِلَ كَيْفَ قَدَّرَ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May he be cursed! How he plotted this attack!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قُتِلَ كَيْفَ قَدَّرَ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Again, may he be cursed! How he plotted!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نَظَرَ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looked again at what he would say,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عَبَسَ وَبَسَرَ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frowned and scowled,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أَدْبَرَ وَاسْتَكْبَرَ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turned away from the truth and was too proud to accept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 إِنْ هَٰذَآ إِلَّا سِحْرٌ يُؤْثَرُ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This Qur'an is nothing but magic passed on from earlier magicians;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إِلَّا قَوْلُ الْبَشَرِ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nothing but the words of a human being.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سَأُصْلِيهِ سَقَرَ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will throw him into Saqar, one of the names of Hell.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سَقَرُ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what Saqar is? This shows how terrifying it is.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تُبْقِي وَلَا تَذَرُ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leaves nothing of those who enter it, and it does not let them go.</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لَوَّاحَةٌ لِّلْبَشَرِ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burns and changes the skin.</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عَلَيْهَا تِسْعَةَ عَشَرَ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Over it are nineteen angels, its keepers.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72234"/>
            <a:ext cx="548640" cy="548640"/>
          </a:xfrm>
          <a:prstGeom prst="star8">
            <a:avLst/>
          </a:prstGeom>
          <a:solidFill>
            <a:schemeClr val="accent2"/>
          </a:solidFill>
          <a:ln/>
        </p:spPr>
      </p:sp>
      <p:sp>
        <p:nvSpPr>
          <p:cNvPr id="6" name="Shape 4"/>
          <p:cNvSpPr/>
          <p:nvPr/>
        </p:nvSpPr>
        <p:spPr>
          <a:xfrm>
            <a:off x="822960" y="198196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7223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853946"/>
            <a:ext cx="10012680" cy="370789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جَعَلْنَآ أَصْحَٰبَ النَّارِ إِلَّا مَلَـٰئِكَةً وَمَا جَعَلْنَا عِدَّتَهُمْ إِلَّا فِتْنَةً لِّلَّذِينَ كَفَرُواْ لِيَسْتَيْقِنَ الَّذِينَ أُوتُواْ الْكِتَٰبَ وَيَزْدَادَ الَّذِينَ ءَامَنُواْ إِيمَٰنًا وَلَا يَرْتَابَ الَّذِينَ أُوتُواْ الْكِتَٰبَ وَالْمُؤْمِنُونَ وَلِيَقُولَ الَّذِينَ فِي قُلُوبِهِم مَّرَضٌ وَالْكَٰفِرُونَ مَاذَآ أَرَادَ اللَّهُ بِهَٰذَا مَثَلًا كَذَٰلِكَ يُضِلُّ اللَّهُ مَن يَشَآءُ وَيَهْدِي مَن يَشَآءُ وَمَا يَعْلَمُ جُنُودَ رَبِّكَ إِلَّا هُوَ وَمَا هِيَ إِلَّا ذِكْرَىٰ لِلْبَشَرِ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the keepers of the Fire only strong angels, and We made their number a test for the disbelievers and so that the believers increase in faith. None knows the soldiers of your Lord except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وَالْقَمَرِ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And I swear by the moon,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وَالَّيْلِ إِذْ أَدْبَرَ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night as it departs,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وَالصُّبْحِ إِذَآ أَسْفَرَ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morning when it shines,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إِنَّهَا لَإِحْدَى الْكُبَرِ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Fire is truly one of the greatest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نَذِيرًا لِّلْبَشَرِ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warning to mankind,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لِمَن شَآءَ مِنكُمْ أَن يَتَقَدَّمَ أَوْ يَتَأَخَّرَ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whoever among you wishes to go forward to obedience or to fall behind.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 نَفْسٍ بِمَا كَسَبَتْ رَهِينَةٌ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soul is held in pledge for what it earned on the Day of Resurrection,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أَصْحَٰبَ الْيَمِينِ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the believers, the people of the right, who freed themselves through their good deeds.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جَنَّـٰتٍ يَتَسَآءَلُونَ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in Gardens asking one another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عَنِ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about the criminals: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سَلَكَكُمْ فِي سَقَرَ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them: What brought you into the Fire?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لَمْ نَكُ مِنَ الْمُصَلِّينَ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We were not of those who prayed,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 نَكُ نُطْعِمُ الْمِسْكِينَ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did not feed the poor,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وَكُنَّا نَخُوضُ مَعَ الْخَآئِضِينَ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used to talk falsehood with those who talked 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وَكُنَّا نُكَذِّبُ بِيَوْمِ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used to deny the Day of Judgement,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أَتَىٰنَا الْيَقِينُ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death came to 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تَنفَعُهُمْ شَفَٰعَةُ الشَّـٰفِعِينَ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no one's intercession will help them on the Day of Resurrection.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لَهُمْ عَنِ التَّذْكِرَةِ مُعْرِضِينَ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what is wrong with these disbelievers that they turn away from the Qur'an,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كَأَنَّهُمْ حُمُرٌ مُّسْتَنفِرَةٌ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if they were frightened wild donkeys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فَرَّتْ مِن قَسْوَرَةٍ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fleeing from a lion, or it is said: from hunters?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يُرِيدُ كُلُّ امْرِيٍٕ مِّنْهُمْ أَن يُؤْتَىٰ صُحُفًا مُّنَشَّرَةً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each of them wants an open book to be sent down to him from the sky.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بَل لَّا يَخَافُونَ الْأخِرَةَ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Rather, they do not fear the Hereafter; that is why they turn away.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إِنَّهُ تَذْكِرَةٌ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This Qur'an is a reminder,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شَآءَ ذَكَرَهُ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whoever wishes may take heed of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Al-Muddaththir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099816"/>
            <a:ext cx="548640" cy="548640"/>
          </a:xfrm>
          <a:prstGeom prst="star8">
            <a:avLst/>
          </a:prstGeom>
          <a:solidFill>
            <a:schemeClr val="accent2"/>
          </a:solidFill>
          <a:ln/>
        </p:spPr>
      </p:sp>
      <p:sp>
        <p:nvSpPr>
          <p:cNvPr id="6" name="Shape 4"/>
          <p:cNvSpPr/>
          <p:nvPr/>
        </p:nvSpPr>
        <p:spPr>
          <a:xfrm>
            <a:off x="822960" y="320954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يَذْكُرُونَ إِلَّآ أَن يَشَآءَ اللَّهُ هُوَ أَهْلُ التَّقْوَىٰ وَأَهْلُ الْمَغْفِرَةِ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will not take heed unless Allah wills. He is worthy to be feared, and worthy to forgive whoever repents.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Al-Muzzammil</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20 verses • The One Enwrapped</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73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'A'ishah (may Allah be pleased with her) said: Allah made night prayer obligatory at the beginning of this surah, so the Prophet (peace be upon him) and his companions prayed it for a year. Then Allah revealed the lightening at the end of it, so night prayer became voluntary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command to pray at night and recite the Qur'an slowly and clearly (tartil), to be patient with the harm of the deniers, and then the lightening of this duty for the believers.</a:t>
            </a:r>
            <a:endParaRPr lang="en-US" sz="17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Al-Muzzammil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الْمُزَّمِّلُ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you wrapped in your garments, meaning the Prophet (peace be upon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قُمِ الَّيْلَ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stand in prayer at night, except for a little of 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نِّصْفَهُ أَوِ انقُصْ مِنْهُ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half of the night, or a little less than that,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زِدْ عَلَيْهِ وَرَتِّلِ الْقُرْءَانَ تَرْتِيلًا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a little more than half, and recite the Qur'an slowly with reflection.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Al-Muzzammil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سَنُلْقِي عَلَيْكَ قَوْلًا ثَقِيلًا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are about to send down to you a great and weighty Qur'an, heavy in its duties.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نَاشِئَةَ الَّيْلِ هِيَ أَشَدُّ وَطْـًٔا وَأَقْوَمُ قِيلًا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Prayer at night brings the heart and tongue together more strongly and makes the recitation more correct.</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لَكَ فِي النَّهَارِ سَبْحًا طَوِيلًا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During the day you have a long time busy with the affairs of life.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اسْمَ رَبِّكَ وَتَبَتَّلْ إِلَيْهِ تَبْتِيلًا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remember your Lord, and devote yourself to His worship completely.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Al-Muzzammil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الْمَشْرِقِ وَالْمَغْرِبِ لَآ إِلَٰهَ إِلَّا هُوَ فَاتَّخِذْهُ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Lord of the east and the west; there is no god worthy of worship but Him, so rely on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وَاصْبِرْ عَلَىٰ مَا يَقُولُونَ وَاهْجُرْهُمْ هَجْرًا جَمِيلًا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 patient with what the deniers say, and leave them in a way that causes no harm.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وَذَرْنِي وَالْمُكَذِّبِينَ أُوْلِي النَّعْمَةِ وَمَهِّلْهُمْ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Leave Me with the deniers who live in luxury, and give them a little time.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لَدَيْنَآ أَنكَالًا وَجَحِيمًا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with Us shackles and a blazing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Al-Muzzammil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وَطَعَامًا ذَا غُصَّةٍ وَعَذَابًا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food that chokes the one who eats it, and a painful punishment,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تَرْجُفُ الْأَرْضُ وَالْجِبَالُ وَكَانَتِ الْجِبَالُ كَثِيبًا مَّهِيلًا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when the earth and mountains shake and the mountains become scattered sand.</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أَرْسَلْنَآ إِلَيْكُمْ رَسُولًا شَٰهِدًا عَلَيْكُمْ كَمَآ أَرْسَلْنَآ إِلَىٰ فِرْعَوْنَ رَسُولًا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to you Muhammad (peace be upon him) as a witness over your deeds, just as We sent Musa to Pharaoh.</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فَعَصَىٰ فِرْعَوْنُ الرَّسُولَ فَأَخَذْنَٰهُ أَخْذًا وَبِيلًا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Pharaoh disobeyed Musa, so We destroyed him with a severe destruction.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Al-Muzzammil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فَكَيْفَ تَتَّقُونَ إِن كَفَرْتُمْ يَوْمًا يَجْعَلُ الْوِلْدَٰنَ شِيبًا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if you disbelieve, how will you protect yourselves from a Day so terrifying it will turn children grey-haired?</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السَّمَآءُ مُنفَطِرٌ بِهِ كَانَ وَعْدُهُ مَفْعُولًا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sky will split apart because of it, and Allah's promise will certainly be fulfilled.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هَٰذِهِ تَذْكِرَةٌ فَمَن شَآءَ اتَّخَذَ إِلَىٰ رَبِّهِ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verses are a reminder, so whoever wishes may take a path to his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Al-Muzzammil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7914"/>
            <a:ext cx="548640" cy="548640"/>
          </a:xfrm>
          <a:prstGeom prst="star8">
            <a:avLst/>
          </a:prstGeom>
          <a:solidFill>
            <a:schemeClr val="accent2"/>
          </a:solidFill>
          <a:ln/>
        </p:spPr>
      </p:sp>
      <p:sp>
        <p:nvSpPr>
          <p:cNvPr id="6" name="Shape 4"/>
          <p:cNvSpPr/>
          <p:nvPr/>
        </p:nvSpPr>
        <p:spPr>
          <a:xfrm>
            <a:off x="822960" y="170764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79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579626"/>
            <a:ext cx="10012680" cy="42565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رَبَّكَ يَعْلَمُ أَنَّكَ تَقُومُ أَدْنَىٰ مِن ثُلُثَيِ الَّيْلِ وَنِصْفَهُ وَثُلُثَهُ وَطَآئِفَةٌ مِّنَ الَّذِينَ مَعَكَ وَاللَّهُ يُقَدِّرُ الَّيْلَ وَالنَّهَارَ عَلِمَ أَن لَّن تُحْصُوهُ فَتَابَ عَلَيْكُمْ فَاقْرَءُواْ مَا تَيَسَّرَ مِنَ الْقُرْءَانِ عَلِمَ أَن سَيَكُونُ مِنكُم مَّرْضَىٰ وَءَاخَرُونَ يَضْرِبُونَ فِي الْأَرْضِ يَبْتَغُونَ مِن فَضْلِ اللَّهِ وَءَاخَرُونَ يُقَٰتِلُونَ فِي سَبِيلِ اللَّهِ فَاقْرَءُواْ مَا تَيَسَّرَ مِنْهُ وَأَقِيمُواْ الصَّلَوٰةَ وَءَاتُواْ الزَّكَوٰةَ وَأَقْرِضُواْ اللَّهَ قَرْضًا حَسَنًا وَمَا تُقَدِّمُواْ لِأَنفُسِكُم مِّنْ خَيْرٍ تَجِدُوهُ عِندَ اللَّهِ هُوَ خَيْرًا وَأَعْظَمَ أَجْرًا وَاسْتَغْفِرُواْ اللَّهَ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knows that you stand at night sometimes nearly two-thirds of it, sometimes half or a third. So Allah has lightened it for you: recite what is easy of the Qur'an, establish prayer and give zakah. Whatever good you send ahead, you will find it with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Al-Jinn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28 verses • The Jinn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72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'Abbas said: The Prophet (peace be upon him) set out with his companions towards the market of 'Ukaz and led them in the Fajr prayer on the way. A group of jinn listened to him and believed, so Allah revealed: "Say: It has been revealed to me that a group of jinn listened"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 group of jinn believing in the Qur'an, affirming tawhid (Allah's oneness), and that knowledge of the unseen belongs to Allah alone.</a:t>
            </a:r>
            <a:endParaRPr lang="en-US" sz="17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Al-Jinn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أُوحِيَ إِلَيَّ أَنَّهُ اسْتَمَعَ نَفَرٌ مِّنَ الْجِنِّ فَقَالُواْ إِنَّا سَمِعْنَا قُرْءَانًا عَجَبًا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Muhammad: Allah has revealed to me that a group of jinn listened to my recitation and said: We have heard a wonderful Qur'an.</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يَهْدِي إِلَى الرُّشْدِ فَـَٔامَنَّا بِهِ وَلَن نُّشْرِكَ بِرَبِّنَآ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guides to what is right, so we believed in it, and we will never associate anyone with our Lord.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 تَعَٰلَىٰ جَدُّ رَبِّنَا مَا اتَّخَذَ صَٰحِبَةً وَلَا وَلَدًا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Exalted is the majesty of our Lord; He has taken neither a wife nor a son.</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 كَانَ يَقُولُ سَفِيهُنَا عَلَى اللَّهِ شَطَطًا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foolish one, Iblis, used to say outrageous lies about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Al-Jinn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وَأَنَّا ظَنَنَّآ أَن لَّن تَقُولَ الْإِنسُ وَالْجِنُّ عَلَى اللَّهِ كَذِبًا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used to think that humans and jinn would never tell lies about Allah.</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 كَانَ رِجَالٌ مِّنَ الْإِنسِ يَعُوذُونَ بِرِجَالٍ مِّنَ الْجِنِّ فَزَادُوهُمْ رَهَقًا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men among humans used to seek protection from the jinn when they stopped in a valley, so the jinn increased them in fear and wrongdoing.</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وَأَنَّهُمْ ظَنُّواْ كَمَا ظَنَنتُمْ أَن لَّن يَبْعَثَ اللَّهُ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humans thought, as you jinn thought, that Allah would never send a messenger and would never raise anyone after death.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Al-Jinn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وَأَنَّا لَمَسْنَا السَّمَآءَ فَوَجَدْنَٰهَا مُلِئَتْ حَرَسًا شَدِيدًا وَشُهُبًا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tried to reach the sky to hear its news, but we found it filled with strong angel guards and burning meteors.</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وَأَنَّا كُنَّا نَقْعُدُ مِنْهَا مَقَٰعِدَ لِلسَّمْعِ فَمَن يَسْتَمِعِ الْأنَ يَجِدْ لَهُ شِهَابًا رَّصَدًا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used to sit in places there to steal hearing, but whoever tries now finds a meteor waiting to burn him.</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وَأَنَّا لَا نَدْرِي أَشَرٌّ أُرِيدَ بِمَن فِي الْأَرْضِ أَمْ أَرَادَ بِهِمْ رَبُّهُمْ رَشَدًا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do not know whether Allah intends harm for the people of the earth or whether He intends good and guidance for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Al-Jinn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وَأَنَّا مِنَّا الصَّـٰلِحُونَ وَمِنَّا دُونَ ذَٰلِكَ كُنَّا طَرَآئِقَ قِدَدًا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us are the righteous and among us are others; we were groups following different ways.</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وَأَنَّا ظَنَنَّآ أَن لَّن نُّعْجِزَ اللَّهَ فِي الْأَرْضِ وَلَن نُّعْجِزَهُ هَرَبًا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became certain that we could never escape Allah on earth, nor get away from Him by running.</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وَأَنَّا لَمَّا سَمِعْنَا الْهُدَىٰ ءَامَنَّا بِهِ فَمَن يُؤْمِن بِرَبِّهِ فَلَا يَخَافُ بَخْسًا وَلَا رَهَقًا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heard the Qur'an, we believed in it. Whoever believes in his Lord need not fear any loss of his good deeds or any injustice.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Al-Jinn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وَأَنَّا مِنَّا الْمُسْلِمُونَ وَمِنَّا الْقَٰسِطُونَ فَمَنْ أَسْلَمَ فَأُوْلَـٰئِكَ تَحَرَّوْاْ رَشَدًا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us are Muslims and among us are those who stray from the truth. Whoever submits has chosen the path of guidance.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الْقَٰسِطُونَ فَكَانُواْ لِجَهَنَّمَ حَطَبًا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those who stray from the truth, they will be fuel for Hell.</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وَأَلَّوِ اسْتَقَٰمُواْ عَلَى الطَّرِيقَةِ لَأَسْقَيْنَٰهُم مَّآءً غَدَقًا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people had kept straight on the path of Islam, We would have given them plenty of rain and widened their provision,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Al-Jinn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لِّنَفْتِنَهُمْ فِيهِ وَمَن يُعْرِضْ عَن ذِكْرِ رَبِّهِ يَسْلُكْهُ عَذَابًا صَعَدًا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test them by it. Whoever turns away from the Qur'an, Allah will put him into a hard punishment.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الْمَسَٰجِدَ لِلَّهِ فَلَا تَدْعُواْ مَعَ اللَّهِ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mosques are for the worship of Allah alone, so do not worship anyone along with Allah in them.</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 لَمَّا قَامَ عَبْدُ اللَّهِ يَدْعُوهُ كَادُواْ يَكُونُونَ عَلَيْهِ لِبَدًا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Muhammad (peace be upon him) stood to worship his Lord, the jinn almost crowded over him to hear the Qur'an.</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إِنَّمَآ أَدْعُواْ رَبِّي وَلَآ أُشْرِكُ بِهِ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only worship my Lord, and I associate no one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Al-Jinn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إِنِّي لَآ أَمْلِكُ لَكُمْ ضَرًّا وَلَا رَشَدًا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have no power to harm you or to guide you; I am only one who conveys the message.</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إِنِّي لَن يُجِيرَنِي مِنَ اللَّهِ أَحَدٌ وَلَنْ أَجِدَ مِن دُونِهِ مُلْتَحَدًا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No one can protect me from Allah if I disobey Him, and I will find no refuge except in Him.</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بَلَٰغًا مِّنَ اللَّهِ وَرِسَٰلَٰتِهِ وَمَن يَعْصِ اللَّهَ وَرَسُولَهُ فَإِنَّ لَهُ نَارَ جَهَنَّمَ خَٰلِدِينَ فِيهَآ أَبَدًا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 can convey Allah's messages. Whoever disobeys Allah and His Messenger will have the Fire of Hell, remaining in it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Al-Jinn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رَأَوْاْ مَا يُوعَدُونَ فَسَيَعْلَمُونَ مَنْ أَضْعَفُ نَاصِرًا وَأَقَلُّ عَدَدًا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disbelievers see the punishment, they will know who has the weaker helpers and fewer numbers.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أَدْرِي أَقَرِيبٌ مَّا تُوعَدُونَ أَمْ يَجْعَلُ لَهُ رَبِّي أَمَدًا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do not know whether the punishment you are promised is near, or whether my Lord will set a long time for it.</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عَٰلِمُ الْغَيْبِ فَلَا يُظْهِرُ عَلَىٰ غَيْبِهِ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alone knows the unseen, and He does not reveal His unseen to anyone,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Al-Jinn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ارْتَضَىٰ مِن رَّسُولٍ فَإِنَّهُ يَسْلُكُ مِن بَيْنِ يَدَيْهِ وَمِنْ خَلْفِهِ رَصَدًا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a messenger He has chosen, whom He shows what He wills, and He places angels around him to guard him,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لِّيَعْلَمَ أَن قَدْ أَبْلَغُواْ رِسَٰلَٰتِ رَبِّهِمْ وَأَحَاطَ بِمَا لَدَيْهِمْ وَأَحْصَىٰ كُلَّ شَيْءٍ عَدَدًا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the Messenger knows that the messengers before him conveyed their Lord's messages. Allah surrounds all that they have, and He has counted everything exactly.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Nuh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28 verses • Noah</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71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story of Nuh's (peace be upon him) call to his people, his long patience, the end of those who denied, and the virtue of seeking forgiveness (istighfar).</a:t>
            </a:r>
            <a:endParaRPr lang="en-US" sz="17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Nuh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أَرْسَلْنَا نُوحًا إِلَىٰ قَوْمِهِ أَنْ أَنذِرْ قَوْمَكَ مِن قَبْلِ أَن يَأْتِيَهُمْ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Nuh to his people and commanded him to warn them before a painful punishment came to them.</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يَٰقَوْمِ إِنِّي لَكُمْ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said: O my people, I am a clear warner to you:</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اعْبُدُواْ اللَّهَ وَاتَّقُوهُ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worship Allah alone, have taqwa of Him, and obey me in what I command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Nuh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يَغْفِرْ لَكُم مِّن ذُنُوبِكُمْ وَيُؤَخِّرْكُمْ إِلَىٰ أَجَلٍ مُّسَمًّى إِنَّ أَجَلَ اللَّهِ إِذَا جَآءَ لَا يُؤَخَّرُ لَوْ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do this, He will forgive your sins and delay your destruction until your appointed time. When death comes, it is never delayed.</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إِنِّي دَعَوْتُ قَوْمِي لَيْلًا وَنَهَارًا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said: My Lord, I have called my people to faith night and day,</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 يَزِدْهُمْ دُعَآءِي إِلَّا فِرَارًا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my calling only made them run further from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Nuh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وَإِنِّي كُلَّمَا دَعَوْتُهُمْ لِتَغْفِرَ لَهُمْ جَعَلُواْ أَصَٰبِعَهُمْ فِي ءَاذَانِهِمْ وَاسْتَغْشَوْاْ ثِيَابَهُمْ وَأَصَرُّواْ وَاسْتَكْبَرُواْ اسْتِكْبَارًا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time I called them to believe so that You would forgive them, they put their fingers in their ears, covered their faces with their clothes, insisted on disbelief and were very arrogant.</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إِنِّي دَعَوْتُهُمْ جِهَارًا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I called them openly in a loud voice.</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إِنِّي أَعْلَنتُ لَهُمْ وَأَسْرَرْتُ لَهُمْ إِسْرَارًا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I called them publicly in front of people and I called them in private.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Nuh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فَقُلْتُ اسْتَغْفِرُواْ رَبَّكُمْ إِنَّهُ كَانَ غَفَّارًا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said to them: Ask your Lord for forgiveness and turn to Him in repentance; He is Ever-Forgiving.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يُرْسِلِ السَّمَآءَ عَلَيْكُم مِّدْرَارًا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seek forgiveness, He will send rain down to you in abundance,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وَيُمْدِدْكُم بِأَمْوَٰلٍ وَبَنِينَ وَيَجْعَل لَّكُمْ جَنَّـٰتٍ وَيَجْعَل لَّكُمْ أَنْهَٰرًا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increase your wealth and children, and give you gardens and rivers.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لَكُمْ لَا تَرْجُونَ لِلَّهِ وَقَارًا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is wrong with you that you do not show Allah the greatness He deserves,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Nuh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وَقَدْ خَلَقَكُمْ أَطْوَارًا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created you in stages: a drop, then a clot, then a lump of flesh?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تَرَوْاْ كَيْفَ خَلَقَ اللَّهُ سَبْعَ سَمَٰوَٰتٍ طِبَاقًا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how Allah created seven heavens, one above another,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 الْقَمَرَ فِيهِنَّ نُورًا وَجَعَلَ الشَّمْسَ سِرَاجًا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the moon in them a light and made the sun a shining lamp?</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أَنبَتَكُم مِّنَ الْأَرْضِ نَبَاتًا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created your father Adam from the earth.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Nuh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يُعِيدُكُمْ فِيهَا وَيُخْرِجُكُمْ إِخْرَاجًا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will return you to the earth after death, and bring you out of it on the Day of Resurrection.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جَعَلَ لَكُمُ الْأَرْضَ بِسَاطًا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made the earth spread out and smooth for you,</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لِّتَسْلُكُواْ مِنْهَا سُبُلًا فِجَاجًا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you can travel on its wide roads.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Nuh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نُوحٌ رَّبِّ إِنَّهُمْ عَصَوْنِي وَاتَّبَعُواْ مَن لَّمْ يَزِدْهُ مَالُهُ وَوَلَدُهُ إِلَّا خَسَارًا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said: My Lord, they have disobeyed me and followed the rich whose wealth and children only increased them in loss.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وَمَكَرُواْ مَكْرًا كُبَّارًا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leaders plotted a great plot.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لَا تَذَرُنَّ ءَالِهَتَكُمْ وَلَا تَذَرُنَّ وَدًّا وَلَا سُوَاعًا وَلَا يَغُوثَ وَيَعُوقَ وَنَسْرًا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told their followers: Do not abandon your gods: Wadd, Suwa', Yaghuth, Ya'uq and Nasr. These were names of righteous men who were later made into images and then worshipped (Bukhari).</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Nuh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وَقَدْ أَضَلُّواْ كَثِيرًا وَلَا تَزِدِ الظَّـٰلِمِينَ إِلَّا ضَلَٰلًا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leaders have misled many people. My Lord, increase the wrongdoers only in going astray.</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مِّمَّا خَطِيـَٰٔتِهِمْ أُغْرِقُواْ فَأُدْخِلُواْ نَارًا فَلَمْ يَجِدُواْ لَهُم مِّن دُونِ اللَّهِ أَنصَارًا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Because of their sins they were drowned by the flood and then put into the Fire, and they found no one to help them against Allah.</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نُوحٌ رَّبِّ لَا تَذَرْ عَلَى الْأَرْضِ مِنَ الْكَٰفِرِينَ دَيَّارًا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said: My Lord, do not leave a single disbeliever on the earth.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Nuh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إِنَّكَ إِن تَذَرْهُمْ يُضِلُّواْ عِبَادَكَ وَلَا يَلِدُواْ إِلَّا فَاجِرًا كَفَّارًا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leave them, they will mislead Your servants and will only give birth to wicked disbelievers.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اغْفِرْ لِي وَلِوَٰلِدَيَّ وَلِمَن دَخَلَ بَيْتِيَ مُؤْمِنًا وَلِلْمُؤْمِنِينَ وَالْمُؤْمِنَٰتِ وَلَا تَزِدِ الظَّـٰلِمِينَ إِلَّا تَبَارًا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Lord, forgive me and my parents and whoever enters my house as a believer, and all believing men and women, and increase the wrongdoers only in destruction.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Al-Ma'arij</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44 verses • The Ways of Ascent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70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Kathir mentions from Ibn 'Abbas that the one who asked was al-Nadr ibn al-Harith, who said: "O Allah, if this is the truth from You, then rain down stones on us from the sky." So it was revealed: "A questioner asked about a punishment bound to happen" (al-Nasa'i).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terrors of the Day of Resurrection, the impatient nature of man, and the qualities of those who pray and are saved.</a:t>
            </a:r>
            <a:endParaRPr lang="en-US" sz="17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سَأَلَ سَآئِلٌ بِعَذَابٍ وَاقِعٍ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caller from the polytheists asked for a punishment bound to happen, and he was al-Nadr ibn al-Harith.</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لِّلْكَٰفِرِينَ لَيْسَ لَهُ دَافِعٌ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certainly fall on the disbelievers; no one can push it away.</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اللَّهِ ذِي الْمَعَارِجِ</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comes from Allah, the Owner of the ways of ascent and high ranks.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تَعْرُجُ الْمَلَـٰئِكَةُ وَالرُّوحُ إِلَيْهِ فِي يَوْمٍ كَانَ مِقْدَارُهُ خَمْسِينَ أَلْفَ سَنَةٍ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and Jibril ascend to Him on the Day of Resurrection, a Day whose length is fifty thousand years.</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فَاصْبِرْ صَبْرًا جَمِيلًا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be patient, O Muhammad, with their harm, a beautiful patience without complaint.</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 يَرَوْنَهُ بَعِيدًا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see the Day of Resurrection as far away and impossible,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وَنَرَىٰهُ قَرِيبًا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We see it as near and certain.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تَكُونُ السَّمَآءُ كَالْمُهْلِ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sky will be like murky oil or melted metal,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وَتَكُونُ الْجِبَالُ كَالْعِهْنِ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mountains will be like fluffed-up wool,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يَسْـَٔلُ حَمِيمٌ حَمِيمًا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no close friend will ask about his friend, because each is busy with himself.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يُبَصَّرُونَهُمْ يَوَدُّ الْمُجْرِمُ لَوْ يَفْتَدِي مِنْ عَذَابِ يَوْمِئِذٍ بِبَنِيهِ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shown to each other and recognise each other. The disbeliever will wish he could ransom himself from the punishment with his children,</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وَصَٰحِبَتِهِ وَأَخِيهِ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his wife and his brother,</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وَفَصِيلَتِهِ الَّتِي تُـْٔوِيهِ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his clan who used to protect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فِي الْأَرْضِ جَمِيعًا ثُمَّ يُنجِيهِ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everyone on earth, if only it would save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إِنَّهَا لَظَىٰ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The ransom will not help him. It is a Fire that blazes,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نَزَّاعَةً لِّلشَّوَىٰ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stripping away the scalp and the limbs because of its intense heat.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تَدْعُواْ مَنْ أَدْبَرَ وَتَوَلَّىٰ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calls the one who turned away from the truth and abandoned 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وَجَمَعَ فَأَوْعَىٰ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gathered wealth and hoarded it and held back Allah's right in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الْإِنسَٰنَ خُلِقَ هَلُوعًا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Man was created very anxious and impatient: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مَسَّهُ الشَّرُّ جَزُوعًا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evil touches him he panics and has no patience,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مَسَّهُ الْخَيْرُ مَنُوعًا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good touches him he is stingy and holds it back,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الْمُصَلِّينَ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pray; they are safe from these traits: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هُمْ عَلَىٰ صَلَاتِهِمْ دَآئِمُونَ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keep up their prayers on time,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فِي أَمْوَٰلِهِمْ حَقٌّ 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in whose wealth there is a known share, such as zakah,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لِّلسَّآئِلِ وَالْمَحْرُومِ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the poor who asks and the poor who is too modest to ask,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يُصَدِّقُونَ بِيَوْمِ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believe in the Day of Judgement,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مِّنْ عَذَابِ رَبِّهِم مُّشْفِقُونَ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fear the punishment of their Lord;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عَذَابَ رَبِّهِمْ غَيْرُ مَأْمُونٍ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should ever feel safe from the punishment of their Lord;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لِفُرُوجِهِمْ حَٰفِظُونَ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guard their chastity from what is forbidden,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عَلَىٰ أَزْوَٰجِهِمْ أَوْ مَا مَلَكَتْ أَيْمَٰنُهُمْ فَإِنَّهُمْ غَيْرُ مَلُومِينَ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with their wives or those their right hands possess; for them there is no blame,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ابْتَغَىٰ وَرَآءَ ذَٰلِكَ فَأُوْلَـٰئِكَ هُمُ الْعَادُونَ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whoever seeks beyond that has gone beyond the lawful into the forbidden;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لِأَمَٰنَٰتِهِمْ وَعَهْدِهِمْ رَٰعُونَ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keep their trusts and fulfil their promises;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بِشَهَٰدَٰتِهِمْ قَآئِمُونَ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give testimony truthfully without adding or taking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عَلَىٰ صَلَاتِهِمْ يُحَافِظُونَ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guard their prayers with their pillars and humility.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فِي جَنَّـٰتٍ مُّكْرَمُونَ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honoured in Gardens of delight.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فَمَالِ الَّذِينَ كَفَرُواْ قِبَلَكَ مُهْطِعِينَ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what is wrong with the disbelievers rushing towards you, O Muhammad, staring at you,</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عَنِ الْيَمِينِ وَعَنِ الشِّمَالِ عِزِينَ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your right and on your left, in scattered groups?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أَيَطْمَعُ كُلُّ امْرِيٍٕ مِّنْهُمْ أَن يُدْخَلَ جَنَّةَ 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each of them hope to enter Paradise while he is a disbeliever?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إِنَّا خَلَقْنَٰهُم مِّمَّا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We created them from a weak fluid, as they know, so why are they arrogant?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أُقْسِمُ بِرَبِّ الْمَشَٰرِقِ وَالْمَغَٰرِبِ إِنَّا لَقَٰدِرُونَ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 swear by the Lord of the sunrises and the sunsets that We are able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عَلَىٰ أَن نُّبَدِّلَ خَيْرًا مِّنْهُمْ وَمَا نَحْنُ بِمَسْبُوقِينَ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replace them with people better than them, and We cannot be stopped.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Al-Ma'arij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فَذَرْهُمْ يَخُوضُواْ وَيَلْعَبُواْ حَتَّىٰ يُلَٰقُواْ يَوْمَهُمُ الَّذِي يُوعَدُونَ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leave them to indulge in their falsehood and play until they meet the Day of Resurrection they are promised,</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يَخْرُجُونَ مِنَ الْأَجْدَاثِ سِرَاعًا كَأَنَّهُمْ إِلَىٰ نُصُبٍ يُوفِضُونَ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they come out of the graves hurrying, as if racing towards a raised marker,</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خَٰشِعَةً أَبْصَٰرُهُمْ تَرْهَقُهُمْ ذِلَّةٌ ذَٰلِكَ الْيَوْمُ الَّذِي كَانُواْ يُوعَدُونَ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eyes lowered, covered in humiliation. That is the Day they were promised.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Al-Haqqah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52 verses • The Inevitable Reality</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69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No specific, well-known reason for revelation is reported. Ibn Kathir mentions that 'Umar ibn al-Khattab (may Allah be pleased with him) heard the Prophet (peace be upon him) reciting it near the Ka'bah before he became Muslim, and this was one of the things that brought Islam into his heart.</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terrors of the Day of Resurrection, the fate of the nations who denied, the state of the people of the right and the people of the left, and the truth of the Qur'an.</a:t>
            </a:r>
            <a:endParaRPr lang="en-US" sz="17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الْحَآقَّةُ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Al-Haqqah is one of the names of the Day of Resurrection, because on it every promise and warning comes true.</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الْحَآقَّةُ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is al-Haqqah? This shows how great it is.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الْحَآقَّةُ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its reality and terror?</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ثَمُودُ وَعَادٌ بِالْقَارِعَةِ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Thamud and 'Ad denied the Resurrection that strikes the hearts.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ثَمُودُ فَأُهْلِكُواْ بِالطَّاغِيَةِ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Thamud, they were destroyed by a terrible blast.</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عَادٌ فَأُهْلِكُواْ بِرِيحٍ صَرْصَرٍ عَاتِيَةٍ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'Ad, they were destroyed by a violent, freezing wind.</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سَخَّرَهَا عَلَيْهِمْ سَبْعَ لَيَالٍ وَثَمَٰنِيَةَ أَيَّامٍ حُسُومًا فَتَرَى الْقَوْمَ فِيهَا صَرْعَىٰ كَأَنَّهُمْ أَعْجَازُ نَخْلٍ خَاوِيَةٍ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sent it against them for seven nights and eight days in a row, so you would see the people lying dead as if they were hollow, fallen trunks of palm trees.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فَهَلْ تَرَىٰ لَهُم مِّن بَاقِيَةٍ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see any of them remaining? No.</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 فِرْعَوْنُ وَمَن قَبْلَهُ وَالْمُؤْتَفِكَٰتُ بِالْخَاطِئَةِ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Pharaoh, those before him, and the overturned towns of the people of Lut came with sins and disobedience.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فَعَصَوْاْ رَسُولَ رَبِّهِمْ فَأَخَذَهُمْ أَخْذَةً رَّابِيَةً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disobeyed the messenger of their Lord, so He seized them with a severe seizing.</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لَمَّا طَغَا الْمَآءُ حَمَلْنَٰكُمْ فِي الْجَارِيَةِ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water rose in the flood of Nuh, We carried your ancestors in the ship,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لِنَجْعَلَهَا لَكُمْ تَذْكِرَةً وَتَعِيَهَآ أُذُنٌ وَٰعِيَةٌ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make this event a lesson for you, and so that attentive ears would remember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نُفِخَ فِي الصُّورِ نَفْخَةٌ وَٰحِدَةٌ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when the Trumpet is blown with a single blast,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وَحُمِلَتِ الْأَرْضُ وَالْجِبَالُ فَدُكَّتَا دَكَّةً وَٰحِدَةً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earth and mountains are lifted and crushed with a single blow,</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فَيَوْمَئِذٍ وَقَعَتِ الْوَاقِعَةُ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the Event will take place,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وَانشَقَّتِ السَّمَآءُ فَهِيَ يَوْمَئِذٍ وَاهِيَةٌ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sky will split open, and on that Day it will be weak,</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وَالْمَلَكُ عَلَىٰ أَرْجَآئِهَا وَيَحْمِلُ عَرْشَ رَبِّكَ فَوْقَهُمْ يَوْمَئِذٍ ثَمَٰنِيَةٌ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angels will be at its edges, and eight angels will carry the Throne of your Lord above them on that Day.</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يَوْمَئِذٍ تُعْرَضُونَ لَا تَخْفَىٰ مِنكُمْ خَافِيَةٌ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you will be presented to Allah for judgement; nothing about you will be hidden from Him.</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مَنْ أُوتِيَ كِتَٰبَهُ بِيَمِينِهِ فَيَقُولُ هَآؤُمُ اقْرَءُواْ كِتَٰبِيَهْ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one who is given his book in his right hand, he will say happily: Here, read my book!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ظَنَنتُ أَنِّي مُلَٰقٍ حِسَابِيَهْ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was certain in the world that I would meet my reckoning, so I worked for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فَهُوَ فِي عِيشَةٍ رَّاضِيَةٍ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will be in a pleasant life he is pleased with,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جَنَّةٍ عَالِيَةٍ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a lofty Garden,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قُطُوفُهَا دَانِيَةٌ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whose fruits are near, easy to pick.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كُلُواْ وَاشْرَبُواْ هَنِيـًٔا بِمَآ أَسْلَفْتُمْ فِي الْأَيَّامِ الْخَالِيَةِ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them: Eat and drink happily because of the good deeds you sent ahead in the days of the world.</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مَنْ أُوتِيَ كِتَٰبَهُ بِشِمَالِهِ فَيَقُولُ يَٰلَيْتَنِي لَمْ أُوتَ كِتَٰبِيَهْ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as for the one who is given his book in his left hand, he will say with regret: If only I had not been given my book,</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 أَدْرِ مَا حِسَابِيَهْ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had never known what my reckoning was!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يَٰلَيْتَهَا كَانَتِ الْقَاضِيَةَ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death had been the end and I had never been raised!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أَغْنَىٰ عَنِّي مَالِيَهْ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wealth has not helped 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هَلَكَ عَنِّي سُلْطَٰنِيَهْ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power and status have gone from 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خُذُوهُ فَغُلُّوهُ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say to the angels: Seize him and put the iron collar on his neck,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الْجَحِيمَ صَلُّوهُ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throw him into the Fire,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فِي سِلْسِلَةٍ ذَرْعُهَا سَبْعُونَ ذِرَاعًا فَاسْلُكُوهُ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bind him in a chain seventy cubits long.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كَانَ لَا يُؤْمِنُ بِاللَّهِ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did not believe in Allah, the Most Great,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يَحُضُّ عَلَىٰ طَعَامِ الْمِسْكِينِ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did not encourage people to feed the poor.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فَلَيْسَ لَهُ الْيَوْمَ هَٰهُنَا حَمِيمٌ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today he has no close friend to help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طَعَامٌ إِلَّا مِنْ غِسْلِينٍ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no food except the pus of the people of the Fire,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يَأْكُلُهُ إِلَّا الْخَٰطِـُٔونَ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which only the sinners eat.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أُقْسِمُ بِمَا تُبْصِرُونَ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 swear by what you see of creation,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لَا تُبْصِرُونَ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what you do not see,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لَقَوْلُ رَسُولٍ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the Qur'an is Allah's speech recited by a noble Messenger, Muhammad (peace be upon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هُوَ بِقَوْلِ شَاعِرٍ قَلِيلًا مَّا تُؤْمِنُونَ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the words of a poet as you claim; little do you believe.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بِقَوْلِ كَاهِنٍ قَلِيلًا مَّا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the words of a fortune-teller; little do you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تَنزِيلٌ مِّن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it is sent down from the Lord of the worlds.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تَقَوَّلَ عَلَيْنَا بَعْضَ الْأَقَاوِيلِ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Muhammad had invented anything against Us that We did not say,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لَأَخَذْنَا مِنْهُ بِالْيَمِينِ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would have seized him with power,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لَقَطَعْنَا مِنْهُ الْوَتِينَ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then cut his heart's artery,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مِنكُم مِّنْ أَحَدٍ عَنْهُ حَٰجِزِينَ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none of you could have protected him from Us.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لَتَذْكِرَةٌ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Qur'an is a reminder for the people of taqwa.</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وَإِنَّا لَنَعْلَمُ أَنَّ مِنكُم 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know that some of you deny it.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لَحَسْرَةٌ عَلَى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Denying it will be a source of regret for the disbelievers on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Al-Haqqah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532888"/>
            <a:ext cx="548640" cy="548640"/>
          </a:xfrm>
          <a:prstGeom prst="star8">
            <a:avLst/>
          </a:prstGeom>
          <a:solidFill>
            <a:schemeClr val="accent2"/>
          </a:solidFill>
          <a:ln/>
        </p:spPr>
      </p:sp>
      <p:sp>
        <p:nvSpPr>
          <p:cNvPr id="6" name="Shape 4"/>
          <p:cNvSpPr/>
          <p:nvPr/>
        </p:nvSpPr>
        <p:spPr>
          <a:xfrm>
            <a:off x="822960" y="264261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53288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251460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لَحَقُّ الْيَقِينِ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the certain truth without doubt.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390906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فَسَبِّحْ بِاسْمِ رَبِّكَ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glorify the name of your Lord, the Most Great, and remember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Al-Qalam</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52 verses • The Pen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68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It was revealed in reply to the polytheists who accused the Prophet (peace be upon him) of madness. Allah declared him innocent of that and praised his great character.</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Defending the Prophet (peace be upon him) and praising his great character, the story of the owners of the garden, and a warning against the traits of the deniers.</a:t>
            </a:r>
            <a:endParaRPr lang="en-US" sz="17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 وَالْقَلَمِ وَمَا يَسْطُرُونَ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"Nun" is one of the separate letters. Allah swears by the pen and by what people write.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أَنتَ بِنِعْمَةِ رَبِّكَ بِمَجْنُونٍ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By the favour of your Lord upon you, O Muhammad, you are not mad as the polytheists claim.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لَكَ لَأَجْرًا غَيْرَ مَمْنُونٍ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will surely have a great reward that never ends.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وَإِنَّكَ لَعَلَىٰ خُلُقٍ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are truly of great character. 'A'ishah said: "His character was the Qur'an"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فَسَتُبْصِرُ وَيُبْصِرُونَ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Soon you will see, and they will see,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بِأَييِّكُمُ الْمَفْتُونُ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which of you is the mad one who has gone astray.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رَبَّكَ هُوَ أَعْلَمُ بِمَن ضَلَّ عَن سَبِيلِهِ وَهُوَ أَعْلَمُ بِالْمُهْتَدِينَ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knows best who has strayed from His path, and He knows best who is guided.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تُطِعِ الْمُكَذِّبِينَ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do not obey the deniers.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وَدُّواْ لَوْ تُدْهِنُ فَيُدْهِنُونَ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wish that you would soften in your religion so that they would soften with you.</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تُطِعْ كُلَّ حَلَّافٍ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 not obey every despicable person who swears many false oaths,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هَمَّازٍ مَّشَّآءٍ بِنَمِيمٍ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finds fault with people and goes about spreading gossip,</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مَّنَّاعٍ لِّلْخَيْرِ مُعْتَدٍ أَثِيمٍ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prevents good, transgresses, and is full of sin,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عُتُلٍّ بَعْدَ ذَٰلِكَ زَنِيمٍ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cruel and harsh, and well known for evil,</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كَانَ ذَا مَالٍ وَبَنِينَ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because he had wealth and sons and became arrogant.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تُتْلَىٰ عَلَيْهِ ءَايَٰتُنَا قَالَ أَسَٰطِيرُ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verses are recited to him, he says: Tales of the ancients!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سَنَسِمُهُ عَلَى الْخُرْطُومِ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brand him on the nose with a mark by which he will be known.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بَلَوْنَٰهُمْ كَمَا بَلَوْنَآ أَصْحَٰبَ الْجَنَّةِ إِذْ أَقْسَمُواْ لَيَصْرِمُنَّهَا مُصْبِحِينَ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tested the people of Makkah just as We tested the owners of the garden, when they swore they would harvest its fruit in the morning</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يَسْتَثْنُونَ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without saying "if Allah wills," intending to keep the poor away.</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فَطَافَ عَلَيْهَا طَآئِفٌ مِّن رَّبِّكَ وَهُمْ نَآئِمُونَ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 punishment from Allah came over the garden while they were asleep,</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فَأَصْبَحَتْ كَالصَّرِيمِ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morning the garden was burnt black like the night.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فَتَنَادَوْاْ مُصْبِحِينَ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morning they called out to one another: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اغْدُواْ عَلَىٰ حَرْثِكُمْ إِن كُنتُمْ صَٰرِمِينَ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 out early to your garden if you want to harvest its fruit!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فَانطَلَقُواْ وَهُمْ يَتَخَٰفَتُونَ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set off, talking in low voices,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لَّا يَدْخُلَنَّهَا الْيَوْمَ عَلَيْكُم مِّسْكِينٌ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saying: Do not let any poor person enter it today.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وَغَدَوْاْ عَلَىٰ حَرْدٍ قَٰدِرِينَ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went out early, determined to keep the poor away, thinking they were able.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رَأَوْهَا قَالُواْ إِنَّا لَضَآلُّونَ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when they saw the garden burnt, they said: We must have lost our way!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نَحْنُ مَحْرُومُونَ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they realised it was their garden and said: No, we have been deprived of its fruit!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أَوْسَطُهُمْ أَلَمْ أَقُل لَّكُمْ لَوْلَا تُسَبِّحُونَ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most just of them said: Did I not tell you, why do you not glorify and thank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سُبْحَٰنَ رَبِّنَآ إِنَّا كُنَّا ظَٰلِمِينَ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Glory be to our Lord! We were wrongdoers in keeping the poor away.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فَأَقْبَلَ بَعْضُهُمْ عَلَىٰ بَعْضٍ يَتَلَٰوَمُونَ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they turned to each other, each blaming the other.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يَٰوَيْلَنَآ إِنَّا كُنَّا طَٰغِينَ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Woe to us! We were transgressors.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عَسَىٰ رَبُّنَآ أَن يُبْدِلَنَا خَيْرًا مِّنْهَآ إِنَّآ إِلَىٰ رَبِّنَا رَٰغِبُونَ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Perhaps our Lord will give us something better than it; we turn to our Lord in hope and repentance.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الْعَذَابُ وَلَعَذَابُ الْأخِرَةِ أَكْبَرُ لَوْ كَانُواْ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 punishment of this world for whoever opposes Allah's command, and the punishment of the Hereafter is greater, if only they knew.</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لِلْمُتَّقِينَ عِندَ رَبِّهِمْ جَنَّـٰتِ النَّعِيمِ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the people of taqwa there are Gardens of delight with their Lord.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أَفَنَجْعَلُ الْمُسْلِمِينَ كَالْمُجْرِمِينَ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Shall We treat the obedient Muslims like the criminals in reward?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لَكُمْ كَيْفَ تَحْكُمُونَ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is wrong with you? How do you judge so unfairly?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لَكُمْ كِتَٰبٌ فِيهِ تَدْرُسُونَ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have a book from the sky in which you read this,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لَكُمْ فِيهِ لَمَا تَخَيَّرُونَ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you will have whatever you choose and desire?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لَكُمْ أَيْمَٰنٌ عَلَيْنَا بَٰلِغَةٌ إِلَىٰ يَوْمِ الْقِيَٰمَةِ إِنَّ لَكُمْ لَمَا تَحْكُمُونَ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have firm promises from Us until the Day of Resurrection that you will have whatever you decide for yourselves?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سَلْهُمْ أَيُّهُم بِذَٰلِكَ زَعِيمٌ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Ask them, O Muhammad: which of them guarantees that?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لَهُمْ شُرَكَآءُ فَلْيَأْتُواْ بِشُرَكَآئِهِمْ إِن كَانُواْ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have partners who agree with them? Then let them bring them if they are truthful.</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يُكْشَفُ عَن سَاقٍ وَيُدْعَوْنَ إِلَى السُّجُودِ فَلَا يَسْتَطِيعُونَ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of Resurrection our Lord will uncover His shin, and people will be called to prostrate, but the hypocrites and disbelievers will not be able to, as in the hadith of Abu Sa'id (Bukhari).</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خَٰشِعَةً أَبْصَٰرُهُمْ تَرْهَقُهُمْ ذِلَّةٌ وَقَدْ كَانُواْ يُدْعَوْنَ إِلَى السُّجُودِ وَهُمْ 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eyes will be lowered and covered in humiliation. They used to be called to prayer in the world while healthy, but they refused.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فَذَرْنِي وَمَن يُكَذِّبُ بِهَٰذَا الْحَدِيثِ سَنَسْتَدْرِجُهُم مِّنْ حَيْثُ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leave Me with whoever denies this Qur'an. We will lead them step by step from where they do not realise.</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وَأُمْلِي لَهُمْ إِنَّ كَيْدِي مَتِينٌ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give them time; My plan is strong and firm.</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تَسْـَٔلُهُمْ أَجْرًا فَهُم مِّن مَّغْرَمٍ مُّثْقَلُونَ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ask them for a payment for calling them, so they are weighed down by debt?</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عِندَهُمُ الْغَيْبُ فَهُمْ يَكْتُبُونَ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have knowledge of the unseen from which they write what they judge?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فَاصْبِرْ لِحُكْمِ رَبِّكَ وَلَا تَكُن كَصَاحِبِ الْحُوتِ إِذْ نَادَىٰ وَهُوَ مَكْظُومٌ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be patient with your Lord's decision, and do not be like Yunus, the companion of the whale, when he called out to his Lord full of distress.</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لَّوْلَآ أَن تَدَٰرَكَهُ نِعْمَةٌ مِّن رَّبِّهِ لَنُبِذَ بِالْعَرَآءِ وَهُوَ مَذْمُومٌ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Had his Lord's mercy not reached him, he would have been thrown onto the bare land while blamed.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فَاجْتَبَٰهُ رَبُّهُ فَجَعَلَهُ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his Lord chose him and made him one of the righteous.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Al-Qalam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238429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يَكَادُ الَّذِينَ كَفَرُواْ لَيُزْلِقُونَكَ بِأَبْصَٰرِهِمْ لَمَّا سَمِعُواْ الذِّكْرَ وَيَقُولُونَ إِنَّهُ لَمَجْنُونٌ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almost strike you down with their envious eyes when they hear the Qur'an, and they say: He is surely mad!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403936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هُوَ إِلَّا ذِكْرٌ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Qur'an is nothing but a reminder for all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Al-Mulk</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30 verses • The Dominion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67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No specific, well-known reason for revelation is reported. Among its virtues, the Prophet (peace be upon him) said: "A surah of the Qur'an of thirty verses interceded for a man until he was forgiven; it is: Tabarak alladhi biyadihi al-mulk" (Abu Dawud and Tirmidhi).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Proving Allah's power and the greatness of His dominion, the signs of His creation, and the state of the disbelievers and the believers. It is called "al-Mani'ah" (the Protector) because it protects its companion from the punishment of the grave.</a:t>
            </a:r>
            <a:endParaRPr lang="en-US" sz="15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Al-Mulk</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تَبَٰرَكَ الَّذِي بِيَدِهِ الْمُلْكُ وَهُوَ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Blessed and full of goodness is Allah, in whose Hand is the dominion of everything, and He has power over everything.</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خَلَقَ الْمَوْتَ وَالْحَيَوٰةَ لِيَبْلُوَكُمْ أَيُّكُمْ أَحْسَنُ عَمَلًا وَهُوَ الْعَزِيزُ الْغَفُورُ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death and life to test you: which of you is best in deeds. He is the Almighty, the Forgiving to whoever repents.</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خَلَقَ سَبْعَ سَمَٰوَٰتٍ طِبَاقًا مَّا تَرَىٰ فِي خَلْقِ الرَّحْمَٰنِ مِن تَفَٰوُتٍ فَارْجِعِ الْبَصَرَ هَلْ تَرَىٰ مِن فُطُورٍ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seven heavens, one above another. You will not see any flaw or defect in them. Look again: do you see any cracks?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Al-Mulk</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ارْجِعِ الْبَصَرَ كَرَّتَيْنِ يَنقَلِبْ إِلَيْكَ الْبَصَرُ خَاسِئًا وَهُوَ حَسِيرٌ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look again and again; your sight will return to you tired and unable to find any defect.</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زَيَّنَّا السَّمَآءَ الدُّنْيَا بِمَصَٰبِيحَ وَجَعَلْنَٰهَا رُجُومًا لِّلشَّيَٰطِينِ وَأَعْتَدْنَا لَهُمْ عَذَابَ السَّعِيرِ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adorned the nearest heaven with stars and made some of them missiles to throw at the devils, and We have prepared for them the punishment of the Fire.</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وَلِلَّذِينَ كَفَرُواْ بِرَبِّهِمْ عَذَابُ جَهَنَّمَ وَبِئْسَ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those who disbelieve in their Lord is the punishment of Hell. What an evil destination!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Al-Mulk</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أُلْقُواْ فِيهَا سَمِعُواْ لَهَا شَهِيقًا وَهِيَ تَفُورُ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thrown into it, they will hear its horrible roar as it boils.</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تَكَادُ تَمَيَّزُ مِنَ الْغَيْظِ كُلَّمَآ أُلْقِيَ فِيهَا فَوْجٌ سَأَلَهُمْ خَزَنَتُهَآ أَلَمْ يَأْتِكُمْ نَذِيرٌ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almost bursts with rage. Every time a group is thrown into it, its keepers ask them: Did no warner come to you?</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بَلَىٰ قَدْ جَآءَنَا نَذِيرٌ فَكَذَّبْنَا وَقُلْنَا مَا نَزَّلَ اللَّهُ مِن شَيْءٍ إِنْ أَنتُمْ إِلَّا فِي ضَلَٰلٍ 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Yes, a warner came to us, but we denied him and said: Allah has not sent down anything; you are only in great error.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Al-Mulk</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لَوْ كُنَّا نَسْمَعُ أَوْ نَعْقِلُ مَا كُنَّا فِي أَصْحَٰبِ السَّعِيرِ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If only we had listened in a way that benefits, or used our minds, we would not be among the people of the Fire.</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فَاعْتَرَفُواْ بِذَنبِهِمْ فَسُحْقًا لِّأَصْحَٰبِ السَّعِيرِ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will confess their sin. Far away from Allah's mercy are the people of the Fire!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يَخْشَوْنَ رَبَّهُم بِالْغَيْبِ لَهُم مَّغْفِرَةٌ وَأَجْرٌ 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fear their Lord without seeing Him will have forgiveness for their sins and a great reward.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وَأَسِرُّواْ قَوْلَكُمْ أَوِ اجْهَرُواْ بِهِ إِنَّهُ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Whether you hide your words or say them openly, Allah knows well what is in the hearts.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Al-Mulk</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يَعْلَمُ مَنْ خَلَقَ وَهُوَ اللَّطِيفُ الْخَبِيرُ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the One who created not know His creation? He is the Most Subtle and Kind to His servants, the All-Aware of everything.</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جَعَلَ لَكُمُ الْأَرْضَ ذَلُولًا فَامْشُواْ فِي مَنَاكِبِهَا وَكُلُواْ مِن رِّزْقِهِ وَإِلَيْهِ النُّشُورُ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made the earth easy and subdued for you, so walk through its regions and eat of His provision, and to Him is the Resurrection.</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ءَأَمِنتُم مَّن فِي السَّمَآءِ أَن يَخْسِفَ بِكُمُ الْأَرْضَ فَإِذَا هِيَ تَمُورُ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feel safe from Allah, who is above the heaven, that He will not make the earth swallow you while it shakes?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Al-Mulk</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أَمِنتُم مَّن فِي السَّمَآءِ أَن يُرْسِلَ عَلَيْكُمْ حَاصِبًا فَسَتَعْلَمُونَ كَيْفَ نَذِيرِ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feel safe from Allah, who is above the heaven, that He will not send against you a wind carrying stones? Then you will know how serious My warning was.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كَذَّبَ الَّذِينَ مِن قَبْلِهِمْ فَكَيْفَ كَانَ نَكِيرِ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before them denied too, so how was My rejection of them and My punishment?</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إِلَى الطَّيْرِ فَوْقَهُمْ صَـٰفَّـٰتٍ وَيَقْبِضْنَ مَا يُمْسِكُهُنَّ إِلَّا الرَّحْمَٰنُ إِنَّهُ بِكُلِّ شَيْءٍ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the birds above them spreading their wings and folding them? Nothing holds them up in the air except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Al-Mulk</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أَمَّنْ هَٰذَا الَّذِي هُوَ جُندٌ لَّكُمْ يَنصُرُكُم مِّن دُونِ الرَّحْمَٰنِ إِنِ الْكَٰفِرُونَ إِلَّا فِي غُرُورٍ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is this army that can help you other than the Most Merciful? The disbelievers are only deceived and fooled.</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أَمَّنْ هَٰذَا الَّذِي يَرْزُقُكُمْ إِنْ أَمْسَكَ رِزْقَهُ بَل لَّجُّواْ فِي عُتُوٍّ وَنُفُورٍ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is this who can provide for you if Allah holds back His provision? Rather, they keep on in stubbornness and running from the truth.</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يَمْشِي مُكِبًّا عَلَىٰ وَجْهِهِ أَهْدَىٰ أَمَّن يَمْشِي سَوِيًّا عَلَىٰ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one who walks fallen on his face (the disbeliever) better guided, or the one who walks upright on a straight path (the believer)?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Al-Mulk</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هُوَ الَّذِي أَنشَأَكُمْ وَجَعَلَ لَكُمُ السَّمْعَ وَالْأَبْصَٰرَ وَالْأَفْـِٔدَةَ قَلِيلًا مَّا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He is the One who created you and gave you hearing, sight and hearts. Little are you grateful!</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هُوَ الَّذِي ذَرَأَكُمْ فِي الْأَرْضِ وَإِلَيْهِ تُحْشَرُونَ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He is the One who spread you throughout the earth, and to Him you will be gathered on the Day of Resurrection.</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say: When will this promised Resurrection be, if you are truthful?</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إِنَّمَا الْعِلْمُ عِندَ اللَّهِ وَإِنَّمَآ أَنَا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Knowledge of that is with Allah alone, and I am only a clear warner.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Al-Mulk</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رَأَوْهُ زُلْفَةً سِيـَٔتْ وُجُوهُ الَّذِينَ كَفَرُواْ وَقِيلَ هَٰذَا الَّذِي كُنتُم بِهِ تَدَّعُونَ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see the punishment close to them, the faces of the disbelievers will turn dark, and it will be said: This is what you used to ask for.</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إِنْ أَهْلَكَنِيَ اللَّهُ وَمَن مَّعِيَ أَوْ رَحِمَنَا فَمَن يُجِيرُ الْكَٰفِرِينَ مِنْ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whether Allah causes me and those with me to die or has mercy on us, who will protect the disbelievers from a painful punishment?</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هُوَ الرَّحْمَٰنُ ءَامَنَّا بِهِ وَعَلَيْهِ تَوَكَّلْنَا فَسَتَعْلَمُونَ مَنْ هُوَ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He is the Most Merciful; we believe in Him and we rely on Him. You will soon know who is clearly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Al-Mulk</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099816"/>
            <a:ext cx="548640" cy="548640"/>
          </a:xfrm>
          <a:prstGeom prst="star8">
            <a:avLst/>
          </a:prstGeom>
          <a:solidFill>
            <a:schemeClr val="accent2"/>
          </a:solidFill>
          <a:ln/>
        </p:spPr>
      </p:sp>
      <p:sp>
        <p:nvSpPr>
          <p:cNvPr id="6" name="Shape 4"/>
          <p:cNvSpPr/>
          <p:nvPr/>
        </p:nvSpPr>
        <p:spPr>
          <a:xfrm>
            <a:off x="822960" y="320954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إِنْ أَصْبَحَ مَآؤُكُمْ غَوْرًا فَمَن يَأْتِيكُم بِمَآءٍ 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if your water sank deep into the earth, who would bring you flowing, visible water? No one except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pic>
        <p:nvPicPr>
          <p:cNvPr id="2" name="Image 0" descr="assets29/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 Allah, make the Mighty Qur'an the spring of our hearts, the light of our chests, the remover of our sadness and the reliever of our worries."</a:t>
            </a:r>
            <a:endParaRPr lang="en-US" sz="2100" dirty="0"/>
          </a:p>
        </p:txBody>
      </p:sp>
      <p:pic>
        <p:nvPicPr>
          <p:cNvPr id="5" name="Image 1" descr="assets29/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29 Tafsir EN">
  <a:themeElements>
    <a:clrScheme name="Juz 29 Tafsir EN">
      <a:dk1>
        <a:srgbClr val="23262E"/>
      </a:dk1>
      <a:lt1>
        <a:srgbClr val="FFFFFF"/>
      </a:lt1>
      <a:dk2>
        <a:srgbClr val="1B3A6B"/>
      </a:dk2>
      <a:lt2>
        <a:srgbClr val="F5F7FB"/>
      </a:lt2>
      <a:accent1>
        <a:srgbClr val="1B3A6B"/>
      </a:accent1>
      <a:accent2>
        <a:srgbClr val="C9A04A"/>
      </a:accent2>
      <a:accent3>
        <a:srgbClr val="2A5694"/>
      </a:accent3>
      <a:accent4>
        <a:srgbClr val="5F6675"/>
      </a:accent4>
      <a:accent5>
        <a:srgbClr val="E7EDF6"/>
      </a:accent5>
      <a:accent6>
        <a:srgbClr val="1E8C8C"/>
      </a:accent6>
      <a:hlink>
        <a:srgbClr val="2A5694"/>
      </a:hlink>
      <a:folHlink>
        <a:srgbClr val="5F6675"/>
      </a:folHlink>
    </a:clrScheme>
    <a:fontScheme name="Juz 29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138</Slides>
  <Notes>138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138</vt:i4>
      </vt:variant>
    </vt:vector>
  </HeadingPairs>
  <TitlesOfParts>
    <vt:vector size="1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Tabarak — Simplified Tafsir from Ibn Kathir</dc:title>
  <dc:subject>PptxGenJS Presentation</dc:subject>
  <dc:creator>Qur'an Teacher</dc:creator>
  <cp:lastModifiedBy>Qur'an Teacher</cp:lastModifiedBy>
  <cp:revision>1</cp:revision>
  <dcterms:created xsi:type="dcterms:W3CDTF">2026-10-04T03:55:29Z</dcterms:created>
  <dcterms:modified xsi:type="dcterms:W3CDTF">2026-10-04T03:55:29Z</dcterms:modified>
</cp:coreProperties>
</file>