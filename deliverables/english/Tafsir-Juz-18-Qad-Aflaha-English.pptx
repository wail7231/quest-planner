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1f8b91e-e541-046c-b424-a9d16ccaeb0e}">
          <p14:sldIdLst>
            <p14:sldId id="256"/>
            <p14:sldId id="257"/>
            <p14:sldId id="258"/>
          </p14:sldIdLst>
        </p14:section>
        <p14:section name="Surah Al-Furqan" id="{a3358e36-ea74-6f16-f798-58883cb7a152}">
          <p14:sldIdLst>
            <p14:sldId id="259"/>
            <p14:sldId id="260"/>
            <p14:sldId id="261"/>
            <p14:sldId id="262"/>
            <p14:sldId id="263"/>
            <p14:sldId id="264"/>
            <p14:sldId id="265"/>
            <p14:sldId id="266"/>
            <p14:sldId id="267"/>
            <p14:sldId id="268"/>
          </p14:sldIdLst>
        </p14:section>
        <p14:section name="Surah An-Nur" id="{ee9236ce-fe2d-c344-abba-70e82affa568}">
          <p14:sldIdLst>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Surah Al-Mu'minun" id="{40699611-5c27-1cc6-757e-03c39325c9b1}">
          <p14:sldIdLst>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Closing" id="{c754b46e-9d2c-a439-9c41-b2253dc1cf99}">
          <p14:sldIdLst>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20 verses of Surah Al-Furqan, then move back to Surah An-Nur and Surah Al-Mu'minun.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did Allah answer those who were surprised that the Messenger eats and walks in the markets (verse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should the believers have said when they heard the lie (verses 12 and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List the qualities of the successful believers in verses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8/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8/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8/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4.xml"/><Relationship Id="rId4"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8/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Qad Aflaha</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18/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18 • Al-Furqan (1–20), An-Nur, then Al-Mu'minun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olive green</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Al-Furqan and moves back to Surah Al-Mu'minun</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Al-Furqan</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An-Nur</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Al-Mu'minun</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Al-Furqan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20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that the idol-worshippers mocked the Prophet (peace be upon him) for being poor and said: “What kind of messenger is this who eats food and walks in the markets?” The Prophet (peace be upon him) was saddened, so Allah sent down to comfort him: “We never sent messengers before you except that they ate food and walked in the markets”.</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ends at verse 20: praising Allah who sent down the Criterion, answering the idol-worshippers' objections to the Qur'an and to the Messenger (peace be upon him) being a human, and scenes of the Fire and Paradise.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تَبَارَكَ الَّذِي نَزَّلَ الْفُرْقَانَ عَلَىٰ عَبْدِهِ لِيَكُونَ لِلْعَٰلَمِينَ نَذِيرًا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Blessed is Allah, who sent down the Criterion that separates truth from falsehood to His servant Muhammad (peace be upon him), so that he may be a warner to humans and jinn,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لَهُ مُلْكُ السَّمَٰوَٰتِ وَالْأَرْضِ وَلَمْ يَتَّخِذْ وَلَدًا وَلَمْ يَكُن لَّهُ شَرِيكٌ فِي الْمُلْكِ وَخَلَقَ كُلَّ شَيْءٍ فَقَدَّرَهُ تَقْدِيرًا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whom belongs the kingdom of the heavens and the earth, who has not taken a son and has no partner in His kingdom, and who created everything and measured it exactly.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وَاتَّخَذُواْ مِن دُونِهِ ءَالِهَةً لَّا يَخْلُقُونَ شَيْـًٔا وَهُمْ يُخْلَقُونَ وَلَا يَمْلِكُونَ لِأَنفُسِهِمْ ضَرًّا وَلَا نَفْعًا وَلَا يَمْلِكُونَ مَوْتًا وَلَا حَيَوٰةً وَلَا نُشُورًا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Yet the idol-worshippers have taken gods besides Him who create nothing and are themselves created, who have no power to harm or benefit themselves, and no power over death, life or resurrection.</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إِنْ هَٰذَآ إِلَّآ إِفْكٌ افْتَرَىٰهُ وَأَعَانَهُ عَلَيْهِ قَوْمٌ ءَاخَرُونَ فَقَدْ جَآءُو ظُلْمًا وَزُورًا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This Qur'an is only a lie Muhammad made up, and other people from the People of the Book helped him. They have come with great injustice and a lie.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أَسَٰطِيرُ الْأَوَّلِينَ اكْتَتَبَهَا فَهِيَ تُمْلَىٰ عَلَيْهِ بُكْرَةً وَأَصِيلًا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It is tales of the ancients that he has had written down, and they are read to him morning and evening so he can memorise them.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أَنزَلَهُ الَّذِي يَعْلَمُ السِّرَّ فِي السَّمَٰوَٰتِ وَالْأَرْضِ إِنَّهُ كَانَ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It was sent down by Allah, who knows the secrets in the heavens and the earth. He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مَالِ هَٰذَا الرَّسُولِ يَأْكُلُ الطَّعَامَ وَيَمْشِي فِي الْأَسْوَاقِ لَوْلَآ أُنزِلَ إِلَيْهِ مَلَكٌ فَيَكُونَ مَعَهُ نَذِيرًا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What kind of messenger is this who eats food as we do and walks in the markets seeking a living? Why has an angel not been sent down to him to warn with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يُلْقَىٰ إِلَيْهِ كَنزٌ أَوْ تَكُونُ لَهُ جَنَّةٌ يَأْكُلُ مِنْهَا وَقَالَ الظَّـٰلِمُونَ إِن تَتَّبِعُونَ إِلَّا رَجُلًا مَّسْحُورًا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why is no treasure thrown down to him, or why does he not have a garden to eat from? The wrongdoers said: You are only following a man under a spell.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انظُرْ كَيْفَ ضَرَبُواْ لَكَ الْأَمْثَٰلَ فَضَلُّواْ فَلَا يَسْتَطِيعُونَ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See how they describe you with false descriptions! They have gone astray and cannot find a way to the truth.</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تَبَارَكَ الَّذِي إِن شَآءَ جَعَلَ لَكَ خَيْرًا مِّن ذَٰلِكَ جَنَّـٰتٍ تَجْرِي مِن تَحْتِهَا الْأَنْهَٰرُ وَيَجْعَل لَّكَ قُصُورًا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Blessed is Allah, who, if He willed, would give you better than what they say: Gardens with rivers flowing beneath them, and palaces.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كَذَّبُواْ بِالسَّاعَةِ وَأَعْتَدْنَا لِمَن كَذَّبَ بِالسَّاعَةِ 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they have denied the Hour, and for whoever denies the Hour We have prepared a blazing Fire.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رَأَتْهُم مِّن مَّكَانٍ بَعِيدٍ سَمِعُواْ لَهَا تَغَيُّظًا وَزَفِيرًا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it sees them from far away, they will hear its raging and roaring.</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أُلْقُواْ مِنْهَا مَكَانًا ضَيِّقًا مُّقَرَّنِينَ دَعَوْاْ هُنَالِكَ ثُبُورًا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thrown into a narrow place in it, chained together, they will cry out there for destruction.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تَدْعُواْ الْيَوْمَ ثُبُورًا وَٰحِدًا وَادْعُواْ ثُبُورًا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Do not cry for one destruction today; cry for many destructions.</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أَذَٰلِكَ خَيْرٌ أَمْ جَنَّةُ الْخُلْدِ الَّتِي وُعِدَ الْمُتَّقُونَ كَانَتْ لَهُمْ جَزَآءً وَمَصِيرًا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Is that better, or the Garden of Eternity promised to those with taqwa? It will be their reward and destination.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فِيهَا مَا يَشَآءُونَ خَٰلِدِينَ كَانَ عَلَىٰ رَبِّكَ وَعْدًا مَّسْـُٔولًا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whatever they wish there, forever. That is a promise binding on your Lord, which the believers ask for.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يَحْشُرُهُمْ وَمَا يَعْبُدُونَ مِن دُونِ اللَّهِ فَيَقُولُ ءَأَنتُمْ أَضْلَلْتُمْ عِبَادِي هَـٰؤُلَآءِ أَمْ هُمْ ضَلُّواْ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gathers the idol-worshippers and what they worshipped besides Allah, He will say to those worshipped: Did you mislead these servants of Mine, or did they stray from the path themselves?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سُبْحَٰنَكَ مَا كَانَ يَنبَغِي لَنَآ أَن نَّتَّخِذَ مِن دُونِكَ مِنْ أَوْلِيَآءَ وَلَٰكِن مَّتَّعْتَهُمْ وَءَابَآءَهُمْ حَتَّىٰ نَسُواْ الذِّكْرَ وَكَانُواْ قَوْمًا بُورًا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Glory be to You! It was not for us to take protectors besides You. But You let them and their fathers enjoy blessings until they forgot Your remembrance and became a ruined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Al-Furqan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فَقَدْ كَذَّبُوكُم بِمَا تَقُولُونَ فَمَا تَسْتَطِيعُونَ صَرْفًا وَلَا نَصْرًا وَمَن يَظْلِم مِّنكُمْ نُذِقْهُ عَذَابًا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 idol-worshippers: Your gods have denied what you say, so you cannot turn the punishment away or help yourselves. Whoever of you does wrong by shirk, We will make him taste a great punishment.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قَبْلَكَ مِنَ الْمُرْسَلِينَ إِلَّآ إِنَّهُمْ لَيَأْكُلُونَ الطَّعَامَ وَيَمْشُونَ فِي الْأَسْوَاقِ وَجَعَلْنَا بَعْضَكُمْ لِبَعْضٍ فِتْنَةً أَتَصْبِرُونَ وَكَانَ رَبُّكَ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sent messengers before you except that they ate food and walked in the markets. We have made some of you a test for others, the rich for the poor and the healthy for the sick: will you be patient? Your Lord is All-Seeing.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An-Nur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64 verses • The Light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When the Prophet (peace be upon him) returned from the expedition of Banu Al-Mustaliq, 'A'ishah (may Allah be pleased with her) stayed behind looking for her lost necklace. Safwan ibn Al-Mu'attal brought her back, and the hypocrites spread lies about her. So Allah declared her innocence from above the seven heavens: “Those who brought the lie are a group among you...”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surah of good manners and purity: protecting people's honour, the innocence of the Mother of the Believers 'A'ishah, the manners of asking permission, lowering the gaze and modest dress, the example of Allah's light in the believer's heart, obeying Allah and His Messenger, and Allah's promise to the believers.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سُورَةٌ أَنزَلْنَٰهَا وَفَرَضْنَٰهَا وَأَنزَلْنَا فِيهَآ ءَايَٰتٍ بَيِّنَٰتٍ لَّعَلَّكُمْ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 surah We have sent down and made its rulings obligatory, and in it We have sent down clear verses so that you may take heed.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الزَّانِيَةُ وَالزَّانِي فَاجْلِدُواْ كُلَّ وَٰحِدٍ مِّنْهُمَا مِاْئَةَ جَلْدَةٍ وَلَا تَأْخُذْكُم بِهِمَا رَأْفَةٌ فِي دِينِ اللَّهِ إِن كُنتُمْ تُؤْمِنُونَ بِاللَّهِ وَالْيَوْمِ الْأخِرِ وَلْيَشْهَدْ عَذَابَهُمَا طَآئِفَةٌ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among the unmarried commits the shameful sin of zina, their punishment is a hundred lashes. Do not let pity stop you from carrying out Allah's ruling, if you are believers, and let a group of believers witness their punishment as a lesson.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الزَّانِي لَا يَنكِحُ إِلَّا زَانِيَةً أَوْ مُشْرِكَةً وَالزَّانِيَةُ لَا يَنكِحُهَآ إِلَّا زَانٍ أَوْ مُشْرِكٌ وَحُرِّمَ ذَٰلِكَ عَلَى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man known for zina is only accepted in marriage by someone like him or an idol-worshipper, and a woman known for zina is only accepted by someone like her or an idol-worshipper. Marrying them is forbidden to the believers until they repent.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يَرْمُونَ الْمُحْصَنَٰتِ ثُمَّ لَمْ يَأْتُواْ بِأَرْبَعَةِ شُهَدَآءَ فَاجْلِدُوهُمْ ثَمَٰنِينَ جَلْدَةً وَلَا تَقْبَلُواْ لَهُمْ شَهَٰدَةً أَبَدًا وَأُوْلَـٰئِكَ هُمُ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accuse chaste women of indecency and then do not bring four witnesses, lash them eighty lashes and never accept their testimony again; they are the disobedient,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تَابُواْ مِن بَعْدِ ذَٰلِكَ وَأَصْلَحُواْ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repent after that and correct themselves; Allah is Forgiving, Most Merciful.</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يَرْمُونَ أَزْوَٰجَهُمْ وَلَمْ يَكُن لَّهُمْ شُهَدَآءُ إِلَّآ أَنفُسُهُمْ فَشَهَٰدَةُ أَحَدِهِمْ أَرْبَعُ شَهَٰدَٰتٍ بِاللَّهِ إِنَّهُ لَمِنَ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husbands who accuse their wives and have no witnesses except themselves, each must swear by Allah four times that he is telling the truth,</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وَالْخَٰمِسَةُ أَنَّ لَعْنَتَ اللَّهِ عَلَيْهِ إِن كَانَ 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fifth time that Allah's curse be on him if he is lying.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وَيَدْرَؤُاْ عَنْهَا الْعَذَابَ أَن تَشْهَدَ أَرْبَعَ شَهَٰدَٰتٍ بِاللَّهِ إِنَّهُ لَمِنَ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is turned away from her if she swears by Allah four times that he is lying,</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وَالْخَٰمِسَةَ أَنَّ غَضَبَ اللَّهِ عَلَيْهَآ إِن كَانَ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fifth time that Allah's anger be on her if he is telling the truth. This is the ruling of li'an.</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فَضْلُ اللَّهِ عَلَيْكُمْ وَرَحْمَتُهُ وَأَنَّ اللَّهَ تَوَّابٌ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for Allah's favour and mercy on you through these rulings, and that Allah is Accepting of repentance, All-Wise, you would have fallen into hardship.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719072"/>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جَآءُو بِالْإِفْكِ عُصْبَةٌ مِّنكُمْ لَا تَحْسَبُوهُ شَرًّا لَّكُم بَلْ هُوَ خَيْرٌ لَّكُمْ لِكُلِّ امْرِيٍٕ مِّنْهُم مَّا اكْتَسَبَ مِنَ الْإِثْمِ وَالَّذِي تَوَلَّىٰ كِبْرَهُ مِنْهُمْ لَهُ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brought the lie against the Mother of the Believers 'A'ishah are a group among you. Do not think it bad for you; rather, it is good for you, as her innocence was shown and you were rewarded. Each of them will get the sin he earned, and the one who led the greater part of it, 'Abdullah ibn Ubayy, will have a great punishment.</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44439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لَّوْلَآ إِذْ سَمِعْتُمُوهُ ظَنَّ الْمُؤْمِنُونَ وَالْمُؤْمِنَٰتُ بِأَنفُسِهِمْ خَيْرًا وَقَالُواْ هَٰذَآ إِفْكٌ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when you heard this lie, did the believing men and women not think well of their own people and say: This is an obvious lie?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لَّوْلَا جَآءُو عَلَيْهِ بِأَرْبَعَةِ شُهَدَآءَ فَإِذْ لَمْ يَأْتُواْ بِالشُّهَدَآءِ فَأُوْلَـٰئِكَ عِندَ اللَّهِ هُمُ الْكَٰذِبُونَ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did they not bring four witnesses to it? Since they did not bring the witnesses, they are liars in Allah's sight.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فَضْلُ اللَّهِ عَلَيْكُمْ وَرَحْمَتُهُ فِي الدُّنْيَا وَالْأخِرَةِ لَمَسَّكُمْ فِي مَآ أَفَضْتُمْ فِيهِ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for Allah's favour and mercy on you in this world and the Hereafter, a great punishment would have touched you for what you rushed into,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تَلَقَّوْنَهُ بِأَلْسِنَتِكُمْ وَتَقُولُونَ بِأَفْوَاهِكُم مَّا لَيْسَ لَكُم بِهِ عِلْمٌ وَتَحْسَبُونَهُ هَيِّنًا وَهُوَ عِندَ اللَّهِ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passed it on with your tongues and said with your mouths what you had no knowledge of, thinking it was a small thing while it is great with Allah.</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إِذْ سَمِعْتُمُوهُ قُلْتُم مَّا يَكُونُ لَنَآ أَن نَّتَكَلَّمَ بِهَٰذَا سُبْحَٰنَكَ هَٰذَا بُهْتَٰنٌ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when you heard it, did you not say: It is not right for us to speak of this. Glory be to You! This is a great lie!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يَعِظُكُمُ اللَّهُ أَن تَعُودُواْ لِمِثْلِهِ أَبَدًا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warns you never to do anything like it again, if you are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وَيُبَيِّنُ اللَّهُ لَكُمُ الْأيَٰتِ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makes the verses clear to you, and Allah is All-Knowing, All-Wise.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يُحِبُّونَ أَن تَشِيعَ الْفَٰحِشَةُ فِي الَّذِينَ ءَامَنُواْ لَهُمْ عَذَابٌ أَلِيمٌ فِي الدُّنْيَا وَالْأخِرَةِ وَاللَّهُ يَعْلَمُ وَأَنتُمْ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love that indecency should spread among the believers will have a painful punishment in this world and the Hereafter. Allah knows and you do not know.</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فَضْلُ اللَّهِ عَلَيْكُمْ وَرَحْمَتُهُ وَأَنَّ اللَّهَ 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for Allah's favour and mercy on you, and that Allah is Kind, Most Merciful, He would have punished you at once.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25880"/>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تَتَّبِعُواْ خُطُوَٰتِ الشَّيْطَٰنِ وَمَن يَتَّبِعْ خُطُوَٰتِ الشَّيْطَٰنِ فَإِنَّهُ يَأْمُرُ بِالْفَحْشَآءِ وَالْمُنكَرِ وَلَوْلَا فَضْلُ اللَّهِ عَلَيْكُمْ وَرَحْمَتُهُ مَا زَكَىٰ مِنكُم مِّنْ أَحَدٍ أَبَدًا وَلَٰكِنَّ اللَّهَ يُزَكِّي مَن يَشَآءُ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follow the footsteps of Satan. Whoever follows them, he commands shameful and evil deeds. If not for Allah's favour and mercy on you, none of you would ever have been purified, but Allah purifies whom He wills. Allah is All-Hearing, All-Knowing.</a:t>
            </a:r>
            <a:endParaRPr lang="en-US" sz="3000" dirty="0"/>
          </a:p>
        </p:txBody>
      </p:sp>
      <p:sp>
        <p:nvSpPr>
          <p:cNvPr id="9" name="Shape 7"/>
          <p:cNvSpPr/>
          <p:nvPr/>
        </p:nvSpPr>
        <p:spPr>
          <a:xfrm>
            <a:off x="1444752" y="3989070"/>
            <a:ext cx="8641080" cy="0"/>
          </a:xfrm>
          <a:prstGeom prst="line">
            <a:avLst/>
          </a:prstGeom>
          <a:noFill/>
          <a:ln w="9525">
            <a:solidFill>
              <a:schemeClr val="accent2"/>
            </a:solidFill>
            <a:prstDash val="dash"/>
          </a:ln>
        </p:spPr>
      </p:sp>
      <p:sp>
        <p:nvSpPr>
          <p:cNvPr id="10" name="Shape 8"/>
          <p:cNvSpPr/>
          <p:nvPr/>
        </p:nvSpPr>
        <p:spPr>
          <a:xfrm>
            <a:off x="713232" y="4087368"/>
            <a:ext cx="548640" cy="548640"/>
          </a:xfrm>
          <a:prstGeom prst="star8">
            <a:avLst/>
          </a:prstGeom>
          <a:solidFill>
            <a:schemeClr val="accent2"/>
          </a:solidFill>
          <a:ln/>
        </p:spPr>
      </p:sp>
      <p:sp>
        <p:nvSpPr>
          <p:cNvPr id="11" name="Shape 9"/>
          <p:cNvSpPr/>
          <p:nvPr/>
        </p:nvSpPr>
        <p:spPr>
          <a:xfrm>
            <a:off x="822960" y="41970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873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406908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يَأْتَلِ أُوْلُواْ الْفَضْلِ مِنكُمْ وَالسَّعَةِ أَن يُؤْتُواْ أُوْلِي الْقُرْبَىٰ وَالْمَسَٰكِينَ وَالْمُهَٰجِرِينَ فِي سَبِيلِ اللَّهِ وَلْيَعْفُواْ وَلْيَصْفَحُواْ أَلَا تُحِبُّونَ أَن يَغْفِرَ اللَّهُ لَكُمْ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not those of virtue and wealth among you swear not to give to their relatives, the poor and the emigrants. Let them pardon and overlook. Do you not love that Allah should forgive you? Allah is Forgiving, Most Merciful. So Abu Bakr said: Yes, by Allah! and resumed his spending on Mistah.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يَرْمُونَ الْمُحْصَنَٰتِ الْغَٰفِلَٰتِ الْمُؤْمِنَٰتِ لُعِنُواْ فِي الدُّنْيَا وَالْأخِرَةِ وَلَهُمْ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accuse chaste, innocent, believing women of indecency are cursed in this world and the Hereafter, and they will have a great punishment,</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تَشْهَدُ عَلَيْهِمْ أَلْسِنَتُهُمْ وَأَيْدِيهِمْ وَأَرْجُلُهُم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their tongues, hands and feet will testify against them about what they used to do.</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يَوْمَئِذٍ يُوَفِّيهِمُ اللَّهُ دِينَهُمُ الْحَقَّ وَيَعْلَمُونَ أَنَّ اللَّهَ هُوَ الْحَقُّ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Allah will give them their just reward in full, and they will know that Allah is the Clear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الْخَبِيثَٰتُ لِلْخَبِيثِينَ وَالْخَبِيثُونَ لِلْخَبِيثَٰتِ وَالطَّيِّبَٰتُ لِلطَّيِّبِينَ وَالطَّيِّبُونَ لِلطَّيِّبَٰتِ أُوْلَـٰئِكَ مُبَرَّءُونَ مِمَّا يَقُولُونَ لَهُم مَّغْفِرَةٌ وَرِزْقٌ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Bad words and deeds suit bad people, and good ones suit good people. Those good people, like 'A'ishah, are innocent of what the liars say; they will have forgiveness and generous provision.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تَدْخُلُواْ بُيُوتًا غَيْرَ بُيُوتِكُمْ حَتَّىٰ تَسْتَأْنِسُواْ وَتُسَلِّمُواْ عَلَىٰ أَهْلِهَا ذَٰلِكُمْ خَيْرٌ لَّكُمْ لَعَلَّكُمْ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enter houses other than your own until you ask permission and greet their people. That is better for you, so that you may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لَّمْ تَجِدُواْ فِيهَآ أَحَدًا فَلَا تَدْخُلُوهَا حَتَّىٰ يُؤْذَنَ لَكُمْ وَإِن قِيلَ لَكُمُ ارْجِعُواْ فَارْجِعُواْ هُوَ أَزْكَىٰ لَكُمْ وَاللَّهُ بِمَا تَعْمَلُونَ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find no one in them, do not enter until you are given permission. If you are told: Go back, then go back; that is purer for you. Allah knows what you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عَلَيْكُمْ جُنَاحٌ أَن تَدْخُلُواْ بُيُوتًا غَيْرَ مَسْكُونَةٍ فِيهَا مَتَٰعٌ لَّكُمْ وَاللَّهُ يَعْلَمُ مَا تُبْدُونَ وَمَا تَكْتُمُونَ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sin on you in entering uninhabited buildings where you have some use, like inns and shops. Allah knows what you show and what you hide.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لِّلْمُؤْمِنِينَ يَغُضُّواْ مِنْ أَبْصَٰرِهِمْ وَيَحْفَظُواْ فُرُوجَهُمْ ذَٰلِكَ أَزْكَىٰ لَهُمْ إِنَّ اللَّهَ خَبِيرٌ بِمَا يَصْنَعُونَ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Tell the believing men to lower their gaze from what is forbidden and guard their chastity. That is purer for them. Allah is aware of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25880"/>
            <a:ext cx="10012680" cy="477774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لِّلْمُؤْمِنَٰتِ يَغْضُضْنَ مِنْ أَبْصَٰرِهِنَّ وَيَحْفَظْنَ فُرُوجَهُنَّ وَلَا يُبْدِينَ زِينَتَهُنَّ إِلَّا مَا ظَهَرَ مِنْهَا وَلْيَضْرِبْنَ بِخُمُرِهِنَّ عَلَىٰ جُيُوبِهِنَّ وَلَا يُبْدِينَ زِينَتَهُنَّ إِلَّا لِبُعُولَتِهِنَّ أَوْ ءَابَآئِهِنَّ أَوْ ءَابَآءِ بُعُولَتِهِنَّ أَوْ أَبْنَآئِهِنَّ أَوْ أَبْنَآءِ بُعُولَتِهِنَّ أَوْ إِخْوَٰنِهِنَّ أَوْ بَنِي إِخْوَٰنِهِنَّ أَوْ بَنِي أَخَوَٰتِهِنَّ أَوْ نِسَآئِهِنَّ أَوْ مَا مَلَكَتْ أَيْمَٰنُهُنَّ أَوِ التَّـٰبِعِينَ غَيْرِ أُوْلِي الْإِرْبَةِ مِنَ الرِّجَالِ أَوِ الطِّفْلِ الَّذِينَ لَمْ يَظْهَرُواْ عَلَىٰ عَوْرَٰتِ النِّسَآءِ وَلَا يَضْرِبْنَ بِأَرْجُلِهِنَّ لِيُعْلَمَ مَا يُخْفِينَ مِن زِينَتِهِنَّ وَتُوبُواْ إِلَى اللَّهِ جَمِيعًا أَيُّهَ الْمُؤْمِنُونَ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tell the believing women to lower their gaze, guard their chastity, and not show their adornment except what appears without intention. Let them draw their head coverings over their chests, and not show their adornment except to their husbands, their close relatives mentioned, women, or young children. Let them not stamp their feet to make known their hidden adornment. And all of you, O believers, turn to Allah in repentance so that you may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وَأَنكِحُواْ الْأَيَٰمَىٰ مِنكُمْ وَالصَّـٰلِحِينَ مِنْ عِبَادِكُمْ وَإِمَآئِكُمْ إِن يَكُونُواْ فُقَرَآءَ يُغْنِهِمُ اللَّهُ مِن فَضْلِهِ وَاللَّهُ وَٰسِعٌ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Marry those among you who are single, and the righteous among your male and female servants. If they are poor, Allah will make them rich from His favour. Allah is All-Encompassing,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25880"/>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وَلْيَسْتَعْفِفِ الَّذِينَ لَا يَجِدُونَ نِكَاحًا حَتَّىٰ يُغْنِيَهُمُ اللَّهُ مِن فَضْلِهِ وَالَّذِينَ يَبْتَغُونَ الْكِتَٰبَ مِمَّا مَلَكَتْ أَيْمَٰنُكُمْ فَكَاتِبُوهُمْ إِنْ عَلِمْتُمْ فِيهِمْ خَيْرًا وَءَاتُوهُم مِّن مَّالِ اللَّهِ الَّذِي ءَاتَىٰكُمْ وَلَا تُكْرِهُواْ فَتَيَٰتِكُمْ عَلَى الْبِغَآءِ إِنْ أَرَدْنَ تَحَصُّنًا لِّتَبْتَغُواْ عَرَضَ الْحَيَوٰةِ الدُّنْيَا وَمَن يُكْرِههُّنَّ فَإِنَّ اللَّهَ مِن بَعْدِ إِكْرَٰهِهِنَّ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those who cannot afford marriage keep themselves chaste until Allah makes them rich from His favour. Those servants who ask to buy their freedom, make an agreement with them if you know good in them, and give them from Allah's wealth. Do not force your servant girls into what is forbidden for the sake of money; whoever is forced, Allah is Forgiving and Merciful to her.</a:t>
            </a:r>
            <a:endParaRPr lang="en-US" sz="3000" dirty="0"/>
          </a:p>
        </p:txBody>
      </p:sp>
      <p:sp>
        <p:nvSpPr>
          <p:cNvPr id="9" name="Shape 7"/>
          <p:cNvSpPr/>
          <p:nvPr/>
        </p:nvSpPr>
        <p:spPr>
          <a:xfrm>
            <a:off x="1444752" y="4798314"/>
            <a:ext cx="8641080" cy="0"/>
          </a:xfrm>
          <a:prstGeom prst="line">
            <a:avLst/>
          </a:prstGeom>
          <a:noFill/>
          <a:ln w="9525">
            <a:solidFill>
              <a:schemeClr val="accent2"/>
            </a:solidFill>
            <a:prstDash val="dash"/>
          </a:ln>
        </p:spPr>
      </p:sp>
      <p:sp>
        <p:nvSpPr>
          <p:cNvPr id="10" name="Shape 8"/>
          <p:cNvSpPr/>
          <p:nvPr/>
        </p:nvSpPr>
        <p:spPr>
          <a:xfrm>
            <a:off x="713232" y="4896612"/>
            <a:ext cx="548640" cy="548640"/>
          </a:xfrm>
          <a:prstGeom prst="star8">
            <a:avLst/>
          </a:prstGeom>
          <a:solidFill>
            <a:schemeClr val="accent2"/>
          </a:solidFill>
          <a:ln/>
        </p:spPr>
      </p:sp>
      <p:sp>
        <p:nvSpPr>
          <p:cNvPr id="11" name="Shape 9"/>
          <p:cNvSpPr/>
          <p:nvPr/>
        </p:nvSpPr>
        <p:spPr>
          <a:xfrm>
            <a:off x="822960" y="500634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966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487832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أَنزَلْنَآ إِلَيْكُمْ ءَايَٰتٍ مُّبَيِّنَٰتٍ وَمَثَلًا مِّنَ الَّذِينَ خَلَوْاْ مِن قَبْلِكُمْ وَمَوْعِظَةً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to you clear verses, examples from the stories of nations before you, and advice for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نُورُ السَّمَٰوَٰتِ وَالْأَرْضِ مَثَلُ نُورِهِ كَمِشْكَوٰةٍ فِيهَا مِصْبَاحٌ الْمِصْبَاحُ فِي زُجَاجَةٍ الزُّجَاجَةُ كَأَنَّهَا كَوْكَبٌ دُرِّيٌّ يُوقَدُ مِن شَجَرَةٍ مُّبَٰرَكَةٍ زَيْتُونَةٍ لَّا شَرْقِيَّةٍ وَلَا غَرْبِيَّةٍ يَكَادُ زَيْتُهَا يُضِيءُ وَلَوْ لَمْ تَمْسَسْهُ نَارٌ نُّورٌ عَلَىٰ نُورٍ يَهْدِي اللَّهُ لِنُورِهِ مَن يَشَآءُ وَيَضْرِبُ اللَّهُ الْأَمْثَٰلَ لِلنَّاسِ وَاللَّهُ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Light of the heavens and the earth. The example of His light in the believer's heart is like a niche in a wall holding a lamp; the lamp is in a clear glass; the glass is like a shining, pearl-like star, lit from the oil of a blessed olive tree, neither of the east nor the west but getting the sun all day. Its oil would almost shine from its purity even if no fire touched it. Light upon light! Allah guides to His light whom He wills. Allah gives examples for people, and Allah knows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بُيُوتٍ أَذِنَ اللَّهُ أَن تُرْفَعَ وَيُذْكَرَ فِيهَا اسْمُهُ يُسَبِّحُ لَهُ فِيهَا بِالْغُدُوِّ وَالْأصَالِ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light is in houses of worship which Allah has commanded to be honoured and built and His name mentioned in them, where He is glorified morning and evening</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رِجَالٌ لَّا تُلْهِيهِمْ تِجَٰرَةٌ وَلَا بَيْعٌ عَن ذِكْرِ اللَّهِ وَإِقَامِ الصَّلَوٰةِ وَإِيتَآءِ الزَّكَوٰةِ يَخَافُونَ يَوْمًا تَتَقَلَّبُ فِيهِ الْقُلُوبُ وَالْأَبْصَٰرُ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men whom neither trade nor selling distracts from remembering Allah, establishing the prayer and giving the zakah. They fear a Day when hearts and eyes will be turned about,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لِيَجْزِيَهُمُ اللَّهُ أَحْسَنَ مَا عَمِلُواْ وَيَزِيدَهُم مِّن فَضْلِهِ وَاللَّهُ يَرْزُقُ مَن يَشَآءُ بِغَيْرِ 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reward them for the best of what they did and give them more from His favour. Allah provides for whom He wills without limit.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أَعْمَٰلُهُمْ كَسَرَابٍ بِقِيعَةٍ يَحْسَبُهُ الظَّمْـَٔانُ مَآءً حَتَّىٰ إِذَا جَآءَهُ لَمْ يَجِدْهُ شَيْـًٔا وَوَجَدَ اللَّهَ عِندَهُ فَوَفَّىٰهُ حِسَابَهُ وَاللَّهُ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disbelievers, their deeds are like a mirage in a flat desert, which the thirsty person thinks is water, until when he comes to it he finds nothing, but he finds Allah there, who pays him his account in full. Allah is swift in reckoning.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كَظُلُمَٰتٍ فِي بَحْرٍ لُّجِّيٍّ يَغْشَىٰهُ مَوْجٌ مِّن فَوْقِهِ مَوْجٌ مِّن فَوْقِهِ سَحَابٌ ظُلُمَٰتٌ بَعْضُهَا فَوْقَ بَعْضٍ إِذَآ أَخْرَجَ يَدَهُ لَمْ يَكَدْ يَرَىٰهَا وَمَن لَّمْ يَجْعَلِ اللَّهُ لَهُ نُورًا فَمَا لَهُ مِن نُّورٍ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their deeds are like darkness in a deep sea, covered by waves, above which are waves, above which are clouds: darkness upon darkness. When he holds out his hand, he can hardly see it. Whoever Allah gives no light has no light.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يُسَبِّحُ لَهُ مَن فِي السَّمَٰوَٰتِ وَالْأَرْضِ وَالطَّيْرُ صَـٰفَّـٰتٍ كُلٌّ قَدْ عَلِمَ صَلَاتَهُ وَتَسْبِيحَهُ وَاللَّهُ عَلِيمٌ بِمَا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everyone in the heavens and the earth glorifies Allah, and the birds with wings outspread? Each knows its prayer and glorification, and Allah knows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5750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مُلْكُ السَّمَٰوَٰتِ وَالْأَرْضِ وَإِلَى اللَّهِ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kingdom of the heavens and the earth, and to Allah is the return.</a:t>
            </a:r>
            <a:endParaRPr lang="en-US" sz="3000" dirty="0"/>
          </a:p>
        </p:txBody>
      </p:sp>
      <p:sp>
        <p:nvSpPr>
          <p:cNvPr id="9" name="Shape 7"/>
          <p:cNvSpPr/>
          <p:nvPr/>
        </p:nvSpPr>
        <p:spPr>
          <a:xfrm>
            <a:off x="1444752" y="2754630"/>
            <a:ext cx="8641080" cy="0"/>
          </a:xfrm>
          <a:prstGeom prst="line">
            <a:avLst/>
          </a:prstGeom>
          <a:noFill/>
          <a:ln w="9525">
            <a:solidFill>
              <a:schemeClr val="accent2"/>
            </a:solidFill>
            <a:prstDash val="dash"/>
          </a:ln>
        </p:spPr>
      </p:sp>
      <p:sp>
        <p:nvSpPr>
          <p:cNvPr id="10" name="Shape 8"/>
          <p:cNvSpPr/>
          <p:nvPr/>
        </p:nvSpPr>
        <p:spPr>
          <a:xfrm>
            <a:off x="713232" y="2987802"/>
            <a:ext cx="548640" cy="548640"/>
          </a:xfrm>
          <a:prstGeom prst="star8">
            <a:avLst/>
          </a:prstGeom>
          <a:solidFill>
            <a:schemeClr val="accent2"/>
          </a:solidFill>
          <a:ln/>
        </p:spPr>
      </p:sp>
      <p:sp>
        <p:nvSpPr>
          <p:cNvPr id="11" name="Shape 9"/>
          <p:cNvSpPr/>
          <p:nvPr/>
        </p:nvSpPr>
        <p:spPr>
          <a:xfrm>
            <a:off x="822960" y="309753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878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96951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يُزْجِي سَحَابًا ثُمَّ يُؤَلِّفُ بَيْنَهُ ثُمَّ يَجْعَلُهُ رُكَامًا فَتَرَى الْوَدْقَ يَخْرُجُ مِنْ خِلَٰلِهِ وَيُنَزِّلُ مِنَ السَّمَآءِ مِن جِبَالٍ فِيهَا مِن بَرَدٍ فَيُصِيبُ بِهِ مَن يَشَآءُ وَيَصْرِفُهُ عَن مَّن يَشَآءُ يَكَادُ سَنَا بَرْقِهِ يَذْهَبُ بِالْأَبْصَٰرِ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drives the clouds, then joins them together, then piles them up, and you see rain coming out from within them? He sends down hail from mountain-like clouds in the sky, striking with it whom He wills and turning it from whom He wills. The flash of its lightning almost takes away sight.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يُقَلِّبُ اللَّهُ الَّيْلَ وَالنَّهَارَ إِنَّ فِي ذَٰلِكَ لَعِبْرَةً لِّأُوْلِي 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alternates the night and the day. In that is a lesson for those with insight.</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خَلَقَ كُلَّ دَآبَّةٍ مِّن مَّآءٍ فَمِنْهُم مَّن يَمْشِي عَلَىٰ بَطْنِهِ وَمِنْهُم مَّن يَمْشِي عَلَىٰ رِجْلَيْنِ وَمِنْهُم مَّن يَمْشِي عَلَىٰ أَرْبَعٍ يَخْلُقُ اللَّهُ مَا يَشَآءُ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created every creature from water. Some of them walk on their bellies, like snakes; some walk on two legs, like people and birds; and some walk on four, like livestock. Allah creates what He wills. Allah has power over all things.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أَنزَلْنَآ ءَايَٰتٍ مُّبَيِّنَٰتٍ وَاللَّهُ يَهْدِي مَن يَشَآءُ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clear verses, and Allah guides whom He wills to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ءَامَنَّا بِاللَّهِ وَبِالرَّسُولِ وَأَطَعْنَا ثُمَّ يَتَوَلَّىٰ فَرِيقٌ مِّنْهُم مِّن بَعْدِ ذَٰلِكَ وَمَآ أُوْلَـٰئِكَ بِالْمُؤْمِنِينَ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say: We believe in Allah and the Messenger and we obey. Then a group of them turns away after that; they are not believers.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دُعُواْ إِلَى اللَّهِ وَرَسُولِهِ لِيَحْكُمَ بَيْنَهُمْ إِذَا فَرِيقٌ مِّنْهُم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called to Allah and His Messenger to judge between them, a group of them turns away.</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يَكُن لَّهُمُ الْحَقُّ يَأْتُواْ إِلَيْهِ مُذْعِنِينَ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the right is on their side, they come to him quickly and obediently.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3258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أَفِي قُلُوبِهِم مَّرَضٌ أَمِ ارْتَابُواْ أَمْ يَخَافُونَ أَن يَحِيفَ اللَّهُ عَلَيْهِمْ وَرَسُولُهُ بَلْ أُوْلَـٰئِكَ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there a disease of hypocrisy in their hearts, or do they doubt, or do they fear that Allah and His Messenger will wrong them? Rather, they are the wrongdoers.</a:t>
            </a:r>
            <a:endParaRPr lang="en-US" sz="3000" dirty="0"/>
          </a:p>
        </p:txBody>
      </p:sp>
      <p:sp>
        <p:nvSpPr>
          <p:cNvPr id="9" name="Shape 7"/>
          <p:cNvSpPr/>
          <p:nvPr/>
        </p:nvSpPr>
        <p:spPr>
          <a:xfrm>
            <a:off x="1444752" y="3170682"/>
            <a:ext cx="8641080" cy="0"/>
          </a:xfrm>
          <a:prstGeom prst="line">
            <a:avLst/>
          </a:prstGeom>
          <a:noFill/>
          <a:ln w="9525">
            <a:solidFill>
              <a:schemeClr val="accent2"/>
            </a:solidFill>
            <a:prstDash val="dash"/>
          </a:ln>
        </p:spPr>
      </p:sp>
      <p:sp>
        <p:nvSpPr>
          <p:cNvPr id="10" name="Shape 8"/>
          <p:cNvSpPr/>
          <p:nvPr/>
        </p:nvSpPr>
        <p:spPr>
          <a:xfrm>
            <a:off x="713232" y="3259836"/>
            <a:ext cx="548640" cy="548640"/>
          </a:xfrm>
          <a:prstGeom prst="star8">
            <a:avLst/>
          </a:prstGeom>
          <a:solidFill>
            <a:schemeClr val="accent2"/>
          </a:solidFill>
          <a:ln/>
        </p:spPr>
      </p:sp>
      <p:sp>
        <p:nvSpPr>
          <p:cNvPr id="11" name="Shape 9"/>
          <p:cNvSpPr/>
          <p:nvPr/>
        </p:nvSpPr>
        <p:spPr>
          <a:xfrm>
            <a:off x="822960" y="33695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598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2415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كَانَ قَوْلَ الْمُؤْمِنِينَ إِذَا دُعُواْ إِلَى اللَّهِ وَرَسُولِهِ لِيَحْكُمَ بَيْنَهُمْ أَن يَقُولُواْ سَمِعْنَا وَأَطَعْنَا وَأُوْلَـٰئِكَ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only words of the believers, when they are called to Allah and His Messenger to judge between them, are: We hear and we obey. They are the successful.</a:t>
            </a:r>
            <a:endParaRPr lang="en-US" sz="3000" dirty="0"/>
          </a:p>
        </p:txBody>
      </p:sp>
      <p:sp>
        <p:nvSpPr>
          <p:cNvPr id="14" name="Shape 12"/>
          <p:cNvSpPr/>
          <p:nvPr/>
        </p:nvSpPr>
        <p:spPr>
          <a:xfrm>
            <a:off x="1444752" y="5086350"/>
            <a:ext cx="8641080" cy="0"/>
          </a:xfrm>
          <a:prstGeom prst="line">
            <a:avLst/>
          </a:prstGeom>
          <a:noFill/>
          <a:ln w="9525">
            <a:solidFill>
              <a:schemeClr val="accent2"/>
            </a:solidFill>
            <a:prstDash val="dash"/>
          </a:ln>
        </p:spPr>
      </p:sp>
      <p:sp>
        <p:nvSpPr>
          <p:cNvPr id="15" name="Shape 13"/>
          <p:cNvSpPr/>
          <p:nvPr/>
        </p:nvSpPr>
        <p:spPr>
          <a:xfrm>
            <a:off x="713232" y="5175504"/>
            <a:ext cx="548640" cy="548640"/>
          </a:xfrm>
          <a:prstGeom prst="star8">
            <a:avLst/>
          </a:prstGeom>
          <a:solidFill>
            <a:schemeClr val="accent2"/>
          </a:solidFill>
          <a:ln/>
        </p:spPr>
      </p:sp>
      <p:sp>
        <p:nvSpPr>
          <p:cNvPr id="16" name="Shape 14"/>
          <p:cNvSpPr/>
          <p:nvPr/>
        </p:nvSpPr>
        <p:spPr>
          <a:xfrm>
            <a:off x="822960" y="528523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1755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515721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يُطِعِ اللَّهَ وَرَسُولَهُ وَيَخْشَ اللَّهَ وَيَتَّقْهِ فَأُوْلَـٰئِكَ هُمُ الْفَآئِزُونَ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obeys Allah and His Messenger, fears Allah and has taqwa of Him, they are the winners.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وَأَقْسَمُواْ بِاللَّهِ جَهْدَ أَيْمَٰنِهِمْ لَئِنْ أَمَرْتَهُمْ لَيَخْرُجُنَّ قُل لَّا تُقْسِمُواْ طَاعَةٌ مَّعْرُوفَةٌ إِنَّ اللَّهَ خَبِيرٌ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swore by Allah their strongest oaths that if you commanded them to go out for jihad, they would go. Say: Do not swear; what is wanted is real, known obedience. Allah is aware of what you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أَطِيعُواْ اللَّهَ وَأَطِيعُواْ الرَّسُولَ فَإِن تَوَلَّوْاْ فَإِنَّمَا عَلَيْهِ مَا حُمِّلَ وَعَلَيْكُم مَّا حُمِّلْتُمْ وَإِن تُطِيعُوهُ تَهْتَدُواْ وَمَا عَلَى الرَّسُولِ إِلَّا الْبَلَٰغُ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Obey Allah and obey the Messenger. If you turn away, he is only responsible for the duty of delivering, and you for the duty of obeying. If you obey him, you will be guided. The Messenger's duty is only to deliver clearly.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370457"/>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وَعَدَ اللَّهُ الَّذِينَ ءَامَنُواْ مِنكُمْ وَعَمِلُواْ الصَّـٰلِحَٰتِ لَيَسْتَخْلِفَنَّهُمْ فِي الْأَرْضِ كَمَا اسْتَخْلَفَ الَّذِينَ مِن قَبْلِهِمْ وَلَيُمَكِّنَنَّ لَهُمْ دِينَهُمُ الَّذِي ارْتَضَىٰ لَهُمْ وَلَيُبَدِّلَنَّهُم مِّن بَعْدِ خَوْفِهِمْ أَمْنًا يَعْبُدُونَنِي لَا يُشْرِكُونَ بِي شَيْـًٔا وَمَن كَفَرَ بَعْدَ ذَٰلِكَ فَأُوْلَـٰئِكَ هُمُ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promised those of you who believe and do good deeds that He will make them successors on earth as He made those before them, establish for them their religion which He has chosen for them, and replace their fear with safety. They worship Me and associate nothing with Me. Whoever disbelieves after that, they are the disobedient.</a:t>
            </a:r>
            <a:endParaRPr lang="en-US" sz="3000" dirty="0"/>
          </a:p>
        </p:txBody>
      </p:sp>
      <p:sp>
        <p:nvSpPr>
          <p:cNvPr id="9" name="Shape 7"/>
          <p:cNvSpPr/>
          <p:nvPr/>
        </p:nvSpPr>
        <p:spPr>
          <a:xfrm>
            <a:off x="1444752" y="4908042"/>
            <a:ext cx="8641080" cy="0"/>
          </a:xfrm>
          <a:prstGeom prst="line">
            <a:avLst/>
          </a:prstGeom>
          <a:noFill/>
          <a:ln w="9525">
            <a:solidFill>
              <a:schemeClr val="accent2"/>
            </a:solidFill>
            <a:prstDash val="dash"/>
          </a:ln>
        </p:spPr>
      </p:sp>
      <p:sp>
        <p:nvSpPr>
          <p:cNvPr id="10" name="Shape 8"/>
          <p:cNvSpPr/>
          <p:nvPr/>
        </p:nvSpPr>
        <p:spPr>
          <a:xfrm>
            <a:off x="713232" y="5071491"/>
            <a:ext cx="548640" cy="548640"/>
          </a:xfrm>
          <a:prstGeom prst="star8">
            <a:avLst/>
          </a:prstGeom>
          <a:solidFill>
            <a:schemeClr val="accent2"/>
          </a:solidFill>
          <a:ln/>
        </p:spPr>
      </p:sp>
      <p:sp>
        <p:nvSpPr>
          <p:cNvPr id="11" name="Shape 9"/>
          <p:cNvSpPr/>
          <p:nvPr/>
        </p:nvSpPr>
        <p:spPr>
          <a:xfrm>
            <a:off x="822960" y="5181219"/>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5071491"/>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5053203"/>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وَأَقِيمُواْ الصَّلَوٰةَ وَءَاتُواْ الزَّكَوٰةَ وَأَطِيعُواْ الرَّسُولَ 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Establish the prayer, give the zakah and obey the Messenger so that you may receive mercy.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تَحْسَبَنَّ الَّذِينَ كَفَرُواْ مُعْجِزِينَ فِي الْأَرْضِ وَمَأْوَىٰهُمُ النَّارُ وَلَبِئْسَ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Never think the disbelievers can escape Allah's punishment on earth. Their home is the Fire, and what an evil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لِيَسْتَـْٔذِنكُمُ الَّذِينَ مَلَكَتْ أَيْمَٰنُكُمْ وَالَّذِينَ لَمْ يَبْلُغُواْ الْحُلُمَ مِنكُمْ ثَلَٰثَ مَرَّـٰتٍ مِّن قَبْلِ صَلَوٰةِ الْفَجْرِ وَحِينَ تَضَعُونَ ثِيَابَكُم مِّنَ الظَّهِيرَةِ وَمِن بَعْدِ صَلَوٰةِ الْعِشَآءِ ثَلَٰثُ عَوْرَٰتٍ لَّكُمْ لَيْسَ عَلَيْكُمْ وَلَا عَلَيْهِمْ جُنَاحٌ بَعْدَهُنَّ طَوَّـٰفُونَ عَلَيْكُم بَعْضُكُمْ عَلَىٰ بَعْضٍ كَذَٰلِكَ يُبَيِّنُ اللَّهُ لَكُمُ الْأيَٰتِ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let your servants and children who have not reached puberty ask your permission three times before coming in to you: before the Fajr prayer, when you take off your outer clothes at midday, and after the 'Isha' prayer. These are three times of privacy for you. At other times there is no blame on you or them in coming and going among you. In this way Allah makes the verses clear to you, and Allah is All-Knowing,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بَلَغَ الْأَطْفَٰلُ مِنكُمُ الْحُلُمَ فَلْيَسْتَـْٔذِنُواْ كَمَا اسْتَـْٔذَنَ الَّذِينَ مِن قَبْلِهِمْ كَذَٰلِكَ يُبَيِّنُ اللَّهُ لَكُمْ ءَايَٰتِهِ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your children reach puberty, let them ask permission at all times, as the older ones do. In this way Allah makes His verses clear to you, and Allah is All-Knowing, All-Wise.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وَالْقَوَٰعِدُ مِنَ النِّسَآءِ الَّـٰتِي لَا يَرْجُونَ نِكَاحًا فَلَيْسَ عَلَيْهِنَّ جُنَاحٌ أَن يَضَعْنَ ثِيَابَهُنَّ غَيْرَ مُتَبَرِّجَٰتٍ بِزِينَةٍ وَأَن يَسْتَعْفِفْنَ خَيْرٌ لَّهُنَّ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Elderly women who no longer hope to marry have no sin in setting aside some of their outer garments, like a cloak, without showing off adornment, but keeping modest is better for them. Allah is All-Hearing,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325880"/>
            <a:ext cx="10012680" cy="503834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عَلَى الْأَعْمَىٰ حَرَجٌ وَلَا عَلَى الْأَعْرَجِ حَرَجٌ وَلَا عَلَى الْمَرِيضِ حَرَجٌ وَلَا عَلَىٰ أَنفُسِكُمْ أَن تَأْكُلُواْ مِن بُيُوتِكُمْ أَوْ بُيُوتِ ءَابَآئِكُمْ أَوْ بُيُوتِ أُمَّهَٰتِكُمْ أَوْ بُيُوتِ إِخْوَٰنِكُمْ أَوْ بُيُوتِ أَخَوَٰتِكُمْ أَوْ بُيُوتِ أَعْمَٰمِكُمْ أَوْ بُيُوتِ عَمَّـٰتِكُمْ أَوْ بُيُوتِ أَخْوَٰلِكُمْ أَوْ بُيُوتِ خَٰلَٰتِكُمْ أَوْ مَا مَلَكْتُم مَّفَاتِحَهُ أَوْ صَدِيقِكُمْ لَيْسَ عَلَيْكُمْ جُنَاحٌ أَن تَأْكُلُواْ جَمِيعًا أَوْ أَشْتَاتًا فَإِذَا دَخَلْتُم بُيُوتًا فَسَلِّمُواْ عَلَىٰ أَنفُسِكُمْ تَحِيَّةً مِّنْ عِندِ اللَّهِ مُبَٰرَكَةً طَيِّبَةً كَذَٰلِكَ يُبَيِّنُ اللَّهُ لَكُمُ الْأيَٰتِ 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blame on the blind, the lame or the sick for leaving what they cannot do, nor on you to eat from your own houses, or the houses of your fathers, mothers, brothers, sisters, paternal uncles and aunts, maternal uncles and aunts, or houses you are trusted to look after, or your friend's house. There is no blame on you whether you eat together or separately. When you enter houses, greet those inside with a blessed, good greeting from Allah. In this way Allah makes the verses clear to you so that you may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الْمُؤْمِنُونَ الَّذِينَ ءَامَنُواْ بِاللَّهِ وَرَسُولِهِ وَإِذَا كَانُواْ مَعَهُ عَلَىٰ أَمْرٍ جَامِعٍ لَّمْ يَذْهَبُواْ حَتَّىٰ يَسْتَـْٔذِنُوهُ إِنَّ الَّذِينَ يَسْتَـْٔذِنُونَكَ أُوْلَـٰئِكَ الَّذِينَ يُؤْمِنُونَ بِاللَّهِ وَرَسُولِهِ فَإِذَا اسْتَـْٔذَنُوكَ لِبَعْضِ شَأْنِهِمْ فَأْذَن لِّمَن شِئْتَ مِنْهُمْ وَاسْتَغْفِرْ لَهُمُ اللَّهَ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true believers are those who believe in Allah and His Messenger, and when they are with him on a matter that brings them together, like a meeting for consultation, they do not leave until they ask his permission. Those who ask your permission are the true believers. When they ask your permission for some need of theirs, give permission to whom you wish and ask Allah's forgiveness for them.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تَجْعَلُواْ دُعَآءَ الرَّسُولِ بَيْنَكُمْ كَدُعَآءِ بَعْضِكُم بَعْضًا قَدْ يَعْلَمُ اللَّهُ الَّذِينَ يَتَسَلَّلُونَ مِنكُمْ لِوَاذًا فَلْيَحْذَرِ الَّذِينَ يُخَالِفُونَ عَنْ أَمْرِهِ أَن تُصِيبَهُمْ فِتْنَةٌ أَوْ يُصِيبَهُمْ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call the Messenger by his name as you call one another; say: O Messenger of Allah. Allah knows those who slip away from the gathering secretly, hiding behind others. So let those who go against his command beware that a trial or a painful punishment may strike them.</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 لِلَّهِ مَا فِي السَّمَٰوَٰتِ وَالْأَرْضِ قَدْ يَعْلَمُ مَآ أَنتُمْ عَلَيْهِ وَيَوْمَ يُرْجَعُونَ إِلَيْهِ فَيُنَبِّئُهُم بِمَا عَمِلُواْ وَاللَّهُ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to Allah belongs whatever is in the heavens and the earth. He knows what state you are in, and on the Day they are returned to Him, He will tell them what they did. Allah knows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Al-Mu'minun</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118 verses • The Believers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'Umar (may Allah be pleased with him) said: When revelation came to the Prophet (peace be upon him), a sound like the humming of bees was heard near his face. One day revelation came, and when it ended he said: "Ten verses have been sent down to me; whoever lives by them will enter Paradise." Then he recited “The believers have truly succeeded” to the end of ten verses (Tirmidhi and Ahmad).</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qualities of the successful believers, the stages of human creation, Allah's blessings, the stories of the messengers with their peoples, those who hurry to good deeds, proofs of tawhid, and the regret of the disbelievers on the Day of Resurrection.</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أَفْلَحَ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have truly succeeded,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هُمْ فِي صَلَاتِهِمْ خَٰشِعُونَ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are humble in their prayer, with heart and body,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عَنِ اللَّغْوِ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turn away from vain talk and useless actions,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لِلزَّكَوٰةِ 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give zakah and purify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لِفُرُوجِهِمْ حَٰفِظُونَ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guard their chastity from what is forbidden,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عَلَىٰ أَزْوَٰجِهِمْ أَوْ مَا مَلَكَتْ أَيْمَٰنُهُمْ فَإِنَّهُمْ غَيْرُ مَلُومِينَ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with their spouses or those their right hands possess, for then they are not blamed.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ابْتَغَىٰ وَرَآءَ ذَٰلِكَ فَأُوْلَـٰئِكَ هُمُ الْعَادُونَ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seeks beyond that, they are the ones who overstep the lawful.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لِأَمَٰنَٰتِهِمْ وَعَهْدِهِمْ رَٰعُونَ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keep their trusts and promises,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عَلَىٰ صَلَوَٰتِهِمْ يُحَافِظُونَ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guard their prayers at their times.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هُمُ الْوَٰرِثُونَ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inheritors,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يَرِثُونَ الْفِرْدَوْسَ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will inherit Al-Firdaws, the highest Paradise, staying there forever.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خَلَقْنَا الْإِنسَٰنَ مِن سُلَٰلَةٍ مِّن 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Adam from an extract of clay.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جَعَلْنَٰهُ نُطْفَةً فِي قَرَارٍ مَّكِينٍ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made his descendants a drop of fluid in a safe resting place, the womb.</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خَلَقْنَا النُّطْفَةَ عَلَقَةً فَخَلَقْنَا الْعَلَقَةَ مُضْغَةً فَخَلَقْنَا الْمُضْغَةَ عِظَٰمًا فَكَسَوْنَا الْعِظَٰمَ لَحْمًا ثُمَّ أَنشَأْنَٰهُ خَلْقًا ءَاخَرَ فَتَبَارَكَ اللَّهُ أَحْسَنُ الْخَٰلِقِينَ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made the drop into a clot, then the clot into a lump of flesh, then the lump into bones, then clothed the bones with flesh, then brought it into being as another creation by breathing the soul into it. So blessed is Allah, the best of creators.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إِنَّكُم بَعْدَ ذَٰلِكَ لَمَيِّتُونَ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that you will surely die.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إِنَّكُمْ يَوْمَ الْقِيَٰمَةِ تُبْعَثُونَ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on the Day of Resurrection you will be raised for the Reckoning.</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خَلَقْنَا فَوْقَكُمْ سَبْعَ طَرَآئِقَ وَمَا كُنَّا عَنِ الْخَلْقِ 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above you seven heavens, and We are never unaware of creation.</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وَأَنزَلْنَا مِنَ السَّمَآءِ مَآءً بِقَدَرٍ فَأَسْكَنَّـٰهُ فِي الْأَرْضِ وَإِنَّا عَلَىٰ ذَهَابٍ بِهِ لَقَٰدِرُونَ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down water from the sky in measure as needed and settled it in the earth, and We are able to take it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فَأَنشَأْنَا لَكُم بِهِ جَنَّـٰتٍ مِّن نَّخِيلٍ وَأَعْنَٰبٍ لَّكُمْ فِيهَا فَوَٰكِهُ كَثِيرَةٌ وَمِنْهَا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it We produced for you gardens of palm trees and grapevines, in which you have many fruits, and from which you eat,</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وَشَجَرَةً تَخْرُجُ مِن طُورِ سَيْنَآءَ تَنبُتُ بِالدُّهْنِ وَصِبْغٍ لِّلْأكِلِينَ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 tree that grows from Mount Sinai, the olive, producing oil and a relish for those who eat.</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لَكُمْ فِي الْأَنْعَٰمِ لَعِبْرَةً نُّسْقِيكُم مِّمَّا فِي بُطُونِهَا وَلَكُمْ فِيهَا مَنَٰفِعُ كَثِيرَةٌ وَمِنْهَا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livestock there is a lesson for you. We give you to drink of the milk in their bellies, you have many benefits in them, and from them you 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وَعَلَيْهَا وَعَلَى الْفُلْكِ تُحْمَلُونَ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on camels and on ships you are carried.</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نُوحًا إِلَىٰ قَوْمِهِ فَقَالَ يَٰقَوْمِ اعْبُدُواْ اللَّهَ مَا لَكُم مِّنْ إِلَٰهٍ غَيْرُهُ أَفَلَا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Nuh to his people, and he said: O my people, worship Allah; you have no god but Him. Will you not have taqwa?</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 الْمَلَؤُاْ الَّذِينَ كَفَرُواْ مِن قَوْمِهِ مَا هَٰذَآ إِلَّا بَشَرٌ مِّثْلُكُمْ يُرِيدُ أَن يَتَفَضَّلَ عَلَيْكُمْ وَلَوْ شَآءَ اللَّهُ لَأَنزَلَ مَلَـٰئِكَةً مَّا سَمِعْنَا بِهَٰذَا فِي ءَابَآئِنَا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disbelieving chiefs of his people said: This is only a human like you who wants to rule over you. If Allah had willed, He would have sent down angels. We never heard of this from our forefathers.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32888"/>
            <a:ext cx="548640" cy="548640"/>
          </a:xfrm>
          <a:prstGeom prst="star8">
            <a:avLst/>
          </a:prstGeom>
          <a:solidFill>
            <a:schemeClr val="accent2"/>
          </a:solidFill>
          <a:ln/>
        </p:spPr>
      </p:sp>
      <p:sp>
        <p:nvSpPr>
          <p:cNvPr id="6" name="Shape 4"/>
          <p:cNvSpPr/>
          <p:nvPr/>
        </p:nvSpPr>
        <p:spPr>
          <a:xfrm>
            <a:off x="822960" y="264261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3288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251460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هُوَ إِلَّا رَجُلٌ بِهِ جِنَّةٌ فَتَرَبَّصُواْ بِهِ حَتَّىٰ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only a man possessed by madness, so wait and watch him for a while.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90906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انصُرْنِي بِمَا 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My Lord, help me because they deny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فَأَوْحَيْنَآ إِلَيْهِ أَنِ اصْنَعِ الْفُلْكَ بِأَعْيُنِنَا وَوَحْيِنَا فَإِذَا جَآءَ أَمْرُنَا وَفَارَ التَّنُّورُ فَاسْلُكْ فِيهَا مِن كُلٍّ زَوْجَيْنِ اثْنَيْنِ وَأَهْلَكَ إِلَّا مَن سَبَقَ عَلَيْهِ الْقَوْلُ مِنْهُمْ وَلَا تُخَٰطِبْنِي فِي الَّذِينَ ظَلَمُواْ إِنَّهُم مُّغْرَقُونَ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revealed to him: Build the ark under Our care and teaching. When Our command comes and water gushes from the oven, load into it a pair of every kind, male and female, and your family, except those against whom the word has gone. And do not ask Me to save the wrongdoers; they will be drowned.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اسْتَوَيْتَ أَنتَ وَمَن مَّعَكَ عَلَى الْفُلْكِ فَقُلِ الْحَمْدُ لِلَّهِ الَّذِي نَجَّىٰنَا مِنَ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and those with you have settled on the ark, say: All praise is for Allah, who saved us from the wrongdoing people.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رَّبِّ أَنزِلْنِي مُنزَلًا مُّبَارَكًا وَأَنتَ خَيْرُ الْمُنزِلِينَ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My Lord, let me land at a blessed landing place; You are the best of those who bring to land.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لَأيَٰتٍ وَإِن كُنَّا لَمُبْتَلِينَ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are signs, and We always test Our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أَنشَأْنَا مِن بَعْدِهِمْ قَرْنًا ءَاخَرِينَ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the people of Nuh We raised another generation; it is said they were the people of 'Ad.</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فَأَرْسَلْنَا فِيهِمْ رَسُولًا مِّنْهُمْ أَنِ اعْبُدُواْ اللَّهَ مَا لَكُم مِّنْ إِلَٰهٍ غَيْرُهُ أَفَلَا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among them a messenger from themselves: Worship Allah; you have no god but Him. Will you not have taqwa?</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الْمَلَأُ مِن قَوْمِهِ الَّذِينَ كَفَرُواْ وَكَذَّبُواْ بِلِقَآءِ الْأخِرَةِ وَأَتْرَفْنَٰهُمْ فِي الْحَيَوٰةِ الدُّنْيَا مَا هَٰذَآ إِلَّا بَشَرٌ مِّثْلُكُمْ يَأْكُلُ مِمَّا تَأْكُلُونَ مِنْهُ وَيَشْرَبُ مِمَّا تَشْرَبُونَ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disbelieving chiefs of his people who denied the Hereafter, whom We had given plenty in this world, said: This is only a human like you; he eats what you eat and drinks what you drink.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أَطَعْتُم بَشَرًا مِّثْلَكُمْ إِنَّكُمْ إِذًا 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obey a human like yourselves, you will surely be losers.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أَيَعِدُكُمْ أَنَّكُمْ إِذَا مِتُّمْ وَكُنتُمْ تُرَابًا وَعِظَٰمًا أَنَّكُم مُّخْرَجُونَ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he promise you that when you have died and become dust and bones, you will be brought out of your graves?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هَيْهَاتَ هَيْهَاتَ لِمَا تُوعَدُونَ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Far, far away is what you are promised!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هِيَ إِلَّا حَيَاتُنَا الدُّنْيَا نَمُوتُ وَنَحْيَا وَمَا نَحْنُ بِمَبْعُوثِينَ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nothing but our life in this world; some die and others live, and we will not be raised.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هُوَ إِلَّا رَجُلٌ افْتَرَىٰ عَلَى اللَّهِ كَذِبًا وَمَا نَحْنُ لَهُ بِمُؤْمِنِينَ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only a man who has made up a lie about Allah, and we will not believe him.</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انصُرْنِي بِمَا 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messenger said: My Lord, help me because they deny me.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عَمَّا قَلِيلٍ لَّيُصْبِحُنَّ نَٰدِمِينَ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In a little while they will surely regret it.</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فَأَخَذَتْهُمُ الصَّيْحَةُ بِالْحَقِّ فَجَعَلْنَٰهُمْ غُثَآءً فَبُعْدًا لِّلْقَوْمِ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Blast seized them justly, and We made them like scum carried by a flood. So away with the wrongdoing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أَنشَأْنَا مِن بَعْدِهِمْ قُرُونًا ءَاخَرِينَ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them We raised other generations.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6769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تَسْبِقُ مِنْ أُمَّةٍ أَجَلَهَا وَمَا يَسْتَـْٔخِرُونَ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nation can come before its term or delay it.</a:t>
            </a:r>
            <a:endParaRPr lang="en-US" sz="3000" dirty="0"/>
          </a:p>
        </p:txBody>
      </p:sp>
      <p:sp>
        <p:nvSpPr>
          <p:cNvPr id="14" name="Shape 12"/>
          <p:cNvSpPr/>
          <p:nvPr/>
        </p:nvSpPr>
        <p:spPr>
          <a:xfrm>
            <a:off x="1444752" y="3803904"/>
            <a:ext cx="8641080" cy="0"/>
          </a:xfrm>
          <a:prstGeom prst="line">
            <a:avLst/>
          </a:prstGeom>
          <a:noFill/>
          <a:ln w="9525">
            <a:solidFill>
              <a:schemeClr val="accent2"/>
            </a:solidFill>
            <a:prstDash val="dash"/>
          </a:ln>
        </p:spPr>
      </p:sp>
      <p:sp>
        <p:nvSpPr>
          <p:cNvPr id="15" name="Shape 13"/>
          <p:cNvSpPr/>
          <p:nvPr/>
        </p:nvSpPr>
        <p:spPr>
          <a:xfrm>
            <a:off x="713232" y="3984498"/>
            <a:ext cx="548640" cy="548640"/>
          </a:xfrm>
          <a:prstGeom prst="star8">
            <a:avLst/>
          </a:prstGeom>
          <a:solidFill>
            <a:schemeClr val="accent2"/>
          </a:solidFill>
          <a:ln/>
        </p:spPr>
      </p:sp>
      <p:sp>
        <p:nvSpPr>
          <p:cNvPr id="16" name="Shape 14"/>
          <p:cNvSpPr/>
          <p:nvPr/>
        </p:nvSpPr>
        <p:spPr>
          <a:xfrm>
            <a:off x="822960" y="409422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844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396621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أَرْسَلْنَا رُسُلَنَا تَتْرَا كُلَّ مَا جَآءَ أُمَّةً رَّسُولُهَا كَذَّبُوهُ فَأَتْبَعْنَا بَعْضَهُم بَعْضًا وَجَعَلْنَٰهُمْ أَحَادِيثَ فَبُعْدًا لِّقَوْمٍ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sent Our messengers one after another. Every time a messenger came to his nation, they denied him, so We destroyed them one after another and made them stories to be told. So away with a people who do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أَرْسَلْنَا مُوسَىٰ وَأَخَاهُ هَٰرُونَ بِـَٔايَٰتِنَا وَسُلْطَٰنٍ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sent Musa and his brother Harun with Our signs and clear proof</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فِرْعَوْنَ وَمَلَإِيْهِ فَاسْتَكْبَرُواْ وَكَانُواْ قَوْمًا عَالِينَ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Pharaoh and his chiefs, but they were arrogant and a haughty people.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فَقَالُواْ أَنُؤْمِنُ لِبَشَرَيْنِ مِثْلِنَا وَقَوْمُهُمَا لَنَا 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Should we believe two humans like us, when their people, the Children of Israel, are our obedient servants?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فَكَذَّبُوهُمَا فَكَانُواْ مِنَ الْمُهْلَكِينَ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denied them and were among those destroyed by drowning.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الْكِتَٰبَ لَعَلَّهُمْ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so that the Children of Israel might be guided.</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ابْنَ مَرْيَمَ وَأُمَّهُ ءَايَةً وَءَاوَيْنَٰهُمَآ إِلَىٰ رَبْوَةٍ ذَاتِ قَرَارٍ وَمَعِينٍ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'Isa son of Maryam and his mother a sign of Our power, and gave them shelter on a high, level place with flowing water.</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الرُّسُلُ كُلُواْ مِنَ الطَّيِّبَٰتِ وَاعْمَلُواْ صَٰلِحًا إِنِّي بِمَا تَعْمَلُونَ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messengers, eat from what is lawful and good and do good deeds. I know what you do.</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هَٰذِهِ أُمَّتُكُمْ أُمَّةً وَٰحِدَةً وَأَنَا رَبُّكُمْ فَاتَّقُونِ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religion of yours is one religion, tawhid, and I am your Lord, so have taqwa of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فَتَقَطَّعُواْ أَمْرَهُم بَيْنَهُمْ زُبُرًا كُلُّ حِزْبٍ بِمَا لَدَيْهِمْ فَرِحُونَ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followers split their religion into sects and books, each group rejoicing in what it has.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فَذَرْهُمْ فِي غَمْرَتِهِمْ حَتَّىٰ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leave them in their misguidance until the time of their destruction.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أَيَحْسَبُونَ أَنَّمَا نُمِدُّهُم بِهِ مِن مَّالٍ وَبَنِينَ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think that the wealth and sons We give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نُسَارِعُ لَهُمْ فِي الْخَيْرَٰتِ بَل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mean We are hurrying good things to them? Rather, it is leading them on, but they do not realise.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هُم مِّنْ خَشْيَةِ رَبِّهِم مُّشْفِقُونَ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are afraid out of awe of their Lord,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بِـَٔايَٰتِ رَبِّهِمْ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believe in their Lord's signs,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هُم بِرَبِّهِمْ لَا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do not associate anything with their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10462"/>
            <a:ext cx="548640" cy="548640"/>
          </a:xfrm>
          <a:prstGeom prst="star8">
            <a:avLst/>
          </a:prstGeom>
          <a:solidFill>
            <a:schemeClr val="accent2"/>
          </a:solidFill>
          <a:ln/>
        </p:spPr>
      </p:sp>
      <p:sp>
        <p:nvSpPr>
          <p:cNvPr id="6" name="Shape 4"/>
          <p:cNvSpPr/>
          <p:nvPr/>
        </p:nvSpPr>
        <p:spPr>
          <a:xfrm>
            <a:off x="822960" y="15201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104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392174"/>
            <a:ext cx="10012680" cy="177393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يُؤْتُونَ مَآ ءَاتَواْ وَّقُلُوبُهُمْ وَجِلَةٌ أَنَّهُمْ إِلَىٰ رَبِّهِمْ 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give what they give of charity and good deeds while their hearts fear it will not be accepted, because they will return to their Lord. 'A'ishah asked: Are these the ones who steal? The Prophet (peace be upon him) said: "No, they are the ones who fast, pray and give charity, and fear it will not be accepted from them" (Tirmidhi).</a:t>
            </a:r>
            <a:endParaRPr lang="en-US" sz="3000" dirty="0"/>
          </a:p>
        </p:txBody>
      </p:sp>
      <p:sp>
        <p:nvSpPr>
          <p:cNvPr id="9" name="Shape 7"/>
          <p:cNvSpPr/>
          <p:nvPr/>
        </p:nvSpPr>
        <p:spPr>
          <a:xfrm>
            <a:off x="1444752" y="3305556"/>
            <a:ext cx="8641080" cy="0"/>
          </a:xfrm>
          <a:prstGeom prst="line">
            <a:avLst/>
          </a:prstGeom>
          <a:noFill/>
          <a:ln w="9525">
            <a:solidFill>
              <a:schemeClr val="accent2"/>
            </a:solidFill>
            <a:prstDash val="dash"/>
          </a:ln>
        </p:spPr>
      </p:sp>
      <p:sp>
        <p:nvSpPr>
          <p:cNvPr id="10" name="Shape 8"/>
          <p:cNvSpPr/>
          <p:nvPr/>
        </p:nvSpPr>
        <p:spPr>
          <a:xfrm>
            <a:off x="713232" y="3490722"/>
            <a:ext cx="548640" cy="548640"/>
          </a:xfrm>
          <a:prstGeom prst="star8">
            <a:avLst/>
          </a:prstGeom>
          <a:solidFill>
            <a:schemeClr val="accent2"/>
          </a:solidFill>
          <a:ln/>
        </p:spPr>
      </p:sp>
      <p:sp>
        <p:nvSpPr>
          <p:cNvPr id="11" name="Shape 9"/>
          <p:cNvSpPr/>
          <p:nvPr/>
        </p:nvSpPr>
        <p:spPr>
          <a:xfrm>
            <a:off x="822960" y="360045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9072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47243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يُسَٰرِعُونَ فِي الْخَيْرَٰتِ وَهُمْ لَهَا سَٰبِقُونَ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hurry to good deeds, and they are first to reach them.</a:t>
            </a:r>
            <a:endParaRPr lang="en-US" sz="3000" dirty="0"/>
          </a:p>
        </p:txBody>
      </p:sp>
      <p:sp>
        <p:nvSpPr>
          <p:cNvPr id="14" name="Shape 12"/>
          <p:cNvSpPr/>
          <p:nvPr/>
        </p:nvSpPr>
        <p:spPr>
          <a:xfrm>
            <a:off x="1444752" y="4604004"/>
            <a:ext cx="8641080" cy="0"/>
          </a:xfrm>
          <a:prstGeom prst="line">
            <a:avLst/>
          </a:prstGeom>
          <a:noFill/>
          <a:ln w="9525">
            <a:solidFill>
              <a:schemeClr val="accent2"/>
            </a:solidFill>
            <a:prstDash val="dash"/>
          </a:ln>
        </p:spPr>
      </p:sp>
      <p:sp>
        <p:nvSpPr>
          <p:cNvPr id="15" name="Shape 13"/>
          <p:cNvSpPr/>
          <p:nvPr/>
        </p:nvSpPr>
        <p:spPr>
          <a:xfrm>
            <a:off x="713232" y="4789170"/>
            <a:ext cx="548640" cy="548640"/>
          </a:xfrm>
          <a:prstGeom prst="star8">
            <a:avLst/>
          </a:prstGeom>
          <a:solidFill>
            <a:schemeClr val="accent2"/>
          </a:solidFill>
          <a:ln/>
        </p:spPr>
      </p:sp>
      <p:sp>
        <p:nvSpPr>
          <p:cNvPr id="16" name="Shape 14"/>
          <p:cNvSpPr/>
          <p:nvPr/>
        </p:nvSpPr>
        <p:spPr>
          <a:xfrm>
            <a:off x="822960" y="489889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891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47708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نُكَلِّفُ نَفْسًا إِلَّا وُسْعَهَا وَلَدَيْنَا كِتَٰبٌ يَنطِقُ بِالْحَقِّ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do not burden any soul beyond its ability, and with Us is a record of deeds that speaks the truth, and they will not be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قُلُوبُهُمْ فِي غَمْرَةٍ مِّنْ هَٰذَا وَلَهُمْ أَعْمَٰلٌ مِّن دُونِ ذَٰلِكَ هُمْ لَهَا 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disbelievers' hearts are heedless of this Qur'an, and they have other evil deeds besides, which they keep doing,</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أَخَذْنَا مُتْرَفِيهِم بِالْعَذَابِ إِذَا هُمْ يَجْـَٔرُونَ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We seize their wealthy, pampered ones with punishment, they cry out for help.</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تَجْـَٔرُواْ الْيَوْمَ إِنَّكُم مِّنَّا لَا تُنصَرُونَ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cry out today; you will not be helped by Us.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كَانَتْ ءَايَٰتِي تُتْلَىٰ عَلَيْكُمْ فَكُنتُمْ عَلَىٰ أَعْقَٰبِكُمْ تَنكِصُونَ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verses used to be recited to you, but you would turn back on your heels,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مُسْتَكْبِرِينَ بِهِ سَٰمِرًا تَهْجُرُونَ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arrogant about the Sacred House, staying up at night around it saying ugly things about the Qur'an and the Prophet.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أَفَلَمْ يَدَّبَّرُواْ الْقَوْلَ أَمْ جَآءَهُم مَّا لَمْ يَأْتِ ءَابَآءَهُمُ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reflected on the Qur'an? Or has something come to them that did not come to their forefathers?</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لَمْ يَعْرِفُواْ رَسُولَهُمْ فَهُمْ لَهُ مُنكِرُونَ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did they not know their Messenger, his truthfulness and trustworthiness, so they reject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بِهِ جِنَّةٌ بَلْ جَآءَهُم بِالْحَقِّ وَأَكْثَرُهُمْ لِلْحَقِّ كَٰرِهُونَ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he is mad? Rather, he has brought them the truth, and most of them hate the truth.</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254660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اتَّبَعَ الْحَقُّ أَهْوَآءَهُمْ لَفَسَدَتِ السَّمَٰوَٰتُ وَالْأَرْضُ وَمَن فِيهِنَّ بَلْ أَتَيْنَٰهُم بِذِكْرِهِمْ فَهُمْ عَن ذِكْرِهِم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truth followed their desires, the heavens and the earth and everyone in them would be ruined. Rather, We have brought them the Qur'an, in which is their honour, but they turn away from their honour.</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تَسْـَٔلُهُمْ خَرْجًا فَخَرَاجُ رَبِّكَ خَيْرٌ وَهُوَ خَيْرُ الرَّـٰزِقِينَ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are you asking them for a payment for your call? Your Lord's provision is better, and He is the best of providers.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وَإِنَّكَ لَتَدْعُوهُمْ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surely calling them to a straight path.</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الَّذِينَ لَا يُؤْمِنُونَ بِالْأخِرَةِ عَنِ الصِّرَٰطِ لَنَٰكِبُونَ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believe in the Hereafter are turning away from the path.</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رَحِمْنَٰهُمْ وَكَشَفْنَا مَا بِهِم مِّن ضُرٍّ لَّلَجُّواْ فِي طُغْيَٰنِهِمْ يَعْمَهُونَ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We had mercy on them and removed their harm, they would persist in their rebellion, wandering blindly.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أَخَذْنَٰهُم بِالْعَذَابِ فَمَا اسْتَكَانُواْ لِرَبِّهِمْ وَمَا يَتَضَرَّعُونَ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seized them with punishment, like drought, but they did not humble themselves before their Lord or call on Him humbly,</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فَتَحْنَا عَلَيْهِم بَابًا ذَا عَذَابٍ شَدِيدٍ إِذَا هُمْ فِيهِ مُبْلِسُونَ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We open on them a gate of severe punishment, they are left in despair of all good.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أَنشَأَ لَكُمُ السَّمْعَ وَالْأَبْصَٰرَ وَالْأَفْـِٔدَةَ قَلِيلًا مَّا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for you hearing, sight and hearts. Little are you thankful.</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ذَرَأَكُمْ فِي الْأَرْضِ وَإِلَيْهِ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you and spread you across the earth, and to Him you will be gathered.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يُحْيِ وَيُمِيتُ وَلَهُ اخْتِلَٰفُ الَّيْلِ وَالنَّهَارِ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gives life and causes death, and His is the alternation of night and day. Will you not use your minds?</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قَالُواْ مِثْلَ مَا قَالَ الْأَوَّلُونَ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they said what the earlier deniers said.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أَءِذَا مِتْنَا وَكُنَّا تُرَابًا وَعِظَٰمًا أَءِنَّا لَمَبْعُوثُونَ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When we have died and become dust and bones, will we really be raised?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وُعِدْنَا نَحْنُ وَءَابَآؤُنَا هَٰذَا مِن قَبْلُ إِنْ هَٰذَآ إِلَّآ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and our fathers were promised this before. This is nothing but tales of the ancients.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لِّمَنِ الْأَرْضُ وَمَن فِيهَآ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whom do the earth and everyone in it belong, if you know?</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سَيَقُولُونَ لِلَّهِ قُلْ أَفَلَا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To Allah. Say: Then will you not take heed and worship Him alone?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رَّبُّ السَّمَٰوَٰتِ السَّبْعِ وَرَبُّ الْعَرْشِ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is the Lord of the seven heavens and the Lord of the Mighty Throne?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سَيَقُولُونَ لِلَّهِ قُلْ أَفَلَا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Allah. Say: Then will you not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بِيَدِهِ مَلَكُوتُ كُلِّ شَيْءٍ وَهُوَ يُجِيرُ وَلَا يُجَارُ عَلَيْهِ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In whose hand is the kingdom of everything, who protects whom He wills while no one can protect anyone from Him, if you know?</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سَيَقُولُونَ لِلَّهِ قُلْ فَأَنَّىٰ تُسْحَرُونَ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Allah. Say: Then how are you deceived away from the truth?</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أَتَيْنَٰهُم بِالْحَقِّ وَإِنَّهُمْ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We have brought them the truth, and they are lying in their shirk.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91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اتَّخَذَ اللَّهُ مِن وَلَدٍ وَمَا كَانَ مَعَهُ مِنْ إِلَٰهٍ إِذًا لَّذَهَبَ كُلُّ إِلَٰهٍ بِمَا خَلَقَ وَلَعَلَا بَعْضُهُمْ عَلَىٰ بَعْضٍ سُبْحَٰنَ اللَّهِ عَمَّا يَصِفُونَ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not taken a son, nor is there any god with Him. If there were, each god would have taken away what he created, and some would have overpowered others. Glory be to Allah above what they describe,</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 الْغَيْبِ وَالشَّهَٰدَةِ فَتَعَٰلَىٰ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Knower of the unseen and the seen. Exalted is He above what they associate with Him.</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رَّبِّ إِمَّا تُرِيَنِّي مَا يُوعَدُونَ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if You show me the punishment they are promised,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فَلَا تَجْعَلْنِي فِي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Lord, then do not put me among the wrongdoing people.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عَلَىٰ أَن نُّرِيَكَ مَا نَعِدُهُمْ لَقَٰدِرُونَ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are surely able to show you what We promise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ادْفَعْ بِالَّتِي هِيَ أَحْسَنُ السَّيِّئَةَ نَحْنُ أَعْلَمُ بِمَا يَصِفُونَ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Push away evil with what is best, like pardon and kindness. We know best what they describe.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رَّبِّ أَعُوذُ بِكَ مِنْ هَمَزَٰتِ الشَّيَٰطِينِ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My Lord, I seek refuge in You from the whispers and promptings of the devils,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وَأَعُوذُ بِكَ رَبِّ أَن يَحْضُرُونِ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seek refuge in You, my Lord, from their coming near me in any of my affairs.</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جَآءَ أَحَدَهُمُ الْمَوْتُ قَالَ رَبِّ ارْجِعُونِ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death comes to one of the disbelievers, he says: My Lord, send me back to the world,</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لَعَلِّي أَعْمَلُ صَٰلِحًا فِيمَا تَرَكْتُ كَلَّآ إِنَّهَا كَلِمَةٌ هُوَ قَآئِلُهَا وَمِن وَرَآئِهِم بَرْزَخٌ إِلَىٰ يَوْمِ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I may do good in what I left behind. No! It is only a word he says, with no benefit. Behind them is a barrier, the grave, until the Day they are raised.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نُفِخَ فِي الصُّورِ فَلَآ أَنسَابَ بَيْنَهُمْ يَوْمَئِذٍ وَلَا يَتَسَآءَلُونَ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Horn is blown, there will be no family ties between them that Day, nor will they ask about one another.</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ثَقُلَتْ مَوَٰزِينُهُ فَأُوْلَـٰئِكَ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whose good deeds are heavy, they are the successful.</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خَفَّتْ مَوَٰزِينُهُ فَأُوْلَـٰئِكَ الَّذِينَ خَسِرُواْ أَنفُسَهُمْ فِي جَهَنَّمَ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whose good deeds are light, they are the ones who have lost themselves, staying in Hell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104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تَلْفَحُ وُجُوهَهُمُ النَّارُ وَهُمْ فِيهَا كَٰلِحُونَ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Fire will burn their faces, and they will grimace in it with their lips drawn back.</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تَكُنْ ءَايَٰتِي تُتْلَىٰ عَلَيْكُمْ فَكُنتُم بِهَا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Were My verses not recited to you, and you used to deny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رَبَّنَا غَلَبَتْ عَلَيْنَا شِقْوَتُنَا وَكُنَّا قَوْمًا 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Our Lord, our misery overcame us, and we were a people astray.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أَخْرِجْنَا مِنْهَا فَإِنْ عُدْنَا فَإِنَّا 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bring us out of it; if we ever return to disbelief, we will truly be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اخْسَـُٔواْ فِيهَا وَلَا تُكَلِّمُونِ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Stay in it, humiliated, and do not speak to Me.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كَانَ فَرِيقٌ مِّنْ عِبَادِي يَقُولُونَ رَبَّنَآ ءَامَنَّا فَاغْفِرْ لَنَا وَارْحَمْنَا وَأَنتَ خَيْرُ الرَّـٰحِمِينَ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was a group of My believing servants who used to say: Our Lord, we believe, so forgive us and have mercy on us; You are the best of those who show mercy.</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فَاتَّخَذْتُمُوهُمْ سِخْرِيًّا حَتَّىٰ أَنسَوْكُمْ ذِكْرِي وَكُنتُم مِّنْهُمْ تَضْحَكُونَ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you took them as a joke, until mocking them made you forget My remembrance, and you used to laugh at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111 – 114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جَزَيْتُهُمُ الْيَوْمَ بِمَا صَبَرُواْ أَنَّهُمْ هُمُ الْفَآئِزُونَ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Today I have rewarded them for their patience; they are the winners.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كَمْ لَبِثْتُمْ فِي الْأَرْضِ عَدَدَ 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How many years did you stay on earth?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لَبِثْنَا يَوْمًا أَوْ بَعْضَ يَوْمٍ فَسْـَٔلِ الْعَآدِّينَ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We stayed a day or part of a day; ask those who keep count.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لَّبِثْتُمْ إِلَّا قَلِيلًا لَّوْ أَنَّكُمْ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say: You only stayed a little while, if only you had known.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115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أَفَحَسِبْتُمْ أَنَّمَا خَلَقْنَٰكُمْ عَبَثًا وَأَنَّكُمْ إِلَيْنَا لَا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you think that We created you without purpose and that you would not be returned to Us?</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فَتَعَٰلَى اللَّهُ الْمَلِكُ الْحَقُّ لَآ إِلَٰهَ إِلَّا هُوَ رَبُّ الْعَرْشِ الْكَرِيمِ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exalted is Allah, the True King. There is no god but Him, Lord of the Noble Throne.</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يَدْعُ مَعَ اللَّهِ إِلَٰهًا ءَاخَرَ لَا بُرْهَٰنَ لَهُ بِهِ فَإِنَّمَا حِسَابُهُ عِندَ رَبِّهِ إِنَّهُ لَا يُفْلِحُ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calls on another god with Allah, for which he has no proof, his reckoning is only with his Lord. The disbelievers will never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Al-Mu'minun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230118"/>
            <a:ext cx="548640" cy="548640"/>
          </a:xfrm>
          <a:prstGeom prst="star8">
            <a:avLst/>
          </a:prstGeom>
          <a:solidFill>
            <a:schemeClr val="accent2"/>
          </a:solidFill>
          <a:ln/>
        </p:spPr>
      </p:sp>
      <p:sp>
        <p:nvSpPr>
          <p:cNvPr id="6" name="Shape 4"/>
          <p:cNvSpPr/>
          <p:nvPr/>
        </p:nvSpPr>
        <p:spPr>
          <a:xfrm>
            <a:off x="822960" y="333984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رَّبِّ اغْفِرْ وَارْحَمْ وَأَنتَ خَيْرُ الرَّـٰحِمِينَ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My Lord, forgive and have mercy, and You are the best of those who show mercy.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assets18/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"My Lord, forgive and have mercy, and You are the best of those who show mercy." (Al-Mu'minun 23:118)</a:t>
            </a:r>
            <a:endParaRPr lang="en-US" sz="2100" dirty="0"/>
          </a:p>
        </p:txBody>
      </p:sp>
      <p:pic>
        <p:nvPicPr>
          <p:cNvPr id="5" name="Image 1" descr="assets18/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18 Tafsir EN">
  <a:themeElements>
    <a:clrScheme name="Juz 18 Tafsir EN">
      <a:dk1>
        <a:srgbClr val="282B22"/>
      </a:dk1>
      <a:lt1>
        <a:srgbClr val="FFFFFF"/>
      </a:lt1>
      <a:dk2>
        <a:srgbClr val="55691F"/>
      </a:dk2>
      <a:lt2>
        <a:srgbClr val="FAFBF4"/>
      </a:lt2>
      <a:accent1>
        <a:srgbClr val="55691F"/>
      </a:accent1>
      <a:accent2>
        <a:srgbClr val="C9A04A"/>
      </a:accent2>
      <a:accent3>
        <a:srgbClr val="6D8429"/>
      </a:accent3>
      <a:accent4>
        <a:srgbClr val="656A5C"/>
      </a:accent4>
      <a:accent5>
        <a:srgbClr val="EDF0DF"/>
      </a:accent5>
      <a:accent6>
        <a:srgbClr val="8A2F2A"/>
      </a:accent6>
      <a:hlink>
        <a:srgbClr val="6D8429"/>
      </a:hlink>
      <a:folHlink>
        <a:srgbClr val="656A5C"/>
      </a:folHlink>
    </a:clrScheme>
    <a:fontScheme name="Juz 18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Qad Aflaha — Simplified Tafsir from Ibn Kathir</dc:title>
  <dc:subject>PptxGenJS Presentation</dc:subject>
  <dc:creator>Qur'an Teacher</dc:creator>
  <cp:lastModifiedBy>Qur'an Teacher</cp:lastModifiedBy>
  <cp:revision>1</cp:revision>
  <dcterms:created xsi:type="dcterms:W3CDTF">2026-10-06T20:06:22Z</dcterms:created>
  <dcterms:modified xsi:type="dcterms:W3CDTF">2026-10-06T20:06:22Z</dcterms:modified>
</cp:coreProperties>
</file>