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Lst>
  <p:notesMasterIdLst>
    <p:notesMasterId r:id="rId8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28811e1-8bec-1a63-ae97-529867f89a49}">
          <p14:sldIdLst>
            <p14:sldId id="256"/>
            <p14:sldId id="257"/>
            <p14:sldId id="258"/>
          </p14:sldIdLst>
        </p14:section>
        <p14:section name="Surah Adh-Dhariyat" id="{df44f52e-71cf-03b5-6cfb-2ffe2f74a53b}">
          <p14:sldIdLst>
            <p14:sldId id="259"/>
            <p14:sldId id="260"/>
            <p14:sldId id="261"/>
            <p14:sldId id="262"/>
            <p14:sldId id="263"/>
            <p14:sldId id="264"/>
            <p14:sldId id="265"/>
            <p14:sldId id="266"/>
            <p14:sldId id="267"/>
          </p14:sldIdLst>
        </p14:section>
        <p14:section name="Surah Qaf" id="{79e582da-4c41-448b-52e0-16002f17c056}">
          <p14:sldIdLst>
            <p14:sldId id="268"/>
            <p14:sldId id="269"/>
            <p14:sldId id="270"/>
            <p14:sldId id="271"/>
            <p14:sldId id="272"/>
            <p14:sldId id="273"/>
            <p14:sldId id="274"/>
            <p14:sldId id="275"/>
            <p14:sldId id="276"/>
            <p14:sldId id="277"/>
            <p14:sldId id="278"/>
            <p14:sldId id="279"/>
            <p14:sldId id="280"/>
          </p14:sldIdLst>
        </p14:section>
        <p14:section name="Surah Al-Hujurat" id="{334d2d71-1229-4942-4a2c-2e526f1fbdd8}">
          <p14:sldIdLst>
            <p14:sldId id="281"/>
            <p14:sldId id="282"/>
            <p14:sldId id="283"/>
            <p14:sldId id="284"/>
            <p14:sldId id="285"/>
            <p14:sldId id="286"/>
            <p14:sldId id="287"/>
            <p14:sldId id="288"/>
            <p14:sldId id="289"/>
            <p14:sldId id="290"/>
          </p14:sldIdLst>
        </p14:section>
        <p14:section name="Surah Al-Fath" id="{0e729f8f-8f74-467f-5924-ebe2004b8119}">
          <p14:sldIdLst>
            <p14:sldId id="291"/>
            <p14:sldId id="292"/>
            <p14:sldId id="293"/>
            <p14:sldId id="294"/>
            <p14:sldId id="295"/>
            <p14:sldId id="296"/>
            <p14:sldId id="297"/>
            <p14:sldId id="298"/>
            <p14:sldId id="299"/>
            <p14:sldId id="300"/>
            <p14:sldId id="301"/>
            <p14:sldId id="302"/>
            <p14:sldId id="303"/>
            <p14:sldId id="304"/>
            <p14:sldId id="305"/>
            <p14:sldId id="306"/>
          </p14:sldIdLst>
        </p14:section>
        <p14:section name="Surah Muhammad" id="{98bdb422-eede-5081-aeb8-d532a3a030f8}">
          <p14:sldIdLst>
            <p14:sldId id="307"/>
            <p14:sldId id="308"/>
            <p14:sldId id="309"/>
            <p14:sldId id="310"/>
            <p14:sldId id="311"/>
            <p14:sldId id="312"/>
            <p14:sldId id="313"/>
            <p14:sldId id="314"/>
            <p14:sldId id="315"/>
            <p14:sldId id="316"/>
            <p14:sldId id="317"/>
            <p14:sldId id="318"/>
            <p14:sldId id="319"/>
            <p14:sldId id="320"/>
            <p14:sldId id="321"/>
            <p14:sldId id="322"/>
            <p14:sldId id="323"/>
          </p14:sldIdLst>
        </p14:section>
        <p14:section name="Surah Al-Ahqaf" id="{0c857b5c-abb5-4b18-820c-ba2f4e824f8a}">
          <p14:sldIdLst>
            <p14:sldId id="324"/>
            <p14:sldId id="325"/>
            <p14:sldId id="326"/>
            <p14:sldId id="327"/>
            <p14:sldId id="328"/>
            <p14:sldId id="329"/>
            <p14:sldId id="330"/>
            <p14:sldId id="331"/>
            <p14:sldId id="332"/>
            <p14:sldId id="333"/>
            <p14:sldId id="334"/>
            <p14:sldId id="335"/>
            <p14:sldId id="336"/>
            <p14:sldId id="337"/>
            <p14:sldId id="338"/>
            <p14:sldId id="339"/>
            <p14:sldId id="340"/>
            <p14:sldId id="341"/>
          </p14:sldIdLst>
        </p14:section>
        <p14:section name="Closing" id="{09aa801e-ce3d-4475-724a-c37a19a9285b}">
          <p14:sldIdLst>
            <p14:sldId id="34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notesMaster" Target="notesMasters/notesMaster1.xml"/><Relationship Id="rId90" Type="http://schemas.openxmlformats.org/officeDocument/2006/relationships/presProps" Target="presProps.xml"/><Relationship Id="rId91" Type="http://schemas.openxmlformats.org/officeDocument/2006/relationships/viewProps" Target="viewProps.xml"/><Relationship Id="rId92" Type="http://schemas.openxmlformats.org/officeDocument/2006/relationships/theme" Target="theme/theme1.xml"/><Relationship Id="rId9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begin with the first thirty verses of Surah Adh-Dhariyat and move back, surah by surah, until we reach Surah Al-Ahqaf. Inside each surah, the verses follow their order in the Mushaf.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What qualities of those with taqwa are mentioned in verses 16–19?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Who are the two angels who write a person's deeds? How should that affect what we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Mention three bad manners forbidden in verses 11 and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How did the last verse describe the Prophet (peace be upon him) and his Companions?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What are the four rivers of Paradise mentioned in verse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What did verse 15 command a person to do for his parents? What prayer is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26/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algn="ctr" indent="0" marL="0">
              <a:buNone/>
              <a:defRPr lang="en-US" sz="2400" b="1" dirty="0">
                <a:solidFill>
                  <a:schemeClr val="bg1"/>
                </a:solidFill>
                <a:latin typeface="Georgia" pitchFamily="34" charset="0"/>
                <a:ea typeface="Georgia" pitchFamily="34" charset="-122"/>
                <a:cs typeface="Georgia" pitchFamily="34" charset="-120"/>
              </a:defRPr>
            </a:lvl1pPr>
          </a:lstStyle>
          <a:p>
            <a:pPr algn="ctr" indent="0" marL="0">
              <a:buNone/>
            </a:pPr>
            <a:endParaRPr lang="en-US" sz="2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26/bg_intro.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26/bg_dark.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image" Target="../media/image-87-2.png"/><Relationship Id="rId3" Type="http://schemas.openxmlformats.org/officeDocument/2006/relationships/slideLayout" Target="../slideLayouts/slideLayout4.xml"/><Relationship Id="rId4" Type="http://schemas.openxmlformats.org/officeDocument/2006/relationships/notesSlide" Target="../notesSlides/notesSlide8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26/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txBox="1"/>
          <p:nvPr/>
        </p:nvSpPr>
        <p:spPr>
          <a:xfrm>
            <a:off x="731520" y="2468880"/>
            <a:ext cx="10728655" cy="1143000"/>
          </a:xfrm>
          <a:prstGeom prst="rect">
            <a:avLst/>
          </a:prstGeom>
          <a:noFill/>
          <a:ln/>
        </p:spPr>
        <p:txBody>
          <a:bodyPr wrap="square" lIns="0" tIns="0" rIns="0" bIns="0" rtlCol="0" anchor="ctr"/>
          <a:lstStyle/>
          <a:p>
            <a:pPr algn="ctr" indent="0" marL="0">
              <a:buNone/>
            </a:pPr>
            <a:r>
              <a:rPr lang="en-US" altLang="en-US" sz="5200" b="1" dirty="0">
                <a:solidFill>
                  <a:schemeClr val="bg1"/>
                </a:solidFill>
                <a:latin typeface="Georgia" pitchFamily="34" charset="0"/>
                <a:ea typeface="Georgia" pitchFamily="34" charset="-122"/>
                <a:cs typeface="Georgia" pitchFamily="34" charset="-120"/>
              </a:rPr>
              <a:t>Tafsir of Juz Al-Ahqaf</a:t>
            </a:r>
            <a:endParaRPr lang="en-US" sz="5200" dirty="0"/>
          </a:p>
        </p:txBody>
      </p:sp>
      <p:sp>
        <p:nvSpPr>
          <p:cNvPr id="4" name="Text 1"/>
          <p:cNvSpPr txBox="1"/>
          <p:nvPr/>
        </p:nvSpPr>
        <p:spPr>
          <a:xfrm>
            <a:off x="1097280" y="3657600"/>
            <a:ext cx="9997135" cy="502920"/>
          </a:xfrm>
          <a:prstGeom prst="rect">
            <a:avLst/>
          </a:prstGeom>
          <a:noFill/>
          <a:ln/>
        </p:spPr>
        <p:txBody>
          <a:bodyPr wrap="square" lIns="0" tIns="0" rIns="0" bIns="0" rtlCol="0" anchor="ctr"/>
          <a:lstStyle/>
          <a:p>
            <a:pPr algn="ctr" indent="0" marL="0">
              <a:buNone/>
            </a:pPr>
            <a:r>
              <a:rPr lang="en-US" altLang="en-US" sz="2200" b="1" dirty="0">
                <a:solidFill>
                  <a:schemeClr val="accent2"/>
                </a:solidFill>
                <a:latin typeface="Arial" pitchFamily="34" charset="0"/>
                <a:ea typeface="Arial" pitchFamily="34" charset="-122"/>
                <a:cs typeface="Arial" pitchFamily="34" charset="-120"/>
              </a:rPr>
              <a:t>A simplified explanation of every verse, drawn from the Tafsir of Imam Ibn Kathir</a:t>
            </a:r>
            <a:endParaRPr lang="en-US" sz="2200" dirty="0"/>
          </a:p>
        </p:txBody>
      </p:sp>
      <p:pic>
        <p:nvPicPr>
          <p:cNvPr id="5" name="Image 1" descr="assets26/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algn="ctr" indent="0" marL="0">
              <a:buNone/>
            </a:pPr>
            <a:r>
              <a:rPr lang="en-US" altLang="en-US" sz="1700" dirty="0">
                <a:solidFill>
                  <a:schemeClr val="bg2"/>
                </a:solidFill>
                <a:latin typeface="Arial" pitchFamily="34" charset="0"/>
                <a:ea typeface="Arial" pitchFamily="34" charset="-122"/>
                <a:cs typeface="Arial" pitchFamily="34" charset="-120"/>
              </a:rPr>
              <a:t>Juz 26 • From Surah Adh-Dhariyat (verses 1–30) back to Surah Al-Ahqaf • with reasons for revelation</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Before We Begin</a:t>
            </a:r>
            <a:endParaRPr lang="en-US" sz="2400" dirty="0"/>
          </a:p>
        </p:txBody>
      </p:sp>
      <p:sp>
        <p:nvSpPr>
          <p:cNvPr id="3" name="Shape 1"/>
          <p:cNvSpPr/>
          <p:nvPr/>
        </p:nvSpPr>
        <p:spPr>
          <a:xfrm>
            <a:off x="64008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868680" y="1645920"/>
            <a:ext cx="4846320" cy="685800"/>
          </a:xfrm>
          <a:prstGeom prst="rect">
            <a:avLst/>
          </a:prstGeom>
          <a:noFill/>
          <a:ln/>
        </p:spPr>
        <p:txBody>
          <a:bodyPr wrap="square" lIns="0" tIns="0" rIns="0" bIns="0" rtlCol="0" anchor="t"/>
          <a:lstStyle/>
          <a:p>
            <a:pPr algn="l" indent="0" marL="0">
              <a:buNone/>
            </a:pPr>
            <a:r>
              <a:rPr lang="en-US" altLang="en-US" sz="1900" b="1" dirty="0">
                <a:solidFill>
                  <a:schemeClr val="tx2"/>
                </a:solidFill>
                <a:latin typeface="Georgia" pitchFamily="34" charset="0"/>
                <a:ea typeface="Georgia" pitchFamily="34" charset="-122"/>
                <a:cs typeface="Georgia" pitchFamily="34" charset="-120"/>
              </a:rPr>
              <a:t>Imam Ibn Kathir (may Allah have mercy on him)</a:t>
            </a:r>
            <a:endParaRPr lang="en-US" sz="1900" dirty="0"/>
          </a:p>
        </p:txBody>
      </p:sp>
      <p:sp>
        <p:nvSpPr>
          <p:cNvPr id="5" name="Text 3"/>
          <p:cNvSpPr txBox="1"/>
          <p:nvPr/>
        </p:nvSpPr>
        <p:spPr>
          <a:xfrm>
            <a:off x="868680" y="2423160"/>
            <a:ext cx="4846320" cy="3520440"/>
          </a:xfrm>
          <a:prstGeom prst="rect">
            <a:avLst/>
          </a:prstGeom>
          <a:noFill/>
          <a:ln/>
        </p:spPr>
        <p:txBody>
          <a:bodyPr wrap="square" lIns="0" tIns="0" rIns="0" bIns="0" rtlCol="0" anchor="t"/>
          <a:lstStyle/>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Name: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Isma'il ibn 'Umar ibn Kathir of Damascus</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Lived: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about 701 – 774 AH (1300 – 1373 CE) in Syria</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Teachers: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Ibn Taymiyyah, al-Mizzi and al-Dhahabi</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book: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Tafsir al-Qur'an al-'Azim, one of the most famous books of tafsir</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method: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He explains the Qur'an by the Qur'an, then by the Sunnah, then by the sayings of the Companions and their students</a:t>
            </a:r>
            <a:endParaRPr lang="en-US" sz="1500" dirty="0"/>
          </a:p>
        </p:txBody>
      </p:sp>
      <p:sp>
        <p:nvSpPr>
          <p:cNvPr id="6" name="Text 4"/>
          <p:cNvSpPr txBox="1"/>
          <p:nvPr/>
        </p:nvSpPr>
        <p:spPr>
          <a:xfrm>
            <a:off x="6263640" y="1600200"/>
            <a:ext cx="5303520" cy="502920"/>
          </a:xfrm>
          <a:prstGeom prst="rect">
            <a:avLst/>
          </a:prstGeom>
          <a:noFill/>
          <a:ln/>
        </p:spPr>
        <p:txBody>
          <a:bodyPr wrap="square" lIns="0" tIns="0" rIns="0" bIns="0" rtlCol="0" anchor="t"/>
          <a:lstStyle/>
          <a:p>
            <a:pPr algn="l" indent="0" marL="0">
              <a:buNone/>
            </a:pPr>
            <a:r>
              <a:rPr lang="en-US" altLang="en-US" sz="2200" b="1" dirty="0">
                <a:solidFill>
                  <a:schemeClr val="tx2"/>
                </a:solidFill>
                <a:latin typeface="Georgia" pitchFamily="34" charset="0"/>
                <a:ea typeface="Georgia" pitchFamily="34" charset="-122"/>
                <a:cs typeface="Georgia" pitchFamily="34" charset="-120"/>
              </a:rPr>
              <a:t>How to read the slides</a:t>
            </a:r>
            <a:endParaRPr lang="en-US" sz="2200" dirty="0"/>
          </a:p>
        </p:txBody>
      </p:sp>
      <p:sp>
        <p:nvSpPr>
          <p:cNvPr id="7" name="Shape 5"/>
          <p:cNvSpPr/>
          <p:nvPr/>
        </p:nvSpPr>
        <p:spPr>
          <a:xfrm>
            <a:off x="6263640" y="2331720"/>
            <a:ext cx="566928" cy="566928"/>
          </a:xfrm>
          <a:prstGeom prst="star8">
            <a:avLst/>
          </a:prstGeom>
          <a:solidFill>
            <a:schemeClr val="accent2"/>
          </a:solidFill>
          <a:ln/>
        </p:spPr>
      </p:sp>
      <p:sp>
        <p:nvSpPr>
          <p:cNvPr id="8" name="Shape 6"/>
          <p:cNvSpPr/>
          <p:nvPr/>
        </p:nvSpPr>
        <p:spPr>
          <a:xfrm>
            <a:off x="63770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6263640" y="2331720"/>
            <a:ext cx="566928" cy="566928"/>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10" name="Text 8"/>
          <p:cNvSpPr txBox="1"/>
          <p:nvPr/>
        </p:nvSpPr>
        <p:spPr>
          <a:xfrm>
            <a:off x="7040880" y="2359152"/>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verse number is inside the golden star</a:t>
            </a:r>
            <a:endParaRPr lang="en-US" sz="1600" dirty="0"/>
          </a:p>
        </p:txBody>
      </p:sp>
      <p:sp>
        <p:nvSpPr>
          <p:cNvPr id="11" name="Shape 9"/>
          <p:cNvSpPr/>
          <p:nvPr/>
        </p:nvSpPr>
        <p:spPr>
          <a:xfrm>
            <a:off x="63367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7040880" y="3291840"/>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Arabic verse is written in olive green</a:t>
            </a:r>
            <a:endParaRPr lang="en-US" sz="1600" dirty="0"/>
          </a:p>
        </p:txBody>
      </p:sp>
      <p:sp>
        <p:nvSpPr>
          <p:cNvPr id="13" name="Shape 11"/>
          <p:cNvSpPr/>
          <p:nvPr/>
        </p:nvSpPr>
        <p:spPr>
          <a:xfrm>
            <a:off x="63367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7040880" y="4224528"/>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A simple English explanation comes right under it</a:t>
            </a:r>
            <a:endParaRPr lang="en-US" sz="1600" dirty="0"/>
          </a:p>
        </p:txBody>
      </p:sp>
      <p:sp>
        <p:nvSpPr>
          <p:cNvPr id="15" name="Shape 13"/>
          <p:cNvSpPr/>
          <p:nvPr/>
        </p:nvSpPr>
        <p:spPr>
          <a:xfrm>
            <a:off x="63367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7040880" y="5157216"/>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Each surah opens with its reason for revelation and theme</a:t>
            </a:r>
            <a:endParaRPr lang="en-US" sz="16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Surahs of This Juz</a:t>
            </a:r>
            <a:endParaRPr lang="en-US" sz="2400" dirty="0"/>
          </a:p>
        </p:txBody>
      </p:sp>
      <p:sp>
        <p:nvSpPr>
          <p:cNvPr id="3" name="Text 1"/>
          <p:cNvSpPr txBox="1"/>
          <p:nvPr/>
        </p:nvSpPr>
        <p:spPr>
          <a:xfrm>
            <a:off x="685800" y="1280160"/>
            <a:ext cx="10820095" cy="384048"/>
          </a:xfrm>
          <a:prstGeom prst="rect">
            <a:avLst/>
          </a:prstGeom>
          <a:noFill/>
          <a:ln/>
        </p:spPr>
        <p:txBody>
          <a:bodyPr wrap="square" lIns="0" tIns="0" rIns="0" bIns="0" rtlCol="0" anchor="t"/>
          <a:lstStyle/>
          <a:p>
            <a:pPr algn="ctr" indent="0" marL="0">
              <a:buNone/>
            </a:pPr>
            <a:r>
              <a:rPr lang="en-US" altLang="en-US" sz="1600" dirty="0">
                <a:solidFill>
                  <a:schemeClr val="accent4"/>
                </a:solidFill>
                <a:latin typeface="Arial" pitchFamily="34" charset="0"/>
                <a:ea typeface="Arial" pitchFamily="34" charset="-122"/>
                <a:cs typeface="Arial" pitchFamily="34" charset="-120"/>
              </a:rPr>
              <a:t>Our journey starts with Surah Adh-Dhariyat and moves back to Surah Al-Ahqaf</a:t>
            </a:r>
            <a:endParaRPr lang="en-US" sz="1600" dirty="0"/>
          </a:p>
        </p:txBody>
      </p:sp>
      <p:sp>
        <p:nvSpPr>
          <p:cNvPr id="4" name="Shape 2"/>
          <p:cNvSpPr/>
          <p:nvPr/>
        </p:nvSpPr>
        <p:spPr>
          <a:xfrm>
            <a:off x="685800" y="1828800"/>
            <a:ext cx="2622728" cy="566928"/>
          </a:xfrm>
          <a:prstGeom prst="roundRect">
            <a:avLst>
              <a:gd name="adj" fmla="val 50000"/>
            </a:avLst>
          </a:prstGeom>
          <a:solidFill>
            <a:schemeClr val="bg1"/>
          </a:solidFill>
          <a:ln w="12700">
            <a:solidFill>
              <a:schemeClr val="accent2"/>
            </a:solidFill>
            <a:prstDash val="solid"/>
          </a:ln>
        </p:spPr>
      </p:sp>
      <p:sp>
        <p:nvSpPr>
          <p:cNvPr id="5" name="Text 3"/>
          <p:cNvSpPr txBox="1"/>
          <p:nvPr/>
        </p:nvSpPr>
        <p:spPr>
          <a:xfrm>
            <a:off x="685800"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1. </a:t>
            </a:r>
            <a:pPr algn="ctr" indent="0" marL="0">
              <a:buNone/>
            </a:pPr>
            <a:r>
              <a:rPr lang="en-US" altLang="en-US" sz="1400" b="1" dirty="0">
                <a:solidFill>
                  <a:schemeClr val="tx2"/>
                </a:solidFill>
                <a:latin typeface="Arial" pitchFamily="34" charset="0"/>
                <a:ea typeface="Arial" pitchFamily="34" charset="-122"/>
                <a:cs typeface="Arial" pitchFamily="34" charset="-120"/>
              </a:rPr>
              <a:t>Adh-Dhariyat</a:t>
            </a:r>
            <a:endParaRPr lang="en-US" sz="1400" dirty="0"/>
          </a:p>
        </p:txBody>
      </p:sp>
      <p:sp>
        <p:nvSpPr>
          <p:cNvPr id="6" name="Shape 4"/>
          <p:cNvSpPr/>
          <p:nvPr/>
        </p:nvSpPr>
        <p:spPr>
          <a:xfrm>
            <a:off x="3418256" y="1828800"/>
            <a:ext cx="2622728" cy="566928"/>
          </a:xfrm>
          <a:prstGeom prst="roundRect">
            <a:avLst>
              <a:gd name="adj" fmla="val 50000"/>
            </a:avLst>
          </a:prstGeom>
          <a:solidFill>
            <a:schemeClr val="accent5"/>
          </a:solidFill>
          <a:ln w="12700">
            <a:solidFill>
              <a:schemeClr val="accent2"/>
            </a:solidFill>
            <a:prstDash val="solid"/>
          </a:ln>
        </p:spPr>
      </p:sp>
      <p:sp>
        <p:nvSpPr>
          <p:cNvPr id="7" name="Text 5"/>
          <p:cNvSpPr txBox="1"/>
          <p:nvPr/>
        </p:nvSpPr>
        <p:spPr>
          <a:xfrm>
            <a:off x="3418256"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2. </a:t>
            </a:r>
            <a:pPr algn="ctr" indent="0" marL="0">
              <a:buNone/>
            </a:pPr>
            <a:r>
              <a:rPr lang="en-US" altLang="en-US" sz="1400" b="1" dirty="0">
                <a:solidFill>
                  <a:schemeClr val="tx2"/>
                </a:solidFill>
                <a:latin typeface="Arial" pitchFamily="34" charset="0"/>
                <a:ea typeface="Arial" pitchFamily="34" charset="-122"/>
                <a:cs typeface="Arial" pitchFamily="34" charset="-120"/>
              </a:rPr>
              <a:t>Qaf</a:t>
            </a:r>
            <a:endParaRPr lang="en-US" sz="1400" dirty="0"/>
          </a:p>
        </p:txBody>
      </p:sp>
      <p:sp>
        <p:nvSpPr>
          <p:cNvPr id="8" name="Shape 6"/>
          <p:cNvSpPr/>
          <p:nvPr/>
        </p:nvSpPr>
        <p:spPr>
          <a:xfrm>
            <a:off x="6150712" y="1828800"/>
            <a:ext cx="2622728" cy="566928"/>
          </a:xfrm>
          <a:prstGeom prst="roundRect">
            <a:avLst>
              <a:gd name="adj" fmla="val 50000"/>
            </a:avLst>
          </a:prstGeom>
          <a:solidFill>
            <a:schemeClr val="bg1"/>
          </a:solidFill>
          <a:ln w="12700">
            <a:solidFill>
              <a:schemeClr val="accent2"/>
            </a:solidFill>
            <a:prstDash val="solid"/>
          </a:ln>
        </p:spPr>
      </p:sp>
      <p:sp>
        <p:nvSpPr>
          <p:cNvPr id="9" name="Text 7"/>
          <p:cNvSpPr txBox="1"/>
          <p:nvPr/>
        </p:nvSpPr>
        <p:spPr>
          <a:xfrm>
            <a:off x="6150712"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3. </a:t>
            </a:r>
            <a:pPr algn="ctr" indent="0" marL="0">
              <a:buNone/>
            </a:pPr>
            <a:r>
              <a:rPr lang="en-US" altLang="en-US" sz="1400" b="1" dirty="0">
                <a:solidFill>
                  <a:schemeClr val="tx2"/>
                </a:solidFill>
                <a:latin typeface="Arial" pitchFamily="34" charset="0"/>
                <a:ea typeface="Arial" pitchFamily="34" charset="-122"/>
                <a:cs typeface="Arial" pitchFamily="34" charset="-120"/>
              </a:rPr>
              <a:t>Al-Hujurat</a:t>
            </a:r>
            <a:endParaRPr lang="en-US" sz="1400" dirty="0"/>
          </a:p>
        </p:txBody>
      </p:sp>
      <p:sp>
        <p:nvSpPr>
          <p:cNvPr id="10" name="Shape 8"/>
          <p:cNvSpPr/>
          <p:nvPr/>
        </p:nvSpPr>
        <p:spPr>
          <a:xfrm>
            <a:off x="8883167" y="1828800"/>
            <a:ext cx="2622728" cy="566928"/>
          </a:xfrm>
          <a:prstGeom prst="roundRect">
            <a:avLst>
              <a:gd name="adj" fmla="val 50000"/>
            </a:avLst>
          </a:prstGeom>
          <a:solidFill>
            <a:schemeClr val="accent5"/>
          </a:solidFill>
          <a:ln w="12700">
            <a:solidFill>
              <a:schemeClr val="accent2"/>
            </a:solidFill>
            <a:prstDash val="solid"/>
          </a:ln>
        </p:spPr>
      </p:sp>
      <p:sp>
        <p:nvSpPr>
          <p:cNvPr id="11" name="Text 9"/>
          <p:cNvSpPr txBox="1"/>
          <p:nvPr/>
        </p:nvSpPr>
        <p:spPr>
          <a:xfrm>
            <a:off x="8883167"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4. </a:t>
            </a:r>
            <a:pPr algn="ctr" indent="0" marL="0">
              <a:buNone/>
            </a:pPr>
            <a:r>
              <a:rPr lang="en-US" altLang="en-US" sz="1400" b="1" dirty="0">
                <a:solidFill>
                  <a:schemeClr val="tx2"/>
                </a:solidFill>
                <a:latin typeface="Arial" pitchFamily="34" charset="0"/>
                <a:ea typeface="Arial" pitchFamily="34" charset="-122"/>
                <a:cs typeface="Arial" pitchFamily="34" charset="-120"/>
              </a:rPr>
              <a:t>Al-Fath</a:t>
            </a:r>
            <a:endParaRPr lang="en-US" sz="1400" dirty="0"/>
          </a:p>
        </p:txBody>
      </p:sp>
      <p:sp>
        <p:nvSpPr>
          <p:cNvPr id="12" name="Shape 10"/>
          <p:cNvSpPr/>
          <p:nvPr/>
        </p:nvSpPr>
        <p:spPr>
          <a:xfrm>
            <a:off x="685800" y="2487168"/>
            <a:ext cx="2622728" cy="566928"/>
          </a:xfrm>
          <a:prstGeom prst="roundRect">
            <a:avLst>
              <a:gd name="adj" fmla="val 50000"/>
            </a:avLst>
          </a:prstGeom>
          <a:solidFill>
            <a:schemeClr val="bg1"/>
          </a:solidFill>
          <a:ln w="12700">
            <a:solidFill>
              <a:schemeClr val="accent2"/>
            </a:solidFill>
            <a:prstDash val="solid"/>
          </a:ln>
        </p:spPr>
      </p:sp>
      <p:sp>
        <p:nvSpPr>
          <p:cNvPr id="13" name="Text 11"/>
          <p:cNvSpPr txBox="1"/>
          <p:nvPr/>
        </p:nvSpPr>
        <p:spPr>
          <a:xfrm>
            <a:off x="685800" y="2487168"/>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5. </a:t>
            </a:r>
            <a:pPr algn="ctr" indent="0" marL="0">
              <a:buNone/>
            </a:pPr>
            <a:r>
              <a:rPr lang="en-US" altLang="en-US" sz="1400" b="1" dirty="0">
                <a:solidFill>
                  <a:schemeClr val="tx2"/>
                </a:solidFill>
                <a:latin typeface="Arial" pitchFamily="34" charset="0"/>
                <a:ea typeface="Arial" pitchFamily="34" charset="-122"/>
                <a:cs typeface="Arial" pitchFamily="34" charset="-120"/>
              </a:rPr>
              <a:t>Muhammad</a:t>
            </a:r>
            <a:endParaRPr lang="en-US" sz="1400" dirty="0"/>
          </a:p>
        </p:txBody>
      </p:sp>
      <p:sp>
        <p:nvSpPr>
          <p:cNvPr id="14" name="Shape 12"/>
          <p:cNvSpPr/>
          <p:nvPr/>
        </p:nvSpPr>
        <p:spPr>
          <a:xfrm>
            <a:off x="3418256" y="2487168"/>
            <a:ext cx="2622728" cy="566928"/>
          </a:xfrm>
          <a:prstGeom prst="roundRect">
            <a:avLst>
              <a:gd name="adj" fmla="val 50000"/>
            </a:avLst>
          </a:prstGeom>
          <a:solidFill>
            <a:schemeClr val="accent5"/>
          </a:solidFill>
          <a:ln w="12700">
            <a:solidFill>
              <a:schemeClr val="accent2"/>
            </a:solidFill>
            <a:prstDash val="solid"/>
          </a:ln>
        </p:spPr>
      </p:sp>
      <p:sp>
        <p:nvSpPr>
          <p:cNvPr id="15" name="Text 13"/>
          <p:cNvSpPr txBox="1"/>
          <p:nvPr/>
        </p:nvSpPr>
        <p:spPr>
          <a:xfrm>
            <a:off x="3418256" y="2487168"/>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6. </a:t>
            </a:r>
            <a:pPr algn="ctr" indent="0" marL="0">
              <a:buNone/>
            </a:pPr>
            <a:r>
              <a:rPr lang="en-US" altLang="en-US" sz="1400" b="1" dirty="0">
                <a:solidFill>
                  <a:schemeClr val="tx2"/>
                </a:solidFill>
                <a:latin typeface="Arial" pitchFamily="34" charset="0"/>
                <a:ea typeface="Arial" pitchFamily="34" charset="-122"/>
                <a:cs typeface="Arial" pitchFamily="34" charset="-120"/>
              </a:rPr>
              <a:t>Al-Ahqaf</a:t>
            </a:r>
            <a:endParaRPr lang="en-US" sz="1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000" b="1" dirty="0">
                <a:solidFill>
                  <a:schemeClr val="accent2"/>
                </a:solidFill>
                <a:latin typeface="Georgia" pitchFamily="34" charset="0"/>
                <a:ea typeface="Georgia" pitchFamily="34" charset="-122"/>
                <a:cs typeface="Georgia" pitchFamily="34" charset="-120"/>
              </a:rPr>
              <a:t>Surah Adh-Dhariyat</a:t>
            </a:r>
            <a:endParaRPr lang="en-US" sz="30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In this juz: verses 1 – 30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51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surah;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This juz ends at verse 30: proving the Resurrection and the reward, the qualities of those with taqwa in their worship, and the story of Ibrahim's guests (peace be upon him).</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Adh-Dhariyat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وَالذَّـٰرِيَٰتِ ذَرْوًا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swears by the winds that scatter dust,</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فَالْحَٰمِلَٰتِ وِقْرًا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clouds carrying heavy water,</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366617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فَالْجَٰرِيَٰتِ يُسْرًا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ships sailing easily in the sea,</a:t>
            </a:r>
            <a:endParaRPr lang="en-US" sz="3000" dirty="0"/>
          </a:p>
        </p:txBody>
      </p:sp>
      <p:sp>
        <p:nvSpPr>
          <p:cNvPr id="19" name="Shape 17"/>
          <p:cNvSpPr/>
          <p:nvPr/>
        </p:nvSpPr>
        <p:spPr>
          <a:xfrm>
            <a:off x="1444752" y="4733163"/>
            <a:ext cx="8641080" cy="0"/>
          </a:xfrm>
          <a:prstGeom prst="line">
            <a:avLst/>
          </a:prstGeom>
          <a:noFill/>
          <a:ln w="9525">
            <a:solidFill>
              <a:schemeClr val="accent2"/>
            </a:solidFill>
            <a:prstDash val="dash"/>
          </a:ln>
        </p:spPr>
      </p:sp>
      <p:sp>
        <p:nvSpPr>
          <p:cNvPr id="20" name="Shape 18"/>
          <p:cNvSpPr/>
          <p:nvPr/>
        </p:nvSpPr>
        <p:spPr>
          <a:xfrm>
            <a:off x="713232" y="4853749"/>
            <a:ext cx="548640" cy="548640"/>
          </a:xfrm>
          <a:prstGeom prst="star8">
            <a:avLst/>
          </a:prstGeom>
          <a:solidFill>
            <a:schemeClr val="accent2"/>
          </a:solidFill>
          <a:ln/>
        </p:spPr>
      </p:sp>
      <p:sp>
        <p:nvSpPr>
          <p:cNvPr id="21" name="Shape 19"/>
          <p:cNvSpPr/>
          <p:nvPr/>
        </p:nvSpPr>
        <p:spPr>
          <a:xfrm>
            <a:off x="822960" y="4963477"/>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4853749"/>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1444752" y="4835461"/>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فَالْمُقَسِّمَٰتِ أَمْرًا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angels who distribute matters by Allah's command, as 'Ali (may Allah be pleased with him) said: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Adh-Dhariyat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إِنَّمَا تُوعَدُونَ لَصَادِقٌ</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what you are promised of the Resurrection is true,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الدِّينَ لَوَٰقِعٌ</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Reckoning and the reward will surely happen.</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وَالسَّمَآءِ ذَاتِ الْحُبُكِ</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He swears by the sky with its paths and beauty:</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إِنَّكُمْ لَفِي قَوْلٍ مُّخْتَلِفٍ</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deniers are confused in what you say about Muhammad (peace be upon him) and the Qur'an.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Adh-Dhariyat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يُؤْفَكُ عَنْهُ مَنْ أُفِكَ</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Turned away from believing in it is whoever is turned away.</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قُتِلَ الْخَرَّـٰصُونَ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Cursed are the liars,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هُمْ فِي غَمْرَةٍ سَاهُونَ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are lost in ignorance and heedlessness.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يَسْـَٔلُونَ أَيَّانَ يَوْمُ الدِّينِ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ask, thinking it far off: When is the Day of Judgement?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Adh-Dhariyat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هُمْ عَلَى النَّارِ يُفْتَنُونَ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the Day they will be punished over the Fire: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ذُوقُواْ فِتْنَتَكُمْ هَٰذَا الَّذِي كُنتُم بِهِ تَسْتَعْجِلُونَ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Taste your punishment; this is what you used to hurry for.</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الْمُتَّقِينَ فِي جَنَّـٰتٍ وَعُيُونٍ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with taqwa will be among gardens and flowing springs,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ءَاخِذِينَ مَآ ءَاتَىٰهُمْ رَبُّهُمْ إِنَّهُمْ كَانُواْ قَبْلَ ذَٰلِكَ مُحْسِنِينَ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taking what their Lord gives them, for in the world they used to do good.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Adh-Dhariyat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كَانُواْ قَلِيلًا مِّنَ الَّيْلِ مَا يَهْجَعُونَ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used to sleep only a little of the night, standing in prayer for the rest,</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وَبِالْأَسْحَارِ هُمْ يَسْتَغْفِرُونَ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before dawn they would ask forgiveness,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وَفِي أَمْوَٰلِهِمْ حَقٌّ لِّلسَّآئِلِ وَالْمَحْرُومِ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in their wealth was a right for the poor who ask and the poor who are too modest to ask.</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وَفِي الْأَرْضِ ءَايَٰتٌ لِّلْمُوقِنِينَ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earth are signs of Allah's power for those who are certain,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Adh-Dhariyat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21 – 24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وَفِي أَنفُسِكُمْ أَفَلَا تُبْصِرُونَ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in yourselves too. Do you not see?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وَفِي السَّمَآءِ رِزْقُكُمْ وَمَا تُوعَدُونَ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in the sky is the rain that brings your provision, and what you are promised of Paradise.</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فَوَرَبِّ السَّمَآءِ وَالْأَرْضِ إِنَّهُ لَحَقٌّ مِّثْلَ مَآ أَنَّكُمْ تَنطِقُونَ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by the Lord of the sky and the earth, what you are promised is true, just as surely as you speak.</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هَلْ أَتَىٰكَ حَدِيثُ ضَيْفِ إِبْرَٰهِيمَ الْمُكْرَمِينَ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Has the story reached you of Ibrahim's honoured guests, the angels?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Adh-Dhariyat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25 – 28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دَخَلُواْ عَلَيْهِ فَقَالُواْ سَلَٰمًا قَالَ سَلَٰمٌ قَوْمٌ مُّنكَرُونَ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came to him and said: Peace. He said: Peace, people I do not know.</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فَرَاغَ إِلَىٰ أَهْلِهِ فَجَآءَ بِعِجْلٍ سَمِينٍ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went quietly to his family and brought a fat roasted calf,</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18" name="Text 16"/>
          <p:cNvSpPr txBox="1"/>
          <p:nvPr/>
        </p:nvSpPr>
        <p:spPr>
          <a:xfrm>
            <a:off x="1444752" y="366617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فَقَرَّبَهُ إِلَيْهِمْ قَالَ أَلَا تَأْكُلُونَ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placed it near them, saying: Will you not eat?</a:t>
            </a:r>
            <a:endParaRPr lang="en-US" sz="3000" dirty="0"/>
          </a:p>
        </p:txBody>
      </p:sp>
      <p:sp>
        <p:nvSpPr>
          <p:cNvPr id="19" name="Shape 17"/>
          <p:cNvSpPr/>
          <p:nvPr/>
        </p:nvSpPr>
        <p:spPr>
          <a:xfrm>
            <a:off x="1444752" y="4733163"/>
            <a:ext cx="8641080" cy="0"/>
          </a:xfrm>
          <a:prstGeom prst="line">
            <a:avLst/>
          </a:prstGeom>
          <a:noFill/>
          <a:ln w="9525">
            <a:solidFill>
              <a:schemeClr val="accent2"/>
            </a:solidFill>
            <a:prstDash val="dash"/>
          </a:ln>
        </p:spPr>
      </p:sp>
      <p:sp>
        <p:nvSpPr>
          <p:cNvPr id="20" name="Shape 18"/>
          <p:cNvSpPr/>
          <p:nvPr/>
        </p:nvSpPr>
        <p:spPr>
          <a:xfrm>
            <a:off x="713232" y="4853749"/>
            <a:ext cx="548640" cy="548640"/>
          </a:xfrm>
          <a:prstGeom prst="star8">
            <a:avLst/>
          </a:prstGeom>
          <a:solidFill>
            <a:schemeClr val="accent2"/>
          </a:solidFill>
          <a:ln/>
        </p:spPr>
      </p:sp>
      <p:sp>
        <p:nvSpPr>
          <p:cNvPr id="21" name="Shape 19"/>
          <p:cNvSpPr/>
          <p:nvPr/>
        </p:nvSpPr>
        <p:spPr>
          <a:xfrm>
            <a:off x="822960" y="4963477"/>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4853749"/>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23" name="Text 21"/>
          <p:cNvSpPr txBox="1"/>
          <p:nvPr/>
        </p:nvSpPr>
        <p:spPr>
          <a:xfrm>
            <a:off x="1444752" y="4835461"/>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فَأَوْجَسَ مِنْهُمْ خِيفَةً قَالُواْ لَا تَخَفْ وَبَشَّرُوهُ بِغُلَٰمٍ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did not eat, he felt afraid of them. They said: Do not be afraid, and gave him good news of a knowledgeable son, Ishaq.</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Adh-Dhariyat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29 – 30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02586"/>
            <a:ext cx="548640" cy="548640"/>
          </a:xfrm>
          <a:prstGeom prst="star8">
            <a:avLst/>
          </a:prstGeom>
          <a:solidFill>
            <a:schemeClr val="accent2"/>
          </a:solidFill>
          <a:ln/>
        </p:spPr>
      </p:sp>
      <p:sp>
        <p:nvSpPr>
          <p:cNvPr id="6" name="Shape 4"/>
          <p:cNvSpPr/>
          <p:nvPr/>
        </p:nvSpPr>
        <p:spPr>
          <a:xfrm>
            <a:off x="822960" y="251231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0258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8" name="Text 6"/>
          <p:cNvSpPr txBox="1"/>
          <p:nvPr/>
        </p:nvSpPr>
        <p:spPr>
          <a:xfrm>
            <a:off x="1444752" y="238429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فَأَقْبَلَتِ امْرَأَتُهُ فِي صَرَّةٍ فَصَكَّتْ وَجْهَهَا وَقَالَتْ عَجُوزٌ عَقِيمٌ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His wife Sarah came forward crying out, struck her face in amazement, and said: Will I give birth when I am an old woman who could not have children?</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13" name="Text 11"/>
          <p:cNvSpPr txBox="1"/>
          <p:nvPr/>
        </p:nvSpPr>
        <p:spPr>
          <a:xfrm>
            <a:off x="1444752" y="403936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كَذَٰلِكِ قَالَ رَبُّكِ إِنَّهُ هُوَ الْحَكِيمُ الْعَلِيمُ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That is what your Lord has said; He is the All-Wise, the All-Knowing.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Qaf</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45 verses • The Letter Qaf</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50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surah;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Proving the Resurrection and answering those who deny it, Allah and the angels watching over man, and the terrors of death and the Day of Resurrection. The Prophet (peace be upon him) used to recite it at 'Eid and in his speech on the pulpit every Friday (Muslim).</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Qaf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 وَالْقُرْءَانِ الْمَجِيدِ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"Qaf" is one of the separate letters. Allah swears by the glorious, noble Qur'an.</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49688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 عَجِبُواْ أَن جَآءَهُم مُّنذِرٌ مِّنْهُمْ فَقَالَ الْكَٰفِرُونَ هَٰذَا شَيْءٌ عَجِيبٌ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the disbelievers are amazed that a messenger from among themselves came to them, and they said: This is a strange thing!</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أَءِذَا مِتْنَا وَكُنَّا تُرَابًا ذَٰلِكَ رَجْعٌ بَعِيدٌ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we die and become dust, will we come back? That is a far-fetched return.</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قَدْ عَلِمْنَا مَا تَنقُصُ الْأَرْضُ مِنْهُمْ وَعِندَنَا كِتَٰبٌ حَفِيظٌ</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know what the earth eats away of their bodies, and with Us is a Record that keeps everything.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Qaf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55676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 كَذَّبُواْ بِالْحَقِّ لَمَّا جَآءَهُمْ فَهُمْ فِي أَمْرٍ مَّرِيجٍ</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Rather, they denied the truth when it came to them, so they are in a confused state.</a:t>
            </a:r>
            <a:endParaRPr lang="en-US" sz="3000" dirty="0"/>
          </a:p>
        </p:txBody>
      </p:sp>
      <p:sp>
        <p:nvSpPr>
          <p:cNvPr id="9" name="Shape 7"/>
          <p:cNvSpPr/>
          <p:nvPr/>
        </p:nvSpPr>
        <p:spPr>
          <a:xfrm>
            <a:off x="1444752" y="2736342"/>
            <a:ext cx="8641080" cy="0"/>
          </a:xfrm>
          <a:prstGeom prst="line">
            <a:avLst/>
          </a:prstGeom>
          <a:noFill/>
          <a:ln w="9525">
            <a:solidFill>
              <a:schemeClr val="accent2"/>
            </a:solidFill>
            <a:prstDash val="dash"/>
          </a:ln>
        </p:spPr>
      </p:sp>
      <p:sp>
        <p:nvSpPr>
          <p:cNvPr id="10" name="Shape 8"/>
          <p:cNvSpPr/>
          <p:nvPr/>
        </p:nvSpPr>
        <p:spPr>
          <a:xfrm>
            <a:off x="713232" y="2969514"/>
            <a:ext cx="548640" cy="548640"/>
          </a:xfrm>
          <a:prstGeom prst="star8">
            <a:avLst/>
          </a:prstGeom>
          <a:solidFill>
            <a:schemeClr val="accent2"/>
          </a:solidFill>
          <a:ln/>
        </p:spPr>
      </p:sp>
      <p:sp>
        <p:nvSpPr>
          <p:cNvPr id="11" name="Shape 9"/>
          <p:cNvSpPr/>
          <p:nvPr/>
        </p:nvSpPr>
        <p:spPr>
          <a:xfrm>
            <a:off x="822960" y="307924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6951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295122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أَفَلَمْ يَنظُرُواْ إِلَى السَّمَآءِ فَوْقَهُمْ كَيْفَ بَنَيْنَٰهَا وَزَيَّنَّـٰهَا وَمَا لَهَا مِن فُرُوجٍ</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they not looked at the sky above them, how We built it and decorated it with stars, with no cracks in it?</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وَالْأَرْضَ مَدَدْنَٰهَا وَأَلْقَيْنَا فِيهَا رَوَٰسِيَ وَأَنبَتْنَا فِيهَا مِن كُلِّ زَوْجٍ بَهِيجٍ</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earth We spread out and placed firm mountains on it, and made every beautiful kind of plant grow in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Qaf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 – 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تَبْصِرَةً وَذِكْرَىٰ لِكُلِّ عَبْدٍ مُّنِيبٍ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insight and a reminder for every servant who turns to his Lord.</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وَنَزَّلْنَا مِنَ السَّمَآءِ مَآءً مُّبَٰرَكًا فَأَنبَتْنَا بِهِ جَنَّـٰتٍ وَحَبَّ الْحَصِيدِ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We sent down blessed rain from the sky and grew with it gardens and grain for harvest,</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8" name="Text 16"/>
          <p:cNvSpPr txBox="1"/>
          <p:nvPr/>
        </p:nvSpPr>
        <p:spPr>
          <a:xfrm>
            <a:off x="1444752" y="366617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وَالنَّخْلَ بَاسِقَٰتٍ لَّهَا طَلْعٌ نَّضِيدٌ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tall palm trees with dates packed in clusters,</a:t>
            </a:r>
            <a:endParaRPr lang="en-US" sz="3000" dirty="0"/>
          </a:p>
        </p:txBody>
      </p:sp>
      <p:sp>
        <p:nvSpPr>
          <p:cNvPr id="19" name="Shape 17"/>
          <p:cNvSpPr/>
          <p:nvPr/>
        </p:nvSpPr>
        <p:spPr>
          <a:xfrm>
            <a:off x="1444752" y="4733163"/>
            <a:ext cx="8641080" cy="0"/>
          </a:xfrm>
          <a:prstGeom prst="line">
            <a:avLst/>
          </a:prstGeom>
          <a:noFill/>
          <a:ln w="9525">
            <a:solidFill>
              <a:schemeClr val="accent2"/>
            </a:solidFill>
            <a:prstDash val="dash"/>
          </a:ln>
        </p:spPr>
      </p:sp>
      <p:sp>
        <p:nvSpPr>
          <p:cNvPr id="20" name="Shape 18"/>
          <p:cNvSpPr/>
          <p:nvPr/>
        </p:nvSpPr>
        <p:spPr>
          <a:xfrm>
            <a:off x="713232" y="4853749"/>
            <a:ext cx="548640" cy="548640"/>
          </a:xfrm>
          <a:prstGeom prst="star8">
            <a:avLst/>
          </a:prstGeom>
          <a:solidFill>
            <a:schemeClr val="accent2"/>
          </a:solidFill>
          <a:ln/>
        </p:spPr>
      </p:sp>
      <p:sp>
        <p:nvSpPr>
          <p:cNvPr id="21" name="Shape 19"/>
          <p:cNvSpPr/>
          <p:nvPr/>
        </p:nvSpPr>
        <p:spPr>
          <a:xfrm>
            <a:off x="822960" y="4963477"/>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4853749"/>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23" name="Text 21"/>
          <p:cNvSpPr txBox="1"/>
          <p:nvPr/>
        </p:nvSpPr>
        <p:spPr>
          <a:xfrm>
            <a:off x="1444752" y="4835461"/>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رِّزْقًا لِّلْعِبَادِ وَأَحْيَيْنَا بِهِ بَلْدَةً مَّيْتًا كَذَٰلِكَ الْخُرُوجُ</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provision for the servants. With the rain We bring dead land to life; that is how you will come out of the graves.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Qaf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 – 14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كَذَّبَتْ قَبْلَهُمْ قَوْمُ نُوحٍ وَأَصْحَٰبُ الرَّسِّ وَثَمُودُ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Before them, the people of Nuh denied, and the people of the well, and Thamud,</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13" name="Text 11"/>
          <p:cNvSpPr txBox="1"/>
          <p:nvPr/>
        </p:nvSpPr>
        <p:spPr>
          <a:xfrm>
            <a:off x="1444752" y="308152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وَعَادٌ وَفِرْعَوْنُ وَإِخْوَٰنُ لُوطٍ</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'Ad, Pharaoh and the people of Lut,</a:t>
            </a:r>
            <a:endParaRPr lang="en-US" sz="3000" dirty="0"/>
          </a:p>
        </p:txBody>
      </p:sp>
      <p:sp>
        <p:nvSpPr>
          <p:cNvPr id="14" name="Shape 12"/>
          <p:cNvSpPr/>
          <p:nvPr/>
        </p:nvSpPr>
        <p:spPr>
          <a:xfrm>
            <a:off x="1444752" y="4261104"/>
            <a:ext cx="8641080" cy="0"/>
          </a:xfrm>
          <a:prstGeom prst="line">
            <a:avLst/>
          </a:prstGeom>
          <a:noFill/>
          <a:ln w="9525">
            <a:solidFill>
              <a:schemeClr val="accent2"/>
            </a:solidFill>
            <a:prstDash val="dash"/>
          </a:ln>
        </p:spPr>
      </p:sp>
      <p:sp>
        <p:nvSpPr>
          <p:cNvPr id="15" name="Shape 13"/>
          <p:cNvSpPr/>
          <p:nvPr/>
        </p:nvSpPr>
        <p:spPr>
          <a:xfrm>
            <a:off x="713232" y="4494276"/>
            <a:ext cx="548640" cy="548640"/>
          </a:xfrm>
          <a:prstGeom prst="star8">
            <a:avLst/>
          </a:prstGeom>
          <a:solidFill>
            <a:schemeClr val="accent2"/>
          </a:solidFill>
          <a:ln/>
        </p:spPr>
      </p:sp>
      <p:sp>
        <p:nvSpPr>
          <p:cNvPr id="16" name="Shape 14"/>
          <p:cNvSpPr/>
          <p:nvPr/>
        </p:nvSpPr>
        <p:spPr>
          <a:xfrm>
            <a:off x="822960" y="46040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4942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8" name="Text 16"/>
          <p:cNvSpPr txBox="1"/>
          <p:nvPr/>
        </p:nvSpPr>
        <p:spPr>
          <a:xfrm>
            <a:off x="1444752" y="44759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وَأَصْحَٰبُ الْأَيْكَةِ وَقَوْمُ تُبَّعٍ كُلٌّ كَذَّبَ الرُّسُلَ فَحَقَّ وَعِيدِ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people of the thick forest, the people of Shu'ayb, and the people of Tubba'. All denied the messengers, so the punishment came true for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Qaf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15 – 17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أَفَعَيِينَا بِالْخَلْقِ الْأَوَّلِ بَلْ هُمْ فِي لَبْسٍ مِّنْ خَلْقٍ جَدِيدٍ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Were We tired by the first creation, so that We cannot bring them back? Rather, they are in doubt about a new creation.</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13" name="Text 11"/>
          <p:cNvSpPr txBox="1"/>
          <p:nvPr/>
        </p:nvSpPr>
        <p:spPr>
          <a:xfrm>
            <a:off x="1444752" y="321183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خَلَقْنَا الْإِنسَٰنَ وَنَعْلَمُ مَا تُوَسْوِسُ بِهِ نَفْسُهُ وَنَحْنُ أَقْرَبُ إِلَيْهِ مِنْ حَبْلِ الْوَرِيدِ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created man and We know what his soul whispers to him, and We are nearer to him through Our angels than his jugular vein,</a:t>
            </a:r>
            <a:endParaRPr lang="en-US" sz="3000" dirty="0"/>
          </a:p>
        </p:txBody>
      </p:sp>
      <p:sp>
        <p:nvSpPr>
          <p:cNvPr id="14" name="Shape 12"/>
          <p:cNvSpPr/>
          <p:nvPr/>
        </p:nvSpPr>
        <p:spPr>
          <a:xfrm>
            <a:off x="1444752" y="4652010"/>
            <a:ext cx="8641080" cy="0"/>
          </a:xfrm>
          <a:prstGeom prst="line">
            <a:avLst/>
          </a:prstGeom>
          <a:noFill/>
          <a:ln w="9525">
            <a:solidFill>
              <a:schemeClr val="accent2"/>
            </a:solidFill>
            <a:prstDash val="dash"/>
          </a:ln>
        </p:spPr>
      </p:sp>
      <p:sp>
        <p:nvSpPr>
          <p:cNvPr id="15" name="Shape 13"/>
          <p:cNvSpPr/>
          <p:nvPr/>
        </p:nvSpPr>
        <p:spPr>
          <a:xfrm>
            <a:off x="713232" y="4885182"/>
            <a:ext cx="548640" cy="548640"/>
          </a:xfrm>
          <a:prstGeom prst="star8">
            <a:avLst/>
          </a:prstGeom>
          <a:solidFill>
            <a:schemeClr val="accent2"/>
          </a:solidFill>
          <a:ln/>
        </p:spPr>
      </p:sp>
      <p:sp>
        <p:nvSpPr>
          <p:cNvPr id="16" name="Shape 14"/>
          <p:cNvSpPr/>
          <p:nvPr/>
        </p:nvSpPr>
        <p:spPr>
          <a:xfrm>
            <a:off x="822960" y="499491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851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18" name="Text 16"/>
          <p:cNvSpPr txBox="1"/>
          <p:nvPr/>
        </p:nvSpPr>
        <p:spPr>
          <a:xfrm>
            <a:off x="1444752" y="48668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يَتَلَقَّى الْمُتَلَقِّيَانِ عَنِ الْيَمِينِ وَعَنِ الشِّمَالِ قَعِيدٌ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the two receiving angels record his deeds, one sitting on the right and one on the left.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Qaf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18 – 21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يَلْفِظُ مِن قَوْلٍ إِلَّا لَدَيْهِ رَقِيبٌ عَتِيدٌ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does not say a word but there is a watchful angel ready to write it.</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وَجَآءَتْ سَكْرَةُ الْمَوْتِ بِالْحَقِّ ذَٰلِكَ مَا كُنتَ مِنْهُ تَحِيدُ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agony of death comes with the truth: This is what you used to run away from.</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وَنُفِخَ فِي الصُّورِ ذَٰلِكَ يَوْمُ الْوَعِيدِ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Horn will be blown: That is the Day of the promised punishment.</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وَجَآءَتْ كُلُّ نَفْسٍ مَّعَهَا سَآئِقٌ وَشَهِيدٌ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Every soul will come with an angel driving it and an angel bearing witness.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Qaf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22 – 25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لَّقَدْ كُنتَ فِي غَفْلَةٍ مِّنْ هَٰذَا فَكَشَفْنَا عَنكَ غِطَآءَكَ فَبَصَرُكَ الْيَوْمَ حَدِيدٌ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were heedless of this Day, so We have removed your covering, and today your sight is sharp.</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قَرِينُهُ هَٰذَا مَا لَدَيَّ عَتِيدٌ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angel in charge of him will say: Here is the record of his deeds, ready.</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أَلْقِيَا فِي جَهَنَّمَ كُلَّ كَفَّارٍ عَنِيدٍ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will say to the two angels: Throw into Hell every stubborn disbeliever,</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مَّنَّاعٍ لِّلْخَيْرِ مُعْتَدٍ مُّرِيبٍ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held back good, transgressed and doubted,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Qaf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26 – 29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 جَعَلَ مَعَ اللَّهِ إِلَٰهًا ءَاخَرَ فَأَلْقِيَاهُ فِي الْعَذَابِ الشَّدِيدِ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set up another god with Allah. Throw him into the severe punishment.</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قَرِينُهُ رَبَّنَا مَآ أَطْغَيْتُهُ وَلَٰكِن كَانَ فِي ضَلَٰلٍ بَعِيدٍ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His devil companion will say: Our Lord, I did not make him rebel; he was already far astray.</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لَا تَخْتَصِمُواْ لَدَيَّ وَقَدْ قَدَّمْتُ إِلَيْكُم بِالْوَعِيدِ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will say: Do not argue before Me; I already sent you the warning.</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يُبَدَّلُ الْقَوْلُ لَدَيَّ وَمَآ أَنَا بِظَلَّـٰمٍ لِّلْعَبِيدِ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My word does not change, and I am never unjust to My servants.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Qaf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30 – 33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نَقُولُ لِجَهَنَّمَ هَلِ امْتَلَأْتِ وَتَقُولُ هَلْ مِن مَّزِيدٍ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We will say to Hell: Are you full? And it will say: Are there any more?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وَأُزْلِفَتِ الْجَنَّةُ لِلْمُتَّقِينَ غَيْرَ بَعِيدٍ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Paradise will be brought near to those with taqwa, not far away:</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هَٰذَا مَا تُوعَدُونَ لِكُلِّ أَوَّابٍ حَفِيظٍ</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is what you were promised, for everyone who often turns to Allah and keeps His limits,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خَشِيَ الرَّحْمَٰنَ بِالْغَيْبِ وَجَآءَ بِقَلْبٍ مُّنِيبٍ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feared the Most Merciful without seeing Him and came with a heart that turns to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Qaf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34 – 37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ادْخُلُوهَا بِسَلَٰمٍ ذَٰلِكَ يَوْمُ الْخُلُودِ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Enter it in peace; this is the Day of eternity.</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لَهُم مَّا يَشَآءُونَ فِيهَا وَلَدَيْنَا مَزِيدٌ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have whatever they wish there, and with Us is more: seeing the Noble Face of Allah.</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18" name="Text 16"/>
          <p:cNvSpPr txBox="1"/>
          <p:nvPr/>
        </p:nvSpPr>
        <p:spPr>
          <a:xfrm>
            <a:off x="1444752" y="366617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وَكَمْ أَهْلَكْنَا قَبْلَهُم مِّن قَرْنٍ هُمْ أَشَدُّ مِنْهُم بَطْشًا فَنَقَّبُواْ فِي الْبِلَٰدِ هَلْ مِن مَّحِيصٍ</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How many nations stronger than them We destroyed before them! They searched through the lands for an escape; was there any escape?</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فِي ذَٰلِكَ لَذِكْرَىٰ لِمَن كَانَ لَهُ قَلْبٌ أَوْ أَلْقَى السَّمْعَ وَهُوَ شَهِيدٌ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that is a lesson for whoever has a living heart or listens attentively with a present mind.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Qaf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38 – 41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خَلَقْنَا السَّمَٰوَٰتِ وَالْأَرْضَ وَمَا بَيْنَهُمَا فِي سِتَّةِ أَيَّامٍ وَمَا مَسَّنَا مِن لُّغُوبٍ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created the heavens and the earth and what is between them in six days, and no tiredness touched Us.</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فَاصْبِرْ عَلَىٰ مَا يَقُولُونَ وَسَبِّحْ بِحَمْدِ رَبِّكَ قَبْلَ طُلُوعِ الشَّمْسِ وَقَبْلَ الْغُرُوبِ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be patient with what they say, and pray to your Lord before sunrise and before sunset,</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الَّيْلِ فَسَبِّحْهُ وَأَدْبَٰرَ السُّجُودِ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glorify Him in part of the night and after the prayers.</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وَاسْتَمِعْ يَوْمَ يُنَادِ الْمُنَادِ مِن مَّكَانٍ قَرِيبٍ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listen for the Day the caller will call for the Resurrection from a place nearby,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Qaf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42 – 45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يَسْمَعُونَ الصَّيْحَةَ بِالْحَقِّ ذَٰلِكَ يَوْمُ الْخُرُوجِ</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Day they hear the Blast in truth; that is the Day of coming out of the graves.</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نَحْنُ نُحْيِ وَنُمِيتُ وَإِلَيْنَا الْمَصِيرُ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We who give life and cause death, and to Us is the return,</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18" name="Text 16"/>
          <p:cNvSpPr txBox="1"/>
          <p:nvPr/>
        </p:nvSpPr>
        <p:spPr>
          <a:xfrm>
            <a:off x="1444752" y="366617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تَشَقَّقُ الْأَرْضُ عَنْهُمْ سِرَاعًا ذَٰلِكَ حَشْرٌ عَلَيْنَا يَسِيرٌ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the earth splits open from them and they rush out. That gathering is easy for Us.</a:t>
            </a:r>
            <a:endParaRPr lang="en-US" sz="3000" dirty="0"/>
          </a:p>
        </p:txBody>
      </p:sp>
      <p:sp>
        <p:nvSpPr>
          <p:cNvPr id="19" name="Shape 17"/>
          <p:cNvSpPr/>
          <p:nvPr/>
        </p:nvSpPr>
        <p:spPr>
          <a:xfrm>
            <a:off x="1444752" y="4733163"/>
            <a:ext cx="8641080" cy="0"/>
          </a:xfrm>
          <a:prstGeom prst="line">
            <a:avLst/>
          </a:prstGeom>
          <a:noFill/>
          <a:ln w="9525">
            <a:solidFill>
              <a:schemeClr val="accent2"/>
            </a:solidFill>
            <a:prstDash val="dash"/>
          </a:ln>
        </p:spPr>
      </p:sp>
      <p:sp>
        <p:nvSpPr>
          <p:cNvPr id="20" name="Shape 18"/>
          <p:cNvSpPr/>
          <p:nvPr/>
        </p:nvSpPr>
        <p:spPr>
          <a:xfrm>
            <a:off x="713232" y="4853749"/>
            <a:ext cx="548640" cy="548640"/>
          </a:xfrm>
          <a:prstGeom prst="star8">
            <a:avLst/>
          </a:prstGeom>
          <a:solidFill>
            <a:schemeClr val="accent2"/>
          </a:solidFill>
          <a:ln/>
        </p:spPr>
      </p:sp>
      <p:sp>
        <p:nvSpPr>
          <p:cNvPr id="21" name="Shape 19"/>
          <p:cNvSpPr/>
          <p:nvPr/>
        </p:nvSpPr>
        <p:spPr>
          <a:xfrm>
            <a:off x="822960" y="4963477"/>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4853749"/>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23" name="Text 21"/>
          <p:cNvSpPr txBox="1"/>
          <p:nvPr/>
        </p:nvSpPr>
        <p:spPr>
          <a:xfrm>
            <a:off x="1444752" y="4835461"/>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نَّحْنُ أَعْلَمُ بِمَا يَقُولُونَ وَمَآ أَنتَ عَلَيْهِم بِجَبَّارٍ فَذَكِّرْ بِالْقُرْءَانِ مَن يَخَافُ وَعِيدِ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know best what they say, and you are not there to force them. So remind with the Qur'an whoever fears My warning.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000" b="1" dirty="0">
                <a:solidFill>
                  <a:schemeClr val="accent2"/>
                </a:solidFill>
                <a:latin typeface="Georgia" pitchFamily="34" charset="0"/>
                <a:ea typeface="Georgia" pitchFamily="34" charset="-122"/>
                <a:cs typeface="Georgia" pitchFamily="34" charset="-120"/>
              </a:rPr>
              <a:t>Surah Al-Hujurat</a:t>
            </a:r>
            <a:endParaRPr lang="en-US" sz="30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18 verses • The Private Rooms</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Madani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49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A delegation of Banu Tamim came to the Prophet (peace be upon him), and Abu Bakr and 'Umar (may Allah be pleased with them) disagreed about who should lead them until their voices were raised, so this was revealed: “O believers, do not raise your voices above the voice of the Prophet” (Bukhari).</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Teaching the believers good manners with Allah and His Messenger (peace be upon him), and the manners of brotherhood and society: checking news, making peace, and forbidding mockery, backbiting and suspicion.</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Al-Hujurat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لَا تُقَدِّمُواْ بَيْنَ يَدَيِ اللَّهِ وَرَسُولِهِ وَاتَّقُواْ اللَّهَ إِنَّ اللَّهَ سَمِيعٌ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do not put yourselves forward in word or deed before Allah and His Messenger decide, and have taqwa of Allah. Allah is All-Hearing, All-Knowing.</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لَا تَرْفَعُواْ أَصْوَٰتَكُمْ فَوْقَ صَوْتِ النَّبِيِّ وَلَا تَجْهَرُواْ لَهُ بِالْقَوْلِ كَجَهْرِ بَعْضِكُمْ لِبَعْضٍ أَن تَحْبَطَ أَعْمَٰلُكُمْ وَأَنتُمْ لَا تَشْعُرُونَ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do not raise your voices above the voice of the Prophet (peace be upon him), and do not call him by his name as you call one another, in case your deeds are lost without you realising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Al-Hujurat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 – 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8" name="Text 6"/>
          <p:cNvSpPr txBox="1"/>
          <p:nvPr/>
        </p:nvSpPr>
        <p:spPr>
          <a:xfrm>
            <a:off x="1444752" y="134416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يَغُضُّونَ أَصْوَٰتَهُمْ عِندَ رَسُولِ اللَّهِ أُوْلَـٰئِكَ الَّذِينَ امْتَحَنَ اللَّهُ قُلُوبَهُمْ لِلتَّقْوَىٰ لَهُم مَّغْفِرَةٌ وَأَجْرٌ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lower their voices before the Messenger of Allah are the ones whose hearts Allah has purified for taqwa; they will have forgiveness and a great reward.</a:t>
            </a:r>
            <a:endParaRPr lang="en-US" sz="3000" dirty="0"/>
          </a:p>
        </p:txBody>
      </p:sp>
      <p:sp>
        <p:nvSpPr>
          <p:cNvPr id="9" name="Shape 7"/>
          <p:cNvSpPr/>
          <p:nvPr/>
        </p:nvSpPr>
        <p:spPr>
          <a:xfrm>
            <a:off x="1444752" y="3236976"/>
            <a:ext cx="8641080" cy="0"/>
          </a:xfrm>
          <a:prstGeom prst="line">
            <a:avLst/>
          </a:prstGeom>
          <a:noFill/>
          <a:ln w="9525">
            <a:solidFill>
              <a:schemeClr val="accent2"/>
            </a:solidFill>
            <a:prstDash val="dash"/>
          </a:ln>
        </p:spPr>
      </p:sp>
      <p:sp>
        <p:nvSpPr>
          <p:cNvPr id="10" name="Shape 8"/>
          <p:cNvSpPr/>
          <p:nvPr/>
        </p:nvSpPr>
        <p:spPr>
          <a:xfrm>
            <a:off x="713232" y="3374136"/>
            <a:ext cx="548640" cy="548640"/>
          </a:xfrm>
          <a:prstGeom prst="star8">
            <a:avLst/>
          </a:prstGeom>
          <a:solidFill>
            <a:schemeClr val="accent2"/>
          </a:solidFill>
          <a:ln/>
        </p:spPr>
      </p:sp>
      <p:sp>
        <p:nvSpPr>
          <p:cNvPr id="11" name="Shape 9"/>
          <p:cNvSpPr/>
          <p:nvPr/>
        </p:nvSpPr>
        <p:spPr>
          <a:xfrm>
            <a:off x="822960" y="348386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741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13" name="Text 11"/>
          <p:cNvSpPr txBox="1"/>
          <p:nvPr/>
        </p:nvSpPr>
        <p:spPr>
          <a:xfrm>
            <a:off x="1444752" y="33558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يُنَادُونَكَ مِن وَرَآءِ الْحُجُرَٰتِ أَكْثَرُهُمْ لَا يَعْقِلُونَ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call you from outside your rooms, like some of the desert Arabs, most of them do not understand good manners.</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أَنَّهُمْ صَبَرُواْ حَتَّىٰ تَخْرُجَ إِلَيْهِمْ لَكَانَ خَيْرًا لَّهُمْ وَاللَّهُ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they had waited patiently until you came out to them, it would have been better for them. Allah is Forgiving,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Al-Hujurat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 – 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8" name="Text 6"/>
          <p:cNvSpPr txBox="1"/>
          <p:nvPr/>
        </p:nvSpPr>
        <p:spPr>
          <a:xfrm>
            <a:off x="1444752" y="1370457"/>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إِن جَآءَكُمْ فَاسِقٌ بِنَبَإٍ فَتَبَيَّنُواْ أَن تُصِيبُواْ قَوْمًا بِجَهَٰلَةٍ فَتُصْبِحُواْ عَلَىٰ مَا فَعَلْتُمْ نَٰدِمِينَ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if a disobedient person brings you news, check it carefully, so that you do not harm people without knowing the truth and then regret what you did.</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453003"/>
            <a:ext cx="548640" cy="548640"/>
          </a:xfrm>
          <a:prstGeom prst="star8">
            <a:avLst/>
          </a:prstGeom>
          <a:solidFill>
            <a:schemeClr val="accent2"/>
          </a:solidFill>
          <a:ln/>
        </p:spPr>
      </p:sp>
      <p:sp>
        <p:nvSpPr>
          <p:cNvPr id="11" name="Shape 9"/>
          <p:cNvSpPr/>
          <p:nvPr/>
        </p:nvSpPr>
        <p:spPr>
          <a:xfrm>
            <a:off x="822960" y="3562731"/>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45300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3" name="Text 11"/>
          <p:cNvSpPr txBox="1"/>
          <p:nvPr/>
        </p:nvSpPr>
        <p:spPr>
          <a:xfrm>
            <a:off x="1444752" y="3434715"/>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وَاعْلَمُواْ أَنَّ فِيكُمْ رَسُولَ اللَّهِ لَوْ يُطِيعُكُمْ فِي كَثِيرٍ مِّنَ الْأَمْرِ لَعَنِتُّمْ وَلَٰكِنَّ اللَّهَ حَبَّبَ إِلَيْكُمُ الْإِيمَٰنَ وَزَيَّنَهُ فِي قُلُوبِكُمْ وَكَرَّهَ إِلَيْكُمُ الْكُفْرَ وَالْفُسُوقَ وَالْعِصْيَانَ أُوْلَـٰئِكَ هُمُ الرَّـٰشِدُونَ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Know that the Messenger of Allah is among you. If he obeyed you in many of your opinions, you would fall into hardship. But Allah has made faith beloved to you and beautiful in your hearts, and made disbelief, disobedience and sin hateful to you. Those are the rightly guided,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Al-Hujurat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 – 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8" name="Text 6"/>
          <p:cNvSpPr txBox="1"/>
          <p:nvPr/>
        </p:nvSpPr>
        <p:spPr>
          <a:xfrm>
            <a:off x="1444752" y="170535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فَضْلًا مِّنَ اللَّهِ وَنِعْمَةً وَاللَّهُ عَلِيمٌ 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a favour and blessing from Allah. Allah is All-Knowing, All-Wise.</a:t>
            </a:r>
            <a:endParaRPr lang="en-US" sz="3000" dirty="0"/>
          </a:p>
        </p:txBody>
      </p:sp>
      <p:sp>
        <p:nvSpPr>
          <p:cNvPr id="9" name="Shape 7"/>
          <p:cNvSpPr/>
          <p:nvPr/>
        </p:nvSpPr>
        <p:spPr>
          <a:xfrm>
            <a:off x="1444752" y="2884932"/>
            <a:ext cx="8641080" cy="0"/>
          </a:xfrm>
          <a:prstGeom prst="line">
            <a:avLst/>
          </a:prstGeom>
          <a:noFill/>
          <a:ln w="9525">
            <a:solidFill>
              <a:schemeClr val="accent2"/>
            </a:solidFill>
            <a:prstDash val="dash"/>
          </a:ln>
        </p:spPr>
      </p:sp>
      <p:sp>
        <p:nvSpPr>
          <p:cNvPr id="10" name="Shape 8"/>
          <p:cNvSpPr/>
          <p:nvPr/>
        </p:nvSpPr>
        <p:spPr>
          <a:xfrm>
            <a:off x="713232" y="3118104"/>
            <a:ext cx="548640" cy="548640"/>
          </a:xfrm>
          <a:prstGeom prst="star8">
            <a:avLst/>
          </a:prstGeom>
          <a:solidFill>
            <a:schemeClr val="accent2"/>
          </a:solidFill>
          <a:ln/>
        </p:spPr>
      </p:sp>
      <p:sp>
        <p:nvSpPr>
          <p:cNvPr id="11" name="Shape 9"/>
          <p:cNvSpPr/>
          <p:nvPr/>
        </p:nvSpPr>
        <p:spPr>
          <a:xfrm>
            <a:off x="822960" y="322783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11810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3" name="Text 11"/>
          <p:cNvSpPr txBox="1"/>
          <p:nvPr/>
        </p:nvSpPr>
        <p:spPr>
          <a:xfrm>
            <a:off x="1444752" y="309981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طَآئِفَتَانِ مِنَ الْمُؤْمِنِينَ اقْتَتَلُواْ فَأَصْلِحُواْ بَيْنَهُمَا فَإِن بَغَتْ إِحْدَىٰهُمَا عَلَى الْأُخْرَىٰ فَقَٰتِلُواْ الَّتِي تَبْغِي حَتَّىٰ تَفِيءَ إِلَىٰ أَمْرِ اللَّهِ فَإِن فَآءَتْ فَأَصْلِحُواْ بَيْنَهُمَا بِالْعَدْلِ وَأَقْسِطُواْ إِنَّ اللَّهَ يُحِبُّ الْمُقْسِطِينَ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two groups of believers fight, make peace between them. If one of them attacks the other, fight the attacking group until it returns to Allah's command. If it returns, make peace between them with justice and be fair. Allah loves those who are fair.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Al-Hujurat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 – 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8" name="Text 6"/>
          <p:cNvSpPr txBox="1"/>
          <p:nvPr/>
        </p:nvSpPr>
        <p:spPr>
          <a:xfrm>
            <a:off x="1444752" y="15750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إِنَّمَا الْمُؤْمِنُونَ إِخْوَةٌ فَأَصْلِحُواْ بَيْنَ أَخَوَيْكُمْ وَاتَّقُواْ اللَّهَ لَعَلَّكُمْ تُرْحَمُونَ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believers are brothers in religion, so make peace between your brothers when they disagree, and have taqwa of Allah so that you may receive mercy.</a:t>
            </a:r>
            <a:endParaRPr lang="en-US" sz="3000" dirty="0"/>
          </a:p>
        </p:txBody>
      </p:sp>
      <p:sp>
        <p:nvSpPr>
          <p:cNvPr id="9" name="Shape 7"/>
          <p:cNvSpPr/>
          <p:nvPr/>
        </p:nvSpPr>
        <p:spPr>
          <a:xfrm>
            <a:off x="1444752" y="3015234"/>
            <a:ext cx="8641080" cy="0"/>
          </a:xfrm>
          <a:prstGeom prst="line">
            <a:avLst/>
          </a:prstGeom>
          <a:noFill/>
          <a:ln w="9525">
            <a:solidFill>
              <a:schemeClr val="accent2"/>
            </a:solidFill>
            <a:prstDash val="dash"/>
          </a:ln>
        </p:spPr>
      </p:sp>
      <p:sp>
        <p:nvSpPr>
          <p:cNvPr id="10" name="Shape 8"/>
          <p:cNvSpPr/>
          <p:nvPr/>
        </p:nvSpPr>
        <p:spPr>
          <a:xfrm>
            <a:off x="713232" y="3248406"/>
            <a:ext cx="548640" cy="548640"/>
          </a:xfrm>
          <a:prstGeom prst="star8">
            <a:avLst/>
          </a:prstGeom>
          <a:solidFill>
            <a:schemeClr val="accent2"/>
          </a:solidFill>
          <a:ln/>
        </p:spPr>
      </p:sp>
      <p:sp>
        <p:nvSpPr>
          <p:cNvPr id="11" name="Shape 9"/>
          <p:cNvSpPr/>
          <p:nvPr/>
        </p:nvSpPr>
        <p:spPr>
          <a:xfrm>
            <a:off x="822960" y="335813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4840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3" name="Text 11"/>
          <p:cNvSpPr txBox="1"/>
          <p:nvPr/>
        </p:nvSpPr>
        <p:spPr>
          <a:xfrm>
            <a:off x="1444752" y="3230118"/>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لَا يَسْخَرْ قَوْمٌ مِّن قَوْمٍ عَسَىٰ أَن يَكُونُواْ خَيْرًا مِّنْهُمْ وَلَا نِسَآءٌ مِّن نِّسَآءٍ عَسَىٰ أَن يَكُنَّ خَيْرًا مِّنْهُنَّ وَلَا تَلْمِزُواْ أَنفُسَكُمْ وَلَا تَنَابَزُواْ بِالْأَلْقَٰبِ بِئْسَ الِاسْمُ الْفُسُوقُ بَعْدَ الْإِيمَٰنِ وَمَن لَّمْ يَتُبْ فَأُوْلَـٰئِكَ هُمُ الظَّـٰلِمُونَ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let no people mock another people, for perhaps those mocked are better with Allah. Do not insult one another or call one another by hurtful nicknames. Whoever does not repent, they are the wrongdoers.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Al-Hujurat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اجْتَنِبُواْ كَثِيرًا مِّنَ الظَّنِّ إِنَّ بَعْضَ الظَّنِّ إِثْمٌ وَلَا تَجَسَّسُواْ وَلَا يَغْتَب بَّعْضُكُم بَعْضًا أَيُحِبُّ أَحَدُكُمْ أَن يَأْكُلَ لَحْمَ أَخِيهِ مَيْتًا فَكَرِهْتُمُوهُ وَاتَّقُواْ اللَّهَ إِنَّ اللَّهَ تَوَّابٌ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avoid much suspicion of people, for some suspicion is sin. Do not spy on the private matters of Muslims, and do not backbite one another. Would any of you like to eat the flesh of his dead brother? You would hate it, so hate backbiting.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Al-Hujurat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النَّاسُ إِنَّا خَلَقْنَٰكُم مِّن ذَكَرٍ وَأُنثَىٰ وَجَعَلْنَٰكُمْ شُعُوبًا وَقَبَآئِلَ لِتَعَارَفُواْ إِنَّ أَكْرَمَكُمْ عِندَ اللَّهِ أَتْقَىٰكُمْ إِنَّ اللَّهَ عَلِيمٌ خَبِيرٌ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people, We created you from one father and one mother, and made you nations and tribes so that you may know one another. The most honoured of you with Allah is the one with the most taqwa, not the one with the most wealth or the noblest family.</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قَالَتِ الْأَعْرَابُ ءَامَنَّا قُل لَّمْ تُؤْمِنُواْ وَلَٰكِن قُولُواْ أَسْلَمْنَا وَلَمَّا يَدْخُلِ الْإِيمَٰنُ فِي قُلُوبِكُمْ وَإِن تُطِيعُواْ اللَّهَ وَرَسُولَهُ لَا يَلِتْكُم مِّنْ أَعْمَٰلِكُمْ شَيْـًٔا إِنَّ اللَّهَ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Some desert Arabs said: We believe. Say: You do not yet have complete faith; rather say: We have submitted, for faith has not yet entered your hearts. If you obey Allah and His Messenger, He will not reduce your reward at all.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Al-Hujurat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15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إِنَّمَا الْمُؤْمِنُونَ الَّذِينَ ءَامَنُواْ بِاللَّهِ وَرَسُولِهِ ثُمَّ لَمْ يَرْتَابُواْ وَجَٰهَدُواْ بِأَمْوَٰلِهِمْ وَأَنفُسِهِمْ فِي سَبِيلِ اللَّهِ أُوْلَـٰئِكَ هُمُ الصَّـٰدِقُونَ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true believers are those who believe in Allah and His Messenger and then never doubt, and strive with their wealth and lives in the way of Allah. They are the truthful.</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أَتُعَلِّمُونَ اللَّهَ بِدِينِكُمْ وَاللَّهُ يَعْلَمُ مَا فِي السَّمَٰوَٰتِ وَمَا فِي الْأَرْضِ وَاللَّهُ بِكُلِّ شَيْءٍ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Would you tell Allah about your religion, when Allah knows what is in the heavens and the earth, and Allah knows everything?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Al-Hujurat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18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210997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يَمُنُّونَ عَلَيْكَ أَنْ أَسْلَمُواْ قُل لَّا تَمُنُّواْ عَلَيَّ إِسْلَٰمَكُم بَلِ اللَّهُ يَمُنُّ عَلَيْكُمْ أَنْ هَدَىٰكُمْ لِلْإِيمَٰنِ إِن كُنتُمْ صَٰدِقِينَ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act as if they did you a favour by becoming Muslim. Say: Do not count your Islam as a favour to me; rather Allah has done you a favour by guiding you to faith, if you are truthful.</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431368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اللَّهَ يَعْلَمُ غَيْبَ السَّمَٰوَٰتِ وَالْأَرْضِ وَاللَّهُ بَصِيرٌ بِمَا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knows what is hidden in the heavens and the earth, and Allah sees what you do.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Al-Fath</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29 verses • The Victory</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Madani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48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It was revealed after the Treaty of Al-Hudaybiyah while the Prophet (peace be upon him) was returning to Madinah. He said: "A surah has been revealed to me tonight that is dearer to me than everything the sun rises over," then recited: “We have given you a clear victory” (Bukhari).</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Good news of victory after the Treaty of Al-Hudaybiyah, the virtue of the Pledge of Ridwan, exposing the hypocrites who stayed behind, and describing the Prophet (peace be upon him) and his Companions.</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Al-Fath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فَتَحْنَا لَكَ فَتْحًا مُّبِينًا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given you, O Muhammad, a clear victory: the Treaty of Al-Hudaybiyah, which led to great good,</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93751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لِّيَغْفِرَ لَكَ اللَّهُ مَا تَقَدَّمَ مِن ذَنبِكَ وَمَا تَأَخَّرَ وَيُتِمَّ نِعْمَتَهُ عَلَيْكَ وَيَهْدِيَكَ صِرَٰطًا مُّسْتَقِيمًا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that Allah may forgive you your past and future sins, complete His blessing on you, and guide you to a straight path,</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وَيَنصُرَكَ اللَّهُ نَصْرًا عَزِيزًا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so that Allah may help you with a mighty victory with no humiliation in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Al-Fath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هُوَ الَّذِي أَنزَلَ السَّكِينَةَ فِي قُلُوبِ الْمُؤْمِنِينَ لِيَزْدَادُواْ إِيمَٰنًا مَّعَ إِيمَٰنِهِمْ وَلِلَّهِ جُنُودُ السَّمَٰوَٰتِ وَالْأَرْضِ وَكَانَ اللَّهُ عَلِيمًا حَكِيمًا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sent down calm into the hearts of the believers at Al-Hudaybiyah, so that they would increase in faith on top of their faith. To Allah belong the armies of the heavens and the earth.</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لِّيُدْخِلَ الْمُؤْمِنِينَ وَالْمُؤْمِنَٰتِ جَنَّـٰتٍ تَجْرِي مِن تَحْتِهَا الْأَنْهَٰرُ خَٰلِدِينَ فِيهَا وَيُكَفِّرَ عَنْهُمْ سَيِّـَٔاتِهِمْ وَكَانَ ذَٰلِكَ عِندَ اللَّهِ فَوْزًا عَظِيمًا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that He may admit the believing men and women to Gardens with rivers flowing beneath them, staying there forever, and wipe away their bad deeds. That is a great success with Allah.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Al-Fath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8" name="Text 6"/>
          <p:cNvSpPr txBox="1"/>
          <p:nvPr/>
        </p:nvSpPr>
        <p:spPr>
          <a:xfrm>
            <a:off x="1444752" y="134416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وَيُعَذِّبَ الْمُنَٰفِقِينَ وَالْمُنَٰفِقَٰتِ وَالْمُشْرِكِينَ وَالْمُشْرِكَٰتِ الظَّآنِّينَ بِاللَّهِ ظَنَّ السَّوْءِ عَلَيْهِمْ دَآئِرَةُ السَّوْءِ وَغَضِبَ اللَّهُ عَلَيْهِمْ وَلَعَنَهُمْ وَأَعَدَّ لَهُمْ جَهَنَّمَ وَسَآءَتْ مَصِيرًا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so that He may punish the hypocrites and idol-worshippers who think badly of Allah, thinking He will not help His Messenger. A bad turn of fortune will fall on them; Allah is angry with them, has cursed them and prepared Hell for them.</a:t>
            </a:r>
            <a:endParaRPr lang="en-US" sz="3000" dirty="0"/>
          </a:p>
        </p:txBody>
      </p:sp>
      <p:sp>
        <p:nvSpPr>
          <p:cNvPr id="9" name="Shape 7"/>
          <p:cNvSpPr/>
          <p:nvPr/>
        </p:nvSpPr>
        <p:spPr>
          <a:xfrm>
            <a:off x="1444752" y="3497580"/>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3" name="Text 11"/>
          <p:cNvSpPr txBox="1"/>
          <p:nvPr/>
        </p:nvSpPr>
        <p:spPr>
          <a:xfrm>
            <a:off x="1444752" y="361645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وَلِلَّهِ جُنُودُ السَّمَٰوَٰتِ وَالْأَرْضِ وَكَانَ اللَّهُ عَزِيزًا حَكِيمًا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Allah belong the armies of the heavens and the earth, and Allah is Almighty, All-Wise.</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أَرْسَلْنَٰكَ شَٰهِدًا وَمُبَشِّرًا وَنَذِيرًا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sent you, O Muhammad, as a witness over your nation, a bringer of good news to the believers and a warner to the disbelievers,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Al-Fath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لِّتُؤْمِنُواْ بِاللَّهِ وَرَسُولِهِ وَتُعَزِّرُوهُ وَتُوَقِّرُوهُ وَتُسَبِّحُوهُ بُكْرَةً وَأَصِيلًا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that you believe in Allah and His Messenger, support him, honour him, and glorify Allah morning and evening.</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يُبَايِعُونَكَ إِنَّمَا يُبَايِعُونَ اللَّهَ يَدُ اللَّهِ فَوْقَ أَيْدِيهِمْ فَمَن نَّكَثَ فَإِنَّمَا يَنكُثُ عَلَىٰ نَفْسِهِ وَمَنْ أَوْفَىٰ بِمَا عَٰهَدَ عَلَيْهُ اللَّهَ فَسَيُؤْتِيهِ أَجْرًا عَظِيمًا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pledge allegiance to you under the tree, the Pledge of Ridwan, are really pledging allegiance to Allah. Allah's hand is over their hands. Whoever breaks the pledge only harms himself, and whoever keeps his promise to Allah, He will give him a great reward.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Al-Fath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 –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8" name="Text 6"/>
          <p:cNvSpPr txBox="1"/>
          <p:nvPr/>
        </p:nvSpPr>
        <p:spPr>
          <a:xfrm>
            <a:off x="1444752" y="1435608"/>
            <a:ext cx="10012680" cy="235000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سَيَقُولُ لَكَ الْمُخَلَّفُونَ مِنَ الْأَعْرَابِ شَغَلَتْنَآ أَمْوَٰلُنَا وَأَهْلُونَا فَاسْتَغْفِرْ لَنَا يَقُولُونَ بِأَلْسِنَتِهِم مَّا لَيْسَ فِي قُلُوبِهِمْ قُلْ فَمَن يَمْلِكُ لَكُم مِّنَ اللَّهِ شَيْـًٔا إِنْ أَرَادَ بِكُمْ ضَرًّا أَوْ أَرَادَ بِكُمْ نَفْعًا بَلْ كَانَ اللَّهُ بِمَا تَعْمَلُونَ خَبِيرًا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desert Arabs who stayed behind will say to you: Our wealth and families kept us busy, so ask forgiveness for us. They say with their tongues what is not in their hearts.</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197096"/>
            <a:ext cx="548640" cy="548640"/>
          </a:xfrm>
          <a:prstGeom prst="star8">
            <a:avLst/>
          </a:prstGeom>
          <a:solidFill>
            <a:schemeClr val="accent2"/>
          </a:solidFill>
          <a:ln/>
        </p:spPr>
      </p:sp>
      <p:sp>
        <p:nvSpPr>
          <p:cNvPr id="11" name="Shape 9"/>
          <p:cNvSpPr/>
          <p:nvPr/>
        </p:nvSpPr>
        <p:spPr>
          <a:xfrm>
            <a:off x="822960" y="43068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1970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13" name="Text 11"/>
          <p:cNvSpPr txBox="1"/>
          <p:nvPr/>
        </p:nvSpPr>
        <p:spPr>
          <a:xfrm>
            <a:off x="1444752" y="41788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 ظَنَنتُمْ أَن لَّن يَنقَلِبَ الرَّسُولُ وَالْمُؤْمِنُونَ إِلَىٰ أَهْلِيهِمْ أَبَدًا وَزُيِّنَ ذَٰلِكَ فِي قُلُوبِكُمْ وَظَنَنتُمْ ظَنَّ السَّوْءِ وَكُنتُمْ قَوْمًا بُورًا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Rather, you thought the Messenger and the believers would never return to their families, and that seemed good in your hearts, and you were a ruined people.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Al-Fath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لَّمْ يُؤْمِن بِاللَّهِ وَرَسُولِهِ فَإِنَّآ أَعْتَدْنَا لِلْكَٰفِرِينَ سَعِيرًا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does not believe in Allah and His Messenger, We have prepared a blazing Fire for the disbelievers.</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وَلِلَّهِ مُلْكُ السَّمَٰوَٰتِ وَالْأَرْضِ يَغْفِرُ لِمَن يَشَآءُ وَيُعَذِّبُ مَن يَشَآءُ وَكَانَ اللَّهُ غَفُورًا رَّحِيمًا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Allah belongs the kingdom of the heavens and the earth. He forgives whom He wills and punishes whom He wills, and Allah is Forgiving,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Al-Fath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سَيَقُولُ الْمُخَلَّفُونَ إِذَا انطَلَقْتُمْ إِلَىٰ مَغَانِمَ لِتَأْخُذُوهَا ذَرُونَا نَتَّبِعْكُمْ يُرِيدُونَ أَن يُبَدِّلُواْ كَلَٰمَ اللَّهِ قُل لَّن تَتَّبِعُونَا كَذَٰلِكُمْ قَالَ اللَّهُ مِن قَبْلُ فَسَيَقُولُونَ بَلْ تَحْسُدُونَنَا بَلْ كَانُواْ لَا يَفْقَهُونَ إِلَّا قَلِيلًا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stayed behind will say, when you go to take the war gains of Khaybar: Let us follow you. They want to change Allah's promise that these are for the people of Al-Hudaybiyah. Say: You will not follow us; Allah has already said so.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Al-Fath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لِّلْمُخَلَّفِينَ مِنَ الْأَعْرَابِ سَتُدْعَوْنَ إِلَىٰ قَوْمٍ أُوْلِي بَأْسٍ شَدِيدٍ تُقَٰتِلُونَهُمْ أَوْ يُسْلِمُونَ فَإِن تُطِيعُواْ يُؤْتِكُمُ اللَّهُ أَجْرًا حَسَنًا وَإِن تَتَوَلَّوْاْ كَمَا تَوَلَّيْتُم مِّن قَبْلُ يُعَذِّبْكُمْ عَذَابًا أَلِيمًا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to the desert Arabs who stayed behind: You will be called to fight a mighty people; you will fight them or they will submit. If you obey, Allah will give you a good reward; but if you turn away as you did before, He will punish you with a painful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Al-Fath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18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370457"/>
            <a:ext cx="10012680" cy="235000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لَّيْسَ عَلَى الْأَعْمَىٰ حَرَجٌ وَلَا عَلَى الْأَعْرَجِ حَرَجٌ وَلَا عَلَى الْمَرِيضِ حَرَجٌ وَمَن يُطِعِ اللَّهَ وَرَسُولَهُ يُدْخِلْهُ جَنَّـٰتٍ تَجْرِي مِن تَحْتِهَا الْأَنْهَٰرُ وَمَن يَتَوَلَّ يُعَذِّبْهُ عَذَابًا أَلِيمًا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There is no sin on the blind, the lame or the sick for not going out to fight. Whoever obeys Allah and His Messenger, He will admit him to Gardens, and whoever turns away, He will punish him painfully.</a:t>
            </a:r>
            <a:endParaRPr lang="en-US" sz="3000" dirty="0"/>
          </a:p>
        </p:txBody>
      </p:sp>
      <p:sp>
        <p:nvSpPr>
          <p:cNvPr id="9" name="Shape 7"/>
          <p:cNvSpPr/>
          <p:nvPr/>
        </p:nvSpPr>
        <p:spPr>
          <a:xfrm>
            <a:off x="1444752" y="3838194"/>
            <a:ext cx="8641080" cy="0"/>
          </a:xfrm>
          <a:prstGeom prst="line">
            <a:avLst/>
          </a:prstGeom>
          <a:noFill/>
          <a:ln w="9525">
            <a:solidFill>
              <a:schemeClr val="accent2"/>
            </a:solidFill>
            <a:prstDash val="dash"/>
          </a:ln>
        </p:spPr>
      </p:sp>
      <p:sp>
        <p:nvSpPr>
          <p:cNvPr id="10" name="Shape 8"/>
          <p:cNvSpPr/>
          <p:nvPr/>
        </p:nvSpPr>
        <p:spPr>
          <a:xfrm>
            <a:off x="713232" y="4001643"/>
            <a:ext cx="548640" cy="548640"/>
          </a:xfrm>
          <a:prstGeom prst="star8">
            <a:avLst/>
          </a:prstGeom>
          <a:solidFill>
            <a:schemeClr val="accent2"/>
          </a:solidFill>
          <a:ln/>
        </p:spPr>
      </p:sp>
      <p:sp>
        <p:nvSpPr>
          <p:cNvPr id="11" name="Shape 9"/>
          <p:cNvSpPr/>
          <p:nvPr/>
        </p:nvSpPr>
        <p:spPr>
          <a:xfrm>
            <a:off x="822960" y="4111371"/>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0164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3983355"/>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لَّقَدْ رَضِيَ اللَّهُ عَنِ الْمُؤْمِنِينَ إِذْ يُبَايِعُونَكَ تَحْتَ الشَّجَرَةِ فَعَلِمَ مَا فِي قُلُوبِهِمْ فَأَنزَلَ السَّكِينَةَ عَلَيْهِمْ وَأَثَٰبَهُمْ فَتْحًا قَرِيبًا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was pleased with the believers when they pledged allegiance to you under the tree at Al-Hudaybiyah. He knew the sincerity in their hearts, so He sent down calm upon them and rewarded them with a near victory, the conquest of Khaybar,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Al-Fath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19 – 21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8" name="Text 6"/>
          <p:cNvSpPr txBox="1"/>
          <p:nvPr/>
        </p:nvSpPr>
        <p:spPr>
          <a:xfrm>
            <a:off x="1444752" y="13441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وَمَغَانِمَ كَثِيرَةً يَأْخُذُونَهَا وَكَانَ اللَّهُ عَزِيزًا حَكِيمًا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many war gains they will take. Allah is Almighty, All-Wise.</a:t>
            </a:r>
            <a:endParaRPr lang="en-US" sz="3000" dirty="0"/>
          </a:p>
        </p:txBody>
      </p:sp>
      <p:sp>
        <p:nvSpPr>
          <p:cNvPr id="9" name="Shape 7"/>
          <p:cNvSpPr/>
          <p:nvPr/>
        </p:nvSpPr>
        <p:spPr>
          <a:xfrm>
            <a:off x="1444752" y="2427732"/>
            <a:ext cx="8641080" cy="0"/>
          </a:xfrm>
          <a:prstGeom prst="line">
            <a:avLst/>
          </a:prstGeom>
          <a:noFill/>
          <a:ln w="9525">
            <a:solidFill>
              <a:schemeClr val="accent2"/>
            </a:solidFill>
            <a:prstDash val="dash"/>
          </a:ln>
        </p:spPr>
      </p:sp>
      <p:sp>
        <p:nvSpPr>
          <p:cNvPr id="10" name="Shape 8"/>
          <p:cNvSpPr/>
          <p:nvPr/>
        </p:nvSpPr>
        <p:spPr>
          <a:xfrm>
            <a:off x="713232" y="2564892"/>
            <a:ext cx="548640" cy="548640"/>
          </a:xfrm>
          <a:prstGeom prst="star8">
            <a:avLst/>
          </a:prstGeom>
          <a:solidFill>
            <a:schemeClr val="accent2"/>
          </a:solidFill>
          <a:ln/>
        </p:spPr>
      </p:sp>
      <p:sp>
        <p:nvSpPr>
          <p:cNvPr id="11" name="Shape 9"/>
          <p:cNvSpPr/>
          <p:nvPr/>
        </p:nvSpPr>
        <p:spPr>
          <a:xfrm>
            <a:off x="822960" y="267462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6489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13" name="Text 11"/>
          <p:cNvSpPr txBox="1"/>
          <p:nvPr/>
        </p:nvSpPr>
        <p:spPr>
          <a:xfrm>
            <a:off x="1444752" y="254660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وَعَدَكُمُ اللَّهُ مَغَانِمَ كَثِيرَةً تَأْخُذُونَهَا فَعَجَّلَ لَكُمْ هَٰذِهِ وَكَفَّ أَيْدِيَ النَّاسِ عَنكُمْ وَلِتَكُونَ ءَايَةً لِّلْمُؤْمِنِينَ وَيَهْدِيَكُمْ صِرَٰطًا مُّسْتَقِيمًا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has promised you many war gains that you will take. He hurried these of Khaybar for you, held back people's hands from you so that it would be a sign for the believers, and to guide you to a straight path,</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وَأُخْرَىٰ لَمْ تَقْدِرُواْ عَلَيْهَا قَدْ أَحَاطَ اللَّهُ بِهَا وَكَانَ اللَّهُ عَلَىٰ كُلِّ شَيْءٍ قَدِيرًا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other gains you have not yet been able to take, which Allah surrounds, like the Conquest of Makkah and others. Allah has power over all things.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Al-Fath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22 – 24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قَٰتَلَكُمُ الَّذِينَ كَفَرُواْ لَوَلَّوُاْ الْأَدْبَٰرَ ثُمَّ لَا يَجِدُونَ وَلِيًّا وَلَا نَصِيرًا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 disbelievers had fought you, they would have turned and run, and then found no protector or helper.</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3" name="Text 11"/>
          <p:cNvSpPr txBox="1"/>
          <p:nvPr/>
        </p:nvSpPr>
        <p:spPr>
          <a:xfrm>
            <a:off x="1444752" y="280720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سُنَّةَ اللَّهِ الَّتِي قَدْ خَلَتْ مِن قَبْلُ وَلَن تَجِدَ لِسُنَّةِ اللَّهِ تَبْدِيلًا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Allah's way of helping His friends, and you will find no change in Allah's way.</a:t>
            </a:r>
            <a:endParaRPr lang="en-US" sz="3000" dirty="0"/>
          </a:p>
        </p:txBody>
      </p:sp>
      <p:sp>
        <p:nvSpPr>
          <p:cNvPr id="14" name="Shape 12"/>
          <p:cNvSpPr/>
          <p:nvPr/>
        </p:nvSpPr>
        <p:spPr>
          <a:xfrm>
            <a:off x="1444752" y="3890772"/>
            <a:ext cx="8641080" cy="0"/>
          </a:xfrm>
          <a:prstGeom prst="line">
            <a:avLst/>
          </a:prstGeom>
          <a:noFill/>
          <a:ln w="9525">
            <a:solidFill>
              <a:schemeClr val="accent2"/>
            </a:solidFill>
            <a:prstDash val="dash"/>
          </a:ln>
        </p:spPr>
      </p:sp>
      <p:sp>
        <p:nvSpPr>
          <p:cNvPr id="15" name="Shape 13"/>
          <p:cNvSpPr/>
          <p:nvPr/>
        </p:nvSpPr>
        <p:spPr>
          <a:xfrm>
            <a:off x="713232" y="4027932"/>
            <a:ext cx="548640" cy="548640"/>
          </a:xfrm>
          <a:prstGeom prst="star8">
            <a:avLst/>
          </a:prstGeom>
          <a:solidFill>
            <a:schemeClr val="accent2"/>
          </a:solidFill>
          <a:ln/>
        </p:spPr>
      </p:sp>
      <p:sp>
        <p:nvSpPr>
          <p:cNvPr id="16" name="Shape 14"/>
          <p:cNvSpPr/>
          <p:nvPr/>
        </p:nvSpPr>
        <p:spPr>
          <a:xfrm>
            <a:off x="822960" y="413766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02793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18" name="Text 16"/>
          <p:cNvSpPr txBox="1"/>
          <p:nvPr/>
        </p:nvSpPr>
        <p:spPr>
          <a:xfrm>
            <a:off x="1444752" y="400964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وَهُوَ الَّذِي كَفَّ أَيْدِيَهُمْ عَنكُمْ وَأَيْدِيَكُمْ عَنْهُم بِبَطْنِ مَكَّةَ مِن بَعْدِ أَنْ أَظْفَرَكُمْ عَلَيْهِمْ وَكَانَ اللَّهُ بِمَا تَعْمَلُونَ بَصِيرًا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held back the idol-worshippers' hands from you and your hands from them at Al-Hudaybiyah near Makkah, after He had given you the upper hand over them. Allah sees what you do.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Al-Fath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46554"/>
            <a:ext cx="548640" cy="548640"/>
          </a:xfrm>
          <a:prstGeom prst="star8">
            <a:avLst/>
          </a:prstGeom>
          <a:solidFill>
            <a:schemeClr val="accent2"/>
          </a:solidFill>
          <a:ln/>
        </p:spPr>
      </p:sp>
      <p:sp>
        <p:nvSpPr>
          <p:cNvPr id="6" name="Shape 4"/>
          <p:cNvSpPr/>
          <p:nvPr/>
        </p:nvSpPr>
        <p:spPr>
          <a:xfrm>
            <a:off x="822960" y="22562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465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8" name="Text 6"/>
          <p:cNvSpPr txBox="1"/>
          <p:nvPr/>
        </p:nvSpPr>
        <p:spPr>
          <a:xfrm>
            <a:off x="1444752" y="2128266"/>
            <a:ext cx="10012680" cy="315925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هُمُ الَّذِينَ كَفَرُواْ وَصَدُّوكُمْ عَنِ الْمَسْجِدِ الْحَرَامِ وَالْهَدْيَ مَعْكُوفًا أَن يَبْلُغَ مَحِلَّهُ وَلَوْلَا رِجَالٌ مُّؤْمِنُونَ وَنِسَآءٌ مُّؤْمِنَٰتٌ لَّمْ تَعْلَمُوهُمْ أَن تَطَـُٔوهُمْ فَتُصِيبَكُم مِّنْهُم مَّعَرَّةٌ بِغَيْرِ عِلْمٍ لِّيُدْخِلَ اللَّهُ فِي رَحْمَتِهِ مَن يَشَآءُ لَوْ تَزَيَّلُواْ لَعَذَّبْنَا الَّذِينَ كَفَرُواْ مِنْهُمْ عَذَابًا أَلِيمًا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are the ones who disbelieved, blocked you from Al-Masjid Al-Haram, and stopped the sacrificial animals from reaching their place. If not for weak believers in Makkah whom you did not know and might have killed without knowing, Allah would have allowed you to enter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Al-Fath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جَعَلَ الَّذِينَ كَفَرُواْ فِي قُلُوبِهِمُ الْحَمِيَّةَ حَمِيَّةَ الْجَٰهِلِيَّةِ فَأَنزَلَ اللَّهُ سَكِينَتَهُ عَلَىٰ رَسُولِهِ وَعَلَى الْمُؤْمِنِينَ وَأَلْزَمَهُمْ كَلِمَةَ التَّقْوَىٰ وَكَانُواْ أَحَقَّ بِهَا وَأَهْلَهَا وَكَانَ اللَّهُ بِكُلِّ شَيْءٍ عَلِيمًا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disbelievers filled their hearts with the pride of the time of ignorance and refused to write "Bismillahir-Rahmanir-Rahim" in the treaty, Allah sent down His calm upon His Messenger and the believers, and kept them firm on the word of tawhid; they were most deserving of it and worthy of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Al-Fath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27 – 28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8" name="Text 6"/>
          <p:cNvSpPr txBox="1"/>
          <p:nvPr/>
        </p:nvSpPr>
        <p:spPr>
          <a:xfrm>
            <a:off x="1444752" y="1435608"/>
            <a:ext cx="10012680" cy="235000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لَّقَدْ صَدَقَ اللَّهُ رَسُولَهُ الرُّءْيَا بِالْحَقِّ لَتَدْخُلُنَّ الْمَسْجِدَ الْحَرَامَ إِن شَآءَ اللَّهُ ءَامِنِينَ مُحَلِّقِينَ رُءُوسَكُمْ وَمُقَصِّرِينَ لَا تَخَافُونَ فَعَلِمَ مَا لَمْ تَعْلَمُواْ فَجَعَلَ مِن دُونِ ذَٰلِكَ فَتْحًا قَرِيبًا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has fulfilled His Messenger's dream in truth: You will surely enter Al-Masjid Al-Haram, if Allah wills, in safety, with heads shaved or hair shortened. This came true in the 'Umrah of the next year.</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197096"/>
            <a:ext cx="548640" cy="548640"/>
          </a:xfrm>
          <a:prstGeom prst="star8">
            <a:avLst/>
          </a:prstGeom>
          <a:solidFill>
            <a:schemeClr val="accent2"/>
          </a:solidFill>
          <a:ln/>
        </p:spPr>
      </p:sp>
      <p:sp>
        <p:nvSpPr>
          <p:cNvPr id="11" name="Shape 9"/>
          <p:cNvSpPr/>
          <p:nvPr/>
        </p:nvSpPr>
        <p:spPr>
          <a:xfrm>
            <a:off x="822960" y="43068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1970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13" name="Text 11"/>
          <p:cNvSpPr txBox="1"/>
          <p:nvPr/>
        </p:nvSpPr>
        <p:spPr>
          <a:xfrm>
            <a:off x="1444752" y="41788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هُوَ الَّذِي أَرْسَلَ رَسُولَهُ بِالْهُدَىٰ وَدِينِ الْحَقِّ لِيُظْهِرَهُ عَلَى الدِّينِ كُلِّهِ وَكَفَىٰ بِاللَّهِ شَهِيدًا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sent His Messenger with guidance and the true religion of Islam, to make it prevail over all religions, and Allah is enough as a Witness.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Al-Fath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41932"/>
            <a:ext cx="548640" cy="548640"/>
          </a:xfrm>
          <a:prstGeom prst="star8">
            <a:avLst/>
          </a:prstGeom>
          <a:solidFill>
            <a:schemeClr val="accent2"/>
          </a:solidFill>
          <a:ln/>
        </p:spPr>
      </p:sp>
      <p:sp>
        <p:nvSpPr>
          <p:cNvPr id="6" name="Shape 4"/>
          <p:cNvSpPr/>
          <p:nvPr/>
        </p:nvSpPr>
        <p:spPr>
          <a:xfrm>
            <a:off x="822960" y="185166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4193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8" name="Text 6"/>
          <p:cNvSpPr txBox="1"/>
          <p:nvPr/>
        </p:nvSpPr>
        <p:spPr>
          <a:xfrm>
            <a:off x="1444752" y="1723644"/>
            <a:ext cx="10012680" cy="396849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مُّحَمَّدٌ رَّسُولُ اللَّهِ وَالَّذِينَ مَعَهُ أَشِدَّآءُ عَلَى الْكُفَّارِ رُحَمَآءُ بَيْنَهُمْ تَرَىٰهُمْ رُكَّعًا سُجَّدًا يَبْتَغُونَ فَضْلًا مِّنَ اللَّهِ وَرِضْوَٰنًا سِيمَاهُمْ فِي وُجُوهِهِم مِّنْ أَثَرِ السُّجُودِ ذَٰلِكَ مَثَلُهُمْ فِي التَّوْرَىٰةِ وَمَثَلُهُمْ فِي الْإِنجِيلِ كَزَرْعٍ أَخْرَجَ شَطْـَٔهُ فَـَٔازَرَهُ فَاسْتَغْلَظَ فَاسْتَوَىٰ عَلَىٰ سُوقِهِ يُعْجِبُ الزُّرَّاعَ لِيَغِيظَ بِهِمُ الْكُفَّارَ وَعَدَ اللَّهُ الَّذِينَ ءَامَنُواْ وَعَمِلُواْ الصَّـٰلِحَٰتِ مِنْهُم مَّغْفِرَةً وَأَجْرًا عَظِيمًا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Muhammad is the Messenger of Allah, and his Companions are firm against the disbelievers and merciful to one another. You see them bowing and prostrating, seeking Allah's favour and pleasure. Their mark is on their faces from the effect of prayer. They are like a plant that sends out its shoots, grows strong and stands straight, pleasing the farmers.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Muhammad</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38 verses • The Prophet Muhammad</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Madani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47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Ibn Kathir mentions from Ibn 'Abbas that when the Prophet (peace be upon him) left Makkah emigrating, he turned towards it and said: "You are the most beloved of Allah's lands to Allah, and the most beloved of Allah's lands to me. If your people had not driven me out, I would not have left you." So Allah revealed: “How many towns stronger than your town which drove you out...”.</a:t>
            </a:r>
            <a:endParaRPr lang="en-US" sz="14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Comparing the believers and disbelievers in their deeds and rewards, the rulings of fighting, exposing the hypocrites, and encouraging reflection on the Qur'an.</a:t>
            </a:r>
            <a:endParaRPr lang="en-US" sz="17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Muhammad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9796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كَفَرُواْ وَصَدُّواْ عَن سَبِيلِ اللَّهِ أَضَلَّ أَعْمَٰلَهُمْ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disbelieve and block people from Islam, Allah has made their deeds go to waste.</a:t>
            </a:r>
            <a:endParaRPr lang="en-US" sz="3000" dirty="0"/>
          </a:p>
        </p:txBody>
      </p:sp>
      <p:sp>
        <p:nvSpPr>
          <p:cNvPr id="9" name="Shape 7"/>
          <p:cNvSpPr/>
          <p:nvPr/>
        </p:nvSpPr>
        <p:spPr>
          <a:xfrm>
            <a:off x="1444752" y="3159252"/>
            <a:ext cx="8641080" cy="0"/>
          </a:xfrm>
          <a:prstGeom prst="line">
            <a:avLst/>
          </a:prstGeom>
          <a:noFill/>
          <a:ln w="9525">
            <a:solidFill>
              <a:schemeClr val="accent2"/>
            </a:solidFill>
            <a:prstDash val="dash"/>
          </a:ln>
        </p:spPr>
      </p:sp>
      <p:sp>
        <p:nvSpPr>
          <p:cNvPr id="10" name="Shape 8"/>
          <p:cNvSpPr/>
          <p:nvPr/>
        </p:nvSpPr>
        <p:spPr>
          <a:xfrm>
            <a:off x="713232" y="3392424"/>
            <a:ext cx="548640" cy="548640"/>
          </a:xfrm>
          <a:prstGeom prst="star8">
            <a:avLst/>
          </a:prstGeom>
          <a:solidFill>
            <a:schemeClr val="accent2"/>
          </a:solidFill>
          <a:ln/>
        </p:spPr>
      </p:sp>
      <p:sp>
        <p:nvSpPr>
          <p:cNvPr id="11" name="Shape 9"/>
          <p:cNvSpPr/>
          <p:nvPr/>
        </p:nvSpPr>
        <p:spPr>
          <a:xfrm>
            <a:off x="822960" y="350215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924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37413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ءَامَنُواْ وَعَمِلُواْ الصَّـٰلِحَٰتِ وَءَامَنُواْ بِمَا نُزِّلَ عَلَىٰ مُحَمَّدٍ وَهُوَ الْحَقُّ مِن رَّبِّهِمْ كَفَّرَ عَنْهُمْ سَيِّـَٔاتِهِمْ وَأَصْلَحَ بَالَهُمْ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those who believe, do good deeds, and believe in what was sent down to Muhammad (peace be upon him), which is the truth from their Lord, He wipes away their bad deeds and puts their affairs and condition right.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Muhammad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8" name="Text 6"/>
          <p:cNvSpPr txBox="1"/>
          <p:nvPr/>
        </p:nvSpPr>
        <p:spPr>
          <a:xfrm>
            <a:off x="1444752" y="1370457"/>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بِأَنَّ الَّذِينَ كَفَرُواْ اتَّبَعُواْ الْبَٰطِلَ وَأَنَّ الَّذِينَ ءَامَنُواْ اتَّبَعُواْ الْحَقَّ مِن رَّبِّهِمْ كَذَٰلِكَ يَضْرِبُ اللَّهُ لِلنَّاسِ أَمْثَٰلَهُمْ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because the disbelievers follow falsehood, while the believers follow the truth from their Lord. That is how Allah shows people their examples.</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453003"/>
            <a:ext cx="548640" cy="548640"/>
          </a:xfrm>
          <a:prstGeom prst="star8">
            <a:avLst/>
          </a:prstGeom>
          <a:solidFill>
            <a:schemeClr val="accent2"/>
          </a:solidFill>
          <a:ln/>
        </p:spPr>
      </p:sp>
      <p:sp>
        <p:nvSpPr>
          <p:cNvPr id="11" name="Shape 9"/>
          <p:cNvSpPr/>
          <p:nvPr/>
        </p:nvSpPr>
        <p:spPr>
          <a:xfrm>
            <a:off x="822960" y="3562731"/>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45300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13" name="Text 11"/>
          <p:cNvSpPr txBox="1"/>
          <p:nvPr/>
        </p:nvSpPr>
        <p:spPr>
          <a:xfrm>
            <a:off x="1444752" y="3434715"/>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فَإِذَا لَقِيتُمُ الَّذِينَ كَفَرُواْ فَضَرْبَ الرِّقَابِ حَتَّىٰ إِذَآ أَثْخَنتُمُوهُمْ فَشُدُّواْ الْوَثَاقَ فَإِمَّا مَنًّا بَعْدُ وَإِمَّا فِدَآءً حَتَّىٰ تَضَعَ الْحَرْبُ أَوْزَارَهَا ذَٰلِكَ وَلَوْ يَشَآءُ اللَّهُ لَانتَصَرَ مِنْهُمْ وَلَٰكِن لِّيَبْلُوَاْ بَعْضَكُم بِبَعْضٍ وَالَّذِينَ قُتِلُواْ فِي سَبِيلِ اللَّهِ فَلَن يُضِلَّ أَعْمَٰلَهُمْ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you meet the disbelievers in battle, strike their necks, until when you have weakened them, tie them firmly as captives. Then either free them as a favour or take ransom, until the war ends. If Allah had willed, He could have defeated them without fighting, but He tests some of you through others.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Muhammad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سَيَهْدِيهِمْ وَيُصْلِحُ بَالَهُمْ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will guide the martyrs and put their condition right,</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وَيُدْخِلُهُمُ الْجَنَّةَ عَرَّفَهَا لَهُمْ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admit them to Paradise, which He has made known to them.</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إِن تَنصُرُواْ اللَّهَ يَنصُرْكُمْ وَيُثَبِّتْ أَقْدَامَكُمْ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if you help Allah's religion, He will help you and make your feet firm.</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كَفَرُواْ فَتَعْسًا لَّهُمْ وَأَضَلَّ أَعْمَٰلَهُمْ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those who disbelieve, ruin to them, and He has made their deeds go to waste.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Muhammad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بِأَنَّهُمْ كَرِهُواْ مَآ أَنزَلَ اللَّهُ فَأَحْبَطَ أَعْمَٰلَهُمْ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because they hated what Allah sent down, the Qur'an, so He made their deeds worthless.</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أَفَلَمْ يَسِيرُواْ فِي الْأَرْضِ فَيَنظُرُواْ كَيْفَ كَانَ عَٰقِبَةُ الَّذِينَ مِن قَبْلِهِمْ دَمَّرَ اللَّهُ عَلَيْهِمْ وَلِلْكَٰفِرِينَ أَمْثَٰلُهَا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they not travelled through the land and seen what happened to the nations before them who denied? Allah destroyed them, and the disbelievers will have the like of it.</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بِأَنَّ اللَّهَ مَوْلَى الَّذِينَ ءَامَنُواْ وَأَنَّ الْكَٰفِرِينَ لَا مَوْلَىٰ لَهُمْ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because Allah is the Protector of the believers, and the disbelievers have no protector.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Muhammad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 – 14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8" name="Text 6"/>
          <p:cNvSpPr txBox="1"/>
          <p:nvPr/>
        </p:nvSpPr>
        <p:spPr>
          <a:xfrm>
            <a:off x="1444752" y="134416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اللَّهَ يُدْخِلُ الَّذِينَ ءَامَنُواْ وَعَمِلُواْ الصَّـٰلِحَٰتِ جَنَّـٰتٍ تَجْرِي مِن تَحْتِهَا الْأَنْهَٰرُ وَالَّذِينَ كَفَرُواْ يَتَمَتَّعُونَ وَيَأْكُلُونَ كَمَا تَأْكُلُ الْأَنْعَٰمُ وَالنَّارُ مَثْوًى لَّهُمْ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will admit the believers to Gardens with rivers flowing beneath them, while the disbelievers enjoy this world and eat as animals eat, without thinking, and the Fire will be their home.</a:t>
            </a:r>
            <a:endParaRPr lang="en-US" sz="3000" dirty="0"/>
          </a:p>
        </p:txBody>
      </p:sp>
      <p:sp>
        <p:nvSpPr>
          <p:cNvPr id="9" name="Shape 7"/>
          <p:cNvSpPr/>
          <p:nvPr/>
        </p:nvSpPr>
        <p:spPr>
          <a:xfrm>
            <a:off x="1444752" y="3236976"/>
            <a:ext cx="8641080" cy="0"/>
          </a:xfrm>
          <a:prstGeom prst="line">
            <a:avLst/>
          </a:prstGeom>
          <a:noFill/>
          <a:ln w="9525">
            <a:solidFill>
              <a:schemeClr val="accent2"/>
            </a:solidFill>
            <a:prstDash val="dash"/>
          </a:ln>
        </p:spPr>
      </p:sp>
      <p:sp>
        <p:nvSpPr>
          <p:cNvPr id="10" name="Shape 8"/>
          <p:cNvSpPr/>
          <p:nvPr/>
        </p:nvSpPr>
        <p:spPr>
          <a:xfrm>
            <a:off x="713232" y="3374136"/>
            <a:ext cx="548640" cy="548640"/>
          </a:xfrm>
          <a:prstGeom prst="star8">
            <a:avLst/>
          </a:prstGeom>
          <a:solidFill>
            <a:schemeClr val="accent2"/>
          </a:solidFill>
          <a:ln/>
        </p:spPr>
      </p:sp>
      <p:sp>
        <p:nvSpPr>
          <p:cNvPr id="11" name="Shape 9"/>
          <p:cNvSpPr/>
          <p:nvPr/>
        </p:nvSpPr>
        <p:spPr>
          <a:xfrm>
            <a:off x="822960" y="348386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741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13" name="Text 11"/>
          <p:cNvSpPr txBox="1"/>
          <p:nvPr/>
        </p:nvSpPr>
        <p:spPr>
          <a:xfrm>
            <a:off x="1444752" y="33558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وَكَأَيِّن مِّن قَرْيَةٍ هِيَ أَشَدُّ قُوَّةً مِّن قَرْيَتِكَ الَّتِي أَخْرَجَتْكَ أَهْلَكْنَٰهُمْ فَلَا نَاصِرَ لَهُمْ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How many towns that were stronger than Makkah, whose people drove you out, We destroyed, and they had no helper!</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أَفَمَن كَانَ عَلَىٰ بَيِّنَةٍ مِّن رَّبِّهِ كَمَن زُيِّنَ لَهُ سُوءُ عَمَلِهِ وَاتَّبَعُواْ أَهْوَآءَهُم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Is one who stands on clear proof from his Lord like one whose evil deeds are made to look good to him and who follows his desires?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Muhammad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016252"/>
            <a:ext cx="548640" cy="548640"/>
          </a:xfrm>
          <a:prstGeom prst="star8">
            <a:avLst/>
          </a:prstGeom>
          <a:solidFill>
            <a:schemeClr val="accent2"/>
          </a:solidFill>
          <a:ln/>
        </p:spPr>
      </p:sp>
      <p:sp>
        <p:nvSpPr>
          <p:cNvPr id="6" name="Shape 4"/>
          <p:cNvSpPr/>
          <p:nvPr/>
        </p:nvSpPr>
        <p:spPr>
          <a:xfrm>
            <a:off x="822960" y="212598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01625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8" name="Text 6"/>
          <p:cNvSpPr txBox="1"/>
          <p:nvPr/>
        </p:nvSpPr>
        <p:spPr>
          <a:xfrm>
            <a:off x="1444752" y="1997964"/>
            <a:ext cx="10012680" cy="341985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مَّثَلُ الْجَنَّةِ الَّتِي وُعِدَ الْمُتَّقُونَ فِيهَآ أَنْهَٰرٌ مِّن مَّآءٍ غَيْرِ ءَاسِنٍ وَأَنْهَٰرٌ مِّن لَّبَنٍ لَّمْ يَتَغَيَّرْ طَعْمُهُ وَأَنْهَٰرٌ مِّنْ خَمْرٍ لَّذَّةٍ لِّلشَّـٰرِبِينَ وَأَنْهَٰرٌ مِّنْ عَسَلٍ مُّصَفًّى وَلَهُمْ فِيهَا مِن كُلِّ الثَّمَرَٰتِ وَمَغْفِرَةٌ مِّن رَّبِّهِمْ كَمَنْ هُوَ خَٰلِدٌ فِي النَّارِ وَسُقُواْ مَآءً حَمِيمًا فَقَطَّعَ أَمْعَآءَهُمْ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description of Paradise: in it are rivers of water that never goes stale, rivers of milk whose taste never changes, rivers of delicious wine that does not make one drunk, and rivers of pure honey. They will have every kind of fruit there, and forgiveness. Are they like those who stay in the Fire forever, given boiling water to drink that tears their insides?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Muhammad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 – 17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8" name="Text 6"/>
          <p:cNvSpPr txBox="1"/>
          <p:nvPr/>
        </p:nvSpPr>
        <p:spPr>
          <a:xfrm>
            <a:off x="1444752" y="197967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وَمِنْهُم مَّن يَسْتَمِعُ إِلَيْكَ حَتَّىٰ إِذَا خَرَجُواْ مِنْ عِندِكَ قَالُواْ لِلَّذِينَ أُوتُواْ الْعِلْمَ مَاذَا قَالَ ءَانِفًا أُوْلَـٰئِكَ الَّذِينَ طَبَعَ اللَّهُ عَلَىٰ قُلُوبِهِمْ وَاتَّبَعُواْ أَهْوَآءَهُمْ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Among the hypocrites are some who listen to you without understanding, and when they leave they say mockingly to the knowledgeable Companions: What did he just say? Those are the ones whose hearts Allah has sealed, and they follow their desires.</a:t>
            </a:r>
            <a:endParaRPr lang="en-US" sz="3000" dirty="0"/>
          </a:p>
        </p:txBody>
      </p:sp>
      <p:sp>
        <p:nvSpPr>
          <p:cNvPr id="9" name="Shape 7"/>
          <p:cNvSpPr/>
          <p:nvPr/>
        </p:nvSpPr>
        <p:spPr>
          <a:xfrm>
            <a:off x="1444752" y="4229100"/>
            <a:ext cx="8641080" cy="0"/>
          </a:xfrm>
          <a:prstGeom prst="line">
            <a:avLst/>
          </a:prstGeom>
          <a:noFill/>
          <a:ln w="9525">
            <a:solidFill>
              <a:schemeClr val="accent2"/>
            </a:solidFill>
            <a:prstDash val="dash"/>
          </a:ln>
        </p:spPr>
      </p:sp>
      <p:sp>
        <p:nvSpPr>
          <p:cNvPr id="10" name="Shape 8"/>
          <p:cNvSpPr/>
          <p:nvPr/>
        </p:nvSpPr>
        <p:spPr>
          <a:xfrm>
            <a:off x="713232" y="4462272"/>
            <a:ext cx="548640" cy="548640"/>
          </a:xfrm>
          <a:prstGeom prst="star8">
            <a:avLst/>
          </a:prstGeom>
          <a:solidFill>
            <a:schemeClr val="accent2"/>
          </a:solidFill>
          <a:ln/>
        </p:spPr>
      </p:sp>
      <p:sp>
        <p:nvSpPr>
          <p:cNvPr id="11" name="Shape 9"/>
          <p:cNvSpPr/>
          <p:nvPr/>
        </p:nvSpPr>
        <p:spPr>
          <a:xfrm>
            <a:off x="822960" y="45720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4622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13" name="Text 11"/>
          <p:cNvSpPr txBox="1"/>
          <p:nvPr/>
        </p:nvSpPr>
        <p:spPr>
          <a:xfrm>
            <a:off x="1444752" y="44439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اهْتَدَوْاْ زَادَهُمْ هُدًى وَءَاتَىٰهُمْ تَقْوَىٰهُمْ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those who are guided, He increases them in guidance and helps them to have taqwa.</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Muhammad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18 – 19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فَهَلْ يَنظُرُونَ إِلَّا السَّاعَةَ أَن تَأْتِيَهُم بَغْتَةً فَقَدْ جَآءَ أَشْرَاطُهَا فَأَنَّىٰ لَهُمْ إِذَا جَآءَتْهُمْ ذِكْرَىٰهُمْ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Are the disbelievers waiting for anything but the Hour to come upon them suddenly? Its signs have already come, including the sending of the Prophet (peace be upon him). How will remembering help them when it comes?</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فَاعْلَمْ أَنَّهُ لَآ إِلَٰهَ إِلَّا اللَّهُ وَاسْتَغْفِرْ لِذَنبِكَ وَلِلْمُؤْمِنِينَ وَالْمُؤْمِنَٰتِ وَاللَّهُ يَعْلَمُ مُتَقَلَّبَكُمْ وَمَثْوَىٰكُمْ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know that there is no god worthy of worship but Allah, and ask forgiveness for your sins and for the believing men and women. Allah knows your movements by day and your resting place at night.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Muhammad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20 – 21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8" name="Text 6"/>
          <p:cNvSpPr txBox="1"/>
          <p:nvPr/>
        </p:nvSpPr>
        <p:spPr>
          <a:xfrm>
            <a:off x="1444752" y="1575054"/>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وَيَقُولُ الَّذِينَ ءَامَنُواْ لَوْلَا نُزِّلَتْ سُورَةٌ فَإِذَآ أُنزِلَتْ سُورَةٌ مُّحْكَمَةٌ وَذُكِرَ فِيهَا الْقِتَالُ رَأَيْتَ الَّذِينَ فِي قُلُوبِهِم مَّرَضٌ يَنظُرُونَ إِلَيْكَ نَظَرَ الْمَغْشِيِّ عَلَيْهِ مِنَ الْمَوْتِ فَأَوْلَىٰ لَهُمْ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believers say: Why has a surah not been sent down commanding jihad? But when a clear surah is sent down mentioning fighting, you see the hypocrites looking at you like someone fainting at the approach of death out of fear.</a:t>
            </a:r>
            <a:endParaRPr lang="en-US" sz="3000" dirty="0"/>
          </a:p>
        </p:txBody>
      </p:sp>
      <p:sp>
        <p:nvSpPr>
          <p:cNvPr id="9" name="Shape 7"/>
          <p:cNvSpPr/>
          <p:nvPr/>
        </p:nvSpPr>
        <p:spPr>
          <a:xfrm>
            <a:off x="1444752" y="4373118"/>
            <a:ext cx="8641080" cy="0"/>
          </a:xfrm>
          <a:prstGeom prst="line">
            <a:avLst/>
          </a:prstGeom>
          <a:noFill/>
          <a:ln w="9525">
            <a:solidFill>
              <a:schemeClr val="accent2"/>
            </a:solidFill>
            <a:prstDash val="dash"/>
          </a:ln>
        </p:spPr>
      </p:sp>
      <p:sp>
        <p:nvSpPr>
          <p:cNvPr id="10" name="Shape 8"/>
          <p:cNvSpPr/>
          <p:nvPr/>
        </p:nvSpPr>
        <p:spPr>
          <a:xfrm>
            <a:off x="713232" y="4606290"/>
            <a:ext cx="548640" cy="548640"/>
          </a:xfrm>
          <a:prstGeom prst="star8">
            <a:avLst/>
          </a:prstGeom>
          <a:solidFill>
            <a:schemeClr val="accent2"/>
          </a:solidFill>
          <a:ln/>
        </p:spPr>
      </p:sp>
      <p:sp>
        <p:nvSpPr>
          <p:cNvPr id="11" name="Shape 9"/>
          <p:cNvSpPr/>
          <p:nvPr/>
        </p:nvSpPr>
        <p:spPr>
          <a:xfrm>
            <a:off x="822960" y="4716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6062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13" name="Text 11"/>
          <p:cNvSpPr txBox="1"/>
          <p:nvPr/>
        </p:nvSpPr>
        <p:spPr>
          <a:xfrm>
            <a:off x="1444752" y="45880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طَاعَةٌ وَقَوْلٌ مَّعْرُوفٌ فَإِذَا عَزَمَ الْأَمْرُ فَلَوْ صَدَقُواْ اللَّهَ لَكَانَ خَيْرًا لَّهُمْ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Better for them would be obedience and good words. When the matter becomes serious, if they were true to Allah, it would be better for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Muhammad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22 – 24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8" name="Text 6"/>
          <p:cNvSpPr txBox="1"/>
          <p:nvPr/>
        </p:nvSpPr>
        <p:spPr>
          <a:xfrm>
            <a:off x="1444752" y="155676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فَهَلْ عَسَيْتُمْ إِن تَوَلَّيْتُمْ أَن تُفْسِدُواْ فِي الْأَرْضِ وَتُقَطِّعُواْ أَرْحَامَكُمْ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turn away from faith, perhaps you would spread corruption on earth and cut your family ties.</a:t>
            </a:r>
            <a:endParaRPr lang="en-US" sz="3000" dirty="0"/>
          </a:p>
        </p:txBody>
      </p:sp>
      <p:sp>
        <p:nvSpPr>
          <p:cNvPr id="9" name="Shape 7"/>
          <p:cNvSpPr/>
          <p:nvPr/>
        </p:nvSpPr>
        <p:spPr>
          <a:xfrm>
            <a:off x="1444752" y="2736342"/>
            <a:ext cx="8641080" cy="0"/>
          </a:xfrm>
          <a:prstGeom prst="line">
            <a:avLst/>
          </a:prstGeom>
          <a:noFill/>
          <a:ln w="9525">
            <a:solidFill>
              <a:schemeClr val="accent2"/>
            </a:solidFill>
            <a:prstDash val="dash"/>
          </a:ln>
        </p:spPr>
      </p:sp>
      <p:sp>
        <p:nvSpPr>
          <p:cNvPr id="10" name="Shape 8"/>
          <p:cNvSpPr/>
          <p:nvPr/>
        </p:nvSpPr>
        <p:spPr>
          <a:xfrm>
            <a:off x="713232" y="2969514"/>
            <a:ext cx="548640" cy="548640"/>
          </a:xfrm>
          <a:prstGeom prst="star8">
            <a:avLst/>
          </a:prstGeom>
          <a:solidFill>
            <a:schemeClr val="accent2"/>
          </a:solidFill>
          <a:ln/>
        </p:spPr>
      </p:sp>
      <p:sp>
        <p:nvSpPr>
          <p:cNvPr id="11" name="Shape 9"/>
          <p:cNvSpPr/>
          <p:nvPr/>
        </p:nvSpPr>
        <p:spPr>
          <a:xfrm>
            <a:off x="822960" y="307924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6951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3" name="Text 11"/>
          <p:cNvSpPr txBox="1"/>
          <p:nvPr/>
        </p:nvSpPr>
        <p:spPr>
          <a:xfrm>
            <a:off x="1444752" y="295122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أُوْلَـٰئِكَ الَّذِينَ لَعَنَهُمُ اللَّهُ فَأَصَمَّهُمْ وَأَعْمَىٰ أَبْصَٰرَهُمْ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are the ones whom Allah has driven away from His mercy, so He has made them deaf to hearing the truth and blinded their eyes from seeing it.</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أَفَلَا يَتَدَبَّرُونَ الْقُرْءَانَ أَمْ عَلَىٰ قُلُوبٍ أَقْفَالُهَآ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they not reflect on the Qur'an and think about it? Or are there locks on their hearts that stop them from understanding?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Muhammad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25 – 26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ارْتَدُّواْ عَلَىٰ أَدْبَٰرِهِم مِّن بَعْدِ مَا تَبَيَّنَ لَهُمُ الْهُدَى الشَّيْطَٰنُ سَوَّلَ لَهُمْ وَأَمْلَىٰ لَهُمْ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turned back from faith after the truth became clear to them, Satan made it look good to them and filled them with false hopes.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بِأَنَّهُمْ قَالُواْ لِلَّذِينَ كَرِهُواْ مَا نَزَّلَ اللَّهُ سَنُطِيعُكُمْ فِي بَعْضِ الْأَمْرِ وَاللَّهُ يَعْلَمُ إِسْرَارَهُمْ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because they said to the Jews who hated the Qur'an: We will obey you in some matters. Allah knows their secrets.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Muhammad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27 – 29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فَكَيْفَ إِذَا تَوَفَّتْهُمُ الْمَلَـٰئِكَةُ يَضْرِبُونَ وُجُوهَهُمْ وَأَدْبَٰرَهُمْ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how will it be when the angels take their souls, striking their faces and their backs?</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بِأَنَّهُمُ اتَّبَعُواْ مَآ أَسْخَطَ اللَّهَ وَكَرِهُواْ رِضْوَٰنَهُ فَأَحْبَطَ أَعْمَٰلَهُمْ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because they followed what angers Allah and hated what pleases Him, so He made their deeds go to waste.</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حَسِبَ الَّذِينَ فِي قُلُوبِهِم مَّرَضٌ أَن لَّن يُخْرِجَ اللَّهُ أَضْغَٰنَهُمْ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 the hypocrites think that Allah will never bring out their hatred for the 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Muhammad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30 – 32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نَشَآءُ لَأَرَيْنَٰكَهُمْ فَلَعَرَفْتَهُم بِسِيمَٰهُمْ وَلَتَعْرِفَنَّهُمْ فِي لَحْنِ الْقَوْلِ وَاللَّهُ يَعْلَمُ أَعْمَٰلَكُمْ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We willed, We could show them to you, and you would know them by their marks; and you will surely know them by the way they speak. Allah knows your deeds.</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13" name="Text 11"/>
          <p:cNvSpPr txBox="1"/>
          <p:nvPr/>
        </p:nvSpPr>
        <p:spPr>
          <a:xfrm>
            <a:off x="1444752" y="28072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وَلَنَبْلُوَنَّكُمْ حَتَّىٰ نَعْلَمَ الْمُجَٰهِدِينَ مِنكُمْ وَالصَّـٰبِرِينَ وَنَبْلُوَاْ أَخْبَارَكُمْ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will surely test you with jihad and other things until We make known those of you who strive and are patient, and test your deeds.</a:t>
            </a:r>
            <a:endParaRPr lang="en-US" sz="3000" dirty="0"/>
          </a:p>
        </p:txBody>
      </p:sp>
      <p:sp>
        <p:nvSpPr>
          <p:cNvPr id="14" name="Shape 12"/>
          <p:cNvSpPr/>
          <p:nvPr/>
        </p:nvSpPr>
        <p:spPr>
          <a:xfrm>
            <a:off x="1444752" y="4151376"/>
            <a:ext cx="8641080" cy="0"/>
          </a:xfrm>
          <a:prstGeom prst="line">
            <a:avLst/>
          </a:prstGeom>
          <a:noFill/>
          <a:ln w="9525">
            <a:solidFill>
              <a:schemeClr val="accent2"/>
            </a:solidFill>
            <a:prstDash val="dash"/>
          </a:ln>
        </p:spPr>
      </p:sp>
      <p:sp>
        <p:nvSpPr>
          <p:cNvPr id="15" name="Shape 13"/>
          <p:cNvSpPr/>
          <p:nvPr/>
        </p:nvSpPr>
        <p:spPr>
          <a:xfrm>
            <a:off x="713232" y="4288536"/>
            <a:ext cx="548640" cy="548640"/>
          </a:xfrm>
          <a:prstGeom prst="star8">
            <a:avLst/>
          </a:prstGeom>
          <a:solidFill>
            <a:schemeClr val="accent2"/>
          </a:solidFill>
          <a:ln/>
        </p:spPr>
      </p:sp>
      <p:sp>
        <p:nvSpPr>
          <p:cNvPr id="16" name="Shape 14"/>
          <p:cNvSpPr/>
          <p:nvPr/>
        </p:nvSpPr>
        <p:spPr>
          <a:xfrm>
            <a:off x="822960" y="43982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885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18" name="Text 16"/>
          <p:cNvSpPr txBox="1"/>
          <p:nvPr/>
        </p:nvSpPr>
        <p:spPr>
          <a:xfrm>
            <a:off x="1444752" y="427024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كَفَرُواْ وَصَدُّواْ عَن سَبِيلِ اللَّهِ وَشَآقُّواْ الرَّسُولَ مِن بَعْدِ مَا تَبَيَّنَ لَهُمُ الْهُدَىٰ لَن يَضُرُّواْ اللَّهَ شَيْـًٔا وَسَيُحْبِطُ أَعْمَٰلَهُمْ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disbelieve, block people from Islam, and oppose the Messenger after the truth has become clear to them, will not harm Allah at all, and He will make their deeds go to waste.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Muhammad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33 – 35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أَطِيعُواْ اللَّهَ وَأَطِيعُواْ الرَّسُولَ وَلَا تُبْطِلُواْ أَعْمَٰلَكُمْ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obey Allah and obey the Messenger, and do not waste your deeds with sins and showing off.</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كَفَرُواْ وَصَدُّواْ عَن سَبِيلِ اللَّهِ ثُمَّ مَاتُواْ وَهُمْ كُفَّارٌ فَلَن يَغْفِرَ اللَّهُ لَهُمْ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disbelieve and block people from Islam and then die as disbelievers, Allah will never forgive them.</a:t>
            </a:r>
            <a:endParaRPr lang="en-US" sz="3000" dirty="0"/>
          </a:p>
        </p:txBody>
      </p:sp>
      <p:sp>
        <p:nvSpPr>
          <p:cNvPr id="14" name="Shape 12"/>
          <p:cNvSpPr/>
          <p:nvPr/>
        </p:nvSpPr>
        <p:spPr>
          <a:xfrm>
            <a:off x="1444752" y="4517136"/>
            <a:ext cx="8641080" cy="0"/>
          </a:xfrm>
          <a:prstGeom prst="line">
            <a:avLst/>
          </a:prstGeom>
          <a:noFill/>
          <a:ln w="9525">
            <a:solidFill>
              <a:schemeClr val="accent2"/>
            </a:solidFill>
            <a:prstDash val="dash"/>
          </a:ln>
        </p:spPr>
      </p:sp>
      <p:sp>
        <p:nvSpPr>
          <p:cNvPr id="15" name="Shape 13"/>
          <p:cNvSpPr/>
          <p:nvPr/>
        </p:nvSpPr>
        <p:spPr>
          <a:xfrm>
            <a:off x="713232" y="4745736"/>
            <a:ext cx="548640" cy="548640"/>
          </a:xfrm>
          <a:prstGeom prst="star8">
            <a:avLst/>
          </a:prstGeom>
          <a:solidFill>
            <a:schemeClr val="accent2"/>
          </a:solidFill>
          <a:ln/>
        </p:spPr>
      </p:sp>
      <p:sp>
        <p:nvSpPr>
          <p:cNvPr id="16" name="Shape 14"/>
          <p:cNvSpPr/>
          <p:nvPr/>
        </p:nvSpPr>
        <p:spPr>
          <a:xfrm>
            <a:off x="822960" y="48554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457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18" name="Text 16"/>
          <p:cNvSpPr txBox="1"/>
          <p:nvPr/>
        </p:nvSpPr>
        <p:spPr>
          <a:xfrm>
            <a:off x="1444752" y="47274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فَلَا تَهِنُواْ وَتَدْعُواْ إِلَى السَّلْمِ وَأَنتُمُ الْأَعْلَوْنَ وَاللَّهُ مَعَكُمْ وَلَن يَتِرَكُمْ أَعْمَٰلَكُمْ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do not lose heart before the enemy and call for peace when you have the upper hand. Allah is with you and will never reduce the reward of your deeds.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Muhammad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36 – 37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إِنَّمَا الْحَيَوٰةُ الدُّنْيَا لَعِبٌ وَلَهْوٌ وَإِن تُؤْمِنُواْ وَتَتَّقُواْ يُؤْتِكُمْ أُجُورَكُمْ وَلَا يَسْـَٔلْكُمْ أَمْوَٰلَكُمْ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life of this world is only play and amusement. If you believe and have taqwa, He will give you your rewards, and He does not ask you for all your wealth.</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يَسْـَٔلْكُمُوهَا فَيُحْفِكُمْ تَبْخَلُواْ وَيُخْرِجْ أَضْغَٰنَكُمْ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He asked you for all of it and pressed you, you would be stingy, and He would bring out the dislike in your hearts.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Muhammad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38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هَـٰأَنتُمْ هَـٰؤُلَآءِ تُدْعَوْنَ لِتُنفِقُواْ فِي سَبِيلِ اللَّهِ فَمِنكُم مَّن يَبْخَلُ وَمَن يَبْخَلْ فَإِنَّمَا يَبْخَلُ عَن نَّفْسِهِ وَاللَّهُ الْغَنِيُّ وَأَنتُمُ الْفُقَرَآءُ وَإِن تَتَوَلَّوْاْ يَسْتَبْدِلْ قَوْمًا غَيْرَكُمْ ثُمَّ لَا يَكُونُواْ أَمْثَٰلَكُم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Here you are, being called to spend in the way of Allah, yet some of you are stingy; and whoever is stingy is only stingy against himself. Allah is Free of need and you are the needy. If you turn away, He will replace you with another people, and they will not be like you.</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Al-Ahqaf</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35 verses • The Sand Dunes</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46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Sa'd ibn Abi Waqqas said: I never heard the Prophet (peace be upon him) say about anyone walking on earth that he is among the people of Paradise except 'Abdullah ibn Salam. He said: And this verse was revealed about him: “And a witness from the Children of Israel testified to something like it” (Bukhari).</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Proving tawhid and the truth of the Qur'an, the command to be good to parents, the story of Hud with his people 'Ad at Al-Ahqaf, and the jinn believing in the Qur'an.</a:t>
            </a:r>
            <a:endParaRPr lang="en-US" sz="17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Al-Ahqaf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حم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 Mim" are separate letters; Allah knows best what they mean.</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80720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تَنزِيلُ الْكِتَٰبِ مِنَ اللَّهِ الْعَزِيزِ الْحَكِيمِ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sending down of the Qur'an is from Allah, the Almighty, the All-Wise.</a:t>
            </a:r>
            <a:endParaRPr lang="en-US" sz="3000" dirty="0"/>
          </a:p>
        </p:txBody>
      </p:sp>
      <p:sp>
        <p:nvSpPr>
          <p:cNvPr id="14" name="Shape 12"/>
          <p:cNvSpPr/>
          <p:nvPr/>
        </p:nvSpPr>
        <p:spPr>
          <a:xfrm>
            <a:off x="1444752" y="3977640"/>
            <a:ext cx="8641080" cy="0"/>
          </a:xfrm>
          <a:prstGeom prst="line">
            <a:avLst/>
          </a:prstGeom>
          <a:noFill/>
          <a:ln w="9525">
            <a:solidFill>
              <a:schemeClr val="accent2"/>
            </a:solidFill>
            <a:prstDash val="dash"/>
          </a:ln>
        </p:spPr>
      </p:sp>
      <p:sp>
        <p:nvSpPr>
          <p:cNvPr id="15" name="Shape 13"/>
          <p:cNvSpPr/>
          <p:nvPr/>
        </p:nvSpPr>
        <p:spPr>
          <a:xfrm>
            <a:off x="713232" y="4201668"/>
            <a:ext cx="548640" cy="548640"/>
          </a:xfrm>
          <a:prstGeom prst="star8">
            <a:avLst/>
          </a:prstGeom>
          <a:solidFill>
            <a:schemeClr val="accent2"/>
          </a:solidFill>
          <a:ln/>
        </p:spPr>
      </p:sp>
      <p:sp>
        <p:nvSpPr>
          <p:cNvPr id="16" name="Shape 14"/>
          <p:cNvSpPr/>
          <p:nvPr/>
        </p:nvSpPr>
        <p:spPr>
          <a:xfrm>
            <a:off x="822960" y="431139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418338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خَلَقْنَا السَّمَٰوَٰتِ وَالْأَرْضَ وَمَا بَيْنَهُمَآ إِلَّا بِالْحَقِّ وَأَجَلٍ مُّسَمًّى وَالَّذِينَ كَفَرُواْ عَمَّآ أُنذِرُواْ مُعْرِضُونَ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did not create the heavens and the earth and what is between them except with truth and for a set term, but the disbelievers turn away from what they are warned of.</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Al-Ahqaf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أَرَءَيْتُم مَّا تَدْعُونَ مِن دُونِ اللَّهِ أَرُونِي مَاذَا خَلَقُواْ مِنَ الْأَرْضِ أَمْ لَهُمْ شِرْكٌ فِي السَّمَٰوَٰتِ ائْتُونِي بِكِتَٰبٍ مِّن قَبْلِ هَٰذَآ أَوْ أَثَٰرَةٍ مِّنْ عِلْمٍ إِن كُنتُمْ صَٰدِقِينَ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to the idol-worshippers: Tell me about your gods: What have they created of the earth? Or do they have a share in the heavens? Bring me a Book or some remnant of knowledge, if you are truthful.</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أَضَلُّ مِمَّن يَدْعُواْ مِن دُونِ اللَّهِ مَن لَّا يَسْتَجِيبُ لَهُ إِلَىٰ يَوْمِ الْقِيَٰمَةِ وَهُمْ عَن دُعَآئِهِمْ غَٰفِلُونَ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is more astray than one who calls on other than Allah, those who will never answer him and are unaware of his calling?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Al-Ahqaf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 – 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حُشِرَ النَّاسُ كَانُواْ لَهُمْ أَعْدَآءً وَكَانُواْ بِعِبَادَتِهِمْ 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people are gathered on the Day of Resurrection, those gods will be enemies of their worshippers and will deny their worship.</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تُتْلَىٰ عَلَيْهِمْ ءَايَٰتُنَا بَيِّنَٰتٍ قَالَ الَّذِينَ كَفَرُواْ لِلْحَقِّ لَمَّا جَآءَهُمْ هَٰذَا سِحْرٌ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Our clear verses are recited to them, the disbelievers say about the Qur'an: This is clear magic.</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Al-Ahqaf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 – 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يَقُولُونَ افْتَرَىٰهُ قُلْ إِنِ افْتَرَيْتُهُ فَلَا تَمْلِكُونَ لِي مِنَ اللَّهِ شَيْـًٔا هُوَ أَعْلَمُ بِمَا تُفِيضُونَ فِيهِ كَفَىٰ بِهِ شَهِيدًا بَيْنِي وَبَيْنَكُمْ وَهُوَ الْغَفُورُ الرَّحِيمُ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 they say: Muhammad made it up? Say: If I made it up, you could not protect me from Allah's punishment at all. He knows best what you are talking about; He is enough as a Witness between me and you.</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مَا كُنتُ بِدْعًا مِّنَ الرُّسُلِ وَمَآ أَدْرِي مَا يُفْعَلُ بِي وَلَا بِكُمْ إِنْ أَتَّبِعُ إِلَّا مَا يُوحَىٰ إِلَيَّ وَمَآ أَنَا إِلَّا نَذِيرٌ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I am not the first of the messengers, and I do not know what will be done with me or with you in this world. I only follow what is revealed to me, and I am only a clear warner.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Al-Ahqaf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 – 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أَرَءَيْتُمْ إِن كَانَ مِنْ عِندِ اللَّهِ وَكَفَرْتُم بِهِ وَشَهِدَ شَاهِدٌ مِّن بَنِي إِسْرَـٰءِيلَ عَلَىٰ مِثْلِهِ فَـَٔامَنَ وَاسْتَكْبَرْتُمْ إِنَّ اللَّهَ لَا يَهْدِي الْقَوْمَ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Tell me, if the Qur'an is from Allah and you disbelieve in it, while a scholar from the Children of Israel, 'Abdullah ibn Salam, testified to its truth and believed, and you were arrogant? Allah does not guide the wrongdoing people.</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الَّذِينَ كَفَرُواْ لِلَّذِينَ ءَامَنُواْ لَوْ كَانَ خَيْرًا مَّا سَبَقُونَآ إِلَيْهِ وَإِذْ لَمْ يَهْتَدُواْ بِهِ فَسَيَقُولُونَ هَٰذَآ إِفْكٌ قَدِيمٌ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disbelievers said about the believers: If Islam were good, these weak people would not have got to it before us. And since they are not guided by it, they will say: This is an old lie.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Al-Ahqaf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 – 14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قَبْلِهِ كِتَٰبُ مُوسَىٰ إِمَامًا وَرَحْمَةً وَهَٰذَا كِتَٰبٌ مُّصَدِّقٌ لِّسَانًا عَرَبِيًّا لِّيُنذِرَ الَّذِينَ ظَلَمُواْ وَبُشْرَىٰ لِلْمُحْسِنِينَ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Before the Qur'an was the Book of Musa as a guide and a mercy, and this Qur'an confirms it in the Arabic language, to warn the wrongdoers and give good news to those who do good.</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13" name="Text 11"/>
          <p:cNvSpPr txBox="1"/>
          <p:nvPr/>
        </p:nvSpPr>
        <p:spPr>
          <a:xfrm>
            <a:off x="1444752" y="348615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قَالُواْ رَبُّنَا اللَّهُ ثُمَّ اسْتَقَٰمُواْ فَلَا خَوْفٌ عَلَيْهِمْ وَلَا هُمْ يَحْزَنُونَ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say: Our Lord is Allah, and then stay firm on obedience, will have no fear and will not grieve.</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أُوْلَـٰئِكَ أَصْحَٰبُ الْجَنَّةِ خَٰلِدِينَ فِيهَا جَزَآءً بِمَا كَانُواْ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are the people of Paradise, staying there forever, as a reward for what they did.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Al-Ahqaf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016252"/>
            <a:ext cx="548640" cy="548640"/>
          </a:xfrm>
          <a:prstGeom prst="star8">
            <a:avLst/>
          </a:prstGeom>
          <a:solidFill>
            <a:schemeClr val="accent2"/>
          </a:solidFill>
          <a:ln/>
        </p:spPr>
      </p:sp>
      <p:sp>
        <p:nvSpPr>
          <p:cNvPr id="6" name="Shape 4"/>
          <p:cNvSpPr/>
          <p:nvPr/>
        </p:nvSpPr>
        <p:spPr>
          <a:xfrm>
            <a:off x="822960" y="212598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01625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8" name="Text 6"/>
          <p:cNvSpPr txBox="1"/>
          <p:nvPr/>
        </p:nvSpPr>
        <p:spPr>
          <a:xfrm>
            <a:off x="1444752" y="1997964"/>
            <a:ext cx="10012680" cy="341985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وَوَصَّيْنَا الْإِنسَٰنَ بِوَٰلِدَيْهِ إِحْسَٰنًا حَمَلَتْهُ أُمُّهُ كُرْهًا وَوَضَعَتْهُ كُرْهًا وَحَمْلُهُ وَفِصَٰلُهُ ثَلَٰثُونَ شَهْرًا حَتَّىٰ إِذَا بَلَغَ أَشُدَّهُ وَبَلَغَ أَرْبَعِينَ سَنَةً قَالَ رَبِّ أَوْزِعْنِي أَنْ أَشْكُرَ نِعْمَتَكَ الَّتِي أَنْعَمْتَ عَلَيَّ وَعَلَىٰ وَٰلِدَيَّ وَأَنْ أَعْمَلَ صَٰلِحًا تَرْضَىٰهُ وَأَصْلِحْ لِي فِي ذُرِّيَّتِي إِنِّي تُبْتُ إِلَيْكَ وَإِنِّي مِنَ الْمُسْلِمِينَ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commanded man to be good to his parents. His mother carried him with hardship and gave birth to him with hardship, and his carrying and weaning take thirty months. When he reaches forty years, he says: My Lord, inspire me to thank You for Your blessing on me and my parents, to do good deeds that please You, and make my children righteous.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Al-Ahqaf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 – 17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أُوْلَـٰئِكَ الَّذِينَ نَتَقَبَّلُ عَنْهُمْ أَحْسَنَ مَا عَمِلُواْ وَنَتَجَاوَزُ عَن سَيِّـَٔاتِهِمْ فِي أَصْحَٰبِ الْجَنَّةِ وَعْدَ الصِّدْقِ الَّذِي كَانُواْ يُوعَدُونَ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are the ones from whom We accept the best of their deeds and overlook their bad deeds, among the people of Paradise, a true promise.</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 قَالَ لِوَٰلِدَيْهِ أُفٍّ لَّكُمَآ أَتَعِدَانِنِي أَنْ أُخْرَجَ وَقَدْ خَلَتِ الْقُرُونُ مِن قَبْلِي وَهُمَا يَسْتَغِيثَانِ اللَّهَ وَيْلَكَ ءَامِنْ إِنَّ وَعْدَ اللَّهِ حَقٌّ فَيَقُولُ مَا هَٰذَآ إِلَّآ أَسَٰطِيرُ الْأَوَّلِينَ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the disobedient child who says to his parents: Uff to you! Do you promise me that I will be brought out of my grave? While his parents call on Allah for help and say: Woe to you, believe! Allah's promise is true. But he says: These are just tales of the ancients.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Al-Ahqaf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18 – 19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أُوْلَـٰئِكَ الَّذِينَ حَقَّ عَلَيْهِمُ الْقَوْلُ فِي أُمَمٍ قَدْ خَلَتْ مِن قَبْلِهِم مِّنَ الْجِنِّ وَالْإِنسِ إِنَّهُمْ كَانُواْ خَٰسِرِينَ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are the ones on whom the punishment has come true, along with nations of jinn and humans before them; they were losers.</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وَلِكُلٍّ دَرَجَٰتٌ مِّمَّا عَمِلُواْ وَلِيُوَفِّيَهُمْ أَعْمَٰلَهُمْ وَهُمْ لَا يُظْلَمُونَ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Both believers and disbelievers have ranks according to their deeds, so that He may repay them in full for their deeds, and they will not be wronged.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Al-Ahqaf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20 – 21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8" name="Text 6"/>
          <p:cNvSpPr txBox="1"/>
          <p:nvPr/>
        </p:nvSpPr>
        <p:spPr>
          <a:xfrm>
            <a:off x="1444752" y="1370457"/>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وَيَوْمَ يُعْرَضُ الَّذِينَ كَفَرُواْ عَلَى النَّارِ أَذْهَبْتُمْ طَيِّبَٰتِكُمْ فِي حَيَاتِكُمُ الدُّنْيَا وَاسْتَمْتَعْتُم بِهَا فَالْيَوْمَ تُجْزَوْنَ عَذَابَ الْهُونِ بِمَا كُنتُمْ تَسْتَكْبِرُونَ فِي الْأَرْضِ بِغَيْرِ الْحَقِّ وَبِمَا كُنتُمْ تَفْسُقُونَ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the disbelievers are shown the Fire, it will be said to them: You used up your good things in the world and enjoyed them, so today you are repaid with humiliating punishment for your arrogance and disobedience.</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262247"/>
            <a:ext cx="548640" cy="548640"/>
          </a:xfrm>
          <a:prstGeom prst="star8">
            <a:avLst/>
          </a:prstGeom>
          <a:solidFill>
            <a:schemeClr val="accent2"/>
          </a:solidFill>
          <a:ln/>
        </p:spPr>
      </p:sp>
      <p:sp>
        <p:nvSpPr>
          <p:cNvPr id="11" name="Shape 9"/>
          <p:cNvSpPr/>
          <p:nvPr/>
        </p:nvSpPr>
        <p:spPr>
          <a:xfrm>
            <a:off x="822960" y="437197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62247"/>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13" name="Text 11"/>
          <p:cNvSpPr txBox="1"/>
          <p:nvPr/>
        </p:nvSpPr>
        <p:spPr>
          <a:xfrm>
            <a:off x="1444752" y="4243959"/>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وَاذْكُرْ أَخَا عَادٍ إِذْ أَنذَرَ قَوْمَهُ بِالْأَحْقَافِ وَقَدْ خَلَتِ النُّذُرُ مِن بَيْنِ يَدَيْهِ وَمِنْ خَلْفِهِ أَلَّا تَعْبُدُواْ إِلَّا اللَّهَ إِنِّي أَخَافُ عَلَيْكُمْ عَذَابَ يَوْمٍ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Hud, the brother of 'Ad, when he warned his people at Al-Ahqaf, the sand mountains in the south of Arabia: Worship none but Allah; I fear for you the punishment of a great Day.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Al-Ahqaf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22 – 23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أَجِئْتَنَا لِتَأْفِكَنَا عَنْ ءَالِهَتِنَا فَأْتِنَا بِمَا تَعِدُنَآ إِن كُنتَ مِنَ الصَّـٰدِقِينَ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Have you come to turn us away from our gods? Then bring us the punishment, if you are truthful.</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إِنَّمَا الْعِلْمُ عِندَ اللَّهِ وَأُبَلِّغُكُم مَّآ أُرْسِلْتُ بِهِ وَلَٰكِنِّي أَرَىٰكُمْ قَوْمًا تَجْهَلُونَ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Knowledge of when the punishment comes is with Allah; I only deliver what I was sent with, but I see you are an ignorant people.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Al-Ahqaf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24 – 25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رَأَوْهُ عَارِضًا مُّسْتَقْبِلَ أَوْدِيَتِهِمْ قَالُواْ هَٰذَا عَارِضٌ مُّمْطِرُنَا بَلْ هُوَ مَا اسْتَعْجَلْتُم بِهِ رِيحٌ فِيهَا عَذَابٌ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saw the punishment as a cloud coming towards their valleys, they said: This cloud will bring us rain. No, it is what you were hurrying for: a wind carrying a painful punishment,</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تُدَمِّرُ كُلَّ شَيْءٍ بِأَمْرِ رَبِّهَا فَأَصْبَحُواْ لَا يُرَىٰ إِلَّا مَسَٰكِنُهُمْ كَذَٰلِكَ نَجْزِي الْقَوْمَ الْمُجْرِمِينَ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destroying everything by its Lord's command. So in the morning nothing could be seen but their homes. That is how We repay the criminals.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Al-Ahqaf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26 – 27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53946"/>
            <a:ext cx="548640" cy="548640"/>
          </a:xfrm>
          <a:prstGeom prst="star8">
            <a:avLst/>
          </a:prstGeom>
          <a:solidFill>
            <a:schemeClr val="accent2"/>
          </a:solidFill>
          <a:ln/>
        </p:spPr>
      </p:sp>
      <p:sp>
        <p:nvSpPr>
          <p:cNvPr id="6" name="Shape 4"/>
          <p:cNvSpPr/>
          <p:nvPr/>
        </p:nvSpPr>
        <p:spPr>
          <a:xfrm>
            <a:off x="822960" y="196367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539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8" name="Text 6"/>
          <p:cNvSpPr txBox="1"/>
          <p:nvPr/>
        </p:nvSpPr>
        <p:spPr>
          <a:xfrm>
            <a:off x="1444752" y="1835658"/>
            <a:ext cx="10012680" cy="235000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مَكَّنَّـٰهُمْ فِيمَآ إِن مَّكَّنَّـٰكُمْ فِيهِ وَجَعَلْنَا لَهُمْ سَمْعًا وَأَبْصَٰرًا وَأَفْـِٔدَةً فَمَآ أَغْنَىٰ عَنْهُمْ سَمْعُهُمْ وَلَآ أَبْصَٰرُهُمْ وَلَآ أَفْـِٔدَتُهُم مِّن شَيْءٍ إِذْ كَانُواْ يَجْحَدُونَ بِـَٔايَٰتِ اللَّهِ وَحَاقَ بِهِم مَّا كَانُواْ بِهِ يَسْتَهْزِءُونَ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had established them with power We have not given you, and gave them hearing, sight and hearts, but none of that helped them at all, because they rejected Allah's signs.</a:t>
            </a:r>
            <a:endParaRPr lang="en-US" sz="3000" dirty="0"/>
          </a:p>
        </p:txBody>
      </p:sp>
      <p:sp>
        <p:nvSpPr>
          <p:cNvPr id="9" name="Shape 7"/>
          <p:cNvSpPr/>
          <p:nvPr/>
        </p:nvSpPr>
        <p:spPr>
          <a:xfrm>
            <a:off x="1444752" y="4373118"/>
            <a:ext cx="8641080" cy="0"/>
          </a:xfrm>
          <a:prstGeom prst="line">
            <a:avLst/>
          </a:prstGeom>
          <a:noFill/>
          <a:ln w="9525">
            <a:solidFill>
              <a:schemeClr val="accent2"/>
            </a:solidFill>
            <a:prstDash val="dash"/>
          </a:ln>
        </p:spPr>
      </p:sp>
      <p:sp>
        <p:nvSpPr>
          <p:cNvPr id="10" name="Shape 8"/>
          <p:cNvSpPr/>
          <p:nvPr/>
        </p:nvSpPr>
        <p:spPr>
          <a:xfrm>
            <a:off x="713232" y="4606290"/>
            <a:ext cx="548640" cy="548640"/>
          </a:xfrm>
          <a:prstGeom prst="star8">
            <a:avLst/>
          </a:prstGeom>
          <a:solidFill>
            <a:schemeClr val="accent2"/>
          </a:solidFill>
          <a:ln/>
        </p:spPr>
      </p:sp>
      <p:sp>
        <p:nvSpPr>
          <p:cNvPr id="11" name="Shape 9"/>
          <p:cNvSpPr/>
          <p:nvPr/>
        </p:nvSpPr>
        <p:spPr>
          <a:xfrm>
            <a:off x="822960" y="4716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6062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13" name="Text 11"/>
          <p:cNvSpPr txBox="1"/>
          <p:nvPr/>
        </p:nvSpPr>
        <p:spPr>
          <a:xfrm>
            <a:off x="1444752" y="45880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أَهْلَكْنَا مَا حَوْلَكُم مِّنَ الْقُرَىٰ وَصَرَّفْنَا الْأيَٰتِ لَعَلَّهُمْ يَرْجِعُونَ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destroyed the towns around you and made the signs clear to them so that they might return.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Al-Ahqaf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28 – 29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فَلَوْلَا نَصَرَهُمُ الَّذِينَ اتَّخَذُواْ مِن دُونِ اللَّهِ قُرْبَانًا ءَالِهَةً بَلْ ضَلُّواْ عَنْهُمْ وَذَٰلِكَ إِفْكُهُمْ وَمَا كَانُواْ يَفْتَرُونَ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Why did the gods they worshipped to get close to Allah not help them? Rather, they abandoned them; that was their lie and what they made up.</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صَرَفْنَآ إِلَيْكَ نَفَرًا مِّنَ الْجِنِّ يَسْتَمِعُونَ الْقُرْءَانَ فَلَمَّا حَضَرُوهُ قَالُواْ أَنصِتُواْ فَلَمَّا قُضِيَ وَلَّوْاْ إِلَىٰ قَوْمِهِم مُّنذِرِينَ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when We sent to you a group of jinn to listen to the Qur'an. When they were present, they said: Listen quietly! When the recitation ended, they went back to their people as warners.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Al-Ahqaf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30 – 31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يَٰقَوْمَنَآ إِنَّا سَمِعْنَا كِتَٰبًا أُنزِلَ مِن بَعْدِ مُوسَىٰ مُصَدِّقًا لِّمَا بَيْنَ يَدَيْهِ يَهْدِي إِلَى الْحَقِّ وَإِلَىٰ طَرِيقٍ مُّسْتَقِيمٍ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O our people, we have heard a Book sent down after Musa, confirming what came before it, guiding to the truth and to a straight path.</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يَٰقَوْمَنَآ أَجِيبُواْ دَاعِيَ اللَّهِ وَءَامِنُواْ بِهِ يَغْفِرْ لَكُم مِّن ذُنُوبِكُمْ وَيُجِرْكُم مِّنْ عَذَابٍ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our people, answer Muhammad, the one calling to Allah, and believe in him; Allah will forgive your sins and save you from a painful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Al-Ahqaf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32 – 33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لَّا يُجِبْ دَاعِيَ اللَّهِ فَلَيْسَ بِمُعْجِزٍ فِي الْأَرْضِ وَلَيْسَ لَهُ مِن دُونِهِ أَوْلِيَآءُ أُوْلَـٰئِكَ فِي ضَلَٰلٍ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does not answer the one calling to Allah cannot escape Allah on earth and has no protectors besides Him. Those are clearly astray.</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أَوَلَمْ يَرَوْاْ أَنَّ اللَّهَ الَّذِي خَلَقَ السَّمَٰوَٰتِ وَالْأَرْضَ وَلَمْ يَعْيَ بِخَلْقِهِنَّ بِقَٰدِرٍ عَلَىٰ أَن يُحْـِيَ الْمَوْتَىٰ بَلَىٰ إِنَّهُ عَلَىٰ كُلِّ شَيْءٍ قَدِيرٌ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they not see that Allah, who created the heavens and the earth and was not tired by creating them, is able to give life to the dead? Yes indeed, He has power over all things.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Al-Ahqaf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34 – 35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وَيَوْمَ يُعْرَضُ الَّذِينَ كَفَرُواْ عَلَى النَّارِ أَلَيْسَ هَٰذَا بِالْحَقِّ قَالُواْ بَلَىٰ وَرَبِّنَا قَالَ فَذُوقُواْ الْعَذَابَ بِمَا كُنتُمْ تَكْفُرُونَ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the disbelievers are shown the Fire, it will be said: Is this not the truth? They will say: Yes, by our Lord. He will say: Then taste the punishment for your disbelief.</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فَاصْبِرْ كَمَا صَبَرَ أُوْلُواْ الْعَزْمِ مِنَ الرُّسُلِ وَلَا تَسْتَعْجِل لَّهُمْ كَأَنَّهُمْ يَوْمَ يَرَوْنَ مَا يُوعَدُونَ لَمْ يَلْبَثُواْ إِلَّا سَاعَةً مِّن نَّهَارٍ بَلَٰغٌ فَهَلْ يُهْلَكُ إِلَّا الْقَوْمُ الْفَٰسِقُونَ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be patient, O Muhammad, as the messengers of firm determination were patient, and do not hurry their punishment. On the Day they see it, it will be as if they had stayed in the world only an hour of a day. This is a message to deliver; will any be destroyed except those who disobey Allah?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pic>
        <p:nvPicPr>
          <p:cNvPr id="2" name="Image 0" descr="assets26/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txBox="1"/>
          <p:nvPr/>
        </p:nvSpPr>
        <p:spPr>
          <a:xfrm>
            <a:off x="731520" y="2377440"/>
            <a:ext cx="10728655" cy="1005840"/>
          </a:xfrm>
          <a:prstGeom prst="rect">
            <a:avLst/>
          </a:prstGeom>
          <a:noFill/>
          <a:ln/>
        </p:spPr>
        <p:txBody>
          <a:bodyPr wrap="square" lIns="0" tIns="0" rIns="0" bIns="0" rtlCol="0" anchor="ctr"/>
          <a:lstStyle/>
          <a:p>
            <a:pPr algn="ctr" indent="0" marL="0">
              <a:buNone/>
            </a:pPr>
            <a:r>
              <a:rPr lang="en-US" altLang="en-US" sz="5000" b="1" dirty="0">
                <a:solidFill>
                  <a:schemeClr val="bg1"/>
                </a:solidFill>
                <a:latin typeface="Georgia" pitchFamily="34" charset="0"/>
                <a:ea typeface="Georgia" pitchFamily="34" charset="-122"/>
                <a:cs typeface="Georgia" pitchFamily="34" charset="-120"/>
              </a:rPr>
              <a:t>JazakumAllahu khayran</a:t>
            </a:r>
            <a:endParaRPr lang="en-US" sz="5000" dirty="0"/>
          </a:p>
        </p:txBody>
      </p:sp>
      <p:sp>
        <p:nvSpPr>
          <p:cNvPr id="4" name="Text 1"/>
          <p:cNvSpPr txBox="1"/>
          <p:nvPr/>
        </p:nvSpPr>
        <p:spPr>
          <a:xfrm>
            <a:off x="1371600" y="3611880"/>
            <a:ext cx="9448495" cy="1097280"/>
          </a:xfrm>
          <a:prstGeom prst="rect">
            <a:avLst/>
          </a:prstGeom>
          <a:noFill/>
          <a:ln/>
        </p:spPr>
        <p:txBody>
          <a:bodyPr wrap="square" lIns="0" tIns="0" rIns="0" bIns="0" rtlCol="0" anchor="ctr"/>
          <a:lstStyle/>
          <a:p>
            <a:pPr algn="ctr" indent="0" marL="0">
              <a:buNone/>
            </a:pPr>
            <a:r>
              <a:rPr lang="en-US" altLang="en-US" sz="2100" b="1" i="1" dirty="0">
                <a:solidFill>
                  <a:schemeClr val="accent2"/>
                </a:solidFill>
                <a:latin typeface="Arial" pitchFamily="34" charset="0"/>
                <a:ea typeface="Arial" pitchFamily="34" charset="-122"/>
                <a:cs typeface="Arial" pitchFamily="34" charset="-120"/>
              </a:rPr>
              <a:t>"My Lord, inspire me to thank You for Your blessing on me and my parents, to do good deeds that please You, and make my children righteous." (Al-Ahqaf 46:15)</a:t>
            </a:r>
            <a:endParaRPr lang="en-US" sz="2100" dirty="0"/>
          </a:p>
        </p:txBody>
      </p:sp>
      <p:pic>
        <p:nvPicPr>
          <p:cNvPr id="5" name="Image 1" descr="assets26/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algn="ctr" indent="0" marL="0">
              <a:buNone/>
            </a:pPr>
            <a:r>
              <a:rPr lang="en-US" altLang="en-US" sz="1400" dirty="0">
                <a:solidFill>
                  <a:schemeClr val="bg2"/>
                </a:solidFill>
                <a:latin typeface="Arial" pitchFamily="34" charset="0"/>
                <a:ea typeface="Arial" pitchFamily="34" charset="-122"/>
                <a:cs typeface="Arial" pitchFamily="34" charset="-120"/>
              </a:rPr>
              <a:t>Reference: Tafsir al-Qur'an al-'Azim by al-Hafiz Ibn Kathir (may Allah have mercy on him)</a:t>
            </a:r>
            <a:endParaRPr lang="en-US" sz="1400" dirty="0"/>
          </a:p>
        </p:txBody>
      </p:sp>
    </p:spTree>
  </p:cSld>
  <p:clrMapOvr>
    <a:masterClrMapping/>
  </p:clrMapOvr>
</p:sld>
</file>

<file path=ppt/theme/theme1.xml><?xml version="1.0" encoding="utf-8"?>
<a:theme xmlns:a="http://schemas.openxmlformats.org/drawingml/2006/main" name="Juz 26 Tafsir EN">
  <a:themeElements>
    <a:clrScheme name="Juz 26 Tafsir EN">
      <a:dk1>
        <a:srgbClr val="2A2B22"/>
      </a:dk1>
      <a:lt1>
        <a:srgbClr val="FFFFFF"/>
      </a:lt1>
      <a:dk2>
        <a:srgbClr val="4A5A1F"/>
      </a:dk2>
      <a:lt2>
        <a:srgbClr val="FAF9F2"/>
      </a:lt2>
      <a:accent1>
        <a:srgbClr val="4A5A1F"/>
      </a:accent1>
      <a:accent2>
        <a:srgbClr val="C9A04A"/>
      </a:accent2>
      <a:accent3>
        <a:srgbClr val="64792B"/>
      </a:accent3>
      <a:accent4>
        <a:srgbClr val="6A6B5C"/>
      </a:accent4>
      <a:accent5>
        <a:srgbClr val="EEF0E1"/>
      </a:accent5>
      <a:accent6>
        <a:srgbClr val="7B2D26"/>
      </a:accent6>
      <a:hlink>
        <a:srgbClr val="64792B"/>
      </a:hlink>
      <a:folHlink>
        <a:srgbClr val="6A6B5C"/>
      </a:folHlink>
    </a:clrScheme>
    <a:fontScheme name="Juz 26 Tafsir E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87</Slides>
  <Notes>87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87</vt:i4>
      </vt:variant>
    </vt:vector>
  </HeadingPairs>
  <TitlesOfParts>
    <vt:vector size="9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Tafsir of Juz Al-Ahqaf — Simplified Tafsir from Ibn Kathir</dc:title>
  <dc:subject>PptxGenJS Presentation</dc:subject>
  <dc:creator>Qur'an Teacher</dc:creator>
  <cp:lastModifiedBy>Qur'an Teacher</cp:lastModifiedBy>
  <cp:revision>1</cp:revision>
  <dcterms:created xsi:type="dcterms:W3CDTF">2026-10-04T04:29:54Z</dcterms:created>
  <dcterms:modified xsi:type="dcterms:W3CDTF">2026-10-04T04:29:54Z</dcterms:modified>
</cp:coreProperties>
</file>